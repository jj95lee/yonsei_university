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34"/>
  </p:notesMasterIdLst>
  <p:sldIdLst>
    <p:sldId id="256" r:id="rId2"/>
    <p:sldId id="342" r:id="rId3"/>
    <p:sldId id="333" r:id="rId4"/>
    <p:sldId id="440" r:id="rId5"/>
    <p:sldId id="441" r:id="rId6"/>
    <p:sldId id="442" r:id="rId7"/>
    <p:sldId id="443" r:id="rId8"/>
    <p:sldId id="446" r:id="rId9"/>
    <p:sldId id="448" r:id="rId10"/>
    <p:sldId id="449" r:id="rId11"/>
    <p:sldId id="450" r:id="rId12"/>
    <p:sldId id="451" r:id="rId13"/>
    <p:sldId id="452" r:id="rId14"/>
    <p:sldId id="453" r:id="rId15"/>
    <p:sldId id="454" r:id="rId16"/>
    <p:sldId id="455" r:id="rId17"/>
    <p:sldId id="456" r:id="rId18"/>
    <p:sldId id="457" r:id="rId19"/>
    <p:sldId id="458" r:id="rId20"/>
    <p:sldId id="370" r:id="rId21"/>
    <p:sldId id="372" r:id="rId22"/>
    <p:sldId id="373" r:id="rId23"/>
    <p:sldId id="374" r:id="rId24"/>
    <p:sldId id="380" r:id="rId25"/>
    <p:sldId id="459" r:id="rId26"/>
    <p:sldId id="460" r:id="rId27"/>
    <p:sldId id="461" r:id="rId28"/>
    <p:sldId id="462" r:id="rId29"/>
    <p:sldId id="257" r:id="rId30"/>
    <p:sldId id="258" r:id="rId31"/>
    <p:sldId id="259" r:id="rId32"/>
    <p:sldId id="260" r:id="rId33"/>
    <p:sldId id="261"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278" r:id="rId51"/>
    <p:sldId id="488" r:id="rId52"/>
    <p:sldId id="489" r:id="rId53"/>
    <p:sldId id="490" r:id="rId54"/>
    <p:sldId id="491" r:id="rId55"/>
    <p:sldId id="492" r:id="rId56"/>
    <p:sldId id="493" r:id="rId57"/>
    <p:sldId id="494" r:id="rId58"/>
    <p:sldId id="351" r:id="rId59"/>
    <p:sldId id="352" r:id="rId60"/>
    <p:sldId id="495" r:id="rId61"/>
    <p:sldId id="350" r:id="rId62"/>
    <p:sldId id="354" r:id="rId63"/>
    <p:sldId id="353" r:id="rId64"/>
    <p:sldId id="355" r:id="rId65"/>
    <p:sldId id="496" r:id="rId66"/>
    <p:sldId id="497" r:id="rId67"/>
    <p:sldId id="498" r:id="rId68"/>
    <p:sldId id="499" r:id="rId69"/>
    <p:sldId id="500" r:id="rId70"/>
    <p:sldId id="501" r:id="rId71"/>
    <p:sldId id="502" r:id="rId72"/>
    <p:sldId id="503" r:id="rId73"/>
    <p:sldId id="504" r:id="rId74"/>
    <p:sldId id="505" r:id="rId75"/>
    <p:sldId id="356" r:id="rId76"/>
    <p:sldId id="357" r:id="rId77"/>
    <p:sldId id="359" r:id="rId78"/>
    <p:sldId id="358" r:id="rId79"/>
    <p:sldId id="360" r:id="rId80"/>
    <p:sldId id="361" r:id="rId81"/>
    <p:sldId id="362" r:id="rId82"/>
    <p:sldId id="363" r:id="rId83"/>
    <p:sldId id="364" r:id="rId84"/>
    <p:sldId id="365" r:id="rId85"/>
    <p:sldId id="366" r:id="rId86"/>
    <p:sldId id="367" r:id="rId87"/>
    <p:sldId id="368" r:id="rId88"/>
    <p:sldId id="369" r:id="rId89"/>
    <p:sldId id="465" r:id="rId90"/>
    <p:sldId id="371" r:id="rId91"/>
    <p:sldId id="466" r:id="rId92"/>
    <p:sldId id="467" r:id="rId93"/>
    <p:sldId id="468" r:id="rId94"/>
    <p:sldId id="375" r:id="rId95"/>
    <p:sldId id="376" r:id="rId96"/>
    <p:sldId id="377" r:id="rId97"/>
    <p:sldId id="378" r:id="rId98"/>
    <p:sldId id="379" r:id="rId99"/>
    <p:sldId id="469" r:id="rId100"/>
    <p:sldId id="381" r:id="rId101"/>
    <p:sldId id="470" r:id="rId102"/>
    <p:sldId id="334" r:id="rId103"/>
    <p:sldId id="335" r:id="rId104"/>
    <p:sldId id="338" r:id="rId105"/>
    <p:sldId id="336" r:id="rId106"/>
    <p:sldId id="471" r:id="rId107"/>
    <p:sldId id="343" r:id="rId108"/>
    <p:sldId id="348" r:id="rId109"/>
    <p:sldId id="344" r:id="rId110"/>
    <p:sldId id="349" r:id="rId111"/>
    <p:sldId id="472" r:id="rId112"/>
    <p:sldId id="473" r:id="rId113"/>
    <p:sldId id="474" r:id="rId114"/>
    <p:sldId id="475" r:id="rId115"/>
    <p:sldId id="476" r:id="rId116"/>
    <p:sldId id="477" r:id="rId117"/>
    <p:sldId id="478" r:id="rId118"/>
    <p:sldId id="479" r:id="rId119"/>
    <p:sldId id="345" r:id="rId120"/>
    <p:sldId id="346" r:id="rId121"/>
    <p:sldId id="347" r:id="rId122"/>
    <p:sldId id="480" r:id="rId123"/>
    <p:sldId id="481" r:id="rId124"/>
    <p:sldId id="482" r:id="rId125"/>
    <p:sldId id="340" r:id="rId126"/>
    <p:sldId id="339" r:id="rId127"/>
    <p:sldId id="341" r:id="rId128"/>
    <p:sldId id="483" r:id="rId129"/>
    <p:sldId id="484" r:id="rId130"/>
    <p:sldId id="485" r:id="rId131"/>
    <p:sldId id="486" r:id="rId132"/>
    <p:sldId id="487" r:id="rId133"/>
  </p:sldIdLst>
  <p:sldSz cx="9144000" cy="5143500" type="screen16x9"/>
  <p:notesSz cx="6858000" cy="9144000"/>
  <p:embeddedFontLst>
    <p:embeddedFont>
      <p:font typeface="Cambria Math" panose="02040503050406030204" pitchFamily="18" charset="0"/>
      <p:regular r:id="rId135"/>
    </p:embeddedFont>
    <p:embeddedFont>
      <p:font typeface="Malgun Gothic Semilight" panose="020B0502040204020203" pitchFamily="50" charset="-127"/>
      <p:regular r:id="rId136"/>
    </p:embeddedFont>
    <p:embeddedFont>
      <p:font typeface="Montserrat" panose="00000500000000000000" pitchFamily="2" charset="0"/>
      <p:regular r:id="rId137"/>
      <p:bold r:id="rId138"/>
      <p:italic r:id="rId139"/>
      <p:boldItalic r:id="rId140"/>
    </p:embeddedFont>
    <p:embeddedFont>
      <p:font typeface="Montserrat ExtraBold" panose="00000900000000000000" pitchFamily="2" charset="0"/>
      <p:bold r:id="rId141"/>
      <p:italic r:id="rId142"/>
      <p:boldItalic r:id="rId143"/>
    </p:embeddedFont>
    <p:embeddedFont>
      <p:font typeface="맑은 고딕" panose="020B0503020000020004" pitchFamily="50" charset="-127"/>
      <p:regular r:id="rId144"/>
      <p:bold r:id="rId145"/>
    </p:embeddedFont>
    <p:embeddedFont>
      <p:font typeface="맑은 고딕" panose="020B0503020000020004" pitchFamily="50" charset="-127"/>
      <p:regular r:id="rId144"/>
      <p:bold r:id="rId145"/>
    </p:embeddedFont>
    <p:embeddedFont>
      <p:font typeface="함초롬바탕" panose="02030504000101010101" pitchFamily="18" charset="-127"/>
      <p:regular r:id="rId146"/>
      <p:bold r:id="rId1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B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C28B2AB-E718-4DF9-ADA3-83340B5D2C4E}">
  <a:tblStyle styleId="{1C28B2AB-E718-4DF9-ADA3-83340B5D2C4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74585" autoAdjust="0"/>
  </p:normalViewPr>
  <p:slideViewPr>
    <p:cSldViewPr snapToGrid="0">
      <p:cViewPr>
        <p:scale>
          <a:sx n="100" d="100"/>
          <a:sy n="100" d="100"/>
        </p:scale>
        <p:origin x="72"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font" Target="fonts/font4.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font" Target="fonts/font10.fntdata"/><Relationship Id="rId149"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notesMaster" Target="notesMasters/notesMaster1.xml"/><Relationship Id="rId139" Type="http://schemas.openxmlformats.org/officeDocument/2006/relationships/font" Target="fonts/font5.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font" Target="fonts/font6.fntdata"/><Relationship Id="rId145"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font" Target="fonts/font1.fntdata"/><Relationship Id="rId143" Type="http://schemas.openxmlformats.org/officeDocument/2006/relationships/font" Target="fonts/font9.fntdata"/><Relationship Id="rId148" Type="http://schemas.openxmlformats.org/officeDocument/2006/relationships/presProps" Target="presProps.xml"/><Relationship Id="rId15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7.fntdata"/><Relationship Id="rId146"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8.fntdata"/><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6.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image" Target="../media/image79.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2.wmf"/><Relationship Id="rId1" Type="http://schemas.openxmlformats.org/officeDocument/2006/relationships/image" Target="../media/image8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15268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dirty="0"/>
          </a:p>
        </p:txBody>
      </p:sp>
    </p:spTree>
    <p:extLst>
      <p:ext uri="{BB962C8B-B14F-4D97-AF65-F5344CB8AC3E}">
        <p14:creationId xmlns:p14="http://schemas.microsoft.com/office/powerpoint/2010/main" val="750802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a:r>
            <a:endParaRPr dirty="0"/>
          </a:p>
        </p:txBody>
      </p:sp>
    </p:spTree>
    <p:extLst>
      <p:ext uri="{BB962C8B-B14F-4D97-AF65-F5344CB8AC3E}">
        <p14:creationId xmlns:p14="http://schemas.microsoft.com/office/powerpoint/2010/main" val="3988730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7472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88567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a:t>
            </a:r>
            <a:r>
              <a:rPr lang="ko-KR" altLang="en-US" dirty="0"/>
              <a:t> </a:t>
            </a:r>
            <a:endParaRPr dirty="0"/>
          </a:p>
        </p:txBody>
      </p:sp>
    </p:spTree>
    <p:extLst>
      <p:ext uri="{BB962C8B-B14F-4D97-AF65-F5344CB8AC3E}">
        <p14:creationId xmlns:p14="http://schemas.microsoft.com/office/powerpoint/2010/main" val="30023943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a:r>
            <a:endParaRPr dirty="0"/>
          </a:p>
        </p:txBody>
      </p:sp>
    </p:spTree>
    <p:extLst>
      <p:ext uri="{BB962C8B-B14F-4D97-AF65-F5344CB8AC3E}">
        <p14:creationId xmlns:p14="http://schemas.microsoft.com/office/powerpoint/2010/main" val="3662415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t>
            </a:r>
            <a:endParaRPr dirty="0"/>
          </a:p>
        </p:txBody>
      </p:sp>
    </p:spTree>
    <p:extLst>
      <p:ext uri="{BB962C8B-B14F-4D97-AF65-F5344CB8AC3E}">
        <p14:creationId xmlns:p14="http://schemas.microsoft.com/office/powerpoint/2010/main" val="1755006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9330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altLang="ko-KR" sz="1800" kern="0" dirty="0">
              <a:solidFill>
                <a:srgbClr val="000000"/>
              </a:solidFill>
              <a:effectLst/>
              <a:latin typeface="굴림" panose="020B0600000101010101" pitchFamily="50" charset="-127"/>
              <a:ea typeface="맑은 고딕" panose="020B0503020000020004" pitchFamily="50" charset="-127"/>
            </a:endParaRPr>
          </a:p>
        </p:txBody>
      </p:sp>
    </p:spTree>
    <p:extLst>
      <p:ext uri="{BB962C8B-B14F-4D97-AF65-F5344CB8AC3E}">
        <p14:creationId xmlns:p14="http://schemas.microsoft.com/office/powerpoint/2010/main" val="39449667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ko-KR" altLang="en-US" dirty="0"/>
          </a:p>
        </p:txBody>
      </p:sp>
    </p:spTree>
    <p:extLst>
      <p:ext uri="{BB962C8B-B14F-4D97-AF65-F5344CB8AC3E}">
        <p14:creationId xmlns:p14="http://schemas.microsoft.com/office/powerpoint/2010/main" val="1299491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lang="ko-KR" altLang="en-US" dirty="0"/>
          </a:p>
        </p:txBody>
      </p:sp>
    </p:spTree>
    <p:extLst>
      <p:ext uri="{BB962C8B-B14F-4D97-AF65-F5344CB8AC3E}">
        <p14:creationId xmlns:p14="http://schemas.microsoft.com/office/powerpoint/2010/main" val="15076807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dirty="0"/>
          </a:p>
        </p:txBody>
      </p:sp>
    </p:spTree>
    <p:extLst>
      <p:ext uri="{BB962C8B-B14F-4D97-AF65-F5344CB8AC3E}">
        <p14:creationId xmlns:p14="http://schemas.microsoft.com/office/powerpoint/2010/main" val="1370577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b="0" dirty="0"/>
          </a:p>
        </p:txBody>
      </p:sp>
    </p:spTree>
    <p:extLst>
      <p:ext uri="{BB962C8B-B14F-4D97-AF65-F5344CB8AC3E}">
        <p14:creationId xmlns:p14="http://schemas.microsoft.com/office/powerpoint/2010/main" val="3396370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b="0" dirty="0"/>
          </a:p>
        </p:txBody>
      </p:sp>
    </p:spTree>
    <p:extLst>
      <p:ext uri="{BB962C8B-B14F-4D97-AF65-F5344CB8AC3E}">
        <p14:creationId xmlns:p14="http://schemas.microsoft.com/office/powerpoint/2010/main" val="499851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b="0" dirty="0"/>
          </a:p>
        </p:txBody>
      </p:sp>
    </p:spTree>
    <p:extLst>
      <p:ext uri="{BB962C8B-B14F-4D97-AF65-F5344CB8AC3E}">
        <p14:creationId xmlns:p14="http://schemas.microsoft.com/office/powerpoint/2010/main" val="18666983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b="0" dirty="0"/>
          </a:p>
        </p:txBody>
      </p:sp>
    </p:spTree>
    <p:extLst>
      <p:ext uri="{BB962C8B-B14F-4D97-AF65-F5344CB8AC3E}">
        <p14:creationId xmlns:p14="http://schemas.microsoft.com/office/powerpoint/2010/main" val="2802959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ko-KR" altLang="en-US" b="0" dirty="0"/>
          </a:p>
        </p:txBody>
      </p:sp>
    </p:spTree>
    <p:extLst>
      <p:ext uri="{BB962C8B-B14F-4D97-AF65-F5344CB8AC3E}">
        <p14:creationId xmlns:p14="http://schemas.microsoft.com/office/powerpoint/2010/main" val="237346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6933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4538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26019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4406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329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219078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50445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32029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
        <p:cNvGrpSpPr/>
        <p:nvPr/>
      </p:nvGrpSpPr>
      <p:grpSpPr>
        <a:xfrm>
          <a:off x="0" y="0"/>
          <a:ext cx="0" cy="0"/>
          <a:chOff x="0" y="0"/>
          <a:chExt cx="0" cy="0"/>
        </a:xfrm>
      </p:grpSpPr>
      <p:sp>
        <p:nvSpPr>
          <p:cNvPr id="22" name="Google Shape;2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 name="Google Shape;2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 name="Google Shape;3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4" name="Google Shape;13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5787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71597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55150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35970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0981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539762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10970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54529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48704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340843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22877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7476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21485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7103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018779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44271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7450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90101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59051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613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88625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26143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0004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19626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endParaRPr lang="ko-KR" altLang="en-US" dirty="0"/>
          </a:p>
        </p:txBody>
      </p:sp>
    </p:spTree>
    <p:extLst>
      <p:ext uri="{BB962C8B-B14F-4D97-AF65-F5344CB8AC3E}">
        <p14:creationId xmlns:p14="http://schemas.microsoft.com/office/powerpoint/2010/main" val="35471794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80273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41803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57875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818886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66122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2882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41448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035988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246572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285539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80273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418034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5787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729023341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729023341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818886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66122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62882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414484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7246572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991205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0234951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7f9262ee2f_0_26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7f9262ee2f_0_26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570712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721167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080273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049144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92310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854028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35993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89318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294010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378288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53176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0"/>
        <p:cNvGrpSpPr/>
        <p:nvPr/>
      </p:nvGrpSpPr>
      <p:grpSpPr>
        <a:xfrm>
          <a:off x="0" y="0"/>
          <a:ext cx="0" cy="0"/>
          <a:chOff x="0" y="0"/>
          <a:chExt cx="0" cy="0"/>
        </a:xfrm>
      </p:grpSpPr>
      <p:sp>
        <p:nvSpPr>
          <p:cNvPr id="1971" name="Google Shape;1971;g7f9262ee2f_0_26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2" name="Google Shape;1972;g7f9262ee2f_0_26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5186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75900" y="1950100"/>
            <a:ext cx="4792200" cy="644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Clr>
                <a:schemeClr val="lt1"/>
              </a:buClr>
              <a:buSzPts val="3600"/>
              <a:buNone/>
              <a:defRPr sz="3600" b="1">
                <a:solidFill>
                  <a:schemeClr val="lt1"/>
                </a:solidFill>
              </a:defRPr>
            </a:lvl2pPr>
            <a:lvl3pPr lvl="2" algn="ctr">
              <a:spcBef>
                <a:spcPts val="0"/>
              </a:spcBef>
              <a:spcAft>
                <a:spcPts val="0"/>
              </a:spcAft>
              <a:buClr>
                <a:schemeClr val="lt1"/>
              </a:buClr>
              <a:buSzPts val="3600"/>
              <a:buNone/>
              <a:defRPr sz="3600" b="1">
                <a:solidFill>
                  <a:schemeClr val="lt1"/>
                </a:solidFill>
              </a:defRPr>
            </a:lvl3pPr>
            <a:lvl4pPr lvl="3" algn="ctr">
              <a:spcBef>
                <a:spcPts val="0"/>
              </a:spcBef>
              <a:spcAft>
                <a:spcPts val="0"/>
              </a:spcAft>
              <a:buClr>
                <a:schemeClr val="lt1"/>
              </a:buClr>
              <a:buSzPts val="3600"/>
              <a:buNone/>
              <a:defRPr sz="3600" b="1">
                <a:solidFill>
                  <a:schemeClr val="lt1"/>
                </a:solidFill>
              </a:defRPr>
            </a:lvl4pPr>
            <a:lvl5pPr lvl="4" algn="ctr">
              <a:spcBef>
                <a:spcPts val="0"/>
              </a:spcBef>
              <a:spcAft>
                <a:spcPts val="0"/>
              </a:spcAft>
              <a:buClr>
                <a:schemeClr val="lt1"/>
              </a:buClr>
              <a:buSzPts val="3600"/>
              <a:buNone/>
              <a:defRPr sz="3600" b="1">
                <a:solidFill>
                  <a:schemeClr val="lt1"/>
                </a:solidFill>
              </a:defRPr>
            </a:lvl5pPr>
            <a:lvl6pPr lvl="5" algn="ctr">
              <a:spcBef>
                <a:spcPts val="0"/>
              </a:spcBef>
              <a:spcAft>
                <a:spcPts val="0"/>
              </a:spcAft>
              <a:buClr>
                <a:schemeClr val="lt1"/>
              </a:buClr>
              <a:buSzPts val="3600"/>
              <a:buNone/>
              <a:defRPr sz="3600" b="1">
                <a:solidFill>
                  <a:schemeClr val="lt1"/>
                </a:solidFill>
              </a:defRPr>
            </a:lvl6pPr>
            <a:lvl7pPr lvl="6" algn="ctr">
              <a:spcBef>
                <a:spcPts val="0"/>
              </a:spcBef>
              <a:spcAft>
                <a:spcPts val="0"/>
              </a:spcAft>
              <a:buClr>
                <a:schemeClr val="lt1"/>
              </a:buClr>
              <a:buSzPts val="3600"/>
              <a:buNone/>
              <a:defRPr sz="3600" b="1">
                <a:solidFill>
                  <a:schemeClr val="lt1"/>
                </a:solidFill>
              </a:defRPr>
            </a:lvl7pPr>
            <a:lvl8pPr lvl="7" algn="ctr">
              <a:spcBef>
                <a:spcPts val="0"/>
              </a:spcBef>
              <a:spcAft>
                <a:spcPts val="0"/>
              </a:spcAft>
              <a:buClr>
                <a:schemeClr val="lt1"/>
              </a:buClr>
              <a:buSzPts val="3600"/>
              <a:buNone/>
              <a:defRPr sz="3600" b="1">
                <a:solidFill>
                  <a:schemeClr val="lt1"/>
                </a:solidFill>
              </a:defRPr>
            </a:lvl8pPr>
            <a:lvl9pPr lvl="8" algn="ctr">
              <a:spcBef>
                <a:spcPts val="0"/>
              </a:spcBef>
              <a:spcAft>
                <a:spcPts val="0"/>
              </a:spcAft>
              <a:buClr>
                <a:schemeClr val="lt1"/>
              </a:buClr>
              <a:buSzPts val="3600"/>
              <a:buNone/>
              <a:defRPr sz="3600" b="1">
                <a:solidFill>
                  <a:schemeClr val="lt1"/>
                </a:solidFill>
              </a:defRPr>
            </a:lvl9pPr>
          </a:lstStyle>
          <a:p>
            <a:endParaRPr/>
          </a:p>
        </p:txBody>
      </p:sp>
      <p:sp>
        <p:nvSpPr>
          <p:cNvPr id="10" name="Google Shape;10;p2"/>
          <p:cNvSpPr txBox="1">
            <a:spLocks noGrp="1"/>
          </p:cNvSpPr>
          <p:nvPr>
            <p:ph type="subTitle" idx="1"/>
          </p:nvPr>
        </p:nvSpPr>
        <p:spPr>
          <a:xfrm>
            <a:off x="2044200" y="3704650"/>
            <a:ext cx="5055600" cy="464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24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938500" y="1659275"/>
            <a:ext cx="4946400" cy="27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lt1"/>
              </a:buClr>
              <a:buSzPts val="1400"/>
              <a:buChar char="●"/>
              <a:defRPr sz="1400">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938500" y="445025"/>
            <a:ext cx="46293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938500"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5037525" y="1659275"/>
            <a:ext cx="3186900" cy="2760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lt1"/>
              </a:buClr>
              <a:buSzPts val="1400"/>
              <a:buChar char="●"/>
              <a:defRPr sz="1400">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Design 3">
  <p:cSld name="CAPTION_ONLY_1_1_1_2">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938500" y="445025"/>
            <a:ext cx="47022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7"/>
          <p:cNvSpPr txBox="1">
            <a:spLocks noGrp="1"/>
          </p:cNvSpPr>
          <p:nvPr>
            <p:ph type="ctrTitle"/>
          </p:nvPr>
        </p:nvSpPr>
        <p:spPr>
          <a:xfrm>
            <a:off x="4285500" y="2832875"/>
            <a:ext cx="3657300" cy="644700"/>
          </a:xfrm>
          <a:prstGeom prst="rect">
            <a:avLst/>
          </a:prstGeom>
          <a:noFill/>
          <a:ln>
            <a:noFill/>
          </a:ln>
          <a:effectLst>
            <a:outerShdw blurRad="57150" dist="19050" dir="5400000" algn="bl" rotWithShape="0">
              <a:srgbClr val="76A5AF">
                <a:alpha val="87843"/>
              </a:srgbClr>
            </a:outerShdw>
          </a:effectLst>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None/>
              <a:defRPr sz="6000" b="1">
                <a:solidFill>
                  <a:schemeClr val="lt1"/>
                </a:solidFill>
              </a:defRPr>
            </a:lvl1pPr>
            <a:lvl2pPr lvl="1" algn="ctr">
              <a:lnSpc>
                <a:spcPct val="100000"/>
              </a:lnSpc>
              <a:spcBef>
                <a:spcPts val="0"/>
              </a:spcBef>
              <a:spcAft>
                <a:spcPts val="0"/>
              </a:spcAft>
              <a:buClr>
                <a:schemeClr val="lt1"/>
              </a:buClr>
              <a:buSzPts val="3600"/>
              <a:buNone/>
              <a:defRPr sz="3600" b="1">
                <a:solidFill>
                  <a:schemeClr val="lt1"/>
                </a:solidFill>
              </a:defRPr>
            </a:lvl2pPr>
            <a:lvl3pPr lvl="2" algn="ctr">
              <a:lnSpc>
                <a:spcPct val="100000"/>
              </a:lnSpc>
              <a:spcBef>
                <a:spcPts val="0"/>
              </a:spcBef>
              <a:spcAft>
                <a:spcPts val="0"/>
              </a:spcAft>
              <a:buClr>
                <a:schemeClr val="lt1"/>
              </a:buClr>
              <a:buSzPts val="3600"/>
              <a:buNone/>
              <a:defRPr sz="3600" b="1">
                <a:solidFill>
                  <a:schemeClr val="lt1"/>
                </a:solidFill>
              </a:defRPr>
            </a:lvl3pPr>
            <a:lvl4pPr lvl="3" algn="ctr">
              <a:lnSpc>
                <a:spcPct val="100000"/>
              </a:lnSpc>
              <a:spcBef>
                <a:spcPts val="0"/>
              </a:spcBef>
              <a:spcAft>
                <a:spcPts val="0"/>
              </a:spcAft>
              <a:buClr>
                <a:schemeClr val="lt1"/>
              </a:buClr>
              <a:buSzPts val="3600"/>
              <a:buNone/>
              <a:defRPr sz="3600" b="1">
                <a:solidFill>
                  <a:schemeClr val="lt1"/>
                </a:solidFill>
              </a:defRPr>
            </a:lvl4pPr>
            <a:lvl5pPr lvl="4" algn="ctr">
              <a:lnSpc>
                <a:spcPct val="100000"/>
              </a:lnSpc>
              <a:spcBef>
                <a:spcPts val="0"/>
              </a:spcBef>
              <a:spcAft>
                <a:spcPts val="0"/>
              </a:spcAft>
              <a:buClr>
                <a:schemeClr val="lt1"/>
              </a:buClr>
              <a:buSzPts val="3600"/>
              <a:buNone/>
              <a:defRPr sz="3600" b="1">
                <a:solidFill>
                  <a:schemeClr val="lt1"/>
                </a:solidFill>
              </a:defRPr>
            </a:lvl5pPr>
            <a:lvl6pPr lvl="5" algn="ctr">
              <a:lnSpc>
                <a:spcPct val="100000"/>
              </a:lnSpc>
              <a:spcBef>
                <a:spcPts val="0"/>
              </a:spcBef>
              <a:spcAft>
                <a:spcPts val="0"/>
              </a:spcAft>
              <a:buClr>
                <a:schemeClr val="lt1"/>
              </a:buClr>
              <a:buSzPts val="3600"/>
              <a:buNone/>
              <a:defRPr sz="3600" b="1">
                <a:solidFill>
                  <a:schemeClr val="lt1"/>
                </a:solidFill>
              </a:defRPr>
            </a:lvl6pPr>
            <a:lvl7pPr lvl="6" algn="ctr">
              <a:lnSpc>
                <a:spcPct val="100000"/>
              </a:lnSpc>
              <a:spcBef>
                <a:spcPts val="0"/>
              </a:spcBef>
              <a:spcAft>
                <a:spcPts val="0"/>
              </a:spcAft>
              <a:buClr>
                <a:schemeClr val="lt1"/>
              </a:buClr>
              <a:buSzPts val="3600"/>
              <a:buNone/>
              <a:defRPr sz="3600" b="1">
                <a:solidFill>
                  <a:schemeClr val="lt1"/>
                </a:solidFill>
              </a:defRPr>
            </a:lvl7pPr>
            <a:lvl8pPr lvl="7" algn="ctr">
              <a:lnSpc>
                <a:spcPct val="100000"/>
              </a:lnSpc>
              <a:spcBef>
                <a:spcPts val="0"/>
              </a:spcBef>
              <a:spcAft>
                <a:spcPts val="0"/>
              </a:spcAft>
              <a:buClr>
                <a:schemeClr val="lt1"/>
              </a:buClr>
              <a:buSzPts val="3600"/>
              <a:buNone/>
              <a:defRPr sz="3600" b="1">
                <a:solidFill>
                  <a:schemeClr val="lt1"/>
                </a:solidFill>
              </a:defRPr>
            </a:lvl8pPr>
            <a:lvl9pPr lvl="8" algn="ctr">
              <a:lnSpc>
                <a:spcPct val="100000"/>
              </a:lnSpc>
              <a:spcBef>
                <a:spcPts val="0"/>
              </a:spcBef>
              <a:spcAft>
                <a:spcPts val="0"/>
              </a:spcAft>
              <a:buClr>
                <a:schemeClr val="lt1"/>
              </a:buClr>
              <a:buSzPts val="3600"/>
              <a:buNone/>
              <a:defRPr sz="3600" b="1">
                <a:solidFill>
                  <a:schemeClr val="lt1"/>
                </a:solidFill>
              </a:defRPr>
            </a:lvl9pPr>
          </a:lstStyle>
          <a:p>
            <a:endParaRPr/>
          </a:p>
        </p:txBody>
      </p:sp>
      <p:sp>
        <p:nvSpPr>
          <p:cNvPr id="15" name="Google Shape;15;p27"/>
          <p:cNvSpPr txBox="1">
            <a:spLocks noGrp="1"/>
          </p:cNvSpPr>
          <p:nvPr>
            <p:ph type="subTitle" idx="1"/>
          </p:nvPr>
        </p:nvSpPr>
        <p:spPr>
          <a:xfrm>
            <a:off x="4144050" y="3549850"/>
            <a:ext cx="3940200" cy="464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400">
                <a:solidFill>
                  <a:schemeClr val="accent1"/>
                </a:solidFill>
              </a:defRPr>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a:endParaRPr/>
          </a:p>
        </p:txBody>
      </p:sp>
    </p:spTree>
    <p:extLst>
      <p:ext uri="{BB962C8B-B14F-4D97-AF65-F5344CB8AC3E}">
        <p14:creationId xmlns:p14="http://schemas.microsoft.com/office/powerpoint/2010/main" val="2468266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938500" y="445025"/>
            <a:ext cx="5735700" cy="941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24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938500" y="1246025"/>
            <a:ext cx="7172100" cy="30399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Clr>
                <a:schemeClr val="lt1"/>
              </a:buClr>
              <a:buSzPts val="1150"/>
              <a:buChar char="●"/>
              <a:defRPr sz="1150">
                <a:solidFill>
                  <a:schemeClr val="lt1"/>
                </a:solidFill>
              </a:defRPr>
            </a:lvl1pPr>
            <a:lvl2pPr marL="914400" lvl="1" indent="-301625" rtl="0">
              <a:spcBef>
                <a:spcPts val="1600"/>
              </a:spcBef>
              <a:spcAft>
                <a:spcPts val="0"/>
              </a:spcAft>
              <a:buClr>
                <a:schemeClr val="lt1"/>
              </a:buClr>
              <a:buSzPts val="1150"/>
              <a:buChar char="○"/>
              <a:defRPr sz="1150">
                <a:solidFill>
                  <a:schemeClr val="lt1"/>
                </a:solidFill>
              </a:defRPr>
            </a:lvl2pPr>
            <a:lvl3pPr marL="1371600" lvl="2" indent="-301625" rtl="0">
              <a:spcBef>
                <a:spcPts val="1600"/>
              </a:spcBef>
              <a:spcAft>
                <a:spcPts val="0"/>
              </a:spcAft>
              <a:buClr>
                <a:schemeClr val="lt1"/>
              </a:buClr>
              <a:buSzPts val="1150"/>
              <a:buChar char="■"/>
              <a:defRPr sz="1150">
                <a:solidFill>
                  <a:schemeClr val="lt1"/>
                </a:solidFill>
              </a:defRPr>
            </a:lvl3pPr>
            <a:lvl4pPr marL="1828800" lvl="3" indent="-301625" rtl="0">
              <a:spcBef>
                <a:spcPts val="1600"/>
              </a:spcBef>
              <a:spcAft>
                <a:spcPts val="0"/>
              </a:spcAft>
              <a:buClr>
                <a:schemeClr val="lt1"/>
              </a:buClr>
              <a:buSzPts val="1150"/>
              <a:buChar char="●"/>
              <a:defRPr sz="1150">
                <a:solidFill>
                  <a:schemeClr val="lt1"/>
                </a:solidFill>
              </a:defRPr>
            </a:lvl4pPr>
            <a:lvl5pPr marL="2286000" lvl="4" indent="-301625" rtl="0">
              <a:spcBef>
                <a:spcPts val="1600"/>
              </a:spcBef>
              <a:spcAft>
                <a:spcPts val="0"/>
              </a:spcAft>
              <a:buClr>
                <a:schemeClr val="lt1"/>
              </a:buClr>
              <a:buSzPts val="1150"/>
              <a:buChar char="○"/>
              <a:defRPr sz="1150">
                <a:solidFill>
                  <a:schemeClr val="lt1"/>
                </a:solidFill>
              </a:defRPr>
            </a:lvl5pPr>
            <a:lvl6pPr marL="2743200" lvl="5" indent="-301625" rtl="0">
              <a:spcBef>
                <a:spcPts val="1600"/>
              </a:spcBef>
              <a:spcAft>
                <a:spcPts val="0"/>
              </a:spcAft>
              <a:buClr>
                <a:schemeClr val="lt1"/>
              </a:buClr>
              <a:buSzPts val="1150"/>
              <a:buChar char="■"/>
              <a:defRPr sz="1150">
                <a:solidFill>
                  <a:schemeClr val="lt1"/>
                </a:solidFill>
              </a:defRPr>
            </a:lvl6pPr>
            <a:lvl7pPr marL="3200400" lvl="6" indent="-301625" rtl="0">
              <a:spcBef>
                <a:spcPts val="1600"/>
              </a:spcBef>
              <a:spcAft>
                <a:spcPts val="0"/>
              </a:spcAft>
              <a:buClr>
                <a:schemeClr val="lt1"/>
              </a:buClr>
              <a:buSzPts val="1150"/>
              <a:buChar char="●"/>
              <a:defRPr sz="1150">
                <a:solidFill>
                  <a:schemeClr val="lt1"/>
                </a:solidFill>
              </a:defRPr>
            </a:lvl7pPr>
            <a:lvl8pPr marL="3657600" lvl="7" indent="-301625" rtl="0">
              <a:spcBef>
                <a:spcPts val="1600"/>
              </a:spcBef>
              <a:spcAft>
                <a:spcPts val="0"/>
              </a:spcAft>
              <a:buClr>
                <a:schemeClr val="lt1"/>
              </a:buClr>
              <a:buSzPts val="1150"/>
              <a:buChar char="○"/>
              <a:defRPr sz="1150">
                <a:solidFill>
                  <a:schemeClr val="lt1"/>
                </a:solidFill>
              </a:defRPr>
            </a:lvl8pPr>
            <a:lvl9pPr marL="4114800" lvl="8" indent="-301625" rtl="0">
              <a:spcBef>
                <a:spcPts val="1600"/>
              </a:spcBef>
              <a:spcAft>
                <a:spcPts val="1600"/>
              </a:spcAft>
              <a:buClr>
                <a:schemeClr val="lt1"/>
              </a:buClr>
              <a:buSzPts val="1150"/>
              <a:buChar char="■"/>
              <a:defRPr sz="1150">
                <a:solidFill>
                  <a:schemeClr val="lt1"/>
                </a:solidFill>
              </a:defRPr>
            </a:lvl9pPr>
          </a:lstStyle>
          <a:p>
            <a:endParaRPr/>
          </a:p>
        </p:txBody>
      </p:sp>
    </p:spTree>
    <p:extLst>
      <p:ext uri="{BB962C8B-B14F-4D97-AF65-F5344CB8AC3E}">
        <p14:creationId xmlns:p14="http://schemas.microsoft.com/office/powerpoint/2010/main" val="221853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8" r:id="rId4"/>
    <p:sldLayoutId id="2147483669" r:id="rId5"/>
    <p:sldLayoutId id="2147483684" r:id="rId6"/>
    <p:sldLayoutId id="214748368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29.jpg"/></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4.jpg"/></Relationships>
</file>

<file path=ppt/slides/_rels/slide4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image" Target="../media/image39.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7.xml"/><Relationship Id="rId1" Type="http://schemas.openxmlformats.org/officeDocument/2006/relationships/slideLayout" Target="../slideLayouts/slideLayout5.xml"/><Relationship Id="rId5" Type="http://schemas.openxmlformats.org/officeDocument/2006/relationships/image" Target="../media/image45.JPG"/><Relationship Id="rId4" Type="http://schemas.openxmlformats.org/officeDocument/2006/relationships/image" Target="NULL"/></Relationships>
</file>

<file path=ppt/slides/_rels/slide5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8.xml"/><Relationship Id="rId1" Type="http://schemas.openxmlformats.org/officeDocument/2006/relationships/slideLayout" Target="../slideLayouts/slideLayout5.xml"/><Relationship Id="rId4" Type="http://schemas.openxmlformats.org/officeDocument/2006/relationships/image" Target="NULL"/></Relationships>
</file>

<file path=ppt/slides/_rels/slide5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9.xml"/><Relationship Id="rId1" Type="http://schemas.openxmlformats.org/officeDocument/2006/relationships/slideLayout" Target="../slideLayouts/slideLayout5.xml"/><Relationship Id="rId5" Type="http://schemas.openxmlformats.org/officeDocument/2006/relationships/image" Target="NULL"/><Relationship Id="rId4" Type="http://schemas.openxmlformats.org/officeDocument/2006/relationships/image" Target="NULL"/></Relationships>
</file>

<file path=ppt/slides/_rels/slide6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0.xml"/><Relationship Id="rId1" Type="http://schemas.openxmlformats.org/officeDocument/2006/relationships/slideLayout" Target="../slideLayouts/slideLayout5.xml"/><Relationship Id="rId5" Type="http://schemas.openxmlformats.org/officeDocument/2006/relationships/image" Target="../media/image47.JPG"/><Relationship Id="rId4" Type="http://schemas.openxmlformats.org/officeDocument/2006/relationships/image" Target="../media/image46.JP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8.xml"/><Relationship Id="rId1" Type="http://schemas.openxmlformats.org/officeDocument/2006/relationships/slideLayout" Target="../slideLayouts/slideLayout5.xml"/><Relationship Id="rId4" Type="http://schemas.openxmlformats.org/officeDocument/2006/relationships/image" Target="NULL"/></Relationships>
</file>

<file path=ppt/slides/_rels/slide6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jpe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e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81.xml"/><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83.png"/><Relationship Id="rId4" Type="http://schemas.openxmlformats.org/officeDocument/2006/relationships/image" Target="../media/image710.png"/></Relationships>
</file>

<file path=ppt/slides/_rels/slide10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0.xml"/><Relationship Id="rId1" Type="http://schemas.openxmlformats.org/officeDocument/2006/relationships/slideLayout" Target="../slideLayouts/slideLayout7.xml"/><Relationship Id="rId4" Type="http://schemas.openxmlformats.org/officeDocument/2006/relationships/image" Target="NULL"/></Relationships>
</file>

<file path=ppt/slides/_rels/slide1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notesSlide" Target="../notesSlides/notesSlide93.xml"/><Relationship Id="rId7" Type="http://schemas.openxmlformats.org/officeDocument/2006/relationships/image" Target="NUL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77.jpeg"/><Relationship Id="rId5" Type="http://schemas.openxmlformats.org/officeDocument/2006/relationships/image" Target="../media/image76.png"/><Relationship Id="rId4" Type="http://schemas.openxmlformats.org/officeDocument/2006/relationships/oleObject" Target="../embeddings/oleObject1.bin"/></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94.xml"/><Relationship Id="rId7" Type="http://schemas.openxmlformats.org/officeDocument/2006/relationships/image" Target="../media/image79.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media/image80.png"/></Relationships>
</file>

<file path=ppt/slides/_rels/slide120.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notesSlide" Target="../notesSlides/notesSlide95.xml"/><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81.png"/><Relationship Id="rId5" Type="http://schemas.openxmlformats.org/officeDocument/2006/relationships/oleObject" Target="../embeddings/oleObject4.bin"/><Relationship Id="rId4" Type="http://schemas.openxmlformats.org/officeDocument/2006/relationships/image" Target="NULL"/></Relationships>
</file>

<file path=ppt/slides/_rels/slide121.xml.rels><?xml version="1.0" encoding="UTF-8" standalone="yes"?>
<Relationships xmlns="http://schemas.openxmlformats.org/package/2006/relationships"><Relationship Id="rId8" Type="http://schemas.openxmlformats.org/officeDocument/2006/relationships/image" Target="../media/image85.jpeg"/><Relationship Id="rId3" Type="http://schemas.openxmlformats.org/officeDocument/2006/relationships/notesSlide" Target="../notesSlides/notesSlide96.xml"/><Relationship Id="rId7" Type="http://schemas.openxmlformats.org/officeDocument/2006/relationships/image" Target="../media/image84.png"/><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6.bin"/><Relationship Id="rId5" Type="http://schemas.openxmlformats.org/officeDocument/2006/relationships/image" Target="NULL"/><Relationship Id="rId4" Type="http://schemas.openxmlformats.org/officeDocument/2006/relationships/image" Target="NUL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0.xml"/><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8"/>
          <p:cNvSpPr txBox="1">
            <a:spLocks noGrp="1"/>
          </p:cNvSpPr>
          <p:nvPr>
            <p:ph type="ctrTitle"/>
          </p:nvPr>
        </p:nvSpPr>
        <p:spPr>
          <a:xfrm>
            <a:off x="2175900" y="1950100"/>
            <a:ext cx="4792200" cy="644700"/>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ko-KR" altLang="en-US" dirty="0"/>
              <a:t>한국형 항법위성 구현</a:t>
            </a:r>
            <a:endParaRPr dirty="0"/>
          </a:p>
        </p:txBody>
      </p:sp>
      <p:sp>
        <p:nvSpPr>
          <p:cNvPr id="164" name="Google Shape;164;p38"/>
          <p:cNvSpPr txBox="1">
            <a:spLocks noGrp="1"/>
          </p:cNvSpPr>
          <p:nvPr>
            <p:ph type="ctrTitle"/>
          </p:nvPr>
        </p:nvSpPr>
        <p:spPr>
          <a:xfrm>
            <a:off x="2941650" y="2788681"/>
            <a:ext cx="3260700" cy="1290400"/>
          </a:xfrm>
          <a:prstGeom prst="rect">
            <a:avLst/>
          </a:prstGeom>
          <a:effectLst>
            <a:outerShdw blurRad="100013" dist="19050" dir="8460000" algn="bl" rotWithShape="0">
              <a:srgbClr val="76A5AF">
                <a:alpha val="50000"/>
              </a:srgb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US" sz="1100" b="0" dirty="0">
                <a:latin typeface="Montserrat ExtraBold" panose="00000900000000000000" pitchFamily="2" charset="0"/>
                <a:ea typeface="Montserrat ExtraLight"/>
                <a:cs typeface="Montserrat ExtraLight"/>
                <a:sym typeface="Montserrat ExtraLight"/>
              </a:rPr>
              <a:t>2016135028</a:t>
            </a:r>
            <a:r>
              <a:rPr lang="ko-KR" altLang="en-US" sz="1100" b="0" dirty="0">
                <a:latin typeface="Montserrat ExtraBold" panose="00000900000000000000" pitchFamily="2" charset="0"/>
                <a:ea typeface="Montserrat ExtraLight"/>
                <a:cs typeface="Montserrat ExtraLight"/>
                <a:sym typeface="Montserrat ExtraLight"/>
              </a:rPr>
              <a:t> 신동화</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2017135009</a:t>
            </a:r>
            <a:r>
              <a:rPr lang="ko-KR" altLang="en-US" sz="1100" b="0" dirty="0">
                <a:latin typeface="Montserrat ExtraBold" panose="00000900000000000000" pitchFamily="2" charset="0"/>
                <a:ea typeface="Montserrat ExtraLight"/>
                <a:cs typeface="Montserrat ExtraLight"/>
                <a:sym typeface="Montserrat ExtraLight"/>
              </a:rPr>
              <a:t> </a:t>
            </a:r>
            <a:r>
              <a:rPr lang="ko-KR" altLang="en-US" sz="1100" b="0" dirty="0" err="1">
                <a:latin typeface="Montserrat ExtraBold" panose="00000900000000000000" pitchFamily="2" charset="0"/>
                <a:ea typeface="Montserrat ExtraLight"/>
                <a:cs typeface="Montserrat ExtraLight"/>
                <a:sym typeface="Montserrat ExtraLight"/>
              </a:rPr>
              <a:t>장덕민</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2014135023 </a:t>
            </a:r>
            <a:r>
              <a:rPr lang="ko-KR" altLang="en-US" sz="1100" b="0" dirty="0">
                <a:latin typeface="Montserrat ExtraBold" panose="00000900000000000000" pitchFamily="2" charset="0"/>
                <a:ea typeface="Montserrat ExtraLight"/>
                <a:cs typeface="Montserrat ExtraLight"/>
                <a:sym typeface="Montserrat ExtraLight"/>
              </a:rPr>
              <a:t>임지훈</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2016135014 </a:t>
            </a:r>
            <a:r>
              <a:rPr lang="ko-KR" altLang="en-US" sz="1100" b="0" dirty="0" err="1">
                <a:latin typeface="Montserrat ExtraBold" panose="00000900000000000000" pitchFamily="2" charset="0"/>
                <a:ea typeface="Montserrat ExtraLight"/>
                <a:cs typeface="Montserrat ExtraLight"/>
                <a:sym typeface="Montserrat ExtraLight"/>
              </a:rPr>
              <a:t>김규민</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2014251149 </a:t>
            </a:r>
            <a:r>
              <a:rPr lang="ko-KR" altLang="en-US" sz="1100" b="0" dirty="0" err="1">
                <a:latin typeface="Montserrat ExtraBold" panose="00000900000000000000" pitchFamily="2" charset="0"/>
                <a:ea typeface="Montserrat ExtraLight"/>
                <a:cs typeface="Montserrat ExtraLight"/>
                <a:sym typeface="Montserrat ExtraLight"/>
              </a:rPr>
              <a:t>배윤관</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2015135031 </a:t>
            </a:r>
            <a:r>
              <a:rPr lang="ko-KR" altLang="en-US" sz="1100" b="0" dirty="0">
                <a:latin typeface="Montserrat ExtraBold" panose="00000900000000000000" pitchFamily="2" charset="0"/>
                <a:ea typeface="Montserrat ExtraLight"/>
                <a:cs typeface="Montserrat ExtraLight"/>
                <a:sym typeface="Montserrat ExtraLight"/>
              </a:rPr>
              <a:t>김명현</a:t>
            </a:r>
            <a:br>
              <a:rPr lang="en-US" altLang="ko-KR" sz="1100" b="0" dirty="0">
                <a:latin typeface="Montserrat ExtraBold" panose="00000900000000000000" pitchFamily="2" charset="0"/>
                <a:ea typeface="Montserrat ExtraLight"/>
                <a:cs typeface="Montserrat ExtraLight"/>
                <a:sym typeface="Montserrat ExtraLight"/>
              </a:rPr>
            </a:br>
            <a:r>
              <a:rPr lang="en-US" altLang="ko-KR" sz="1100" b="0" dirty="0">
                <a:latin typeface="Montserrat ExtraBold" panose="00000900000000000000" pitchFamily="2" charset="0"/>
                <a:ea typeface="Montserrat ExtraLight"/>
                <a:cs typeface="Montserrat ExtraLight"/>
                <a:sym typeface="Montserrat ExtraLight"/>
              </a:rPr>
              <a:t>2015251109 </a:t>
            </a:r>
            <a:r>
              <a:rPr lang="ko-KR" altLang="en-US" sz="1100" b="0" dirty="0" err="1">
                <a:latin typeface="Montserrat ExtraBold" panose="00000900000000000000" pitchFamily="2" charset="0"/>
                <a:ea typeface="Montserrat ExtraLight"/>
                <a:cs typeface="Montserrat ExtraLight"/>
                <a:sym typeface="Montserrat ExtraLight"/>
              </a:rPr>
              <a:t>이진진</a:t>
            </a:r>
            <a:br>
              <a:rPr lang="en-US" altLang="ko-KR" sz="1100" b="0" dirty="0">
                <a:latin typeface="Montserrat ExtraBold" panose="00000900000000000000" pitchFamily="2" charset="0"/>
                <a:ea typeface="Montserrat ExtraLight"/>
                <a:cs typeface="Montserrat ExtraLight"/>
                <a:sym typeface="Montserrat ExtraLight"/>
              </a:rPr>
            </a:br>
            <a:endParaRPr sz="1100" b="0" dirty="0">
              <a:latin typeface="Montserrat ExtraBold" panose="00000900000000000000" pitchFamily="2" charset="0"/>
              <a:ea typeface="Montserrat ExtraLight"/>
              <a:cs typeface="Montserrat ExtraLight"/>
              <a:sym typeface="Montserrat ExtraLight"/>
            </a:endParaRPr>
          </a:p>
        </p:txBody>
      </p:sp>
      <p:cxnSp>
        <p:nvCxnSpPr>
          <p:cNvPr id="165" name="Google Shape;165;p38"/>
          <p:cNvCxnSpPr/>
          <p:nvPr/>
        </p:nvCxnSpPr>
        <p:spPr>
          <a:xfrm>
            <a:off x="3190500" y="256517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025"/>
            <a:ext cx="78554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1. Mission Statement</a:t>
            </a:r>
            <a:endParaRPr sz="2800" dirty="0">
              <a:solidFill>
                <a:schemeClr val="accent1"/>
              </a:solidFill>
            </a:endParaRPr>
          </a:p>
        </p:txBody>
      </p:sp>
      <p:sp>
        <p:nvSpPr>
          <p:cNvPr id="215" name="Google Shape;215;p44"/>
          <p:cNvSpPr txBox="1">
            <a:spLocks noGrp="1"/>
          </p:cNvSpPr>
          <p:nvPr>
            <p:ph type="body" idx="1"/>
          </p:nvPr>
        </p:nvSpPr>
        <p:spPr>
          <a:xfrm>
            <a:off x="1026200" y="1417427"/>
            <a:ext cx="7512556" cy="3070203"/>
          </a:xfrm>
          <a:prstGeom prst="rect">
            <a:avLst/>
          </a:prstGeom>
        </p:spPr>
        <p:txBody>
          <a:bodyPr spcFirstLastPara="1" wrap="square" lIns="91425" tIns="91425" rIns="91425" bIns="91425" anchor="t" anchorCtr="0">
            <a:noAutofit/>
          </a:bodyPr>
          <a:lstStyle/>
          <a:p>
            <a:pPr>
              <a:spcBef>
                <a:spcPts val="1600"/>
              </a:spcBef>
            </a:pPr>
            <a:r>
              <a:rPr lang="en-US" altLang="ko-KR" sz="1400" dirty="0">
                <a:solidFill>
                  <a:schemeClr val="lt1"/>
                </a:solidFill>
                <a:latin typeface="Arial" panose="020B0604020202020204" pitchFamily="34" charset="0"/>
                <a:ea typeface="+mj-ea"/>
                <a:cs typeface="Arial" panose="020B0604020202020204" pitchFamily="34" charset="0"/>
              </a:rPr>
              <a:t>GPS </a:t>
            </a:r>
            <a:r>
              <a:rPr lang="ko-KR" altLang="en-US" sz="1400" dirty="0">
                <a:solidFill>
                  <a:schemeClr val="lt1"/>
                </a:solidFill>
                <a:latin typeface="Arial" panose="020B0604020202020204" pitchFamily="34" charset="0"/>
                <a:ea typeface="+mj-ea"/>
                <a:cs typeface="Arial" panose="020B0604020202020204" pitchFamily="34" charset="0"/>
              </a:rPr>
              <a:t>서비스 중단에 대비한 대한민국만의 위성 항법 시스템이 필요성 증대</a:t>
            </a:r>
            <a:endParaRPr lang="en-US" altLang="ko-KR" sz="1400" dirty="0">
              <a:solidFill>
                <a:schemeClr val="lt1"/>
              </a:solidFill>
              <a:latin typeface="Arial" panose="020B0604020202020204" pitchFamily="34" charset="0"/>
              <a:ea typeface="+mj-ea"/>
              <a:cs typeface="Arial" panose="020B0604020202020204" pitchFamily="34" charset="0"/>
            </a:endParaRPr>
          </a:p>
          <a:p>
            <a:pPr marL="139700" lvl="0" indent="0" algn="l" rtl="0">
              <a:spcBef>
                <a:spcPts val="1600"/>
              </a:spcBef>
              <a:spcAft>
                <a:spcPts val="0"/>
              </a:spcAft>
              <a:buSzPts val="1400"/>
              <a:buNone/>
            </a:pPr>
            <a:endParaRPr lang="en-US" altLang="ko-KR" dirty="0">
              <a:latin typeface="Arial" panose="020B0604020202020204" pitchFamily="34" charset="0"/>
              <a:ea typeface="+mj-ea"/>
              <a:cs typeface="Arial" panose="020B0604020202020204" pitchFamily="34" charset="0"/>
            </a:endParaRPr>
          </a:p>
          <a:p>
            <a:pPr>
              <a:spcBef>
                <a:spcPts val="1600"/>
              </a:spcBef>
            </a:pPr>
            <a:r>
              <a:rPr lang="ko-KR" altLang="en-US" sz="1400" dirty="0">
                <a:solidFill>
                  <a:schemeClr val="lt1"/>
                </a:solidFill>
                <a:latin typeface="Arial" panose="020B0604020202020204" pitchFamily="34" charset="0"/>
                <a:ea typeface="+mj-ea"/>
                <a:cs typeface="Arial" panose="020B0604020202020204" pitchFamily="34" charset="0"/>
              </a:rPr>
              <a:t>군사 임무 수행을 위한 위치정보의 기밀성 확보</a:t>
            </a:r>
          </a:p>
          <a:p>
            <a:pPr marL="457200" lvl="0" indent="-317500" algn="l" rtl="0">
              <a:spcBef>
                <a:spcPts val="1600"/>
              </a:spcBef>
              <a:spcAft>
                <a:spcPts val="0"/>
              </a:spcAft>
              <a:buSzPts val="1400"/>
              <a:buChar char="●"/>
            </a:pPr>
            <a:endParaRPr lang="en-US" altLang="ko-KR" dirty="0">
              <a:latin typeface="Arial" panose="020B0604020202020204" pitchFamily="34" charset="0"/>
              <a:ea typeface="+mj-ea"/>
              <a:cs typeface="Arial" panose="020B0604020202020204" pitchFamily="34" charset="0"/>
            </a:endParaRPr>
          </a:p>
          <a:p>
            <a:pPr>
              <a:spcBef>
                <a:spcPts val="1600"/>
              </a:spcBef>
            </a:pPr>
            <a:r>
              <a:rPr lang="ko-KR" altLang="en-US" sz="1400" dirty="0">
                <a:solidFill>
                  <a:schemeClr val="lt1"/>
                </a:solidFill>
                <a:latin typeface="Arial" panose="020B0604020202020204" pitchFamily="34" charset="0"/>
                <a:ea typeface="+mj-ea"/>
                <a:cs typeface="Arial" panose="020B0604020202020204" pitchFamily="34" charset="0"/>
              </a:rPr>
              <a:t>우주 산업시대에 대비한 기술 개발</a:t>
            </a: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161265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1.1 Define broad objectives and constraints</a:t>
            </a:r>
            <a:endParaRPr lang="en-US"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2" name="표 2">
            <a:extLst>
              <a:ext uri="{FF2B5EF4-FFF2-40B4-BE49-F238E27FC236}">
                <a16:creationId xmlns:a16="http://schemas.microsoft.com/office/drawing/2014/main" id="{C5916ED5-893D-4B56-A06E-9A027553C9C2}"/>
              </a:ext>
            </a:extLst>
          </p:cNvPr>
          <p:cNvGraphicFramePr>
            <a:graphicFrameLocks noGrp="1"/>
          </p:cNvGraphicFramePr>
          <p:nvPr>
            <p:extLst>
              <p:ext uri="{D42A27DB-BD31-4B8C-83A1-F6EECF244321}">
                <p14:modId xmlns:p14="http://schemas.microsoft.com/office/powerpoint/2010/main" val="1205485700"/>
              </p:ext>
            </p:extLst>
          </p:nvPr>
        </p:nvGraphicFramePr>
        <p:xfrm>
          <a:off x="938500" y="1821670"/>
          <a:ext cx="7333964" cy="1373132"/>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467863794"/>
                    </a:ext>
                  </a:extLst>
                </a:gridCol>
                <a:gridCol w="5952982">
                  <a:extLst>
                    <a:ext uri="{9D8B030D-6E8A-4147-A177-3AD203B41FA5}">
                      <a16:colId xmlns:a16="http://schemas.microsoft.com/office/drawing/2014/main" val="2403154746"/>
                    </a:ext>
                  </a:extLst>
                </a:gridCol>
              </a:tblGrid>
              <a:tr h="686566">
                <a:tc>
                  <a:txBody>
                    <a:bodyPr/>
                    <a:lstStyle/>
                    <a:p>
                      <a:pPr algn="just" latinLnBrk="1"/>
                      <a:r>
                        <a:rPr lang="en-US" altLang="ko-KR" dirty="0">
                          <a:solidFill>
                            <a:schemeClr val="bg1"/>
                          </a:solidFill>
                        </a:rPr>
                        <a:t>Primary objective</a:t>
                      </a:r>
                      <a:endParaRPr lang="ko-KR" altLang="en-US" dirty="0">
                        <a:solidFill>
                          <a:schemeClr val="bg1"/>
                        </a:solidFill>
                      </a:endParaRPr>
                    </a:p>
                  </a:txBody>
                  <a:tcPr anchor="ctr" anchorCtr="1">
                    <a:solidFill>
                      <a:schemeClr val="tx2">
                        <a:lumMod val="75000"/>
                      </a:schemeClr>
                    </a:solidFill>
                  </a:tcPr>
                </a:tc>
                <a:tc>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495716348"/>
                  </a:ext>
                </a:extLst>
              </a:tr>
              <a:tr h="686566">
                <a:tc>
                  <a:txBody>
                    <a:bodyPr/>
                    <a:lstStyle/>
                    <a:p>
                      <a:pPr algn="just" latinLnBrk="1"/>
                      <a:r>
                        <a:rPr lang="en-US" altLang="ko-KR" dirty="0">
                          <a:solidFill>
                            <a:schemeClr val="bg1"/>
                          </a:solidFill>
                        </a:rPr>
                        <a:t>Secondary objective</a:t>
                      </a:r>
                      <a:endParaRPr lang="ko-KR" altLang="en-US" dirty="0">
                        <a:solidFill>
                          <a:schemeClr val="bg1"/>
                        </a:solidFill>
                      </a:endParaRPr>
                    </a:p>
                  </a:txBody>
                  <a:tcPr anchor="ctr" anchorCtr="1">
                    <a:solidFill>
                      <a:schemeClr val="tx2">
                        <a:lumMod val="75000"/>
                      </a:schemeClr>
                    </a:solidFill>
                  </a:tcPr>
                </a:tc>
                <a:tc>
                  <a:txBody>
                    <a:bodyPr/>
                    <a:lstStyle/>
                    <a:p>
                      <a:pPr algn="just" latinLnBrk="1"/>
                      <a:r>
                        <a:rPr lang="ko-KR" altLang="en-US" dirty="0">
                          <a:solidFill>
                            <a:schemeClr val="bg1"/>
                          </a:solidFill>
                        </a:rPr>
                        <a:t>다른 위성 항법 시스템과의 연동으로 오차를 보정하여 정확도 및 정밀도 대폭 향상</a:t>
                      </a:r>
                    </a:p>
                  </a:txBody>
                  <a:tcPr anchor="ctr" anchorCtr="1"/>
                </a:tc>
                <a:extLst>
                  <a:ext uri="{0D108BD9-81ED-4DB2-BD59-A6C34878D82A}">
                    <a16:rowId xmlns:a16="http://schemas.microsoft.com/office/drawing/2014/main" val="3254189987"/>
                  </a:ext>
                </a:extLst>
              </a:tr>
            </a:tbl>
          </a:graphicData>
        </a:graphic>
      </p:graphicFrame>
      <p:sp>
        <p:nvSpPr>
          <p:cNvPr id="6" name="TextBox 5">
            <a:extLst>
              <a:ext uri="{FF2B5EF4-FFF2-40B4-BE49-F238E27FC236}">
                <a16:creationId xmlns:a16="http://schemas.microsoft.com/office/drawing/2014/main" id="{87BBA0A4-B717-44FE-9D2D-6D0E78AEDFDF}"/>
              </a:ext>
            </a:extLst>
          </p:cNvPr>
          <p:cNvSpPr txBox="1"/>
          <p:nvPr/>
        </p:nvSpPr>
        <p:spPr>
          <a:xfrm>
            <a:off x="828106" y="1232536"/>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Primary, secondary object and constraints</a:t>
            </a:r>
          </a:p>
        </p:txBody>
      </p:sp>
      <p:graphicFrame>
        <p:nvGraphicFramePr>
          <p:cNvPr id="4" name="표 3">
            <a:extLst>
              <a:ext uri="{FF2B5EF4-FFF2-40B4-BE49-F238E27FC236}">
                <a16:creationId xmlns:a16="http://schemas.microsoft.com/office/drawing/2014/main" id="{E3311F93-E2F0-4126-B5CB-4473B66933BC}"/>
              </a:ext>
            </a:extLst>
          </p:cNvPr>
          <p:cNvGraphicFramePr>
            <a:graphicFrameLocks noGrp="1"/>
          </p:cNvGraphicFramePr>
          <p:nvPr>
            <p:extLst>
              <p:ext uri="{D42A27DB-BD31-4B8C-83A1-F6EECF244321}">
                <p14:modId xmlns:p14="http://schemas.microsoft.com/office/powerpoint/2010/main" val="456106955"/>
              </p:ext>
            </p:extLst>
          </p:nvPr>
        </p:nvGraphicFramePr>
        <p:xfrm>
          <a:off x="938500" y="3194802"/>
          <a:ext cx="7333964" cy="1534676"/>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2049683984"/>
                    </a:ext>
                  </a:extLst>
                </a:gridCol>
                <a:gridCol w="5952982">
                  <a:extLst>
                    <a:ext uri="{9D8B030D-6E8A-4147-A177-3AD203B41FA5}">
                      <a16:colId xmlns:a16="http://schemas.microsoft.com/office/drawing/2014/main" val="1501546456"/>
                    </a:ext>
                  </a:extLst>
                </a:gridCol>
              </a:tblGrid>
              <a:tr h="1534676">
                <a:tc>
                  <a:txBody>
                    <a:bodyPr/>
                    <a:lstStyle/>
                    <a:p>
                      <a:pPr algn="just" latinLnBrk="1"/>
                      <a:r>
                        <a:rPr lang="en-US" altLang="ko-KR" dirty="0">
                          <a:solidFill>
                            <a:schemeClr val="bg1"/>
                          </a:solidFill>
                        </a:rPr>
                        <a:t>Constraints</a:t>
                      </a:r>
                      <a:endParaRPr lang="ko-KR" altLang="en-US" dirty="0">
                        <a:solidFill>
                          <a:schemeClr val="bg1"/>
                        </a:solidFill>
                      </a:endParaRPr>
                    </a:p>
                  </a:txBody>
                  <a:tcPr anchor="ctr" anchorCtr="1">
                    <a:solidFill>
                      <a:schemeClr val="tx2">
                        <a:lumMod val="75000"/>
                      </a:schemeClr>
                    </a:solidFill>
                  </a:tcPr>
                </a:tc>
                <a:tc>
                  <a:txBody>
                    <a:bodyPr/>
                    <a:lstStyle/>
                    <a:p>
                      <a:pPr marL="0" indent="0" algn="just" latinLnBrk="1">
                        <a:buNone/>
                      </a:pPr>
                      <a:r>
                        <a:rPr lang="en-US" altLang="ko-KR" dirty="0">
                          <a:solidFill>
                            <a:schemeClr val="bg1"/>
                          </a:solidFill>
                        </a:rPr>
                        <a:t>1. </a:t>
                      </a:r>
                      <a:r>
                        <a:rPr lang="ko-KR" altLang="en-US" dirty="0">
                          <a:solidFill>
                            <a:schemeClr val="bg1"/>
                          </a:solidFill>
                        </a:rPr>
                        <a:t>다른 위성 항법 시스템과의 신호 간섭</a:t>
                      </a:r>
                      <a:endParaRPr lang="en-US" altLang="ko-KR" dirty="0">
                        <a:solidFill>
                          <a:schemeClr val="bg1"/>
                        </a:solidFill>
                      </a:endParaRPr>
                    </a:p>
                    <a:p>
                      <a:pPr marL="0" indent="0" algn="just" latinLnBrk="1">
                        <a:buNone/>
                      </a:pPr>
                      <a:r>
                        <a:rPr lang="en-US" altLang="ko-KR" dirty="0">
                          <a:solidFill>
                            <a:schemeClr val="bg1"/>
                          </a:solidFill>
                        </a:rPr>
                        <a:t>2. </a:t>
                      </a:r>
                      <a:r>
                        <a:rPr lang="ko-KR" altLang="en-US" dirty="0">
                          <a:solidFill>
                            <a:schemeClr val="bg1"/>
                          </a:solidFill>
                        </a:rPr>
                        <a:t>자국의 발사체 기술 부족에 따른 해외 발사체 및 발사장 사용</a:t>
                      </a:r>
                      <a:endParaRPr lang="en-US" altLang="ko-KR" dirty="0">
                        <a:solidFill>
                          <a:schemeClr val="bg1"/>
                        </a:solidFill>
                      </a:endParaRPr>
                    </a:p>
                    <a:p>
                      <a:pPr marL="0" indent="0" algn="just" latinLnBrk="1">
                        <a:buNone/>
                      </a:pPr>
                      <a:r>
                        <a:rPr lang="en-US" altLang="ko-KR" dirty="0">
                          <a:solidFill>
                            <a:schemeClr val="bg1"/>
                          </a:solidFill>
                        </a:rPr>
                        <a:t>3. </a:t>
                      </a:r>
                      <a:r>
                        <a:rPr lang="ko-KR" altLang="en-US" dirty="0">
                          <a:solidFill>
                            <a:schemeClr val="bg1"/>
                          </a:solidFill>
                        </a:rPr>
                        <a:t>자국의 산악 지형구조 및 도시의 건물들에 의한 신호 방해</a:t>
                      </a:r>
                      <a:endParaRPr lang="en-US" altLang="ko-KR" dirty="0">
                        <a:solidFill>
                          <a:schemeClr val="bg1"/>
                        </a:solidFill>
                      </a:endParaRPr>
                    </a:p>
                    <a:p>
                      <a:pPr marL="0" indent="0" algn="just" latinLnBrk="1">
                        <a:buNone/>
                      </a:pPr>
                      <a:r>
                        <a:rPr lang="en-US" altLang="ko-KR" dirty="0">
                          <a:solidFill>
                            <a:schemeClr val="bg1"/>
                          </a:solidFill>
                        </a:rPr>
                        <a:t>4. </a:t>
                      </a:r>
                      <a:r>
                        <a:rPr lang="ko-KR" altLang="en-US" dirty="0">
                          <a:solidFill>
                            <a:schemeClr val="bg1"/>
                          </a:solidFill>
                        </a:rPr>
                        <a:t>위성의 수명을 단축시키는 밴 </a:t>
                      </a:r>
                      <a:r>
                        <a:rPr lang="ko-KR" altLang="en-US" dirty="0" err="1">
                          <a:solidFill>
                            <a:schemeClr val="bg1"/>
                          </a:solidFill>
                        </a:rPr>
                        <a:t>앨런대</a:t>
                      </a:r>
                      <a:endParaRPr lang="en-US" altLang="ko-KR" dirty="0">
                        <a:solidFill>
                          <a:schemeClr val="bg1"/>
                        </a:solidFill>
                      </a:endParaRPr>
                    </a:p>
                    <a:p>
                      <a:pPr marL="0" indent="0" algn="just" latinLnBrk="1">
                        <a:buNone/>
                      </a:pPr>
                      <a:r>
                        <a:rPr lang="en-US" altLang="ko-KR" dirty="0">
                          <a:solidFill>
                            <a:schemeClr val="bg1"/>
                          </a:solidFill>
                        </a:rPr>
                        <a:t>5. </a:t>
                      </a:r>
                      <a:r>
                        <a:rPr lang="ko-KR" altLang="en-US" dirty="0">
                          <a:solidFill>
                            <a:schemeClr val="bg1"/>
                          </a:solidFill>
                        </a:rPr>
                        <a:t>한정된 예산</a:t>
                      </a:r>
                      <a:endParaRPr lang="en-US" altLang="ko-KR" dirty="0">
                        <a:solidFill>
                          <a:schemeClr val="bg1"/>
                        </a:solidFill>
                      </a:endParaRPr>
                    </a:p>
                  </a:txBody>
                  <a:tcPr anchor="ctr" anchorCtr="1"/>
                </a:tc>
                <a:extLst>
                  <a:ext uri="{0D108BD9-81ED-4DB2-BD59-A6C34878D82A}">
                    <a16:rowId xmlns:a16="http://schemas.microsoft.com/office/drawing/2014/main" val="334848230"/>
                  </a:ext>
                </a:extLst>
              </a:tr>
            </a:tbl>
          </a:graphicData>
        </a:graphic>
      </p:graphicFrame>
    </p:spTree>
    <p:extLst>
      <p:ext uri="{BB962C8B-B14F-4D97-AF65-F5344CB8AC3E}">
        <p14:creationId xmlns:p14="http://schemas.microsoft.com/office/powerpoint/2010/main" val="274559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1.1 Define broad objectives and constraints</a:t>
            </a:r>
            <a:endParaRPr lang="en-US"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87BBA0A4-B717-44FE-9D2D-6D0E78AEDFDF}"/>
              </a:ext>
            </a:extLst>
          </p:cNvPr>
          <p:cNvSpPr txBox="1"/>
          <p:nvPr/>
        </p:nvSpPr>
        <p:spPr>
          <a:xfrm>
            <a:off x="828106" y="1232536"/>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requirements</a:t>
            </a:r>
          </a:p>
        </p:txBody>
      </p:sp>
      <p:graphicFrame>
        <p:nvGraphicFramePr>
          <p:cNvPr id="7" name="표 6">
            <a:extLst>
              <a:ext uri="{FF2B5EF4-FFF2-40B4-BE49-F238E27FC236}">
                <a16:creationId xmlns:a16="http://schemas.microsoft.com/office/drawing/2014/main" id="{BE158B47-B650-492B-B16E-966ADB7DBDD7}"/>
              </a:ext>
            </a:extLst>
          </p:cNvPr>
          <p:cNvGraphicFramePr>
            <a:graphicFrameLocks noGrp="1"/>
          </p:cNvGraphicFramePr>
          <p:nvPr>
            <p:extLst>
              <p:ext uri="{D42A27DB-BD31-4B8C-83A1-F6EECF244321}">
                <p14:modId xmlns:p14="http://schemas.microsoft.com/office/powerpoint/2010/main" val="127691082"/>
              </p:ext>
            </p:extLst>
          </p:nvPr>
        </p:nvGraphicFramePr>
        <p:xfrm>
          <a:off x="938500" y="1821670"/>
          <a:ext cx="7501412" cy="3004590"/>
        </p:xfrm>
        <a:graphic>
          <a:graphicData uri="http://schemas.openxmlformats.org/drawingml/2006/table">
            <a:tbl>
              <a:tblPr firstRow="1" firstCol="1" bandRow="1"/>
              <a:tblGrid>
                <a:gridCol w="1594964">
                  <a:extLst>
                    <a:ext uri="{9D8B030D-6E8A-4147-A177-3AD203B41FA5}">
                      <a16:colId xmlns:a16="http://schemas.microsoft.com/office/drawing/2014/main" val="32340138"/>
                    </a:ext>
                  </a:extLst>
                </a:gridCol>
                <a:gridCol w="5906448">
                  <a:extLst>
                    <a:ext uri="{9D8B030D-6E8A-4147-A177-3AD203B41FA5}">
                      <a16:colId xmlns:a16="http://schemas.microsoft.com/office/drawing/2014/main" val="2731256957"/>
                    </a:ext>
                  </a:extLst>
                </a:gridCol>
              </a:tblGrid>
              <a:tr h="300459">
                <a:tc>
                  <a:txBody>
                    <a:bodyPr/>
                    <a:lstStyle/>
                    <a:p>
                      <a:pPr algn="ctr" fontAlgn="base" latinLnBrk="1">
                        <a:lnSpc>
                          <a:spcPct val="106000"/>
                        </a:lnSpc>
                        <a:spcAft>
                          <a:spcPts val="800"/>
                        </a:spcAft>
                      </a:pPr>
                      <a:r>
                        <a:rPr lang="en-US" sz="14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ID</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Requirements</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300459">
                <a:tc>
                  <a:txBody>
                    <a:bodyPr/>
                    <a:lstStyle/>
                    <a:p>
                      <a:pPr algn="ctr" fontAlgn="base" latinLnBrk="1">
                        <a:lnSpc>
                          <a:spcPct val="106000"/>
                        </a:lnSpc>
                        <a:spcAft>
                          <a:spcPts val="800"/>
                        </a:spcAft>
                      </a:pPr>
                      <a:r>
                        <a:rPr lang="en-US" sz="14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SYS-001</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위성은</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임무</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기간인</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최소</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4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8</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년</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동안</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적절한</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궤도와</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자세를</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유지해야</a:t>
                      </a:r>
                      <a:r>
                        <a:rPr lang="ko-KR" sz="14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SYS-002</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원자시계의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정확도가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오차를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최소화할</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있어야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SYS-003</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극한의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날씨</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환경에서도</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안정적으로</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통신이</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가능해야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SYS-004</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항상</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최소</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대의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위성이</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지상국과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연결되어야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041002"/>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SYS-005</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총</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질량은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최소여야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하고</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질량분포는</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자세제어에</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용이해야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5711596"/>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SYS-006</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모든</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Subsystem</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들은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컴퓨터에</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의해</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제어가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되어야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26718104"/>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SYS-007</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위치</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오차가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1m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이하여야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851207"/>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SYS-008</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위성은</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발사</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환경에서도</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정상</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작동해야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4745958"/>
                  </a:ext>
                </a:extLst>
              </a:tr>
              <a:tr h="300459">
                <a:tc>
                  <a:txBody>
                    <a:bodyPr/>
                    <a:lstStyle/>
                    <a:p>
                      <a:pPr algn="ctr" fontAlgn="base" latinLnBrk="1">
                        <a:lnSpc>
                          <a:spcPct val="106000"/>
                        </a:lnSpc>
                        <a:spcAft>
                          <a:spcPts val="800"/>
                        </a:spcAft>
                      </a:pPr>
                      <a:r>
                        <a:rPr lang="en-US" sz="14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SYS-009</a:t>
                      </a:r>
                      <a:endParaRPr lang="ko-KR" sz="14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임무</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수행을</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위해</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충분한</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전력을</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공급해야</a:t>
                      </a:r>
                      <a:r>
                        <a:rPr 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endParaRPr 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97429589"/>
                  </a:ext>
                </a:extLst>
              </a:tr>
            </a:tbl>
          </a:graphicData>
        </a:graphic>
      </p:graphicFrame>
    </p:spTree>
    <p:extLst>
      <p:ext uri="{BB962C8B-B14F-4D97-AF65-F5344CB8AC3E}">
        <p14:creationId xmlns:p14="http://schemas.microsoft.com/office/powerpoint/2010/main" val="4066799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1.2 Estimate quantitative mission needs and requirements</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9" name="표 5">
            <a:extLst>
              <a:ext uri="{FF2B5EF4-FFF2-40B4-BE49-F238E27FC236}">
                <a16:creationId xmlns:a16="http://schemas.microsoft.com/office/drawing/2014/main" id="{D3B60D1A-BF01-4CCC-8386-94995A58FFF8}"/>
              </a:ext>
            </a:extLst>
          </p:cNvPr>
          <p:cNvGraphicFramePr>
            <a:graphicFrameLocks noGrp="1"/>
          </p:cNvGraphicFramePr>
          <p:nvPr>
            <p:extLst>
              <p:ext uri="{D42A27DB-BD31-4B8C-83A1-F6EECF244321}">
                <p14:modId xmlns:p14="http://schemas.microsoft.com/office/powerpoint/2010/main" val="2691734334"/>
              </p:ext>
            </p:extLst>
          </p:nvPr>
        </p:nvGraphicFramePr>
        <p:xfrm>
          <a:off x="938500" y="1192318"/>
          <a:ext cx="7428260" cy="3681434"/>
        </p:xfrm>
        <a:graphic>
          <a:graphicData uri="http://schemas.openxmlformats.org/drawingml/2006/table">
            <a:tbl>
              <a:tblPr firstRow="1" bandRow="1">
                <a:tableStyleId>{1C28B2AB-E718-4DF9-ADA3-83340B5D2C4E}</a:tableStyleId>
              </a:tblPr>
              <a:tblGrid>
                <a:gridCol w="2399675">
                  <a:extLst>
                    <a:ext uri="{9D8B030D-6E8A-4147-A177-3AD203B41FA5}">
                      <a16:colId xmlns:a16="http://schemas.microsoft.com/office/drawing/2014/main" val="1234465190"/>
                    </a:ext>
                  </a:extLst>
                </a:gridCol>
                <a:gridCol w="3171520">
                  <a:extLst>
                    <a:ext uri="{9D8B030D-6E8A-4147-A177-3AD203B41FA5}">
                      <a16:colId xmlns:a16="http://schemas.microsoft.com/office/drawing/2014/main" val="1377162854"/>
                    </a:ext>
                  </a:extLst>
                </a:gridCol>
                <a:gridCol w="1857065">
                  <a:extLst>
                    <a:ext uri="{9D8B030D-6E8A-4147-A177-3AD203B41FA5}">
                      <a16:colId xmlns:a16="http://schemas.microsoft.com/office/drawing/2014/main" val="2374710122"/>
                    </a:ext>
                  </a:extLst>
                </a:gridCol>
              </a:tblGrid>
              <a:tr h="227545">
                <a:tc gridSpan="3">
                  <a:txBody>
                    <a:bodyPr/>
                    <a:lstStyle/>
                    <a:p>
                      <a:pPr algn="ctr" fontAlgn="base" latinLnBrk="1">
                        <a:lnSpc>
                          <a:spcPct val="106000"/>
                        </a:lnSpc>
                        <a:spcAft>
                          <a:spcPts val="800"/>
                        </a:spcAft>
                        <a:tabLst>
                          <a:tab pos="1788160" algn="l"/>
                          <a:tab pos="2794000" algn="ctr"/>
                        </a:tabLs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Functional Requirements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rgbClr val="FFAB40"/>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572439118"/>
                  </a:ext>
                </a:extLst>
              </a:tr>
              <a:tr h="227545">
                <a:tc>
                  <a:txBody>
                    <a:bodyPr/>
                    <a:lstStyle/>
                    <a:p>
                      <a:pPr marL="0" marR="0" lvl="0" indent="0" algn="ctr" defTabSz="914400" rtl="0" eaLnBrk="1" fontAlgn="base" latinLnBrk="1" hangingPunct="1">
                        <a:lnSpc>
                          <a:spcPct val="106000"/>
                        </a:lnSpc>
                        <a:spcBef>
                          <a:spcPts val="0"/>
                        </a:spcBef>
                        <a:spcAft>
                          <a:spcPts val="800"/>
                        </a:spcAft>
                        <a:buClr>
                          <a:srgbClr val="000000"/>
                        </a:buClr>
                        <a:buSzTx/>
                        <a:buFont typeface="Arial"/>
                        <a:buNone/>
                        <a:tabLst/>
                        <a:defRPr/>
                      </a:pPr>
                      <a:endParaRPr lang="ko-KR"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gridSpan="2">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tc hMerge="1">
                  <a:txBody>
                    <a:bodyPr/>
                    <a:lstStyle/>
                    <a:p>
                      <a:pPr latinLnBrk="1"/>
                      <a:endParaRPr lang="ko-KR" altLang="en-US"/>
                    </a:p>
                  </a:txBody>
                  <a:tcPr/>
                </a:tc>
                <a:extLst>
                  <a:ext uri="{0D108BD9-81ED-4DB2-BD59-A6C34878D82A}">
                    <a16:rowId xmlns:a16="http://schemas.microsoft.com/office/drawing/2014/main" val="1325327374"/>
                  </a:ext>
                </a:extLst>
              </a:tr>
              <a:tr h="227545">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Coverage</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gridSpan="2">
                  <a:txBody>
                    <a:bodyPr/>
                    <a:lstStyle/>
                    <a:p>
                      <a:pPr algn="l"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Incheon Fight Information Region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tc hMerge="1">
                  <a:txBody>
                    <a:bodyPr/>
                    <a:lstStyle/>
                    <a:p>
                      <a:pPr latinLnBrk="1"/>
                      <a:endParaRPr lang="ko-KR" altLang="en-US"/>
                    </a:p>
                  </a:txBody>
                  <a:tcPr/>
                </a:tc>
                <a:extLst>
                  <a:ext uri="{0D108BD9-81ED-4DB2-BD59-A6C34878D82A}">
                    <a16:rowId xmlns:a16="http://schemas.microsoft.com/office/drawing/2014/main" val="3953287923"/>
                  </a:ext>
                </a:extLst>
              </a:tr>
              <a:tr h="227545">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gridSpan="2">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tc hMerge="1">
                  <a:txBody>
                    <a:bodyPr/>
                    <a:lstStyle/>
                    <a:p>
                      <a:pPr latinLnBrk="1"/>
                      <a:endParaRPr lang="ko-KR" altLang="en-US"/>
                    </a:p>
                  </a:txBody>
                  <a:tcPr/>
                </a:tc>
                <a:extLst>
                  <a:ext uri="{0D108BD9-81ED-4DB2-BD59-A6C34878D82A}">
                    <a16:rowId xmlns:a16="http://schemas.microsoft.com/office/drawing/2014/main" val="3921482496"/>
                  </a:ext>
                </a:extLst>
              </a:tr>
              <a:tr h="227545">
                <a:tc gridSpan="3">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Operational Requirements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rgbClr val="FFAB40"/>
                    </a:solidFill>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2770562"/>
                  </a:ext>
                </a:extLst>
              </a:tr>
              <a:tr h="227545">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gridSpan="2">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tc hMerge="1">
                  <a:txBody>
                    <a:bodyPr/>
                    <a:lstStyle/>
                    <a:p>
                      <a:pPr latinLnBrk="1"/>
                      <a:endParaRPr lang="ko-KR" altLang="en-US"/>
                    </a:p>
                  </a:txBody>
                  <a:tcPr/>
                </a:tc>
                <a:extLst>
                  <a:ext uri="{0D108BD9-81ED-4DB2-BD59-A6C34878D82A}">
                    <a16:rowId xmlns:a16="http://schemas.microsoft.com/office/drawing/2014/main" val="1892801563"/>
                  </a:ext>
                </a:extLst>
              </a:tr>
              <a:tr h="227545">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Data Contents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gridSpan="2">
                  <a:txBody>
                    <a:bodyPr/>
                    <a:lstStyle/>
                    <a:p>
                      <a:pPr algn="l"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Navigation message, Position and Time information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tc hMerge="1">
                  <a:txBody>
                    <a:bodyPr/>
                    <a:lstStyle/>
                    <a:p>
                      <a:pPr latinLnBrk="1"/>
                      <a:endParaRPr lang="ko-KR" altLang="en-US"/>
                    </a:p>
                  </a:txBody>
                  <a:tcPr/>
                </a:tc>
                <a:extLst>
                  <a:ext uri="{0D108BD9-81ED-4DB2-BD59-A6C34878D82A}">
                    <a16:rowId xmlns:a16="http://schemas.microsoft.com/office/drawing/2014/main" val="179133269"/>
                  </a:ext>
                </a:extLst>
              </a:tr>
              <a:tr h="369352">
                <a:tc rowSpan="3">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Data Format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Uplink</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noFill/>
                  </a:tcP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4214488094"/>
                  </a:ext>
                </a:extLst>
              </a:tr>
              <a:tr h="1491722">
                <a:tc vMerge="1">
                  <a:txBody>
                    <a:bodyPr/>
                    <a:lstStyle/>
                    <a:p>
                      <a:pPr latinLnBrk="1"/>
                      <a:endParaRPr lang="ko-KR" altLang="en-US"/>
                    </a:p>
                  </a:txBody>
                  <a:tcPr/>
                </a:tc>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Downlink</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230312618"/>
                  </a:ext>
                </a:extLst>
              </a:tr>
              <a:tr h="227545">
                <a:tc vMerge="1">
                  <a:txBody>
                    <a:bodyPr/>
                    <a:lstStyle/>
                    <a:p>
                      <a:pPr latinLnBrk="1"/>
                      <a:endParaRPr lang="ko-KR" altLang="en-US"/>
                    </a:p>
                  </a:txBody>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Inter-satellite link</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145137615"/>
                  </a:ext>
                </a:extLst>
              </a:tr>
            </a:tbl>
          </a:graphicData>
        </a:graphic>
      </p:graphicFrame>
      <p:sp>
        <p:nvSpPr>
          <p:cNvPr id="10" name="TextBox 9">
            <a:extLst>
              <a:ext uri="{FF2B5EF4-FFF2-40B4-BE49-F238E27FC236}">
                <a16:creationId xmlns:a16="http://schemas.microsoft.com/office/drawing/2014/main" id="{714B8096-56C0-42E9-B836-D9CFC995D090}"/>
              </a:ext>
            </a:extLst>
          </p:cNvPr>
          <p:cNvSpPr txBox="1"/>
          <p:nvPr/>
        </p:nvSpPr>
        <p:spPr>
          <a:xfrm>
            <a:off x="1171479" y="1386425"/>
            <a:ext cx="4572000" cy="276999"/>
          </a:xfrm>
          <a:prstGeom prst="rect">
            <a:avLst/>
          </a:prstGeom>
          <a:noFill/>
        </p:spPr>
        <p:txBody>
          <a:bodyPr wrap="square">
            <a:spAutoFit/>
          </a:bodyPr>
          <a:lstStyle/>
          <a:p>
            <a:pPr marL="139700" indent="0">
              <a:spcBef>
                <a:spcPts val="1600"/>
              </a:spcBef>
              <a:buNone/>
            </a:pPr>
            <a:r>
              <a:rPr lang="en-US" altLang="ko-KR" sz="1200" b="1" dirty="0">
                <a:solidFill>
                  <a:schemeClr val="bg1"/>
                </a:solidFill>
                <a:latin typeface="+mj-ea"/>
                <a:ea typeface="+mj-ea"/>
              </a:rPr>
              <a:t>Positioning Accuracy          </a:t>
            </a:r>
            <a:r>
              <a:rPr lang="en-US" altLang="ko-KR" sz="1200" dirty="0">
                <a:solidFill>
                  <a:schemeClr val="bg1"/>
                </a:solidFill>
                <a:latin typeface="+mj-ea"/>
                <a:ea typeface="+mj-ea"/>
              </a:rPr>
              <a:t>at least 1m       </a:t>
            </a:r>
          </a:p>
        </p:txBody>
      </p:sp>
      <p:sp>
        <p:nvSpPr>
          <p:cNvPr id="11" name="TextBox 10">
            <a:extLst>
              <a:ext uri="{FF2B5EF4-FFF2-40B4-BE49-F238E27FC236}">
                <a16:creationId xmlns:a16="http://schemas.microsoft.com/office/drawing/2014/main" id="{95E2B67C-09B1-478A-8384-929F9DF8182E}"/>
              </a:ext>
            </a:extLst>
          </p:cNvPr>
          <p:cNvSpPr txBox="1"/>
          <p:nvPr/>
        </p:nvSpPr>
        <p:spPr>
          <a:xfrm>
            <a:off x="1171479" y="1839627"/>
            <a:ext cx="4572000" cy="276999"/>
          </a:xfrm>
          <a:prstGeom prst="rect">
            <a:avLst/>
          </a:prstGeom>
          <a:noFill/>
        </p:spPr>
        <p:txBody>
          <a:bodyPr wrap="square">
            <a:spAutoFit/>
          </a:bodyPr>
          <a:lstStyle/>
          <a:p>
            <a:pPr marL="139700" indent="0">
              <a:spcBef>
                <a:spcPts val="1600"/>
              </a:spcBef>
              <a:buNone/>
            </a:pPr>
            <a:r>
              <a:rPr lang="en-US" altLang="ko-KR" sz="1200" b="1" dirty="0">
                <a:solidFill>
                  <a:schemeClr val="bg1"/>
                </a:solidFill>
                <a:latin typeface="+mj-ea"/>
                <a:ea typeface="+mj-ea"/>
              </a:rPr>
              <a:t>Number of Satellites          </a:t>
            </a:r>
            <a:r>
              <a:rPr lang="en-US" altLang="ko-KR" sz="1200" dirty="0">
                <a:solidFill>
                  <a:schemeClr val="bg1"/>
                </a:solidFill>
                <a:latin typeface="+mj-ea"/>
                <a:ea typeface="+mj-ea"/>
              </a:rPr>
              <a:t>at least 4       </a:t>
            </a:r>
          </a:p>
        </p:txBody>
      </p:sp>
      <p:sp>
        <p:nvSpPr>
          <p:cNvPr id="12" name="TextBox 11">
            <a:extLst>
              <a:ext uri="{FF2B5EF4-FFF2-40B4-BE49-F238E27FC236}">
                <a16:creationId xmlns:a16="http://schemas.microsoft.com/office/drawing/2014/main" id="{CFC56761-73F1-4F9B-928E-21252E7B25D9}"/>
              </a:ext>
            </a:extLst>
          </p:cNvPr>
          <p:cNvSpPr txBox="1"/>
          <p:nvPr/>
        </p:nvSpPr>
        <p:spPr>
          <a:xfrm>
            <a:off x="1597343" y="2289309"/>
            <a:ext cx="4572000" cy="276999"/>
          </a:xfrm>
          <a:prstGeom prst="rect">
            <a:avLst/>
          </a:prstGeom>
          <a:noFill/>
        </p:spPr>
        <p:txBody>
          <a:bodyPr wrap="square">
            <a:spAutoFit/>
          </a:bodyPr>
          <a:lstStyle/>
          <a:p>
            <a:pPr marL="139700" indent="0">
              <a:spcBef>
                <a:spcPts val="1600"/>
              </a:spcBef>
              <a:buNone/>
            </a:pPr>
            <a:r>
              <a:rPr lang="en-US" altLang="ko-KR" sz="1200" b="1" dirty="0">
                <a:solidFill>
                  <a:schemeClr val="bg1"/>
                </a:solidFill>
                <a:latin typeface="+mj-ea"/>
                <a:ea typeface="+mj-ea"/>
              </a:rPr>
              <a:t>Duration                  </a:t>
            </a:r>
            <a:r>
              <a:rPr lang="en-US" altLang="ko-KR" sz="1200" dirty="0">
                <a:solidFill>
                  <a:schemeClr val="bg1"/>
                </a:solidFill>
                <a:latin typeface="+mj-ea"/>
                <a:ea typeface="+mj-ea"/>
              </a:rPr>
              <a:t>at least 8 years       </a:t>
            </a:r>
          </a:p>
        </p:txBody>
      </p:sp>
      <p:sp>
        <p:nvSpPr>
          <p:cNvPr id="13" name="TextBox 12">
            <a:extLst>
              <a:ext uri="{FF2B5EF4-FFF2-40B4-BE49-F238E27FC236}">
                <a16:creationId xmlns:a16="http://schemas.microsoft.com/office/drawing/2014/main" id="{021B4F9C-25BF-40CB-B852-9A4746515019}"/>
              </a:ext>
            </a:extLst>
          </p:cNvPr>
          <p:cNvSpPr txBox="1"/>
          <p:nvPr/>
        </p:nvSpPr>
        <p:spPr>
          <a:xfrm>
            <a:off x="6502629" y="2841540"/>
            <a:ext cx="1983343" cy="2957861"/>
          </a:xfrm>
          <a:prstGeom prst="rect">
            <a:avLst/>
          </a:prstGeom>
          <a:noFill/>
        </p:spPr>
        <p:txBody>
          <a:bodyPr wrap="square">
            <a:spAutoFit/>
          </a:bodyPr>
          <a:lstStyle/>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C-band (5.85-5.925 GHz)</a:t>
            </a: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C-band (4.5-4.8 GHz)</a:t>
            </a: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L1-band (1575.42 MHz)</a:t>
            </a: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L2-band (1227.60 MHz)</a:t>
            </a: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L5-band (1276.45 MHz)</a:t>
            </a: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L6-band (1278.75MHz)</a:t>
            </a:r>
          </a:p>
          <a:p>
            <a:pPr fontAlgn="base" latinLnBrk="1">
              <a:lnSpc>
                <a:spcPct val="106000"/>
              </a:lnSpc>
              <a:spcAft>
                <a:spcPts val="800"/>
              </a:spcAft>
            </a:pPr>
            <a:r>
              <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rPr>
              <a:t>Ka-band (32.5 GHz)</a:t>
            </a: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a:p>
            <a:pPr fontAlgn="base" latinLnBrk="1">
              <a:lnSpc>
                <a:spcPct val="106000"/>
              </a:lnSpc>
              <a:spcAft>
                <a:spcPts val="800"/>
              </a:spcAft>
            </a:pPr>
            <a:endParaRPr lang="en-US" altLang="ko-KR" sz="1200" dirty="0">
              <a:solidFill>
                <a:schemeClr val="bg1"/>
              </a:solidFill>
              <a:latin typeface="맑은 고딕" panose="020B0503020000020004" pitchFamily="50" charset="-127"/>
              <a:ea typeface="맑은 고딕" panose="020B0503020000020004" pitchFamily="50" charset="-127"/>
              <a:cs typeface="굴림" panose="020B0600000101010101" pitchFamily="50" charset="-127"/>
            </a:endParaRPr>
          </a:p>
          <a:p>
            <a:pPr fontAlgn="base" latinLnBrk="1">
              <a:lnSpc>
                <a:spcPct val="106000"/>
              </a:lnSpc>
              <a:spcAft>
                <a:spcPts val="800"/>
              </a:spcAft>
            </a:pPr>
            <a:endParaRPr lang="ko-KR" altLang="ko-KR" sz="1200" kern="100" dirty="0">
              <a:solidFill>
                <a:schemeClr val="bg1"/>
              </a:solidFill>
              <a:latin typeface="맑은 고딕" panose="020B0503020000020004" pitchFamily="50" charset="-127"/>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1495589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10"/>
                                        </p:tgtEl>
                                        <p:attrNameLst>
                                          <p:attrName>style.color</p:attrName>
                                        </p:attrNameLst>
                                      </p:cBhvr>
                                      <p:to>
                                        <p:clrVal>
                                          <a:srgbClr val="FF0000"/>
                                        </p:clrVal>
                                      </p:to>
                                    </p:set>
                                    <p:set>
                                      <p:cBhvr>
                                        <p:cTn id="7" dur="500" fill="hold"/>
                                        <p:tgtEl>
                                          <p:spTgt spid="10"/>
                                        </p:tgtEl>
                                        <p:attrNameLst>
                                          <p:attrName>fillcolor</p:attrName>
                                        </p:attrNameLst>
                                      </p:cBhvr>
                                      <p:to>
                                        <p:clrVal>
                                          <a:srgbClr val="FF0000"/>
                                        </p:clrVal>
                                      </p:to>
                                    </p:set>
                                    <p:set>
                                      <p:cBhvr>
                                        <p:cTn id="8" dur="500" fill="hold"/>
                                        <p:tgtEl>
                                          <p:spTgt spid="10"/>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grpId="0" nodeType="clickEffect">
                                  <p:stCondLst>
                                    <p:cond delay="0"/>
                                  </p:stCondLst>
                                  <p:iterate type="lt">
                                    <p:tmPct val="4000"/>
                                  </p:iterate>
                                  <p:childTnLst>
                                    <p:set>
                                      <p:cBhvr override="childStyle">
                                        <p:cTn id="12" dur="500" fill="hold"/>
                                        <p:tgtEl>
                                          <p:spTgt spid="11"/>
                                        </p:tgtEl>
                                        <p:attrNameLst>
                                          <p:attrName>style.color</p:attrName>
                                        </p:attrNameLst>
                                      </p:cBhvr>
                                      <p:to>
                                        <p:clrVal>
                                          <a:srgbClr val="FF0000"/>
                                        </p:clrVal>
                                      </p:to>
                                    </p:set>
                                    <p:set>
                                      <p:cBhvr>
                                        <p:cTn id="13" dur="500" fill="hold"/>
                                        <p:tgtEl>
                                          <p:spTgt spid="11"/>
                                        </p:tgtEl>
                                        <p:attrNameLst>
                                          <p:attrName>fillcolor</p:attrName>
                                        </p:attrNameLst>
                                      </p:cBhvr>
                                      <p:to>
                                        <p:clrVal>
                                          <a:srgbClr val="FF0000"/>
                                        </p:clrVal>
                                      </p:to>
                                    </p:set>
                                    <p:set>
                                      <p:cBhvr>
                                        <p:cTn id="14" dur="500" fill="hold"/>
                                        <p:tgtEl>
                                          <p:spTgt spid="11"/>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16" presetClass="emph" presetSubtype="0" fill="hold" grpId="0" nodeType="clickEffect">
                                  <p:stCondLst>
                                    <p:cond delay="0"/>
                                  </p:stCondLst>
                                  <p:iterate type="lt">
                                    <p:tmPct val="4000"/>
                                  </p:iterate>
                                  <p:childTnLst>
                                    <p:set>
                                      <p:cBhvr override="childStyle">
                                        <p:cTn id="18" dur="500" fill="hold"/>
                                        <p:tgtEl>
                                          <p:spTgt spid="12"/>
                                        </p:tgtEl>
                                        <p:attrNameLst>
                                          <p:attrName>style.color</p:attrName>
                                        </p:attrNameLst>
                                      </p:cBhvr>
                                      <p:to>
                                        <p:clrVal>
                                          <a:srgbClr val="FF0000"/>
                                        </p:clrVal>
                                      </p:to>
                                    </p:set>
                                    <p:set>
                                      <p:cBhvr>
                                        <p:cTn id="19" dur="500" fill="hold"/>
                                        <p:tgtEl>
                                          <p:spTgt spid="12"/>
                                        </p:tgtEl>
                                        <p:attrNameLst>
                                          <p:attrName>fillcolor</p:attrName>
                                        </p:attrNameLst>
                                      </p:cBhvr>
                                      <p:to>
                                        <p:clrVal>
                                          <a:srgbClr val="FF0000"/>
                                        </p:clrVal>
                                      </p:to>
                                    </p:set>
                                    <p:set>
                                      <p:cBhvr>
                                        <p:cTn id="20" dur="500" fill="hold"/>
                                        <p:tgtEl>
                                          <p:spTgt spid="12"/>
                                        </p:tgtEl>
                                        <p:attrNameLst>
                                          <p:attrName>fill.type</p:attrName>
                                        </p:attrNameLst>
                                      </p:cBhvr>
                                      <p:to>
                                        <p:strVal val="solid"/>
                                      </p:to>
                                    </p:set>
                                  </p:childTnLst>
                                </p:cTn>
                              </p:par>
                            </p:childTnLst>
                          </p:cTn>
                        </p:par>
                      </p:childTnLst>
                    </p:cTn>
                  </p:par>
                  <p:par>
                    <p:cTn id="21" fill="hold">
                      <p:stCondLst>
                        <p:cond delay="indefinite"/>
                      </p:stCondLst>
                      <p:childTnLst>
                        <p:par>
                          <p:cTn id="22" fill="hold">
                            <p:stCondLst>
                              <p:cond delay="0"/>
                            </p:stCondLst>
                            <p:childTnLst>
                              <p:par>
                                <p:cTn id="23" presetID="3" presetClass="emph" presetSubtype="2" fill="hold" grpId="0" nodeType="clickEffect">
                                  <p:stCondLst>
                                    <p:cond delay="0"/>
                                  </p:stCondLst>
                                  <p:childTnLst>
                                    <p:animClr clrSpc="rgb" dir="cw">
                                      <p:cBhvr override="childStyle">
                                        <p:cTn id="24" dur="500" fill="hold"/>
                                        <p:tgtEl>
                                          <p:spTgt spid="13"/>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1.3 Estimate quantitative constraints</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9" name="표 5">
            <a:extLst>
              <a:ext uri="{FF2B5EF4-FFF2-40B4-BE49-F238E27FC236}">
                <a16:creationId xmlns:a16="http://schemas.microsoft.com/office/drawing/2014/main" id="{D3B60D1A-BF01-4CCC-8386-94995A58FFF8}"/>
              </a:ext>
            </a:extLst>
          </p:cNvPr>
          <p:cNvGraphicFramePr>
            <a:graphicFrameLocks noGrp="1"/>
          </p:cNvGraphicFramePr>
          <p:nvPr>
            <p:extLst>
              <p:ext uri="{D42A27DB-BD31-4B8C-83A1-F6EECF244321}">
                <p14:modId xmlns:p14="http://schemas.microsoft.com/office/powerpoint/2010/main" val="4242388728"/>
              </p:ext>
            </p:extLst>
          </p:nvPr>
        </p:nvGraphicFramePr>
        <p:xfrm>
          <a:off x="1026200" y="1417426"/>
          <a:ext cx="5645180" cy="1371495"/>
        </p:xfrm>
        <a:graphic>
          <a:graphicData uri="http://schemas.openxmlformats.org/drawingml/2006/table">
            <a:tbl>
              <a:tblPr firstRow="1" bandRow="1">
                <a:tableStyleId>{1C28B2AB-E718-4DF9-ADA3-83340B5D2C4E}</a:tableStyleId>
              </a:tblPr>
              <a:tblGrid>
                <a:gridCol w="2431543">
                  <a:extLst>
                    <a:ext uri="{9D8B030D-6E8A-4147-A177-3AD203B41FA5}">
                      <a16:colId xmlns:a16="http://schemas.microsoft.com/office/drawing/2014/main" val="1234465190"/>
                    </a:ext>
                  </a:extLst>
                </a:gridCol>
                <a:gridCol w="3213637">
                  <a:extLst>
                    <a:ext uri="{9D8B030D-6E8A-4147-A177-3AD203B41FA5}">
                      <a16:colId xmlns:a16="http://schemas.microsoft.com/office/drawing/2014/main" val="1377162854"/>
                    </a:ext>
                  </a:extLst>
                </a:gridCol>
              </a:tblGrid>
              <a:tr h="274299">
                <a:tc gridSpan="2">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Constraints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rgbClr val="FFAB40"/>
                    </a:solidFill>
                  </a:tcPr>
                </a:tc>
                <a:tc hMerge="1">
                  <a:txBody>
                    <a:bodyPr/>
                    <a:lstStyle/>
                    <a:p>
                      <a:pPr latinLnBrk="1"/>
                      <a:endParaRPr lang="ko-KR" altLang="en-US"/>
                    </a:p>
                  </a:txBody>
                  <a:tcPr/>
                </a:tc>
                <a:extLst>
                  <a:ext uri="{0D108BD9-81ED-4DB2-BD59-A6C34878D82A}">
                    <a16:rowId xmlns:a16="http://schemas.microsoft.com/office/drawing/2014/main" val="2572439118"/>
                  </a:ext>
                </a:extLst>
              </a:tr>
              <a:tr h="274299">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extLst>
                  <a:ext uri="{0D108BD9-81ED-4DB2-BD59-A6C34878D82A}">
                    <a16:rowId xmlns:a16="http://schemas.microsoft.com/office/drawing/2014/main" val="1325327374"/>
                  </a:ext>
                </a:extLst>
              </a:tr>
              <a:tr h="274299">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extLst>
                  <a:ext uri="{0D108BD9-81ED-4DB2-BD59-A6C34878D82A}">
                    <a16:rowId xmlns:a16="http://schemas.microsoft.com/office/drawing/2014/main" val="3953287923"/>
                  </a:ext>
                </a:extLst>
              </a:tr>
              <a:tr h="274299">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extLst>
                  <a:ext uri="{0D108BD9-81ED-4DB2-BD59-A6C34878D82A}">
                    <a16:rowId xmlns:a16="http://schemas.microsoft.com/office/drawing/2014/main" val="3921482496"/>
                  </a:ext>
                </a:extLst>
              </a:tr>
              <a:tr h="274299">
                <a:tc>
                  <a:txBody>
                    <a:bodyPr/>
                    <a:lstStyle/>
                    <a:p>
                      <a:pPr algn="ctr"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solidFill>
                      <a:schemeClr val="tx2">
                        <a:lumMod val="75000"/>
                      </a:schemeClr>
                    </a:solidFill>
                  </a:tcPr>
                </a:tc>
                <a:tc>
                  <a:txBody>
                    <a:bodyPr/>
                    <a:lstStyle/>
                    <a:p>
                      <a:pPr algn="l" fontAlgn="base" latinLnBrk="1">
                        <a:lnSpc>
                          <a:spcPct val="106000"/>
                        </a:lnSpc>
                        <a:spcAft>
                          <a:spcPts val="800"/>
                        </a:spcAft>
                      </a:pP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oFill/>
                  </a:tcPr>
                </a:tc>
                <a:extLst>
                  <a:ext uri="{0D108BD9-81ED-4DB2-BD59-A6C34878D82A}">
                    <a16:rowId xmlns:a16="http://schemas.microsoft.com/office/drawing/2014/main" val="1055776937"/>
                  </a:ext>
                </a:extLst>
              </a:tr>
            </a:tbl>
          </a:graphicData>
        </a:graphic>
      </p:graphicFrame>
      <p:sp>
        <p:nvSpPr>
          <p:cNvPr id="7" name="TextBox 6">
            <a:extLst>
              <a:ext uri="{FF2B5EF4-FFF2-40B4-BE49-F238E27FC236}">
                <a16:creationId xmlns:a16="http://schemas.microsoft.com/office/drawing/2014/main" id="{67C3EFDF-0DFF-4E1A-86B6-41272914D75F}"/>
              </a:ext>
            </a:extLst>
          </p:cNvPr>
          <p:cNvSpPr txBox="1"/>
          <p:nvPr/>
        </p:nvSpPr>
        <p:spPr>
          <a:xfrm>
            <a:off x="1692772" y="1672175"/>
            <a:ext cx="4572000" cy="276999"/>
          </a:xfrm>
          <a:prstGeom prst="rect">
            <a:avLst/>
          </a:prstGeom>
          <a:noFill/>
        </p:spPr>
        <p:txBody>
          <a:bodyPr wrap="square">
            <a:spAutoFit/>
          </a:bodyPr>
          <a:lstStyle/>
          <a:p>
            <a:pPr marL="139700" indent="0">
              <a:spcBef>
                <a:spcPts val="1600"/>
              </a:spcBef>
              <a:buNone/>
            </a:pPr>
            <a:r>
              <a:rPr lang="en-US" altLang="ko-KR" sz="1200" b="1" dirty="0">
                <a:solidFill>
                  <a:schemeClr val="bg1"/>
                </a:solidFill>
                <a:latin typeface="+mj-ea"/>
                <a:ea typeface="+mj-ea"/>
              </a:rPr>
              <a:t>Schedule                  </a:t>
            </a:r>
            <a:r>
              <a:rPr lang="en-US" altLang="ko-KR" sz="1200" dirty="0">
                <a:solidFill>
                  <a:schemeClr val="bg1"/>
                </a:solidFill>
                <a:latin typeface="+mj-ea"/>
                <a:ea typeface="+mj-ea"/>
              </a:rPr>
              <a:t>2035 year</a:t>
            </a:r>
          </a:p>
        </p:txBody>
      </p:sp>
      <p:sp>
        <p:nvSpPr>
          <p:cNvPr id="8" name="TextBox 7">
            <a:extLst>
              <a:ext uri="{FF2B5EF4-FFF2-40B4-BE49-F238E27FC236}">
                <a16:creationId xmlns:a16="http://schemas.microsoft.com/office/drawing/2014/main" id="{B0CAA84B-F7AC-4248-892A-682E24A938A4}"/>
              </a:ext>
            </a:extLst>
          </p:cNvPr>
          <p:cNvSpPr txBox="1"/>
          <p:nvPr/>
        </p:nvSpPr>
        <p:spPr>
          <a:xfrm>
            <a:off x="1861894" y="1935565"/>
            <a:ext cx="4572000" cy="276999"/>
          </a:xfrm>
          <a:prstGeom prst="rect">
            <a:avLst/>
          </a:prstGeom>
          <a:noFill/>
        </p:spPr>
        <p:txBody>
          <a:bodyPr wrap="square">
            <a:spAutoFit/>
          </a:bodyPr>
          <a:lstStyle/>
          <a:p>
            <a:pPr marL="139700" indent="0">
              <a:spcBef>
                <a:spcPts val="1600"/>
              </a:spcBef>
              <a:buNone/>
            </a:pPr>
            <a:r>
              <a:rPr lang="en-US" altLang="ko-KR" sz="1200" b="1" dirty="0">
                <a:solidFill>
                  <a:schemeClr val="bg1"/>
                </a:solidFill>
                <a:latin typeface="+mj-ea"/>
                <a:ea typeface="+mj-ea"/>
              </a:rPr>
              <a:t>Cost                     </a:t>
            </a:r>
            <a:r>
              <a:rPr lang="en-US" altLang="ko-KR" sz="1200" dirty="0">
                <a:solidFill>
                  <a:schemeClr val="bg1"/>
                </a:solidFill>
                <a:latin typeface="+mj-ea"/>
                <a:ea typeface="+mj-ea"/>
              </a:rPr>
              <a:t>4 trillion won      </a:t>
            </a:r>
          </a:p>
        </p:txBody>
      </p:sp>
      <p:sp>
        <p:nvSpPr>
          <p:cNvPr id="10" name="TextBox 9">
            <a:extLst>
              <a:ext uri="{FF2B5EF4-FFF2-40B4-BE49-F238E27FC236}">
                <a16:creationId xmlns:a16="http://schemas.microsoft.com/office/drawing/2014/main" id="{58249DB7-B76A-4CA7-A0B2-D515715E3C9E}"/>
              </a:ext>
            </a:extLst>
          </p:cNvPr>
          <p:cNvSpPr txBox="1"/>
          <p:nvPr/>
        </p:nvSpPr>
        <p:spPr>
          <a:xfrm>
            <a:off x="1590222" y="2169876"/>
            <a:ext cx="5784798" cy="612155"/>
          </a:xfrm>
          <a:prstGeom prst="rect">
            <a:avLst/>
          </a:prstGeom>
          <a:noFill/>
        </p:spPr>
        <p:txBody>
          <a:bodyPr wrap="square">
            <a:spAutoFit/>
          </a:bodyPr>
          <a:lstStyle/>
          <a:p>
            <a:pPr fontAlgn="base" latinLnBrk="1">
              <a:lnSpc>
                <a:spcPct val="150000"/>
              </a:lnSpc>
            </a:pPr>
            <a:r>
              <a:rPr lang="en-US" altLang="ko-KR" sz="1200" b="1" dirty="0">
                <a:solidFill>
                  <a:schemeClr val="bg1"/>
                </a:solidFill>
              </a:rPr>
              <a:t>Orbit eccentricity</a:t>
            </a:r>
            <a:r>
              <a:rPr lang="en-US" altLang="ko-KR" sz="1200" dirty="0">
                <a:solidFill>
                  <a:schemeClr val="bg1"/>
                </a:solidFill>
              </a:rPr>
              <a:t>              0.37 below (To avoid the Van Allen Belt)</a:t>
            </a:r>
            <a:endParaRPr lang="ko-KR" altLang="ko-KR" sz="1200" dirty="0">
              <a:solidFill>
                <a:schemeClr val="bg1"/>
              </a:solidFill>
            </a:endParaRPr>
          </a:p>
          <a:p>
            <a:pPr fontAlgn="base" latinLnBrk="1">
              <a:lnSpc>
                <a:spcPct val="150000"/>
              </a:lnSpc>
            </a:pPr>
            <a:r>
              <a:rPr lang="en-US" altLang="ko-KR" sz="1200" b="1" dirty="0">
                <a:solidFill>
                  <a:schemeClr val="bg1"/>
                </a:solidFill>
              </a:rPr>
              <a:t>Orbit inclination</a:t>
            </a:r>
            <a:r>
              <a:rPr lang="en-US" altLang="ko-KR" sz="1200" dirty="0">
                <a:solidFill>
                  <a:schemeClr val="bg1"/>
                </a:solidFill>
              </a:rPr>
              <a:t>                45~65</a:t>
            </a:r>
            <a:r>
              <a:rPr lang="ko-KR" altLang="ko-KR" sz="1200" dirty="0">
                <a:solidFill>
                  <a:schemeClr val="bg1"/>
                </a:solidFill>
              </a:rPr>
              <a:t>° </a:t>
            </a:r>
          </a:p>
        </p:txBody>
      </p:sp>
    </p:spTree>
    <p:extLst>
      <p:ext uri="{BB962C8B-B14F-4D97-AF65-F5344CB8AC3E}">
        <p14:creationId xmlns:p14="http://schemas.microsoft.com/office/powerpoint/2010/main" val="417144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grpId="0" nodeType="clickEffect">
                                  <p:stCondLst>
                                    <p:cond delay="0"/>
                                  </p:stCondLst>
                                  <p:iterate type="lt">
                                    <p:tmPct val="4000"/>
                                  </p:iterate>
                                  <p:childTnLst>
                                    <p:set>
                                      <p:cBhvr override="childStyle">
                                        <p:cTn id="6" dur="500" fill="hold"/>
                                        <p:tgtEl>
                                          <p:spTgt spid="7"/>
                                        </p:tgtEl>
                                        <p:attrNameLst>
                                          <p:attrName>style.color</p:attrName>
                                        </p:attrNameLst>
                                      </p:cBhvr>
                                      <p:to>
                                        <p:clrVal>
                                          <a:srgbClr val="FF0000"/>
                                        </p:clrVal>
                                      </p:to>
                                    </p:set>
                                    <p:set>
                                      <p:cBhvr>
                                        <p:cTn id="7" dur="500" fill="hold"/>
                                        <p:tgtEl>
                                          <p:spTgt spid="7"/>
                                        </p:tgtEl>
                                        <p:attrNameLst>
                                          <p:attrName>fillcolor</p:attrName>
                                        </p:attrNameLst>
                                      </p:cBhvr>
                                      <p:to>
                                        <p:clrVal>
                                          <a:srgbClr val="FF0000"/>
                                        </p:clrVal>
                                      </p:to>
                                    </p:set>
                                    <p:set>
                                      <p:cBhvr>
                                        <p:cTn id="8" dur="500" fill="hold"/>
                                        <p:tgtEl>
                                          <p:spTgt spid="7"/>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6" presetClass="emph" presetSubtype="0" fill="hold" grpId="0" nodeType="clickEffect">
                                  <p:stCondLst>
                                    <p:cond delay="0"/>
                                  </p:stCondLst>
                                  <p:iterate type="lt">
                                    <p:tmPct val="4000"/>
                                  </p:iterate>
                                  <p:childTnLst>
                                    <p:set>
                                      <p:cBhvr override="childStyle">
                                        <p:cTn id="12" dur="500" fill="hold"/>
                                        <p:tgtEl>
                                          <p:spTgt spid="8"/>
                                        </p:tgtEl>
                                        <p:attrNameLst>
                                          <p:attrName>style.color</p:attrName>
                                        </p:attrNameLst>
                                      </p:cBhvr>
                                      <p:to>
                                        <p:clrVal>
                                          <a:srgbClr val="FF0000"/>
                                        </p:clrVal>
                                      </p:to>
                                    </p:set>
                                    <p:set>
                                      <p:cBhvr>
                                        <p:cTn id="13" dur="500" fill="hold"/>
                                        <p:tgtEl>
                                          <p:spTgt spid="8"/>
                                        </p:tgtEl>
                                        <p:attrNameLst>
                                          <p:attrName>fillcolor</p:attrName>
                                        </p:attrNameLst>
                                      </p:cBhvr>
                                      <p:to>
                                        <p:clrVal>
                                          <a:srgbClr val="FF0000"/>
                                        </p:clrVal>
                                      </p:to>
                                    </p:set>
                                    <p:set>
                                      <p:cBhvr>
                                        <p:cTn id="14" dur="500" fill="hold"/>
                                        <p:tgtEl>
                                          <p:spTgt spid="8"/>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3" presetClass="emph" presetSubtype="2" fill="hold" nodeType="clickEffect">
                                  <p:stCondLst>
                                    <p:cond delay="0"/>
                                  </p:stCondLst>
                                  <p:childTnLst>
                                    <p:animClr clrSpc="rgb" dir="cw">
                                      <p:cBhvr override="childStyle">
                                        <p:cTn id="18" dur="500" fill="hold"/>
                                        <p:tgtEl>
                                          <p:spTgt spid="10"/>
                                        </p:tgtEl>
                                        <p:attrNameLst>
                                          <p:attrName>style.color</p:attrName>
                                        </p:attrNameLst>
                                      </p:cBhvr>
                                      <p:to>
                                        <a:srgbClr val="FF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1.4 </a:t>
            </a:r>
            <a:r>
              <a:rPr lang="en-US" altLang="ko-KR" sz="2000" dirty="0">
                <a:solidFill>
                  <a:srgbClr val="FFAB40"/>
                </a:solidFill>
              </a:rPr>
              <a:t>B</a:t>
            </a:r>
            <a:r>
              <a:rPr lang="en-US" altLang="ko-KR" sz="2000" b="1" kern="0" dirty="0">
                <a:solidFill>
                  <a:srgbClr val="FFAB40"/>
                </a:solidFill>
                <a:effectLst/>
                <a:latin typeface="맑은 고딕" panose="020B0503020000020004" pitchFamily="50" charset="-127"/>
                <a:cs typeface="굴림" panose="020B0600000101010101" pitchFamily="50" charset="-127"/>
              </a:rPr>
              <a:t>udgets for spacecraft propellant, power, and weight</a:t>
            </a:r>
            <a:endParaRPr lang="en-US" sz="2000" dirty="0">
              <a:solidFill>
                <a:srgbClr val="FFAB40"/>
              </a:solidFill>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mc:AlternateContent xmlns:mc="http://schemas.openxmlformats.org/markup-compatibility/2006" xmlns:a14="http://schemas.microsoft.com/office/drawing/2010/main">
        <mc:Choice Requires="a14">
          <p:graphicFrame>
            <p:nvGraphicFramePr>
              <p:cNvPr id="5" name="표 4">
                <a:extLst>
                  <a:ext uri="{FF2B5EF4-FFF2-40B4-BE49-F238E27FC236}">
                    <a16:creationId xmlns:a16="http://schemas.microsoft.com/office/drawing/2014/main" id="{76EEA767-A5F5-4DA4-A144-3D0AD584D992}"/>
                  </a:ext>
                </a:extLst>
              </p:cNvPr>
              <p:cNvGraphicFramePr>
                <a:graphicFrameLocks noGrp="1"/>
              </p:cNvGraphicFramePr>
              <p:nvPr>
                <p:extLst>
                  <p:ext uri="{D42A27DB-BD31-4B8C-83A1-F6EECF244321}">
                    <p14:modId xmlns:p14="http://schemas.microsoft.com/office/powerpoint/2010/main" val="891495784"/>
                  </p:ext>
                </p:extLst>
              </p:nvPr>
            </p:nvGraphicFramePr>
            <p:xfrm>
              <a:off x="1045433" y="1673459"/>
              <a:ext cx="7053133" cy="2733206"/>
            </p:xfrm>
            <a:graphic>
              <a:graphicData uri="http://schemas.openxmlformats.org/drawingml/2006/table">
                <a:tbl>
                  <a:tblPr firstRow="1" firstCol="1" bandRow="1"/>
                  <a:tblGrid>
                    <a:gridCol w="1908079">
                      <a:extLst>
                        <a:ext uri="{9D8B030D-6E8A-4147-A177-3AD203B41FA5}">
                          <a16:colId xmlns:a16="http://schemas.microsoft.com/office/drawing/2014/main" val="32340138"/>
                        </a:ext>
                      </a:extLst>
                    </a:gridCol>
                    <a:gridCol w="1533853">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325179">
                    <a:tc>
                      <a:txBody>
                        <a:bodyPr/>
                        <a:lstStyle/>
                        <a:p>
                          <a:pPr algn="just">
                            <a:lnSpc>
                              <a:spcPct val="107000"/>
                            </a:lnSpc>
                          </a:pPr>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GEO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EIGSO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HEO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454747">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Total </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4408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6792.5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7336.6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26156">
                    <a:tc>
                      <a:txBody>
                        <a:bodyPr/>
                        <a:lstStyle/>
                        <a:p>
                          <a:pPr algn="ctr" fontAlgn="base" latinLnBrk="1">
                            <a:lnSpc>
                              <a:spcPct val="106000"/>
                            </a:lnSpc>
                            <a:spcAft>
                              <a:spcPts val="800"/>
                            </a:spcAft>
                          </a:pPr>
                          <a14:m>
                            <m:oMath xmlns:m="http://schemas.openxmlformats.org/officeDocument/2006/math">
                              <m:sSub>
                                <m:sSubPr>
                                  <m:ctrlPr>
                                    <a:rPr lang="ko-KR" sz="1200" b="1" i="1" kern="0" smtClean="0">
                                      <a:solidFill>
                                        <a:schemeClr val="bg1"/>
                                      </a:solidFill>
                                      <a:effectLst/>
                                      <a:latin typeface="Cambria Math" panose="02040503050406030204" pitchFamily="18" charset="0"/>
                                      <a:ea typeface="Cambria Math" panose="02040503050406030204" pitchFamily="18" charset="0"/>
                                      <a:cs typeface="굴림" panose="020B0600000101010101" pitchFamily="50" charset="-127"/>
                                    </a:rPr>
                                  </m:ctrlPr>
                                </m:sSubPr>
                                <m:e>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𝒎</m:t>
                                  </m:r>
                                </m:e>
                                <m:sub>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𝒇</m:t>
                                  </m:r>
                                </m:sub>
                              </m:sSub>
                            </m:oMath>
                          </a14:m>
                          <a:r>
                            <a:rPr lang="en-US" sz="1200" b="1"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 </a:t>
                          </a: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(dry mass)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2347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526156">
                    <a:tc>
                      <a:txBody>
                        <a:bodyPr/>
                        <a:lstStyle/>
                        <a:p>
                          <a:pPr algn="ctr" fontAlgn="base" latinLnBrk="1">
                            <a:lnSpc>
                              <a:spcPct val="106000"/>
                            </a:lnSpc>
                            <a:spcAft>
                              <a:spcPts val="800"/>
                            </a:spcAft>
                          </a:pPr>
                          <a14:m>
                            <m:oMath xmlns:m="http://schemas.openxmlformats.org/officeDocument/2006/math">
                              <m:sSub>
                                <m:sSubPr>
                                  <m:ctrlPr>
                                    <a:rPr lang="ko-KR" sz="1200" b="1" i="1" kern="0" smtClean="0">
                                      <a:solidFill>
                                        <a:schemeClr val="bg1"/>
                                      </a:solidFill>
                                      <a:effectLst/>
                                      <a:latin typeface="Cambria Math" panose="02040503050406030204" pitchFamily="18" charset="0"/>
                                      <a:ea typeface="Cambria Math" panose="02040503050406030204" pitchFamily="18" charset="0"/>
                                      <a:cs typeface="굴림" panose="020B0600000101010101" pitchFamily="50" charset="-127"/>
                                    </a:rPr>
                                  </m:ctrlPr>
                                </m:sSubPr>
                                <m:e>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𝒗</m:t>
                                  </m:r>
                                </m:e>
                                <m:sub>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𝟎</m:t>
                                  </m:r>
                                </m:sub>
                              </m:sSub>
                            </m:oMath>
                          </a14:m>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(velocity @ parking orbit)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7789.4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450484">
                    <a:tc>
                      <a:txBody>
                        <a:bodyPr/>
                        <a:lstStyle/>
                        <a:p>
                          <a:pPr algn="ctr" fontAlgn="base" latinLnBrk="1">
                            <a:lnSpc>
                              <a:spcPct val="106000"/>
                            </a:lnSpc>
                            <a:spcAft>
                              <a:spcPts val="800"/>
                            </a:spcAft>
                          </a:pPr>
                          <a14:m>
                            <m:oMath xmlns:m="http://schemas.openxmlformats.org/officeDocument/2006/math">
                              <m:sSub>
                                <m:sSubPr>
                                  <m:ctrlPr>
                                    <a:rPr lang="ko-KR" sz="1200" b="1" i="1" kern="0" smtClean="0">
                                      <a:solidFill>
                                        <a:schemeClr val="bg1"/>
                                      </a:solidFill>
                                      <a:effectLst/>
                                      <a:latin typeface="Cambria Math" panose="02040503050406030204" pitchFamily="18" charset="0"/>
                                      <a:ea typeface="Cambria Math" panose="02040503050406030204" pitchFamily="18" charset="0"/>
                                      <a:cs typeface="굴림" panose="020B0600000101010101" pitchFamily="50" charset="-127"/>
                                    </a:rPr>
                                  </m:ctrlPr>
                                </m:sSubPr>
                                <m:e>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𝒎</m:t>
                                  </m:r>
                                </m:e>
                                <m:sub>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𝒑</m:t>
                                  </m:r>
                                </m:sub>
                              </m:sSub>
                              <m:r>
                                <a:rPr lang="en-US" sz="1200" b="1" i="1" kern="0">
                                  <a:solidFill>
                                    <a:schemeClr val="bg1"/>
                                  </a:solidFill>
                                  <a:effectLst/>
                                  <a:latin typeface="Cambria Math" panose="02040503050406030204" pitchFamily="18" charset="0"/>
                                  <a:ea typeface="맑은 고딕" panose="020B0503020000020004" pitchFamily="50" charset="-127"/>
                                  <a:cs typeface="굴림" panose="020B0600000101010101" pitchFamily="50" charset="-127"/>
                                </a:rPr>
                                <m:t> </m:t>
                              </m:r>
                            </m:oMath>
                          </a14:m>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(propellant mass)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1421.0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1935.5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2005.0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4504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Propellant budget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2458.1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2546.3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902604"/>
                      </a:ext>
                    </a:extLst>
                  </a:tr>
                </a:tbl>
              </a:graphicData>
            </a:graphic>
          </p:graphicFrame>
        </mc:Choice>
        <mc:Fallback xmlns="">
          <p:graphicFrame>
            <p:nvGraphicFramePr>
              <p:cNvPr id="5" name="표 4">
                <a:extLst>
                  <a:ext uri="{FF2B5EF4-FFF2-40B4-BE49-F238E27FC236}">
                    <a16:creationId xmlns:a16="http://schemas.microsoft.com/office/drawing/2014/main" id="{76EEA767-A5F5-4DA4-A144-3D0AD584D992}"/>
                  </a:ext>
                </a:extLst>
              </p:cNvPr>
              <p:cNvGraphicFramePr>
                <a:graphicFrameLocks noGrp="1"/>
              </p:cNvGraphicFramePr>
              <p:nvPr>
                <p:extLst>
                  <p:ext uri="{D42A27DB-BD31-4B8C-83A1-F6EECF244321}">
                    <p14:modId xmlns:p14="http://schemas.microsoft.com/office/powerpoint/2010/main" val="891495784"/>
                  </p:ext>
                </p:extLst>
              </p:nvPr>
            </p:nvGraphicFramePr>
            <p:xfrm>
              <a:off x="1045433" y="1673459"/>
              <a:ext cx="7053133" cy="2733206"/>
            </p:xfrm>
            <a:graphic>
              <a:graphicData uri="http://schemas.openxmlformats.org/drawingml/2006/table">
                <a:tbl>
                  <a:tblPr firstRow="1" firstCol="1" bandRow="1"/>
                  <a:tblGrid>
                    <a:gridCol w="1908079">
                      <a:extLst>
                        <a:ext uri="{9D8B030D-6E8A-4147-A177-3AD203B41FA5}">
                          <a16:colId xmlns:a16="http://schemas.microsoft.com/office/drawing/2014/main" val="32340138"/>
                        </a:ext>
                      </a:extLst>
                    </a:gridCol>
                    <a:gridCol w="1533853">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325179">
                    <a:tc>
                      <a:txBody>
                        <a:bodyPr/>
                        <a:lstStyle/>
                        <a:p>
                          <a:pPr algn="just">
                            <a:lnSpc>
                              <a:spcPct val="107000"/>
                            </a:lnSpc>
                          </a:pPr>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GEO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EIGSO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HEO</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454747">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Total </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4408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6792.5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7336.6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26156">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19" t="-148276" r="-270607" b="-271264"/>
                          </a:stretch>
                        </a:blip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2347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526156">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19" t="-251163" r="-270607" b="-174419"/>
                          </a:stretch>
                        </a:blip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7789.4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450484">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19" t="-408108" r="-270607" b="-102703"/>
                          </a:stretch>
                        </a:blip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1421.0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1935.5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2005.0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4504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Propellant budget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2458.1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2546.3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902604"/>
                      </a:ext>
                    </a:extLst>
                  </a:tr>
                </a:tbl>
              </a:graphicData>
            </a:graphic>
          </p:graphicFrame>
        </mc:Fallback>
      </mc:AlternateContent>
      <p:sp>
        <p:nvSpPr>
          <p:cNvPr id="6" name="TextBox 5">
            <a:extLst>
              <a:ext uri="{FF2B5EF4-FFF2-40B4-BE49-F238E27FC236}">
                <a16:creationId xmlns:a16="http://schemas.microsoft.com/office/drawing/2014/main" id="{53B00BF6-3F53-4CB3-A3A1-32C4188C1031}"/>
              </a:ext>
            </a:extLst>
          </p:cNvPr>
          <p:cNvSpPr txBox="1"/>
          <p:nvPr/>
        </p:nvSpPr>
        <p:spPr>
          <a:xfrm>
            <a:off x="828106" y="1025374"/>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(1) Propellant Budget - PS</a:t>
            </a:r>
          </a:p>
        </p:txBody>
      </p:sp>
    </p:spTree>
    <p:extLst>
      <p:ext uri="{BB962C8B-B14F-4D97-AF65-F5344CB8AC3E}">
        <p14:creationId xmlns:p14="http://schemas.microsoft.com/office/powerpoint/2010/main" val="1655427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1.4 </a:t>
            </a:r>
            <a:r>
              <a:rPr lang="en-US" altLang="ko-KR" sz="2000" dirty="0">
                <a:solidFill>
                  <a:srgbClr val="FFAB40"/>
                </a:solidFill>
              </a:rPr>
              <a:t>B</a:t>
            </a:r>
            <a:r>
              <a:rPr lang="en-US" altLang="ko-KR" sz="2000" b="1" kern="0" dirty="0">
                <a:solidFill>
                  <a:srgbClr val="FFAB40"/>
                </a:solidFill>
                <a:effectLst/>
                <a:latin typeface="맑은 고딕" panose="020B0503020000020004" pitchFamily="50" charset="-127"/>
                <a:cs typeface="굴림" panose="020B0600000101010101" pitchFamily="50" charset="-127"/>
              </a:rPr>
              <a:t>udgets for spacecraft propellant, power, and weight</a:t>
            </a:r>
            <a:endParaRPr lang="en-US" sz="20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13864"/>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(2) Power Budget - EPS</a:t>
            </a:r>
          </a:p>
        </p:txBody>
      </p:sp>
      <p:graphicFrame>
        <p:nvGraphicFramePr>
          <p:cNvPr id="7" name="표 6">
            <a:extLst>
              <a:ext uri="{FF2B5EF4-FFF2-40B4-BE49-F238E27FC236}">
                <a16:creationId xmlns:a16="http://schemas.microsoft.com/office/drawing/2014/main" id="{06CE8BD0-AFE1-4F27-B9C0-22677DE96839}"/>
              </a:ext>
            </a:extLst>
          </p:cNvPr>
          <p:cNvGraphicFramePr>
            <a:graphicFrameLocks noGrp="1"/>
          </p:cNvGraphicFramePr>
          <p:nvPr>
            <p:extLst>
              <p:ext uri="{D42A27DB-BD31-4B8C-83A1-F6EECF244321}">
                <p14:modId xmlns:p14="http://schemas.microsoft.com/office/powerpoint/2010/main" val="1149017298"/>
              </p:ext>
            </p:extLst>
          </p:nvPr>
        </p:nvGraphicFramePr>
        <p:xfrm>
          <a:off x="1043292" y="1386424"/>
          <a:ext cx="7807070" cy="3523903"/>
        </p:xfrm>
        <a:graphic>
          <a:graphicData uri="http://schemas.openxmlformats.org/drawingml/2006/table">
            <a:tbl>
              <a:tblPr firstRow="1" firstCol="1" bandRow="1"/>
              <a:tblGrid>
                <a:gridCol w="1032396">
                  <a:extLst>
                    <a:ext uri="{9D8B030D-6E8A-4147-A177-3AD203B41FA5}">
                      <a16:colId xmlns:a16="http://schemas.microsoft.com/office/drawing/2014/main" val="32340138"/>
                    </a:ext>
                  </a:extLst>
                </a:gridCol>
                <a:gridCol w="1512968">
                  <a:extLst>
                    <a:ext uri="{9D8B030D-6E8A-4147-A177-3AD203B41FA5}">
                      <a16:colId xmlns:a16="http://schemas.microsoft.com/office/drawing/2014/main" val="352229100"/>
                    </a:ext>
                  </a:extLst>
                </a:gridCol>
                <a:gridCol w="5261706">
                  <a:extLst>
                    <a:ext uri="{9D8B030D-6E8A-4147-A177-3AD203B41FA5}">
                      <a16:colId xmlns:a16="http://schemas.microsoft.com/office/drawing/2014/main" val="558501656"/>
                    </a:ext>
                  </a:extLst>
                </a:gridCol>
              </a:tblGrid>
              <a:tr h="232313">
                <a:tc>
                  <a:txBody>
                    <a:bodyPr/>
                    <a:lstStyle/>
                    <a:p>
                      <a:pPr algn="just">
                        <a:lnSpc>
                          <a:spcPct val="107000"/>
                        </a:lnSpc>
                      </a:pPr>
                      <a:endParaRPr lang="ko-KR" sz="10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Power (W)</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0">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Components</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321391">
                <a:tc>
                  <a:txBody>
                    <a:bodyPr/>
                    <a:lstStyle/>
                    <a:p>
                      <a:pPr algn="ctr" latinLnBrk="0">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PAY(&amp; GNC)</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1556.8</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a:t>
                      </a:r>
                      <a:r>
                        <a:rPr lang="en-US" sz="10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Excelitas</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RAFS (14W) x2</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L-band A154R (250W)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CL-</a:t>
                      </a:r>
                      <a:r>
                        <a:rPr lang="en-US" sz="10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-TX (8.8W)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74174">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ADCS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457.4</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latinLnBrk="0">
                        <a:lnSpc>
                          <a:spcPct val="106000"/>
                        </a:lnSpc>
                        <a:spcAft>
                          <a:spcPts val="800"/>
                        </a:spcAft>
                        <a:buFontTx/>
                        <a:buNone/>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Thruster (15.6W) x4 / Reaction Wheel (90W) x3 </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IRU (30W)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Sun Sensor (1W)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a:t>
                      </a:r>
                    </a:p>
                    <a:p>
                      <a:pPr marL="0" indent="0" algn="l" latinLnBrk="0">
                        <a:lnSpc>
                          <a:spcPct val="106000"/>
                        </a:lnSpc>
                        <a:spcAft>
                          <a:spcPts val="800"/>
                        </a:spcAft>
                        <a:buFontTx/>
                        <a:buNone/>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Star Sensor (12W) x2</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Earth Sensor (4W) x2</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SADA (62W)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03796">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EPS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latinLnBrk="0">
                        <a:lnSpc>
                          <a:spcPct val="106000"/>
                        </a:lnSpc>
                        <a:spcAft>
                          <a:spcPts val="800"/>
                        </a:spcAft>
                        <a:buFontTx/>
                        <a:buNone/>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Solar Array</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Li-ion Battery</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PCDU</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307720">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CNDH</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OBC (up to 20W)</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290136">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TT&amp;C</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84.5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C Band </a:t>
                      </a:r>
                      <a:r>
                        <a:rPr lang="ko-KR"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송신기</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(up to 12.5W)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Ka Band </a:t>
                      </a:r>
                      <a:r>
                        <a:rPr lang="ko-KR"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송신기</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(up to 68W)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 Band Receiver (14W)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2487852"/>
                  </a:ext>
                </a:extLst>
              </a:tr>
              <a:tr h="298927">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TCS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691.7</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Radiator (604.5W)</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Heater (87.2W)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6181118"/>
                  </a:ext>
                </a:extLst>
              </a:tr>
              <a:tr h="334096">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R-4D engine (45~70W)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670726"/>
                  </a:ext>
                </a:extLst>
              </a:tr>
              <a:tr h="236875">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EOL Power</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3660.4</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7000"/>
                        </a:lnSpc>
                      </a:pPr>
                      <a:endParaRPr lang="ko-KR" sz="10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4871400"/>
                  </a:ext>
                </a:extLst>
              </a:tr>
              <a:tr h="307889">
                <a:tc>
                  <a:txBody>
                    <a:bodyPr/>
                    <a:lstStyle/>
                    <a:p>
                      <a:pPr algn="ctr" latinLnBrk="0">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Margin</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539.6</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7000"/>
                        </a:lnSpc>
                      </a:pPr>
                      <a:endParaRPr lang="ko-KR" sz="10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059262"/>
                  </a:ext>
                </a:extLst>
              </a:tr>
              <a:tr h="316586">
                <a:tc>
                  <a:txBody>
                    <a:bodyPr/>
                    <a:lstStyle/>
                    <a:p>
                      <a:pPr algn="ctr" latinLnBrk="0">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EOL Power </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0">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4200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7000"/>
                        </a:lnSpc>
                      </a:pPr>
                      <a:endParaRPr lang="ko-KR" sz="10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8015238"/>
                  </a:ext>
                </a:extLst>
              </a:tr>
            </a:tbl>
          </a:graphicData>
        </a:graphic>
      </p:graphicFrame>
    </p:spTree>
    <p:extLst>
      <p:ext uri="{BB962C8B-B14F-4D97-AF65-F5344CB8AC3E}">
        <p14:creationId xmlns:p14="http://schemas.microsoft.com/office/powerpoint/2010/main" val="266293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1.4 </a:t>
            </a:r>
            <a:r>
              <a:rPr lang="en-US" altLang="ko-KR" sz="2000" dirty="0">
                <a:solidFill>
                  <a:srgbClr val="FFAB40"/>
                </a:solidFill>
              </a:rPr>
              <a:t>B</a:t>
            </a:r>
            <a:r>
              <a:rPr lang="en-US" altLang="ko-KR" sz="2000" b="1" kern="0" dirty="0">
                <a:solidFill>
                  <a:srgbClr val="FFAB40"/>
                </a:solidFill>
                <a:effectLst/>
                <a:latin typeface="맑은 고딕" panose="020B0503020000020004" pitchFamily="50" charset="-127"/>
                <a:cs typeface="굴림" panose="020B0600000101010101" pitchFamily="50" charset="-127"/>
              </a:rPr>
              <a:t>udgets for spacecraft propellant, power, and weight</a:t>
            </a:r>
            <a:endParaRPr lang="en-US" sz="20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13864"/>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(3) Weight Budget - SMS</a:t>
            </a:r>
          </a:p>
        </p:txBody>
      </p:sp>
      <p:graphicFrame>
        <p:nvGraphicFramePr>
          <p:cNvPr id="7" name="표 6">
            <a:extLst>
              <a:ext uri="{FF2B5EF4-FFF2-40B4-BE49-F238E27FC236}">
                <a16:creationId xmlns:a16="http://schemas.microsoft.com/office/drawing/2014/main" id="{06CE8BD0-AFE1-4F27-B9C0-22677DE96839}"/>
              </a:ext>
            </a:extLst>
          </p:cNvPr>
          <p:cNvGraphicFramePr>
            <a:graphicFrameLocks noGrp="1"/>
          </p:cNvGraphicFramePr>
          <p:nvPr>
            <p:extLst>
              <p:ext uri="{D42A27DB-BD31-4B8C-83A1-F6EECF244321}">
                <p14:modId xmlns:p14="http://schemas.microsoft.com/office/powerpoint/2010/main" val="1079315419"/>
              </p:ext>
            </p:extLst>
          </p:nvPr>
        </p:nvGraphicFramePr>
        <p:xfrm>
          <a:off x="1043292" y="1386425"/>
          <a:ext cx="7807071" cy="3519846"/>
        </p:xfrm>
        <a:graphic>
          <a:graphicData uri="http://schemas.openxmlformats.org/drawingml/2006/table">
            <a:tbl>
              <a:tblPr firstRow="1" firstCol="1" bandRow="1"/>
              <a:tblGrid>
                <a:gridCol w="1032396">
                  <a:extLst>
                    <a:ext uri="{9D8B030D-6E8A-4147-A177-3AD203B41FA5}">
                      <a16:colId xmlns:a16="http://schemas.microsoft.com/office/drawing/2014/main" val="32340138"/>
                    </a:ext>
                  </a:extLst>
                </a:gridCol>
                <a:gridCol w="1088136">
                  <a:extLst>
                    <a:ext uri="{9D8B030D-6E8A-4147-A177-3AD203B41FA5}">
                      <a16:colId xmlns:a16="http://schemas.microsoft.com/office/drawing/2014/main" val="352229100"/>
                    </a:ext>
                  </a:extLst>
                </a:gridCol>
                <a:gridCol w="1115568">
                  <a:extLst>
                    <a:ext uri="{9D8B030D-6E8A-4147-A177-3AD203B41FA5}">
                      <a16:colId xmlns:a16="http://schemas.microsoft.com/office/drawing/2014/main" val="558501656"/>
                    </a:ext>
                  </a:extLst>
                </a:gridCol>
                <a:gridCol w="978408">
                  <a:extLst>
                    <a:ext uri="{9D8B030D-6E8A-4147-A177-3AD203B41FA5}">
                      <a16:colId xmlns:a16="http://schemas.microsoft.com/office/drawing/2014/main" val="1663284738"/>
                    </a:ext>
                  </a:extLst>
                </a:gridCol>
                <a:gridCol w="3592563">
                  <a:extLst>
                    <a:ext uri="{9D8B030D-6E8A-4147-A177-3AD203B41FA5}">
                      <a16:colId xmlns:a16="http://schemas.microsoft.com/office/drawing/2014/main" val="1105399632"/>
                    </a:ext>
                  </a:extLst>
                </a:gridCol>
              </a:tblGrid>
              <a:tr h="232063">
                <a:tc>
                  <a:txBody>
                    <a:bodyPr/>
                    <a:lstStyle/>
                    <a:p>
                      <a:pPr algn="ctr" fontAlgn="base" latinLnBrk="1">
                        <a:lnSpc>
                          <a:spcPct val="106000"/>
                        </a:lnSpc>
                        <a:spcAft>
                          <a:spcPts val="800"/>
                        </a:spcAft>
                      </a:pP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Mass(kg)</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Margin(kg)</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Percentage</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Components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371231">
                <a:tc>
                  <a:txBody>
                    <a:bodyPr/>
                    <a:lstStyle/>
                    <a:p>
                      <a:pPr algn="ctr" fontAlgn="base" latinLnBrk="1">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Payload</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450.0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22.5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Time instrument</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 antenna</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Laser reflector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07428">
                <a:tc>
                  <a:txBody>
                    <a:bodyPr/>
                    <a:lstStyle/>
                    <a:p>
                      <a:pPr algn="ctr" fontAlgn="base" latinLnBrk="1">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Structure</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450.0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22.5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Honeycomb panel</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Mechanism part</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Beam</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Truss</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Bracket</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50908">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Thermal</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90.0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Electrical heater</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Heat pipe</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355440">
                <a:tc>
                  <a:txBody>
                    <a:bodyPr/>
                    <a:lstStyle/>
                    <a:p>
                      <a:pPr algn="ctr" fontAlgn="base" latinLnBrk="1">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Power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414.0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20.7</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23%</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Solar array</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Battery</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PCDU</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476389">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TT&amp;C</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90.0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Ka-band antenna</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C-band antenna</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Onboard Computer &amp; Electronic Device </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2487852"/>
                  </a:ext>
                </a:extLst>
              </a:tr>
              <a:tr h="476389">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ADCS</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126.0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6.3</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Reaction wheel</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Sun sensor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Earth sensor</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Star sensor</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IRU</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6181118"/>
                  </a:ext>
                </a:extLst>
              </a:tr>
              <a:tr h="476389">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Propulsion</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9.0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Thruster/engine</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Tank</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Distribution system</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l" fontAlgn="base" latinLnBrk="1">
                        <a:lnSpc>
                          <a:spcPct val="106000"/>
                        </a:lnSpc>
                        <a:spcAft>
                          <a:spcPts val="800"/>
                        </a:spcAft>
                      </a:pP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a:t>
                      </a:r>
                      <a:r>
                        <a:rPr lang="en-US" sz="10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Pressurant</a:t>
                      </a: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Propellant control</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670726"/>
                  </a:ext>
                </a:extLst>
              </a:tr>
              <a:tr h="273609">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Total</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90.0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0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7000"/>
                        </a:lnSpc>
                      </a:pPr>
                      <a:endParaRPr lang="ko-KR" sz="10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4871400"/>
                  </a:ext>
                </a:extLst>
              </a:tr>
            </a:tbl>
          </a:graphicData>
        </a:graphic>
      </p:graphicFrame>
    </p:spTree>
    <p:extLst>
      <p:ext uri="{BB962C8B-B14F-4D97-AF65-F5344CB8AC3E}">
        <p14:creationId xmlns:p14="http://schemas.microsoft.com/office/powerpoint/2010/main" val="778081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1.5 Satellite 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8" name="그림 7">
            <a:extLst>
              <a:ext uri="{FF2B5EF4-FFF2-40B4-BE49-F238E27FC236}">
                <a16:creationId xmlns:a16="http://schemas.microsoft.com/office/drawing/2014/main" id="{08C6D93F-E8AD-47E5-A9F7-819148178A9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0386" y="1386426"/>
            <a:ext cx="6243227" cy="3065934"/>
          </a:xfrm>
          <a:prstGeom prst="rect">
            <a:avLst/>
          </a:prstGeom>
          <a:noFill/>
        </p:spPr>
      </p:pic>
    </p:spTree>
    <p:extLst>
      <p:ext uri="{BB962C8B-B14F-4D97-AF65-F5344CB8AC3E}">
        <p14:creationId xmlns:p14="http://schemas.microsoft.com/office/powerpoint/2010/main" val="915118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19561" y="1078648"/>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Requirements</a:t>
            </a:r>
          </a:p>
        </p:txBody>
      </p:sp>
      <p:graphicFrame>
        <p:nvGraphicFramePr>
          <p:cNvPr id="7" name="표 6">
            <a:extLst>
              <a:ext uri="{FF2B5EF4-FFF2-40B4-BE49-F238E27FC236}">
                <a16:creationId xmlns:a16="http://schemas.microsoft.com/office/drawing/2014/main" id="{A72596E3-7A34-40CF-ABD8-A143610E44E0}"/>
              </a:ext>
            </a:extLst>
          </p:cNvPr>
          <p:cNvGraphicFramePr>
            <a:graphicFrameLocks noGrp="1"/>
          </p:cNvGraphicFramePr>
          <p:nvPr>
            <p:extLst>
              <p:ext uri="{D42A27DB-BD31-4B8C-83A1-F6EECF244321}">
                <p14:modId xmlns:p14="http://schemas.microsoft.com/office/powerpoint/2010/main" val="323128956"/>
              </p:ext>
            </p:extLst>
          </p:nvPr>
        </p:nvGraphicFramePr>
        <p:xfrm>
          <a:off x="1008378" y="1740962"/>
          <a:ext cx="7554508" cy="2680825"/>
        </p:xfrm>
        <a:graphic>
          <a:graphicData uri="http://schemas.openxmlformats.org/drawingml/2006/table">
            <a:tbl>
              <a:tblPr firstRow="1" firstCol="1" bandRow="1"/>
              <a:tblGrid>
                <a:gridCol w="1461357">
                  <a:extLst>
                    <a:ext uri="{9D8B030D-6E8A-4147-A177-3AD203B41FA5}">
                      <a16:colId xmlns:a16="http://schemas.microsoft.com/office/drawing/2014/main" val="32340138"/>
                    </a:ext>
                  </a:extLst>
                </a:gridCol>
                <a:gridCol w="6093151">
                  <a:extLst>
                    <a:ext uri="{9D8B030D-6E8A-4147-A177-3AD203B41FA5}">
                      <a16:colId xmlns:a16="http://schemas.microsoft.com/office/drawing/2014/main" val="2731256957"/>
                    </a:ext>
                  </a:extLst>
                </a:gridCol>
              </a:tblGrid>
              <a:tr h="230931">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ID</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Requirements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365907">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PAY-001</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Navigation system test(NST)</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를</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통과해야</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337842">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PAY-002</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L1, L2, L5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채널로</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항법데이터를</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송신할</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수</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있어야</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62609">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PAY-003</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fontAlgn="base" latinLnBrk="1">
                        <a:lnSpc>
                          <a:spcPct val="106000"/>
                        </a:lnSpc>
                        <a:spcAft>
                          <a:spcPts val="800"/>
                        </a:spcAft>
                      </a:pPr>
                      <a:r>
                        <a:rPr lang="ko-KR" altLang="ko-KR" sz="1200" kern="0" dirty="0">
                          <a:solidFill>
                            <a:schemeClr val="bg1"/>
                          </a:solidFill>
                          <a:effectLst/>
                          <a:latin typeface="굴림" panose="020B0600000101010101" pitchFamily="50" charset="-127"/>
                          <a:ea typeface="+mn-ea"/>
                          <a:cs typeface="굴림" panose="020B0600000101010101" pitchFamily="50" charset="-127"/>
                        </a:rPr>
                        <a:t>지상국의</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시간과</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비교할</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수</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있도록</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altLang="ko-KR" sz="1200" kern="0" dirty="0">
                          <a:solidFill>
                            <a:schemeClr val="bg1"/>
                          </a:solidFill>
                          <a:effectLst/>
                          <a:latin typeface="맑은 고딕" panose="020B0503020000020004" pitchFamily="50" charset="-127"/>
                          <a:ea typeface="+mn-ea"/>
                          <a:cs typeface="굴림" panose="020B0600000101010101" pitchFamily="50" charset="-127"/>
                        </a:rPr>
                        <a:t>Time Comparison signal</a:t>
                      </a:r>
                      <a:r>
                        <a:rPr lang="ko-KR" altLang="ko-KR" sz="1200" kern="0" dirty="0">
                          <a:solidFill>
                            <a:schemeClr val="bg1"/>
                          </a:solidFill>
                          <a:effectLst/>
                          <a:latin typeface="굴림" panose="020B0600000101010101" pitchFamily="50" charset="-127"/>
                          <a:ea typeface="+mn-ea"/>
                          <a:cs typeface="굴림" panose="020B0600000101010101" pitchFamily="50" charset="-127"/>
                        </a:rPr>
                        <a:t>이</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송</a:t>
                      </a:r>
                      <a:r>
                        <a:rPr lang="en-US" altLang="ko-KR" sz="1200" kern="0" dirty="0">
                          <a:solidFill>
                            <a:schemeClr val="bg1"/>
                          </a:solidFill>
                          <a:effectLst/>
                          <a:latin typeface="맑은 고딕" panose="020B0503020000020004" pitchFamily="50" charset="-127"/>
                          <a:ea typeface="+mn-ea"/>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수신</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가능해야</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한다</a:t>
                      </a:r>
                      <a:r>
                        <a:rPr lang="en-US" altLang="ko-KR" sz="1200" kern="0" dirty="0">
                          <a:solidFill>
                            <a:schemeClr val="bg1"/>
                          </a:solidFill>
                          <a:effectLst/>
                          <a:latin typeface="맑은 고딕" panose="020B0503020000020004" pitchFamily="50" charset="-127"/>
                          <a:ea typeface="+mn-ea"/>
                          <a:cs typeface="굴림" panose="020B0600000101010101" pitchFamily="50" charset="-127"/>
                        </a:rPr>
                        <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3458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PAY-004</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marL="0" marR="0" lvl="0" indent="0" algn="just" defTabSz="914400" rtl="0" eaLnBrk="1" fontAlgn="base" latinLnBrk="1" hangingPunct="1">
                        <a:lnSpc>
                          <a:spcPct val="106000"/>
                        </a:lnSpc>
                        <a:spcBef>
                          <a:spcPts val="0"/>
                        </a:spcBef>
                        <a:spcAft>
                          <a:spcPts val="800"/>
                        </a:spcAft>
                        <a:buClr>
                          <a:srgbClr val="000000"/>
                        </a:buClr>
                        <a:buSzTx/>
                        <a:buFont typeface="Arial"/>
                        <a:buNone/>
                        <a:tabLst/>
                        <a:defRPr/>
                      </a:pPr>
                      <a:r>
                        <a:rPr lang="ko-KR" altLang="ko-KR" sz="1200" kern="0" dirty="0">
                          <a:solidFill>
                            <a:schemeClr val="bg1"/>
                          </a:solidFill>
                          <a:effectLst/>
                          <a:latin typeface="굴림" panose="020B0600000101010101" pitchFamily="50" charset="-127"/>
                          <a:ea typeface="+mn-ea"/>
                          <a:cs typeface="굴림" panose="020B0600000101010101" pitchFamily="50" charset="-127"/>
                        </a:rPr>
                        <a:t>탑재</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장비들이</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적어도</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altLang="ko-KR" sz="1200" kern="0" dirty="0">
                          <a:solidFill>
                            <a:schemeClr val="bg1"/>
                          </a:solidFill>
                          <a:effectLst/>
                          <a:latin typeface="맑은 고딕" panose="020B0503020000020004" pitchFamily="50" charset="-127"/>
                          <a:ea typeface="+mn-ea"/>
                          <a:cs typeface="굴림" panose="020B0600000101010101" pitchFamily="50" charset="-127"/>
                        </a:rPr>
                        <a:t>8</a:t>
                      </a:r>
                      <a:r>
                        <a:rPr lang="ko-KR" altLang="ko-KR" sz="1200" kern="0" dirty="0">
                          <a:solidFill>
                            <a:schemeClr val="bg1"/>
                          </a:solidFill>
                          <a:effectLst/>
                          <a:latin typeface="굴림" panose="020B0600000101010101" pitchFamily="50" charset="-127"/>
                          <a:ea typeface="+mn-ea"/>
                          <a:cs typeface="굴림" panose="020B0600000101010101" pitchFamily="50" charset="-127"/>
                        </a:rPr>
                        <a:t>년간</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임무를</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수행할</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수</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있어야</a:t>
                      </a:r>
                      <a:r>
                        <a:rPr lang="ko-KR" alt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200" kern="0" dirty="0">
                          <a:solidFill>
                            <a:schemeClr val="bg1"/>
                          </a:solidFill>
                          <a:effectLst/>
                          <a:latin typeface="굴림" panose="020B0600000101010101" pitchFamily="50" charset="-127"/>
                          <a:ea typeface="+mn-ea"/>
                          <a:cs typeface="굴림" panose="020B0600000101010101" pitchFamily="50" charset="-127"/>
                        </a:rPr>
                        <a:t>한다</a:t>
                      </a:r>
                      <a:r>
                        <a:rPr lang="en-US" altLang="ko-KR" sz="1200" kern="0" dirty="0">
                          <a:solidFill>
                            <a:schemeClr val="bg1"/>
                          </a:solidFill>
                          <a:effectLst/>
                          <a:latin typeface="맑은 고딕" panose="020B0503020000020004" pitchFamily="50" charset="-127"/>
                          <a:ea typeface="+mn-ea"/>
                          <a:cs typeface="굴림" panose="020B0600000101010101" pitchFamily="50" charset="-127"/>
                        </a:rPr>
                        <a:t>.</a:t>
                      </a:r>
                      <a:endParaRPr lang="ko-KR" altLang="ko-KR" sz="1200" kern="100" dirty="0">
                        <a:solidFill>
                          <a:schemeClr val="bg1"/>
                        </a:solidFill>
                        <a:effectLst/>
                        <a:latin typeface="맑은 고딕" panose="020B0503020000020004" pitchFamily="50" charset="-127"/>
                        <a:ea typeface="+mn-ea"/>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041002"/>
                  </a:ext>
                </a:extLst>
              </a:tr>
              <a:tr h="3458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PAY-005</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Position accuracy</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가</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1m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이내로</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유지되어야</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4735934"/>
                  </a:ext>
                </a:extLst>
              </a:tr>
              <a:tr h="3458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PAY-006</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l" fontAlgn="base" latinLnBrk="1">
                        <a:lnSpc>
                          <a:spcPct val="106000"/>
                        </a:lnSpc>
                        <a:spcAft>
                          <a:spcPts val="800"/>
                        </a:spcAft>
                      </a:pP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항법</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신호가</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현존하는</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항법</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시스템의</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신호와</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간섭</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없이</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송수신</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되어야</a:t>
                      </a:r>
                      <a:r>
                        <a:rPr lang="ko-KR" sz="12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7615091"/>
                  </a:ext>
                </a:extLst>
              </a:tr>
              <a:tr h="345884">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PAY-007</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Secondary objective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달성을</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위해</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SBAS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송신을</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할</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수</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있어야</a:t>
                      </a:r>
                      <a:r>
                        <a:rPr lang="ko-KR" sz="12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한다</a:t>
                      </a: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9137641"/>
                  </a:ext>
                </a:extLst>
              </a:tr>
            </a:tbl>
          </a:graphicData>
        </a:graphic>
      </p:graphicFrame>
    </p:spTree>
    <p:extLst>
      <p:ext uri="{BB962C8B-B14F-4D97-AF65-F5344CB8AC3E}">
        <p14:creationId xmlns:p14="http://schemas.microsoft.com/office/powerpoint/2010/main" val="156614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lvl="0"/>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1036525"/>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PAY-001 : Navigation System Test</a:t>
            </a:r>
          </a:p>
        </p:txBody>
      </p:sp>
      <p:pic>
        <p:nvPicPr>
          <p:cNvPr id="5" name="그림 4">
            <a:extLst>
              <a:ext uri="{FF2B5EF4-FFF2-40B4-BE49-F238E27FC236}">
                <a16:creationId xmlns:a16="http://schemas.microsoft.com/office/drawing/2014/main" id="{ADFFD202-A3A2-4E2D-9B3A-EACBC19B996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62711" y="1383627"/>
            <a:ext cx="4533542" cy="3314848"/>
          </a:xfrm>
          <a:prstGeom prst="rect">
            <a:avLst/>
          </a:prstGeom>
          <a:noFill/>
        </p:spPr>
      </p:pic>
      <p:pic>
        <p:nvPicPr>
          <p:cNvPr id="3" name="그림 2">
            <a:extLst>
              <a:ext uri="{FF2B5EF4-FFF2-40B4-BE49-F238E27FC236}">
                <a16:creationId xmlns:a16="http://schemas.microsoft.com/office/drawing/2014/main" id="{3A2B47CD-AB9F-4297-9B73-5E80AEC1644A}"/>
              </a:ext>
            </a:extLst>
          </p:cNvPr>
          <p:cNvPicPr>
            <a:picLocks noChangeAspect="1"/>
          </p:cNvPicPr>
          <p:nvPr/>
        </p:nvPicPr>
        <p:blipFill>
          <a:blip r:embed="rId4"/>
          <a:stretch>
            <a:fillRect/>
          </a:stretch>
        </p:blipFill>
        <p:spPr>
          <a:xfrm>
            <a:off x="2162711" y="1383775"/>
            <a:ext cx="4533900" cy="3314700"/>
          </a:xfrm>
          <a:prstGeom prst="rect">
            <a:avLst/>
          </a:prstGeom>
        </p:spPr>
      </p:pic>
      <p:pic>
        <p:nvPicPr>
          <p:cNvPr id="7" name="그림 6">
            <a:extLst>
              <a:ext uri="{FF2B5EF4-FFF2-40B4-BE49-F238E27FC236}">
                <a16:creationId xmlns:a16="http://schemas.microsoft.com/office/drawing/2014/main" id="{B02AB845-2AB9-433D-A07A-D0ED824DE4EA}"/>
              </a:ext>
            </a:extLst>
          </p:cNvPr>
          <p:cNvPicPr>
            <a:picLocks noChangeAspect="1"/>
          </p:cNvPicPr>
          <p:nvPr/>
        </p:nvPicPr>
        <p:blipFill>
          <a:blip r:embed="rId5"/>
          <a:stretch>
            <a:fillRect/>
          </a:stretch>
        </p:blipFill>
        <p:spPr>
          <a:xfrm>
            <a:off x="2162532" y="1378335"/>
            <a:ext cx="4533900" cy="3314700"/>
          </a:xfrm>
          <a:prstGeom prst="rect">
            <a:avLst/>
          </a:prstGeom>
        </p:spPr>
      </p:pic>
      <p:pic>
        <p:nvPicPr>
          <p:cNvPr id="9" name="그림 8">
            <a:extLst>
              <a:ext uri="{FF2B5EF4-FFF2-40B4-BE49-F238E27FC236}">
                <a16:creationId xmlns:a16="http://schemas.microsoft.com/office/drawing/2014/main" id="{3F5FC1F9-9E9C-420E-9FC6-34A329C425B9}"/>
              </a:ext>
            </a:extLst>
          </p:cNvPr>
          <p:cNvPicPr>
            <a:picLocks noChangeAspect="1"/>
          </p:cNvPicPr>
          <p:nvPr/>
        </p:nvPicPr>
        <p:blipFill>
          <a:blip r:embed="rId6"/>
          <a:stretch>
            <a:fillRect/>
          </a:stretch>
        </p:blipFill>
        <p:spPr>
          <a:xfrm>
            <a:off x="2162353" y="1382380"/>
            <a:ext cx="4533900" cy="3314700"/>
          </a:xfrm>
          <a:prstGeom prst="rect">
            <a:avLst/>
          </a:prstGeom>
        </p:spPr>
      </p:pic>
    </p:spTree>
    <p:extLst>
      <p:ext uri="{BB962C8B-B14F-4D97-AF65-F5344CB8AC3E}">
        <p14:creationId xmlns:p14="http://schemas.microsoft.com/office/powerpoint/2010/main" val="73683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lvl="0"/>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1091413"/>
            <a:ext cx="4572000"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PAY-002 : L-band</a:t>
            </a:r>
          </a:p>
        </p:txBody>
      </p:sp>
      <p:graphicFrame>
        <p:nvGraphicFramePr>
          <p:cNvPr id="8" name="표 7">
            <a:extLst>
              <a:ext uri="{FF2B5EF4-FFF2-40B4-BE49-F238E27FC236}">
                <a16:creationId xmlns:a16="http://schemas.microsoft.com/office/drawing/2014/main" id="{9DBF1FF1-BCBC-4529-ABA8-1273493DAD50}"/>
              </a:ext>
            </a:extLst>
          </p:cNvPr>
          <p:cNvGraphicFramePr>
            <a:graphicFrameLocks noGrp="1"/>
          </p:cNvGraphicFramePr>
          <p:nvPr>
            <p:extLst>
              <p:ext uri="{D42A27DB-BD31-4B8C-83A1-F6EECF244321}">
                <p14:modId xmlns:p14="http://schemas.microsoft.com/office/powerpoint/2010/main" val="2312379314"/>
              </p:ext>
            </p:extLst>
          </p:nvPr>
        </p:nvGraphicFramePr>
        <p:xfrm>
          <a:off x="1026200" y="1855264"/>
          <a:ext cx="7418553" cy="2601327"/>
        </p:xfrm>
        <a:graphic>
          <a:graphicData uri="http://schemas.openxmlformats.org/drawingml/2006/table">
            <a:tbl>
              <a:tblPr firstRow="1" bandRow="1">
                <a:tableStyleId>{1C28B2AB-E718-4DF9-ADA3-83340B5D2C4E}</a:tableStyleId>
              </a:tblPr>
              <a:tblGrid>
                <a:gridCol w="1931595">
                  <a:extLst>
                    <a:ext uri="{9D8B030D-6E8A-4147-A177-3AD203B41FA5}">
                      <a16:colId xmlns:a16="http://schemas.microsoft.com/office/drawing/2014/main" val="1141528908"/>
                    </a:ext>
                  </a:extLst>
                </a:gridCol>
                <a:gridCol w="2743479">
                  <a:extLst>
                    <a:ext uri="{9D8B030D-6E8A-4147-A177-3AD203B41FA5}">
                      <a16:colId xmlns:a16="http://schemas.microsoft.com/office/drawing/2014/main" val="1553057432"/>
                    </a:ext>
                  </a:extLst>
                </a:gridCol>
                <a:gridCol w="2743479">
                  <a:extLst>
                    <a:ext uri="{9D8B030D-6E8A-4147-A177-3AD203B41FA5}">
                      <a16:colId xmlns:a16="http://schemas.microsoft.com/office/drawing/2014/main" val="69011627"/>
                    </a:ext>
                  </a:extLst>
                </a:gridCol>
              </a:tblGrid>
              <a:tr h="350236">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Signal name</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chemeClr val="tx2">
                        <a:lumMod val="75000"/>
                      </a:schemeClr>
                    </a:solidFill>
                  </a:tcPr>
                </a:tc>
                <a:tc>
                  <a:txBody>
                    <a:bodyPr/>
                    <a:lstStyle/>
                    <a:p>
                      <a:pPr algn="ctr" latinLnBrk="0">
                        <a:lnSpc>
                          <a:spcPts val="1800"/>
                        </a:lnSpc>
                        <a:spcAft>
                          <a:spcPts val="800"/>
                        </a:spcAft>
                      </a:pPr>
                      <a:r>
                        <a:rPr lang="en-US" sz="1200" kern="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Center frequency</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chemeClr val="tx2">
                        <a:lumMod val="75000"/>
                      </a:schemeClr>
                    </a:solidFill>
                  </a:tcPr>
                </a:tc>
                <a:tc>
                  <a:txBody>
                    <a:bodyPr/>
                    <a:lstStyle/>
                    <a:p>
                      <a:pPr algn="ctr" latinLnBrk="0">
                        <a:lnSpc>
                          <a:spcPts val="1800"/>
                        </a:lnSpc>
                        <a:spcAft>
                          <a:spcPts val="800"/>
                        </a:spcAft>
                      </a:pPr>
                      <a:r>
                        <a:rPr lang="en-US" sz="1200" kern="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Comments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chemeClr val="tx2">
                        <a:lumMod val="75000"/>
                      </a:schemeClr>
                    </a:solidFill>
                  </a:tcPr>
                </a:tc>
                <a:extLst>
                  <a:ext uri="{0D108BD9-81ED-4DB2-BD59-A6C34878D82A}">
                    <a16:rowId xmlns:a16="http://schemas.microsoft.com/office/drawing/2014/main" val="2404339822"/>
                  </a:ext>
                </a:extLst>
              </a:tr>
              <a:tr h="350236">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L1-C/A</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rgbClr val="FFAB40"/>
                    </a:solidFill>
                  </a:tcPr>
                </a:tc>
                <a:tc rowSpan="2">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1575.42 MHz</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tc>
                <a:tc rowSpan="4">
                  <a:txBody>
                    <a:bodyPr/>
                    <a:lstStyle/>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  • </a:t>
                      </a:r>
                      <a:r>
                        <a:rPr lang="ko-KR" altLang="en-US" sz="1200" kern="0" dirty="0">
                          <a:solidFill>
                            <a:schemeClr val="bg1"/>
                          </a:solidFill>
                          <a:effectLst/>
                          <a:latin typeface="+mj-ea"/>
                          <a:ea typeface="+mj-ea"/>
                          <a:cs typeface="Times New Roman" panose="02020603050405020304" pitchFamily="18" charset="0"/>
                        </a:rPr>
                        <a:t>통신위성에서 널리 사용되는</a:t>
                      </a:r>
                      <a:endParaRPr lang="en-US" altLang="ko-KR" sz="1200" kern="0" dirty="0">
                        <a:solidFill>
                          <a:schemeClr val="bg1"/>
                        </a:solidFill>
                        <a:effectLst/>
                        <a:latin typeface="+mj-ea"/>
                        <a:ea typeface="+mj-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endPar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  • </a:t>
                      </a:r>
                      <a:r>
                        <a:rPr lang="ko-KR" altLang="ko-KR" sz="1200" dirty="0">
                          <a:solidFill>
                            <a:schemeClr val="bg1"/>
                          </a:solidFill>
                        </a:rPr>
                        <a:t>현대화된 GPS 신호와의 호환 및</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tc>
                <a:extLst>
                  <a:ext uri="{0D108BD9-81ED-4DB2-BD59-A6C34878D82A}">
                    <a16:rowId xmlns:a16="http://schemas.microsoft.com/office/drawing/2014/main" val="1902815728"/>
                  </a:ext>
                </a:extLst>
              </a:tr>
              <a:tr h="350236">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L1C</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rgbClr val="FFAB40"/>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954702059"/>
                  </a:ext>
                </a:extLst>
              </a:tr>
              <a:tr h="513723">
                <a:tc>
                  <a:txBody>
                    <a:bodyPr/>
                    <a:lstStyle/>
                    <a:p>
                      <a:pPr algn="ctr" latinLnBrk="0">
                        <a:lnSpc>
                          <a:spcPts val="1800"/>
                        </a:lnSpc>
                        <a:spcAft>
                          <a:spcPts val="800"/>
                        </a:spcAft>
                      </a:pPr>
                      <a:r>
                        <a:rPr lang="en-US" sz="1200" kern="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L2C</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rgbClr val="FFAB40"/>
                    </a:solidFill>
                  </a:tcPr>
                </a:tc>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1227.6 MHz</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tc>
                <a:tc vMerge="1">
                  <a:txBody>
                    <a:bodyPr/>
                    <a:lstStyle/>
                    <a:p>
                      <a:pPr latinLnBrk="1"/>
                      <a:endParaRPr lang="ko-KR" altLang="en-US"/>
                    </a:p>
                  </a:txBody>
                  <a:tcPr/>
                </a:tc>
                <a:extLst>
                  <a:ext uri="{0D108BD9-81ED-4DB2-BD59-A6C34878D82A}">
                    <a16:rowId xmlns:a16="http://schemas.microsoft.com/office/drawing/2014/main" val="2454449698"/>
                  </a:ext>
                </a:extLst>
              </a:tr>
              <a:tr h="436094">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L5</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rgbClr val="FFAB40"/>
                    </a:solidFill>
                  </a:tcPr>
                </a:tc>
                <a:tc>
                  <a:txBody>
                    <a:bodyPr/>
                    <a:lstStyle/>
                    <a:p>
                      <a:pPr algn="ctr" latinLnBrk="0">
                        <a:lnSpc>
                          <a:spcPts val="1800"/>
                        </a:lnSpc>
                        <a:spcAft>
                          <a:spcPts val="800"/>
                        </a:spcAft>
                      </a:pPr>
                      <a:r>
                        <a:rPr lang="en-US" sz="1200" kern="0" dirty="0">
                          <a:solidFill>
                            <a:schemeClr val="bg1"/>
                          </a:solidFill>
                          <a:effectLst/>
                          <a:latin typeface="Arial" panose="020B0604020202020204" pitchFamily="34" charset="0"/>
                          <a:ea typeface="굴림" panose="020B0600000101010101" pitchFamily="50" charset="-127"/>
                          <a:cs typeface="Times New Roman" panose="02020603050405020304" pitchFamily="18" charset="0"/>
                        </a:rPr>
                        <a:t>1176.45 MHz</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tc>
                <a:tc vMerge="1">
                  <a:txBody>
                    <a:bodyPr/>
                    <a:lstStyle/>
                    <a:p>
                      <a:pPr latinLnBrk="1"/>
                      <a:endParaRPr lang="ko-KR" altLang="en-US" dirty="0"/>
                    </a:p>
                  </a:txBody>
                  <a:tcPr/>
                </a:tc>
                <a:extLst>
                  <a:ext uri="{0D108BD9-81ED-4DB2-BD59-A6C34878D82A}">
                    <a16:rowId xmlns:a16="http://schemas.microsoft.com/office/drawing/2014/main" val="186320484"/>
                  </a:ext>
                </a:extLst>
              </a:tr>
              <a:tr h="600802">
                <a:tc>
                  <a:txBody>
                    <a:bodyPr/>
                    <a:lstStyle/>
                    <a:p>
                      <a:pPr algn="ctr" latinLnBrk="0">
                        <a:lnSpc>
                          <a:spcPts val="1800"/>
                        </a:lnSpc>
                        <a:spcAft>
                          <a:spcPts val="800"/>
                        </a:spcAft>
                      </a:pPr>
                      <a:r>
                        <a:rPr lang="en-US" altLang="ko-KR" sz="1200" b="0" i="0" u="none" strike="noStrike" cap="none" dirty="0">
                          <a:solidFill>
                            <a:schemeClr val="bg1"/>
                          </a:solidFill>
                          <a:effectLst/>
                          <a:latin typeface="Arial"/>
                          <a:ea typeface="Arial"/>
                          <a:cs typeface="Arial"/>
                          <a:sym typeface="Arial"/>
                        </a:rPr>
                        <a:t>L6</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solidFill>
                      <a:srgbClr val="FFAB40"/>
                    </a:solidFill>
                  </a:tcPr>
                </a:tc>
                <a:tc>
                  <a:txBody>
                    <a:bodyPr/>
                    <a:lstStyle/>
                    <a:p>
                      <a:pPr algn="ctr" latinLnBrk="0">
                        <a:lnSpc>
                          <a:spcPts val="1800"/>
                        </a:lnSpc>
                        <a:spcAft>
                          <a:spcPts val="800"/>
                        </a:spcAft>
                      </a:pPr>
                      <a:r>
                        <a:rPr lang="en-US" altLang="ko-KR" sz="1200" b="0" i="0" u="none" strike="noStrike" cap="none" dirty="0">
                          <a:solidFill>
                            <a:schemeClr val="bg1"/>
                          </a:solidFill>
                          <a:effectLst/>
                          <a:latin typeface="Arial"/>
                          <a:ea typeface="Arial"/>
                          <a:cs typeface="Arial"/>
                          <a:sym typeface="Arial"/>
                        </a:rPr>
                        <a:t>1278.75 MHz</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47625" marR="47625" marT="47625" marB="47625" anchor="ctr"/>
                </a:tc>
                <a:tc>
                  <a:txBody>
                    <a:bodyPr/>
                    <a:lstStyle/>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200" kern="0" dirty="0">
                          <a:solidFill>
                            <a:schemeClr val="bg1"/>
                          </a:solidFill>
                          <a:effectLst/>
                          <a:latin typeface="+mj-ea"/>
                          <a:ea typeface="+mj-ea"/>
                          <a:cs typeface="Times New Roman" panose="02020603050405020304" pitchFamily="18" charset="0"/>
                        </a:rPr>
                        <a:t>• </a:t>
                      </a:r>
                      <a:r>
                        <a:rPr lang="ko-KR" altLang="en-US" sz="1200" kern="0" dirty="0">
                          <a:solidFill>
                            <a:schemeClr val="bg1"/>
                          </a:solidFill>
                          <a:effectLst/>
                          <a:latin typeface="+mj-ea"/>
                          <a:ea typeface="+mj-ea"/>
                          <a:cs typeface="Times New Roman" panose="02020603050405020304" pitchFamily="18" charset="0"/>
                        </a:rPr>
                        <a:t>위의 신호들과 결합하여 </a:t>
                      </a:r>
                      <a:r>
                        <a:rPr lang="en-US" altLang="ko-KR" sz="1200" kern="0" dirty="0">
                          <a:solidFill>
                            <a:schemeClr val="bg1"/>
                          </a:solidFill>
                          <a:effectLst/>
                          <a:latin typeface="+mj-ea"/>
                          <a:ea typeface="+mj-ea"/>
                          <a:cs typeface="Times New Roman" panose="02020603050405020304" pitchFamily="18" charset="0"/>
                        </a:rPr>
                        <a:t>cm</a:t>
                      </a:r>
                      <a:r>
                        <a:rPr lang="ko-KR" altLang="en-US" sz="1200" kern="0" dirty="0">
                          <a:solidFill>
                            <a:schemeClr val="bg1"/>
                          </a:solidFill>
                          <a:effectLst/>
                          <a:latin typeface="+mj-ea"/>
                          <a:ea typeface="+mj-ea"/>
                          <a:cs typeface="Times New Roman" panose="02020603050405020304" pitchFamily="18" charset="0"/>
                        </a:rPr>
                        <a:t>단위의</a:t>
                      </a:r>
                      <a:endParaRPr lang="en-US" altLang="ko-KR" sz="1200" kern="0" dirty="0">
                        <a:solidFill>
                          <a:schemeClr val="bg1"/>
                        </a:solidFill>
                        <a:effectLst/>
                        <a:latin typeface="+mj-ea"/>
                        <a:ea typeface="+mj-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endParaRPr lang="ko-KR" sz="1200" kern="100" dirty="0">
                        <a:solidFill>
                          <a:schemeClr val="bg1"/>
                        </a:solidFill>
                        <a:effectLst/>
                        <a:latin typeface="+mj-ea"/>
                        <a:ea typeface="+mj-ea"/>
                        <a:cs typeface="Times New Roman" panose="02020603050405020304" pitchFamily="18" charset="0"/>
                      </a:endParaRPr>
                    </a:p>
                  </a:txBody>
                  <a:tcPr marL="47625" marR="47625" marT="47625" marB="47625" anchor="ctr"/>
                </a:tc>
                <a:extLst>
                  <a:ext uri="{0D108BD9-81ED-4DB2-BD59-A6C34878D82A}">
                    <a16:rowId xmlns:a16="http://schemas.microsoft.com/office/drawing/2014/main" val="2811220562"/>
                  </a:ext>
                </a:extLst>
              </a:tr>
            </a:tbl>
          </a:graphicData>
        </a:graphic>
      </p:graphicFrame>
      <p:sp>
        <p:nvSpPr>
          <p:cNvPr id="13" name="TextBox 12">
            <a:extLst>
              <a:ext uri="{FF2B5EF4-FFF2-40B4-BE49-F238E27FC236}">
                <a16:creationId xmlns:a16="http://schemas.microsoft.com/office/drawing/2014/main" id="{F512C77A-5C41-471A-9229-A54E64948821}"/>
              </a:ext>
            </a:extLst>
          </p:cNvPr>
          <p:cNvSpPr txBox="1"/>
          <p:nvPr/>
        </p:nvSpPr>
        <p:spPr>
          <a:xfrm>
            <a:off x="5846390" y="2791943"/>
            <a:ext cx="1140781" cy="276999"/>
          </a:xfrm>
          <a:prstGeom prst="rect">
            <a:avLst/>
          </a:prstGeom>
          <a:noFill/>
        </p:spPr>
        <p:txBody>
          <a:bodyPr wrap="square">
            <a:spAutoFit/>
          </a:bodyPr>
          <a:lstStyle/>
          <a:p>
            <a:r>
              <a:rPr lang="ko-KR" altLang="en-US" sz="1200" kern="0" dirty="0">
                <a:solidFill>
                  <a:schemeClr val="bg1"/>
                </a:solidFill>
                <a:effectLst/>
                <a:latin typeface="+mj-ea"/>
                <a:ea typeface="+mj-ea"/>
                <a:cs typeface="Times New Roman" panose="02020603050405020304" pitchFamily="18" charset="0"/>
              </a:rPr>
              <a:t>주파수 대역 </a:t>
            </a:r>
            <a:endParaRPr lang="ko-KR" altLang="en-US" sz="1200" dirty="0"/>
          </a:p>
        </p:txBody>
      </p:sp>
      <p:sp>
        <p:nvSpPr>
          <p:cNvPr id="15" name="TextBox 14">
            <a:extLst>
              <a:ext uri="{FF2B5EF4-FFF2-40B4-BE49-F238E27FC236}">
                <a16:creationId xmlns:a16="http://schemas.microsoft.com/office/drawing/2014/main" id="{33E2DB41-7174-414E-99B3-94867F57D6BB}"/>
              </a:ext>
            </a:extLst>
          </p:cNvPr>
          <p:cNvSpPr txBox="1"/>
          <p:nvPr/>
        </p:nvSpPr>
        <p:spPr>
          <a:xfrm>
            <a:off x="5848272" y="3354893"/>
            <a:ext cx="243692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800"/>
              </a:spcAft>
              <a:buClr>
                <a:srgbClr val="000000"/>
              </a:buClr>
              <a:buSzTx/>
              <a:buFont typeface="Arial"/>
              <a:buNone/>
              <a:tabLst/>
              <a:defRPr/>
            </a:pPr>
            <a:r>
              <a:rPr lang="ko-KR" altLang="ko-KR" sz="1200" dirty="0">
                <a:solidFill>
                  <a:schemeClr val="bg1"/>
                </a:solidFill>
              </a:rPr>
              <a:t>상호 운용</a:t>
            </a:r>
            <a:r>
              <a:rPr lang="ko-KR" altLang="en-US" sz="1200" dirty="0">
                <a:solidFill>
                  <a:schemeClr val="bg1"/>
                </a:solidFill>
              </a:rPr>
              <a:t>이 가능하다</a:t>
            </a:r>
            <a:endParaRPr lang="ko-KR"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p:txBody>
      </p:sp>
      <p:sp>
        <p:nvSpPr>
          <p:cNvPr id="17" name="TextBox 16">
            <a:extLst>
              <a:ext uri="{FF2B5EF4-FFF2-40B4-BE49-F238E27FC236}">
                <a16:creationId xmlns:a16="http://schemas.microsoft.com/office/drawing/2014/main" id="{35091561-898D-4D55-A404-734DE17B5F04}"/>
              </a:ext>
            </a:extLst>
          </p:cNvPr>
          <p:cNvSpPr txBox="1"/>
          <p:nvPr/>
        </p:nvSpPr>
        <p:spPr>
          <a:xfrm>
            <a:off x="5881904" y="4082975"/>
            <a:ext cx="4572000" cy="276999"/>
          </a:xfrm>
          <a:prstGeom prst="rect">
            <a:avLst/>
          </a:prstGeom>
          <a:noFill/>
        </p:spPr>
        <p:txBody>
          <a:bodyPr wrap="square">
            <a:spAutoFit/>
          </a:bodyPr>
          <a:lstStyle/>
          <a:p>
            <a:r>
              <a:rPr lang="ko-KR" altLang="en-US" sz="1200" kern="0" dirty="0">
                <a:solidFill>
                  <a:schemeClr val="bg1"/>
                </a:solidFill>
                <a:effectLst/>
                <a:latin typeface="+mj-ea"/>
                <a:ea typeface="+mj-ea"/>
                <a:cs typeface="Times New Roman" panose="02020603050405020304" pitchFamily="18" charset="0"/>
              </a:rPr>
              <a:t>훨씬 더 높은 정확도를 제공한다</a:t>
            </a:r>
            <a:endParaRPr lang="ko-KR" altLang="en-US" sz="1200" dirty="0"/>
          </a:p>
        </p:txBody>
      </p:sp>
    </p:spTree>
    <p:extLst>
      <p:ext uri="{BB962C8B-B14F-4D97-AF65-F5344CB8AC3E}">
        <p14:creationId xmlns:p14="http://schemas.microsoft.com/office/powerpoint/2010/main" val="1340688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Pay-003 : Two-way Satellite Time and Frequency Transfer (TWSTFT)</a:t>
            </a:r>
          </a:p>
        </p:txBody>
      </p:sp>
      <p:pic>
        <p:nvPicPr>
          <p:cNvPr id="9" name="그림 8">
            <a:extLst>
              <a:ext uri="{FF2B5EF4-FFF2-40B4-BE49-F238E27FC236}">
                <a16:creationId xmlns:a16="http://schemas.microsoft.com/office/drawing/2014/main" id="{D9AE7F31-BE40-41C1-B872-D0EDEAAAAA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34323" y="1549100"/>
            <a:ext cx="3555638" cy="3306517"/>
          </a:xfrm>
          <a:prstGeom prst="rect">
            <a:avLst/>
          </a:prstGeom>
          <a:noFill/>
        </p:spPr>
      </p:pic>
      <p:pic>
        <p:nvPicPr>
          <p:cNvPr id="5" name="그림 4">
            <a:extLst>
              <a:ext uri="{FF2B5EF4-FFF2-40B4-BE49-F238E27FC236}">
                <a16:creationId xmlns:a16="http://schemas.microsoft.com/office/drawing/2014/main" id="{65C6DABC-034F-40BB-9635-0FBDD9D72766}"/>
              </a:ext>
            </a:extLst>
          </p:cNvPr>
          <p:cNvPicPr>
            <a:picLocks noChangeAspect="1"/>
          </p:cNvPicPr>
          <p:nvPr/>
        </p:nvPicPr>
        <p:blipFill>
          <a:blip r:embed="rId4"/>
          <a:stretch>
            <a:fillRect/>
          </a:stretch>
        </p:blipFill>
        <p:spPr>
          <a:xfrm>
            <a:off x="2537136" y="1549100"/>
            <a:ext cx="3552825" cy="3305175"/>
          </a:xfrm>
          <a:prstGeom prst="rect">
            <a:avLst/>
          </a:prstGeom>
        </p:spPr>
      </p:pic>
    </p:spTree>
    <p:extLst>
      <p:ext uri="{BB962C8B-B14F-4D97-AF65-F5344CB8AC3E}">
        <p14:creationId xmlns:p14="http://schemas.microsoft.com/office/powerpoint/2010/main" val="1050044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Pay-007 : SBAS signal</a:t>
            </a:r>
          </a:p>
        </p:txBody>
      </p:sp>
      <p:sp>
        <p:nvSpPr>
          <p:cNvPr id="7" name="TextBox 6">
            <a:extLst>
              <a:ext uri="{FF2B5EF4-FFF2-40B4-BE49-F238E27FC236}">
                <a16:creationId xmlns:a16="http://schemas.microsoft.com/office/drawing/2014/main" id="{D8B80B0E-F6F4-476D-AB59-1EE42397DB01}"/>
              </a:ext>
            </a:extLst>
          </p:cNvPr>
          <p:cNvSpPr txBox="1"/>
          <p:nvPr/>
        </p:nvSpPr>
        <p:spPr>
          <a:xfrm>
            <a:off x="1026200" y="1801961"/>
            <a:ext cx="7504614" cy="2618217"/>
          </a:xfrm>
          <a:prstGeom prst="rect">
            <a:avLst/>
          </a:prstGeom>
          <a:noFill/>
        </p:spPr>
        <p:txBody>
          <a:bodyPr wrap="square">
            <a:spAutoFit/>
          </a:bodyPr>
          <a:lstStyle/>
          <a:p>
            <a:pPr algn="just" fontAlgn="base" latinLnBrk="1">
              <a:lnSpc>
                <a:spcPct val="106000"/>
              </a:lnSpc>
              <a:spcAft>
                <a:spcPts val="800"/>
              </a:spcAft>
            </a:pPr>
            <a:r>
              <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①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지상의</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기준국에서</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각각</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GPS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수신</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항법</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메시지를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추출해</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중앙처리국에</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전송</a:t>
            </a:r>
            <a:endPar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endParaRPr>
          </a:p>
          <a:p>
            <a:pPr algn="just" fontAlgn="base" latinLnBrk="1">
              <a:lnSpc>
                <a:spcPct val="106000"/>
              </a:lnSpc>
              <a:spcAft>
                <a:spcPts val="800"/>
              </a:spcAft>
            </a:pPr>
            <a:endParaRPr lang="ko-KR" alt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fontAlgn="base" latinLnBrk="1">
              <a:lnSpc>
                <a:spcPct val="106000"/>
              </a:lnSpc>
              <a:spcAft>
                <a:spcPts val="800"/>
              </a:spcAft>
            </a:pPr>
            <a:r>
              <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②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중앙처리국은</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GPS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오차정보를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교정</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GPS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신호의</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이상</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여부를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알려</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주는</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정보를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생성</a:t>
            </a:r>
            <a:r>
              <a:rPr lang="ko-KR" altLang="en-US" dirty="0">
                <a:solidFill>
                  <a:schemeClr val="bg1"/>
                </a:solidFill>
                <a:latin typeface="굴림" panose="020B0600000101010101" pitchFamily="50" charset="-127"/>
                <a:ea typeface="맑은 고딕" panose="020B0503020000020004" pitchFamily="50" charset="-127"/>
                <a:cs typeface="굴림" panose="020B0600000101010101" pitchFamily="50" charset="-127"/>
              </a:rPr>
              <a:t>하여</a:t>
            </a:r>
            <a:endParaRPr lang="ko-KR" alt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fontAlgn="base" latinLnBrk="1">
              <a:lnSpc>
                <a:spcPct val="106000"/>
              </a:lnSpc>
              <a:spcAft>
                <a:spcPts val="800"/>
              </a:spcAft>
            </a:pPr>
            <a:r>
              <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위성통신국으로</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보낸다</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p>
          <a:p>
            <a:pPr algn="just" fontAlgn="base" latinLnBrk="1">
              <a:lnSpc>
                <a:spcPct val="106000"/>
              </a:lnSpc>
              <a:spcAft>
                <a:spcPts val="800"/>
              </a:spcAft>
            </a:pPr>
            <a:endParaRPr lang="ko-KR" alt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fontAlgn="base" latinLnBrk="1">
              <a:lnSpc>
                <a:spcPct val="106000"/>
              </a:lnSpc>
              <a:spcAft>
                <a:spcPts val="800"/>
              </a:spcAft>
            </a:pPr>
            <a:r>
              <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③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위성통신국은</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SBAS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신호를</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생성해서</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정지궤도위성으로</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송신한다</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p>
          <a:p>
            <a:pPr algn="just" fontAlgn="base" latinLnBrk="1">
              <a:lnSpc>
                <a:spcPct val="106000"/>
              </a:lnSpc>
              <a:spcAft>
                <a:spcPts val="800"/>
              </a:spcAft>
            </a:pPr>
            <a:endParaRPr lang="ko-KR" alt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just" fontAlgn="base" latinLnBrk="1">
              <a:lnSpc>
                <a:spcPct val="106000"/>
              </a:lnSpc>
              <a:spcAft>
                <a:spcPts val="800"/>
              </a:spcAft>
            </a:pPr>
            <a:r>
              <a:rPr lang="en-US"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④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정지궤도위성은</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관련</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정보들을</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전</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국토에</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일괄</a:t>
            </a:r>
            <a:r>
              <a:rPr lang="ko-KR" altLang="ko-KR" sz="1400"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ko-KR" altLang="ko-KR" sz="14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제공한다</a:t>
            </a:r>
            <a:r>
              <a:rPr lang="en-US" altLang="ko-KR" sz="14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altLang="ko-KR" sz="14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972777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Components</a:t>
            </a:r>
          </a:p>
        </p:txBody>
      </p:sp>
      <p:graphicFrame>
        <p:nvGraphicFramePr>
          <p:cNvPr id="3" name="표 2">
            <a:extLst>
              <a:ext uri="{FF2B5EF4-FFF2-40B4-BE49-F238E27FC236}">
                <a16:creationId xmlns:a16="http://schemas.microsoft.com/office/drawing/2014/main" id="{AE106382-31D7-4830-9ECA-B1EA552160A4}"/>
              </a:ext>
            </a:extLst>
          </p:cNvPr>
          <p:cNvGraphicFramePr>
            <a:graphicFrameLocks noGrp="1"/>
          </p:cNvGraphicFramePr>
          <p:nvPr>
            <p:extLst>
              <p:ext uri="{D42A27DB-BD31-4B8C-83A1-F6EECF244321}">
                <p14:modId xmlns:p14="http://schemas.microsoft.com/office/powerpoint/2010/main" val="1193793505"/>
              </p:ext>
            </p:extLst>
          </p:nvPr>
        </p:nvGraphicFramePr>
        <p:xfrm>
          <a:off x="938499" y="1579857"/>
          <a:ext cx="6527621" cy="1811413"/>
        </p:xfrm>
        <a:graphic>
          <a:graphicData uri="http://schemas.openxmlformats.org/drawingml/2006/table">
            <a:tbl>
              <a:tblPr firstRow="1" bandRow="1">
                <a:tableStyleId>{1C28B2AB-E718-4DF9-ADA3-83340B5D2C4E}</a:tableStyleId>
              </a:tblPr>
              <a:tblGrid>
                <a:gridCol w="2697010">
                  <a:extLst>
                    <a:ext uri="{9D8B030D-6E8A-4147-A177-3AD203B41FA5}">
                      <a16:colId xmlns:a16="http://schemas.microsoft.com/office/drawing/2014/main" val="2757628008"/>
                    </a:ext>
                  </a:extLst>
                </a:gridCol>
                <a:gridCol w="3830611">
                  <a:extLst>
                    <a:ext uri="{9D8B030D-6E8A-4147-A177-3AD203B41FA5}">
                      <a16:colId xmlns:a16="http://schemas.microsoft.com/office/drawing/2014/main" val="3855092904"/>
                    </a:ext>
                  </a:extLst>
                </a:gridCol>
              </a:tblGrid>
              <a:tr h="333756">
                <a:tc>
                  <a:txBody>
                    <a:bodyPr/>
                    <a:lstStyle/>
                    <a:p>
                      <a:pPr lvl="1" algn="l">
                        <a:lnSpc>
                          <a:spcPct val="107000"/>
                        </a:lnSpc>
                      </a:pPr>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solidFill>
                      <a:schemeClr val="tx2">
                        <a:lumMod val="75000"/>
                      </a:schemeClr>
                    </a:solidFill>
                  </a:tcPr>
                </a:tc>
                <a:tc>
                  <a:txBody>
                    <a:bodyPr/>
                    <a:lstStyle/>
                    <a:p>
                      <a:pPr lvl="1"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payload</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2594163095"/>
                  </a:ext>
                </a:extLst>
              </a:tr>
              <a:tr h="489551">
                <a:tc>
                  <a:txBody>
                    <a:bodyPr/>
                    <a:lstStyle/>
                    <a:p>
                      <a:pPr lvl="1" indent="63500" algn="l"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Time instrument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rgbClr val="FFAB40"/>
                    </a:solidFill>
                  </a:tcPr>
                </a:tc>
                <a:tc>
                  <a:txBody>
                    <a:bodyPr/>
                    <a:lstStyle/>
                    <a:p>
                      <a:pPr lvl="1" algn="l"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Rubidium Atomic Frequency Standard Clocks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87558672"/>
                  </a:ext>
                </a:extLst>
              </a:tr>
              <a:tr h="415574">
                <a:tc rowSpan="2">
                  <a:txBody>
                    <a:bodyPr/>
                    <a:lstStyle/>
                    <a:p>
                      <a:pPr lvl="1" algn="l"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Signal instrument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rgbClr val="FFAB40"/>
                    </a:solidFill>
                  </a:tcPr>
                </a:tc>
                <a:tc>
                  <a:txBody>
                    <a:bodyPr/>
                    <a:lstStyle/>
                    <a:p>
                      <a:pPr lvl="1" algn="l"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 Antenna</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371932093"/>
                  </a:ext>
                </a:extLst>
              </a:tr>
              <a:tr h="572532">
                <a:tc vMerge="1">
                  <a:txBody>
                    <a:bodyPr/>
                    <a:lstStyle/>
                    <a:p>
                      <a:pPr latinLnBrk="1"/>
                      <a:endParaRPr lang="ko-KR" altLang="en-US"/>
                    </a:p>
                  </a:txBody>
                  <a:tcPr>
                    <a:solidFill>
                      <a:srgbClr val="FFAB40"/>
                    </a:solidFill>
                  </a:tcPr>
                </a:tc>
                <a:tc>
                  <a:txBody>
                    <a:bodyPr/>
                    <a:lstStyle/>
                    <a:p>
                      <a:pPr lvl="1" algn="l"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Laser Reflector </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67619665"/>
                  </a:ext>
                </a:extLst>
              </a:tr>
            </a:tbl>
          </a:graphicData>
        </a:graphic>
      </p:graphicFrame>
    </p:spTree>
    <p:extLst>
      <p:ext uri="{BB962C8B-B14F-4D97-AF65-F5344CB8AC3E}">
        <p14:creationId xmlns:p14="http://schemas.microsoft.com/office/powerpoint/2010/main" val="2825015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Hardware</a:t>
            </a:r>
            <a:r>
              <a:rPr lang="ko-KR" altLang="en-US" dirty="0">
                <a:solidFill>
                  <a:srgbClr val="FFAB40"/>
                </a:solidFill>
                <a:latin typeface="Montserrat ExtraBold" panose="00000900000000000000" pitchFamily="2" charset="0"/>
              </a:rPr>
              <a:t> </a:t>
            </a:r>
            <a:r>
              <a:rPr lang="en-US" altLang="ko-KR" dirty="0">
                <a:solidFill>
                  <a:srgbClr val="FFAB40"/>
                </a:solidFill>
                <a:latin typeface="Montserrat ExtraBold" panose="00000900000000000000" pitchFamily="2" charset="0"/>
              </a:rPr>
              <a:t>Specifications</a:t>
            </a:r>
          </a:p>
        </p:txBody>
      </p:sp>
      <p:graphicFrame>
        <p:nvGraphicFramePr>
          <p:cNvPr id="2" name="표 1">
            <a:extLst>
              <a:ext uri="{FF2B5EF4-FFF2-40B4-BE49-F238E27FC236}">
                <a16:creationId xmlns:a16="http://schemas.microsoft.com/office/drawing/2014/main" id="{FE30D95D-F1BE-4609-8588-927280686960}"/>
              </a:ext>
            </a:extLst>
          </p:cNvPr>
          <p:cNvGraphicFramePr>
            <a:graphicFrameLocks noGrp="1"/>
          </p:cNvGraphicFramePr>
          <p:nvPr>
            <p:extLst>
              <p:ext uri="{D42A27DB-BD31-4B8C-83A1-F6EECF244321}">
                <p14:modId xmlns:p14="http://schemas.microsoft.com/office/powerpoint/2010/main" val="2949167379"/>
              </p:ext>
            </p:extLst>
          </p:nvPr>
        </p:nvGraphicFramePr>
        <p:xfrm>
          <a:off x="938500" y="1787652"/>
          <a:ext cx="7969756" cy="2527972"/>
        </p:xfrm>
        <a:graphic>
          <a:graphicData uri="http://schemas.openxmlformats.org/drawingml/2006/table">
            <a:tbl>
              <a:tblPr firstRow="1" firstCol="1" bandRow="1"/>
              <a:tblGrid>
                <a:gridCol w="641725">
                  <a:extLst>
                    <a:ext uri="{9D8B030D-6E8A-4147-A177-3AD203B41FA5}">
                      <a16:colId xmlns:a16="http://schemas.microsoft.com/office/drawing/2014/main" val="1698228651"/>
                    </a:ext>
                  </a:extLst>
                </a:gridCol>
                <a:gridCol w="1562470">
                  <a:extLst>
                    <a:ext uri="{9D8B030D-6E8A-4147-A177-3AD203B41FA5}">
                      <a16:colId xmlns:a16="http://schemas.microsoft.com/office/drawing/2014/main" val="4072496675"/>
                    </a:ext>
                  </a:extLst>
                </a:gridCol>
                <a:gridCol w="1615736">
                  <a:extLst>
                    <a:ext uri="{9D8B030D-6E8A-4147-A177-3AD203B41FA5}">
                      <a16:colId xmlns:a16="http://schemas.microsoft.com/office/drawing/2014/main" val="1118390929"/>
                    </a:ext>
                  </a:extLst>
                </a:gridCol>
                <a:gridCol w="905522">
                  <a:extLst>
                    <a:ext uri="{9D8B030D-6E8A-4147-A177-3AD203B41FA5}">
                      <a16:colId xmlns:a16="http://schemas.microsoft.com/office/drawing/2014/main" val="1085821250"/>
                    </a:ext>
                  </a:extLst>
                </a:gridCol>
                <a:gridCol w="1597981">
                  <a:extLst>
                    <a:ext uri="{9D8B030D-6E8A-4147-A177-3AD203B41FA5}">
                      <a16:colId xmlns:a16="http://schemas.microsoft.com/office/drawing/2014/main" val="118345801"/>
                    </a:ext>
                  </a:extLst>
                </a:gridCol>
                <a:gridCol w="745876">
                  <a:extLst>
                    <a:ext uri="{9D8B030D-6E8A-4147-A177-3AD203B41FA5}">
                      <a16:colId xmlns:a16="http://schemas.microsoft.com/office/drawing/2014/main" val="3400282883"/>
                    </a:ext>
                  </a:extLst>
                </a:gridCol>
                <a:gridCol w="900446">
                  <a:extLst>
                    <a:ext uri="{9D8B030D-6E8A-4147-A177-3AD203B41FA5}">
                      <a16:colId xmlns:a16="http://schemas.microsoft.com/office/drawing/2014/main" val="2271468078"/>
                    </a:ext>
                  </a:extLst>
                </a:gridCol>
              </a:tblGrid>
              <a:tr h="484311">
                <a:tc>
                  <a:txBody>
                    <a:bodyPr/>
                    <a:lstStyle/>
                    <a:p>
                      <a:pPr algn="ctr">
                        <a:lnSpc>
                          <a:spcPct val="107000"/>
                        </a:lnSpc>
                      </a:pPr>
                      <a:endParaRPr lang="ko-KR" sz="1000" b="1"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Component</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model</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Mass (kg)</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Power (W)</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Operating Temp (</a:t>
                      </a:r>
                      <a:r>
                        <a:rPr lang="en-US" sz="900" b="1"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a:t>
                      </a: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0">
                        <a:lnSpc>
                          <a:spcPct val="106000"/>
                        </a:lnSpc>
                        <a:spcAft>
                          <a:spcPts val="800"/>
                        </a:spcAft>
                      </a:pPr>
                      <a:r>
                        <a:rPr lang="ko-KR" sz="900" b="1"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비고</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extLst>
                  <a:ext uri="{0D108BD9-81ED-4DB2-BD59-A6C34878D82A}">
                    <a16:rowId xmlns:a16="http://schemas.microsoft.com/office/drawing/2014/main" val="2065215135"/>
                  </a:ext>
                </a:extLst>
              </a:tr>
              <a:tr h="317037">
                <a:tc rowSpan="4">
                  <a:txBody>
                    <a:bodyPr/>
                    <a:lstStyle/>
                    <a:p>
                      <a:pPr algn="ctr" fontAlgn="base" latinLnBrk="1">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Payload</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Laser Retroreflector Array</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900" kern="0">
                          <a:solidFill>
                            <a:schemeClr val="bg1"/>
                          </a:solidFill>
                          <a:effectLst/>
                          <a:latin typeface="함초롬바탕" panose="02030504000101010101" pitchFamily="18" charset="-127"/>
                          <a:ea typeface="맑은 고딕" panose="020B0503020000020004" pitchFamily="50" charset="-127"/>
                          <a:cs typeface="Times New Roman" panose="02020603050405020304" pitchFamily="18" charset="0"/>
                        </a:rPr>
                        <a: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3.1</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26*30*5.5mm</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9237739"/>
                  </a:ext>
                </a:extLst>
              </a:tr>
              <a:tr h="36291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Time Unit</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indent="63500" algn="ctr" fontAlgn="base" latinLnBrk="0">
                        <a:lnSpc>
                          <a:spcPct val="106000"/>
                        </a:lnSpc>
                        <a:spcAft>
                          <a:spcPts val="800"/>
                        </a:spcAft>
                      </a:pPr>
                      <a:r>
                        <a:rPr lang="en-US" sz="9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Excelitas</a:t>
                      </a: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a:t>
                      </a:r>
                      <a:r>
                        <a:rPr lang="en-US" sz="900" kern="0" dirty="0">
                          <a:solidFill>
                            <a:schemeClr val="bg1"/>
                          </a:solidFill>
                          <a:effectLst/>
                          <a:latin typeface="함초롬바탕" panose="02030504000101010101" pitchFamily="18" charset="-127"/>
                          <a:ea typeface="맑은 고딕" panose="020B0503020000020004" pitchFamily="50" charset="-127"/>
                          <a:cs typeface="Times New Roman" panose="02020603050405020304" pitchFamily="18" charset="0"/>
                        </a:rPr>
                        <a:t>RAFS</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0.6*2</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14*2</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-20~65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50*75*100 mm*2</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25543575"/>
                  </a:ext>
                </a:extLst>
              </a:tr>
              <a:tr h="494881">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 Ant/</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Transmitter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 A154R/CL-</a:t>
                      </a:r>
                      <a:r>
                        <a:rPr lang="en-US" sz="9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Lband</a:t>
                      </a: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-TX</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34 / 0.325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250 / 8.8</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-40~85 / -10~60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ko-KR" sz="900" kern="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약</a:t>
                      </a:r>
                      <a:r>
                        <a:rPr lang="ko-KR" sz="900" kern="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9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1500mm </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1151659"/>
                  </a:ext>
                </a:extLst>
              </a:tr>
              <a:tr h="55179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Other components.</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217.6</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total </a:t>
                      </a:r>
                      <a:r>
                        <a:rPr lang="en-US" sz="9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tramit</a:t>
                      </a: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power </a:t>
                      </a:r>
                      <a:r>
                        <a:rPr lang="en-US" sz="900" kern="0" dirty="0" err="1">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aprrox</a:t>
                      </a: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 550W(L-band</a:t>
                      </a:r>
                      <a:r>
                        <a:rPr lang="ko-KR" sz="9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포함</a:t>
                      </a: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 / Other component :1200 W</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-20~60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0">
                        <a:lnSpc>
                          <a:spcPct val="106000"/>
                        </a:lnSpc>
                        <a:spcAft>
                          <a:spcPts val="800"/>
                        </a:spcAft>
                      </a:pPr>
                      <a:r>
                        <a:rPr lang="en-US" sz="9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SMS </a:t>
                      </a:r>
                      <a:r>
                        <a:rPr lang="ko-KR" sz="9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참고</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71017167"/>
                  </a:ext>
                </a:extLst>
              </a:tr>
              <a:tr h="317037">
                <a:tc gridSpan="3">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total</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latinLnBrk="0">
                        <a:lnSpc>
                          <a:spcPct val="106000"/>
                        </a:lnSpc>
                        <a:spcAft>
                          <a:spcPts val="800"/>
                        </a:spcAft>
                      </a:pPr>
                      <a:r>
                        <a:rPr lang="ko-KR" sz="900" b="1"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약</a:t>
                      </a:r>
                      <a:r>
                        <a:rPr lang="ko-KR" sz="900" b="1" kern="0" dirty="0">
                          <a:solidFill>
                            <a:schemeClr val="bg1"/>
                          </a:solidFill>
                          <a:effectLst/>
                          <a:latin typeface="맑은 고딕" panose="020B0503020000020004" pitchFamily="50" charset="-127"/>
                          <a:ea typeface="굴림" panose="020B0600000101010101" pitchFamily="50" charset="-127"/>
                          <a:cs typeface="굴림" panose="020B0600000101010101" pitchFamily="50" charset="-127"/>
                        </a:rPr>
                        <a:t> </a:t>
                      </a: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320kg</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latinLnBrk="0">
                        <a:lnSpc>
                          <a:spcPct val="106000"/>
                        </a:lnSpc>
                        <a:spcAft>
                          <a:spcPts val="800"/>
                        </a:spcAft>
                      </a:pPr>
                      <a:r>
                        <a:rPr lang="ko-KR" sz="900" b="1"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약</a:t>
                      </a: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2kW</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a:lnSpc>
                          <a:spcPct val="107000"/>
                        </a:lnSpc>
                      </a:pPr>
                      <a:endParaRPr lang="ko-KR" sz="1000" b="1"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fontAlgn="base" latinLnBrk="0">
                        <a:lnSpc>
                          <a:spcPct val="106000"/>
                        </a:lnSpc>
                        <a:spcAft>
                          <a:spcPts val="800"/>
                        </a:spcAft>
                      </a:pPr>
                      <a:r>
                        <a:rPr lang="en-US" sz="9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QZSS</a:t>
                      </a:r>
                      <a:r>
                        <a:rPr lang="ko-KR" sz="900" b="1"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rPr>
                        <a:t>참고</a:t>
                      </a:r>
                      <a:endParaRPr lang="ko-KR" sz="10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556924319"/>
                  </a:ext>
                </a:extLst>
              </a:tr>
            </a:tbl>
          </a:graphicData>
        </a:graphic>
      </p:graphicFrame>
    </p:spTree>
    <p:extLst>
      <p:ext uri="{BB962C8B-B14F-4D97-AF65-F5344CB8AC3E}">
        <p14:creationId xmlns:p14="http://schemas.microsoft.com/office/powerpoint/2010/main" val="109261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2. Payload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Payload Hardware</a:t>
            </a:r>
          </a:p>
        </p:txBody>
      </p:sp>
      <p:pic>
        <p:nvPicPr>
          <p:cNvPr id="4" name="그림 3">
            <a:extLst>
              <a:ext uri="{FF2B5EF4-FFF2-40B4-BE49-F238E27FC236}">
                <a16:creationId xmlns:a16="http://schemas.microsoft.com/office/drawing/2014/main" id="{D3D0CE4F-79DF-42EA-B468-8EC640E4F10E}"/>
              </a:ext>
            </a:extLst>
          </p:cNvPr>
          <p:cNvPicPr>
            <a:picLocks noChangeAspect="1"/>
          </p:cNvPicPr>
          <p:nvPr/>
        </p:nvPicPr>
        <p:blipFill>
          <a:blip r:embed="rId3"/>
          <a:stretch>
            <a:fillRect/>
          </a:stretch>
        </p:blipFill>
        <p:spPr>
          <a:xfrm>
            <a:off x="990600" y="1609725"/>
            <a:ext cx="3581400" cy="2686050"/>
          </a:xfrm>
          <a:prstGeom prst="rect">
            <a:avLst/>
          </a:prstGeom>
        </p:spPr>
      </p:pic>
      <p:pic>
        <p:nvPicPr>
          <p:cNvPr id="7" name="그림 6">
            <a:extLst>
              <a:ext uri="{FF2B5EF4-FFF2-40B4-BE49-F238E27FC236}">
                <a16:creationId xmlns:a16="http://schemas.microsoft.com/office/drawing/2014/main" id="{86FA3169-6CCF-469C-AC25-C347FDB4FBB5}"/>
              </a:ext>
            </a:extLst>
          </p:cNvPr>
          <p:cNvPicPr>
            <a:picLocks noChangeAspect="1"/>
          </p:cNvPicPr>
          <p:nvPr/>
        </p:nvPicPr>
        <p:blipFill>
          <a:blip r:embed="rId4"/>
          <a:stretch>
            <a:fillRect/>
          </a:stretch>
        </p:blipFill>
        <p:spPr>
          <a:xfrm>
            <a:off x="5192712" y="1609725"/>
            <a:ext cx="3052820" cy="2686050"/>
          </a:xfrm>
          <a:prstGeom prst="rect">
            <a:avLst/>
          </a:prstGeom>
        </p:spPr>
      </p:pic>
    </p:spTree>
    <p:extLst>
      <p:ext uri="{BB962C8B-B14F-4D97-AF65-F5344CB8AC3E}">
        <p14:creationId xmlns:p14="http://schemas.microsoft.com/office/powerpoint/2010/main" val="3121990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1900" dirty="0"/>
              <a:t>3. Propulsion Subsystem</a:t>
            </a:r>
            <a:endParaRPr lang="en-US" sz="19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6" name="TextBox 5">
            <a:extLst>
              <a:ext uri="{FF2B5EF4-FFF2-40B4-BE49-F238E27FC236}">
                <a16:creationId xmlns:a16="http://schemas.microsoft.com/office/drawing/2014/main" id="{53B00BF6-3F53-4CB3-A3A1-32C4188C1031}"/>
              </a:ext>
            </a:extLst>
          </p:cNvPr>
          <p:cNvSpPr txBox="1"/>
          <p:nvPr/>
        </p:nvSpPr>
        <p:spPr>
          <a:xfrm>
            <a:off x="828106" y="962317"/>
            <a:ext cx="7778012" cy="307777"/>
          </a:xfrm>
          <a:prstGeom prst="rect">
            <a:avLst/>
          </a:prstGeom>
          <a:noFill/>
        </p:spPr>
        <p:txBody>
          <a:bodyPr wrap="square">
            <a:spAutoFit/>
          </a:bodyPr>
          <a:lstStyle/>
          <a:p>
            <a:pPr marL="139700" indent="0">
              <a:spcBef>
                <a:spcPts val="1600"/>
              </a:spcBef>
              <a:buNone/>
            </a:pPr>
            <a:r>
              <a:rPr lang="en-US" altLang="ko-KR" dirty="0">
                <a:solidFill>
                  <a:srgbClr val="FFAB40"/>
                </a:solidFill>
                <a:latin typeface="Montserrat ExtraBold" panose="00000900000000000000" pitchFamily="2" charset="0"/>
              </a:rPr>
              <a:t>Propulsion</a:t>
            </a:r>
            <a:r>
              <a:rPr lang="ko-KR" altLang="en-US" dirty="0">
                <a:solidFill>
                  <a:srgbClr val="FFAB40"/>
                </a:solidFill>
                <a:latin typeface="Montserrat ExtraBold" panose="00000900000000000000" pitchFamily="2" charset="0"/>
              </a:rPr>
              <a:t> </a:t>
            </a:r>
            <a:r>
              <a:rPr lang="en-US" altLang="ko-KR" dirty="0">
                <a:solidFill>
                  <a:srgbClr val="FFAB40"/>
                </a:solidFill>
                <a:latin typeface="Montserrat ExtraBold" panose="00000900000000000000" pitchFamily="2" charset="0"/>
              </a:rPr>
              <a:t>subsystem</a:t>
            </a:r>
          </a:p>
        </p:txBody>
      </p:sp>
      <p:graphicFrame>
        <p:nvGraphicFramePr>
          <p:cNvPr id="2" name="표 1">
            <a:extLst>
              <a:ext uri="{FF2B5EF4-FFF2-40B4-BE49-F238E27FC236}">
                <a16:creationId xmlns:a16="http://schemas.microsoft.com/office/drawing/2014/main" id="{FC2449A6-5401-43E0-B6C2-184DABD86C62}"/>
              </a:ext>
            </a:extLst>
          </p:cNvPr>
          <p:cNvGraphicFramePr>
            <a:graphicFrameLocks noGrp="1"/>
          </p:cNvGraphicFramePr>
          <p:nvPr>
            <p:extLst>
              <p:ext uri="{D42A27DB-BD31-4B8C-83A1-F6EECF244321}">
                <p14:modId xmlns:p14="http://schemas.microsoft.com/office/powerpoint/2010/main" val="1905007415"/>
              </p:ext>
            </p:extLst>
          </p:nvPr>
        </p:nvGraphicFramePr>
        <p:xfrm>
          <a:off x="1045433" y="1903717"/>
          <a:ext cx="7053134" cy="1378756"/>
        </p:xfrm>
        <a:graphic>
          <a:graphicData uri="http://schemas.openxmlformats.org/drawingml/2006/table">
            <a:tbl>
              <a:tblPr firstRow="1" firstCol="1" bandRow="1"/>
              <a:tblGrid>
                <a:gridCol w="1499652">
                  <a:extLst>
                    <a:ext uri="{9D8B030D-6E8A-4147-A177-3AD203B41FA5}">
                      <a16:colId xmlns:a16="http://schemas.microsoft.com/office/drawing/2014/main" val="3425724469"/>
                    </a:ext>
                  </a:extLst>
                </a:gridCol>
                <a:gridCol w="5553482">
                  <a:extLst>
                    <a:ext uri="{9D8B030D-6E8A-4147-A177-3AD203B41FA5}">
                      <a16:colId xmlns:a16="http://schemas.microsoft.com/office/drawing/2014/main" val="1443148215"/>
                    </a:ext>
                  </a:extLst>
                </a:gridCol>
              </a:tblGrid>
              <a:tr h="320089">
                <a:tc>
                  <a:txBody>
                    <a:bodyPr/>
                    <a:lstStyle/>
                    <a:p>
                      <a:pPr algn="ctr" latinLnBrk="1">
                        <a:lnSpc>
                          <a:spcPct val="106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ID</a:t>
                      </a:r>
                      <a:endParaRPr lang="ko-KR" sz="1200" kern="10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6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Requirements</a:t>
                      </a:r>
                      <a:endParaRPr lang="ko-KR" sz="1200" kern="10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599362049"/>
                  </a:ext>
                </a:extLst>
              </a:tr>
              <a:tr h="320089">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PS-001</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latinLnBrk="1">
                        <a:lnSpc>
                          <a:spcPct val="107000"/>
                        </a:lnSpc>
                        <a:spcAft>
                          <a:spcPts val="800"/>
                        </a:spcAft>
                      </a:pP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위성을 임무 궤도에 진입시킬 수 있을 정도의 추력을 제공하여야 한다</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0259"/>
                  </a:ext>
                </a:extLst>
              </a:tr>
              <a:tr h="320089">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PS-002</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latinLnBrk="1">
                        <a:lnSpc>
                          <a:spcPct val="107000"/>
                        </a:lnSpc>
                        <a:spcAft>
                          <a:spcPts val="800"/>
                        </a:spcAft>
                      </a:pP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임무 기간 동안 궤도</a:t>
                      </a: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자세 보정을 할 수 있는 추력을 제공하여야 한다</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7403023"/>
                  </a:ext>
                </a:extLst>
              </a:tr>
              <a:tr h="418489">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PS-003</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just" latinLnBrk="1">
                        <a:lnSpc>
                          <a:spcPct val="107000"/>
                        </a:lnSpc>
                        <a:spcAft>
                          <a:spcPts val="800"/>
                        </a:spcAft>
                      </a:pP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추진제는 분사 시 추진제 분산에 의한 오차를 보정할 수 있는 양을 포함하여야 한다</a:t>
                      </a: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1654296"/>
                  </a:ext>
                </a:extLst>
              </a:tr>
            </a:tbl>
          </a:graphicData>
        </a:graphic>
      </p:graphicFrame>
    </p:spTree>
    <p:extLst>
      <p:ext uri="{BB962C8B-B14F-4D97-AF65-F5344CB8AC3E}">
        <p14:creationId xmlns:p14="http://schemas.microsoft.com/office/powerpoint/2010/main" val="902669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3.1 Budgets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sp>
        <p:nvSpPr>
          <p:cNvPr id="8" name="TextBox 7">
            <a:extLst>
              <a:ext uri="{FF2B5EF4-FFF2-40B4-BE49-F238E27FC236}">
                <a16:creationId xmlns:a16="http://schemas.microsoft.com/office/drawing/2014/main" id="{51471149-CDAF-4625-A0DA-97BEF26FC2D0}"/>
              </a:ext>
            </a:extLst>
          </p:cNvPr>
          <p:cNvSpPr txBox="1"/>
          <p:nvPr/>
        </p:nvSpPr>
        <p:spPr>
          <a:xfrm>
            <a:off x="574694" y="1041241"/>
            <a:ext cx="7563463" cy="369332"/>
          </a:xfrm>
          <a:prstGeom prst="rect">
            <a:avLst/>
          </a:prstGeom>
          <a:noFill/>
        </p:spPr>
        <p:txBody>
          <a:bodyPr wrap="square" rtlCol="0">
            <a:spAutoFit/>
          </a:bodyPr>
          <a:lstStyle/>
          <a:p>
            <a:r>
              <a:rPr lang="en-US" altLang="ko-KR" sz="1800" dirty="0">
                <a:solidFill>
                  <a:schemeClr val="bg1"/>
                </a:solidFill>
                <a:effectLst/>
                <a:latin typeface="맑은 고딕" panose="020B0503020000020004" pitchFamily="50" charset="-127"/>
                <a:cs typeface="Times New Roman" panose="02020603050405020304" pitchFamily="18" charset="0"/>
              </a:rPr>
              <a:t>1. </a:t>
            </a:r>
            <a:r>
              <a:rPr lang="ko-KR" altLang="en-US" sz="1800" dirty="0">
                <a:solidFill>
                  <a:schemeClr val="bg1"/>
                </a:solidFill>
                <a:latin typeface="맑은 고딕" panose="020B0503020000020004" pitchFamily="50" charset="-127"/>
                <a:cs typeface="Times New Roman" panose="02020603050405020304" pitchFamily="18" charset="0"/>
              </a:rPr>
              <a:t>속도제어 </a:t>
            </a:r>
            <a:r>
              <a:rPr lang="en-US" altLang="ko-KR" sz="1800" dirty="0">
                <a:solidFill>
                  <a:schemeClr val="bg1"/>
                </a:solidFill>
                <a:latin typeface="맑은 고딕" panose="020B0503020000020004" pitchFamily="50" charset="-127"/>
                <a:cs typeface="Times New Roman" panose="02020603050405020304" pitchFamily="18" charset="0"/>
              </a:rPr>
              <a:t>– </a:t>
            </a:r>
            <a:r>
              <a:rPr lang="ko-KR" altLang="en-US" sz="1800" dirty="0">
                <a:solidFill>
                  <a:schemeClr val="bg1"/>
                </a:solidFill>
                <a:latin typeface="맑은 고딕" panose="020B0503020000020004" pitchFamily="50" charset="-127"/>
                <a:cs typeface="Times New Roman" panose="02020603050405020304" pitchFamily="18" charset="0"/>
              </a:rPr>
              <a:t>임무 궤도로의 천이</a:t>
            </a:r>
            <a:endParaRPr lang="ko-KR" altLang="en-US" sz="1800" dirty="0">
              <a:solidFill>
                <a:schemeClr val="bg1"/>
              </a:solidFill>
              <a:latin typeface="+mj-ea"/>
              <a:ea typeface="+mj-ea"/>
            </a:endParaRPr>
          </a:p>
        </p:txBody>
      </p:sp>
      <p:graphicFrame>
        <p:nvGraphicFramePr>
          <p:cNvPr id="10" name="표 9">
            <a:extLst>
              <a:ext uri="{FF2B5EF4-FFF2-40B4-BE49-F238E27FC236}">
                <a16:creationId xmlns:a16="http://schemas.microsoft.com/office/drawing/2014/main" id="{D894863C-E531-4E90-A131-C17ABDCD89DB}"/>
              </a:ext>
            </a:extLst>
          </p:cNvPr>
          <p:cNvGraphicFramePr>
            <a:graphicFrameLocks noGrp="1"/>
          </p:cNvGraphicFramePr>
          <p:nvPr>
            <p:extLst>
              <p:ext uri="{D42A27DB-BD31-4B8C-83A1-F6EECF244321}">
                <p14:modId xmlns:p14="http://schemas.microsoft.com/office/powerpoint/2010/main" val="2528717747"/>
              </p:ext>
            </p:extLst>
          </p:nvPr>
        </p:nvGraphicFramePr>
        <p:xfrm>
          <a:off x="829860" y="1754971"/>
          <a:ext cx="7053133" cy="2678638"/>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381578">
                <a:tc>
                  <a:txBody>
                    <a:bodyPr/>
                    <a:lstStyle/>
                    <a:p>
                      <a:pPr marL="0" marR="0" lvl="1" indent="0" algn="ctr" defTabSz="914400" rtl="0" eaLnBrk="1" fontAlgn="auto" latinLnBrk="1" hangingPunct="1">
                        <a:lnSpc>
                          <a:spcPct val="107000"/>
                        </a:lnSpc>
                        <a:spcBef>
                          <a:spcPts val="0"/>
                        </a:spcBef>
                        <a:spcAft>
                          <a:spcPts val="800"/>
                        </a:spcAft>
                        <a:buClr>
                          <a:srgbClr val="000000"/>
                        </a:buClr>
                        <a:buSzTx/>
                        <a:buFont typeface="Arial"/>
                        <a:buNone/>
                        <a:tabLst/>
                        <a:defRPr/>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altLang="ko-KR" sz="1200" b="1" kern="100" dirty="0">
                          <a:solidFill>
                            <a:schemeClr val="bg1"/>
                          </a:solidFill>
                          <a:effectLst/>
                          <a:latin typeface="맑은 고딕" panose="020B0503020000020004" pitchFamily="50" charset="-127"/>
                          <a:ea typeface="+mn-ea"/>
                          <a:cs typeface="Times New Roman" panose="02020603050405020304" pitchFamily="18" charset="0"/>
                        </a:rPr>
                        <a:t>Satellite</a:t>
                      </a:r>
                      <a:endParaRPr lang="ko-KR" altLang="ko-KR" sz="1200" b="1" kern="100" dirty="0">
                        <a:solidFill>
                          <a:schemeClr val="bg1"/>
                        </a:solidFill>
                        <a:effectLst/>
                        <a:latin typeface="맑은 고딕" panose="020B0503020000020004" pitchFamily="50" charset="-127"/>
                        <a:ea typeface="+mn-ea"/>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lvl="1"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GEO</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lvl="1"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EIGSO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lvl="1"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HEO</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533618">
                <a:tc>
                  <a:txBody>
                    <a:bodyPr/>
                    <a:lstStyle/>
                    <a:p>
                      <a:pPr lvl="1"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Initial orbit SMA (km)</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6569</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6569</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6569</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617413">
                <a:tc>
                  <a:txBody>
                    <a:bodyPr/>
                    <a:lstStyle/>
                    <a:p>
                      <a:pPr lvl="1"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Final orbit SMA (km)</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42159</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42159</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42159</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617413">
                <a:tc>
                  <a:txBody>
                    <a:bodyPr/>
                    <a:lstStyle/>
                    <a:p>
                      <a:pPr lvl="1"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ECC (deg)</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0.001</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0.075</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0.25</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528616">
                <a:tc>
                  <a:txBody>
                    <a:bodyPr/>
                    <a:lstStyle/>
                    <a:p>
                      <a:pPr lvl="1"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INC (deg)</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41</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1"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41</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bl>
          </a:graphicData>
        </a:graphic>
      </p:graphicFrame>
    </p:spTree>
    <p:extLst>
      <p:ext uri="{BB962C8B-B14F-4D97-AF65-F5344CB8AC3E}">
        <p14:creationId xmlns:p14="http://schemas.microsoft.com/office/powerpoint/2010/main" val="1170808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3.1 Budgets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sp>
        <p:nvSpPr>
          <p:cNvPr id="8" name="TextBox 7">
            <a:extLst>
              <a:ext uri="{FF2B5EF4-FFF2-40B4-BE49-F238E27FC236}">
                <a16:creationId xmlns:a16="http://schemas.microsoft.com/office/drawing/2014/main" id="{51471149-CDAF-4625-A0DA-97BEF26FC2D0}"/>
              </a:ext>
            </a:extLst>
          </p:cNvPr>
          <p:cNvSpPr txBox="1"/>
          <p:nvPr/>
        </p:nvSpPr>
        <p:spPr>
          <a:xfrm>
            <a:off x="574694" y="1041241"/>
            <a:ext cx="7563463" cy="369332"/>
          </a:xfrm>
          <a:prstGeom prst="rect">
            <a:avLst/>
          </a:prstGeom>
          <a:noFill/>
        </p:spPr>
        <p:txBody>
          <a:bodyPr wrap="square" rtlCol="0">
            <a:spAutoFit/>
          </a:bodyPr>
          <a:lstStyle/>
          <a:p>
            <a:r>
              <a:rPr lang="en-US" altLang="ko-KR" sz="1800" dirty="0">
                <a:solidFill>
                  <a:schemeClr val="bg1"/>
                </a:solidFill>
                <a:effectLst/>
                <a:latin typeface="맑은 고딕" panose="020B0503020000020004" pitchFamily="50" charset="-127"/>
                <a:cs typeface="Times New Roman" panose="02020603050405020304" pitchFamily="18" charset="0"/>
              </a:rPr>
              <a:t>1. </a:t>
            </a:r>
            <a:r>
              <a:rPr lang="ko-KR" altLang="en-US" sz="1800" dirty="0">
                <a:solidFill>
                  <a:schemeClr val="bg1"/>
                </a:solidFill>
                <a:latin typeface="맑은 고딕" panose="020B0503020000020004" pitchFamily="50" charset="-127"/>
                <a:cs typeface="Times New Roman" panose="02020603050405020304" pitchFamily="18" charset="0"/>
              </a:rPr>
              <a:t>속도제어 </a:t>
            </a:r>
            <a:r>
              <a:rPr lang="en-US" altLang="ko-KR" sz="1800" dirty="0">
                <a:solidFill>
                  <a:schemeClr val="bg1"/>
                </a:solidFill>
                <a:latin typeface="맑은 고딕" panose="020B0503020000020004" pitchFamily="50" charset="-127"/>
                <a:cs typeface="Times New Roman" panose="02020603050405020304" pitchFamily="18" charset="0"/>
              </a:rPr>
              <a:t>– </a:t>
            </a:r>
            <a:r>
              <a:rPr lang="ko-KR" altLang="en-US" sz="1800" dirty="0">
                <a:solidFill>
                  <a:schemeClr val="bg1"/>
                </a:solidFill>
                <a:latin typeface="맑은 고딕" panose="020B0503020000020004" pitchFamily="50" charset="-127"/>
                <a:cs typeface="Times New Roman" panose="02020603050405020304" pitchFamily="18" charset="0"/>
              </a:rPr>
              <a:t>임무 궤도로의 천이</a:t>
            </a:r>
            <a:endParaRPr lang="ko-KR" altLang="en-US" sz="1800" dirty="0">
              <a:solidFill>
                <a:schemeClr val="bg1"/>
              </a:solidFill>
              <a:latin typeface="+mj-ea"/>
              <a:ea typeface="+mj-ea"/>
            </a:endParaRPr>
          </a:p>
        </p:txBody>
      </p:sp>
      <mc:AlternateContent xmlns:mc="http://schemas.openxmlformats.org/markup-compatibility/2006" xmlns:a14="http://schemas.microsoft.com/office/drawing/2010/main">
        <mc:Choice Requires="a14">
          <p:graphicFrame>
            <p:nvGraphicFramePr>
              <p:cNvPr id="10" name="표 9">
                <a:extLst>
                  <a:ext uri="{FF2B5EF4-FFF2-40B4-BE49-F238E27FC236}">
                    <a16:creationId xmlns:a16="http://schemas.microsoft.com/office/drawing/2014/main" id="{D894863C-E531-4E90-A131-C17ABDCD89DB}"/>
                  </a:ext>
                </a:extLst>
              </p:cNvPr>
              <p:cNvGraphicFramePr>
                <a:graphicFrameLocks noGrp="1"/>
              </p:cNvGraphicFramePr>
              <p:nvPr>
                <p:extLst>
                  <p:ext uri="{D42A27DB-BD31-4B8C-83A1-F6EECF244321}">
                    <p14:modId xmlns:p14="http://schemas.microsoft.com/office/powerpoint/2010/main" val="2505680200"/>
                  </p:ext>
                </p:extLst>
              </p:nvPr>
            </p:nvGraphicFramePr>
            <p:xfrm>
              <a:off x="829858" y="1754041"/>
              <a:ext cx="7053133" cy="2770499"/>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213921">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Satellite</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Transfer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m:oMathPara>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Total </a:t>
                          </a: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299157">
                    <a:tc rowSpan="2">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GEO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Elliptic</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2457.0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346135">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Elliptic -&gt; GEO</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1478.2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46135">
                    <a:tc rowSpan="3">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EIGSO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GEO</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6319.7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29635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14:m>
                            <m:oMath xmlns:m="http://schemas.openxmlformats.org/officeDocument/2006/math">
                              <m:r>
                                <a:rPr lang="en-US" sz="1200" b="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𝑉</m:t>
                              </m:r>
                            </m:oMath>
                          </a14:m>
                          <a:r>
                            <a:rPr lang="en-US" sz="1200" b="0" kern="100" baseline="-250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sz="1200" b="0" kern="100" baseline="-25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only</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2153.7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29635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14:m>
                            <m:oMath xmlns:m="http://schemas.openxmlformats.org/officeDocument/2006/math">
                              <m:r>
                                <a:rPr lang="en-US" sz="1200" b="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𝑉</m:t>
                              </m:r>
                            </m:oMath>
                          </a14:m>
                          <a:r>
                            <a:rPr lang="en-US" sz="1200" b="0" kern="100" baseline="-250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ecc</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230.8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338041"/>
                      </a:ext>
                    </a:extLst>
                  </a:tr>
                  <a:tr h="296353">
                    <a:tc rowSpan="3">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GEO</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6863.8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003047"/>
                      </a:ext>
                    </a:extLst>
                  </a:tr>
                  <a:tr h="296353">
                    <a:tc vMerge="1">
                      <a:txBody>
                        <a:bodyPr/>
                        <a:lstStyle/>
                        <a:p>
                          <a:pPr algn="ctr" latinLnBrk="1">
                            <a:lnSpc>
                              <a:spcPct val="107000"/>
                            </a:lnSpc>
                            <a:spcAft>
                              <a:spcPts val="800"/>
                            </a:spcAft>
                          </a:pP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r>
                            <a:rPr lang="en-US" sz="1200" b="1" kern="100" baseline="-250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 only</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2153.7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latinLnBrk="1">
                            <a:lnSpc>
                              <a:spcPct val="107000"/>
                            </a:lnSpc>
                            <a:spcAft>
                              <a:spcPts val="800"/>
                            </a:spcAft>
                          </a:pP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5405508"/>
                      </a:ext>
                    </a:extLst>
                  </a:tr>
                  <a:tr h="296353">
                    <a:tc vMerge="1">
                      <a:txBody>
                        <a:bodyPr/>
                        <a:lstStyle/>
                        <a:p>
                          <a:pPr algn="ctr" latinLnBrk="1">
                            <a:lnSpc>
                              <a:spcPct val="107000"/>
                            </a:lnSpc>
                            <a:spcAft>
                              <a:spcPts val="800"/>
                            </a:spcAft>
                          </a:pP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r>
                            <a:rPr lang="en-US" sz="1200" b="1" kern="100" baseline="-250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ecc</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774.9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latinLnBrk="1">
                            <a:lnSpc>
                              <a:spcPct val="107000"/>
                            </a:lnSpc>
                            <a:spcAft>
                              <a:spcPts val="800"/>
                            </a:spcAft>
                          </a:pP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854967"/>
                      </a:ext>
                    </a:extLst>
                  </a:tr>
                </a:tbl>
              </a:graphicData>
            </a:graphic>
          </p:graphicFrame>
        </mc:Choice>
        <mc:Fallback xmlns="">
          <p:graphicFrame>
            <p:nvGraphicFramePr>
              <p:cNvPr id="10" name="표 9">
                <a:extLst>
                  <a:ext uri="{FF2B5EF4-FFF2-40B4-BE49-F238E27FC236}">
                    <a16:creationId xmlns:a16="http://schemas.microsoft.com/office/drawing/2014/main" id="{D894863C-E531-4E90-A131-C17ABDCD89DB}"/>
                  </a:ext>
                </a:extLst>
              </p:cNvPr>
              <p:cNvGraphicFramePr>
                <a:graphicFrameLocks noGrp="1"/>
              </p:cNvGraphicFramePr>
              <p:nvPr>
                <p:extLst>
                  <p:ext uri="{D42A27DB-BD31-4B8C-83A1-F6EECF244321}">
                    <p14:modId xmlns:p14="http://schemas.microsoft.com/office/powerpoint/2010/main" val="2505680200"/>
                  </p:ext>
                </p:extLst>
              </p:nvPr>
            </p:nvGraphicFramePr>
            <p:xfrm>
              <a:off x="829858" y="1754041"/>
              <a:ext cx="7053133" cy="2770499"/>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297307">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Satellite</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Transfer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74691" t="-2041" r="-83642" b="-840816"/>
                          </a:stretch>
                        </a:blip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30855" t="-2041" r="-743" b="-840816"/>
                          </a:stretch>
                        </a:blipFill>
                      </a:tcPr>
                    </a:tc>
                    <a:extLst>
                      <a:ext uri="{0D108BD9-81ED-4DB2-BD59-A6C34878D82A}">
                        <a16:rowId xmlns:a16="http://schemas.microsoft.com/office/drawing/2014/main" val="1323390940"/>
                      </a:ext>
                    </a:extLst>
                  </a:tr>
                  <a:tr h="299157">
                    <a:tc rowSpan="2">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GEO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Elliptic</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2457.0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346135">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Elliptic -&gt; GEO</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1478.2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346135">
                    <a:tc rowSpan="3">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EIGSO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GEO</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6319.7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29635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4332" t="-434694" r="-214801" b="-408163"/>
                          </a:stretch>
                        </a:blip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2153.7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296353">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4332" t="-534694" r="-214801" b="-308163"/>
                          </a:stretch>
                        </a:blip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230.8 m/s</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4338041"/>
                      </a:ext>
                    </a:extLst>
                  </a:tr>
                  <a:tr h="296353">
                    <a:tc rowSpan="3">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LEO -&gt; GEO</a:t>
                          </a:r>
                          <a:endParaRPr lang="ko-KR" sz="1200" b="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3935.2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6863.8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003047"/>
                      </a:ext>
                    </a:extLst>
                  </a:tr>
                  <a:tr h="296353">
                    <a:tc vMerge="1">
                      <a:txBody>
                        <a:bodyPr/>
                        <a:lstStyle/>
                        <a:p>
                          <a:pPr algn="ctr" latinLnBrk="1">
                            <a:lnSpc>
                              <a:spcPct val="107000"/>
                            </a:lnSpc>
                            <a:spcAft>
                              <a:spcPts val="800"/>
                            </a:spcAft>
                          </a:pP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4332" t="-732653" r="-214801" b="-110204"/>
                          </a:stretch>
                        </a:blip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2153.7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latinLnBrk="1">
                            <a:lnSpc>
                              <a:spcPct val="107000"/>
                            </a:lnSpc>
                            <a:spcAft>
                              <a:spcPts val="800"/>
                            </a:spcAft>
                          </a:pP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5405508"/>
                      </a:ext>
                    </a:extLst>
                  </a:tr>
                  <a:tr h="296353">
                    <a:tc vMerge="1">
                      <a:txBody>
                        <a:bodyPr/>
                        <a:lstStyle/>
                        <a:p>
                          <a:pPr algn="ctr" latinLnBrk="1">
                            <a:lnSpc>
                              <a:spcPct val="107000"/>
                            </a:lnSpc>
                            <a:spcAft>
                              <a:spcPts val="800"/>
                            </a:spcAft>
                          </a:pP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4332" t="-832653" r="-214801" b="-10204"/>
                          </a:stretch>
                        </a:blip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774.9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latinLnBrk="1">
                            <a:lnSpc>
                              <a:spcPct val="107000"/>
                            </a:lnSpc>
                            <a:spcAft>
                              <a:spcPts val="800"/>
                            </a:spcAft>
                          </a:pP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854967"/>
                      </a:ext>
                    </a:extLst>
                  </a:tr>
                </a:tbl>
              </a:graphicData>
            </a:graphic>
          </p:graphicFrame>
        </mc:Fallback>
      </mc:AlternateContent>
    </p:spTree>
    <p:extLst>
      <p:ext uri="{BB962C8B-B14F-4D97-AF65-F5344CB8AC3E}">
        <p14:creationId xmlns:p14="http://schemas.microsoft.com/office/powerpoint/2010/main" val="198483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3.1 Budgets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sp>
        <p:nvSpPr>
          <p:cNvPr id="8" name="TextBox 7">
            <a:extLst>
              <a:ext uri="{FF2B5EF4-FFF2-40B4-BE49-F238E27FC236}">
                <a16:creationId xmlns:a16="http://schemas.microsoft.com/office/drawing/2014/main" id="{51471149-CDAF-4625-A0DA-97BEF26FC2D0}"/>
              </a:ext>
            </a:extLst>
          </p:cNvPr>
          <p:cNvSpPr txBox="1"/>
          <p:nvPr/>
        </p:nvSpPr>
        <p:spPr>
          <a:xfrm>
            <a:off x="574694" y="1041241"/>
            <a:ext cx="7563463" cy="369332"/>
          </a:xfrm>
          <a:prstGeom prst="rect">
            <a:avLst/>
          </a:prstGeom>
          <a:noFill/>
        </p:spPr>
        <p:txBody>
          <a:bodyPr wrap="square" rtlCol="0">
            <a:spAutoFit/>
          </a:bodyPr>
          <a:lstStyle/>
          <a:p>
            <a:r>
              <a:rPr lang="en-US" altLang="ko-KR" sz="1800" dirty="0">
                <a:solidFill>
                  <a:schemeClr val="bg1"/>
                </a:solidFill>
                <a:effectLst/>
                <a:latin typeface="맑은 고딕" panose="020B0503020000020004" pitchFamily="50" charset="-127"/>
                <a:cs typeface="Times New Roman" panose="02020603050405020304" pitchFamily="18" charset="0"/>
              </a:rPr>
              <a:t>1. </a:t>
            </a:r>
            <a:r>
              <a:rPr lang="ko-KR" altLang="en-US" sz="1800" dirty="0">
                <a:solidFill>
                  <a:schemeClr val="bg1"/>
                </a:solidFill>
                <a:latin typeface="맑은 고딕" panose="020B0503020000020004" pitchFamily="50" charset="-127"/>
                <a:cs typeface="Times New Roman" panose="02020603050405020304" pitchFamily="18" charset="0"/>
              </a:rPr>
              <a:t>속도제어 </a:t>
            </a:r>
            <a:r>
              <a:rPr lang="en-US" altLang="ko-KR" sz="1800" dirty="0">
                <a:solidFill>
                  <a:schemeClr val="bg1"/>
                </a:solidFill>
                <a:latin typeface="맑은 고딕" panose="020B0503020000020004" pitchFamily="50" charset="-127"/>
                <a:cs typeface="Times New Roman" panose="02020603050405020304" pitchFamily="18" charset="0"/>
              </a:rPr>
              <a:t>– Station keeping</a:t>
            </a:r>
            <a:endParaRPr lang="ko-KR" altLang="en-US" sz="1800" dirty="0">
              <a:solidFill>
                <a:schemeClr val="bg1"/>
              </a:solidFill>
              <a:latin typeface="+mj-ea"/>
              <a:ea typeface="+mj-ea"/>
            </a:endParaRPr>
          </a:p>
        </p:txBody>
      </p:sp>
      <mc:AlternateContent xmlns:mc="http://schemas.openxmlformats.org/markup-compatibility/2006" xmlns:a14="http://schemas.microsoft.com/office/drawing/2010/main">
        <mc:Choice Requires="a14">
          <p:graphicFrame>
            <p:nvGraphicFramePr>
              <p:cNvPr id="9" name="표 8">
                <a:extLst>
                  <a:ext uri="{FF2B5EF4-FFF2-40B4-BE49-F238E27FC236}">
                    <a16:creationId xmlns:a16="http://schemas.microsoft.com/office/drawing/2014/main" id="{C15FFFAB-E515-4869-9EC2-4F316A93C708}"/>
                  </a:ext>
                </a:extLst>
              </p:cNvPr>
              <p:cNvGraphicFramePr>
                <a:graphicFrameLocks noGrp="1"/>
              </p:cNvGraphicFramePr>
              <p:nvPr>
                <p:extLst>
                  <p:ext uri="{D42A27DB-BD31-4B8C-83A1-F6EECF244321}">
                    <p14:modId xmlns:p14="http://schemas.microsoft.com/office/powerpoint/2010/main" val="3398213642"/>
                  </p:ext>
                </p:extLst>
              </p:nvPr>
            </p:nvGraphicFramePr>
            <p:xfrm>
              <a:off x="829860" y="1818471"/>
              <a:ext cx="5417315" cy="2150022"/>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tblGrid>
                  <a:tr h="381578">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Factor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(per </a:t>
                          </a: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yr</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m:oMathPara>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533618">
                    <a:tc>
                      <a:txBody>
                        <a:bodyPr/>
                        <a:lstStyle/>
                        <a:p>
                          <a:pPr algn="just"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1200"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e>
                                  <m:sub>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𝑴𝑶𝑶𝑵</m:t>
                                    </m:r>
                                  </m:sub>
                                </m:sSub>
                              </m:oMath>
                            </m:oMathPara>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row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51.1 m/s/yr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408.8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617413">
                    <a:tc>
                      <a:txBody>
                        <a:bodyPr/>
                        <a:lstStyle/>
                        <a:p>
                          <a:pPr algn="just"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1200"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e>
                                  <m:sub>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𝑺𝑼𝑵</m:t>
                                    </m:r>
                                  </m:sub>
                                </m:sSub>
                              </m:oMath>
                            </m:oMathPara>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617413">
                    <a:tc>
                      <a:txBody>
                        <a:bodyPr/>
                        <a:lstStyle/>
                        <a:p>
                          <a:pPr algn="just"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1200"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e>
                                  <m:sub>
                                    <m:r>
                                      <a:rPr lang="en-US" sz="12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𝑬𝑾</m:t>
                                    </m:r>
                                  </m:sub>
                                </m:sSub>
                              </m:oMath>
                            </m:oMathPara>
                          </a14:m>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bl>
              </a:graphicData>
            </a:graphic>
          </p:graphicFrame>
        </mc:Choice>
        <mc:Fallback xmlns="">
          <p:graphicFrame>
            <p:nvGraphicFramePr>
              <p:cNvPr id="9" name="표 8">
                <a:extLst>
                  <a:ext uri="{FF2B5EF4-FFF2-40B4-BE49-F238E27FC236}">
                    <a16:creationId xmlns:a16="http://schemas.microsoft.com/office/drawing/2014/main" id="{C15FFFAB-E515-4869-9EC2-4F316A93C708}"/>
                  </a:ext>
                </a:extLst>
              </p:cNvPr>
              <p:cNvGraphicFramePr>
                <a:graphicFrameLocks noGrp="1"/>
              </p:cNvGraphicFramePr>
              <p:nvPr>
                <p:extLst>
                  <p:ext uri="{D42A27DB-BD31-4B8C-83A1-F6EECF244321}">
                    <p14:modId xmlns:p14="http://schemas.microsoft.com/office/powerpoint/2010/main" val="3398213642"/>
                  </p:ext>
                </p:extLst>
              </p:nvPr>
            </p:nvGraphicFramePr>
            <p:xfrm>
              <a:off x="829860" y="1818471"/>
              <a:ext cx="5417315" cy="2150022"/>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tblGrid>
                  <a:tr h="381578">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Factor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4332" t="-1587" r="-117690" b="-465079"/>
                          </a:stretch>
                        </a:blip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74691" t="-1587" r="-617" b="-465079"/>
                          </a:stretch>
                        </a:blipFill>
                      </a:tcPr>
                    </a:tc>
                    <a:extLst>
                      <a:ext uri="{0D108BD9-81ED-4DB2-BD59-A6C34878D82A}">
                        <a16:rowId xmlns:a16="http://schemas.microsoft.com/office/drawing/2014/main" val="1323390940"/>
                      </a:ext>
                    </a:extLst>
                  </a:tr>
                  <a:tr h="533618">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73563" r="-209375" b="-236782"/>
                          </a:stretch>
                        </a:blipFill>
                      </a:tcPr>
                    </a:tc>
                    <a:tc row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51.1 m/s/yr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408.8 m/s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617413">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148039" r="-209375" b="-101961"/>
                          </a:stretch>
                        </a:blip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617413">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250495" r="-209375" b="-2970"/>
                          </a:stretch>
                        </a:blip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bl>
              </a:graphicData>
            </a:graphic>
          </p:graphicFrame>
        </mc:Fallback>
      </mc:AlternateContent>
    </p:spTree>
    <p:extLst>
      <p:ext uri="{BB962C8B-B14F-4D97-AF65-F5344CB8AC3E}">
        <p14:creationId xmlns:p14="http://schemas.microsoft.com/office/powerpoint/2010/main" val="2436637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3.1 Budgets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sp>
        <p:nvSpPr>
          <p:cNvPr id="8" name="TextBox 7">
            <a:extLst>
              <a:ext uri="{FF2B5EF4-FFF2-40B4-BE49-F238E27FC236}">
                <a16:creationId xmlns:a16="http://schemas.microsoft.com/office/drawing/2014/main" id="{51471149-CDAF-4625-A0DA-97BEF26FC2D0}"/>
              </a:ext>
            </a:extLst>
          </p:cNvPr>
          <p:cNvSpPr txBox="1"/>
          <p:nvPr/>
        </p:nvSpPr>
        <p:spPr>
          <a:xfrm>
            <a:off x="574694" y="1041241"/>
            <a:ext cx="7563463" cy="369332"/>
          </a:xfrm>
          <a:prstGeom prst="rect">
            <a:avLst/>
          </a:prstGeom>
          <a:noFill/>
        </p:spPr>
        <p:txBody>
          <a:bodyPr wrap="square" rtlCol="0">
            <a:spAutoFit/>
          </a:bodyPr>
          <a:lstStyle/>
          <a:p>
            <a:r>
              <a:rPr lang="en-US" altLang="ko-KR" sz="1800" dirty="0">
                <a:solidFill>
                  <a:schemeClr val="bg1"/>
                </a:solidFill>
                <a:effectLst/>
                <a:latin typeface="맑은 고딕" panose="020B0503020000020004" pitchFamily="50" charset="-127"/>
                <a:cs typeface="Times New Roman" panose="02020603050405020304" pitchFamily="18" charset="0"/>
              </a:rPr>
              <a:t>2. </a:t>
            </a:r>
            <a:r>
              <a:rPr lang="ko-KR" altLang="en-US" sz="1800" dirty="0">
                <a:solidFill>
                  <a:schemeClr val="bg1"/>
                </a:solidFill>
                <a:latin typeface="맑은 고딕" panose="020B0503020000020004" pitchFamily="50" charset="-127"/>
                <a:cs typeface="Times New Roman" panose="02020603050405020304" pitchFamily="18" charset="0"/>
              </a:rPr>
              <a:t>자세제어</a:t>
            </a:r>
            <a:endParaRPr lang="ko-KR" altLang="en-US" sz="1800" dirty="0">
              <a:solidFill>
                <a:schemeClr val="bg1"/>
              </a:solidFill>
              <a:latin typeface="+mj-ea"/>
              <a:ea typeface="+mj-ea"/>
            </a:endParaRPr>
          </a:p>
        </p:txBody>
      </p:sp>
      <mc:AlternateContent xmlns:mc="http://schemas.openxmlformats.org/markup-compatibility/2006">
        <mc:Choice xmlns:a14="http://schemas.microsoft.com/office/drawing/2010/main" Requires="a14">
          <p:graphicFrame>
            <p:nvGraphicFramePr>
              <p:cNvPr id="9" name="표 8">
                <a:extLst>
                  <a:ext uri="{FF2B5EF4-FFF2-40B4-BE49-F238E27FC236}">
                    <a16:creationId xmlns:a16="http://schemas.microsoft.com/office/drawing/2014/main" id="{C15FFFAB-E515-4869-9EC2-4F316A93C708}"/>
                  </a:ext>
                </a:extLst>
              </p:cNvPr>
              <p:cNvGraphicFramePr>
                <a:graphicFrameLocks noGrp="1"/>
              </p:cNvGraphicFramePr>
              <p:nvPr>
                <p:extLst>
                  <p:ext uri="{D42A27DB-BD31-4B8C-83A1-F6EECF244321}">
                    <p14:modId xmlns:p14="http://schemas.microsoft.com/office/powerpoint/2010/main" val="3657753479"/>
                  </p:ext>
                </p:extLst>
              </p:nvPr>
            </p:nvGraphicFramePr>
            <p:xfrm>
              <a:off x="829859" y="1831171"/>
              <a:ext cx="6994892" cy="1532609"/>
            </p:xfrm>
            <a:graphic>
              <a:graphicData uri="http://schemas.openxmlformats.org/drawingml/2006/table">
                <a:tbl>
                  <a:tblPr firstRow="1" firstCol="1" bandRow="1"/>
                  <a:tblGrid>
                    <a:gridCol w="2263149">
                      <a:extLst>
                        <a:ext uri="{9D8B030D-6E8A-4147-A177-3AD203B41FA5}">
                          <a16:colId xmlns:a16="http://schemas.microsoft.com/office/drawing/2014/main" val="32340138"/>
                        </a:ext>
                      </a:extLst>
                    </a:gridCol>
                    <a:gridCol w="2181108">
                      <a:extLst>
                        <a:ext uri="{9D8B030D-6E8A-4147-A177-3AD203B41FA5}">
                          <a16:colId xmlns:a16="http://schemas.microsoft.com/office/drawing/2014/main" val="558501656"/>
                        </a:ext>
                      </a:extLst>
                    </a:gridCol>
                    <a:gridCol w="2550635">
                      <a:extLst>
                        <a:ext uri="{9D8B030D-6E8A-4147-A177-3AD203B41FA5}">
                          <a16:colId xmlns:a16="http://schemas.microsoft.com/office/drawing/2014/main" val="1634435428"/>
                        </a:ext>
                      </a:extLst>
                    </a:gridCol>
                  </a:tblGrid>
                  <a:tr h="381578">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Factor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(per yr)</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14:m>
                            <m:oMathPara xmlns:m="http://schemas.openxmlformats.org/officeDocument/2006/math">
                              <m:oMathParaPr>
                                <m:jc m:val="centerGroup"/>
                              </m:oMathParaPr>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m:oMathPara>
                          </a14:m>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533618">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3-axis attitude control</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 m/s/</a:t>
                          </a:r>
                          <a:r>
                            <a:rPr lang="en-US" sz="1200" b="0"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yr</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617413">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Momentum wheel unloading</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 m/s/</a:t>
                          </a:r>
                          <a:r>
                            <a:rPr lang="en-US" sz="1200" b="0"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yr</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bl>
              </a:graphicData>
            </a:graphic>
          </p:graphicFrame>
        </mc:Choice>
        <mc:Fallback>
          <p:graphicFrame>
            <p:nvGraphicFramePr>
              <p:cNvPr id="9" name="표 8">
                <a:extLst>
                  <a:ext uri="{FF2B5EF4-FFF2-40B4-BE49-F238E27FC236}">
                    <a16:creationId xmlns:a16="http://schemas.microsoft.com/office/drawing/2014/main" id="{C15FFFAB-E515-4869-9EC2-4F316A93C708}"/>
                  </a:ext>
                </a:extLst>
              </p:cNvPr>
              <p:cNvGraphicFramePr>
                <a:graphicFrameLocks noGrp="1"/>
              </p:cNvGraphicFramePr>
              <p:nvPr>
                <p:extLst>
                  <p:ext uri="{D42A27DB-BD31-4B8C-83A1-F6EECF244321}">
                    <p14:modId xmlns:p14="http://schemas.microsoft.com/office/powerpoint/2010/main" val="3657753479"/>
                  </p:ext>
                </p:extLst>
              </p:nvPr>
            </p:nvGraphicFramePr>
            <p:xfrm>
              <a:off x="829859" y="1831171"/>
              <a:ext cx="6994892" cy="1532609"/>
            </p:xfrm>
            <a:graphic>
              <a:graphicData uri="http://schemas.openxmlformats.org/drawingml/2006/table">
                <a:tbl>
                  <a:tblPr firstRow="1" firstCol="1" bandRow="1"/>
                  <a:tblGrid>
                    <a:gridCol w="2263149">
                      <a:extLst>
                        <a:ext uri="{9D8B030D-6E8A-4147-A177-3AD203B41FA5}">
                          <a16:colId xmlns:a16="http://schemas.microsoft.com/office/drawing/2014/main" val="32340138"/>
                        </a:ext>
                      </a:extLst>
                    </a:gridCol>
                    <a:gridCol w="2181108">
                      <a:extLst>
                        <a:ext uri="{9D8B030D-6E8A-4147-A177-3AD203B41FA5}">
                          <a16:colId xmlns:a16="http://schemas.microsoft.com/office/drawing/2014/main" val="558501656"/>
                        </a:ext>
                      </a:extLst>
                    </a:gridCol>
                    <a:gridCol w="2550635">
                      <a:extLst>
                        <a:ext uri="{9D8B030D-6E8A-4147-A177-3AD203B41FA5}">
                          <a16:colId xmlns:a16="http://schemas.microsoft.com/office/drawing/2014/main" val="1634435428"/>
                        </a:ext>
                      </a:extLst>
                    </a:gridCol>
                  </a:tblGrid>
                  <a:tr h="381578">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Factor</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03911" t="-1587" r="-117598" b="-303175"/>
                          </a:stretch>
                        </a:blipFill>
                      </a:tcPr>
                    </a:tc>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174224" t="-1587" r="-477" b="-303175"/>
                          </a:stretch>
                        </a:blipFill>
                      </a:tcPr>
                    </a:tc>
                    <a:extLst>
                      <a:ext uri="{0D108BD9-81ED-4DB2-BD59-A6C34878D82A}">
                        <a16:rowId xmlns:a16="http://schemas.microsoft.com/office/drawing/2014/main" val="1323390940"/>
                      </a:ext>
                    </a:extLst>
                  </a:tr>
                  <a:tr h="533618">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3-axis attitude control</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 m/s/</a:t>
                          </a:r>
                          <a:r>
                            <a:rPr lang="en-US" sz="1200" b="0"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yr</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617413">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Momentum wheel unloading</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 m/s/</a:t>
                          </a:r>
                          <a:r>
                            <a:rPr lang="en-US" sz="1200" b="0"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yr</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lnSpc>
                              <a:spcPct val="107000"/>
                            </a:lnSpc>
                            <a:spcAft>
                              <a:spcPts val="800"/>
                            </a:spcAft>
                          </a:pPr>
                          <a:r>
                            <a:rPr lang="en-US"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 m/s</a:t>
                          </a:r>
                          <a:endParaRPr lang="ko-KR" sz="1200" b="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bl>
              </a:graphicData>
            </a:graphic>
          </p:graphicFrame>
        </mc:Fallback>
      </mc:AlternateContent>
    </p:spTree>
    <p:extLst>
      <p:ext uri="{BB962C8B-B14F-4D97-AF65-F5344CB8AC3E}">
        <p14:creationId xmlns:p14="http://schemas.microsoft.com/office/powerpoint/2010/main" val="3450087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0" name="표 9">
                <a:extLst>
                  <a:ext uri="{FF2B5EF4-FFF2-40B4-BE49-F238E27FC236}">
                    <a16:creationId xmlns:a16="http://schemas.microsoft.com/office/drawing/2014/main" id="{AED06112-0423-4641-92EA-E09D539504A1}"/>
                  </a:ext>
                </a:extLst>
              </p:cNvPr>
              <p:cNvGraphicFramePr>
                <a:graphicFrameLocks noGrp="1"/>
              </p:cNvGraphicFramePr>
              <p:nvPr>
                <p:extLst>
                  <p:ext uri="{D42A27DB-BD31-4B8C-83A1-F6EECF244321}">
                    <p14:modId xmlns:p14="http://schemas.microsoft.com/office/powerpoint/2010/main" val="3650948960"/>
                  </p:ext>
                </p:extLst>
              </p:nvPr>
            </p:nvGraphicFramePr>
            <p:xfrm>
              <a:off x="829859" y="1799159"/>
              <a:ext cx="7053133" cy="2733206"/>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325179">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GEO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EIGSO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HEO</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454747">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Total </a:t>
                          </a:r>
                          <a14:m>
                            <m:oMath xmlns:m="http://schemas.openxmlformats.org/officeDocument/2006/math">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𝑽</m:t>
                              </m:r>
                            </m:oMath>
                          </a14:m>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4408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6792.5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7336.6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26156">
                    <a:tc>
                      <a:txBody>
                        <a:bodyPr/>
                        <a:lstStyle/>
                        <a:p>
                          <a:pPr algn="ctr" latinLnBrk="1">
                            <a:lnSpc>
                              <a:spcPct val="107000"/>
                            </a:lnSpc>
                            <a:spcAft>
                              <a:spcPts val="800"/>
                            </a:spcAft>
                          </a:pPr>
                          <a14:m>
                            <m:oMath xmlns:m="http://schemas.openxmlformats.org/officeDocument/2006/math">
                              <m:sSub>
                                <m:sSubPr>
                                  <m:ctrlPr>
                                    <a:rPr lang="ko-KR" sz="1200"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𝒎</m:t>
                                  </m:r>
                                </m:e>
                                <m:sub>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𝒇</m:t>
                                  </m:r>
                                </m:sub>
                              </m:sSub>
                            </m:oMath>
                          </a14:m>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(dry mass)</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2347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526156">
                    <a:tc>
                      <a:txBody>
                        <a:bodyPr/>
                        <a:lstStyle/>
                        <a:p>
                          <a:pPr algn="ctr" latinLnBrk="1">
                            <a:lnSpc>
                              <a:spcPct val="107000"/>
                            </a:lnSpc>
                            <a:spcAft>
                              <a:spcPts val="800"/>
                            </a:spcAft>
                          </a:pPr>
                          <a14:m>
                            <m:oMath xmlns:m="http://schemas.openxmlformats.org/officeDocument/2006/math">
                              <m:sSub>
                                <m:sSubPr>
                                  <m:ctrlPr>
                                    <a:rPr lang="ko-KR" sz="1200"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𝒗</m:t>
                                  </m:r>
                                </m:e>
                                <m:sub>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𝟎</m:t>
                                  </m:r>
                                </m:sub>
                              </m:sSub>
                            </m:oMath>
                          </a14:m>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(velocity @ parking orbit)</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7789.4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450484">
                    <a:tc>
                      <a:txBody>
                        <a:bodyPr/>
                        <a:lstStyle/>
                        <a:p>
                          <a:pPr algn="ctr" latinLnBrk="1">
                            <a:lnSpc>
                              <a:spcPct val="107000"/>
                            </a:lnSpc>
                            <a:spcAft>
                              <a:spcPts val="800"/>
                            </a:spcAft>
                          </a:pPr>
                          <a14:m>
                            <m:oMath xmlns:m="http://schemas.openxmlformats.org/officeDocument/2006/math">
                              <m:sSub>
                                <m:sSubPr>
                                  <m:ctrlPr>
                                    <a:rPr lang="ko-KR" sz="1200" b="1"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𝒎</m:t>
                                  </m:r>
                                </m:e>
                                <m:sub>
                                  <m:r>
                                    <a:rPr lang="en-US" sz="1200" b="1"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𝒑</m:t>
                                  </m:r>
                                </m:sub>
                              </m:sSub>
                            </m:oMath>
                          </a14:m>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(propellant mass)</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1421.0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1935.5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2005.0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450484">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Propellant budget</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2458.1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2546.3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902604"/>
                      </a:ext>
                    </a:extLst>
                  </a:tr>
                </a:tbl>
              </a:graphicData>
            </a:graphic>
          </p:graphicFrame>
        </mc:Choice>
        <mc:Fallback xmlns="">
          <p:graphicFrame>
            <p:nvGraphicFramePr>
              <p:cNvPr id="10" name="표 9">
                <a:extLst>
                  <a:ext uri="{FF2B5EF4-FFF2-40B4-BE49-F238E27FC236}">
                    <a16:creationId xmlns:a16="http://schemas.microsoft.com/office/drawing/2014/main" id="{AED06112-0423-4641-92EA-E09D539504A1}"/>
                  </a:ext>
                </a:extLst>
              </p:cNvPr>
              <p:cNvGraphicFramePr>
                <a:graphicFrameLocks noGrp="1"/>
              </p:cNvGraphicFramePr>
              <p:nvPr>
                <p:extLst>
                  <p:ext uri="{D42A27DB-BD31-4B8C-83A1-F6EECF244321}">
                    <p14:modId xmlns:p14="http://schemas.microsoft.com/office/powerpoint/2010/main" val="3650948960"/>
                  </p:ext>
                </p:extLst>
              </p:nvPr>
            </p:nvGraphicFramePr>
            <p:xfrm>
              <a:off x="829859" y="1799159"/>
              <a:ext cx="7053133" cy="2733206"/>
            </p:xfrm>
            <a:graphic>
              <a:graphicData uri="http://schemas.openxmlformats.org/drawingml/2006/table">
                <a:tbl>
                  <a:tblPr firstRow="1" firstCol="1" bandRow="1"/>
                  <a:tblGrid>
                    <a:gridCol w="1752735">
                      <a:extLst>
                        <a:ext uri="{9D8B030D-6E8A-4147-A177-3AD203B41FA5}">
                          <a16:colId xmlns:a16="http://schemas.microsoft.com/office/drawing/2014/main" val="32340138"/>
                        </a:ext>
                      </a:extLst>
                    </a:gridCol>
                    <a:gridCol w="1689197">
                      <a:extLst>
                        <a:ext uri="{9D8B030D-6E8A-4147-A177-3AD203B41FA5}">
                          <a16:colId xmlns:a16="http://schemas.microsoft.com/office/drawing/2014/main" val="558501656"/>
                        </a:ext>
                      </a:extLst>
                    </a:gridCol>
                    <a:gridCol w="1975383">
                      <a:extLst>
                        <a:ext uri="{9D8B030D-6E8A-4147-A177-3AD203B41FA5}">
                          <a16:colId xmlns:a16="http://schemas.microsoft.com/office/drawing/2014/main" val="1634435428"/>
                        </a:ext>
                      </a:extLst>
                    </a:gridCol>
                    <a:gridCol w="1635818">
                      <a:extLst>
                        <a:ext uri="{9D8B030D-6E8A-4147-A177-3AD203B41FA5}">
                          <a16:colId xmlns:a16="http://schemas.microsoft.com/office/drawing/2014/main" val="2731256957"/>
                        </a:ext>
                      </a:extLst>
                    </a:gridCol>
                  </a:tblGrid>
                  <a:tr h="325179">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GEO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EIGSO</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HEO</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8600"/>
                        </a:solidFill>
                      </a:tcPr>
                    </a:tc>
                    <a:extLst>
                      <a:ext uri="{0D108BD9-81ED-4DB2-BD59-A6C34878D82A}">
                        <a16:rowId xmlns:a16="http://schemas.microsoft.com/office/drawing/2014/main" val="1323390940"/>
                      </a:ext>
                    </a:extLst>
                  </a:tr>
                  <a:tr h="454747">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72000" r="-302778" b="-430667"/>
                          </a:stretch>
                        </a:blip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4408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6792.5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7336.6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3213960"/>
                      </a:ext>
                    </a:extLst>
                  </a:tr>
                  <a:tr h="526156">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148276" r="-302778" b="-271264"/>
                          </a:stretch>
                        </a:blip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2347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1332661"/>
                      </a:ext>
                    </a:extLst>
                  </a:tr>
                  <a:tr h="526156">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251163" r="-302778" b="-174419"/>
                          </a:stretch>
                        </a:blipFill>
                      </a:tcPr>
                    </a:tc>
                    <a:tc gridSpan="3">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7789.4 m/s</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3637523"/>
                      </a:ext>
                    </a:extLst>
                  </a:tr>
                  <a:tr h="450484">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blipFill>
                          <a:blip r:embed="rId3"/>
                          <a:stretch>
                            <a:fillRect l="-347" t="-408108" r="-302778" b="-102703"/>
                          </a:stretch>
                        </a:blip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1421.0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1935.5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2005.0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430816"/>
                      </a:ext>
                    </a:extLst>
                  </a:tr>
                  <a:tr h="450484">
                    <a:tc>
                      <a:txBody>
                        <a:bodyPr/>
                        <a:lstStyle/>
                        <a:p>
                          <a:pPr algn="ctr" latinLnBrk="1">
                            <a:lnSpc>
                              <a:spcPct val="107000"/>
                            </a:lnSpc>
                            <a:spcAft>
                              <a:spcPts val="800"/>
                            </a:spcAft>
                          </a:pPr>
                          <a:r>
                            <a:rPr lang="en-US"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Propellant budget</a:t>
                          </a:r>
                          <a:endParaRPr lang="ko-KR" sz="12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1804.7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2458.1 kg</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2546.3 kg</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5902604"/>
                      </a:ext>
                    </a:extLst>
                  </a:tr>
                </a:tbl>
              </a:graphicData>
            </a:graphic>
          </p:graphicFrame>
        </mc:Fallback>
      </mc:AlternateContent>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3.1 Budgets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sp>
        <p:nvSpPr>
          <p:cNvPr id="8" name="TextBox 7">
            <a:extLst>
              <a:ext uri="{FF2B5EF4-FFF2-40B4-BE49-F238E27FC236}">
                <a16:creationId xmlns:a16="http://schemas.microsoft.com/office/drawing/2014/main" id="{51471149-CDAF-4625-A0DA-97BEF26FC2D0}"/>
              </a:ext>
            </a:extLst>
          </p:cNvPr>
          <p:cNvSpPr txBox="1"/>
          <p:nvPr/>
        </p:nvSpPr>
        <p:spPr>
          <a:xfrm>
            <a:off x="574694" y="1041241"/>
            <a:ext cx="7563463" cy="369332"/>
          </a:xfrm>
          <a:prstGeom prst="rect">
            <a:avLst/>
          </a:prstGeom>
          <a:noFill/>
        </p:spPr>
        <p:txBody>
          <a:bodyPr wrap="square" rtlCol="0">
            <a:spAutoFit/>
          </a:bodyPr>
          <a:lstStyle/>
          <a:p>
            <a:r>
              <a:rPr lang="en-US" altLang="ko-KR" sz="1800" dirty="0">
                <a:solidFill>
                  <a:schemeClr val="bg1"/>
                </a:solidFill>
                <a:latin typeface="맑은 고딕" panose="020B0503020000020004" pitchFamily="50" charset="-127"/>
                <a:ea typeface="+mj-ea"/>
                <a:cs typeface="Times New Roman" panose="02020603050405020304" pitchFamily="18" charset="0"/>
              </a:rPr>
              <a:t>Total</a:t>
            </a:r>
            <a:r>
              <a:rPr lang="ko-KR" altLang="en-US" sz="1800" dirty="0">
                <a:solidFill>
                  <a:schemeClr val="bg1"/>
                </a:solidFill>
                <a:latin typeface="맑은 고딕" panose="020B0503020000020004" pitchFamily="50" charset="-127"/>
                <a:ea typeface="+mj-ea"/>
                <a:cs typeface="Times New Roman" panose="02020603050405020304" pitchFamily="18" charset="0"/>
              </a:rPr>
              <a:t> </a:t>
            </a:r>
            <a:r>
              <a:rPr lang="en-US" altLang="ko-KR" sz="1800" dirty="0">
                <a:solidFill>
                  <a:schemeClr val="bg1"/>
                </a:solidFill>
                <a:latin typeface="맑은 고딕" panose="020B0503020000020004" pitchFamily="50" charset="-127"/>
                <a:ea typeface="+mj-ea"/>
                <a:cs typeface="Times New Roman" panose="02020603050405020304" pitchFamily="18" charset="0"/>
              </a:rPr>
              <a:t>budget</a:t>
            </a:r>
            <a:endParaRPr lang="ko-KR" altLang="en-US" sz="1800" dirty="0">
              <a:solidFill>
                <a:schemeClr val="bg1"/>
              </a:solidFill>
              <a:latin typeface="+mj-ea"/>
              <a:ea typeface="+mj-ea"/>
            </a:endParaRPr>
          </a:p>
        </p:txBody>
      </p:sp>
    </p:spTree>
    <p:extLst>
      <p:ext uri="{BB962C8B-B14F-4D97-AF65-F5344CB8AC3E}">
        <p14:creationId xmlns:p14="http://schemas.microsoft.com/office/powerpoint/2010/main" val="4203002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3.2 Hardware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pic>
        <p:nvPicPr>
          <p:cNvPr id="3" name="그림 2">
            <a:extLst>
              <a:ext uri="{FF2B5EF4-FFF2-40B4-BE49-F238E27FC236}">
                <a16:creationId xmlns:a16="http://schemas.microsoft.com/office/drawing/2014/main" id="{D96EA409-EEFA-46F7-9062-33DCCFCF3D54}"/>
              </a:ext>
            </a:extLst>
          </p:cNvPr>
          <p:cNvPicPr>
            <a:picLocks noChangeAspect="1"/>
          </p:cNvPicPr>
          <p:nvPr/>
        </p:nvPicPr>
        <p:blipFill>
          <a:blip r:embed="rId3"/>
          <a:stretch>
            <a:fillRect/>
          </a:stretch>
        </p:blipFill>
        <p:spPr>
          <a:xfrm>
            <a:off x="1026200" y="1451975"/>
            <a:ext cx="6744663" cy="2840625"/>
          </a:xfrm>
          <a:prstGeom prst="rect">
            <a:avLst/>
          </a:prstGeom>
        </p:spPr>
      </p:pic>
    </p:spTree>
    <p:extLst>
      <p:ext uri="{BB962C8B-B14F-4D97-AF65-F5344CB8AC3E}">
        <p14:creationId xmlns:p14="http://schemas.microsoft.com/office/powerpoint/2010/main" val="1197798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3.2 Hardware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mc:AlternateContent xmlns:mc="http://schemas.openxmlformats.org/markup-compatibility/2006" xmlns:a14="http://schemas.microsoft.com/office/drawing/2010/main">
        <mc:Choice Requires="a14">
          <p:graphicFrame>
            <p:nvGraphicFramePr>
              <p:cNvPr id="5" name="표 4">
                <a:extLst>
                  <a:ext uri="{FF2B5EF4-FFF2-40B4-BE49-F238E27FC236}">
                    <a16:creationId xmlns:a16="http://schemas.microsoft.com/office/drawing/2014/main" id="{D51EC110-65C6-402E-A57C-14D7CEFADBE8}"/>
                  </a:ext>
                </a:extLst>
              </p:cNvPr>
              <p:cNvGraphicFramePr>
                <a:graphicFrameLocks noGrp="1"/>
              </p:cNvGraphicFramePr>
              <p:nvPr>
                <p:extLst>
                  <p:ext uri="{D42A27DB-BD31-4B8C-83A1-F6EECF244321}">
                    <p14:modId xmlns:p14="http://schemas.microsoft.com/office/powerpoint/2010/main" val="3579696244"/>
                  </p:ext>
                </p:extLst>
              </p:nvPr>
            </p:nvGraphicFramePr>
            <p:xfrm>
              <a:off x="1438882" y="1087152"/>
              <a:ext cx="5989290" cy="3877954"/>
            </p:xfrm>
            <a:graphic>
              <a:graphicData uri="http://schemas.openxmlformats.org/drawingml/2006/table">
                <a:tbl>
                  <a:tblPr firstRow="1" firstCol="1" bandRow="1"/>
                  <a:tblGrid>
                    <a:gridCol w="1006164">
                      <a:extLst>
                        <a:ext uri="{9D8B030D-6E8A-4147-A177-3AD203B41FA5}">
                          <a16:colId xmlns:a16="http://schemas.microsoft.com/office/drawing/2014/main" val="2365731488"/>
                        </a:ext>
                      </a:extLst>
                    </a:gridCol>
                    <a:gridCol w="2449805">
                      <a:extLst>
                        <a:ext uri="{9D8B030D-6E8A-4147-A177-3AD203B41FA5}">
                          <a16:colId xmlns:a16="http://schemas.microsoft.com/office/drawing/2014/main" val="3708368964"/>
                        </a:ext>
                      </a:extLst>
                    </a:gridCol>
                    <a:gridCol w="2533321">
                      <a:extLst>
                        <a:ext uri="{9D8B030D-6E8A-4147-A177-3AD203B41FA5}">
                          <a16:colId xmlns:a16="http://schemas.microsoft.com/office/drawing/2014/main" val="3078291690"/>
                        </a:ext>
                      </a:extLst>
                    </a:gridCol>
                  </a:tblGrid>
                  <a:tr h="445372">
                    <a:tc>
                      <a:txBody>
                        <a:bodyPr/>
                        <a:lstStyle/>
                        <a:p>
                          <a:pPr algn="just">
                            <a:lnSpc>
                              <a:spcPct val="107000"/>
                            </a:lnSpc>
                          </a:pPr>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R-4D engine</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5lbf</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extLst>
                      <a:ext uri="{0D108BD9-81ED-4DB2-BD59-A6C34878D82A}">
                        <a16:rowId xmlns:a16="http://schemas.microsoft.com/office/drawing/2014/main" val="3865580238"/>
                      </a:ext>
                    </a:extLst>
                  </a:tr>
                  <a:tr h="1491286">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Thruster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b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b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b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b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42230897"/>
                      </a:ext>
                    </a:extLst>
                  </a:tr>
                  <a:tr h="509733">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Use</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Apogee motor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Orbit/attitude correction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8758814"/>
                      </a:ext>
                    </a:extLst>
                  </a:tr>
                  <a:tr h="490916">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Propellant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MMH / MON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MMH / MON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88411181"/>
                      </a:ext>
                    </a:extLst>
                  </a:tr>
                  <a:tr h="479499">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Thrust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490 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22 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71167098"/>
                      </a:ext>
                    </a:extLst>
                  </a:tr>
                  <a:tr h="461148">
                    <a:tc>
                      <a:txBody>
                        <a:bodyPr/>
                        <a:lstStyle/>
                        <a:p>
                          <a:pPr algn="ctr" fontAlgn="base" latinLnBrk="1">
                            <a:lnSpc>
                              <a:spcPct val="106000"/>
                            </a:lnSpc>
                            <a:spcAft>
                              <a:spcPts val="800"/>
                            </a:spcAft>
                          </a:pPr>
                          <a14:m>
                            <m:oMathPara xmlns:m="http://schemas.openxmlformats.org/officeDocument/2006/math">
                              <m:oMathParaPr>
                                <m:jc m:val="centerGroup"/>
                              </m:oMathParaPr>
                              <m:oMath xmlns:m="http://schemas.openxmlformats.org/officeDocument/2006/math">
                                <m:sSub>
                                  <m:sSubPr>
                                    <m:ctrlPr>
                                      <a:rPr lang="ko-KR" altLang="ko-KR" sz="1400" b="0" i="1" u="none" strike="noStrike" cap="none" smtClean="0">
                                        <a:solidFill>
                                          <a:schemeClr val="bg1"/>
                                        </a:solidFill>
                                        <a:effectLst/>
                                        <a:latin typeface="Cambria Math" panose="02040503050406030204" pitchFamily="18" charset="0"/>
                                        <a:ea typeface="+mn-ea"/>
                                        <a:cs typeface="+mn-cs"/>
                                        <a:sym typeface="Arial"/>
                                      </a:rPr>
                                    </m:ctrlPr>
                                  </m:sSubPr>
                                  <m:e>
                                    <m:r>
                                      <a:rPr lang="en-US" altLang="ko-KR" sz="1400" b="0" i="1" u="none" strike="noStrike" cap="none">
                                        <a:solidFill>
                                          <a:schemeClr val="bg1"/>
                                        </a:solidFill>
                                        <a:effectLst/>
                                        <a:latin typeface="Cambria Math" panose="02040503050406030204" pitchFamily="18" charset="0"/>
                                        <a:ea typeface="+mn-ea"/>
                                        <a:cs typeface="+mn-cs"/>
                                        <a:sym typeface="Arial"/>
                                      </a:rPr>
                                      <m:t>𝐼</m:t>
                                    </m:r>
                                  </m:e>
                                  <m:sub>
                                    <m:r>
                                      <a:rPr lang="en-US" altLang="ko-KR" sz="1400" b="0" i="1" u="none" strike="noStrike" cap="none">
                                        <a:solidFill>
                                          <a:schemeClr val="bg1"/>
                                        </a:solidFill>
                                        <a:effectLst/>
                                        <a:latin typeface="Cambria Math" panose="02040503050406030204" pitchFamily="18" charset="0"/>
                                        <a:ea typeface="+mn-ea"/>
                                        <a:cs typeface="+mn-cs"/>
                                        <a:sym typeface="Arial"/>
                                      </a:rPr>
                                      <m:t>𝑠𝑝</m:t>
                                    </m:r>
                                  </m:sub>
                                </m:sSub>
                              </m:oMath>
                            </m:oMathPara>
                          </a14:m>
                          <a:endParaRPr lang="en-US" sz="1200" kern="0" dirty="0">
                            <a:solidFill>
                              <a:schemeClr val="bg1"/>
                            </a:solidFill>
                            <a:effectLst/>
                            <a:latin typeface="굴림" panose="020B0600000101010101" pitchFamily="50" charset="-127"/>
                            <a:ea typeface="맑은 고딕" panose="020B0503020000020004" pitchFamily="50" charset="-127"/>
                            <a:cs typeface="굴림" panose="020B0600000101010101"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312 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288 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74003206"/>
                      </a:ext>
                    </a:extLst>
                  </a:tr>
                </a:tbl>
              </a:graphicData>
            </a:graphic>
          </p:graphicFrame>
        </mc:Choice>
        <mc:Fallback xmlns="">
          <p:graphicFrame>
            <p:nvGraphicFramePr>
              <p:cNvPr id="5" name="표 4">
                <a:extLst>
                  <a:ext uri="{FF2B5EF4-FFF2-40B4-BE49-F238E27FC236}">
                    <a16:creationId xmlns:a16="http://schemas.microsoft.com/office/drawing/2014/main" id="{D51EC110-65C6-402E-A57C-14D7CEFADBE8}"/>
                  </a:ext>
                </a:extLst>
              </p:cNvPr>
              <p:cNvGraphicFramePr>
                <a:graphicFrameLocks noGrp="1"/>
              </p:cNvGraphicFramePr>
              <p:nvPr>
                <p:extLst>
                  <p:ext uri="{D42A27DB-BD31-4B8C-83A1-F6EECF244321}">
                    <p14:modId xmlns:p14="http://schemas.microsoft.com/office/powerpoint/2010/main" val="3579696244"/>
                  </p:ext>
                </p:extLst>
              </p:nvPr>
            </p:nvGraphicFramePr>
            <p:xfrm>
              <a:off x="1438882" y="1087152"/>
              <a:ext cx="5989290" cy="3877954"/>
            </p:xfrm>
            <a:graphic>
              <a:graphicData uri="http://schemas.openxmlformats.org/drawingml/2006/table">
                <a:tbl>
                  <a:tblPr firstRow="1" firstCol="1" bandRow="1"/>
                  <a:tblGrid>
                    <a:gridCol w="1006164">
                      <a:extLst>
                        <a:ext uri="{9D8B030D-6E8A-4147-A177-3AD203B41FA5}">
                          <a16:colId xmlns:a16="http://schemas.microsoft.com/office/drawing/2014/main" val="2365731488"/>
                        </a:ext>
                      </a:extLst>
                    </a:gridCol>
                    <a:gridCol w="2449805">
                      <a:extLst>
                        <a:ext uri="{9D8B030D-6E8A-4147-A177-3AD203B41FA5}">
                          <a16:colId xmlns:a16="http://schemas.microsoft.com/office/drawing/2014/main" val="3708368964"/>
                        </a:ext>
                      </a:extLst>
                    </a:gridCol>
                    <a:gridCol w="2533321">
                      <a:extLst>
                        <a:ext uri="{9D8B030D-6E8A-4147-A177-3AD203B41FA5}">
                          <a16:colId xmlns:a16="http://schemas.microsoft.com/office/drawing/2014/main" val="3078291690"/>
                        </a:ext>
                      </a:extLst>
                    </a:gridCol>
                  </a:tblGrid>
                  <a:tr h="445372">
                    <a:tc>
                      <a:txBody>
                        <a:bodyPr/>
                        <a:lstStyle/>
                        <a:p>
                          <a:pPr algn="just">
                            <a:lnSpc>
                              <a:spcPct val="107000"/>
                            </a:lnSpc>
                          </a:pPr>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R-4D engine</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5lbf</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F8600"/>
                        </a:solidFill>
                      </a:tcPr>
                    </a:tc>
                    <a:extLst>
                      <a:ext uri="{0D108BD9-81ED-4DB2-BD59-A6C34878D82A}">
                        <a16:rowId xmlns:a16="http://schemas.microsoft.com/office/drawing/2014/main" val="3865580238"/>
                      </a:ext>
                    </a:extLst>
                  </a:tr>
                  <a:tr h="1491286">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Thruster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b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b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b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b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42230897"/>
                      </a:ext>
                    </a:extLst>
                  </a:tr>
                  <a:tr h="509733">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Use</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Apogee motor</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Orbit/attitude correction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8758814"/>
                      </a:ext>
                    </a:extLst>
                  </a:tr>
                  <a:tr h="490916">
                    <a:tc>
                      <a:txBody>
                        <a:bodyPr/>
                        <a:lstStyle/>
                        <a:p>
                          <a:pPr algn="ctr" fontAlgn="base" latinLnBrk="1">
                            <a:lnSpc>
                              <a:spcPct val="106000"/>
                            </a:lnSpc>
                            <a:spcAft>
                              <a:spcPts val="800"/>
                            </a:spcAft>
                          </a:pPr>
                          <a:r>
                            <a:rPr lang="en-US" sz="1200" b="1"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Propellant</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MMH / MON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MMH / MON</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88411181"/>
                      </a:ext>
                    </a:extLst>
                  </a:tr>
                  <a:tr h="479499">
                    <a:tc>
                      <a:txBody>
                        <a:bodyPr/>
                        <a:lstStyle/>
                        <a:p>
                          <a:pPr algn="ctr" fontAlgn="base" latinLnBrk="1">
                            <a:lnSpc>
                              <a:spcPct val="106000"/>
                            </a:lnSpc>
                            <a:spcAft>
                              <a:spcPts val="800"/>
                            </a:spcAft>
                          </a:pPr>
                          <a:r>
                            <a:rPr lang="en-US" sz="1200" b="1"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Thrust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AB40"/>
                        </a:solid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490 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22 N</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71167098"/>
                      </a:ext>
                    </a:extLst>
                  </a:tr>
                  <a:tr h="461148">
                    <a:tc>
                      <a:txBody>
                        <a:bodyPr/>
                        <a:lstStyle/>
                        <a:p>
                          <a:endParaRPr lang="ko-K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4"/>
                          <a:stretch>
                            <a:fillRect l="-1212" t="-739474" r="-496970" b="-2632"/>
                          </a:stretch>
                        </a:blip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312 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ctr" fontAlgn="base" latinLnBrk="1">
                            <a:lnSpc>
                              <a:spcPct val="106000"/>
                            </a:lnSpc>
                            <a:spcAft>
                              <a:spcPts val="800"/>
                            </a:spcAft>
                          </a:pPr>
                          <a:r>
                            <a:rPr lang="en-US" sz="1200" kern="0" dirty="0">
                              <a:solidFill>
                                <a:schemeClr val="bg1"/>
                              </a:solidFill>
                              <a:effectLst/>
                              <a:latin typeface="맑은 고딕" panose="020B0503020000020004" pitchFamily="50" charset="-127"/>
                              <a:ea typeface="맑은 고딕" panose="020B0503020000020004" pitchFamily="50" charset="-127"/>
                              <a:cs typeface="굴림" panose="020B0600000101010101" pitchFamily="50" charset="-127"/>
                            </a:rPr>
                            <a:t>288 s</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74003206"/>
                      </a:ext>
                    </a:extLst>
                  </a:tr>
                </a:tbl>
              </a:graphicData>
            </a:graphic>
          </p:graphicFrame>
        </mc:Fallback>
      </mc:AlternateContent>
      <p:pic>
        <p:nvPicPr>
          <p:cNvPr id="11" name="그림 10" descr="프로젝터이(가) 표시된 사진&#10;&#10;자동 생성된 설명">
            <a:extLst>
              <a:ext uri="{FF2B5EF4-FFF2-40B4-BE49-F238E27FC236}">
                <a16:creationId xmlns:a16="http://schemas.microsoft.com/office/drawing/2014/main" id="{4984EFFD-F352-4901-B605-153F15B4BB4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452726" y="1532651"/>
            <a:ext cx="2434578" cy="1492560"/>
          </a:xfrm>
          <a:prstGeom prst="rect">
            <a:avLst/>
          </a:prstGeom>
          <a:noFill/>
        </p:spPr>
      </p:pic>
      <p:pic>
        <p:nvPicPr>
          <p:cNvPr id="12" name="그림 11">
            <a:extLst>
              <a:ext uri="{FF2B5EF4-FFF2-40B4-BE49-F238E27FC236}">
                <a16:creationId xmlns:a16="http://schemas.microsoft.com/office/drawing/2014/main" id="{DD5AD6CE-4621-46CA-B608-8B831FCCBFD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890430" y="1526301"/>
            <a:ext cx="2537742" cy="1492559"/>
          </a:xfrm>
          <a:prstGeom prst="rect">
            <a:avLst/>
          </a:prstGeom>
          <a:noFill/>
        </p:spPr>
      </p:pic>
    </p:spTree>
    <p:extLst>
      <p:ext uri="{BB962C8B-B14F-4D97-AF65-F5344CB8AC3E}">
        <p14:creationId xmlns:p14="http://schemas.microsoft.com/office/powerpoint/2010/main" val="41315046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574696" y="510575"/>
            <a:ext cx="8258529" cy="941400"/>
          </a:xfrm>
          <a:prstGeom prst="rect">
            <a:avLst/>
          </a:prstGeom>
        </p:spPr>
        <p:txBody>
          <a:bodyPr spcFirstLastPara="1" wrap="square" lIns="91425" tIns="91425" rIns="91425" bIns="91425" anchor="t" anchorCtr="0">
            <a:noAutofit/>
          </a:bodyPr>
          <a:lstStyle/>
          <a:p>
            <a:pPr algn="just" latinLnBrk="1">
              <a:lnSpc>
                <a:spcPct val="107000"/>
              </a:lnSpc>
              <a:spcAft>
                <a:spcPts val="800"/>
              </a:spcAft>
            </a:pPr>
            <a:r>
              <a:rPr lang="en-US" altLang="ko-KR" sz="1900" b="1" kern="100" dirty="0">
                <a:effectLst/>
                <a:latin typeface="맑은 고딕" panose="020B0503020000020004" pitchFamily="50" charset="-127"/>
                <a:ea typeface="맑은 고딕" panose="020B0503020000020004" pitchFamily="50" charset="-127"/>
                <a:cs typeface="Times New Roman" panose="02020603050405020304" pitchFamily="18" charset="0"/>
              </a:rPr>
              <a:t>3.2 Hardware for Propellant Subsystem</a:t>
            </a:r>
            <a:endParaRPr lang="ko-KR" altLang="ko-KR" sz="19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4" name="TextBox 3">
            <a:extLst>
              <a:ext uri="{FF2B5EF4-FFF2-40B4-BE49-F238E27FC236}">
                <a16:creationId xmlns:a16="http://schemas.microsoft.com/office/drawing/2014/main" id="{DB9FB585-F5CA-4ED1-8B6D-72CAD9231337}"/>
              </a:ext>
            </a:extLst>
          </p:cNvPr>
          <p:cNvSpPr txBox="1"/>
          <p:nvPr/>
        </p:nvSpPr>
        <p:spPr>
          <a:xfrm>
            <a:off x="7176053" y="3412102"/>
            <a:ext cx="89452" cy="307777"/>
          </a:xfrm>
          <a:prstGeom prst="rect">
            <a:avLst/>
          </a:prstGeom>
          <a:noFill/>
        </p:spPr>
        <p:txBody>
          <a:bodyPr wrap="square" rtlCol="0">
            <a:spAutoFit/>
          </a:bodyPr>
          <a:lstStyle/>
          <a:p>
            <a:r>
              <a:rPr lang="en-US" altLang="ko-KR" dirty="0"/>
              <a:t>L</a:t>
            </a:r>
            <a:endParaRPr lang="ko-KR" altLang="en-US" dirty="0"/>
          </a:p>
        </p:txBody>
      </p:sp>
      <p:pic>
        <p:nvPicPr>
          <p:cNvPr id="3" name="그림 2">
            <a:extLst>
              <a:ext uri="{FF2B5EF4-FFF2-40B4-BE49-F238E27FC236}">
                <a16:creationId xmlns:a16="http://schemas.microsoft.com/office/drawing/2014/main" id="{CEBC4EBD-009D-497B-9CA0-749DA700C7FA}"/>
              </a:ext>
            </a:extLst>
          </p:cNvPr>
          <p:cNvPicPr>
            <a:picLocks noChangeAspect="1"/>
          </p:cNvPicPr>
          <p:nvPr/>
        </p:nvPicPr>
        <p:blipFill>
          <a:blip r:embed="rId3"/>
          <a:stretch>
            <a:fillRect/>
          </a:stretch>
        </p:blipFill>
        <p:spPr>
          <a:xfrm>
            <a:off x="1505321" y="1020931"/>
            <a:ext cx="5536823" cy="3879543"/>
          </a:xfrm>
          <a:prstGeom prst="rect">
            <a:avLst/>
          </a:prstGeom>
        </p:spPr>
      </p:pic>
    </p:spTree>
    <p:extLst>
      <p:ext uri="{BB962C8B-B14F-4D97-AF65-F5344CB8AC3E}">
        <p14:creationId xmlns:p14="http://schemas.microsoft.com/office/powerpoint/2010/main" val="632416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1"/>
          <p:cNvSpPr txBox="1">
            <a:spLocks noGrp="1"/>
          </p:cNvSpPr>
          <p:nvPr>
            <p:ph type="title"/>
          </p:nvPr>
        </p:nvSpPr>
        <p:spPr>
          <a:xfrm>
            <a:off x="938499" y="445025"/>
            <a:ext cx="6448619"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latin typeface="Arial"/>
                <a:ea typeface="Arial"/>
                <a:cs typeface="Arial"/>
                <a:sym typeface="Arial"/>
              </a:rPr>
              <a:t>4.</a:t>
            </a:r>
            <a:r>
              <a:rPr lang="en-US" sz="2800" b="1">
                <a:solidFill>
                  <a:schemeClr val="accent1"/>
                </a:solidFill>
                <a:latin typeface="Arial"/>
                <a:ea typeface="Arial"/>
                <a:cs typeface="Arial"/>
                <a:sym typeface="Arial"/>
              </a:rPr>
              <a:t> </a:t>
            </a:r>
            <a:r>
              <a:rPr lang="en-US" sz="2800" b="1">
                <a:latin typeface="Arial"/>
                <a:ea typeface="Arial"/>
                <a:cs typeface="Arial"/>
                <a:sym typeface="Arial"/>
              </a:rPr>
              <a:t>Guidance, Navigation &amp; Control Subsystem</a:t>
            </a:r>
            <a:endParaRPr sz="2800" b="1">
              <a:solidFill>
                <a:schemeClr val="accent1"/>
              </a:solidFill>
              <a:latin typeface="Arial"/>
              <a:ea typeface="Arial"/>
              <a:cs typeface="Arial"/>
              <a:sym typeface="Arial"/>
            </a:endParaRPr>
          </a:p>
        </p:txBody>
      </p:sp>
      <p:sp>
        <p:nvSpPr>
          <p:cNvPr id="26" name="Google Shape;26;p1"/>
          <p:cNvSpPr txBox="1">
            <a:spLocks noGrp="1"/>
          </p:cNvSpPr>
          <p:nvPr>
            <p:ph type="body" idx="1"/>
          </p:nvPr>
        </p:nvSpPr>
        <p:spPr>
          <a:xfrm>
            <a:off x="938500" y="1490309"/>
            <a:ext cx="5729428" cy="3070203"/>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1600"/>
              </a:spcBef>
              <a:spcAft>
                <a:spcPts val="0"/>
              </a:spcAft>
              <a:buSzPts val="1400"/>
              <a:buNone/>
            </a:pPr>
            <a:r>
              <a:rPr lang="en-US" sz="1800" b="1">
                <a:latin typeface="Malgun Gothic"/>
                <a:ea typeface="Malgun Gothic"/>
                <a:cs typeface="Malgun Gothic"/>
                <a:sym typeface="Malgun Gothic"/>
              </a:rPr>
              <a:t>4.1 GNC Objective</a:t>
            </a:r>
            <a:endParaRPr sz="1800" b="1">
              <a:latin typeface="Malgun Gothic"/>
              <a:ea typeface="Malgun Gothic"/>
              <a:cs typeface="Malgun Gothic"/>
              <a:sym typeface="Malgun Gothic"/>
            </a:endParaRPr>
          </a:p>
          <a:p>
            <a:pPr marL="139700" lvl="0" indent="0" algn="l" rtl="0">
              <a:lnSpc>
                <a:spcPct val="100000"/>
              </a:lnSpc>
              <a:spcBef>
                <a:spcPts val="1600"/>
              </a:spcBef>
              <a:spcAft>
                <a:spcPts val="0"/>
              </a:spcAft>
              <a:buSzPts val="1400"/>
              <a:buNone/>
            </a:pPr>
            <a:endParaRPr/>
          </a:p>
          <a:p>
            <a:pPr marL="457200" lvl="0" indent="-317500" algn="l" rtl="0">
              <a:lnSpc>
                <a:spcPct val="150000"/>
              </a:lnSpc>
              <a:spcBef>
                <a:spcPts val="0"/>
              </a:spcBef>
              <a:spcAft>
                <a:spcPts val="0"/>
              </a:spcAft>
              <a:buSzPts val="1400"/>
              <a:buChar char="●"/>
            </a:pPr>
            <a:r>
              <a:rPr lang="en-US" sz="1200">
                <a:latin typeface="Malgun Gothic"/>
                <a:ea typeface="Malgun Gothic"/>
                <a:cs typeface="Malgun Gothic"/>
                <a:sym typeface="Malgun Gothic"/>
              </a:rPr>
              <a:t>1.  실시간으로 위성의 위치 및 속도를 측정하고 그 값이 원하는 궤도에서 계산되는 위치, 속도 값과 차이가 있을 경우 추력을 통해 주기적으로 제어를 진행하여 위성이 목적한 궤도를 정상적으로 전파할 수 있도록 한다. </a:t>
            </a:r>
            <a:endParaRPr/>
          </a:p>
          <a:p>
            <a:pPr marL="457200" lvl="0" indent="-228600" algn="l" rtl="0">
              <a:lnSpc>
                <a:spcPct val="150000"/>
              </a:lnSpc>
              <a:spcBef>
                <a:spcPts val="1000"/>
              </a:spcBef>
              <a:spcAft>
                <a:spcPts val="0"/>
              </a:spcAft>
              <a:buSzPts val="1400"/>
              <a:buNone/>
            </a:pPr>
            <a:endParaRPr sz="1200">
              <a:latin typeface="Malgun Gothic"/>
              <a:ea typeface="Malgun Gothic"/>
              <a:cs typeface="Malgun Gothic"/>
              <a:sym typeface="Malgun Gothic"/>
            </a:endParaRPr>
          </a:p>
          <a:p>
            <a:pPr marL="457200" lvl="0" indent="-317500" algn="l" rtl="0">
              <a:lnSpc>
                <a:spcPct val="150000"/>
              </a:lnSpc>
              <a:spcBef>
                <a:spcPts val="1000"/>
              </a:spcBef>
              <a:spcAft>
                <a:spcPts val="0"/>
              </a:spcAft>
              <a:buSzPts val="1400"/>
              <a:buChar char="●"/>
            </a:pPr>
            <a:r>
              <a:rPr lang="en-US" sz="1200">
                <a:latin typeface="Malgun Gothic"/>
                <a:ea typeface="Malgun Gothic"/>
                <a:cs typeface="Malgun Gothic"/>
                <a:sym typeface="Malgun Gothic"/>
              </a:rPr>
              <a:t>2.  위성의 위치 결정 및 궤도 결정의 정밀도, 방송궤도력 갱신 주기는 위성 항법 시스템의 위치측정 정밀도를 달성하는데 적합한 수준이어야 한다.  </a:t>
            </a:r>
            <a:endParaRPr sz="1200">
              <a:latin typeface="Malgun Gothic"/>
              <a:ea typeface="Malgun Gothic"/>
              <a:cs typeface="Malgun Gothic"/>
              <a:sym typeface="Malgun Gothic"/>
            </a:endParaRPr>
          </a:p>
          <a:p>
            <a:pPr marL="139700" lvl="0" indent="0" algn="l" rtl="0">
              <a:lnSpc>
                <a:spcPct val="100000"/>
              </a:lnSpc>
              <a:spcBef>
                <a:spcPts val="1000"/>
              </a:spcBef>
              <a:spcAft>
                <a:spcPts val="0"/>
              </a:spcAft>
              <a:buSzPts val="1400"/>
              <a:buNone/>
            </a:pPr>
            <a:endParaRPr/>
          </a:p>
        </p:txBody>
      </p:sp>
      <p:cxnSp>
        <p:nvCxnSpPr>
          <p:cNvPr id="27" name="Google Shape;27;p1"/>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sp>
        <p:nvSpPr>
          <p:cNvPr id="32" name="Google Shape;32;p2"/>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latin typeface="Arial"/>
              <a:ea typeface="Arial"/>
              <a:cs typeface="Arial"/>
              <a:sym typeface="Arial"/>
            </a:endParaRPr>
          </a:p>
        </p:txBody>
      </p:sp>
      <p:cxnSp>
        <p:nvCxnSpPr>
          <p:cNvPr id="33" name="Google Shape;33;p2"/>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34" name="Google Shape;34;p2"/>
          <p:cNvSpPr txBox="1"/>
          <p:nvPr/>
        </p:nvSpPr>
        <p:spPr>
          <a:xfrm>
            <a:off x="774113" y="1051799"/>
            <a:ext cx="7172100" cy="3838699"/>
          </a:xfrm>
          <a:prstGeom prst="rect">
            <a:avLst/>
          </a:prstGeom>
          <a:noFill/>
          <a:ln>
            <a:noFill/>
          </a:ln>
        </p:spPr>
        <p:txBody>
          <a:bodyPr spcFirstLastPara="1" wrap="square" lIns="91425" tIns="91425" rIns="91425" bIns="91425" anchor="t" anchorCtr="0">
            <a:noAutofit/>
          </a:bodyPr>
          <a:lstStyle/>
          <a:p>
            <a:pPr marL="139700" marR="0" lvl="0" indent="0" algn="l" rtl="0">
              <a:lnSpc>
                <a:spcPct val="100000"/>
              </a:lnSpc>
              <a:spcBef>
                <a:spcPts val="160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a:p>
            <a:pPr marL="139700" marR="0" lvl="0" indent="0" algn="l" rtl="0">
              <a:lnSpc>
                <a:spcPct val="100000"/>
              </a:lnSpc>
              <a:spcBef>
                <a:spcPts val="160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4.2 GNC </a:t>
            </a:r>
            <a:endParaRPr/>
          </a:p>
          <a:p>
            <a:pPr marL="139700" marR="0" lvl="0" indent="0" algn="l" rtl="0">
              <a:lnSpc>
                <a:spcPct val="100000"/>
              </a:lnSpc>
              <a:spcBef>
                <a:spcPts val="160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Requirements</a:t>
            </a:r>
            <a:endParaRPr/>
          </a:p>
          <a:p>
            <a:pPr marL="0" marR="0" lvl="0" indent="0" algn="l" rtl="0">
              <a:lnSpc>
                <a:spcPct val="150000"/>
              </a:lnSpc>
              <a:spcBef>
                <a:spcPts val="0"/>
              </a:spcBef>
              <a:spcAft>
                <a:spcPts val="1000"/>
              </a:spcAft>
              <a:buNone/>
            </a:pPr>
            <a:endParaRPr sz="1400" b="0" i="0" u="none" strike="noStrike" cap="none">
              <a:solidFill>
                <a:schemeClr val="lt1"/>
              </a:solidFill>
              <a:latin typeface="Arial"/>
              <a:ea typeface="Arial"/>
              <a:cs typeface="Arial"/>
              <a:sym typeface="Arial"/>
            </a:endParaRPr>
          </a:p>
        </p:txBody>
      </p:sp>
      <p:pic>
        <p:nvPicPr>
          <p:cNvPr id="35" name="Google Shape;35;p2" descr="테이블이(가) 표시된 사진&#10;&#10;자동 생성된 설명"/>
          <p:cNvPicPr preferRelativeResize="0"/>
          <p:nvPr/>
        </p:nvPicPr>
        <p:blipFill rotWithShape="1">
          <a:blip r:embed="rId3">
            <a:alphaModFix/>
          </a:blip>
          <a:srcRect/>
          <a:stretch/>
        </p:blipFill>
        <p:spPr>
          <a:xfrm>
            <a:off x="3332374" y="1271562"/>
            <a:ext cx="5695950" cy="3733800"/>
          </a:xfrm>
          <a:prstGeom prst="rect">
            <a:avLst/>
          </a:prstGeom>
          <a:noFill/>
          <a:ln>
            <a:noFill/>
          </a:ln>
        </p:spPr>
      </p:pic>
      <p:sp>
        <p:nvSpPr>
          <p:cNvPr id="36" name="Google Shape;36;p2"/>
          <p:cNvSpPr txBox="1"/>
          <p:nvPr/>
        </p:nvSpPr>
        <p:spPr>
          <a:xfrm>
            <a:off x="3332374" y="1684961"/>
            <a:ext cx="5695950" cy="760288"/>
          </a:xfrm>
          <a:prstGeom prst="rect">
            <a:avLst/>
          </a:prstGeom>
          <a:noFill/>
          <a:ln w="76200"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 name="Google Shape;37;p2"/>
          <p:cNvSpPr txBox="1"/>
          <p:nvPr/>
        </p:nvSpPr>
        <p:spPr>
          <a:xfrm>
            <a:off x="3332374" y="2491263"/>
            <a:ext cx="5695950" cy="1600438"/>
          </a:xfrm>
          <a:prstGeom prst="rect">
            <a:avLst/>
          </a:prstGeom>
          <a:noFill/>
          <a:ln w="76200" cap="flat" cmpd="sng">
            <a:solidFill>
              <a:srgbClr val="0070C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 name="Google Shape;38;p2"/>
          <p:cNvSpPr txBox="1"/>
          <p:nvPr/>
        </p:nvSpPr>
        <p:spPr>
          <a:xfrm>
            <a:off x="3332374" y="4097269"/>
            <a:ext cx="5695950" cy="954107"/>
          </a:xfrm>
          <a:prstGeom prst="rect">
            <a:avLst/>
          </a:prstGeom>
          <a:noFill/>
          <a:ln w="76200" cap="flat" cmpd="sng">
            <a:solidFill>
              <a:srgbClr val="00B05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44" name="Google Shape;44;p3"/>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45" name="Google Shape;45;p3"/>
          <p:cNvSpPr txBox="1"/>
          <p:nvPr/>
        </p:nvSpPr>
        <p:spPr>
          <a:xfrm>
            <a:off x="938500" y="2103600"/>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1. Navigation and Orbit-related top-level Function and Requirement</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1) </a:t>
            </a:r>
            <a:r>
              <a:rPr lang="en-US" sz="1400" b="1" i="0" u="none" strike="noStrike" cap="none">
                <a:solidFill>
                  <a:srgbClr val="C00000"/>
                </a:solidFill>
                <a:latin typeface="Montserrat"/>
                <a:ea typeface="Montserrat"/>
                <a:cs typeface="Montserrat"/>
                <a:sym typeface="Montserrat"/>
              </a:rPr>
              <a:t>(Pointing) </a:t>
            </a:r>
            <a:r>
              <a:rPr lang="en-US" sz="1400" b="0" i="0" u="none" strike="noStrike" cap="none">
                <a:solidFill>
                  <a:srgbClr val="FFFFFF"/>
                </a:solidFill>
                <a:latin typeface="Montserrat"/>
                <a:ea typeface="Montserrat"/>
                <a:cs typeface="Montserrat"/>
                <a:sym typeface="Montserrat"/>
              </a:rPr>
              <a:t>SLR 측정의 정밀도를 높이기 위해 LRA가 지구 중심 방향을 지향해야 한다.</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2) </a:t>
            </a:r>
            <a:r>
              <a:rPr lang="en-US" sz="1400" b="1" i="0" u="none" strike="noStrike" cap="none">
                <a:solidFill>
                  <a:srgbClr val="C00000"/>
                </a:solidFill>
                <a:latin typeface="Montserrat"/>
                <a:ea typeface="Montserrat"/>
                <a:cs typeface="Montserrat"/>
                <a:sym typeface="Montserrat"/>
              </a:rPr>
              <a:t>(Schedule) </a:t>
            </a:r>
            <a:r>
              <a:rPr lang="en-US" sz="1400" b="0" i="0" u="none" strike="noStrike" cap="none">
                <a:solidFill>
                  <a:srgbClr val="FFFFFF"/>
                </a:solidFill>
                <a:latin typeface="Montserrat"/>
                <a:ea typeface="Montserrat"/>
                <a:cs typeface="Montserrat"/>
                <a:sym typeface="Montserrat"/>
              </a:rPr>
              <a:t>항법 시스템의 성능유지를 위해 궤도 조정의 주기를 최대한 크게 설정한다.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3) </a:t>
            </a:r>
            <a:r>
              <a:rPr lang="en-US" sz="1400" b="1" i="0" u="none" strike="noStrike" cap="none">
                <a:solidFill>
                  <a:srgbClr val="C00000"/>
                </a:solidFill>
                <a:latin typeface="Montserrat"/>
                <a:ea typeface="Montserrat"/>
                <a:cs typeface="Montserrat"/>
                <a:sym typeface="Montserrat"/>
              </a:rPr>
              <a:t>(Constellation and Orbit Maintenance) </a:t>
            </a:r>
            <a:r>
              <a:rPr lang="en-US" sz="1400" b="0" i="0" u="none" strike="noStrike" cap="none">
                <a:solidFill>
                  <a:srgbClr val="FFFFFF"/>
                </a:solidFill>
                <a:latin typeface="Montserrat"/>
                <a:ea typeface="Montserrat"/>
                <a:cs typeface="Montserrat"/>
                <a:sym typeface="Montserrat"/>
              </a:rPr>
              <a:t>9개의 위성을 운용할 때 PDOP를 최대한 줄이는 위성군인 1 GEO 4 IGSO 4 HEO를 구성한다. 각각의 위성에 대하여 North-South Station Keeping, East-West Station Keeping을 모두 진행한다.</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4) </a:t>
            </a:r>
            <a:r>
              <a:rPr lang="en-US" sz="1400" b="1" i="0" u="none" strike="noStrike" cap="none">
                <a:solidFill>
                  <a:srgbClr val="C00000"/>
                </a:solidFill>
                <a:latin typeface="Montserrat"/>
                <a:ea typeface="Montserrat"/>
                <a:cs typeface="Montserrat"/>
                <a:sym typeface="Montserrat"/>
              </a:rPr>
              <a:t>(Orbit Determination) </a:t>
            </a:r>
            <a:r>
              <a:rPr lang="en-US" sz="1400" b="0" i="0" u="none" strike="noStrike" cap="none">
                <a:solidFill>
                  <a:srgbClr val="FFFFFF"/>
                </a:solidFill>
                <a:latin typeface="Montserrat"/>
                <a:ea typeface="Montserrat"/>
                <a:cs typeface="Montserrat"/>
                <a:sym typeface="Montserrat"/>
              </a:rPr>
              <a:t>중궤도보다 아래 궤도를 도는 위성들은 위성의 위치 측정을 GPS satellites을 통해 효과적으로 수행할 수 있다. 그러나</a:t>
            </a:r>
            <a:r>
              <a:rPr lang="en-US" sz="1400" b="0" i="0" u="none" strike="noStrike" cap="none">
                <a:solidFill>
                  <a:srgbClr val="FFFF00"/>
                </a:solidFill>
                <a:latin typeface="Montserrat"/>
                <a:ea typeface="Montserrat"/>
                <a:cs typeface="Montserrat"/>
                <a:sym typeface="Montserrat"/>
              </a:rPr>
              <a:t> KPS의 위성들은 모두 GPS satellites보다 높은 궤도에 위치하므로 자체적인 위치측정을 수행해야만 한다.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46" name="Google Shape;46;p3"/>
          <p:cNvSpPr txBox="1"/>
          <p:nvPr/>
        </p:nvSpPr>
        <p:spPr>
          <a:xfrm>
            <a:off x="938500" y="1518825"/>
            <a:ext cx="317116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chemeClr val="lt1"/>
                </a:solidFill>
                <a:latin typeface="Malgun Gothic"/>
                <a:ea typeface="Malgun Gothic"/>
                <a:cs typeface="Malgun Gothic"/>
                <a:sym typeface="Malgun Gothic"/>
              </a:rPr>
              <a:t>4.3 GNC Design Step</a:t>
            </a:r>
            <a:endParaRPr sz="1800" b="0" i="0" u="none" strike="noStrike" cap="none">
              <a:solidFill>
                <a:schemeClr val="lt1"/>
              </a:solidFill>
              <a:latin typeface="Malgun Gothic"/>
              <a:ea typeface="Malgun Gothic"/>
              <a:cs typeface="Malgun Gothic"/>
              <a:sym typeface="Malgun Gothic"/>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4"/>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52" name="Google Shape;52;p4"/>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53" name="Google Shape;53;p4"/>
          <p:cNvSpPr txBox="1"/>
          <p:nvPr/>
        </p:nvSpPr>
        <p:spPr>
          <a:xfrm>
            <a:off x="938500" y="2103600"/>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2. Pointing Accuracy Requirement</a:t>
            </a:r>
            <a:endParaRPr/>
          </a:p>
          <a:p>
            <a:pPr marL="0" marR="0" lvl="0" indent="0" algn="l" rtl="0">
              <a:lnSpc>
                <a:spcPct val="100000"/>
              </a:lnSpc>
              <a:spcBef>
                <a:spcPts val="0"/>
              </a:spcBef>
              <a:spcAft>
                <a:spcPts val="0"/>
              </a:spcAft>
              <a:buNone/>
            </a:pPr>
            <a:r>
              <a:rPr lang="en-US" sz="1400" b="0" i="0" u="none" strike="noStrike" cap="none">
                <a:solidFill>
                  <a:srgbClr val="FFFFFF"/>
                </a:solidFill>
                <a:latin typeface="Montserrat"/>
                <a:ea typeface="Montserrat"/>
                <a:cs typeface="Montserrat"/>
                <a:sym typeface="Montserrat"/>
              </a:rPr>
              <a:t>1) KPS의 위성은 Pointing Accuracy를 0.1°내로 유지한다.</a:t>
            </a:r>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3. Determine Orbit Control or Maintenance Needed</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1) GEO, EIGSO, HEO 3가지 궤도에서 위성이 받는 여러가지 섭동력의 영향을 보상해주기 위하여 Station Keeping(Orbit Maintenance)이 필요하다.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4. Autonomous vs Ground-based Orbit Control</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1) QZSS와 마찬가지로 Onboard Orbit Propagator를 사용한다. Orbit Control에 필요한 Delta V 정보를 지상국으로부터 수신하면 </a:t>
            </a:r>
            <a:r>
              <a:rPr lang="en-US" sz="1400" b="0" i="0" u="none" strike="noStrike" cap="none">
                <a:solidFill>
                  <a:srgbClr val="C00000"/>
                </a:solidFill>
                <a:latin typeface="Montserrat"/>
                <a:ea typeface="Montserrat"/>
                <a:cs typeface="Montserrat"/>
                <a:sym typeface="Montserrat"/>
              </a:rPr>
              <a:t>ACFS</a:t>
            </a:r>
            <a:r>
              <a:rPr lang="en-US" sz="1400" b="0" i="0" u="none" strike="noStrike" cap="none">
                <a:solidFill>
                  <a:srgbClr val="FFFFFF"/>
                </a:solidFill>
                <a:latin typeface="Montserrat"/>
                <a:ea typeface="Montserrat"/>
                <a:cs typeface="Montserrat"/>
                <a:sym typeface="Montserrat"/>
              </a:rPr>
              <a:t>가 자동으로 Orbit Control을 수행하게 된다. </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54" name="Google Shape;54;p4"/>
          <p:cNvSpPr txBox="1"/>
          <p:nvPr/>
        </p:nvSpPr>
        <p:spPr>
          <a:xfrm>
            <a:off x="938500" y="1518825"/>
            <a:ext cx="317116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4.3 GNC Design Step</a:t>
            </a:r>
            <a:endParaRPr sz="1800" b="0" i="0" u="none" strike="noStrike" cap="none">
              <a:solidFill>
                <a:srgbClr val="FFFFFF"/>
              </a:solidFill>
              <a:latin typeface="Malgun Gothic"/>
              <a:ea typeface="Malgun Gothic"/>
              <a:cs typeface="Malgun Gothic"/>
              <a:sym typeface="Malgun Gothic"/>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5"/>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60" name="Google Shape;60;p5"/>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61" name="Google Shape;61;p5"/>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5. Determine where Navigation Data is needed</a:t>
            </a:r>
            <a:endParaRPr/>
          </a:p>
          <a:p>
            <a:pPr marL="0" marR="0" lvl="0" indent="0" algn="l" rtl="0">
              <a:lnSpc>
                <a:spcPct val="100000"/>
              </a:lnSpc>
              <a:spcBef>
                <a:spcPts val="0"/>
              </a:spcBef>
              <a:spcAft>
                <a:spcPts val="0"/>
              </a:spcAft>
              <a:buClr>
                <a:srgbClr val="000000"/>
              </a:buClr>
              <a:buSzPts val="1400"/>
              <a:buFont typeface="Arial"/>
              <a:buNone/>
            </a:pPr>
            <a:endParaRPr sz="1400" b="0" i="0" u="sng"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Montserrat"/>
                <a:ea typeface="Montserrat"/>
                <a:cs typeface="Montserrat"/>
                <a:sym typeface="Montserrat"/>
              </a:rPr>
              <a:t>1) 실시간 정밀궤도력 (Real-time Precise Ephemeris)</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하나의 위성에 대해 4개의 MS에서 수집한 항법신호와 ISL을 통한 데이터를 바탕으로 MCS에서 빠르게 확장칼만필터 추정기법을 사용하여 계산한 결과</a:t>
            </a: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Montserrat"/>
                <a:ea typeface="Montserrat"/>
                <a:cs typeface="Montserrat"/>
                <a:sym typeface="Montserrat"/>
              </a:rPr>
              <a:t>2) 방송궤도력 (Broadcast Ephemeris)</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실시간 정밀궤도력을 바탕으로 MCS에서 위성으로 궤도력을 보내주면 위성이 그것을 일반사용자에게 송신한다.</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 </a:t>
            </a:r>
            <a:endParaRPr/>
          </a:p>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Montserrat"/>
                <a:ea typeface="Montserrat"/>
                <a:cs typeface="Montserrat"/>
                <a:sym typeface="Montserrat"/>
              </a:rPr>
              <a:t>3) 후처리 정밀궤도력 (Post-processing Precise Ephemeris)</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실시간의 경우와 다르게 일괄처리방식 추정기법을 사용한다. 추가적으로 SLR data도 계산에 포함한다. 완성된 Final product는 MCS 자체 Database에 저장되고 위성 Orbit Maneuver Delta V를 계산하는데 활용된다.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62" name="Google Shape;62;p5"/>
          <p:cNvSpPr txBox="1"/>
          <p:nvPr/>
        </p:nvSpPr>
        <p:spPr>
          <a:xfrm>
            <a:off x="938500" y="1518825"/>
            <a:ext cx="317116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4.3 GNC Design Step</a:t>
            </a:r>
            <a:endParaRPr sz="1800" b="0" i="0" u="none" strike="noStrike" cap="none">
              <a:solidFill>
                <a:srgbClr val="FFFFFF"/>
              </a:solidFill>
              <a:latin typeface="Malgun Gothic"/>
              <a:ea typeface="Malgun Gothic"/>
              <a:cs typeface="Malgun Gothic"/>
              <a:sym typeface="Malgun Gothic"/>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6"/>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68" name="Google Shape;68;p6"/>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69" name="Google Shape;69;p6"/>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6. Autonomous vs Ground-based Navigation Trade</a:t>
            </a:r>
            <a:endParaRPr/>
          </a:p>
          <a:p>
            <a:pPr marL="0" marR="0" lvl="0" indent="0" algn="l" rtl="0">
              <a:lnSpc>
                <a:spcPct val="100000"/>
              </a:lnSpc>
              <a:spcBef>
                <a:spcPts val="0"/>
              </a:spcBef>
              <a:spcAft>
                <a:spcPts val="0"/>
              </a:spcAft>
              <a:buClr>
                <a:srgbClr val="000000"/>
              </a:buClr>
              <a:buSzPts val="1400"/>
              <a:buFont typeface="Arial"/>
              <a:buNone/>
            </a:pPr>
            <a:endParaRPr sz="1400" b="0" i="0" u="sng"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1) </a:t>
            </a:r>
            <a:r>
              <a:rPr lang="en-US" sz="1400" b="1" i="0" u="none" strike="noStrike" cap="none">
                <a:solidFill>
                  <a:srgbClr val="C00000"/>
                </a:solidFill>
                <a:latin typeface="Montserrat"/>
                <a:ea typeface="Montserrat"/>
                <a:cs typeface="Montserrat"/>
                <a:sym typeface="Montserrat"/>
              </a:rPr>
              <a:t>(Onboard) </a:t>
            </a:r>
            <a:r>
              <a:rPr lang="en-US" sz="1400" b="0" i="0" u="none" strike="noStrike" cap="none">
                <a:solidFill>
                  <a:srgbClr val="FFFFFF"/>
                </a:solidFill>
                <a:latin typeface="Montserrat"/>
                <a:ea typeface="Montserrat"/>
                <a:cs typeface="Montserrat"/>
                <a:sym typeface="Montserrat"/>
              </a:rPr>
              <a:t>ISL을 사용하여 얻은 Measurement Data를 지상국으로 송신한다. 일반사용자에게 Broadcast Ephemeris로 전파하고 수신한 Delta V 정보를 통해 Orbit Maneuver를 진행한다.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2) </a:t>
            </a:r>
            <a:r>
              <a:rPr lang="en-US" sz="1400" b="1" i="0" u="none" strike="noStrike" cap="none">
                <a:solidFill>
                  <a:srgbClr val="C00000"/>
                </a:solidFill>
                <a:latin typeface="Montserrat"/>
                <a:ea typeface="Montserrat"/>
                <a:cs typeface="Montserrat"/>
                <a:sym typeface="Montserrat"/>
              </a:rPr>
              <a:t>(MCS) </a:t>
            </a:r>
            <a:r>
              <a:rPr lang="en-US" sz="1400" b="0" i="0" u="none" strike="noStrike" cap="none">
                <a:solidFill>
                  <a:srgbClr val="FFFFFF"/>
                </a:solidFill>
                <a:latin typeface="Montserrat"/>
                <a:ea typeface="Montserrat"/>
                <a:cs typeface="Montserrat"/>
                <a:sym typeface="Montserrat"/>
              </a:rPr>
              <a:t>Monitor Station으로부터 받은 항법신호 데이터와 ISL data를 통해 실시간 정밀궤도력을 생성하고 이 정보를 위성으로 송신한다. SLR data를 포함한 계산을 통해 후처리 정밀궤도력을 생성하고 Reference Ephemeris와의 차이를 계산하여 얻은 delta V 값을 위성에게 송신한다. </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70" name="Google Shape;70;p6"/>
          <p:cNvSpPr txBox="1"/>
          <p:nvPr/>
        </p:nvSpPr>
        <p:spPr>
          <a:xfrm>
            <a:off x="938500" y="1518825"/>
            <a:ext cx="317116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4.3 GNC Design Step</a:t>
            </a:r>
            <a:endParaRPr sz="1800" b="0" i="0" u="none" strike="noStrike" cap="none">
              <a:solidFill>
                <a:srgbClr val="FFFFFF"/>
              </a:solidFill>
              <a:latin typeface="Malgun Gothic"/>
              <a:ea typeface="Malgun Gothic"/>
              <a:cs typeface="Malgun Gothic"/>
              <a:sym typeface="Malgun Gothic"/>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7"/>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76" name="Google Shape;76;p7"/>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77" name="Google Shape;77;p7"/>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sng" strike="noStrike" cap="none">
                <a:solidFill>
                  <a:srgbClr val="FFFFFF"/>
                </a:solidFill>
                <a:latin typeface="Montserrat"/>
                <a:ea typeface="Montserrat"/>
                <a:cs typeface="Montserrat"/>
                <a:sym typeface="Montserrat"/>
              </a:rPr>
              <a:t>Step 7. Select Navigation Method</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78" name="Google Shape;78;p7"/>
          <p:cNvSpPr txBox="1"/>
          <p:nvPr/>
        </p:nvSpPr>
        <p:spPr>
          <a:xfrm>
            <a:off x="938500" y="1518825"/>
            <a:ext cx="317116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4.3 GNC Design Step</a:t>
            </a:r>
            <a:endParaRPr sz="1800" b="0" i="0" u="none" strike="noStrike" cap="none">
              <a:solidFill>
                <a:srgbClr val="FFFFFF"/>
              </a:solidFill>
              <a:latin typeface="Malgun Gothic"/>
              <a:ea typeface="Malgun Gothic"/>
              <a:cs typeface="Malgun Gothic"/>
              <a:sym typeface="Malgun Gothic"/>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79" name="Google Shape;79;p7" descr="테이블이(가) 표시된 사진&#10;&#10;자동 생성된 설명"/>
          <p:cNvPicPr preferRelativeResize="0"/>
          <p:nvPr/>
        </p:nvPicPr>
        <p:blipFill rotWithShape="1">
          <a:blip r:embed="rId3">
            <a:alphaModFix/>
          </a:blip>
          <a:srcRect/>
          <a:stretch/>
        </p:blipFill>
        <p:spPr>
          <a:xfrm>
            <a:off x="1026200" y="2370712"/>
            <a:ext cx="4524535" cy="2618676"/>
          </a:xfrm>
          <a:prstGeom prst="rect">
            <a:avLst/>
          </a:prstGeom>
          <a:noFill/>
          <a:ln>
            <a:noFill/>
          </a:ln>
        </p:spPr>
      </p:pic>
      <p:sp>
        <p:nvSpPr>
          <p:cNvPr id="80" name="Google Shape;80;p7"/>
          <p:cNvSpPr txBox="1"/>
          <p:nvPr/>
        </p:nvSpPr>
        <p:spPr>
          <a:xfrm>
            <a:off x="938500" y="2938409"/>
            <a:ext cx="4722561" cy="369870"/>
          </a:xfrm>
          <a:prstGeom prst="rect">
            <a:avLst/>
          </a:prstGeom>
          <a:noFill/>
          <a:ln w="57150"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8"/>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86" name="Google Shape;86;p8"/>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87" name="Google Shape;87;p8"/>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88" name="Google Shape;88;p8"/>
          <p:cNvSpPr txBox="1"/>
          <p:nvPr/>
        </p:nvSpPr>
        <p:spPr>
          <a:xfrm>
            <a:off x="938500" y="1595545"/>
            <a:ext cx="3171163"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Malgun Gothic"/>
                <a:ea typeface="Malgun Gothic"/>
                <a:cs typeface="Malgun Gothic"/>
                <a:sym typeface="Malgun Gothic"/>
              </a:rPr>
              <a:t>4.4 </a:t>
            </a:r>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Malgun Gothic"/>
                <a:ea typeface="Malgun Gothic"/>
                <a:cs typeface="Malgun Gothic"/>
                <a:sym typeface="Malgun Gothic"/>
              </a:rPr>
              <a:t>Orbit Information</a:t>
            </a:r>
            <a:endParaRPr sz="2000" b="0" i="0" u="none" strike="noStrike" cap="none">
              <a:solidFill>
                <a:srgbClr val="FFFFFF"/>
              </a:solidFill>
              <a:latin typeface="Arial"/>
              <a:ea typeface="Arial"/>
              <a:cs typeface="Arial"/>
              <a:sym typeface="Arial"/>
            </a:endParaRPr>
          </a:p>
        </p:txBody>
      </p:sp>
      <p:pic>
        <p:nvPicPr>
          <p:cNvPr id="89" name="Google Shape;89;p8"/>
          <p:cNvPicPr preferRelativeResize="0"/>
          <p:nvPr/>
        </p:nvPicPr>
        <p:blipFill rotWithShape="1">
          <a:blip r:embed="rId3">
            <a:alphaModFix/>
          </a:blip>
          <a:srcRect/>
          <a:stretch/>
        </p:blipFill>
        <p:spPr>
          <a:xfrm>
            <a:off x="3977763" y="1188436"/>
            <a:ext cx="4731143" cy="3800952"/>
          </a:xfrm>
          <a:prstGeom prst="rect">
            <a:avLst/>
          </a:prstGeom>
          <a:noFill/>
          <a:ln>
            <a:noFill/>
          </a:ln>
        </p:spPr>
      </p:pic>
      <p:sp>
        <p:nvSpPr>
          <p:cNvPr id="90" name="Google Shape;90;p8"/>
          <p:cNvSpPr txBox="1"/>
          <p:nvPr/>
        </p:nvSpPr>
        <p:spPr>
          <a:xfrm>
            <a:off x="3904180" y="4568316"/>
            <a:ext cx="4931595" cy="307777"/>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96" name="Google Shape;96;p9"/>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97" name="Google Shape;97;p9"/>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98" name="Google Shape;98;p9"/>
          <p:cNvSpPr txBox="1"/>
          <p:nvPr/>
        </p:nvSpPr>
        <p:spPr>
          <a:xfrm>
            <a:off x="938500" y="1595545"/>
            <a:ext cx="317116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Malgun Gothic"/>
                <a:ea typeface="Malgun Gothic"/>
                <a:cs typeface="Malgun Gothic"/>
                <a:sym typeface="Malgun Gothic"/>
              </a:rPr>
              <a:t>4.4 Orbit Information</a:t>
            </a:r>
            <a:endParaRPr sz="2000" b="0" i="0" u="none" strike="noStrike" cap="none">
              <a:solidFill>
                <a:srgbClr val="FFFFFF"/>
              </a:solidFill>
              <a:latin typeface="Arial"/>
              <a:ea typeface="Arial"/>
              <a:cs typeface="Arial"/>
              <a:sym typeface="Arial"/>
            </a:endParaRPr>
          </a:p>
        </p:txBody>
      </p:sp>
      <p:pic>
        <p:nvPicPr>
          <p:cNvPr id="99" name="Google Shape;99;p9" descr="테이블이(가) 표시된 사진&#10;&#10;자동 생성된 설명"/>
          <p:cNvPicPr preferRelativeResize="0"/>
          <p:nvPr/>
        </p:nvPicPr>
        <p:blipFill rotWithShape="1">
          <a:blip r:embed="rId3">
            <a:alphaModFix/>
          </a:blip>
          <a:srcRect/>
          <a:stretch/>
        </p:blipFill>
        <p:spPr>
          <a:xfrm>
            <a:off x="4325420" y="2145546"/>
            <a:ext cx="4569142" cy="1799730"/>
          </a:xfrm>
          <a:prstGeom prst="rect">
            <a:avLst/>
          </a:prstGeom>
          <a:noFill/>
          <a:ln>
            <a:noFill/>
          </a:ln>
        </p:spPr>
      </p:pic>
      <p:pic>
        <p:nvPicPr>
          <p:cNvPr id="100" name="Google Shape;100;p9"/>
          <p:cNvPicPr preferRelativeResize="0"/>
          <p:nvPr/>
        </p:nvPicPr>
        <p:blipFill rotWithShape="1">
          <a:blip r:embed="rId4">
            <a:alphaModFix/>
          </a:blip>
          <a:srcRect/>
          <a:stretch/>
        </p:blipFill>
        <p:spPr>
          <a:xfrm>
            <a:off x="1026200" y="2145546"/>
            <a:ext cx="3083463" cy="24734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0"/>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06" name="Google Shape;106;p10"/>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07" name="Google Shape;107;p10"/>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08" name="Google Shape;108;p10"/>
          <p:cNvSpPr txBox="1"/>
          <p:nvPr/>
        </p:nvSpPr>
        <p:spPr>
          <a:xfrm>
            <a:off x="938500" y="1580156"/>
            <a:ext cx="31711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lt1"/>
                </a:solidFill>
                <a:latin typeface="Malgun Gothic"/>
                <a:ea typeface="Malgun Gothic"/>
                <a:cs typeface="Malgun Gothic"/>
                <a:sym typeface="Malgun Gothic"/>
              </a:rPr>
              <a:t>4.5 Orbit Determination </a:t>
            </a:r>
            <a:endParaRPr sz="2000" b="0" i="0" u="none" strike="noStrike" cap="none">
              <a:solidFill>
                <a:schemeClr val="lt1"/>
              </a:solidFill>
              <a:latin typeface="Arial"/>
              <a:ea typeface="Arial"/>
              <a:cs typeface="Arial"/>
              <a:sym typeface="Arial"/>
            </a:endParaRPr>
          </a:p>
        </p:txBody>
      </p:sp>
      <p:pic>
        <p:nvPicPr>
          <p:cNvPr id="109" name="Google Shape;109;p10"/>
          <p:cNvPicPr preferRelativeResize="0"/>
          <p:nvPr/>
        </p:nvPicPr>
        <p:blipFill rotWithShape="1">
          <a:blip r:embed="rId3">
            <a:alphaModFix/>
          </a:blip>
          <a:srcRect/>
          <a:stretch/>
        </p:blipFill>
        <p:spPr>
          <a:xfrm>
            <a:off x="1033400" y="2157795"/>
            <a:ext cx="3356098" cy="262328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1"/>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15" name="Google Shape;115;p11"/>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16" name="Google Shape;116;p11"/>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17" name="Google Shape;117;p11"/>
          <p:cNvSpPr txBox="1"/>
          <p:nvPr/>
        </p:nvSpPr>
        <p:spPr>
          <a:xfrm>
            <a:off x="938500" y="1580156"/>
            <a:ext cx="388008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4.5 Orbit Determination</a:t>
            </a:r>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FFFFFF"/>
              </a:solidFill>
              <a:latin typeface="Malgun Gothic"/>
              <a:ea typeface="Malgun Gothic"/>
              <a:cs typeface="Malgun Gothic"/>
              <a:sym typeface="Malgun Gothic"/>
            </a:endParaRPr>
          </a:p>
        </p:txBody>
      </p:sp>
      <p:pic>
        <p:nvPicPr>
          <p:cNvPr id="118" name="Google Shape;118;p11" descr="테이블이(가) 표시된 사진&#10;&#10;자동 생성된 설명"/>
          <p:cNvPicPr preferRelativeResize="0"/>
          <p:nvPr/>
        </p:nvPicPr>
        <p:blipFill rotWithShape="1">
          <a:blip r:embed="rId3">
            <a:alphaModFix/>
          </a:blip>
          <a:srcRect/>
          <a:stretch/>
        </p:blipFill>
        <p:spPr>
          <a:xfrm>
            <a:off x="3352019" y="2729475"/>
            <a:ext cx="2571115" cy="2292985"/>
          </a:xfrm>
          <a:prstGeom prst="rect">
            <a:avLst/>
          </a:prstGeom>
          <a:noFill/>
          <a:ln>
            <a:noFill/>
          </a:ln>
        </p:spPr>
      </p:pic>
      <p:sp>
        <p:nvSpPr>
          <p:cNvPr id="119" name="Google Shape;119;p11"/>
          <p:cNvSpPr txBox="1"/>
          <p:nvPr/>
        </p:nvSpPr>
        <p:spPr>
          <a:xfrm>
            <a:off x="938500" y="2069774"/>
            <a:ext cx="2282367"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1400" b="0" i="0" u="none" strike="noStrike" cap="none">
                <a:solidFill>
                  <a:srgbClr val="FFFFFF"/>
                </a:solidFill>
                <a:latin typeface="Montserrat"/>
                <a:ea typeface="Montserrat"/>
                <a:cs typeface="Montserrat"/>
                <a:sym typeface="Montserrat"/>
              </a:rPr>
              <a:t>1) 동역학 모델 궤도</a:t>
            </a:r>
            <a:endParaRPr sz="1400" b="0" i="0" u="none" strike="noStrike" cap="none">
              <a:solidFill>
                <a:srgbClr val="FFFFFF"/>
              </a:solidFill>
              <a:latin typeface="Montserrat"/>
              <a:ea typeface="Montserrat"/>
              <a:cs typeface="Montserrat"/>
              <a:sym typeface="Montserrat"/>
            </a:endParaRPr>
          </a:p>
          <a:p>
            <a:pPr marL="155575" marR="0" lvl="0" indent="0" algn="l" rtl="0">
              <a:lnSpc>
                <a:spcPct val="100000"/>
              </a:lnSpc>
              <a:spcBef>
                <a:spcPts val="0"/>
              </a:spcBef>
              <a:spcAft>
                <a:spcPts val="0"/>
              </a:spcAft>
              <a:buNone/>
            </a:pPr>
            <a:endParaRPr sz="1400" b="0" i="0" u="none" strike="noStrike" cap="none">
              <a:solidFill>
                <a:srgbClr val="FFFFFF"/>
              </a:solidFill>
              <a:latin typeface="Montserrat"/>
              <a:ea typeface="Montserrat"/>
              <a:cs typeface="Montserrat"/>
              <a:sym typeface="Montserrat"/>
            </a:endParaRPr>
          </a:p>
          <a:p>
            <a:pPr marL="155575" marR="0" lvl="0" indent="0" algn="l" rtl="0">
              <a:lnSpc>
                <a:spcPct val="100000"/>
              </a:lnSpc>
              <a:spcBef>
                <a:spcPts val="0"/>
              </a:spcBef>
              <a:spcAft>
                <a:spcPts val="0"/>
              </a:spcAft>
              <a:buNone/>
            </a:pPr>
            <a:r>
              <a:rPr lang="en-US" sz="1400" b="0" i="0" u="none" strike="noStrike" cap="none">
                <a:solidFill>
                  <a:srgbClr val="FFFFFF"/>
                </a:solidFill>
                <a:latin typeface="Montserrat"/>
                <a:ea typeface="Montserrat"/>
                <a:cs typeface="Montserrat"/>
                <a:sym typeface="Montserrat"/>
              </a:rPr>
              <a:t>초기 t0 에서의 위성의 위치와 속도벡터를 위성의 항법신호 데이터로부터 구하고 그 값을 동역학 모델을 통해 수치적분하여 궤도를 구성한다.</a:t>
            </a:r>
            <a:endParaRPr sz="1400" b="0" i="0" u="none" strike="noStrike" cap="none">
              <a:solidFill>
                <a:srgbClr val="FFFFFF"/>
              </a:solidFill>
              <a:latin typeface="Montserrat"/>
              <a:ea typeface="Montserrat"/>
              <a:cs typeface="Montserrat"/>
              <a:sym typeface="Montserrat"/>
            </a:endParaRPr>
          </a:p>
        </p:txBody>
      </p:sp>
      <p:pic>
        <p:nvPicPr>
          <p:cNvPr id="120" name="Google Shape;120;p11"/>
          <p:cNvPicPr preferRelativeResize="0"/>
          <p:nvPr/>
        </p:nvPicPr>
        <p:blipFill rotWithShape="1">
          <a:blip r:embed="rId4">
            <a:alphaModFix/>
          </a:blip>
          <a:srcRect/>
          <a:stretch/>
        </p:blipFill>
        <p:spPr>
          <a:xfrm>
            <a:off x="5923134" y="1555484"/>
            <a:ext cx="2924090" cy="3466975"/>
          </a:xfrm>
          <a:prstGeom prst="rect">
            <a:avLst/>
          </a:prstGeom>
          <a:noFill/>
          <a:ln>
            <a:noFill/>
          </a:ln>
        </p:spPr>
      </p:pic>
      <p:cxnSp>
        <p:nvCxnSpPr>
          <p:cNvPr id="121" name="Google Shape;121;p11"/>
          <p:cNvCxnSpPr/>
          <p:nvPr/>
        </p:nvCxnSpPr>
        <p:spPr>
          <a:xfrm>
            <a:off x="8373438" y="1580156"/>
            <a:ext cx="0" cy="3289795"/>
          </a:xfrm>
          <a:prstGeom prst="straightConnector1">
            <a:avLst/>
          </a:prstGeom>
          <a:noFill/>
          <a:ln w="28575" cap="flat" cmpd="sng">
            <a:solidFill>
              <a:srgbClr val="00B0F0"/>
            </a:solidFill>
            <a:prstDash val="solid"/>
            <a:round/>
            <a:headEnd type="none" w="sm" len="sm"/>
            <a:tailEnd type="none" w="sm" len="sm"/>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2"/>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27" name="Google Shape;127;p12"/>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28" name="Google Shape;128;p12"/>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29" name="Google Shape;129;p12"/>
          <p:cNvSpPr txBox="1"/>
          <p:nvPr/>
        </p:nvSpPr>
        <p:spPr>
          <a:xfrm>
            <a:off x="938500" y="1580156"/>
            <a:ext cx="388008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4.5 Orbit Determination</a:t>
            </a:r>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FFFFFF"/>
              </a:solidFill>
              <a:latin typeface="Malgun Gothic"/>
              <a:ea typeface="Malgun Gothic"/>
              <a:cs typeface="Malgun Gothic"/>
              <a:sym typeface="Malgun Gothic"/>
            </a:endParaRPr>
          </a:p>
        </p:txBody>
      </p:sp>
      <p:sp>
        <p:nvSpPr>
          <p:cNvPr id="130" name="Google Shape;130;p12"/>
          <p:cNvSpPr txBox="1"/>
          <p:nvPr/>
        </p:nvSpPr>
        <p:spPr>
          <a:xfrm>
            <a:off x="938500" y="2069774"/>
            <a:ext cx="2282367"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2) 관측 모델 궤도</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SLR 관측 모델 구현식, ISL 관측모델 구현식은 다음과 같다. 관측값들은 모델을 거쳐 궤도를 구성한다.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00"/>
                </a:solidFill>
                <a:latin typeface="Montserrat"/>
                <a:ea typeface="Montserrat"/>
                <a:cs typeface="Montserrat"/>
                <a:sym typeface="Montserrat"/>
              </a:rPr>
              <a:t>MS 관측으로부터도 모델을 통한 궤도가 형성된다</a:t>
            </a:r>
            <a:endParaRPr sz="1400" b="0" i="0" u="none" strike="noStrike" cap="none">
              <a:solidFill>
                <a:srgbClr val="FFFF00"/>
              </a:solidFill>
              <a:latin typeface="Montserrat"/>
              <a:ea typeface="Montserrat"/>
              <a:cs typeface="Montserrat"/>
              <a:sym typeface="Montserrat"/>
            </a:endParaRPr>
          </a:p>
        </p:txBody>
      </p:sp>
      <p:pic>
        <p:nvPicPr>
          <p:cNvPr id="131" name="Google Shape;131;p12"/>
          <p:cNvPicPr preferRelativeResize="0"/>
          <p:nvPr/>
        </p:nvPicPr>
        <p:blipFill rotWithShape="1">
          <a:blip r:embed="rId3">
            <a:alphaModFix/>
          </a:blip>
          <a:srcRect l="27415" t="58731" r="32360" b="17087"/>
          <a:stretch/>
        </p:blipFill>
        <p:spPr>
          <a:xfrm>
            <a:off x="3400522" y="2571750"/>
            <a:ext cx="4238573" cy="143259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3"/>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37" name="Google Shape;137;p13"/>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38" name="Google Shape;138;p13"/>
          <p:cNvSpPr txBox="1"/>
          <p:nvPr/>
        </p:nvSpPr>
        <p:spPr>
          <a:xfrm>
            <a:off x="938500" y="2103600"/>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3) 추정을 통한 최종 궤도 결정</a:t>
            </a: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동역학 모델을 통해 구한 궤도와 관측 모델을 통해 구한 궤도, 두개의 독립적인 궤도의 차이를 추정기법을 통해 분석해서 가장 정확한 궤도를 산출한다. </a:t>
            </a:r>
            <a:r>
              <a:rPr lang="en-US" sz="1400" b="0" i="0" u="none" strike="noStrike" cap="none">
                <a:solidFill>
                  <a:srgbClr val="FFFF00"/>
                </a:solidFill>
                <a:latin typeface="Montserrat"/>
                <a:ea typeface="Montserrat"/>
                <a:cs typeface="Montserrat"/>
                <a:sym typeface="Montserrat"/>
              </a:rPr>
              <a:t>추정기법에 따라서 정밀 궤도결정이 나뉘게 되는데</a:t>
            </a:r>
            <a:r>
              <a:rPr lang="en-US" sz="1400" b="0" i="0" u="none" strike="noStrike" cap="none">
                <a:solidFill>
                  <a:srgbClr val="FFFFFF"/>
                </a:solidFill>
                <a:latin typeface="Montserrat"/>
                <a:ea typeface="Montserrat"/>
                <a:cs typeface="Montserrat"/>
                <a:sym typeface="Montserrat"/>
              </a:rPr>
              <a:t>, 실시간의 경우에는 확장칼만필터 기법이 주로 사용되고 후처리의 경우에는 일괄처리방법이 주로 사용된다. </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39" name="Google Shape;139;p13"/>
          <p:cNvSpPr txBox="1"/>
          <p:nvPr/>
        </p:nvSpPr>
        <p:spPr>
          <a:xfrm>
            <a:off x="938500" y="1518825"/>
            <a:ext cx="31711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4.5 Orbit Determination</a:t>
            </a:r>
            <a:endParaRPr sz="1400" b="0" i="0" u="none" strike="noStrike" cap="none">
              <a:solidFill>
                <a:srgbClr val="FFFFFF"/>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4"/>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45" name="Google Shape;145;p14"/>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46" name="Google Shape;146;p14"/>
          <p:cNvSpPr txBox="1"/>
          <p:nvPr/>
        </p:nvSpPr>
        <p:spPr>
          <a:xfrm>
            <a:off x="938500" y="2103600"/>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3-1) 확장칼만필터(실시간)</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 </a:t>
            </a:r>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오차가 작은 경우를 가정한 비선형 시스템에서 주로 사용되는 추정기법이다. 위성의 동역학 모델은 상태공간에서 비선형 함수로 표현되고 관측데이터와 상태변수의 관계도 비선형 관측함수로 나타내어지므로 확장칼만필터 사용에 적합하다</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3-2) 일괄처리방식(후처리)</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Montserrat"/>
                <a:ea typeface="Montserrat"/>
                <a:cs typeface="Montserrat"/>
                <a:sym typeface="Montserrat"/>
              </a:rPr>
              <a:t>이번 미션의 궤도 결정 프로그램인 GEODYN에서는 배치 필터가 사용된다. 배치 필터를 이용한 후처리 방법은 가중치 최소 자승법 필터를 통해 결정하는 방법이다. 이는 기준 궤도로부터 추정을 시작하는 방법으로 기준 궤도가 실제 궤도와 충분히 근접한다는 가정으로부터 출발한다. 원래는 선형 필터인 최소 자승법 필터를 사용할 수 없으나 실제 궤도를 기준 궤도에 대해 테일러 급수 전개시킴으로써 표현 가능하다. </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47" name="Google Shape;147;p14"/>
          <p:cNvSpPr txBox="1"/>
          <p:nvPr/>
        </p:nvSpPr>
        <p:spPr>
          <a:xfrm>
            <a:off x="938500" y="1518825"/>
            <a:ext cx="31711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4.5 Orbit Determination</a:t>
            </a:r>
            <a:endParaRPr sz="1400" b="0" i="0" u="none" strike="noStrike" cap="none">
              <a:solidFill>
                <a:srgbClr val="FFFFFF"/>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5"/>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53" name="Google Shape;153;p15"/>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54" name="Google Shape;154;p15"/>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55" name="Google Shape;155;p15"/>
          <p:cNvSpPr txBox="1"/>
          <p:nvPr/>
        </p:nvSpPr>
        <p:spPr>
          <a:xfrm>
            <a:off x="938500" y="1580156"/>
            <a:ext cx="607852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Arial"/>
                <a:ea typeface="Arial"/>
                <a:cs typeface="Arial"/>
                <a:sym typeface="Arial"/>
              </a:rPr>
              <a:t>4.5.1 Real-time Precise Orbit Determination of KPS</a:t>
            </a:r>
            <a:endParaRPr sz="2000" b="0" i="0" u="none" strike="noStrike" cap="none">
              <a:solidFill>
                <a:srgbClr val="FFFFFF"/>
              </a:solidFill>
              <a:latin typeface="Arial"/>
              <a:ea typeface="Arial"/>
              <a:cs typeface="Arial"/>
              <a:sym typeface="Arial"/>
            </a:endParaRPr>
          </a:p>
        </p:txBody>
      </p:sp>
      <p:pic>
        <p:nvPicPr>
          <p:cNvPr id="156" name="Google Shape;156;p15"/>
          <p:cNvPicPr preferRelativeResize="0"/>
          <p:nvPr/>
        </p:nvPicPr>
        <p:blipFill rotWithShape="1">
          <a:blip r:embed="rId3">
            <a:alphaModFix/>
          </a:blip>
          <a:srcRect/>
          <a:stretch/>
        </p:blipFill>
        <p:spPr>
          <a:xfrm>
            <a:off x="1017671" y="1980266"/>
            <a:ext cx="5543058" cy="30399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62" name="Google Shape;162;p16"/>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63" name="Google Shape;163;p16"/>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64" name="Google Shape;164;p16"/>
          <p:cNvSpPr txBox="1"/>
          <p:nvPr/>
        </p:nvSpPr>
        <p:spPr>
          <a:xfrm>
            <a:off x="938500" y="1580156"/>
            <a:ext cx="689040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Malgun Gothic"/>
                <a:ea typeface="Malgun Gothic"/>
                <a:cs typeface="Malgun Gothic"/>
                <a:sym typeface="Malgun Gothic"/>
              </a:rPr>
              <a:t>4.5.2 Post Processing Precise Orbit Determination of KPS</a:t>
            </a:r>
            <a:endParaRPr sz="2000" b="0" i="0" u="none" strike="noStrike" cap="none">
              <a:solidFill>
                <a:srgbClr val="FFFFFF"/>
              </a:solidFill>
              <a:latin typeface="Malgun Gothic"/>
              <a:ea typeface="Malgun Gothic"/>
              <a:cs typeface="Malgun Gothic"/>
              <a:sym typeface="Malgun Gothic"/>
            </a:endParaRPr>
          </a:p>
        </p:txBody>
      </p:sp>
      <p:pic>
        <p:nvPicPr>
          <p:cNvPr id="165" name="Google Shape;165;p16"/>
          <p:cNvPicPr preferRelativeResize="0"/>
          <p:nvPr/>
        </p:nvPicPr>
        <p:blipFill rotWithShape="1">
          <a:blip r:embed="rId3">
            <a:alphaModFix/>
          </a:blip>
          <a:srcRect/>
          <a:stretch/>
        </p:blipFill>
        <p:spPr>
          <a:xfrm>
            <a:off x="1026200" y="1980266"/>
            <a:ext cx="5731510" cy="30581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&amp; Control Subsystem</a:t>
            </a:r>
            <a:endParaRPr sz="2800"/>
          </a:p>
        </p:txBody>
      </p:sp>
      <p:cxnSp>
        <p:nvCxnSpPr>
          <p:cNvPr id="171" name="Google Shape;171;p17"/>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72" name="Google Shape;172;p17"/>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73" name="Google Shape;173;p17"/>
          <p:cNvSpPr txBox="1"/>
          <p:nvPr/>
        </p:nvSpPr>
        <p:spPr>
          <a:xfrm>
            <a:off x="938500" y="1580156"/>
            <a:ext cx="689040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Malgun Gothic"/>
                <a:ea typeface="Malgun Gothic"/>
                <a:cs typeface="Malgun Gothic"/>
                <a:sym typeface="Malgun Gothic"/>
              </a:rPr>
              <a:t>4.5.2 Post Processing Precise Orbit Determination of KPS</a:t>
            </a:r>
            <a:endParaRPr sz="2000" b="0" i="0" u="none" strike="noStrike" cap="none">
              <a:solidFill>
                <a:srgbClr val="FFFFFF"/>
              </a:solidFill>
              <a:latin typeface="Malgun Gothic"/>
              <a:ea typeface="Malgun Gothic"/>
              <a:cs typeface="Malgun Gothic"/>
              <a:sym typeface="Malgun Gothic"/>
            </a:endParaRPr>
          </a:p>
        </p:txBody>
      </p:sp>
      <p:sp>
        <p:nvSpPr>
          <p:cNvPr id="174" name="Google Shape;174;p17"/>
          <p:cNvSpPr txBox="1"/>
          <p:nvPr/>
        </p:nvSpPr>
        <p:spPr>
          <a:xfrm>
            <a:off x="938500" y="2263973"/>
            <a:ext cx="319647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SRP Parameter fitting</a:t>
            </a:r>
            <a:endParaRPr sz="1400" b="1" i="0" u="none" strike="noStrike" cap="none">
              <a:solidFill>
                <a:schemeClr val="lt1"/>
              </a:solidFill>
              <a:latin typeface="Arial"/>
              <a:ea typeface="Arial"/>
              <a:cs typeface="Arial"/>
              <a:sym typeface="Arial"/>
            </a:endParaRPr>
          </a:p>
        </p:txBody>
      </p:sp>
      <p:pic>
        <p:nvPicPr>
          <p:cNvPr id="175" name="Google Shape;175;p17"/>
          <p:cNvPicPr preferRelativeResize="0"/>
          <p:nvPr/>
        </p:nvPicPr>
        <p:blipFill rotWithShape="1">
          <a:blip r:embed="rId3">
            <a:alphaModFix/>
          </a:blip>
          <a:srcRect l="27978" t="53093" r="29101" b="18487"/>
          <a:stretch/>
        </p:blipFill>
        <p:spPr>
          <a:xfrm>
            <a:off x="938500" y="3000539"/>
            <a:ext cx="3924728" cy="1461079"/>
          </a:xfrm>
          <a:prstGeom prst="rect">
            <a:avLst/>
          </a:prstGeom>
          <a:noFill/>
          <a:ln>
            <a:noFill/>
          </a:ln>
        </p:spPr>
      </p:pic>
      <p:pic>
        <p:nvPicPr>
          <p:cNvPr id="176" name="Google Shape;176;p17"/>
          <p:cNvPicPr preferRelativeResize="0"/>
          <p:nvPr/>
        </p:nvPicPr>
        <p:blipFill rotWithShape="1">
          <a:blip r:embed="rId4">
            <a:alphaModFix/>
          </a:blip>
          <a:srcRect/>
          <a:stretch/>
        </p:blipFill>
        <p:spPr>
          <a:xfrm>
            <a:off x="4707239" y="2289512"/>
            <a:ext cx="4262100" cy="216987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8"/>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t>
            </a:r>
            <a:br>
              <a:rPr lang="en-US" sz="2800" b="1">
                <a:latin typeface="Arial"/>
                <a:ea typeface="Arial"/>
                <a:cs typeface="Arial"/>
                <a:sym typeface="Arial"/>
              </a:rPr>
            </a:br>
            <a:r>
              <a:rPr lang="en-US" sz="2800" b="1">
                <a:latin typeface="Arial"/>
                <a:ea typeface="Arial"/>
                <a:cs typeface="Arial"/>
                <a:sym typeface="Arial"/>
              </a:rPr>
              <a:t>&amp; Control Subsystem</a:t>
            </a:r>
            <a:endParaRPr sz="2800"/>
          </a:p>
        </p:txBody>
      </p:sp>
      <p:cxnSp>
        <p:nvCxnSpPr>
          <p:cNvPr id="182" name="Google Shape;182;p18"/>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83" name="Google Shape;183;p18"/>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84" name="Google Shape;184;p18"/>
          <p:cNvSpPr txBox="1"/>
          <p:nvPr/>
        </p:nvSpPr>
        <p:spPr>
          <a:xfrm>
            <a:off x="938500" y="1580156"/>
            <a:ext cx="31711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4.6 Orbit Maintenance </a:t>
            </a:r>
            <a:endParaRPr sz="2000" b="0" i="0" u="none" strike="noStrike" cap="none">
              <a:solidFill>
                <a:srgbClr val="FFFFFF"/>
              </a:solidFill>
              <a:latin typeface="Arial"/>
              <a:ea typeface="Arial"/>
              <a:cs typeface="Arial"/>
              <a:sym typeface="Arial"/>
            </a:endParaRPr>
          </a:p>
        </p:txBody>
      </p:sp>
      <p:pic>
        <p:nvPicPr>
          <p:cNvPr id="185" name="Google Shape;185;p18"/>
          <p:cNvPicPr preferRelativeResize="0"/>
          <p:nvPr/>
        </p:nvPicPr>
        <p:blipFill rotWithShape="1">
          <a:blip r:embed="rId3">
            <a:alphaModFix/>
          </a:blip>
          <a:srcRect/>
          <a:stretch/>
        </p:blipFill>
        <p:spPr>
          <a:xfrm>
            <a:off x="5272720" y="493914"/>
            <a:ext cx="3744774" cy="449547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9"/>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t>
            </a:r>
            <a:br>
              <a:rPr lang="en-US" sz="2800" b="1">
                <a:latin typeface="Arial"/>
                <a:ea typeface="Arial"/>
                <a:cs typeface="Arial"/>
                <a:sym typeface="Arial"/>
              </a:rPr>
            </a:br>
            <a:r>
              <a:rPr lang="en-US" sz="2800" b="1">
                <a:latin typeface="Arial"/>
                <a:ea typeface="Arial"/>
                <a:cs typeface="Arial"/>
                <a:sym typeface="Arial"/>
              </a:rPr>
              <a:t>&amp; Control Subsystem</a:t>
            </a:r>
            <a:endParaRPr sz="2800"/>
          </a:p>
        </p:txBody>
      </p:sp>
      <p:cxnSp>
        <p:nvCxnSpPr>
          <p:cNvPr id="191" name="Google Shape;191;p19"/>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192" name="Google Shape;192;p19"/>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193" name="Google Shape;193;p19"/>
          <p:cNvSpPr txBox="1"/>
          <p:nvPr/>
        </p:nvSpPr>
        <p:spPr>
          <a:xfrm>
            <a:off x="938500" y="1580156"/>
            <a:ext cx="317116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Malgun Gothic"/>
                <a:ea typeface="Malgun Gothic"/>
                <a:cs typeface="Malgun Gothic"/>
                <a:sym typeface="Malgun Gothic"/>
              </a:rPr>
              <a:t>4.6 Orbit Maintenance </a:t>
            </a:r>
            <a:endParaRPr sz="2000" b="0" i="0" u="none" strike="noStrike" cap="none">
              <a:solidFill>
                <a:srgbClr val="FFFFFF"/>
              </a:solidFill>
              <a:latin typeface="Arial"/>
              <a:ea typeface="Arial"/>
              <a:cs typeface="Arial"/>
              <a:sym typeface="Arial"/>
            </a:endParaRPr>
          </a:p>
        </p:txBody>
      </p:sp>
      <p:pic>
        <p:nvPicPr>
          <p:cNvPr id="194" name="Google Shape;194;p19"/>
          <p:cNvPicPr preferRelativeResize="0"/>
          <p:nvPr/>
        </p:nvPicPr>
        <p:blipFill rotWithShape="1">
          <a:blip r:embed="rId3">
            <a:alphaModFix/>
          </a:blip>
          <a:srcRect/>
          <a:stretch/>
        </p:blipFill>
        <p:spPr>
          <a:xfrm>
            <a:off x="1106691" y="2980835"/>
            <a:ext cx="3913716" cy="1717640"/>
          </a:xfrm>
          <a:prstGeom prst="rect">
            <a:avLst/>
          </a:prstGeom>
          <a:noFill/>
          <a:ln>
            <a:noFill/>
          </a:ln>
        </p:spPr>
      </p:pic>
      <p:sp>
        <p:nvSpPr>
          <p:cNvPr id="195" name="Google Shape;195;p19"/>
          <p:cNvSpPr txBox="1"/>
          <p:nvPr/>
        </p:nvSpPr>
        <p:spPr>
          <a:xfrm>
            <a:off x="1026200" y="2055735"/>
            <a:ext cx="4276967" cy="7404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각각의 궤도 보정에 대한 구체적인 속도 증분을 고려하기 위하여 실제 운용 기록을 참고하여 수치를 설정하였다(QZS,COMS-1)</a:t>
            </a: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0"/>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t>
            </a:r>
            <a:br>
              <a:rPr lang="en-US" sz="2800" b="1">
                <a:latin typeface="Arial"/>
                <a:ea typeface="Arial"/>
                <a:cs typeface="Arial"/>
                <a:sym typeface="Arial"/>
              </a:rPr>
            </a:br>
            <a:r>
              <a:rPr lang="en-US" sz="2800" b="1">
                <a:latin typeface="Arial"/>
                <a:ea typeface="Arial"/>
                <a:cs typeface="Arial"/>
                <a:sym typeface="Arial"/>
              </a:rPr>
              <a:t>&amp; Control Subsystem</a:t>
            </a:r>
            <a:endParaRPr sz="2800"/>
          </a:p>
        </p:txBody>
      </p:sp>
      <p:cxnSp>
        <p:nvCxnSpPr>
          <p:cNvPr id="201" name="Google Shape;201;p20"/>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202" name="Google Shape;202;p20"/>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203" name="Google Shape;203;p20"/>
          <p:cNvSpPr txBox="1"/>
          <p:nvPr/>
        </p:nvSpPr>
        <p:spPr>
          <a:xfrm>
            <a:off x="938500" y="1580156"/>
            <a:ext cx="632532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Arial"/>
                <a:ea typeface="Arial"/>
                <a:cs typeface="Arial"/>
                <a:sym typeface="Arial"/>
              </a:rPr>
              <a:t>4.6.1 Orbit maintenance maneuver of GEO satellite</a:t>
            </a:r>
            <a:endParaRPr sz="2000" b="0" i="0" u="none" strike="noStrike" cap="none">
              <a:solidFill>
                <a:srgbClr val="FFFFFF"/>
              </a:solidFill>
              <a:latin typeface="Arial"/>
              <a:ea typeface="Arial"/>
              <a:cs typeface="Arial"/>
              <a:sym typeface="Arial"/>
            </a:endParaRPr>
          </a:p>
        </p:txBody>
      </p:sp>
      <p:pic>
        <p:nvPicPr>
          <p:cNvPr id="204" name="Google Shape;204;p20"/>
          <p:cNvPicPr preferRelativeResize="0"/>
          <p:nvPr/>
        </p:nvPicPr>
        <p:blipFill rotWithShape="1">
          <a:blip r:embed="rId3">
            <a:alphaModFix/>
          </a:blip>
          <a:srcRect/>
          <a:stretch/>
        </p:blipFill>
        <p:spPr>
          <a:xfrm>
            <a:off x="4367170" y="2173997"/>
            <a:ext cx="4681930" cy="2724485"/>
          </a:xfrm>
          <a:prstGeom prst="rect">
            <a:avLst/>
          </a:prstGeom>
          <a:noFill/>
          <a:ln>
            <a:noFill/>
          </a:ln>
        </p:spPr>
      </p:pic>
      <p:pic>
        <p:nvPicPr>
          <p:cNvPr id="205" name="Google Shape;205;p20"/>
          <p:cNvPicPr preferRelativeResize="0"/>
          <p:nvPr/>
        </p:nvPicPr>
        <p:blipFill rotWithShape="1">
          <a:blip r:embed="rId4">
            <a:alphaModFix/>
          </a:blip>
          <a:srcRect/>
          <a:stretch/>
        </p:blipFill>
        <p:spPr>
          <a:xfrm>
            <a:off x="1026200" y="2173997"/>
            <a:ext cx="3247925" cy="1029272"/>
          </a:xfrm>
          <a:prstGeom prst="rect">
            <a:avLst/>
          </a:prstGeom>
          <a:noFill/>
          <a:ln>
            <a:noFill/>
          </a:ln>
        </p:spPr>
      </p:pic>
      <p:pic>
        <p:nvPicPr>
          <p:cNvPr id="206" name="Google Shape;206;p20"/>
          <p:cNvPicPr preferRelativeResize="0"/>
          <p:nvPr/>
        </p:nvPicPr>
        <p:blipFill rotWithShape="1">
          <a:blip r:embed="rId5">
            <a:alphaModFix/>
          </a:blip>
          <a:srcRect l="27528" t="61505" r="30112" b="30532"/>
          <a:stretch/>
        </p:blipFill>
        <p:spPr>
          <a:xfrm>
            <a:off x="441790" y="3891353"/>
            <a:ext cx="3832336" cy="40503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t>
            </a:r>
            <a:br>
              <a:rPr lang="en-US" sz="2800" b="1">
                <a:latin typeface="Arial"/>
                <a:ea typeface="Arial"/>
                <a:cs typeface="Arial"/>
                <a:sym typeface="Arial"/>
              </a:rPr>
            </a:br>
            <a:r>
              <a:rPr lang="en-US" sz="2800" b="1">
                <a:latin typeface="Arial"/>
                <a:ea typeface="Arial"/>
                <a:cs typeface="Arial"/>
                <a:sym typeface="Arial"/>
              </a:rPr>
              <a:t>&amp; Control Subsystem</a:t>
            </a:r>
            <a:endParaRPr sz="2800"/>
          </a:p>
        </p:txBody>
      </p:sp>
      <p:cxnSp>
        <p:nvCxnSpPr>
          <p:cNvPr id="212" name="Google Shape;212;p21"/>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213" name="Google Shape;213;p21"/>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214" name="Google Shape;214;p21"/>
          <p:cNvSpPr txBox="1"/>
          <p:nvPr/>
        </p:nvSpPr>
        <p:spPr>
          <a:xfrm>
            <a:off x="938499" y="1580156"/>
            <a:ext cx="785617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Malgun Gothic"/>
                <a:ea typeface="Malgun Gothic"/>
                <a:cs typeface="Malgun Gothic"/>
                <a:sym typeface="Malgun Gothic"/>
              </a:rPr>
              <a:t>4.6.2 Orbit maintenance maneuver of EIGSO &amp; HEO satellite</a:t>
            </a:r>
            <a:endParaRPr sz="2000" b="0" i="0" u="none" strike="noStrike" cap="none">
              <a:solidFill>
                <a:srgbClr val="FFFFFF"/>
              </a:solidFill>
              <a:latin typeface="Malgun Gothic"/>
              <a:ea typeface="Malgun Gothic"/>
              <a:cs typeface="Malgun Gothic"/>
              <a:sym typeface="Malgun Gothic"/>
            </a:endParaRPr>
          </a:p>
        </p:txBody>
      </p:sp>
      <p:sp>
        <p:nvSpPr>
          <p:cNvPr id="215" name="Google Shape;215;p21"/>
          <p:cNvSpPr txBox="1"/>
          <p:nvPr/>
        </p:nvSpPr>
        <p:spPr>
          <a:xfrm>
            <a:off x="938499" y="2173997"/>
            <a:ext cx="4737602" cy="24622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EIGSO궤도를 돌고 있는 QZS1, QZS2, QZS4의 OHI를 분석한 결과 다음과 같은 공통점이 나타났다.</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1. 궤도 보정에 대하여 GEO 위성에서 같이 NS, EW로 나누어 명시하지 않으며 Vx,Vy,Vz를 한번에 조정한다.</a:t>
            </a:r>
            <a:endParaRPr/>
          </a:p>
          <a:p>
            <a:pPr marL="0" marR="0" lvl="0" indent="0" algn="l" rtl="0">
              <a:lnSpc>
                <a:spcPct val="100000"/>
              </a:lnSpc>
              <a:spcBef>
                <a:spcPts val="0"/>
              </a:spcBef>
              <a:spcAft>
                <a:spcPts val="0"/>
              </a:spcAft>
              <a:buNone/>
            </a:pPr>
            <a:endParaRPr sz="14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2. 궤도 보정의 주기가 6개월로 GEO 위성에 비해 매우 길다.</a:t>
            </a:r>
            <a:endParaRPr/>
          </a:p>
          <a:p>
            <a:pPr marL="0" marR="0" lvl="0" indent="0" algn="l" rtl="0">
              <a:lnSpc>
                <a:spcPct val="100000"/>
              </a:lnSpc>
              <a:spcBef>
                <a:spcPts val="0"/>
              </a:spcBef>
              <a:spcAft>
                <a:spcPts val="0"/>
              </a:spcAft>
              <a:buNone/>
            </a:pPr>
            <a:endParaRPr sz="1400" b="1"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a:solidFill>
                  <a:schemeClr val="lt1"/>
                </a:solidFill>
                <a:latin typeface="Arial"/>
                <a:ea typeface="Arial"/>
                <a:cs typeface="Arial"/>
                <a:sym typeface="Arial"/>
              </a:rPr>
              <a:t>3. Vx의 증분이 가장 크게 나타난다.</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2"/>
          <p:cNvSpPr txBox="1">
            <a:spLocks noGrp="1"/>
          </p:cNvSpPr>
          <p:nvPr>
            <p:ph type="title"/>
          </p:nvPr>
        </p:nvSpPr>
        <p:spPr>
          <a:xfrm>
            <a:off x="938500" y="445025"/>
            <a:ext cx="6078526" cy="94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400"/>
              <a:buNone/>
            </a:pPr>
            <a:r>
              <a:rPr lang="en-US" sz="2800" b="1">
                <a:solidFill>
                  <a:schemeClr val="accent1"/>
                </a:solidFill>
                <a:latin typeface="Arial"/>
                <a:ea typeface="Arial"/>
                <a:cs typeface="Arial"/>
                <a:sym typeface="Arial"/>
              </a:rPr>
              <a:t>4. </a:t>
            </a:r>
            <a:r>
              <a:rPr lang="en-US" sz="2800" b="1">
                <a:latin typeface="Arial"/>
                <a:ea typeface="Arial"/>
                <a:cs typeface="Arial"/>
                <a:sym typeface="Arial"/>
              </a:rPr>
              <a:t>Guidance, Navigation </a:t>
            </a:r>
            <a:br>
              <a:rPr lang="en-US" sz="2800" b="1">
                <a:latin typeface="Arial"/>
                <a:ea typeface="Arial"/>
                <a:cs typeface="Arial"/>
                <a:sym typeface="Arial"/>
              </a:rPr>
            </a:br>
            <a:r>
              <a:rPr lang="en-US" sz="2800" b="1">
                <a:latin typeface="Arial"/>
                <a:ea typeface="Arial"/>
                <a:cs typeface="Arial"/>
                <a:sym typeface="Arial"/>
              </a:rPr>
              <a:t>&amp; Control Subsystem</a:t>
            </a:r>
            <a:endParaRPr sz="2800"/>
          </a:p>
        </p:txBody>
      </p:sp>
      <p:cxnSp>
        <p:nvCxnSpPr>
          <p:cNvPr id="221" name="Google Shape;221;p22"/>
          <p:cNvCxnSpPr/>
          <p:nvPr/>
        </p:nvCxnSpPr>
        <p:spPr>
          <a:xfrm>
            <a:off x="1026200" y="414022"/>
            <a:ext cx="2763000" cy="0"/>
          </a:xfrm>
          <a:prstGeom prst="straightConnector1">
            <a:avLst/>
          </a:prstGeom>
          <a:noFill/>
          <a:ln w="9525" cap="flat" cmpd="sng">
            <a:solidFill>
              <a:schemeClr val="accent1"/>
            </a:solidFill>
            <a:prstDash val="solid"/>
            <a:round/>
            <a:headEnd type="none" w="sm" len="sm"/>
            <a:tailEnd type="none" w="sm" len="sm"/>
          </a:ln>
          <a:effectLst>
            <a:outerShdw blurRad="57150" dist="19050" dir="5400000" algn="bl" rotWithShape="0">
              <a:srgbClr val="FFFFFF">
                <a:alpha val="49803"/>
              </a:srgbClr>
            </a:outerShdw>
          </a:effectLst>
        </p:spPr>
      </p:cxnSp>
      <p:sp>
        <p:nvSpPr>
          <p:cNvPr id="222" name="Google Shape;222;p22"/>
          <p:cNvSpPr txBox="1"/>
          <p:nvPr/>
        </p:nvSpPr>
        <p:spPr>
          <a:xfrm>
            <a:off x="938500" y="1949488"/>
            <a:ext cx="7172100" cy="303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a:p>
            <a:pPr marL="457200" marR="0" lvl="0" indent="-228600" algn="l" rtl="0">
              <a:lnSpc>
                <a:spcPct val="100000"/>
              </a:lnSpc>
              <a:spcBef>
                <a:spcPts val="0"/>
              </a:spcBef>
              <a:spcAft>
                <a:spcPts val="0"/>
              </a:spcAft>
              <a:buClr>
                <a:srgbClr val="FFAB40"/>
              </a:buClr>
              <a:buSzPts val="1150"/>
              <a:buFont typeface="Montserrat ExtraBold"/>
              <a:buNone/>
            </a:pPr>
            <a:endParaRPr sz="1400" b="0" i="0" u="none" strike="noStrike" cap="none">
              <a:solidFill>
                <a:srgbClr val="FFFFFF"/>
              </a:solidFill>
              <a:latin typeface="Montserrat"/>
              <a:ea typeface="Montserrat"/>
              <a:cs typeface="Montserrat"/>
              <a:sym typeface="Montserrat"/>
            </a:endParaRPr>
          </a:p>
        </p:txBody>
      </p:sp>
      <p:sp>
        <p:nvSpPr>
          <p:cNvPr id="223" name="Google Shape;223;p22"/>
          <p:cNvSpPr txBox="1"/>
          <p:nvPr/>
        </p:nvSpPr>
        <p:spPr>
          <a:xfrm>
            <a:off x="938499" y="1580156"/>
            <a:ext cx="7856179"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FFFFFF"/>
                </a:solidFill>
                <a:latin typeface="Malgun Gothic"/>
                <a:ea typeface="Malgun Gothic"/>
                <a:cs typeface="Malgun Gothic"/>
                <a:sym typeface="Malgun Gothic"/>
              </a:rPr>
              <a:t>4.6.2 Orbit maintenance maneuver of EIGSO &amp; HEO satellite</a:t>
            </a:r>
            <a:endParaRPr sz="2000" b="0" i="0" u="none" strike="noStrike" cap="none">
              <a:solidFill>
                <a:srgbClr val="FFFFFF"/>
              </a:solidFill>
              <a:latin typeface="Malgun Gothic"/>
              <a:ea typeface="Malgun Gothic"/>
              <a:cs typeface="Malgun Gothic"/>
              <a:sym typeface="Malgun Gothic"/>
            </a:endParaRPr>
          </a:p>
        </p:txBody>
      </p:sp>
      <p:pic>
        <p:nvPicPr>
          <p:cNvPr id="224" name="Google Shape;224;p22"/>
          <p:cNvPicPr preferRelativeResize="0"/>
          <p:nvPr/>
        </p:nvPicPr>
        <p:blipFill rotWithShape="1">
          <a:blip r:embed="rId3">
            <a:alphaModFix/>
          </a:blip>
          <a:srcRect l="27640" t="45679" r="29550" b="42667"/>
          <a:stretch/>
        </p:blipFill>
        <p:spPr>
          <a:xfrm>
            <a:off x="1026200" y="2249031"/>
            <a:ext cx="5973450" cy="914204"/>
          </a:xfrm>
          <a:prstGeom prst="rect">
            <a:avLst/>
          </a:prstGeom>
          <a:noFill/>
          <a:ln>
            <a:noFill/>
          </a:ln>
        </p:spPr>
      </p:pic>
      <p:pic>
        <p:nvPicPr>
          <p:cNvPr id="225" name="Google Shape;225;p22"/>
          <p:cNvPicPr preferRelativeResize="0"/>
          <p:nvPr/>
        </p:nvPicPr>
        <p:blipFill rotWithShape="1">
          <a:blip r:embed="rId4">
            <a:alphaModFix/>
          </a:blip>
          <a:srcRect l="27640" t="70922" r="29214" b="17686"/>
          <a:stretch/>
        </p:blipFill>
        <p:spPr>
          <a:xfrm>
            <a:off x="1033400" y="3431999"/>
            <a:ext cx="6158831" cy="91420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p23"/>
          <p:cNvPicPr preferRelativeResize="0"/>
          <p:nvPr/>
        </p:nvPicPr>
        <p:blipFill rotWithShape="1">
          <a:blip r:embed="rId3">
            <a:alphaModFix/>
          </a:blip>
          <a:srcRect l="22808" t="28754" r="15955" b="14289"/>
          <a:stretch/>
        </p:blipFill>
        <p:spPr>
          <a:xfrm>
            <a:off x="3323690" y="2022083"/>
            <a:ext cx="5599416" cy="292813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5.1.a. Define control modes</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표 5">
            <a:extLst>
              <a:ext uri="{FF2B5EF4-FFF2-40B4-BE49-F238E27FC236}">
                <a16:creationId xmlns:a16="http://schemas.microsoft.com/office/drawing/2014/main" id="{4DB09482-6465-4143-90CF-602B63CAE91A}"/>
              </a:ext>
            </a:extLst>
          </p:cNvPr>
          <p:cNvGraphicFramePr>
            <a:graphicFrameLocks noGrp="1"/>
          </p:cNvGraphicFramePr>
          <p:nvPr/>
        </p:nvGraphicFramePr>
        <p:xfrm>
          <a:off x="1556426" y="1575885"/>
          <a:ext cx="6408147" cy="2744486"/>
        </p:xfrm>
        <a:graphic>
          <a:graphicData uri="http://schemas.openxmlformats.org/drawingml/2006/table">
            <a:tbl>
              <a:tblPr firstRow="1" firstCol="1" bandRow="1"/>
              <a:tblGrid>
                <a:gridCol w="1508218">
                  <a:extLst>
                    <a:ext uri="{9D8B030D-6E8A-4147-A177-3AD203B41FA5}">
                      <a16:colId xmlns:a16="http://schemas.microsoft.com/office/drawing/2014/main" val="1309289177"/>
                    </a:ext>
                  </a:extLst>
                </a:gridCol>
                <a:gridCol w="4899929">
                  <a:extLst>
                    <a:ext uri="{9D8B030D-6E8A-4147-A177-3AD203B41FA5}">
                      <a16:colId xmlns:a16="http://schemas.microsoft.com/office/drawing/2014/main" val="137856601"/>
                    </a:ext>
                  </a:extLst>
                </a:gridCol>
              </a:tblGrid>
              <a:tr h="432155">
                <a:tc>
                  <a:txBody>
                    <a:bodyPr/>
                    <a:lstStyle/>
                    <a:p>
                      <a:pPr algn="ctr" latinLnBrk="1">
                        <a:lnSpc>
                          <a:spcPct val="107000"/>
                        </a:lnSpc>
                        <a:spcAft>
                          <a:spcPts val="800"/>
                        </a:spcAft>
                      </a:pPr>
                      <a:r>
                        <a:rPr lang="en-US" sz="1000" b="1" kern="100" dirty="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1000" b="1"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ode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Description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385842543"/>
                  </a:ext>
                </a:extLst>
              </a:tr>
              <a:tr h="476732">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Normal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phase</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에서 정해진 정확도로 위성을 지향하는 모드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21050026"/>
                  </a:ext>
                </a:extLst>
              </a:tr>
              <a:tr h="476732">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Slew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Midnight / Noon turn</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에 필요한 </a:t>
                      </a: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Yaw steering </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모드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76787182"/>
                  </a:ext>
                </a:extLst>
              </a:tr>
              <a:tr h="405403">
                <a:tc>
                  <a:txBody>
                    <a:bodyPr/>
                    <a:lstStyle/>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dumping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desaturation</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과</a:t>
                      </a: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station keeping </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시 제어 모드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21504834"/>
                  </a:ext>
                </a:extLst>
              </a:tr>
              <a:tr h="476732">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 insertion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Transfer phase</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에서 목표 궤도 도달을 위한 궤도 기동 모드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83914990"/>
                  </a:ext>
                </a:extLst>
              </a:tr>
              <a:tr h="476732">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Acquisition/Safe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latinLnBrk="1">
                        <a:lnSpc>
                          <a:spcPct val="107000"/>
                        </a:lnSpc>
                        <a:spcAft>
                          <a:spcPts val="800"/>
                        </a:spcAft>
                      </a:pP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초기 획득단계</a:t>
                      </a: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비정상 상태 시 자세 결정 및 안정화 모드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053662"/>
                  </a:ext>
                </a:extLst>
              </a:tr>
            </a:tbl>
          </a:graphicData>
        </a:graphic>
      </p:graphicFrame>
    </p:spTree>
    <p:extLst>
      <p:ext uri="{BB962C8B-B14F-4D97-AF65-F5344CB8AC3E}">
        <p14:creationId xmlns:p14="http://schemas.microsoft.com/office/powerpoint/2010/main" val="20632452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5.1.b. Define or derive system-level requirements by control mode</a:t>
            </a:r>
            <a:endParaRPr lang="en-US" sz="14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D60547C9-BDF6-4130-9FDC-88FC21954C95}"/>
              </a:ext>
            </a:extLst>
          </p:cNvPr>
          <p:cNvGraphicFramePr>
            <a:graphicFrameLocks noGrp="1"/>
          </p:cNvGraphicFramePr>
          <p:nvPr/>
        </p:nvGraphicFramePr>
        <p:xfrm>
          <a:off x="938501" y="1419501"/>
          <a:ext cx="7273682" cy="3359150"/>
        </p:xfrm>
        <a:graphic>
          <a:graphicData uri="http://schemas.openxmlformats.org/drawingml/2006/table">
            <a:tbl>
              <a:tblPr firstRow="1" firstCol="1" bandRow="1"/>
              <a:tblGrid>
                <a:gridCol w="1017569">
                  <a:extLst>
                    <a:ext uri="{9D8B030D-6E8A-4147-A177-3AD203B41FA5}">
                      <a16:colId xmlns:a16="http://schemas.microsoft.com/office/drawing/2014/main" val="1874393497"/>
                    </a:ext>
                  </a:extLst>
                </a:gridCol>
                <a:gridCol w="1380517">
                  <a:extLst>
                    <a:ext uri="{9D8B030D-6E8A-4147-A177-3AD203B41FA5}">
                      <a16:colId xmlns:a16="http://schemas.microsoft.com/office/drawing/2014/main" val="3773298693"/>
                    </a:ext>
                  </a:extLst>
                </a:gridCol>
                <a:gridCol w="3183475">
                  <a:extLst>
                    <a:ext uri="{9D8B030D-6E8A-4147-A177-3AD203B41FA5}">
                      <a16:colId xmlns:a16="http://schemas.microsoft.com/office/drawing/2014/main" val="643967387"/>
                    </a:ext>
                  </a:extLst>
                </a:gridCol>
                <a:gridCol w="1692121">
                  <a:extLst>
                    <a:ext uri="{9D8B030D-6E8A-4147-A177-3AD203B41FA5}">
                      <a16:colId xmlns:a16="http://schemas.microsoft.com/office/drawing/2014/main" val="1511886080"/>
                    </a:ext>
                  </a:extLst>
                </a:gridCol>
              </a:tblGrid>
              <a:tr h="157238">
                <a:tc>
                  <a:txBody>
                    <a:bodyPr/>
                    <a:lstStyle/>
                    <a:p>
                      <a:pPr algn="ctr" latinLnBrk="1">
                        <a:lnSpc>
                          <a:spcPct val="107000"/>
                        </a:lnSpc>
                        <a:spcAft>
                          <a:spcPts val="800"/>
                        </a:spcAft>
                      </a:pPr>
                      <a:r>
                        <a:rPr lang="en-US" sz="1000" b="1" kern="100">
                          <a:effectLst/>
                          <a:latin typeface="맑은 고딕" panose="020B0503020000020004" pitchFamily="50" charset="-127"/>
                          <a:ea typeface="맑은 고딕" panose="020B0503020000020004" pitchFamily="50" charset="-127"/>
                          <a:cs typeface="Times New Roman" panose="02020603050405020304" pitchFamily="18" charset="0"/>
                        </a:rPr>
                        <a:t>Mode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gridSpan="2">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Control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pPr latinLnBrk="1"/>
                      <a:endParaRPr lang="ko-KR" altLang="en-US"/>
                    </a:p>
                  </a:txBody>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Determination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232225379"/>
                  </a:ext>
                </a:extLst>
              </a:tr>
              <a:tr h="489953">
                <a:tc rowSpan="2">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Normal</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Range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(RTN frame)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Roll/Pitch </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맑은 고딕" panose="020B0503020000020004" pitchFamily="50" charset="-127"/>
                        </a:rPr>
                        <a:t>0.5</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(Nadir pointing)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Yaw </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0</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(GEO),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180</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(GSO)</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Within 2</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of nadir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Within 60</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of Sun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4592376"/>
                  </a:ext>
                </a:extLst>
              </a:tr>
              <a:tr h="596464">
                <a:tc vMerge="1">
                  <a:txBody>
                    <a:bodyPr/>
                    <a:lstStyle/>
                    <a:p>
                      <a:pPr latinLnBrk="1"/>
                      <a:endParaRPr lang="ko-KR" altLang="en-US"/>
                    </a:p>
                  </a:txBody>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Roll/Pitch </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0.05</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ko-KR" sz="1000" kern="100">
                          <a:effectLst/>
                          <a:latin typeface="맑은 고딕" panose="020B0503020000020004" pitchFamily="50" charset="-127"/>
                          <a:ea typeface="맑은 고딕" panose="020B0503020000020004" pitchFamily="50" charset="-127"/>
                          <a:cs typeface="Times New Roman" panose="02020603050405020304" pitchFamily="18" charset="0"/>
                        </a:rPr>
                        <a:t>  </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(QZSS),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Yaw </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0.15</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(QZSS),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10 % of HPBW or 0.3</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  </a:t>
                      </a:r>
                      <a:r>
                        <a:rPr lang="en-US" sz="1000" kern="100">
                          <a:effectLst/>
                          <a:latin typeface="맑은 고딕" panose="020B0503020000020004" pitchFamily="50" charset="-127"/>
                          <a:ea typeface="맑은 고딕" panose="020B0503020000020004" pitchFamily="50" charset="-127"/>
                          <a:cs typeface="맑은 고딕" panose="020B0503020000020004" pitchFamily="50" charset="-127"/>
                        </a:rPr>
                        <a:t>(RRS22)</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0.001° (1</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𝜎</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real-time EKF or post-processed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37197681"/>
                  </a:ext>
                </a:extLst>
              </a:tr>
              <a:tr h="362139">
                <a:tc rowSpan="2">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Slew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Range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Yaw :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180° in 60 min. (GSO)</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(Midnight/Noon turn)</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Within 2</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of nadir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Rate &gt; </a:t>
                      </a:r>
                      <a:r>
                        <a:rPr lang="ko-KR" sz="1000" kern="10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0.05°/s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10194561"/>
                  </a:ext>
                </a:extLst>
              </a:tr>
              <a:tr h="362139">
                <a:tc vMerge="1">
                  <a:txBody>
                    <a:bodyPr/>
                    <a:lstStyle/>
                    <a:p>
                      <a:pPr latinLnBrk="1"/>
                      <a:endParaRPr lang="ko-KR" altLang="en-US"/>
                    </a:p>
                  </a:txBody>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Yaw : 0.15°  (QZSS)</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0.001° (1</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𝜎</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real-time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Rate &lt; 4°/hr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32584778"/>
                  </a:ext>
                </a:extLst>
              </a:tr>
              <a:tr h="362139">
                <a:tc rowSpan="2">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dumping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gridSpan="2">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Simultaneous control with station keeping</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to reduce fuel consumption. ON mode</a:t>
                      </a:r>
                      <a:r>
                        <a:rPr lang="en-US" sz="1000" kern="100" baseline="30000" dirty="0">
                          <a:effectLst/>
                          <a:latin typeface="맑은 고딕" panose="020B0503020000020004" pitchFamily="50" charset="-127"/>
                          <a:ea typeface="맑은 고딕" panose="020B0503020000020004" pitchFamily="50" charset="-127"/>
                          <a:cs typeface="Times New Roman" panose="02020603050405020304" pitchFamily="18" charset="0"/>
                        </a:rPr>
                        <a:t>1</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latinLnBrk="1"/>
                      <a:endParaRPr lang="ko-KR" altLang="en-US"/>
                    </a:p>
                  </a:txBody>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Within 2</a:t>
                      </a:r>
                      <a:r>
                        <a:rPr lang="ko-KR" sz="1000" kern="100" dirty="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 of nadir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00588833"/>
                  </a:ext>
                </a:extLst>
              </a:tr>
              <a:tr h="127814">
                <a:tc vMerge="1">
                  <a:txBody>
                    <a:bodyPr/>
                    <a:lstStyle/>
                    <a:p>
                      <a:pPr latinLnBrk="1"/>
                      <a:endParaRPr lang="ko-KR" altLang="en-US"/>
                    </a:p>
                  </a:txBody>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0.15°</a:t>
                      </a:r>
                      <a:endParaRPr lang="ko-KR" alt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0.001° (1</a:t>
                      </a:r>
                      <a:r>
                        <a:rPr lang="en-US" sz="1000" kern="100">
                          <a:effectLst/>
                          <a:latin typeface="Cambria Math" panose="02040503050406030204" pitchFamily="18" charset="0"/>
                          <a:ea typeface="맑은 고딕" panose="020B0503020000020004" pitchFamily="50" charset="-127"/>
                          <a:cs typeface="Cambria Math" panose="02040503050406030204" pitchFamily="18" charset="0"/>
                        </a:rPr>
                        <a:t>𝜎</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19650055"/>
                  </a:ext>
                </a:extLst>
              </a:tr>
              <a:tr h="362139">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 insertion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Less than 0.5°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(Typical thruster misalignment)</a:t>
                      </a:r>
                      <a:r>
                        <a:rPr lang="en-US" sz="1000" kern="100" baseline="30000">
                          <a:effectLst/>
                          <a:latin typeface="맑은 고딕" panose="020B0503020000020004" pitchFamily="50" charset="-127"/>
                          <a:ea typeface="맑은 고딕" panose="020B0503020000020004" pitchFamily="50" charset="-127"/>
                          <a:cs typeface="Times New Roman" panose="02020603050405020304" pitchFamily="18" charset="0"/>
                        </a:rPr>
                        <a:t>6</a:t>
                      </a:r>
                      <a:endParaRPr lang="ko-KR" alt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0.05° (1</a:t>
                      </a:r>
                      <a:r>
                        <a:rPr lang="en-US" sz="1000" kern="100" dirty="0">
                          <a:effectLst/>
                          <a:latin typeface="Cambria Math" panose="02040503050406030204" pitchFamily="18" charset="0"/>
                          <a:ea typeface="맑은 고딕" panose="020B0503020000020004" pitchFamily="50" charset="-127"/>
                          <a:cs typeface="Cambria Math" panose="02040503050406030204" pitchFamily="18" charset="0"/>
                        </a:rPr>
                        <a:t>𝜎</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27979166"/>
                  </a:ext>
                </a:extLst>
              </a:tr>
              <a:tr h="362139">
                <a:tc rowSpan="2">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Safe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Within 10° of nadir</a:t>
                      </a:r>
                      <a:endParaRPr lang="ko-KR" alt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Within 20° of nadir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Within 60</a:t>
                      </a:r>
                      <a:r>
                        <a:rPr lang="ko-KR" sz="1000" kern="100" dirty="0">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 of Sun</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90970706"/>
                  </a:ext>
                </a:extLst>
              </a:tr>
              <a:tr h="127814">
                <a:tc vMerge="1">
                  <a:txBody>
                    <a:bodyPr/>
                    <a:lstStyle/>
                    <a:p>
                      <a:pPr latinLnBrk="1"/>
                      <a:endParaRPr lang="ko-KR" altLang="en-US"/>
                    </a:p>
                  </a:txBody>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0.15°</a:t>
                      </a:r>
                      <a:endParaRPr lang="ko-KR" altLang="en-US"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0.05° (1</a:t>
                      </a:r>
                      <a:r>
                        <a:rPr lang="en-US" sz="1000" kern="100" dirty="0">
                          <a:effectLst/>
                          <a:latin typeface="Cambria Math" panose="02040503050406030204" pitchFamily="18" charset="0"/>
                          <a:ea typeface="맑은 고딕" panose="020B0503020000020004" pitchFamily="50" charset="-127"/>
                          <a:cs typeface="Cambria Math" panose="02040503050406030204" pitchFamily="18" charset="0"/>
                        </a:rPr>
                        <a:t>𝜎</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21992107"/>
                  </a:ext>
                </a:extLst>
              </a:tr>
            </a:tbl>
          </a:graphicData>
        </a:graphic>
      </p:graphicFrame>
    </p:spTree>
    <p:extLst>
      <p:ext uri="{BB962C8B-B14F-4D97-AF65-F5344CB8AC3E}">
        <p14:creationId xmlns:p14="http://schemas.microsoft.com/office/powerpoint/2010/main" val="3225342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그림 2">
            <a:extLst>
              <a:ext uri="{FF2B5EF4-FFF2-40B4-BE49-F238E27FC236}">
                <a16:creationId xmlns:a16="http://schemas.microsoft.com/office/drawing/2014/main" id="{67DDD7FE-7164-4FB2-9214-F1ED15661400}"/>
              </a:ext>
            </a:extLst>
          </p:cNvPr>
          <p:cNvPicPr>
            <a:picLocks noChangeAspect="1"/>
          </p:cNvPicPr>
          <p:nvPr/>
        </p:nvPicPr>
        <p:blipFill>
          <a:blip r:embed="rId3"/>
          <a:stretch>
            <a:fillRect/>
          </a:stretch>
        </p:blipFill>
        <p:spPr>
          <a:xfrm>
            <a:off x="2567321" y="1148570"/>
            <a:ext cx="4009357" cy="3742235"/>
          </a:xfrm>
          <a:prstGeom prst="rect">
            <a:avLst/>
          </a:prstGeom>
        </p:spPr>
      </p:pic>
      <p:sp>
        <p:nvSpPr>
          <p:cNvPr id="9" name="Google Shape;1974;p55">
            <a:extLst>
              <a:ext uri="{FF2B5EF4-FFF2-40B4-BE49-F238E27FC236}">
                <a16:creationId xmlns:a16="http://schemas.microsoft.com/office/drawing/2014/main" id="{875B5A93-2433-40A3-9F3E-B832A91C74B3}"/>
              </a:ext>
            </a:extLst>
          </p:cNvPr>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5.1.b. Define or derive system-level requirements by control mode</a:t>
            </a:r>
            <a:endParaRPr lang="en-US" sz="1400" dirty="0"/>
          </a:p>
        </p:txBody>
      </p:sp>
    </p:spTree>
    <p:extLst>
      <p:ext uri="{BB962C8B-B14F-4D97-AF65-F5344CB8AC3E}">
        <p14:creationId xmlns:p14="http://schemas.microsoft.com/office/powerpoint/2010/main" val="20424263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5.2. Select type of S/C control by attitude control mode</a:t>
            </a:r>
            <a:endParaRPr lang="en-US" sz="14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표 2">
            <a:extLst>
              <a:ext uri="{FF2B5EF4-FFF2-40B4-BE49-F238E27FC236}">
                <a16:creationId xmlns:a16="http://schemas.microsoft.com/office/drawing/2014/main" id="{C4ABF6C7-FD84-4967-B8AB-636132F57FD5}"/>
              </a:ext>
            </a:extLst>
          </p:cNvPr>
          <p:cNvGraphicFramePr>
            <a:graphicFrameLocks noGrp="1"/>
          </p:cNvGraphicFramePr>
          <p:nvPr/>
        </p:nvGraphicFramePr>
        <p:xfrm>
          <a:off x="1026200" y="1386271"/>
          <a:ext cx="7324122" cy="2572890"/>
        </p:xfrm>
        <a:graphic>
          <a:graphicData uri="http://schemas.openxmlformats.org/drawingml/2006/table">
            <a:tbl>
              <a:tblPr firstRow="1" firstCol="1" bandRow="1"/>
              <a:tblGrid>
                <a:gridCol w="1498780">
                  <a:extLst>
                    <a:ext uri="{9D8B030D-6E8A-4147-A177-3AD203B41FA5}">
                      <a16:colId xmlns:a16="http://schemas.microsoft.com/office/drawing/2014/main" val="2394818201"/>
                    </a:ext>
                  </a:extLst>
                </a:gridCol>
                <a:gridCol w="1271323">
                  <a:extLst>
                    <a:ext uri="{9D8B030D-6E8A-4147-A177-3AD203B41FA5}">
                      <a16:colId xmlns:a16="http://schemas.microsoft.com/office/drawing/2014/main" val="4258191722"/>
                    </a:ext>
                  </a:extLst>
                </a:gridCol>
                <a:gridCol w="1386677">
                  <a:extLst>
                    <a:ext uri="{9D8B030D-6E8A-4147-A177-3AD203B41FA5}">
                      <a16:colId xmlns:a16="http://schemas.microsoft.com/office/drawing/2014/main" val="2648135339"/>
                    </a:ext>
                  </a:extLst>
                </a:gridCol>
                <a:gridCol w="1386677">
                  <a:extLst>
                    <a:ext uri="{9D8B030D-6E8A-4147-A177-3AD203B41FA5}">
                      <a16:colId xmlns:a16="http://schemas.microsoft.com/office/drawing/2014/main" val="847538495"/>
                    </a:ext>
                  </a:extLst>
                </a:gridCol>
                <a:gridCol w="1780665">
                  <a:extLst>
                    <a:ext uri="{9D8B030D-6E8A-4147-A177-3AD203B41FA5}">
                      <a16:colId xmlns:a16="http://schemas.microsoft.com/office/drawing/2014/main" val="1608316497"/>
                    </a:ext>
                  </a:extLst>
                </a:gridCol>
              </a:tblGrid>
              <a:tr h="335577">
                <a:tc>
                  <a:txBody>
                    <a:bodyPr/>
                    <a:lstStyle/>
                    <a:p>
                      <a:pPr algn="ctr" latinLnBrk="1">
                        <a:lnSpc>
                          <a:spcPct val="107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Payload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70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Pointing direction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70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Disturbance environment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811866480"/>
                  </a:ext>
                </a:extLst>
              </a:tr>
              <a:tr h="335577">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Normal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7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Antenna pointing</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On-station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Nadir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SRP, (1), (2)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3867586"/>
                  </a:ext>
                </a:extLst>
              </a:tr>
              <a:tr h="335577">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Slew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Antenna pointing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On-station</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Nadir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 (2), (3)</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27569035"/>
                  </a:ext>
                </a:extLst>
              </a:tr>
              <a:tr h="620261">
                <a:tc>
                  <a:txBody>
                    <a:bodyPr/>
                    <a:lstStyle/>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dumping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Antenna pointing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On-station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Nadir</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7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RW momentum, SRP, </a:t>
                      </a:r>
                    </a:p>
                    <a:p>
                      <a:pPr algn="ctr" latinLnBrk="1">
                        <a:lnSpc>
                          <a:spcPct val="7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 (2), (3)</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18883548"/>
                  </a:ext>
                </a:extLst>
              </a:tr>
              <a:tr h="451280">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 insertion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X</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Transfer orbit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Velocity vector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SRP, (1), (2), (3)</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28002213"/>
                  </a:ext>
                </a:extLst>
              </a:tr>
              <a:tr h="494618">
                <a:tc>
                  <a:txBody>
                    <a:bodyPr/>
                    <a:lstStyle/>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Safe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X</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Any orbit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Any attitude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107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SRP, (1), (2), (3)</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98663323"/>
                  </a:ext>
                </a:extLst>
              </a:tr>
            </a:tbl>
          </a:graphicData>
        </a:graphic>
      </p:graphicFrame>
      <p:sp>
        <p:nvSpPr>
          <p:cNvPr id="2" name="TextBox 1">
            <a:extLst>
              <a:ext uri="{FF2B5EF4-FFF2-40B4-BE49-F238E27FC236}">
                <a16:creationId xmlns:a16="http://schemas.microsoft.com/office/drawing/2014/main" id="{9CB9C7CB-48B6-4492-8F4F-684D1B0734F9}"/>
              </a:ext>
            </a:extLst>
          </p:cNvPr>
          <p:cNvSpPr txBox="1"/>
          <p:nvPr/>
        </p:nvSpPr>
        <p:spPr>
          <a:xfrm>
            <a:off x="1468877" y="4119694"/>
            <a:ext cx="5885234" cy="430887"/>
          </a:xfrm>
          <a:prstGeom prst="rect">
            <a:avLst/>
          </a:prstGeom>
          <a:noFill/>
        </p:spPr>
        <p:txBody>
          <a:bodyPr wrap="square" rtlCol="0">
            <a:spAutoFit/>
          </a:bodyPr>
          <a:lstStyle/>
          <a:p>
            <a:r>
              <a:rPr lang="en-US" altLang="ko-KR" sz="1100" dirty="0">
                <a:solidFill>
                  <a:schemeClr val="bg1"/>
                </a:solidFill>
              </a:rPr>
              <a:t>(1) : Gravity-gradient / Magnetic field, (2) : Uncertainty in CoM, (3) : Thruster misalignment / Mismatch of thruster outputs</a:t>
            </a:r>
            <a:endParaRPr lang="ko-KR" altLang="en-US" sz="1100" dirty="0">
              <a:solidFill>
                <a:schemeClr val="bg1"/>
              </a:solidFill>
            </a:endParaRPr>
          </a:p>
        </p:txBody>
      </p:sp>
    </p:spTree>
    <p:extLst>
      <p:ext uri="{BB962C8B-B14F-4D97-AF65-F5344CB8AC3E}">
        <p14:creationId xmlns:p14="http://schemas.microsoft.com/office/powerpoint/2010/main" val="4054558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5.2. Select type of S/C control by attitude control mode</a:t>
            </a:r>
            <a:endParaRPr lang="en-US" sz="14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표 6">
            <a:extLst>
              <a:ext uri="{FF2B5EF4-FFF2-40B4-BE49-F238E27FC236}">
                <a16:creationId xmlns:a16="http://schemas.microsoft.com/office/drawing/2014/main" id="{50853ADF-D5EF-4F8C-84D4-7D989FDA8B49}"/>
              </a:ext>
            </a:extLst>
          </p:cNvPr>
          <p:cNvGraphicFramePr>
            <a:graphicFrameLocks noGrp="1"/>
          </p:cNvGraphicFramePr>
          <p:nvPr/>
        </p:nvGraphicFramePr>
        <p:xfrm>
          <a:off x="1307127" y="1420053"/>
          <a:ext cx="6977592" cy="3100485"/>
        </p:xfrm>
        <a:graphic>
          <a:graphicData uri="http://schemas.openxmlformats.org/drawingml/2006/table">
            <a:tbl>
              <a:tblPr firstRow="1" firstCol="1" bandRow="1"/>
              <a:tblGrid>
                <a:gridCol w="1093538">
                  <a:extLst>
                    <a:ext uri="{9D8B030D-6E8A-4147-A177-3AD203B41FA5}">
                      <a16:colId xmlns:a16="http://schemas.microsoft.com/office/drawing/2014/main" val="2893049013"/>
                    </a:ext>
                  </a:extLst>
                </a:gridCol>
                <a:gridCol w="3839378">
                  <a:extLst>
                    <a:ext uri="{9D8B030D-6E8A-4147-A177-3AD203B41FA5}">
                      <a16:colId xmlns:a16="http://schemas.microsoft.com/office/drawing/2014/main" val="2044908267"/>
                    </a:ext>
                  </a:extLst>
                </a:gridCol>
                <a:gridCol w="2044676">
                  <a:extLst>
                    <a:ext uri="{9D8B030D-6E8A-4147-A177-3AD203B41FA5}">
                      <a16:colId xmlns:a16="http://schemas.microsoft.com/office/drawing/2014/main" val="495502049"/>
                    </a:ext>
                  </a:extLst>
                </a:gridCol>
              </a:tblGrid>
              <a:tr h="283280">
                <a:tc>
                  <a:txBody>
                    <a:bodyPr/>
                    <a:lstStyle/>
                    <a:p>
                      <a:pPr algn="ctr" latinLnBrk="1">
                        <a:lnSpc>
                          <a:spcPct val="107000"/>
                        </a:lnSpc>
                        <a:spcAft>
                          <a:spcPts val="800"/>
                        </a:spcAft>
                      </a:pPr>
                      <a:r>
                        <a:rPr lang="en-US" sz="1000" b="1" kern="100" dirty="0">
                          <a:effectLst/>
                          <a:latin typeface="맑은 고딕" panose="020B0503020000020004" pitchFamily="50" charset="-127"/>
                          <a:ea typeface="맑은 고딕" panose="020B0503020000020004" pitchFamily="50" charset="-127"/>
                          <a:cs typeface="Times New Roman" panose="02020603050405020304" pitchFamily="18" charset="0"/>
                        </a:rPr>
                        <a:t>Mode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Control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Determination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796115918"/>
                  </a:ext>
                </a:extLst>
              </a:tr>
              <a:tr h="460539">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Normal</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Zero-bias 3-axis control/stabilization by RW</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IRU(high-freq. attitude determination w/ STT)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55637915"/>
                  </a:ext>
                </a:extLst>
              </a:tr>
              <a:tr h="460539">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Slew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Zero-bias 3-axis control by RW or RCT</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IRU(short-term attitude reference for eclipse slew)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61925007"/>
                  </a:ext>
                </a:extLst>
              </a:tr>
              <a:tr h="460539">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dumping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Zero-bias 3-axis control by RW and RCT</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STT, IRU, ESA</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59899807"/>
                  </a:ext>
                </a:extLst>
              </a:tr>
              <a:tr h="652431">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 insertion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Short-term spin stabilization during boost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(spin rate &gt; 20 rpm to prevent excessive nutation</a:t>
                      </a:r>
                      <a:r>
                        <a:rPr lang="en-US" sz="1000" kern="100" baseline="30000">
                          <a:effectLst/>
                          <a:latin typeface="맑은 고딕" panose="020B0503020000020004" pitchFamily="50" charset="-127"/>
                          <a:ea typeface="맑은 고딕" panose="020B0503020000020004" pitchFamily="50" charset="-127"/>
                          <a:cs typeface="Times New Roman" panose="02020603050405020304" pitchFamily="18" charset="0"/>
                        </a:rPr>
                        <a:t>6</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IRU(during thruster firing), FSS</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75256581"/>
                  </a:ext>
                </a:extLst>
              </a:tr>
              <a:tr h="783157">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Safe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Zero-bias 3-axis control/stabilization by RW and RCT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6195" marR="3619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FSS, IRU, ESA</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83987232"/>
                  </a:ext>
                </a:extLst>
              </a:tr>
            </a:tbl>
          </a:graphicData>
        </a:graphic>
      </p:graphicFrame>
      <p:sp>
        <p:nvSpPr>
          <p:cNvPr id="8" name="Rectangle 4">
            <a:extLst>
              <a:ext uri="{FF2B5EF4-FFF2-40B4-BE49-F238E27FC236}">
                <a16:creationId xmlns:a16="http://schemas.microsoft.com/office/drawing/2014/main" id="{FAE5C338-24FE-49FB-AC4F-BE0135176F69}"/>
              </a:ext>
            </a:extLst>
          </p:cNvPr>
          <p:cNvSpPr>
            <a:spLocks noChangeArrowheads="1"/>
          </p:cNvSpPr>
          <p:nvPr/>
        </p:nvSpPr>
        <p:spPr bwMode="auto">
          <a:xfrm>
            <a:off x="1152389" y="227926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0471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br>
              <a:rPr lang="en-US" altLang="ko-KR" dirty="0"/>
            </a:b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그림 2">
            <a:extLst>
              <a:ext uri="{FF2B5EF4-FFF2-40B4-BE49-F238E27FC236}">
                <a16:creationId xmlns:a16="http://schemas.microsoft.com/office/drawing/2014/main" id="{37902A94-C75E-4947-830C-B747441A857B}"/>
              </a:ext>
            </a:extLst>
          </p:cNvPr>
          <p:cNvPicPr>
            <a:picLocks noChangeAspect="1"/>
          </p:cNvPicPr>
          <p:nvPr/>
        </p:nvPicPr>
        <p:blipFill>
          <a:blip r:embed="rId3"/>
          <a:stretch>
            <a:fillRect/>
          </a:stretch>
        </p:blipFill>
        <p:spPr>
          <a:xfrm>
            <a:off x="2588820" y="1683591"/>
            <a:ext cx="3656337" cy="2436465"/>
          </a:xfrm>
          <a:prstGeom prst="rect">
            <a:avLst/>
          </a:prstGeom>
        </p:spPr>
      </p:pic>
    </p:spTree>
    <p:extLst>
      <p:ext uri="{BB962C8B-B14F-4D97-AF65-F5344CB8AC3E}">
        <p14:creationId xmlns:p14="http://schemas.microsoft.com/office/powerpoint/2010/main" val="30535946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br>
              <a:rPr lang="en-US" altLang="ko-KR" dirty="0"/>
            </a:b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C8677CE-048E-435A-956B-A79FD86670BE}"/>
              </a:ext>
            </a:extLst>
          </p:cNvPr>
          <p:cNvSpPr txBox="1"/>
          <p:nvPr/>
        </p:nvSpPr>
        <p:spPr>
          <a:xfrm>
            <a:off x="938500" y="1086547"/>
            <a:ext cx="4025591"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5.3.1. Solar Radiation Pressure</a:t>
            </a:r>
            <a:endParaRPr lang="ko-KR" altLang="en-US" sz="1100" dirty="0">
              <a:solidFill>
                <a:schemeClr val="bg1"/>
              </a:solidFill>
            </a:endParaRPr>
          </a:p>
        </p:txBody>
      </p:sp>
      <mc:AlternateContent xmlns:mc="http://schemas.openxmlformats.org/markup-compatibility/2006" xmlns:a14="http://schemas.microsoft.com/office/drawing/2010/main">
        <mc:Choice Requires="a14">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nvGraphicFramePr>
            <p:xfrm>
              <a:off x="1090900" y="1670526"/>
              <a:ext cx="7076470" cy="906567"/>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212729">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Cyclic torque on Earth-oriented vehicle</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1164247942"/>
                      </a:ext>
                    </a:extLst>
                  </a:tr>
                  <a:tr h="212729">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S/C geometry and CoM location, S/C surface reflectivity</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36492323"/>
                      </a:ext>
                    </a:extLst>
                  </a:tr>
                  <a:tr h="388407">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100" b="0" dirty="0">
                              <a:solidFill>
                                <a:schemeClr val="accent6"/>
                              </a:solidFill>
                            </a:rPr>
                            <a:t>   </a:t>
                          </a:r>
                          <a14:m>
                            <m:oMath xmlns:m="http://schemas.openxmlformats.org/officeDocument/2006/math">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𝑇</m:t>
                                  </m:r>
                                </m:e>
                                <m:sub>
                                  <m:r>
                                    <a:rPr lang="en-US" altLang="ko-KR" sz="1100" b="0" i="1" smtClean="0">
                                      <a:solidFill>
                                        <a:schemeClr val="accent6"/>
                                      </a:solidFill>
                                      <a:latin typeface="Cambria Math" panose="02040503050406030204" pitchFamily="18" charset="0"/>
                                    </a:rPr>
                                    <m:t>𝑠𝑝</m:t>
                                  </m:r>
                                </m:sub>
                              </m:sSub>
                              <m:r>
                                <a:rPr lang="en-US" altLang="ko-KR" sz="1100" b="0" i="1" smtClean="0">
                                  <a:solidFill>
                                    <a:schemeClr val="accent6"/>
                                  </a:solidFill>
                                  <a:latin typeface="Cambria Math" panose="02040503050406030204" pitchFamily="18" charset="0"/>
                                </a:rPr>
                                <m:t>=</m:t>
                              </m:r>
                              <m:r>
                                <a:rPr lang="en-US" altLang="ko-KR" sz="1100" b="0" i="1" smtClean="0">
                                  <a:solidFill>
                                    <a:schemeClr val="accent6"/>
                                  </a:solidFill>
                                  <a:latin typeface="Cambria Math" panose="02040503050406030204" pitchFamily="18" charset="0"/>
                                </a:rPr>
                                <m:t>𝐹</m:t>
                              </m:r>
                              <m:r>
                                <a:rPr lang="en-US" altLang="ko-KR" sz="1100" b="0" i="1" smtClean="0">
                                  <a:solidFill>
                                    <a:schemeClr val="accent6"/>
                                  </a:solidFill>
                                  <a:latin typeface="Cambria Math" panose="02040503050406030204" pitchFamily="18" charset="0"/>
                                </a:rPr>
                                <m:t>(</m:t>
                              </m:r>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𝑐</m:t>
                                  </m:r>
                                </m:e>
                                <m:sub>
                                  <m:r>
                                    <a:rPr lang="en-US" altLang="ko-KR" sz="1100" b="0" i="1" smtClean="0">
                                      <a:solidFill>
                                        <a:schemeClr val="accent6"/>
                                      </a:solidFill>
                                      <a:latin typeface="Cambria Math" panose="02040503050406030204" pitchFamily="18" charset="0"/>
                                    </a:rPr>
                                    <m:t>𝑝𝑠</m:t>
                                  </m:r>
                                </m:sub>
                              </m:sSub>
                              <m:r>
                                <a:rPr lang="en-US" altLang="ko-KR" sz="1100" b="0" i="1" smtClean="0">
                                  <a:solidFill>
                                    <a:schemeClr val="accent6"/>
                                  </a:solidFill>
                                  <a:latin typeface="Cambria Math" panose="02040503050406030204" pitchFamily="18" charset="0"/>
                                </a:rPr>
                                <m:t>−</m:t>
                              </m:r>
                              <m:r>
                                <a:rPr lang="en-US" altLang="ko-KR" sz="1100" b="0" i="1" smtClean="0">
                                  <a:solidFill>
                                    <a:schemeClr val="accent6"/>
                                  </a:solidFill>
                                  <a:latin typeface="Cambria Math" panose="02040503050406030204" pitchFamily="18" charset="0"/>
                                </a:rPr>
                                <m:t>𝑐𝑔</m:t>
                              </m:r>
                              <m:r>
                                <a:rPr lang="en-US" altLang="ko-KR" sz="1100" b="0" i="1" smtClean="0">
                                  <a:solidFill>
                                    <a:schemeClr val="accent6"/>
                                  </a:solidFill>
                                  <a:latin typeface="Cambria Math" panose="02040503050406030204" pitchFamily="18" charset="0"/>
                                </a:rPr>
                                <m:t>)</m:t>
                              </m:r>
                            </m:oMath>
                          </a14:m>
                          <a:r>
                            <a:rPr lang="en-US" altLang="ko-KR" sz="1100" b="0" dirty="0">
                              <a:solidFill>
                                <a:schemeClr val="accent6"/>
                              </a:solidFill>
                            </a:rPr>
                            <a:t>,    </a:t>
                          </a:r>
                          <a14:m>
                            <m:oMath xmlns:m="http://schemas.openxmlformats.org/officeDocument/2006/math">
                              <m:d>
                                <m:dPr>
                                  <m:begChr m:val="|"/>
                                  <m:endChr m:val="|"/>
                                  <m:ctrlPr>
                                    <a:rPr lang="en-US" altLang="ko-KR" sz="1100" b="0" i="1" smtClean="0">
                                      <a:solidFill>
                                        <a:schemeClr val="accent6"/>
                                      </a:solidFill>
                                      <a:latin typeface="Cambria Math" panose="02040503050406030204" pitchFamily="18" charset="0"/>
                                    </a:rPr>
                                  </m:ctrlPr>
                                </m:dPr>
                                <m:e>
                                  <m:r>
                                    <a:rPr lang="en-US" altLang="ko-KR" sz="1100" b="0" i="1" smtClean="0">
                                      <a:solidFill>
                                        <a:schemeClr val="accent6"/>
                                      </a:solidFill>
                                      <a:latin typeface="Cambria Math" panose="02040503050406030204" pitchFamily="18" charset="0"/>
                                    </a:rPr>
                                    <m:t>𝐹</m:t>
                                  </m:r>
                                </m:e>
                              </m:d>
                              <m:r>
                                <a:rPr lang="en-US" altLang="ko-KR" sz="1100" b="0" i="1" smtClean="0">
                                  <a:solidFill>
                                    <a:schemeClr val="accent6"/>
                                  </a:solidFill>
                                  <a:latin typeface="Cambria Math" panose="02040503050406030204" pitchFamily="18" charset="0"/>
                                </a:rPr>
                                <m:t>=</m:t>
                              </m:r>
                              <m:f>
                                <m:fPr>
                                  <m:ctrlPr>
                                    <a:rPr lang="en-US" altLang="ko-KR" sz="1100" b="0" i="1" smtClean="0">
                                      <a:solidFill>
                                        <a:schemeClr val="accent6"/>
                                      </a:solidFill>
                                      <a:latin typeface="Cambria Math" panose="02040503050406030204" pitchFamily="18" charset="0"/>
                                    </a:rPr>
                                  </m:ctrlPr>
                                </m:fPr>
                                <m:num>
                                  <m:r>
                                    <m:rPr>
                                      <m:sty m:val="p"/>
                                    </m:rPr>
                                    <a:rPr lang="en-US" altLang="ko-KR" sz="1100" b="0" i="0" smtClean="0">
                                      <a:solidFill>
                                        <a:schemeClr val="accent6"/>
                                      </a:solidFill>
                                      <a:latin typeface="Cambria Math" panose="02040503050406030204" pitchFamily="18" charset="0"/>
                                    </a:rPr>
                                    <m:t>Φ</m:t>
                                  </m:r>
                                </m:num>
                                <m:den>
                                  <m:r>
                                    <a:rPr lang="en-US" altLang="ko-KR" sz="1100" b="0" i="1" smtClean="0">
                                      <a:solidFill>
                                        <a:schemeClr val="accent6"/>
                                      </a:solidFill>
                                      <a:latin typeface="Cambria Math" panose="02040503050406030204" pitchFamily="18" charset="0"/>
                                    </a:rPr>
                                    <m:t>𝑐</m:t>
                                  </m:r>
                                </m:den>
                              </m:f>
                              <m:r>
                                <a:rPr lang="en-US" altLang="ko-KR" sz="1100" b="0" i="1" smtClean="0">
                                  <a:solidFill>
                                    <a:schemeClr val="accent6"/>
                                  </a:solidFill>
                                  <a:latin typeface="Cambria Math" panose="02040503050406030204" pitchFamily="18" charset="0"/>
                                </a:rPr>
                                <m:t>𝐴𝑐𝑜𝑠</m:t>
                              </m:r>
                              <m:r>
                                <a:rPr lang="en-US" altLang="ko-KR" sz="1100" b="0" i="1" smtClean="0">
                                  <a:solidFill>
                                    <a:schemeClr val="accent6"/>
                                  </a:solidFill>
                                  <a:latin typeface="Cambria Math" panose="02040503050406030204" pitchFamily="18" charset="0"/>
                                </a:rPr>
                                <m:t>𝜃</m:t>
                              </m:r>
                              <m:d>
                                <m:dPr>
                                  <m:begChr m:val="["/>
                                  <m:endChr m:val="]"/>
                                  <m:ctrlPr>
                                    <a:rPr lang="en-US" altLang="ko-KR" sz="1100" b="0" i="1" smtClean="0">
                                      <a:solidFill>
                                        <a:schemeClr val="accent6"/>
                                      </a:solidFill>
                                      <a:latin typeface="Cambria Math" panose="02040503050406030204" pitchFamily="18" charset="0"/>
                                    </a:rPr>
                                  </m:ctrlPr>
                                </m:dPr>
                                <m:e>
                                  <m:d>
                                    <m:dPr>
                                      <m:ctrlPr>
                                        <a:rPr lang="en-US" altLang="ko-KR" sz="1100" b="0" i="1" smtClean="0">
                                          <a:solidFill>
                                            <a:schemeClr val="accent6"/>
                                          </a:solidFill>
                                          <a:latin typeface="Cambria Math" panose="02040503050406030204" pitchFamily="18" charset="0"/>
                                        </a:rPr>
                                      </m:ctrlPr>
                                    </m:dPr>
                                    <m:e>
                                      <m:r>
                                        <a:rPr lang="en-US" altLang="ko-KR" sz="1100" b="0" i="1" smtClean="0">
                                          <a:solidFill>
                                            <a:schemeClr val="accent6"/>
                                          </a:solidFill>
                                          <a:latin typeface="Cambria Math" panose="02040503050406030204" pitchFamily="18" charset="0"/>
                                        </a:rPr>
                                        <m:t>𝛼</m:t>
                                      </m:r>
                                      <m:r>
                                        <a:rPr lang="en-US" altLang="ko-KR" sz="1100" b="0" i="1" smtClean="0">
                                          <a:solidFill>
                                            <a:schemeClr val="accent6"/>
                                          </a:solidFill>
                                          <a:latin typeface="Cambria Math" panose="02040503050406030204" pitchFamily="18" charset="0"/>
                                        </a:rPr>
                                        <m:t>+</m:t>
                                      </m:r>
                                      <m:r>
                                        <a:rPr lang="en-US" altLang="ko-KR" sz="1100" b="0" i="1" smtClean="0">
                                          <a:solidFill>
                                            <a:schemeClr val="accent6"/>
                                          </a:solidFill>
                                          <a:latin typeface="Cambria Math" panose="02040503050406030204" pitchFamily="18" charset="0"/>
                                        </a:rPr>
                                        <m:t>𝛿</m:t>
                                      </m:r>
                                    </m:e>
                                  </m:d>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𝑒</m:t>
                                      </m:r>
                                    </m:e>
                                    <m:sub>
                                      <m:r>
                                        <a:rPr lang="en-US" altLang="ko-KR" sz="1100" b="0" i="1" smtClean="0">
                                          <a:solidFill>
                                            <a:schemeClr val="accent6"/>
                                          </a:solidFill>
                                          <a:latin typeface="Cambria Math" panose="02040503050406030204" pitchFamily="18" charset="0"/>
                                        </a:rPr>
                                        <m:t>⨀</m:t>
                                      </m:r>
                                    </m:sub>
                                  </m:sSub>
                                  <m:r>
                                    <a:rPr lang="en-US" altLang="ko-KR" sz="1100" b="0" i="1" smtClean="0">
                                      <a:solidFill>
                                        <a:schemeClr val="accent6"/>
                                      </a:solidFill>
                                      <a:latin typeface="Cambria Math" panose="02040503050406030204" pitchFamily="18" charset="0"/>
                                    </a:rPr>
                                    <m:t>+</m:t>
                                  </m:r>
                                  <m:f>
                                    <m:fPr>
                                      <m:ctrlPr>
                                        <a:rPr lang="en-US" altLang="ko-KR" sz="1100" b="0" i="1" smtClean="0">
                                          <a:solidFill>
                                            <a:schemeClr val="accent6"/>
                                          </a:solidFill>
                                          <a:latin typeface="Cambria Math" panose="02040503050406030204" pitchFamily="18" charset="0"/>
                                        </a:rPr>
                                      </m:ctrlPr>
                                    </m:fPr>
                                    <m:num>
                                      <m:r>
                                        <a:rPr lang="en-US" altLang="ko-KR" sz="1100" b="0" i="1" smtClean="0">
                                          <a:solidFill>
                                            <a:schemeClr val="accent6"/>
                                          </a:solidFill>
                                          <a:latin typeface="Cambria Math" panose="02040503050406030204" pitchFamily="18" charset="0"/>
                                        </a:rPr>
                                        <m:t>2</m:t>
                                      </m:r>
                                    </m:num>
                                    <m:den>
                                      <m:r>
                                        <a:rPr lang="en-US" altLang="ko-KR" sz="1100" b="0" i="1" smtClean="0">
                                          <a:solidFill>
                                            <a:schemeClr val="accent6"/>
                                          </a:solidFill>
                                          <a:latin typeface="Cambria Math" panose="02040503050406030204" pitchFamily="18" charset="0"/>
                                        </a:rPr>
                                        <m:t>3</m:t>
                                      </m:r>
                                    </m:den>
                                  </m:f>
                                  <m:r>
                                    <a:rPr lang="en-US" altLang="ko-KR" sz="1100" b="0" i="1" smtClean="0">
                                      <a:solidFill>
                                        <a:schemeClr val="accent6"/>
                                      </a:solidFill>
                                      <a:latin typeface="Cambria Math" panose="02040503050406030204" pitchFamily="18" charset="0"/>
                                    </a:rPr>
                                    <m:t>𝛿</m:t>
                                  </m:r>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𝑒</m:t>
                                      </m:r>
                                    </m:e>
                                    <m:sub>
                                      <m:r>
                                        <a:rPr lang="en-US" altLang="ko-KR" sz="1100" b="0" i="1" smtClean="0">
                                          <a:solidFill>
                                            <a:schemeClr val="accent6"/>
                                          </a:solidFill>
                                          <a:latin typeface="Cambria Math" panose="02040503050406030204" pitchFamily="18" charset="0"/>
                                        </a:rPr>
                                        <m:t>𝑛</m:t>
                                      </m:r>
                                    </m:sub>
                                  </m:sSub>
                                  <m:r>
                                    <a:rPr lang="en-US" altLang="ko-KR" sz="1100" b="0" i="1" smtClean="0">
                                      <a:solidFill>
                                        <a:schemeClr val="accent6"/>
                                      </a:solidFill>
                                      <a:latin typeface="Cambria Math" panose="02040503050406030204" pitchFamily="18" charset="0"/>
                                    </a:rPr>
                                    <m:t>+2</m:t>
                                  </m:r>
                                  <m:r>
                                    <a:rPr lang="en-US" altLang="ko-KR" sz="1100" b="0" i="1" smtClean="0">
                                      <a:solidFill>
                                        <a:schemeClr val="accent6"/>
                                      </a:solidFill>
                                      <a:latin typeface="Cambria Math" panose="02040503050406030204" pitchFamily="18" charset="0"/>
                                    </a:rPr>
                                    <m:t>𝜌</m:t>
                                  </m:r>
                                  <m:r>
                                    <a:rPr lang="en-US" altLang="ko-KR" sz="1100" b="0" i="1" smtClean="0">
                                      <a:solidFill>
                                        <a:schemeClr val="accent6"/>
                                      </a:solidFill>
                                      <a:latin typeface="Cambria Math" panose="02040503050406030204" pitchFamily="18" charset="0"/>
                                    </a:rPr>
                                    <m:t>𝑐𝑜𝑠</m:t>
                                  </m:r>
                                  <m:r>
                                    <a:rPr lang="en-US" altLang="ko-KR" sz="1100" b="0" i="1" smtClean="0">
                                      <a:solidFill>
                                        <a:schemeClr val="accent6"/>
                                      </a:solidFill>
                                      <a:latin typeface="Cambria Math" panose="02040503050406030204" pitchFamily="18" charset="0"/>
                                    </a:rPr>
                                    <m:t>𝜃</m:t>
                                  </m:r>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𝑒</m:t>
                                      </m:r>
                                    </m:e>
                                    <m:sub>
                                      <m:r>
                                        <a:rPr lang="en-US" altLang="ko-KR" sz="1100" b="0" i="1" smtClean="0">
                                          <a:solidFill>
                                            <a:schemeClr val="accent6"/>
                                          </a:solidFill>
                                          <a:latin typeface="Cambria Math" panose="02040503050406030204" pitchFamily="18" charset="0"/>
                                        </a:rPr>
                                        <m:t>𝑛</m:t>
                                      </m:r>
                                    </m:sub>
                                  </m:sSub>
                                </m:e>
                              </m:d>
                            </m:oMath>
                          </a14:m>
                          <a:r>
                            <a:rPr lang="ko-KR" altLang="en-US" sz="1400" dirty="0">
                              <a:solidFill>
                                <a:schemeClr val="accent6"/>
                              </a:solidFill>
                            </a:rPr>
                            <a:t>  </a:t>
                          </a:r>
                          <a:r>
                            <a:rPr lang="en-US" altLang="ko-KR" sz="800" dirty="0">
                              <a:solidFill>
                                <a:schemeClr val="accent6"/>
                              </a:solidFill>
                            </a:rPr>
                            <a:t>[1]</a:t>
                          </a:r>
                          <a:endParaRPr lang="en-US" altLang="ko-KR"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683127972"/>
                      </a:ext>
                    </a:extLst>
                  </a:tr>
                </a:tbl>
              </a:graphicData>
            </a:graphic>
          </p:graphicFrame>
        </mc:Choice>
        <mc:Fallback xmlns="">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extLst>
                  <p:ext uri="{D42A27DB-BD31-4B8C-83A1-F6EECF244321}">
                    <p14:modId xmlns:p14="http://schemas.microsoft.com/office/powerpoint/2010/main" val="4253135181"/>
                  </p:ext>
                </p:extLst>
              </p:nvPr>
            </p:nvGraphicFramePr>
            <p:xfrm>
              <a:off x="1090900" y="1670526"/>
              <a:ext cx="7076470" cy="906567"/>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259080">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Cyclic torque on Earth-oriented vehicle</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1164247942"/>
                      </a:ext>
                    </a:extLst>
                  </a:tr>
                  <a:tr h="259080">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S/C geometry and CoM location, S/C surface reflectivity</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36492323"/>
                      </a:ext>
                    </a:extLst>
                  </a:tr>
                  <a:tr h="388407">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endParaRPr lang="ko-KR"/>
                        </a:p>
                      </a:txBody>
                      <a:tcPr anchor="ctr">
                        <a:blipFill>
                          <a:blip r:embed="rId3"/>
                          <a:stretch>
                            <a:fillRect l="-40000" t="-134375" r="-241" b="-3125"/>
                          </a:stretch>
                        </a:blipFill>
                      </a:tcPr>
                    </a:tc>
                    <a:extLst>
                      <a:ext uri="{0D108BD9-81ED-4DB2-BD59-A6C34878D82A}">
                        <a16:rowId xmlns:a16="http://schemas.microsoft.com/office/drawing/2014/main" val="683127972"/>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4A4F0B-2877-4516-A71E-35423F90D071}"/>
                  </a:ext>
                </a:extLst>
              </p:cNvPr>
              <p:cNvSpPr txBox="1"/>
              <p:nvPr/>
            </p:nvSpPr>
            <p:spPr>
              <a:xfrm>
                <a:off x="1383254" y="2960755"/>
                <a:ext cx="2405946" cy="1096198"/>
              </a:xfrm>
              <a:prstGeom prst="rect">
                <a:avLst/>
              </a:prstGeom>
              <a:noFill/>
            </p:spPr>
            <p:txBody>
              <a:bodyPr wrap="square" rtlCol="0">
                <a:spAutoFit/>
              </a:bodyPr>
              <a:lstStyle/>
              <a:p>
                <a:pPr>
                  <a:lnSpc>
                    <a:spcPct val="150000"/>
                  </a:lnSpc>
                </a:pPr>
                <a:r>
                  <a:rPr lang="en-US" altLang="ko-KR" sz="1100" dirty="0">
                    <a:solidFill>
                      <a:schemeClr val="bg1"/>
                    </a:solidFill>
                  </a:rPr>
                  <a:t>Worst-case solar radiation pressure</a:t>
                </a:r>
              </a:p>
              <a:p>
                <a:pPr>
                  <a:lnSpc>
                    <a:spcPct val="150000"/>
                  </a:lnSpc>
                </a:pPr>
                <a:r>
                  <a:rPr lang="en-US" altLang="ko-KR" sz="1100" dirty="0">
                    <a:solidFill>
                      <a:schemeClr val="bg1"/>
                    </a:solidFill>
                  </a:rPr>
                  <a:t>when </a:t>
                </a:r>
                <a14:m>
                  <m:oMath xmlns:m="http://schemas.openxmlformats.org/officeDocument/2006/math">
                    <m:r>
                      <a:rPr lang="en-US" altLang="ko-KR" sz="1100" i="1">
                        <a:solidFill>
                          <a:schemeClr val="bg1"/>
                        </a:solidFill>
                        <a:latin typeface="Cambria Math" panose="02040503050406030204" pitchFamily="18" charset="0"/>
                      </a:rPr>
                      <m:t>𝜃</m:t>
                    </m:r>
                    <m:r>
                      <a:rPr lang="en-US" altLang="ko-KR" sz="1100" i="1">
                        <a:solidFill>
                          <a:schemeClr val="bg1"/>
                        </a:solidFill>
                        <a:latin typeface="Cambria Math" panose="02040503050406030204" pitchFamily="18" charset="0"/>
                      </a:rPr>
                      <m:t>=0°</m:t>
                    </m:r>
                  </m:oMath>
                </a14:m>
                <a:r>
                  <a:rPr lang="en-US" altLang="ko-KR" sz="1100" dirty="0">
                    <a:solidFill>
                      <a:schemeClr val="bg1"/>
                    </a:solidFill>
                  </a:rPr>
                  <a:t>, </a:t>
                </a:r>
                <a14:m>
                  <m:oMath xmlns:m="http://schemas.openxmlformats.org/officeDocument/2006/math">
                    <m:sSub>
                      <m:sSubPr>
                        <m:ctrlPr>
                          <a:rPr lang="en-US" altLang="ko-KR" sz="1100" i="1" dirty="0" smtClean="0">
                            <a:solidFill>
                              <a:schemeClr val="bg1"/>
                            </a:solidFill>
                            <a:latin typeface="Cambria Math" panose="02040503050406030204" pitchFamily="18" charset="0"/>
                          </a:rPr>
                        </m:ctrlPr>
                      </m:sSubPr>
                      <m:e>
                        <m:r>
                          <a:rPr lang="ko-KR" altLang="en-US" sz="1100" i="1" dirty="0" smtClean="0">
                            <a:solidFill>
                              <a:schemeClr val="bg1"/>
                            </a:solidFill>
                            <a:latin typeface="Cambria Math" panose="02040503050406030204" pitchFamily="18" charset="0"/>
                          </a:rPr>
                          <m:t>𝑐</m:t>
                        </m:r>
                      </m:e>
                      <m:sub>
                        <m:r>
                          <a:rPr lang="ko-KR" altLang="en-US" sz="1100" i="1" dirty="0" smtClean="0">
                            <a:solidFill>
                              <a:schemeClr val="bg1"/>
                            </a:solidFill>
                            <a:latin typeface="Cambria Math" panose="02040503050406030204" pitchFamily="18" charset="0"/>
                          </a:rPr>
                          <m:t>𝑝𝑠</m:t>
                        </m:r>
                      </m:sub>
                    </m:sSub>
                    <m:r>
                      <a:rPr lang="ko-KR" altLang="en-US" sz="1100" i="1" dirty="0" smtClean="0">
                        <a:solidFill>
                          <a:schemeClr val="bg1"/>
                        </a:solidFill>
                        <a:latin typeface="Cambria Math" panose="02040503050406030204" pitchFamily="18" charset="0"/>
                      </a:rPr>
                      <m:t>−</m:t>
                    </m:r>
                    <m:r>
                      <a:rPr lang="ko-KR" altLang="en-US" sz="1100" i="1" dirty="0" smtClean="0">
                        <a:solidFill>
                          <a:schemeClr val="bg1"/>
                        </a:solidFill>
                        <a:latin typeface="Cambria Math" panose="02040503050406030204" pitchFamily="18" charset="0"/>
                      </a:rPr>
                      <m:t>𝑐𝑔</m:t>
                    </m:r>
                    <m:r>
                      <a:rPr lang="en-US" altLang="ko-KR" sz="1100" i="1" dirty="0" smtClean="0">
                        <a:solidFill>
                          <a:schemeClr val="bg1"/>
                        </a:solidFill>
                        <a:latin typeface="Cambria Math" panose="02040503050406030204" pitchFamily="18" charset="0"/>
                      </a:rPr>
                      <m:t>= </m:t>
                    </m:r>
                    <m:r>
                      <a:rPr lang="en-US" altLang="ko-KR" sz="1100" i="1" dirty="0">
                        <a:solidFill>
                          <a:schemeClr val="bg1"/>
                        </a:solidFill>
                        <a:latin typeface="Cambria Math" panose="02040503050406030204" pitchFamily="18" charset="0"/>
                      </a:rPr>
                      <m:t>0.5 </m:t>
                    </m:r>
                    <m:r>
                      <m:rPr>
                        <m:sty m:val="p"/>
                      </m:rPr>
                      <a:rPr lang="en-US" altLang="ko-KR" sz="1100" i="0" dirty="0">
                        <a:solidFill>
                          <a:schemeClr val="bg1"/>
                        </a:solidFill>
                        <a:latin typeface="Cambria Math" panose="02040503050406030204" pitchFamily="18" charset="0"/>
                      </a:rPr>
                      <m:t>m</m:t>
                    </m:r>
                  </m:oMath>
                </a14:m>
                <a:r>
                  <a:rPr lang="en-US" altLang="ko-KR" sz="1100" dirty="0">
                    <a:solidFill>
                      <a:schemeClr val="bg1"/>
                    </a:solidFill>
                  </a:rPr>
                  <a:t>,</a:t>
                </a:r>
              </a:p>
              <a:p>
                <a:pPr>
                  <a:lnSpc>
                    <a:spcPct val="150000"/>
                  </a:lnSpc>
                </a:pPr>
                <a:r>
                  <a:rPr lang="en-US" altLang="ko-KR" sz="1100" dirty="0">
                    <a:solidFill>
                      <a:schemeClr val="bg1"/>
                    </a:solidFill>
                  </a:rPr>
                  <a:t>and wing axis has 3 cm offset from S/C CoM</a:t>
                </a:r>
              </a:p>
            </p:txBody>
          </p:sp>
        </mc:Choice>
        <mc:Fallback xmlns="">
          <p:sp>
            <p:nvSpPr>
              <p:cNvPr id="8" name="TextBox 7">
                <a:extLst>
                  <a:ext uri="{FF2B5EF4-FFF2-40B4-BE49-F238E27FC236}">
                    <a16:creationId xmlns:a16="http://schemas.microsoft.com/office/drawing/2014/main" id="{F44A4F0B-2877-4516-A71E-35423F90D071}"/>
                  </a:ext>
                </a:extLst>
              </p:cNvPr>
              <p:cNvSpPr txBox="1">
                <a:spLocks noRot="1" noChangeAspect="1" noMove="1" noResize="1" noEditPoints="1" noAdjustHandles="1" noChangeArrowheads="1" noChangeShapeType="1" noTextEdit="1"/>
              </p:cNvSpPr>
              <p:nvPr/>
            </p:nvSpPr>
            <p:spPr>
              <a:xfrm>
                <a:off x="1383254" y="2960755"/>
                <a:ext cx="2405946" cy="1096198"/>
              </a:xfrm>
              <a:prstGeom prst="rect">
                <a:avLst/>
              </a:prstGeom>
              <a:blipFill>
                <a:blip r:embed="rId4"/>
                <a:stretch>
                  <a:fillRect b="-2778"/>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AAC44723-BD2F-4522-9DD4-FC5E861B0C84}"/>
              </a:ext>
            </a:extLst>
          </p:cNvPr>
          <p:cNvPicPr>
            <a:picLocks noChangeAspect="1"/>
          </p:cNvPicPr>
          <p:nvPr/>
        </p:nvPicPr>
        <p:blipFill>
          <a:blip r:embed="rId5"/>
          <a:stretch>
            <a:fillRect/>
          </a:stretch>
        </p:blipFill>
        <p:spPr>
          <a:xfrm>
            <a:off x="5228454" y="2860444"/>
            <a:ext cx="2786516" cy="1196509"/>
          </a:xfrm>
          <a:prstGeom prst="rect">
            <a:avLst/>
          </a:prstGeom>
        </p:spPr>
      </p:pic>
      <p:sp>
        <p:nvSpPr>
          <p:cNvPr id="10" name="TextBox 9">
            <a:extLst>
              <a:ext uri="{FF2B5EF4-FFF2-40B4-BE49-F238E27FC236}">
                <a16:creationId xmlns:a16="http://schemas.microsoft.com/office/drawing/2014/main" id="{A7EDDBA3-0EF9-4193-8611-BF50B011B6C5}"/>
              </a:ext>
            </a:extLst>
          </p:cNvPr>
          <p:cNvSpPr txBox="1"/>
          <p:nvPr/>
        </p:nvSpPr>
        <p:spPr>
          <a:xfrm>
            <a:off x="1202276" y="4575589"/>
            <a:ext cx="4413520" cy="276999"/>
          </a:xfrm>
          <a:prstGeom prst="rect">
            <a:avLst/>
          </a:prstGeom>
          <a:noFill/>
        </p:spPr>
        <p:txBody>
          <a:bodyPr wrap="square" rtlCol="0">
            <a:spAutoFit/>
          </a:bodyPr>
          <a:lstStyle/>
          <a:p>
            <a:r>
              <a:rPr lang="en-US" altLang="ko-KR" sz="600" dirty="0">
                <a:solidFill>
                  <a:schemeClr val="bg1">
                    <a:lumMod val="75000"/>
                  </a:schemeClr>
                </a:solidFill>
              </a:rPr>
              <a:t>[1]  https://www.sciencedirect.com/science/article/abs/pii/0032063387900602?via%3Dihub</a:t>
            </a:r>
          </a:p>
          <a:p>
            <a:r>
              <a:rPr lang="en-US" altLang="ko-KR" sz="600" dirty="0">
                <a:solidFill>
                  <a:schemeClr val="bg1">
                    <a:lumMod val="75000"/>
                  </a:schemeClr>
                </a:solidFill>
              </a:rPr>
              <a:t>[2]  https://qzss.go.jp/en/technical/qzssinfo/khp0mf0000000wuf-att/spi-qzs4_c.pdf</a:t>
            </a:r>
            <a:endParaRPr lang="ko-KR" altLang="en-US" sz="600" dirty="0">
              <a:solidFill>
                <a:schemeClr val="bg1">
                  <a:lumMod val="75000"/>
                </a:schemeClr>
              </a:solidFill>
            </a:endParaRPr>
          </a:p>
        </p:txBody>
      </p:sp>
      <p:sp>
        <p:nvSpPr>
          <p:cNvPr id="6" name="TextBox 5">
            <a:extLst>
              <a:ext uri="{FF2B5EF4-FFF2-40B4-BE49-F238E27FC236}">
                <a16:creationId xmlns:a16="http://schemas.microsoft.com/office/drawing/2014/main" id="{7989460F-1257-42CD-93F0-7583C6523F10}"/>
              </a:ext>
            </a:extLst>
          </p:cNvPr>
          <p:cNvSpPr txBox="1"/>
          <p:nvPr/>
        </p:nvSpPr>
        <p:spPr>
          <a:xfrm>
            <a:off x="5228454" y="4009411"/>
            <a:ext cx="2551574" cy="307777"/>
          </a:xfrm>
          <a:prstGeom prst="rect">
            <a:avLst/>
          </a:prstGeom>
          <a:noFill/>
        </p:spPr>
        <p:txBody>
          <a:bodyPr wrap="square" rtlCol="0">
            <a:spAutoFit/>
          </a:bodyPr>
          <a:lstStyle/>
          <a:p>
            <a:r>
              <a:rPr lang="en-US" altLang="ko-KR" sz="900" dirty="0">
                <a:solidFill>
                  <a:schemeClr val="bg1"/>
                </a:solidFill>
              </a:rPr>
              <a:t>QZS-4 optical properties </a:t>
            </a:r>
            <a:r>
              <a:rPr lang="en-US" altLang="ko-KR" dirty="0">
                <a:solidFill>
                  <a:schemeClr val="bg1"/>
                </a:solidFill>
              </a:rPr>
              <a:t>  </a:t>
            </a:r>
            <a:r>
              <a:rPr lang="en-US" altLang="ko-KR" sz="800" dirty="0">
                <a:solidFill>
                  <a:schemeClr val="bg1"/>
                </a:solidFill>
              </a:rPr>
              <a:t>[2]</a:t>
            </a:r>
            <a:endParaRPr lang="ko-KR" altLang="en-US" dirty="0">
              <a:solidFill>
                <a:schemeClr val="bg1"/>
              </a:solidFill>
            </a:endParaRPr>
          </a:p>
        </p:txBody>
      </p:sp>
    </p:spTree>
    <p:extLst>
      <p:ext uri="{BB962C8B-B14F-4D97-AF65-F5344CB8AC3E}">
        <p14:creationId xmlns:p14="http://schemas.microsoft.com/office/powerpoint/2010/main" val="984459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br>
              <a:rPr lang="en-US" altLang="ko-KR" dirty="0"/>
            </a:b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C8677CE-048E-435A-956B-A79FD86670BE}"/>
              </a:ext>
            </a:extLst>
          </p:cNvPr>
          <p:cNvSpPr txBox="1"/>
          <p:nvPr/>
        </p:nvSpPr>
        <p:spPr>
          <a:xfrm>
            <a:off x="938500" y="1086547"/>
            <a:ext cx="4025591"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5.3.2. Gravity-gradient</a:t>
            </a:r>
            <a:endParaRPr lang="ko-KR" altLang="en-US" sz="1100" dirty="0">
              <a:solidFill>
                <a:schemeClr val="bg1"/>
              </a:solidFill>
            </a:endParaRPr>
          </a:p>
        </p:txBody>
      </p:sp>
      <mc:AlternateContent xmlns:mc="http://schemas.openxmlformats.org/markup-compatibility/2006" xmlns:a14="http://schemas.microsoft.com/office/drawing/2010/main">
        <mc:Choice Requires="a14">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nvGraphicFramePr>
            <p:xfrm>
              <a:off x="1090900" y="1670524"/>
              <a:ext cx="7076470" cy="1396857"/>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428554">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Constant torque for Earth-oriented vehicle</a:t>
                          </a:r>
                        </a:p>
                      </a:txBody>
                      <a:tcPr anchor="ctr">
                        <a:solidFill>
                          <a:schemeClr val="bg1">
                            <a:lumMod val="95000"/>
                          </a:schemeClr>
                        </a:solidFill>
                      </a:tcPr>
                    </a:tc>
                    <a:extLst>
                      <a:ext uri="{0D108BD9-81ED-4DB2-BD59-A6C34878D82A}">
                        <a16:rowId xmlns:a16="http://schemas.microsoft.com/office/drawing/2014/main" val="1164247942"/>
                      </a:ext>
                    </a:extLst>
                  </a:tr>
                  <a:tr h="428554">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S/C moments of inertia, Orbit altitude</a:t>
                          </a:r>
                        </a:p>
                      </a:txBody>
                      <a:tcPr anchor="ctr">
                        <a:solidFill>
                          <a:schemeClr val="bg1">
                            <a:lumMod val="95000"/>
                          </a:schemeClr>
                        </a:solidFill>
                      </a:tcPr>
                    </a:tc>
                    <a:extLst>
                      <a:ext uri="{0D108BD9-81ED-4DB2-BD59-A6C34878D82A}">
                        <a16:rowId xmlns:a16="http://schemas.microsoft.com/office/drawing/2014/main" val="36492323"/>
                      </a:ext>
                    </a:extLst>
                  </a:tr>
                  <a:tr h="539749">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pPr algn="ctr" latinLnBrk="1"/>
                          <a14:m>
                            <m:oMath xmlns:m="http://schemas.openxmlformats.org/officeDocument/2006/math">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𝑇</m:t>
                                  </m:r>
                                </m:e>
                                <m:sub>
                                  <m:r>
                                    <a:rPr lang="en-US" altLang="ko-KR" sz="1100" b="0" i="1" smtClean="0">
                                      <a:solidFill>
                                        <a:schemeClr val="accent6"/>
                                      </a:solidFill>
                                      <a:latin typeface="Cambria Math" panose="02040503050406030204" pitchFamily="18" charset="0"/>
                                    </a:rPr>
                                    <m:t>𝑔</m:t>
                                  </m:r>
                                </m:sub>
                              </m:sSub>
                              <m:r>
                                <a:rPr lang="en-US" altLang="ko-KR" sz="1100" b="0" i="1" smtClean="0">
                                  <a:solidFill>
                                    <a:schemeClr val="accent6"/>
                                  </a:solidFill>
                                  <a:latin typeface="Cambria Math" panose="02040503050406030204" pitchFamily="18" charset="0"/>
                                </a:rPr>
                                <m:t>=</m:t>
                              </m:r>
                              <m:f>
                                <m:fPr>
                                  <m:ctrlPr>
                                    <a:rPr lang="en-US" altLang="ko-KR" sz="1100" b="0" i="1" smtClean="0">
                                      <a:solidFill>
                                        <a:schemeClr val="accent6"/>
                                      </a:solidFill>
                                      <a:latin typeface="Cambria Math" panose="02040503050406030204" pitchFamily="18" charset="0"/>
                                    </a:rPr>
                                  </m:ctrlPr>
                                </m:fPr>
                                <m:num>
                                  <m:r>
                                    <a:rPr lang="en-US" altLang="ko-KR" sz="1100" b="0" i="1" smtClean="0">
                                      <a:solidFill>
                                        <a:schemeClr val="accent6"/>
                                      </a:solidFill>
                                      <a:latin typeface="Cambria Math" panose="02040503050406030204" pitchFamily="18" charset="0"/>
                                    </a:rPr>
                                    <m:t>3</m:t>
                                  </m:r>
                                  <m:r>
                                    <a:rPr lang="en-US" altLang="ko-KR" sz="1100" b="0" i="1" smtClean="0">
                                      <a:solidFill>
                                        <a:schemeClr val="accent6"/>
                                      </a:solidFill>
                                      <a:latin typeface="Cambria Math" panose="02040503050406030204" pitchFamily="18" charset="0"/>
                                    </a:rPr>
                                    <m:t>𝜇</m:t>
                                  </m:r>
                                </m:num>
                                <m:den>
                                  <m:r>
                                    <a:rPr lang="en-US" altLang="ko-KR" sz="1100" b="0" i="1" smtClean="0">
                                      <a:solidFill>
                                        <a:schemeClr val="accent6"/>
                                      </a:solidFill>
                                      <a:latin typeface="Cambria Math" panose="02040503050406030204" pitchFamily="18" charset="0"/>
                                    </a:rPr>
                                    <m:t>2</m:t>
                                  </m:r>
                                  <m:sSup>
                                    <m:sSupPr>
                                      <m:ctrlPr>
                                        <a:rPr lang="en-US" altLang="ko-KR" sz="1100" b="0" i="1" smtClean="0">
                                          <a:solidFill>
                                            <a:schemeClr val="accent6"/>
                                          </a:solidFill>
                                          <a:latin typeface="Cambria Math" panose="02040503050406030204" pitchFamily="18" charset="0"/>
                                        </a:rPr>
                                      </m:ctrlPr>
                                    </m:sSupPr>
                                    <m:e>
                                      <m:r>
                                        <a:rPr lang="en-US" altLang="ko-KR" sz="1100" b="0" i="1" smtClean="0">
                                          <a:solidFill>
                                            <a:schemeClr val="accent6"/>
                                          </a:solidFill>
                                          <a:latin typeface="Cambria Math" panose="02040503050406030204" pitchFamily="18" charset="0"/>
                                        </a:rPr>
                                        <m:t>𝑅</m:t>
                                      </m:r>
                                    </m:e>
                                    <m:sup>
                                      <m:r>
                                        <a:rPr lang="en-US" altLang="ko-KR" sz="1100" b="0" i="1" smtClean="0">
                                          <a:solidFill>
                                            <a:schemeClr val="accent6"/>
                                          </a:solidFill>
                                          <a:latin typeface="Cambria Math" panose="02040503050406030204" pitchFamily="18" charset="0"/>
                                        </a:rPr>
                                        <m:t>3</m:t>
                                      </m:r>
                                    </m:sup>
                                  </m:sSup>
                                </m:den>
                              </m:f>
                              <m:d>
                                <m:dPr>
                                  <m:begChr m:val="|"/>
                                  <m:endChr m:val="|"/>
                                  <m:ctrlPr>
                                    <a:rPr lang="en-US" altLang="ko-KR" sz="1100" b="0" i="1" smtClean="0">
                                      <a:solidFill>
                                        <a:schemeClr val="accent6"/>
                                      </a:solidFill>
                                      <a:latin typeface="Cambria Math" panose="02040503050406030204" pitchFamily="18" charset="0"/>
                                    </a:rPr>
                                  </m:ctrlPr>
                                </m:dPr>
                                <m:e>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𝐼</m:t>
                                      </m:r>
                                    </m:e>
                                    <m:sub>
                                      <m:r>
                                        <a:rPr lang="en-US" altLang="ko-KR" sz="1100" b="0" i="1" smtClean="0">
                                          <a:solidFill>
                                            <a:schemeClr val="accent6"/>
                                          </a:solidFill>
                                          <a:latin typeface="Cambria Math" panose="02040503050406030204" pitchFamily="18" charset="0"/>
                                        </a:rPr>
                                        <m:t>𝑧</m:t>
                                      </m:r>
                                    </m:sub>
                                  </m:sSub>
                                  <m:r>
                                    <a:rPr lang="en-US" altLang="ko-KR" sz="1100" b="0" i="1" smtClean="0">
                                      <a:solidFill>
                                        <a:schemeClr val="accent6"/>
                                      </a:solidFill>
                                      <a:latin typeface="Cambria Math" panose="02040503050406030204" pitchFamily="18" charset="0"/>
                                    </a:rPr>
                                    <m:t>−</m:t>
                                  </m:r>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𝐼</m:t>
                                      </m:r>
                                    </m:e>
                                    <m:sub>
                                      <m:r>
                                        <a:rPr lang="en-US" altLang="ko-KR" sz="1100" b="0" i="1" smtClean="0">
                                          <a:solidFill>
                                            <a:schemeClr val="accent6"/>
                                          </a:solidFill>
                                          <a:latin typeface="Cambria Math" panose="02040503050406030204" pitchFamily="18" charset="0"/>
                                        </a:rPr>
                                        <m:t>𝑦</m:t>
                                      </m:r>
                                    </m:sub>
                                  </m:sSub>
                                </m:e>
                              </m:d>
                              <m:func>
                                <m:funcPr>
                                  <m:ctrlPr>
                                    <a:rPr lang="en-US" altLang="ko-KR" sz="1100" b="0" i="1" smtClean="0">
                                      <a:solidFill>
                                        <a:schemeClr val="accent6"/>
                                      </a:solidFill>
                                      <a:latin typeface="Cambria Math" panose="02040503050406030204" pitchFamily="18" charset="0"/>
                                    </a:rPr>
                                  </m:ctrlPr>
                                </m:funcPr>
                                <m:fName>
                                  <m:r>
                                    <m:rPr>
                                      <m:sty m:val="p"/>
                                    </m:rPr>
                                    <a:rPr lang="en-US" altLang="ko-KR" sz="1100" b="0" i="0" smtClean="0">
                                      <a:solidFill>
                                        <a:schemeClr val="accent6"/>
                                      </a:solidFill>
                                      <a:latin typeface="Cambria Math" panose="02040503050406030204" pitchFamily="18" charset="0"/>
                                    </a:rPr>
                                    <m:t>sin</m:t>
                                  </m:r>
                                </m:fName>
                                <m:e>
                                  <m:d>
                                    <m:dPr>
                                      <m:ctrlPr>
                                        <a:rPr lang="en-US" altLang="ko-KR" sz="1100" b="0" i="1" smtClean="0">
                                          <a:solidFill>
                                            <a:schemeClr val="accent6"/>
                                          </a:solidFill>
                                          <a:latin typeface="Cambria Math" panose="02040503050406030204" pitchFamily="18" charset="0"/>
                                        </a:rPr>
                                      </m:ctrlPr>
                                    </m:dPr>
                                    <m:e>
                                      <m:r>
                                        <a:rPr lang="en-US" altLang="ko-KR" sz="1100" b="0" i="1" smtClean="0">
                                          <a:solidFill>
                                            <a:schemeClr val="accent6"/>
                                          </a:solidFill>
                                          <a:latin typeface="Cambria Math" panose="02040503050406030204" pitchFamily="18" charset="0"/>
                                        </a:rPr>
                                        <m:t>2</m:t>
                                      </m:r>
                                      <m:r>
                                        <a:rPr lang="en-US" altLang="ko-KR" sz="1100" b="0" i="1" smtClean="0">
                                          <a:solidFill>
                                            <a:schemeClr val="accent6"/>
                                          </a:solidFill>
                                          <a:latin typeface="Cambria Math" panose="02040503050406030204" pitchFamily="18" charset="0"/>
                                        </a:rPr>
                                        <m:t>𝜃</m:t>
                                      </m:r>
                                    </m:e>
                                  </m:d>
                                </m:e>
                              </m:func>
                            </m:oMath>
                          </a14:m>
                          <a:r>
                            <a:rPr lang="ko-KR" altLang="en-US" sz="1100" dirty="0">
                              <a:solidFill>
                                <a:schemeClr val="accent6"/>
                              </a:solidFill>
                            </a:rPr>
                            <a:t>           </a:t>
                          </a:r>
                          <a:r>
                            <a:rPr lang="en-US" altLang="ko-KR" sz="1100" dirty="0">
                              <a:solidFill>
                                <a:schemeClr val="accent6"/>
                              </a:solidFill>
                            </a:rPr>
                            <a:t>[1]</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683127972"/>
                      </a:ext>
                    </a:extLst>
                  </a:tr>
                </a:tbl>
              </a:graphicData>
            </a:graphic>
          </p:graphicFrame>
        </mc:Choice>
        <mc:Fallback xmlns="">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extLst>
                  <p:ext uri="{D42A27DB-BD31-4B8C-83A1-F6EECF244321}">
                    <p14:modId xmlns:p14="http://schemas.microsoft.com/office/powerpoint/2010/main" val="187118052"/>
                  </p:ext>
                </p:extLst>
              </p:nvPr>
            </p:nvGraphicFramePr>
            <p:xfrm>
              <a:off x="1090900" y="1670524"/>
              <a:ext cx="7076470" cy="1396857"/>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428554">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Constant torque for Earth-oriented vehicle</a:t>
                          </a:r>
                        </a:p>
                      </a:txBody>
                      <a:tcPr anchor="ctr">
                        <a:solidFill>
                          <a:schemeClr val="bg1">
                            <a:lumMod val="95000"/>
                          </a:schemeClr>
                        </a:solidFill>
                      </a:tcPr>
                    </a:tc>
                    <a:extLst>
                      <a:ext uri="{0D108BD9-81ED-4DB2-BD59-A6C34878D82A}">
                        <a16:rowId xmlns:a16="http://schemas.microsoft.com/office/drawing/2014/main" val="1164247942"/>
                      </a:ext>
                    </a:extLst>
                  </a:tr>
                  <a:tr h="428554">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S/C moments of inertia, Orbit altitude</a:t>
                          </a:r>
                        </a:p>
                      </a:txBody>
                      <a:tcPr anchor="ctr">
                        <a:solidFill>
                          <a:schemeClr val="bg1">
                            <a:lumMod val="95000"/>
                          </a:schemeClr>
                        </a:solidFill>
                      </a:tcPr>
                    </a:tc>
                    <a:extLst>
                      <a:ext uri="{0D108BD9-81ED-4DB2-BD59-A6C34878D82A}">
                        <a16:rowId xmlns:a16="http://schemas.microsoft.com/office/drawing/2014/main" val="36492323"/>
                      </a:ext>
                    </a:extLst>
                  </a:tr>
                  <a:tr h="539749">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endParaRPr lang="ko-KR"/>
                        </a:p>
                      </a:txBody>
                      <a:tcPr anchor="ctr">
                        <a:blipFill>
                          <a:blip r:embed="rId3"/>
                          <a:stretch>
                            <a:fillRect l="-40000" t="-159551" r="-241" b="-1124"/>
                          </a:stretch>
                        </a:blipFill>
                      </a:tcPr>
                    </a:tc>
                    <a:extLst>
                      <a:ext uri="{0D108BD9-81ED-4DB2-BD59-A6C34878D82A}">
                        <a16:rowId xmlns:a16="http://schemas.microsoft.com/office/drawing/2014/main" val="683127972"/>
                      </a:ext>
                    </a:extLst>
                  </a:tr>
                </a:tbl>
              </a:graphicData>
            </a:graphic>
          </p:graphicFrame>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A7A3656-2545-4FA5-BF4A-5E7BC11DDAE4}"/>
                  </a:ext>
                </a:extLst>
              </p:cNvPr>
              <p:cNvSpPr txBox="1"/>
              <p:nvPr/>
            </p:nvSpPr>
            <p:spPr>
              <a:xfrm>
                <a:off x="1368939" y="3408198"/>
                <a:ext cx="2498082" cy="590218"/>
              </a:xfrm>
              <a:prstGeom prst="rect">
                <a:avLst/>
              </a:prstGeom>
              <a:noFill/>
            </p:spPr>
            <p:txBody>
              <a:bodyPr wrap="square" rtlCol="0">
                <a:spAutoFit/>
              </a:bodyPr>
              <a:lstStyle/>
              <a:p>
                <a:pPr>
                  <a:lnSpc>
                    <a:spcPct val="150000"/>
                  </a:lnSpc>
                </a:pPr>
                <a:r>
                  <a:rPr lang="en-US" altLang="ko-KR" sz="1100" dirty="0">
                    <a:solidFill>
                      <a:schemeClr val="bg1"/>
                    </a:solidFill>
                  </a:rPr>
                  <a:t>Worst-case solar radiation pressure</a:t>
                </a:r>
              </a:p>
              <a:p>
                <a:pPr>
                  <a:lnSpc>
                    <a:spcPct val="150000"/>
                  </a:lnSpc>
                </a:pPr>
                <a:r>
                  <a:rPr lang="en-US" altLang="ko-KR" sz="1100" dirty="0">
                    <a:solidFill>
                      <a:schemeClr val="bg1"/>
                    </a:solidFill>
                  </a:rPr>
                  <a:t>when </a:t>
                </a:r>
                <a14:m>
                  <m:oMath xmlns:m="http://schemas.openxmlformats.org/officeDocument/2006/math">
                    <m:r>
                      <a:rPr lang="en-US" altLang="ko-KR" sz="1100" i="1">
                        <a:solidFill>
                          <a:schemeClr val="bg1"/>
                        </a:solidFill>
                        <a:latin typeface="Cambria Math" panose="02040503050406030204" pitchFamily="18" charset="0"/>
                      </a:rPr>
                      <m:t>𝜃</m:t>
                    </m:r>
                    <m:r>
                      <a:rPr lang="en-US" altLang="ko-KR" sz="1100" i="1">
                        <a:solidFill>
                          <a:schemeClr val="bg1"/>
                        </a:solidFill>
                        <a:latin typeface="Cambria Math" panose="02040503050406030204" pitchFamily="18" charset="0"/>
                      </a:rPr>
                      <m:t>=0.5°</m:t>
                    </m:r>
                  </m:oMath>
                </a14:m>
                <a:r>
                  <a:rPr lang="en-US" altLang="ko-KR" sz="1100" dirty="0">
                    <a:solidFill>
                      <a:schemeClr val="bg1"/>
                    </a:solidFill>
                  </a:rPr>
                  <a:t>, R= perigee distance </a:t>
                </a:r>
              </a:p>
            </p:txBody>
          </p:sp>
        </mc:Choice>
        <mc:Fallback xmlns="">
          <p:sp>
            <p:nvSpPr>
              <p:cNvPr id="7" name="TextBox 6">
                <a:extLst>
                  <a:ext uri="{FF2B5EF4-FFF2-40B4-BE49-F238E27FC236}">
                    <a16:creationId xmlns:a16="http://schemas.microsoft.com/office/drawing/2014/main" id="{AA7A3656-2545-4FA5-BF4A-5E7BC11DDAE4}"/>
                  </a:ext>
                </a:extLst>
              </p:cNvPr>
              <p:cNvSpPr txBox="1">
                <a:spLocks noRot="1" noChangeAspect="1" noMove="1" noResize="1" noEditPoints="1" noAdjustHandles="1" noChangeArrowheads="1" noChangeShapeType="1" noTextEdit="1"/>
              </p:cNvSpPr>
              <p:nvPr/>
            </p:nvSpPr>
            <p:spPr>
              <a:xfrm>
                <a:off x="1368939" y="3408198"/>
                <a:ext cx="2498082" cy="590218"/>
              </a:xfrm>
              <a:prstGeom prst="rect">
                <a:avLst/>
              </a:prstGeom>
              <a:blipFill>
                <a:blip r:embed="rId4"/>
                <a:stretch>
                  <a:fillRect b="-2062"/>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4573011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br>
              <a:rPr lang="en-US" altLang="ko-KR" dirty="0"/>
            </a:b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C8677CE-048E-435A-956B-A79FD86670BE}"/>
              </a:ext>
            </a:extLst>
          </p:cNvPr>
          <p:cNvSpPr txBox="1"/>
          <p:nvPr/>
        </p:nvSpPr>
        <p:spPr>
          <a:xfrm>
            <a:off x="938500" y="1081083"/>
            <a:ext cx="2066624"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5.3.3. Magnetic field</a:t>
            </a:r>
            <a:endParaRPr lang="ko-KR" altLang="en-US" sz="1100" dirty="0">
              <a:solidFill>
                <a:schemeClr val="bg1"/>
              </a:solidFill>
            </a:endParaRPr>
          </a:p>
        </p:txBody>
      </p:sp>
      <mc:AlternateContent xmlns:mc="http://schemas.openxmlformats.org/markup-compatibility/2006" xmlns:a14="http://schemas.microsoft.com/office/drawing/2010/main">
        <mc:Choice Requires="a14">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nvGraphicFramePr>
            <p:xfrm>
              <a:off x="1090900" y="1670525"/>
              <a:ext cx="7076470" cy="973798"/>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299161">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Cyclic</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1164247942"/>
                      </a:ext>
                    </a:extLst>
                  </a:tr>
                  <a:tr h="299161">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Orbit altitude, Orbit inclination, Residual S/C magnetic dipole</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36492323"/>
                      </a:ext>
                    </a:extLst>
                  </a:tr>
                  <a:tr h="302901">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pPr algn="ctr" latinLnBrk="1"/>
                          <a14:m>
                            <m:oMath xmlns:m="http://schemas.openxmlformats.org/officeDocument/2006/math">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𝑇</m:t>
                                  </m:r>
                                </m:e>
                                <m:sub>
                                  <m:r>
                                    <a:rPr lang="en-US" altLang="ko-KR" sz="1100" b="0" i="1" smtClean="0">
                                      <a:solidFill>
                                        <a:schemeClr val="accent6"/>
                                      </a:solidFill>
                                      <a:latin typeface="Cambria Math" panose="02040503050406030204" pitchFamily="18" charset="0"/>
                                    </a:rPr>
                                    <m:t>𝑚</m:t>
                                  </m:r>
                                </m:sub>
                              </m:sSub>
                              <m:r>
                                <a:rPr lang="en-US" altLang="ko-KR" sz="1100" b="0" i="1" smtClean="0">
                                  <a:solidFill>
                                    <a:schemeClr val="accent6"/>
                                  </a:solidFill>
                                  <a:latin typeface="Cambria Math" panose="02040503050406030204" pitchFamily="18" charset="0"/>
                                </a:rPr>
                                <m:t>=</m:t>
                              </m:r>
                              <m:r>
                                <a:rPr lang="en-US" altLang="ko-KR" sz="1100" b="0" i="1" smtClean="0">
                                  <a:solidFill>
                                    <a:schemeClr val="accent6"/>
                                  </a:solidFill>
                                  <a:latin typeface="Cambria Math" panose="02040503050406030204" pitchFamily="18" charset="0"/>
                                </a:rPr>
                                <m:t>𝐷𝐵</m:t>
                              </m:r>
                            </m:oMath>
                          </a14:m>
                          <a:r>
                            <a:rPr lang="en-US" altLang="ko-KR" sz="1100" dirty="0">
                              <a:solidFill>
                                <a:schemeClr val="accent6"/>
                              </a:solidFill>
                            </a:rPr>
                            <a:t>,</a:t>
                          </a:r>
                          <a:r>
                            <a:rPr lang="ko-KR" altLang="en-US" sz="1100" dirty="0">
                              <a:solidFill>
                                <a:schemeClr val="accent6"/>
                              </a:solidFill>
                            </a:rPr>
                            <a:t>    </a:t>
                          </a:r>
                          <a14:m>
                            <m:oMath xmlns:m="http://schemas.openxmlformats.org/officeDocument/2006/math">
                              <m:r>
                                <a:rPr lang="en-US" altLang="ko-KR" sz="1100" b="0" i="1" smtClean="0">
                                  <a:solidFill>
                                    <a:schemeClr val="accent6"/>
                                  </a:solidFill>
                                  <a:latin typeface="Cambria Math" panose="02040503050406030204" pitchFamily="18" charset="0"/>
                                </a:rPr>
                                <m:t>|</m:t>
                              </m:r>
                              <m:r>
                                <a:rPr lang="en-US" altLang="ko-KR" sz="1100" b="0" i="1" smtClean="0">
                                  <a:solidFill>
                                    <a:schemeClr val="accent6"/>
                                  </a:solidFill>
                                  <a:latin typeface="Cambria Math" panose="02040503050406030204" pitchFamily="18" charset="0"/>
                                </a:rPr>
                                <m:t>𝐵</m:t>
                              </m:r>
                              <m:r>
                                <a:rPr lang="en-US" altLang="ko-KR" sz="1100" b="0" i="1" smtClean="0">
                                  <a:solidFill>
                                    <a:schemeClr val="accent6"/>
                                  </a:solidFill>
                                  <a:latin typeface="Cambria Math" panose="02040503050406030204" pitchFamily="18" charset="0"/>
                                </a:rPr>
                                <m:t>|=</m:t>
                              </m:r>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𝐵</m:t>
                                  </m:r>
                                </m:e>
                                <m:sub>
                                  <m:r>
                                    <a:rPr lang="en-US" altLang="ko-KR" sz="1100" b="0" i="1" smtClean="0">
                                      <a:solidFill>
                                        <a:schemeClr val="accent6"/>
                                      </a:solidFill>
                                      <a:latin typeface="Cambria Math" panose="02040503050406030204" pitchFamily="18" charset="0"/>
                                    </a:rPr>
                                    <m:t>0</m:t>
                                  </m:r>
                                </m:sub>
                              </m:sSub>
                              <m:sSup>
                                <m:sSupPr>
                                  <m:ctrlPr>
                                    <a:rPr lang="en-US" altLang="ko-KR" sz="1100" b="0" i="1" smtClean="0">
                                      <a:solidFill>
                                        <a:schemeClr val="accent6"/>
                                      </a:solidFill>
                                      <a:latin typeface="Cambria Math" panose="02040503050406030204" pitchFamily="18" charset="0"/>
                                    </a:rPr>
                                  </m:ctrlPr>
                                </m:sSupPr>
                                <m:e>
                                  <m:d>
                                    <m:dPr>
                                      <m:ctrlPr>
                                        <a:rPr lang="en-US" altLang="ko-KR" sz="1100" b="0" i="1" smtClean="0">
                                          <a:solidFill>
                                            <a:schemeClr val="accent6"/>
                                          </a:solidFill>
                                          <a:latin typeface="Cambria Math" panose="02040503050406030204" pitchFamily="18" charset="0"/>
                                        </a:rPr>
                                      </m:ctrlPr>
                                    </m:dPr>
                                    <m:e>
                                      <m:f>
                                        <m:fPr>
                                          <m:ctrlPr>
                                            <a:rPr lang="en-US" altLang="ko-KR" sz="1100" b="0" i="1" smtClean="0">
                                              <a:solidFill>
                                                <a:schemeClr val="accent6"/>
                                              </a:solidFill>
                                              <a:latin typeface="Cambria Math" panose="02040503050406030204" pitchFamily="18" charset="0"/>
                                            </a:rPr>
                                          </m:ctrlPr>
                                        </m:fPr>
                                        <m:num>
                                          <m:sSub>
                                            <m:sSubPr>
                                              <m:ctrlPr>
                                                <a:rPr lang="en-US" altLang="ko-KR" sz="1100" b="0" i="1" smtClean="0">
                                                  <a:solidFill>
                                                    <a:schemeClr val="accent6"/>
                                                  </a:solidFill>
                                                  <a:latin typeface="Cambria Math" panose="02040503050406030204" pitchFamily="18" charset="0"/>
                                                </a:rPr>
                                              </m:ctrlPr>
                                            </m:sSubPr>
                                            <m:e>
                                              <m:r>
                                                <a:rPr lang="en-US" altLang="ko-KR" sz="1100" b="0" i="1" smtClean="0">
                                                  <a:solidFill>
                                                    <a:schemeClr val="accent6"/>
                                                  </a:solidFill>
                                                  <a:latin typeface="Cambria Math" panose="02040503050406030204" pitchFamily="18" charset="0"/>
                                                </a:rPr>
                                                <m:t>𝑅</m:t>
                                              </m:r>
                                            </m:e>
                                            <m:sub>
                                              <m:r>
                                                <a:rPr lang="en-US" altLang="ko-KR" sz="1100" b="0" i="1" smtClean="0">
                                                  <a:solidFill>
                                                    <a:schemeClr val="accent6"/>
                                                  </a:solidFill>
                                                  <a:latin typeface="Cambria Math" panose="02040503050406030204" pitchFamily="18" charset="0"/>
                                                </a:rPr>
                                                <m:t>𝐸</m:t>
                                              </m:r>
                                            </m:sub>
                                          </m:sSub>
                                        </m:num>
                                        <m:den>
                                          <m:r>
                                            <a:rPr lang="en-US" altLang="ko-KR" sz="1100" b="0" i="1" smtClean="0">
                                              <a:solidFill>
                                                <a:schemeClr val="accent6"/>
                                              </a:solidFill>
                                              <a:latin typeface="Cambria Math" panose="02040503050406030204" pitchFamily="18" charset="0"/>
                                            </a:rPr>
                                            <m:t>𝑟</m:t>
                                          </m:r>
                                        </m:den>
                                      </m:f>
                                    </m:e>
                                  </m:d>
                                </m:e>
                                <m:sup>
                                  <m:r>
                                    <a:rPr lang="en-US" altLang="ko-KR" sz="1100" b="0" i="1" smtClean="0">
                                      <a:solidFill>
                                        <a:schemeClr val="accent6"/>
                                      </a:solidFill>
                                      <a:latin typeface="Cambria Math" panose="02040503050406030204" pitchFamily="18" charset="0"/>
                                    </a:rPr>
                                    <m:t>3</m:t>
                                  </m:r>
                                </m:sup>
                              </m:sSup>
                              <m:rad>
                                <m:radPr>
                                  <m:degHide m:val="on"/>
                                  <m:ctrlPr>
                                    <a:rPr lang="en-US" altLang="ko-KR" sz="1100" b="0" i="1" smtClean="0">
                                      <a:solidFill>
                                        <a:schemeClr val="accent6"/>
                                      </a:solidFill>
                                      <a:latin typeface="Cambria Math" panose="02040503050406030204" pitchFamily="18" charset="0"/>
                                    </a:rPr>
                                  </m:ctrlPr>
                                </m:radPr>
                                <m:deg/>
                                <m:e>
                                  <m:r>
                                    <a:rPr lang="en-US" altLang="ko-KR" sz="1100" b="0" i="1" smtClean="0">
                                      <a:solidFill>
                                        <a:schemeClr val="accent6"/>
                                      </a:solidFill>
                                      <a:latin typeface="Cambria Math" panose="02040503050406030204" pitchFamily="18" charset="0"/>
                                    </a:rPr>
                                    <m:t>1+3</m:t>
                                  </m:r>
                                  <m:func>
                                    <m:funcPr>
                                      <m:ctrlPr>
                                        <a:rPr lang="en-US" altLang="ko-KR" sz="1100" b="0" i="1" smtClean="0">
                                          <a:solidFill>
                                            <a:schemeClr val="accent6"/>
                                          </a:solidFill>
                                          <a:latin typeface="Cambria Math" panose="02040503050406030204" pitchFamily="18" charset="0"/>
                                        </a:rPr>
                                      </m:ctrlPr>
                                    </m:funcPr>
                                    <m:fName>
                                      <m:sSup>
                                        <m:sSupPr>
                                          <m:ctrlPr>
                                            <a:rPr lang="en-US" altLang="ko-KR" sz="1100" b="0" i="1" smtClean="0">
                                              <a:solidFill>
                                                <a:schemeClr val="accent6"/>
                                              </a:solidFill>
                                              <a:latin typeface="Cambria Math" panose="02040503050406030204" pitchFamily="18" charset="0"/>
                                            </a:rPr>
                                          </m:ctrlPr>
                                        </m:sSupPr>
                                        <m:e>
                                          <m:r>
                                            <m:rPr>
                                              <m:sty m:val="p"/>
                                            </m:rPr>
                                            <a:rPr lang="en-US" altLang="ko-KR" sz="1100" b="0" i="0" smtClean="0">
                                              <a:solidFill>
                                                <a:schemeClr val="accent6"/>
                                              </a:solidFill>
                                              <a:latin typeface="Cambria Math" panose="02040503050406030204" pitchFamily="18" charset="0"/>
                                            </a:rPr>
                                            <m:t>cos</m:t>
                                          </m:r>
                                        </m:e>
                                        <m:sup>
                                          <m:r>
                                            <a:rPr lang="en-US" altLang="ko-KR" sz="1100" b="0" i="1" smtClean="0">
                                              <a:solidFill>
                                                <a:schemeClr val="accent6"/>
                                              </a:solidFill>
                                              <a:latin typeface="Cambria Math" panose="02040503050406030204" pitchFamily="18" charset="0"/>
                                            </a:rPr>
                                            <m:t>2</m:t>
                                          </m:r>
                                        </m:sup>
                                      </m:sSup>
                                    </m:fName>
                                    <m:e>
                                      <m:r>
                                        <a:rPr lang="en-US" altLang="ko-KR" sz="1100" b="0" i="1" smtClean="0">
                                          <a:solidFill>
                                            <a:schemeClr val="accent6"/>
                                          </a:solidFill>
                                          <a:latin typeface="Cambria Math" panose="02040503050406030204" pitchFamily="18" charset="0"/>
                                        </a:rPr>
                                        <m:t>𝜃</m:t>
                                      </m:r>
                                    </m:e>
                                  </m:func>
                                </m:e>
                              </m:rad>
                            </m:oMath>
                          </a14:m>
                          <a:r>
                            <a:rPr lang="ko-KR" altLang="en-US" sz="1100" dirty="0">
                              <a:solidFill>
                                <a:schemeClr val="accent6"/>
                              </a:solidFill>
                            </a:rPr>
                            <a:t>   </a:t>
                          </a:r>
                          <a:r>
                            <a:rPr lang="ko-KR" altLang="en-US" sz="1000" dirty="0">
                              <a:solidFill>
                                <a:schemeClr val="accent6"/>
                              </a:solidFill>
                            </a:rPr>
                            <a:t> </a:t>
                          </a:r>
                          <a:r>
                            <a:rPr lang="en-US" altLang="ko-KR" sz="800" dirty="0">
                              <a:solidFill>
                                <a:schemeClr val="accent6"/>
                              </a:solidFill>
                            </a:rPr>
                            <a:t>[1]</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683127972"/>
                      </a:ext>
                    </a:extLst>
                  </a:tr>
                </a:tbl>
              </a:graphicData>
            </a:graphic>
          </p:graphicFrame>
        </mc:Choice>
        <mc:Fallback xmlns="">
          <p:graphicFrame>
            <p:nvGraphicFramePr>
              <p:cNvPr id="3" name="표 3">
                <a:extLst>
                  <a:ext uri="{FF2B5EF4-FFF2-40B4-BE49-F238E27FC236}">
                    <a16:creationId xmlns:a16="http://schemas.microsoft.com/office/drawing/2014/main" id="{6E54F630-6B69-484B-AE42-A73AF424FADF}"/>
                  </a:ext>
                </a:extLst>
              </p:cNvPr>
              <p:cNvGraphicFramePr>
                <a:graphicFrameLocks noGrp="1"/>
              </p:cNvGraphicFramePr>
              <p:nvPr>
                <p:extLst>
                  <p:ext uri="{D42A27DB-BD31-4B8C-83A1-F6EECF244321}">
                    <p14:modId xmlns:p14="http://schemas.microsoft.com/office/powerpoint/2010/main" val="2938707927"/>
                  </p:ext>
                </p:extLst>
              </p:nvPr>
            </p:nvGraphicFramePr>
            <p:xfrm>
              <a:off x="1090900" y="1670525"/>
              <a:ext cx="7076470" cy="973798"/>
            </p:xfrm>
            <a:graphic>
              <a:graphicData uri="http://schemas.openxmlformats.org/drawingml/2006/table">
                <a:tbl>
                  <a:tblPr firstRow="1" bandRow="1">
                    <a:tableStyleId>{1C28B2AB-E718-4DF9-ADA3-83340B5D2C4E}</a:tableStyleId>
                  </a:tblPr>
                  <a:tblGrid>
                    <a:gridCol w="2020290">
                      <a:extLst>
                        <a:ext uri="{9D8B030D-6E8A-4147-A177-3AD203B41FA5}">
                          <a16:colId xmlns:a16="http://schemas.microsoft.com/office/drawing/2014/main" val="1429921208"/>
                        </a:ext>
                      </a:extLst>
                    </a:gridCol>
                    <a:gridCol w="5056180">
                      <a:extLst>
                        <a:ext uri="{9D8B030D-6E8A-4147-A177-3AD203B41FA5}">
                          <a16:colId xmlns:a16="http://schemas.microsoft.com/office/drawing/2014/main" val="1528917478"/>
                        </a:ext>
                      </a:extLst>
                    </a:gridCol>
                  </a:tblGrid>
                  <a:tr h="299161">
                    <a:tc>
                      <a:txBody>
                        <a:bodyPr/>
                        <a:lstStyle/>
                        <a:p>
                          <a:pPr algn="ctr" latinLnBrk="1"/>
                          <a:r>
                            <a:rPr lang="en-US" altLang="ko-KR" sz="1100" dirty="0">
                              <a:solidFill>
                                <a:schemeClr val="bg1"/>
                              </a:solidFill>
                            </a:rPr>
                            <a:t>Type</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Cyclic</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1164247942"/>
                      </a:ext>
                    </a:extLst>
                  </a:tr>
                  <a:tr h="299161">
                    <a:tc>
                      <a:txBody>
                        <a:bodyPr/>
                        <a:lstStyle/>
                        <a:p>
                          <a:pPr algn="ctr" latinLnBrk="1"/>
                          <a:r>
                            <a:rPr lang="en-US" altLang="ko-KR" sz="1100" dirty="0">
                              <a:solidFill>
                                <a:schemeClr val="bg1"/>
                              </a:solidFill>
                            </a:rPr>
                            <a:t>Influenced primarily by</a:t>
                          </a:r>
                          <a:endParaRPr lang="ko-KR" altLang="en-US" sz="1100" dirty="0">
                            <a:solidFill>
                              <a:schemeClr val="bg1"/>
                            </a:solidFill>
                          </a:endParaRPr>
                        </a:p>
                      </a:txBody>
                      <a:tcPr anchor="ctr">
                        <a:solidFill>
                          <a:srgbClr val="333333"/>
                        </a:solidFill>
                      </a:tcPr>
                    </a:tc>
                    <a:tc>
                      <a:txBody>
                        <a:bodyPr/>
                        <a:lstStyle/>
                        <a:p>
                          <a:pPr algn="ctr" latinLnBrk="1"/>
                          <a:r>
                            <a:rPr lang="en-US" altLang="ko-KR" sz="1100" dirty="0">
                              <a:solidFill>
                                <a:schemeClr val="accent6"/>
                              </a:solidFill>
                            </a:rPr>
                            <a:t>Orbit altitude, Orbit inclination, Residual S/C magnetic dipole</a:t>
                          </a:r>
                          <a:endParaRPr lang="ko-KR" altLang="en-US" sz="1100" dirty="0">
                            <a:solidFill>
                              <a:schemeClr val="accent6"/>
                            </a:solidFill>
                          </a:endParaRPr>
                        </a:p>
                      </a:txBody>
                      <a:tcPr anchor="ctr">
                        <a:solidFill>
                          <a:schemeClr val="bg1">
                            <a:lumMod val="95000"/>
                          </a:schemeClr>
                        </a:solidFill>
                      </a:tcPr>
                    </a:tc>
                    <a:extLst>
                      <a:ext uri="{0D108BD9-81ED-4DB2-BD59-A6C34878D82A}">
                        <a16:rowId xmlns:a16="http://schemas.microsoft.com/office/drawing/2014/main" val="36492323"/>
                      </a:ext>
                    </a:extLst>
                  </a:tr>
                  <a:tr h="375476">
                    <a:tc>
                      <a:txBody>
                        <a:bodyPr/>
                        <a:lstStyle/>
                        <a:p>
                          <a:pPr algn="ctr" latinLnBrk="1"/>
                          <a:r>
                            <a:rPr lang="en-US" altLang="ko-KR" sz="1100" dirty="0">
                              <a:solidFill>
                                <a:schemeClr val="bg1"/>
                              </a:solidFill>
                            </a:rPr>
                            <a:t>Formula</a:t>
                          </a:r>
                          <a:endParaRPr lang="ko-KR" altLang="en-US" sz="1100" dirty="0">
                            <a:solidFill>
                              <a:schemeClr val="bg1"/>
                            </a:solidFill>
                          </a:endParaRPr>
                        </a:p>
                      </a:txBody>
                      <a:tcPr anchor="ctr">
                        <a:solidFill>
                          <a:srgbClr val="333333"/>
                        </a:solidFill>
                      </a:tcPr>
                    </a:tc>
                    <a:tc>
                      <a:txBody>
                        <a:bodyPr/>
                        <a:lstStyle/>
                        <a:p>
                          <a:endParaRPr lang="ko-KR"/>
                        </a:p>
                      </a:txBody>
                      <a:tcPr anchor="ctr">
                        <a:blipFill>
                          <a:blip r:embed="rId3"/>
                          <a:stretch>
                            <a:fillRect l="-40000" t="-159677" r="-241" b="-3226"/>
                          </a:stretch>
                        </a:blipFill>
                      </a:tcPr>
                    </a:tc>
                    <a:extLst>
                      <a:ext uri="{0D108BD9-81ED-4DB2-BD59-A6C34878D82A}">
                        <a16:rowId xmlns:a16="http://schemas.microsoft.com/office/drawing/2014/main" val="683127972"/>
                      </a:ext>
                    </a:extLst>
                  </a:tr>
                </a:tbl>
              </a:graphicData>
            </a:graphic>
          </p:graphicFrame>
        </mc:Fallback>
      </mc:AlternateContent>
      <p:sp>
        <p:nvSpPr>
          <p:cNvPr id="8" name="TextBox 7">
            <a:extLst>
              <a:ext uri="{FF2B5EF4-FFF2-40B4-BE49-F238E27FC236}">
                <a16:creationId xmlns:a16="http://schemas.microsoft.com/office/drawing/2014/main" id="{58614968-502F-4D1A-B208-7D6F7387FD51}"/>
              </a:ext>
            </a:extLst>
          </p:cNvPr>
          <p:cNvSpPr txBox="1"/>
          <p:nvPr/>
        </p:nvSpPr>
        <p:spPr>
          <a:xfrm>
            <a:off x="1202276" y="4575589"/>
            <a:ext cx="6567728" cy="276999"/>
          </a:xfrm>
          <a:prstGeom prst="rect">
            <a:avLst/>
          </a:prstGeom>
          <a:noFill/>
        </p:spPr>
        <p:txBody>
          <a:bodyPr wrap="square" rtlCol="0">
            <a:spAutoFit/>
          </a:bodyPr>
          <a:lstStyle/>
          <a:p>
            <a:r>
              <a:rPr lang="en-US" altLang="ko-KR" sz="600" dirty="0">
                <a:solidFill>
                  <a:schemeClr val="bg1">
                    <a:lumMod val="75000"/>
                  </a:schemeClr>
                </a:solidFill>
              </a:rPr>
              <a:t>[1]  Walt, Martin (1994). Introduction to Geomagnetically Trapped Radiation. New York, NY: Cambridge University Press. pp. 29–33. ISBN 0-521-61611-5.</a:t>
            </a:r>
          </a:p>
          <a:p>
            <a:r>
              <a:rPr lang="en-US" altLang="ko-KR" sz="600" dirty="0">
                <a:solidFill>
                  <a:schemeClr val="bg1">
                    <a:lumMod val="75000"/>
                  </a:schemeClr>
                </a:solidFill>
              </a:rPr>
              <a:t>[2]  https://ntrs.nasa.gov/api/citations/19690020961/downloads/19690020961.pdf</a:t>
            </a:r>
            <a:endParaRPr lang="ko-KR" altLang="en-US" sz="600" dirty="0">
              <a:solidFill>
                <a:schemeClr val="bg1">
                  <a:lumMod val="75000"/>
                </a:schemeClr>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BE4FC1-D4FF-4DCE-8B42-53B1CE8CE8EE}"/>
                  </a:ext>
                </a:extLst>
              </p:cNvPr>
              <p:cNvSpPr txBox="1"/>
              <p:nvPr/>
            </p:nvSpPr>
            <p:spPr>
              <a:xfrm>
                <a:off x="1669875" y="3075586"/>
                <a:ext cx="2044993" cy="889154"/>
              </a:xfrm>
              <a:prstGeom prst="rect">
                <a:avLst/>
              </a:prstGeom>
              <a:noFill/>
            </p:spPr>
            <p:txBody>
              <a:bodyPr wrap="square" rtlCol="0">
                <a:spAutoFit/>
              </a:bodyPr>
              <a:lstStyle/>
              <a:p>
                <a:pPr>
                  <a:lnSpc>
                    <a:spcPct val="150000"/>
                  </a:lnSpc>
                </a:pPr>
                <a:r>
                  <a:rPr lang="en-US" altLang="ko-KR" sz="1200" dirty="0">
                    <a:solidFill>
                      <a:schemeClr val="bg1"/>
                    </a:solidFill>
                  </a:rPr>
                  <a:t>Worst-case magnetic field</a:t>
                </a:r>
              </a:p>
              <a:p>
                <a:pPr>
                  <a:lnSpc>
                    <a:spcPct val="150000"/>
                  </a:lnSpc>
                </a:pPr>
                <a:r>
                  <a:rPr lang="en-US" altLang="ko-KR" sz="1200" dirty="0">
                    <a:solidFill>
                      <a:schemeClr val="bg1"/>
                    </a:solidFill>
                  </a:rPr>
                  <a:t>|B| = 388  nT </a:t>
                </a:r>
              </a:p>
              <a:p>
                <a:pPr>
                  <a:lnSpc>
                    <a:spcPct val="150000"/>
                  </a:lnSpc>
                </a:pPr>
                <a:r>
                  <a:rPr lang="en-US" altLang="ko-KR" sz="1200" dirty="0">
                    <a:solidFill>
                      <a:schemeClr val="bg1"/>
                    </a:solidFill>
                  </a:rPr>
                  <a:t>when HEO perigee ( </a:t>
                </a:r>
                <a14:m>
                  <m:oMath xmlns:m="http://schemas.openxmlformats.org/officeDocument/2006/math">
                    <m:r>
                      <a:rPr lang="en-US" altLang="ko-KR" sz="1200" i="1" dirty="0" smtClean="0">
                        <a:solidFill>
                          <a:schemeClr val="bg1"/>
                        </a:solidFill>
                        <a:latin typeface="Cambria Math" panose="02040503050406030204" pitchFamily="18" charset="0"/>
                      </a:rPr>
                      <m:t>𝑖</m:t>
                    </m:r>
                  </m:oMath>
                </a14:m>
                <a:r>
                  <a:rPr lang="en-US" altLang="ko-KR" sz="1200" dirty="0">
                    <a:solidFill>
                      <a:schemeClr val="bg1"/>
                    </a:solidFill>
                  </a:rPr>
                  <a:t>=41</a:t>
                </a:r>
                <a14:m>
                  <m:oMath xmlns:m="http://schemas.openxmlformats.org/officeDocument/2006/math">
                    <m:r>
                      <a:rPr lang="en-US" altLang="ko-KR" sz="1200" i="1" dirty="0">
                        <a:solidFill>
                          <a:schemeClr val="bg1"/>
                        </a:solidFill>
                        <a:latin typeface="Cambria Math" panose="02040503050406030204" pitchFamily="18" charset="0"/>
                      </a:rPr>
                      <m:t>°</m:t>
                    </m:r>
                  </m:oMath>
                </a14:m>
                <a:r>
                  <a:rPr lang="en-US" altLang="ko-KR" sz="1200" dirty="0">
                    <a:solidFill>
                      <a:schemeClr val="bg1"/>
                    </a:solidFill>
                  </a:rPr>
                  <a:t>) </a:t>
                </a:r>
              </a:p>
            </p:txBody>
          </p:sp>
        </mc:Choice>
        <mc:Fallback xmlns="">
          <p:sp>
            <p:nvSpPr>
              <p:cNvPr id="9" name="TextBox 8">
                <a:extLst>
                  <a:ext uri="{FF2B5EF4-FFF2-40B4-BE49-F238E27FC236}">
                    <a16:creationId xmlns:a16="http://schemas.microsoft.com/office/drawing/2014/main" id="{F5BE4FC1-D4FF-4DCE-8B42-53B1CE8CE8EE}"/>
                  </a:ext>
                </a:extLst>
              </p:cNvPr>
              <p:cNvSpPr txBox="1">
                <a:spLocks noRot="1" noChangeAspect="1" noMove="1" noResize="1" noEditPoints="1" noAdjustHandles="1" noChangeArrowheads="1" noChangeShapeType="1" noTextEdit="1"/>
              </p:cNvSpPr>
              <p:nvPr/>
            </p:nvSpPr>
            <p:spPr>
              <a:xfrm>
                <a:off x="1669875" y="3075586"/>
                <a:ext cx="2044993" cy="889154"/>
              </a:xfrm>
              <a:prstGeom prst="rect">
                <a:avLst/>
              </a:prstGeom>
              <a:blipFill>
                <a:blip r:embed="rId4"/>
                <a:stretch>
                  <a:fillRect l="-299" r="-896" b="-4828"/>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E246A6F-A20C-4671-B749-071000558D68}"/>
                  </a:ext>
                </a:extLst>
              </p:cNvPr>
              <p:cNvSpPr txBox="1"/>
              <p:nvPr/>
            </p:nvSpPr>
            <p:spPr>
              <a:xfrm>
                <a:off x="4572000" y="3066121"/>
                <a:ext cx="3595370" cy="611834"/>
              </a:xfrm>
              <a:prstGeom prst="rect">
                <a:avLst/>
              </a:prstGeom>
              <a:noFill/>
            </p:spPr>
            <p:txBody>
              <a:bodyPr wrap="square" rtlCol="0">
                <a:spAutoFit/>
              </a:bodyPr>
              <a:lstStyle/>
              <a:p>
                <a:pPr>
                  <a:lnSpc>
                    <a:spcPct val="150000"/>
                  </a:lnSpc>
                </a:pPr>
                <a14:m>
                  <m:oMath xmlns:m="http://schemas.openxmlformats.org/officeDocument/2006/math">
                    <m:r>
                      <a:rPr lang="en-US" altLang="ko-KR" sz="1200" i="1" dirty="0" smtClean="0">
                        <a:solidFill>
                          <a:schemeClr val="bg1"/>
                        </a:solidFill>
                        <a:latin typeface="Cambria Math" panose="02040503050406030204" pitchFamily="18" charset="0"/>
                      </a:rPr>
                      <m:t>𝑟</m:t>
                    </m:r>
                    <m:r>
                      <a:rPr lang="en-US" altLang="ko-KR" sz="1200" b="0" i="0" dirty="0" smtClean="0">
                        <a:solidFill>
                          <a:schemeClr val="bg1"/>
                        </a:solidFill>
                        <a:latin typeface="Cambria Math" panose="02040503050406030204" pitchFamily="18" charset="0"/>
                      </a:rPr>
                      <m:t>&lt;</m:t>
                    </m:r>
                  </m:oMath>
                </a14:m>
                <a:r>
                  <a:rPr lang="en-US" altLang="ko-KR" sz="1200" dirty="0">
                    <a:solidFill>
                      <a:schemeClr val="bg1"/>
                    </a:solidFill>
                  </a:rPr>
                  <a:t> 10 </a:t>
                </a:r>
                <a14:m>
                  <m:oMath xmlns:m="http://schemas.openxmlformats.org/officeDocument/2006/math">
                    <m:sSub>
                      <m:sSubPr>
                        <m:ctrlPr>
                          <a:rPr lang="en-US" altLang="ko-KR" sz="1200" b="0" i="1" smtClean="0">
                            <a:solidFill>
                              <a:schemeClr val="bg1"/>
                            </a:solidFill>
                            <a:latin typeface="Cambria Math" panose="02040503050406030204" pitchFamily="18" charset="0"/>
                          </a:rPr>
                        </m:ctrlPr>
                      </m:sSubPr>
                      <m:e>
                        <m:r>
                          <a:rPr lang="en-US" altLang="ko-KR" sz="1200" b="0" i="1" smtClean="0">
                            <a:solidFill>
                              <a:schemeClr val="bg1"/>
                            </a:solidFill>
                            <a:latin typeface="Cambria Math" panose="02040503050406030204" pitchFamily="18" charset="0"/>
                          </a:rPr>
                          <m:t>𝑅</m:t>
                        </m:r>
                      </m:e>
                      <m:sub>
                        <m:r>
                          <a:rPr lang="en-US" altLang="ko-KR" sz="1200" b="0" i="1" smtClean="0">
                            <a:solidFill>
                              <a:schemeClr val="bg1"/>
                            </a:solidFill>
                            <a:latin typeface="Cambria Math" panose="02040503050406030204" pitchFamily="18" charset="0"/>
                          </a:rPr>
                          <m:t>𝐸</m:t>
                        </m:r>
                      </m:sub>
                    </m:sSub>
                  </m:oMath>
                </a14:m>
                <a:r>
                  <a:rPr lang="en-US" altLang="ko-KR" sz="1200" dirty="0">
                    <a:solidFill>
                      <a:schemeClr val="bg1"/>
                    </a:solidFill>
                  </a:rPr>
                  <a:t> :</a:t>
                </a:r>
                <a:r>
                  <a:rPr lang="ko-KR" altLang="en-US" sz="1200" dirty="0">
                    <a:solidFill>
                      <a:schemeClr val="bg1"/>
                    </a:solidFill>
                  </a:rPr>
                  <a:t> 지구의 </a:t>
                </a:r>
                <a:r>
                  <a:rPr lang="en-US" altLang="ko-KR" sz="1200" dirty="0">
                    <a:solidFill>
                      <a:schemeClr val="bg1"/>
                    </a:solidFill>
                  </a:rPr>
                  <a:t>magnetosphere </a:t>
                </a:r>
                <a:r>
                  <a:rPr lang="ko-KR" altLang="en-US" sz="1200" dirty="0">
                    <a:solidFill>
                      <a:schemeClr val="bg1"/>
                    </a:solidFill>
                  </a:rPr>
                  <a:t>고려</a:t>
                </a:r>
                <a:endParaRPr lang="en-US" altLang="ko-KR" sz="1200" dirty="0">
                  <a:solidFill>
                    <a:schemeClr val="bg1"/>
                  </a:solidFill>
                </a:endParaRPr>
              </a:p>
              <a:p>
                <a:pPr>
                  <a:lnSpc>
                    <a:spcPct val="150000"/>
                  </a:lnSpc>
                </a:pPr>
                <a14:m>
                  <m:oMath xmlns:m="http://schemas.openxmlformats.org/officeDocument/2006/math">
                    <m:r>
                      <a:rPr lang="en-US" altLang="ko-KR" sz="1200" i="1" dirty="0" smtClean="0">
                        <a:solidFill>
                          <a:schemeClr val="bg1"/>
                        </a:solidFill>
                        <a:latin typeface="Cambria Math" panose="02040503050406030204" pitchFamily="18" charset="0"/>
                      </a:rPr>
                      <m:t>𝑟</m:t>
                    </m:r>
                    <m:r>
                      <a:rPr lang="en-US" altLang="ko-KR" sz="1200" b="0" i="0" dirty="0" smtClean="0">
                        <a:solidFill>
                          <a:schemeClr val="bg1"/>
                        </a:solidFill>
                        <a:latin typeface="Cambria Math" panose="02040503050406030204" pitchFamily="18" charset="0"/>
                      </a:rPr>
                      <m:t>&gt;</m:t>
                    </m:r>
                  </m:oMath>
                </a14:m>
                <a:r>
                  <a:rPr lang="en-US" altLang="ko-KR" sz="1200" dirty="0">
                    <a:solidFill>
                      <a:schemeClr val="bg1"/>
                    </a:solidFill>
                  </a:rPr>
                  <a:t> 10 </a:t>
                </a:r>
                <a14:m>
                  <m:oMath xmlns:m="http://schemas.openxmlformats.org/officeDocument/2006/math">
                    <m:sSub>
                      <m:sSubPr>
                        <m:ctrlPr>
                          <a:rPr lang="en-US" altLang="ko-KR" sz="1200" b="0" i="1" smtClean="0">
                            <a:solidFill>
                              <a:schemeClr val="bg1"/>
                            </a:solidFill>
                            <a:latin typeface="Cambria Math" panose="02040503050406030204" pitchFamily="18" charset="0"/>
                          </a:rPr>
                        </m:ctrlPr>
                      </m:sSubPr>
                      <m:e>
                        <m:r>
                          <a:rPr lang="en-US" altLang="ko-KR" sz="1200" b="0" i="1" smtClean="0">
                            <a:solidFill>
                              <a:schemeClr val="bg1"/>
                            </a:solidFill>
                            <a:latin typeface="Cambria Math" panose="02040503050406030204" pitchFamily="18" charset="0"/>
                          </a:rPr>
                          <m:t>𝑅</m:t>
                        </m:r>
                      </m:e>
                      <m:sub>
                        <m:r>
                          <a:rPr lang="en-US" altLang="ko-KR" sz="1200" b="0" i="1" smtClean="0">
                            <a:solidFill>
                              <a:schemeClr val="bg1"/>
                            </a:solidFill>
                            <a:latin typeface="Cambria Math" panose="02040503050406030204" pitchFamily="18" charset="0"/>
                          </a:rPr>
                          <m:t>𝐸</m:t>
                        </m:r>
                      </m:sub>
                    </m:sSub>
                  </m:oMath>
                </a14:m>
                <a:r>
                  <a:rPr lang="en-US" altLang="ko-KR" sz="1200" dirty="0">
                    <a:solidFill>
                      <a:schemeClr val="bg1"/>
                    </a:solidFill>
                  </a:rPr>
                  <a:t> :</a:t>
                </a:r>
                <a:r>
                  <a:rPr lang="ko-KR" altLang="en-US" sz="1200" dirty="0">
                    <a:solidFill>
                      <a:schemeClr val="bg1"/>
                    </a:solidFill>
                  </a:rPr>
                  <a:t> 태양의 영향권</a:t>
                </a:r>
                <a:r>
                  <a:rPr lang="en-US" altLang="ko-KR" sz="1200" dirty="0">
                    <a:solidFill>
                      <a:schemeClr val="bg1"/>
                    </a:solidFill>
                  </a:rPr>
                  <a:t>; </a:t>
                </a:r>
                <a:r>
                  <a:rPr lang="ko-KR" altLang="en-US" sz="1200" dirty="0">
                    <a:solidFill>
                      <a:schemeClr val="bg1"/>
                    </a:solidFill>
                  </a:rPr>
                  <a:t> </a:t>
                </a:r>
                <a:r>
                  <a:rPr lang="en-US" altLang="ko-KR" sz="1200" dirty="0">
                    <a:solidFill>
                      <a:schemeClr val="bg1"/>
                    </a:solidFill>
                  </a:rPr>
                  <a:t>&lt;40 nT (1 AU)  </a:t>
                </a:r>
                <a:r>
                  <a:rPr lang="en-US" altLang="ko-KR" sz="800" dirty="0">
                    <a:solidFill>
                      <a:schemeClr val="bg1"/>
                    </a:solidFill>
                  </a:rPr>
                  <a:t>[2]</a:t>
                </a:r>
                <a:endParaRPr lang="en-US" altLang="ko-KR" sz="1200" dirty="0">
                  <a:solidFill>
                    <a:schemeClr val="bg1"/>
                  </a:solidFill>
                </a:endParaRPr>
              </a:p>
            </p:txBody>
          </p:sp>
        </mc:Choice>
        <mc:Fallback xmlns="">
          <p:sp>
            <p:nvSpPr>
              <p:cNvPr id="11" name="TextBox 10">
                <a:extLst>
                  <a:ext uri="{FF2B5EF4-FFF2-40B4-BE49-F238E27FC236}">
                    <a16:creationId xmlns:a16="http://schemas.microsoft.com/office/drawing/2014/main" id="{BE246A6F-A20C-4671-B749-071000558D68}"/>
                  </a:ext>
                </a:extLst>
              </p:cNvPr>
              <p:cNvSpPr txBox="1">
                <a:spLocks noRot="1" noChangeAspect="1" noMove="1" noResize="1" noEditPoints="1" noAdjustHandles="1" noChangeArrowheads="1" noChangeShapeType="1" noTextEdit="1"/>
              </p:cNvSpPr>
              <p:nvPr/>
            </p:nvSpPr>
            <p:spPr>
              <a:xfrm>
                <a:off x="4572000" y="3066121"/>
                <a:ext cx="3595370" cy="611834"/>
              </a:xfrm>
              <a:prstGeom prst="rect">
                <a:avLst/>
              </a:prstGeom>
              <a:blipFill>
                <a:blip r:embed="rId5"/>
                <a:stretch>
                  <a:fillRect b="-7000"/>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10050717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br>
              <a:rPr lang="en-US" altLang="ko-KR" dirty="0"/>
            </a:b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C8677CE-048E-435A-956B-A79FD86670BE}"/>
              </a:ext>
            </a:extLst>
          </p:cNvPr>
          <p:cNvSpPr txBox="1"/>
          <p:nvPr/>
        </p:nvSpPr>
        <p:spPr>
          <a:xfrm>
            <a:off x="938500" y="1081083"/>
            <a:ext cx="2066624"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5.3.3. Magnetic field</a:t>
            </a:r>
            <a:endParaRPr lang="ko-KR" altLang="en-US" sz="1100" dirty="0">
              <a:solidFill>
                <a:schemeClr val="bg1"/>
              </a:solidFill>
            </a:endParaRPr>
          </a:p>
        </p:txBody>
      </p:sp>
      <p:sp>
        <p:nvSpPr>
          <p:cNvPr id="8" name="TextBox 7">
            <a:extLst>
              <a:ext uri="{FF2B5EF4-FFF2-40B4-BE49-F238E27FC236}">
                <a16:creationId xmlns:a16="http://schemas.microsoft.com/office/drawing/2014/main" id="{58614968-502F-4D1A-B208-7D6F7387FD51}"/>
              </a:ext>
            </a:extLst>
          </p:cNvPr>
          <p:cNvSpPr txBox="1"/>
          <p:nvPr/>
        </p:nvSpPr>
        <p:spPr>
          <a:xfrm>
            <a:off x="1251139" y="4681980"/>
            <a:ext cx="5864036" cy="184666"/>
          </a:xfrm>
          <a:prstGeom prst="rect">
            <a:avLst/>
          </a:prstGeom>
          <a:noFill/>
        </p:spPr>
        <p:txBody>
          <a:bodyPr wrap="square" rtlCol="0">
            <a:spAutoFit/>
          </a:bodyPr>
          <a:lstStyle/>
          <a:p>
            <a:r>
              <a:rPr lang="en-US" altLang="ko-KR" sz="600" dirty="0">
                <a:solidFill>
                  <a:schemeClr val="bg1">
                    <a:lumMod val="75000"/>
                  </a:schemeClr>
                </a:solidFill>
              </a:rPr>
              <a:t>[1]  https://ntrs.nasa.gov/api/citations/19690020961/downloads/19690020961.pdf</a:t>
            </a:r>
            <a:endParaRPr lang="ko-KR" altLang="en-US" sz="600" dirty="0">
              <a:solidFill>
                <a:schemeClr val="bg1">
                  <a:lumMod val="75000"/>
                </a:schemeClr>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CB84F30-7191-48A2-84F8-815AA256EA42}"/>
                  </a:ext>
                </a:extLst>
              </p:cNvPr>
              <p:cNvSpPr txBox="1"/>
              <p:nvPr/>
            </p:nvSpPr>
            <p:spPr>
              <a:xfrm>
                <a:off x="1129030" y="2125249"/>
                <a:ext cx="2294218" cy="893001"/>
              </a:xfrm>
              <a:prstGeom prst="rect">
                <a:avLst/>
              </a:prstGeom>
              <a:noFill/>
            </p:spPr>
            <p:txBody>
              <a:bodyPr wrap="none" rtlCol="0">
                <a:spAutoFit/>
              </a:bodyPr>
              <a:lstStyle/>
              <a:p>
                <a:pPr>
                  <a:lnSpc>
                    <a:spcPct val="150000"/>
                  </a:lnSpc>
                </a:pPr>
                <a:r>
                  <a:rPr lang="en-US" altLang="ko-KR" sz="1200" dirty="0">
                    <a:solidFill>
                      <a:schemeClr val="bg1"/>
                    </a:solidFill>
                    <a:latin typeface="+mn-ea"/>
                    <a:ea typeface="+mn-ea"/>
                  </a:rPr>
                  <a:t>Dipole moment per unit mass</a:t>
                </a:r>
              </a:p>
              <a:p>
                <a:pPr>
                  <a:lnSpc>
                    <a:spcPct val="150000"/>
                  </a:lnSpc>
                </a:pPr>
                <a:r>
                  <a:rPr lang="en-US" altLang="ko-KR" sz="1200" dirty="0">
                    <a:solidFill>
                      <a:schemeClr val="bg1"/>
                    </a:solidFill>
                    <a:latin typeface="+mn-ea"/>
                    <a:ea typeface="+mn-ea"/>
                  </a:rPr>
                  <a:t>for nonspinning spacecraft :</a:t>
                </a:r>
              </a:p>
              <a:p>
                <a:pPr>
                  <a:lnSpc>
                    <a:spcPct val="150000"/>
                  </a:lnSpc>
                </a:pPr>
                <a:r>
                  <a:rPr lang="en-US" altLang="ko-KR" sz="1200" dirty="0">
                    <a:solidFill>
                      <a:schemeClr val="bg1"/>
                    </a:solidFill>
                    <a:latin typeface="+mn-ea"/>
                    <a:ea typeface="+mn-ea"/>
                  </a:rPr>
                  <a:t>3.5e-3  [</a:t>
                </a:r>
                <a14:m>
                  <m:oMath xmlns:m="http://schemas.openxmlformats.org/officeDocument/2006/math">
                    <m:r>
                      <m:rPr>
                        <m:sty m:val="p"/>
                      </m:rPr>
                      <a:rPr lang="en-US" altLang="ko-KR" sz="1200" i="0" dirty="0" smtClean="0">
                        <a:solidFill>
                          <a:schemeClr val="bg1"/>
                        </a:solidFill>
                        <a:latin typeface="Cambria Math" panose="02040503050406030204" pitchFamily="18" charset="0"/>
                        <a:ea typeface="+mn-ea"/>
                      </a:rPr>
                      <m:t>A</m:t>
                    </m:r>
                    <m:r>
                      <a:rPr lang="en-US" altLang="ko-KR" sz="1200" i="0" dirty="0" smtClean="0">
                        <a:solidFill>
                          <a:schemeClr val="bg1"/>
                        </a:solidFill>
                        <a:latin typeface="Cambria Math" panose="02040503050406030204" pitchFamily="18" charset="0"/>
                        <a:ea typeface="+mn-ea"/>
                      </a:rPr>
                      <m:t> </m:t>
                    </m:r>
                    <m:sSup>
                      <m:sSupPr>
                        <m:ctrlPr>
                          <a:rPr lang="en-US" altLang="ko-KR" sz="1200" i="1" dirty="0">
                            <a:solidFill>
                              <a:schemeClr val="bg1"/>
                            </a:solidFill>
                            <a:latin typeface="Cambria Math" panose="02040503050406030204" pitchFamily="18" charset="0"/>
                            <a:ea typeface="+mn-ea"/>
                          </a:rPr>
                        </m:ctrlPr>
                      </m:sSupPr>
                      <m:e>
                        <m:r>
                          <m:rPr>
                            <m:sty m:val="p"/>
                          </m:rPr>
                          <a:rPr lang="en-US" altLang="ko-KR" sz="1200" i="0" dirty="0">
                            <a:solidFill>
                              <a:schemeClr val="bg1"/>
                            </a:solidFill>
                            <a:latin typeface="Cambria Math" panose="02040503050406030204" pitchFamily="18" charset="0"/>
                            <a:ea typeface="+mn-ea"/>
                          </a:rPr>
                          <m:t>m</m:t>
                        </m:r>
                      </m:e>
                      <m:sup>
                        <m:r>
                          <a:rPr lang="en-US" altLang="ko-KR" sz="1200" i="0" dirty="0" smtClean="0">
                            <a:solidFill>
                              <a:schemeClr val="bg1"/>
                            </a:solidFill>
                            <a:latin typeface="Cambria Math" panose="02040503050406030204" pitchFamily="18" charset="0"/>
                            <a:ea typeface="+mn-ea"/>
                          </a:rPr>
                          <m:t>2</m:t>
                        </m:r>
                      </m:sup>
                    </m:sSup>
                    <m:r>
                      <a:rPr lang="en-US" altLang="ko-KR" sz="1200" b="0" i="0" dirty="0" smtClean="0">
                        <a:solidFill>
                          <a:schemeClr val="bg1"/>
                        </a:solidFill>
                        <a:latin typeface="Cambria Math" panose="02040503050406030204" pitchFamily="18" charset="0"/>
                        <a:ea typeface="+mn-ea"/>
                      </a:rPr>
                      <m:t> / </m:t>
                    </m:r>
                    <m:r>
                      <m:rPr>
                        <m:sty m:val="p"/>
                      </m:rPr>
                      <a:rPr lang="en-US" altLang="ko-KR" sz="1200" b="0" i="0" dirty="0" smtClean="0">
                        <a:solidFill>
                          <a:schemeClr val="bg1"/>
                        </a:solidFill>
                        <a:latin typeface="Cambria Math" panose="02040503050406030204" pitchFamily="18" charset="0"/>
                        <a:ea typeface="+mn-ea"/>
                      </a:rPr>
                      <m:t>kg</m:t>
                    </m:r>
                  </m:oMath>
                </a14:m>
                <a:r>
                  <a:rPr lang="en-US" altLang="ko-KR" sz="1200" dirty="0">
                    <a:solidFill>
                      <a:schemeClr val="bg1"/>
                    </a:solidFill>
                    <a:latin typeface="+mn-ea"/>
                    <a:ea typeface="+mn-ea"/>
                  </a:rPr>
                  <a:t>]</a:t>
                </a:r>
              </a:p>
            </p:txBody>
          </p:sp>
        </mc:Choice>
        <mc:Fallback xmlns="">
          <p:sp>
            <p:nvSpPr>
              <p:cNvPr id="10" name="TextBox 9">
                <a:extLst>
                  <a:ext uri="{FF2B5EF4-FFF2-40B4-BE49-F238E27FC236}">
                    <a16:creationId xmlns:a16="http://schemas.microsoft.com/office/drawing/2014/main" id="{FCB84F30-7191-48A2-84F8-815AA256EA42}"/>
                  </a:ext>
                </a:extLst>
              </p:cNvPr>
              <p:cNvSpPr txBox="1">
                <a:spLocks noRot="1" noChangeAspect="1" noMove="1" noResize="1" noEditPoints="1" noAdjustHandles="1" noChangeArrowheads="1" noChangeShapeType="1" noTextEdit="1"/>
              </p:cNvSpPr>
              <p:nvPr/>
            </p:nvSpPr>
            <p:spPr>
              <a:xfrm>
                <a:off x="1129030" y="2125249"/>
                <a:ext cx="2294218" cy="893001"/>
              </a:xfrm>
              <a:prstGeom prst="rect">
                <a:avLst/>
              </a:prstGeom>
              <a:blipFill>
                <a:blip r:embed="rId3"/>
                <a:stretch>
                  <a:fillRect b="-4795"/>
                </a:stretch>
              </a:blipFill>
            </p:spPr>
            <p:txBody>
              <a:bodyPr/>
              <a:lstStyle/>
              <a:p>
                <a:r>
                  <a:rPr lang="ko-KR" altLang="en-US">
                    <a:noFill/>
                  </a:rPr>
                  <a:t> </a:t>
                </a:r>
              </a:p>
            </p:txBody>
          </p:sp>
        </mc:Fallback>
      </mc:AlternateContent>
      <p:pic>
        <p:nvPicPr>
          <p:cNvPr id="5" name="그림 4">
            <a:extLst>
              <a:ext uri="{FF2B5EF4-FFF2-40B4-BE49-F238E27FC236}">
                <a16:creationId xmlns:a16="http://schemas.microsoft.com/office/drawing/2014/main" id="{874876FA-4714-4502-BD28-521CBBBFF747}"/>
              </a:ext>
            </a:extLst>
          </p:cNvPr>
          <p:cNvPicPr>
            <a:picLocks noChangeAspect="1"/>
          </p:cNvPicPr>
          <p:nvPr/>
        </p:nvPicPr>
        <p:blipFill>
          <a:blip r:embed="rId4"/>
          <a:stretch>
            <a:fillRect/>
          </a:stretch>
        </p:blipFill>
        <p:spPr>
          <a:xfrm>
            <a:off x="4119243" y="1612177"/>
            <a:ext cx="4062781" cy="1669414"/>
          </a:xfrm>
          <a:prstGeom prst="rect">
            <a:avLst/>
          </a:prstGeom>
        </p:spPr>
      </p:pic>
      <p:pic>
        <p:nvPicPr>
          <p:cNvPr id="7" name="그림 6">
            <a:extLst>
              <a:ext uri="{FF2B5EF4-FFF2-40B4-BE49-F238E27FC236}">
                <a16:creationId xmlns:a16="http://schemas.microsoft.com/office/drawing/2014/main" id="{8C00A921-FDDF-4013-80F0-215A51E5C46D}"/>
              </a:ext>
            </a:extLst>
          </p:cNvPr>
          <p:cNvPicPr>
            <a:picLocks noChangeAspect="1"/>
          </p:cNvPicPr>
          <p:nvPr/>
        </p:nvPicPr>
        <p:blipFill>
          <a:blip r:embed="rId5"/>
          <a:stretch>
            <a:fillRect/>
          </a:stretch>
        </p:blipFill>
        <p:spPr>
          <a:xfrm>
            <a:off x="4293886" y="3404919"/>
            <a:ext cx="3713496" cy="399332"/>
          </a:xfrm>
          <a:prstGeom prst="rect">
            <a:avLst/>
          </a:prstGeom>
        </p:spPr>
      </p:pic>
      <p:sp>
        <p:nvSpPr>
          <p:cNvPr id="13" name="직사각형 12">
            <a:extLst>
              <a:ext uri="{FF2B5EF4-FFF2-40B4-BE49-F238E27FC236}">
                <a16:creationId xmlns:a16="http://schemas.microsoft.com/office/drawing/2014/main" id="{2438499E-6ACA-43D3-B10C-1CB9B93B8B5B}"/>
              </a:ext>
            </a:extLst>
          </p:cNvPr>
          <p:cNvSpPr/>
          <p:nvPr/>
        </p:nvSpPr>
        <p:spPr>
          <a:xfrm>
            <a:off x="4131942" y="2667295"/>
            <a:ext cx="1754507"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256071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표 2">
            <a:extLst>
              <a:ext uri="{FF2B5EF4-FFF2-40B4-BE49-F238E27FC236}">
                <a16:creationId xmlns:a16="http://schemas.microsoft.com/office/drawing/2014/main" id="{4D928045-99B5-4A91-BCD5-CAA4BF5E4E82}"/>
              </a:ext>
            </a:extLst>
          </p:cNvPr>
          <p:cNvGraphicFramePr>
            <a:graphicFrameLocks noGrp="1"/>
          </p:cNvGraphicFramePr>
          <p:nvPr/>
        </p:nvGraphicFramePr>
        <p:xfrm>
          <a:off x="1240810" y="1623650"/>
          <a:ext cx="6662380" cy="2781410"/>
        </p:xfrm>
        <a:graphic>
          <a:graphicData uri="http://schemas.openxmlformats.org/drawingml/2006/table">
            <a:tbl>
              <a:tblPr firstRow="1" bandRow="1">
                <a:tableStyleId>{1C28B2AB-E718-4DF9-ADA3-83340B5D2C4E}</a:tableStyleId>
              </a:tblPr>
              <a:tblGrid>
                <a:gridCol w="1298380">
                  <a:extLst>
                    <a:ext uri="{9D8B030D-6E8A-4147-A177-3AD203B41FA5}">
                      <a16:colId xmlns:a16="http://schemas.microsoft.com/office/drawing/2014/main" val="622988568"/>
                    </a:ext>
                  </a:extLst>
                </a:gridCol>
                <a:gridCol w="2412000">
                  <a:extLst>
                    <a:ext uri="{9D8B030D-6E8A-4147-A177-3AD203B41FA5}">
                      <a16:colId xmlns:a16="http://schemas.microsoft.com/office/drawing/2014/main" val="4035508070"/>
                    </a:ext>
                  </a:extLst>
                </a:gridCol>
                <a:gridCol w="1476000">
                  <a:extLst>
                    <a:ext uri="{9D8B030D-6E8A-4147-A177-3AD203B41FA5}">
                      <a16:colId xmlns:a16="http://schemas.microsoft.com/office/drawing/2014/main" val="2891947339"/>
                    </a:ext>
                  </a:extLst>
                </a:gridCol>
                <a:gridCol w="1476000">
                  <a:extLst>
                    <a:ext uri="{9D8B030D-6E8A-4147-A177-3AD203B41FA5}">
                      <a16:colId xmlns:a16="http://schemas.microsoft.com/office/drawing/2014/main" val="1231843729"/>
                    </a:ext>
                  </a:extLst>
                </a:gridCol>
              </a:tblGrid>
              <a:tr h="363531">
                <a:tc grid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dirty="0">
                          <a:solidFill>
                            <a:schemeClr val="bg1"/>
                          </a:solidFill>
                          <a:latin typeface="+mn-ea"/>
                          <a:ea typeface="+mn-ea"/>
                        </a:rPr>
                        <a:t>GEO (e=0, i=0°)</a:t>
                      </a:r>
                      <a:endParaRPr lang="ko-KR" altLang="en-US" sz="1200" b="1" dirty="0">
                        <a:solidFill>
                          <a:schemeClr val="bg1"/>
                        </a:solidFill>
                        <a:latin typeface="+mn-ea"/>
                        <a:ea typeface="+mn-ea"/>
                      </a:endParaRPr>
                    </a:p>
                  </a:txBody>
                  <a:tcPr anchor="ctr">
                    <a:solidFill>
                      <a:srgbClr val="333333"/>
                    </a:solidFill>
                  </a:tcPr>
                </a:tc>
                <a:tc hMerge="1">
                  <a:txBody>
                    <a:bodyPr/>
                    <a:lstStyle/>
                    <a:p>
                      <a:pPr latinLnBrk="1"/>
                      <a:endParaRPr lang="ko-KR" altLang="en-US" dirty="0"/>
                    </a:p>
                  </a:txBody>
                  <a:tcPr>
                    <a:solidFill>
                      <a:srgbClr val="333333"/>
                    </a:solidFill>
                  </a:tcPr>
                </a:tc>
                <a:tc>
                  <a:txBody>
                    <a:bodyPr/>
                    <a:lstStyle/>
                    <a:p>
                      <a:pPr algn="ctr" latinLnBrk="1"/>
                      <a:r>
                        <a:rPr lang="en-US" altLang="ko-KR" sz="1100" b="1" dirty="0">
                          <a:solidFill>
                            <a:schemeClr val="bg1"/>
                          </a:solidFill>
                          <a:latin typeface="+mn-ea"/>
                          <a:ea typeface="+mn-ea"/>
                        </a:rPr>
                        <a:t>BOL (2400 kg)</a:t>
                      </a:r>
                      <a:endParaRPr lang="ko-KR" altLang="en-US" sz="1100" b="1" dirty="0">
                        <a:solidFill>
                          <a:schemeClr val="bg1"/>
                        </a:solidFill>
                        <a:latin typeface="+mn-ea"/>
                        <a:ea typeface="+mn-ea"/>
                      </a:endParaRPr>
                    </a:p>
                  </a:txBody>
                  <a:tcPr anchor="ctr">
                    <a:solidFill>
                      <a:srgbClr val="333333"/>
                    </a:solidFill>
                  </a:tcPr>
                </a:tc>
                <a:tc>
                  <a:txBody>
                    <a:bodyPr/>
                    <a:lstStyle/>
                    <a:p>
                      <a:pPr algn="ctr" latinLnBrk="1"/>
                      <a:r>
                        <a:rPr lang="en-US" altLang="ko-KR" sz="1100" b="1" dirty="0">
                          <a:solidFill>
                            <a:schemeClr val="bg1"/>
                          </a:solidFill>
                          <a:latin typeface="+mn-ea"/>
                          <a:ea typeface="+mn-ea"/>
                        </a:rPr>
                        <a:t>EOL (1800 kg)</a:t>
                      </a:r>
                      <a:endParaRPr lang="ko-KR" altLang="en-US" sz="1100" b="1" dirty="0">
                        <a:solidFill>
                          <a:schemeClr val="bg1"/>
                        </a:solidFill>
                        <a:latin typeface="+mn-ea"/>
                        <a:ea typeface="+mn-ea"/>
                      </a:endParaRPr>
                    </a:p>
                  </a:txBody>
                  <a:tcPr anchor="ctr">
                    <a:solidFill>
                      <a:srgbClr val="333333"/>
                    </a:solidFill>
                  </a:tcPr>
                </a:tc>
                <a:extLst>
                  <a:ext uri="{0D108BD9-81ED-4DB2-BD59-A6C34878D82A}">
                    <a16:rowId xmlns:a16="http://schemas.microsoft.com/office/drawing/2014/main" val="4225889715"/>
                  </a:ext>
                </a:extLst>
              </a:tr>
              <a:tr h="612000">
                <a:tc>
                  <a:txBody>
                    <a:bodyPr/>
                    <a:lstStyle/>
                    <a:p>
                      <a:pPr algn="ctr" latinLnBrk="1"/>
                      <a:r>
                        <a:rPr lang="en-US" altLang="ko-KR" sz="1100" dirty="0">
                          <a:latin typeface="+mn-ea"/>
                          <a:ea typeface="+mn-ea"/>
                        </a:rPr>
                        <a:t>Solar radiation</a:t>
                      </a:r>
                    </a:p>
                    <a:p>
                      <a:pPr algn="ctr" latinLnBrk="1"/>
                      <a:r>
                        <a:rPr lang="en-US" altLang="ko-KR" sz="1100" dirty="0">
                          <a:latin typeface="+mn-ea"/>
                          <a:ea typeface="+mn-ea"/>
                        </a:rPr>
                        <a:t>(Cyclic)</a:t>
                      </a:r>
                      <a:endParaRPr lang="ko-KR" altLang="en-US" sz="1100" dirty="0">
                        <a:latin typeface="+mn-ea"/>
                        <a:ea typeface="+mn-ea"/>
                      </a:endParaRP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½ orbit</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dirty="0">
                        <a:latin typeface="+mn-ea"/>
                        <a:ea typeface="+mn-ea"/>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dirty="0">
                          <a:latin typeface="+mn-ea"/>
                          <a:ea typeface="+mn-ea"/>
                        </a:rPr>
                        <a:t>1.33  N m s</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b="0" i="0" u="none" strike="noStrike" cap="none" dirty="0">
                          <a:solidFill>
                            <a:srgbClr val="000000"/>
                          </a:solidFill>
                          <a:latin typeface="+mn-ea"/>
                          <a:ea typeface="Arial"/>
                          <a:cs typeface="Arial"/>
                          <a:sym typeface="Arial"/>
                        </a:rPr>
                        <a:t>1.33  N m s</a:t>
                      </a:r>
                      <a:endParaRPr lang="ko-KR" altLang="en-US" sz="1100" b="0" i="0" u="none" strike="noStrike" cap="none" dirty="0">
                        <a:solidFill>
                          <a:srgbClr val="000000"/>
                        </a:solidFill>
                        <a:latin typeface="+mn-ea"/>
                        <a:ea typeface="Arial"/>
                        <a:cs typeface="Arial"/>
                        <a:sym typeface="Arial"/>
                      </a:endParaRPr>
                    </a:p>
                  </a:txBody>
                  <a:tcPr anchor="ctr">
                    <a:solidFill>
                      <a:schemeClr val="bg1">
                        <a:lumMod val="95000"/>
                      </a:schemeClr>
                    </a:solidFill>
                  </a:tcPr>
                </a:tc>
                <a:extLst>
                  <a:ext uri="{0D108BD9-81ED-4DB2-BD59-A6C34878D82A}">
                    <a16:rowId xmlns:a16="http://schemas.microsoft.com/office/drawing/2014/main" val="1160501606"/>
                  </a:ext>
                </a:extLst>
              </a:tr>
              <a:tr h="797879">
                <a:tc>
                  <a:txBody>
                    <a:bodyPr/>
                    <a:lstStyle/>
                    <a:p>
                      <a:pPr algn="ctr" latinLnBrk="1"/>
                      <a:r>
                        <a:rPr lang="en-US" altLang="ko-KR" sz="1100" dirty="0">
                          <a:latin typeface="+mn-ea"/>
                          <a:ea typeface="+mn-ea"/>
                        </a:rPr>
                        <a:t>Gravity-gradient</a:t>
                      </a:r>
                    </a:p>
                    <a:p>
                      <a:pPr algn="ctr" latinLnBrk="1"/>
                      <a:r>
                        <a:rPr lang="en-US" altLang="ko-KR" sz="1100" dirty="0">
                          <a:latin typeface="+mn-ea"/>
                          <a:ea typeface="+mn-ea"/>
                        </a:rPr>
                        <a:t>(Secular)</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1 orbit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                            in </a:t>
                      </a:r>
                      <a:r>
                        <a:rPr lang="en-US" altLang="ko-KR" sz="1100" b="0" i="0" u="none" strike="noStrike" cap="none" dirty="0">
                          <a:solidFill>
                            <a:srgbClr val="000000"/>
                          </a:solidFill>
                          <a:latin typeface="+mn-ea"/>
                          <a:ea typeface="Arial"/>
                          <a:cs typeface="Arial"/>
                          <a:sym typeface="Arial"/>
                        </a:rPr>
                        <a:t>4 weeks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2.71e-7  N m</a:t>
                      </a:r>
                    </a:p>
                    <a:p>
                      <a:pPr algn="ctr" latinLnBrk="1"/>
                      <a:endParaRPr lang="en-US" altLang="ko-KR" sz="1100" dirty="0">
                        <a:latin typeface="+mn-ea"/>
                        <a:ea typeface="+mn-ea"/>
                      </a:endParaRPr>
                    </a:p>
                    <a:p>
                      <a:pPr algn="ctr" latinLnBrk="1"/>
                      <a:r>
                        <a:rPr lang="en-US" altLang="ko-KR" sz="1100" dirty="0">
                          <a:latin typeface="+mn-ea"/>
                          <a:ea typeface="+mn-ea"/>
                        </a:rPr>
                        <a:t>2.34e-2  N m s</a:t>
                      </a:r>
                    </a:p>
                    <a:p>
                      <a:pPr algn="ctr" latinLnBrk="1"/>
                      <a:r>
                        <a:rPr lang="en-US" altLang="ko-KR" sz="1100" dirty="0">
                          <a:latin typeface="+mn-ea"/>
                          <a:ea typeface="+mn-ea"/>
                        </a:rPr>
                        <a:t>6.56e-1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1.83e-7  N m</a:t>
                      </a:r>
                    </a:p>
                    <a:p>
                      <a:pPr algn="ctr" latinLnBrk="1"/>
                      <a:endParaRPr lang="en-US" altLang="ko-KR" sz="1100" dirty="0">
                        <a:latin typeface="+mn-ea"/>
                        <a:ea typeface="+mn-ea"/>
                      </a:endParaRPr>
                    </a:p>
                    <a:p>
                      <a:pPr algn="ctr" latinLnBrk="1"/>
                      <a:r>
                        <a:rPr lang="en-US" altLang="ko-KR" sz="1100" dirty="0">
                          <a:latin typeface="+mn-ea"/>
                          <a:ea typeface="+mn-ea"/>
                        </a:rPr>
                        <a:t>1.58e-2  N m s</a:t>
                      </a:r>
                    </a:p>
                    <a:p>
                      <a:pPr algn="ctr" latinLnBrk="1"/>
                      <a:r>
                        <a:rPr lang="en-US" altLang="ko-KR" sz="1100" dirty="0">
                          <a:latin typeface="+mn-ea"/>
                          <a:ea typeface="+mn-ea"/>
                        </a:rPr>
                        <a:t>4.42e-1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2869065879"/>
                  </a:ext>
                </a:extLst>
              </a:tr>
              <a:tr h="612000">
                <a:tc>
                  <a:txBody>
                    <a:bodyPr/>
                    <a:lstStyle/>
                    <a:p>
                      <a:pPr algn="ctr" latinLnBrk="1"/>
                      <a:r>
                        <a:rPr lang="en-US" altLang="ko-KR" sz="1100" dirty="0">
                          <a:latin typeface="+mn-ea"/>
                          <a:ea typeface="+mn-ea"/>
                        </a:rPr>
                        <a:t>Magnetic field</a:t>
                      </a:r>
                    </a:p>
                    <a:p>
                      <a:pPr algn="ctr" latinLnBrk="1"/>
                      <a:r>
                        <a:rPr lang="en-US" altLang="ko-KR" sz="1100" dirty="0">
                          <a:latin typeface="+mn-ea"/>
                          <a:ea typeface="+mn-ea"/>
                        </a:rPr>
                        <a:t>(Cyclic)</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½ orbit</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9.07e-7  N m</a:t>
                      </a:r>
                    </a:p>
                    <a:p>
                      <a:pPr algn="ctr" latinLnBrk="1"/>
                      <a:endParaRPr lang="en-US" altLang="ko-KR" sz="1100" dirty="0">
                        <a:latin typeface="+mn-ea"/>
                        <a:ea typeface="+mn-ea"/>
                      </a:endParaRPr>
                    </a:p>
                    <a:p>
                      <a:pPr algn="ctr" latinLnBrk="1"/>
                      <a:r>
                        <a:rPr lang="en-US" altLang="ko-KR" sz="1100" dirty="0">
                          <a:latin typeface="+mn-ea"/>
                          <a:ea typeface="+mn-ea"/>
                        </a:rPr>
                        <a:t> 2.76e-2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6.80e-7  N m</a:t>
                      </a:r>
                    </a:p>
                    <a:p>
                      <a:pPr algn="ctr" latinLnBrk="1"/>
                      <a:endParaRPr lang="en-US" altLang="ko-KR" sz="1100" dirty="0">
                        <a:latin typeface="+mn-ea"/>
                        <a:ea typeface="+mn-ea"/>
                      </a:endParaRPr>
                    </a:p>
                    <a:p>
                      <a:pPr algn="ctr" latinLnBrk="1"/>
                      <a:r>
                        <a:rPr lang="en-US" altLang="ko-KR" sz="1100" dirty="0">
                          <a:latin typeface="+mn-ea"/>
                          <a:ea typeface="+mn-ea"/>
                        </a:rPr>
                        <a:t>2.07e-2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3789921663"/>
                  </a:ext>
                </a:extLst>
              </a:tr>
              <a:tr h="396000">
                <a:tc gridSpan="2">
                  <a:txBody>
                    <a:bodyPr/>
                    <a:lstStyle/>
                    <a:p>
                      <a:pPr algn="ctr" latinLnBrk="1"/>
                      <a:r>
                        <a:rPr lang="en-US" altLang="ko-KR" sz="1100" dirty="0">
                          <a:latin typeface="+mn-ea"/>
                          <a:ea typeface="+mn-ea"/>
                        </a:rPr>
                        <a:t>Maximum momentum storage</a:t>
                      </a:r>
                    </a:p>
                  </a:txBody>
                  <a:tcPr anchor="ctr">
                    <a:solidFill>
                      <a:schemeClr val="bg1">
                        <a:lumMod val="95000"/>
                      </a:schemeClr>
                    </a:solidFill>
                  </a:tcPr>
                </a:tc>
                <a:tc hMerge="1">
                  <a:txBody>
                    <a:bodyPr/>
                    <a:lstStyle/>
                    <a:p>
                      <a:pPr algn="l" latinLnBrk="1"/>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2.01</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1.79</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3314900568"/>
                  </a:ext>
                </a:extLst>
              </a:tr>
            </a:tbl>
          </a:graphicData>
        </a:graphic>
      </p:graphicFrame>
      <p:sp>
        <p:nvSpPr>
          <p:cNvPr id="6" name="TextBox 5">
            <a:extLst>
              <a:ext uri="{FF2B5EF4-FFF2-40B4-BE49-F238E27FC236}">
                <a16:creationId xmlns:a16="http://schemas.microsoft.com/office/drawing/2014/main" id="{63CF53CB-F86A-418D-B401-D3E6B4D19B76}"/>
              </a:ext>
            </a:extLst>
          </p:cNvPr>
          <p:cNvSpPr txBox="1"/>
          <p:nvPr/>
        </p:nvSpPr>
        <p:spPr>
          <a:xfrm>
            <a:off x="938500" y="1086547"/>
            <a:ext cx="4025591"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5.3.4. Worst-Case Disturbance Torques</a:t>
            </a:r>
          </a:p>
        </p:txBody>
      </p:sp>
    </p:spTree>
    <p:extLst>
      <p:ext uri="{BB962C8B-B14F-4D97-AF65-F5344CB8AC3E}">
        <p14:creationId xmlns:p14="http://schemas.microsoft.com/office/powerpoint/2010/main" val="33753907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표 2">
            <a:extLst>
              <a:ext uri="{FF2B5EF4-FFF2-40B4-BE49-F238E27FC236}">
                <a16:creationId xmlns:a16="http://schemas.microsoft.com/office/drawing/2014/main" id="{4D928045-99B5-4A91-BCD5-CAA4BF5E4E82}"/>
              </a:ext>
            </a:extLst>
          </p:cNvPr>
          <p:cNvGraphicFramePr>
            <a:graphicFrameLocks noGrp="1"/>
          </p:cNvGraphicFramePr>
          <p:nvPr/>
        </p:nvGraphicFramePr>
        <p:xfrm>
          <a:off x="1240810" y="1623650"/>
          <a:ext cx="6662380" cy="2781410"/>
        </p:xfrm>
        <a:graphic>
          <a:graphicData uri="http://schemas.openxmlformats.org/drawingml/2006/table">
            <a:tbl>
              <a:tblPr firstRow="1" bandRow="1">
                <a:tableStyleId>{1C28B2AB-E718-4DF9-ADA3-83340B5D2C4E}</a:tableStyleId>
              </a:tblPr>
              <a:tblGrid>
                <a:gridCol w="1298380">
                  <a:extLst>
                    <a:ext uri="{9D8B030D-6E8A-4147-A177-3AD203B41FA5}">
                      <a16:colId xmlns:a16="http://schemas.microsoft.com/office/drawing/2014/main" val="622988568"/>
                    </a:ext>
                  </a:extLst>
                </a:gridCol>
                <a:gridCol w="2412000">
                  <a:extLst>
                    <a:ext uri="{9D8B030D-6E8A-4147-A177-3AD203B41FA5}">
                      <a16:colId xmlns:a16="http://schemas.microsoft.com/office/drawing/2014/main" val="4035508070"/>
                    </a:ext>
                  </a:extLst>
                </a:gridCol>
                <a:gridCol w="1476000">
                  <a:extLst>
                    <a:ext uri="{9D8B030D-6E8A-4147-A177-3AD203B41FA5}">
                      <a16:colId xmlns:a16="http://schemas.microsoft.com/office/drawing/2014/main" val="2891947339"/>
                    </a:ext>
                  </a:extLst>
                </a:gridCol>
                <a:gridCol w="1476000">
                  <a:extLst>
                    <a:ext uri="{9D8B030D-6E8A-4147-A177-3AD203B41FA5}">
                      <a16:colId xmlns:a16="http://schemas.microsoft.com/office/drawing/2014/main" val="1231843729"/>
                    </a:ext>
                  </a:extLst>
                </a:gridCol>
              </a:tblGrid>
              <a:tr h="363531">
                <a:tc grid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dirty="0">
                          <a:solidFill>
                            <a:schemeClr val="bg1"/>
                          </a:solidFill>
                          <a:latin typeface="+mn-ea"/>
                          <a:ea typeface="+mn-ea"/>
                        </a:rPr>
                        <a:t>EIGSO (e=0.075, i=41</a:t>
                      </a:r>
                      <a:r>
                        <a:rPr lang="en-US" altLang="ko-KR" sz="1200" b="1" i="0" u="none" strike="noStrike" cap="none" dirty="0">
                          <a:solidFill>
                            <a:schemeClr val="bg1"/>
                          </a:solidFill>
                          <a:latin typeface="+mn-ea"/>
                          <a:ea typeface="Arial"/>
                          <a:cs typeface="Arial"/>
                          <a:sym typeface="Arial"/>
                        </a:rPr>
                        <a:t>°</a:t>
                      </a:r>
                      <a:r>
                        <a:rPr lang="en-US" altLang="ko-KR" sz="1200" b="1" dirty="0">
                          <a:solidFill>
                            <a:schemeClr val="bg1"/>
                          </a:solidFill>
                          <a:latin typeface="+mn-ea"/>
                          <a:ea typeface="+mn-ea"/>
                        </a:rPr>
                        <a:t>)</a:t>
                      </a:r>
                    </a:p>
                  </a:txBody>
                  <a:tcPr anchor="ctr">
                    <a:solidFill>
                      <a:srgbClr val="333333"/>
                    </a:solidFill>
                  </a:tcPr>
                </a:tc>
                <a:tc hMerge="1">
                  <a:txBody>
                    <a:bodyPr/>
                    <a:lstStyle/>
                    <a:p>
                      <a:pPr latinLnBrk="1"/>
                      <a:endParaRPr lang="ko-KR" altLang="en-US" dirty="0"/>
                    </a:p>
                  </a:txBody>
                  <a:tcPr>
                    <a:solidFill>
                      <a:srgbClr val="333333"/>
                    </a:solidFill>
                  </a:tcPr>
                </a:tc>
                <a:tc>
                  <a:txBody>
                    <a:bodyPr/>
                    <a:lstStyle/>
                    <a:p>
                      <a:pPr algn="ctr" latinLnBrk="1"/>
                      <a:r>
                        <a:rPr lang="en-US" altLang="ko-KR" sz="1100" b="1" dirty="0">
                          <a:solidFill>
                            <a:schemeClr val="bg1"/>
                          </a:solidFill>
                          <a:latin typeface="+mn-ea"/>
                          <a:ea typeface="+mn-ea"/>
                        </a:rPr>
                        <a:t>BOL (2400 kg)</a:t>
                      </a:r>
                      <a:endParaRPr lang="ko-KR" altLang="en-US" sz="1100" b="1" dirty="0">
                        <a:solidFill>
                          <a:schemeClr val="bg1"/>
                        </a:solidFill>
                        <a:latin typeface="+mn-ea"/>
                        <a:ea typeface="+mn-ea"/>
                      </a:endParaRPr>
                    </a:p>
                  </a:txBody>
                  <a:tcPr anchor="ctr">
                    <a:solidFill>
                      <a:srgbClr val="333333"/>
                    </a:solidFill>
                  </a:tcPr>
                </a:tc>
                <a:tc>
                  <a:txBody>
                    <a:bodyPr/>
                    <a:lstStyle/>
                    <a:p>
                      <a:pPr algn="ctr" latinLnBrk="1"/>
                      <a:r>
                        <a:rPr lang="en-US" altLang="ko-KR" sz="1100" b="1" dirty="0">
                          <a:solidFill>
                            <a:schemeClr val="bg1"/>
                          </a:solidFill>
                          <a:latin typeface="+mn-ea"/>
                          <a:ea typeface="+mn-ea"/>
                        </a:rPr>
                        <a:t>EOL (1800 kg)</a:t>
                      </a:r>
                      <a:endParaRPr lang="ko-KR" altLang="en-US" sz="1100" b="1" dirty="0">
                        <a:solidFill>
                          <a:schemeClr val="bg1"/>
                        </a:solidFill>
                        <a:latin typeface="+mn-ea"/>
                        <a:ea typeface="+mn-ea"/>
                      </a:endParaRPr>
                    </a:p>
                  </a:txBody>
                  <a:tcPr anchor="ctr">
                    <a:solidFill>
                      <a:srgbClr val="333333"/>
                    </a:solidFill>
                  </a:tcPr>
                </a:tc>
                <a:extLst>
                  <a:ext uri="{0D108BD9-81ED-4DB2-BD59-A6C34878D82A}">
                    <a16:rowId xmlns:a16="http://schemas.microsoft.com/office/drawing/2014/main" val="4225889715"/>
                  </a:ext>
                </a:extLst>
              </a:tr>
              <a:tr h="612000">
                <a:tc>
                  <a:txBody>
                    <a:bodyPr/>
                    <a:lstStyle/>
                    <a:p>
                      <a:pPr algn="ctr" latinLnBrk="1"/>
                      <a:r>
                        <a:rPr lang="en-US" altLang="ko-KR" sz="1100" dirty="0">
                          <a:latin typeface="+mn-ea"/>
                          <a:ea typeface="+mn-ea"/>
                        </a:rPr>
                        <a:t>Solar radiation</a:t>
                      </a:r>
                    </a:p>
                    <a:p>
                      <a:pPr algn="ctr" latinLnBrk="1"/>
                      <a:r>
                        <a:rPr lang="en-US" altLang="ko-KR" sz="1100" dirty="0">
                          <a:latin typeface="+mn-ea"/>
                          <a:ea typeface="+mn-ea"/>
                        </a:rPr>
                        <a:t>(Cyclic)</a:t>
                      </a:r>
                      <a:endParaRPr lang="ko-KR" altLang="en-US" sz="1100" dirty="0">
                        <a:latin typeface="+mn-ea"/>
                        <a:ea typeface="+mn-ea"/>
                      </a:endParaRP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½ orbit</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b="0" i="0" u="none" strike="noStrike" cap="none" dirty="0">
                          <a:solidFill>
                            <a:srgbClr val="000000"/>
                          </a:solidFill>
                          <a:latin typeface="+mn-ea"/>
                          <a:ea typeface="Arial"/>
                          <a:cs typeface="Arial"/>
                          <a:sym typeface="Arial"/>
                        </a:rPr>
                        <a:t>1.33  N m s</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b="0" i="0" u="none" strike="noStrike" cap="none" dirty="0">
                          <a:solidFill>
                            <a:srgbClr val="000000"/>
                          </a:solidFill>
                          <a:latin typeface="+mn-ea"/>
                          <a:ea typeface="Arial"/>
                          <a:cs typeface="Arial"/>
                          <a:sym typeface="Arial"/>
                        </a:rPr>
                        <a:t>1.33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1160501606"/>
                  </a:ext>
                </a:extLst>
              </a:tr>
              <a:tr h="797879">
                <a:tc>
                  <a:txBody>
                    <a:bodyPr/>
                    <a:lstStyle/>
                    <a:p>
                      <a:pPr algn="ctr" latinLnBrk="1"/>
                      <a:r>
                        <a:rPr lang="en-US" altLang="ko-KR" sz="1100" dirty="0">
                          <a:latin typeface="+mn-ea"/>
                          <a:ea typeface="+mn-ea"/>
                        </a:rPr>
                        <a:t>Gravity-gradient</a:t>
                      </a:r>
                    </a:p>
                    <a:p>
                      <a:pPr algn="ctr" latinLnBrk="1"/>
                      <a:r>
                        <a:rPr lang="en-US" altLang="ko-KR" sz="1100" dirty="0">
                          <a:latin typeface="+mn-ea"/>
                          <a:ea typeface="+mn-ea"/>
                        </a:rPr>
                        <a:t>(Secular)</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1 orbit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                            in 4 weeks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3.43e-7  N m</a:t>
                      </a:r>
                    </a:p>
                    <a:p>
                      <a:pPr algn="ctr" latinLnBrk="1"/>
                      <a:endParaRPr lang="en-US" altLang="ko-KR" sz="1100" dirty="0">
                        <a:latin typeface="+mn-ea"/>
                        <a:ea typeface="+mn-ea"/>
                      </a:endParaRPr>
                    </a:p>
                    <a:p>
                      <a:pPr algn="ctr" latinLnBrk="1"/>
                      <a:r>
                        <a:rPr lang="en-US" altLang="ko-KR" sz="1100" dirty="0">
                          <a:latin typeface="+mn-ea"/>
                          <a:ea typeface="+mn-ea"/>
                        </a:rPr>
                        <a:t>2.96e-2  N m s</a:t>
                      </a:r>
                    </a:p>
                    <a:p>
                      <a:pPr algn="ctr" latinLnBrk="1"/>
                      <a:r>
                        <a:rPr lang="en-US" altLang="ko-KR" sz="1100" dirty="0">
                          <a:latin typeface="+mn-ea"/>
                          <a:ea typeface="+mn-ea"/>
                        </a:rPr>
                        <a:t>8.29e-1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2.31e-7  N m</a:t>
                      </a:r>
                    </a:p>
                    <a:p>
                      <a:pPr algn="ctr" latinLnBrk="1"/>
                      <a:endParaRPr lang="en-US" altLang="ko-KR" sz="1100" dirty="0">
                        <a:latin typeface="+mn-ea"/>
                        <a:ea typeface="+mn-ea"/>
                      </a:endParaRPr>
                    </a:p>
                    <a:p>
                      <a:pPr algn="ctr" latinLnBrk="1"/>
                      <a:r>
                        <a:rPr lang="en-US" altLang="ko-KR" sz="1100" dirty="0">
                          <a:latin typeface="+mn-ea"/>
                          <a:ea typeface="+mn-ea"/>
                        </a:rPr>
                        <a:t>1.99e-2  N m s</a:t>
                      </a:r>
                    </a:p>
                    <a:p>
                      <a:pPr algn="ctr" latinLnBrk="1"/>
                      <a:r>
                        <a:rPr lang="en-US" altLang="ko-KR" sz="1100" dirty="0">
                          <a:latin typeface="+mn-ea"/>
                          <a:ea typeface="+mn-ea"/>
                        </a:rPr>
                        <a:t>5.59e-1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2869065879"/>
                  </a:ext>
                </a:extLst>
              </a:tr>
              <a:tr h="612000">
                <a:tc>
                  <a:txBody>
                    <a:bodyPr/>
                    <a:lstStyle/>
                    <a:p>
                      <a:pPr algn="ctr" latinLnBrk="1"/>
                      <a:r>
                        <a:rPr lang="en-US" altLang="ko-KR" sz="1100" dirty="0">
                          <a:latin typeface="+mn-ea"/>
                          <a:ea typeface="+mn-ea"/>
                        </a:rPr>
                        <a:t>Magnetic field</a:t>
                      </a:r>
                    </a:p>
                    <a:p>
                      <a:pPr algn="ctr" latinLnBrk="1"/>
                      <a:r>
                        <a:rPr lang="en-US" altLang="ko-KR" sz="1100" dirty="0">
                          <a:latin typeface="+mn-ea"/>
                          <a:ea typeface="+mn-ea"/>
                        </a:rPr>
                        <a:t>(Cyclic)</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a:t>
                      </a:r>
                      <a:r>
                        <a:rPr lang="en-US" altLang="ko-KR" sz="1100" b="0" i="0" u="none" strike="noStrike" cap="none" dirty="0">
                          <a:solidFill>
                            <a:srgbClr val="000000"/>
                          </a:solidFill>
                          <a:latin typeface="+mn-ea"/>
                          <a:ea typeface="Arial"/>
                          <a:cs typeface="Arial"/>
                          <a:sym typeface="Arial"/>
                        </a:rPr>
                        <a:t>½</a:t>
                      </a:r>
                      <a:r>
                        <a:rPr lang="en-US" altLang="ko-KR" sz="1100" dirty="0">
                          <a:latin typeface="+mn-ea"/>
                          <a:ea typeface="+mn-ea"/>
                        </a:rPr>
                        <a:t> orbit</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1.73e-6  N m</a:t>
                      </a:r>
                    </a:p>
                    <a:p>
                      <a:pPr algn="ctr" latinLnBrk="1"/>
                      <a:endParaRPr lang="en-US" altLang="ko-KR" sz="1100" dirty="0">
                        <a:latin typeface="+mn-ea"/>
                        <a:ea typeface="+mn-ea"/>
                      </a:endParaRPr>
                    </a:p>
                    <a:p>
                      <a:pPr algn="ctr" latinLnBrk="1"/>
                      <a:r>
                        <a:rPr lang="en-US" altLang="ko-KR" sz="1100" dirty="0">
                          <a:latin typeface="+mn-ea"/>
                          <a:ea typeface="+mn-ea"/>
                        </a:rPr>
                        <a:t>5.28e-2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1.30e-6  N m</a:t>
                      </a:r>
                    </a:p>
                    <a:p>
                      <a:pPr algn="ctr" latinLnBrk="1"/>
                      <a:endParaRPr lang="en-US" altLang="ko-KR" sz="1100" dirty="0">
                        <a:latin typeface="+mn-ea"/>
                        <a:ea typeface="+mn-ea"/>
                      </a:endParaRPr>
                    </a:p>
                    <a:p>
                      <a:pPr algn="ctr" latinLnBrk="1"/>
                      <a:r>
                        <a:rPr lang="en-US" altLang="ko-KR" sz="1100" dirty="0">
                          <a:latin typeface="+mn-ea"/>
                          <a:ea typeface="+mn-ea"/>
                        </a:rPr>
                        <a:t> 3.96e-2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3789921663"/>
                  </a:ext>
                </a:extLst>
              </a:tr>
              <a:tr h="396000">
                <a:tc grid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100" b="0" i="0" u="none" strike="noStrike" cap="none" dirty="0">
                          <a:solidFill>
                            <a:srgbClr val="000000"/>
                          </a:solidFill>
                          <a:latin typeface="+mn-ea"/>
                          <a:ea typeface="Arial"/>
                          <a:cs typeface="Arial"/>
                          <a:sym typeface="Arial"/>
                        </a:rPr>
                        <a:t>Maximum momentum storage</a:t>
                      </a:r>
                    </a:p>
                  </a:txBody>
                  <a:tcPr anchor="ctr">
                    <a:solidFill>
                      <a:schemeClr val="bg1">
                        <a:lumMod val="95000"/>
                      </a:schemeClr>
                    </a:solidFill>
                  </a:tcPr>
                </a:tc>
                <a:tc hMerge="1">
                  <a:txBody>
                    <a:bodyPr/>
                    <a:lstStyle/>
                    <a:p>
                      <a:pPr algn="l" latinLnBrk="1"/>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2.21</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1.93</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397541692"/>
                  </a:ext>
                </a:extLst>
              </a:tr>
            </a:tbl>
          </a:graphicData>
        </a:graphic>
      </p:graphicFrame>
      <p:sp>
        <p:nvSpPr>
          <p:cNvPr id="6" name="TextBox 5">
            <a:extLst>
              <a:ext uri="{FF2B5EF4-FFF2-40B4-BE49-F238E27FC236}">
                <a16:creationId xmlns:a16="http://schemas.microsoft.com/office/drawing/2014/main" id="{AA14581A-0EA4-4215-89A3-2D5F9CD29F9C}"/>
              </a:ext>
            </a:extLst>
          </p:cNvPr>
          <p:cNvSpPr txBox="1"/>
          <p:nvPr/>
        </p:nvSpPr>
        <p:spPr>
          <a:xfrm>
            <a:off x="938500" y="1086547"/>
            <a:ext cx="4025591"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5.3.4. Worst-Case Disturbance Torques</a:t>
            </a:r>
          </a:p>
        </p:txBody>
      </p:sp>
    </p:spTree>
    <p:extLst>
      <p:ext uri="{BB962C8B-B14F-4D97-AF65-F5344CB8AC3E}">
        <p14:creationId xmlns:p14="http://schemas.microsoft.com/office/powerpoint/2010/main" val="6470344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표 2">
            <a:extLst>
              <a:ext uri="{FF2B5EF4-FFF2-40B4-BE49-F238E27FC236}">
                <a16:creationId xmlns:a16="http://schemas.microsoft.com/office/drawing/2014/main" id="{4D928045-99B5-4A91-BCD5-CAA4BF5E4E82}"/>
              </a:ext>
            </a:extLst>
          </p:cNvPr>
          <p:cNvGraphicFramePr>
            <a:graphicFrameLocks noGrp="1"/>
          </p:cNvGraphicFramePr>
          <p:nvPr/>
        </p:nvGraphicFramePr>
        <p:xfrm>
          <a:off x="1240810" y="1623650"/>
          <a:ext cx="6662380" cy="2781410"/>
        </p:xfrm>
        <a:graphic>
          <a:graphicData uri="http://schemas.openxmlformats.org/drawingml/2006/table">
            <a:tbl>
              <a:tblPr firstRow="1" bandRow="1">
                <a:tableStyleId>{1C28B2AB-E718-4DF9-ADA3-83340B5D2C4E}</a:tableStyleId>
              </a:tblPr>
              <a:tblGrid>
                <a:gridCol w="1298380">
                  <a:extLst>
                    <a:ext uri="{9D8B030D-6E8A-4147-A177-3AD203B41FA5}">
                      <a16:colId xmlns:a16="http://schemas.microsoft.com/office/drawing/2014/main" val="622988568"/>
                    </a:ext>
                  </a:extLst>
                </a:gridCol>
                <a:gridCol w="2412000">
                  <a:extLst>
                    <a:ext uri="{9D8B030D-6E8A-4147-A177-3AD203B41FA5}">
                      <a16:colId xmlns:a16="http://schemas.microsoft.com/office/drawing/2014/main" val="4035508070"/>
                    </a:ext>
                  </a:extLst>
                </a:gridCol>
                <a:gridCol w="1476000">
                  <a:extLst>
                    <a:ext uri="{9D8B030D-6E8A-4147-A177-3AD203B41FA5}">
                      <a16:colId xmlns:a16="http://schemas.microsoft.com/office/drawing/2014/main" val="2891947339"/>
                    </a:ext>
                  </a:extLst>
                </a:gridCol>
                <a:gridCol w="1476000">
                  <a:extLst>
                    <a:ext uri="{9D8B030D-6E8A-4147-A177-3AD203B41FA5}">
                      <a16:colId xmlns:a16="http://schemas.microsoft.com/office/drawing/2014/main" val="1231843729"/>
                    </a:ext>
                  </a:extLst>
                </a:gridCol>
              </a:tblGrid>
              <a:tr h="363531">
                <a:tc grid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dirty="0">
                          <a:solidFill>
                            <a:schemeClr val="bg1"/>
                          </a:solidFill>
                          <a:latin typeface="+mn-ea"/>
                          <a:ea typeface="+mn-ea"/>
                        </a:rPr>
                        <a:t>HEO (e=0.25, i=41</a:t>
                      </a:r>
                      <a:r>
                        <a:rPr lang="en-US" altLang="ko-KR" sz="1200" b="1" i="0" u="none" strike="noStrike" cap="none" dirty="0">
                          <a:solidFill>
                            <a:schemeClr val="bg1"/>
                          </a:solidFill>
                          <a:latin typeface="+mn-ea"/>
                          <a:ea typeface="Arial"/>
                          <a:cs typeface="Arial"/>
                          <a:sym typeface="Arial"/>
                        </a:rPr>
                        <a:t>°</a:t>
                      </a:r>
                      <a:r>
                        <a:rPr lang="en-US" altLang="ko-KR" sz="1200" b="1" dirty="0">
                          <a:solidFill>
                            <a:schemeClr val="bg1"/>
                          </a:solidFill>
                          <a:latin typeface="+mn-ea"/>
                          <a:ea typeface="+mn-ea"/>
                        </a:rPr>
                        <a:t>)</a:t>
                      </a:r>
                    </a:p>
                  </a:txBody>
                  <a:tcPr anchor="ctr">
                    <a:solidFill>
                      <a:srgbClr val="333333"/>
                    </a:solidFill>
                  </a:tcPr>
                </a:tc>
                <a:tc hMerge="1">
                  <a:txBody>
                    <a:bodyPr/>
                    <a:lstStyle/>
                    <a:p>
                      <a:pPr latinLnBrk="1"/>
                      <a:endParaRPr lang="ko-KR" altLang="en-US" dirty="0"/>
                    </a:p>
                  </a:txBody>
                  <a:tcPr>
                    <a:solidFill>
                      <a:srgbClr val="333333"/>
                    </a:solidFill>
                  </a:tcPr>
                </a:tc>
                <a:tc>
                  <a:txBody>
                    <a:bodyPr/>
                    <a:lstStyle/>
                    <a:p>
                      <a:pPr algn="ctr" latinLnBrk="1"/>
                      <a:r>
                        <a:rPr lang="en-US" altLang="ko-KR" sz="1100" b="1" dirty="0">
                          <a:solidFill>
                            <a:schemeClr val="bg1"/>
                          </a:solidFill>
                          <a:latin typeface="+mn-ea"/>
                          <a:ea typeface="+mn-ea"/>
                        </a:rPr>
                        <a:t>BOL (2400 kg)</a:t>
                      </a:r>
                      <a:endParaRPr lang="ko-KR" altLang="en-US" sz="1100" b="1" dirty="0">
                        <a:solidFill>
                          <a:schemeClr val="bg1"/>
                        </a:solidFill>
                        <a:latin typeface="+mn-ea"/>
                        <a:ea typeface="+mn-ea"/>
                      </a:endParaRPr>
                    </a:p>
                  </a:txBody>
                  <a:tcPr anchor="ctr">
                    <a:solidFill>
                      <a:srgbClr val="333333"/>
                    </a:solidFill>
                  </a:tcPr>
                </a:tc>
                <a:tc>
                  <a:txBody>
                    <a:bodyPr/>
                    <a:lstStyle/>
                    <a:p>
                      <a:pPr algn="ctr" latinLnBrk="1"/>
                      <a:r>
                        <a:rPr lang="en-US" altLang="ko-KR" sz="1100" b="1" dirty="0">
                          <a:solidFill>
                            <a:schemeClr val="bg1"/>
                          </a:solidFill>
                          <a:latin typeface="+mn-ea"/>
                          <a:ea typeface="+mn-ea"/>
                        </a:rPr>
                        <a:t>EOL (1800 kg)</a:t>
                      </a:r>
                      <a:endParaRPr lang="ko-KR" altLang="en-US" sz="1100" b="1" dirty="0">
                        <a:solidFill>
                          <a:schemeClr val="bg1"/>
                        </a:solidFill>
                        <a:latin typeface="+mn-ea"/>
                        <a:ea typeface="+mn-ea"/>
                      </a:endParaRPr>
                    </a:p>
                  </a:txBody>
                  <a:tcPr anchor="ctr">
                    <a:solidFill>
                      <a:srgbClr val="333333"/>
                    </a:solidFill>
                  </a:tcPr>
                </a:tc>
                <a:extLst>
                  <a:ext uri="{0D108BD9-81ED-4DB2-BD59-A6C34878D82A}">
                    <a16:rowId xmlns:a16="http://schemas.microsoft.com/office/drawing/2014/main" val="4225889715"/>
                  </a:ext>
                </a:extLst>
              </a:tr>
              <a:tr h="612000">
                <a:tc>
                  <a:txBody>
                    <a:bodyPr/>
                    <a:lstStyle/>
                    <a:p>
                      <a:pPr algn="ctr" latinLnBrk="1"/>
                      <a:r>
                        <a:rPr lang="en-US" altLang="ko-KR" sz="1100" dirty="0">
                          <a:latin typeface="+mn-ea"/>
                          <a:ea typeface="+mn-ea"/>
                        </a:rPr>
                        <a:t>Solar radiation</a:t>
                      </a:r>
                    </a:p>
                    <a:p>
                      <a:pPr algn="ctr" latinLnBrk="1"/>
                      <a:r>
                        <a:rPr lang="en-US" altLang="ko-KR" sz="1100" dirty="0">
                          <a:latin typeface="+mn-ea"/>
                          <a:ea typeface="+mn-ea"/>
                        </a:rPr>
                        <a:t>(Cyclic)</a:t>
                      </a:r>
                      <a:endParaRPr lang="ko-KR" altLang="en-US" sz="1100" dirty="0">
                        <a:latin typeface="+mn-ea"/>
                        <a:ea typeface="+mn-ea"/>
                      </a:endParaRP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½ orbit</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b="0" i="0" u="none" strike="noStrike" cap="none" dirty="0">
                          <a:solidFill>
                            <a:srgbClr val="000000"/>
                          </a:solidFill>
                          <a:latin typeface="+mn-ea"/>
                          <a:ea typeface="Arial"/>
                          <a:cs typeface="Arial"/>
                          <a:sym typeface="Arial"/>
                        </a:rPr>
                        <a:t>1.33  N m s</a:t>
                      </a:r>
                      <a:endParaRPr lang="ko-KR" altLang="en-US" sz="1100" dirty="0">
                        <a:latin typeface="+mn-ea"/>
                        <a:ea typeface="+mn-ea"/>
                      </a:endParaRPr>
                    </a:p>
                  </a:txBody>
                  <a:tcPr anchor="ctr">
                    <a:solidFill>
                      <a:schemeClr val="bg1">
                        <a:lumMod val="9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4.36e-5  N m</a:t>
                      </a: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1100" b="0" i="0" u="none" strike="noStrike" cap="none" dirty="0">
                        <a:solidFill>
                          <a:srgbClr val="000000"/>
                        </a:solidFill>
                        <a:latin typeface="+mn-ea"/>
                        <a:ea typeface="Arial"/>
                        <a:cs typeface="Arial"/>
                        <a:sym typeface="Arial"/>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pt-BR" altLang="ko-KR" sz="1100" b="0" i="0" u="none" strike="noStrike" cap="none" dirty="0">
                          <a:solidFill>
                            <a:srgbClr val="000000"/>
                          </a:solidFill>
                          <a:latin typeface="+mn-ea"/>
                          <a:ea typeface="Arial"/>
                          <a:cs typeface="Arial"/>
                          <a:sym typeface="Arial"/>
                        </a:rPr>
                        <a:t>1.33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1160501606"/>
                  </a:ext>
                </a:extLst>
              </a:tr>
              <a:tr h="797879">
                <a:tc>
                  <a:txBody>
                    <a:bodyPr/>
                    <a:lstStyle/>
                    <a:p>
                      <a:pPr algn="ctr" latinLnBrk="1"/>
                      <a:r>
                        <a:rPr lang="en-US" altLang="ko-KR" sz="1100" dirty="0">
                          <a:latin typeface="+mn-ea"/>
                          <a:ea typeface="+mn-ea"/>
                        </a:rPr>
                        <a:t>Gravity-gradient</a:t>
                      </a:r>
                    </a:p>
                    <a:p>
                      <a:pPr algn="ctr" latinLnBrk="1"/>
                      <a:r>
                        <a:rPr lang="en-US" altLang="ko-KR" sz="1100" dirty="0">
                          <a:latin typeface="+mn-ea"/>
                          <a:ea typeface="+mn-ea"/>
                        </a:rPr>
                        <a:t>(Secular)</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1 orbit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100" dirty="0">
                          <a:latin typeface="+mn-ea"/>
                          <a:ea typeface="+mn-ea"/>
                        </a:rPr>
                        <a:t>                            in </a:t>
                      </a:r>
                      <a:r>
                        <a:rPr lang="en-US" altLang="ko-KR" sz="1100" b="0" i="0" u="none" strike="noStrike" cap="none" dirty="0">
                          <a:solidFill>
                            <a:srgbClr val="000000"/>
                          </a:solidFill>
                          <a:latin typeface="+mn-ea"/>
                          <a:ea typeface="Arial"/>
                          <a:cs typeface="Arial"/>
                          <a:sym typeface="Arial"/>
                        </a:rPr>
                        <a:t>4 weeks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6.43e-7  N m</a:t>
                      </a:r>
                    </a:p>
                    <a:p>
                      <a:pPr algn="ctr" latinLnBrk="1"/>
                      <a:endParaRPr lang="en-US" altLang="ko-KR" sz="1100" dirty="0">
                        <a:latin typeface="+mn-ea"/>
                        <a:ea typeface="+mn-ea"/>
                      </a:endParaRPr>
                    </a:p>
                    <a:p>
                      <a:pPr algn="ctr" latinLnBrk="1"/>
                      <a:r>
                        <a:rPr lang="en-US" altLang="ko-KR" sz="1100" dirty="0">
                          <a:latin typeface="+mn-ea"/>
                          <a:ea typeface="+mn-ea"/>
                        </a:rPr>
                        <a:t>5.56e-2  N m s</a:t>
                      </a:r>
                    </a:p>
                    <a:p>
                      <a:pPr algn="ctr" latinLnBrk="1"/>
                      <a:r>
                        <a:rPr lang="pt-BR" altLang="ko-KR" sz="1100" dirty="0">
                          <a:latin typeface="+mn-ea"/>
                          <a:ea typeface="+mn-ea"/>
                        </a:rPr>
                        <a:t>1.56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4.33e-7  N m</a:t>
                      </a:r>
                    </a:p>
                    <a:p>
                      <a:pPr algn="ctr" latinLnBrk="1"/>
                      <a:endParaRPr lang="en-US" altLang="ko-KR" sz="1100" dirty="0">
                        <a:latin typeface="+mn-ea"/>
                        <a:ea typeface="+mn-ea"/>
                      </a:endParaRPr>
                    </a:p>
                    <a:p>
                      <a:pPr algn="ctr" latinLnBrk="1"/>
                      <a:r>
                        <a:rPr lang="en-US" altLang="ko-KR" sz="1100" dirty="0">
                          <a:latin typeface="+mn-ea"/>
                          <a:ea typeface="+mn-ea"/>
                        </a:rPr>
                        <a:t>3.74e-2  N m s</a:t>
                      </a:r>
                    </a:p>
                    <a:p>
                      <a:pPr algn="ctr" latinLnBrk="1"/>
                      <a:r>
                        <a:rPr lang="pt-BR" altLang="ko-KR" sz="1100" dirty="0">
                          <a:latin typeface="+mn-ea"/>
                          <a:ea typeface="+mn-ea"/>
                        </a:rPr>
                        <a:t>1.05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2869065879"/>
                  </a:ext>
                </a:extLst>
              </a:tr>
              <a:tr h="612000">
                <a:tc>
                  <a:txBody>
                    <a:bodyPr/>
                    <a:lstStyle/>
                    <a:p>
                      <a:pPr algn="ctr" latinLnBrk="1"/>
                      <a:r>
                        <a:rPr lang="en-US" altLang="ko-KR" sz="1100" dirty="0">
                          <a:latin typeface="+mn-ea"/>
                          <a:ea typeface="+mn-ea"/>
                        </a:rPr>
                        <a:t>Magnetic field</a:t>
                      </a:r>
                    </a:p>
                    <a:p>
                      <a:pPr algn="ctr" latinLnBrk="1"/>
                      <a:r>
                        <a:rPr lang="en-US" altLang="ko-KR" sz="1100" dirty="0">
                          <a:latin typeface="+mn-ea"/>
                          <a:ea typeface="+mn-ea"/>
                        </a:rPr>
                        <a:t>(Cyclic)</a:t>
                      </a:r>
                    </a:p>
                  </a:txBody>
                  <a:tcPr anchor="ctr">
                    <a:solidFill>
                      <a:schemeClr val="bg1">
                        <a:lumMod val="95000"/>
                      </a:schemeClr>
                    </a:solidFill>
                  </a:tcPr>
                </a:tc>
                <a:tc>
                  <a:txBody>
                    <a:bodyPr/>
                    <a:lstStyle/>
                    <a:p>
                      <a:pPr algn="l" latinLnBrk="1"/>
                      <a:r>
                        <a:rPr lang="en-US" altLang="ko-KR" sz="1100" dirty="0">
                          <a:latin typeface="+mn-ea"/>
                          <a:ea typeface="+mn-ea"/>
                        </a:rPr>
                        <a:t>Torque</a:t>
                      </a:r>
                    </a:p>
                    <a:p>
                      <a:pPr algn="l" latinLnBrk="1"/>
                      <a:endParaRPr lang="en-US" altLang="ko-KR" sz="1100" dirty="0">
                        <a:latin typeface="+mn-ea"/>
                        <a:ea typeface="+mn-ea"/>
                      </a:endParaRPr>
                    </a:p>
                    <a:p>
                      <a:pPr algn="l" latinLnBrk="1"/>
                      <a:r>
                        <a:rPr lang="en-US" altLang="ko-KR" sz="1100" dirty="0">
                          <a:latin typeface="+mn-ea"/>
                          <a:ea typeface="+mn-ea"/>
                        </a:rPr>
                        <a:t>Momentum storage in ½ orbit</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3.25e-6  N m</a:t>
                      </a:r>
                    </a:p>
                    <a:p>
                      <a:pPr algn="ctr" latinLnBrk="1"/>
                      <a:endParaRPr lang="en-US" altLang="ko-KR" sz="1100" dirty="0">
                        <a:latin typeface="+mn-ea"/>
                        <a:ea typeface="+mn-ea"/>
                      </a:endParaRPr>
                    </a:p>
                    <a:p>
                      <a:pPr algn="ctr" latinLnBrk="1"/>
                      <a:r>
                        <a:rPr lang="en-US" altLang="ko-KR" sz="1100" dirty="0">
                          <a:latin typeface="+mn-ea"/>
                          <a:ea typeface="+mn-ea"/>
                        </a:rPr>
                        <a:t> 9.91e-2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2.44e-6  N m</a:t>
                      </a:r>
                    </a:p>
                    <a:p>
                      <a:pPr algn="ctr" latinLnBrk="1"/>
                      <a:endParaRPr lang="en-US" altLang="ko-KR" sz="1100" dirty="0">
                        <a:latin typeface="+mn-ea"/>
                        <a:ea typeface="+mn-ea"/>
                      </a:endParaRPr>
                    </a:p>
                    <a:p>
                      <a:pPr algn="ctr" latinLnBrk="1"/>
                      <a:r>
                        <a:rPr lang="en-US" altLang="ko-KR" sz="1100" dirty="0">
                          <a:latin typeface="+mn-ea"/>
                          <a:ea typeface="+mn-ea"/>
                        </a:rPr>
                        <a:t> 7.44e-2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3789921663"/>
                  </a:ext>
                </a:extLst>
              </a:tr>
              <a:tr h="396000">
                <a:tc grid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100" b="0" i="0" u="none" strike="noStrike" cap="none" dirty="0">
                          <a:solidFill>
                            <a:srgbClr val="000000"/>
                          </a:solidFill>
                          <a:latin typeface="+mn-ea"/>
                          <a:ea typeface="Arial"/>
                          <a:cs typeface="Arial"/>
                          <a:sym typeface="Arial"/>
                        </a:rPr>
                        <a:t>Maximum momentum storage</a:t>
                      </a:r>
                    </a:p>
                  </a:txBody>
                  <a:tcPr anchor="ctr">
                    <a:solidFill>
                      <a:schemeClr val="bg1">
                        <a:lumMod val="95000"/>
                      </a:schemeClr>
                    </a:solidFill>
                  </a:tcPr>
                </a:tc>
                <a:tc hMerge="1">
                  <a:txBody>
                    <a:bodyPr/>
                    <a:lstStyle/>
                    <a:p>
                      <a:pPr algn="l" latinLnBrk="1"/>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2.99</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tc>
                  <a:txBody>
                    <a:bodyPr/>
                    <a:lstStyle/>
                    <a:p>
                      <a:pPr algn="ctr" latinLnBrk="1"/>
                      <a:r>
                        <a:rPr lang="en-US" altLang="ko-KR" sz="1100" dirty="0">
                          <a:latin typeface="+mn-ea"/>
                          <a:ea typeface="+mn-ea"/>
                        </a:rPr>
                        <a:t>2.45</a:t>
                      </a:r>
                      <a:r>
                        <a:rPr lang="en-US" altLang="ko-KR" sz="1100" b="0" i="0" u="none" strike="noStrike" cap="none" dirty="0">
                          <a:solidFill>
                            <a:srgbClr val="000000"/>
                          </a:solidFill>
                          <a:latin typeface="+mn-ea"/>
                          <a:ea typeface="Arial"/>
                          <a:cs typeface="Arial"/>
                          <a:sym typeface="Arial"/>
                        </a:rPr>
                        <a:t>  N m s</a:t>
                      </a:r>
                      <a:endParaRPr lang="ko-KR" altLang="en-US" sz="1100" dirty="0">
                        <a:latin typeface="+mn-ea"/>
                        <a:ea typeface="+mn-ea"/>
                      </a:endParaRPr>
                    </a:p>
                  </a:txBody>
                  <a:tcPr anchor="ctr">
                    <a:solidFill>
                      <a:schemeClr val="bg1">
                        <a:lumMod val="95000"/>
                      </a:schemeClr>
                    </a:solidFill>
                  </a:tcPr>
                </a:tc>
                <a:extLst>
                  <a:ext uri="{0D108BD9-81ED-4DB2-BD59-A6C34878D82A}">
                    <a16:rowId xmlns:a16="http://schemas.microsoft.com/office/drawing/2014/main" val="1254397952"/>
                  </a:ext>
                </a:extLst>
              </a:tr>
            </a:tbl>
          </a:graphicData>
        </a:graphic>
      </p:graphicFrame>
      <p:sp>
        <p:nvSpPr>
          <p:cNvPr id="6" name="TextBox 5">
            <a:extLst>
              <a:ext uri="{FF2B5EF4-FFF2-40B4-BE49-F238E27FC236}">
                <a16:creationId xmlns:a16="http://schemas.microsoft.com/office/drawing/2014/main" id="{5551D292-68DB-4EEC-AB48-93F6141BF8BB}"/>
              </a:ext>
            </a:extLst>
          </p:cNvPr>
          <p:cNvSpPr txBox="1"/>
          <p:nvPr/>
        </p:nvSpPr>
        <p:spPr>
          <a:xfrm>
            <a:off x="938500" y="1086547"/>
            <a:ext cx="4025591" cy="307777"/>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5.3.4. Worst-Case Disturbance Torques</a:t>
            </a:r>
          </a:p>
        </p:txBody>
      </p:sp>
    </p:spTree>
    <p:extLst>
      <p:ext uri="{BB962C8B-B14F-4D97-AF65-F5344CB8AC3E}">
        <p14:creationId xmlns:p14="http://schemas.microsoft.com/office/powerpoint/2010/main" val="33103920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5.3 Estimate Worst-Case Disturbance Torques</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7" name="표 3">
                <a:extLst>
                  <a:ext uri="{FF2B5EF4-FFF2-40B4-BE49-F238E27FC236}">
                    <a16:creationId xmlns:a16="http://schemas.microsoft.com/office/drawing/2014/main" id="{975B45B3-C56B-4A35-90DD-48E2F837D034}"/>
                  </a:ext>
                </a:extLst>
              </p:cNvPr>
              <p:cNvGraphicFramePr>
                <a:graphicFrameLocks noGrp="1"/>
              </p:cNvGraphicFramePr>
              <p:nvPr/>
            </p:nvGraphicFramePr>
            <p:xfrm>
              <a:off x="1438103" y="2046877"/>
              <a:ext cx="6267793" cy="1533021"/>
            </p:xfrm>
            <a:graphic>
              <a:graphicData uri="http://schemas.openxmlformats.org/drawingml/2006/table">
                <a:tbl>
                  <a:tblPr firstRow="1" bandRow="1">
                    <a:tableStyleId>{1C28B2AB-E718-4DF9-ADA3-83340B5D2C4E}</a:tableStyleId>
                  </a:tblPr>
                  <a:tblGrid>
                    <a:gridCol w="1152612">
                      <a:extLst>
                        <a:ext uri="{9D8B030D-6E8A-4147-A177-3AD203B41FA5}">
                          <a16:colId xmlns:a16="http://schemas.microsoft.com/office/drawing/2014/main" val="1429921208"/>
                        </a:ext>
                      </a:extLst>
                    </a:gridCol>
                    <a:gridCol w="1956367">
                      <a:extLst>
                        <a:ext uri="{9D8B030D-6E8A-4147-A177-3AD203B41FA5}">
                          <a16:colId xmlns:a16="http://schemas.microsoft.com/office/drawing/2014/main" val="341046346"/>
                        </a:ext>
                      </a:extLst>
                    </a:gridCol>
                    <a:gridCol w="3158814">
                      <a:extLst>
                        <a:ext uri="{9D8B030D-6E8A-4147-A177-3AD203B41FA5}">
                          <a16:colId xmlns:a16="http://schemas.microsoft.com/office/drawing/2014/main" val="1528917478"/>
                        </a:ext>
                      </a:extLst>
                    </a:gridCol>
                  </a:tblGrid>
                  <a:tr h="511007">
                    <a:tc gridSpan="2">
                      <a:txBody>
                        <a:bodyPr/>
                        <a:lstStyle/>
                        <a:p>
                          <a:pPr algn="ctr" latinLnBrk="1"/>
                          <a:endParaRPr lang="ko-KR" altLang="en-US" sz="1100" dirty="0">
                            <a:solidFill>
                              <a:schemeClr val="bg1"/>
                            </a:solidFill>
                          </a:endParaRPr>
                        </a:p>
                      </a:txBody>
                      <a:tcPr anchor="ctr">
                        <a:solidFill>
                          <a:srgbClr val="333333"/>
                        </a:solidFill>
                      </a:tcPr>
                    </a:tc>
                    <a:tc hMerge="1">
                      <a:txBody>
                        <a:bodyPr/>
                        <a:lstStyle/>
                        <a:p>
                          <a:pPr latinLnBrk="1"/>
                          <a:endParaRPr lang="ko-KR" altLang="en-US"/>
                        </a:p>
                      </a:txBody>
                      <a:tcPr/>
                    </a:tc>
                    <a:tc>
                      <a:txBody>
                        <a:bodyPr/>
                        <a:lstStyle/>
                        <a:p>
                          <a:pPr algn="ctr" latinLnBrk="1"/>
                          <a14:m>
                            <m:oMathPara xmlns:m="http://schemas.openxmlformats.org/officeDocument/2006/math">
                              <m:oMathParaPr>
                                <m:jc m:val="centerGroup"/>
                              </m:oMathParaPr>
                              <m:oMath xmlns:m="http://schemas.openxmlformats.org/officeDocument/2006/math">
                                <m:d>
                                  <m:dPr>
                                    <m:ctrlPr>
                                      <a:rPr lang="en-US" altLang="ko-KR" sz="1200" b="0" i="1" u="none" strike="noStrike" cap="none" smtClean="0">
                                        <a:solidFill>
                                          <a:schemeClr val="bg1"/>
                                        </a:solidFill>
                                        <a:latin typeface="Cambria Math" panose="02040503050406030204" pitchFamily="18" charset="0"/>
                                        <a:ea typeface="Arial"/>
                                        <a:cs typeface="Arial"/>
                                        <a:sym typeface="Arial"/>
                                      </a:rPr>
                                    </m:ctrlPr>
                                  </m:dPr>
                                  <m:e>
                                    <m:sSub>
                                      <m:sSubPr>
                                        <m:ctrlPr>
                                          <a:rPr lang="en-US" altLang="ko-KR" sz="1200" b="0" i="1" u="none" strike="noStrike" cap="none" smtClean="0">
                                            <a:solidFill>
                                              <a:schemeClr val="bg1"/>
                                            </a:solidFill>
                                            <a:latin typeface="Cambria Math" panose="02040503050406030204" pitchFamily="18" charset="0"/>
                                            <a:ea typeface="Arial"/>
                                            <a:cs typeface="Arial"/>
                                            <a:sym typeface="Arial"/>
                                          </a:rPr>
                                        </m:ctrlPr>
                                      </m:sSubPr>
                                      <m:e>
                                        <m:r>
                                          <a:rPr lang="en-US" altLang="ko-KR" sz="1200" b="0" i="1" u="none" strike="noStrike" cap="none" smtClean="0">
                                            <a:solidFill>
                                              <a:schemeClr val="bg1"/>
                                            </a:solidFill>
                                            <a:latin typeface="Cambria Math" panose="02040503050406030204" pitchFamily="18" charset="0"/>
                                            <a:ea typeface="Arial"/>
                                            <a:cs typeface="Arial"/>
                                            <a:sym typeface="Arial"/>
                                          </a:rPr>
                                          <m:t>𝐼</m:t>
                                        </m:r>
                                      </m:e>
                                      <m:sub>
                                        <m:r>
                                          <a:rPr lang="en-US" altLang="ko-KR" sz="1200" b="0" i="1" u="none" strike="noStrike" cap="none" smtClean="0">
                                            <a:solidFill>
                                              <a:schemeClr val="bg1"/>
                                            </a:solidFill>
                                            <a:latin typeface="Cambria Math" panose="02040503050406030204" pitchFamily="18" charset="0"/>
                                            <a:ea typeface="Arial"/>
                                            <a:cs typeface="Arial"/>
                                            <a:sym typeface="Arial"/>
                                          </a:rPr>
                                          <m:t>𝑥</m:t>
                                        </m:r>
                                      </m:sub>
                                    </m:sSub>
                                    <m:r>
                                      <a:rPr lang="en-US" altLang="ko-KR" sz="1200" b="0" i="1" u="none" strike="noStrike" cap="none" smtClean="0">
                                        <a:solidFill>
                                          <a:schemeClr val="bg1"/>
                                        </a:solidFill>
                                        <a:latin typeface="Cambria Math" panose="02040503050406030204" pitchFamily="18" charset="0"/>
                                        <a:ea typeface="Arial"/>
                                        <a:cs typeface="Arial"/>
                                        <a:sym typeface="Arial"/>
                                      </a:rPr>
                                      <m:t>, </m:t>
                                    </m:r>
                                    <m:sSub>
                                      <m:sSubPr>
                                        <m:ctrlPr>
                                          <a:rPr lang="en-US" altLang="ko-KR" sz="1200" b="0" i="1" u="none" strike="noStrike" cap="none" smtClean="0">
                                            <a:solidFill>
                                              <a:schemeClr val="bg1"/>
                                            </a:solidFill>
                                            <a:latin typeface="Cambria Math" panose="02040503050406030204" pitchFamily="18" charset="0"/>
                                            <a:ea typeface="Arial"/>
                                            <a:cs typeface="Arial"/>
                                            <a:sym typeface="Arial"/>
                                          </a:rPr>
                                        </m:ctrlPr>
                                      </m:sSubPr>
                                      <m:e>
                                        <m:r>
                                          <a:rPr lang="en-US" altLang="ko-KR" sz="1200" b="0" i="1" u="none" strike="noStrike" cap="none" smtClean="0">
                                            <a:solidFill>
                                              <a:schemeClr val="bg1"/>
                                            </a:solidFill>
                                            <a:latin typeface="Cambria Math" panose="02040503050406030204" pitchFamily="18" charset="0"/>
                                            <a:ea typeface="Arial"/>
                                            <a:cs typeface="Arial"/>
                                            <a:sym typeface="Arial"/>
                                          </a:rPr>
                                          <m:t>  </m:t>
                                        </m:r>
                                        <m:r>
                                          <a:rPr lang="en-US" altLang="ko-KR" sz="1200" b="0" i="1" u="none" strike="noStrike" cap="none" smtClean="0">
                                            <a:solidFill>
                                              <a:schemeClr val="bg1"/>
                                            </a:solidFill>
                                            <a:latin typeface="Cambria Math" panose="02040503050406030204" pitchFamily="18" charset="0"/>
                                            <a:ea typeface="Arial"/>
                                            <a:cs typeface="Arial"/>
                                            <a:sym typeface="Arial"/>
                                          </a:rPr>
                                          <m:t>𝐼</m:t>
                                        </m:r>
                                      </m:e>
                                      <m:sub>
                                        <m:r>
                                          <a:rPr lang="en-US" altLang="ko-KR" sz="1200" b="0" i="1" u="none" strike="noStrike" cap="none" smtClean="0">
                                            <a:solidFill>
                                              <a:schemeClr val="bg1"/>
                                            </a:solidFill>
                                            <a:latin typeface="Cambria Math" panose="02040503050406030204" pitchFamily="18" charset="0"/>
                                            <a:ea typeface="Arial"/>
                                            <a:cs typeface="Arial"/>
                                            <a:sym typeface="Arial"/>
                                          </a:rPr>
                                          <m:t>𝑦</m:t>
                                        </m:r>
                                      </m:sub>
                                    </m:sSub>
                                    <m:r>
                                      <a:rPr lang="en-US" altLang="ko-KR" sz="1200" b="0" i="1" u="none" strike="noStrike" cap="none" smtClean="0">
                                        <a:solidFill>
                                          <a:schemeClr val="bg1"/>
                                        </a:solidFill>
                                        <a:latin typeface="Cambria Math" panose="02040503050406030204" pitchFamily="18" charset="0"/>
                                        <a:ea typeface="Arial"/>
                                        <a:cs typeface="Arial"/>
                                        <a:sym typeface="Arial"/>
                                      </a:rPr>
                                      <m:t>, </m:t>
                                    </m:r>
                                    <m:sSub>
                                      <m:sSubPr>
                                        <m:ctrlPr>
                                          <a:rPr lang="en-US" altLang="ko-KR" sz="1200" b="0" i="1" u="none" strike="noStrike" cap="none" smtClean="0">
                                            <a:solidFill>
                                              <a:schemeClr val="bg1"/>
                                            </a:solidFill>
                                            <a:latin typeface="Cambria Math" panose="02040503050406030204" pitchFamily="18" charset="0"/>
                                            <a:ea typeface="Arial"/>
                                            <a:cs typeface="Arial"/>
                                            <a:sym typeface="Arial"/>
                                          </a:rPr>
                                        </m:ctrlPr>
                                      </m:sSubPr>
                                      <m:e>
                                        <m:r>
                                          <a:rPr lang="en-US" altLang="ko-KR" sz="1200" b="0" i="1" u="none" strike="noStrike" cap="none" smtClean="0">
                                            <a:solidFill>
                                              <a:schemeClr val="bg1"/>
                                            </a:solidFill>
                                            <a:latin typeface="Cambria Math" panose="02040503050406030204" pitchFamily="18" charset="0"/>
                                            <a:ea typeface="Arial"/>
                                            <a:cs typeface="Arial"/>
                                            <a:sym typeface="Arial"/>
                                          </a:rPr>
                                          <m:t>  </m:t>
                                        </m:r>
                                        <m:r>
                                          <a:rPr lang="en-US" altLang="ko-KR" sz="1200" b="0" i="1" u="none" strike="noStrike" cap="none" smtClean="0">
                                            <a:solidFill>
                                              <a:schemeClr val="bg1"/>
                                            </a:solidFill>
                                            <a:latin typeface="Cambria Math" panose="02040503050406030204" pitchFamily="18" charset="0"/>
                                            <a:ea typeface="Arial"/>
                                            <a:cs typeface="Arial"/>
                                            <a:sym typeface="Arial"/>
                                          </a:rPr>
                                          <m:t>𝐼</m:t>
                                        </m:r>
                                      </m:e>
                                      <m:sub>
                                        <m:r>
                                          <a:rPr lang="en-US" altLang="ko-KR" sz="1200" b="0" i="1" u="none" strike="noStrike" cap="none" smtClean="0">
                                            <a:solidFill>
                                              <a:schemeClr val="bg1"/>
                                            </a:solidFill>
                                            <a:latin typeface="Cambria Math" panose="02040503050406030204" pitchFamily="18" charset="0"/>
                                            <a:ea typeface="Arial"/>
                                            <a:cs typeface="Arial"/>
                                            <a:sym typeface="Arial"/>
                                          </a:rPr>
                                          <m:t>𝑧</m:t>
                                        </m:r>
                                      </m:sub>
                                    </m:sSub>
                                  </m:e>
                                </m:d>
                                <m:r>
                                  <a:rPr lang="en-US" altLang="ko-KR" sz="1200" b="0" i="1" u="none" strike="noStrike" cap="none" smtClean="0">
                                    <a:solidFill>
                                      <a:schemeClr val="bg1"/>
                                    </a:solidFill>
                                    <a:latin typeface="Cambria Math" panose="02040503050406030204" pitchFamily="18" charset="0"/>
                                    <a:ea typeface="Arial"/>
                                    <a:cs typeface="Arial"/>
                                    <a:sym typeface="Arial"/>
                                  </a:rPr>
                                  <m:t>   [</m:t>
                                </m:r>
                                <m:r>
                                  <m:rPr>
                                    <m:sty m:val="p"/>
                                  </m:rPr>
                                  <a:rPr lang="en-US" altLang="ko-KR" sz="1200" b="0" i="0" u="none" strike="noStrike" cap="none" smtClean="0">
                                    <a:solidFill>
                                      <a:schemeClr val="bg1"/>
                                    </a:solidFill>
                                    <a:latin typeface="Cambria Math" panose="02040503050406030204" pitchFamily="18" charset="0"/>
                                    <a:ea typeface="Arial"/>
                                    <a:cs typeface="Arial"/>
                                    <a:sym typeface="Arial"/>
                                  </a:rPr>
                                  <m:t>kg</m:t>
                                </m:r>
                                <m:r>
                                  <a:rPr lang="en-US" altLang="ko-KR" sz="1200" b="0" i="1" u="none" strike="noStrike" cap="none" smtClean="0">
                                    <a:solidFill>
                                      <a:schemeClr val="bg1"/>
                                    </a:solidFill>
                                    <a:latin typeface="Cambria Math" panose="02040503050406030204" pitchFamily="18" charset="0"/>
                                    <a:ea typeface="Arial"/>
                                    <a:cs typeface="Arial"/>
                                    <a:sym typeface="Arial"/>
                                  </a:rPr>
                                  <m:t>⋅</m:t>
                                </m:r>
                                <m:sSup>
                                  <m:sSupPr>
                                    <m:ctrlPr>
                                      <a:rPr lang="en-US" altLang="ko-KR" sz="1200" b="0" i="1" u="none" strike="noStrike" cap="none" smtClean="0">
                                        <a:solidFill>
                                          <a:schemeClr val="bg1"/>
                                        </a:solidFill>
                                        <a:latin typeface="Cambria Math" panose="02040503050406030204" pitchFamily="18" charset="0"/>
                                        <a:ea typeface="Arial"/>
                                        <a:cs typeface="Arial"/>
                                        <a:sym typeface="Arial"/>
                                      </a:rPr>
                                    </m:ctrlPr>
                                  </m:sSupPr>
                                  <m:e>
                                    <m:r>
                                      <m:rPr>
                                        <m:sty m:val="p"/>
                                      </m:rPr>
                                      <a:rPr lang="en-US" altLang="ko-KR" sz="1200" b="0" i="0" u="none" strike="noStrike" cap="none" smtClean="0">
                                        <a:solidFill>
                                          <a:schemeClr val="bg1"/>
                                        </a:solidFill>
                                        <a:latin typeface="Cambria Math" panose="02040503050406030204" pitchFamily="18" charset="0"/>
                                        <a:ea typeface="Arial"/>
                                        <a:cs typeface="Arial"/>
                                        <a:sym typeface="Arial"/>
                                      </a:rPr>
                                      <m:t>m</m:t>
                                    </m:r>
                                  </m:e>
                                  <m:sup>
                                    <m:r>
                                      <a:rPr lang="en-US" altLang="ko-KR" sz="1200" b="0" i="0" u="none" strike="noStrike" cap="none" smtClean="0">
                                        <a:solidFill>
                                          <a:schemeClr val="bg1"/>
                                        </a:solidFill>
                                        <a:latin typeface="Cambria Math" panose="02040503050406030204" pitchFamily="18" charset="0"/>
                                        <a:ea typeface="Arial"/>
                                        <a:cs typeface="Arial"/>
                                        <a:sym typeface="Arial"/>
                                      </a:rPr>
                                      <m:t>2</m:t>
                                    </m:r>
                                  </m:sup>
                                </m:sSup>
                                <m:r>
                                  <a:rPr lang="en-US" altLang="ko-KR" sz="1200" b="0" i="1" u="none" strike="noStrike" cap="none" smtClean="0">
                                    <a:solidFill>
                                      <a:schemeClr val="bg1"/>
                                    </a:solidFill>
                                    <a:latin typeface="Cambria Math" panose="02040503050406030204" pitchFamily="18" charset="0"/>
                                    <a:ea typeface="Arial"/>
                                    <a:cs typeface="Arial"/>
                                    <a:sym typeface="Arial"/>
                                  </a:rPr>
                                  <m:t>]</m:t>
                                </m:r>
                              </m:oMath>
                            </m:oMathPara>
                          </a14:m>
                          <a:endParaRPr lang="en-US" altLang="ko-KR" sz="1200" b="0" dirty="0">
                            <a:solidFill>
                              <a:schemeClr val="bg1"/>
                            </a:solidFill>
                          </a:endParaRPr>
                        </a:p>
                      </a:txBody>
                      <a:tcPr anchor="ctr">
                        <a:solidFill>
                          <a:srgbClr val="333333"/>
                        </a:solidFill>
                      </a:tcPr>
                    </a:tc>
                    <a:extLst>
                      <a:ext uri="{0D108BD9-81ED-4DB2-BD59-A6C34878D82A}">
                        <a16:rowId xmlns:a16="http://schemas.microsoft.com/office/drawing/2014/main" val="1164247942"/>
                      </a:ext>
                    </a:extLst>
                  </a:tr>
                  <a:tr h="511007">
                    <a:tc row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Spacecraft</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BOL (2400 kg)</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algn="ctr" latinLnBrk="1"/>
                          <a:r>
                            <a:rPr lang="en-US" altLang="ko-KR" sz="1200" dirty="0">
                              <a:solidFill>
                                <a:srgbClr val="000000"/>
                              </a:solidFill>
                              <a:latin typeface="+mn-ea"/>
                              <a:ea typeface="+mn-ea"/>
                            </a:rPr>
                            <a:t>( 5404, 4825, 2876 )</a:t>
                          </a:r>
                        </a:p>
                      </a:txBody>
                      <a:tcPr anchor="ctr">
                        <a:solidFill>
                          <a:schemeClr val="bg1">
                            <a:lumMod val="95000"/>
                          </a:schemeClr>
                        </a:solidFill>
                      </a:tcPr>
                    </a:tc>
                    <a:extLst>
                      <a:ext uri="{0D108BD9-81ED-4DB2-BD59-A6C34878D82A}">
                        <a16:rowId xmlns:a16="http://schemas.microsoft.com/office/drawing/2014/main" val="36492323"/>
                      </a:ext>
                    </a:extLst>
                  </a:tr>
                  <a:tr h="511007">
                    <a:tc vMerge="1">
                      <a:txBody>
                        <a:bodyPr/>
                        <a:lstStyle/>
                        <a:p>
                          <a:pPr algn="ctr" latinLnBrk="1"/>
                          <a:endParaRPr lang="ko-KR" altLang="en-US" sz="1100" dirty="0">
                            <a:solidFill>
                              <a:schemeClr val="bg1"/>
                            </a:solidFill>
                          </a:endParaRPr>
                        </a:p>
                      </a:txBody>
                      <a:tcPr anchor="ctr">
                        <a:solidFill>
                          <a:srgbClr val="333333"/>
                        </a:solidFill>
                      </a:tcPr>
                    </a:tc>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EOL (1800 kg)</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algn="ctr" latinLnBrk="1"/>
                          <a:r>
                            <a:rPr lang="en-US" altLang="ko-KR" sz="1200" dirty="0">
                              <a:solidFill>
                                <a:srgbClr val="000000"/>
                              </a:solidFill>
                              <a:latin typeface="+mn-ea"/>
                              <a:ea typeface="+mn-ea"/>
                            </a:rPr>
                            <a:t>( 4192, 3612, 2300 )</a:t>
                          </a:r>
                          <a:endParaRPr lang="ko-KR" altLang="en-US" sz="1200" dirty="0">
                            <a:solidFill>
                              <a:srgbClr val="000000"/>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683127972"/>
                      </a:ext>
                    </a:extLst>
                  </a:tr>
                </a:tbl>
              </a:graphicData>
            </a:graphic>
          </p:graphicFrame>
        </mc:Choice>
        <mc:Fallback xmlns="">
          <p:graphicFrame>
            <p:nvGraphicFramePr>
              <p:cNvPr id="7" name="표 3">
                <a:extLst>
                  <a:ext uri="{FF2B5EF4-FFF2-40B4-BE49-F238E27FC236}">
                    <a16:creationId xmlns:a16="http://schemas.microsoft.com/office/drawing/2014/main" id="{975B45B3-C56B-4A35-90DD-48E2F837D034}"/>
                  </a:ext>
                </a:extLst>
              </p:cNvPr>
              <p:cNvGraphicFramePr>
                <a:graphicFrameLocks noGrp="1"/>
              </p:cNvGraphicFramePr>
              <p:nvPr>
                <p:extLst>
                  <p:ext uri="{D42A27DB-BD31-4B8C-83A1-F6EECF244321}">
                    <p14:modId xmlns:p14="http://schemas.microsoft.com/office/powerpoint/2010/main" val="3854376365"/>
                  </p:ext>
                </p:extLst>
              </p:nvPr>
            </p:nvGraphicFramePr>
            <p:xfrm>
              <a:off x="1438103" y="2046877"/>
              <a:ext cx="6267793" cy="1533021"/>
            </p:xfrm>
            <a:graphic>
              <a:graphicData uri="http://schemas.openxmlformats.org/drawingml/2006/table">
                <a:tbl>
                  <a:tblPr firstRow="1" bandRow="1">
                    <a:tableStyleId>{1C28B2AB-E718-4DF9-ADA3-83340B5D2C4E}</a:tableStyleId>
                  </a:tblPr>
                  <a:tblGrid>
                    <a:gridCol w="1152612">
                      <a:extLst>
                        <a:ext uri="{9D8B030D-6E8A-4147-A177-3AD203B41FA5}">
                          <a16:colId xmlns:a16="http://schemas.microsoft.com/office/drawing/2014/main" val="1429921208"/>
                        </a:ext>
                      </a:extLst>
                    </a:gridCol>
                    <a:gridCol w="1956367">
                      <a:extLst>
                        <a:ext uri="{9D8B030D-6E8A-4147-A177-3AD203B41FA5}">
                          <a16:colId xmlns:a16="http://schemas.microsoft.com/office/drawing/2014/main" val="341046346"/>
                        </a:ext>
                      </a:extLst>
                    </a:gridCol>
                    <a:gridCol w="3158814">
                      <a:extLst>
                        <a:ext uri="{9D8B030D-6E8A-4147-A177-3AD203B41FA5}">
                          <a16:colId xmlns:a16="http://schemas.microsoft.com/office/drawing/2014/main" val="1528917478"/>
                        </a:ext>
                      </a:extLst>
                    </a:gridCol>
                  </a:tblGrid>
                  <a:tr h="511007">
                    <a:tc gridSpan="2">
                      <a:txBody>
                        <a:bodyPr/>
                        <a:lstStyle/>
                        <a:p>
                          <a:pPr algn="ctr" latinLnBrk="1"/>
                          <a:endParaRPr lang="ko-KR" altLang="en-US" sz="1100" dirty="0">
                            <a:solidFill>
                              <a:schemeClr val="bg1"/>
                            </a:solidFill>
                          </a:endParaRPr>
                        </a:p>
                      </a:txBody>
                      <a:tcPr anchor="ctr">
                        <a:solidFill>
                          <a:srgbClr val="333333"/>
                        </a:solidFill>
                      </a:tcPr>
                    </a:tc>
                    <a:tc hMerge="1">
                      <a:txBody>
                        <a:bodyPr/>
                        <a:lstStyle/>
                        <a:p>
                          <a:pPr latinLnBrk="1"/>
                          <a:endParaRPr lang="ko-KR" altLang="en-US"/>
                        </a:p>
                      </a:txBody>
                      <a:tcPr/>
                    </a:tc>
                    <a:tc>
                      <a:txBody>
                        <a:bodyPr/>
                        <a:lstStyle/>
                        <a:p>
                          <a:endParaRPr lang="ko-KR"/>
                        </a:p>
                      </a:txBody>
                      <a:tcPr anchor="ctr">
                        <a:blipFill>
                          <a:blip r:embed="rId3"/>
                          <a:stretch>
                            <a:fillRect l="-98459" t="-1190" r="-193" b="-202381"/>
                          </a:stretch>
                        </a:blipFill>
                      </a:tcPr>
                    </a:tc>
                    <a:extLst>
                      <a:ext uri="{0D108BD9-81ED-4DB2-BD59-A6C34878D82A}">
                        <a16:rowId xmlns:a16="http://schemas.microsoft.com/office/drawing/2014/main" val="1164247942"/>
                      </a:ext>
                    </a:extLst>
                  </a:tr>
                  <a:tr h="511007">
                    <a:tc rowSpan="2">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Spacecraft</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BOL (2400 kg)</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algn="ctr" latinLnBrk="1"/>
                          <a:r>
                            <a:rPr lang="en-US" altLang="ko-KR" sz="1200" dirty="0">
                              <a:solidFill>
                                <a:srgbClr val="000000"/>
                              </a:solidFill>
                              <a:latin typeface="+mn-ea"/>
                              <a:ea typeface="+mn-ea"/>
                            </a:rPr>
                            <a:t>( 5404, 4825, 2876 )</a:t>
                          </a:r>
                        </a:p>
                      </a:txBody>
                      <a:tcPr anchor="ctr">
                        <a:solidFill>
                          <a:schemeClr val="bg1">
                            <a:lumMod val="95000"/>
                          </a:schemeClr>
                        </a:solidFill>
                      </a:tcPr>
                    </a:tc>
                    <a:extLst>
                      <a:ext uri="{0D108BD9-81ED-4DB2-BD59-A6C34878D82A}">
                        <a16:rowId xmlns:a16="http://schemas.microsoft.com/office/drawing/2014/main" val="36492323"/>
                      </a:ext>
                    </a:extLst>
                  </a:tr>
                  <a:tr h="511007">
                    <a:tc vMerge="1">
                      <a:txBody>
                        <a:bodyPr/>
                        <a:lstStyle/>
                        <a:p>
                          <a:pPr algn="ctr" latinLnBrk="1"/>
                          <a:endParaRPr lang="ko-KR" altLang="en-US" sz="1100" dirty="0">
                            <a:solidFill>
                              <a:schemeClr val="bg1"/>
                            </a:solidFill>
                          </a:endParaRPr>
                        </a:p>
                      </a:txBody>
                      <a:tcPr anchor="ctr">
                        <a:solidFill>
                          <a:srgbClr val="333333"/>
                        </a:solidFill>
                      </a:tcPr>
                    </a:tc>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altLang="ko-KR" sz="1200" b="1" i="0" u="none" strike="noStrike" cap="none" dirty="0">
                              <a:solidFill>
                                <a:schemeClr val="bg1"/>
                              </a:solidFill>
                              <a:latin typeface="+mn-ea"/>
                              <a:ea typeface="+mn-ea"/>
                              <a:cs typeface="Arial"/>
                              <a:sym typeface="Arial"/>
                            </a:rPr>
                            <a:t>EOL (1800 kg)</a:t>
                          </a:r>
                          <a:endParaRPr lang="ko-KR" altLang="en-US" sz="1200" b="1" i="0" u="none" strike="noStrike" cap="none" dirty="0">
                            <a:solidFill>
                              <a:schemeClr val="bg1"/>
                            </a:solidFill>
                            <a:latin typeface="+mn-ea"/>
                            <a:ea typeface="+mn-ea"/>
                            <a:cs typeface="Arial"/>
                            <a:sym typeface="Arial"/>
                          </a:endParaRPr>
                        </a:p>
                      </a:txBody>
                      <a:tcPr anchor="ctr">
                        <a:solidFill>
                          <a:srgbClr val="333333"/>
                        </a:solidFill>
                      </a:tcPr>
                    </a:tc>
                    <a:tc>
                      <a:txBody>
                        <a:bodyPr/>
                        <a:lstStyle/>
                        <a:p>
                          <a:pPr algn="ctr" latinLnBrk="1"/>
                          <a:r>
                            <a:rPr lang="en-US" altLang="ko-KR" sz="1200" dirty="0">
                              <a:solidFill>
                                <a:srgbClr val="000000"/>
                              </a:solidFill>
                              <a:latin typeface="+mn-ea"/>
                              <a:ea typeface="+mn-ea"/>
                            </a:rPr>
                            <a:t>( 4192, 3612, 2300 )</a:t>
                          </a:r>
                          <a:endParaRPr lang="ko-KR" altLang="en-US" sz="1200" dirty="0">
                            <a:solidFill>
                              <a:srgbClr val="000000"/>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683127972"/>
                      </a:ext>
                    </a:extLst>
                  </a:tr>
                </a:tbl>
              </a:graphicData>
            </a:graphic>
          </p:graphicFrame>
        </mc:Fallback>
      </mc:AlternateContent>
      <p:sp>
        <p:nvSpPr>
          <p:cNvPr id="8" name="TextBox 7">
            <a:extLst>
              <a:ext uri="{FF2B5EF4-FFF2-40B4-BE49-F238E27FC236}">
                <a16:creationId xmlns:a16="http://schemas.microsoft.com/office/drawing/2014/main" id="{4F171AEC-1103-47B3-B50B-CB470F6B6CB7}"/>
              </a:ext>
            </a:extLst>
          </p:cNvPr>
          <p:cNvSpPr txBox="1"/>
          <p:nvPr/>
        </p:nvSpPr>
        <p:spPr>
          <a:xfrm>
            <a:off x="938500" y="1086547"/>
            <a:ext cx="4025591" cy="477054"/>
          </a:xfrm>
          <a:prstGeom prst="rect">
            <a:avLst/>
          </a:prstGeom>
          <a:noFill/>
        </p:spPr>
        <p:txBody>
          <a:bodyPr wrap="square" rtlCol="0">
            <a:spAutoFit/>
          </a:bodyPr>
          <a:lstStyle/>
          <a:p>
            <a:r>
              <a:rPr lang="en-US" altLang="ko-KR" b="1" dirty="0">
                <a:solidFill>
                  <a:schemeClr val="bg1"/>
                </a:solidFill>
                <a:effectLst/>
                <a:latin typeface="맑은 고딕" panose="020B0503020000020004" pitchFamily="50" charset="-127"/>
                <a:cs typeface="Times New Roman" panose="02020603050405020304" pitchFamily="18" charset="0"/>
              </a:rPr>
              <a:t>5.3.5. Moment of Inertia / Geometry</a:t>
            </a:r>
          </a:p>
          <a:p>
            <a:endParaRPr lang="ko-KR" altLang="en-US" sz="1100" dirty="0">
              <a:solidFill>
                <a:schemeClr val="bg1"/>
              </a:solidFill>
            </a:endParaRPr>
          </a:p>
        </p:txBody>
      </p:sp>
    </p:spTree>
    <p:extLst>
      <p:ext uri="{BB962C8B-B14F-4D97-AF65-F5344CB8AC3E}">
        <p14:creationId xmlns:p14="http://schemas.microsoft.com/office/powerpoint/2010/main" val="41066037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 name="표 5">
            <a:extLst>
              <a:ext uri="{FF2B5EF4-FFF2-40B4-BE49-F238E27FC236}">
                <a16:creationId xmlns:a16="http://schemas.microsoft.com/office/drawing/2014/main" id="{39AADB45-9463-44B0-A05C-ECEF0907DEE1}"/>
              </a:ext>
            </a:extLst>
          </p:cNvPr>
          <p:cNvGraphicFramePr>
            <a:graphicFrameLocks noGrp="1"/>
          </p:cNvGraphicFramePr>
          <p:nvPr/>
        </p:nvGraphicFramePr>
        <p:xfrm>
          <a:off x="1049263" y="1198305"/>
          <a:ext cx="7045474" cy="3544364"/>
        </p:xfrm>
        <a:graphic>
          <a:graphicData uri="http://schemas.openxmlformats.org/drawingml/2006/table">
            <a:tbl>
              <a:tblPr firstRow="1" firstCol="1" bandRow="1"/>
              <a:tblGrid>
                <a:gridCol w="1658218">
                  <a:extLst>
                    <a:ext uri="{9D8B030D-6E8A-4147-A177-3AD203B41FA5}">
                      <a16:colId xmlns:a16="http://schemas.microsoft.com/office/drawing/2014/main" val="2172772018"/>
                    </a:ext>
                  </a:extLst>
                </a:gridCol>
                <a:gridCol w="2325569">
                  <a:extLst>
                    <a:ext uri="{9D8B030D-6E8A-4147-A177-3AD203B41FA5}">
                      <a16:colId xmlns:a16="http://schemas.microsoft.com/office/drawing/2014/main" val="3955181436"/>
                    </a:ext>
                  </a:extLst>
                </a:gridCol>
                <a:gridCol w="3061687">
                  <a:extLst>
                    <a:ext uri="{9D8B030D-6E8A-4147-A177-3AD203B41FA5}">
                      <a16:colId xmlns:a16="http://schemas.microsoft.com/office/drawing/2014/main" val="163960472"/>
                    </a:ext>
                  </a:extLst>
                </a:gridCol>
              </a:tblGrid>
              <a:tr h="189381">
                <a:tc>
                  <a:txBody>
                    <a:bodyPr/>
                    <a:lstStyle/>
                    <a:p>
                      <a:pPr algn="ctr" latinLnBrk="1">
                        <a:lnSpc>
                          <a:spcPct val="107000"/>
                        </a:lnSpc>
                        <a:spcAft>
                          <a:spcPts val="800"/>
                        </a:spcAft>
                      </a:pPr>
                      <a:r>
                        <a:rPr lang="en-US" sz="1000" b="1" kern="100" dirty="0">
                          <a:effectLst/>
                          <a:latin typeface="맑은 고딕" panose="020B0503020000020004" pitchFamily="50" charset="-127"/>
                          <a:ea typeface="맑은 고딕" panose="020B0503020000020004" pitchFamily="50" charset="-127"/>
                          <a:cs typeface="Times New Roman" panose="02020603050405020304" pitchFamily="18" charset="0"/>
                        </a:rPr>
                        <a:t>P</a:t>
                      </a:r>
                      <a:r>
                        <a:rPr lang="en-US" sz="1000" b="1"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arameter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Requirement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latinLnBrk="1">
                        <a:lnSpc>
                          <a:spcPct val="107000"/>
                        </a:lnSpc>
                        <a:spcAft>
                          <a:spcPts val="8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Effect on hardware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459890288"/>
                  </a:ext>
                </a:extLst>
              </a:tr>
              <a:tr h="474656">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S/C geometry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박스형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Thrusters at vertices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Sensors at head</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2840541"/>
                  </a:ext>
                </a:extLst>
              </a:tr>
              <a:tr h="474656">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Pointing direction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Earthward antennae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Sun-pointing solar array</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zero-bias 3-axis RW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ESA (Z-axis), FSS (X-axis)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74554200"/>
                  </a:ext>
                </a:extLst>
              </a:tr>
              <a:tr h="474656">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Pointing accuracy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Roll/Pitch </a:t>
                      </a:r>
                      <a:r>
                        <a:rPr lang="ko-KR" sz="10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0.05</a:t>
                      </a:r>
                      <a:r>
                        <a:rPr lang="ko-KR" sz="10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zero-bias 3-axis RW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STT, IRU</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6569430"/>
                  </a:ext>
                </a:extLst>
              </a:tr>
              <a:tr h="189381">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GEO, EIGSO, HEO</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Momentum desaturation by thrusters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24194436"/>
                  </a:ext>
                </a:extLst>
              </a:tr>
              <a:tr h="1077597">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Orbit condition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Significant SRP</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Weak magnetic field</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Small gravity-gradient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Geomagnetic storm,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SADA alignment to S/C CoM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MGT not possible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Small momentum storage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Redundant actuators and sensors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69311561"/>
                  </a:ext>
                </a:extLst>
              </a:tr>
              <a:tr h="474656">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Design lifetime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8 years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Hardware lifetime &gt; 8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Propellant budget &gt; 8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42960465"/>
                  </a:ext>
                </a:extLst>
              </a:tr>
              <a:tr h="189381">
                <a:tc>
                  <a:txBody>
                    <a:bodyPr/>
                    <a:lstStyle/>
                    <a:p>
                      <a:pPr algn="ctr" latinLnBrk="1">
                        <a:lnSpc>
                          <a:spcPct val="107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Slew rate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9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0.05</a:t>
                      </a:r>
                      <a:r>
                        <a:rPr lang="ko-KR" sz="1000" kern="10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9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Thruster or RW</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73718609"/>
                  </a:ext>
                </a:extLst>
              </a:tr>
            </a:tbl>
          </a:graphicData>
        </a:graphic>
      </p:graphicFrame>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170090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graphicFrame>
        <p:nvGraphicFramePr>
          <p:cNvPr id="3" name="표 2">
            <a:extLst>
              <a:ext uri="{FF2B5EF4-FFF2-40B4-BE49-F238E27FC236}">
                <a16:creationId xmlns:a16="http://schemas.microsoft.com/office/drawing/2014/main" id="{022630E7-0C7E-476D-942B-AFDF8B02BD53}"/>
              </a:ext>
            </a:extLst>
          </p:cNvPr>
          <p:cNvGraphicFramePr>
            <a:graphicFrameLocks noGrp="1"/>
          </p:cNvGraphicFramePr>
          <p:nvPr/>
        </p:nvGraphicFramePr>
        <p:xfrm>
          <a:off x="1026200" y="1148570"/>
          <a:ext cx="7179299" cy="3763982"/>
        </p:xfrm>
        <a:graphic>
          <a:graphicData uri="http://schemas.openxmlformats.org/drawingml/2006/table">
            <a:tbl>
              <a:tblPr firstRow="1" firstCol="1" bandRow="1"/>
              <a:tblGrid>
                <a:gridCol w="1222365">
                  <a:extLst>
                    <a:ext uri="{9D8B030D-6E8A-4147-A177-3AD203B41FA5}">
                      <a16:colId xmlns:a16="http://schemas.microsoft.com/office/drawing/2014/main" val="815995540"/>
                    </a:ext>
                  </a:extLst>
                </a:gridCol>
                <a:gridCol w="1629554">
                  <a:extLst>
                    <a:ext uri="{9D8B030D-6E8A-4147-A177-3AD203B41FA5}">
                      <a16:colId xmlns:a16="http://schemas.microsoft.com/office/drawing/2014/main" val="2626713021"/>
                    </a:ext>
                  </a:extLst>
                </a:gridCol>
                <a:gridCol w="701802">
                  <a:extLst>
                    <a:ext uri="{9D8B030D-6E8A-4147-A177-3AD203B41FA5}">
                      <a16:colId xmlns:a16="http://schemas.microsoft.com/office/drawing/2014/main" val="2309732459"/>
                    </a:ext>
                  </a:extLst>
                </a:gridCol>
                <a:gridCol w="665873">
                  <a:extLst>
                    <a:ext uri="{9D8B030D-6E8A-4147-A177-3AD203B41FA5}">
                      <a16:colId xmlns:a16="http://schemas.microsoft.com/office/drawing/2014/main" val="3563479549"/>
                    </a:ext>
                  </a:extLst>
                </a:gridCol>
                <a:gridCol w="671463">
                  <a:extLst>
                    <a:ext uri="{9D8B030D-6E8A-4147-A177-3AD203B41FA5}">
                      <a16:colId xmlns:a16="http://schemas.microsoft.com/office/drawing/2014/main" val="2373854449"/>
                    </a:ext>
                  </a:extLst>
                </a:gridCol>
                <a:gridCol w="658688">
                  <a:extLst>
                    <a:ext uri="{9D8B030D-6E8A-4147-A177-3AD203B41FA5}">
                      <a16:colId xmlns:a16="http://schemas.microsoft.com/office/drawing/2014/main" val="3156872686"/>
                    </a:ext>
                  </a:extLst>
                </a:gridCol>
                <a:gridCol w="1629554">
                  <a:extLst>
                    <a:ext uri="{9D8B030D-6E8A-4147-A177-3AD203B41FA5}">
                      <a16:colId xmlns:a16="http://schemas.microsoft.com/office/drawing/2014/main" val="2593306080"/>
                    </a:ext>
                  </a:extLst>
                </a:gridCol>
              </a:tblGrid>
              <a:tr h="491058">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Components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Type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Weight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[kg]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Gross weight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[kg]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Power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Gross power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tc>
                  <a:txBody>
                    <a:bodyPr/>
                    <a:lstStyle/>
                    <a:p>
                      <a:pPr algn="ctr" latinLnBrk="1">
                        <a:lnSpc>
                          <a:spcPct val="70000"/>
                        </a:lnSpc>
                        <a:spcAft>
                          <a:spcPts val="800"/>
                        </a:spcAft>
                      </a:pPr>
                      <a:r>
                        <a:rPr lang="en-US" sz="900" b="1" kern="100">
                          <a:solidFill>
                            <a:srgbClr val="FFFFFF"/>
                          </a:solidFill>
                          <a:effectLst/>
                          <a:latin typeface="맑은 고딕" panose="020B0503020000020004" pitchFamily="50" charset="-127"/>
                          <a:ea typeface="맑은 고딕" panose="020B0503020000020004" pitchFamily="50" charset="-127"/>
                          <a:cs typeface="Arial" panose="020B0604020202020204" pitchFamily="34" charset="0"/>
                        </a:rPr>
                        <a:t>Mounting Considerations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B3838"/>
                    </a:solidFill>
                  </a:tcPr>
                </a:tc>
                <a:extLst>
                  <a:ext uri="{0D108BD9-81ED-4DB2-BD59-A6C34878D82A}">
                    <a16:rowId xmlns:a16="http://schemas.microsoft.com/office/drawing/2014/main" val="2708822213"/>
                  </a:ext>
                </a:extLst>
              </a:tr>
              <a:tr h="403706">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Thruster</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(12+4)</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7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MMH / MON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7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22 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0.91</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14.56</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15.6</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62.4</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Alignments and moment arms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52598122"/>
                  </a:ext>
                </a:extLst>
              </a:tr>
              <a:tr h="403706">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Reaction Wheel</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(3+1)</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4 N m s, 75 mNm,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 6,000 rpm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3.7</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14.8</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90</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270</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 orthogonal and 1 skew wheel</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07275815"/>
                  </a:ext>
                </a:extLst>
              </a:tr>
              <a:tr h="403706">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IRU</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(1+1)</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 0.2 arcsec (1σ)</a:t>
                      </a:r>
                      <a:b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b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 2 deg/hr r.m.s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7.8</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15.6</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30</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30</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Radiation hard</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993868278"/>
                  </a:ext>
                </a:extLst>
              </a:tr>
              <a:tr h="403706">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Sun Sensor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&lt;0.02° (2σ)</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FOV 128°x128°</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0.33</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1.32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Unobstructed view of Sun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4779079"/>
                  </a:ext>
                </a:extLst>
              </a:tr>
              <a:tr h="403706">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Star Sensor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 1 arcsec (1σ, xy),</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 8 arcsec (1σ, z)</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4</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12</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24</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Exclusion zone of Sun, Earth</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36378777"/>
                  </a:ext>
                </a:extLst>
              </a:tr>
              <a:tr h="403706">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Earth sensor</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&lt; 0.05° (3σ)</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ko-KR"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a:t>
                      </a: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5.5° pitch; ±2.5° roll</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2.5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4</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8</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Free of reflections and obstructions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74122205"/>
                  </a:ext>
                </a:extLst>
              </a:tr>
              <a:tr h="541681">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SADA</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(SADE+2SADMs)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0.75 °/s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Arial" panose="020B0604020202020204" pitchFamily="34" charset="0"/>
                        </a:rPr>
                        <a:t>0.00625°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7</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62</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Minimum distance to CoM of spacecraft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5721593"/>
                  </a:ext>
                </a:extLst>
              </a:tr>
              <a:tr h="309007">
                <a:tc gridSpan="2">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Total Budget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pPr latinLnBrk="1"/>
                      <a:endParaRPr lang="ko-KR" altLang="en-US"/>
                    </a:p>
                  </a:txBody>
                  <a:tcPr/>
                </a:tc>
                <a:tc>
                  <a:txBody>
                    <a:bodyPr/>
                    <a:lstStyle/>
                    <a:p>
                      <a:pPr algn="ctr" latinLnBrk="1">
                        <a:lnSpc>
                          <a:spcPct val="80000"/>
                        </a:lnSpc>
                        <a:spcAft>
                          <a:spcPts val="800"/>
                        </a:spcAft>
                      </a:pPr>
                      <a:r>
                        <a:rPr lang="en-US" sz="11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62.28</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1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457.4</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latinLnBrk="1">
                        <a:lnSpc>
                          <a:spcPct val="80000"/>
                        </a:lnSpc>
                        <a:spcAft>
                          <a:spcPts val="800"/>
                        </a:spcAft>
                      </a:pPr>
                      <a:r>
                        <a:rPr lang="en-US" sz="11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66098603"/>
                  </a:ext>
                </a:extLst>
              </a:tr>
            </a:tbl>
          </a:graphicData>
        </a:graphic>
      </p:graphicFrame>
    </p:spTree>
    <p:extLst>
      <p:ext uri="{BB962C8B-B14F-4D97-AF65-F5344CB8AC3E}">
        <p14:creationId xmlns:p14="http://schemas.microsoft.com/office/powerpoint/2010/main" val="26577651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graphicFrame>
        <p:nvGraphicFramePr>
          <p:cNvPr id="3" name="표 2">
            <a:extLst>
              <a:ext uri="{FF2B5EF4-FFF2-40B4-BE49-F238E27FC236}">
                <a16:creationId xmlns:a16="http://schemas.microsoft.com/office/drawing/2014/main" id="{EBA74D16-F8EE-4BC0-979D-11D50D26A365}"/>
              </a:ext>
            </a:extLst>
          </p:cNvPr>
          <p:cNvGraphicFramePr>
            <a:graphicFrameLocks noGrp="1"/>
          </p:cNvGraphicFramePr>
          <p:nvPr/>
        </p:nvGraphicFramePr>
        <p:xfrm>
          <a:off x="2586159" y="1576366"/>
          <a:ext cx="5745960" cy="3122109"/>
        </p:xfrm>
        <a:graphic>
          <a:graphicData uri="http://schemas.openxmlformats.org/drawingml/2006/table">
            <a:tbl>
              <a:tblPr firstRow="1" firstCol="1" bandRow="1"/>
              <a:tblGrid>
                <a:gridCol w="3133489">
                  <a:extLst>
                    <a:ext uri="{9D8B030D-6E8A-4147-A177-3AD203B41FA5}">
                      <a16:colId xmlns:a16="http://schemas.microsoft.com/office/drawing/2014/main" val="1252862911"/>
                    </a:ext>
                  </a:extLst>
                </a:gridCol>
                <a:gridCol w="2612471">
                  <a:extLst>
                    <a:ext uri="{9D8B030D-6E8A-4147-A177-3AD203B41FA5}">
                      <a16:colId xmlns:a16="http://schemas.microsoft.com/office/drawing/2014/main" val="2234543616"/>
                    </a:ext>
                  </a:extLst>
                </a:gridCol>
              </a:tblGrid>
              <a:tr h="226277">
                <a:tc>
                  <a:txBody>
                    <a:bodyPr/>
                    <a:lstStyle/>
                    <a:p>
                      <a:pPr algn="ctr" latinLnBrk="1">
                        <a:lnSpc>
                          <a:spcPct val="107000"/>
                        </a:lnSpc>
                        <a:spcAft>
                          <a:spcPts val="800"/>
                        </a:spcAft>
                      </a:pPr>
                      <a:r>
                        <a:rPr lang="en-US" sz="900" kern="100" dirty="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Rockwell Collins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7497286"/>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Angular momentum at nominal speed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4 Nms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04185048"/>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Motor torque at nominal speed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75 mNm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93278847"/>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speed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ko-KR"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6,000 rpm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6641334"/>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Diameter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222 mm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16664587"/>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Height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85 mm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08391690"/>
                  </a:ext>
                </a:extLst>
              </a:tr>
              <a:tr h="226277">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3.7 kg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63819773"/>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Steady state at nominal speed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20 W</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713015"/>
                  </a:ext>
                </a:extLst>
              </a:tr>
              <a:tr h="226277">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Maximum torque at nominal speed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90 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96907410"/>
                  </a:ext>
                </a:extLst>
              </a:tr>
              <a:tr h="542808">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Operating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-5 to +50 °C (mineral oil),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-20 to +70 °C (synthetic oil)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72822680"/>
                  </a:ext>
                </a:extLst>
              </a:tr>
              <a:tr h="542808">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Survival / Non-operating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-20 to +60 °C (mineral oil),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-40 to +75 °C (synthetic oil)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7754557"/>
                  </a:ext>
                </a:extLst>
              </a:tr>
            </a:tbl>
          </a:graphicData>
        </a:graphic>
      </p:graphicFrame>
      <p:pic>
        <p:nvPicPr>
          <p:cNvPr id="8" name="그림 7" descr="실내, 전자기기, 은색이(가) 표시된 사진&#10;&#10;자동 생성된 설명">
            <a:extLst>
              <a:ext uri="{FF2B5EF4-FFF2-40B4-BE49-F238E27FC236}">
                <a16:creationId xmlns:a16="http://schemas.microsoft.com/office/drawing/2014/main" id="{865EB270-ECDC-4EFE-B2CE-DC288A1D244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200" y="2070620"/>
            <a:ext cx="1275080" cy="1066800"/>
          </a:xfrm>
          <a:prstGeom prst="rect">
            <a:avLst/>
          </a:prstGeom>
          <a:noFill/>
          <a:ln>
            <a:noFill/>
          </a:ln>
        </p:spPr>
      </p:pic>
    </p:spTree>
    <p:extLst>
      <p:ext uri="{BB962C8B-B14F-4D97-AF65-F5344CB8AC3E}">
        <p14:creationId xmlns:p14="http://schemas.microsoft.com/office/powerpoint/2010/main" val="22429053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6" name="그림 5">
            <a:extLst>
              <a:ext uri="{FF2B5EF4-FFF2-40B4-BE49-F238E27FC236}">
                <a16:creationId xmlns:a16="http://schemas.microsoft.com/office/drawing/2014/main" id="{8F9FD09A-BD4E-4DC7-BD8E-47E7FE1DC3C1}"/>
              </a:ext>
            </a:extLst>
          </p:cNvPr>
          <p:cNvPicPr>
            <a:picLocks noChangeAspect="1"/>
          </p:cNvPicPr>
          <p:nvPr/>
        </p:nvPicPr>
        <p:blipFill>
          <a:blip r:embed="rId3"/>
          <a:stretch>
            <a:fillRect/>
          </a:stretch>
        </p:blipFill>
        <p:spPr>
          <a:xfrm>
            <a:off x="1240057" y="2778506"/>
            <a:ext cx="1727200" cy="989330"/>
          </a:xfrm>
          <a:prstGeom prst="rect">
            <a:avLst/>
          </a:prstGeom>
        </p:spPr>
      </p:pic>
      <mc:AlternateContent xmlns:mc="http://schemas.openxmlformats.org/markup-compatibility/2006" xmlns:a14="http://schemas.microsoft.com/office/drawing/2010/main">
        <mc:Choice Requires="a14">
          <p:graphicFrame>
            <p:nvGraphicFramePr>
              <p:cNvPr id="3" name="표 2">
                <a:extLst>
                  <a:ext uri="{FF2B5EF4-FFF2-40B4-BE49-F238E27FC236}">
                    <a16:creationId xmlns:a16="http://schemas.microsoft.com/office/drawing/2014/main" id="{A9E22B58-2FB7-494D-87B8-743F7ADD839F}"/>
                  </a:ext>
                </a:extLst>
              </p:cNvPr>
              <p:cNvGraphicFramePr>
                <a:graphicFrameLocks noGrp="1"/>
              </p:cNvGraphicFramePr>
              <p:nvPr/>
            </p:nvGraphicFramePr>
            <p:xfrm>
              <a:off x="3625244" y="1969118"/>
              <a:ext cx="4580256" cy="2337020"/>
            </p:xfrm>
            <a:graphic>
              <a:graphicData uri="http://schemas.openxmlformats.org/drawingml/2006/table">
                <a:tbl>
                  <a:tblPr firstRow="1" firstCol="1" bandRow="1"/>
                  <a:tblGrid>
                    <a:gridCol w="2290128">
                      <a:extLst>
                        <a:ext uri="{9D8B030D-6E8A-4147-A177-3AD203B41FA5}">
                          <a16:colId xmlns:a16="http://schemas.microsoft.com/office/drawing/2014/main" val="1249932494"/>
                        </a:ext>
                      </a:extLst>
                    </a:gridCol>
                    <a:gridCol w="2290128">
                      <a:extLst>
                        <a:ext uri="{9D8B030D-6E8A-4147-A177-3AD203B41FA5}">
                          <a16:colId xmlns:a16="http://schemas.microsoft.com/office/drawing/2014/main" val="1426541859"/>
                        </a:ext>
                      </a:extLst>
                    </a:gridCol>
                  </a:tblGrid>
                  <a:tr h="336916">
                    <a:tc>
                      <a:txBody>
                        <a:bodyPr/>
                        <a:lstStyle/>
                        <a:p>
                          <a:pPr algn="ctr" latinLnBrk="1">
                            <a:lnSpc>
                              <a:spcPct val="107000"/>
                            </a:lnSpc>
                            <a:spcAft>
                              <a:spcPts val="800"/>
                            </a:spcAft>
                          </a:pPr>
                          <a:r>
                            <a:rPr lang="en-US" sz="900" kern="100">
                              <a:effectLst/>
                              <a:latin typeface="맑은 고딕" panose="020B0503020000020004" pitchFamily="50" charset="-127"/>
                              <a:ea typeface="맑은 고딕" panose="020B0503020000020004" pitchFamily="50" charset="-127"/>
                              <a:cs typeface="Times New Roman" panose="02020603050405020304" pitchFamily="18" charset="0"/>
                            </a:rPr>
                            <a:t>P</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ropellant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MMH / MON</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9952657"/>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Thrust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22 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40999150"/>
                      </a:ext>
                    </a:extLst>
                  </a:tr>
                  <a:tr h="652440">
                    <a:tc>
                      <a:txBody>
                        <a:bodyPr/>
                        <a:lstStyle/>
                        <a:p>
                          <a:pPr algn="ctr" latinLnBrk="1">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ko-KR" sz="9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sz="900" kern="10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t>I</m:t>
                                    </m:r>
                                  </m:e>
                                  <m:sub>
                                    <m:r>
                                      <m:rPr>
                                        <m:sty m:val="p"/>
                                      </m:rPr>
                                      <a:rPr lang="en-US" sz="900" kern="10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t>sp</m:t>
                                    </m:r>
                                  </m:sub>
                                </m:sSub>
                              </m:oMath>
                            </m:oMathPara>
                          </a14:m>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288 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02560147"/>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15.6 W</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12530656"/>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0.91 kg</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13209983"/>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1830~1855 </a:t>
                          </a:r>
                          <a:r>
                            <a:rPr lang="ko-KR" sz="9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9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98651274"/>
                      </a:ext>
                    </a:extLst>
                  </a:tr>
                </a:tbl>
              </a:graphicData>
            </a:graphic>
          </p:graphicFrame>
        </mc:Choice>
        <mc:Fallback xmlns="">
          <p:graphicFrame>
            <p:nvGraphicFramePr>
              <p:cNvPr id="3" name="표 2">
                <a:extLst>
                  <a:ext uri="{FF2B5EF4-FFF2-40B4-BE49-F238E27FC236}">
                    <a16:creationId xmlns:a16="http://schemas.microsoft.com/office/drawing/2014/main" id="{A9E22B58-2FB7-494D-87B8-743F7ADD839F}"/>
                  </a:ext>
                </a:extLst>
              </p:cNvPr>
              <p:cNvGraphicFramePr>
                <a:graphicFrameLocks noGrp="1"/>
              </p:cNvGraphicFramePr>
              <p:nvPr>
                <p:extLst>
                  <p:ext uri="{D42A27DB-BD31-4B8C-83A1-F6EECF244321}">
                    <p14:modId xmlns:p14="http://schemas.microsoft.com/office/powerpoint/2010/main" val="786424593"/>
                  </p:ext>
                </p:extLst>
              </p:nvPr>
            </p:nvGraphicFramePr>
            <p:xfrm>
              <a:off x="3625244" y="1969118"/>
              <a:ext cx="4580256" cy="2337020"/>
            </p:xfrm>
            <a:graphic>
              <a:graphicData uri="http://schemas.openxmlformats.org/drawingml/2006/table">
                <a:tbl>
                  <a:tblPr firstRow="1" firstCol="1" bandRow="1"/>
                  <a:tblGrid>
                    <a:gridCol w="2290128">
                      <a:extLst>
                        <a:ext uri="{9D8B030D-6E8A-4147-A177-3AD203B41FA5}">
                          <a16:colId xmlns:a16="http://schemas.microsoft.com/office/drawing/2014/main" val="1249932494"/>
                        </a:ext>
                      </a:extLst>
                    </a:gridCol>
                    <a:gridCol w="2290128">
                      <a:extLst>
                        <a:ext uri="{9D8B030D-6E8A-4147-A177-3AD203B41FA5}">
                          <a16:colId xmlns:a16="http://schemas.microsoft.com/office/drawing/2014/main" val="1426541859"/>
                        </a:ext>
                      </a:extLst>
                    </a:gridCol>
                  </a:tblGrid>
                  <a:tr h="336916">
                    <a:tc>
                      <a:txBody>
                        <a:bodyPr/>
                        <a:lstStyle/>
                        <a:p>
                          <a:pPr algn="ctr" latinLnBrk="1">
                            <a:lnSpc>
                              <a:spcPct val="107000"/>
                            </a:lnSpc>
                            <a:spcAft>
                              <a:spcPts val="800"/>
                            </a:spcAft>
                          </a:pPr>
                          <a:r>
                            <a:rPr lang="en-US" sz="900" kern="100">
                              <a:effectLst/>
                              <a:latin typeface="맑은 고딕" panose="020B0503020000020004" pitchFamily="50" charset="-127"/>
                              <a:ea typeface="맑은 고딕" panose="020B0503020000020004" pitchFamily="50" charset="-127"/>
                              <a:cs typeface="Times New Roman" panose="02020603050405020304" pitchFamily="18" charset="0"/>
                            </a:rPr>
                            <a:t>P</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ropellant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MMH / MON</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9952657"/>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Thrust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22 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40999150"/>
                      </a:ext>
                    </a:extLst>
                  </a:tr>
                  <a:tr h="652440">
                    <a:tc>
                      <a:txBody>
                        <a:bodyPr/>
                        <a:lstStyle/>
                        <a:p>
                          <a:endParaRPr lang="ko-K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65" t="-105607" r="-100265" b="-157009"/>
                          </a:stretch>
                        </a:blip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288 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02560147"/>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15.6 W</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12530656"/>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0.91 kg</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13209983"/>
                      </a:ext>
                    </a:extLst>
                  </a:tr>
                  <a:tr h="336916">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1830~1855 </a:t>
                          </a:r>
                          <a:r>
                            <a:rPr lang="ko-KR" sz="9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a:t>
                          </a:r>
                          <a:r>
                            <a:rPr lang="en-US" sz="900" kern="100" dirty="0">
                              <a:solidFill>
                                <a:srgbClr val="000000"/>
                              </a:solidFill>
                              <a:effectLst/>
                              <a:latin typeface="맑은 고딕" panose="020B0503020000020004" pitchFamily="50" charset="-127"/>
                              <a:ea typeface="맑은 고딕" panose="020B0503020000020004" pitchFamily="50" charset="-127"/>
                              <a:cs typeface="맑은 고딕" panose="020B0503020000020004" pitchFamily="50" charset="-127"/>
                            </a:rPr>
                            <a:t>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98651274"/>
                      </a:ext>
                    </a:extLst>
                  </a:tr>
                </a:tbl>
              </a:graphicData>
            </a:graphic>
          </p:graphicFrame>
        </mc:Fallback>
      </mc:AlternateContent>
    </p:spTree>
    <p:extLst>
      <p:ext uri="{BB962C8B-B14F-4D97-AF65-F5344CB8AC3E}">
        <p14:creationId xmlns:p14="http://schemas.microsoft.com/office/powerpoint/2010/main" val="41600034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그림 5" descr="철물이(가) 표시된 사진&#10;&#10;자동 생성된 설명">
            <a:extLst>
              <a:ext uri="{FF2B5EF4-FFF2-40B4-BE49-F238E27FC236}">
                <a16:creationId xmlns:a16="http://schemas.microsoft.com/office/drawing/2014/main" id="{C0BE158A-3D24-46E3-9392-DDCA217940F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200" y="2142355"/>
            <a:ext cx="1424305" cy="1150620"/>
          </a:xfrm>
          <a:prstGeom prst="rect">
            <a:avLst/>
          </a:prstGeom>
          <a:noFill/>
          <a:ln>
            <a:noFill/>
          </a:ln>
        </p:spPr>
      </p:pic>
      <p:graphicFrame>
        <p:nvGraphicFramePr>
          <p:cNvPr id="3" name="표 2">
            <a:extLst>
              <a:ext uri="{FF2B5EF4-FFF2-40B4-BE49-F238E27FC236}">
                <a16:creationId xmlns:a16="http://schemas.microsoft.com/office/drawing/2014/main" id="{DD8F96E8-160F-4DE5-9960-92C01D888D8F}"/>
              </a:ext>
            </a:extLst>
          </p:cNvPr>
          <p:cNvGraphicFramePr>
            <a:graphicFrameLocks noGrp="1"/>
          </p:cNvGraphicFramePr>
          <p:nvPr/>
        </p:nvGraphicFramePr>
        <p:xfrm>
          <a:off x="2810138" y="1545063"/>
          <a:ext cx="5469255" cy="2801112"/>
        </p:xfrm>
        <a:graphic>
          <a:graphicData uri="http://schemas.openxmlformats.org/drawingml/2006/table">
            <a:tbl>
              <a:tblPr firstRow="1" firstCol="1" bandRow="1"/>
              <a:tblGrid>
                <a:gridCol w="2276475">
                  <a:extLst>
                    <a:ext uri="{9D8B030D-6E8A-4147-A177-3AD203B41FA5}">
                      <a16:colId xmlns:a16="http://schemas.microsoft.com/office/drawing/2014/main" val="1472296092"/>
                    </a:ext>
                  </a:extLst>
                </a:gridCol>
                <a:gridCol w="3192780">
                  <a:extLst>
                    <a:ext uri="{9D8B030D-6E8A-4147-A177-3AD203B41FA5}">
                      <a16:colId xmlns:a16="http://schemas.microsoft.com/office/drawing/2014/main" val="1378749211"/>
                    </a:ext>
                  </a:extLst>
                </a:gridCol>
              </a:tblGrid>
              <a:tr h="215900">
                <a:tc>
                  <a:txBody>
                    <a:bodyPr/>
                    <a:lstStyle/>
                    <a:p>
                      <a:pPr algn="ctr" latinLnBrk="1">
                        <a:lnSpc>
                          <a:spcPct val="80000"/>
                        </a:lnSpc>
                        <a:spcAft>
                          <a:spcPts val="800"/>
                        </a:spcAft>
                      </a:pPr>
                      <a:r>
                        <a:rPr lang="en-US" sz="900" kern="100" dirty="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Leonardo space systems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5152794"/>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FOV</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128° x 128° (resizable)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74370189"/>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0.02° (2σ)</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81521581"/>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Resolution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0.005°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1815798"/>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Size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112 x 12 x 43 mm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80571751"/>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330 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02302746"/>
                  </a:ext>
                </a:extLst>
              </a:tr>
              <a:tr h="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consumption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700 mW for pre-regulated voltage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1 W for 50 V unregulated bus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15893901"/>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-25°C to +60°C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6417683"/>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Storage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-40°C to +75°C</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40315155"/>
                  </a:ext>
                </a:extLst>
              </a:tr>
              <a:tr h="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Altitude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3,000 km to 40,000 km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Interplanetary up to 50AU</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15660037"/>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S/C spin rate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up to 100 rpm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51405508"/>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Lifetime in GEO</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&gt; 15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19555567"/>
                  </a:ext>
                </a:extLst>
              </a:tr>
            </a:tbl>
          </a:graphicData>
        </a:graphic>
      </p:graphicFrame>
    </p:spTree>
    <p:extLst>
      <p:ext uri="{BB962C8B-B14F-4D97-AF65-F5344CB8AC3E}">
        <p14:creationId xmlns:p14="http://schemas.microsoft.com/office/powerpoint/2010/main" val="4023157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6" name="그림 5" descr="상자이(가) 표시된 사진&#10;&#10;자동 생성된 설명">
            <a:extLst>
              <a:ext uri="{FF2B5EF4-FFF2-40B4-BE49-F238E27FC236}">
                <a16:creationId xmlns:a16="http://schemas.microsoft.com/office/drawing/2014/main" id="{7E4D7E22-2973-4C54-9649-DB166B4A302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829" y="1728254"/>
            <a:ext cx="1310640" cy="1344295"/>
          </a:xfrm>
          <a:prstGeom prst="rect">
            <a:avLst/>
          </a:prstGeom>
          <a:noFill/>
          <a:ln>
            <a:noFill/>
          </a:ln>
        </p:spPr>
      </p:pic>
      <p:graphicFrame>
        <p:nvGraphicFramePr>
          <p:cNvPr id="3" name="표 2">
            <a:extLst>
              <a:ext uri="{FF2B5EF4-FFF2-40B4-BE49-F238E27FC236}">
                <a16:creationId xmlns:a16="http://schemas.microsoft.com/office/drawing/2014/main" id="{AA9256A2-B565-442D-87A9-87C822A18528}"/>
              </a:ext>
            </a:extLst>
          </p:cNvPr>
          <p:cNvGraphicFramePr>
            <a:graphicFrameLocks noGrp="1"/>
          </p:cNvGraphicFramePr>
          <p:nvPr/>
        </p:nvGraphicFramePr>
        <p:xfrm>
          <a:off x="2562178" y="1508671"/>
          <a:ext cx="5438140" cy="3127756"/>
        </p:xfrm>
        <a:graphic>
          <a:graphicData uri="http://schemas.openxmlformats.org/drawingml/2006/table">
            <a:tbl>
              <a:tblPr firstRow="1" firstCol="1" bandRow="1"/>
              <a:tblGrid>
                <a:gridCol w="2337435">
                  <a:extLst>
                    <a:ext uri="{9D8B030D-6E8A-4147-A177-3AD203B41FA5}">
                      <a16:colId xmlns:a16="http://schemas.microsoft.com/office/drawing/2014/main" val="3660852486"/>
                    </a:ext>
                  </a:extLst>
                </a:gridCol>
                <a:gridCol w="3100705">
                  <a:extLst>
                    <a:ext uri="{9D8B030D-6E8A-4147-A177-3AD203B41FA5}">
                      <a16:colId xmlns:a16="http://schemas.microsoft.com/office/drawing/2014/main" val="919447818"/>
                    </a:ext>
                  </a:extLst>
                </a:gridCol>
              </a:tblGrid>
              <a:tr h="215900">
                <a:tc>
                  <a:txBody>
                    <a:bodyPr/>
                    <a:lstStyle/>
                    <a:p>
                      <a:pPr algn="ctr" latinLnBrk="1">
                        <a:lnSpc>
                          <a:spcPct val="80000"/>
                        </a:lnSpc>
                        <a:spcAft>
                          <a:spcPts val="800"/>
                        </a:spcAft>
                      </a:pPr>
                      <a:r>
                        <a:rPr lang="en-US" sz="900" kern="10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Leonardo space systems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61620037"/>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Pointing mode linear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5.5° pitch; ±2.5° roll</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7970614"/>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 mode linear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ko-KR"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11° pitch; ±2.5° roll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48472323"/>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Chord mode linear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23° pitch; ±14° roll</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8217466"/>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 mode sign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ko-KR"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22° pitch; ±13° roll</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72388326"/>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Accuracy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&lt;0.05 deg random error (3σ)</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&lt;0.02 deg bias error</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9854380"/>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Dimensions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169.9mm x 163.8mm x 156mm</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37385710"/>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2.5 kg</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94641530"/>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consumption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4 W</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3787816"/>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Earth acquisition mode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15,300 ~ 53,000 km altitude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49530087"/>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capability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Up to 140,000 km altitude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06827473"/>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Operating band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14 - 16.25 μm wavelength</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6017790"/>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Heritage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KOREASAT-5</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44007798"/>
                  </a:ext>
                </a:extLst>
              </a:tr>
              <a:tr h="215900">
                <a:tc>
                  <a:txBody>
                    <a:bodyPr/>
                    <a:lstStyle/>
                    <a:p>
                      <a:pPr algn="ctr" latinLnBrk="1">
                        <a:lnSpc>
                          <a:spcPct val="80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Lifetime in GEO</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&gt; 15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11151279"/>
                  </a:ext>
                </a:extLst>
              </a:tr>
            </a:tbl>
          </a:graphicData>
        </a:graphic>
      </p:graphicFrame>
    </p:spTree>
    <p:extLst>
      <p:ext uri="{BB962C8B-B14F-4D97-AF65-F5344CB8AC3E}">
        <p14:creationId xmlns:p14="http://schemas.microsoft.com/office/powerpoint/2010/main" val="3336089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6" name="그림 5">
            <a:extLst>
              <a:ext uri="{FF2B5EF4-FFF2-40B4-BE49-F238E27FC236}">
                <a16:creationId xmlns:a16="http://schemas.microsoft.com/office/drawing/2014/main" id="{957F9FC2-BAE6-47EC-9AB4-37C1A5C3245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6200" y="1805792"/>
            <a:ext cx="1313815" cy="1234440"/>
          </a:xfrm>
          <a:prstGeom prst="rect">
            <a:avLst/>
          </a:prstGeom>
          <a:noFill/>
          <a:ln>
            <a:noFill/>
          </a:ln>
        </p:spPr>
      </p:pic>
      <p:graphicFrame>
        <p:nvGraphicFramePr>
          <p:cNvPr id="3" name="표 2">
            <a:extLst>
              <a:ext uri="{FF2B5EF4-FFF2-40B4-BE49-F238E27FC236}">
                <a16:creationId xmlns:a16="http://schemas.microsoft.com/office/drawing/2014/main" id="{B189AC6F-32B9-4950-B7D4-4400798D4A14}"/>
              </a:ext>
            </a:extLst>
          </p:cNvPr>
          <p:cNvGraphicFramePr>
            <a:graphicFrameLocks noGrp="1"/>
          </p:cNvGraphicFramePr>
          <p:nvPr/>
        </p:nvGraphicFramePr>
        <p:xfrm>
          <a:off x="2626955" y="1594972"/>
          <a:ext cx="5490845" cy="2890520"/>
        </p:xfrm>
        <a:graphic>
          <a:graphicData uri="http://schemas.openxmlformats.org/drawingml/2006/table">
            <a:tbl>
              <a:tblPr firstRow="1" firstCol="1" bandRow="1"/>
              <a:tblGrid>
                <a:gridCol w="2138680">
                  <a:extLst>
                    <a:ext uri="{9D8B030D-6E8A-4147-A177-3AD203B41FA5}">
                      <a16:colId xmlns:a16="http://schemas.microsoft.com/office/drawing/2014/main" val="3545531786"/>
                    </a:ext>
                  </a:extLst>
                </a:gridCol>
                <a:gridCol w="3352165">
                  <a:extLst>
                    <a:ext uri="{9D8B030D-6E8A-4147-A177-3AD203B41FA5}">
                      <a16:colId xmlns:a16="http://schemas.microsoft.com/office/drawing/2014/main" val="3484889044"/>
                    </a:ext>
                  </a:extLst>
                </a:gridCol>
              </a:tblGrid>
              <a:tr h="228600">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Jena-Optronik</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25303019"/>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Full Scale Range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+/- 20 deg/sec (coarse), +/- 1 deg/sec (fine)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55223028"/>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Noise Equivalent Angle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0.2 arcsec (1σ), per axis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03360352"/>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Angle Random Walk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&lt;0.005 deg/√hr, per axis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27300571"/>
                  </a:ext>
                </a:extLst>
              </a:tr>
              <a:tr h="22098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Noise Equivalent Rate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2 deg/hr r.m.s (0.1 Hz ~ 15 Hz), per axis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91600174"/>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Bias Instability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0.05 deg/hr (1σ), per axis (Allan deviation)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31605363"/>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Dimensions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230 mm x 230 mm x 170 mm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00678960"/>
                  </a:ext>
                </a:extLst>
              </a:tr>
              <a:tr h="22098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approx. 7.8 kg</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97741934"/>
                  </a:ext>
                </a:extLst>
              </a:tr>
              <a:tr h="39878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Consumption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15 W (cold-redundant)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30 W (hot-redundant)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65081294"/>
                  </a:ext>
                </a:extLst>
              </a:tr>
              <a:tr h="22098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-30 °C ~ +65 °C (full performance)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55136660"/>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Non-operational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-55 °C ~ +85 °C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647763973"/>
                  </a:ext>
                </a:extLst>
              </a:tr>
              <a:tr h="22860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Reliability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0.981 (Probability of Success, 45°C, 15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50507606"/>
                  </a:ext>
                </a:extLst>
              </a:tr>
            </a:tbl>
          </a:graphicData>
        </a:graphic>
      </p:graphicFrame>
    </p:spTree>
    <p:extLst>
      <p:ext uri="{BB962C8B-B14F-4D97-AF65-F5344CB8AC3E}">
        <p14:creationId xmlns:p14="http://schemas.microsoft.com/office/powerpoint/2010/main" val="8294582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6" name="그림 5">
            <a:extLst>
              <a:ext uri="{FF2B5EF4-FFF2-40B4-BE49-F238E27FC236}">
                <a16:creationId xmlns:a16="http://schemas.microsoft.com/office/drawing/2014/main" id="{847F4489-5DAC-4A18-B79A-463EA6D7DE2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5238" y="1886354"/>
            <a:ext cx="889000" cy="1592580"/>
          </a:xfrm>
          <a:prstGeom prst="rect">
            <a:avLst/>
          </a:prstGeom>
          <a:noFill/>
          <a:ln>
            <a:noFill/>
          </a:ln>
        </p:spPr>
      </p:pic>
      <p:graphicFrame>
        <p:nvGraphicFramePr>
          <p:cNvPr id="3" name="표 2">
            <a:extLst>
              <a:ext uri="{FF2B5EF4-FFF2-40B4-BE49-F238E27FC236}">
                <a16:creationId xmlns:a16="http://schemas.microsoft.com/office/drawing/2014/main" id="{93D96002-FC75-45E1-BD34-B596744BFF44}"/>
              </a:ext>
            </a:extLst>
          </p:cNvPr>
          <p:cNvGraphicFramePr>
            <a:graphicFrameLocks noGrp="1"/>
          </p:cNvGraphicFramePr>
          <p:nvPr/>
        </p:nvGraphicFramePr>
        <p:xfrm>
          <a:off x="2894101" y="1332060"/>
          <a:ext cx="5223510" cy="3193415"/>
        </p:xfrm>
        <a:graphic>
          <a:graphicData uri="http://schemas.openxmlformats.org/drawingml/2006/table">
            <a:tbl>
              <a:tblPr firstRow="1" firstCol="1" bandRow="1"/>
              <a:tblGrid>
                <a:gridCol w="2034540">
                  <a:extLst>
                    <a:ext uri="{9D8B030D-6E8A-4147-A177-3AD203B41FA5}">
                      <a16:colId xmlns:a16="http://schemas.microsoft.com/office/drawing/2014/main" val="1338940518"/>
                    </a:ext>
                  </a:extLst>
                </a:gridCol>
                <a:gridCol w="3188970">
                  <a:extLst>
                    <a:ext uri="{9D8B030D-6E8A-4147-A177-3AD203B41FA5}">
                      <a16:colId xmlns:a16="http://schemas.microsoft.com/office/drawing/2014/main" val="4029795844"/>
                    </a:ext>
                  </a:extLst>
                </a:gridCol>
              </a:tblGrid>
              <a:tr h="235585">
                <a:tc>
                  <a:txBody>
                    <a:bodyPr/>
                    <a:lstStyle/>
                    <a:p>
                      <a:pPr algn="ctr" latinLnBrk="1">
                        <a:lnSpc>
                          <a:spcPct val="80000"/>
                        </a:lnSpc>
                        <a:spcAft>
                          <a:spcPts val="800"/>
                        </a:spcAft>
                      </a:pP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Jena-Optronik</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54403728"/>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Noise Equivalent Angle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1 arc-sec (1σ, xy-axis), &lt; 8 arc-sec (1σ, z-axis)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3523410"/>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Bias Error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5 arcsecs (full temperature range)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28705828"/>
                  </a:ext>
                </a:extLst>
              </a:tr>
              <a:tr h="22733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Acquisition Time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10 sec (switch-on)</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5 sec (re-acquisition, lost-in-space)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17835661"/>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Stray Light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Sun: 26 deg Sun Exclusion Angle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Earth: 20 deg Earth Exclusion Angle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Moon: accepted in FoV</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91636774"/>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Dimensions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154 mm x 154 mm x 237 mm (single unit)</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75915209"/>
                  </a:ext>
                </a:extLst>
              </a:tr>
              <a:tr h="22733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approx. 2 kg (single unit)</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84050740"/>
                  </a:ext>
                </a:extLst>
              </a:tr>
              <a:tr h="41084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Consumption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6 W (Peltier Cooler OFF)</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&lt; 12 W (Peltier Cooler ON)</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70086463"/>
                  </a:ext>
                </a:extLst>
              </a:tr>
              <a:tr h="227330">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-30 °C ~ +60 °C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57339916"/>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Non-operational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-40 °C ~ +70 °C</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13829988"/>
                  </a:ext>
                </a:extLst>
              </a:tr>
              <a:tr h="235585">
                <a:tc>
                  <a:txBody>
                    <a:bodyPr/>
                    <a:lstStyle/>
                    <a:p>
                      <a:pPr algn="ctr" latinLnBrk="1">
                        <a:lnSpc>
                          <a:spcPct val="80000"/>
                        </a:lnSpc>
                        <a:spcAft>
                          <a:spcPts val="800"/>
                        </a:spcAft>
                      </a:pPr>
                      <a:r>
                        <a:rPr lang="en-US"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Reliability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80000"/>
                        </a:lnSpc>
                        <a:spcAft>
                          <a:spcPts val="800"/>
                        </a:spcAft>
                      </a:pPr>
                      <a:r>
                        <a:rPr lang="en-US"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0.981 (Probability of Success, 45°C, 15 years)</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49357699"/>
                  </a:ext>
                </a:extLst>
              </a:tr>
            </a:tbl>
          </a:graphicData>
        </a:graphic>
      </p:graphicFrame>
    </p:spTree>
    <p:extLst>
      <p:ext uri="{BB962C8B-B14F-4D97-AF65-F5344CB8AC3E}">
        <p14:creationId xmlns:p14="http://schemas.microsoft.com/office/powerpoint/2010/main" val="15137700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dirty="0"/>
              <a:t>5.4. Select and size ADCS hardware</a:t>
            </a:r>
            <a:endParaRPr lang="en-US" sz="16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87F17957-2518-483B-AC8E-D7FC629F75F3}"/>
              </a:ext>
            </a:extLst>
          </p:cNvPr>
          <p:cNvSpPr>
            <a:spLocks noChangeArrowheads="1"/>
          </p:cNvSpPr>
          <p:nvPr/>
        </p:nvSpPr>
        <p:spPr bwMode="auto">
          <a:xfrm>
            <a:off x="1709738" y="1457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6" name="그림 5">
            <a:extLst>
              <a:ext uri="{FF2B5EF4-FFF2-40B4-BE49-F238E27FC236}">
                <a16:creationId xmlns:a16="http://schemas.microsoft.com/office/drawing/2014/main" id="{A423D16D-E4A1-418F-9770-D2F6D9D537C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521" y="1999222"/>
            <a:ext cx="1531620" cy="949325"/>
          </a:xfrm>
          <a:prstGeom prst="rect">
            <a:avLst/>
          </a:prstGeom>
          <a:noFill/>
          <a:ln>
            <a:noFill/>
          </a:ln>
        </p:spPr>
      </p:pic>
      <p:graphicFrame>
        <p:nvGraphicFramePr>
          <p:cNvPr id="3" name="표 2">
            <a:extLst>
              <a:ext uri="{FF2B5EF4-FFF2-40B4-BE49-F238E27FC236}">
                <a16:creationId xmlns:a16="http://schemas.microsoft.com/office/drawing/2014/main" id="{CFF50D3A-AEB1-4D4B-B41F-BFB63F541704}"/>
              </a:ext>
            </a:extLst>
          </p:cNvPr>
          <p:cNvGraphicFramePr>
            <a:graphicFrameLocks noGrp="1"/>
          </p:cNvGraphicFramePr>
          <p:nvPr/>
        </p:nvGraphicFramePr>
        <p:xfrm>
          <a:off x="2509736" y="1386967"/>
          <a:ext cx="5707049" cy="3252056"/>
        </p:xfrm>
        <a:graphic>
          <a:graphicData uri="http://schemas.openxmlformats.org/drawingml/2006/table">
            <a:tbl>
              <a:tblPr firstRow="1" firstCol="1" bandRow="1"/>
              <a:tblGrid>
                <a:gridCol w="2546160">
                  <a:extLst>
                    <a:ext uri="{9D8B030D-6E8A-4147-A177-3AD203B41FA5}">
                      <a16:colId xmlns:a16="http://schemas.microsoft.com/office/drawing/2014/main" val="2081346504"/>
                    </a:ext>
                  </a:extLst>
                </a:gridCol>
                <a:gridCol w="3160889">
                  <a:extLst>
                    <a:ext uri="{9D8B030D-6E8A-4147-A177-3AD203B41FA5}">
                      <a16:colId xmlns:a16="http://schemas.microsoft.com/office/drawing/2014/main" val="1541379573"/>
                    </a:ext>
                  </a:extLst>
                </a:gridCol>
              </a:tblGrid>
              <a:tr h="157262">
                <a:tc>
                  <a:txBody>
                    <a:bodyPr/>
                    <a:lstStyle/>
                    <a:p>
                      <a:pPr algn="ctr" latinLnBrk="1">
                        <a:lnSpc>
                          <a:spcPct val="107000"/>
                        </a:lnSpc>
                        <a:spcAft>
                          <a:spcPts val="800"/>
                        </a:spcAft>
                      </a:pPr>
                      <a:r>
                        <a:rPr lang="en-US" sz="900" kern="100">
                          <a:effectLst/>
                          <a:latin typeface="맑은 고딕" panose="020B0503020000020004" pitchFamily="50" charset="-127"/>
                          <a:ea typeface="맑은 고딕" panose="020B0503020000020004" pitchFamily="50" charset="-127"/>
                          <a:cs typeface="Times New Roman" panose="02020603050405020304" pitchFamily="18" charset="0"/>
                        </a:rPr>
                        <a:t>M</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anufacturer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RUAG Space</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75527474"/>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Drive direction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Forward and reverse; multiturn (no “unwind” needed)</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82746026"/>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Output speed range (nominal in orbit)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 to 80 revs per day</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8082078"/>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Maximum output speed (ground testing)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0.75 °/s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87040077"/>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Output Step Size (full step)</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0.00625°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16052230"/>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Revolutions Life Time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5490 full revs on orbit (1 rev/day over 15 years)</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11325456"/>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Position Output availability</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0° ~ 356.5°</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77506725"/>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transfer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Up to 16.3 kW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5371544"/>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Diameter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245 mm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0889362"/>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Height</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175 mm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95280168"/>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Mass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3.5 kg</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4846289"/>
                  </a:ext>
                </a:extLst>
              </a:tr>
              <a:tr h="446563">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Power Consumption</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SADA (SADE + 2 SADMs)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Cruise Mode @ max. hot operational &lt; 22W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Cruise Mode @ min. cold operational &lt; 62 W</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24704008"/>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Operational Temperature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20°C ~ +65°C</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07051298"/>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 holding torque with motor unpowered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&gt; 7 Nm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41965230"/>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SA holding torque with motor powered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60 Nm</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86129928"/>
                  </a:ext>
                </a:extLst>
              </a:tr>
              <a:tr h="446563">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Static Loads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Axial Load  </a:t>
                      </a: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1000 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Radial Load  </a:t>
                      </a:r>
                      <a:r>
                        <a:rPr lang="ko-KR"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a:t>
                      </a: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 2000 N</a:t>
                      </a:r>
                      <a:endParaRPr lang="ko-KR" sz="10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34788537"/>
                  </a:ext>
                </a:extLst>
              </a:tr>
              <a:tr h="157262">
                <a:tc>
                  <a:txBody>
                    <a:bodyPr/>
                    <a:lstStyle/>
                    <a:p>
                      <a:pPr algn="ctr" latinLnBrk="1">
                        <a:lnSpc>
                          <a:spcPct val="107000"/>
                        </a:lnSpc>
                        <a:spcAft>
                          <a:spcPts val="800"/>
                        </a:spcAft>
                      </a:pPr>
                      <a:r>
                        <a:rPr lang="en-US" sz="900"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Life Time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ctr" latinLnBrk="1">
                        <a:lnSpc>
                          <a:spcPct val="107000"/>
                        </a:lnSpc>
                        <a:spcAft>
                          <a:spcPts val="800"/>
                        </a:spcAft>
                      </a:pPr>
                      <a:r>
                        <a:rPr lang="en-US" sz="9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15 years in orbit + 10 years on-ground storage</a:t>
                      </a:r>
                      <a:endParaRPr lang="ko-KR" sz="1000" kern="100" dirty="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6480489"/>
                  </a:ext>
                </a:extLst>
              </a:tr>
            </a:tbl>
          </a:graphicData>
        </a:graphic>
      </p:graphicFrame>
    </p:spTree>
    <p:extLst>
      <p:ext uri="{BB962C8B-B14F-4D97-AF65-F5344CB8AC3E}">
        <p14:creationId xmlns:p14="http://schemas.microsoft.com/office/powerpoint/2010/main" val="21142291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714846" cy="70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000" dirty="0"/>
              <a:t>5.5. Define determination and control algorithms</a:t>
            </a:r>
            <a:endParaRPr lang="en-US" sz="14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그림 2">
            <a:extLst>
              <a:ext uri="{FF2B5EF4-FFF2-40B4-BE49-F238E27FC236}">
                <a16:creationId xmlns:a16="http://schemas.microsoft.com/office/drawing/2014/main" id="{0AC212DA-F73A-47F0-8297-246000516953}"/>
              </a:ext>
            </a:extLst>
          </p:cNvPr>
          <p:cNvPicPr>
            <a:picLocks noChangeAspect="1"/>
          </p:cNvPicPr>
          <p:nvPr/>
        </p:nvPicPr>
        <p:blipFill>
          <a:blip r:embed="rId3"/>
          <a:stretch>
            <a:fillRect/>
          </a:stretch>
        </p:blipFill>
        <p:spPr>
          <a:xfrm>
            <a:off x="1471749" y="1194042"/>
            <a:ext cx="6386399" cy="3624478"/>
          </a:xfrm>
          <a:prstGeom prst="rect">
            <a:avLst/>
          </a:prstGeom>
        </p:spPr>
      </p:pic>
    </p:spTree>
    <p:extLst>
      <p:ext uri="{BB962C8B-B14F-4D97-AF65-F5344CB8AC3E}">
        <p14:creationId xmlns:p14="http://schemas.microsoft.com/office/powerpoint/2010/main" val="32325287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C88C35-1C3B-4CEC-B1EB-DF5DFA7DD583}"/>
              </a:ext>
            </a:extLst>
          </p:cNvPr>
          <p:cNvSpPr>
            <a:spLocks noGrp="1"/>
          </p:cNvSpPr>
          <p:nvPr>
            <p:ph type="ctrTitle"/>
          </p:nvPr>
        </p:nvSpPr>
        <p:spPr/>
        <p:txBody>
          <a:bodyPr/>
          <a:lstStyle/>
          <a:p>
            <a:r>
              <a:rPr lang="en-US" altLang="ko-KR" dirty="0"/>
              <a:t>TT&amp;C</a:t>
            </a:r>
            <a:endParaRPr lang="ko-KR" altLang="en-US" dirty="0"/>
          </a:p>
        </p:txBody>
      </p:sp>
      <p:sp>
        <p:nvSpPr>
          <p:cNvPr id="3" name="부제목 2">
            <a:extLst>
              <a:ext uri="{FF2B5EF4-FFF2-40B4-BE49-F238E27FC236}">
                <a16:creationId xmlns:a16="http://schemas.microsoft.com/office/drawing/2014/main" id="{41E86B7B-5407-4A90-A8E4-316758D5D1ED}"/>
              </a:ext>
            </a:extLst>
          </p:cNvPr>
          <p:cNvSpPr>
            <a:spLocks noGrp="1"/>
          </p:cNvSpPr>
          <p:nvPr>
            <p:ph type="subTitle" idx="1"/>
          </p:nvPr>
        </p:nvSpPr>
        <p:spPr/>
        <p:txBody>
          <a:bodyPr/>
          <a:lstStyle/>
          <a:p>
            <a:r>
              <a:rPr lang="en-US" altLang="ko-KR" dirty="0"/>
              <a:t>2017135509 </a:t>
            </a:r>
            <a:r>
              <a:rPr lang="ko-KR" altLang="en-US" dirty="0"/>
              <a:t>장덕민</a:t>
            </a:r>
          </a:p>
        </p:txBody>
      </p:sp>
    </p:spTree>
    <p:extLst>
      <p:ext uri="{BB962C8B-B14F-4D97-AF65-F5344CB8AC3E}">
        <p14:creationId xmlns:p14="http://schemas.microsoft.com/office/powerpoint/2010/main" val="4942761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05C8DE1-91B5-4A7E-A013-24CE06C10757}"/>
              </a:ext>
            </a:extLst>
          </p:cNvPr>
          <p:cNvSpPr>
            <a:spLocks noGrp="1"/>
          </p:cNvSpPr>
          <p:nvPr>
            <p:ph type="title"/>
          </p:nvPr>
        </p:nvSpPr>
        <p:spPr/>
        <p:txBody>
          <a:bodyPr/>
          <a:lstStyle/>
          <a:p>
            <a:r>
              <a:rPr lang="en-US" altLang="ko-KR" dirty="0"/>
              <a:t>Identify Requirements</a:t>
            </a:r>
            <a:endParaRPr lang="ko-KR" altLang="en-US" dirty="0"/>
          </a:p>
        </p:txBody>
      </p:sp>
      <mc:AlternateContent xmlns:mc="http://schemas.openxmlformats.org/markup-compatibility/2006" xmlns:a14="http://schemas.microsoft.com/office/drawing/2010/main">
        <mc:Choice Requires="a14">
          <p:graphicFrame>
            <p:nvGraphicFramePr>
              <p:cNvPr id="6" name="표 5">
                <a:extLst>
                  <a:ext uri="{FF2B5EF4-FFF2-40B4-BE49-F238E27FC236}">
                    <a16:creationId xmlns:a16="http://schemas.microsoft.com/office/drawing/2014/main" id="{C551955F-191E-4E37-8DB7-5E9DD21E7B2F}"/>
                  </a:ext>
                </a:extLst>
              </p:cNvPr>
              <p:cNvGraphicFramePr>
                <a:graphicFrameLocks noGrp="1"/>
              </p:cNvGraphicFramePr>
              <p:nvPr/>
            </p:nvGraphicFramePr>
            <p:xfrm>
              <a:off x="1675447" y="1526254"/>
              <a:ext cx="5793105" cy="2459292"/>
            </p:xfrm>
            <a:graphic>
              <a:graphicData uri="http://schemas.openxmlformats.org/drawingml/2006/table">
                <a:tbl>
                  <a:tblPr firstRow="1" firstCol="1" bandRow="1"/>
                  <a:tblGrid>
                    <a:gridCol w="1231265">
                      <a:extLst>
                        <a:ext uri="{9D8B030D-6E8A-4147-A177-3AD203B41FA5}">
                          <a16:colId xmlns:a16="http://schemas.microsoft.com/office/drawing/2014/main" val="1918037493"/>
                        </a:ext>
                      </a:extLst>
                    </a:gridCol>
                    <a:gridCol w="4561840">
                      <a:extLst>
                        <a:ext uri="{9D8B030D-6E8A-4147-A177-3AD203B41FA5}">
                          <a16:colId xmlns:a16="http://schemas.microsoft.com/office/drawing/2014/main" val="2833541036"/>
                        </a:ext>
                      </a:extLst>
                    </a:gridCol>
                  </a:tblGrid>
                  <a:tr h="292100">
                    <a:tc>
                      <a:txBody>
                        <a:bodyPr/>
                        <a:lstStyle/>
                        <a:p>
                          <a:pPr algn="ctr" latinLnBrk="1">
                            <a:lnSpc>
                              <a:spcPct val="115000"/>
                            </a:lnSpc>
                            <a:spcAft>
                              <a:spcPts val="1000"/>
                            </a:spcAft>
                          </a:pPr>
                          <a:r>
                            <a:rPr lang="en-US" sz="1000" b="1" kern="100">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Requirements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extLst>
                      <a:ext uri="{0D108BD9-81ED-4DB2-BD59-A6C34878D82A}">
                        <a16:rowId xmlns:a16="http://schemas.microsoft.com/office/drawing/2014/main" val="350471832"/>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C-band</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통해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Telemetry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송수신이 가능해야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3071339"/>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Ka-band</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통해 위성 간 통신이 가능해야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4025660"/>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TTNC-003</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Telemetry bit-error-rate</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 </a:t>
                          </a:r>
                          <a14:m>
                            <m:oMath xmlns:m="http://schemas.openxmlformats.org/officeDocument/2006/math">
                              <m:sSup>
                                <m:sSupPr>
                                  <m:ctrlPr>
                                    <a:rPr lang="ko-KR" sz="10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10</m:t>
                                  </m:r>
                                </m:e>
                                <m:sup>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−5</m:t>
                                  </m:r>
                                </m:sup>
                              </m:sSup>
                            </m:oMath>
                          </a14:m>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이내로 유지되어야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06297889"/>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Raw Data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전송속도가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64kbps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이상이어야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67559114"/>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안정적으로</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EIRP</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유지하기 위한 충분한 전력이 공급되어야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10814692"/>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TTNC-006</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Data header</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에는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Data Verification</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을 위한 정보가 포함되어야 한다</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72267476"/>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TTNC-007</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다른 무선신호와 간섭현상이 적어야 하고 </a:t>
                          </a:r>
                          <a14:m>
                            <m:oMath xmlns:m="http://schemas.openxmlformats.org/officeDocument/2006/math">
                              <m:f>
                                <m:fPr>
                                  <m:ctrlPr>
                                    <a:rPr lang="ko-KR" sz="10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10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𝐸</m:t>
                                      </m:r>
                                    </m:e>
                                    <m:sub>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𝑏</m:t>
                                      </m:r>
                                    </m:sub>
                                  </m:sSub>
                                </m:num>
                                <m:den>
                                  <m:sSub>
                                    <m:sSubPr>
                                      <m:ctrlPr>
                                        <a:rPr lang="ko-KR" sz="10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𝑁</m:t>
                                      </m:r>
                                    </m:e>
                                    <m:sub>
                                      <m:r>
                                        <a:rPr lang="en-US" sz="1000" i="1" kern="100">
                                          <a:solidFill>
                                            <a:schemeClr val="tx1"/>
                                          </a:solidFill>
                                          <a:effectLst/>
                                          <a:latin typeface="Cambria Math" panose="02040503050406030204" pitchFamily="18" charset="0"/>
                                          <a:ea typeface="맑은 고딕" panose="020B0503020000020004" pitchFamily="50" charset="-127"/>
                                          <a:cs typeface="Times New Roman" panose="02020603050405020304" pitchFamily="18" charset="0"/>
                                        </a:rPr>
                                        <m:t>𝑜</m:t>
                                      </m:r>
                                    </m:sub>
                                  </m:sSub>
                                </m:den>
                              </m:f>
                            </m:oMath>
                          </a14:m>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값 기준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Link Margin</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6dB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이상이어야 한다</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47463944"/>
                      </a:ext>
                    </a:extLst>
                  </a:tr>
                </a:tbl>
              </a:graphicData>
            </a:graphic>
          </p:graphicFrame>
        </mc:Choice>
        <mc:Fallback xmlns="">
          <p:graphicFrame>
            <p:nvGraphicFramePr>
              <p:cNvPr id="6" name="표 5">
                <a:extLst>
                  <a:ext uri="{FF2B5EF4-FFF2-40B4-BE49-F238E27FC236}">
                    <a16:creationId xmlns:a16="http://schemas.microsoft.com/office/drawing/2014/main" id="{C551955F-191E-4E37-8DB7-5E9DD21E7B2F}"/>
                  </a:ext>
                </a:extLst>
              </p:cNvPr>
              <p:cNvGraphicFramePr>
                <a:graphicFrameLocks noGrp="1"/>
              </p:cNvGraphicFramePr>
              <p:nvPr>
                <p:extLst>
                  <p:ext uri="{D42A27DB-BD31-4B8C-83A1-F6EECF244321}">
                    <p14:modId xmlns:p14="http://schemas.microsoft.com/office/powerpoint/2010/main" val="3347305969"/>
                  </p:ext>
                </p:extLst>
              </p:nvPr>
            </p:nvGraphicFramePr>
            <p:xfrm>
              <a:off x="1675447" y="1526254"/>
              <a:ext cx="5793105" cy="2459292"/>
            </p:xfrm>
            <a:graphic>
              <a:graphicData uri="http://schemas.openxmlformats.org/drawingml/2006/table">
                <a:tbl>
                  <a:tblPr firstRow="1" firstCol="1" bandRow="1"/>
                  <a:tblGrid>
                    <a:gridCol w="1231265">
                      <a:extLst>
                        <a:ext uri="{9D8B030D-6E8A-4147-A177-3AD203B41FA5}">
                          <a16:colId xmlns:a16="http://schemas.microsoft.com/office/drawing/2014/main" val="1918037493"/>
                        </a:ext>
                      </a:extLst>
                    </a:gridCol>
                    <a:gridCol w="4561840">
                      <a:extLst>
                        <a:ext uri="{9D8B030D-6E8A-4147-A177-3AD203B41FA5}">
                          <a16:colId xmlns:a16="http://schemas.microsoft.com/office/drawing/2014/main" val="2833541036"/>
                        </a:ext>
                      </a:extLst>
                    </a:gridCol>
                  </a:tblGrid>
                  <a:tr h="292100">
                    <a:tc>
                      <a:txBody>
                        <a:bodyPr/>
                        <a:lstStyle/>
                        <a:p>
                          <a:pPr algn="ctr" latinLnBrk="1">
                            <a:lnSpc>
                              <a:spcPct val="115000"/>
                            </a:lnSpc>
                            <a:spcAft>
                              <a:spcPts val="1000"/>
                            </a:spcAft>
                          </a:pPr>
                          <a:r>
                            <a:rPr lang="en-US" sz="1000" b="1" kern="100">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Requirements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extLst>
                      <a:ext uri="{0D108BD9-81ED-4DB2-BD59-A6C34878D82A}">
                        <a16:rowId xmlns:a16="http://schemas.microsoft.com/office/drawing/2014/main" val="350471832"/>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C-band</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통해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Telemetry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송수신이 가능해야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03071339"/>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Ka-band</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통해 위성 간 통신이 가능해야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4025660"/>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TTNC-003</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endParaRPr lang="ko-K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67" t="-306383" r="-267" b="-480851"/>
                          </a:stretch>
                        </a:blipFill>
                      </a:tcPr>
                    </a:tc>
                    <a:extLst>
                      <a:ext uri="{0D108BD9-81ED-4DB2-BD59-A6C34878D82A}">
                        <a16:rowId xmlns:a16="http://schemas.microsoft.com/office/drawing/2014/main" val="306297889"/>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Raw Data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전송속도가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64kbps </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이상이어야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67559114"/>
                      </a:ext>
                    </a:extLst>
                  </a:tr>
                  <a:tr h="28702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안정적으로</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 EIRP</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를 유지하기 위한 충분한 전력이 공급되어야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10814692"/>
                      </a:ext>
                    </a:extLst>
                  </a:tr>
                  <a:tr h="29210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TTNC-006</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ctr" latinLnBrk="1">
                            <a:lnSpc>
                              <a:spcPct val="115000"/>
                            </a:lnSpc>
                            <a:spcAft>
                              <a:spcPts val="1000"/>
                            </a:spcAft>
                          </a:pP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Data header</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에는 </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Data Verification</a:t>
                          </a:r>
                          <a:r>
                            <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을 위한 정보가 포함되어야 한다</a:t>
                          </a:r>
                          <a:r>
                            <a:rPr lang="en-US"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solidFill>
                              <a:schemeClr val="tx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72267476"/>
                      </a:ext>
                    </a:extLst>
                  </a:tr>
                  <a:tr h="429832">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TTNC-007</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endParaRPr lang="ko-K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27067" t="-470423" r="-267" b="-16901"/>
                          </a:stretch>
                        </a:blipFill>
                      </a:tcPr>
                    </a:tc>
                    <a:extLst>
                      <a:ext uri="{0D108BD9-81ED-4DB2-BD59-A6C34878D82A}">
                        <a16:rowId xmlns:a16="http://schemas.microsoft.com/office/drawing/2014/main" val="3347463944"/>
                      </a:ext>
                    </a:extLst>
                  </a:tr>
                </a:tbl>
              </a:graphicData>
            </a:graphic>
          </p:graphicFrame>
        </mc:Fallback>
      </mc:AlternateContent>
    </p:spTree>
    <p:extLst>
      <p:ext uri="{BB962C8B-B14F-4D97-AF65-F5344CB8AC3E}">
        <p14:creationId xmlns:p14="http://schemas.microsoft.com/office/powerpoint/2010/main" val="4899997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4EAD0C-C6F9-412F-8A8F-97D4FB0F7CBD}"/>
              </a:ext>
            </a:extLst>
          </p:cNvPr>
          <p:cNvSpPr>
            <a:spLocks noGrp="1"/>
          </p:cNvSpPr>
          <p:nvPr>
            <p:ph type="title"/>
          </p:nvPr>
        </p:nvSpPr>
        <p:spPr>
          <a:xfrm>
            <a:off x="938499" y="445025"/>
            <a:ext cx="4946399" cy="941400"/>
          </a:xfrm>
        </p:spPr>
        <p:txBody>
          <a:bodyPr/>
          <a:lstStyle/>
          <a:p>
            <a:r>
              <a:rPr lang="en-US" altLang="ko-KR" dirty="0"/>
              <a:t>Design Process - Frequency</a:t>
            </a:r>
            <a:endParaRPr lang="ko-KR" altLang="en-US" dirty="0"/>
          </a:p>
        </p:txBody>
      </p:sp>
      <p:sp>
        <p:nvSpPr>
          <p:cNvPr id="3" name="텍스트 개체 틀 2">
            <a:extLst>
              <a:ext uri="{FF2B5EF4-FFF2-40B4-BE49-F238E27FC236}">
                <a16:creationId xmlns:a16="http://schemas.microsoft.com/office/drawing/2014/main" id="{E8050CD4-2FEC-4179-94BE-C967F7C7C73F}"/>
              </a:ext>
            </a:extLst>
          </p:cNvPr>
          <p:cNvSpPr>
            <a:spLocks noGrp="1"/>
          </p:cNvSpPr>
          <p:nvPr>
            <p:ph type="body" idx="1"/>
          </p:nvPr>
        </p:nvSpPr>
        <p:spPr>
          <a:xfrm>
            <a:off x="938500" y="2405063"/>
            <a:ext cx="4946400" cy="2015112"/>
          </a:xfrm>
        </p:spPr>
        <p:txBody>
          <a:bodyPr/>
          <a:lstStyle/>
          <a:p>
            <a:r>
              <a:rPr lang="en-US" altLang="ko-KR" dirty="0"/>
              <a:t>ITU(</a:t>
            </a:r>
            <a:r>
              <a:rPr lang="ko-KR" altLang="en-US" dirty="0"/>
              <a:t>국제전기통신연합</a:t>
            </a:r>
            <a:r>
              <a:rPr lang="en-US" altLang="ko-KR" dirty="0"/>
              <a:t>), </a:t>
            </a:r>
            <a:r>
              <a:rPr lang="ko-KR" altLang="en-US" dirty="0"/>
              <a:t>방송통신위원회 고시 참조</a:t>
            </a:r>
            <a:br>
              <a:rPr lang="en-US" altLang="ko-KR" dirty="0"/>
            </a:br>
            <a:endParaRPr lang="en-US" altLang="ko-KR" dirty="0"/>
          </a:p>
          <a:p>
            <a:r>
              <a:rPr lang="ko-KR" altLang="en-US" dirty="0"/>
              <a:t>고정위성</a:t>
            </a:r>
            <a:r>
              <a:rPr lang="en-US" altLang="ko-KR" dirty="0"/>
              <a:t>(</a:t>
            </a:r>
            <a:r>
              <a:rPr lang="ko-KR" altLang="en-US" dirty="0"/>
              <a:t>지구대우주</a:t>
            </a:r>
            <a:r>
              <a:rPr lang="en-US" altLang="ko-KR" dirty="0"/>
              <a:t>, </a:t>
            </a:r>
            <a:r>
              <a:rPr lang="ko-KR" altLang="en-US" dirty="0"/>
              <a:t>우주대지구</a:t>
            </a:r>
            <a:r>
              <a:rPr lang="en-US" altLang="ko-KR" dirty="0"/>
              <a:t>)</a:t>
            </a:r>
          </a:p>
          <a:p>
            <a:endParaRPr lang="en-US" altLang="ko-KR" dirty="0"/>
          </a:p>
          <a:p>
            <a:r>
              <a:rPr lang="ko-KR" altLang="en-US" dirty="0"/>
              <a:t>위성통신</a:t>
            </a:r>
            <a:r>
              <a:rPr lang="en-US" altLang="ko-KR" dirty="0"/>
              <a:t>(</a:t>
            </a:r>
            <a:r>
              <a:rPr lang="ko-KR" altLang="en-US" dirty="0"/>
              <a:t>위성상호간</a:t>
            </a:r>
            <a:r>
              <a:rPr lang="en-US" altLang="ko-KR" dirty="0"/>
              <a:t>)</a:t>
            </a:r>
            <a:endParaRPr lang="ko-KR" altLang="en-US" dirty="0"/>
          </a:p>
        </p:txBody>
      </p:sp>
      <p:graphicFrame>
        <p:nvGraphicFramePr>
          <p:cNvPr id="5" name="표 4">
            <a:extLst>
              <a:ext uri="{FF2B5EF4-FFF2-40B4-BE49-F238E27FC236}">
                <a16:creationId xmlns:a16="http://schemas.microsoft.com/office/drawing/2014/main" id="{043C3E37-C3DE-4425-82C4-FDB2A9DF2EEF}"/>
              </a:ext>
            </a:extLst>
          </p:cNvPr>
          <p:cNvGraphicFramePr>
            <a:graphicFrameLocks noGrp="1"/>
          </p:cNvGraphicFramePr>
          <p:nvPr/>
        </p:nvGraphicFramePr>
        <p:xfrm>
          <a:off x="1772920" y="1260763"/>
          <a:ext cx="5598160" cy="924688"/>
        </p:xfrm>
        <a:graphic>
          <a:graphicData uri="http://schemas.openxmlformats.org/drawingml/2006/table">
            <a:tbl>
              <a:tblPr firstRow="1" firstCol="1" bandRow="1">
                <a:tableStyleId>{FABFCF23-3B69-468F-B69F-88F6DE6A72F2}</a:tableStyleId>
              </a:tblPr>
              <a:tblGrid>
                <a:gridCol w="949960">
                  <a:extLst>
                    <a:ext uri="{9D8B030D-6E8A-4147-A177-3AD203B41FA5}">
                      <a16:colId xmlns:a16="http://schemas.microsoft.com/office/drawing/2014/main" val="1458979619"/>
                    </a:ext>
                  </a:extLst>
                </a:gridCol>
                <a:gridCol w="1162050">
                  <a:extLst>
                    <a:ext uri="{9D8B030D-6E8A-4147-A177-3AD203B41FA5}">
                      <a16:colId xmlns:a16="http://schemas.microsoft.com/office/drawing/2014/main" val="3384306867"/>
                    </a:ext>
                  </a:extLst>
                </a:gridCol>
                <a:gridCol w="1162050">
                  <a:extLst>
                    <a:ext uri="{9D8B030D-6E8A-4147-A177-3AD203B41FA5}">
                      <a16:colId xmlns:a16="http://schemas.microsoft.com/office/drawing/2014/main" val="2995180318"/>
                    </a:ext>
                  </a:extLst>
                </a:gridCol>
                <a:gridCol w="1162050">
                  <a:extLst>
                    <a:ext uri="{9D8B030D-6E8A-4147-A177-3AD203B41FA5}">
                      <a16:colId xmlns:a16="http://schemas.microsoft.com/office/drawing/2014/main" val="2779245883"/>
                    </a:ext>
                  </a:extLst>
                </a:gridCol>
                <a:gridCol w="1162050">
                  <a:extLst>
                    <a:ext uri="{9D8B030D-6E8A-4147-A177-3AD203B41FA5}">
                      <a16:colId xmlns:a16="http://schemas.microsoft.com/office/drawing/2014/main" val="2279855663"/>
                    </a:ext>
                  </a:extLst>
                </a:gridCol>
              </a:tblGrid>
              <a:tr h="0">
                <a:tc>
                  <a:txBody>
                    <a:bodyPr/>
                    <a:lstStyle/>
                    <a:p>
                      <a:pPr algn="ctr" latinLnBrk="1">
                        <a:lnSpc>
                          <a:spcPct val="115000"/>
                        </a:lnSpc>
                        <a:spcAft>
                          <a:spcPts val="1000"/>
                        </a:spcAft>
                      </a:pPr>
                      <a:r>
                        <a:rPr lang="ko-KR" sz="1000" kern="100">
                          <a:effectLst/>
                        </a:rPr>
                        <a:t>종류</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C Band</a:t>
                      </a:r>
                      <a:endParaRPr lang="ko-KR" sz="1000" kern="100">
                        <a:effectLst/>
                      </a:endParaRPr>
                    </a:p>
                    <a:p>
                      <a:pPr algn="ctr" latinLnBrk="1">
                        <a:lnSpc>
                          <a:spcPct val="115000"/>
                        </a:lnSpc>
                        <a:spcAft>
                          <a:spcPts val="1000"/>
                        </a:spcAft>
                      </a:pPr>
                      <a:r>
                        <a:rPr lang="en-US" sz="1000" kern="100">
                          <a:effectLst/>
                        </a:rPr>
                        <a:t>Uplink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C Band</a:t>
                      </a:r>
                      <a:endParaRPr lang="ko-KR" sz="1000" kern="100">
                        <a:effectLst/>
                      </a:endParaRPr>
                    </a:p>
                    <a:p>
                      <a:pPr algn="ctr" latinLnBrk="1">
                        <a:lnSpc>
                          <a:spcPct val="115000"/>
                        </a:lnSpc>
                        <a:spcAft>
                          <a:spcPts val="1000"/>
                        </a:spcAft>
                      </a:pPr>
                      <a:r>
                        <a:rPr lang="en-US" sz="1000" kern="100">
                          <a:effectLst/>
                        </a:rPr>
                        <a:t>Downlink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Ka Band</a:t>
                      </a:r>
                      <a:endParaRPr lang="ko-KR" sz="1000" kern="100">
                        <a:effectLst/>
                      </a:endParaRPr>
                    </a:p>
                    <a:p>
                      <a:pPr algn="ctr" latinLnBrk="1">
                        <a:lnSpc>
                          <a:spcPct val="115000"/>
                        </a:lnSpc>
                        <a:spcAft>
                          <a:spcPts val="1000"/>
                        </a:spcAft>
                      </a:pPr>
                      <a:r>
                        <a:rPr lang="en-US" sz="1000" kern="100">
                          <a:effectLst/>
                        </a:rPr>
                        <a:t>Uplink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Ka Band</a:t>
                      </a:r>
                      <a:endParaRPr lang="ko-KR" sz="1000" kern="100">
                        <a:effectLst/>
                      </a:endParaRPr>
                    </a:p>
                    <a:p>
                      <a:pPr algn="ctr" latinLnBrk="1">
                        <a:lnSpc>
                          <a:spcPct val="115000"/>
                        </a:lnSpc>
                        <a:spcAft>
                          <a:spcPts val="1000"/>
                        </a:spcAft>
                      </a:pPr>
                      <a:r>
                        <a:rPr lang="en-US" sz="1000" kern="100">
                          <a:effectLst/>
                        </a:rPr>
                        <a:t>Downlink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675588607"/>
                  </a:ext>
                </a:extLst>
              </a:tr>
              <a:tr h="0">
                <a:tc>
                  <a:txBody>
                    <a:bodyPr/>
                    <a:lstStyle/>
                    <a:p>
                      <a:pPr algn="ctr" latinLnBrk="1">
                        <a:lnSpc>
                          <a:spcPct val="115000"/>
                        </a:lnSpc>
                        <a:spcAft>
                          <a:spcPts val="1000"/>
                        </a:spcAft>
                      </a:pPr>
                      <a:r>
                        <a:rPr lang="en-US" sz="1000" kern="100">
                          <a:effectLst/>
                        </a:rPr>
                        <a:t>Frequency</a:t>
                      </a:r>
                      <a:endParaRPr lang="ko-KR" sz="1000" kern="100">
                        <a:effectLst/>
                      </a:endParaRPr>
                    </a:p>
                    <a:p>
                      <a:pPr algn="ctr" latinLnBrk="1">
                        <a:lnSpc>
                          <a:spcPct val="115000"/>
                        </a:lnSpc>
                        <a:spcAft>
                          <a:spcPts val="1000"/>
                        </a:spcAft>
                      </a:pPr>
                      <a:r>
                        <a:rPr lang="en-US" sz="1000" kern="100">
                          <a:effectLst/>
                        </a:rPr>
                        <a:t>(MHz)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6.0</a:t>
                      </a:r>
                      <a:endParaRPr lang="ko-KR" sz="1000" kern="100">
                        <a:effectLst/>
                      </a:endParaRPr>
                    </a:p>
                    <a:p>
                      <a:pPr algn="ctr" latinLnBrk="1">
                        <a:lnSpc>
                          <a:spcPct val="115000"/>
                        </a:lnSpc>
                        <a:spcAft>
                          <a:spcPts val="1000"/>
                        </a:spcAft>
                      </a:pPr>
                      <a:r>
                        <a:rPr lang="en-US" sz="1000" kern="100">
                          <a:effectLst/>
                        </a:rPr>
                        <a:t>GHz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4.3</a:t>
                      </a:r>
                      <a:endParaRPr lang="ko-KR" sz="1000" kern="100">
                        <a:effectLst/>
                      </a:endParaRPr>
                    </a:p>
                    <a:p>
                      <a:pPr algn="ctr" latinLnBrk="1">
                        <a:lnSpc>
                          <a:spcPct val="115000"/>
                        </a:lnSpc>
                        <a:spcAft>
                          <a:spcPts val="1000"/>
                        </a:spcAft>
                      </a:pPr>
                      <a:r>
                        <a:rPr lang="en-US" sz="1000" kern="100">
                          <a:effectLst/>
                        </a:rPr>
                        <a:t>GHz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a:effectLst/>
                        </a:rPr>
                        <a:t>25.5</a:t>
                      </a:r>
                      <a:endParaRPr lang="ko-KR" sz="1000" kern="100">
                        <a:effectLst/>
                      </a:endParaRPr>
                    </a:p>
                    <a:p>
                      <a:pPr algn="ctr" latinLnBrk="1">
                        <a:lnSpc>
                          <a:spcPct val="115000"/>
                        </a:lnSpc>
                        <a:spcAft>
                          <a:spcPts val="1000"/>
                        </a:spcAft>
                      </a:pPr>
                      <a:r>
                        <a:rPr lang="en-US" sz="1000" kern="100">
                          <a:effectLst/>
                        </a:rPr>
                        <a:t>GHz</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ctr" latinLnBrk="1">
                        <a:lnSpc>
                          <a:spcPct val="115000"/>
                        </a:lnSpc>
                        <a:spcAft>
                          <a:spcPts val="1000"/>
                        </a:spcAft>
                      </a:pPr>
                      <a:r>
                        <a:rPr lang="en-US" sz="1000" kern="100" dirty="0">
                          <a:effectLst/>
                        </a:rPr>
                        <a:t>25.5</a:t>
                      </a:r>
                      <a:endParaRPr lang="ko-KR" sz="1000" kern="100" dirty="0">
                        <a:effectLst/>
                      </a:endParaRPr>
                    </a:p>
                    <a:p>
                      <a:pPr algn="ctr" latinLnBrk="1">
                        <a:lnSpc>
                          <a:spcPct val="115000"/>
                        </a:lnSpc>
                        <a:spcAft>
                          <a:spcPts val="1000"/>
                        </a:spcAft>
                      </a:pPr>
                      <a:r>
                        <a:rPr lang="en-US" sz="1000" kern="100" dirty="0">
                          <a:effectLst/>
                        </a:rPr>
                        <a:t>GHz</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372688711"/>
                  </a:ext>
                </a:extLst>
              </a:tr>
            </a:tbl>
          </a:graphicData>
        </a:graphic>
      </p:graphicFrame>
    </p:spTree>
    <p:extLst>
      <p:ext uri="{BB962C8B-B14F-4D97-AF65-F5344CB8AC3E}">
        <p14:creationId xmlns:p14="http://schemas.microsoft.com/office/powerpoint/2010/main" val="39300761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19C350-0E82-427B-8204-736C6F3712AB}"/>
              </a:ext>
            </a:extLst>
          </p:cNvPr>
          <p:cNvSpPr>
            <a:spLocks noGrp="1"/>
          </p:cNvSpPr>
          <p:nvPr>
            <p:ph type="title"/>
          </p:nvPr>
        </p:nvSpPr>
        <p:spPr>
          <a:xfrm>
            <a:off x="938500" y="445025"/>
            <a:ext cx="6505288" cy="941400"/>
          </a:xfrm>
        </p:spPr>
        <p:txBody>
          <a:bodyPr/>
          <a:lstStyle/>
          <a:p>
            <a:r>
              <a:rPr lang="en-US" altLang="ko-KR" dirty="0"/>
              <a:t>Design Process – Modulation Method</a:t>
            </a:r>
            <a:endParaRPr lang="ko-KR" altLang="en-US" dirty="0"/>
          </a:p>
        </p:txBody>
      </p:sp>
      <p:sp>
        <p:nvSpPr>
          <p:cNvPr id="3" name="텍스트 개체 틀 2">
            <a:extLst>
              <a:ext uri="{FF2B5EF4-FFF2-40B4-BE49-F238E27FC236}">
                <a16:creationId xmlns:a16="http://schemas.microsoft.com/office/drawing/2014/main" id="{855490B5-366B-44E2-B147-DB6B1B57EA2A}"/>
              </a:ext>
            </a:extLst>
          </p:cNvPr>
          <p:cNvSpPr>
            <a:spLocks noGrp="1"/>
          </p:cNvSpPr>
          <p:nvPr>
            <p:ph type="body" idx="1"/>
          </p:nvPr>
        </p:nvSpPr>
        <p:spPr/>
        <p:txBody>
          <a:bodyPr/>
          <a:lstStyle/>
          <a:p>
            <a:r>
              <a:rPr lang="ko-KR" altLang="en-US" dirty="0"/>
              <a:t>디지털 변조</a:t>
            </a:r>
            <a:endParaRPr lang="en-US" altLang="ko-KR" dirty="0"/>
          </a:p>
          <a:p>
            <a:pPr marL="139700" indent="0">
              <a:buNone/>
            </a:pPr>
            <a:endParaRPr lang="en-US" altLang="ko-KR" dirty="0"/>
          </a:p>
          <a:p>
            <a:pPr marL="139700" indent="0">
              <a:buNone/>
            </a:pPr>
            <a:r>
              <a:rPr lang="en-US" altLang="ko-KR" dirty="0"/>
              <a:t>ASK/FSK/PSK/QAM </a:t>
            </a:r>
            <a:r>
              <a:rPr lang="ko-KR" altLang="en-US" dirty="0"/>
              <a:t>등</a:t>
            </a:r>
            <a:endParaRPr lang="en-US" altLang="ko-KR" dirty="0"/>
          </a:p>
          <a:p>
            <a:pPr marL="139700" indent="0">
              <a:buNone/>
            </a:pPr>
            <a:r>
              <a:rPr lang="en-US" altLang="ko-KR" dirty="0"/>
              <a:t>BPSK</a:t>
            </a:r>
            <a:r>
              <a:rPr lang="ko-KR" altLang="en-US" dirty="0"/>
              <a:t>방식 채택</a:t>
            </a:r>
            <a:endParaRPr lang="en-US" altLang="ko-KR" dirty="0"/>
          </a:p>
          <a:p>
            <a:pPr marL="139700" indent="0">
              <a:buNone/>
            </a:pPr>
            <a:endParaRPr lang="en-US" altLang="ko-KR" dirty="0"/>
          </a:p>
          <a:p>
            <a:r>
              <a:rPr lang="ko-KR" altLang="en-US" dirty="0"/>
              <a:t>펄스 변조</a:t>
            </a:r>
            <a:endParaRPr lang="en-US" altLang="ko-KR" dirty="0"/>
          </a:p>
          <a:p>
            <a:endParaRPr lang="en-US" altLang="ko-KR" dirty="0"/>
          </a:p>
          <a:p>
            <a:pPr marL="139700" indent="0">
              <a:buNone/>
            </a:pPr>
            <a:r>
              <a:rPr lang="en-US" altLang="ko-KR" dirty="0"/>
              <a:t>PM</a:t>
            </a:r>
          </a:p>
          <a:p>
            <a:endParaRPr lang="en-US" altLang="ko-KR" dirty="0"/>
          </a:p>
          <a:p>
            <a:endParaRPr lang="ko-KR" altLang="en-US" dirty="0"/>
          </a:p>
        </p:txBody>
      </p:sp>
      <p:sp>
        <p:nvSpPr>
          <p:cNvPr id="4" name="텍스트 개체 틀 3">
            <a:extLst>
              <a:ext uri="{FF2B5EF4-FFF2-40B4-BE49-F238E27FC236}">
                <a16:creationId xmlns:a16="http://schemas.microsoft.com/office/drawing/2014/main" id="{B079BD39-D148-4DAD-902F-254CB6656D7C}"/>
              </a:ext>
            </a:extLst>
          </p:cNvPr>
          <p:cNvSpPr>
            <a:spLocks noGrp="1"/>
          </p:cNvSpPr>
          <p:nvPr>
            <p:ph type="body" idx="2"/>
          </p:nvPr>
        </p:nvSpPr>
        <p:spPr/>
        <p:txBody>
          <a:bodyPr/>
          <a:lstStyle/>
          <a:p>
            <a:r>
              <a:rPr lang="en-US" altLang="ko-KR" dirty="0"/>
              <a:t>BPSK/PM</a:t>
            </a:r>
            <a:r>
              <a:rPr lang="ko-KR" altLang="en-US" dirty="0"/>
              <a:t>방식 선정</a:t>
            </a:r>
          </a:p>
        </p:txBody>
      </p:sp>
    </p:spTree>
    <p:extLst>
      <p:ext uri="{BB962C8B-B14F-4D97-AF65-F5344CB8AC3E}">
        <p14:creationId xmlns:p14="http://schemas.microsoft.com/office/powerpoint/2010/main" val="53954784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19C350-0E82-427B-8204-736C6F3712AB}"/>
              </a:ext>
            </a:extLst>
          </p:cNvPr>
          <p:cNvSpPr>
            <a:spLocks noGrp="1"/>
          </p:cNvSpPr>
          <p:nvPr>
            <p:ph type="title"/>
          </p:nvPr>
        </p:nvSpPr>
        <p:spPr>
          <a:xfrm>
            <a:off x="938500" y="445025"/>
            <a:ext cx="6505288" cy="941400"/>
          </a:xfrm>
        </p:spPr>
        <p:txBody>
          <a:bodyPr/>
          <a:lstStyle/>
          <a:p>
            <a:r>
              <a:rPr lang="en-US" altLang="ko-KR" dirty="0"/>
              <a:t>Design Process – Data</a:t>
            </a:r>
            <a:r>
              <a:rPr lang="ko-KR" altLang="en-US" dirty="0"/>
              <a:t> </a:t>
            </a:r>
            <a:r>
              <a:rPr lang="en-US" altLang="ko-KR" dirty="0"/>
              <a:t>Rates</a:t>
            </a:r>
            <a:endParaRPr lang="ko-KR" altLang="en-US" dirty="0"/>
          </a:p>
        </p:txBody>
      </p:sp>
      <p:sp>
        <p:nvSpPr>
          <p:cNvPr id="3" name="텍스트 개체 틀 2">
            <a:extLst>
              <a:ext uri="{FF2B5EF4-FFF2-40B4-BE49-F238E27FC236}">
                <a16:creationId xmlns:a16="http://schemas.microsoft.com/office/drawing/2014/main" id="{855490B5-366B-44E2-B147-DB6B1B57EA2A}"/>
              </a:ext>
            </a:extLst>
          </p:cNvPr>
          <p:cNvSpPr>
            <a:spLocks noGrp="1"/>
          </p:cNvSpPr>
          <p:nvPr>
            <p:ph type="body" idx="1"/>
          </p:nvPr>
        </p:nvSpPr>
        <p:spPr>
          <a:xfrm>
            <a:off x="938499" y="2247899"/>
            <a:ext cx="6724363" cy="2172275"/>
          </a:xfrm>
        </p:spPr>
        <p:txBody>
          <a:bodyPr/>
          <a:lstStyle/>
          <a:p>
            <a:r>
              <a:rPr lang="en-US" altLang="ko-KR" dirty="0"/>
              <a:t>UDP</a:t>
            </a:r>
            <a:r>
              <a:rPr lang="ko-KR" altLang="en-US" dirty="0"/>
              <a:t>방식 패킷 구조 참조</a:t>
            </a:r>
            <a:endParaRPr lang="en-US" altLang="ko-KR" dirty="0"/>
          </a:p>
          <a:p>
            <a:pPr marL="139700" indent="0">
              <a:buNone/>
            </a:pPr>
            <a:endParaRPr lang="en-US" altLang="ko-KR" dirty="0"/>
          </a:p>
          <a:p>
            <a:r>
              <a:rPr lang="en-US" altLang="ko-KR" dirty="0"/>
              <a:t>Data</a:t>
            </a:r>
            <a:r>
              <a:rPr lang="ko-KR" altLang="en-US" dirty="0"/>
              <a:t> </a:t>
            </a:r>
            <a:r>
              <a:rPr lang="en-US" altLang="ko-KR" dirty="0"/>
              <a:t>Length,</a:t>
            </a:r>
            <a:r>
              <a:rPr lang="ko-KR" altLang="en-US" dirty="0"/>
              <a:t> </a:t>
            </a:r>
            <a:r>
              <a:rPr lang="en-US" altLang="ko-KR" dirty="0"/>
              <a:t>Checksum</a:t>
            </a:r>
            <a:r>
              <a:rPr lang="ko-KR" altLang="en-US" dirty="0"/>
              <a:t> 등 정보 포함</a:t>
            </a:r>
            <a:endParaRPr lang="en-US" altLang="ko-KR" dirty="0"/>
          </a:p>
          <a:p>
            <a:endParaRPr lang="en-US" altLang="ko-KR" dirty="0"/>
          </a:p>
          <a:p>
            <a:r>
              <a:rPr lang="en-US" altLang="ko-KR" dirty="0"/>
              <a:t>CRC(</a:t>
            </a:r>
            <a:r>
              <a:rPr lang="ko-KR" altLang="en-US" dirty="0"/>
              <a:t>순환 중복 검사</a:t>
            </a:r>
            <a:r>
              <a:rPr lang="en-US" altLang="ko-KR" dirty="0"/>
              <a:t>)</a:t>
            </a:r>
          </a:p>
          <a:p>
            <a:endParaRPr lang="en-US" altLang="ko-KR" dirty="0"/>
          </a:p>
          <a:p>
            <a:r>
              <a:rPr lang="en-US" altLang="ko-KR" dirty="0"/>
              <a:t>Overhead </a:t>
            </a:r>
            <a:r>
              <a:rPr lang="ko-KR" altLang="en-US" dirty="0"/>
              <a:t>비율 </a:t>
            </a:r>
            <a:r>
              <a:rPr lang="en-US" altLang="ko-KR" dirty="0"/>
              <a:t>20%</a:t>
            </a:r>
            <a:r>
              <a:rPr lang="ko-KR" altLang="en-US" dirty="0"/>
              <a:t>시 </a:t>
            </a:r>
            <a:r>
              <a:rPr lang="en-US" altLang="ko-KR" dirty="0"/>
              <a:t>net data rate 59.52kbps</a:t>
            </a:r>
          </a:p>
          <a:p>
            <a:endParaRPr lang="en-US" altLang="ko-KR" dirty="0"/>
          </a:p>
          <a:p>
            <a:endParaRPr lang="ko-KR" altLang="en-US" dirty="0"/>
          </a:p>
        </p:txBody>
      </p:sp>
      <p:graphicFrame>
        <p:nvGraphicFramePr>
          <p:cNvPr id="8" name="표 7">
            <a:extLst>
              <a:ext uri="{FF2B5EF4-FFF2-40B4-BE49-F238E27FC236}">
                <a16:creationId xmlns:a16="http://schemas.microsoft.com/office/drawing/2014/main" id="{5A3293DF-CB96-4823-985F-45E902C376F0}"/>
              </a:ext>
            </a:extLst>
          </p:cNvPr>
          <p:cNvGraphicFramePr>
            <a:graphicFrameLocks noGrp="1"/>
          </p:cNvGraphicFramePr>
          <p:nvPr/>
        </p:nvGraphicFramePr>
        <p:xfrm>
          <a:off x="311150" y="1245489"/>
          <a:ext cx="8521700" cy="873824"/>
        </p:xfrm>
        <a:graphic>
          <a:graphicData uri="http://schemas.openxmlformats.org/drawingml/2006/table">
            <a:tbl>
              <a:tblPr firstRow="1" bandRow="1">
                <a:tableStyleId>{7DF18680-E054-41AD-8BC1-D1AEF772440D}</a:tableStyleId>
              </a:tblPr>
              <a:tblGrid>
                <a:gridCol w="903300">
                  <a:extLst>
                    <a:ext uri="{9D8B030D-6E8A-4147-A177-3AD203B41FA5}">
                      <a16:colId xmlns:a16="http://schemas.microsoft.com/office/drawing/2014/main" val="836566160"/>
                    </a:ext>
                  </a:extLst>
                </a:gridCol>
                <a:gridCol w="893074">
                  <a:extLst>
                    <a:ext uri="{9D8B030D-6E8A-4147-A177-3AD203B41FA5}">
                      <a16:colId xmlns:a16="http://schemas.microsoft.com/office/drawing/2014/main" val="3797558753"/>
                    </a:ext>
                  </a:extLst>
                </a:gridCol>
                <a:gridCol w="819788">
                  <a:extLst>
                    <a:ext uri="{9D8B030D-6E8A-4147-A177-3AD203B41FA5}">
                      <a16:colId xmlns:a16="http://schemas.microsoft.com/office/drawing/2014/main" val="1878186655"/>
                    </a:ext>
                  </a:extLst>
                </a:gridCol>
                <a:gridCol w="998743">
                  <a:extLst>
                    <a:ext uri="{9D8B030D-6E8A-4147-A177-3AD203B41FA5}">
                      <a16:colId xmlns:a16="http://schemas.microsoft.com/office/drawing/2014/main" val="1075285011"/>
                    </a:ext>
                  </a:extLst>
                </a:gridCol>
                <a:gridCol w="1010674">
                  <a:extLst>
                    <a:ext uri="{9D8B030D-6E8A-4147-A177-3AD203B41FA5}">
                      <a16:colId xmlns:a16="http://schemas.microsoft.com/office/drawing/2014/main" val="3807243858"/>
                    </a:ext>
                  </a:extLst>
                </a:gridCol>
                <a:gridCol w="3026908">
                  <a:extLst>
                    <a:ext uri="{9D8B030D-6E8A-4147-A177-3AD203B41FA5}">
                      <a16:colId xmlns:a16="http://schemas.microsoft.com/office/drawing/2014/main" val="993651875"/>
                    </a:ext>
                  </a:extLst>
                </a:gridCol>
                <a:gridCol w="869213">
                  <a:extLst>
                    <a:ext uri="{9D8B030D-6E8A-4147-A177-3AD203B41FA5}">
                      <a16:colId xmlns:a16="http://schemas.microsoft.com/office/drawing/2014/main" val="1617373005"/>
                    </a:ext>
                  </a:extLst>
                </a:gridCol>
              </a:tblGrid>
              <a:tr h="320040">
                <a:tc>
                  <a:txBody>
                    <a:bodyPr/>
                    <a:lstStyle/>
                    <a:p>
                      <a:pPr algn="ctr" latinLnBrk="1">
                        <a:lnSpc>
                          <a:spcPct val="115000"/>
                        </a:lnSpc>
                        <a:spcAft>
                          <a:spcPts val="1000"/>
                        </a:spcAft>
                      </a:pPr>
                      <a:r>
                        <a:rPr lang="en-US" sz="1000" b="1" kern="1200">
                          <a:solidFill>
                            <a:srgbClr val="000000"/>
                          </a:solidFill>
                          <a:effectLst/>
                        </a:rPr>
                        <a:t>Destination</a:t>
                      </a:r>
                      <a:endParaRPr lang="ko-KR" sz="1000" kern="100">
                        <a:effectLst/>
                      </a:endParaRPr>
                    </a:p>
                    <a:p>
                      <a:pPr algn="ctr" latinLnBrk="1">
                        <a:lnSpc>
                          <a:spcPct val="115000"/>
                        </a:lnSpc>
                        <a:spcAft>
                          <a:spcPts val="1000"/>
                        </a:spcAft>
                      </a:pPr>
                      <a:r>
                        <a:rPr lang="en-US" sz="1000" b="1" kern="1200">
                          <a:solidFill>
                            <a:srgbClr val="000000"/>
                          </a:solidFill>
                          <a:effectLst/>
                        </a:rPr>
                        <a:t>Address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Source</a:t>
                      </a:r>
                      <a:endParaRPr lang="ko-KR" sz="1000" kern="100">
                        <a:effectLst/>
                      </a:endParaRPr>
                    </a:p>
                    <a:p>
                      <a:pPr algn="ctr" latinLnBrk="1">
                        <a:lnSpc>
                          <a:spcPct val="115000"/>
                        </a:lnSpc>
                        <a:spcAft>
                          <a:spcPts val="1000"/>
                        </a:spcAft>
                      </a:pPr>
                      <a:r>
                        <a:rPr lang="en-US" sz="1000" b="1" kern="1200">
                          <a:solidFill>
                            <a:srgbClr val="000000"/>
                          </a:solidFill>
                          <a:effectLst/>
                        </a:rPr>
                        <a:t>Adress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EType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IP Header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UDP Header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Data</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b="1" kern="1200">
                          <a:solidFill>
                            <a:srgbClr val="000000"/>
                          </a:solidFill>
                          <a:effectLst/>
                        </a:rPr>
                        <a:t>CRC</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extLst>
                  <a:ext uri="{0D108BD9-81ED-4DB2-BD59-A6C34878D82A}">
                    <a16:rowId xmlns:a16="http://schemas.microsoft.com/office/drawing/2014/main" val="2388285504"/>
                  </a:ext>
                </a:extLst>
              </a:tr>
              <a:tr h="320040">
                <a:tc>
                  <a:txBody>
                    <a:bodyPr/>
                    <a:lstStyle/>
                    <a:p>
                      <a:pPr algn="ctr" latinLnBrk="1">
                        <a:lnSpc>
                          <a:spcPct val="115000"/>
                        </a:lnSpc>
                        <a:spcAft>
                          <a:spcPts val="1000"/>
                        </a:spcAft>
                      </a:pPr>
                      <a:r>
                        <a:rPr lang="en-US" sz="1000" kern="1200">
                          <a:solidFill>
                            <a:srgbClr val="000000"/>
                          </a:solidFill>
                          <a:effectLst/>
                        </a:rPr>
                        <a:t>6 Byte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a:solidFill>
                            <a:srgbClr val="000000"/>
                          </a:solidFill>
                          <a:effectLst/>
                        </a:rPr>
                        <a:t>6 Byte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a:solidFill>
                            <a:srgbClr val="000000"/>
                          </a:solidFill>
                          <a:effectLst/>
                        </a:rPr>
                        <a:t>2 Byte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a:solidFill>
                            <a:srgbClr val="000000"/>
                          </a:solidFill>
                          <a:effectLst/>
                        </a:rPr>
                        <a:t>20 Byte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a:solidFill>
                            <a:srgbClr val="000000"/>
                          </a:solidFill>
                          <a:effectLst/>
                        </a:rPr>
                        <a:t>8 Byte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a:solidFill>
                            <a:srgbClr val="000000"/>
                          </a:solidFill>
                          <a:effectLst/>
                        </a:rPr>
                        <a:t>Data Length</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tc>
                  <a:txBody>
                    <a:bodyPr/>
                    <a:lstStyle/>
                    <a:p>
                      <a:pPr algn="ctr" latinLnBrk="1">
                        <a:lnSpc>
                          <a:spcPct val="115000"/>
                        </a:lnSpc>
                        <a:spcAft>
                          <a:spcPts val="1000"/>
                        </a:spcAft>
                      </a:pPr>
                      <a:r>
                        <a:rPr lang="en-US" sz="1000" kern="1200" dirty="0">
                          <a:solidFill>
                            <a:srgbClr val="000000"/>
                          </a:solidFill>
                          <a:effectLst/>
                        </a:rPr>
                        <a:t>4 Byte</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a:tc>
                <a:extLst>
                  <a:ext uri="{0D108BD9-81ED-4DB2-BD59-A6C34878D82A}">
                    <a16:rowId xmlns:a16="http://schemas.microsoft.com/office/drawing/2014/main" val="2405900849"/>
                  </a:ext>
                </a:extLst>
              </a:tr>
            </a:tbl>
          </a:graphicData>
        </a:graphic>
      </p:graphicFrame>
    </p:spTree>
    <p:extLst>
      <p:ext uri="{BB962C8B-B14F-4D97-AF65-F5344CB8AC3E}">
        <p14:creationId xmlns:p14="http://schemas.microsoft.com/office/powerpoint/2010/main" val="29650971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E36476-3E64-4873-83F1-5F462680E6AE}"/>
              </a:ext>
            </a:extLst>
          </p:cNvPr>
          <p:cNvSpPr>
            <a:spLocks noGrp="1"/>
          </p:cNvSpPr>
          <p:nvPr>
            <p:ph type="title"/>
          </p:nvPr>
        </p:nvSpPr>
        <p:spPr/>
        <p:txBody>
          <a:bodyPr/>
          <a:lstStyle/>
          <a:p>
            <a:r>
              <a:rPr lang="en-US" altLang="ko-KR" dirty="0"/>
              <a:t>Link</a:t>
            </a:r>
            <a:r>
              <a:rPr lang="ko-KR" altLang="en-US" dirty="0"/>
              <a:t> </a:t>
            </a:r>
            <a:r>
              <a:rPr lang="en-US" altLang="ko-KR" dirty="0"/>
              <a:t>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6D0DE43A-D823-4306-A642-0C4EAF78BC20}"/>
                  </a:ext>
                </a:extLst>
              </p:cNvPr>
              <p:cNvSpPr>
                <a:spLocks noGrp="1"/>
              </p:cNvSpPr>
              <p:nvPr>
                <p:ph type="body" idx="1"/>
              </p:nvPr>
            </p:nvSpPr>
            <p:spPr>
              <a:xfrm>
                <a:off x="938500" y="1985963"/>
                <a:ext cx="4946400" cy="2434211"/>
              </a:xfrm>
            </p:spPr>
            <p:txBody>
              <a:bodyPr/>
              <a:lstStyle/>
              <a:p>
                <a:r>
                  <a:rPr lang="ko-KR" altLang="en-US" dirty="0"/>
                  <a:t>가정</a:t>
                </a:r>
                <a:br>
                  <a:rPr lang="en-US" altLang="ko-KR" dirty="0"/>
                </a:br>
                <a:endParaRPr lang="en-US" altLang="ko-KR" dirty="0"/>
              </a:p>
              <a:p>
                <a:pPr marL="139700" indent="0">
                  <a:buNone/>
                </a:pPr>
                <a:r>
                  <a:rPr lang="en-US" altLang="ko-KR" dirty="0"/>
                  <a:t>C Band Downlink 4.3GHZ</a:t>
                </a:r>
                <a:br>
                  <a:rPr lang="en-US" altLang="ko-KR" dirty="0"/>
                </a:br>
                <a:endParaRPr lang="en-US" altLang="ko-KR" dirty="0"/>
              </a:p>
              <a:p>
                <a:pPr marL="139700" indent="0">
                  <a:buNone/>
                </a:pPr>
                <a:r>
                  <a:rPr lang="en-US" altLang="ko-KR" dirty="0"/>
                  <a:t>Propagation Range S = 37000km</a:t>
                </a:r>
                <a:br>
                  <a:rPr lang="en-US" altLang="ko-KR" dirty="0"/>
                </a:br>
                <a:endParaRPr lang="en-US" altLang="ko-KR" dirty="0"/>
              </a:p>
              <a:p>
                <a:pPr marL="139700" indent="0">
                  <a:buNone/>
                </a:pPr>
                <a:r>
                  <a:rPr lang="en-US" altLang="ko-KR" dirty="0"/>
                  <a:t>Required Raw Data Rate = 64kbps</a:t>
                </a:r>
              </a:p>
              <a:p>
                <a:pPr marL="139700" indent="0">
                  <a:buNone/>
                </a:pPr>
                <a:endParaRPr lang="en-US" altLang="ko-KR" dirty="0"/>
              </a:p>
              <a:p>
                <a:pPr marL="139700" indent="0">
                  <a:buNone/>
                </a:pPr>
                <a:r>
                  <a:rPr lang="en-US" altLang="ko-KR" dirty="0"/>
                  <a:t>Required BER = </a:t>
                </a:r>
                <a14:m>
                  <m:oMath xmlns:m="http://schemas.openxmlformats.org/officeDocument/2006/math">
                    <m:sSup>
                      <m:sSupPr>
                        <m:ctrlPr>
                          <a:rPr lang="ko-KR" altLang="ko-KR" i="1" smtClean="0">
                            <a:effectLst/>
                            <a:latin typeface="Cambria Math" panose="02040503050406030204" pitchFamily="18" charset="0"/>
                            <a:ea typeface="Cambria Math" panose="02040503050406030204" pitchFamily="18" charset="0"/>
                          </a:rPr>
                        </m:ctrlPr>
                      </m:sSupPr>
                      <m:e>
                        <m:r>
                          <a:rPr lang="en-US" altLang="ko-KR" i="1">
                            <a:effectLst/>
                            <a:latin typeface="Cambria Math" panose="02040503050406030204" pitchFamily="18" charset="0"/>
                            <a:ea typeface="맑은 고딕" panose="020B0503020000020004" pitchFamily="50" charset="-127"/>
                            <a:cs typeface="Times New Roman" panose="02020603050405020304" pitchFamily="18" charset="0"/>
                          </a:rPr>
                          <m:t>10</m:t>
                        </m:r>
                      </m:e>
                      <m:sup>
                        <m:r>
                          <a:rPr lang="en-US" altLang="ko-KR" i="1">
                            <a:effectLst/>
                            <a:latin typeface="Cambria Math" panose="02040503050406030204" pitchFamily="18" charset="0"/>
                            <a:ea typeface="맑은 고딕" panose="020B0503020000020004" pitchFamily="50" charset="-127"/>
                            <a:cs typeface="Times New Roman" panose="02020603050405020304" pitchFamily="18" charset="0"/>
                          </a:rPr>
                          <m:t>−5</m:t>
                        </m:r>
                      </m:sup>
                    </m:sSup>
                  </m:oMath>
                </a14:m>
                <a:endParaRPr lang="en-US" altLang="ko-KR" dirty="0"/>
              </a:p>
              <a:p>
                <a:endParaRPr lang="ko-KR" altLang="en-US" dirty="0"/>
              </a:p>
            </p:txBody>
          </p:sp>
        </mc:Choice>
        <mc:Fallback xmlns="">
          <p:sp>
            <p:nvSpPr>
              <p:cNvPr id="3" name="텍스트 개체 틀 2">
                <a:extLst>
                  <a:ext uri="{FF2B5EF4-FFF2-40B4-BE49-F238E27FC236}">
                    <a16:creationId xmlns:a16="http://schemas.microsoft.com/office/drawing/2014/main" id="{6D0DE43A-D823-4306-A642-0C4EAF78BC20}"/>
                  </a:ext>
                </a:extLst>
              </p:cNvPr>
              <p:cNvSpPr>
                <a:spLocks noGrp="1" noRot="1" noChangeAspect="1" noMove="1" noResize="1" noEditPoints="1" noAdjustHandles="1" noChangeArrowheads="1" noChangeShapeType="1" noTextEdit="1"/>
              </p:cNvSpPr>
              <p:nvPr>
                <p:ph type="body" idx="1"/>
              </p:nvPr>
            </p:nvSpPr>
            <p:spPr>
              <a:xfrm>
                <a:off x="938500" y="1985963"/>
                <a:ext cx="4946400" cy="2434211"/>
              </a:xfrm>
              <a:blipFill>
                <a:blip r:embed="rId2"/>
                <a:stretch>
                  <a:fillRect/>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CC775058-DED1-4074-97BB-D7050331DB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49700" y="1281550"/>
            <a:ext cx="1244600" cy="482600"/>
          </a:xfrm>
          <a:prstGeom prst="rect">
            <a:avLst/>
          </a:prstGeom>
          <a:noFill/>
          <a:ln>
            <a:noFill/>
          </a:ln>
        </p:spPr>
      </p:pic>
    </p:spTree>
    <p:extLst>
      <p:ext uri="{BB962C8B-B14F-4D97-AF65-F5344CB8AC3E}">
        <p14:creationId xmlns:p14="http://schemas.microsoft.com/office/powerpoint/2010/main" val="13740896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82640E-3E28-40B0-A504-675888C7AB42}"/>
              </a:ext>
            </a:extLst>
          </p:cNvPr>
          <p:cNvSpPr>
            <a:spLocks noGrp="1"/>
          </p:cNvSpPr>
          <p:nvPr>
            <p:ph type="title"/>
          </p:nvPr>
        </p:nvSpPr>
        <p:spPr/>
        <p:txBody>
          <a:bodyPr/>
          <a:lstStyle/>
          <a:p>
            <a:r>
              <a:rPr lang="en-US" altLang="ko-KR" dirty="0"/>
              <a:t>Link</a:t>
            </a:r>
            <a:r>
              <a:rPr lang="ko-KR" altLang="en-US" dirty="0"/>
              <a:t> </a:t>
            </a:r>
            <a:r>
              <a:rPr lang="en-US" altLang="ko-KR" dirty="0"/>
              <a:t>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E5FE47FA-D754-4FA9-86A3-36F52DDC9730}"/>
                  </a:ext>
                </a:extLst>
              </p:cNvPr>
              <p:cNvSpPr>
                <a:spLocks noGrp="1"/>
              </p:cNvSpPr>
              <p:nvPr>
                <p:ph type="body" idx="1"/>
              </p:nvPr>
            </p:nvSpPr>
            <p:spPr>
              <a:xfrm>
                <a:off x="938500" y="1659275"/>
                <a:ext cx="3933538" cy="2760900"/>
              </a:xfrm>
            </p:spPr>
            <p:txBody>
              <a:bodyPr/>
              <a:lstStyle/>
              <a:p>
                <a:r>
                  <a:rPr lang="en-US" altLang="ko-KR" dirty="0"/>
                  <a:t>Required </a:t>
                </a:r>
                <a14:m>
                  <m:oMath xmlns:m="http://schemas.openxmlformats.org/officeDocument/2006/math">
                    <m:f>
                      <m:fPr>
                        <m:ctrlPr>
                          <a:rPr lang="ko-KR" altLang="ko-KR" i="1" smtClean="0">
                            <a:effectLst/>
                            <a:latin typeface="Cambria Math" panose="02040503050406030204" pitchFamily="18" charset="0"/>
                            <a:ea typeface="Cambria Math" panose="02040503050406030204" pitchFamily="18" charset="0"/>
                          </a:rPr>
                        </m:ctrlPr>
                      </m:fPr>
                      <m:num>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𝐸</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𝑏</m:t>
                            </m:r>
                          </m:sub>
                        </m:sSub>
                      </m:num>
                      <m:den>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𝑁</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𝑜</m:t>
                            </m:r>
                          </m:sub>
                        </m:sSub>
                      </m:den>
                    </m:f>
                  </m:oMath>
                </a14:m>
                <a:br>
                  <a:rPr lang="en-US" altLang="ko-KR" dirty="0"/>
                </a:br>
                <a:endParaRPr lang="en-US" altLang="ko-KR" dirty="0"/>
              </a:p>
              <a:p>
                <a:pPr marL="139700" indent="0">
                  <a:buNone/>
                </a:pPr>
                <a:r>
                  <a:rPr lang="en-US" altLang="ko-KR" dirty="0"/>
                  <a:t>Shannon-Hartley Theorem </a:t>
                </a:r>
                <a:r>
                  <a:rPr lang="ko-KR" altLang="en-US" dirty="0"/>
                  <a:t>이용</a:t>
                </a:r>
                <a:br>
                  <a:rPr lang="en-US" altLang="ko-KR" dirty="0"/>
                </a:br>
                <a:endParaRPr lang="en-US" altLang="ko-KR" dirty="0"/>
              </a:p>
              <a:p>
                <a:pPr marL="139700" indent="0">
                  <a:buNone/>
                </a:pPr>
                <a:r>
                  <a:rPr lang="en-US" altLang="ko-KR" dirty="0"/>
                  <a:t>Required BER,</a:t>
                </a:r>
                <a:r>
                  <a:rPr lang="ko-KR" altLang="en-US" dirty="0"/>
                  <a:t> </a:t>
                </a:r>
                <a:r>
                  <a:rPr lang="en-US" altLang="ko-KR" dirty="0"/>
                  <a:t>Modulation </a:t>
                </a:r>
                <a:r>
                  <a:rPr lang="ko-KR" altLang="en-US" dirty="0"/>
                  <a:t>방식</a:t>
                </a:r>
                <a:endParaRPr lang="en-US" altLang="ko-KR" dirty="0"/>
              </a:p>
              <a:p>
                <a:pPr marL="139700" indent="0">
                  <a:buNone/>
                </a:pPr>
                <a:endParaRPr lang="en-US" altLang="ko-KR" dirty="0"/>
              </a:p>
              <a:p>
                <a:pPr marL="139700" indent="0">
                  <a:buNone/>
                </a:pPr>
                <a:r>
                  <a:rPr lang="en-US" altLang="ko-KR" dirty="0"/>
                  <a:t>14dB</a:t>
                </a:r>
              </a:p>
              <a:p>
                <a:pPr marL="139700" indent="0">
                  <a:buNone/>
                </a:pPr>
                <a:endParaRPr lang="ko-KR" altLang="en-US" dirty="0"/>
              </a:p>
            </p:txBody>
          </p:sp>
        </mc:Choice>
        <mc:Fallback xmlns="">
          <p:sp>
            <p:nvSpPr>
              <p:cNvPr id="3" name="텍스트 개체 틀 2">
                <a:extLst>
                  <a:ext uri="{FF2B5EF4-FFF2-40B4-BE49-F238E27FC236}">
                    <a16:creationId xmlns:a16="http://schemas.microsoft.com/office/drawing/2014/main" id="{E5FE47FA-D754-4FA9-86A3-36F52DDC9730}"/>
                  </a:ext>
                </a:extLst>
              </p:cNvPr>
              <p:cNvSpPr>
                <a:spLocks noGrp="1" noRot="1" noChangeAspect="1" noMove="1" noResize="1" noEditPoints="1" noAdjustHandles="1" noChangeArrowheads="1" noChangeShapeType="1" noTextEdit="1"/>
              </p:cNvSpPr>
              <p:nvPr>
                <p:ph type="body" idx="1"/>
              </p:nvPr>
            </p:nvSpPr>
            <p:spPr>
              <a:xfrm>
                <a:off x="938500" y="1659275"/>
                <a:ext cx="3933538" cy="2760900"/>
              </a:xfrm>
              <a:blipFill>
                <a:blip r:embed="rId2"/>
                <a:stretch>
                  <a:fillRect/>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F0C78AF8-1D9E-4A85-BE14-E7D6A0AE4AC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57788" y="943686"/>
            <a:ext cx="3419476" cy="3476489"/>
          </a:xfrm>
          <a:prstGeom prst="rect">
            <a:avLst/>
          </a:prstGeom>
          <a:noFill/>
          <a:ln>
            <a:noFill/>
          </a:ln>
        </p:spPr>
      </p:pic>
    </p:spTree>
    <p:extLst>
      <p:ext uri="{BB962C8B-B14F-4D97-AF65-F5344CB8AC3E}">
        <p14:creationId xmlns:p14="http://schemas.microsoft.com/office/powerpoint/2010/main" val="25851682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82640E-3E28-40B0-A504-675888C7AB42}"/>
              </a:ext>
            </a:extLst>
          </p:cNvPr>
          <p:cNvSpPr>
            <a:spLocks noGrp="1"/>
          </p:cNvSpPr>
          <p:nvPr>
            <p:ph type="title"/>
          </p:nvPr>
        </p:nvSpPr>
        <p:spPr/>
        <p:txBody>
          <a:bodyPr/>
          <a:lstStyle/>
          <a:p>
            <a:r>
              <a:rPr lang="en-US" altLang="ko-KR" dirty="0"/>
              <a:t>Link</a:t>
            </a:r>
            <a:r>
              <a:rPr lang="ko-KR" altLang="en-US" dirty="0"/>
              <a:t> </a:t>
            </a:r>
            <a:r>
              <a:rPr lang="en-US" altLang="ko-KR" dirty="0"/>
              <a:t>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E5FE47FA-D754-4FA9-86A3-36F52DDC9730}"/>
                  </a:ext>
                </a:extLst>
              </p:cNvPr>
              <p:cNvSpPr>
                <a:spLocks noGrp="1"/>
              </p:cNvSpPr>
              <p:nvPr>
                <p:ph type="body" idx="1"/>
              </p:nvPr>
            </p:nvSpPr>
            <p:spPr>
              <a:xfrm>
                <a:off x="938500" y="1659275"/>
                <a:ext cx="5552788" cy="2917488"/>
              </a:xfrm>
            </p:spPr>
            <p:txBody>
              <a:bodyPr/>
              <a:lstStyle/>
              <a:p>
                <a:pPr lvl="0" latinLnBrk="1"/>
                <a:r>
                  <a:rPr lang="en-US" altLang="ko-KR" dirty="0"/>
                  <a:t>Transmitter power, </a:t>
                </a:r>
                <a14:m>
                  <m:oMath xmlns:m="http://schemas.openxmlformats.org/officeDocument/2006/math">
                    <m:r>
                      <a:rPr lang="en-US" altLang="ko-KR" i="1">
                        <a:latin typeface="Cambria Math" panose="02040503050406030204" pitchFamily="18" charset="0"/>
                      </a:rPr>
                      <m:t>𝑃</m:t>
                    </m:r>
                  </m:oMath>
                </a14:m>
                <a:endParaRPr lang="ko-KR" altLang="ko-KR" dirty="0"/>
              </a:p>
              <a:p>
                <a:pPr marL="139700" indent="0">
                  <a:buNone/>
                </a:pPr>
                <a:endParaRPr lang="en-US" altLang="ko-KR" dirty="0"/>
              </a:p>
              <a:p>
                <a:pPr marL="139700" indent="0">
                  <a:buNone/>
                </a:pPr>
                <a:r>
                  <a:rPr lang="en-US" altLang="ko-KR" dirty="0"/>
                  <a:t>C Band Transmitter Hi Power Output</a:t>
                </a:r>
              </a:p>
              <a:p>
                <a:pPr marL="139700" indent="0">
                  <a:buNone/>
                </a:pPr>
                <a:r>
                  <a:rPr lang="en-US" altLang="ko-KR" dirty="0"/>
                  <a:t>26.5dBm</a:t>
                </a:r>
                <a:r>
                  <a:rPr lang="ko-KR" altLang="en-US" dirty="0"/>
                  <a:t>으로 가정</a:t>
                </a:r>
                <a:endParaRPr lang="en-US" altLang="ko-KR" dirty="0"/>
              </a:p>
              <a:p>
                <a:pPr marL="139700" indent="0">
                  <a:buNone/>
                </a:pPr>
                <a:endParaRPr lang="en-US" altLang="ko-KR" dirty="0"/>
              </a:p>
              <a:p>
                <a:r>
                  <a:rPr lang="en-US" altLang="ko-KR" dirty="0"/>
                  <a:t>Transmitter-to-antenna line loss, </a:t>
                </a:r>
                <a14:m>
                  <m:oMath xmlns:m="http://schemas.openxmlformats.org/officeDocument/2006/math">
                    <m:sSub>
                      <m:sSubPr>
                        <m:ctrlPr>
                          <a:rPr lang="ko-KR" altLang="ko-KR" i="1" smtClean="0">
                            <a:effectLst/>
                            <a:latin typeface="Cambria Math" panose="02040503050406030204" pitchFamily="18" charset="0"/>
                            <a:ea typeface="Cambria Math" panose="02040503050406030204" pitchFamily="18" charset="0"/>
                          </a:rPr>
                        </m:ctrlPr>
                      </m:sSubPr>
                      <m:e>
                        <m:r>
                          <a:rPr lang="en-US" altLang="ko-KR" i="1">
                            <a:effectLst/>
                            <a:latin typeface="Cambria Math" panose="02040503050406030204" pitchFamily="18" charset="0"/>
                            <a:ea typeface="맑은 고딕" panose="020B0503020000020004" pitchFamily="50" charset="-127"/>
                            <a:cs typeface="Times New Roman" panose="02020603050405020304" pitchFamily="18" charset="0"/>
                          </a:rPr>
                          <m:t>𝐿</m:t>
                        </m:r>
                      </m:e>
                      <m:sub>
                        <m:r>
                          <a:rPr lang="en-US" altLang="ko-KR" i="1">
                            <a:effectLst/>
                            <a:latin typeface="Cambria Math" panose="02040503050406030204" pitchFamily="18" charset="0"/>
                            <a:ea typeface="맑은 고딕" panose="020B0503020000020004" pitchFamily="50" charset="-127"/>
                            <a:cs typeface="Times New Roman" panose="02020603050405020304" pitchFamily="18" charset="0"/>
                          </a:rPr>
                          <m:t>𝑙</m:t>
                        </m:r>
                      </m:sub>
                    </m:sSub>
                  </m:oMath>
                </a14:m>
                <a:endParaRPr lang="en-US" altLang="ko-KR" dirty="0"/>
              </a:p>
              <a:p>
                <a:endParaRPr lang="en-US" altLang="ko-KR" dirty="0"/>
              </a:p>
              <a:p>
                <a:pPr marL="139700" indent="0">
                  <a:buNone/>
                </a:pPr>
                <a:r>
                  <a:rPr lang="en-US" altLang="ko-KR" dirty="0"/>
                  <a:t>LMR-400</a:t>
                </a:r>
                <a:r>
                  <a:rPr lang="ko-KR" altLang="en-US" dirty="0"/>
                  <a:t>케이블 기준</a:t>
                </a:r>
                <a:r>
                  <a:rPr lang="en-US" altLang="ko-KR" dirty="0"/>
                  <a:t>, 4.3GHz, </a:t>
                </a:r>
                <a:r>
                  <a:rPr lang="ko-KR" altLang="en-US" dirty="0"/>
                  <a:t>길이 </a:t>
                </a:r>
                <a:r>
                  <a:rPr lang="en-US" altLang="ko-KR" dirty="0"/>
                  <a:t>1m</a:t>
                </a:r>
                <a:br>
                  <a:rPr lang="en-US" altLang="ko-KR" dirty="0"/>
                </a:br>
                <a:r>
                  <a:rPr lang="en-US" altLang="ko-KR" dirty="0"/>
                  <a:t>0.339dB</a:t>
                </a:r>
              </a:p>
              <a:p>
                <a:pPr marL="139700" indent="0">
                  <a:buNone/>
                </a:pPr>
                <a:endParaRPr lang="en-US" altLang="ko-KR" dirty="0"/>
              </a:p>
              <a:p>
                <a:pPr lvl="0" latinLnBrk="1"/>
                <a:r>
                  <a:rPr lang="en-US" altLang="ko-KR" dirty="0"/>
                  <a:t>Transmit Antenna Gain, </a:t>
                </a:r>
                <a14:m>
                  <m:oMath xmlns:m="http://schemas.openxmlformats.org/officeDocument/2006/math">
                    <m:sSub>
                      <m:sSubPr>
                        <m:ctrlPr>
                          <a:rPr lang="ko-KR" altLang="ko-KR" i="1">
                            <a:latin typeface="Cambria Math" panose="02040503050406030204" pitchFamily="18" charset="0"/>
                          </a:rPr>
                        </m:ctrlPr>
                      </m:sSubPr>
                      <m:e>
                        <m:r>
                          <a:rPr lang="en-US" altLang="ko-KR" i="1">
                            <a:latin typeface="Cambria Math" panose="02040503050406030204" pitchFamily="18" charset="0"/>
                          </a:rPr>
                          <m:t>𝐺</m:t>
                        </m:r>
                      </m:e>
                      <m:sub>
                        <m:r>
                          <a:rPr lang="en-US" altLang="ko-KR" i="1">
                            <a:latin typeface="Cambria Math" panose="02040503050406030204" pitchFamily="18" charset="0"/>
                          </a:rPr>
                          <m:t>𝑡</m:t>
                        </m:r>
                      </m:sub>
                    </m:sSub>
                  </m:oMath>
                </a14:m>
                <a:endParaRPr lang="ko-KR" altLang="ko-KR" dirty="0"/>
              </a:p>
              <a:p>
                <a:endParaRPr lang="en-US" altLang="ko-KR" dirty="0"/>
              </a:p>
              <a:p>
                <a:pPr marL="139700" indent="0">
                  <a:buNone/>
                </a:pPr>
                <a:r>
                  <a:rPr lang="en-US" altLang="ko-KR" dirty="0"/>
                  <a:t>0dBi</a:t>
                </a:r>
                <a:endParaRPr lang="ko-KR" altLang="en-US" dirty="0"/>
              </a:p>
              <a:p>
                <a:pPr marL="139700" indent="0">
                  <a:buNone/>
                </a:pPr>
                <a:endParaRPr lang="ko-KR" altLang="en-US" dirty="0"/>
              </a:p>
            </p:txBody>
          </p:sp>
        </mc:Choice>
        <mc:Fallback xmlns="">
          <p:sp>
            <p:nvSpPr>
              <p:cNvPr id="3" name="텍스트 개체 틀 2">
                <a:extLst>
                  <a:ext uri="{FF2B5EF4-FFF2-40B4-BE49-F238E27FC236}">
                    <a16:creationId xmlns:a16="http://schemas.microsoft.com/office/drawing/2014/main" id="{E5FE47FA-D754-4FA9-86A3-36F52DDC9730}"/>
                  </a:ext>
                </a:extLst>
              </p:cNvPr>
              <p:cNvSpPr>
                <a:spLocks noGrp="1" noRot="1" noChangeAspect="1" noMove="1" noResize="1" noEditPoints="1" noAdjustHandles="1" noChangeArrowheads="1" noChangeShapeType="1" noTextEdit="1"/>
              </p:cNvSpPr>
              <p:nvPr>
                <p:ph type="body" idx="1"/>
              </p:nvPr>
            </p:nvSpPr>
            <p:spPr>
              <a:xfrm>
                <a:off x="938500" y="1659275"/>
                <a:ext cx="5552788" cy="2917488"/>
              </a:xfrm>
              <a:blipFill>
                <a:blip r:embed="rId2"/>
                <a:stretch>
                  <a:fillRect b="-1879"/>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2402718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01AFDC-9E11-494E-8CA8-3AF2B93C4D8F}"/>
              </a:ext>
            </a:extLst>
          </p:cNvPr>
          <p:cNvSpPr>
            <a:spLocks noGrp="1"/>
          </p:cNvSpPr>
          <p:nvPr>
            <p:ph type="title"/>
          </p:nvPr>
        </p:nvSpPr>
        <p:spPr/>
        <p:txBody>
          <a:bodyPr/>
          <a:lstStyle/>
          <a:p>
            <a:r>
              <a:rPr lang="en-US" altLang="ko-KR" dirty="0"/>
              <a:t>Link 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731453FA-5383-4DD5-B8A4-154FACB23522}"/>
                  </a:ext>
                </a:extLst>
              </p:cNvPr>
              <p:cNvSpPr>
                <a:spLocks noGrp="1"/>
              </p:cNvSpPr>
              <p:nvPr>
                <p:ph type="body" idx="1"/>
              </p:nvPr>
            </p:nvSpPr>
            <p:spPr>
              <a:xfrm>
                <a:off x="938500" y="1530747"/>
                <a:ext cx="3419188" cy="2760900"/>
              </a:xfrm>
            </p:spPr>
            <p:txBody>
              <a:bodyPr/>
              <a:lstStyle/>
              <a:p>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Space Loss, </a:t>
                </a:r>
                <a14:m>
                  <m:oMath xmlns:m="http://schemas.openxmlformats.org/officeDocument/2006/math">
                    <m:sSub>
                      <m:sSubPr>
                        <m:ctrlPr>
                          <a:rPr lang="ko-KR" altLang="ko-KR"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𝐿</m:t>
                        </m:r>
                      </m:e>
                      <m:sub>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𝑠</m:t>
                        </m:r>
                      </m:sub>
                    </m:sSub>
                  </m:oMath>
                </a14:m>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endParaRPr lang="en-US" altLang="ko-KR" dirty="0"/>
              </a:p>
              <a:p>
                <a:pPr marL="139700" indent="0">
                  <a:buNone/>
                </a:pPr>
                <a14:m>
                  <m:oMathPara xmlns:m="http://schemas.openxmlformats.org/officeDocument/2006/math">
                    <m:oMathParaPr>
                      <m:jc m:val="centerGroup"/>
                    </m:oMathParaPr>
                    <m:oMath xmlns:m="http://schemas.openxmlformats.org/officeDocument/2006/math">
                      <m:sSub>
                        <m:sSubPr>
                          <m:ctrlPr>
                            <a:rPr lang="ko-KR" altLang="ko-KR"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𝐿</m:t>
                          </m:r>
                        </m:e>
                        <m:sub>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𝑠</m:t>
                          </m:r>
                        </m:sub>
                      </m:sSub>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altLang="ko-KR"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altLang="ko-KR"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𝜆</m:t>
                              </m:r>
                            </m:num>
                            <m:den>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4</m:t>
                              </m:r>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𝜋</m:t>
                              </m:r>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𝑆</m:t>
                              </m:r>
                            </m:den>
                          </m:f>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m:t>
                          </m:r>
                        </m:e>
                        <m:sup>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en-US" altLang="ko-KR" dirty="0"/>
                  <a:t>-197.78dB</a:t>
                </a:r>
              </a:p>
              <a:p>
                <a:pPr marL="139700" indent="0">
                  <a:buNone/>
                </a:pPr>
                <a:endParaRPr lang="en-US" altLang="ko-KR" dirty="0"/>
              </a:p>
              <a:p>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Rain Loss, </a:t>
                </a:r>
                <a14:m>
                  <m:oMath xmlns:m="http://schemas.openxmlformats.org/officeDocument/2006/math">
                    <m:sSub>
                      <m:sSubPr>
                        <m:ctrlPr>
                          <a:rPr lang="ko-KR" altLang="ko-KR"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𝐿</m:t>
                        </m:r>
                      </m:e>
                      <m:sub>
                        <m:r>
                          <a:rPr lang="en-US" altLang="ko-KR" i="1" kern="100">
                            <a:effectLst/>
                            <a:latin typeface="Cambria Math" panose="02040503050406030204" pitchFamily="18" charset="0"/>
                            <a:ea typeface="맑은 고딕" panose="020B0503020000020004" pitchFamily="50" charset="-127"/>
                            <a:cs typeface="Times New Roman" panose="02020603050405020304" pitchFamily="18" charset="0"/>
                          </a:rPr>
                          <m:t>𝑎</m:t>
                        </m:r>
                      </m:sub>
                    </m:sSub>
                  </m:oMath>
                </a14:m>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endParaRPr lang="en-US" altLang="ko-KR" dirty="0"/>
              </a:p>
              <a:p>
                <a:pPr marL="139700" indent="0">
                  <a:buNone/>
                </a:pPr>
                <a:r>
                  <a:rPr lang="en-US" altLang="ko-KR" dirty="0"/>
                  <a:t>4.3GHz</a:t>
                </a:r>
                <a:r>
                  <a:rPr lang="ko-KR" altLang="en-US" dirty="0"/>
                  <a:t>대역에서는 </a:t>
                </a:r>
                <a:r>
                  <a:rPr lang="en-US" altLang="ko-KR" dirty="0"/>
                  <a:t>0dB</a:t>
                </a:r>
                <a:r>
                  <a:rPr lang="ko-KR" altLang="en-US" dirty="0"/>
                  <a:t>에 근접한 값</a:t>
                </a:r>
                <a:endParaRPr lang="en-US" altLang="ko-KR" dirty="0"/>
              </a:p>
              <a:p>
                <a:pPr marL="139700" indent="0">
                  <a:buNone/>
                </a:pPr>
                <a:r>
                  <a:rPr lang="en-US" altLang="ko-KR" dirty="0"/>
                  <a:t>0.5dB</a:t>
                </a:r>
              </a:p>
            </p:txBody>
          </p:sp>
        </mc:Choice>
        <mc:Fallback xmlns="">
          <p:sp>
            <p:nvSpPr>
              <p:cNvPr id="3" name="텍스트 개체 틀 2">
                <a:extLst>
                  <a:ext uri="{FF2B5EF4-FFF2-40B4-BE49-F238E27FC236}">
                    <a16:creationId xmlns:a16="http://schemas.microsoft.com/office/drawing/2014/main" id="{731453FA-5383-4DD5-B8A4-154FACB23522}"/>
                  </a:ext>
                </a:extLst>
              </p:cNvPr>
              <p:cNvSpPr>
                <a:spLocks noGrp="1" noRot="1" noChangeAspect="1" noMove="1" noResize="1" noEditPoints="1" noAdjustHandles="1" noChangeArrowheads="1" noChangeShapeType="1" noTextEdit="1"/>
              </p:cNvSpPr>
              <p:nvPr>
                <p:ph type="body" idx="1"/>
              </p:nvPr>
            </p:nvSpPr>
            <p:spPr>
              <a:xfrm>
                <a:off x="938500" y="1530747"/>
                <a:ext cx="3419188" cy="2760900"/>
              </a:xfrm>
              <a:blipFill>
                <a:blip r:embed="rId2"/>
                <a:stretch>
                  <a:fillRect/>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53F34439-A3F1-4C44-95E3-7C0208AC1E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91062" y="1109027"/>
            <a:ext cx="4267200" cy="3182620"/>
          </a:xfrm>
          <a:prstGeom prst="rect">
            <a:avLst/>
          </a:prstGeom>
          <a:noFill/>
          <a:ln>
            <a:noFill/>
          </a:ln>
        </p:spPr>
      </p:pic>
    </p:spTree>
    <p:extLst>
      <p:ext uri="{BB962C8B-B14F-4D97-AF65-F5344CB8AC3E}">
        <p14:creationId xmlns:p14="http://schemas.microsoft.com/office/powerpoint/2010/main" val="38555839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01AFDC-9E11-494E-8CA8-3AF2B93C4D8F}"/>
              </a:ext>
            </a:extLst>
          </p:cNvPr>
          <p:cNvSpPr>
            <a:spLocks noGrp="1"/>
          </p:cNvSpPr>
          <p:nvPr>
            <p:ph type="title"/>
          </p:nvPr>
        </p:nvSpPr>
        <p:spPr/>
        <p:txBody>
          <a:bodyPr/>
          <a:lstStyle/>
          <a:p>
            <a:r>
              <a:rPr lang="en-US" altLang="ko-KR" dirty="0"/>
              <a:t>Link 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731453FA-5383-4DD5-B8A4-154FACB23522}"/>
                  </a:ext>
                </a:extLst>
              </p:cNvPr>
              <p:cNvSpPr>
                <a:spLocks noGrp="1"/>
              </p:cNvSpPr>
              <p:nvPr>
                <p:ph type="body" idx="1"/>
              </p:nvPr>
            </p:nvSpPr>
            <p:spPr>
              <a:xfrm>
                <a:off x="938499" y="1530747"/>
                <a:ext cx="6743413" cy="2760900"/>
              </a:xfrm>
            </p:spPr>
            <p:txBody>
              <a:bodyPr/>
              <a:lstStyle/>
              <a:p>
                <a:r>
                  <a:rPr lang="en-US" altLang="ko-KR" dirty="0"/>
                  <a:t>Receive Antenna Gain, </a:t>
                </a:r>
                <a14:m>
                  <m:oMath xmlns:m="http://schemas.openxmlformats.org/officeDocument/2006/math">
                    <m:sSub>
                      <m:sSubPr>
                        <m:ctrlPr>
                          <a:rPr lang="ko-KR" altLang="ko-KR" i="1">
                            <a:latin typeface="Cambria Math" panose="02040503050406030204" pitchFamily="18" charset="0"/>
                          </a:rPr>
                        </m:ctrlPr>
                      </m:sSubPr>
                      <m:e>
                        <m:r>
                          <a:rPr lang="en-US" altLang="ko-KR" i="1">
                            <a:latin typeface="Cambria Math" panose="02040503050406030204" pitchFamily="18" charset="0"/>
                          </a:rPr>
                          <m:t>𝐺</m:t>
                        </m:r>
                      </m:e>
                      <m:sub>
                        <m:r>
                          <a:rPr lang="en-US" altLang="ko-KR" i="1">
                            <a:latin typeface="Cambria Math" panose="02040503050406030204" pitchFamily="18" charset="0"/>
                          </a:rPr>
                          <m:t>𝑟</m:t>
                        </m:r>
                      </m:sub>
                    </m:sSub>
                  </m:oMath>
                </a14:m>
                <a:endParaRPr lang="ko-KR" altLang="ko-KR" dirty="0"/>
              </a:p>
              <a:p>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ko-KR" altLang="en-US" dirty="0" err="1"/>
                  <a:t>지상국</a:t>
                </a:r>
                <a:r>
                  <a:rPr lang="ko-KR" altLang="en-US" dirty="0"/>
                  <a:t> </a:t>
                </a:r>
                <a:r>
                  <a:rPr lang="en-US" altLang="ko-KR" dirty="0"/>
                  <a:t>Downlink Antenna Gain</a:t>
                </a:r>
              </a:p>
              <a:p>
                <a:pPr marL="139700" indent="0">
                  <a:buNone/>
                </a:pPr>
                <a:r>
                  <a:rPr lang="en-US" altLang="ko-KR" dirty="0"/>
                  <a:t>40.9dBi</a:t>
                </a:r>
              </a:p>
              <a:p>
                <a:pPr marL="139700" indent="0">
                  <a:buNone/>
                </a:pPr>
                <a:endParaRPr lang="en-US" altLang="ko-KR" dirty="0"/>
              </a:p>
              <a:p>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Boltzmann’s constant</a:t>
                </a:r>
              </a:p>
              <a:p>
                <a:pPr marL="139700" indent="0">
                  <a:buNone/>
                </a:pPr>
                <a:endParaRPr lang="en-US" altLang="ko-KR" kern="100" dirty="0">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en-US" altLang="ko-KR" dirty="0">
                    <a:effectLst/>
                    <a:latin typeface="맑은 고딕" panose="020B0503020000020004" pitchFamily="50" charset="-127"/>
                    <a:cs typeface="Times New Roman" panose="02020603050405020304" pitchFamily="18" charset="0"/>
                  </a:rPr>
                  <a:t>1.380 6488 × 10</a:t>
                </a:r>
                <a:r>
                  <a:rPr lang="ko-KR" altLang="ko-KR" baseline="30000" dirty="0">
                    <a:effectLst/>
                    <a:ea typeface="바탕" panose="02030600000101010101" pitchFamily="18" charset="-127"/>
                    <a:cs typeface="바탕" panose="02030600000101010101" pitchFamily="18" charset="-127"/>
                  </a:rPr>
                  <a:t>−</a:t>
                </a:r>
                <a:r>
                  <a:rPr lang="en-US" altLang="ko-KR" baseline="30000" dirty="0">
                    <a:effectLst/>
                    <a:latin typeface="맑은 고딕" panose="020B0503020000020004" pitchFamily="50" charset="-127"/>
                    <a:cs typeface="Times New Roman" panose="02020603050405020304" pitchFamily="18" charset="0"/>
                  </a:rPr>
                  <a:t>23</a:t>
                </a:r>
                <a:r>
                  <a:rPr lang="en-US" altLang="ko-KR" dirty="0">
                    <a:effectLst/>
                    <a:latin typeface="맑은 고딕" panose="020B0503020000020004" pitchFamily="50" charset="-127"/>
                    <a:cs typeface="Times New Roman" panose="02020603050405020304" pitchFamily="18" charset="0"/>
                  </a:rPr>
                  <a:t>J/K</a:t>
                </a:r>
                <a:r>
                  <a:rPr lang="ko-KR" altLang="en-US" kern="100" dirty="0">
                    <a:effectLst/>
                    <a:latin typeface="맑은 고딕" panose="020B0503020000020004" pitchFamily="50" charset="-127"/>
                    <a:ea typeface="맑은 고딕" panose="020B0503020000020004" pitchFamily="50" charset="-127"/>
                    <a:cs typeface="Times New Roman" panose="02020603050405020304" pitchFamily="18" charset="0"/>
                  </a:rPr>
                  <a:t>를 계산을 위해</a:t>
                </a:r>
                <a:r>
                  <a:rPr lang="en-US" altLang="ko-KR" kern="100" dirty="0" err="1">
                    <a:latin typeface="맑은 고딕" panose="020B0503020000020004" pitchFamily="50" charset="-127"/>
                    <a:ea typeface="맑은 고딕" panose="020B0503020000020004" pitchFamily="50" charset="-127"/>
                    <a:cs typeface="Times New Roman" panose="02020603050405020304" pitchFamily="18" charset="0"/>
                  </a:rPr>
                  <a:t>dBscale</a:t>
                </a:r>
                <a:r>
                  <a:rPr lang="ko-KR" altLang="en-US" kern="100" dirty="0">
                    <a:latin typeface="맑은 고딕" panose="020B0503020000020004" pitchFamily="50" charset="-127"/>
                    <a:ea typeface="맑은 고딕" panose="020B0503020000020004" pitchFamily="50" charset="-127"/>
                    <a:cs typeface="Times New Roman" panose="02020603050405020304" pitchFamily="18" charset="0"/>
                  </a:rPr>
                  <a:t>로 변환</a:t>
                </a:r>
                <a:endParaRPr lang="en-US" altLang="ko-KR" kern="100" dirty="0">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-228.6dB</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endParaRPr lang="en-US" altLang="ko-KR" dirty="0"/>
              </a:p>
            </p:txBody>
          </p:sp>
        </mc:Choice>
        <mc:Fallback xmlns="">
          <p:sp>
            <p:nvSpPr>
              <p:cNvPr id="3" name="텍스트 개체 틀 2">
                <a:extLst>
                  <a:ext uri="{FF2B5EF4-FFF2-40B4-BE49-F238E27FC236}">
                    <a16:creationId xmlns:a16="http://schemas.microsoft.com/office/drawing/2014/main" id="{731453FA-5383-4DD5-B8A4-154FACB23522}"/>
                  </a:ext>
                </a:extLst>
              </p:cNvPr>
              <p:cNvSpPr>
                <a:spLocks noGrp="1" noRot="1" noChangeAspect="1" noMove="1" noResize="1" noEditPoints="1" noAdjustHandles="1" noChangeArrowheads="1" noChangeShapeType="1" noTextEdit="1"/>
              </p:cNvSpPr>
              <p:nvPr>
                <p:ph type="body" idx="1"/>
              </p:nvPr>
            </p:nvSpPr>
            <p:spPr>
              <a:xfrm>
                <a:off x="938499" y="1530747"/>
                <a:ext cx="6743413" cy="2760900"/>
              </a:xfrm>
              <a:blipFill>
                <a:blip r:embed="rId2"/>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1065814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01AFDC-9E11-494E-8CA8-3AF2B93C4D8F}"/>
              </a:ext>
            </a:extLst>
          </p:cNvPr>
          <p:cNvSpPr>
            <a:spLocks noGrp="1"/>
          </p:cNvSpPr>
          <p:nvPr>
            <p:ph type="title"/>
          </p:nvPr>
        </p:nvSpPr>
        <p:spPr/>
        <p:txBody>
          <a:bodyPr/>
          <a:lstStyle/>
          <a:p>
            <a:r>
              <a:rPr lang="en-US" altLang="ko-KR" dirty="0"/>
              <a:t>Link 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731453FA-5383-4DD5-B8A4-154FACB23522}"/>
                  </a:ext>
                </a:extLst>
              </p:cNvPr>
              <p:cNvSpPr>
                <a:spLocks noGrp="1"/>
              </p:cNvSpPr>
              <p:nvPr>
                <p:ph type="body" idx="1"/>
              </p:nvPr>
            </p:nvSpPr>
            <p:spPr>
              <a:xfrm>
                <a:off x="938499" y="1530747"/>
                <a:ext cx="6743413" cy="2760900"/>
              </a:xfrm>
            </p:spPr>
            <p:txBody>
              <a:bodyPr/>
              <a:lstStyle/>
              <a:p>
                <a:r>
                  <a:rPr lang="en-US" altLang="ko-KR" dirty="0"/>
                  <a:t>System Noise Temperature, </a:t>
                </a:r>
                <a14:m>
                  <m:oMath xmlns:m="http://schemas.openxmlformats.org/officeDocument/2006/math">
                    <m:sSub>
                      <m:sSubPr>
                        <m:ctrlPr>
                          <a:rPr lang="ko-KR" altLang="ko-KR" i="1">
                            <a:latin typeface="Cambria Math" panose="02040503050406030204" pitchFamily="18" charset="0"/>
                          </a:rPr>
                        </m:ctrlPr>
                      </m:sSubPr>
                      <m:e>
                        <m:r>
                          <a:rPr lang="en-US" altLang="ko-KR" i="1">
                            <a:latin typeface="Cambria Math" panose="02040503050406030204" pitchFamily="18" charset="0"/>
                          </a:rPr>
                          <m:t>𝑇</m:t>
                        </m:r>
                      </m:e>
                      <m:sub>
                        <m:r>
                          <a:rPr lang="en-US" altLang="ko-KR" i="1">
                            <a:latin typeface="Cambria Math" panose="02040503050406030204" pitchFamily="18" charset="0"/>
                          </a:rPr>
                          <m:t>𝑠</m:t>
                        </m:r>
                      </m:sub>
                    </m:sSub>
                  </m:oMath>
                </a14:m>
                <a:endParaRPr lang="ko-KR" altLang="ko-KR" dirty="0"/>
              </a:p>
              <a:p>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en-US" altLang="ko-KR" dirty="0"/>
                  <a:t>Antenna Noise, Receiver Noise, Line Loss Noise</a:t>
                </a:r>
                <a:r>
                  <a:rPr lang="ko-KR" altLang="en-US" dirty="0"/>
                  <a:t>로 구성되는 모델 이용</a:t>
                </a:r>
                <a:endParaRPr lang="en-US" altLang="ko-KR" dirty="0"/>
              </a:p>
              <a:p>
                <a:pPr marL="139700" indent="0">
                  <a:buNone/>
                </a:pPr>
                <a:r>
                  <a:rPr lang="en-US" altLang="ko-KR" dirty="0"/>
                  <a:t>21.3dB</a:t>
                </a:r>
              </a:p>
              <a:p>
                <a:pPr marL="139700" indent="0">
                  <a:buNone/>
                </a:pPr>
                <a:endParaRPr lang="en-US" altLang="ko-KR" dirty="0"/>
              </a:p>
              <a:p>
                <a:pPr marL="139700" indent="0">
                  <a:buNone/>
                </a:pPr>
                <a:endParaRPr lang="en-US" altLang="ko-KR" dirty="0"/>
              </a:p>
              <a:p>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Data Rate, </a:t>
                </a:r>
                <a14:m>
                  <m:oMath xmlns:m="http://schemas.openxmlformats.org/officeDocument/2006/math">
                    <m:r>
                      <a:rPr lang="en-US" altLang="ko-KR" i="1" smtClean="0">
                        <a:effectLst/>
                        <a:latin typeface="Cambria Math" panose="02040503050406030204" pitchFamily="18" charset="0"/>
                        <a:ea typeface="맑은 고딕" panose="020B0503020000020004" pitchFamily="50" charset="-127"/>
                        <a:cs typeface="Times New Roman" panose="02020603050405020304" pitchFamily="18" charset="0"/>
                      </a:rPr>
                      <m:t>𝑅</m:t>
                    </m:r>
                  </m:oMath>
                </a14:m>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endParaRPr lang="en-US" altLang="ko-KR" dirty="0"/>
              </a:p>
              <a:p>
                <a:pPr marL="139700" indent="0">
                  <a:buNone/>
                </a:pPr>
                <a:r>
                  <a:rPr lang="en-US" altLang="ko-KR" dirty="0"/>
                  <a:t>64kbps</a:t>
                </a:r>
                <a:r>
                  <a:rPr lang="ko-KR" altLang="en-US" dirty="0"/>
                  <a:t>를 </a:t>
                </a:r>
                <a:r>
                  <a:rPr lang="en-US" altLang="ko-KR" dirty="0" err="1"/>
                  <a:t>dBscale</a:t>
                </a:r>
                <a:r>
                  <a:rPr lang="ko-KR" altLang="en-US" dirty="0"/>
                  <a:t>로 변환</a:t>
                </a:r>
                <a:endParaRPr lang="en-US" altLang="ko-KR" dirty="0"/>
              </a:p>
              <a:p>
                <a:pPr marL="139700" indent="0">
                  <a:buNone/>
                </a:pPr>
                <a:r>
                  <a:rPr lang="en-US" altLang="ko-KR" dirty="0"/>
                  <a:t>48dB</a:t>
                </a:r>
              </a:p>
            </p:txBody>
          </p:sp>
        </mc:Choice>
        <mc:Fallback xmlns="">
          <p:sp>
            <p:nvSpPr>
              <p:cNvPr id="3" name="텍스트 개체 틀 2">
                <a:extLst>
                  <a:ext uri="{FF2B5EF4-FFF2-40B4-BE49-F238E27FC236}">
                    <a16:creationId xmlns:a16="http://schemas.microsoft.com/office/drawing/2014/main" id="{731453FA-5383-4DD5-B8A4-154FACB23522}"/>
                  </a:ext>
                </a:extLst>
              </p:cNvPr>
              <p:cNvSpPr>
                <a:spLocks noGrp="1" noRot="1" noChangeAspect="1" noMove="1" noResize="1" noEditPoints="1" noAdjustHandles="1" noChangeArrowheads="1" noChangeShapeType="1" noTextEdit="1"/>
              </p:cNvSpPr>
              <p:nvPr>
                <p:ph type="body" idx="1"/>
              </p:nvPr>
            </p:nvSpPr>
            <p:spPr>
              <a:xfrm>
                <a:off x="938499" y="1530747"/>
                <a:ext cx="6743413" cy="2760900"/>
              </a:xfrm>
              <a:blipFill>
                <a:blip r:embed="rId2"/>
                <a:stretch>
                  <a:fillRect/>
                </a:stretch>
              </a:blipFill>
            </p:spPr>
            <p:txBody>
              <a:bodyPr/>
              <a:lstStyle/>
              <a:p>
                <a:r>
                  <a:rPr lang="ko-KR" altLang="en-US">
                    <a:noFill/>
                  </a:rPr>
                  <a:t> </a:t>
                </a:r>
              </a:p>
            </p:txBody>
          </p:sp>
        </mc:Fallback>
      </mc:AlternateContent>
      <p:pic>
        <p:nvPicPr>
          <p:cNvPr id="4" name="그림 3">
            <a:extLst>
              <a:ext uri="{FF2B5EF4-FFF2-40B4-BE49-F238E27FC236}">
                <a16:creationId xmlns:a16="http://schemas.microsoft.com/office/drawing/2014/main" id="{10894C8B-12DF-486E-9389-9902C8175E3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38713" y="2964786"/>
            <a:ext cx="3709988" cy="1326861"/>
          </a:xfrm>
          <a:prstGeom prst="rect">
            <a:avLst/>
          </a:prstGeom>
          <a:noFill/>
          <a:ln>
            <a:noFill/>
          </a:ln>
        </p:spPr>
      </p:pic>
    </p:spTree>
    <p:extLst>
      <p:ext uri="{BB962C8B-B14F-4D97-AF65-F5344CB8AC3E}">
        <p14:creationId xmlns:p14="http://schemas.microsoft.com/office/powerpoint/2010/main" val="26530585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01AFDC-9E11-494E-8CA8-3AF2B93C4D8F}"/>
              </a:ext>
            </a:extLst>
          </p:cNvPr>
          <p:cNvSpPr>
            <a:spLocks noGrp="1"/>
          </p:cNvSpPr>
          <p:nvPr>
            <p:ph type="title"/>
          </p:nvPr>
        </p:nvSpPr>
        <p:spPr>
          <a:xfrm>
            <a:off x="938499" y="430737"/>
            <a:ext cx="4629300" cy="941400"/>
          </a:xfrm>
        </p:spPr>
        <p:txBody>
          <a:bodyPr/>
          <a:lstStyle/>
          <a:p>
            <a:r>
              <a:rPr lang="en-US" altLang="ko-KR" dirty="0"/>
              <a:t>Link Analysis</a:t>
            </a:r>
            <a:endParaRPr lang="ko-KR" altLang="en-US" dirty="0"/>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731453FA-5383-4DD5-B8A4-154FACB23522}"/>
                  </a:ext>
                </a:extLst>
              </p:cNvPr>
              <p:cNvSpPr>
                <a:spLocks noGrp="1"/>
              </p:cNvSpPr>
              <p:nvPr>
                <p:ph type="body" idx="1"/>
              </p:nvPr>
            </p:nvSpPr>
            <p:spPr>
              <a:xfrm>
                <a:off x="938499" y="1530747"/>
                <a:ext cx="6743413" cy="2760900"/>
              </a:xfrm>
            </p:spPr>
            <p:txBody>
              <a:bodyPr/>
              <a:lstStyle/>
              <a:p>
                <a:r>
                  <a:rPr lang="en-US" altLang="ko-KR" dirty="0"/>
                  <a:t>Required </a:t>
                </a:r>
                <a14:m>
                  <m:oMath xmlns:m="http://schemas.openxmlformats.org/officeDocument/2006/math">
                    <m:f>
                      <m:fPr>
                        <m:ctrlPr>
                          <a:rPr lang="ko-KR" altLang="ko-KR" i="1" smtClean="0">
                            <a:effectLst/>
                            <a:latin typeface="Cambria Math" panose="02040503050406030204" pitchFamily="18" charset="0"/>
                            <a:ea typeface="Cambria Math" panose="02040503050406030204" pitchFamily="18" charset="0"/>
                          </a:rPr>
                        </m:ctrlPr>
                      </m:fPr>
                      <m:num>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𝐸</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𝑏</m:t>
                            </m:r>
                          </m:sub>
                        </m:sSub>
                      </m:num>
                      <m:den>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𝑁</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𝑜</m:t>
                            </m:r>
                          </m:sub>
                        </m:sSub>
                      </m:den>
                    </m:f>
                  </m:oMath>
                </a14:m>
                <a:r>
                  <a:rPr lang="en-US" altLang="ko-KR" dirty="0"/>
                  <a:t> : 14dB</a:t>
                </a:r>
              </a:p>
              <a:p>
                <a:endParaRPr lang="en-US" altLang="ko-KR" dirty="0"/>
              </a:p>
              <a:p>
                <a:r>
                  <a:rPr lang="en-US" altLang="ko-KR" dirty="0"/>
                  <a:t>Actual </a:t>
                </a:r>
                <a14:m>
                  <m:oMath xmlns:m="http://schemas.openxmlformats.org/officeDocument/2006/math">
                    <m:f>
                      <m:fPr>
                        <m:ctrlPr>
                          <a:rPr lang="ko-KR" altLang="ko-KR" i="1" smtClean="0">
                            <a:effectLst/>
                            <a:latin typeface="Cambria Math" panose="02040503050406030204" pitchFamily="18" charset="0"/>
                            <a:ea typeface="Cambria Math" panose="02040503050406030204" pitchFamily="18" charset="0"/>
                          </a:rPr>
                        </m:ctrlPr>
                      </m:fPr>
                      <m:num>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𝐸</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𝑏</m:t>
                            </m:r>
                          </m:sub>
                        </m:sSub>
                      </m:num>
                      <m:den>
                        <m:sSub>
                          <m:sSubPr>
                            <m:ctrlPr>
                              <a:rPr lang="ko-KR" altLang="ko-KR" i="1">
                                <a:effectLst/>
                                <a:latin typeface="Cambria Math" panose="02040503050406030204" pitchFamily="18" charset="0"/>
                                <a:ea typeface="Cambria Math" panose="02040503050406030204" pitchFamily="18" charset="0"/>
                              </a:rPr>
                            </m:ctrlPr>
                          </m:sSubPr>
                          <m:e>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𝑁</m:t>
                            </m:r>
                          </m:e>
                          <m:sub>
                            <m:r>
                              <a:rPr lang="en-US" altLang="ko-KR" sz="1800" i="1">
                                <a:effectLst/>
                                <a:latin typeface="Cambria Math" panose="02040503050406030204" pitchFamily="18" charset="0"/>
                                <a:ea typeface="맑은 고딕" panose="020B0503020000020004" pitchFamily="50" charset="-127"/>
                                <a:cs typeface="Times New Roman" panose="02020603050405020304" pitchFamily="18" charset="0"/>
                              </a:rPr>
                              <m:t>𝑜</m:t>
                            </m:r>
                          </m:sub>
                        </m:sSub>
                      </m:den>
                    </m:f>
                  </m:oMath>
                </a14:m>
                <a:r>
                  <a:rPr lang="en-US" altLang="ko-KR" dirty="0"/>
                  <a:t> : 28.1dB</a:t>
                </a:r>
              </a:p>
              <a:p>
                <a:endParaRPr lang="en-US" altLang="ko-KR" dirty="0"/>
              </a:p>
              <a:p>
                <a:r>
                  <a:rPr lang="en-US" altLang="ko-KR" dirty="0"/>
                  <a:t>Implementation Loss : -2dB</a:t>
                </a:r>
              </a:p>
              <a:p>
                <a:endParaRPr lang="en-US" altLang="ko-KR" dirty="0"/>
              </a:p>
              <a:p>
                <a:endParaRPr lang="en-US" altLang="ko-KR" dirty="0"/>
              </a:p>
              <a:p>
                <a:r>
                  <a:rPr lang="en-US" altLang="ko-KR" dirty="0"/>
                  <a:t>Link Margin : 12.1dB</a:t>
                </a:r>
              </a:p>
            </p:txBody>
          </p:sp>
        </mc:Choice>
        <mc:Fallback xmlns="">
          <p:sp>
            <p:nvSpPr>
              <p:cNvPr id="3" name="텍스트 개체 틀 2">
                <a:extLst>
                  <a:ext uri="{FF2B5EF4-FFF2-40B4-BE49-F238E27FC236}">
                    <a16:creationId xmlns:a16="http://schemas.microsoft.com/office/drawing/2014/main" id="{731453FA-5383-4DD5-B8A4-154FACB23522}"/>
                  </a:ext>
                </a:extLst>
              </p:cNvPr>
              <p:cNvSpPr>
                <a:spLocks noGrp="1" noRot="1" noChangeAspect="1" noMove="1" noResize="1" noEditPoints="1" noAdjustHandles="1" noChangeArrowheads="1" noChangeShapeType="1" noTextEdit="1"/>
              </p:cNvSpPr>
              <p:nvPr>
                <p:ph type="body" idx="1"/>
              </p:nvPr>
            </p:nvSpPr>
            <p:spPr>
              <a:xfrm>
                <a:off x="938499" y="1530747"/>
                <a:ext cx="6743413" cy="2760900"/>
              </a:xfrm>
              <a:blipFill>
                <a:blip r:embed="rId2"/>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39604263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D80813-828C-49F5-A248-2B9283E24C2C}"/>
              </a:ext>
            </a:extLst>
          </p:cNvPr>
          <p:cNvSpPr>
            <a:spLocks noGrp="1"/>
          </p:cNvSpPr>
          <p:nvPr>
            <p:ph type="title"/>
          </p:nvPr>
        </p:nvSpPr>
        <p:spPr/>
        <p:txBody>
          <a:bodyPr/>
          <a:lstStyle/>
          <a:p>
            <a:r>
              <a:rPr lang="en-US" altLang="ko-KR" dirty="0"/>
              <a:t>Ground Station</a:t>
            </a:r>
            <a:endParaRPr lang="ko-KR" altLang="en-US" dirty="0"/>
          </a:p>
        </p:txBody>
      </p:sp>
      <p:sp>
        <p:nvSpPr>
          <p:cNvPr id="3" name="텍스트 개체 틀 2">
            <a:extLst>
              <a:ext uri="{FF2B5EF4-FFF2-40B4-BE49-F238E27FC236}">
                <a16:creationId xmlns:a16="http://schemas.microsoft.com/office/drawing/2014/main" id="{6F33C7E9-F167-41C5-8D81-2C767204A921}"/>
              </a:ext>
            </a:extLst>
          </p:cNvPr>
          <p:cNvSpPr>
            <a:spLocks noGrp="1"/>
          </p:cNvSpPr>
          <p:nvPr>
            <p:ph type="body" idx="1"/>
          </p:nvPr>
        </p:nvSpPr>
        <p:spPr>
          <a:xfrm>
            <a:off x="938500" y="1571624"/>
            <a:ext cx="3890675" cy="2760900"/>
          </a:xfrm>
        </p:spPr>
        <p:txBody>
          <a:bodyPr/>
          <a:lstStyle/>
          <a:p>
            <a:r>
              <a:rPr lang="en-US" altLang="ko-KR" dirty="0">
                <a:effectLst/>
                <a:latin typeface="맑은 고딕" panose="020B0503020000020004" pitchFamily="50" charset="-127"/>
                <a:cs typeface="Times New Roman" panose="02020603050405020304" pitchFamily="18" charset="0"/>
              </a:rPr>
              <a:t>CPI SAT Series 1374 C-Band </a:t>
            </a:r>
            <a:r>
              <a:rPr lang="en-US" altLang="ko-KR" dirty="0" err="1">
                <a:effectLst/>
                <a:latin typeface="맑은 고딕" panose="020B0503020000020004" pitchFamily="50" charset="-127"/>
                <a:cs typeface="Times New Roman" panose="02020603050405020304" pitchFamily="18" charset="0"/>
              </a:rPr>
              <a:t>RxO</a:t>
            </a:r>
            <a:endParaRPr lang="en-US" altLang="ko-KR" dirty="0">
              <a:effectLst/>
              <a:latin typeface="맑은 고딕" panose="020B0503020000020004" pitchFamily="50" charset="-127"/>
              <a:cs typeface="Times New Roman" panose="02020603050405020304" pitchFamily="18" charset="0"/>
            </a:endParaRPr>
          </a:p>
          <a:p>
            <a:endParaRPr lang="en-US" altLang="ko-KR" dirty="0">
              <a:latin typeface="맑은 고딕" panose="020B0503020000020004" pitchFamily="50" charset="-127"/>
              <a:cs typeface="Times New Roman" panose="02020603050405020304" pitchFamily="18" charset="0"/>
            </a:endParaRPr>
          </a:p>
          <a:p>
            <a:pPr marL="139700" indent="0" algn="just" latinLnBrk="1">
              <a:lnSpc>
                <a:spcPct val="115000"/>
              </a:lnSpc>
              <a:spcAft>
                <a:spcPts val="1000"/>
              </a:spcAft>
              <a:buNone/>
            </a:pPr>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Antenna Diameter : 3.7m</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lgn="just" latinLnBrk="1">
              <a:lnSpc>
                <a:spcPct val="115000"/>
              </a:lnSpc>
              <a:spcAft>
                <a:spcPts val="1000"/>
              </a:spcAft>
              <a:buNone/>
            </a:pPr>
            <a:r>
              <a:rPr lang="en-US" altLang="ko-KR" kern="100" dirty="0">
                <a:effectLst/>
                <a:latin typeface="맑은 고딕" panose="020B0503020000020004" pitchFamily="50" charset="-127"/>
                <a:ea typeface="맑은 고딕" panose="020B0503020000020004" pitchFamily="50" charset="-127"/>
                <a:cs typeface="Times New Roman" panose="02020603050405020304" pitchFamily="18" charset="0"/>
              </a:rPr>
              <a:t>Operating Frequency : 3.4~4.2GHz</a:t>
            </a:r>
            <a:endParaRPr lang="ko-KR" altLang="ko-KR"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p>
            <a:pPr marL="139700" indent="0">
              <a:buNone/>
            </a:pPr>
            <a:r>
              <a:rPr lang="en-US" altLang="ko-KR" dirty="0" err="1">
                <a:effectLst/>
                <a:latin typeface="맑은 고딕" panose="020B0503020000020004" pitchFamily="50" charset="-127"/>
                <a:cs typeface="Times New Roman" panose="02020603050405020304" pitchFamily="18" charset="0"/>
              </a:rPr>
              <a:t>Midband</a:t>
            </a:r>
            <a:r>
              <a:rPr lang="en-US" altLang="ko-KR" dirty="0">
                <a:effectLst/>
                <a:latin typeface="맑은 고딕" panose="020B0503020000020004" pitchFamily="50" charset="-127"/>
                <a:cs typeface="Times New Roman" panose="02020603050405020304" pitchFamily="18" charset="0"/>
              </a:rPr>
              <a:t> Gain : 40.9dBi</a:t>
            </a:r>
            <a:endParaRPr lang="ko-KR" altLang="en-US" dirty="0"/>
          </a:p>
        </p:txBody>
      </p:sp>
      <p:pic>
        <p:nvPicPr>
          <p:cNvPr id="8" name="그림 7" descr="CPI SAT Series 1374 C-Band RxO 3.7 Meter VSAT Antenna">
            <a:extLst>
              <a:ext uri="{FF2B5EF4-FFF2-40B4-BE49-F238E27FC236}">
                <a16:creationId xmlns:a16="http://schemas.microsoft.com/office/drawing/2014/main" id="{155F6F5D-B12E-45B8-8106-CCC6E890E1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03837" y="1571624"/>
            <a:ext cx="2936875" cy="2752725"/>
          </a:xfrm>
          <a:prstGeom prst="rect">
            <a:avLst/>
          </a:prstGeom>
          <a:noFill/>
          <a:ln>
            <a:noFill/>
          </a:ln>
        </p:spPr>
      </p:pic>
      <p:pic>
        <p:nvPicPr>
          <p:cNvPr id="4097" name="그림 22" descr="CPI SAT Series 1374 C-Band RxO 3.7 Meter VSAT Antenna">
            <a:extLst>
              <a:ext uri="{FF2B5EF4-FFF2-40B4-BE49-F238E27FC236}">
                <a16:creationId xmlns:a16="http://schemas.microsoft.com/office/drawing/2014/main" id="{AA8C5E87-2703-4285-BF53-DA966AE16B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933700" cy="275272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CPI SAT Series 1374 C-Band RxO 3.7 Meter VSAT Antenna">
            <a:extLst>
              <a:ext uri="{FF2B5EF4-FFF2-40B4-BE49-F238E27FC236}">
                <a16:creationId xmlns:a16="http://schemas.microsoft.com/office/drawing/2014/main" id="{3EB07F83-E1E6-4398-A168-AC25BF425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933700" cy="275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5361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8F85D9E9-3E80-4BA9-90C7-54FA7FB036B0}"/>
              </a:ext>
            </a:extLst>
          </p:cNvPr>
          <p:cNvSpPr/>
          <p:nvPr/>
        </p:nvSpPr>
        <p:spPr>
          <a:xfrm>
            <a:off x="1652588" y="1557338"/>
            <a:ext cx="5872162" cy="202882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23D80813-828C-49F5-A248-2B9283E24C2C}"/>
              </a:ext>
            </a:extLst>
          </p:cNvPr>
          <p:cNvSpPr>
            <a:spLocks noGrp="1"/>
          </p:cNvSpPr>
          <p:nvPr>
            <p:ph type="title"/>
          </p:nvPr>
        </p:nvSpPr>
        <p:spPr/>
        <p:txBody>
          <a:bodyPr/>
          <a:lstStyle/>
          <a:p>
            <a:r>
              <a:rPr lang="en-US" altLang="ko-KR" dirty="0"/>
              <a:t>TT&amp;C Data Diagram</a:t>
            </a:r>
            <a:endParaRPr lang="ko-KR" altLang="en-US" dirty="0"/>
          </a:p>
        </p:txBody>
      </p:sp>
      <p:pic>
        <p:nvPicPr>
          <p:cNvPr id="9" name="그림 8">
            <a:extLst>
              <a:ext uri="{FF2B5EF4-FFF2-40B4-BE49-F238E27FC236}">
                <a16:creationId xmlns:a16="http://schemas.microsoft.com/office/drawing/2014/main" id="{23410990-A17C-4C85-A1D6-6330605D15B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8152" y="1628457"/>
            <a:ext cx="5687695" cy="1886585"/>
          </a:xfrm>
          <a:prstGeom prst="rect">
            <a:avLst/>
          </a:prstGeom>
          <a:noFill/>
        </p:spPr>
      </p:pic>
    </p:spTree>
    <p:extLst>
      <p:ext uri="{BB962C8B-B14F-4D97-AF65-F5344CB8AC3E}">
        <p14:creationId xmlns:p14="http://schemas.microsoft.com/office/powerpoint/2010/main" val="9826288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D80813-828C-49F5-A248-2B9283E24C2C}"/>
              </a:ext>
            </a:extLst>
          </p:cNvPr>
          <p:cNvSpPr>
            <a:spLocks noGrp="1"/>
          </p:cNvSpPr>
          <p:nvPr>
            <p:ph type="title"/>
          </p:nvPr>
        </p:nvSpPr>
        <p:spPr/>
        <p:txBody>
          <a:bodyPr/>
          <a:lstStyle/>
          <a:p>
            <a:r>
              <a:rPr lang="en-US" altLang="ko-KR" dirty="0"/>
              <a:t>TT&amp;C Hardware</a:t>
            </a:r>
            <a:endParaRPr lang="ko-KR" altLang="en-US" dirty="0"/>
          </a:p>
        </p:txBody>
      </p:sp>
      <p:graphicFrame>
        <p:nvGraphicFramePr>
          <p:cNvPr id="4" name="표 4">
            <a:extLst>
              <a:ext uri="{FF2B5EF4-FFF2-40B4-BE49-F238E27FC236}">
                <a16:creationId xmlns:a16="http://schemas.microsoft.com/office/drawing/2014/main" id="{D8B6CA3C-559D-4657-8BD8-7ED029E06309}"/>
              </a:ext>
            </a:extLst>
          </p:cNvPr>
          <p:cNvGraphicFramePr>
            <a:graphicFrameLocks noGrp="1"/>
          </p:cNvGraphicFramePr>
          <p:nvPr/>
        </p:nvGraphicFramePr>
        <p:xfrm>
          <a:off x="504825" y="1057464"/>
          <a:ext cx="8134350" cy="3626167"/>
        </p:xfrm>
        <a:graphic>
          <a:graphicData uri="http://schemas.openxmlformats.org/drawingml/2006/table">
            <a:tbl>
              <a:tblPr firstRow="1" bandRow="1">
                <a:tableStyleId>{FABFCF23-3B69-468F-B69F-88F6DE6A72F2}</a:tableStyleId>
              </a:tblPr>
              <a:tblGrid>
                <a:gridCol w="1355725">
                  <a:extLst>
                    <a:ext uri="{9D8B030D-6E8A-4147-A177-3AD203B41FA5}">
                      <a16:colId xmlns:a16="http://schemas.microsoft.com/office/drawing/2014/main" val="122400602"/>
                    </a:ext>
                  </a:extLst>
                </a:gridCol>
                <a:gridCol w="1355725">
                  <a:extLst>
                    <a:ext uri="{9D8B030D-6E8A-4147-A177-3AD203B41FA5}">
                      <a16:colId xmlns:a16="http://schemas.microsoft.com/office/drawing/2014/main" val="3181681271"/>
                    </a:ext>
                  </a:extLst>
                </a:gridCol>
                <a:gridCol w="1355725">
                  <a:extLst>
                    <a:ext uri="{9D8B030D-6E8A-4147-A177-3AD203B41FA5}">
                      <a16:colId xmlns:a16="http://schemas.microsoft.com/office/drawing/2014/main" val="2239400436"/>
                    </a:ext>
                  </a:extLst>
                </a:gridCol>
                <a:gridCol w="1355725">
                  <a:extLst>
                    <a:ext uri="{9D8B030D-6E8A-4147-A177-3AD203B41FA5}">
                      <a16:colId xmlns:a16="http://schemas.microsoft.com/office/drawing/2014/main" val="2196078975"/>
                    </a:ext>
                  </a:extLst>
                </a:gridCol>
                <a:gridCol w="1355725">
                  <a:extLst>
                    <a:ext uri="{9D8B030D-6E8A-4147-A177-3AD203B41FA5}">
                      <a16:colId xmlns:a16="http://schemas.microsoft.com/office/drawing/2014/main" val="270784566"/>
                    </a:ext>
                  </a:extLst>
                </a:gridCol>
                <a:gridCol w="1355725">
                  <a:extLst>
                    <a:ext uri="{9D8B030D-6E8A-4147-A177-3AD203B41FA5}">
                      <a16:colId xmlns:a16="http://schemas.microsoft.com/office/drawing/2014/main" val="69723290"/>
                    </a:ext>
                  </a:extLst>
                </a:gridCol>
              </a:tblGrid>
              <a:tr h="398145">
                <a:tc>
                  <a:txBody>
                    <a:bodyPr/>
                    <a:lstStyle/>
                    <a:p>
                      <a:pPr algn="ctr" latinLnBrk="1"/>
                      <a:r>
                        <a:rPr lang="en-US" altLang="ko-KR" dirty="0"/>
                        <a:t>C Band Transmitter</a:t>
                      </a:r>
                      <a:endParaRPr lang="ko-KR" altLang="en-US" dirty="0"/>
                    </a:p>
                  </a:txBody>
                  <a:tcPr/>
                </a:tc>
                <a:tc>
                  <a:txBody>
                    <a:bodyPr/>
                    <a:lstStyle/>
                    <a:p>
                      <a:pPr algn="ctr" latinLnBrk="1"/>
                      <a:r>
                        <a:rPr lang="en-US" altLang="ko-KR" dirty="0"/>
                        <a:t>Ka Band</a:t>
                      </a:r>
                    </a:p>
                    <a:p>
                      <a:pPr algn="ctr" latinLnBrk="1"/>
                      <a:r>
                        <a:rPr lang="en-US" altLang="ko-KR" dirty="0"/>
                        <a:t>Transponder</a:t>
                      </a:r>
                      <a:endParaRPr lang="ko-KR" altLang="en-US" dirty="0"/>
                    </a:p>
                  </a:txBody>
                  <a:tcPr/>
                </a:tc>
                <a:tc>
                  <a:txBody>
                    <a:bodyPr/>
                    <a:lstStyle/>
                    <a:p>
                      <a:pPr algn="ctr" latinLnBrk="1"/>
                      <a:r>
                        <a:rPr lang="en-US" altLang="ko-KR" dirty="0"/>
                        <a:t>C Band</a:t>
                      </a:r>
                    </a:p>
                    <a:p>
                      <a:pPr algn="ctr" latinLnBrk="1"/>
                      <a:r>
                        <a:rPr lang="en-US" altLang="ko-KR" dirty="0"/>
                        <a:t>Receiver</a:t>
                      </a:r>
                      <a:endParaRPr lang="ko-KR" altLang="en-US" dirty="0"/>
                    </a:p>
                  </a:txBody>
                  <a:tcPr/>
                </a:tc>
                <a:tc>
                  <a:txBody>
                    <a:bodyPr/>
                    <a:lstStyle/>
                    <a:p>
                      <a:pPr algn="ctr" latinLnBrk="1"/>
                      <a:r>
                        <a:rPr lang="en-US" altLang="ko-KR" dirty="0"/>
                        <a:t>Ka Band</a:t>
                      </a:r>
                    </a:p>
                    <a:p>
                      <a:pPr algn="ctr" latinLnBrk="1"/>
                      <a:r>
                        <a:rPr lang="en-US" altLang="ko-KR" dirty="0"/>
                        <a:t>Receiver</a:t>
                      </a:r>
                      <a:endParaRPr lang="ko-KR" altLang="en-US" dirty="0"/>
                    </a:p>
                  </a:txBody>
                  <a:tcPr/>
                </a:tc>
                <a:tc>
                  <a:txBody>
                    <a:bodyPr/>
                    <a:lstStyle/>
                    <a:p>
                      <a:pPr algn="ctr" latinLnBrk="1"/>
                      <a:r>
                        <a:rPr lang="en-US" altLang="ko-KR" dirty="0"/>
                        <a:t>C Band</a:t>
                      </a:r>
                    </a:p>
                    <a:p>
                      <a:pPr algn="ctr" latinLnBrk="1"/>
                      <a:r>
                        <a:rPr lang="en-US" altLang="ko-KR" dirty="0"/>
                        <a:t>Antenna</a:t>
                      </a:r>
                      <a:endParaRPr lang="ko-KR" altLang="en-US" dirty="0"/>
                    </a:p>
                  </a:txBody>
                  <a:tcPr/>
                </a:tc>
                <a:tc>
                  <a:txBody>
                    <a:bodyPr/>
                    <a:lstStyle/>
                    <a:p>
                      <a:pPr algn="ctr" latinLnBrk="1"/>
                      <a:r>
                        <a:rPr lang="en-US" altLang="ko-KR" dirty="0"/>
                        <a:t>Ka Band Antenna</a:t>
                      </a:r>
                      <a:endParaRPr lang="ko-KR" altLang="en-US" dirty="0"/>
                    </a:p>
                  </a:txBody>
                  <a:tcPr/>
                </a:tc>
                <a:extLst>
                  <a:ext uri="{0D108BD9-81ED-4DB2-BD59-A6C34878D82A}">
                    <a16:rowId xmlns:a16="http://schemas.microsoft.com/office/drawing/2014/main" val="3869085448"/>
                  </a:ext>
                </a:extLst>
              </a:tr>
              <a:tr h="319851">
                <a:tc>
                  <a:txBody>
                    <a:bodyPr/>
                    <a:lstStyle/>
                    <a:p>
                      <a:pPr algn="ctr" latinLnBrk="1"/>
                      <a:r>
                        <a:rPr lang="en-US" altLang="ko-KR" sz="1000" b="0" i="0" u="none" strike="noStrike" cap="none" dirty="0">
                          <a:solidFill>
                            <a:schemeClr val="dk1"/>
                          </a:solidFill>
                          <a:effectLst/>
                          <a:latin typeface="+mn-lt"/>
                          <a:ea typeface="+mn-ea"/>
                          <a:cs typeface="+mn-cs"/>
                          <a:sym typeface="Arial"/>
                        </a:rPr>
                        <a:t>NEC C-TLMTX</a:t>
                      </a:r>
                      <a:endParaRPr lang="ko-KR" altLang="en-US" sz="1000" dirty="0"/>
                    </a:p>
                  </a:txBody>
                  <a:tcPr/>
                </a:tc>
                <a:tc>
                  <a:txBody>
                    <a:bodyPr/>
                    <a:lstStyle/>
                    <a:p>
                      <a:pPr algn="ctr" latinLnBrk="1"/>
                      <a:r>
                        <a:rPr lang="en-US" altLang="ko-KR" sz="1000" dirty="0"/>
                        <a:t>Space Micro µKaTx-300</a:t>
                      </a:r>
                      <a:endParaRPr lang="ko-KR" altLang="en-US" sz="1000" dirty="0"/>
                    </a:p>
                  </a:txBody>
                  <a:tcPr/>
                </a:tc>
                <a:tc>
                  <a:txBody>
                    <a:bodyPr/>
                    <a:lstStyle/>
                    <a:p>
                      <a:pPr algn="ctr" latinLnBrk="1"/>
                      <a:r>
                        <a:rPr lang="en-US" altLang="ko-KR" sz="1000" dirty="0"/>
                        <a:t>NEC C-Band CMDRX</a:t>
                      </a:r>
                      <a:endParaRPr lang="ko-KR" altLang="en-US" sz="1000" dirty="0"/>
                    </a:p>
                  </a:txBody>
                  <a:tcPr/>
                </a:tc>
                <a:tc>
                  <a:txBody>
                    <a:bodyPr/>
                    <a:lstStyle/>
                    <a:p>
                      <a:pPr algn="ctr" latinLnBrk="1"/>
                      <a:r>
                        <a:rPr lang="en-US" altLang="ko-KR" sz="1000" dirty="0"/>
                        <a:t>NEC C30 Series Command Receiver</a:t>
                      </a:r>
                      <a:endParaRPr lang="ko-KR" altLang="en-US" sz="1000" dirty="0"/>
                    </a:p>
                  </a:txBody>
                  <a:tcPr/>
                </a:tc>
                <a:tc>
                  <a:txBody>
                    <a:bodyPr/>
                    <a:lstStyle/>
                    <a:p>
                      <a:pPr algn="ctr" latinLnBrk="1"/>
                      <a:r>
                        <a:rPr lang="en-US" altLang="ko-KR" sz="1000" dirty="0"/>
                        <a:t>C Band Deployable Parabolic Antenna</a:t>
                      </a:r>
                      <a:endParaRPr lang="ko-KR" altLang="en-US" sz="1000" dirty="0"/>
                    </a:p>
                  </a:txBody>
                  <a:tcPr/>
                </a:tc>
                <a:tc>
                  <a:txBody>
                    <a:bodyPr/>
                    <a:lstStyle/>
                    <a:p>
                      <a:pPr algn="ctr" latinLnBrk="1"/>
                      <a:r>
                        <a:rPr lang="sv-SE" altLang="ko-KR" sz="1000" dirty="0"/>
                        <a:t>TechApp Ka Band horn antenna</a:t>
                      </a:r>
                      <a:endParaRPr lang="ko-KR" altLang="en-US" sz="1000" dirty="0"/>
                    </a:p>
                  </a:txBody>
                  <a:tcPr/>
                </a:tc>
                <a:extLst>
                  <a:ext uri="{0D108BD9-81ED-4DB2-BD59-A6C34878D82A}">
                    <a16:rowId xmlns:a16="http://schemas.microsoft.com/office/drawing/2014/main" val="1039860246"/>
                  </a:ext>
                </a:extLst>
              </a:tr>
              <a:tr h="1157287">
                <a:tc>
                  <a:txBody>
                    <a:bodyPr/>
                    <a:lstStyle/>
                    <a:p>
                      <a:pPr latinLnBrk="1"/>
                      <a:endParaRPr lang="ko-KR" altLang="en-US" dirty="0"/>
                    </a:p>
                  </a:txBody>
                  <a:tcPr/>
                </a:tc>
                <a:tc>
                  <a:txBody>
                    <a:bodyPr/>
                    <a:lstStyle/>
                    <a:p>
                      <a:pPr latinLnBrk="1"/>
                      <a:endParaRPr lang="ko-KR" altLang="en-US" dirty="0"/>
                    </a:p>
                  </a:txBody>
                  <a:tcPr/>
                </a:tc>
                <a:tc>
                  <a:txBody>
                    <a:bodyPr/>
                    <a:lstStyle/>
                    <a:p>
                      <a:pPr latinLnBrk="1"/>
                      <a:endParaRPr lang="ko-KR" altLang="en-US"/>
                    </a:p>
                  </a:txBody>
                  <a:tcPr/>
                </a:tc>
                <a:tc>
                  <a:txBody>
                    <a:bodyPr/>
                    <a:lstStyle/>
                    <a:p>
                      <a:pPr latinLnBrk="1"/>
                      <a:endParaRPr lang="ko-KR" altLang="en-US"/>
                    </a:p>
                  </a:txBody>
                  <a:tcPr/>
                </a:tc>
                <a:tc>
                  <a:txBody>
                    <a:bodyPr/>
                    <a:lstStyle/>
                    <a:p>
                      <a:pPr latinLnBrk="1"/>
                      <a:endParaRPr lang="ko-KR" altLang="en-US"/>
                    </a:p>
                  </a:txBody>
                  <a:tcPr/>
                </a:tc>
                <a:tc>
                  <a:txBody>
                    <a:bodyPr/>
                    <a:lstStyle/>
                    <a:p>
                      <a:pPr latinLnBrk="1"/>
                      <a:endParaRPr lang="ko-KR" altLang="en-US"/>
                    </a:p>
                  </a:txBody>
                  <a:tcPr/>
                </a:tc>
                <a:extLst>
                  <a:ext uri="{0D108BD9-81ED-4DB2-BD59-A6C34878D82A}">
                    <a16:rowId xmlns:a16="http://schemas.microsoft.com/office/drawing/2014/main" val="3260160364"/>
                  </a:ext>
                </a:extLst>
              </a:tr>
              <a:tr h="1093153">
                <a:tc>
                  <a:txBody>
                    <a:bodyPr/>
                    <a:lstStyle/>
                    <a:p>
                      <a:pPr algn="l" latinLnBrk="1">
                        <a:lnSpc>
                          <a:spcPct val="100000"/>
                        </a:lnSpc>
                        <a:spcAft>
                          <a:spcPts val="1000"/>
                        </a:spcAft>
                      </a:pP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Output Frequency : 3.4~4.5GHz</a:t>
                      </a:r>
                      <a:b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b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Output Power : 8~26.5dBm</a:t>
                      </a:r>
                      <a:b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b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Modulation : PM</a:t>
                      </a:r>
                      <a:b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b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Power Consumption : 12.5W max</a:t>
                      </a:r>
                      <a:b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b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Mass : 1.2kg max</a:t>
                      </a:r>
                      <a:b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br>
                      <a:r>
                        <a:rPr lang="en-US" sz="800" kern="100" dirty="0">
                          <a:effectLst/>
                          <a:latin typeface="맑은 고딕" panose="020B0503020000020004" pitchFamily="50" charset="-127"/>
                          <a:ea typeface="맑은 고딕" panose="020B0503020000020004" pitchFamily="50" charset="-127"/>
                          <a:cs typeface="Times New Roman" panose="02020603050405020304" pitchFamily="18" charset="0"/>
                        </a:rPr>
                        <a:t>Operating Temperature : -20 to 70 </a:t>
                      </a:r>
                      <a:r>
                        <a:rPr lang="en-US" sz="800" kern="100" dirty="0" err="1">
                          <a:effectLst/>
                          <a:latin typeface="맑은 고딕" panose="020B0503020000020004" pitchFamily="50" charset="-127"/>
                          <a:ea typeface="맑은 고딕" panose="020B0503020000020004" pitchFamily="50" charset="-127"/>
                          <a:cs typeface="Times New Roman" panose="02020603050405020304" pitchFamily="18" charset="0"/>
                        </a:rPr>
                        <a:t>degC</a:t>
                      </a:r>
                      <a:endParaRPr lang="ko-KR" sz="8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l" latinLnBrk="1">
                        <a:lnSpc>
                          <a:spcPct val="100000"/>
                        </a:lnSpc>
                      </a:pPr>
                      <a:r>
                        <a:rPr lang="en-US" altLang="ko-KR" sz="800" dirty="0"/>
                        <a:t>Output Frequency : 25.25~27.5GHz</a:t>
                      </a:r>
                    </a:p>
                    <a:p>
                      <a:pPr algn="l" latinLnBrk="1">
                        <a:lnSpc>
                          <a:spcPct val="100000"/>
                        </a:lnSpc>
                      </a:pPr>
                      <a:r>
                        <a:rPr lang="en-US" altLang="ko-KR" sz="800" dirty="0"/>
                        <a:t>Output Power : 68 W max</a:t>
                      </a:r>
                    </a:p>
                    <a:p>
                      <a:pPr algn="l" latinLnBrk="1">
                        <a:lnSpc>
                          <a:spcPct val="100000"/>
                        </a:lnSpc>
                      </a:pPr>
                      <a:r>
                        <a:rPr lang="en-US" altLang="ko-KR" sz="800" dirty="0"/>
                        <a:t>Modulation : QPSK, OQPSK, 8APSK</a:t>
                      </a:r>
                    </a:p>
                    <a:p>
                      <a:pPr algn="l" latinLnBrk="1">
                        <a:lnSpc>
                          <a:spcPct val="100000"/>
                        </a:lnSpc>
                      </a:pPr>
                      <a:r>
                        <a:rPr lang="en-US" altLang="ko-KR" sz="800" dirty="0"/>
                        <a:t>Mass : 5.5lbs</a:t>
                      </a:r>
                    </a:p>
                    <a:p>
                      <a:pPr algn="l" latinLnBrk="1">
                        <a:lnSpc>
                          <a:spcPct val="100000"/>
                        </a:lnSpc>
                      </a:pPr>
                      <a:r>
                        <a:rPr lang="en-US" altLang="ko-KR" sz="800" dirty="0"/>
                        <a:t>Operating Temperature : -24 to 65 </a:t>
                      </a:r>
                      <a:r>
                        <a:rPr lang="en-US" altLang="ko-KR" sz="800" dirty="0" err="1"/>
                        <a:t>degC</a:t>
                      </a:r>
                      <a:endParaRPr lang="en-US" altLang="ko-KR" sz="800" dirty="0"/>
                    </a:p>
                    <a:p>
                      <a:pPr algn="l" latinLnBrk="1">
                        <a:lnSpc>
                          <a:spcPct val="100000"/>
                        </a:lnSpc>
                      </a:pPr>
                      <a:endParaRPr lang="ko-KR" altLang="en-US" sz="800" dirty="0"/>
                    </a:p>
                  </a:txBody>
                  <a:tcPr/>
                </a:tc>
                <a:tc>
                  <a:txBody>
                    <a:bodyPr/>
                    <a:lstStyle/>
                    <a:p>
                      <a:pPr algn="l" latinLnBrk="1">
                        <a:lnSpc>
                          <a:spcPct val="100000"/>
                        </a:lnSpc>
                      </a:pPr>
                      <a:r>
                        <a:rPr lang="en-US" altLang="ko-KR" sz="800" dirty="0"/>
                        <a:t>Input Frequency : 5.9~6.4GHz</a:t>
                      </a:r>
                    </a:p>
                    <a:p>
                      <a:pPr algn="l" latinLnBrk="1">
                        <a:lnSpc>
                          <a:spcPct val="100000"/>
                        </a:lnSpc>
                      </a:pPr>
                      <a:r>
                        <a:rPr lang="en-US" altLang="ko-KR" sz="800" dirty="0"/>
                        <a:t>Input signal range : -112~-60dBm</a:t>
                      </a:r>
                    </a:p>
                    <a:p>
                      <a:pPr algn="l" latinLnBrk="1">
                        <a:lnSpc>
                          <a:spcPct val="100000"/>
                        </a:lnSpc>
                      </a:pPr>
                      <a:r>
                        <a:rPr lang="en-US" altLang="ko-KR" sz="800" dirty="0"/>
                        <a:t>BER : 1e-6 max when -112dBm</a:t>
                      </a:r>
                    </a:p>
                    <a:p>
                      <a:pPr algn="l" latinLnBrk="1">
                        <a:lnSpc>
                          <a:spcPct val="100000"/>
                        </a:lnSpc>
                      </a:pPr>
                      <a:r>
                        <a:rPr lang="en-US" altLang="ko-KR" sz="800" dirty="0"/>
                        <a:t>Power Consumption : 14W</a:t>
                      </a:r>
                    </a:p>
                    <a:p>
                      <a:pPr algn="l" latinLnBrk="1">
                        <a:lnSpc>
                          <a:spcPct val="100000"/>
                        </a:lnSpc>
                      </a:pPr>
                      <a:r>
                        <a:rPr lang="en-US" altLang="ko-KR" sz="800" dirty="0"/>
                        <a:t>Mass : 1.6kg</a:t>
                      </a:r>
                    </a:p>
                    <a:p>
                      <a:pPr algn="l" latinLnBrk="1">
                        <a:lnSpc>
                          <a:spcPct val="100000"/>
                        </a:lnSpc>
                      </a:pPr>
                      <a:r>
                        <a:rPr lang="en-US" altLang="ko-KR" sz="800" dirty="0"/>
                        <a:t>Operating Temperature :  -20 to 70degC</a:t>
                      </a:r>
                    </a:p>
                    <a:p>
                      <a:pPr algn="l" latinLnBrk="1">
                        <a:lnSpc>
                          <a:spcPct val="100000"/>
                        </a:lnSpc>
                      </a:pPr>
                      <a:endParaRPr lang="ko-KR" altLang="en-US" sz="800" dirty="0"/>
                    </a:p>
                  </a:txBody>
                  <a:tcPr/>
                </a:tc>
                <a:tc>
                  <a:txBody>
                    <a:bodyPr/>
                    <a:lstStyle/>
                    <a:p>
                      <a:pPr algn="l" latinLnBrk="1">
                        <a:lnSpc>
                          <a:spcPct val="100000"/>
                        </a:lnSpc>
                      </a:pPr>
                      <a:r>
                        <a:rPr lang="en-US" altLang="ko-KR" sz="800" dirty="0"/>
                        <a:t>Operating Frequency : </a:t>
                      </a:r>
                      <a:r>
                        <a:rPr lang="en-US" altLang="ko-KR" sz="800" dirty="0" err="1"/>
                        <a:t>C~Ka</a:t>
                      </a:r>
                      <a:r>
                        <a:rPr lang="en-US" altLang="ko-KR" sz="800" dirty="0"/>
                        <a:t> band</a:t>
                      </a:r>
                    </a:p>
                    <a:p>
                      <a:pPr algn="l" latinLnBrk="1">
                        <a:lnSpc>
                          <a:spcPct val="100000"/>
                        </a:lnSpc>
                      </a:pPr>
                      <a:r>
                        <a:rPr lang="en-US" altLang="ko-KR" sz="800" dirty="0"/>
                        <a:t>Input signal range: -112~-60dBm</a:t>
                      </a:r>
                    </a:p>
                    <a:p>
                      <a:pPr algn="l" latinLnBrk="1">
                        <a:lnSpc>
                          <a:spcPct val="100000"/>
                        </a:lnSpc>
                      </a:pPr>
                      <a:r>
                        <a:rPr lang="en-US" altLang="ko-KR" sz="800" dirty="0"/>
                        <a:t>BER : 10^(-9) at 2kbps</a:t>
                      </a:r>
                    </a:p>
                    <a:p>
                      <a:pPr algn="l" latinLnBrk="1">
                        <a:lnSpc>
                          <a:spcPct val="100000"/>
                        </a:lnSpc>
                      </a:pPr>
                      <a:r>
                        <a:rPr lang="en-US" altLang="ko-KR" sz="800" dirty="0"/>
                        <a:t>Power Consumption : 14W</a:t>
                      </a:r>
                    </a:p>
                    <a:p>
                      <a:pPr algn="l" latinLnBrk="1">
                        <a:lnSpc>
                          <a:spcPct val="100000"/>
                        </a:lnSpc>
                      </a:pPr>
                      <a:r>
                        <a:rPr lang="en-US" altLang="ko-KR" sz="800" dirty="0"/>
                        <a:t>Mass : 1.8kg</a:t>
                      </a:r>
                    </a:p>
                    <a:p>
                      <a:pPr algn="l" latinLnBrk="1">
                        <a:lnSpc>
                          <a:spcPct val="100000"/>
                        </a:lnSpc>
                      </a:pPr>
                      <a:r>
                        <a:rPr lang="en-US" altLang="ko-KR" sz="800" dirty="0"/>
                        <a:t>Temperature : -20 to 66 </a:t>
                      </a:r>
                      <a:r>
                        <a:rPr lang="en-US" altLang="ko-KR" sz="800" dirty="0" err="1"/>
                        <a:t>degC</a:t>
                      </a:r>
                      <a:endParaRPr lang="en-US" altLang="ko-KR" sz="800" dirty="0"/>
                    </a:p>
                    <a:p>
                      <a:pPr algn="l" latinLnBrk="1">
                        <a:lnSpc>
                          <a:spcPct val="100000"/>
                        </a:lnSpc>
                      </a:pPr>
                      <a:endParaRPr lang="ko-KR" altLang="en-US" sz="800" dirty="0"/>
                    </a:p>
                  </a:txBody>
                  <a:tcPr/>
                </a:tc>
                <a:tc>
                  <a:txBody>
                    <a:bodyPr/>
                    <a:lstStyle/>
                    <a:p>
                      <a:pPr algn="l" latinLnBrk="1">
                        <a:lnSpc>
                          <a:spcPct val="100000"/>
                        </a:lnSpc>
                      </a:pPr>
                      <a:r>
                        <a:rPr lang="en-US" altLang="ko-KR" sz="800" dirty="0"/>
                        <a:t>Frequency : 3.5~6.4GHz</a:t>
                      </a:r>
                    </a:p>
                    <a:p>
                      <a:pPr algn="l" latinLnBrk="1">
                        <a:lnSpc>
                          <a:spcPct val="100000"/>
                        </a:lnSpc>
                      </a:pPr>
                      <a:r>
                        <a:rPr lang="en-US" altLang="ko-KR" sz="800" dirty="0"/>
                        <a:t>Peak Gain : 10dBm</a:t>
                      </a:r>
                    </a:p>
                    <a:p>
                      <a:pPr algn="l" latinLnBrk="1">
                        <a:lnSpc>
                          <a:spcPct val="100000"/>
                        </a:lnSpc>
                      </a:pPr>
                      <a:r>
                        <a:rPr lang="en-US" altLang="ko-KR" sz="800" dirty="0"/>
                        <a:t>Beamwidth : 32deg</a:t>
                      </a:r>
                    </a:p>
                    <a:p>
                      <a:pPr algn="l" latinLnBrk="1">
                        <a:lnSpc>
                          <a:spcPct val="100000"/>
                        </a:lnSpc>
                      </a:pPr>
                      <a:r>
                        <a:rPr lang="en-US" altLang="ko-KR" sz="800" dirty="0"/>
                        <a:t>Mass : 150g</a:t>
                      </a:r>
                    </a:p>
                    <a:p>
                      <a:pPr algn="l" latinLnBrk="1">
                        <a:lnSpc>
                          <a:spcPct val="100000"/>
                        </a:lnSpc>
                      </a:pPr>
                      <a:endParaRPr lang="ko-KR" altLang="en-US" sz="800" dirty="0"/>
                    </a:p>
                  </a:txBody>
                  <a:tcPr/>
                </a:tc>
                <a:tc>
                  <a:txBody>
                    <a:bodyPr/>
                    <a:lstStyle/>
                    <a:p>
                      <a:pPr algn="l" latinLnBrk="1">
                        <a:lnSpc>
                          <a:spcPct val="100000"/>
                        </a:lnSpc>
                      </a:pPr>
                      <a:r>
                        <a:rPr lang="en-US" altLang="ko-KR" sz="800" dirty="0"/>
                        <a:t>Frequency : 17.0~35.0dBm</a:t>
                      </a:r>
                    </a:p>
                    <a:p>
                      <a:pPr algn="l" latinLnBrk="1">
                        <a:lnSpc>
                          <a:spcPct val="100000"/>
                        </a:lnSpc>
                      </a:pPr>
                      <a:r>
                        <a:rPr lang="en-US" altLang="ko-KR" sz="800" dirty="0"/>
                        <a:t>Peak Gain : 15.1 (20GHz</a:t>
                      </a:r>
                      <a:r>
                        <a:rPr lang="ko-KR" altLang="en-US" sz="800" dirty="0"/>
                        <a:t>대역</a:t>
                      </a:r>
                      <a:r>
                        <a:rPr lang="en-US" altLang="ko-KR" sz="800" dirty="0"/>
                        <a:t>)</a:t>
                      </a:r>
                    </a:p>
                    <a:p>
                      <a:pPr algn="l" latinLnBrk="1">
                        <a:lnSpc>
                          <a:spcPct val="100000"/>
                        </a:lnSpc>
                      </a:pPr>
                      <a:r>
                        <a:rPr lang="en-US" altLang="ko-KR" sz="800" dirty="0"/>
                        <a:t>Beamwidth : 32 deg (20GHz</a:t>
                      </a:r>
                      <a:r>
                        <a:rPr lang="ko-KR" altLang="en-US" sz="800" dirty="0"/>
                        <a:t>대역</a:t>
                      </a:r>
                      <a:r>
                        <a:rPr lang="en-US" altLang="ko-KR" sz="800" dirty="0"/>
                        <a:t>)</a:t>
                      </a:r>
                    </a:p>
                    <a:p>
                      <a:pPr algn="l" latinLnBrk="1">
                        <a:lnSpc>
                          <a:spcPct val="100000"/>
                        </a:lnSpc>
                      </a:pPr>
                      <a:r>
                        <a:rPr lang="en-US" altLang="ko-KR" sz="800" dirty="0"/>
                        <a:t>Mass : 100g</a:t>
                      </a:r>
                      <a:r>
                        <a:rPr lang="ko-KR" altLang="en-US" sz="800" dirty="0"/>
                        <a:t>이하</a:t>
                      </a:r>
                    </a:p>
                    <a:p>
                      <a:pPr algn="l" latinLnBrk="1">
                        <a:lnSpc>
                          <a:spcPct val="100000"/>
                        </a:lnSpc>
                      </a:pPr>
                      <a:endParaRPr lang="ko-KR" altLang="en-US" sz="800" dirty="0"/>
                    </a:p>
                  </a:txBody>
                  <a:tcPr/>
                </a:tc>
                <a:extLst>
                  <a:ext uri="{0D108BD9-81ED-4DB2-BD59-A6C34878D82A}">
                    <a16:rowId xmlns:a16="http://schemas.microsoft.com/office/drawing/2014/main" val="121543842"/>
                  </a:ext>
                </a:extLst>
              </a:tr>
            </a:tbl>
          </a:graphicData>
        </a:graphic>
      </p:graphicFrame>
      <p:pic>
        <p:nvPicPr>
          <p:cNvPr id="8" name="그림 7">
            <a:extLst>
              <a:ext uri="{FF2B5EF4-FFF2-40B4-BE49-F238E27FC236}">
                <a16:creationId xmlns:a16="http://schemas.microsoft.com/office/drawing/2014/main" id="{CA9A3EB0-A48C-4F64-B870-D4338546CE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1526" y="1977932"/>
            <a:ext cx="761999" cy="1086605"/>
          </a:xfrm>
          <a:prstGeom prst="rect">
            <a:avLst/>
          </a:prstGeom>
          <a:noFill/>
          <a:ln>
            <a:noFill/>
          </a:ln>
        </p:spPr>
      </p:pic>
      <p:pic>
        <p:nvPicPr>
          <p:cNvPr id="11" name="그림 10">
            <a:extLst>
              <a:ext uri="{FF2B5EF4-FFF2-40B4-BE49-F238E27FC236}">
                <a16:creationId xmlns:a16="http://schemas.microsoft.com/office/drawing/2014/main" id="{466DC066-42FA-4C19-A933-51B084CB9CD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59280" y="2155031"/>
            <a:ext cx="1254762" cy="833437"/>
          </a:xfrm>
          <a:prstGeom prst="rect">
            <a:avLst/>
          </a:prstGeom>
          <a:noFill/>
          <a:ln>
            <a:noFill/>
          </a:ln>
        </p:spPr>
      </p:pic>
      <p:pic>
        <p:nvPicPr>
          <p:cNvPr id="12" name="그림 11">
            <a:extLst>
              <a:ext uri="{FF2B5EF4-FFF2-40B4-BE49-F238E27FC236}">
                <a16:creationId xmlns:a16="http://schemas.microsoft.com/office/drawing/2014/main" id="{86496230-7AD2-4319-8FAB-CA3211D9F78E}"/>
              </a:ext>
            </a:extLst>
          </p:cNvPr>
          <p:cNvPicPr>
            <a:picLocks noChangeAspect="1"/>
          </p:cNvPicPr>
          <p:nvPr/>
        </p:nvPicPr>
        <p:blipFill rotWithShape="1">
          <a:blip r:embed="rId5">
            <a:extLst>
              <a:ext uri="{28A0092B-C50C-407E-A947-70E740481C1C}">
                <a14:useLocalDpi xmlns:a14="http://schemas.microsoft.com/office/drawing/2010/main" val="0"/>
              </a:ext>
            </a:extLst>
          </a:blip>
          <a:srcRect t="10666"/>
          <a:stretch/>
        </p:blipFill>
        <p:spPr bwMode="auto">
          <a:xfrm>
            <a:off x="3348990" y="2016788"/>
            <a:ext cx="1094403" cy="1047749"/>
          </a:xfrm>
          <a:prstGeom prst="rect">
            <a:avLst/>
          </a:prstGeom>
          <a:noFill/>
          <a:ln>
            <a:noFill/>
          </a:ln>
          <a:extLst>
            <a:ext uri="{53640926-AAD7-44D8-BBD7-CCE9431645EC}">
              <a14:shadowObscured xmlns:a14="http://schemas.microsoft.com/office/drawing/2010/main"/>
            </a:ext>
          </a:extLst>
        </p:spPr>
      </p:pic>
      <p:pic>
        <p:nvPicPr>
          <p:cNvPr id="13" name="그림 12">
            <a:extLst>
              <a:ext uri="{FF2B5EF4-FFF2-40B4-BE49-F238E27FC236}">
                <a16:creationId xmlns:a16="http://schemas.microsoft.com/office/drawing/2014/main" id="{C777D796-B30B-493D-B8AD-36EEA698B3A5}"/>
              </a:ext>
            </a:extLst>
          </p:cNvPr>
          <p:cNvPicPr>
            <a:picLocks noChangeAspect="1"/>
          </p:cNvPicPr>
          <p:nvPr/>
        </p:nvPicPr>
        <p:blipFill rotWithShape="1">
          <a:blip r:embed="rId6">
            <a:extLst>
              <a:ext uri="{28A0092B-C50C-407E-A947-70E740481C1C}">
                <a14:useLocalDpi xmlns:a14="http://schemas.microsoft.com/office/drawing/2010/main" val="0"/>
              </a:ext>
            </a:extLst>
          </a:blip>
          <a:srcRect b="12288"/>
          <a:stretch/>
        </p:blipFill>
        <p:spPr bwMode="auto">
          <a:xfrm>
            <a:off x="4700609" y="2016788"/>
            <a:ext cx="1015487" cy="971680"/>
          </a:xfrm>
          <a:prstGeom prst="rect">
            <a:avLst/>
          </a:prstGeom>
          <a:noFill/>
          <a:ln>
            <a:noFill/>
          </a:ln>
          <a:extLst>
            <a:ext uri="{53640926-AAD7-44D8-BBD7-CCE9431645EC}">
              <a14:shadowObscured xmlns:a14="http://schemas.microsoft.com/office/drawing/2010/main"/>
            </a:ext>
          </a:extLst>
        </p:spPr>
      </p:pic>
      <p:pic>
        <p:nvPicPr>
          <p:cNvPr id="14" name="그림 13">
            <a:extLst>
              <a:ext uri="{FF2B5EF4-FFF2-40B4-BE49-F238E27FC236}">
                <a16:creationId xmlns:a16="http://schemas.microsoft.com/office/drawing/2014/main" id="{37224EB8-8080-4F94-84DB-D1D4F0CF722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105525" y="2125662"/>
            <a:ext cx="1028701" cy="685801"/>
          </a:xfrm>
          <a:prstGeom prst="rect">
            <a:avLst/>
          </a:prstGeom>
          <a:noFill/>
          <a:ln>
            <a:noFill/>
          </a:ln>
        </p:spPr>
      </p:pic>
      <p:pic>
        <p:nvPicPr>
          <p:cNvPr id="6" name="그림 5">
            <a:extLst>
              <a:ext uri="{FF2B5EF4-FFF2-40B4-BE49-F238E27FC236}">
                <a16:creationId xmlns:a16="http://schemas.microsoft.com/office/drawing/2014/main" id="{A9C87B7E-894E-4695-8213-73F92E874047}"/>
              </a:ext>
            </a:extLst>
          </p:cNvPr>
          <p:cNvPicPr>
            <a:picLocks noChangeAspect="1"/>
          </p:cNvPicPr>
          <p:nvPr/>
        </p:nvPicPr>
        <p:blipFill>
          <a:blip r:embed="rId8"/>
          <a:stretch>
            <a:fillRect/>
          </a:stretch>
        </p:blipFill>
        <p:spPr>
          <a:xfrm>
            <a:off x="7523655" y="2016788"/>
            <a:ext cx="944016" cy="971680"/>
          </a:xfrm>
          <a:prstGeom prst="rect">
            <a:avLst/>
          </a:prstGeom>
        </p:spPr>
      </p:pic>
    </p:spTree>
    <p:extLst>
      <p:ext uri="{BB962C8B-B14F-4D97-AF65-F5344CB8AC3E}">
        <p14:creationId xmlns:p14="http://schemas.microsoft.com/office/powerpoint/2010/main" val="8131455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C88C35-1C3B-4CEC-B1EB-DF5DFA7DD583}"/>
              </a:ext>
            </a:extLst>
          </p:cNvPr>
          <p:cNvSpPr>
            <a:spLocks noGrp="1"/>
          </p:cNvSpPr>
          <p:nvPr>
            <p:ph type="ctrTitle"/>
          </p:nvPr>
        </p:nvSpPr>
        <p:spPr/>
        <p:txBody>
          <a:bodyPr/>
          <a:lstStyle/>
          <a:p>
            <a:r>
              <a:rPr lang="en-US" altLang="ko-KR" dirty="0"/>
              <a:t>C&amp;DH</a:t>
            </a:r>
            <a:endParaRPr lang="ko-KR" altLang="en-US" dirty="0"/>
          </a:p>
        </p:txBody>
      </p:sp>
      <p:sp>
        <p:nvSpPr>
          <p:cNvPr id="3" name="부제목 2">
            <a:extLst>
              <a:ext uri="{FF2B5EF4-FFF2-40B4-BE49-F238E27FC236}">
                <a16:creationId xmlns:a16="http://schemas.microsoft.com/office/drawing/2014/main" id="{41E86B7B-5407-4A90-A8E4-316758D5D1ED}"/>
              </a:ext>
            </a:extLst>
          </p:cNvPr>
          <p:cNvSpPr>
            <a:spLocks noGrp="1"/>
          </p:cNvSpPr>
          <p:nvPr>
            <p:ph type="subTitle" idx="1"/>
          </p:nvPr>
        </p:nvSpPr>
        <p:spPr/>
        <p:txBody>
          <a:bodyPr/>
          <a:lstStyle/>
          <a:p>
            <a:r>
              <a:rPr lang="en-US" altLang="ko-KR" dirty="0"/>
              <a:t>2017135509 </a:t>
            </a:r>
            <a:r>
              <a:rPr lang="ko-KR" altLang="en-US" dirty="0"/>
              <a:t>장덕민</a:t>
            </a:r>
          </a:p>
        </p:txBody>
      </p:sp>
    </p:spTree>
    <p:extLst>
      <p:ext uri="{BB962C8B-B14F-4D97-AF65-F5344CB8AC3E}">
        <p14:creationId xmlns:p14="http://schemas.microsoft.com/office/powerpoint/2010/main" val="94527087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8EB738-73C4-4B21-8DC9-835D9E2C9358}"/>
              </a:ext>
            </a:extLst>
          </p:cNvPr>
          <p:cNvSpPr>
            <a:spLocks noGrp="1"/>
          </p:cNvSpPr>
          <p:nvPr>
            <p:ph type="title"/>
          </p:nvPr>
        </p:nvSpPr>
        <p:spPr/>
        <p:txBody>
          <a:bodyPr/>
          <a:lstStyle/>
          <a:p>
            <a:r>
              <a:rPr lang="en-US" altLang="ko-KR" dirty="0"/>
              <a:t>Identify Requirements</a:t>
            </a:r>
            <a:endParaRPr lang="ko-KR" altLang="en-US" dirty="0"/>
          </a:p>
        </p:txBody>
      </p:sp>
      <p:graphicFrame>
        <p:nvGraphicFramePr>
          <p:cNvPr id="5" name="표 4">
            <a:extLst>
              <a:ext uri="{FF2B5EF4-FFF2-40B4-BE49-F238E27FC236}">
                <a16:creationId xmlns:a16="http://schemas.microsoft.com/office/drawing/2014/main" id="{765F621C-0389-4689-BC1C-4CF3C0F02B22}"/>
              </a:ext>
            </a:extLst>
          </p:cNvPr>
          <p:cNvGraphicFramePr>
            <a:graphicFrameLocks noGrp="1"/>
          </p:cNvGraphicFramePr>
          <p:nvPr/>
        </p:nvGraphicFramePr>
        <p:xfrm>
          <a:off x="1709420" y="1873631"/>
          <a:ext cx="5725160" cy="1974088"/>
        </p:xfrm>
        <a:graphic>
          <a:graphicData uri="http://schemas.openxmlformats.org/drawingml/2006/table">
            <a:tbl>
              <a:tblPr firstRow="1" firstCol="1" bandRow="1"/>
              <a:tblGrid>
                <a:gridCol w="1217295">
                  <a:extLst>
                    <a:ext uri="{9D8B030D-6E8A-4147-A177-3AD203B41FA5}">
                      <a16:colId xmlns:a16="http://schemas.microsoft.com/office/drawing/2014/main" val="1462784336"/>
                    </a:ext>
                  </a:extLst>
                </a:gridCol>
                <a:gridCol w="4507865">
                  <a:extLst>
                    <a:ext uri="{9D8B030D-6E8A-4147-A177-3AD203B41FA5}">
                      <a16:colId xmlns:a16="http://schemas.microsoft.com/office/drawing/2014/main" val="1603977416"/>
                    </a:ext>
                  </a:extLst>
                </a:gridCol>
              </a:tblGrid>
              <a:tr h="0">
                <a:tc>
                  <a:txBody>
                    <a:bodyPr/>
                    <a:lstStyle/>
                    <a:p>
                      <a:pPr algn="ctr" latinLnBrk="1">
                        <a:lnSpc>
                          <a:spcPct val="115000"/>
                        </a:lnSpc>
                        <a:spcAft>
                          <a:spcPts val="1000"/>
                        </a:spcAft>
                      </a:pPr>
                      <a:r>
                        <a:rPr lang="en-US" sz="1000" b="1" kern="100">
                          <a:effectLst/>
                          <a:latin typeface="맑은 고딕" panose="020B0503020000020004" pitchFamily="50" charset="-127"/>
                          <a:ea typeface="맑은 고딕" panose="020B0503020000020004" pitchFamily="50" charset="-127"/>
                          <a:cs typeface="Times New Roman" panose="02020603050405020304" pitchFamily="18" charset="0"/>
                        </a:rPr>
                        <a:t>I</a:t>
                      </a: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Requirements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D08D"/>
                    </a:solidFill>
                  </a:tcPr>
                </a:tc>
                <a:extLst>
                  <a:ext uri="{0D108BD9-81ED-4DB2-BD59-A6C34878D82A}">
                    <a16:rowId xmlns:a16="http://schemas.microsoft.com/office/drawing/2014/main" val="257671898"/>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CNDH-001</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CNDH</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를 구성하는 부품들이 우주의 열 및 방사선 환경 등에도 임무 기간동안 정상 작동해야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00391434"/>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CNDH-002</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ko-KR" sz="1000" kern="100">
                          <a:effectLst/>
                          <a:latin typeface="맑은 고딕" panose="020B0503020000020004" pitchFamily="50" charset="-127"/>
                          <a:ea typeface="맑은 고딕" panose="020B0503020000020004" pitchFamily="50" charset="-127"/>
                          <a:cs typeface="Times New Roman" panose="02020603050405020304" pitchFamily="18" charset="0"/>
                        </a:rPr>
                        <a:t>지상국에서 보내는 명령을 해석 및 </a:t>
                      </a:r>
                      <a:r>
                        <a:rPr lang="en-US" sz="1000" kern="100">
                          <a:effectLst/>
                          <a:latin typeface="맑은 고딕" panose="020B0503020000020004" pitchFamily="50" charset="-127"/>
                          <a:ea typeface="맑은 고딕" panose="020B0503020000020004" pitchFamily="50" charset="-127"/>
                          <a:cs typeface="Times New Roman" panose="02020603050405020304" pitchFamily="18" charset="0"/>
                        </a:rPr>
                        <a:t>Subsystem</a:t>
                      </a:r>
                      <a:r>
                        <a:rPr lang="ko-KR" sz="1000" kern="100">
                          <a:effectLst/>
                          <a:latin typeface="맑은 고딕" panose="020B0503020000020004" pitchFamily="50" charset="-127"/>
                          <a:ea typeface="맑은 고딕" panose="020B0503020000020004" pitchFamily="50" charset="-127"/>
                          <a:cs typeface="Times New Roman" panose="02020603050405020304" pitchFamily="18" charset="0"/>
                        </a:rPr>
                        <a:t>에 재분배하여야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75477593"/>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CNDH-003</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Payload, Subsystem</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수집된 정보들을 저장장치나 통신계로 전달하여야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00899545"/>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CNDH-004</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Payload, Subsystem</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에서 수집된 데이터들이 손상되지 않았는지 검증할 수 있어야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62132505"/>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CNDH-005</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위성 운용 중 전력 저하 및 고장 등이 일어났을 때를 대비한 </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Emergency mode</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를 운용 가능해야 한다</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84906286"/>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CNDH-006</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위성 운용 정보를 저장할 수 있는 </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4GB </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이상의 저장장치가 있어야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852112"/>
                  </a:ext>
                </a:extLst>
              </a:tr>
              <a:tr h="0">
                <a:tc>
                  <a:txBody>
                    <a:bodyPr/>
                    <a:lstStyle/>
                    <a:p>
                      <a:pPr algn="ctr" latinLnBrk="1">
                        <a:lnSpc>
                          <a:spcPct val="115000"/>
                        </a:lnSpc>
                        <a:spcAft>
                          <a:spcPts val="1000"/>
                        </a:spcAft>
                      </a:pPr>
                      <a:r>
                        <a:rPr lang="en-US" sz="1000" b="1" kern="100">
                          <a:solidFill>
                            <a:srgbClr val="000000"/>
                          </a:solidFill>
                          <a:effectLst/>
                          <a:latin typeface="맑은 고딕" panose="020B0503020000020004" pitchFamily="50" charset="-127"/>
                          <a:ea typeface="맑은 고딕" panose="020B0503020000020004" pitchFamily="50" charset="-127"/>
                          <a:cs typeface="Times New Roman" panose="02020603050405020304" pitchFamily="18" charset="0"/>
                        </a:rPr>
                        <a:t>CNDH-007</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2EFD9"/>
                    </a:solidFill>
                  </a:tcPr>
                </a:tc>
                <a:tc>
                  <a:txBody>
                    <a:bodyPr/>
                    <a:lstStyle/>
                    <a:p>
                      <a:pPr algn="l" latinLnBrk="1">
                        <a:lnSpc>
                          <a:spcPct val="115000"/>
                        </a:lnSpc>
                        <a:spcAft>
                          <a:spcPts val="1000"/>
                        </a:spcAft>
                      </a:pP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50cmds/s </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이상의</a:t>
                      </a:r>
                      <a:r>
                        <a:rPr lang="en-US" sz="1000" kern="100" dirty="0">
                          <a:effectLst/>
                          <a:latin typeface="맑은 고딕" panose="020B0503020000020004" pitchFamily="50" charset="-127"/>
                          <a:ea typeface="맑은 고딕" panose="020B0503020000020004" pitchFamily="50" charset="-127"/>
                          <a:cs typeface="Times New Roman" panose="02020603050405020304" pitchFamily="18" charset="0"/>
                        </a:rPr>
                        <a:t> Command </a:t>
                      </a:r>
                      <a:r>
                        <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rPr>
                        <a:t>전송 속도를 가져야 한다</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48809227"/>
                  </a:ext>
                </a:extLst>
              </a:tr>
            </a:tbl>
          </a:graphicData>
        </a:graphic>
      </p:graphicFrame>
    </p:spTree>
    <p:extLst>
      <p:ext uri="{BB962C8B-B14F-4D97-AF65-F5344CB8AC3E}">
        <p14:creationId xmlns:p14="http://schemas.microsoft.com/office/powerpoint/2010/main" val="15048338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2151C6E6-89B1-49E8-BBEE-EF0E0B21AA19}"/>
              </a:ext>
            </a:extLst>
          </p:cNvPr>
          <p:cNvSpPr/>
          <p:nvPr/>
        </p:nvSpPr>
        <p:spPr>
          <a:xfrm>
            <a:off x="4914900" y="1747838"/>
            <a:ext cx="3395663" cy="23812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p:txBody>
          <a:bodyPr/>
          <a:lstStyle/>
          <a:p>
            <a:r>
              <a:rPr lang="en-US" altLang="ko-KR" dirty="0"/>
              <a:t>C&amp;DH Modes</a:t>
            </a:r>
            <a:endParaRPr lang="ko-KR" altLang="en-US" dirty="0"/>
          </a:p>
        </p:txBody>
      </p:sp>
      <p:sp>
        <p:nvSpPr>
          <p:cNvPr id="3" name="텍스트 개체 틀 2">
            <a:extLst>
              <a:ext uri="{FF2B5EF4-FFF2-40B4-BE49-F238E27FC236}">
                <a16:creationId xmlns:a16="http://schemas.microsoft.com/office/drawing/2014/main" id="{A0DB77EC-9A41-44C6-83B4-CDA515CFA095}"/>
              </a:ext>
            </a:extLst>
          </p:cNvPr>
          <p:cNvSpPr>
            <a:spLocks noGrp="1"/>
          </p:cNvSpPr>
          <p:nvPr>
            <p:ph type="body" idx="1"/>
          </p:nvPr>
        </p:nvSpPr>
        <p:spPr>
          <a:xfrm>
            <a:off x="938500" y="1659275"/>
            <a:ext cx="3504913" cy="2760900"/>
          </a:xfrm>
        </p:spPr>
        <p:txBody>
          <a:bodyPr/>
          <a:lstStyle/>
          <a:p>
            <a:r>
              <a:rPr lang="en-US" altLang="ko-KR" dirty="0"/>
              <a:t>Detumbling Mode</a:t>
            </a:r>
          </a:p>
          <a:p>
            <a:endParaRPr lang="en-US" altLang="ko-KR" dirty="0"/>
          </a:p>
          <a:p>
            <a:r>
              <a:rPr lang="en-US" altLang="ko-KR" dirty="0"/>
              <a:t>Early Orbit Mode</a:t>
            </a:r>
          </a:p>
          <a:p>
            <a:endParaRPr lang="en-US" altLang="ko-KR" dirty="0"/>
          </a:p>
          <a:p>
            <a:r>
              <a:rPr lang="en-US" altLang="ko-KR" dirty="0"/>
              <a:t>Normal Mode</a:t>
            </a:r>
          </a:p>
          <a:p>
            <a:endParaRPr lang="en-US" altLang="ko-KR" dirty="0"/>
          </a:p>
          <a:p>
            <a:r>
              <a:rPr lang="en-US" altLang="ko-KR" dirty="0"/>
              <a:t>Mission Mode</a:t>
            </a:r>
          </a:p>
          <a:p>
            <a:endParaRPr lang="en-US" altLang="ko-KR" dirty="0"/>
          </a:p>
          <a:p>
            <a:r>
              <a:rPr lang="en-US" altLang="ko-KR" dirty="0"/>
              <a:t>Emergency mode</a:t>
            </a:r>
            <a:endParaRPr lang="ko-KR" altLang="en-US" dirty="0"/>
          </a:p>
        </p:txBody>
      </p:sp>
      <p:pic>
        <p:nvPicPr>
          <p:cNvPr id="5" name="그림 4">
            <a:extLst>
              <a:ext uri="{FF2B5EF4-FFF2-40B4-BE49-F238E27FC236}">
                <a16:creationId xmlns:a16="http://schemas.microsoft.com/office/drawing/2014/main" id="{2842F8B3-10A1-4BC2-8D82-C49277129B77}"/>
              </a:ext>
            </a:extLst>
          </p:cNvPr>
          <p:cNvPicPr>
            <a:picLocks noChangeAspect="1"/>
          </p:cNvPicPr>
          <p:nvPr/>
        </p:nvPicPr>
        <p:blipFill>
          <a:blip r:embed="rId2"/>
          <a:stretch>
            <a:fillRect/>
          </a:stretch>
        </p:blipFill>
        <p:spPr>
          <a:xfrm>
            <a:off x="4992630" y="1795957"/>
            <a:ext cx="3256021" cy="2187712"/>
          </a:xfrm>
          <a:prstGeom prst="rect">
            <a:avLst/>
          </a:prstGeom>
        </p:spPr>
      </p:pic>
    </p:spTree>
    <p:extLst>
      <p:ext uri="{BB962C8B-B14F-4D97-AF65-F5344CB8AC3E}">
        <p14:creationId xmlns:p14="http://schemas.microsoft.com/office/powerpoint/2010/main" val="280534307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C&amp;DH Data Flow with subsystems</a:t>
            </a:r>
            <a:endParaRPr lang="ko-KR" altLang="en-US" dirty="0"/>
          </a:p>
        </p:txBody>
      </p:sp>
      <p:sp>
        <p:nvSpPr>
          <p:cNvPr id="3" name="텍스트 개체 틀 2">
            <a:extLst>
              <a:ext uri="{FF2B5EF4-FFF2-40B4-BE49-F238E27FC236}">
                <a16:creationId xmlns:a16="http://schemas.microsoft.com/office/drawing/2014/main" id="{A0DB77EC-9A41-44C6-83B4-CDA515CFA095}"/>
              </a:ext>
            </a:extLst>
          </p:cNvPr>
          <p:cNvSpPr>
            <a:spLocks noGrp="1"/>
          </p:cNvSpPr>
          <p:nvPr>
            <p:ph type="body" idx="1"/>
          </p:nvPr>
        </p:nvSpPr>
        <p:spPr>
          <a:xfrm>
            <a:off x="938500" y="1659275"/>
            <a:ext cx="4724113" cy="2760900"/>
          </a:xfrm>
        </p:spPr>
        <p:txBody>
          <a:bodyPr/>
          <a:lstStyle/>
          <a:p>
            <a:r>
              <a:rPr lang="en-US" altLang="ko-KR" dirty="0"/>
              <a:t>ADCS</a:t>
            </a:r>
          </a:p>
          <a:p>
            <a:pPr marL="139700" indent="0">
              <a:buNone/>
            </a:pPr>
            <a:r>
              <a:rPr lang="en-US" altLang="ko-KR" dirty="0"/>
              <a:t>HK, </a:t>
            </a:r>
            <a:r>
              <a:rPr lang="ko-KR" altLang="en-US" dirty="0"/>
              <a:t>자세 제어 정보</a:t>
            </a:r>
            <a:endParaRPr lang="en-US" altLang="ko-KR" dirty="0"/>
          </a:p>
          <a:p>
            <a:pPr marL="139700" indent="0">
              <a:buNone/>
            </a:pPr>
            <a:r>
              <a:rPr lang="en-US" altLang="ko-KR" dirty="0"/>
              <a:t>Reaction Wheel, ADCS </a:t>
            </a:r>
            <a:r>
              <a:rPr lang="ko-KR" altLang="en-US" dirty="0" err="1"/>
              <a:t>추력기</a:t>
            </a:r>
            <a:r>
              <a:rPr lang="ko-KR" altLang="en-US" dirty="0"/>
              <a:t> 작동 </a:t>
            </a:r>
            <a:r>
              <a:rPr lang="en-US" altLang="ko-KR" dirty="0"/>
              <a:t>command</a:t>
            </a:r>
          </a:p>
          <a:p>
            <a:endParaRPr lang="en-US" altLang="ko-KR" dirty="0"/>
          </a:p>
          <a:p>
            <a:r>
              <a:rPr lang="en-US" altLang="ko-KR" dirty="0"/>
              <a:t>GNC</a:t>
            </a:r>
          </a:p>
          <a:p>
            <a:pPr marL="139700" indent="0">
              <a:buNone/>
            </a:pPr>
            <a:r>
              <a:rPr lang="ko-KR" altLang="en-US" dirty="0" err="1"/>
              <a:t>정밀궤도력</a:t>
            </a:r>
            <a:r>
              <a:rPr lang="ko-KR" altLang="en-US" dirty="0"/>
              <a:t> 정보</a:t>
            </a:r>
            <a:r>
              <a:rPr lang="en-US" altLang="ko-KR" dirty="0"/>
              <a:t>, </a:t>
            </a:r>
            <a:r>
              <a:rPr lang="ko-KR" altLang="en-US" dirty="0" err="1"/>
              <a:t>속도증분</a:t>
            </a:r>
            <a:r>
              <a:rPr lang="ko-KR" altLang="en-US" dirty="0"/>
              <a:t> 정보</a:t>
            </a:r>
            <a:r>
              <a:rPr lang="en-US" altLang="ko-KR" dirty="0"/>
              <a:t>(</a:t>
            </a:r>
            <a:r>
              <a:rPr lang="ko-KR" altLang="en-US" dirty="0" err="1"/>
              <a:t>지상국</a:t>
            </a:r>
            <a:r>
              <a:rPr lang="ko-KR" altLang="en-US" dirty="0"/>
              <a:t> </a:t>
            </a:r>
            <a:r>
              <a:rPr lang="en-US" altLang="ko-KR" dirty="0"/>
              <a:t>TLM)</a:t>
            </a:r>
          </a:p>
          <a:p>
            <a:pPr marL="139700" indent="0">
              <a:buNone/>
            </a:pPr>
            <a:r>
              <a:rPr lang="ko-KR" altLang="en-US" dirty="0"/>
              <a:t>결과값을 바탕으로 </a:t>
            </a:r>
            <a:r>
              <a:rPr lang="ko-KR" altLang="en-US" dirty="0" err="1"/>
              <a:t>추력계</a:t>
            </a:r>
            <a:r>
              <a:rPr lang="ko-KR" altLang="en-US" dirty="0"/>
              <a:t> </a:t>
            </a:r>
            <a:r>
              <a:rPr lang="en-US" altLang="ko-KR" dirty="0"/>
              <a:t>command </a:t>
            </a:r>
            <a:r>
              <a:rPr lang="ko-KR" altLang="en-US" dirty="0"/>
              <a:t>전달</a:t>
            </a:r>
            <a:endParaRPr lang="en-US" altLang="ko-KR" dirty="0"/>
          </a:p>
          <a:p>
            <a:endParaRPr lang="en-US" altLang="ko-KR" dirty="0"/>
          </a:p>
          <a:p>
            <a:r>
              <a:rPr lang="en-US" altLang="ko-KR" dirty="0"/>
              <a:t>TT&amp;C</a:t>
            </a:r>
          </a:p>
          <a:p>
            <a:pPr marL="139700" indent="0">
              <a:buNone/>
            </a:pPr>
            <a:r>
              <a:rPr lang="en-US" altLang="ko-KR" dirty="0"/>
              <a:t>HK, command, Uplink TLM</a:t>
            </a:r>
          </a:p>
          <a:p>
            <a:pPr marL="139700" indent="0">
              <a:buNone/>
            </a:pPr>
            <a:r>
              <a:rPr lang="en-US" altLang="ko-KR" dirty="0"/>
              <a:t>Beacon, Downlink TLM</a:t>
            </a:r>
          </a:p>
        </p:txBody>
      </p:sp>
    </p:spTree>
    <p:extLst>
      <p:ext uri="{BB962C8B-B14F-4D97-AF65-F5344CB8AC3E}">
        <p14:creationId xmlns:p14="http://schemas.microsoft.com/office/powerpoint/2010/main" val="4579950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C&amp;DH Data Flow with subsystems</a:t>
            </a:r>
            <a:endParaRPr lang="ko-KR" altLang="en-US" dirty="0"/>
          </a:p>
        </p:txBody>
      </p:sp>
      <p:sp>
        <p:nvSpPr>
          <p:cNvPr id="3" name="텍스트 개체 틀 2">
            <a:extLst>
              <a:ext uri="{FF2B5EF4-FFF2-40B4-BE49-F238E27FC236}">
                <a16:creationId xmlns:a16="http://schemas.microsoft.com/office/drawing/2014/main" id="{A0DB77EC-9A41-44C6-83B4-CDA515CFA095}"/>
              </a:ext>
            </a:extLst>
          </p:cNvPr>
          <p:cNvSpPr>
            <a:spLocks noGrp="1"/>
          </p:cNvSpPr>
          <p:nvPr>
            <p:ph type="body" idx="1"/>
          </p:nvPr>
        </p:nvSpPr>
        <p:spPr>
          <a:xfrm>
            <a:off x="938500" y="1659275"/>
            <a:ext cx="7405400" cy="2760900"/>
          </a:xfrm>
        </p:spPr>
        <p:txBody>
          <a:bodyPr/>
          <a:lstStyle/>
          <a:p>
            <a:r>
              <a:rPr lang="en-US" altLang="ko-KR" dirty="0"/>
              <a:t>EPS</a:t>
            </a:r>
          </a:p>
          <a:p>
            <a:pPr marL="139700" indent="0">
              <a:buNone/>
            </a:pPr>
            <a:r>
              <a:rPr lang="en-US" altLang="ko-KR" dirty="0"/>
              <a:t>HK, </a:t>
            </a:r>
            <a:r>
              <a:rPr lang="ko-KR" altLang="en-US" dirty="0"/>
              <a:t>가용 전력량 계산</a:t>
            </a:r>
            <a:endParaRPr lang="en-US" altLang="ko-KR" dirty="0"/>
          </a:p>
          <a:p>
            <a:pPr marL="139700" indent="0">
              <a:buNone/>
            </a:pPr>
            <a:r>
              <a:rPr lang="ko-KR" altLang="en-US" dirty="0"/>
              <a:t>가용 전력량에 따라 </a:t>
            </a:r>
            <a:r>
              <a:rPr lang="en-US" altLang="ko-KR" dirty="0"/>
              <a:t>mode </a:t>
            </a:r>
            <a:r>
              <a:rPr lang="ko-KR" altLang="en-US" dirty="0"/>
              <a:t>변경</a:t>
            </a:r>
            <a:r>
              <a:rPr lang="en-US" altLang="ko-KR" dirty="0"/>
              <a:t>, </a:t>
            </a:r>
            <a:r>
              <a:rPr lang="ko-KR" altLang="en-US" dirty="0"/>
              <a:t>각 </a:t>
            </a:r>
            <a:r>
              <a:rPr lang="en-US" altLang="ko-KR" dirty="0"/>
              <a:t>Subsystem</a:t>
            </a:r>
            <a:r>
              <a:rPr lang="ko-KR" altLang="en-US" dirty="0"/>
              <a:t>에 그에 맞는 </a:t>
            </a:r>
            <a:r>
              <a:rPr lang="en-US" altLang="ko-KR" dirty="0"/>
              <a:t>command </a:t>
            </a:r>
            <a:r>
              <a:rPr lang="ko-KR" altLang="en-US" dirty="0"/>
              <a:t>전달</a:t>
            </a:r>
            <a:endParaRPr lang="en-US" altLang="ko-KR" dirty="0"/>
          </a:p>
          <a:p>
            <a:pPr marL="139700" indent="0">
              <a:buNone/>
            </a:pPr>
            <a:endParaRPr lang="en-US" altLang="ko-KR" dirty="0"/>
          </a:p>
          <a:p>
            <a:r>
              <a:rPr lang="en-US" altLang="ko-KR" dirty="0"/>
              <a:t>PS</a:t>
            </a:r>
          </a:p>
          <a:p>
            <a:pPr marL="139700" indent="0">
              <a:buNone/>
            </a:pPr>
            <a:r>
              <a:rPr lang="en-US" altLang="ko-KR" dirty="0"/>
              <a:t>HK,</a:t>
            </a:r>
            <a:r>
              <a:rPr lang="ko-KR" altLang="en-US" dirty="0"/>
              <a:t> </a:t>
            </a:r>
            <a:r>
              <a:rPr lang="ko-KR" altLang="en-US" dirty="0" err="1"/>
              <a:t>잔료</a:t>
            </a:r>
            <a:r>
              <a:rPr lang="ko-KR" altLang="en-US" dirty="0"/>
              <a:t> 연료량</a:t>
            </a:r>
            <a:r>
              <a:rPr lang="en-US" altLang="ko-KR" dirty="0"/>
              <a:t>, </a:t>
            </a:r>
            <a:r>
              <a:rPr lang="ko-KR" altLang="en-US" dirty="0"/>
              <a:t>가용 </a:t>
            </a:r>
            <a:r>
              <a:rPr lang="ko-KR" altLang="en-US" dirty="0" err="1"/>
              <a:t>추력계</a:t>
            </a:r>
            <a:r>
              <a:rPr lang="ko-KR" altLang="en-US" dirty="0"/>
              <a:t> 장비 파악</a:t>
            </a:r>
            <a:endParaRPr lang="en-US" altLang="ko-KR" dirty="0"/>
          </a:p>
          <a:p>
            <a:pPr marL="139700" indent="0">
              <a:buNone/>
            </a:pPr>
            <a:r>
              <a:rPr lang="ko-KR" altLang="en-US" dirty="0"/>
              <a:t>궤도 보정 시 </a:t>
            </a:r>
            <a:r>
              <a:rPr lang="en-US" altLang="ko-KR" dirty="0"/>
              <a:t>PS</a:t>
            </a:r>
            <a:r>
              <a:rPr lang="ko-KR" altLang="en-US" dirty="0"/>
              <a:t>제어 요청</a:t>
            </a:r>
            <a:endParaRPr lang="en-US" altLang="ko-KR" dirty="0"/>
          </a:p>
          <a:p>
            <a:pPr marL="139700" indent="0">
              <a:buNone/>
            </a:pPr>
            <a:endParaRPr lang="en-US" altLang="ko-KR" dirty="0"/>
          </a:p>
          <a:p>
            <a:r>
              <a:rPr lang="en-US" altLang="ko-KR" dirty="0"/>
              <a:t>TCS</a:t>
            </a:r>
          </a:p>
          <a:p>
            <a:pPr marL="139700" indent="0">
              <a:buNone/>
            </a:pPr>
            <a:r>
              <a:rPr lang="en-US" altLang="ko-KR" dirty="0"/>
              <a:t>HK</a:t>
            </a:r>
          </a:p>
          <a:p>
            <a:pPr marL="139700" indent="0">
              <a:buNone/>
            </a:pPr>
            <a:r>
              <a:rPr lang="ko-KR" altLang="en-US" dirty="0"/>
              <a:t>각 </a:t>
            </a:r>
            <a:r>
              <a:rPr lang="en-US" altLang="ko-KR" dirty="0"/>
              <a:t>Subsystem</a:t>
            </a:r>
            <a:r>
              <a:rPr lang="ko-KR" altLang="en-US" dirty="0"/>
              <a:t>들의 온도 </a:t>
            </a:r>
            <a:r>
              <a:rPr lang="en-US" altLang="ko-KR" dirty="0"/>
              <a:t>sensor </a:t>
            </a:r>
            <a:r>
              <a:rPr lang="ko-KR" altLang="en-US" dirty="0"/>
              <a:t>값을 이용하여 </a:t>
            </a:r>
            <a:r>
              <a:rPr lang="ko-KR" altLang="en-US" dirty="0" err="1"/>
              <a:t>열제어</a:t>
            </a:r>
            <a:r>
              <a:rPr lang="ko-KR" altLang="en-US" dirty="0"/>
              <a:t> 요청</a:t>
            </a:r>
            <a:endParaRPr lang="en-US" altLang="ko-KR" dirty="0"/>
          </a:p>
        </p:txBody>
      </p:sp>
    </p:spTree>
    <p:extLst>
      <p:ext uri="{BB962C8B-B14F-4D97-AF65-F5344CB8AC3E}">
        <p14:creationId xmlns:p14="http://schemas.microsoft.com/office/powerpoint/2010/main" val="34771248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C&amp;DH Data Flow with subsystems</a:t>
            </a:r>
            <a:endParaRPr lang="ko-KR" altLang="en-US" dirty="0"/>
          </a:p>
        </p:txBody>
      </p:sp>
      <p:sp>
        <p:nvSpPr>
          <p:cNvPr id="3" name="텍스트 개체 틀 2">
            <a:extLst>
              <a:ext uri="{FF2B5EF4-FFF2-40B4-BE49-F238E27FC236}">
                <a16:creationId xmlns:a16="http://schemas.microsoft.com/office/drawing/2014/main" id="{A0DB77EC-9A41-44C6-83B4-CDA515CFA095}"/>
              </a:ext>
            </a:extLst>
          </p:cNvPr>
          <p:cNvSpPr>
            <a:spLocks noGrp="1"/>
          </p:cNvSpPr>
          <p:nvPr>
            <p:ph type="body" idx="1"/>
          </p:nvPr>
        </p:nvSpPr>
        <p:spPr>
          <a:xfrm>
            <a:off x="938500" y="1659275"/>
            <a:ext cx="7405400" cy="2760900"/>
          </a:xfrm>
        </p:spPr>
        <p:txBody>
          <a:bodyPr/>
          <a:lstStyle/>
          <a:p>
            <a:r>
              <a:rPr lang="en-US" altLang="ko-KR" dirty="0"/>
              <a:t>Payload</a:t>
            </a:r>
          </a:p>
          <a:p>
            <a:pPr marL="139700" indent="0">
              <a:buNone/>
            </a:pPr>
            <a:r>
              <a:rPr lang="en-US" altLang="ko-KR" dirty="0"/>
              <a:t>HK, </a:t>
            </a:r>
            <a:r>
              <a:rPr lang="ko-KR" altLang="en-US" dirty="0"/>
              <a:t>원자시계 시간 입력</a:t>
            </a:r>
            <a:endParaRPr lang="en-US" altLang="ko-KR" dirty="0"/>
          </a:p>
          <a:p>
            <a:pPr marL="139700" indent="0">
              <a:buNone/>
            </a:pPr>
            <a:r>
              <a:rPr lang="en-US" altLang="ko-KR" dirty="0"/>
              <a:t>Mission mode </a:t>
            </a:r>
            <a:r>
              <a:rPr lang="ko-KR" altLang="en-US" dirty="0"/>
              <a:t>시 </a:t>
            </a:r>
            <a:r>
              <a:rPr lang="en-US" altLang="ko-KR" dirty="0"/>
              <a:t>Payload </a:t>
            </a:r>
            <a:r>
              <a:rPr lang="ko-KR" altLang="en-US" dirty="0"/>
              <a:t>장비에 위치 정보 전달</a:t>
            </a:r>
            <a:r>
              <a:rPr lang="en-US" altLang="ko-KR" dirty="0"/>
              <a:t>, </a:t>
            </a:r>
            <a:r>
              <a:rPr lang="ko-KR" altLang="en-US" dirty="0" err="1"/>
              <a:t>지상국</a:t>
            </a:r>
            <a:r>
              <a:rPr lang="ko-KR" altLang="en-US" dirty="0"/>
              <a:t> 시간과 원자시계 오차 계산</a:t>
            </a:r>
            <a:endParaRPr lang="en-US" altLang="ko-KR" dirty="0"/>
          </a:p>
        </p:txBody>
      </p:sp>
    </p:spTree>
    <p:extLst>
      <p:ext uri="{BB962C8B-B14F-4D97-AF65-F5344CB8AC3E}">
        <p14:creationId xmlns:p14="http://schemas.microsoft.com/office/powerpoint/2010/main" val="39947953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5E8BA95-6C9A-4467-BEB8-E81722CF7AFA}"/>
              </a:ext>
            </a:extLst>
          </p:cNvPr>
          <p:cNvSpPr/>
          <p:nvPr/>
        </p:nvSpPr>
        <p:spPr>
          <a:xfrm>
            <a:off x="1562100" y="1462088"/>
            <a:ext cx="6096000" cy="22050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C&amp;DH Hardware Architecture</a:t>
            </a:r>
            <a:endParaRPr lang="ko-KR" altLang="en-US" dirty="0"/>
          </a:p>
        </p:txBody>
      </p:sp>
      <p:pic>
        <p:nvPicPr>
          <p:cNvPr id="6" name="그림 5">
            <a:extLst>
              <a:ext uri="{FF2B5EF4-FFF2-40B4-BE49-F238E27FC236}">
                <a16:creationId xmlns:a16="http://schemas.microsoft.com/office/drawing/2014/main" id="{B4AA799A-9A51-4A5C-820D-9B7B2A2EE46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31657" y="1639887"/>
            <a:ext cx="5480685" cy="1863725"/>
          </a:xfrm>
          <a:prstGeom prst="rect">
            <a:avLst/>
          </a:prstGeom>
          <a:noFill/>
        </p:spPr>
      </p:pic>
    </p:spTree>
    <p:extLst>
      <p:ext uri="{BB962C8B-B14F-4D97-AF65-F5344CB8AC3E}">
        <p14:creationId xmlns:p14="http://schemas.microsoft.com/office/powerpoint/2010/main" val="25774828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85E8BA95-6C9A-4467-BEB8-E81722CF7AFA}"/>
              </a:ext>
            </a:extLst>
          </p:cNvPr>
          <p:cNvSpPr/>
          <p:nvPr/>
        </p:nvSpPr>
        <p:spPr>
          <a:xfrm>
            <a:off x="1562100" y="1447800"/>
            <a:ext cx="6096000" cy="287178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a:p>
        </p:txBody>
      </p:sp>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C&amp;DH Software Architecture</a:t>
            </a:r>
            <a:endParaRPr lang="ko-KR" altLang="en-US" dirty="0"/>
          </a:p>
        </p:txBody>
      </p:sp>
      <p:pic>
        <p:nvPicPr>
          <p:cNvPr id="5" name="그림 4">
            <a:extLst>
              <a:ext uri="{FF2B5EF4-FFF2-40B4-BE49-F238E27FC236}">
                <a16:creationId xmlns:a16="http://schemas.microsoft.com/office/drawing/2014/main" id="{261E3A64-01BC-4044-A0A4-A448D1E8BCE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4992" y="1603057"/>
            <a:ext cx="5454015" cy="2575560"/>
          </a:xfrm>
          <a:prstGeom prst="rect">
            <a:avLst/>
          </a:prstGeom>
          <a:noFill/>
        </p:spPr>
      </p:pic>
    </p:spTree>
    <p:extLst>
      <p:ext uri="{BB962C8B-B14F-4D97-AF65-F5344CB8AC3E}">
        <p14:creationId xmlns:p14="http://schemas.microsoft.com/office/powerpoint/2010/main" val="30482870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092D85C-CE54-46C9-8C84-04F71BADC7C1}"/>
              </a:ext>
            </a:extLst>
          </p:cNvPr>
          <p:cNvSpPr>
            <a:spLocks noGrp="1"/>
          </p:cNvSpPr>
          <p:nvPr>
            <p:ph type="title"/>
          </p:nvPr>
        </p:nvSpPr>
        <p:spPr>
          <a:xfrm>
            <a:off x="938499" y="445025"/>
            <a:ext cx="6462425" cy="941400"/>
          </a:xfrm>
        </p:spPr>
        <p:txBody>
          <a:bodyPr/>
          <a:lstStyle/>
          <a:p>
            <a:r>
              <a:rPr lang="en-US" altLang="ko-KR" dirty="0"/>
              <a:t>Complexity</a:t>
            </a:r>
            <a:endParaRPr lang="ko-KR" altLang="en-US" dirty="0"/>
          </a:p>
        </p:txBody>
      </p:sp>
      <p:graphicFrame>
        <p:nvGraphicFramePr>
          <p:cNvPr id="4" name="표 3">
            <a:extLst>
              <a:ext uri="{FF2B5EF4-FFF2-40B4-BE49-F238E27FC236}">
                <a16:creationId xmlns:a16="http://schemas.microsoft.com/office/drawing/2014/main" id="{4423B311-08AB-4930-AA32-790D4E695E29}"/>
              </a:ext>
            </a:extLst>
          </p:cNvPr>
          <p:cNvGraphicFramePr>
            <a:graphicFrameLocks noGrp="1"/>
          </p:cNvGraphicFramePr>
          <p:nvPr/>
        </p:nvGraphicFramePr>
        <p:xfrm>
          <a:off x="1709102" y="1826323"/>
          <a:ext cx="5725795" cy="2081092"/>
        </p:xfrm>
        <a:graphic>
          <a:graphicData uri="http://schemas.openxmlformats.org/drawingml/2006/table">
            <a:tbl>
              <a:tblPr firstRow="1" firstCol="1" bandRow="1">
                <a:tableStyleId>{FABFCF23-3B69-468F-B69F-88F6DE6A72F2}</a:tableStyleId>
              </a:tblPr>
              <a:tblGrid>
                <a:gridCol w="1908175">
                  <a:extLst>
                    <a:ext uri="{9D8B030D-6E8A-4147-A177-3AD203B41FA5}">
                      <a16:colId xmlns:a16="http://schemas.microsoft.com/office/drawing/2014/main" val="3715622498"/>
                    </a:ext>
                  </a:extLst>
                </a:gridCol>
                <a:gridCol w="1908810">
                  <a:extLst>
                    <a:ext uri="{9D8B030D-6E8A-4147-A177-3AD203B41FA5}">
                      <a16:colId xmlns:a16="http://schemas.microsoft.com/office/drawing/2014/main" val="2697570873"/>
                    </a:ext>
                  </a:extLst>
                </a:gridCol>
                <a:gridCol w="1908810">
                  <a:extLst>
                    <a:ext uri="{9D8B030D-6E8A-4147-A177-3AD203B41FA5}">
                      <a16:colId xmlns:a16="http://schemas.microsoft.com/office/drawing/2014/main" val="1465239824"/>
                    </a:ext>
                  </a:extLst>
                </a:gridCol>
              </a:tblGrid>
              <a:tr h="0">
                <a:tc gridSpan="2">
                  <a:txBody>
                    <a:bodyPr/>
                    <a:lstStyle/>
                    <a:p>
                      <a:pPr algn="just" latinLnBrk="1">
                        <a:lnSpc>
                          <a:spcPct val="115000"/>
                        </a:lnSpc>
                        <a:spcAft>
                          <a:spcPts val="1000"/>
                        </a:spcAft>
                      </a:pPr>
                      <a:r>
                        <a:rPr lang="en-US" sz="1000" b="1" kern="100" dirty="0">
                          <a:solidFill>
                            <a:srgbClr val="000000"/>
                          </a:solidFill>
                          <a:effectLst/>
                        </a:rPr>
                        <a:t> </a:t>
                      </a:r>
                      <a:r>
                        <a:rPr lang="ko-KR" altLang="en-US" sz="1000" b="1" kern="100" dirty="0">
                          <a:solidFill>
                            <a:srgbClr val="000000"/>
                          </a:solidFill>
                          <a:effectLst/>
                        </a:rPr>
                        <a:t>항목</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hMerge="1">
                  <a:txBody>
                    <a:bodyPr/>
                    <a:lstStyle/>
                    <a:p>
                      <a:pPr latinLnBrk="1"/>
                      <a:endParaRPr lang="ko-KR" altLang="en-US"/>
                    </a:p>
                  </a:txBody>
                  <a:tcPr/>
                </a:tc>
                <a:tc>
                  <a:txBody>
                    <a:bodyPr/>
                    <a:lstStyle/>
                    <a:p>
                      <a:pPr algn="just" latinLnBrk="1">
                        <a:lnSpc>
                          <a:spcPct val="115000"/>
                        </a:lnSpc>
                        <a:spcAft>
                          <a:spcPts val="1000"/>
                        </a:spcAft>
                      </a:pPr>
                      <a:r>
                        <a:rPr lang="en-US" sz="1000" b="1" kern="100" dirty="0">
                          <a:solidFill>
                            <a:srgbClr val="000000"/>
                          </a:solidFill>
                          <a:effectLst/>
                        </a:rPr>
                        <a:t> </a:t>
                      </a:r>
                      <a:r>
                        <a:rPr lang="en-US" sz="1000" b="1" kern="100" dirty="0" err="1">
                          <a:solidFill>
                            <a:srgbClr val="000000"/>
                          </a:solidFill>
                          <a:effectLst/>
                        </a:rPr>
                        <a:t>Requirements&amp;Constrains</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654703172"/>
                  </a:ext>
                </a:extLst>
              </a:tr>
              <a:tr h="0">
                <a:tc rowSpan="4">
                  <a:txBody>
                    <a:bodyPr/>
                    <a:lstStyle/>
                    <a:p>
                      <a:pPr algn="just" latinLnBrk="1">
                        <a:lnSpc>
                          <a:spcPct val="115000"/>
                        </a:lnSpc>
                        <a:spcAft>
                          <a:spcPts val="1000"/>
                        </a:spcAft>
                      </a:pPr>
                      <a:r>
                        <a:rPr lang="en-US" sz="1000" b="1" kern="100">
                          <a:solidFill>
                            <a:srgbClr val="000000"/>
                          </a:solidFill>
                          <a:effectLst/>
                        </a:rPr>
                        <a:t>Command Processing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CMD rates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50cmds/s </a:t>
                      </a:r>
                      <a:r>
                        <a:rPr lang="ko-KR" sz="1000" kern="100">
                          <a:solidFill>
                            <a:srgbClr val="000000"/>
                          </a:solidFill>
                          <a:effectLst/>
                        </a:rPr>
                        <a:t>이상</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152309979"/>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effectLst/>
                        </a:rPr>
                        <a:t>OBC</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Required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530657725"/>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solidFill>
                            <a:srgbClr val="000000"/>
                          </a:solidFill>
                          <a:effectLst/>
                        </a:rPr>
                        <a:t>Channels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200</a:t>
                      </a:r>
                      <a:r>
                        <a:rPr lang="ko-KR" sz="1000" kern="100">
                          <a:solidFill>
                            <a:srgbClr val="000000"/>
                          </a:solidFill>
                          <a:effectLst/>
                        </a:rPr>
                        <a:t>개 이하</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900588371"/>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effectLst/>
                        </a:rPr>
                        <a:t>Stored commands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Required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4094875555"/>
                  </a:ext>
                </a:extLst>
              </a:tr>
              <a:tr h="0">
                <a:tc rowSpan="5">
                  <a:txBody>
                    <a:bodyPr/>
                    <a:lstStyle/>
                    <a:p>
                      <a:pPr algn="just" latinLnBrk="1">
                        <a:lnSpc>
                          <a:spcPct val="115000"/>
                        </a:lnSpc>
                        <a:spcAft>
                          <a:spcPts val="1000"/>
                        </a:spcAft>
                      </a:pPr>
                      <a:r>
                        <a:rPr lang="en-US" sz="1000" b="1" kern="100" dirty="0">
                          <a:solidFill>
                            <a:srgbClr val="000000"/>
                          </a:solidFill>
                          <a:effectLst/>
                        </a:rPr>
                        <a:t>Telemetry Processing</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TLM rates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64kbps </a:t>
                      </a:r>
                      <a:r>
                        <a:rPr lang="ko-KR" sz="1000" kern="100">
                          <a:solidFill>
                            <a:srgbClr val="000000"/>
                          </a:solidFill>
                          <a:effectLst/>
                        </a:rPr>
                        <a:t>이상</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431128146"/>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effectLst/>
                        </a:rPr>
                        <a:t>HK Data rate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Low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361911890"/>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solidFill>
                            <a:srgbClr val="000000"/>
                          </a:solidFill>
                          <a:effectLst/>
                        </a:rPr>
                        <a:t>Payload Data rate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Low</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2462829383"/>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effectLst/>
                        </a:rPr>
                        <a:t>Channels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200</a:t>
                      </a:r>
                      <a:r>
                        <a:rPr lang="ko-KR" sz="1000" kern="100">
                          <a:effectLst/>
                        </a:rPr>
                        <a:t>개 이하</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150212313"/>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solidFill>
                            <a:srgbClr val="000000"/>
                          </a:solidFill>
                          <a:effectLst/>
                        </a:rPr>
                        <a:t>Computer interface</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Required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012064530"/>
                  </a:ext>
                </a:extLst>
              </a:tr>
              <a:tr h="0">
                <a:tc rowSpan="3">
                  <a:txBody>
                    <a:bodyPr/>
                    <a:lstStyle/>
                    <a:p>
                      <a:pPr algn="just" latinLnBrk="1">
                        <a:lnSpc>
                          <a:spcPct val="115000"/>
                        </a:lnSpc>
                        <a:spcAft>
                          <a:spcPts val="1000"/>
                        </a:spcAft>
                      </a:pPr>
                      <a:r>
                        <a:rPr lang="en-US" sz="1000" b="1" kern="100">
                          <a:effectLst/>
                        </a:rPr>
                        <a:t>Other</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Mission Time clock</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Required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3716379908"/>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solidFill>
                            <a:srgbClr val="000000"/>
                          </a:solidFill>
                          <a:effectLst/>
                        </a:rPr>
                        <a:t>Computer Watchdog</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solidFill>
                            <a:srgbClr val="000000"/>
                          </a:solidFill>
                          <a:effectLst/>
                        </a:rPr>
                        <a:t>Required</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234341689"/>
                  </a:ext>
                </a:extLst>
              </a:tr>
              <a:tr h="0">
                <a:tc vMerge="1">
                  <a:txBody>
                    <a:bodyPr/>
                    <a:lstStyle/>
                    <a:p>
                      <a:pPr latinLnBrk="1"/>
                      <a:endParaRPr lang="ko-KR" altLang="en-US"/>
                    </a:p>
                  </a:txBody>
                  <a:tcPr/>
                </a:tc>
                <a:tc>
                  <a:txBody>
                    <a:bodyPr/>
                    <a:lstStyle/>
                    <a:p>
                      <a:pPr algn="just" latinLnBrk="1">
                        <a:lnSpc>
                          <a:spcPct val="115000"/>
                        </a:lnSpc>
                        <a:spcAft>
                          <a:spcPts val="1000"/>
                        </a:spcAft>
                      </a:pPr>
                      <a:r>
                        <a:rPr lang="en-US" sz="1000" kern="100">
                          <a:effectLst/>
                        </a:rPr>
                        <a:t>ACS functions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dirty="0">
                          <a:effectLst/>
                        </a:rPr>
                        <a:t>Uncertain</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361870929"/>
                  </a:ext>
                </a:extLst>
              </a:tr>
            </a:tbl>
          </a:graphicData>
        </a:graphic>
      </p:graphicFrame>
    </p:spTree>
    <p:extLst>
      <p:ext uri="{BB962C8B-B14F-4D97-AF65-F5344CB8AC3E}">
        <p14:creationId xmlns:p14="http://schemas.microsoft.com/office/powerpoint/2010/main" val="19249226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9EEFDC-A8F5-4EFF-97AD-2B4E1664BE9B}"/>
              </a:ext>
            </a:extLst>
          </p:cNvPr>
          <p:cNvSpPr>
            <a:spLocks noGrp="1"/>
          </p:cNvSpPr>
          <p:nvPr>
            <p:ph type="title"/>
          </p:nvPr>
        </p:nvSpPr>
        <p:spPr/>
        <p:txBody>
          <a:bodyPr/>
          <a:lstStyle/>
          <a:p>
            <a:r>
              <a:rPr lang="en-US" altLang="ko-KR" dirty="0"/>
              <a:t>Complexity</a:t>
            </a:r>
            <a:endParaRPr lang="ko-KR" altLang="en-US" dirty="0"/>
          </a:p>
        </p:txBody>
      </p:sp>
      <p:sp>
        <p:nvSpPr>
          <p:cNvPr id="3" name="텍스트 개체 틀 2">
            <a:extLst>
              <a:ext uri="{FF2B5EF4-FFF2-40B4-BE49-F238E27FC236}">
                <a16:creationId xmlns:a16="http://schemas.microsoft.com/office/drawing/2014/main" id="{C19FC980-0077-4EDD-9F62-416ADE6CD2E7}"/>
              </a:ext>
            </a:extLst>
          </p:cNvPr>
          <p:cNvSpPr>
            <a:spLocks noGrp="1"/>
          </p:cNvSpPr>
          <p:nvPr>
            <p:ph type="body" idx="1"/>
          </p:nvPr>
        </p:nvSpPr>
        <p:spPr>
          <a:xfrm>
            <a:off x="938500" y="2116475"/>
            <a:ext cx="3523963" cy="2760900"/>
          </a:xfrm>
        </p:spPr>
        <p:txBody>
          <a:bodyPr/>
          <a:lstStyle/>
          <a:p>
            <a:r>
              <a:rPr lang="en-US" altLang="ko-KR" dirty="0"/>
              <a:t>Command Processing : Typical</a:t>
            </a:r>
          </a:p>
          <a:p>
            <a:endParaRPr lang="en-US" altLang="ko-KR" dirty="0"/>
          </a:p>
          <a:p>
            <a:r>
              <a:rPr lang="en-US" altLang="ko-KR" dirty="0"/>
              <a:t>Telemetry Processing : Low</a:t>
            </a:r>
          </a:p>
          <a:p>
            <a:endParaRPr lang="en-US" altLang="ko-KR" dirty="0"/>
          </a:p>
          <a:p>
            <a:r>
              <a:rPr lang="en-US" altLang="ko-KR" dirty="0"/>
              <a:t>Others : Typical</a:t>
            </a:r>
            <a:endParaRPr lang="ko-KR" altLang="en-US" dirty="0"/>
          </a:p>
        </p:txBody>
      </p:sp>
      <p:sp>
        <p:nvSpPr>
          <p:cNvPr id="4" name="텍스트 개체 틀 2">
            <a:extLst>
              <a:ext uri="{FF2B5EF4-FFF2-40B4-BE49-F238E27FC236}">
                <a16:creationId xmlns:a16="http://schemas.microsoft.com/office/drawing/2014/main" id="{DB2D4BEF-7F1F-4F65-ADF8-F0CE6B14C244}"/>
              </a:ext>
            </a:extLst>
          </p:cNvPr>
          <p:cNvSpPr txBox="1">
            <a:spLocks/>
          </p:cNvSpPr>
          <p:nvPr/>
        </p:nvSpPr>
        <p:spPr>
          <a:xfrm>
            <a:off x="4734213" y="2116475"/>
            <a:ext cx="3523963" cy="2760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1pPr>
            <a:lvl2pPr marL="914400" marR="0" lvl="1"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r>
              <a:rPr lang="en-US" altLang="ko-KR" dirty="0"/>
              <a:t>Size : </a:t>
            </a:r>
            <a:r>
              <a:rPr lang="en-US" altLang="ko-KR" dirty="0">
                <a:effectLst/>
                <a:latin typeface="맑은 고딕" panose="020B0503020000020004" pitchFamily="50" charset="-127"/>
                <a:cs typeface="Times New Roman" panose="02020603050405020304" pitchFamily="18" charset="0"/>
              </a:rPr>
              <a:t>6000~9000cm</a:t>
            </a:r>
            <a:r>
              <a:rPr lang="en-US" altLang="ko-KR" baseline="30000" dirty="0">
                <a:effectLst/>
                <a:latin typeface="맑은 고딕" panose="020B0503020000020004" pitchFamily="50" charset="-127"/>
                <a:cs typeface="Times New Roman" panose="02020603050405020304" pitchFamily="18" charset="0"/>
              </a:rPr>
              <a:t>3</a:t>
            </a:r>
          </a:p>
          <a:p>
            <a:endParaRPr lang="en-US" altLang="ko-KR" dirty="0"/>
          </a:p>
          <a:p>
            <a:r>
              <a:rPr lang="en-US" altLang="ko-KR" dirty="0"/>
              <a:t>Weight : 4.5~6.5kg</a:t>
            </a:r>
          </a:p>
          <a:p>
            <a:endParaRPr lang="en-US" altLang="ko-KR" dirty="0"/>
          </a:p>
          <a:p>
            <a:r>
              <a:rPr lang="en-US" altLang="ko-KR" dirty="0"/>
              <a:t>Power : 13~18W</a:t>
            </a:r>
            <a:endParaRPr lang="ko-KR" altLang="en-US" dirty="0"/>
          </a:p>
        </p:txBody>
      </p:sp>
      <p:cxnSp>
        <p:nvCxnSpPr>
          <p:cNvPr id="6" name="직선 화살표 연결선 5">
            <a:extLst>
              <a:ext uri="{FF2B5EF4-FFF2-40B4-BE49-F238E27FC236}">
                <a16:creationId xmlns:a16="http://schemas.microsoft.com/office/drawing/2014/main" id="{9DCB03AC-3D53-4499-9544-29E5715DB634}"/>
              </a:ext>
            </a:extLst>
          </p:cNvPr>
          <p:cNvCxnSpPr/>
          <p:nvPr/>
        </p:nvCxnSpPr>
        <p:spPr>
          <a:xfrm>
            <a:off x="4376738" y="2719388"/>
            <a:ext cx="4619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14876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6DE007-D8A0-4E1F-8607-046BB1922325}"/>
              </a:ext>
            </a:extLst>
          </p:cNvPr>
          <p:cNvSpPr>
            <a:spLocks noGrp="1"/>
          </p:cNvSpPr>
          <p:nvPr>
            <p:ph type="title"/>
          </p:nvPr>
        </p:nvSpPr>
        <p:spPr/>
        <p:txBody>
          <a:bodyPr/>
          <a:lstStyle/>
          <a:p>
            <a:r>
              <a:rPr lang="en-US" altLang="ko-KR" dirty="0"/>
              <a:t>C&amp;DH Hardware</a:t>
            </a:r>
            <a:endParaRPr lang="ko-KR" altLang="en-US" dirty="0"/>
          </a:p>
        </p:txBody>
      </p:sp>
      <p:graphicFrame>
        <p:nvGraphicFramePr>
          <p:cNvPr id="4" name="표 3">
            <a:extLst>
              <a:ext uri="{FF2B5EF4-FFF2-40B4-BE49-F238E27FC236}">
                <a16:creationId xmlns:a16="http://schemas.microsoft.com/office/drawing/2014/main" id="{0764EB83-A926-4A49-ACFF-BF3BFF081EED}"/>
              </a:ext>
            </a:extLst>
          </p:cNvPr>
          <p:cNvGraphicFramePr>
            <a:graphicFrameLocks noGrp="1"/>
          </p:cNvGraphicFramePr>
          <p:nvPr/>
        </p:nvGraphicFramePr>
        <p:xfrm>
          <a:off x="1304925" y="1646556"/>
          <a:ext cx="6534150" cy="2430144"/>
        </p:xfrm>
        <a:graphic>
          <a:graphicData uri="http://schemas.openxmlformats.org/drawingml/2006/table">
            <a:tbl>
              <a:tblPr firstRow="1" firstCol="1" bandRow="1">
                <a:tableStyleId>{FABFCF23-3B69-468F-B69F-88F6DE6A72F2}</a:tableStyleId>
              </a:tblPr>
              <a:tblGrid>
                <a:gridCol w="3267075">
                  <a:extLst>
                    <a:ext uri="{9D8B030D-6E8A-4147-A177-3AD203B41FA5}">
                      <a16:colId xmlns:a16="http://schemas.microsoft.com/office/drawing/2014/main" val="1837126056"/>
                    </a:ext>
                  </a:extLst>
                </a:gridCol>
                <a:gridCol w="3267075">
                  <a:extLst>
                    <a:ext uri="{9D8B030D-6E8A-4147-A177-3AD203B41FA5}">
                      <a16:colId xmlns:a16="http://schemas.microsoft.com/office/drawing/2014/main" val="178965656"/>
                    </a:ext>
                  </a:extLst>
                </a:gridCol>
              </a:tblGrid>
              <a:tr h="325146">
                <a:tc>
                  <a:txBody>
                    <a:bodyPr/>
                    <a:lstStyle/>
                    <a:p>
                      <a:pPr algn="just" latinLnBrk="1">
                        <a:lnSpc>
                          <a:spcPct val="115000"/>
                        </a:lnSpc>
                        <a:spcAft>
                          <a:spcPts val="1000"/>
                        </a:spcAft>
                      </a:pPr>
                      <a:r>
                        <a:rPr lang="en-US" sz="1000" kern="100">
                          <a:effectLst/>
                        </a:rPr>
                        <a:t>Space Inventor Z7000-P3</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a:effectLst/>
                        </a:rPr>
                        <a:t>Performances</a:t>
                      </a:r>
                      <a:endParaRPr lang="ko-KR"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079746865"/>
                  </a:ext>
                </a:extLst>
              </a:tr>
              <a:tr h="2104998">
                <a:tc>
                  <a:txBody>
                    <a:bodyPr/>
                    <a:lstStyle/>
                    <a:p>
                      <a:pPr algn="just" latinLnBrk="1">
                        <a:lnSpc>
                          <a:spcPct val="115000"/>
                        </a:lnSpc>
                        <a:spcAft>
                          <a:spcPts val="1000"/>
                        </a:spcAft>
                      </a:pPr>
                      <a:endParaRPr lang="en-US" sz="1000" kern="10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tc>
                  <a:txBody>
                    <a:bodyPr/>
                    <a:lstStyle/>
                    <a:p>
                      <a:pPr algn="just" latinLnBrk="1">
                        <a:lnSpc>
                          <a:spcPct val="115000"/>
                        </a:lnSpc>
                        <a:spcAft>
                          <a:spcPts val="1000"/>
                        </a:spcAft>
                      </a:pPr>
                      <a:r>
                        <a:rPr lang="en-US" sz="1000" kern="100" dirty="0">
                          <a:effectLst/>
                        </a:rPr>
                        <a:t>Memory : 256KB on-chip memory, 512 MB ECC or 1GB RAM, up to 64GB mass storage</a:t>
                      </a:r>
                      <a:br>
                        <a:rPr lang="en-US" sz="1000" kern="100" dirty="0">
                          <a:effectLst/>
                        </a:rPr>
                      </a:br>
                      <a:r>
                        <a:rPr lang="en-US" sz="1000" kern="100" dirty="0">
                          <a:effectLst/>
                        </a:rPr>
                        <a:t>FPGA : 125K Programmable Logic Cells </a:t>
                      </a:r>
                      <a:br>
                        <a:rPr lang="en-US" sz="1000" kern="100" dirty="0">
                          <a:effectLst/>
                        </a:rPr>
                      </a:br>
                      <a:r>
                        <a:rPr lang="en-US" sz="1000" kern="100" dirty="0">
                          <a:effectLst/>
                        </a:rPr>
                        <a:t>Power consumption: &lt;1.5 W idle. Up to 20 W</a:t>
                      </a:r>
                      <a:br>
                        <a:rPr lang="en-US" sz="1000" kern="100" dirty="0">
                          <a:effectLst/>
                        </a:rPr>
                      </a:br>
                      <a:r>
                        <a:rPr lang="en-US" sz="1000" kern="100" dirty="0">
                          <a:effectLst/>
                        </a:rPr>
                        <a:t>Measurements: (L, W, H) 91.14 x 94 x 13 mm Mass : 155 g</a:t>
                      </a:r>
                      <a:endParaRPr lang="ko-KR" sz="1000" kern="100" dirty="0">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tc>
                <a:extLst>
                  <a:ext uri="{0D108BD9-81ED-4DB2-BD59-A6C34878D82A}">
                    <a16:rowId xmlns:a16="http://schemas.microsoft.com/office/drawing/2014/main" val="1730377311"/>
                  </a:ext>
                </a:extLst>
              </a:tr>
            </a:tbl>
          </a:graphicData>
        </a:graphic>
      </p:graphicFrame>
      <p:pic>
        <p:nvPicPr>
          <p:cNvPr id="9217" name="그림 14" descr="Z7000-P3 Versatile Payload and Onboard Computing Platform | satsearch">
            <a:extLst>
              <a:ext uri="{FF2B5EF4-FFF2-40B4-BE49-F238E27FC236}">
                <a16:creationId xmlns:a16="http://schemas.microsoft.com/office/drawing/2014/main" id="{CCFA3F33-7B13-4C2E-BA93-4475147790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1612" y="2226130"/>
            <a:ext cx="2990850" cy="1510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48716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8.1 EPS Objective &amp; Constraints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2" name="표 2">
            <a:extLst>
              <a:ext uri="{FF2B5EF4-FFF2-40B4-BE49-F238E27FC236}">
                <a16:creationId xmlns:a16="http://schemas.microsoft.com/office/drawing/2014/main" id="{C5916ED5-893D-4B56-A06E-9A027553C9C2}"/>
              </a:ext>
            </a:extLst>
          </p:cNvPr>
          <p:cNvGraphicFramePr>
            <a:graphicFrameLocks noGrp="1"/>
          </p:cNvGraphicFramePr>
          <p:nvPr/>
        </p:nvGraphicFramePr>
        <p:xfrm>
          <a:off x="938500" y="1651942"/>
          <a:ext cx="7333964" cy="2653773"/>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467863794"/>
                    </a:ext>
                  </a:extLst>
                </a:gridCol>
                <a:gridCol w="5952982">
                  <a:extLst>
                    <a:ext uri="{9D8B030D-6E8A-4147-A177-3AD203B41FA5}">
                      <a16:colId xmlns:a16="http://schemas.microsoft.com/office/drawing/2014/main" val="2403154746"/>
                    </a:ext>
                  </a:extLst>
                </a:gridCol>
              </a:tblGrid>
              <a:tr h="432531">
                <a:tc gridSpan="2">
                  <a:txBody>
                    <a:bodyPr/>
                    <a:lstStyle/>
                    <a:p>
                      <a:pPr algn="just" latinLnBrk="1"/>
                      <a:r>
                        <a:rPr lang="en-US" altLang="ko-KR" sz="1400" b="1" i="0" u="none" strike="noStrike" cap="none" dirty="0">
                          <a:solidFill>
                            <a:schemeClr val="bg1"/>
                          </a:solidFill>
                          <a:effectLst/>
                          <a:latin typeface="+mj-lt"/>
                          <a:ea typeface="Arial"/>
                          <a:cs typeface="Arial"/>
                          <a:sym typeface="Arial"/>
                        </a:rPr>
                        <a:t>Electrical Power Subsystem</a:t>
                      </a:r>
                      <a:endParaRPr lang="ko-KR" altLang="en-US" b="1" dirty="0">
                        <a:solidFill>
                          <a:schemeClr val="bg1"/>
                        </a:solidFill>
                        <a:latin typeface="+mj-lt"/>
                      </a:endParaRPr>
                    </a:p>
                  </a:txBody>
                  <a:tcPr anchor="ctr" anchorCtr="1">
                    <a:solidFill>
                      <a:schemeClr val="tx2"/>
                    </a:solidFill>
                  </a:tcPr>
                </a:tc>
                <a:tc hMerge="1">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495716348"/>
                  </a:ext>
                </a:extLst>
              </a:tr>
              <a:tr h="68656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Objective</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l" latinLnBrk="1">
                        <a:lnSpc>
                          <a:spcPct val="115000"/>
                        </a:lnSpc>
                        <a:spcAft>
                          <a:spcPts val="1000"/>
                        </a:spcAft>
                      </a:pPr>
                      <a:r>
                        <a:rPr lang="ko-KR" altLang="en-US" sz="1200" b="0" kern="100" dirty="0">
                          <a:solidFill>
                            <a:schemeClr val="bg1"/>
                          </a:solidFill>
                          <a:effectLst/>
                          <a:latin typeface="+mj-lt"/>
                          <a:ea typeface="맑은 고딕" panose="020B0503020000020004" pitchFamily="50" charset="-127"/>
                          <a:cs typeface="Times New Roman" panose="02020603050405020304" pitchFamily="18" charset="0"/>
                        </a:rPr>
                        <a:t>임무가 진행되는 동안 각 서브시스템에서 필요한 전력을 끊임없이 공급하여 정상적으로 작동할 수 있어야 한다</a:t>
                      </a:r>
                      <a:r>
                        <a:rPr lang="en-US" altLang="ko-KR" sz="1200" b="0" kern="100" dirty="0">
                          <a:solidFill>
                            <a:schemeClr val="bg1"/>
                          </a:solidFill>
                          <a:effectLst/>
                          <a:latin typeface="+mj-lt"/>
                          <a:ea typeface="맑은 고딕" panose="020B0503020000020004" pitchFamily="50" charset="-127"/>
                          <a:cs typeface="Times New Roman" panose="02020603050405020304" pitchFamily="18" charset="0"/>
                        </a:rPr>
                        <a:t>.</a:t>
                      </a:r>
                      <a:endParaRPr lang="ko-KR" sz="1200" b="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254189987"/>
                  </a:ext>
                </a:extLst>
              </a:tr>
              <a:tr h="153467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Constraints </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marL="0" lvl="0" indent="0" algn="l" latinLnBrk="1">
                        <a:lnSpc>
                          <a:spcPct val="115000"/>
                        </a:lnSpc>
                        <a:spcAft>
                          <a:spcPts val="1000"/>
                        </a:spcAft>
                        <a:buFont typeface="+mj-lt"/>
                        <a:buNone/>
                      </a:pPr>
                      <a:r>
                        <a:rPr lang="en-US" altLang="ko-KR" sz="1200" b="0" kern="100" dirty="0">
                          <a:solidFill>
                            <a:schemeClr val="bg1"/>
                          </a:solidFill>
                          <a:effectLst/>
                          <a:latin typeface="+mj-lt"/>
                          <a:ea typeface="맑은 고딕" panose="020B0503020000020004" pitchFamily="50" charset="-127"/>
                          <a:cs typeface="Times New Roman" panose="02020603050405020304" pitchFamily="18" charset="0"/>
                        </a:rPr>
                        <a:t>1. </a:t>
                      </a:r>
                      <a:r>
                        <a:rPr lang="ko-KR" altLang="en-US" sz="1200" b="0" kern="100" dirty="0">
                          <a:solidFill>
                            <a:schemeClr val="bg1"/>
                          </a:solidFill>
                          <a:effectLst/>
                          <a:latin typeface="+mj-lt"/>
                          <a:ea typeface="맑은 고딕" panose="020B0503020000020004" pitchFamily="50" charset="-127"/>
                          <a:cs typeface="Times New Roman" panose="02020603050405020304" pitchFamily="18" charset="0"/>
                        </a:rPr>
                        <a:t>궤도의 모든 부분에서 균등하게 태양빛이 복사되지 않는다</a:t>
                      </a:r>
                    </a:p>
                    <a:p>
                      <a:pPr marL="0" lvl="0" indent="0" algn="l" latinLnBrk="1">
                        <a:lnSpc>
                          <a:spcPct val="115000"/>
                        </a:lnSpc>
                        <a:spcAft>
                          <a:spcPts val="1000"/>
                        </a:spcAft>
                        <a:buFont typeface="+mj-lt"/>
                        <a:buNone/>
                      </a:pPr>
                      <a:r>
                        <a:rPr lang="en-US" altLang="ko-KR" sz="1200" b="0" kern="100" dirty="0">
                          <a:solidFill>
                            <a:schemeClr val="bg1"/>
                          </a:solidFill>
                          <a:effectLst/>
                          <a:latin typeface="+mj-lt"/>
                          <a:ea typeface="맑은 고딕" panose="020B0503020000020004" pitchFamily="50" charset="-127"/>
                          <a:cs typeface="Times New Roman" panose="02020603050405020304" pitchFamily="18" charset="0"/>
                        </a:rPr>
                        <a:t>2. </a:t>
                      </a:r>
                      <a:r>
                        <a:rPr lang="ko-KR" altLang="en-US" sz="1200" b="0" kern="100" dirty="0">
                          <a:solidFill>
                            <a:schemeClr val="bg1"/>
                          </a:solidFill>
                          <a:effectLst/>
                          <a:latin typeface="+mj-lt"/>
                          <a:ea typeface="맑은 고딕" panose="020B0503020000020004" pitchFamily="50" charset="-127"/>
                          <a:cs typeface="Times New Roman" panose="02020603050405020304" pitchFamily="18" charset="0"/>
                        </a:rPr>
                        <a:t>식부분에서 태양전지판을 대신할 전력공급원이 필요하다</a:t>
                      </a:r>
                    </a:p>
                  </a:txBody>
                  <a:tcPr marL="68580" marR="68580" marT="0" marB="0" anchor="ctr"/>
                </a:tc>
                <a:extLst>
                  <a:ext uri="{0D108BD9-81ED-4DB2-BD59-A6C34878D82A}">
                    <a16:rowId xmlns:a16="http://schemas.microsoft.com/office/drawing/2014/main" val="1056094113"/>
                  </a:ext>
                </a:extLst>
              </a:tr>
            </a:tbl>
          </a:graphicData>
        </a:graphic>
      </p:graphicFrame>
    </p:spTree>
    <p:extLst>
      <p:ext uri="{BB962C8B-B14F-4D97-AF65-F5344CB8AC3E}">
        <p14:creationId xmlns:p14="http://schemas.microsoft.com/office/powerpoint/2010/main" val="12178739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8.2 EPS Requirements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2" name="표 1">
            <a:extLst>
              <a:ext uri="{FF2B5EF4-FFF2-40B4-BE49-F238E27FC236}">
                <a16:creationId xmlns:a16="http://schemas.microsoft.com/office/drawing/2014/main" id="{75240320-31A5-4545-88DC-935C4AE20710}"/>
              </a:ext>
            </a:extLst>
          </p:cNvPr>
          <p:cNvGraphicFramePr>
            <a:graphicFrameLocks noGrp="1"/>
          </p:cNvGraphicFramePr>
          <p:nvPr/>
        </p:nvGraphicFramePr>
        <p:xfrm>
          <a:off x="938500" y="1386425"/>
          <a:ext cx="7333964" cy="3165332"/>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299039512"/>
                    </a:ext>
                  </a:extLst>
                </a:gridCol>
                <a:gridCol w="5952982">
                  <a:extLst>
                    <a:ext uri="{9D8B030D-6E8A-4147-A177-3AD203B41FA5}">
                      <a16:colId xmlns:a16="http://schemas.microsoft.com/office/drawing/2014/main" val="2751108514"/>
                    </a:ext>
                  </a:extLst>
                </a:gridCol>
              </a:tblGrid>
              <a:tr h="432531">
                <a:tc gridSpan="2">
                  <a:txBody>
                    <a:bodyPr/>
                    <a:lstStyle/>
                    <a:p>
                      <a:pPr algn="ctr" latinLnBrk="1"/>
                      <a:r>
                        <a:rPr lang="en-US" altLang="ko-KR" sz="1400" b="1" i="0" u="none" strike="noStrike" cap="none" dirty="0">
                          <a:solidFill>
                            <a:schemeClr val="bg1"/>
                          </a:solidFill>
                          <a:effectLst/>
                          <a:latin typeface="+mj-lt"/>
                          <a:cs typeface="Arial"/>
                          <a:sym typeface="Arial"/>
                        </a:rPr>
                        <a:t>Contents</a:t>
                      </a:r>
                      <a:endParaRPr lang="ko-KR" altLang="en-US" b="1" dirty="0">
                        <a:solidFill>
                          <a:schemeClr val="bg1"/>
                        </a:solidFill>
                        <a:latin typeface="+mj-lt"/>
                      </a:endParaRPr>
                    </a:p>
                  </a:txBody>
                  <a:tcPr anchor="ctr">
                    <a:solidFill>
                      <a:schemeClr val="tx2"/>
                    </a:solidFill>
                  </a:tcPr>
                </a:tc>
                <a:tc hMerge="1">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734568593"/>
                  </a:ext>
                </a:extLst>
              </a:tr>
              <a:tr h="68656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EPS-001</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en-US" altLang="ko-KR" sz="1200" b="0" kern="100" dirty="0">
                          <a:solidFill>
                            <a:schemeClr val="bg1"/>
                          </a:solidFill>
                          <a:effectLst/>
                          <a:latin typeface="+mn-ea"/>
                          <a:ea typeface="+mn-ea"/>
                          <a:cs typeface="Times New Roman" panose="02020603050405020304" pitchFamily="18" charset="0"/>
                        </a:rPr>
                        <a:t>eps</a:t>
                      </a:r>
                      <a:r>
                        <a:rPr lang="ko-KR" altLang="en-US" sz="1200" b="0" kern="100" dirty="0">
                          <a:solidFill>
                            <a:schemeClr val="bg1"/>
                          </a:solidFill>
                          <a:effectLst/>
                          <a:latin typeface="+mn-ea"/>
                          <a:ea typeface="+mn-ea"/>
                          <a:cs typeface="Times New Roman" panose="02020603050405020304" pitchFamily="18" charset="0"/>
                        </a:rPr>
                        <a:t>는 인공위성의 임무가 끝날 때까지</a:t>
                      </a:r>
                      <a:r>
                        <a:rPr lang="en-US" altLang="ko-KR" sz="1200" b="0" kern="100" dirty="0">
                          <a:solidFill>
                            <a:schemeClr val="bg1"/>
                          </a:solidFill>
                          <a:effectLst/>
                          <a:latin typeface="+mn-ea"/>
                          <a:ea typeface="+mn-ea"/>
                          <a:cs typeface="Times New Roman" panose="02020603050405020304" pitchFamily="18" charset="0"/>
                        </a:rPr>
                        <a:t>(EOL) </a:t>
                      </a:r>
                      <a:r>
                        <a:rPr lang="ko-KR" altLang="en-US" sz="1200" b="0" kern="100" dirty="0">
                          <a:solidFill>
                            <a:schemeClr val="bg1"/>
                          </a:solidFill>
                          <a:effectLst/>
                          <a:latin typeface="+mn-ea"/>
                          <a:ea typeface="+mn-ea"/>
                          <a:cs typeface="Times New Roman" panose="02020603050405020304" pitchFamily="18" charset="0"/>
                        </a:rPr>
                        <a:t>위성의 운용에 필요한 전력을 공급할 수 있어야 한다</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860749560"/>
                  </a:ext>
                </a:extLst>
              </a:tr>
              <a:tr h="511559">
                <a:tc>
                  <a:txBody>
                    <a:bodyPr/>
                    <a:lstStyle/>
                    <a:p>
                      <a:pPr algn="ctr" latinLnBrk="1">
                        <a:lnSpc>
                          <a:spcPct val="115000"/>
                        </a:lnSpc>
                        <a:spcAft>
                          <a:spcPts val="1000"/>
                        </a:spcAft>
                      </a:pPr>
                      <a:r>
                        <a:rPr lang="en-US" altLang="ko-KR" sz="1200" b="1" i="0" u="none" strike="noStrike" kern="100" cap="none" dirty="0">
                          <a:solidFill>
                            <a:schemeClr val="bg1"/>
                          </a:solidFill>
                          <a:effectLst/>
                          <a:latin typeface="Arial"/>
                          <a:ea typeface="맑은 고딕" panose="020B0503020000020004" pitchFamily="50" charset="-127"/>
                          <a:cs typeface="Times New Roman" panose="02020603050405020304" pitchFamily="18" charset="0"/>
                          <a:sym typeface="Arial"/>
                        </a:rPr>
                        <a:t>EPS</a:t>
                      </a:r>
                      <a:r>
                        <a:rPr lang="en-US" sz="1200" b="1" kern="100" dirty="0">
                          <a:solidFill>
                            <a:schemeClr val="bg1"/>
                          </a:solidFill>
                          <a:effectLst/>
                          <a:latin typeface="+mj-lt"/>
                          <a:ea typeface="맑은 고딕" panose="020B0503020000020004" pitchFamily="50" charset="-127"/>
                          <a:cs typeface="Times New Roman" panose="02020603050405020304" pitchFamily="18" charset="0"/>
                        </a:rPr>
                        <a:t>-002</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en-US" altLang="ko-KR" sz="1200" b="0" kern="100" dirty="0">
                          <a:solidFill>
                            <a:schemeClr val="bg1"/>
                          </a:solidFill>
                          <a:effectLst/>
                          <a:latin typeface="+mn-ea"/>
                          <a:ea typeface="+mn-ea"/>
                          <a:cs typeface="Times New Roman" panose="02020603050405020304" pitchFamily="18" charset="0"/>
                        </a:rPr>
                        <a:t>eps</a:t>
                      </a:r>
                      <a:r>
                        <a:rPr lang="ko-KR" altLang="en-US" sz="1200" b="0" kern="100" dirty="0">
                          <a:solidFill>
                            <a:schemeClr val="bg1"/>
                          </a:solidFill>
                          <a:effectLst/>
                          <a:latin typeface="+mn-ea"/>
                          <a:ea typeface="+mn-ea"/>
                          <a:cs typeface="Times New Roman" panose="02020603050405020304" pitchFamily="18" charset="0"/>
                        </a:rPr>
                        <a:t>는 인공위성이 궤도를 움직이는 동안 전력에 끊임이 있어서는 안된다</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352655262"/>
                  </a:ext>
                </a:extLst>
              </a:tr>
              <a:tr h="511558">
                <a:tc>
                  <a:txBody>
                    <a:bodyPr/>
                    <a:lstStyle/>
                    <a:p>
                      <a:pPr algn="ctr" latinLnBrk="1">
                        <a:lnSpc>
                          <a:spcPct val="115000"/>
                        </a:lnSpc>
                        <a:spcAft>
                          <a:spcPts val="1000"/>
                        </a:spcAft>
                      </a:pPr>
                      <a:r>
                        <a:rPr lang="en-US" altLang="ko-KR" sz="1200" b="1" i="0" u="none" strike="noStrike" kern="100" cap="none" dirty="0">
                          <a:solidFill>
                            <a:schemeClr val="bg1"/>
                          </a:solidFill>
                          <a:effectLst/>
                          <a:latin typeface="Arial"/>
                          <a:ea typeface="맑은 고딕" panose="020B0503020000020004" pitchFamily="50" charset="-127"/>
                          <a:cs typeface="Times New Roman" panose="02020603050405020304" pitchFamily="18" charset="0"/>
                          <a:sym typeface="Arial"/>
                        </a:rPr>
                        <a:t>EPS</a:t>
                      </a:r>
                      <a:r>
                        <a:rPr lang="en-US" sz="1200" b="1" kern="100" dirty="0">
                          <a:solidFill>
                            <a:schemeClr val="bg1"/>
                          </a:solidFill>
                          <a:effectLst/>
                          <a:latin typeface="+mj-lt"/>
                          <a:ea typeface="맑은 고딕" panose="020B0503020000020004" pitchFamily="50" charset="-127"/>
                          <a:cs typeface="Times New Roman" panose="02020603050405020304" pitchFamily="18" charset="0"/>
                        </a:rPr>
                        <a:t>-003</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EOL</a:t>
                      </a: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에서의 배터리 </a:t>
                      </a: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DOD(Depth of Discharge)</a:t>
                      </a: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는 </a:t>
                      </a: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50% </a:t>
                      </a:r>
                      <a:r>
                        <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이상이어야 한다</a:t>
                      </a:r>
                    </a:p>
                  </a:txBody>
                  <a:tcPr marL="68580" marR="68580" marT="0" marB="0" anchor="ctr"/>
                </a:tc>
                <a:extLst>
                  <a:ext uri="{0D108BD9-81ED-4DB2-BD59-A6C34878D82A}">
                    <a16:rowId xmlns:a16="http://schemas.microsoft.com/office/drawing/2014/main" val="2024509436"/>
                  </a:ext>
                </a:extLst>
              </a:tr>
              <a:tr h="511559">
                <a:tc>
                  <a:txBody>
                    <a:bodyPr/>
                    <a:lstStyle/>
                    <a:p>
                      <a:pPr algn="ctr" latinLnBrk="1">
                        <a:lnSpc>
                          <a:spcPct val="115000"/>
                        </a:lnSpc>
                        <a:spcAft>
                          <a:spcPts val="1000"/>
                        </a:spcAft>
                      </a:pPr>
                      <a:r>
                        <a:rPr lang="en-US" altLang="ko-KR" sz="1200" b="1" i="0" u="none" strike="noStrike" kern="100" cap="none" dirty="0">
                          <a:solidFill>
                            <a:schemeClr val="bg1"/>
                          </a:solidFill>
                          <a:effectLst/>
                          <a:latin typeface="Arial"/>
                          <a:ea typeface="맑은 고딕" panose="020B0503020000020004" pitchFamily="50" charset="-127"/>
                          <a:cs typeface="Times New Roman" panose="02020603050405020304" pitchFamily="18" charset="0"/>
                          <a:sym typeface="Arial"/>
                        </a:rPr>
                        <a:t>EPS</a:t>
                      </a:r>
                      <a:r>
                        <a:rPr lang="en-US" sz="1200" b="1" kern="100" dirty="0">
                          <a:solidFill>
                            <a:schemeClr val="bg1"/>
                          </a:solidFill>
                          <a:effectLst/>
                          <a:latin typeface="+mj-lt"/>
                          <a:ea typeface="맑은 고딕" panose="020B0503020000020004" pitchFamily="50" charset="-127"/>
                          <a:cs typeface="Times New Roman" panose="02020603050405020304" pitchFamily="18" charset="0"/>
                        </a:rPr>
                        <a:t>-004</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altLang="en-US" sz="1200" b="0" kern="100" dirty="0">
                          <a:solidFill>
                            <a:schemeClr val="bg1"/>
                          </a:solidFill>
                          <a:effectLst/>
                          <a:latin typeface="+mn-ea"/>
                          <a:ea typeface="+mn-ea"/>
                          <a:cs typeface="Times New Roman" panose="02020603050405020304" pitchFamily="18" charset="0"/>
                        </a:rPr>
                        <a:t>배터리는 인공위성이 식부근에 진입했을 때 위성의 운용에 필요한 전력을 공급할 수 있어야 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862255471"/>
                  </a:ext>
                </a:extLst>
              </a:tr>
              <a:tr h="511559">
                <a:tc>
                  <a:txBody>
                    <a:bodyPr/>
                    <a:lstStyle/>
                    <a:p>
                      <a:pPr algn="ctr" latinLnBrk="1">
                        <a:lnSpc>
                          <a:spcPct val="115000"/>
                        </a:lnSpc>
                        <a:spcAft>
                          <a:spcPts val="1000"/>
                        </a:spcAft>
                      </a:pPr>
                      <a:r>
                        <a:rPr lang="en-US" altLang="ko-KR" sz="1200" b="1" kern="100" dirty="0">
                          <a:solidFill>
                            <a:schemeClr val="bg1"/>
                          </a:solidFill>
                          <a:effectLst/>
                          <a:latin typeface="+mj-lt"/>
                          <a:ea typeface="맑은 고딕" panose="020B0503020000020004" pitchFamily="50" charset="-127"/>
                          <a:cs typeface="Times New Roman" panose="02020603050405020304" pitchFamily="18" charset="0"/>
                        </a:rPr>
                        <a:t>EPS-005</a:t>
                      </a: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altLang="ko-KR" sz="1200" b="0" i="0" u="none" strike="noStrike" cap="none" dirty="0">
                          <a:solidFill>
                            <a:schemeClr val="bg1"/>
                          </a:solidFill>
                          <a:effectLst/>
                          <a:latin typeface="Arial"/>
                          <a:ea typeface="Arial"/>
                          <a:cs typeface="Arial"/>
                          <a:sym typeface="Arial"/>
                        </a:rPr>
                        <a:t>배터리의 사용 수명을 고려하여 배터리 과충전을 방지하기 위한 기술이 필요하다</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151500132"/>
                  </a:ext>
                </a:extLst>
              </a:tr>
            </a:tbl>
          </a:graphicData>
        </a:graphic>
      </p:graphicFrame>
    </p:spTree>
    <p:extLst>
      <p:ext uri="{BB962C8B-B14F-4D97-AF65-F5344CB8AC3E}">
        <p14:creationId xmlns:p14="http://schemas.microsoft.com/office/powerpoint/2010/main" val="30877818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8.3 Power Budget</a:t>
            </a:r>
            <a:br>
              <a:rPr lang="en-US" altLang="ko-KR" sz="2800" dirty="0"/>
            </a:br>
            <a:endParaRPr lang="en-US" sz="1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10305" name="표 10304">
            <a:extLst>
              <a:ext uri="{FF2B5EF4-FFF2-40B4-BE49-F238E27FC236}">
                <a16:creationId xmlns:a16="http://schemas.microsoft.com/office/drawing/2014/main" id="{146055B5-03D4-4E7C-847E-55954CBAC177}"/>
              </a:ext>
            </a:extLst>
          </p:cNvPr>
          <p:cNvGraphicFramePr>
            <a:graphicFrameLocks noGrp="1"/>
          </p:cNvGraphicFramePr>
          <p:nvPr/>
        </p:nvGraphicFramePr>
        <p:xfrm>
          <a:off x="740684" y="1183042"/>
          <a:ext cx="3950586" cy="3310887"/>
        </p:xfrm>
        <a:graphic>
          <a:graphicData uri="http://schemas.openxmlformats.org/drawingml/2006/table">
            <a:tbl>
              <a:tblPr firstRow="1" firstCol="1" bandRow="1">
                <a:tableStyleId>{1C28B2AB-E718-4DF9-ADA3-83340B5D2C4E}</a:tableStyleId>
              </a:tblPr>
              <a:tblGrid>
                <a:gridCol w="620307">
                  <a:extLst>
                    <a:ext uri="{9D8B030D-6E8A-4147-A177-3AD203B41FA5}">
                      <a16:colId xmlns:a16="http://schemas.microsoft.com/office/drawing/2014/main" val="1714185488"/>
                    </a:ext>
                  </a:extLst>
                </a:gridCol>
                <a:gridCol w="569426">
                  <a:extLst>
                    <a:ext uri="{9D8B030D-6E8A-4147-A177-3AD203B41FA5}">
                      <a16:colId xmlns:a16="http://schemas.microsoft.com/office/drawing/2014/main" val="2190700027"/>
                    </a:ext>
                  </a:extLst>
                </a:gridCol>
                <a:gridCol w="2760853">
                  <a:extLst>
                    <a:ext uri="{9D8B030D-6E8A-4147-A177-3AD203B41FA5}">
                      <a16:colId xmlns:a16="http://schemas.microsoft.com/office/drawing/2014/main" val="686026579"/>
                    </a:ext>
                  </a:extLst>
                </a:gridCol>
              </a:tblGrid>
              <a:tr h="435353">
                <a:tc>
                  <a:txBody>
                    <a:bodyPr/>
                    <a:lstStyle/>
                    <a:p>
                      <a:pPr algn="ctr" latinLnBrk="1">
                        <a:lnSpc>
                          <a:spcPct val="107000"/>
                        </a:lnSpc>
                        <a:spcAft>
                          <a:spcPts val="800"/>
                        </a:spcAft>
                      </a:pPr>
                      <a:r>
                        <a:rPr lang="en-US" sz="1200" kern="100" dirty="0">
                          <a:solidFill>
                            <a:schemeClr val="bg1"/>
                          </a:solidFill>
                          <a:effectLst/>
                        </a:rPr>
                        <a:t> </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solidFill>
                      <a:schemeClr val="accent1">
                        <a:lumMod val="75000"/>
                      </a:schemeClr>
                    </a:solidFill>
                  </a:tcPr>
                </a:tc>
                <a:tc>
                  <a:txBody>
                    <a:bodyPr/>
                    <a:lstStyle/>
                    <a:p>
                      <a:pPr algn="ctr" latinLnBrk="1">
                        <a:lnSpc>
                          <a:spcPct val="107000"/>
                        </a:lnSpc>
                        <a:spcAft>
                          <a:spcPts val="800"/>
                        </a:spcAft>
                      </a:pPr>
                      <a:r>
                        <a:rPr lang="en-US" sz="1200" b="1" kern="100" dirty="0">
                          <a:solidFill>
                            <a:schemeClr val="bg1"/>
                          </a:solidFill>
                          <a:effectLst/>
                        </a:rPr>
                        <a:t>Power (W)</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solidFill>
                      <a:schemeClr val="accent1">
                        <a:lumMod val="75000"/>
                      </a:schemeClr>
                    </a:solidFill>
                  </a:tcPr>
                </a:tc>
                <a:tc>
                  <a:txBody>
                    <a:bodyPr/>
                    <a:lstStyle/>
                    <a:p>
                      <a:pPr algn="ctr" latinLnBrk="1">
                        <a:lnSpc>
                          <a:spcPct val="107000"/>
                        </a:lnSpc>
                        <a:spcAft>
                          <a:spcPts val="800"/>
                        </a:spcAft>
                      </a:pPr>
                      <a:r>
                        <a:rPr lang="en-US" sz="1200" b="1" kern="100" dirty="0">
                          <a:solidFill>
                            <a:schemeClr val="bg1"/>
                          </a:solidFill>
                          <a:effectLst/>
                        </a:rPr>
                        <a:t>Components</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solidFill>
                      <a:schemeClr val="accent1">
                        <a:lumMod val="75000"/>
                      </a:schemeClr>
                    </a:solidFill>
                  </a:tcPr>
                </a:tc>
                <a:extLst>
                  <a:ext uri="{0D108BD9-81ED-4DB2-BD59-A6C34878D82A}">
                    <a16:rowId xmlns:a16="http://schemas.microsoft.com/office/drawing/2014/main" val="799968879"/>
                  </a:ext>
                </a:extLst>
              </a:tr>
              <a:tr h="1128106">
                <a:tc>
                  <a:txBody>
                    <a:bodyPr/>
                    <a:lstStyle/>
                    <a:p>
                      <a:pPr algn="ctr" latinLnBrk="1">
                        <a:lnSpc>
                          <a:spcPct val="107000"/>
                        </a:lnSpc>
                        <a:spcAft>
                          <a:spcPts val="800"/>
                        </a:spcAft>
                      </a:pPr>
                      <a:r>
                        <a:rPr lang="en-US" sz="1200" b="1" kern="100" dirty="0">
                          <a:solidFill>
                            <a:schemeClr val="bg1"/>
                          </a:solidFill>
                          <a:effectLst/>
                        </a:rPr>
                        <a:t>PAY</a:t>
                      </a:r>
                      <a:endParaRPr lang="ko-KR" sz="1200" b="1" kern="100" dirty="0">
                        <a:solidFill>
                          <a:schemeClr val="bg1"/>
                        </a:solidFill>
                        <a:effectLst/>
                      </a:endParaRPr>
                    </a:p>
                    <a:p>
                      <a:pPr algn="ctr" latinLnBrk="1">
                        <a:lnSpc>
                          <a:spcPct val="107000"/>
                        </a:lnSpc>
                        <a:spcAft>
                          <a:spcPts val="800"/>
                        </a:spcAft>
                      </a:pPr>
                      <a:r>
                        <a:rPr lang="en-US" sz="1200" b="1" kern="100" dirty="0">
                          <a:solidFill>
                            <a:schemeClr val="bg1"/>
                          </a:solidFill>
                          <a:effectLst/>
                        </a:rPr>
                        <a:t>(&amp;GNC)</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rPr>
                        <a:t>1556.8</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l" latinLnBrk="1">
                        <a:lnSpc>
                          <a:spcPct val="107000"/>
                        </a:lnSpc>
                        <a:spcAft>
                          <a:spcPts val="800"/>
                        </a:spcAft>
                      </a:pPr>
                      <a:r>
                        <a:rPr lang="en-US" sz="800" kern="100" dirty="0">
                          <a:solidFill>
                            <a:schemeClr val="bg1"/>
                          </a:solidFill>
                          <a:effectLst/>
                        </a:rPr>
                        <a:t>- </a:t>
                      </a:r>
                      <a:r>
                        <a:rPr lang="en-US" sz="800" kern="100" dirty="0" err="1">
                          <a:solidFill>
                            <a:schemeClr val="bg1"/>
                          </a:solidFill>
                          <a:effectLst/>
                        </a:rPr>
                        <a:t>Excelitas</a:t>
                      </a:r>
                      <a:r>
                        <a:rPr lang="en-US" sz="800" kern="100" dirty="0">
                          <a:solidFill>
                            <a:schemeClr val="bg1"/>
                          </a:solidFill>
                          <a:effectLst/>
                        </a:rPr>
                        <a:t> RAFS (14W) x2</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L-band A154R (250W)</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CL-</a:t>
                      </a:r>
                      <a:r>
                        <a:rPr lang="en-US" sz="800" kern="100" dirty="0" err="1">
                          <a:solidFill>
                            <a:schemeClr val="bg1"/>
                          </a:solidFill>
                          <a:effectLst/>
                        </a:rPr>
                        <a:t>Lband</a:t>
                      </a:r>
                      <a:r>
                        <a:rPr lang="en-US" sz="800" kern="100" dirty="0">
                          <a:solidFill>
                            <a:schemeClr val="bg1"/>
                          </a:solidFill>
                          <a:effectLst/>
                        </a:rPr>
                        <a:t>-TX (8.8W)</a:t>
                      </a:r>
                      <a:endParaRPr lang="ko-KR" sz="800" kern="100" dirty="0">
                        <a:solidFill>
                          <a:schemeClr val="bg1"/>
                        </a:solidFill>
                        <a:effectLst/>
                      </a:endParaRPr>
                    </a:p>
                  </a:txBody>
                  <a:tcPr marL="33448" marR="33448" marT="0" marB="0" anchor="ctr"/>
                </a:tc>
                <a:extLst>
                  <a:ext uri="{0D108BD9-81ED-4DB2-BD59-A6C34878D82A}">
                    <a16:rowId xmlns:a16="http://schemas.microsoft.com/office/drawing/2014/main" val="4289806681"/>
                  </a:ext>
                </a:extLst>
              </a:tr>
              <a:tr h="1747428">
                <a:tc>
                  <a:txBody>
                    <a:bodyPr/>
                    <a:lstStyle/>
                    <a:p>
                      <a:pPr algn="ctr" latinLnBrk="1">
                        <a:lnSpc>
                          <a:spcPct val="107000"/>
                        </a:lnSpc>
                        <a:spcAft>
                          <a:spcPts val="800"/>
                        </a:spcAft>
                      </a:pPr>
                      <a:r>
                        <a:rPr lang="en-US" sz="1200" b="1" kern="100" dirty="0">
                          <a:solidFill>
                            <a:schemeClr val="bg1"/>
                          </a:solidFill>
                          <a:effectLst/>
                        </a:rPr>
                        <a:t>ADCS</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rPr>
                        <a:t>457.4</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l" latinLnBrk="1">
                        <a:lnSpc>
                          <a:spcPct val="107000"/>
                        </a:lnSpc>
                        <a:spcAft>
                          <a:spcPts val="800"/>
                        </a:spcAft>
                      </a:pPr>
                      <a:r>
                        <a:rPr lang="en-US" sz="800" kern="100" dirty="0">
                          <a:solidFill>
                            <a:schemeClr val="bg1"/>
                          </a:solidFill>
                          <a:effectLst/>
                        </a:rPr>
                        <a:t>- Thruster (15.6W) x4 </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Reaction Wheel (90W) x3 </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IRU (30W)</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Sun Sensor (1W)</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Star Sensor (12W) x2</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Earth Sensor (4W) x2</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SADA (62W)</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2102080452"/>
                  </a:ext>
                </a:extLst>
              </a:tr>
            </a:tbl>
          </a:graphicData>
        </a:graphic>
      </p:graphicFrame>
      <p:sp>
        <p:nvSpPr>
          <p:cNvPr id="10306" name="Rectangle 116">
            <a:extLst>
              <a:ext uri="{FF2B5EF4-FFF2-40B4-BE49-F238E27FC236}">
                <a16:creationId xmlns:a16="http://schemas.microsoft.com/office/drawing/2014/main" id="{B618BBA3-2A8C-48F4-833B-76BE24156277}"/>
              </a:ext>
            </a:extLst>
          </p:cNvPr>
          <p:cNvSpPr>
            <a:spLocks noChangeArrowheads="1"/>
          </p:cNvSpPr>
          <p:nvPr/>
        </p:nvSpPr>
        <p:spPr bwMode="auto">
          <a:xfrm>
            <a:off x="3189288" y="627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sz="1800" b="0" i="0" u="none" strike="noStrike" cap="none" normalizeH="0" baseline="0">
                <a:ln>
                  <a:noFill/>
                </a:ln>
                <a:solidFill>
                  <a:schemeClr val="tx1"/>
                </a:solidFill>
                <a:effectLst/>
                <a:latin typeface="Arial" panose="020B0604020202020204" pitchFamily="34" charset="0"/>
              </a:rPr>
            </a:br>
            <a:endParaRPr kumimoji="0" lang="ko-KR" altLang="ko-KR" sz="1800" b="0" i="0" u="none" strike="noStrike" cap="none" normalizeH="0" baseline="0">
              <a:ln>
                <a:noFill/>
              </a:ln>
              <a:solidFill>
                <a:schemeClr val="tx1"/>
              </a:solidFill>
              <a:effectLst/>
              <a:latin typeface="Arial" panose="020B0604020202020204" pitchFamily="34" charset="0"/>
            </a:endParaRPr>
          </a:p>
        </p:txBody>
      </p:sp>
      <p:sp>
        <p:nvSpPr>
          <p:cNvPr id="10307" name="Rectangle 117">
            <a:extLst>
              <a:ext uri="{FF2B5EF4-FFF2-40B4-BE49-F238E27FC236}">
                <a16:creationId xmlns:a16="http://schemas.microsoft.com/office/drawing/2014/main" id="{5DBFFD60-5482-4A70-8365-A30E0B2C3114}"/>
              </a:ext>
            </a:extLst>
          </p:cNvPr>
          <p:cNvSpPr>
            <a:spLocks noChangeArrowheads="1"/>
          </p:cNvSpPr>
          <p:nvPr/>
        </p:nvSpPr>
        <p:spPr bwMode="auto">
          <a:xfrm>
            <a:off x="3189288" y="627063"/>
            <a:ext cx="3017837" cy="31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graphicFrame>
        <p:nvGraphicFramePr>
          <p:cNvPr id="10309" name="표 10308">
            <a:extLst>
              <a:ext uri="{FF2B5EF4-FFF2-40B4-BE49-F238E27FC236}">
                <a16:creationId xmlns:a16="http://schemas.microsoft.com/office/drawing/2014/main" id="{A0C7277C-E8E6-44AB-8A86-8C8024F5CB31}"/>
              </a:ext>
            </a:extLst>
          </p:cNvPr>
          <p:cNvGraphicFramePr>
            <a:graphicFrameLocks noGrp="1"/>
          </p:cNvGraphicFramePr>
          <p:nvPr/>
        </p:nvGraphicFramePr>
        <p:xfrm>
          <a:off x="4889086" y="1183043"/>
          <a:ext cx="3950585" cy="3310885"/>
        </p:xfrm>
        <a:graphic>
          <a:graphicData uri="http://schemas.openxmlformats.org/drawingml/2006/table">
            <a:tbl>
              <a:tblPr firstRow="1" firstCol="1" bandRow="1">
                <a:tableStyleId>{1C28B2AB-E718-4DF9-ADA3-83340B5D2C4E}</a:tableStyleId>
              </a:tblPr>
              <a:tblGrid>
                <a:gridCol w="620307">
                  <a:extLst>
                    <a:ext uri="{9D8B030D-6E8A-4147-A177-3AD203B41FA5}">
                      <a16:colId xmlns:a16="http://schemas.microsoft.com/office/drawing/2014/main" val="1898968031"/>
                    </a:ext>
                  </a:extLst>
                </a:gridCol>
                <a:gridCol w="569426">
                  <a:extLst>
                    <a:ext uri="{9D8B030D-6E8A-4147-A177-3AD203B41FA5}">
                      <a16:colId xmlns:a16="http://schemas.microsoft.com/office/drawing/2014/main" val="1074288363"/>
                    </a:ext>
                  </a:extLst>
                </a:gridCol>
                <a:gridCol w="2760852">
                  <a:extLst>
                    <a:ext uri="{9D8B030D-6E8A-4147-A177-3AD203B41FA5}">
                      <a16:colId xmlns:a16="http://schemas.microsoft.com/office/drawing/2014/main" val="954332839"/>
                    </a:ext>
                  </a:extLst>
                </a:gridCol>
              </a:tblGrid>
              <a:tr h="587331">
                <a:tc>
                  <a:txBody>
                    <a:bodyPr/>
                    <a:lstStyle/>
                    <a:p>
                      <a:pPr algn="ctr" latinLnBrk="1">
                        <a:lnSpc>
                          <a:spcPct val="107000"/>
                        </a:lnSpc>
                        <a:spcAft>
                          <a:spcPts val="800"/>
                        </a:spcAft>
                      </a:pPr>
                      <a:r>
                        <a:rPr lang="en-US" sz="1200" b="1" kern="100" dirty="0">
                          <a:solidFill>
                            <a:schemeClr val="bg1"/>
                          </a:solidFill>
                          <a:effectLst/>
                          <a:latin typeface="+mj-ea"/>
                          <a:ea typeface="+mj-ea"/>
                        </a:rPr>
                        <a:t>EPS</a:t>
                      </a:r>
                      <a:endParaRPr lang="ko-KR" sz="12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rPr>
                        <a:t>700</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l" latinLnBrk="1">
                        <a:lnSpc>
                          <a:spcPct val="107000"/>
                        </a:lnSpc>
                        <a:spcAft>
                          <a:spcPts val="800"/>
                        </a:spcAft>
                      </a:pPr>
                      <a:r>
                        <a:rPr lang="en-US" sz="800" kern="100" dirty="0">
                          <a:solidFill>
                            <a:schemeClr val="bg1"/>
                          </a:solidFill>
                          <a:effectLst/>
                        </a:rPr>
                        <a:t>- Solar Array</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Li-ion Battery</a:t>
                      </a:r>
                      <a:endParaRPr lang="ko-KR" sz="800" kern="100" dirty="0">
                        <a:solidFill>
                          <a:schemeClr val="bg1"/>
                        </a:solidFill>
                        <a:effectLst/>
                      </a:endParaRPr>
                    </a:p>
                    <a:p>
                      <a:pPr algn="l" latinLnBrk="1">
                        <a:lnSpc>
                          <a:spcPct val="107000"/>
                        </a:lnSpc>
                        <a:spcAft>
                          <a:spcPts val="800"/>
                        </a:spcAft>
                      </a:pPr>
                      <a:r>
                        <a:rPr lang="en-US" sz="800" kern="100" dirty="0">
                          <a:solidFill>
                            <a:schemeClr val="bg1"/>
                          </a:solidFill>
                          <a:effectLst/>
                        </a:rPr>
                        <a:t>- PCDU</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2398611104"/>
                  </a:ext>
                </a:extLst>
              </a:tr>
              <a:tr h="182002">
                <a:tc>
                  <a:txBody>
                    <a:bodyPr/>
                    <a:lstStyle/>
                    <a:p>
                      <a:pPr algn="ctr" latinLnBrk="1">
                        <a:lnSpc>
                          <a:spcPct val="107000"/>
                        </a:lnSpc>
                        <a:spcAft>
                          <a:spcPts val="800"/>
                        </a:spcAft>
                      </a:pPr>
                      <a:r>
                        <a:rPr lang="en-US" sz="1200" b="1" kern="100">
                          <a:solidFill>
                            <a:schemeClr val="bg1"/>
                          </a:solidFill>
                          <a:effectLst/>
                          <a:latin typeface="+mj-ea"/>
                          <a:ea typeface="+mj-ea"/>
                        </a:rPr>
                        <a:t>CNDH</a:t>
                      </a:r>
                      <a:endParaRPr lang="ko-KR" sz="1200" b="1" kern="10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rPr>
                        <a:t>100</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just" latinLnBrk="1">
                        <a:lnSpc>
                          <a:spcPct val="107000"/>
                        </a:lnSpc>
                        <a:spcAft>
                          <a:spcPts val="800"/>
                        </a:spcAft>
                      </a:pPr>
                      <a:r>
                        <a:rPr lang="en-US" sz="800" kern="100">
                          <a:solidFill>
                            <a:schemeClr val="bg1"/>
                          </a:solidFill>
                          <a:effectLst/>
                        </a:rPr>
                        <a:t>- OBC (up to 20W)</a:t>
                      </a:r>
                      <a:endParaRPr lang="ko-KR" sz="8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2113691573"/>
                  </a:ext>
                </a:extLst>
              </a:tr>
              <a:tr h="587331">
                <a:tc>
                  <a:txBody>
                    <a:bodyPr/>
                    <a:lstStyle/>
                    <a:p>
                      <a:pPr algn="ctr" latinLnBrk="1">
                        <a:lnSpc>
                          <a:spcPct val="107000"/>
                        </a:lnSpc>
                        <a:spcAft>
                          <a:spcPts val="800"/>
                        </a:spcAft>
                      </a:pPr>
                      <a:r>
                        <a:rPr lang="en-US" sz="1200" b="1" kern="100" dirty="0">
                          <a:solidFill>
                            <a:schemeClr val="bg1"/>
                          </a:solidFill>
                          <a:effectLst/>
                          <a:latin typeface="+mj-ea"/>
                          <a:ea typeface="+mj-ea"/>
                        </a:rPr>
                        <a:t>TT&amp;C</a:t>
                      </a:r>
                      <a:endParaRPr lang="ko-KR" sz="12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rPr>
                        <a:t>84.5</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just" latinLnBrk="1">
                        <a:lnSpc>
                          <a:spcPct val="107000"/>
                        </a:lnSpc>
                        <a:spcAft>
                          <a:spcPts val="800"/>
                        </a:spcAft>
                      </a:pPr>
                      <a:r>
                        <a:rPr lang="en-US" sz="800" kern="100" dirty="0">
                          <a:solidFill>
                            <a:schemeClr val="bg1"/>
                          </a:solidFill>
                          <a:effectLst/>
                        </a:rPr>
                        <a:t>- C Band </a:t>
                      </a:r>
                      <a:r>
                        <a:rPr lang="ko-KR" sz="800" kern="100" dirty="0">
                          <a:solidFill>
                            <a:schemeClr val="bg1"/>
                          </a:solidFill>
                          <a:effectLst/>
                        </a:rPr>
                        <a:t>송신기 </a:t>
                      </a:r>
                      <a:r>
                        <a:rPr lang="en-US" sz="800" kern="100" dirty="0">
                          <a:solidFill>
                            <a:schemeClr val="bg1"/>
                          </a:solidFill>
                          <a:effectLst/>
                        </a:rPr>
                        <a:t>(up to 12.5W)</a:t>
                      </a:r>
                      <a:endParaRPr lang="ko-KR" sz="800" kern="100" dirty="0">
                        <a:solidFill>
                          <a:schemeClr val="bg1"/>
                        </a:solidFill>
                        <a:effectLst/>
                      </a:endParaRPr>
                    </a:p>
                    <a:p>
                      <a:pPr algn="just" latinLnBrk="1">
                        <a:lnSpc>
                          <a:spcPct val="107000"/>
                        </a:lnSpc>
                        <a:spcAft>
                          <a:spcPts val="800"/>
                        </a:spcAft>
                      </a:pPr>
                      <a:r>
                        <a:rPr lang="en-US" sz="800" kern="100" dirty="0">
                          <a:solidFill>
                            <a:schemeClr val="bg1"/>
                          </a:solidFill>
                          <a:effectLst/>
                        </a:rPr>
                        <a:t>- Ka Band </a:t>
                      </a:r>
                      <a:r>
                        <a:rPr lang="ko-KR" sz="800" kern="100" dirty="0">
                          <a:solidFill>
                            <a:schemeClr val="bg1"/>
                          </a:solidFill>
                          <a:effectLst/>
                        </a:rPr>
                        <a:t>송신기 </a:t>
                      </a:r>
                      <a:r>
                        <a:rPr lang="en-US" sz="800" kern="100" dirty="0">
                          <a:solidFill>
                            <a:schemeClr val="bg1"/>
                          </a:solidFill>
                          <a:effectLst/>
                        </a:rPr>
                        <a:t>(up to 68W)</a:t>
                      </a:r>
                      <a:endParaRPr lang="ko-KR" sz="800" kern="100" dirty="0">
                        <a:solidFill>
                          <a:schemeClr val="bg1"/>
                        </a:solidFill>
                        <a:effectLst/>
                      </a:endParaRPr>
                    </a:p>
                    <a:p>
                      <a:pPr algn="just" latinLnBrk="1">
                        <a:lnSpc>
                          <a:spcPct val="107000"/>
                        </a:lnSpc>
                        <a:spcAft>
                          <a:spcPts val="800"/>
                        </a:spcAft>
                      </a:pPr>
                      <a:r>
                        <a:rPr lang="en-US" sz="800" kern="100" dirty="0">
                          <a:solidFill>
                            <a:schemeClr val="bg1"/>
                          </a:solidFill>
                          <a:effectLst/>
                        </a:rPr>
                        <a:t>- C Band Receiver (14W)</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2783642751"/>
                  </a:ext>
                </a:extLst>
              </a:tr>
              <a:tr h="354312">
                <a:tc>
                  <a:txBody>
                    <a:bodyPr/>
                    <a:lstStyle/>
                    <a:p>
                      <a:pPr algn="ctr" latinLnBrk="1">
                        <a:lnSpc>
                          <a:spcPct val="107000"/>
                        </a:lnSpc>
                        <a:spcAft>
                          <a:spcPts val="800"/>
                        </a:spcAft>
                      </a:pPr>
                      <a:r>
                        <a:rPr lang="en-US" sz="1200" b="1" kern="100" dirty="0">
                          <a:solidFill>
                            <a:schemeClr val="bg1"/>
                          </a:solidFill>
                          <a:effectLst/>
                          <a:latin typeface="+mj-ea"/>
                          <a:ea typeface="+mj-ea"/>
                        </a:rPr>
                        <a:t>TCS</a:t>
                      </a:r>
                      <a:endParaRPr lang="ko-KR" sz="12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rPr>
                        <a:t>691.7</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just" latinLnBrk="1">
                        <a:lnSpc>
                          <a:spcPct val="107000"/>
                        </a:lnSpc>
                        <a:spcAft>
                          <a:spcPts val="800"/>
                        </a:spcAft>
                      </a:pPr>
                      <a:r>
                        <a:rPr lang="en-US" sz="800" kern="100" dirty="0">
                          <a:solidFill>
                            <a:schemeClr val="bg1"/>
                          </a:solidFill>
                          <a:effectLst/>
                        </a:rPr>
                        <a:t>- Radiator (604.5W)</a:t>
                      </a:r>
                      <a:endParaRPr lang="ko-KR" sz="800" kern="100" dirty="0">
                        <a:solidFill>
                          <a:schemeClr val="bg1"/>
                        </a:solidFill>
                        <a:effectLst/>
                      </a:endParaRPr>
                    </a:p>
                    <a:p>
                      <a:pPr algn="just" latinLnBrk="1">
                        <a:lnSpc>
                          <a:spcPct val="107000"/>
                        </a:lnSpc>
                        <a:spcAft>
                          <a:spcPts val="800"/>
                        </a:spcAft>
                      </a:pPr>
                      <a:r>
                        <a:rPr lang="en-US" sz="800" kern="100" dirty="0">
                          <a:solidFill>
                            <a:schemeClr val="bg1"/>
                          </a:solidFill>
                          <a:effectLst/>
                        </a:rPr>
                        <a:t>- Heater (87.2W)</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3898477348"/>
                  </a:ext>
                </a:extLst>
              </a:tr>
              <a:tr h="374880">
                <a:tc>
                  <a:txBody>
                    <a:bodyPr/>
                    <a:lstStyle/>
                    <a:p>
                      <a:pPr algn="ctr" latinLnBrk="1">
                        <a:lnSpc>
                          <a:spcPct val="107000"/>
                        </a:lnSpc>
                        <a:spcAft>
                          <a:spcPts val="800"/>
                        </a:spcAft>
                      </a:pPr>
                      <a:r>
                        <a:rPr lang="en-US" sz="1200" b="1" kern="100" dirty="0">
                          <a:solidFill>
                            <a:schemeClr val="bg1"/>
                          </a:solidFill>
                          <a:effectLst/>
                          <a:latin typeface="+mj-ea"/>
                          <a:ea typeface="+mj-ea"/>
                        </a:rPr>
                        <a:t>PS</a:t>
                      </a:r>
                      <a:endParaRPr lang="ko-KR" sz="12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rPr>
                        <a:t>70</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l" latinLnBrk="1">
                        <a:lnSpc>
                          <a:spcPct val="107000"/>
                        </a:lnSpc>
                        <a:spcAft>
                          <a:spcPts val="800"/>
                        </a:spcAft>
                      </a:pPr>
                      <a:r>
                        <a:rPr lang="en-US" sz="800" kern="100" dirty="0">
                          <a:solidFill>
                            <a:schemeClr val="bg1"/>
                          </a:solidFill>
                          <a:effectLst/>
                        </a:rPr>
                        <a:t>- R -4D engine (45~70W)</a:t>
                      </a:r>
                      <a:endParaRPr lang="ko-KR" sz="800" kern="100" dirty="0">
                        <a:solidFill>
                          <a:schemeClr val="bg1"/>
                        </a:solidFill>
                        <a:effectLst/>
                      </a:endParaRPr>
                    </a:p>
                  </a:txBody>
                  <a:tcPr marL="33448" marR="33448" marT="0" marB="0" anchor="ctr"/>
                </a:tc>
                <a:extLst>
                  <a:ext uri="{0D108BD9-81ED-4DB2-BD59-A6C34878D82A}">
                    <a16:rowId xmlns:a16="http://schemas.microsoft.com/office/drawing/2014/main" val="825068576"/>
                  </a:ext>
                </a:extLst>
              </a:tr>
              <a:tr h="433133">
                <a:tc>
                  <a:txBody>
                    <a:bodyPr/>
                    <a:lstStyle/>
                    <a:p>
                      <a:pPr algn="ctr" latinLnBrk="1">
                        <a:lnSpc>
                          <a:spcPct val="107000"/>
                        </a:lnSpc>
                        <a:spcAft>
                          <a:spcPts val="800"/>
                        </a:spcAft>
                      </a:pPr>
                      <a:r>
                        <a:rPr lang="en-US" sz="1050" b="1" kern="100" dirty="0">
                          <a:solidFill>
                            <a:schemeClr val="bg1"/>
                          </a:solidFill>
                          <a:effectLst/>
                          <a:latin typeface="+mj-ea"/>
                          <a:ea typeface="+mj-ea"/>
                        </a:rPr>
                        <a:t>EOL </a:t>
                      </a:r>
                    </a:p>
                    <a:p>
                      <a:pPr algn="ctr" latinLnBrk="1">
                        <a:lnSpc>
                          <a:spcPct val="107000"/>
                        </a:lnSpc>
                        <a:spcAft>
                          <a:spcPts val="800"/>
                        </a:spcAft>
                      </a:pPr>
                      <a:r>
                        <a:rPr lang="en-US" sz="1050" b="1" kern="100" dirty="0">
                          <a:solidFill>
                            <a:schemeClr val="bg1"/>
                          </a:solidFill>
                          <a:effectLst/>
                          <a:latin typeface="+mj-ea"/>
                          <a:ea typeface="+mj-ea"/>
                        </a:rPr>
                        <a:t>Power</a:t>
                      </a:r>
                      <a:endParaRPr lang="ko-KR" sz="105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rPr>
                        <a:t>3660.4</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ctr" latinLnBrk="1">
                        <a:lnSpc>
                          <a:spcPct val="107000"/>
                        </a:lnSpc>
                        <a:spcAft>
                          <a:spcPts val="800"/>
                        </a:spcAft>
                      </a:pPr>
                      <a:r>
                        <a:rPr lang="en-US" sz="800" kern="100" dirty="0">
                          <a:solidFill>
                            <a:schemeClr val="bg1"/>
                          </a:solidFill>
                          <a:effectLst/>
                        </a:rPr>
                        <a:t> </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3331808815"/>
                  </a:ext>
                </a:extLst>
              </a:tr>
              <a:tr h="197701">
                <a:tc>
                  <a:txBody>
                    <a:bodyPr/>
                    <a:lstStyle/>
                    <a:p>
                      <a:pPr algn="ctr" latinLnBrk="1">
                        <a:lnSpc>
                          <a:spcPct val="107000"/>
                        </a:lnSpc>
                        <a:spcAft>
                          <a:spcPts val="800"/>
                        </a:spcAft>
                      </a:pPr>
                      <a:r>
                        <a:rPr lang="en-US" sz="1200" b="1" kern="100" dirty="0">
                          <a:solidFill>
                            <a:schemeClr val="bg1"/>
                          </a:solidFill>
                          <a:effectLst/>
                          <a:latin typeface="+mj-ea"/>
                          <a:ea typeface="+mj-ea"/>
                        </a:rPr>
                        <a:t>Margin</a:t>
                      </a:r>
                      <a:endParaRPr lang="ko-KR" sz="12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539.6</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ctr" latinLnBrk="1">
                        <a:lnSpc>
                          <a:spcPct val="107000"/>
                        </a:lnSpc>
                        <a:spcAft>
                          <a:spcPts val="800"/>
                        </a:spcAft>
                      </a:pPr>
                      <a:r>
                        <a:rPr lang="en-US" sz="800" kern="100" dirty="0">
                          <a:solidFill>
                            <a:schemeClr val="bg1"/>
                          </a:solidFill>
                          <a:effectLst/>
                        </a:rPr>
                        <a:t> </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1006884907"/>
                  </a:ext>
                </a:extLst>
              </a:tr>
              <a:tr h="594195">
                <a:tc>
                  <a:txBody>
                    <a:bodyPr/>
                    <a:lstStyle/>
                    <a:p>
                      <a:pPr algn="ctr" latinLnBrk="1">
                        <a:lnSpc>
                          <a:spcPct val="107000"/>
                        </a:lnSpc>
                        <a:spcAft>
                          <a:spcPts val="800"/>
                        </a:spcAft>
                      </a:pPr>
                      <a:r>
                        <a:rPr lang="en-US" sz="800" b="1" kern="100" dirty="0">
                          <a:solidFill>
                            <a:schemeClr val="bg1"/>
                          </a:solidFill>
                          <a:effectLst/>
                          <a:latin typeface="+mj-ea"/>
                          <a:ea typeface="+mj-ea"/>
                        </a:rPr>
                        <a:t>EOL Power (Margin Considered)</a:t>
                      </a:r>
                      <a:endParaRPr lang="ko-KR" sz="800" b="1" kern="100" dirty="0">
                        <a:solidFill>
                          <a:schemeClr val="bg1"/>
                        </a:solidFill>
                        <a:effectLst/>
                        <a:latin typeface="+mj-ea"/>
                        <a:ea typeface="+mj-ea"/>
                        <a:cs typeface="Times New Roman" panose="02020603050405020304" pitchFamily="18" charset="0"/>
                      </a:endParaRPr>
                    </a:p>
                  </a:txBody>
                  <a:tcPr marL="33448" marR="33448"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rPr>
                        <a:t>4200</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tc>
                  <a:txBody>
                    <a:bodyPr/>
                    <a:lstStyle/>
                    <a:p>
                      <a:pPr algn="ctr" latinLnBrk="1">
                        <a:lnSpc>
                          <a:spcPct val="107000"/>
                        </a:lnSpc>
                        <a:spcAft>
                          <a:spcPts val="800"/>
                        </a:spcAft>
                      </a:pPr>
                      <a:r>
                        <a:rPr lang="en-US" sz="800" kern="100" dirty="0">
                          <a:solidFill>
                            <a:schemeClr val="bg1"/>
                          </a:solidFill>
                          <a:effectLst/>
                        </a:rPr>
                        <a:t> </a:t>
                      </a:r>
                      <a:endPar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33448" marR="33448" marT="0" marB="0" anchor="ctr"/>
                </a:tc>
                <a:extLst>
                  <a:ext uri="{0D108BD9-81ED-4DB2-BD59-A6C34878D82A}">
                    <a16:rowId xmlns:a16="http://schemas.microsoft.com/office/drawing/2014/main" val="3516783633"/>
                  </a:ext>
                </a:extLst>
              </a:tr>
            </a:tbl>
          </a:graphicData>
        </a:graphic>
      </p:graphicFrame>
    </p:spTree>
    <p:extLst>
      <p:ext uri="{BB962C8B-B14F-4D97-AF65-F5344CB8AC3E}">
        <p14:creationId xmlns:p14="http://schemas.microsoft.com/office/powerpoint/2010/main" val="105148511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025"/>
            <a:ext cx="78554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8.4 Design Process</a:t>
            </a:r>
            <a:endParaRPr sz="2800" dirty="0">
              <a:solidFill>
                <a:schemeClr val="accent1"/>
              </a:solidFill>
            </a:endParaRPr>
          </a:p>
        </p:txBody>
      </p:sp>
      <p:sp>
        <p:nvSpPr>
          <p:cNvPr id="215" name="Google Shape;215;p44"/>
          <p:cNvSpPr txBox="1">
            <a:spLocks noGrp="1"/>
          </p:cNvSpPr>
          <p:nvPr>
            <p:ph type="body" idx="1"/>
          </p:nvPr>
        </p:nvSpPr>
        <p:spPr>
          <a:xfrm>
            <a:off x="938500" y="1254818"/>
            <a:ext cx="7512556" cy="3070203"/>
          </a:xfrm>
          <a:prstGeom prst="rect">
            <a:avLst/>
          </a:prstGeom>
        </p:spPr>
        <p:txBody>
          <a:bodyPr spcFirstLastPara="1" wrap="square" lIns="91425" tIns="91425" rIns="91425" bIns="91425" anchor="t" anchorCtr="0">
            <a:noAutofit/>
          </a:bodyPr>
          <a:lstStyle/>
          <a:p>
            <a:pPr marL="457200" lvl="0" indent="-317500" algn="l" rtl="0">
              <a:spcBef>
                <a:spcPts val="1600"/>
              </a:spcBef>
              <a:spcAft>
                <a:spcPts val="0"/>
              </a:spcAft>
              <a:buSzPts val="1400"/>
              <a:buChar char="●"/>
            </a:pPr>
            <a:r>
              <a:rPr lang="en-US" altLang="ko-KR" sz="2400" dirty="0">
                <a:latin typeface="+mn-lt"/>
                <a:ea typeface="+mj-ea"/>
              </a:rPr>
              <a:t>Power source</a:t>
            </a:r>
          </a:p>
          <a:p>
            <a:pPr marL="457200" lvl="0" indent="-317500" algn="l" rtl="0">
              <a:spcBef>
                <a:spcPts val="1600"/>
              </a:spcBef>
              <a:spcAft>
                <a:spcPts val="0"/>
              </a:spcAft>
              <a:buSzPts val="1400"/>
              <a:buChar char="●"/>
            </a:pPr>
            <a:endParaRPr lang="en-US" sz="2400" dirty="0">
              <a:latin typeface="+mn-lt"/>
              <a:ea typeface="+mj-ea"/>
            </a:endParaRPr>
          </a:p>
          <a:p>
            <a:r>
              <a:rPr lang="en-US" altLang="ko-KR" sz="2400" dirty="0">
                <a:solidFill>
                  <a:schemeClr val="bg1"/>
                </a:solidFill>
                <a:latin typeface="+mn-lt"/>
                <a:ea typeface="+mj-ea"/>
              </a:rPr>
              <a:t>Energy storage</a:t>
            </a:r>
          </a:p>
          <a:p>
            <a:pPr marL="139700" indent="0">
              <a:buNone/>
            </a:pPr>
            <a:endParaRPr lang="en-US" altLang="ko-KR" sz="2400" dirty="0">
              <a:solidFill>
                <a:schemeClr val="bg1"/>
              </a:solidFill>
              <a:latin typeface="+mn-lt"/>
              <a:ea typeface="+mj-ea"/>
            </a:endParaRPr>
          </a:p>
          <a:p>
            <a:endParaRPr lang="en-US" altLang="ko-KR" sz="2400" dirty="0">
              <a:solidFill>
                <a:schemeClr val="bg1"/>
              </a:solidFill>
              <a:latin typeface="+mn-lt"/>
              <a:ea typeface="+mj-ea"/>
            </a:endParaRPr>
          </a:p>
          <a:p>
            <a:r>
              <a:rPr lang="en-US" altLang="ko-KR" sz="2400" dirty="0">
                <a:solidFill>
                  <a:schemeClr val="bg1"/>
                </a:solidFill>
                <a:latin typeface="+mn-lt"/>
                <a:ea typeface="+mj-ea"/>
              </a:rPr>
              <a:t>Power regulation and control</a:t>
            </a:r>
            <a:endParaRPr lang="en-US" altLang="ko-KR" sz="2400" dirty="0">
              <a:solidFill>
                <a:schemeClr val="bg1"/>
              </a:solidFill>
            </a:endParaRP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68808929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2144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Power Source</a:t>
            </a:r>
            <a:endParaRPr lang="en-US" sz="2800" dirty="0"/>
          </a:p>
        </p:txBody>
      </p:sp>
      <p:pic>
        <p:nvPicPr>
          <p:cNvPr id="11" name="그림 10">
            <a:extLst>
              <a:ext uri="{FF2B5EF4-FFF2-40B4-BE49-F238E27FC236}">
                <a16:creationId xmlns:a16="http://schemas.microsoft.com/office/drawing/2014/main" id="{EACCCCF1-F6C8-4E95-B54B-0DEF1587A709}"/>
              </a:ext>
            </a:extLst>
          </p:cNvPr>
          <p:cNvPicPr>
            <a:picLocks noChangeAspect="1"/>
          </p:cNvPicPr>
          <p:nvPr/>
        </p:nvPicPr>
        <p:blipFill>
          <a:blip r:embed="rId3"/>
          <a:stretch>
            <a:fillRect/>
          </a:stretch>
        </p:blipFill>
        <p:spPr>
          <a:xfrm>
            <a:off x="636367" y="1709203"/>
            <a:ext cx="3542665" cy="1923415"/>
          </a:xfrm>
          <a:prstGeom prst="rect">
            <a:avLst/>
          </a:prstGeom>
        </p:spPr>
      </p:pic>
      <p:sp>
        <p:nvSpPr>
          <p:cNvPr id="2" name="TextBox 1">
            <a:extLst>
              <a:ext uri="{FF2B5EF4-FFF2-40B4-BE49-F238E27FC236}">
                <a16:creationId xmlns:a16="http://schemas.microsoft.com/office/drawing/2014/main" id="{5214A571-F820-4209-B447-2DD66190A7A2}"/>
              </a:ext>
            </a:extLst>
          </p:cNvPr>
          <p:cNvSpPr txBox="1"/>
          <p:nvPr/>
        </p:nvSpPr>
        <p:spPr>
          <a:xfrm>
            <a:off x="938500" y="3780655"/>
            <a:ext cx="3240532" cy="307777"/>
          </a:xfrm>
          <a:prstGeom prst="rect">
            <a:avLst/>
          </a:prstGeom>
          <a:noFill/>
        </p:spPr>
        <p:txBody>
          <a:bodyPr wrap="square" rtlCol="0">
            <a:spAutoFit/>
          </a:bodyPr>
          <a:lstStyle/>
          <a:p>
            <a:r>
              <a:rPr lang="en-US" altLang="ko-KR" dirty="0">
                <a:solidFill>
                  <a:schemeClr val="bg1"/>
                </a:solidFill>
                <a:latin typeface="+mj-ea"/>
                <a:ea typeface="+mj-ea"/>
              </a:rPr>
              <a:t>&lt;QJ Solar Cell 4G32C – Advanced&gt;</a:t>
            </a:r>
            <a:endParaRPr lang="ko-KR" altLang="en-US" dirty="0">
              <a:solidFill>
                <a:schemeClr val="bg1"/>
              </a:solidFill>
              <a:latin typeface="+mj-ea"/>
              <a:ea typeface="+mj-ea"/>
            </a:endParaRPr>
          </a:p>
        </p:txBody>
      </p:sp>
      <p:sp>
        <p:nvSpPr>
          <p:cNvPr id="5" name="TextBox 4">
            <a:extLst>
              <a:ext uri="{FF2B5EF4-FFF2-40B4-BE49-F238E27FC236}">
                <a16:creationId xmlns:a16="http://schemas.microsoft.com/office/drawing/2014/main" id="{6B029E41-AC18-4F4F-B80F-DC49B51EA8D1}"/>
              </a:ext>
            </a:extLst>
          </p:cNvPr>
          <p:cNvSpPr txBox="1"/>
          <p:nvPr/>
        </p:nvSpPr>
        <p:spPr>
          <a:xfrm>
            <a:off x="1026200" y="4084820"/>
            <a:ext cx="2297927" cy="246221"/>
          </a:xfrm>
          <a:prstGeom prst="rect">
            <a:avLst/>
          </a:prstGeom>
          <a:noFill/>
        </p:spPr>
        <p:txBody>
          <a:bodyPr wrap="square" rtlCol="0">
            <a:spAutoFit/>
          </a:bodyPr>
          <a:lstStyle/>
          <a:p>
            <a:r>
              <a:rPr lang="ko-KR" altLang="en-US" sz="1000" dirty="0">
                <a:solidFill>
                  <a:schemeClr val="bg1"/>
                </a:solidFill>
              </a:rPr>
              <a:t>제조사 </a:t>
            </a:r>
            <a:r>
              <a:rPr lang="en-US" altLang="ko-KR" sz="1000" dirty="0">
                <a:solidFill>
                  <a:schemeClr val="bg1"/>
                </a:solidFill>
              </a:rPr>
              <a:t>: Azur Space</a:t>
            </a:r>
            <a:endParaRPr lang="ko-KR" altLang="en-US" sz="1000" dirty="0">
              <a:solidFill>
                <a:schemeClr val="bg1"/>
              </a:solidFill>
            </a:endParaRPr>
          </a:p>
        </p:txBody>
      </p:sp>
      <p:graphicFrame>
        <p:nvGraphicFramePr>
          <p:cNvPr id="12" name="표 11">
            <a:extLst>
              <a:ext uri="{FF2B5EF4-FFF2-40B4-BE49-F238E27FC236}">
                <a16:creationId xmlns:a16="http://schemas.microsoft.com/office/drawing/2014/main" id="{200BB194-73B8-4355-BBA0-339EF58151BA}"/>
              </a:ext>
            </a:extLst>
          </p:cNvPr>
          <p:cNvGraphicFramePr>
            <a:graphicFrameLocks noGrp="1"/>
          </p:cNvGraphicFramePr>
          <p:nvPr/>
        </p:nvGraphicFramePr>
        <p:xfrm>
          <a:off x="4405853" y="1260968"/>
          <a:ext cx="4388103" cy="2930868"/>
        </p:xfrm>
        <a:graphic>
          <a:graphicData uri="http://schemas.openxmlformats.org/drawingml/2006/table">
            <a:tbl>
              <a:tblPr firstRow="1" firstCol="1" bandRow="1"/>
              <a:tblGrid>
                <a:gridCol w="2257340">
                  <a:extLst>
                    <a:ext uri="{9D8B030D-6E8A-4147-A177-3AD203B41FA5}">
                      <a16:colId xmlns:a16="http://schemas.microsoft.com/office/drawing/2014/main" val="3184654464"/>
                    </a:ext>
                  </a:extLst>
                </a:gridCol>
                <a:gridCol w="1040193">
                  <a:extLst>
                    <a:ext uri="{9D8B030D-6E8A-4147-A177-3AD203B41FA5}">
                      <a16:colId xmlns:a16="http://schemas.microsoft.com/office/drawing/2014/main" val="222531642"/>
                    </a:ext>
                  </a:extLst>
                </a:gridCol>
                <a:gridCol w="1090570">
                  <a:extLst>
                    <a:ext uri="{9D8B030D-6E8A-4147-A177-3AD203B41FA5}">
                      <a16:colId xmlns:a16="http://schemas.microsoft.com/office/drawing/2014/main" val="807218009"/>
                    </a:ext>
                  </a:extLst>
                </a:gridCol>
              </a:tblGrid>
              <a:tr h="325652">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Bol</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latinLnBrk="1">
                        <a:lnSpc>
                          <a:spcPct val="107000"/>
                        </a:lnSpc>
                        <a:spcAft>
                          <a:spcPts val="8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Eol</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70613276"/>
                  </a:ext>
                </a:extLst>
              </a:tr>
              <a:tr h="325652">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Efficiency (%)</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31.8</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28.7</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8619694"/>
                  </a:ext>
                </a:extLst>
              </a:tr>
              <a:tr h="325652">
                <a:tc>
                  <a:txBody>
                    <a:bodyPr/>
                    <a:lstStyle/>
                    <a:p>
                      <a:pPr algn="ctr" latinLnBrk="1">
                        <a:lnSpc>
                          <a:spcPct val="107000"/>
                        </a:lnSpc>
                        <a:spcAft>
                          <a:spcPts val="8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V_oc</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(mV)</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3451</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lnSpc>
                          <a:spcPct val="107000"/>
                        </a:lnSpc>
                        <a:spcAft>
                          <a:spcPts val="800"/>
                        </a:spcAft>
                      </a:pPr>
                      <a:r>
                        <a:rPr lang="en-US"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3227</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2150025"/>
                  </a:ext>
                </a:extLst>
              </a:tr>
              <a:tr h="325652">
                <a:tc>
                  <a:txBody>
                    <a:bodyPr/>
                    <a:lstStyle/>
                    <a:p>
                      <a:pPr algn="ctr" latinLnBrk="1">
                        <a:lnSpc>
                          <a:spcPct val="107000"/>
                        </a:lnSpc>
                        <a:spcAft>
                          <a:spcPts val="8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I_sc</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(mA)</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457.6</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lnSpc>
                          <a:spcPct val="107000"/>
                        </a:lnSpc>
                        <a:spcAft>
                          <a:spcPts val="800"/>
                        </a:spcAft>
                      </a:pPr>
                      <a:r>
                        <a:rPr lang="en-US"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451.5</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580904"/>
                  </a:ext>
                </a:extLst>
              </a:tr>
              <a:tr h="325652">
                <a:tc>
                  <a:txBody>
                    <a:bodyPr/>
                    <a:lstStyle/>
                    <a:p>
                      <a:pPr algn="ctr" latinLnBrk="1">
                        <a:lnSpc>
                          <a:spcPct val="107000"/>
                        </a:lnSpc>
                        <a:spcAft>
                          <a:spcPts val="8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V_mp</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(mV)</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3.025</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lnSpc>
                          <a:spcPct val="107000"/>
                        </a:lnSpc>
                        <a:spcAft>
                          <a:spcPts val="800"/>
                        </a:spcAft>
                      </a:pPr>
                      <a:r>
                        <a:rPr lang="en-US"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2.793</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996924"/>
                  </a:ext>
                </a:extLst>
              </a:tr>
              <a:tr h="325652">
                <a:tc>
                  <a:txBody>
                    <a:bodyPr/>
                    <a:lstStyle/>
                    <a:p>
                      <a:pPr algn="ctr" latinLnBrk="1">
                        <a:lnSpc>
                          <a:spcPct val="107000"/>
                        </a:lnSpc>
                        <a:spcAft>
                          <a:spcPts val="8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I_mp</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(mA)</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433.5</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lnSpc>
                          <a:spcPct val="107000"/>
                        </a:lnSpc>
                        <a:spcAft>
                          <a:spcPts val="800"/>
                        </a:spcAft>
                      </a:pPr>
                      <a:r>
                        <a:rPr lang="en-US"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423.8</a:t>
                      </a:r>
                      <a:endParaRPr lang="ko-KR" sz="12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23048184"/>
                  </a:ext>
                </a:extLst>
              </a:tr>
              <a:tr h="325652">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Cell thickness (µm)</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98~122</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latinLnBrk="1"/>
                      <a:endParaRPr lang="ko-KR" altLang="en-US"/>
                    </a:p>
                  </a:txBody>
                  <a:tcPr/>
                </a:tc>
                <a:extLst>
                  <a:ext uri="{0D108BD9-81ED-4DB2-BD59-A6C34878D82A}">
                    <a16:rowId xmlns:a16="http://schemas.microsoft.com/office/drawing/2014/main" val="4081138921"/>
                  </a:ext>
                </a:extLst>
              </a:tr>
              <a:tr h="325652">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Cell mass (mg/cm^2)</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59</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latinLnBrk="1"/>
                      <a:endParaRPr lang="ko-KR" altLang="en-US"/>
                    </a:p>
                  </a:txBody>
                  <a:tcPr/>
                </a:tc>
                <a:extLst>
                  <a:ext uri="{0D108BD9-81ED-4DB2-BD59-A6C34878D82A}">
                    <a16:rowId xmlns:a16="http://schemas.microsoft.com/office/drawing/2014/main" val="3214665482"/>
                  </a:ext>
                </a:extLst>
              </a:tr>
              <a:tr h="325652">
                <a:tc>
                  <a:txBody>
                    <a:bodyPr/>
                    <a:lstStyle/>
                    <a:p>
                      <a:pPr algn="ctr" latinLnBrk="1">
                        <a:lnSpc>
                          <a:spcPct val="107000"/>
                        </a:lnSpc>
                        <a:spcAft>
                          <a:spcPts val="8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Absorptivity</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gridSpan="2">
                  <a:txBody>
                    <a:bodyPr/>
                    <a:lstStyle/>
                    <a:p>
                      <a:pPr algn="ctr" latinLnBrk="1">
                        <a:lnSpc>
                          <a:spcPct val="107000"/>
                        </a:lnSpc>
                        <a:spcAft>
                          <a:spcPts val="800"/>
                        </a:spcAft>
                      </a:pPr>
                      <a:r>
                        <a:rPr lang="en-US"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0.91</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latinLnBrk="1"/>
                      <a:endParaRPr lang="ko-KR" altLang="en-US"/>
                    </a:p>
                  </a:txBody>
                  <a:tcPr/>
                </a:tc>
                <a:extLst>
                  <a:ext uri="{0D108BD9-81ED-4DB2-BD59-A6C34878D82A}">
                    <a16:rowId xmlns:a16="http://schemas.microsoft.com/office/drawing/2014/main" val="45684570"/>
                  </a:ext>
                </a:extLst>
              </a:tr>
            </a:tbl>
          </a:graphicData>
        </a:graphic>
      </p:graphicFrame>
      <p:sp>
        <p:nvSpPr>
          <p:cNvPr id="15" name="TextBox 14">
            <a:extLst>
              <a:ext uri="{FF2B5EF4-FFF2-40B4-BE49-F238E27FC236}">
                <a16:creationId xmlns:a16="http://schemas.microsoft.com/office/drawing/2014/main" id="{95325552-29CE-4AEC-9F4E-96A5D0C64208}"/>
              </a:ext>
            </a:extLst>
          </p:cNvPr>
          <p:cNvSpPr txBox="1"/>
          <p:nvPr/>
        </p:nvSpPr>
        <p:spPr>
          <a:xfrm>
            <a:off x="6131691" y="4250240"/>
            <a:ext cx="1192474" cy="246221"/>
          </a:xfrm>
          <a:prstGeom prst="rect">
            <a:avLst/>
          </a:prstGeom>
          <a:noFill/>
        </p:spPr>
        <p:txBody>
          <a:bodyPr wrap="square" rtlCol="0">
            <a:spAutoFit/>
          </a:bodyPr>
          <a:lstStyle/>
          <a:p>
            <a:r>
              <a:rPr lang="en-US" altLang="ko-KR" sz="1000" dirty="0">
                <a:solidFill>
                  <a:schemeClr val="bg1"/>
                </a:solidFill>
              </a:rPr>
              <a:t>&lt;Solar cell spec&gt;</a:t>
            </a:r>
            <a:endParaRPr lang="ko-KR" altLang="en-US" sz="1000" dirty="0">
              <a:solidFill>
                <a:schemeClr val="bg1"/>
              </a:solidFill>
            </a:endParaRPr>
          </a:p>
        </p:txBody>
      </p:sp>
    </p:spTree>
    <p:extLst>
      <p:ext uri="{BB962C8B-B14F-4D97-AF65-F5344CB8AC3E}">
        <p14:creationId xmlns:p14="http://schemas.microsoft.com/office/powerpoint/2010/main" val="225773411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Power source</a:t>
            </a:r>
            <a:endParaRPr lang="en-US" sz="2800" dirty="0"/>
          </a:p>
        </p:txBody>
      </p:sp>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nvGraphicFramePr>
        <p:xfrm>
          <a:off x="1026200" y="1551970"/>
          <a:ext cx="3312718" cy="2689646"/>
        </p:xfrm>
        <a:graphic>
          <a:graphicData uri="http://schemas.openxmlformats.org/drawingml/2006/table">
            <a:tbl>
              <a:tblPr firstRow="1" bandRow="1">
                <a:tableStyleId>{1C28B2AB-E718-4DF9-ADA3-83340B5D2C4E}</a:tableStyleId>
              </a:tblPr>
              <a:tblGrid>
                <a:gridCol w="2048694">
                  <a:extLst>
                    <a:ext uri="{9D8B030D-6E8A-4147-A177-3AD203B41FA5}">
                      <a16:colId xmlns:a16="http://schemas.microsoft.com/office/drawing/2014/main" val="1171601383"/>
                    </a:ext>
                  </a:extLst>
                </a:gridCol>
                <a:gridCol w="1264024">
                  <a:extLst>
                    <a:ext uri="{9D8B030D-6E8A-4147-A177-3AD203B41FA5}">
                      <a16:colId xmlns:a16="http://schemas.microsoft.com/office/drawing/2014/main" val="4073308631"/>
                    </a:ext>
                  </a:extLst>
                </a:gridCol>
              </a:tblGrid>
              <a:tr h="223405">
                <a:tc>
                  <a:txBody>
                    <a:bodyPr/>
                    <a:lstStyle/>
                    <a:p>
                      <a:pPr algn="just"/>
                      <a:endParaRPr lang="ko-KR" sz="12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Data</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3534075354"/>
                  </a:ext>
                </a:extLst>
              </a:tr>
              <a:tr h="292939">
                <a:tc>
                  <a:txBody>
                    <a:bodyPr/>
                    <a:lstStyle/>
                    <a:p>
                      <a:pPr algn="ctr" latinLnBrk="1">
                        <a:lnSpc>
                          <a:spcPct val="115000"/>
                        </a:lnSpc>
                        <a:spcAft>
                          <a:spcPts val="10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 (W)</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4200</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46884123"/>
                  </a:ext>
                </a:extLst>
              </a:tr>
              <a:tr h="313764">
                <a:tc>
                  <a:txBody>
                    <a:bodyPr/>
                    <a:lstStyle/>
                    <a:p>
                      <a:pPr algn="ctr" latinLnBrk="1">
                        <a:lnSpc>
                          <a:spcPct val="115000"/>
                        </a:lnSpc>
                        <a:spcAft>
                          <a:spcPts val="1000"/>
                        </a:spcAft>
                      </a:pPr>
                      <a:r>
                        <a:rPr lang="en-US"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P_sa</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(W)</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5281</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45682900"/>
                  </a:ext>
                </a:extLst>
              </a:tr>
              <a:tr h="312632">
                <a:tc>
                  <a:txBody>
                    <a:bodyPr/>
                    <a:lstStyle/>
                    <a:p>
                      <a:pPr algn="ctr" latinLnBrk="1">
                        <a:lnSpc>
                          <a:spcPct val="115000"/>
                        </a:lnSpc>
                        <a:spcAft>
                          <a:spcPts val="1000"/>
                        </a:spcAft>
                      </a:pP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P_0 (W/m</a:t>
                      </a:r>
                      <a:r>
                        <a:rPr lang="en-US" sz="1200" b="1" kern="100" baseline="30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a:t>
                      </a:r>
                      <a:r>
                        <a:rPr lang="en-US"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434.7</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537254243"/>
                  </a:ext>
                </a:extLst>
              </a:tr>
              <a:tr h="312632">
                <a:tc>
                  <a:txBody>
                    <a:bodyPr/>
                    <a:lstStyle/>
                    <a:p>
                      <a:pPr algn="ctr" latinLnBrk="1">
                        <a:lnSpc>
                          <a:spcPct val="115000"/>
                        </a:lnSpc>
                        <a:spcAft>
                          <a:spcPts val="1000"/>
                        </a:spcAft>
                      </a:pP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P_BOL (W/m</a:t>
                      </a:r>
                      <a:r>
                        <a:rPr lang="en-US" altLang="ko-KR" sz="1200" b="1" kern="100" baseline="30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a:t>
                      </a: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306.9</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12801104"/>
                  </a:ext>
                </a:extLst>
              </a:tr>
              <a:tr h="352289">
                <a:tc>
                  <a:txBody>
                    <a:bodyPr/>
                    <a:lstStyle/>
                    <a:p>
                      <a:pPr algn="ctr" latinLnBrk="1">
                        <a:lnSpc>
                          <a:spcPct val="115000"/>
                        </a:lnSpc>
                        <a:spcAft>
                          <a:spcPts val="1000"/>
                        </a:spcAft>
                      </a:pP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P_EOL (W/m</a:t>
                      </a:r>
                      <a:r>
                        <a:rPr lang="en-US" altLang="ko-KR" sz="1200" b="1" kern="100" baseline="30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a:t>
                      </a: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239.4</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89373389"/>
                  </a:ext>
                </a:extLst>
              </a:tr>
              <a:tr h="294619">
                <a:tc>
                  <a:txBody>
                    <a:bodyPr/>
                    <a:lstStyle/>
                    <a:p>
                      <a:pPr algn="ctr" latinLnBrk="1">
                        <a:lnSpc>
                          <a:spcPct val="115000"/>
                        </a:lnSpc>
                        <a:spcAft>
                          <a:spcPts val="1000"/>
                        </a:spcAft>
                      </a:pPr>
                      <a:r>
                        <a:rPr lang="en-US" altLang="ko-KR" sz="1200" b="1" kern="100" dirty="0" err="1">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A_sa</a:t>
                      </a: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(m</a:t>
                      </a:r>
                      <a:r>
                        <a:rPr lang="en-US" altLang="ko-KR" sz="1200" b="1" kern="100" baseline="30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a:t>
                      </a: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22.1</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2475298"/>
                  </a:ext>
                </a:extLst>
              </a:tr>
              <a:tr h="293683">
                <a:tc>
                  <a:txBody>
                    <a:bodyPr/>
                    <a:lstStyle/>
                    <a:p>
                      <a:pPr algn="ctr" latinLnBrk="1">
                        <a:lnSpc>
                          <a:spcPct val="115000"/>
                        </a:lnSpc>
                        <a:spcAft>
                          <a:spcPts val="1000"/>
                        </a:spcAft>
                      </a:pP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Cell mass (mg/cm</a:t>
                      </a:r>
                      <a:r>
                        <a:rPr lang="en-US" altLang="ko-KR" sz="1200" b="1" kern="100" baseline="300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a:t>
                      </a: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59</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11685667"/>
                  </a:ext>
                </a:extLst>
              </a:tr>
              <a:tr h="293683">
                <a:tc>
                  <a:txBody>
                    <a:bodyPr/>
                    <a:lstStyle/>
                    <a:p>
                      <a:pPr algn="ctr" latinLnBrk="1">
                        <a:lnSpc>
                          <a:spcPct val="115000"/>
                        </a:lnSpc>
                        <a:spcAft>
                          <a:spcPts val="1000"/>
                        </a:spcAft>
                      </a:pPr>
                      <a:r>
                        <a:rPr lang="en-US" alt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Total mass (kg)</a:t>
                      </a:r>
                      <a:endParaRPr lang="ko-KR" sz="12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latinLnBrk="1">
                        <a:lnSpc>
                          <a:spcPct val="115000"/>
                        </a:lnSpc>
                        <a:spcAft>
                          <a:spcPts val="1000"/>
                        </a:spcAft>
                      </a:pPr>
                      <a:r>
                        <a:rPr lang="en-US" alt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130.39</a:t>
                      </a:r>
                      <a:endParaRPr lang="ko-KR" sz="12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99813433"/>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AB693C-CE9A-48CC-A5B0-4193553A6544}"/>
                  </a:ext>
                </a:extLst>
              </p:cNvPr>
              <p:cNvSpPr txBox="1"/>
              <p:nvPr/>
            </p:nvSpPr>
            <p:spPr>
              <a:xfrm>
                <a:off x="5278991" y="1474909"/>
                <a:ext cx="1946562" cy="7130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𝑠𝑎</m:t>
                          </m:r>
                        </m:sub>
                      </m:sSub>
                      <m:r>
                        <a:rPr lang="ko-KR" altLang="en-US" i="0">
                          <a:solidFill>
                            <a:schemeClr val="bg1"/>
                          </a:solidFill>
                          <a:latin typeface="Cambria Math" panose="02040503050406030204" pitchFamily="18" charset="0"/>
                        </a:rPr>
                        <m:t>=</m:t>
                      </m:r>
                      <m:f>
                        <m:fPr>
                          <m:ctrlPr>
                            <a:rPr lang="ko-KR" altLang="en-US" i="1">
                              <a:solidFill>
                                <a:schemeClr val="bg1"/>
                              </a:solidFill>
                              <a:latin typeface="Cambria Math" panose="02040503050406030204" pitchFamily="18" charset="0"/>
                            </a:rPr>
                          </m:ctrlPr>
                        </m:fPr>
                        <m:num>
                          <m:d>
                            <m:dPr>
                              <m:ctrlPr>
                                <a:rPr lang="ko-KR" altLang="en-US" i="1">
                                  <a:solidFill>
                                    <a:schemeClr val="bg1"/>
                                  </a:solidFill>
                                  <a:latin typeface="Cambria Math" panose="02040503050406030204" pitchFamily="18" charset="0"/>
                                </a:rPr>
                              </m:ctrlPr>
                            </m:dPr>
                            <m:e>
                              <m:f>
                                <m:fPr>
                                  <m:ctrlPr>
                                    <a:rPr lang="ko-KR" altLang="en-US" i="1">
                                      <a:solidFill>
                                        <a:schemeClr val="bg1"/>
                                      </a:solidFill>
                                      <a:latin typeface="Cambria Math" panose="02040503050406030204" pitchFamily="18" charset="0"/>
                                    </a:rPr>
                                  </m:ctrlPr>
                                </m:fPr>
                                <m:num>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𝑒</m:t>
                                      </m:r>
                                    </m:sub>
                                  </m:sSub>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𝑇</m:t>
                                      </m:r>
                                    </m:e>
                                    <m:sub>
                                      <m:r>
                                        <a:rPr lang="ko-KR" altLang="en-US" i="1">
                                          <a:solidFill>
                                            <a:schemeClr val="bg1"/>
                                          </a:solidFill>
                                          <a:latin typeface="Cambria Math" panose="02040503050406030204" pitchFamily="18" charset="0"/>
                                        </a:rPr>
                                        <m:t>𝑒</m:t>
                                      </m:r>
                                    </m:sub>
                                  </m:sSub>
                                </m:num>
                                <m:den>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𝑋</m:t>
                                      </m:r>
                                    </m:e>
                                    <m:sub>
                                      <m:r>
                                        <a:rPr lang="ko-KR" altLang="en-US" i="1">
                                          <a:solidFill>
                                            <a:schemeClr val="bg1"/>
                                          </a:solidFill>
                                          <a:latin typeface="Cambria Math" panose="02040503050406030204" pitchFamily="18" charset="0"/>
                                        </a:rPr>
                                        <m:t>𝑒</m:t>
                                      </m:r>
                                    </m:sub>
                                  </m:sSub>
                                </m:den>
                              </m:f>
                              <m:r>
                                <a:rPr lang="ko-KR" altLang="en-US" i="0">
                                  <a:solidFill>
                                    <a:schemeClr val="bg1"/>
                                  </a:solidFill>
                                  <a:latin typeface="Cambria Math" panose="02040503050406030204" pitchFamily="18" charset="0"/>
                                </a:rPr>
                                <m:t>+</m:t>
                              </m:r>
                              <m:f>
                                <m:fPr>
                                  <m:ctrlPr>
                                    <a:rPr lang="ko-KR" altLang="en-US" i="1">
                                      <a:solidFill>
                                        <a:schemeClr val="bg1"/>
                                      </a:solidFill>
                                      <a:latin typeface="Cambria Math" panose="02040503050406030204" pitchFamily="18" charset="0"/>
                                    </a:rPr>
                                  </m:ctrlPr>
                                </m:fPr>
                                <m:num>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𝑑</m:t>
                                      </m:r>
                                    </m:sub>
                                  </m:sSub>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𝑇</m:t>
                                      </m:r>
                                    </m:e>
                                    <m:sub>
                                      <m:r>
                                        <a:rPr lang="ko-KR" altLang="en-US" i="1">
                                          <a:solidFill>
                                            <a:schemeClr val="bg1"/>
                                          </a:solidFill>
                                          <a:latin typeface="Cambria Math" panose="02040503050406030204" pitchFamily="18" charset="0"/>
                                        </a:rPr>
                                        <m:t>𝑑</m:t>
                                      </m:r>
                                    </m:sub>
                                  </m:sSub>
                                </m:num>
                                <m:den>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𝑋</m:t>
                                      </m:r>
                                    </m:e>
                                    <m:sub>
                                      <m:r>
                                        <a:rPr lang="ko-KR" altLang="en-US" i="1">
                                          <a:solidFill>
                                            <a:schemeClr val="bg1"/>
                                          </a:solidFill>
                                          <a:latin typeface="Cambria Math" panose="02040503050406030204" pitchFamily="18" charset="0"/>
                                        </a:rPr>
                                        <m:t>𝑑</m:t>
                                      </m:r>
                                    </m:sub>
                                  </m:sSub>
                                </m:den>
                              </m:f>
                            </m:e>
                          </m:d>
                        </m:num>
                        <m:den>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𝑇</m:t>
                              </m:r>
                            </m:e>
                            <m:sub>
                              <m:r>
                                <a:rPr lang="ko-KR" altLang="en-US" i="1">
                                  <a:solidFill>
                                    <a:schemeClr val="bg1"/>
                                  </a:solidFill>
                                  <a:latin typeface="Cambria Math" panose="02040503050406030204" pitchFamily="18" charset="0"/>
                                </a:rPr>
                                <m:t>𝑑</m:t>
                              </m:r>
                            </m:sub>
                          </m:sSub>
                        </m:den>
                      </m:f>
                    </m:oMath>
                  </m:oMathPara>
                </a14:m>
                <a:endParaRPr lang="ko-KR" altLang="en-US" dirty="0">
                  <a:solidFill>
                    <a:schemeClr val="bg1"/>
                  </a:solidFill>
                </a:endParaRPr>
              </a:p>
            </p:txBody>
          </p:sp>
        </mc:Choice>
        <mc:Fallback xmlns="">
          <p:sp>
            <p:nvSpPr>
              <p:cNvPr id="12" name="TextBox 11">
                <a:extLst>
                  <a:ext uri="{FF2B5EF4-FFF2-40B4-BE49-F238E27FC236}">
                    <a16:creationId xmlns:a16="http://schemas.microsoft.com/office/drawing/2014/main" id="{CAAB693C-CE9A-48CC-A5B0-4193553A6544}"/>
                  </a:ext>
                </a:extLst>
              </p:cNvPr>
              <p:cNvSpPr txBox="1">
                <a:spLocks noRot="1" noChangeAspect="1" noMove="1" noResize="1" noEditPoints="1" noAdjustHandles="1" noChangeArrowheads="1" noChangeShapeType="1" noTextEdit="1"/>
              </p:cNvSpPr>
              <p:nvPr/>
            </p:nvSpPr>
            <p:spPr>
              <a:xfrm>
                <a:off x="5278991" y="1474909"/>
                <a:ext cx="1946562" cy="713080"/>
              </a:xfrm>
              <a:prstGeom prst="rect">
                <a:avLst/>
              </a:prstGeom>
              <a:blipFill>
                <a:blip r:embed="rId3"/>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D7A55F9-6D95-49AD-9989-A192ACF04CC0}"/>
                  </a:ext>
                </a:extLst>
              </p:cNvPr>
              <p:cNvSpPr txBox="1"/>
              <p:nvPr/>
            </p:nvSpPr>
            <p:spPr>
              <a:xfrm>
                <a:off x="5162449" y="2329577"/>
                <a:ext cx="196449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𝐵𝑂𝐿</m:t>
                          </m:r>
                        </m:sub>
                      </m:sSub>
                      <m:r>
                        <a:rPr lang="ko-KR" altLang="en-US" i="0">
                          <a:solidFill>
                            <a:schemeClr val="bg1"/>
                          </a:solidFill>
                          <a:latin typeface="Cambria Math" panose="02040503050406030204" pitchFamily="18" charset="0"/>
                        </a:rPr>
                        <m:t>=</m:t>
                      </m:r>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𝑜</m:t>
                          </m:r>
                        </m:sub>
                      </m:sSub>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𝐼</m:t>
                          </m:r>
                        </m:e>
                        <m:sub>
                          <m:r>
                            <a:rPr lang="ko-KR" altLang="en-US" i="1">
                              <a:solidFill>
                                <a:schemeClr val="bg1"/>
                              </a:solidFill>
                              <a:latin typeface="Cambria Math" panose="02040503050406030204" pitchFamily="18" charset="0"/>
                            </a:rPr>
                            <m:t>𝑑</m:t>
                          </m:r>
                        </m:sub>
                      </m:sSub>
                      <m:func>
                        <m:funcPr>
                          <m:ctrlPr>
                            <a:rPr lang="ko-KR" altLang="en-US" i="1">
                              <a:solidFill>
                                <a:schemeClr val="bg1"/>
                              </a:solidFill>
                              <a:latin typeface="Cambria Math" panose="02040503050406030204" pitchFamily="18" charset="0"/>
                            </a:rPr>
                          </m:ctrlPr>
                        </m:funcPr>
                        <m:fName>
                          <m:r>
                            <m:rPr>
                              <m:sty m:val="p"/>
                            </m:rPr>
                            <a:rPr lang="ko-KR" altLang="en-US" i="0">
                              <a:solidFill>
                                <a:schemeClr val="bg1"/>
                              </a:solidFill>
                              <a:latin typeface="Cambria Math" panose="02040503050406030204" pitchFamily="18" charset="0"/>
                            </a:rPr>
                            <m:t>cos</m:t>
                          </m:r>
                        </m:fName>
                        <m:e>
                          <m:r>
                            <a:rPr lang="ko-KR" altLang="en-US" i="1">
                              <a:solidFill>
                                <a:schemeClr val="bg1"/>
                              </a:solidFill>
                              <a:latin typeface="Cambria Math" panose="02040503050406030204" pitchFamily="18" charset="0"/>
                            </a:rPr>
                            <m:t>𝜃</m:t>
                          </m:r>
                        </m:e>
                      </m:func>
                    </m:oMath>
                  </m:oMathPara>
                </a14:m>
                <a:endParaRPr lang="ko-KR" altLang="en-US" dirty="0">
                  <a:solidFill>
                    <a:schemeClr val="bg1"/>
                  </a:solidFill>
                </a:endParaRPr>
              </a:p>
            </p:txBody>
          </p:sp>
        </mc:Choice>
        <mc:Fallback xmlns="">
          <p:sp>
            <p:nvSpPr>
              <p:cNvPr id="14" name="TextBox 13">
                <a:extLst>
                  <a:ext uri="{FF2B5EF4-FFF2-40B4-BE49-F238E27FC236}">
                    <a16:creationId xmlns:a16="http://schemas.microsoft.com/office/drawing/2014/main" id="{4D7A55F9-6D95-49AD-9989-A192ACF04CC0}"/>
                  </a:ext>
                </a:extLst>
              </p:cNvPr>
              <p:cNvSpPr txBox="1">
                <a:spLocks noRot="1" noChangeAspect="1" noMove="1" noResize="1" noEditPoints="1" noAdjustHandles="1" noChangeArrowheads="1" noChangeShapeType="1" noTextEdit="1"/>
              </p:cNvSpPr>
              <p:nvPr/>
            </p:nvSpPr>
            <p:spPr>
              <a:xfrm>
                <a:off x="5162449" y="2329577"/>
                <a:ext cx="1964492" cy="30777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63341A5-83CC-4DB2-96C9-E91B8CD26536}"/>
                  </a:ext>
                </a:extLst>
              </p:cNvPr>
              <p:cNvSpPr txBox="1"/>
              <p:nvPr/>
            </p:nvSpPr>
            <p:spPr>
              <a:xfrm>
                <a:off x="5235766" y="2852888"/>
                <a:ext cx="172084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𝐸𝑂𝐿</m:t>
                          </m:r>
                        </m:sub>
                      </m:sSub>
                      <m:r>
                        <a:rPr lang="ko-KR" altLang="en-US" i="0">
                          <a:solidFill>
                            <a:schemeClr val="bg1"/>
                          </a:solidFill>
                          <a:latin typeface="Cambria Math" panose="02040503050406030204" pitchFamily="18" charset="0"/>
                        </a:rPr>
                        <m:t>=</m:t>
                      </m:r>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𝐵𝑂𝐿</m:t>
                          </m:r>
                        </m:sub>
                      </m:sSub>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𝐿</m:t>
                          </m:r>
                        </m:e>
                        <m:sub>
                          <m:r>
                            <a:rPr lang="ko-KR" altLang="en-US" i="1">
                              <a:solidFill>
                                <a:schemeClr val="bg1"/>
                              </a:solidFill>
                              <a:latin typeface="Cambria Math" panose="02040503050406030204" pitchFamily="18" charset="0"/>
                            </a:rPr>
                            <m:t>𝑑</m:t>
                          </m:r>
                        </m:sub>
                      </m:sSub>
                    </m:oMath>
                  </m:oMathPara>
                </a14:m>
                <a:endParaRPr lang="ko-KR" altLang="en-US" dirty="0">
                  <a:solidFill>
                    <a:schemeClr val="bg1"/>
                  </a:solidFill>
                </a:endParaRPr>
              </a:p>
            </p:txBody>
          </p:sp>
        </mc:Choice>
        <mc:Fallback xmlns="">
          <p:sp>
            <p:nvSpPr>
              <p:cNvPr id="16" name="TextBox 15">
                <a:extLst>
                  <a:ext uri="{FF2B5EF4-FFF2-40B4-BE49-F238E27FC236}">
                    <a16:creationId xmlns:a16="http://schemas.microsoft.com/office/drawing/2014/main" id="{263341A5-83CC-4DB2-96C9-E91B8CD26536}"/>
                  </a:ext>
                </a:extLst>
              </p:cNvPr>
              <p:cNvSpPr txBox="1">
                <a:spLocks noRot="1" noChangeAspect="1" noMove="1" noResize="1" noEditPoints="1" noAdjustHandles="1" noChangeArrowheads="1" noChangeShapeType="1" noTextEdit="1"/>
              </p:cNvSpPr>
              <p:nvPr/>
            </p:nvSpPr>
            <p:spPr>
              <a:xfrm>
                <a:off x="5235766" y="2852888"/>
                <a:ext cx="1720846" cy="307777"/>
              </a:xfrm>
              <a:prstGeom prst="rect">
                <a:avLst/>
              </a:prstGeom>
              <a:blipFill>
                <a:blip r:embed="rId5"/>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0F5F262-AB2E-499C-A1A3-05F47EFBF228}"/>
                  </a:ext>
                </a:extLst>
              </p:cNvPr>
              <p:cNvSpPr txBox="1"/>
              <p:nvPr/>
            </p:nvSpPr>
            <p:spPr>
              <a:xfrm>
                <a:off x="5235389" y="3467251"/>
                <a:ext cx="1488140" cy="532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i="1" smtClean="0">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𝐴</m:t>
                          </m:r>
                        </m:e>
                        <m:sub>
                          <m:r>
                            <a:rPr lang="ko-KR" altLang="en-US" i="1">
                              <a:solidFill>
                                <a:schemeClr val="bg1"/>
                              </a:solidFill>
                              <a:latin typeface="Cambria Math" panose="02040503050406030204" pitchFamily="18" charset="0"/>
                            </a:rPr>
                            <m:t>𝑠𝑎</m:t>
                          </m:r>
                        </m:sub>
                      </m:sSub>
                      <m:r>
                        <a:rPr lang="ko-KR" altLang="en-US" i="0">
                          <a:solidFill>
                            <a:schemeClr val="bg1"/>
                          </a:solidFill>
                          <a:latin typeface="Cambria Math" panose="02040503050406030204" pitchFamily="18" charset="0"/>
                        </a:rPr>
                        <m:t>=</m:t>
                      </m:r>
                      <m:f>
                        <m:fPr>
                          <m:ctrlPr>
                            <a:rPr lang="ko-KR" altLang="en-US" i="1">
                              <a:solidFill>
                                <a:schemeClr val="bg1"/>
                              </a:solidFill>
                              <a:latin typeface="Cambria Math" panose="02040503050406030204" pitchFamily="18" charset="0"/>
                            </a:rPr>
                          </m:ctrlPr>
                        </m:fPr>
                        <m:num>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𝑠𝑎</m:t>
                              </m:r>
                            </m:sub>
                          </m:sSub>
                        </m:num>
                        <m:den>
                          <m:sSub>
                            <m:sSubPr>
                              <m:ctrlPr>
                                <a:rPr lang="ko-KR" altLang="en-US" i="1">
                                  <a:solidFill>
                                    <a:schemeClr val="bg1"/>
                                  </a:solidFill>
                                  <a:latin typeface="Cambria Math" panose="02040503050406030204" pitchFamily="18" charset="0"/>
                                </a:rPr>
                              </m:ctrlPr>
                            </m:sSubPr>
                            <m:e>
                              <m:r>
                                <a:rPr lang="ko-KR" altLang="en-US" i="1">
                                  <a:solidFill>
                                    <a:schemeClr val="bg1"/>
                                  </a:solidFill>
                                  <a:latin typeface="Cambria Math" panose="02040503050406030204" pitchFamily="18" charset="0"/>
                                </a:rPr>
                                <m:t>𝑃</m:t>
                              </m:r>
                            </m:e>
                            <m:sub>
                              <m:r>
                                <a:rPr lang="ko-KR" altLang="en-US" i="1">
                                  <a:solidFill>
                                    <a:schemeClr val="bg1"/>
                                  </a:solidFill>
                                  <a:latin typeface="Cambria Math" panose="02040503050406030204" pitchFamily="18" charset="0"/>
                                </a:rPr>
                                <m:t>𝐸𝑂𝐿</m:t>
                              </m:r>
                            </m:sub>
                          </m:sSub>
                        </m:den>
                      </m:f>
                    </m:oMath>
                  </m:oMathPara>
                </a14:m>
                <a:endParaRPr lang="ko-KR" altLang="en-US" dirty="0">
                  <a:solidFill>
                    <a:schemeClr val="bg1"/>
                  </a:solidFill>
                </a:endParaRPr>
              </a:p>
            </p:txBody>
          </p:sp>
        </mc:Choice>
        <mc:Fallback xmlns="">
          <p:sp>
            <p:nvSpPr>
              <p:cNvPr id="18" name="TextBox 17">
                <a:extLst>
                  <a:ext uri="{FF2B5EF4-FFF2-40B4-BE49-F238E27FC236}">
                    <a16:creationId xmlns:a16="http://schemas.microsoft.com/office/drawing/2014/main" id="{A0F5F262-AB2E-499C-A1A3-05F47EFBF228}"/>
                  </a:ext>
                </a:extLst>
              </p:cNvPr>
              <p:cNvSpPr txBox="1">
                <a:spLocks noRot="1" noChangeAspect="1" noMove="1" noResize="1" noEditPoints="1" noAdjustHandles="1" noChangeArrowheads="1" noChangeShapeType="1" noTextEdit="1"/>
              </p:cNvSpPr>
              <p:nvPr/>
            </p:nvSpPr>
            <p:spPr>
              <a:xfrm>
                <a:off x="5235389" y="3467251"/>
                <a:ext cx="1488140" cy="532262"/>
              </a:xfrm>
              <a:prstGeom prst="rect">
                <a:avLst/>
              </a:prstGeom>
              <a:blipFill>
                <a:blip r:embed="rId6"/>
                <a:stretch>
                  <a:fillRect/>
                </a:stretch>
              </a:blipFill>
            </p:spPr>
            <p:txBody>
              <a:bodyPr/>
              <a:lstStyle/>
              <a:p>
                <a:r>
                  <a:rPr lang="ko-KR" altLang="en-US">
                    <a:noFill/>
                  </a:rPr>
                  <a:t> </a:t>
                </a:r>
              </a:p>
            </p:txBody>
          </p:sp>
        </mc:Fallback>
      </mc:AlternateContent>
      <p:sp>
        <p:nvSpPr>
          <p:cNvPr id="15" name="TextBox 14">
            <a:extLst>
              <a:ext uri="{FF2B5EF4-FFF2-40B4-BE49-F238E27FC236}">
                <a16:creationId xmlns:a16="http://schemas.microsoft.com/office/drawing/2014/main" id="{EE02619A-C0FB-4F42-BD8F-7AD4DA8A5C29}"/>
              </a:ext>
            </a:extLst>
          </p:cNvPr>
          <p:cNvSpPr txBox="1"/>
          <p:nvPr/>
        </p:nvSpPr>
        <p:spPr>
          <a:xfrm>
            <a:off x="5621027" y="2579325"/>
            <a:ext cx="716863" cy="253916"/>
          </a:xfrm>
          <a:prstGeom prst="rect">
            <a:avLst/>
          </a:prstGeom>
          <a:noFill/>
        </p:spPr>
        <p:txBody>
          <a:bodyPr wrap="none" rtlCol="0">
            <a:spAutoFit/>
          </a:bodyPr>
          <a:lstStyle/>
          <a:p>
            <a:r>
              <a:rPr lang="en-US" altLang="ko-KR" sz="1050" i="1" dirty="0">
                <a:solidFill>
                  <a:schemeClr val="bg1">
                    <a:lumMod val="65000"/>
                  </a:schemeClr>
                </a:solidFill>
                <a:latin typeface="+mj-ea"/>
                <a:ea typeface="+mj-ea"/>
              </a:rPr>
              <a:t>I</a:t>
            </a:r>
            <a:r>
              <a:rPr lang="en-US" altLang="ko-KR" sz="1050" i="1" baseline="-25000" dirty="0">
                <a:solidFill>
                  <a:schemeClr val="bg1">
                    <a:lumMod val="65000"/>
                  </a:schemeClr>
                </a:solidFill>
                <a:latin typeface="+mj-ea"/>
                <a:ea typeface="+mj-ea"/>
              </a:rPr>
              <a:t>d</a:t>
            </a:r>
            <a:r>
              <a:rPr lang="en-US" altLang="ko-KR" sz="1050" i="1" dirty="0">
                <a:solidFill>
                  <a:schemeClr val="bg1">
                    <a:lumMod val="65000"/>
                  </a:schemeClr>
                </a:solidFill>
                <a:latin typeface="+mj-ea"/>
                <a:ea typeface="+mj-ea"/>
              </a:rPr>
              <a:t> = 0.77</a:t>
            </a:r>
            <a:endParaRPr lang="ko-KR" altLang="en-US" sz="1050" i="1" dirty="0">
              <a:solidFill>
                <a:schemeClr val="bg1">
                  <a:lumMod val="65000"/>
                </a:schemeClr>
              </a:solidFill>
              <a:latin typeface="+mj-ea"/>
              <a:ea typeface="+mj-ea"/>
            </a:endParaRPr>
          </a:p>
        </p:txBody>
      </p:sp>
      <p:sp>
        <p:nvSpPr>
          <p:cNvPr id="20" name="TextBox 19">
            <a:extLst>
              <a:ext uri="{FF2B5EF4-FFF2-40B4-BE49-F238E27FC236}">
                <a16:creationId xmlns:a16="http://schemas.microsoft.com/office/drawing/2014/main" id="{B1BB0EC7-64E7-45F7-B2E8-10DDF5FA0F2C}"/>
              </a:ext>
            </a:extLst>
          </p:cNvPr>
          <p:cNvSpPr txBox="1"/>
          <p:nvPr/>
        </p:nvSpPr>
        <p:spPr>
          <a:xfrm>
            <a:off x="5620513" y="3074669"/>
            <a:ext cx="744114" cy="253916"/>
          </a:xfrm>
          <a:prstGeom prst="rect">
            <a:avLst/>
          </a:prstGeom>
          <a:noFill/>
        </p:spPr>
        <p:txBody>
          <a:bodyPr wrap="none" rtlCol="0">
            <a:spAutoFit/>
          </a:bodyPr>
          <a:lstStyle/>
          <a:p>
            <a:r>
              <a:rPr lang="en-US" altLang="ko-KR" sz="1050" i="1" dirty="0" err="1">
                <a:solidFill>
                  <a:schemeClr val="bg1">
                    <a:lumMod val="65000"/>
                  </a:schemeClr>
                </a:solidFill>
                <a:latin typeface="+mj-ea"/>
                <a:ea typeface="+mj-ea"/>
              </a:rPr>
              <a:t>L</a:t>
            </a:r>
            <a:r>
              <a:rPr lang="en-US" altLang="ko-KR" sz="1050" i="1" baseline="-25000" dirty="0" err="1">
                <a:solidFill>
                  <a:schemeClr val="bg1">
                    <a:lumMod val="65000"/>
                  </a:schemeClr>
                </a:solidFill>
                <a:latin typeface="+mj-ea"/>
                <a:ea typeface="+mj-ea"/>
              </a:rPr>
              <a:t>d</a:t>
            </a:r>
            <a:r>
              <a:rPr lang="en-US" altLang="ko-KR" sz="1050" i="1" dirty="0">
                <a:solidFill>
                  <a:schemeClr val="bg1">
                    <a:lumMod val="65000"/>
                  </a:schemeClr>
                </a:solidFill>
                <a:latin typeface="+mj-ea"/>
                <a:ea typeface="+mj-ea"/>
              </a:rPr>
              <a:t> = 0.78</a:t>
            </a:r>
            <a:endParaRPr lang="ko-KR" altLang="en-US" sz="1050" i="1" dirty="0">
              <a:solidFill>
                <a:schemeClr val="bg1">
                  <a:lumMod val="65000"/>
                </a:schemeClr>
              </a:solidFill>
              <a:latin typeface="+mj-ea"/>
              <a:ea typeface="+mj-ea"/>
            </a:endParaRPr>
          </a:p>
        </p:txBody>
      </p:sp>
    </p:spTree>
    <p:extLst>
      <p:ext uri="{BB962C8B-B14F-4D97-AF65-F5344CB8AC3E}">
        <p14:creationId xmlns:p14="http://schemas.microsoft.com/office/powerpoint/2010/main" val="21002453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600" dirty="0"/>
              <a:t>Energy Storage</a:t>
            </a:r>
            <a:endParaRPr lang="en-US" sz="2600" dirty="0"/>
          </a:p>
        </p:txBody>
      </p:sp>
      <p:pic>
        <p:nvPicPr>
          <p:cNvPr id="9" name="그림 8">
            <a:extLst>
              <a:ext uri="{FF2B5EF4-FFF2-40B4-BE49-F238E27FC236}">
                <a16:creationId xmlns:a16="http://schemas.microsoft.com/office/drawing/2014/main" id="{BB32BDF6-E567-4B3E-B19F-16EF44048AAF}"/>
              </a:ext>
            </a:extLst>
          </p:cNvPr>
          <p:cNvPicPr>
            <a:picLocks noChangeAspect="1"/>
          </p:cNvPicPr>
          <p:nvPr/>
        </p:nvPicPr>
        <p:blipFill>
          <a:blip r:embed="rId3"/>
          <a:stretch>
            <a:fillRect/>
          </a:stretch>
        </p:blipFill>
        <p:spPr>
          <a:xfrm>
            <a:off x="785812" y="1310274"/>
            <a:ext cx="3885565" cy="2409190"/>
          </a:xfrm>
          <a:prstGeom prst="rect">
            <a:avLst/>
          </a:prstGeom>
        </p:spPr>
      </p:pic>
      <p:sp>
        <p:nvSpPr>
          <p:cNvPr id="11" name="TextBox 10">
            <a:extLst>
              <a:ext uri="{FF2B5EF4-FFF2-40B4-BE49-F238E27FC236}">
                <a16:creationId xmlns:a16="http://schemas.microsoft.com/office/drawing/2014/main" id="{61ABE621-5D9A-4671-998A-12666E0303AC}"/>
              </a:ext>
            </a:extLst>
          </p:cNvPr>
          <p:cNvSpPr txBox="1"/>
          <p:nvPr/>
        </p:nvSpPr>
        <p:spPr>
          <a:xfrm>
            <a:off x="1566029" y="3797201"/>
            <a:ext cx="3240532" cy="307777"/>
          </a:xfrm>
          <a:prstGeom prst="rect">
            <a:avLst/>
          </a:prstGeom>
          <a:noFill/>
        </p:spPr>
        <p:txBody>
          <a:bodyPr wrap="square" rtlCol="0">
            <a:spAutoFit/>
          </a:bodyPr>
          <a:lstStyle/>
          <a:p>
            <a:r>
              <a:rPr lang="en-US" altLang="ko-KR" dirty="0">
                <a:solidFill>
                  <a:schemeClr val="bg1"/>
                </a:solidFill>
                <a:latin typeface="+mj-ea"/>
                <a:ea typeface="+mj-ea"/>
              </a:rPr>
              <a:t>&lt;Saft VL51ES Li-ion cell&gt;</a:t>
            </a:r>
            <a:endParaRPr lang="ko-KR" altLang="en-US" dirty="0">
              <a:solidFill>
                <a:schemeClr val="bg1"/>
              </a:solidFill>
              <a:latin typeface="+mj-ea"/>
              <a:ea typeface="+mj-ea"/>
            </a:endParaRPr>
          </a:p>
        </p:txBody>
      </p:sp>
      <p:sp>
        <p:nvSpPr>
          <p:cNvPr id="12" name="TextBox 11">
            <a:extLst>
              <a:ext uri="{FF2B5EF4-FFF2-40B4-BE49-F238E27FC236}">
                <a16:creationId xmlns:a16="http://schemas.microsoft.com/office/drawing/2014/main" id="{71FBEA69-8B37-4FA7-B79D-DEA419BBD533}"/>
              </a:ext>
            </a:extLst>
          </p:cNvPr>
          <p:cNvSpPr txBox="1"/>
          <p:nvPr/>
        </p:nvSpPr>
        <p:spPr>
          <a:xfrm>
            <a:off x="1653729" y="4101366"/>
            <a:ext cx="2297927" cy="246221"/>
          </a:xfrm>
          <a:prstGeom prst="rect">
            <a:avLst/>
          </a:prstGeom>
          <a:noFill/>
        </p:spPr>
        <p:txBody>
          <a:bodyPr wrap="square" rtlCol="0">
            <a:spAutoFit/>
          </a:bodyPr>
          <a:lstStyle/>
          <a:p>
            <a:r>
              <a:rPr lang="ko-KR" altLang="en-US" sz="1000" dirty="0">
                <a:solidFill>
                  <a:schemeClr val="bg1"/>
                </a:solidFill>
              </a:rPr>
              <a:t>제조사 </a:t>
            </a:r>
            <a:r>
              <a:rPr lang="en-US" altLang="ko-KR" sz="1000" dirty="0">
                <a:solidFill>
                  <a:schemeClr val="bg1"/>
                </a:solidFill>
              </a:rPr>
              <a:t>: Saft</a:t>
            </a:r>
            <a:endParaRPr lang="ko-KR" altLang="en-US" sz="1000" dirty="0">
              <a:solidFill>
                <a:schemeClr val="bg1"/>
              </a:solidFill>
            </a:endParaRPr>
          </a:p>
        </p:txBody>
      </p:sp>
      <p:graphicFrame>
        <p:nvGraphicFramePr>
          <p:cNvPr id="2" name="표 1">
            <a:extLst>
              <a:ext uri="{FF2B5EF4-FFF2-40B4-BE49-F238E27FC236}">
                <a16:creationId xmlns:a16="http://schemas.microsoft.com/office/drawing/2014/main" id="{869C2E9F-5D96-44E9-A239-002CA3C63F9A}"/>
              </a:ext>
            </a:extLst>
          </p:cNvPr>
          <p:cNvGraphicFramePr>
            <a:graphicFrameLocks noGrp="1"/>
          </p:cNvGraphicFramePr>
          <p:nvPr/>
        </p:nvGraphicFramePr>
        <p:xfrm>
          <a:off x="4941888" y="948214"/>
          <a:ext cx="3816350" cy="3133311"/>
        </p:xfrm>
        <a:graphic>
          <a:graphicData uri="http://schemas.openxmlformats.org/drawingml/2006/table">
            <a:tbl>
              <a:tblPr firstRow="1" firstCol="1" bandRow="1">
                <a:tableStyleId>{1C28B2AB-E718-4DF9-ADA3-83340B5D2C4E}</a:tableStyleId>
              </a:tblPr>
              <a:tblGrid>
                <a:gridCol w="2059547">
                  <a:extLst>
                    <a:ext uri="{9D8B030D-6E8A-4147-A177-3AD203B41FA5}">
                      <a16:colId xmlns:a16="http://schemas.microsoft.com/office/drawing/2014/main" val="2594016710"/>
                    </a:ext>
                  </a:extLst>
                </a:gridCol>
                <a:gridCol w="1756803">
                  <a:extLst>
                    <a:ext uri="{9D8B030D-6E8A-4147-A177-3AD203B41FA5}">
                      <a16:colId xmlns:a16="http://schemas.microsoft.com/office/drawing/2014/main" val="1558175789"/>
                    </a:ext>
                  </a:extLst>
                </a:gridCol>
              </a:tblGrid>
              <a:tr h="294470">
                <a:tc>
                  <a:txBody>
                    <a:bodyPr/>
                    <a:lstStyle/>
                    <a:p>
                      <a:pPr algn="ctr" latinLnBrk="1">
                        <a:lnSpc>
                          <a:spcPct val="107000"/>
                        </a:lnSpc>
                        <a:spcAft>
                          <a:spcPts val="800"/>
                        </a:spcAft>
                      </a:pPr>
                      <a:r>
                        <a:rPr lang="en-US" sz="1200" kern="100" dirty="0">
                          <a:solidFill>
                            <a:schemeClr val="bg1"/>
                          </a:solidFill>
                          <a:effectLst/>
                          <a:latin typeface="+mj-ea"/>
                          <a:ea typeface="+mj-ea"/>
                        </a:rPr>
                        <a:t> </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07000"/>
                        </a:lnSpc>
                        <a:spcAft>
                          <a:spcPts val="800"/>
                        </a:spcAft>
                      </a:pPr>
                      <a:r>
                        <a:rPr lang="en-US" sz="1200" b="1" kern="100" dirty="0">
                          <a:solidFill>
                            <a:schemeClr val="bg1"/>
                          </a:solidFill>
                          <a:effectLst/>
                          <a:latin typeface="+mj-ea"/>
                          <a:ea typeface="+mj-ea"/>
                        </a:rPr>
                        <a:t>Order</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656512128"/>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Nameplate energy (</a:t>
                      </a:r>
                      <a:r>
                        <a:rPr lang="en-US" sz="1200" b="1" kern="100" dirty="0" err="1">
                          <a:solidFill>
                            <a:schemeClr val="bg1"/>
                          </a:solidFill>
                          <a:effectLst/>
                          <a:latin typeface="+mj-ea"/>
                          <a:ea typeface="+mj-ea"/>
                        </a:rPr>
                        <a:t>Wh</a:t>
                      </a:r>
                      <a:r>
                        <a:rPr lang="en-US" sz="1200" b="1" kern="100" dirty="0">
                          <a:solidFill>
                            <a:schemeClr val="bg1"/>
                          </a:solidFill>
                          <a:effectLst/>
                          <a:latin typeface="+mj-ea"/>
                          <a:ea typeface="+mj-ea"/>
                        </a:rPr>
                        <a:t>)</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182</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049419787"/>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Nameplate capacity (Ah)</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latin typeface="+mj-ea"/>
                          <a:ea typeface="+mj-ea"/>
                        </a:rPr>
                        <a:t>51</a:t>
                      </a:r>
                      <a:endParaRPr lang="ko-KR" sz="1200" kern="10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5684858"/>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Weight</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latin typeface="+mj-ea"/>
                          <a:ea typeface="+mj-ea"/>
                        </a:rPr>
                        <a:t>1.08</a:t>
                      </a:r>
                      <a:endParaRPr lang="ko-KR" sz="1200" kern="10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09741473"/>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Specific energy (</a:t>
                      </a:r>
                      <a:r>
                        <a:rPr lang="en-US" sz="1200" b="1" kern="100" dirty="0" err="1">
                          <a:solidFill>
                            <a:schemeClr val="bg1"/>
                          </a:solidFill>
                          <a:effectLst/>
                          <a:latin typeface="+mj-ea"/>
                          <a:ea typeface="+mj-ea"/>
                        </a:rPr>
                        <a:t>Wh</a:t>
                      </a:r>
                      <a:r>
                        <a:rPr lang="en-US" sz="1200" b="1" kern="100" dirty="0">
                          <a:solidFill>
                            <a:schemeClr val="bg1"/>
                          </a:solidFill>
                          <a:effectLst/>
                          <a:latin typeface="+mj-ea"/>
                          <a:ea typeface="+mj-ea"/>
                        </a:rPr>
                        <a:t>/kg)</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latin typeface="+mj-ea"/>
                          <a:ea typeface="+mj-ea"/>
                        </a:rPr>
                        <a:t>130</a:t>
                      </a:r>
                      <a:endParaRPr lang="ko-KR" sz="1200" kern="10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496984330"/>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Energy density (</a:t>
                      </a:r>
                      <a:r>
                        <a:rPr lang="en-US" sz="1200" b="1" kern="100" dirty="0" err="1">
                          <a:solidFill>
                            <a:schemeClr val="bg1"/>
                          </a:solidFill>
                          <a:effectLst/>
                          <a:latin typeface="+mj-ea"/>
                          <a:ea typeface="+mj-ea"/>
                        </a:rPr>
                        <a:t>Wh</a:t>
                      </a:r>
                      <a:r>
                        <a:rPr lang="en-US" sz="1200" b="1" kern="100" dirty="0">
                          <a:solidFill>
                            <a:schemeClr val="bg1"/>
                          </a:solidFill>
                          <a:effectLst/>
                          <a:latin typeface="+mj-ea"/>
                          <a:ea typeface="+mj-ea"/>
                        </a:rPr>
                        <a:t>/l)</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123</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963571186"/>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Dimensions (mm)</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latin typeface="+mj-ea"/>
                          <a:ea typeface="+mj-ea"/>
                        </a:rPr>
                        <a:t>54*54*222</a:t>
                      </a:r>
                      <a:endParaRPr lang="ko-KR" sz="1200" kern="10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446372657"/>
                  </a:ext>
                </a:extLst>
              </a:tr>
              <a:tr h="294470">
                <a:tc>
                  <a:txBody>
                    <a:bodyPr/>
                    <a:lstStyle/>
                    <a:p>
                      <a:pPr algn="ctr" latinLnBrk="1">
                        <a:lnSpc>
                          <a:spcPct val="107000"/>
                        </a:lnSpc>
                        <a:spcAft>
                          <a:spcPts val="800"/>
                        </a:spcAft>
                      </a:pPr>
                      <a:r>
                        <a:rPr lang="en-US" sz="1200" b="1" kern="100" dirty="0">
                          <a:solidFill>
                            <a:schemeClr val="bg1"/>
                          </a:solidFill>
                          <a:effectLst/>
                          <a:latin typeface="+mj-ea"/>
                          <a:ea typeface="+mj-ea"/>
                        </a:rPr>
                        <a:t>Operating temperature</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-30~60</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069368720"/>
                  </a:ext>
                </a:extLst>
              </a:tr>
              <a:tr h="777551">
                <a:tc>
                  <a:txBody>
                    <a:bodyPr/>
                    <a:lstStyle/>
                    <a:p>
                      <a:pPr algn="ctr" latinLnBrk="1">
                        <a:lnSpc>
                          <a:spcPct val="107000"/>
                        </a:lnSpc>
                        <a:spcAft>
                          <a:spcPts val="800"/>
                        </a:spcAft>
                      </a:pPr>
                      <a:r>
                        <a:rPr lang="en-US" sz="1200" b="1" kern="100" dirty="0">
                          <a:solidFill>
                            <a:schemeClr val="bg1"/>
                          </a:solidFill>
                          <a:effectLst/>
                          <a:latin typeface="+mj-ea"/>
                          <a:ea typeface="+mj-ea"/>
                        </a:rPr>
                        <a:t>Storage &amp; transportation </a:t>
                      </a:r>
                    </a:p>
                    <a:p>
                      <a:pPr algn="ctr" latinLnBrk="1">
                        <a:lnSpc>
                          <a:spcPct val="107000"/>
                        </a:lnSpc>
                        <a:spcAft>
                          <a:spcPts val="800"/>
                        </a:spcAft>
                      </a:pPr>
                      <a:r>
                        <a:rPr lang="en-US" sz="1200" b="1" kern="100" dirty="0">
                          <a:solidFill>
                            <a:schemeClr val="bg1"/>
                          </a:solidFill>
                          <a:effectLst/>
                          <a:latin typeface="+mj-ea"/>
                          <a:ea typeface="+mj-ea"/>
                        </a:rPr>
                        <a:t>temperature</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10~30 recommended</a:t>
                      </a:r>
                      <a:endParaRPr lang="ko-KR" sz="1200" kern="100" dirty="0">
                        <a:solidFill>
                          <a:schemeClr val="bg1"/>
                        </a:solidFill>
                        <a:effectLst/>
                        <a:latin typeface="+mj-ea"/>
                        <a:ea typeface="+mj-ea"/>
                      </a:endParaRPr>
                    </a:p>
                    <a:p>
                      <a:pPr algn="ctr" latinLnBrk="1">
                        <a:lnSpc>
                          <a:spcPct val="107000"/>
                        </a:lnSpc>
                        <a:spcAft>
                          <a:spcPts val="800"/>
                        </a:spcAft>
                      </a:pPr>
                      <a:r>
                        <a:rPr lang="en-US" sz="1200" kern="100" dirty="0">
                          <a:solidFill>
                            <a:schemeClr val="bg1"/>
                          </a:solidFill>
                          <a:effectLst/>
                          <a:latin typeface="+mj-ea"/>
                          <a:ea typeface="+mj-ea"/>
                        </a:rPr>
                        <a:t>-40~60 allowable</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95400920"/>
                  </a:ext>
                </a:extLst>
              </a:tr>
            </a:tbl>
          </a:graphicData>
        </a:graphic>
      </p:graphicFrame>
      <p:sp>
        <p:nvSpPr>
          <p:cNvPr id="13" name="TextBox 12">
            <a:extLst>
              <a:ext uri="{FF2B5EF4-FFF2-40B4-BE49-F238E27FC236}">
                <a16:creationId xmlns:a16="http://schemas.microsoft.com/office/drawing/2014/main" id="{B0A45FF5-2DAC-4728-A8CA-326450B38F09}"/>
              </a:ext>
            </a:extLst>
          </p:cNvPr>
          <p:cNvSpPr txBox="1"/>
          <p:nvPr/>
        </p:nvSpPr>
        <p:spPr>
          <a:xfrm>
            <a:off x="6271755" y="4081525"/>
            <a:ext cx="1437892" cy="246221"/>
          </a:xfrm>
          <a:prstGeom prst="rect">
            <a:avLst/>
          </a:prstGeom>
          <a:noFill/>
        </p:spPr>
        <p:txBody>
          <a:bodyPr wrap="square" rtlCol="0">
            <a:spAutoFit/>
          </a:bodyPr>
          <a:lstStyle/>
          <a:p>
            <a:r>
              <a:rPr lang="en-US" altLang="ko-KR" sz="1000" dirty="0">
                <a:solidFill>
                  <a:schemeClr val="bg1"/>
                </a:solidFill>
              </a:rPr>
              <a:t>&lt;Battery cell spec&gt;</a:t>
            </a:r>
            <a:endParaRPr lang="ko-KR" altLang="en-US" sz="1000" dirty="0">
              <a:solidFill>
                <a:schemeClr val="bg1"/>
              </a:solidFill>
            </a:endParaRPr>
          </a:p>
        </p:txBody>
      </p:sp>
    </p:spTree>
    <p:extLst>
      <p:ext uri="{BB962C8B-B14F-4D97-AF65-F5344CB8AC3E}">
        <p14:creationId xmlns:p14="http://schemas.microsoft.com/office/powerpoint/2010/main" val="15889869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600" dirty="0"/>
              <a:t>Energy Storage</a:t>
            </a:r>
            <a:endParaRPr lang="en-US" sz="2600" dirty="0"/>
          </a:p>
        </p:txBody>
      </p:sp>
      <p:graphicFrame>
        <p:nvGraphicFramePr>
          <p:cNvPr id="2" name="표 1">
            <a:extLst>
              <a:ext uri="{FF2B5EF4-FFF2-40B4-BE49-F238E27FC236}">
                <a16:creationId xmlns:a16="http://schemas.microsoft.com/office/drawing/2014/main" id="{869C2E9F-5D96-44E9-A239-002CA3C63F9A}"/>
              </a:ext>
            </a:extLst>
          </p:cNvPr>
          <p:cNvGraphicFramePr>
            <a:graphicFrameLocks noGrp="1"/>
          </p:cNvGraphicFramePr>
          <p:nvPr/>
        </p:nvGraphicFramePr>
        <p:xfrm>
          <a:off x="1026200" y="1301475"/>
          <a:ext cx="3816350" cy="3001586"/>
        </p:xfrm>
        <a:graphic>
          <a:graphicData uri="http://schemas.openxmlformats.org/drawingml/2006/table">
            <a:tbl>
              <a:tblPr firstRow="1" firstCol="1" bandRow="1">
                <a:tableStyleId>{1C28B2AB-E718-4DF9-ADA3-83340B5D2C4E}</a:tableStyleId>
              </a:tblPr>
              <a:tblGrid>
                <a:gridCol w="2059547">
                  <a:extLst>
                    <a:ext uri="{9D8B030D-6E8A-4147-A177-3AD203B41FA5}">
                      <a16:colId xmlns:a16="http://schemas.microsoft.com/office/drawing/2014/main" val="2594016710"/>
                    </a:ext>
                  </a:extLst>
                </a:gridCol>
                <a:gridCol w="1756803">
                  <a:extLst>
                    <a:ext uri="{9D8B030D-6E8A-4147-A177-3AD203B41FA5}">
                      <a16:colId xmlns:a16="http://schemas.microsoft.com/office/drawing/2014/main" val="1558175789"/>
                    </a:ext>
                  </a:extLst>
                </a:gridCol>
              </a:tblGrid>
              <a:tr h="428798">
                <a:tc>
                  <a:txBody>
                    <a:bodyPr/>
                    <a:lstStyle/>
                    <a:p>
                      <a:pPr algn="ctr" latinLnBrk="1">
                        <a:lnSpc>
                          <a:spcPct val="107000"/>
                        </a:lnSpc>
                        <a:spcAft>
                          <a:spcPts val="800"/>
                        </a:spcAft>
                      </a:pPr>
                      <a:r>
                        <a:rPr lang="en-US" sz="1200" kern="100" dirty="0">
                          <a:solidFill>
                            <a:schemeClr val="bg1"/>
                          </a:solidFill>
                          <a:effectLst/>
                          <a:latin typeface="+mj-ea"/>
                          <a:ea typeface="+mj-ea"/>
                        </a:rPr>
                        <a:t> </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07000"/>
                        </a:lnSpc>
                        <a:spcAft>
                          <a:spcPts val="800"/>
                        </a:spcAft>
                      </a:pPr>
                      <a:r>
                        <a:rPr lang="en-US" sz="1200" b="1" kern="100" dirty="0">
                          <a:solidFill>
                            <a:schemeClr val="bg1"/>
                          </a:solidFill>
                          <a:effectLst/>
                          <a:latin typeface="+mj-ea"/>
                          <a:ea typeface="+mj-ea"/>
                        </a:rPr>
                        <a:t>Order</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656512128"/>
                  </a:ext>
                </a:extLst>
              </a:tr>
              <a:tr h="428798">
                <a:tc>
                  <a:txBody>
                    <a:bodyPr/>
                    <a:lstStyle/>
                    <a:p>
                      <a:pPr algn="ctr" latinLnBrk="1">
                        <a:lnSpc>
                          <a:spcPct val="107000"/>
                        </a:lnSpc>
                        <a:spcAft>
                          <a:spcPts val="800"/>
                        </a:spcAft>
                      </a:pPr>
                      <a:r>
                        <a:rPr lang="en-US" sz="1200" b="1" kern="100" dirty="0" err="1">
                          <a:solidFill>
                            <a:schemeClr val="bg1"/>
                          </a:solidFill>
                          <a:effectLst/>
                          <a:latin typeface="+mj-ea"/>
                          <a:ea typeface="+mj-ea"/>
                        </a:rPr>
                        <a:t>P_e</a:t>
                      </a:r>
                      <a:r>
                        <a:rPr lang="en-US" sz="1200" b="1" kern="100" dirty="0">
                          <a:solidFill>
                            <a:schemeClr val="bg1"/>
                          </a:solidFill>
                          <a:effectLst/>
                          <a:latin typeface="+mj-ea"/>
                          <a:ea typeface="+mj-ea"/>
                        </a:rPr>
                        <a:t> (W)</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4200</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049419787"/>
                  </a:ext>
                </a:extLst>
              </a:tr>
              <a:tr h="428798">
                <a:tc>
                  <a:txBody>
                    <a:bodyPr/>
                    <a:lstStyle/>
                    <a:p>
                      <a:pPr algn="ctr" latinLnBrk="1">
                        <a:lnSpc>
                          <a:spcPct val="107000"/>
                        </a:lnSpc>
                        <a:spcAft>
                          <a:spcPts val="800"/>
                        </a:spcAft>
                      </a:pPr>
                      <a:r>
                        <a:rPr lang="en-US" altLang="ko-KR" sz="1200" b="1" kern="100" dirty="0" err="1">
                          <a:solidFill>
                            <a:schemeClr val="bg1"/>
                          </a:solidFill>
                          <a:effectLst/>
                          <a:latin typeface="+mj-ea"/>
                          <a:ea typeface="+mj-ea"/>
                          <a:cs typeface="Times New Roman" panose="02020603050405020304" pitchFamily="18" charset="0"/>
                        </a:rPr>
                        <a:t>T_e</a:t>
                      </a:r>
                      <a:r>
                        <a:rPr lang="en-US" altLang="ko-KR" sz="1200" b="1" kern="100" dirty="0">
                          <a:solidFill>
                            <a:schemeClr val="bg1"/>
                          </a:solidFill>
                          <a:effectLst/>
                          <a:latin typeface="+mj-ea"/>
                          <a:ea typeface="+mj-ea"/>
                          <a:cs typeface="Times New Roman" panose="02020603050405020304" pitchFamily="18" charset="0"/>
                        </a:rPr>
                        <a:t> (h)</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1.2</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5684858"/>
                  </a:ext>
                </a:extLst>
              </a:tr>
              <a:tr h="428798">
                <a:tc>
                  <a:txBody>
                    <a:bodyPr/>
                    <a:lstStyle/>
                    <a:p>
                      <a:pPr algn="ctr" latinLnBrk="1">
                        <a:lnSpc>
                          <a:spcPct val="107000"/>
                        </a:lnSpc>
                        <a:spcAft>
                          <a:spcPts val="800"/>
                        </a:spcAft>
                      </a:pPr>
                      <a:r>
                        <a:rPr lang="en-US" sz="1200" b="1" kern="100" dirty="0">
                          <a:solidFill>
                            <a:schemeClr val="bg1"/>
                          </a:solidFill>
                          <a:effectLst/>
                          <a:latin typeface="+mj-ea"/>
                          <a:ea typeface="+mj-ea"/>
                        </a:rPr>
                        <a:t>DOD (%)</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50</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09741473"/>
                  </a:ext>
                </a:extLst>
              </a:tr>
              <a:tr h="428798">
                <a:tc>
                  <a:txBody>
                    <a:bodyPr/>
                    <a:lstStyle/>
                    <a:p>
                      <a:pPr algn="ctr" latinLnBrk="1">
                        <a:lnSpc>
                          <a:spcPct val="107000"/>
                        </a:lnSpc>
                        <a:spcAft>
                          <a:spcPts val="800"/>
                        </a:spcAft>
                      </a:pPr>
                      <a:r>
                        <a:rPr lang="en-US" altLang="ko-KR" sz="1200" b="1" kern="100" dirty="0">
                          <a:solidFill>
                            <a:schemeClr val="bg1"/>
                          </a:solidFill>
                          <a:effectLst/>
                          <a:latin typeface="+mj-ea"/>
                          <a:ea typeface="+mj-ea"/>
                          <a:cs typeface="Times New Roman" panose="02020603050405020304" pitchFamily="18" charset="0"/>
                        </a:rPr>
                        <a:t>N</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61.5 (=62)</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496984330"/>
                  </a:ext>
                </a:extLst>
              </a:tr>
              <a:tr h="428798">
                <a:tc>
                  <a:txBody>
                    <a:bodyPr/>
                    <a:lstStyle/>
                    <a:p>
                      <a:pPr algn="ctr" latinLnBrk="1">
                        <a:lnSpc>
                          <a:spcPct val="107000"/>
                        </a:lnSpc>
                        <a:spcAft>
                          <a:spcPts val="800"/>
                        </a:spcAft>
                      </a:pPr>
                      <a:r>
                        <a:rPr lang="en-US" altLang="ko-KR" sz="1200" b="1" kern="100" dirty="0">
                          <a:solidFill>
                            <a:schemeClr val="bg1"/>
                          </a:solidFill>
                          <a:effectLst/>
                          <a:latin typeface="+mj-ea"/>
                          <a:ea typeface="+mj-ea"/>
                          <a:cs typeface="Times New Roman" panose="02020603050405020304" pitchFamily="18" charset="0"/>
                        </a:rPr>
                        <a:t>n</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0.9</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963571186"/>
                  </a:ext>
                </a:extLst>
              </a:tr>
              <a:tr h="428798">
                <a:tc>
                  <a:txBody>
                    <a:bodyPr/>
                    <a:lstStyle/>
                    <a:p>
                      <a:pPr algn="ctr" latinLnBrk="1">
                        <a:lnSpc>
                          <a:spcPct val="107000"/>
                        </a:lnSpc>
                        <a:spcAft>
                          <a:spcPts val="800"/>
                        </a:spcAft>
                      </a:pPr>
                      <a:r>
                        <a:rPr lang="en-US" altLang="ko-KR" sz="1200" b="1" kern="100" dirty="0">
                          <a:solidFill>
                            <a:schemeClr val="bg1"/>
                          </a:solidFill>
                          <a:effectLst/>
                          <a:latin typeface="+mj-ea"/>
                          <a:ea typeface="+mj-ea"/>
                          <a:cs typeface="Times New Roman" panose="02020603050405020304" pitchFamily="18" charset="0"/>
                        </a:rPr>
                        <a:t>Battery cell capacity (</a:t>
                      </a:r>
                      <a:r>
                        <a:rPr lang="en-US" altLang="ko-KR" sz="1200" b="1" kern="100" dirty="0" err="1">
                          <a:solidFill>
                            <a:schemeClr val="bg1"/>
                          </a:solidFill>
                          <a:effectLst/>
                          <a:latin typeface="+mj-ea"/>
                          <a:ea typeface="+mj-ea"/>
                          <a:cs typeface="Times New Roman" panose="02020603050405020304" pitchFamily="18" charset="0"/>
                        </a:rPr>
                        <a:t>Wh</a:t>
                      </a:r>
                      <a:r>
                        <a:rPr lang="en-US" altLang="ko-KR" sz="1200" b="1" kern="100" dirty="0">
                          <a:solidFill>
                            <a:schemeClr val="bg1"/>
                          </a:solidFill>
                          <a:effectLst/>
                          <a:latin typeface="+mj-ea"/>
                          <a:ea typeface="+mj-ea"/>
                          <a:cs typeface="Times New Roman" panose="02020603050405020304" pitchFamily="18" charset="0"/>
                        </a:rPr>
                        <a:t>)</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182</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446372657"/>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50B3186-4F95-4F7D-96DB-9BDFB9E99DA7}"/>
                  </a:ext>
                </a:extLst>
              </p:cNvPr>
              <p:cNvSpPr txBox="1"/>
              <p:nvPr/>
            </p:nvSpPr>
            <p:spPr>
              <a:xfrm>
                <a:off x="6148826" y="1651860"/>
                <a:ext cx="1685364" cy="5261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ko-KR" altLang="en-US" b="1" i="1" smtClean="0">
                              <a:solidFill>
                                <a:schemeClr val="bg1"/>
                              </a:solidFill>
                              <a:latin typeface="Cambria Math" panose="02040503050406030204" pitchFamily="18" charset="0"/>
                            </a:rPr>
                          </m:ctrlPr>
                        </m:sSubPr>
                        <m:e>
                          <m:r>
                            <a:rPr lang="ko-KR" altLang="en-US" b="1" i="1">
                              <a:solidFill>
                                <a:schemeClr val="bg1"/>
                              </a:solidFill>
                              <a:latin typeface="Cambria Math" panose="02040503050406030204" pitchFamily="18" charset="0"/>
                            </a:rPr>
                            <m:t>𝑪</m:t>
                          </m:r>
                        </m:e>
                        <m:sub>
                          <m:r>
                            <a:rPr lang="ko-KR" altLang="en-US" b="1" i="1">
                              <a:solidFill>
                                <a:schemeClr val="bg1"/>
                              </a:solidFill>
                              <a:latin typeface="Cambria Math" panose="02040503050406030204" pitchFamily="18" charset="0"/>
                            </a:rPr>
                            <m:t>𝒓</m:t>
                          </m:r>
                        </m:sub>
                      </m:sSub>
                      <m:r>
                        <a:rPr lang="ko-KR" altLang="en-US" b="1" i="0">
                          <a:solidFill>
                            <a:schemeClr val="bg1"/>
                          </a:solidFill>
                          <a:latin typeface="Cambria Math" panose="02040503050406030204" pitchFamily="18" charset="0"/>
                        </a:rPr>
                        <m:t>=</m:t>
                      </m:r>
                      <m:f>
                        <m:fPr>
                          <m:ctrlPr>
                            <a:rPr lang="ko-KR" altLang="en-US" b="1" i="1">
                              <a:solidFill>
                                <a:schemeClr val="bg1"/>
                              </a:solidFill>
                              <a:latin typeface="Cambria Math" panose="02040503050406030204" pitchFamily="18" charset="0"/>
                            </a:rPr>
                          </m:ctrlPr>
                        </m:fPr>
                        <m:num>
                          <m:sSub>
                            <m:sSubPr>
                              <m:ctrlPr>
                                <a:rPr lang="ko-KR" altLang="en-US" b="1" i="1">
                                  <a:solidFill>
                                    <a:schemeClr val="bg1"/>
                                  </a:solidFill>
                                  <a:latin typeface="Cambria Math" panose="02040503050406030204" pitchFamily="18" charset="0"/>
                                </a:rPr>
                              </m:ctrlPr>
                            </m:sSubPr>
                            <m:e>
                              <m:r>
                                <a:rPr lang="ko-KR" altLang="en-US" b="1" i="1">
                                  <a:solidFill>
                                    <a:schemeClr val="bg1"/>
                                  </a:solidFill>
                                  <a:latin typeface="Cambria Math" panose="02040503050406030204" pitchFamily="18" charset="0"/>
                                </a:rPr>
                                <m:t>𝑷</m:t>
                              </m:r>
                            </m:e>
                            <m:sub>
                              <m:r>
                                <a:rPr lang="ko-KR" altLang="en-US" b="1" i="1">
                                  <a:solidFill>
                                    <a:schemeClr val="bg1"/>
                                  </a:solidFill>
                                  <a:latin typeface="Cambria Math" panose="02040503050406030204" pitchFamily="18" charset="0"/>
                                </a:rPr>
                                <m:t>𝒆</m:t>
                              </m:r>
                            </m:sub>
                          </m:sSub>
                          <m:sSub>
                            <m:sSubPr>
                              <m:ctrlPr>
                                <a:rPr lang="ko-KR" altLang="en-US" b="1" i="1">
                                  <a:solidFill>
                                    <a:schemeClr val="bg1"/>
                                  </a:solidFill>
                                  <a:latin typeface="Cambria Math" panose="02040503050406030204" pitchFamily="18" charset="0"/>
                                </a:rPr>
                              </m:ctrlPr>
                            </m:sSubPr>
                            <m:e>
                              <m:r>
                                <a:rPr lang="ko-KR" altLang="en-US" b="1" i="1">
                                  <a:solidFill>
                                    <a:schemeClr val="bg1"/>
                                  </a:solidFill>
                                  <a:latin typeface="Cambria Math" panose="02040503050406030204" pitchFamily="18" charset="0"/>
                                </a:rPr>
                                <m:t>𝑻</m:t>
                              </m:r>
                            </m:e>
                            <m:sub>
                              <m:r>
                                <a:rPr lang="ko-KR" altLang="en-US" b="1" i="1">
                                  <a:solidFill>
                                    <a:schemeClr val="bg1"/>
                                  </a:solidFill>
                                  <a:latin typeface="Cambria Math" panose="02040503050406030204" pitchFamily="18" charset="0"/>
                                </a:rPr>
                                <m:t>𝒆</m:t>
                              </m:r>
                            </m:sub>
                          </m:sSub>
                        </m:num>
                        <m:den>
                          <m:d>
                            <m:dPr>
                              <m:ctrlPr>
                                <a:rPr lang="ko-KR" altLang="en-US" b="1" i="1">
                                  <a:solidFill>
                                    <a:schemeClr val="bg1"/>
                                  </a:solidFill>
                                  <a:latin typeface="Cambria Math" panose="02040503050406030204" pitchFamily="18" charset="0"/>
                                </a:rPr>
                              </m:ctrlPr>
                            </m:dPr>
                            <m:e>
                              <m:r>
                                <a:rPr lang="ko-KR" altLang="en-US" b="1" i="1">
                                  <a:solidFill>
                                    <a:schemeClr val="bg1"/>
                                  </a:solidFill>
                                  <a:latin typeface="Cambria Math" panose="02040503050406030204" pitchFamily="18" charset="0"/>
                                </a:rPr>
                                <m:t>𝑫𝑶𝑫</m:t>
                              </m:r>
                            </m:e>
                          </m:d>
                          <m:r>
                            <a:rPr lang="ko-KR" altLang="en-US" b="1" i="1">
                              <a:solidFill>
                                <a:schemeClr val="bg1"/>
                              </a:solidFill>
                              <a:latin typeface="Cambria Math" panose="02040503050406030204" pitchFamily="18" charset="0"/>
                            </a:rPr>
                            <m:t>𝑵𝒏</m:t>
                          </m:r>
                        </m:den>
                      </m:f>
                    </m:oMath>
                  </m:oMathPara>
                </a14:m>
                <a:endParaRPr lang="ko-KR" altLang="en-US" b="1" dirty="0">
                  <a:solidFill>
                    <a:schemeClr val="bg1"/>
                  </a:solidFill>
                </a:endParaRPr>
              </a:p>
            </p:txBody>
          </p:sp>
        </mc:Choice>
        <mc:Fallback xmlns="">
          <p:sp>
            <p:nvSpPr>
              <p:cNvPr id="14" name="TextBox 13">
                <a:extLst>
                  <a:ext uri="{FF2B5EF4-FFF2-40B4-BE49-F238E27FC236}">
                    <a16:creationId xmlns:a16="http://schemas.microsoft.com/office/drawing/2014/main" id="{250B3186-4F95-4F7D-96DB-9BDFB9E99DA7}"/>
                  </a:ext>
                </a:extLst>
              </p:cNvPr>
              <p:cNvSpPr txBox="1">
                <a:spLocks noRot="1" noChangeAspect="1" noMove="1" noResize="1" noEditPoints="1" noAdjustHandles="1" noChangeArrowheads="1" noChangeShapeType="1" noTextEdit="1"/>
              </p:cNvSpPr>
              <p:nvPr/>
            </p:nvSpPr>
            <p:spPr>
              <a:xfrm>
                <a:off x="6148826" y="1651860"/>
                <a:ext cx="1685364" cy="526106"/>
              </a:xfrm>
              <a:prstGeom prst="rect">
                <a:avLst/>
              </a:prstGeom>
              <a:blipFill>
                <a:blip r:embed="rId3"/>
                <a:stretch>
                  <a:fillRect/>
                </a:stretch>
              </a:blipFill>
            </p:spPr>
            <p:txBody>
              <a:bodyPr/>
              <a:lstStyle/>
              <a:p>
                <a:r>
                  <a:rPr lang="ko-KR" altLang="en-US">
                    <a:noFill/>
                  </a:rPr>
                  <a:t> </a:t>
                </a:r>
              </a:p>
            </p:txBody>
          </p:sp>
        </mc:Fallback>
      </mc:AlternateContent>
      <p:graphicFrame>
        <p:nvGraphicFramePr>
          <p:cNvPr id="15" name="표 14">
            <a:extLst>
              <a:ext uri="{FF2B5EF4-FFF2-40B4-BE49-F238E27FC236}">
                <a16:creationId xmlns:a16="http://schemas.microsoft.com/office/drawing/2014/main" id="{5D4E0FB7-9459-44D3-A89A-78AAC53D0DD3}"/>
              </a:ext>
            </a:extLst>
          </p:cNvPr>
          <p:cNvGraphicFramePr>
            <a:graphicFrameLocks noGrp="1"/>
          </p:cNvGraphicFramePr>
          <p:nvPr/>
        </p:nvGraphicFramePr>
        <p:xfrm>
          <a:off x="5490131" y="3166997"/>
          <a:ext cx="3002755" cy="1130976"/>
        </p:xfrm>
        <a:graphic>
          <a:graphicData uri="http://schemas.openxmlformats.org/drawingml/2006/table">
            <a:tbl>
              <a:tblPr firstRow="1" firstCol="1" bandRow="1">
                <a:tableStyleId>{1C28B2AB-E718-4DF9-ADA3-83340B5D2C4E}</a:tableStyleId>
              </a:tblPr>
              <a:tblGrid>
                <a:gridCol w="1694329">
                  <a:extLst>
                    <a:ext uri="{9D8B030D-6E8A-4147-A177-3AD203B41FA5}">
                      <a16:colId xmlns:a16="http://schemas.microsoft.com/office/drawing/2014/main" val="2594016710"/>
                    </a:ext>
                  </a:extLst>
                </a:gridCol>
                <a:gridCol w="1308426">
                  <a:extLst>
                    <a:ext uri="{9D8B030D-6E8A-4147-A177-3AD203B41FA5}">
                      <a16:colId xmlns:a16="http://schemas.microsoft.com/office/drawing/2014/main" val="1558175789"/>
                    </a:ext>
                  </a:extLst>
                </a:gridCol>
              </a:tblGrid>
              <a:tr h="273380">
                <a:tc>
                  <a:txBody>
                    <a:bodyPr/>
                    <a:lstStyle/>
                    <a:p>
                      <a:pPr algn="ctr" latinLnBrk="1">
                        <a:lnSpc>
                          <a:spcPct val="107000"/>
                        </a:lnSpc>
                        <a:spcAft>
                          <a:spcPts val="800"/>
                        </a:spcAft>
                      </a:pPr>
                      <a:r>
                        <a:rPr lang="en-US" sz="1200" kern="100" dirty="0">
                          <a:solidFill>
                            <a:schemeClr val="bg1"/>
                          </a:solidFill>
                          <a:effectLst/>
                          <a:latin typeface="+mj-ea"/>
                          <a:ea typeface="+mj-ea"/>
                        </a:rPr>
                        <a:t> </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07000"/>
                        </a:lnSpc>
                        <a:spcAft>
                          <a:spcPts val="800"/>
                        </a:spcAft>
                      </a:pPr>
                      <a:r>
                        <a:rPr lang="en-US" sz="1200" b="1" kern="100" dirty="0">
                          <a:solidFill>
                            <a:schemeClr val="bg1"/>
                          </a:solidFill>
                          <a:effectLst/>
                          <a:latin typeface="+mj-ea"/>
                          <a:ea typeface="+mj-ea"/>
                        </a:rPr>
                        <a:t>Order</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656512128"/>
                  </a:ext>
                </a:extLst>
              </a:tr>
              <a:tr h="428798">
                <a:tc>
                  <a:txBody>
                    <a:bodyPr/>
                    <a:lstStyle/>
                    <a:p>
                      <a:pPr algn="ctr" latinLnBrk="1">
                        <a:lnSpc>
                          <a:spcPct val="107000"/>
                        </a:lnSpc>
                        <a:spcAft>
                          <a:spcPts val="800"/>
                        </a:spcAft>
                      </a:pPr>
                      <a:r>
                        <a:rPr lang="en-US" sz="1200" b="1" kern="100" dirty="0">
                          <a:solidFill>
                            <a:schemeClr val="bg1"/>
                          </a:solidFill>
                          <a:effectLst/>
                          <a:latin typeface="+mj-ea"/>
                          <a:ea typeface="+mj-ea"/>
                        </a:rPr>
                        <a:t>Battery mass (kg)</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84</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049419787"/>
                  </a:ext>
                </a:extLst>
              </a:tr>
              <a:tr h="428798">
                <a:tc>
                  <a:txBody>
                    <a:bodyPr/>
                    <a:lstStyle/>
                    <a:p>
                      <a:pPr algn="ctr" latinLnBrk="1">
                        <a:lnSpc>
                          <a:spcPct val="107000"/>
                        </a:lnSpc>
                        <a:spcAft>
                          <a:spcPts val="800"/>
                        </a:spcAft>
                      </a:pPr>
                      <a:r>
                        <a:rPr lang="en-US" altLang="ko-KR" sz="1200" b="1" kern="100" dirty="0">
                          <a:solidFill>
                            <a:schemeClr val="bg1"/>
                          </a:solidFill>
                          <a:effectLst/>
                          <a:latin typeface="+mj-ea"/>
                          <a:ea typeface="+mj-ea"/>
                          <a:cs typeface="Times New Roman" panose="02020603050405020304" pitchFamily="18" charset="0"/>
                        </a:rPr>
                        <a:t>Dimension</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759*460*249</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75684858"/>
                  </a:ext>
                </a:extLst>
              </a:tr>
            </a:tbl>
          </a:graphicData>
        </a:graphic>
      </p:graphicFrame>
    </p:spTree>
    <p:extLst>
      <p:ext uri="{BB962C8B-B14F-4D97-AF65-F5344CB8AC3E}">
        <p14:creationId xmlns:p14="http://schemas.microsoft.com/office/powerpoint/2010/main" val="205572867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Power distribution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8" name="TextBox 17">
            <a:extLst>
              <a:ext uri="{FF2B5EF4-FFF2-40B4-BE49-F238E27FC236}">
                <a16:creationId xmlns:a16="http://schemas.microsoft.com/office/drawing/2014/main" id="{7E5A56B5-4246-4FB6-98A2-CBAA99467F8E}"/>
              </a:ext>
            </a:extLst>
          </p:cNvPr>
          <p:cNvSpPr txBox="1"/>
          <p:nvPr/>
        </p:nvSpPr>
        <p:spPr>
          <a:xfrm>
            <a:off x="1124897" y="3509584"/>
            <a:ext cx="3723472" cy="307777"/>
          </a:xfrm>
          <a:prstGeom prst="rect">
            <a:avLst/>
          </a:prstGeom>
          <a:noFill/>
        </p:spPr>
        <p:txBody>
          <a:bodyPr wrap="square" rtlCol="0">
            <a:spAutoFit/>
          </a:bodyPr>
          <a:lstStyle/>
          <a:p>
            <a:r>
              <a:rPr lang="en-US" altLang="ko-KR" dirty="0">
                <a:solidFill>
                  <a:schemeClr val="bg1"/>
                </a:solidFill>
                <a:latin typeface="+mj-ea"/>
                <a:ea typeface="+mj-ea"/>
              </a:rPr>
              <a:t>&lt;Small Geo power distribution unit&gt;</a:t>
            </a:r>
            <a:endParaRPr lang="ko-KR" altLang="en-US" dirty="0">
              <a:solidFill>
                <a:schemeClr val="bg1"/>
              </a:solidFill>
              <a:latin typeface="+mj-ea"/>
              <a:ea typeface="+mj-ea"/>
            </a:endParaRPr>
          </a:p>
        </p:txBody>
      </p:sp>
      <p:sp>
        <p:nvSpPr>
          <p:cNvPr id="19" name="TextBox 18">
            <a:extLst>
              <a:ext uri="{FF2B5EF4-FFF2-40B4-BE49-F238E27FC236}">
                <a16:creationId xmlns:a16="http://schemas.microsoft.com/office/drawing/2014/main" id="{50D339D1-1317-4BFE-9D44-AE5A03EA20A4}"/>
              </a:ext>
            </a:extLst>
          </p:cNvPr>
          <p:cNvSpPr txBox="1"/>
          <p:nvPr/>
        </p:nvSpPr>
        <p:spPr>
          <a:xfrm>
            <a:off x="1323956" y="3848139"/>
            <a:ext cx="2297927" cy="246221"/>
          </a:xfrm>
          <a:prstGeom prst="rect">
            <a:avLst/>
          </a:prstGeom>
          <a:noFill/>
        </p:spPr>
        <p:txBody>
          <a:bodyPr wrap="square" rtlCol="0">
            <a:spAutoFit/>
          </a:bodyPr>
          <a:lstStyle/>
          <a:p>
            <a:r>
              <a:rPr lang="ko-KR" altLang="en-US" sz="1000" dirty="0">
                <a:solidFill>
                  <a:schemeClr val="bg1"/>
                </a:solidFill>
              </a:rPr>
              <a:t>제조사 </a:t>
            </a:r>
            <a:r>
              <a:rPr lang="en-US" altLang="ko-KR" sz="1000" dirty="0">
                <a:solidFill>
                  <a:schemeClr val="bg1"/>
                </a:solidFill>
              </a:rPr>
              <a:t>: </a:t>
            </a:r>
            <a:r>
              <a:rPr lang="en-US" altLang="ko-KR" sz="1000" dirty="0" err="1">
                <a:solidFill>
                  <a:schemeClr val="bg1"/>
                </a:solidFill>
              </a:rPr>
              <a:t>Terma</a:t>
            </a:r>
            <a:endParaRPr lang="ko-KR" altLang="en-US" sz="1000" dirty="0">
              <a:solidFill>
                <a:schemeClr val="bg1"/>
              </a:solidFill>
            </a:endParaRPr>
          </a:p>
        </p:txBody>
      </p:sp>
      <p:sp>
        <p:nvSpPr>
          <p:cNvPr id="20" name="TextBox 19">
            <a:extLst>
              <a:ext uri="{FF2B5EF4-FFF2-40B4-BE49-F238E27FC236}">
                <a16:creationId xmlns:a16="http://schemas.microsoft.com/office/drawing/2014/main" id="{62EE5F90-63B8-4582-A474-71C3F775DEDF}"/>
              </a:ext>
            </a:extLst>
          </p:cNvPr>
          <p:cNvSpPr txBox="1"/>
          <p:nvPr/>
        </p:nvSpPr>
        <p:spPr>
          <a:xfrm>
            <a:off x="1323955" y="4094360"/>
            <a:ext cx="2297927" cy="246221"/>
          </a:xfrm>
          <a:prstGeom prst="rect">
            <a:avLst/>
          </a:prstGeom>
          <a:noFill/>
        </p:spPr>
        <p:txBody>
          <a:bodyPr wrap="square" rtlCol="0">
            <a:spAutoFit/>
          </a:bodyPr>
          <a:lstStyle/>
          <a:p>
            <a:r>
              <a:rPr lang="en-US" altLang="ko-KR" sz="1000" dirty="0">
                <a:solidFill>
                  <a:schemeClr val="bg1"/>
                </a:solidFill>
              </a:rPr>
              <a:t>Use</a:t>
            </a:r>
            <a:r>
              <a:rPr lang="ko-KR" altLang="en-US" sz="1000" dirty="0">
                <a:solidFill>
                  <a:schemeClr val="bg1"/>
                </a:solidFill>
              </a:rPr>
              <a:t> </a:t>
            </a:r>
            <a:r>
              <a:rPr lang="en-US" altLang="ko-KR" sz="1000" dirty="0">
                <a:solidFill>
                  <a:schemeClr val="bg1"/>
                </a:solidFill>
              </a:rPr>
              <a:t>: ESA - Galileo</a:t>
            </a:r>
            <a:endParaRPr lang="ko-KR" altLang="en-US" sz="1000" dirty="0">
              <a:solidFill>
                <a:schemeClr val="bg1"/>
              </a:solidFill>
            </a:endParaRPr>
          </a:p>
        </p:txBody>
      </p:sp>
      <p:pic>
        <p:nvPicPr>
          <p:cNvPr id="8" name="그림 7">
            <a:extLst>
              <a:ext uri="{FF2B5EF4-FFF2-40B4-BE49-F238E27FC236}">
                <a16:creationId xmlns:a16="http://schemas.microsoft.com/office/drawing/2014/main" id="{240FA2CF-B84E-4F6F-BB7E-E741254BDC4D}"/>
              </a:ext>
            </a:extLst>
          </p:cNvPr>
          <p:cNvPicPr>
            <a:picLocks noChangeAspect="1"/>
          </p:cNvPicPr>
          <p:nvPr/>
        </p:nvPicPr>
        <p:blipFill>
          <a:blip r:embed="rId3"/>
          <a:stretch>
            <a:fillRect/>
          </a:stretch>
        </p:blipFill>
        <p:spPr>
          <a:xfrm>
            <a:off x="1124897" y="1141192"/>
            <a:ext cx="3591426" cy="2353003"/>
          </a:xfrm>
          <a:prstGeom prst="rect">
            <a:avLst/>
          </a:prstGeom>
        </p:spPr>
      </p:pic>
      <p:graphicFrame>
        <p:nvGraphicFramePr>
          <p:cNvPr id="11" name="표 10">
            <a:extLst>
              <a:ext uri="{FF2B5EF4-FFF2-40B4-BE49-F238E27FC236}">
                <a16:creationId xmlns:a16="http://schemas.microsoft.com/office/drawing/2014/main" id="{88C4451A-D5DA-4D5F-9CB4-91660020A4BD}"/>
              </a:ext>
            </a:extLst>
          </p:cNvPr>
          <p:cNvGraphicFramePr>
            <a:graphicFrameLocks noGrp="1"/>
          </p:cNvGraphicFramePr>
          <p:nvPr/>
        </p:nvGraphicFramePr>
        <p:xfrm>
          <a:off x="4983407" y="1281681"/>
          <a:ext cx="3899577" cy="2072023"/>
        </p:xfrm>
        <a:graphic>
          <a:graphicData uri="http://schemas.openxmlformats.org/drawingml/2006/table">
            <a:tbl>
              <a:tblPr firstRow="1" firstCol="1" bandRow="1">
                <a:tableStyleId>{1C28B2AB-E718-4DF9-ADA3-83340B5D2C4E}</a:tableStyleId>
              </a:tblPr>
              <a:tblGrid>
                <a:gridCol w="2537362">
                  <a:extLst>
                    <a:ext uri="{9D8B030D-6E8A-4147-A177-3AD203B41FA5}">
                      <a16:colId xmlns:a16="http://schemas.microsoft.com/office/drawing/2014/main" val="1154572815"/>
                    </a:ext>
                  </a:extLst>
                </a:gridCol>
                <a:gridCol w="1362215">
                  <a:extLst>
                    <a:ext uri="{9D8B030D-6E8A-4147-A177-3AD203B41FA5}">
                      <a16:colId xmlns:a16="http://schemas.microsoft.com/office/drawing/2014/main" val="227074741"/>
                    </a:ext>
                  </a:extLst>
                </a:gridCol>
              </a:tblGrid>
              <a:tr h="334170">
                <a:tc>
                  <a:txBody>
                    <a:bodyPr/>
                    <a:lstStyle/>
                    <a:p>
                      <a:pPr algn="ctr" latinLnBrk="1">
                        <a:lnSpc>
                          <a:spcPct val="107000"/>
                        </a:lnSpc>
                        <a:spcAft>
                          <a:spcPts val="800"/>
                        </a:spcAft>
                      </a:pPr>
                      <a:r>
                        <a:rPr lang="en-US" sz="1200" b="1" kern="100" dirty="0">
                          <a:solidFill>
                            <a:schemeClr val="bg1"/>
                          </a:solidFill>
                          <a:effectLst/>
                          <a:latin typeface="+mj-ea"/>
                          <a:ea typeface="+mj-ea"/>
                        </a:rPr>
                        <a:t> </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lumMod val="75000"/>
                      </a:schemeClr>
                    </a:solidFill>
                  </a:tcPr>
                </a:tc>
                <a:tc>
                  <a:txBody>
                    <a:bodyPr/>
                    <a:lstStyle/>
                    <a:p>
                      <a:pPr algn="ctr" latinLnBrk="1">
                        <a:lnSpc>
                          <a:spcPct val="107000"/>
                        </a:lnSpc>
                        <a:spcAft>
                          <a:spcPts val="800"/>
                        </a:spcAft>
                      </a:pPr>
                      <a:r>
                        <a:rPr lang="en-US" sz="1200" b="1" kern="100" dirty="0">
                          <a:solidFill>
                            <a:schemeClr val="bg1"/>
                          </a:solidFill>
                          <a:effectLst/>
                          <a:latin typeface="+mj-ea"/>
                          <a:ea typeface="+mj-ea"/>
                        </a:rPr>
                        <a:t>Order</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lumMod val="75000"/>
                      </a:schemeClr>
                    </a:solidFill>
                  </a:tcPr>
                </a:tc>
                <a:extLst>
                  <a:ext uri="{0D108BD9-81ED-4DB2-BD59-A6C34878D82A}">
                    <a16:rowId xmlns:a16="http://schemas.microsoft.com/office/drawing/2014/main" val="3140852143"/>
                  </a:ext>
                </a:extLst>
              </a:tr>
              <a:tr h="334170">
                <a:tc>
                  <a:txBody>
                    <a:bodyPr/>
                    <a:lstStyle/>
                    <a:p>
                      <a:pPr algn="ctr" latinLnBrk="1">
                        <a:lnSpc>
                          <a:spcPct val="107000"/>
                        </a:lnSpc>
                        <a:spcAft>
                          <a:spcPts val="800"/>
                        </a:spcAft>
                      </a:pPr>
                      <a:r>
                        <a:rPr lang="en-US" sz="1200" b="1" kern="100" dirty="0">
                          <a:solidFill>
                            <a:schemeClr val="bg1"/>
                          </a:solidFill>
                          <a:effectLst/>
                          <a:latin typeface="+mj-ea"/>
                          <a:ea typeface="+mj-ea"/>
                        </a:rPr>
                        <a:t>Dimension</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a:solidFill>
                            <a:schemeClr val="bg1"/>
                          </a:solidFill>
                          <a:effectLst/>
                          <a:latin typeface="+mj-ea"/>
                          <a:ea typeface="+mj-ea"/>
                        </a:rPr>
                        <a:t>425*285*160</a:t>
                      </a:r>
                      <a:endParaRPr lang="ko-KR" sz="1200" kern="10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3208280151"/>
                  </a:ext>
                </a:extLst>
              </a:tr>
              <a:tr h="334170">
                <a:tc>
                  <a:txBody>
                    <a:bodyPr/>
                    <a:lstStyle/>
                    <a:p>
                      <a:pPr algn="ctr" latinLnBrk="1">
                        <a:lnSpc>
                          <a:spcPct val="107000"/>
                        </a:lnSpc>
                        <a:spcAft>
                          <a:spcPts val="800"/>
                        </a:spcAft>
                      </a:pPr>
                      <a:r>
                        <a:rPr lang="en-US" sz="1200" b="1" kern="100" dirty="0">
                          <a:solidFill>
                            <a:schemeClr val="bg1"/>
                          </a:solidFill>
                          <a:effectLst/>
                          <a:latin typeface="+mj-ea"/>
                          <a:ea typeface="+mj-ea"/>
                        </a:rPr>
                        <a:t>Mass</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13.2</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944790687"/>
                  </a:ext>
                </a:extLst>
              </a:tr>
              <a:tr h="334170">
                <a:tc>
                  <a:txBody>
                    <a:bodyPr/>
                    <a:lstStyle/>
                    <a:p>
                      <a:pPr algn="ctr" latinLnBrk="1">
                        <a:lnSpc>
                          <a:spcPct val="107000"/>
                        </a:lnSpc>
                        <a:spcAft>
                          <a:spcPts val="800"/>
                        </a:spcAft>
                      </a:pPr>
                      <a:r>
                        <a:rPr lang="en-US" sz="1200" b="1" kern="100" dirty="0">
                          <a:solidFill>
                            <a:schemeClr val="bg1"/>
                          </a:solidFill>
                          <a:effectLst/>
                          <a:latin typeface="+mj-ea"/>
                          <a:ea typeface="+mj-ea"/>
                        </a:rPr>
                        <a:t>Reliability 15 years</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&gt;0.990</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884486225"/>
                  </a:ext>
                </a:extLst>
              </a:tr>
              <a:tr h="401173">
                <a:tc>
                  <a:txBody>
                    <a:bodyPr/>
                    <a:lstStyle/>
                    <a:p>
                      <a:pPr algn="ctr" latinLnBrk="1">
                        <a:lnSpc>
                          <a:spcPct val="107000"/>
                        </a:lnSpc>
                        <a:spcAft>
                          <a:spcPts val="800"/>
                        </a:spcAft>
                      </a:pPr>
                      <a:r>
                        <a:rPr lang="en-US" sz="1200" b="1" kern="100" dirty="0">
                          <a:solidFill>
                            <a:schemeClr val="bg1"/>
                          </a:solidFill>
                          <a:effectLst/>
                          <a:latin typeface="+mj-ea"/>
                          <a:ea typeface="+mj-ea"/>
                        </a:rPr>
                        <a:t>Power distribution capability (W)</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Up to 1000</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2961886063"/>
                  </a:ext>
                </a:extLst>
              </a:tr>
              <a:tr h="334170">
                <a:tc>
                  <a:txBody>
                    <a:bodyPr/>
                    <a:lstStyle/>
                    <a:p>
                      <a:pPr algn="ctr" latinLnBrk="1">
                        <a:lnSpc>
                          <a:spcPct val="107000"/>
                        </a:lnSpc>
                        <a:spcAft>
                          <a:spcPts val="800"/>
                        </a:spcAft>
                      </a:pPr>
                      <a:r>
                        <a:rPr lang="en-US" sz="1200" b="1" kern="100" dirty="0">
                          <a:solidFill>
                            <a:schemeClr val="bg1"/>
                          </a:solidFill>
                          <a:effectLst/>
                          <a:latin typeface="+mj-ea"/>
                          <a:ea typeface="+mj-ea"/>
                        </a:rPr>
                        <a:t>Temperature (℃)</a:t>
                      </a:r>
                      <a:endParaRPr lang="ko-KR" sz="1200" b="1" kern="100" dirty="0">
                        <a:solidFill>
                          <a:schemeClr val="bg1"/>
                        </a:solidFill>
                        <a:effectLst/>
                        <a:latin typeface="+mj-ea"/>
                        <a:ea typeface="+mj-ea"/>
                        <a:cs typeface="Times New Roman" panose="02020603050405020304" pitchFamily="18" charset="0"/>
                      </a:endParaRPr>
                    </a:p>
                  </a:txBody>
                  <a:tcPr marL="68580" marR="68580" marT="0" marB="0" anchor="ctr">
                    <a:solidFill>
                      <a:schemeClr val="accent4"/>
                    </a:solidFill>
                  </a:tcPr>
                </a:tc>
                <a:tc>
                  <a:txBody>
                    <a:bodyPr/>
                    <a:lstStyle/>
                    <a:p>
                      <a:pPr algn="ctr" latinLnBrk="1">
                        <a:lnSpc>
                          <a:spcPct val="107000"/>
                        </a:lnSpc>
                        <a:spcAft>
                          <a:spcPts val="800"/>
                        </a:spcAft>
                      </a:pPr>
                      <a:r>
                        <a:rPr lang="en-US" sz="1200" kern="100" dirty="0">
                          <a:solidFill>
                            <a:schemeClr val="bg1"/>
                          </a:solidFill>
                          <a:effectLst/>
                          <a:latin typeface="+mj-ea"/>
                          <a:ea typeface="+mj-ea"/>
                        </a:rPr>
                        <a:t>-30~65</a:t>
                      </a:r>
                      <a:endParaRPr lang="ko-KR" sz="1200" kern="100" dirty="0">
                        <a:solidFill>
                          <a:schemeClr val="bg1"/>
                        </a:solidFill>
                        <a:effectLst/>
                        <a:latin typeface="+mj-ea"/>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584235486"/>
                  </a:ext>
                </a:extLst>
              </a:tr>
            </a:tbl>
          </a:graphicData>
        </a:graphic>
      </p:graphicFrame>
    </p:spTree>
    <p:extLst>
      <p:ext uri="{BB962C8B-B14F-4D97-AF65-F5344CB8AC3E}">
        <p14:creationId xmlns:p14="http://schemas.microsoft.com/office/powerpoint/2010/main" val="27103242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Power distribution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pic>
        <p:nvPicPr>
          <p:cNvPr id="14" name="그림 13">
            <a:extLst>
              <a:ext uri="{FF2B5EF4-FFF2-40B4-BE49-F238E27FC236}">
                <a16:creationId xmlns:a16="http://schemas.microsoft.com/office/drawing/2014/main" id="{4E65710E-C1C7-4F23-909B-803907EADFD2}"/>
              </a:ext>
            </a:extLst>
          </p:cNvPr>
          <p:cNvPicPr>
            <a:picLocks noChangeAspect="1"/>
          </p:cNvPicPr>
          <p:nvPr/>
        </p:nvPicPr>
        <p:blipFill>
          <a:blip r:embed="rId3"/>
          <a:stretch>
            <a:fillRect/>
          </a:stretch>
        </p:blipFill>
        <p:spPr>
          <a:xfrm>
            <a:off x="1982614" y="1199234"/>
            <a:ext cx="5731510" cy="3211195"/>
          </a:xfrm>
          <a:prstGeom prst="rect">
            <a:avLst/>
          </a:prstGeom>
        </p:spPr>
      </p:pic>
    </p:spTree>
    <p:extLst>
      <p:ext uri="{BB962C8B-B14F-4D97-AF65-F5344CB8AC3E}">
        <p14:creationId xmlns:p14="http://schemas.microsoft.com/office/powerpoint/2010/main" val="16581556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9.1 TCS Objective &amp; Constraints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graphicFrame>
        <p:nvGraphicFramePr>
          <p:cNvPr id="2" name="표 2">
            <a:extLst>
              <a:ext uri="{FF2B5EF4-FFF2-40B4-BE49-F238E27FC236}">
                <a16:creationId xmlns:a16="http://schemas.microsoft.com/office/drawing/2014/main" id="{C5916ED5-893D-4B56-A06E-9A027553C9C2}"/>
              </a:ext>
            </a:extLst>
          </p:cNvPr>
          <p:cNvGraphicFramePr>
            <a:graphicFrameLocks noGrp="1"/>
          </p:cNvGraphicFramePr>
          <p:nvPr/>
        </p:nvGraphicFramePr>
        <p:xfrm>
          <a:off x="905018" y="1902954"/>
          <a:ext cx="7333964" cy="2653773"/>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467863794"/>
                    </a:ext>
                  </a:extLst>
                </a:gridCol>
                <a:gridCol w="5952982">
                  <a:extLst>
                    <a:ext uri="{9D8B030D-6E8A-4147-A177-3AD203B41FA5}">
                      <a16:colId xmlns:a16="http://schemas.microsoft.com/office/drawing/2014/main" val="2403154746"/>
                    </a:ext>
                  </a:extLst>
                </a:gridCol>
              </a:tblGrid>
              <a:tr h="432531">
                <a:tc gridSpan="2">
                  <a:txBody>
                    <a:bodyPr/>
                    <a:lstStyle/>
                    <a:p>
                      <a:pPr algn="just" latinLnBrk="1"/>
                      <a:r>
                        <a:rPr lang="en-US" altLang="ko-KR" sz="1400" b="1" i="0" u="none" strike="noStrike" cap="none" dirty="0">
                          <a:solidFill>
                            <a:schemeClr val="bg1"/>
                          </a:solidFill>
                          <a:effectLst/>
                          <a:latin typeface="+mj-lt"/>
                          <a:ea typeface="Arial"/>
                          <a:cs typeface="Arial"/>
                          <a:sym typeface="Arial"/>
                        </a:rPr>
                        <a:t>Thermal Control Subsystem</a:t>
                      </a:r>
                      <a:endParaRPr lang="ko-KR" altLang="en-US" b="1" dirty="0">
                        <a:solidFill>
                          <a:schemeClr val="bg1"/>
                        </a:solidFill>
                        <a:latin typeface="+mj-lt"/>
                      </a:endParaRPr>
                    </a:p>
                  </a:txBody>
                  <a:tcPr anchor="ctr" anchorCtr="1">
                    <a:solidFill>
                      <a:schemeClr val="tx2"/>
                    </a:solidFill>
                  </a:tcPr>
                </a:tc>
                <a:tc hMerge="1">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495716348"/>
                  </a:ext>
                </a:extLst>
              </a:tr>
              <a:tr h="68656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Objective</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l" latinLnBrk="1">
                        <a:lnSpc>
                          <a:spcPct val="115000"/>
                        </a:lnSpc>
                        <a:spcAft>
                          <a:spcPts val="1000"/>
                        </a:spcAft>
                      </a:pPr>
                      <a:r>
                        <a:rPr lang="ko-KR" sz="1200" b="0" kern="100" dirty="0">
                          <a:solidFill>
                            <a:schemeClr val="bg1"/>
                          </a:solidFill>
                          <a:effectLst/>
                          <a:latin typeface="+mj-lt"/>
                          <a:ea typeface="맑은 고딕" panose="020B0503020000020004" pitchFamily="50" charset="-127"/>
                          <a:cs typeface="Times New Roman" panose="02020603050405020304" pitchFamily="18" charset="0"/>
                        </a:rPr>
                        <a:t>임무 수행 중 예상되는 최악의 조건하에서도 위성의 장비들이 설계된 온도조건 내에서 정상적으로 작동하도록 한다</a:t>
                      </a:r>
                      <a:r>
                        <a:rPr lang="en-US" sz="1200" b="0" kern="100" dirty="0">
                          <a:solidFill>
                            <a:schemeClr val="bg1"/>
                          </a:solidFill>
                          <a:effectLst/>
                          <a:latin typeface="+mj-lt"/>
                          <a:ea typeface="맑은 고딕" panose="020B0503020000020004" pitchFamily="50" charset="-127"/>
                          <a:cs typeface="Times New Roman" panose="02020603050405020304" pitchFamily="18" charset="0"/>
                        </a:rPr>
                        <a:t>.</a:t>
                      </a:r>
                      <a:endParaRPr lang="ko-KR" sz="1200" b="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254189987"/>
                  </a:ext>
                </a:extLst>
              </a:tr>
              <a:tr h="153467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Constraints </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marL="0" lvl="0" indent="0" algn="l" latinLnBrk="1">
                        <a:lnSpc>
                          <a:spcPct val="115000"/>
                        </a:lnSpc>
                        <a:spcAft>
                          <a:spcPts val="1000"/>
                        </a:spcAft>
                        <a:buFont typeface="+mj-lt"/>
                        <a:buNone/>
                      </a:pPr>
                      <a:r>
                        <a:rPr lang="en-US" altLang="ko-KR" sz="1200" b="0" kern="100" dirty="0">
                          <a:solidFill>
                            <a:schemeClr val="bg1"/>
                          </a:solidFill>
                          <a:effectLst/>
                          <a:latin typeface="+mj-lt"/>
                          <a:ea typeface="맑은 고딕" panose="020B0503020000020004" pitchFamily="50" charset="-127"/>
                          <a:cs typeface="Times New Roman" panose="02020603050405020304" pitchFamily="18" charset="0"/>
                        </a:rPr>
                        <a:t>1. </a:t>
                      </a:r>
                      <a:r>
                        <a:rPr lang="ko-KR" sz="1200" b="0" kern="100" dirty="0">
                          <a:solidFill>
                            <a:schemeClr val="bg1"/>
                          </a:solidFill>
                          <a:effectLst/>
                          <a:latin typeface="+mj-lt"/>
                          <a:ea typeface="맑은 고딕" panose="020B0503020000020004" pitchFamily="50" charset="-127"/>
                          <a:cs typeface="Times New Roman" panose="02020603050405020304" pitchFamily="18" charset="0"/>
                        </a:rPr>
                        <a:t>위성 각 부품의 온도 한계</a:t>
                      </a:r>
                      <a:endParaRPr lang="en-US" altLang="ko-KR" sz="1200" b="0" kern="100" dirty="0">
                        <a:solidFill>
                          <a:schemeClr val="bg1"/>
                        </a:solidFill>
                        <a:effectLst/>
                        <a:latin typeface="+mj-lt"/>
                        <a:ea typeface="맑은 고딕" panose="020B0503020000020004" pitchFamily="50" charset="-127"/>
                        <a:cs typeface="Times New Roman" panose="02020603050405020304" pitchFamily="18" charset="0"/>
                      </a:endParaRPr>
                    </a:p>
                    <a:p>
                      <a:pPr marL="0" lvl="0" indent="0" algn="l" latinLnBrk="1">
                        <a:lnSpc>
                          <a:spcPct val="115000"/>
                        </a:lnSpc>
                        <a:spcAft>
                          <a:spcPts val="1000"/>
                        </a:spcAft>
                        <a:buFont typeface="+mj-lt"/>
                        <a:buNone/>
                      </a:pPr>
                      <a:r>
                        <a:rPr lang="en-US" altLang="ko-KR" sz="1200" b="0" kern="100" dirty="0">
                          <a:solidFill>
                            <a:schemeClr val="bg1"/>
                          </a:solidFill>
                          <a:effectLst/>
                          <a:latin typeface="+mj-lt"/>
                          <a:ea typeface="맑은 고딕" panose="020B0503020000020004" pitchFamily="50" charset="-127"/>
                          <a:cs typeface="Times New Roman" panose="02020603050405020304" pitchFamily="18" charset="0"/>
                        </a:rPr>
                        <a:t>2. </a:t>
                      </a:r>
                      <a:r>
                        <a:rPr lang="ko-KR" sz="1200" b="0" kern="100" dirty="0">
                          <a:solidFill>
                            <a:schemeClr val="bg1"/>
                          </a:solidFill>
                          <a:effectLst/>
                          <a:latin typeface="+mj-lt"/>
                          <a:ea typeface="맑은 고딕" panose="020B0503020000020004" pitchFamily="50" charset="-127"/>
                          <a:cs typeface="Times New Roman" panose="02020603050405020304" pitchFamily="18" charset="0"/>
                        </a:rPr>
                        <a:t>한정된 질량 및 전력</a:t>
                      </a:r>
                      <a:r>
                        <a:rPr lang="en-US" sz="1200" b="0" kern="100" dirty="0">
                          <a:solidFill>
                            <a:schemeClr val="bg1"/>
                          </a:solidFill>
                          <a:effectLst/>
                          <a:latin typeface="+mj-lt"/>
                          <a:ea typeface="맑은 고딕" panose="020B0503020000020004" pitchFamily="50" charset="-127"/>
                          <a:cs typeface="Times New Roman" panose="02020603050405020304" pitchFamily="18" charset="0"/>
                        </a:rPr>
                        <a:t> budget</a:t>
                      </a:r>
                      <a:endParaRPr lang="ko-KR" sz="1200" b="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56094113"/>
                  </a:ext>
                </a:extLst>
              </a:tr>
            </a:tbl>
          </a:graphicData>
        </a:graphic>
      </p:graphicFrame>
    </p:spTree>
    <p:extLst>
      <p:ext uri="{BB962C8B-B14F-4D97-AF65-F5344CB8AC3E}">
        <p14:creationId xmlns:p14="http://schemas.microsoft.com/office/powerpoint/2010/main" val="414862026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9.2 TCS Requirements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mc:AlternateContent xmlns:mc="http://schemas.openxmlformats.org/markup-compatibility/2006" xmlns:a14="http://schemas.microsoft.com/office/drawing/2010/main">
        <mc:Choice Requires="a14">
          <p:graphicFrame>
            <p:nvGraphicFramePr>
              <p:cNvPr id="2" name="표 1">
                <a:extLst>
                  <a:ext uri="{FF2B5EF4-FFF2-40B4-BE49-F238E27FC236}">
                    <a16:creationId xmlns:a16="http://schemas.microsoft.com/office/drawing/2014/main" id="{75240320-31A5-4545-88DC-935C4AE20710}"/>
                  </a:ext>
                </a:extLst>
              </p:cNvPr>
              <p:cNvGraphicFramePr>
                <a:graphicFrameLocks noGrp="1"/>
              </p:cNvGraphicFramePr>
              <p:nvPr/>
            </p:nvGraphicFramePr>
            <p:xfrm>
              <a:off x="938500" y="1858148"/>
              <a:ext cx="7333964" cy="2653773"/>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299039512"/>
                        </a:ext>
                      </a:extLst>
                    </a:gridCol>
                    <a:gridCol w="5952982">
                      <a:extLst>
                        <a:ext uri="{9D8B030D-6E8A-4147-A177-3AD203B41FA5}">
                          <a16:colId xmlns:a16="http://schemas.microsoft.com/office/drawing/2014/main" val="2751108514"/>
                        </a:ext>
                      </a:extLst>
                    </a:gridCol>
                  </a:tblGrid>
                  <a:tr h="432531">
                    <a:tc gridSpan="2">
                      <a:txBody>
                        <a:bodyPr/>
                        <a:lstStyle/>
                        <a:p>
                          <a:pPr algn="ctr" latinLnBrk="1"/>
                          <a:r>
                            <a:rPr lang="en-US" altLang="ko-KR" sz="1400" b="1" i="0" u="none" strike="noStrike" cap="none" dirty="0">
                              <a:solidFill>
                                <a:schemeClr val="bg1"/>
                              </a:solidFill>
                              <a:effectLst/>
                              <a:latin typeface="+mj-lt"/>
                              <a:cs typeface="Arial"/>
                              <a:sym typeface="Arial"/>
                            </a:rPr>
                            <a:t>Contents</a:t>
                          </a:r>
                          <a:endParaRPr lang="ko-KR" altLang="en-US" b="1" dirty="0">
                            <a:solidFill>
                              <a:schemeClr val="bg1"/>
                            </a:solidFill>
                            <a:latin typeface="+mj-lt"/>
                          </a:endParaRPr>
                        </a:p>
                      </a:txBody>
                      <a:tcPr anchor="ctr">
                        <a:solidFill>
                          <a:schemeClr val="tx2"/>
                        </a:solidFill>
                      </a:tcPr>
                    </a:tc>
                    <a:tc hMerge="1">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734568593"/>
                      </a:ext>
                    </a:extLst>
                  </a:tr>
                  <a:tr h="68656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TCS-001</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위성의 내부 온도가 배터리를 제외한 각 구성품에서 공통적으로 만족하는 온도 범위</a:t>
                          </a:r>
                          <a:r>
                            <a:rPr lang="en-US" sz="1200" b="0" kern="100" dirty="0">
                              <a:solidFill>
                                <a:schemeClr val="bg1"/>
                              </a:solidFill>
                              <a:effectLst/>
                              <a:latin typeface="+mn-ea"/>
                              <a:ea typeface="+mn-ea"/>
                              <a:cs typeface="Times New Roman" panose="02020603050405020304" pitchFamily="18" charset="0"/>
                            </a:rPr>
                            <a:t>(</a:t>
                          </a:r>
                          <a14:m>
                            <m:oMath xmlns:m="http://schemas.openxmlformats.org/officeDocument/2006/math">
                              <m:r>
                                <a:rPr lang="en-US" sz="1200" b="0" i="1" kern="100" smtClean="0">
                                  <a:solidFill>
                                    <a:schemeClr val="bg1"/>
                                  </a:solidFill>
                                  <a:effectLst/>
                                  <a:latin typeface="Cambria Math" panose="02040503050406030204" pitchFamily="18" charset="0"/>
                                  <a:ea typeface="+mn-ea"/>
                                  <a:cs typeface="Times New Roman" panose="02020603050405020304" pitchFamily="18" charset="0"/>
                                </a:rPr>
                                <m:t>0~40℃</m:t>
                              </m:r>
                            </m:oMath>
                          </a14:m>
                          <a:r>
                            <a:rPr lang="en-US" sz="1200" b="0" kern="100" dirty="0">
                              <a:solidFill>
                                <a:schemeClr val="bg1"/>
                              </a:solidFill>
                              <a:effectLst/>
                              <a:latin typeface="+mn-ea"/>
                              <a:ea typeface="+mn-ea"/>
                              <a:cs typeface="Times New Roman" panose="02020603050405020304" pitchFamily="18" charset="0"/>
                            </a:rPr>
                            <a:t>)</a:t>
                          </a:r>
                          <a:r>
                            <a:rPr lang="ko-KR" sz="1200" b="0" kern="100" dirty="0">
                              <a:solidFill>
                                <a:schemeClr val="bg1"/>
                              </a:solidFill>
                              <a:effectLst/>
                              <a:latin typeface="+mn-ea"/>
                              <a:ea typeface="+mn-ea"/>
                              <a:cs typeface="Times New Roman" panose="02020603050405020304" pitchFamily="18" charset="0"/>
                            </a:rPr>
                            <a:t>이내로 유지되어야 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860749560"/>
                      </a:ext>
                    </a:extLst>
                  </a:tr>
                  <a:tr h="511559">
                    <a:tc>
                      <a:txBody>
                        <a:bodyPr/>
                        <a:lstStyle/>
                        <a:p>
                          <a:pPr algn="ctr" latinLnBrk="1">
                            <a:lnSpc>
                              <a:spcPct val="115000"/>
                            </a:lnSpc>
                            <a:spcAft>
                              <a:spcPts val="1000"/>
                            </a:spcAft>
                          </a:pPr>
                          <a:r>
                            <a:rPr lang="en-US" sz="1200" b="1" kern="100">
                              <a:solidFill>
                                <a:schemeClr val="bg1"/>
                              </a:solidFill>
                              <a:effectLst/>
                              <a:latin typeface="+mj-lt"/>
                              <a:ea typeface="맑은 고딕" panose="020B0503020000020004" pitchFamily="50" charset="-127"/>
                              <a:cs typeface="Times New Roman" panose="02020603050405020304" pitchFamily="18" charset="0"/>
                            </a:rPr>
                            <a:t>TCS-002</a:t>
                          </a:r>
                          <a:endParaRPr lang="ko-KR" sz="1200" b="1"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온도 범위가 좁은 배터리의 경우 별도의 열제어를 통해 정상 작동되어야 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352655262"/>
                      </a:ext>
                    </a:extLst>
                  </a:tr>
                  <a:tr h="511558">
                    <a:tc>
                      <a:txBody>
                        <a:bodyPr/>
                        <a:lstStyle/>
                        <a:p>
                          <a:pPr algn="ctr" latinLnBrk="1">
                            <a:lnSpc>
                              <a:spcPct val="115000"/>
                            </a:lnSpc>
                            <a:spcAft>
                              <a:spcPts val="1000"/>
                            </a:spcAft>
                          </a:pPr>
                          <a:r>
                            <a:rPr lang="en-US" sz="1200" b="1" kern="100">
                              <a:solidFill>
                                <a:schemeClr val="bg1"/>
                              </a:solidFill>
                              <a:effectLst/>
                              <a:latin typeface="+mj-lt"/>
                              <a:ea typeface="맑은 고딕" panose="020B0503020000020004" pitchFamily="50" charset="-127"/>
                              <a:cs typeface="Times New Roman" panose="02020603050405020304" pitchFamily="18" charset="0"/>
                            </a:rPr>
                            <a:t>TCS-003</a:t>
                          </a:r>
                          <a:endParaRPr lang="ko-KR" sz="1200" b="1"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요구되는 온도 범위에 </a:t>
                          </a:r>
                          <a:r>
                            <a:rPr lang="en-US" sz="1200" b="0" kern="100" dirty="0">
                              <a:solidFill>
                                <a:schemeClr val="bg1"/>
                              </a:solidFill>
                              <a:effectLst/>
                              <a:latin typeface="+mn-ea"/>
                              <a:ea typeface="+mn-ea"/>
                              <a:cs typeface="Times New Roman" panose="02020603050405020304" pitchFamily="18" charset="0"/>
                            </a:rPr>
                            <a:t>5</a:t>
                          </a:r>
                          <a14:m>
                            <m:oMath xmlns:m="http://schemas.openxmlformats.org/officeDocument/2006/math">
                              <m:r>
                                <a:rPr lang="en-US" sz="1200" b="0" i="1" kern="100" smtClean="0">
                                  <a:solidFill>
                                    <a:schemeClr val="bg1"/>
                                  </a:solidFill>
                                  <a:effectLst/>
                                  <a:latin typeface="Cambria Math" panose="02040503050406030204" pitchFamily="18" charset="0"/>
                                  <a:ea typeface="+mn-ea"/>
                                  <a:cs typeface="Times New Roman" panose="02020603050405020304" pitchFamily="18" charset="0"/>
                                </a:rPr>
                                <m:t>℃</m:t>
                              </m:r>
                            </m:oMath>
                          </a14:m>
                          <a:r>
                            <a:rPr lang="ko-KR" sz="1200" b="0" kern="100" dirty="0">
                              <a:solidFill>
                                <a:schemeClr val="bg1"/>
                              </a:solidFill>
                              <a:effectLst/>
                              <a:latin typeface="+mn-ea"/>
                              <a:ea typeface="+mn-ea"/>
                              <a:cs typeface="Times New Roman" panose="02020603050405020304" pitchFamily="18" charset="0"/>
                            </a:rPr>
                            <a:t>의 마진을 두어 설계를 진행한다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024509436"/>
                      </a:ext>
                    </a:extLst>
                  </a:tr>
                  <a:tr h="511559">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TCS-004</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전력을 최소한으로 사용하기 위해 능동제어보다 수동제어를 우선적으로 활용한다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862255471"/>
                      </a:ext>
                    </a:extLst>
                  </a:tr>
                </a:tbl>
              </a:graphicData>
            </a:graphic>
          </p:graphicFrame>
        </mc:Choice>
        <mc:Fallback xmlns="">
          <p:graphicFrame>
            <p:nvGraphicFramePr>
              <p:cNvPr id="2" name="표 1">
                <a:extLst>
                  <a:ext uri="{FF2B5EF4-FFF2-40B4-BE49-F238E27FC236}">
                    <a16:creationId xmlns:a16="http://schemas.microsoft.com/office/drawing/2014/main" id="{75240320-31A5-4545-88DC-935C4AE20710}"/>
                  </a:ext>
                </a:extLst>
              </p:cNvPr>
              <p:cNvGraphicFramePr>
                <a:graphicFrameLocks noGrp="1"/>
              </p:cNvGraphicFramePr>
              <p:nvPr>
                <p:extLst>
                  <p:ext uri="{D42A27DB-BD31-4B8C-83A1-F6EECF244321}">
                    <p14:modId xmlns:p14="http://schemas.microsoft.com/office/powerpoint/2010/main" val="1713111577"/>
                  </p:ext>
                </p:extLst>
              </p:nvPr>
            </p:nvGraphicFramePr>
            <p:xfrm>
              <a:off x="938500" y="1858148"/>
              <a:ext cx="7333964" cy="2653773"/>
            </p:xfrm>
            <a:graphic>
              <a:graphicData uri="http://schemas.openxmlformats.org/drawingml/2006/table">
                <a:tbl>
                  <a:tblPr firstRow="1" bandRow="1">
                    <a:tableStyleId>{1C28B2AB-E718-4DF9-ADA3-83340B5D2C4E}</a:tableStyleId>
                  </a:tblPr>
                  <a:tblGrid>
                    <a:gridCol w="1380982">
                      <a:extLst>
                        <a:ext uri="{9D8B030D-6E8A-4147-A177-3AD203B41FA5}">
                          <a16:colId xmlns:a16="http://schemas.microsoft.com/office/drawing/2014/main" val="3299039512"/>
                        </a:ext>
                      </a:extLst>
                    </a:gridCol>
                    <a:gridCol w="5952982">
                      <a:extLst>
                        <a:ext uri="{9D8B030D-6E8A-4147-A177-3AD203B41FA5}">
                          <a16:colId xmlns:a16="http://schemas.microsoft.com/office/drawing/2014/main" val="2751108514"/>
                        </a:ext>
                      </a:extLst>
                    </a:gridCol>
                  </a:tblGrid>
                  <a:tr h="432531">
                    <a:tc gridSpan="2">
                      <a:txBody>
                        <a:bodyPr/>
                        <a:lstStyle/>
                        <a:p>
                          <a:pPr algn="ctr" latinLnBrk="1"/>
                          <a:r>
                            <a:rPr lang="en-US" altLang="ko-KR" sz="1400" b="1" i="0" u="none" strike="noStrike" cap="none" dirty="0">
                              <a:solidFill>
                                <a:schemeClr val="bg1"/>
                              </a:solidFill>
                              <a:effectLst/>
                              <a:latin typeface="+mj-lt"/>
                              <a:cs typeface="Arial"/>
                              <a:sym typeface="Arial"/>
                            </a:rPr>
                            <a:t>Contents</a:t>
                          </a:r>
                          <a:endParaRPr lang="ko-KR" altLang="en-US" b="1" dirty="0">
                            <a:solidFill>
                              <a:schemeClr val="bg1"/>
                            </a:solidFill>
                            <a:latin typeface="+mj-lt"/>
                          </a:endParaRPr>
                        </a:p>
                      </a:txBody>
                      <a:tcPr anchor="ctr">
                        <a:solidFill>
                          <a:schemeClr val="tx2"/>
                        </a:solidFill>
                      </a:tcPr>
                    </a:tc>
                    <a:tc hMerge="1">
                      <a:txBody>
                        <a:bodyPr/>
                        <a:lstStyle/>
                        <a:p>
                          <a:pPr algn="just" latinLnBrk="1"/>
                          <a:r>
                            <a:rPr lang="ko-KR" altLang="en-US" dirty="0">
                              <a:solidFill>
                                <a:schemeClr val="bg1"/>
                              </a:solidFill>
                            </a:rPr>
                            <a:t>한반도 영역 내에서 대한민국의 독자적인 위성 항법 시스템</a:t>
                          </a:r>
                          <a:r>
                            <a:rPr lang="en-US" altLang="ko-KR" dirty="0">
                              <a:solidFill>
                                <a:schemeClr val="bg1"/>
                              </a:solidFill>
                            </a:rPr>
                            <a:t>(RNSS) </a:t>
                          </a:r>
                          <a:r>
                            <a:rPr lang="ko-KR" altLang="en-US" dirty="0">
                              <a:solidFill>
                                <a:schemeClr val="bg1"/>
                              </a:solidFill>
                            </a:rPr>
                            <a:t>운용</a:t>
                          </a:r>
                        </a:p>
                      </a:txBody>
                      <a:tcPr anchor="ctr" anchorCtr="1"/>
                    </a:tc>
                    <a:extLst>
                      <a:ext uri="{0D108BD9-81ED-4DB2-BD59-A6C34878D82A}">
                        <a16:rowId xmlns:a16="http://schemas.microsoft.com/office/drawing/2014/main" val="734568593"/>
                      </a:ext>
                    </a:extLst>
                  </a:tr>
                  <a:tr h="686566">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TCS-001</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endParaRPr lang="ko-KR"/>
                        </a:p>
                      </a:txBody>
                      <a:tcPr marL="68580" marR="68580" marT="0" marB="0" anchor="ctr">
                        <a:blipFill>
                          <a:blip r:embed="rId3"/>
                          <a:stretch>
                            <a:fillRect l="-23211" t="-62832" r="-102" b="-224779"/>
                          </a:stretch>
                        </a:blipFill>
                      </a:tcPr>
                    </a:tc>
                    <a:extLst>
                      <a:ext uri="{0D108BD9-81ED-4DB2-BD59-A6C34878D82A}">
                        <a16:rowId xmlns:a16="http://schemas.microsoft.com/office/drawing/2014/main" val="860749560"/>
                      </a:ext>
                    </a:extLst>
                  </a:tr>
                  <a:tr h="511559">
                    <a:tc>
                      <a:txBody>
                        <a:bodyPr/>
                        <a:lstStyle/>
                        <a:p>
                          <a:pPr algn="ctr" latinLnBrk="1">
                            <a:lnSpc>
                              <a:spcPct val="115000"/>
                            </a:lnSpc>
                            <a:spcAft>
                              <a:spcPts val="1000"/>
                            </a:spcAft>
                          </a:pPr>
                          <a:r>
                            <a:rPr lang="en-US" sz="1200" b="1" kern="100">
                              <a:solidFill>
                                <a:schemeClr val="bg1"/>
                              </a:solidFill>
                              <a:effectLst/>
                              <a:latin typeface="+mj-lt"/>
                              <a:ea typeface="맑은 고딕" panose="020B0503020000020004" pitchFamily="50" charset="-127"/>
                              <a:cs typeface="Times New Roman" panose="02020603050405020304" pitchFamily="18" charset="0"/>
                            </a:rPr>
                            <a:t>TCS-002</a:t>
                          </a:r>
                          <a:endParaRPr lang="ko-KR" sz="1200" b="1"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온도 범위가 좁은 배터리의 경우 별도의 열제어를 통해 정상 작동되어야 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2352655262"/>
                      </a:ext>
                    </a:extLst>
                  </a:tr>
                  <a:tr h="511558">
                    <a:tc>
                      <a:txBody>
                        <a:bodyPr/>
                        <a:lstStyle/>
                        <a:p>
                          <a:pPr algn="ctr" latinLnBrk="1">
                            <a:lnSpc>
                              <a:spcPct val="115000"/>
                            </a:lnSpc>
                            <a:spcAft>
                              <a:spcPts val="1000"/>
                            </a:spcAft>
                          </a:pPr>
                          <a:r>
                            <a:rPr lang="en-US" sz="1200" b="1" kern="100">
                              <a:solidFill>
                                <a:schemeClr val="bg1"/>
                              </a:solidFill>
                              <a:effectLst/>
                              <a:latin typeface="+mj-lt"/>
                              <a:ea typeface="맑은 고딕" panose="020B0503020000020004" pitchFamily="50" charset="-127"/>
                              <a:cs typeface="Times New Roman" panose="02020603050405020304" pitchFamily="18" charset="0"/>
                            </a:rPr>
                            <a:t>TCS-003</a:t>
                          </a:r>
                          <a:endParaRPr lang="ko-KR" sz="1200" b="1"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endParaRPr lang="ko-KR"/>
                        </a:p>
                      </a:txBody>
                      <a:tcPr marL="68580" marR="68580" marT="0" marB="0" anchor="ctr">
                        <a:blipFill>
                          <a:blip r:embed="rId3"/>
                          <a:stretch>
                            <a:fillRect l="-23211" t="-320238" r="-102" b="-101190"/>
                          </a:stretch>
                        </a:blipFill>
                      </a:tcPr>
                    </a:tc>
                    <a:extLst>
                      <a:ext uri="{0D108BD9-81ED-4DB2-BD59-A6C34878D82A}">
                        <a16:rowId xmlns:a16="http://schemas.microsoft.com/office/drawing/2014/main" val="2024509436"/>
                      </a:ext>
                    </a:extLst>
                  </a:tr>
                  <a:tr h="511559">
                    <a:tc>
                      <a:txBody>
                        <a:bodyPr/>
                        <a:lstStyle/>
                        <a:p>
                          <a:pPr algn="ctr" latinLnBrk="1">
                            <a:lnSpc>
                              <a:spcPct val="115000"/>
                            </a:lnSpc>
                            <a:spcAft>
                              <a:spcPts val="1000"/>
                            </a:spcAft>
                          </a:pPr>
                          <a:r>
                            <a:rPr lang="en-US" sz="1200" b="1" kern="100" dirty="0">
                              <a:solidFill>
                                <a:schemeClr val="bg1"/>
                              </a:solidFill>
                              <a:effectLst/>
                              <a:latin typeface="+mj-lt"/>
                              <a:ea typeface="맑은 고딕" panose="020B0503020000020004" pitchFamily="50" charset="-127"/>
                              <a:cs typeface="Times New Roman" panose="02020603050405020304" pitchFamily="18" charset="0"/>
                            </a:rPr>
                            <a:t>TCS-004</a:t>
                          </a:r>
                          <a:endParaRPr lang="ko-KR" sz="12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just" latinLnBrk="1">
                            <a:lnSpc>
                              <a:spcPct val="115000"/>
                            </a:lnSpc>
                            <a:spcAft>
                              <a:spcPts val="1000"/>
                            </a:spcAft>
                          </a:pPr>
                          <a:r>
                            <a:rPr lang="ko-KR" sz="1200" b="0" kern="100" dirty="0">
                              <a:solidFill>
                                <a:schemeClr val="bg1"/>
                              </a:solidFill>
                              <a:effectLst/>
                              <a:latin typeface="+mn-ea"/>
                              <a:ea typeface="+mn-ea"/>
                              <a:cs typeface="Times New Roman" panose="02020603050405020304" pitchFamily="18" charset="0"/>
                            </a:rPr>
                            <a:t>전력을 최소한으로 사용하기 위해 능동제어보다 수동제어를 우선적으로 활용한다</a:t>
                          </a:r>
                          <a:r>
                            <a:rPr lang="en-US" sz="1200" b="0" kern="100" dirty="0">
                              <a:solidFill>
                                <a:schemeClr val="bg1"/>
                              </a:solidFill>
                              <a:effectLst/>
                              <a:latin typeface="+mn-ea"/>
                              <a:ea typeface="+mn-ea"/>
                              <a:cs typeface="Times New Roman" panose="02020603050405020304" pitchFamily="18" charset="0"/>
                            </a:rPr>
                            <a:t>.</a:t>
                          </a:r>
                          <a:endParaRPr lang="ko-KR" sz="1200" b="0" kern="100" dirty="0">
                            <a:solidFill>
                              <a:schemeClr val="bg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862255471"/>
                      </a:ext>
                    </a:extLst>
                  </a:tr>
                </a:tbl>
              </a:graphicData>
            </a:graphic>
          </p:graphicFrame>
        </mc:Fallback>
      </mc:AlternateContent>
    </p:spTree>
    <p:extLst>
      <p:ext uri="{BB962C8B-B14F-4D97-AF65-F5344CB8AC3E}">
        <p14:creationId xmlns:p14="http://schemas.microsoft.com/office/powerpoint/2010/main" val="40965729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0" y="445025"/>
            <a:ext cx="79697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9.3 Operating Temperature</a:t>
            </a:r>
            <a:br>
              <a:rPr lang="en-US" altLang="ko-KR" sz="2800" dirty="0"/>
            </a:br>
            <a:endParaRPr lang="en-US" sz="1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cxnSp>
        <p:nvCxnSpPr>
          <p:cNvPr id="11" name="직선 화살표 연결선 10">
            <a:extLst>
              <a:ext uri="{FF2B5EF4-FFF2-40B4-BE49-F238E27FC236}">
                <a16:creationId xmlns:a16="http://schemas.microsoft.com/office/drawing/2014/main" id="{69F45169-9463-4A17-9501-6A939A769461}"/>
              </a:ext>
            </a:extLst>
          </p:cNvPr>
          <p:cNvCxnSpPr/>
          <p:nvPr/>
        </p:nvCxnSpPr>
        <p:spPr>
          <a:xfrm>
            <a:off x="6962775" y="48990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69F45169-9463-4A17-9501-6A939A769461}"/>
              </a:ext>
            </a:extLst>
          </p:cNvPr>
          <p:cNvCxnSpPr/>
          <p:nvPr/>
        </p:nvCxnSpPr>
        <p:spPr>
          <a:xfrm>
            <a:off x="7115175" y="50514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69F45169-9463-4A17-9501-6A939A769461}"/>
              </a:ext>
            </a:extLst>
          </p:cNvPr>
          <p:cNvCxnSpPr/>
          <p:nvPr/>
        </p:nvCxnSpPr>
        <p:spPr>
          <a:xfrm>
            <a:off x="7267575" y="5203825"/>
            <a:ext cx="89979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표 3">
            <a:extLst>
              <a:ext uri="{FF2B5EF4-FFF2-40B4-BE49-F238E27FC236}">
                <a16:creationId xmlns:a16="http://schemas.microsoft.com/office/drawing/2014/main" id="{04A15963-1045-4CF1-9C46-5E1729BB775A}"/>
              </a:ext>
            </a:extLst>
          </p:cNvPr>
          <p:cNvGraphicFramePr>
            <a:graphicFrameLocks noGrp="1"/>
          </p:cNvGraphicFramePr>
          <p:nvPr/>
        </p:nvGraphicFramePr>
        <p:xfrm>
          <a:off x="407466" y="1771681"/>
          <a:ext cx="2700000" cy="2926794"/>
        </p:xfrm>
        <a:graphic>
          <a:graphicData uri="http://schemas.openxmlformats.org/drawingml/2006/table">
            <a:tbl>
              <a:tblPr firstRow="1" bandRow="1">
                <a:tableStyleId>{1C28B2AB-E718-4DF9-ADA3-83340B5D2C4E}</a:tableStyleId>
              </a:tblPr>
              <a:tblGrid>
                <a:gridCol w="900000">
                  <a:extLst>
                    <a:ext uri="{9D8B030D-6E8A-4147-A177-3AD203B41FA5}">
                      <a16:colId xmlns:a16="http://schemas.microsoft.com/office/drawing/2014/main" val="3007689042"/>
                    </a:ext>
                  </a:extLst>
                </a:gridCol>
                <a:gridCol w="900000">
                  <a:extLst>
                    <a:ext uri="{9D8B030D-6E8A-4147-A177-3AD203B41FA5}">
                      <a16:colId xmlns:a16="http://schemas.microsoft.com/office/drawing/2014/main" val="1415717900"/>
                    </a:ext>
                  </a:extLst>
                </a:gridCol>
                <a:gridCol w="900000">
                  <a:extLst>
                    <a:ext uri="{9D8B030D-6E8A-4147-A177-3AD203B41FA5}">
                      <a16:colId xmlns:a16="http://schemas.microsoft.com/office/drawing/2014/main" val="2495609985"/>
                    </a:ext>
                  </a:extLst>
                </a:gridCol>
              </a:tblGrid>
              <a:tr h="320000">
                <a:tc rowSpan="7">
                  <a:txBody>
                    <a:bodyPr/>
                    <a:lstStyle/>
                    <a:p>
                      <a:pPr algn="ctr" latinLnBrk="1"/>
                      <a:r>
                        <a:rPr lang="en-US" altLang="ko-KR" sz="1000" b="1" dirty="0">
                          <a:solidFill>
                            <a:schemeClr val="bg1"/>
                          </a:solidFill>
                          <a:latin typeface="+mj-lt"/>
                        </a:rPr>
                        <a:t>PAY</a:t>
                      </a:r>
                      <a:endParaRPr lang="ko-KR" altLang="en-US" sz="1000" b="1" dirty="0">
                        <a:solidFill>
                          <a:schemeClr val="bg1"/>
                        </a:solidFill>
                        <a:latin typeface="+mj-lt"/>
                      </a:endParaRPr>
                    </a:p>
                  </a:txBody>
                  <a:tcPr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OBC</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-20~60</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40074939"/>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Time Unit</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-20~65</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2544538"/>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L band Ant</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-40~85</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97937769"/>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L band Transmitter</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-10~60</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64796254"/>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Ku band Ant</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-15~55</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839329232"/>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a:solidFill>
                            <a:schemeClr val="bg1"/>
                          </a:solidFill>
                          <a:effectLst/>
                          <a:latin typeface="+mj-lt"/>
                          <a:ea typeface="맑은 고딕" panose="020B0503020000020004" pitchFamily="50" charset="-127"/>
                          <a:cs typeface="Times New Roman" panose="02020603050405020304" pitchFamily="18" charset="0"/>
                        </a:rPr>
                        <a:t>Ku band Transmitter</a:t>
                      </a:r>
                      <a:endParaRPr lang="ko-KR" sz="1000"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-34~71</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179599194"/>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a:solidFill>
                            <a:schemeClr val="bg1"/>
                          </a:solidFill>
                          <a:effectLst/>
                          <a:latin typeface="+mj-lt"/>
                          <a:ea typeface="맑은 고딕" panose="020B0503020000020004" pitchFamily="50" charset="-127"/>
                          <a:cs typeface="Times New Roman" panose="02020603050405020304" pitchFamily="18" charset="0"/>
                        </a:rPr>
                        <a:t>Laser Retroreflector Array</a:t>
                      </a:r>
                      <a:endParaRPr lang="ko-KR" sz="1000"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616288595"/>
                  </a:ext>
                </a:extLst>
              </a:tr>
              <a:tr h="320000">
                <a:tc>
                  <a:txBody>
                    <a:bodyPr/>
                    <a:lstStyle/>
                    <a:p>
                      <a:pPr algn="ctr" latinLnBrk="1">
                        <a:lnSpc>
                          <a:spcPct val="115000"/>
                        </a:lnSpc>
                        <a:spcAft>
                          <a:spcPts val="1000"/>
                        </a:spcAft>
                      </a:pPr>
                      <a:r>
                        <a:rPr lang="en-US" sz="1000" b="1" kern="100" dirty="0">
                          <a:solidFill>
                            <a:schemeClr val="bg1"/>
                          </a:solidFill>
                          <a:effectLst/>
                          <a:latin typeface="+mj-lt"/>
                          <a:ea typeface="맑은 고딕" panose="020B0503020000020004" pitchFamily="50" charset="-127"/>
                          <a:cs typeface="Times New Roman" panose="02020603050405020304" pitchFamily="18" charset="0"/>
                        </a:rPr>
                        <a:t>PS</a:t>
                      </a:r>
                      <a:endParaRPr lang="ko-KR" sz="10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1000" kern="100">
                          <a:solidFill>
                            <a:schemeClr val="bg1"/>
                          </a:solidFill>
                          <a:effectLst/>
                          <a:latin typeface="+mj-lt"/>
                          <a:ea typeface="맑은 고딕" panose="020B0503020000020004" pitchFamily="50" charset="-127"/>
                          <a:cs typeface="Times New Roman" panose="02020603050405020304" pitchFamily="18" charset="0"/>
                        </a:rPr>
                        <a:t>Thruster</a:t>
                      </a:r>
                      <a:endParaRPr lang="ko-KR" sz="1000" kern="10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mj-lt"/>
                          <a:ea typeface="맑은 고딕" panose="020B0503020000020004" pitchFamily="50" charset="-127"/>
                          <a:cs typeface="Times New Roman" panose="02020603050405020304" pitchFamily="18" charset="0"/>
                        </a:rPr>
                        <a:t>-</a:t>
                      </a: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30653839"/>
                  </a:ext>
                </a:extLst>
              </a:tr>
              <a:tr h="320000">
                <a:tc>
                  <a:txBody>
                    <a:bodyPr/>
                    <a:lstStyle/>
                    <a:p>
                      <a:pPr algn="ctr" latinLnBrk="1">
                        <a:lnSpc>
                          <a:spcPct val="115000"/>
                        </a:lnSpc>
                        <a:spcAft>
                          <a:spcPts val="1000"/>
                        </a:spcAft>
                      </a:pPr>
                      <a:r>
                        <a:rPr lang="en-US" altLang="ko-KR" sz="1000" b="1" kern="100" dirty="0">
                          <a:solidFill>
                            <a:schemeClr val="bg1"/>
                          </a:solidFill>
                          <a:effectLst/>
                          <a:latin typeface="+mj-lt"/>
                          <a:ea typeface="맑은 고딕" panose="020B0503020000020004" pitchFamily="50" charset="-127"/>
                          <a:cs typeface="Times New Roman" panose="02020603050405020304" pitchFamily="18" charset="0"/>
                        </a:rPr>
                        <a:t>TCS</a:t>
                      </a:r>
                      <a:endParaRPr lang="ko-KR" sz="1000" b="1"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MLI</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-250~150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4612619"/>
                  </a:ext>
                </a:extLst>
              </a:tr>
            </a:tbl>
          </a:graphicData>
        </a:graphic>
      </p:graphicFrame>
      <p:graphicFrame>
        <p:nvGraphicFramePr>
          <p:cNvPr id="23" name="표 3">
            <a:extLst>
              <a:ext uri="{FF2B5EF4-FFF2-40B4-BE49-F238E27FC236}">
                <a16:creationId xmlns:a16="http://schemas.microsoft.com/office/drawing/2014/main" id="{079ACADB-6100-4589-9D8B-515BC633D197}"/>
              </a:ext>
            </a:extLst>
          </p:cNvPr>
          <p:cNvGraphicFramePr>
            <a:graphicFrameLocks noGrp="1"/>
          </p:cNvGraphicFramePr>
          <p:nvPr/>
        </p:nvGraphicFramePr>
        <p:xfrm>
          <a:off x="6205236" y="1769735"/>
          <a:ext cx="2700000" cy="2939098"/>
        </p:xfrm>
        <a:graphic>
          <a:graphicData uri="http://schemas.openxmlformats.org/drawingml/2006/table">
            <a:tbl>
              <a:tblPr firstRow="1" bandRow="1">
                <a:tableStyleId>{1C28B2AB-E718-4DF9-ADA3-83340B5D2C4E}</a:tableStyleId>
              </a:tblPr>
              <a:tblGrid>
                <a:gridCol w="900000">
                  <a:extLst>
                    <a:ext uri="{9D8B030D-6E8A-4147-A177-3AD203B41FA5}">
                      <a16:colId xmlns:a16="http://schemas.microsoft.com/office/drawing/2014/main" val="3007689042"/>
                    </a:ext>
                  </a:extLst>
                </a:gridCol>
                <a:gridCol w="900000">
                  <a:extLst>
                    <a:ext uri="{9D8B030D-6E8A-4147-A177-3AD203B41FA5}">
                      <a16:colId xmlns:a16="http://schemas.microsoft.com/office/drawing/2014/main" val="1415717900"/>
                    </a:ext>
                  </a:extLst>
                </a:gridCol>
                <a:gridCol w="900000">
                  <a:extLst>
                    <a:ext uri="{9D8B030D-6E8A-4147-A177-3AD203B41FA5}">
                      <a16:colId xmlns:a16="http://schemas.microsoft.com/office/drawing/2014/main" val="2495609985"/>
                    </a:ext>
                  </a:extLst>
                </a:gridCol>
              </a:tblGrid>
              <a:tr h="323070">
                <a:tc>
                  <a:txBody>
                    <a:bodyPr/>
                    <a:lstStyle/>
                    <a:p>
                      <a:pPr algn="ctr" latinLnBrk="1"/>
                      <a:r>
                        <a:rPr lang="en-US" altLang="ko-KR" sz="1000" b="1" dirty="0">
                          <a:solidFill>
                            <a:schemeClr val="bg1"/>
                          </a:solidFill>
                          <a:latin typeface="+mj-lt"/>
                        </a:rPr>
                        <a:t>ADCS</a:t>
                      </a:r>
                      <a:endParaRPr lang="ko-KR" altLang="en-US" sz="1000" b="1" dirty="0">
                        <a:solidFill>
                          <a:schemeClr val="bg1"/>
                        </a:solidFill>
                        <a:latin typeface="+mj-lt"/>
                      </a:endParaRPr>
                    </a:p>
                  </a:txBody>
                  <a:tcPr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IRU</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-40~85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40074939"/>
                  </a:ext>
                </a:extLst>
              </a:tr>
              <a:tr h="334391">
                <a:tc rowSpan="5">
                  <a:txBody>
                    <a:bodyPr/>
                    <a:lstStyle/>
                    <a:p>
                      <a:pPr algn="ctr" latinLnBrk="1"/>
                      <a:r>
                        <a:rPr lang="en-US" altLang="ko-KR" sz="1000" b="1" dirty="0">
                          <a:solidFill>
                            <a:schemeClr val="bg1"/>
                          </a:solidFill>
                          <a:latin typeface="+mj-lt"/>
                        </a:rPr>
                        <a:t>TTC</a:t>
                      </a:r>
                      <a:endParaRPr lang="ko-KR" altLang="en-US" sz="1000" b="1" dirty="0">
                        <a:solidFill>
                          <a:schemeClr val="bg1"/>
                        </a:solidFill>
                        <a:latin typeface="+mj-lt"/>
                      </a:endParaRPr>
                    </a:p>
                  </a:txBody>
                  <a:tcPr marT="50292" marB="50292"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 band Transponder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-20~70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2544538"/>
                  </a:ext>
                </a:extLst>
              </a:tr>
              <a:tr h="334391">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 band receiver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-20~70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97937769"/>
                  </a:ext>
                </a:extLst>
              </a:tr>
              <a:tr h="334391">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Ka band transponder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-24~65</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64796254"/>
                  </a:ext>
                </a:extLst>
              </a:tr>
              <a:tr h="334391">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Ka band receiver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-20~70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839329232"/>
                  </a:ext>
                </a:extLst>
              </a:tr>
              <a:tr h="319616">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Ka band ant</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-100~100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179599194"/>
                  </a:ext>
                </a:extLst>
              </a:tr>
              <a:tr h="319616">
                <a:tc rowSpan="3">
                  <a:txBody>
                    <a:bodyPr/>
                    <a:lstStyle/>
                    <a:p>
                      <a:pPr algn="ctr" latinLnBrk="1"/>
                      <a:r>
                        <a:rPr lang="en-US" altLang="ko-KR" sz="1000" b="1" dirty="0">
                          <a:solidFill>
                            <a:schemeClr val="bg1"/>
                          </a:solidFill>
                          <a:latin typeface="+mj-lt"/>
                        </a:rPr>
                        <a:t>EPS</a:t>
                      </a:r>
                      <a:endParaRPr lang="ko-KR" altLang="en-US" sz="1000" b="1" dirty="0">
                        <a:solidFill>
                          <a:schemeClr val="bg1"/>
                        </a:solidFill>
                        <a:latin typeface="+mj-lt"/>
                      </a:endParaRPr>
                    </a:p>
                  </a:txBody>
                  <a:tcPr marT="0" marB="0"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Battery</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10~30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616288595"/>
                  </a:ext>
                </a:extLst>
              </a:tr>
              <a:tr h="319616">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Solar array</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-100~100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30653839"/>
                  </a:ext>
                </a:extLst>
              </a:tr>
              <a:tr h="319616">
                <a:tc vMerge="1">
                  <a:txBody>
                    <a:bodyPr/>
                    <a:lstStyle/>
                    <a:p>
                      <a:pPr algn="ctr" latinLnBrk="1">
                        <a:lnSpc>
                          <a:spcPct val="115000"/>
                        </a:lnSpc>
                        <a:spcAft>
                          <a:spcPts val="1000"/>
                        </a:spcAft>
                      </a:pP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PCUD</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-35~70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4612619"/>
                  </a:ext>
                </a:extLst>
              </a:tr>
            </a:tbl>
          </a:graphicData>
        </a:graphic>
      </p:graphicFrame>
      <p:graphicFrame>
        <p:nvGraphicFramePr>
          <p:cNvPr id="25" name="표 3">
            <a:extLst>
              <a:ext uri="{FF2B5EF4-FFF2-40B4-BE49-F238E27FC236}">
                <a16:creationId xmlns:a16="http://schemas.microsoft.com/office/drawing/2014/main" id="{E0BA4009-B45B-489B-98A9-E2E93C801077}"/>
              </a:ext>
            </a:extLst>
          </p:cNvPr>
          <p:cNvGraphicFramePr>
            <a:graphicFrameLocks noGrp="1"/>
          </p:cNvGraphicFramePr>
          <p:nvPr/>
        </p:nvGraphicFramePr>
        <p:xfrm>
          <a:off x="3306351" y="1771681"/>
          <a:ext cx="2700000" cy="2908782"/>
        </p:xfrm>
        <a:graphic>
          <a:graphicData uri="http://schemas.openxmlformats.org/drawingml/2006/table">
            <a:tbl>
              <a:tblPr firstRow="1" bandRow="1">
                <a:tableStyleId>{1C28B2AB-E718-4DF9-ADA3-83340B5D2C4E}</a:tableStyleId>
              </a:tblPr>
              <a:tblGrid>
                <a:gridCol w="900000">
                  <a:extLst>
                    <a:ext uri="{9D8B030D-6E8A-4147-A177-3AD203B41FA5}">
                      <a16:colId xmlns:a16="http://schemas.microsoft.com/office/drawing/2014/main" val="3007689042"/>
                    </a:ext>
                  </a:extLst>
                </a:gridCol>
                <a:gridCol w="900000">
                  <a:extLst>
                    <a:ext uri="{9D8B030D-6E8A-4147-A177-3AD203B41FA5}">
                      <a16:colId xmlns:a16="http://schemas.microsoft.com/office/drawing/2014/main" val="1415717900"/>
                    </a:ext>
                  </a:extLst>
                </a:gridCol>
                <a:gridCol w="900000">
                  <a:extLst>
                    <a:ext uri="{9D8B030D-6E8A-4147-A177-3AD203B41FA5}">
                      <a16:colId xmlns:a16="http://schemas.microsoft.com/office/drawing/2014/main" val="2495609985"/>
                    </a:ext>
                  </a:extLst>
                </a:gridCol>
              </a:tblGrid>
              <a:tr h="320000">
                <a:tc rowSpan="5">
                  <a:txBody>
                    <a:bodyPr/>
                    <a:lstStyle/>
                    <a:p>
                      <a:pPr algn="ctr" latinLnBrk="1"/>
                      <a:r>
                        <a:rPr lang="en-US" altLang="ko-KR" sz="1000" b="1" dirty="0">
                          <a:solidFill>
                            <a:schemeClr val="bg1"/>
                          </a:solidFill>
                          <a:latin typeface="+mj-lt"/>
                        </a:rPr>
                        <a:t>TCS</a:t>
                      </a:r>
                      <a:endParaRPr lang="ko-KR" altLang="en-US" sz="1000" b="1" dirty="0">
                        <a:solidFill>
                          <a:schemeClr val="bg1"/>
                        </a:solidFill>
                        <a:latin typeface="+mj-lt"/>
                      </a:endParaRPr>
                    </a:p>
                  </a:txBody>
                  <a:tcPr anchor="ctr">
                    <a:solidFill>
                      <a:schemeClr val="tx2">
                        <a:lumMod val="75000"/>
                      </a:schemeClr>
                    </a:solidFill>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-40~75</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40074939"/>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Heat pipe</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-60~80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2544538"/>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Heater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-32~100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97937769"/>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Thermal sensor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-55~150</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764796254"/>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Louver</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-85~120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839329232"/>
                  </a:ext>
                </a:extLst>
              </a:tr>
              <a:tr h="320000">
                <a:tc rowSpan="4">
                  <a:txBody>
                    <a:bodyPr/>
                    <a:lstStyle/>
                    <a:p>
                      <a:pPr algn="ctr" latinLnBrk="1"/>
                      <a:r>
                        <a:rPr lang="en-US" altLang="ko-KR" sz="1000" b="1" dirty="0">
                          <a:solidFill>
                            <a:schemeClr val="bg1"/>
                          </a:solidFill>
                          <a:latin typeface="+mj-lt"/>
                        </a:rPr>
                        <a:t>ADCS</a:t>
                      </a:r>
                      <a:endParaRPr lang="ko-KR" altLang="en-US" sz="1000" b="1" dirty="0">
                        <a:solidFill>
                          <a:schemeClr val="bg1"/>
                        </a:solidFill>
                        <a:latin typeface="+mj-lt"/>
                      </a:endParaRPr>
                    </a:p>
                  </a:txBody>
                  <a:tcPr anchor="ctr">
                    <a:solidFill>
                      <a:schemeClr val="tx2">
                        <a:lumMod val="75000"/>
                      </a:schemeClr>
                    </a:solidFill>
                  </a:tcP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Reaction wheel assembly</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-10~40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179599194"/>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Star sensor</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-20~50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616288595"/>
                  </a:ext>
                </a:extLst>
              </a:tr>
              <a:tr h="320000">
                <a:tc vMerge="1">
                  <a:txBody>
                    <a:bodyPr/>
                    <a:lstStyle/>
                    <a:p>
                      <a:pPr algn="ctr" latinLnBrk="1"/>
                      <a:endParaRPr lang="ko-KR" altLang="en-US" sz="1000" dirty="0">
                        <a:solidFill>
                          <a:schemeClr val="bg1"/>
                        </a:solidFill>
                        <a:latin typeface="+mj-lt"/>
                      </a:endParaRPr>
                    </a:p>
                  </a:txBody>
                  <a:tcP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Sun sensor</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-5~50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30653839"/>
                  </a:ext>
                </a:extLst>
              </a:tr>
              <a:tr h="320000">
                <a:tc vMerge="1">
                  <a:txBody>
                    <a:bodyPr/>
                    <a:lstStyle/>
                    <a:p>
                      <a:pPr algn="ctr" latinLnBrk="1">
                        <a:lnSpc>
                          <a:spcPct val="115000"/>
                        </a:lnSpc>
                        <a:spcAft>
                          <a:spcPts val="1000"/>
                        </a:spcAft>
                      </a:pPr>
                      <a:endParaRPr lang="ko-KR" sz="1000" kern="100" dirty="0">
                        <a:solidFill>
                          <a:schemeClr val="bg1"/>
                        </a:solidFill>
                        <a:effectLst/>
                        <a:latin typeface="+mj-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Earth sensor</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-5~50</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594612619"/>
                  </a:ext>
                </a:extLst>
              </a:tr>
            </a:tbl>
          </a:graphicData>
        </a:graphic>
      </p:graphicFrame>
    </p:spTree>
    <p:extLst>
      <p:ext uri="{BB962C8B-B14F-4D97-AF65-F5344CB8AC3E}">
        <p14:creationId xmlns:p14="http://schemas.microsoft.com/office/powerpoint/2010/main" val="16356359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4"/>
          <p:cNvSpPr txBox="1">
            <a:spLocks noGrp="1"/>
          </p:cNvSpPr>
          <p:nvPr>
            <p:ph type="title"/>
          </p:nvPr>
        </p:nvSpPr>
        <p:spPr>
          <a:xfrm>
            <a:off x="938500" y="445025"/>
            <a:ext cx="7855456" cy="94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ko-KR" sz="2800" dirty="0"/>
              <a:t>9.4 Preliminary Design Process</a:t>
            </a:r>
            <a:endParaRPr sz="2800" dirty="0">
              <a:solidFill>
                <a:schemeClr val="accent1"/>
              </a:solidFill>
            </a:endParaRPr>
          </a:p>
        </p:txBody>
      </p:sp>
      <p:sp>
        <p:nvSpPr>
          <p:cNvPr id="215" name="Google Shape;215;p44"/>
          <p:cNvSpPr txBox="1">
            <a:spLocks noGrp="1"/>
          </p:cNvSpPr>
          <p:nvPr>
            <p:ph type="body" idx="1"/>
          </p:nvPr>
        </p:nvSpPr>
        <p:spPr>
          <a:xfrm>
            <a:off x="938500" y="1676159"/>
            <a:ext cx="7512556" cy="3070203"/>
          </a:xfrm>
          <a:prstGeom prst="rect">
            <a:avLst/>
          </a:prstGeom>
        </p:spPr>
        <p:txBody>
          <a:bodyPr spcFirstLastPara="1" wrap="square" lIns="91425" tIns="91425" rIns="91425" bIns="91425" anchor="t" anchorCtr="0">
            <a:noAutofit/>
          </a:bodyPr>
          <a:lstStyle/>
          <a:p>
            <a:pPr marL="139700" lvl="0" indent="0" algn="l" rtl="0">
              <a:spcBef>
                <a:spcPts val="1600"/>
              </a:spcBef>
              <a:spcAft>
                <a:spcPts val="0"/>
              </a:spcAft>
              <a:buSzPts val="1400"/>
              <a:buNone/>
            </a:pPr>
            <a:endParaRPr lang="en-US" altLang="ko-KR" dirty="0">
              <a:latin typeface="+mn-lt"/>
            </a:endParaRPr>
          </a:p>
          <a:p>
            <a:pPr marL="457200" lvl="0" indent="-317500" algn="l" rtl="0">
              <a:spcBef>
                <a:spcPts val="1600"/>
              </a:spcBef>
              <a:spcAft>
                <a:spcPts val="0"/>
              </a:spcAft>
              <a:buSzPts val="1400"/>
              <a:buChar char="●"/>
            </a:pPr>
            <a:r>
              <a:rPr lang="en-US" altLang="ko-KR" dirty="0">
                <a:latin typeface="+mn-lt"/>
                <a:ea typeface="+mj-ea"/>
              </a:rPr>
              <a:t>MLI</a:t>
            </a:r>
            <a:r>
              <a:rPr lang="ko-KR" altLang="en-US" dirty="0">
                <a:latin typeface="+mn-lt"/>
                <a:ea typeface="+mj-ea"/>
              </a:rPr>
              <a:t>를 사용하여 위성 </a:t>
            </a:r>
            <a:r>
              <a:rPr lang="ko-KR" altLang="en-US" dirty="0" err="1">
                <a:latin typeface="+mn-lt"/>
                <a:ea typeface="+mj-ea"/>
              </a:rPr>
              <a:t>내</a:t>
            </a:r>
            <a:r>
              <a:rPr lang="ko-KR" altLang="en-US" dirty="0" err="1">
                <a:latin typeface="맑은 고딕" panose="020B0503020000020004" pitchFamily="50" charset="-127"/>
                <a:ea typeface="맑은 고딕" panose="020B0503020000020004" pitchFamily="50" charset="-127"/>
              </a:rPr>
              <a:t>ㆍ</a:t>
            </a:r>
            <a:r>
              <a:rPr lang="ko-KR" altLang="en-US" dirty="0" err="1">
                <a:latin typeface="+mn-lt"/>
                <a:ea typeface="+mj-ea"/>
              </a:rPr>
              <a:t>외부</a:t>
            </a:r>
            <a:r>
              <a:rPr lang="ko-KR" altLang="en-US" dirty="0">
                <a:latin typeface="+mn-lt"/>
                <a:ea typeface="+mj-ea"/>
              </a:rPr>
              <a:t> 사이의 열 교환 차단</a:t>
            </a:r>
            <a:endParaRPr lang="en-US" altLang="ko-KR" dirty="0">
              <a:latin typeface="+mn-lt"/>
              <a:ea typeface="+mj-ea"/>
            </a:endParaRPr>
          </a:p>
          <a:p>
            <a:pPr marL="457200" lvl="0" indent="-317500" algn="l" rtl="0">
              <a:spcBef>
                <a:spcPts val="1600"/>
              </a:spcBef>
              <a:spcAft>
                <a:spcPts val="0"/>
              </a:spcAft>
              <a:buSzPts val="1400"/>
              <a:buChar char="●"/>
            </a:pPr>
            <a:endParaRPr lang="en-US" dirty="0">
              <a:latin typeface="+mn-lt"/>
              <a:ea typeface="+mj-ea"/>
            </a:endParaRPr>
          </a:p>
          <a:p>
            <a:r>
              <a:rPr lang="en-US" altLang="ko-KR" dirty="0">
                <a:solidFill>
                  <a:schemeClr val="bg1"/>
                </a:solidFill>
                <a:latin typeface="+mn-lt"/>
                <a:ea typeface="+mj-ea"/>
              </a:rPr>
              <a:t>Radiator</a:t>
            </a:r>
            <a:r>
              <a:rPr lang="ko-KR" altLang="en-US" dirty="0">
                <a:solidFill>
                  <a:schemeClr val="bg1"/>
                </a:solidFill>
                <a:latin typeface="+mn-lt"/>
                <a:ea typeface="+mj-ea"/>
              </a:rPr>
              <a:t>를 통해 열 방출</a:t>
            </a:r>
            <a:r>
              <a:rPr lang="en-US" altLang="ko-KR" dirty="0">
                <a:solidFill>
                  <a:schemeClr val="bg1"/>
                </a:solidFill>
                <a:latin typeface="+mn-lt"/>
                <a:ea typeface="+mj-ea"/>
              </a:rPr>
              <a:t> </a:t>
            </a:r>
            <a:r>
              <a:rPr lang="ko-KR" altLang="en-US" dirty="0">
                <a:solidFill>
                  <a:schemeClr val="bg1"/>
                </a:solidFill>
                <a:latin typeface="+mn-lt"/>
                <a:ea typeface="+mj-ea"/>
              </a:rPr>
              <a:t>및 공급</a:t>
            </a:r>
            <a:r>
              <a:rPr lang="en-US" altLang="ko-KR" dirty="0">
                <a:solidFill>
                  <a:schemeClr val="bg1"/>
                </a:solidFill>
                <a:latin typeface="+mn-lt"/>
                <a:ea typeface="+mj-ea"/>
              </a:rPr>
              <a:t> </a:t>
            </a:r>
          </a:p>
          <a:p>
            <a:pPr marL="139700" indent="0">
              <a:buNone/>
            </a:pPr>
            <a:endParaRPr lang="en-US" altLang="ko-KR" dirty="0">
              <a:solidFill>
                <a:schemeClr val="bg1"/>
              </a:solidFill>
              <a:latin typeface="+mn-lt"/>
              <a:ea typeface="+mj-ea"/>
            </a:endParaRPr>
          </a:p>
          <a:p>
            <a:endParaRPr lang="en-US" altLang="ko-KR" dirty="0">
              <a:solidFill>
                <a:schemeClr val="bg1"/>
              </a:solidFill>
              <a:latin typeface="+mn-lt"/>
              <a:ea typeface="+mj-ea"/>
            </a:endParaRPr>
          </a:p>
          <a:p>
            <a:r>
              <a:rPr lang="ko-KR" altLang="en-US" dirty="0">
                <a:solidFill>
                  <a:schemeClr val="bg1"/>
                </a:solidFill>
                <a:latin typeface="+mn-lt"/>
                <a:ea typeface="+mj-ea"/>
              </a:rPr>
              <a:t>온도범위가 좁은 배터리에 대해서 별도의 </a:t>
            </a:r>
            <a:r>
              <a:rPr lang="ko-KR" altLang="en-US" dirty="0" err="1">
                <a:solidFill>
                  <a:schemeClr val="bg1"/>
                </a:solidFill>
                <a:latin typeface="+mn-lt"/>
                <a:ea typeface="+mj-ea"/>
              </a:rPr>
              <a:t>열제어</a:t>
            </a:r>
            <a:r>
              <a:rPr lang="ko-KR" altLang="en-US" dirty="0">
                <a:solidFill>
                  <a:schemeClr val="bg1"/>
                </a:solidFill>
                <a:latin typeface="+mn-lt"/>
                <a:ea typeface="+mj-ea"/>
              </a:rPr>
              <a:t> 실시</a:t>
            </a:r>
            <a:endParaRPr lang="en-US" altLang="ko-KR" dirty="0">
              <a:solidFill>
                <a:schemeClr val="bg1"/>
              </a:solidFill>
            </a:endParaRPr>
          </a:p>
        </p:txBody>
      </p:sp>
      <p:cxnSp>
        <p:nvCxnSpPr>
          <p:cNvPr id="216" name="Google Shape;216;p44"/>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8792546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9.4 Preliminary Design Process</a:t>
            </a:r>
            <a:endParaRPr lang="en-US" sz="2800" dirty="0"/>
          </a:p>
        </p:txBody>
      </p:sp>
      <mc:AlternateContent xmlns:mc="http://schemas.openxmlformats.org/markup-compatibility/2006" xmlns:a14="http://schemas.microsoft.com/office/drawing/2010/main">
        <mc:Choice Requires="a14">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nvGraphicFramePr>
            <p:xfrm>
              <a:off x="519599" y="1315847"/>
              <a:ext cx="3960000" cy="3607308"/>
            </p:xfrm>
            <a:graphic>
              <a:graphicData uri="http://schemas.openxmlformats.org/drawingml/2006/table">
                <a:tbl>
                  <a:tblPr firstRow="1" bandRow="1">
                    <a:tableStyleId>{1C28B2AB-E718-4DF9-ADA3-83340B5D2C4E}</a:tableStyleId>
                  </a:tblPr>
                  <a:tblGrid>
                    <a:gridCol w="990000">
                      <a:extLst>
                        <a:ext uri="{9D8B030D-6E8A-4147-A177-3AD203B41FA5}">
                          <a16:colId xmlns:a16="http://schemas.microsoft.com/office/drawing/2014/main" val="1171601383"/>
                        </a:ext>
                      </a:extLst>
                    </a:gridCol>
                    <a:gridCol w="990000">
                      <a:extLst>
                        <a:ext uri="{9D8B030D-6E8A-4147-A177-3AD203B41FA5}">
                          <a16:colId xmlns:a16="http://schemas.microsoft.com/office/drawing/2014/main" val="4073308631"/>
                        </a:ext>
                      </a:extLst>
                    </a:gridCol>
                    <a:gridCol w="845767">
                      <a:extLst>
                        <a:ext uri="{9D8B030D-6E8A-4147-A177-3AD203B41FA5}">
                          <a16:colId xmlns:a16="http://schemas.microsoft.com/office/drawing/2014/main" val="2842854813"/>
                        </a:ext>
                      </a:extLst>
                    </a:gridCol>
                    <a:gridCol w="1134233">
                      <a:extLst>
                        <a:ext uri="{9D8B030D-6E8A-4147-A177-3AD203B41FA5}">
                          <a16:colId xmlns:a16="http://schemas.microsoft.com/office/drawing/2014/main" val="1025003951"/>
                        </a:ext>
                      </a:extLst>
                    </a:gridCol>
                  </a:tblGrid>
                  <a:tr h="400812">
                    <a:tc>
                      <a:txBody>
                        <a:bodyPr/>
                        <a:lstStyle/>
                        <a:p>
                          <a:pPr algn="ctr"/>
                          <a:br>
                            <a:rPr lang="en-US" sz="800" b="1" kern="100" dirty="0">
                              <a:solidFill>
                                <a:schemeClr val="bg1"/>
                              </a:solidFill>
                              <a:effectLst/>
                              <a:latin typeface="+mn-lt"/>
                              <a:ea typeface="맑은 고딕" panose="020B0503020000020004" pitchFamily="50" charset="-127"/>
                              <a:cs typeface="Times New Roman" panose="02020603050405020304" pitchFamily="18" charset="0"/>
                            </a:rPr>
                          </a:br>
                          <a:endParaRPr lang="ko-KR" sz="1000" kern="100" dirty="0">
                            <a:solidFill>
                              <a:schemeClr val="bg1"/>
                            </a:solidFill>
                            <a:effectLst/>
                            <a:latin typeface="+mn-lt"/>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Symbol</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Value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Comment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Surface Area of Satellite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71.34 </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SMS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참고</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46884123"/>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Cross Sectional Area</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𝑐</m:t>
                                    </m:r>
                                  </m:sub>
                                </m:sSub>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17.84 </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𝑐</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den>
                                </m:f>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145682900"/>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Max Power Dissipation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3690.4</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EPS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참고</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Min Power Dissipation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1845.2</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×0.5 </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12801104"/>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Altitude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h</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35786 </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𝑘𝑚</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GEO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고도</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89373389"/>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Radius of Earth</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𝑒𝑎𝑟𝑡h</m:t>
                                    </m:r>
                                  </m:sub>
                                </m:sSub>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6378 </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𝑘𝑚</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2475298"/>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Angular Radius of Earth</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𝜌</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0.152 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𝑟𝑎𝑑</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𝜌</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unc>
                                  <m:func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sin</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m:t>
                                        </m:r>
                                      </m:sup>
                                    </m:sSup>
                                  </m:fName>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𝑒𝑎𝑟𝑡h</m:t>
                                            </m:r>
                                          </m:sub>
                                        </m:sSub>
                                      </m:num>
                                      <m:den>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𝑒𝑎𝑟𝑡h</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h</m:t>
                                        </m:r>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e>
                                </m:func>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211685667"/>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View Factor</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𝐹</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0.006</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𝐹</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m:t>
                                    </m:r>
                                    <m:func>
                                      <m:func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cos</m:t>
                                        </m:r>
                                      </m:fName>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𝜌</m:t>
                                        </m:r>
                                      </m:e>
                                    </m:func>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den>
                                </m:f>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186485024"/>
                      </a:ext>
                    </a:extLst>
                  </a:tr>
                </a:tbl>
              </a:graphicData>
            </a:graphic>
          </p:graphicFrame>
        </mc:Choice>
        <mc:Fallback xmlns="">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extLst>
                  <p:ext uri="{D42A27DB-BD31-4B8C-83A1-F6EECF244321}">
                    <p14:modId xmlns:p14="http://schemas.microsoft.com/office/powerpoint/2010/main" val="640802898"/>
                  </p:ext>
                </p:extLst>
              </p:nvPr>
            </p:nvGraphicFramePr>
            <p:xfrm>
              <a:off x="519599" y="1315847"/>
              <a:ext cx="3960000" cy="3607308"/>
            </p:xfrm>
            <a:graphic>
              <a:graphicData uri="http://schemas.openxmlformats.org/drawingml/2006/table">
                <a:tbl>
                  <a:tblPr firstRow="1" bandRow="1">
                    <a:tableStyleId>{1C28B2AB-E718-4DF9-ADA3-83340B5D2C4E}</a:tableStyleId>
                  </a:tblPr>
                  <a:tblGrid>
                    <a:gridCol w="990000">
                      <a:extLst>
                        <a:ext uri="{9D8B030D-6E8A-4147-A177-3AD203B41FA5}">
                          <a16:colId xmlns:a16="http://schemas.microsoft.com/office/drawing/2014/main" val="1171601383"/>
                        </a:ext>
                      </a:extLst>
                    </a:gridCol>
                    <a:gridCol w="990000">
                      <a:extLst>
                        <a:ext uri="{9D8B030D-6E8A-4147-A177-3AD203B41FA5}">
                          <a16:colId xmlns:a16="http://schemas.microsoft.com/office/drawing/2014/main" val="4073308631"/>
                        </a:ext>
                      </a:extLst>
                    </a:gridCol>
                    <a:gridCol w="845767">
                      <a:extLst>
                        <a:ext uri="{9D8B030D-6E8A-4147-A177-3AD203B41FA5}">
                          <a16:colId xmlns:a16="http://schemas.microsoft.com/office/drawing/2014/main" val="2842854813"/>
                        </a:ext>
                      </a:extLst>
                    </a:gridCol>
                    <a:gridCol w="1134233">
                      <a:extLst>
                        <a:ext uri="{9D8B030D-6E8A-4147-A177-3AD203B41FA5}">
                          <a16:colId xmlns:a16="http://schemas.microsoft.com/office/drawing/2014/main" val="1025003951"/>
                        </a:ext>
                      </a:extLst>
                    </a:gridCol>
                  </a:tblGrid>
                  <a:tr h="400812">
                    <a:tc>
                      <a:txBody>
                        <a:bodyPr/>
                        <a:lstStyle/>
                        <a:p>
                          <a:pPr algn="ctr"/>
                          <a:br>
                            <a:rPr lang="en-US" sz="800" b="1" kern="100" dirty="0">
                              <a:solidFill>
                                <a:schemeClr val="bg1"/>
                              </a:solidFill>
                              <a:effectLst/>
                              <a:latin typeface="+mn-lt"/>
                              <a:ea typeface="맑은 고딕" panose="020B0503020000020004" pitchFamily="50" charset="-127"/>
                              <a:cs typeface="Times New Roman" panose="02020603050405020304" pitchFamily="18" charset="0"/>
                            </a:rPr>
                          </a:br>
                          <a:endParaRPr lang="ko-KR" sz="1000" kern="100" dirty="0">
                            <a:solidFill>
                              <a:schemeClr val="bg1"/>
                            </a:solidFill>
                            <a:effectLst/>
                            <a:latin typeface="+mn-lt"/>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Symbol</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Value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Comment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Surface Area of Satellite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100000" r="-201852" b="-701515"/>
                          </a:stretch>
                        </a:blipFill>
                      </a:tcPr>
                    </a:tc>
                    <a:tc>
                      <a:txBody>
                        <a:bodyPr/>
                        <a:lstStyle/>
                        <a:p>
                          <a:endParaRPr lang="ko-KR"/>
                        </a:p>
                      </a:txBody>
                      <a:tcPr marL="68580" marR="68580" marT="0" marB="0" anchor="ctr">
                        <a:blipFill>
                          <a:blip r:embed="rId3"/>
                          <a:stretch>
                            <a:fillRect l="-234532" t="-100000" r="-135252" b="-701515"/>
                          </a:stretch>
                        </a:blipFill>
                      </a:tcP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SMS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참고</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46884123"/>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Cross Sectional Area</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200000" r="-201852" b="-601515"/>
                          </a:stretch>
                        </a:blipFill>
                      </a:tcPr>
                    </a:tc>
                    <a:tc>
                      <a:txBody>
                        <a:bodyPr/>
                        <a:lstStyle/>
                        <a:p>
                          <a:endParaRPr lang="ko-KR"/>
                        </a:p>
                      </a:txBody>
                      <a:tcPr marL="68580" marR="68580" marT="0" marB="0" anchor="ctr">
                        <a:blipFill>
                          <a:blip r:embed="rId3"/>
                          <a:stretch>
                            <a:fillRect l="-234532" t="-200000" r="-135252" b="-601515"/>
                          </a:stretch>
                        </a:blipFill>
                      </a:tcPr>
                    </a:tc>
                    <a:tc>
                      <a:txBody>
                        <a:bodyPr/>
                        <a:lstStyle/>
                        <a:p>
                          <a:endParaRPr lang="ko-KR"/>
                        </a:p>
                      </a:txBody>
                      <a:tcPr marL="68580" marR="68580" marT="0" marB="0" anchor="ctr">
                        <a:blipFill>
                          <a:blip r:embed="rId3"/>
                          <a:stretch>
                            <a:fillRect l="-250000" t="-200000" r="-1075" b="-601515"/>
                          </a:stretch>
                        </a:blipFill>
                      </a:tcPr>
                    </a:tc>
                    <a:extLst>
                      <a:ext uri="{0D108BD9-81ED-4DB2-BD59-A6C34878D82A}">
                        <a16:rowId xmlns:a16="http://schemas.microsoft.com/office/drawing/2014/main" val="4145682900"/>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Max Power Dissipation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300000" r="-201852" b="-501515"/>
                          </a:stretch>
                        </a:blipFill>
                      </a:tcPr>
                    </a:tc>
                    <a:tc>
                      <a:txBody>
                        <a:bodyPr/>
                        <a:lstStyle/>
                        <a:p>
                          <a:endParaRPr lang="ko-KR"/>
                        </a:p>
                      </a:txBody>
                      <a:tcPr marL="68580" marR="68580" marT="0" marB="0" anchor="ctr">
                        <a:blipFill>
                          <a:blip r:embed="rId3"/>
                          <a:stretch>
                            <a:fillRect l="-234532" t="-300000" r="-135252" b="-501515"/>
                          </a:stretch>
                        </a:blipFill>
                      </a:tcP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EPS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참고</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Min Power Dissipation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406154" r="-201852" b="-409231"/>
                          </a:stretch>
                        </a:blipFill>
                      </a:tcPr>
                    </a:tc>
                    <a:tc>
                      <a:txBody>
                        <a:bodyPr/>
                        <a:lstStyle/>
                        <a:p>
                          <a:endParaRPr lang="ko-KR"/>
                        </a:p>
                      </a:txBody>
                      <a:tcPr marL="68580" marR="68580" marT="0" marB="0" anchor="ctr">
                        <a:blipFill>
                          <a:blip r:embed="rId3"/>
                          <a:stretch>
                            <a:fillRect l="-234532" t="-406154" r="-135252" b="-409231"/>
                          </a:stretch>
                        </a:blipFill>
                      </a:tcPr>
                    </a:tc>
                    <a:tc>
                      <a:txBody>
                        <a:bodyPr/>
                        <a:lstStyle/>
                        <a:p>
                          <a:endParaRPr lang="ko-KR"/>
                        </a:p>
                      </a:txBody>
                      <a:tcPr marL="68580" marR="68580" marT="0" marB="0" anchor="ctr">
                        <a:blipFill>
                          <a:blip r:embed="rId3"/>
                          <a:stretch>
                            <a:fillRect l="-250000" t="-406154" r="-1075" b="-409231"/>
                          </a:stretch>
                        </a:blipFill>
                      </a:tcPr>
                    </a:tc>
                    <a:extLst>
                      <a:ext uri="{0D108BD9-81ED-4DB2-BD59-A6C34878D82A}">
                        <a16:rowId xmlns:a16="http://schemas.microsoft.com/office/drawing/2014/main" val="3912801104"/>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Altitude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498485" r="-201852" b="-303030"/>
                          </a:stretch>
                        </a:blipFill>
                      </a:tcPr>
                    </a:tc>
                    <a:tc>
                      <a:txBody>
                        <a:bodyPr/>
                        <a:lstStyle/>
                        <a:p>
                          <a:endParaRPr lang="ko-KR"/>
                        </a:p>
                      </a:txBody>
                      <a:tcPr marL="68580" marR="68580" marT="0" marB="0" anchor="ctr">
                        <a:blipFill>
                          <a:blip r:embed="rId3"/>
                          <a:stretch>
                            <a:fillRect l="-234532" t="-498485" r="-135252" b="-303030"/>
                          </a:stretch>
                        </a:blipFill>
                      </a:tcP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GEO </a:t>
                          </a:r>
                          <a:r>
                            <a:rPr lang="ko-KR" altLang="en-US" sz="800" kern="100" dirty="0">
                              <a:solidFill>
                                <a:schemeClr val="bg1"/>
                              </a:solidFill>
                              <a:effectLst/>
                              <a:latin typeface="+mn-lt"/>
                              <a:ea typeface="맑은 고딕" panose="020B0503020000020004" pitchFamily="50" charset="-127"/>
                              <a:cs typeface="Times New Roman" panose="02020603050405020304" pitchFamily="18" charset="0"/>
                            </a:rPr>
                            <a:t>고도</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89373389"/>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Radius of Earth</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598485" r="-201852" b="-203030"/>
                          </a:stretch>
                        </a:blipFill>
                      </a:tcPr>
                    </a:tc>
                    <a:tc>
                      <a:txBody>
                        <a:bodyPr/>
                        <a:lstStyle/>
                        <a:p>
                          <a:endParaRPr lang="ko-KR"/>
                        </a:p>
                      </a:txBody>
                      <a:tcPr marL="68580" marR="68580" marT="0" marB="0" anchor="ctr">
                        <a:blipFill>
                          <a:blip r:embed="rId3"/>
                          <a:stretch>
                            <a:fillRect l="-234532" t="-598485" r="-135252" b="-203030"/>
                          </a:stretch>
                        </a:blipFill>
                      </a:tcP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2475298"/>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Angular Radius of Earth</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698485" r="-201852" b="-103030"/>
                          </a:stretch>
                        </a:blipFill>
                      </a:tcPr>
                    </a:tc>
                    <a:tc>
                      <a:txBody>
                        <a:bodyPr/>
                        <a:lstStyle/>
                        <a:p>
                          <a:endParaRPr lang="ko-KR"/>
                        </a:p>
                      </a:txBody>
                      <a:tcPr marL="68580" marR="68580" marT="0" marB="0" anchor="ctr">
                        <a:blipFill>
                          <a:blip r:embed="rId3"/>
                          <a:stretch>
                            <a:fillRect l="-234532" t="-698485" r="-135252" b="-103030"/>
                          </a:stretch>
                        </a:blipFill>
                      </a:tcPr>
                    </a:tc>
                    <a:tc>
                      <a:txBody>
                        <a:bodyPr/>
                        <a:lstStyle/>
                        <a:p>
                          <a:endParaRPr lang="ko-KR"/>
                        </a:p>
                      </a:txBody>
                      <a:tcPr marL="68580" marR="68580" marT="0" marB="0" anchor="ctr">
                        <a:blipFill>
                          <a:blip r:embed="rId3"/>
                          <a:stretch>
                            <a:fillRect l="-250000" t="-698485" r="-1075" b="-103030"/>
                          </a:stretch>
                        </a:blipFill>
                      </a:tcPr>
                    </a:tc>
                    <a:extLst>
                      <a:ext uri="{0D108BD9-81ED-4DB2-BD59-A6C34878D82A}">
                        <a16:rowId xmlns:a16="http://schemas.microsoft.com/office/drawing/2014/main" val="2211685667"/>
                      </a:ext>
                    </a:extLst>
                  </a:tr>
                  <a:tr h="400812">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View Factor</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101235" t="-798485" r="-201852" b="-3030"/>
                          </a:stretch>
                        </a:blipFill>
                      </a:tcPr>
                    </a:tc>
                    <a:tc>
                      <a:txBody>
                        <a:bodyPr/>
                        <a:lstStyle/>
                        <a:p>
                          <a:pPr algn="ctr" latinLnBrk="0">
                            <a:lnSpc>
                              <a:spcPct val="115000"/>
                            </a:lnSpc>
                            <a:spcAft>
                              <a:spcPts val="1000"/>
                            </a:spcAft>
                          </a:pPr>
                          <a:r>
                            <a:rPr lang="en-US" sz="800" kern="100" dirty="0">
                              <a:solidFill>
                                <a:schemeClr val="bg1"/>
                              </a:solidFill>
                              <a:effectLst/>
                              <a:latin typeface="+mn-lt"/>
                              <a:ea typeface="맑은 고딕" panose="020B0503020000020004" pitchFamily="50" charset="-127"/>
                              <a:cs typeface="Times New Roman" panose="02020603050405020304" pitchFamily="18" charset="0"/>
                            </a:rPr>
                            <a:t>0.006</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endParaRPr lang="ko-KR"/>
                        </a:p>
                      </a:txBody>
                      <a:tcPr marL="68580" marR="68580" marT="0" marB="0" anchor="ctr">
                        <a:blipFill>
                          <a:blip r:embed="rId3"/>
                          <a:stretch>
                            <a:fillRect l="-250000" t="-798485" r="-1075" b="-3030"/>
                          </a:stretch>
                        </a:blipFill>
                      </a:tcPr>
                    </a:tc>
                    <a:extLst>
                      <a:ext uri="{0D108BD9-81ED-4DB2-BD59-A6C34878D82A}">
                        <a16:rowId xmlns:a16="http://schemas.microsoft.com/office/drawing/2014/main" val="118648502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표 10">
                <a:extLst>
                  <a:ext uri="{FF2B5EF4-FFF2-40B4-BE49-F238E27FC236}">
                    <a16:creationId xmlns:a16="http://schemas.microsoft.com/office/drawing/2014/main" id="{06F5AD4D-6F60-4D93-A436-D1AE1785B3B1}"/>
                  </a:ext>
                </a:extLst>
              </p:cNvPr>
              <p:cNvGraphicFramePr>
                <a:graphicFrameLocks noGrp="1"/>
              </p:cNvGraphicFramePr>
              <p:nvPr/>
            </p:nvGraphicFramePr>
            <p:xfrm>
              <a:off x="4746199" y="1660742"/>
              <a:ext cx="3960000" cy="3266735"/>
            </p:xfrm>
            <a:graphic>
              <a:graphicData uri="http://schemas.openxmlformats.org/drawingml/2006/table">
                <a:tbl>
                  <a:tblPr firstRow="1" bandRow="1">
                    <a:tableStyleId>{1C28B2AB-E718-4DF9-ADA3-83340B5D2C4E}</a:tableStyleId>
                  </a:tblPr>
                  <a:tblGrid>
                    <a:gridCol w="990000">
                      <a:extLst>
                        <a:ext uri="{9D8B030D-6E8A-4147-A177-3AD203B41FA5}">
                          <a16:colId xmlns:a16="http://schemas.microsoft.com/office/drawing/2014/main" val="598389597"/>
                        </a:ext>
                      </a:extLst>
                    </a:gridCol>
                    <a:gridCol w="990000">
                      <a:extLst>
                        <a:ext uri="{9D8B030D-6E8A-4147-A177-3AD203B41FA5}">
                          <a16:colId xmlns:a16="http://schemas.microsoft.com/office/drawing/2014/main" val="3552858705"/>
                        </a:ext>
                      </a:extLst>
                    </a:gridCol>
                    <a:gridCol w="871499">
                      <a:extLst>
                        <a:ext uri="{9D8B030D-6E8A-4147-A177-3AD203B41FA5}">
                          <a16:colId xmlns:a16="http://schemas.microsoft.com/office/drawing/2014/main" val="979960194"/>
                        </a:ext>
                      </a:extLst>
                    </a:gridCol>
                    <a:gridCol w="1108501">
                      <a:extLst>
                        <a:ext uri="{9D8B030D-6E8A-4147-A177-3AD203B41FA5}">
                          <a16:colId xmlns:a16="http://schemas.microsoft.com/office/drawing/2014/main" val="223281850"/>
                        </a:ext>
                      </a:extLst>
                    </a:gridCol>
                  </a:tblGrid>
                  <a:tr h="410378">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Albedo Correction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𝑎</m:t>
                                    </m:r>
                                  </m:sub>
                                </m:sSub>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0.738</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𝑎</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=0.664+0.521</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𝜌</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−0.203</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𝜌</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179859059"/>
                      </a:ext>
                    </a:extLst>
                  </a:tr>
                  <a:tr h="407317">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Stefan-Boltzmann Constant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5.67×</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10</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−8</m:t>
                                    </m:r>
                                  </m:sup>
                                </m:s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46599567"/>
                      </a:ext>
                    </a:extLst>
                  </a:tr>
                  <a:tr h="407317">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Max Earth IR Emission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𝑞</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𝐼𝑚𝑎𝑥</m:t>
                                    </m:r>
                                  </m:sub>
                                </m:sSub>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258 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Worst Hot</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299759491"/>
                      </a:ext>
                    </a:extLst>
                  </a:tr>
                  <a:tr h="407317">
                    <a:tc>
                      <a:txBody>
                        <a:bodyPr/>
                        <a:lstStyle/>
                        <a:p>
                          <a:pPr algn="ctr" latinLnBrk="0">
                            <a:lnSpc>
                              <a:spcPct val="115000"/>
                            </a:lnSpc>
                            <a:spcAft>
                              <a:spcPts val="1000"/>
                            </a:spcAft>
                          </a:pPr>
                          <a:r>
                            <a:rPr lang="en-US" sz="800" b="1" kern="100">
                              <a:solidFill>
                                <a:schemeClr val="bg1"/>
                              </a:solidFill>
                              <a:effectLst/>
                              <a:latin typeface="+mn-lt"/>
                              <a:ea typeface="맑은 고딕" panose="020B0503020000020004" pitchFamily="50" charset="-127"/>
                              <a:cs typeface="Times New Roman" panose="02020603050405020304" pitchFamily="18" charset="0"/>
                            </a:rPr>
                            <a:t>Min Earth IR Emission</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𝑞</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𝐼𝑚𝑖𝑛</m:t>
                                    </m:r>
                                  </m:sub>
                                </m:sSub>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216 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Worst Cold</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625942631"/>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Solar Flux</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𝐺</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𝑠</m:t>
                                    </m:r>
                                  </m:sub>
                                </m:sSub>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1418 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altLang="ko-KR" sz="900" kern="100" dirty="0">
                              <a:solidFill>
                                <a:schemeClr val="bg1"/>
                              </a:solidFill>
                              <a:effectLst/>
                              <a:latin typeface="+mn-lt"/>
                              <a:ea typeface="맑은 고딕" panose="020B0503020000020004" pitchFamily="50" charset="-127"/>
                              <a:cs typeface="Times New Roman" panose="02020603050405020304" pitchFamily="18" charset="0"/>
                            </a:rPr>
                            <a:t>Use Maximum Value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988143371"/>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Albedo</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r>
                            <a:rPr lang="en-US" sz="900" kern="100">
                              <a:solidFill>
                                <a:schemeClr val="bg1"/>
                              </a:solidFill>
                              <a:effectLst/>
                              <a:latin typeface="+mn-lt"/>
                              <a:ea typeface="맑은 고딕" panose="020B0503020000020004" pitchFamily="50" charset="-127"/>
                              <a:cs typeface="Times New Roman" panose="02020603050405020304" pitchFamily="18" charset="0"/>
                            </a:rPr>
                            <a:t>a</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35%</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altLang="ko-KR" sz="900" kern="100" dirty="0">
                              <a:solidFill>
                                <a:schemeClr val="bg1"/>
                              </a:solidFill>
                              <a:effectLst/>
                              <a:latin typeface="+mn-lt"/>
                              <a:ea typeface="맑은 고딕" panose="020B0503020000020004" pitchFamily="50" charset="-127"/>
                              <a:cs typeface="Times New Roman" panose="02020603050405020304" pitchFamily="18" charset="0"/>
                            </a:rPr>
                            <a:t>Use Maximum Value</a:t>
                          </a:r>
                          <a:endParaRPr lang="ko-KR" alt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414172379"/>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Emissivity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0.035</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900" kern="100" dirty="0">
                              <a:solidFill>
                                <a:schemeClr val="bg1"/>
                              </a:solidFill>
                              <a:effectLst/>
                              <a:latin typeface="+mn-lt"/>
                              <a:ea typeface="맑은 고딕" panose="020B0503020000020004" pitchFamily="50" charset="-127"/>
                              <a:cs typeface="Times New Roman" panose="02020603050405020304" pitchFamily="18" charset="0"/>
                            </a:rPr>
                            <a:t>MLI Emissivity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59794793"/>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Absorptivity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𝛼</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0.14</m:t>
                                </m:r>
                              </m:oMath>
                            </m:oMathPara>
                          </a14:m>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900" kern="100" dirty="0">
                              <a:solidFill>
                                <a:schemeClr val="bg1"/>
                              </a:solidFill>
                              <a:effectLst/>
                              <a:latin typeface="+mn-lt"/>
                              <a:ea typeface="맑은 고딕" panose="020B0503020000020004" pitchFamily="50" charset="-127"/>
                              <a:cs typeface="Times New Roman" panose="02020603050405020304" pitchFamily="18" charset="0"/>
                            </a:rPr>
                            <a:t>MLI Absorptivity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856557219"/>
                      </a:ext>
                    </a:extLst>
                  </a:tr>
                </a:tbl>
              </a:graphicData>
            </a:graphic>
          </p:graphicFrame>
        </mc:Choice>
        <mc:Fallback xmlns="">
          <p:graphicFrame>
            <p:nvGraphicFramePr>
              <p:cNvPr id="9" name="표 10">
                <a:extLst>
                  <a:ext uri="{FF2B5EF4-FFF2-40B4-BE49-F238E27FC236}">
                    <a16:creationId xmlns:a16="http://schemas.microsoft.com/office/drawing/2014/main" id="{06F5AD4D-6F60-4D93-A436-D1AE1785B3B1}"/>
                  </a:ext>
                </a:extLst>
              </p:cNvPr>
              <p:cNvGraphicFramePr>
                <a:graphicFrameLocks noGrp="1"/>
              </p:cNvGraphicFramePr>
              <p:nvPr>
                <p:extLst>
                  <p:ext uri="{D42A27DB-BD31-4B8C-83A1-F6EECF244321}">
                    <p14:modId xmlns:p14="http://schemas.microsoft.com/office/powerpoint/2010/main" val="1326890242"/>
                  </p:ext>
                </p:extLst>
              </p:nvPr>
            </p:nvGraphicFramePr>
            <p:xfrm>
              <a:off x="4746199" y="1660742"/>
              <a:ext cx="3960000" cy="3266735"/>
            </p:xfrm>
            <a:graphic>
              <a:graphicData uri="http://schemas.openxmlformats.org/drawingml/2006/table">
                <a:tbl>
                  <a:tblPr firstRow="1" bandRow="1">
                    <a:tableStyleId>{1C28B2AB-E718-4DF9-ADA3-83340B5D2C4E}</a:tableStyleId>
                  </a:tblPr>
                  <a:tblGrid>
                    <a:gridCol w="990000">
                      <a:extLst>
                        <a:ext uri="{9D8B030D-6E8A-4147-A177-3AD203B41FA5}">
                          <a16:colId xmlns:a16="http://schemas.microsoft.com/office/drawing/2014/main" val="598389597"/>
                        </a:ext>
                      </a:extLst>
                    </a:gridCol>
                    <a:gridCol w="990000">
                      <a:extLst>
                        <a:ext uri="{9D8B030D-6E8A-4147-A177-3AD203B41FA5}">
                          <a16:colId xmlns:a16="http://schemas.microsoft.com/office/drawing/2014/main" val="3552858705"/>
                        </a:ext>
                      </a:extLst>
                    </a:gridCol>
                    <a:gridCol w="871499">
                      <a:extLst>
                        <a:ext uri="{9D8B030D-6E8A-4147-A177-3AD203B41FA5}">
                          <a16:colId xmlns:a16="http://schemas.microsoft.com/office/drawing/2014/main" val="979960194"/>
                        </a:ext>
                      </a:extLst>
                    </a:gridCol>
                    <a:gridCol w="1108501">
                      <a:extLst>
                        <a:ext uri="{9D8B030D-6E8A-4147-A177-3AD203B41FA5}">
                          <a16:colId xmlns:a16="http://schemas.microsoft.com/office/drawing/2014/main" val="223281850"/>
                        </a:ext>
                      </a:extLst>
                    </a:gridCol>
                  </a:tblGrid>
                  <a:tr h="414147">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Albedo Correction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1471" r="-200000" b="-691176"/>
                          </a:stretch>
                        </a:blipFill>
                      </a:tcPr>
                    </a:tc>
                    <a:tc>
                      <a:txBody>
                        <a:bodyPr/>
                        <a:lstStyle/>
                        <a:p>
                          <a:endParaRPr lang="ko-KR"/>
                        </a:p>
                      </a:txBody>
                      <a:tcPr marL="68580" marR="68580" marT="0" marB="0" anchor="ctr">
                        <a:blipFill>
                          <a:blip r:embed="rId4"/>
                          <a:stretch>
                            <a:fillRect l="-228671" t="-1471" r="-127972" b="-691176"/>
                          </a:stretch>
                        </a:blipFill>
                      </a:tcPr>
                    </a:tc>
                    <a:tc>
                      <a:txBody>
                        <a:bodyPr/>
                        <a:lstStyle/>
                        <a:p>
                          <a:endParaRPr lang="ko-KR"/>
                        </a:p>
                      </a:txBody>
                      <a:tcPr marL="68580" marR="68580" marT="0" marB="0" anchor="ctr">
                        <a:blipFill>
                          <a:blip r:embed="rId4"/>
                          <a:stretch>
                            <a:fillRect l="-258242" t="-1471" r="-549" b="-691176"/>
                          </a:stretch>
                        </a:blipFill>
                      </a:tcPr>
                    </a:tc>
                    <a:extLst>
                      <a:ext uri="{0D108BD9-81ED-4DB2-BD59-A6C34878D82A}">
                        <a16:rowId xmlns:a16="http://schemas.microsoft.com/office/drawing/2014/main" val="3179859059"/>
                      </a:ext>
                    </a:extLst>
                  </a:tr>
                  <a:tr h="408686">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Stefan-Boltzmann Constant</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102985" r="-200000" b="-601493"/>
                          </a:stretch>
                        </a:blipFill>
                      </a:tcPr>
                    </a:tc>
                    <a:tc>
                      <a:txBody>
                        <a:bodyPr/>
                        <a:lstStyle/>
                        <a:p>
                          <a:endParaRPr lang="ko-KR"/>
                        </a:p>
                      </a:txBody>
                      <a:tcPr marL="68580" marR="68580" marT="0" marB="0" anchor="ctr">
                        <a:blipFill>
                          <a:blip r:embed="rId4"/>
                          <a:stretch>
                            <a:fillRect l="-228671" t="-102985" r="-127972" b="-601493"/>
                          </a:stretch>
                        </a:blipFill>
                      </a:tcP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46599567"/>
                      </a:ext>
                    </a:extLst>
                  </a:tr>
                  <a:tr h="407317">
                    <a:tc>
                      <a:txBody>
                        <a:bodyPr/>
                        <a:lstStyle/>
                        <a:p>
                          <a:pPr algn="ctr" latinLnBrk="0">
                            <a:lnSpc>
                              <a:spcPct val="115000"/>
                            </a:lnSpc>
                            <a:spcAft>
                              <a:spcPts val="1000"/>
                            </a:spcAft>
                          </a:pPr>
                          <a:r>
                            <a:rPr lang="en-US" sz="800" b="1" kern="100" dirty="0">
                              <a:solidFill>
                                <a:schemeClr val="bg1"/>
                              </a:solidFill>
                              <a:effectLst/>
                              <a:latin typeface="+mn-lt"/>
                              <a:ea typeface="맑은 고딕" panose="020B0503020000020004" pitchFamily="50" charset="-127"/>
                              <a:cs typeface="Times New Roman" panose="02020603050405020304" pitchFamily="18" charset="0"/>
                            </a:rPr>
                            <a:t>Max Earth IR Emission</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202985" r="-200000" b="-501493"/>
                          </a:stretch>
                        </a:blipFill>
                      </a:tcPr>
                    </a:tc>
                    <a:tc>
                      <a:txBody>
                        <a:bodyPr/>
                        <a:lstStyle/>
                        <a:p>
                          <a:endParaRPr lang="ko-KR"/>
                        </a:p>
                      </a:txBody>
                      <a:tcPr marL="68580" marR="68580" marT="0" marB="0" anchor="ctr">
                        <a:blipFill>
                          <a:blip r:embed="rId4"/>
                          <a:stretch>
                            <a:fillRect l="-228671" t="-202985" r="-127972" b="-501493"/>
                          </a:stretch>
                        </a:blipFill>
                      </a:tcP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Worst Hot</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299759491"/>
                      </a:ext>
                    </a:extLst>
                  </a:tr>
                  <a:tr h="407317">
                    <a:tc>
                      <a:txBody>
                        <a:bodyPr/>
                        <a:lstStyle/>
                        <a:p>
                          <a:pPr algn="ctr" latinLnBrk="0">
                            <a:lnSpc>
                              <a:spcPct val="115000"/>
                            </a:lnSpc>
                            <a:spcAft>
                              <a:spcPts val="1000"/>
                            </a:spcAft>
                          </a:pPr>
                          <a:r>
                            <a:rPr lang="en-US" sz="800" b="1" kern="100">
                              <a:solidFill>
                                <a:schemeClr val="bg1"/>
                              </a:solidFill>
                              <a:effectLst/>
                              <a:latin typeface="+mn-lt"/>
                              <a:ea typeface="맑은 고딕" panose="020B0503020000020004" pitchFamily="50" charset="-127"/>
                              <a:cs typeface="Times New Roman" panose="02020603050405020304" pitchFamily="18" charset="0"/>
                            </a:rPr>
                            <a:t>Min Earth IR Emission</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302985" r="-200000" b="-401493"/>
                          </a:stretch>
                        </a:blipFill>
                      </a:tcPr>
                    </a:tc>
                    <a:tc>
                      <a:txBody>
                        <a:bodyPr/>
                        <a:lstStyle/>
                        <a:p>
                          <a:endParaRPr lang="ko-KR"/>
                        </a:p>
                      </a:txBody>
                      <a:tcPr marL="68580" marR="68580" marT="0" marB="0" anchor="ctr">
                        <a:blipFill>
                          <a:blip r:embed="rId4"/>
                          <a:stretch>
                            <a:fillRect l="-228671" t="-302985" r="-127972" b="-401493"/>
                          </a:stretch>
                        </a:blipFill>
                      </a:tcPr>
                    </a:tc>
                    <a:tc>
                      <a:txBody>
                        <a:bodyPr/>
                        <a:lstStyle/>
                        <a:p>
                          <a:pPr algn="ctr" latinLnBrk="0">
                            <a:lnSpc>
                              <a:spcPct val="115000"/>
                            </a:lnSpc>
                            <a:spcAft>
                              <a:spcPts val="1000"/>
                            </a:spcAft>
                          </a:pPr>
                          <a:r>
                            <a:rPr lang="en-US" sz="800" kern="100">
                              <a:solidFill>
                                <a:schemeClr val="bg1"/>
                              </a:solidFill>
                              <a:effectLst/>
                              <a:latin typeface="+mn-lt"/>
                              <a:ea typeface="맑은 고딕" panose="020B0503020000020004" pitchFamily="50" charset="-127"/>
                              <a:cs typeface="Times New Roman" panose="02020603050405020304" pitchFamily="18" charset="0"/>
                            </a:rPr>
                            <a:t>Worst Cold</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625942631"/>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Solar Flux</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402985" r="-200000" b="-301493"/>
                          </a:stretch>
                        </a:blipFill>
                      </a:tcPr>
                    </a:tc>
                    <a:tc>
                      <a:txBody>
                        <a:bodyPr/>
                        <a:lstStyle/>
                        <a:p>
                          <a:endParaRPr lang="ko-KR"/>
                        </a:p>
                      </a:txBody>
                      <a:tcPr marL="68580" marR="68580" marT="0" marB="0" anchor="ctr">
                        <a:blipFill>
                          <a:blip r:embed="rId4"/>
                          <a:stretch>
                            <a:fillRect l="-228671" t="-402985" r="-127972" b="-301493"/>
                          </a:stretch>
                        </a:blipFill>
                      </a:tcPr>
                    </a:tc>
                    <a:tc>
                      <a:txBody>
                        <a:bodyPr/>
                        <a:lstStyle/>
                        <a:p>
                          <a:pPr algn="ctr" latinLnBrk="0">
                            <a:lnSpc>
                              <a:spcPct val="115000"/>
                            </a:lnSpc>
                            <a:spcAft>
                              <a:spcPts val="1000"/>
                            </a:spcAft>
                          </a:pPr>
                          <a:r>
                            <a:rPr lang="en-US" altLang="ko-KR" sz="900" kern="100" dirty="0">
                              <a:solidFill>
                                <a:schemeClr val="bg1"/>
                              </a:solidFill>
                              <a:effectLst/>
                              <a:latin typeface="+mn-lt"/>
                              <a:ea typeface="맑은 고딕" panose="020B0503020000020004" pitchFamily="50" charset="-127"/>
                              <a:cs typeface="Times New Roman" panose="02020603050405020304" pitchFamily="18" charset="0"/>
                            </a:rPr>
                            <a:t>Use </a:t>
                          </a:r>
                          <a:r>
                            <a:rPr lang="en-US" altLang="ko-KR" sz="900" kern="100">
                              <a:solidFill>
                                <a:schemeClr val="bg1"/>
                              </a:solidFill>
                              <a:effectLst/>
                              <a:latin typeface="+mn-lt"/>
                              <a:ea typeface="맑은 고딕" panose="020B0503020000020004" pitchFamily="50" charset="-127"/>
                              <a:cs typeface="Times New Roman" panose="02020603050405020304" pitchFamily="18" charset="0"/>
                            </a:rPr>
                            <a:t>Maximum </a:t>
                          </a:r>
                          <a:r>
                            <a:rPr lang="en-US" altLang="ko-KR" sz="900" kern="100" dirty="0">
                              <a:solidFill>
                                <a:schemeClr val="bg1"/>
                              </a:solidFill>
                              <a:effectLst/>
                              <a:latin typeface="+mn-lt"/>
                              <a:ea typeface="맑은 고딕" panose="020B0503020000020004" pitchFamily="50" charset="-127"/>
                              <a:cs typeface="Times New Roman" panose="02020603050405020304" pitchFamily="18" charset="0"/>
                            </a:rPr>
                            <a:t>V</a:t>
                          </a:r>
                          <a:r>
                            <a:rPr lang="en-US" altLang="ko-KR" sz="900" kern="100">
                              <a:solidFill>
                                <a:schemeClr val="bg1"/>
                              </a:solidFill>
                              <a:effectLst/>
                              <a:latin typeface="+mn-lt"/>
                              <a:ea typeface="맑은 고딕" panose="020B0503020000020004" pitchFamily="50" charset="-127"/>
                              <a:cs typeface="Times New Roman" panose="02020603050405020304" pitchFamily="18" charset="0"/>
                            </a:rPr>
                            <a:t>alue</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988143371"/>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Albedo</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pPr algn="ctr" latinLnBrk="0">
                            <a:lnSpc>
                              <a:spcPct val="115000"/>
                            </a:lnSpc>
                            <a:spcAft>
                              <a:spcPts val="1000"/>
                            </a:spcAft>
                          </a:pPr>
                          <a:r>
                            <a:rPr lang="en-US" sz="900" kern="100">
                              <a:solidFill>
                                <a:schemeClr val="bg1"/>
                              </a:solidFill>
                              <a:effectLst/>
                              <a:latin typeface="+mn-lt"/>
                              <a:ea typeface="맑은 고딕" panose="020B0503020000020004" pitchFamily="50" charset="-127"/>
                              <a:cs typeface="Times New Roman" panose="02020603050405020304" pitchFamily="18" charset="0"/>
                            </a:rPr>
                            <a:t>a</a:t>
                          </a:r>
                          <a:endParaRPr lang="ko-KR" sz="1000" kern="10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tc>
                      <a:txBody>
                        <a:bodyPr/>
                        <a:lstStyle/>
                        <a:p>
                          <a:endParaRPr lang="ko-KR"/>
                        </a:p>
                      </a:txBody>
                      <a:tcPr marL="68580" marR="68580" marT="0" marB="0" anchor="ctr">
                        <a:blipFill>
                          <a:blip r:embed="rId4"/>
                          <a:stretch>
                            <a:fillRect l="-228671" t="-502985" r="-127972" b="-201493"/>
                          </a:stretch>
                        </a:blipFill>
                      </a:tcPr>
                    </a:tc>
                    <a:tc>
                      <a:txBody>
                        <a:bodyPr/>
                        <a:lstStyle/>
                        <a:p>
                          <a:pPr algn="ctr" latinLnBrk="0">
                            <a:lnSpc>
                              <a:spcPct val="115000"/>
                            </a:lnSpc>
                            <a:spcAft>
                              <a:spcPts val="1000"/>
                            </a:spcAft>
                          </a:pPr>
                          <a:r>
                            <a:rPr lang="en-US" altLang="ko-KR" sz="900" kern="100" dirty="0">
                              <a:solidFill>
                                <a:schemeClr val="bg1"/>
                              </a:solidFill>
                              <a:effectLst/>
                              <a:latin typeface="+mn-lt"/>
                              <a:ea typeface="맑은 고딕" panose="020B0503020000020004" pitchFamily="50" charset="-127"/>
                              <a:cs typeface="Times New Roman" panose="02020603050405020304" pitchFamily="18" charset="0"/>
                            </a:rPr>
                            <a:t>Use Maximum Value</a:t>
                          </a:r>
                          <a:endParaRPr lang="ko-KR" alt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414172379"/>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Emissivity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602985" r="-200000" b="-101493"/>
                          </a:stretch>
                        </a:blipFill>
                      </a:tcPr>
                    </a:tc>
                    <a:tc>
                      <a:txBody>
                        <a:bodyPr/>
                        <a:lstStyle/>
                        <a:p>
                          <a:endParaRPr lang="ko-KR"/>
                        </a:p>
                      </a:txBody>
                      <a:tcPr marL="68580" marR="68580" marT="0" marB="0" anchor="ctr">
                        <a:blipFill>
                          <a:blip r:embed="rId4"/>
                          <a:stretch>
                            <a:fillRect l="-228671" t="-602985" r="-127972" b="-101493"/>
                          </a:stretch>
                        </a:blipFill>
                      </a:tcPr>
                    </a:tc>
                    <a:tc>
                      <a:txBody>
                        <a:bodyPr/>
                        <a:lstStyle/>
                        <a:p>
                          <a:pPr algn="ctr" latinLnBrk="0">
                            <a:lnSpc>
                              <a:spcPct val="115000"/>
                            </a:lnSpc>
                            <a:spcAft>
                              <a:spcPts val="1000"/>
                            </a:spcAft>
                          </a:pPr>
                          <a:r>
                            <a:rPr lang="en-US" sz="900" kern="100" dirty="0">
                              <a:solidFill>
                                <a:schemeClr val="bg1"/>
                              </a:solidFill>
                              <a:effectLst/>
                              <a:latin typeface="+mn-lt"/>
                              <a:ea typeface="맑은 고딕" panose="020B0503020000020004" pitchFamily="50" charset="-127"/>
                              <a:cs typeface="Times New Roman" panose="02020603050405020304" pitchFamily="18" charset="0"/>
                            </a:rPr>
                            <a:t>MLI Emissivity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059794793"/>
                      </a:ext>
                    </a:extLst>
                  </a:tr>
                  <a:tr h="407317">
                    <a:tc>
                      <a:txBody>
                        <a:bodyPr/>
                        <a:lstStyle/>
                        <a:p>
                          <a:pPr algn="ctr" latinLnBrk="0">
                            <a:lnSpc>
                              <a:spcPct val="115000"/>
                            </a:lnSpc>
                            <a:spcAft>
                              <a:spcPts val="1000"/>
                            </a:spcAft>
                          </a:pPr>
                          <a:r>
                            <a:rPr lang="en-US" sz="900" b="1" kern="100" dirty="0">
                              <a:solidFill>
                                <a:schemeClr val="bg1"/>
                              </a:solidFill>
                              <a:effectLst/>
                              <a:latin typeface="+mn-lt"/>
                              <a:ea typeface="맑은 고딕" panose="020B0503020000020004" pitchFamily="50" charset="-127"/>
                              <a:cs typeface="Times New Roman" panose="02020603050405020304" pitchFamily="18" charset="0"/>
                            </a:rPr>
                            <a:t>Absorptivity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solidFill>
                          <a:schemeClr val="tx2"/>
                        </a:solidFill>
                      </a:tcPr>
                    </a:tc>
                    <a:tc>
                      <a:txBody>
                        <a:bodyPr/>
                        <a:lstStyle/>
                        <a:p>
                          <a:endParaRPr lang="ko-KR"/>
                        </a:p>
                      </a:txBody>
                      <a:tcPr marL="68580" marR="68580" marT="0" marB="0" anchor="ctr">
                        <a:blipFill>
                          <a:blip r:embed="rId4"/>
                          <a:stretch>
                            <a:fillRect l="-100613" t="-702985" r="-200000" b="-1493"/>
                          </a:stretch>
                        </a:blipFill>
                      </a:tcPr>
                    </a:tc>
                    <a:tc>
                      <a:txBody>
                        <a:bodyPr/>
                        <a:lstStyle/>
                        <a:p>
                          <a:endParaRPr lang="ko-KR"/>
                        </a:p>
                      </a:txBody>
                      <a:tcPr marL="68580" marR="68580" marT="0" marB="0" anchor="ctr">
                        <a:blipFill>
                          <a:blip r:embed="rId4"/>
                          <a:stretch>
                            <a:fillRect l="-228671" t="-702985" r="-127972" b="-1493"/>
                          </a:stretch>
                        </a:blipFill>
                      </a:tcPr>
                    </a:tc>
                    <a:tc>
                      <a:txBody>
                        <a:bodyPr/>
                        <a:lstStyle/>
                        <a:p>
                          <a:pPr algn="ctr" latinLnBrk="0">
                            <a:lnSpc>
                              <a:spcPct val="115000"/>
                            </a:lnSpc>
                            <a:spcAft>
                              <a:spcPts val="1000"/>
                            </a:spcAft>
                          </a:pPr>
                          <a:r>
                            <a:rPr lang="en-US" sz="900" kern="100" dirty="0">
                              <a:solidFill>
                                <a:schemeClr val="bg1"/>
                              </a:solidFill>
                              <a:effectLst/>
                              <a:latin typeface="+mn-lt"/>
                              <a:ea typeface="맑은 고딕" panose="020B0503020000020004" pitchFamily="50" charset="-127"/>
                              <a:cs typeface="Times New Roman" panose="02020603050405020304" pitchFamily="18" charset="0"/>
                            </a:rPr>
                            <a:t>MLI Absorptivity</a:t>
                          </a:r>
                          <a:endParaRPr lang="ko-KR" sz="1000" kern="100" dirty="0">
                            <a:solidFill>
                              <a:schemeClr val="bg1"/>
                            </a:solidFill>
                            <a:effectLst/>
                            <a:latin typeface="+mn-lt"/>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856557219"/>
                      </a:ext>
                    </a:extLst>
                  </a:tr>
                </a:tbl>
              </a:graphicData>
            </a:graphic>
          </p:graphicFrame>
        </mc:Fallback>
      </mc:AlternateContent>
    </p:spTree>
    <p:extLst>
      <p:ext uri="{BB962C8B-B14F-4D97-AF65-F5344CB8AC3E}">
        <p14:creationId xmlns:p14="http://schemas.microsoft.com/office/powerpoint/2010/main" val="266449857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9.4 Preliminary Design Process</a:t>
            </a:r>
            <a:endParaRPr lang="en-US" sz="2800" dirty="0"/>
          </a:p>
        </p:txBody>
      </p:sp>
      <mc:AlternateContent xmlns:mc="http://schemas.openxmlformats.org/markup-compatibility/2006" xmlns:a14="http://schemas.microsoft.com/office/drawing/2010/main">
        <mc:Choice Requires="a14">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nvGraphicFramePr>
            <p:xfrm>
              <a:off x="430657" y="1446928"/>
              <a:ext cx="8370530" cy="3300302"/>
            </p:xfrm>
            <a:graphic>
              <a:graphicData uri="http://schemas.openxmlformats.org/drawingml/2006/table">
                <a:tbl>
                  <a:tblPr firstRow="1" bandRow="1">
                    <a:tableStyleId>{1C28B2AB-E718-4DF9-ADA3-83340B5D2C4E}</a:tableStyleId>
                  </a:tblPr>
                  <a:tblGrid>
                    <a:gridCol w="2310755">
                      <a:extLst>
                        <a:ext uri="{9D8B030D-6E8A-4147-A177-3AD203B41FA5}">
                          <a16:colId xmlns:a16="http://schemas.microsoft.com/office/drawing/2014/main" val="1171601383"/>
                        </a:ext>
                      </a:extLst>
                    </a:gridCol>
                    <a:gridCol w="1102042">
                      <a:extLst>
                        <a:ext uri="{9D8B030D-6E8A-4147-A177-3AD203B41FA5}">
                          <a16:colId xmlns:a16="http://schemas.microsoft.com/office/drawing/2014/main" val="4073308631"/>
                        </a:ext>
                      </a:extLst>
                    </a:gridCol>
                    <a:gridCol w="1174595">
                      <a:extLst>
                        <a:ext uri="{9D8B030D-6E8A-4147-A177-3AD203B41FA5}">
                          <a16:colId xmlns:a16="http://schemas.microsoft.com/office/drawing/2014/main" val="2842854813"/>
                        </a:ext>
                      </a:extLst>
                    </a:gridCol>
                    <a:gridCol w="3783138">
                      <a:extLst>
                        <a:ext uri="{9D8B030D-6E8A-4147-A177-3AD203B41FA5}">
                          <a16:colId xmlns:a16="http://schemas.microsoft.com/office/drawing/2014/main" val="1025003951"/>
                        </a:ext>
                      </a:extLst>
                    </a:gridCol>
                  </a:tblGrid>
                  <a:tr h="181577">
                    <a:tc>
                      <a:txBody>
                        <a:bodyPr/>
                        <a:lstStyle/>
                        <a:p>
                          <a:pPr algn="just"/>
                          <a:endParaRPr lang="ko-KR" sz="9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Symbol</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Value</a:t>
                          </a:r>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Comment</a:t>
                          </a:r>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39039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Worst Case Hot Temperature</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𝑚𝑎𝑥</m:t>
                                    </m:r>
                                  </m:sub>
                                </m:sSub>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202.7 ℃</m:t>
                                </m:r>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𝑚𝑎𝑥</m:t>
                                    </m:r>
                                  </m:sub>
                                </m:sSub>
                                <m: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𝑐</m:t>
                                            </m:r>
                                          </m:sub>
                                        </m:sSub>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𝐺</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𝑠</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𝛼</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𝐴𝐹</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𝑞</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𝑙𝑚𝑎𝑥</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𝐴𝐹</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𝐺</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𝑠</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𝑎</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𝛼</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𝑎</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𝜎𝜀</m:t>
                                        </m:r>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e>
                                  <m:sup>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m:t>
                                        </m:r>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den>
                                    </m:f>
                                  </m:sup>
                                </m:sSup>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46884123"/>
                      </a:ext>
                    </a:extLst>
                  </a:tr>
                  <a:tr h="39039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Worst Case Cold Temperature</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𝑚𝑖𝑛</m:t>
                                    </m:r>
                                  </m:sub>
                                </m:sSub>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64.9</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𝑚𝑖𝑛</m:t>
                                    </m:r>
                                  </m:sub>
                                </m:sSub>
                                <m: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𝐴𝐹</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𝑞</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𝑙𝑚𝑖𝑛</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𝜎𝜀</m:t>
                                        </m:r>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e>
                                  <m:sup>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m:t>
                                        </m:r>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den>
                                    </m:f>
                                  </m:sup>
                                </m:sSup>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145682900"/>
                      </a:ext>
                    </a:extLst>
                  </a:tr>
                  <a:tr h="26720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Upper Temperature Limit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𝑢</m:t>
                                    </m:r>
                                  </m:sub>
                                </m:sSub>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35 ℃=308.15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40</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a:t>
                          </a: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26720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Lower Temperature Limit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m:t>
                                    </m:r>
                                  </m:sub>
                                </m:sSub>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5 ℃=278.15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 </a:t>
                          </a: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12801104"/>
                      </a:ext>
                    </a:extLst>
                  </a:tr>
                  <a:tr h="533385">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Area at Worst Case Hot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7.6</m:t>
                                </m:r>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𝑢</m:t>
                                        </m:r>
                                      </m:sub>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𝜃</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=90°, </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𝐺</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𝑠</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𝛼</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𝑐𝑜𝑠</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𝜃</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num>
                                  <m:den>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𝑢</m:t>
                                    </m:r>
                                  </m:sub>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m:t>
                                </m:r>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89373389"/>
                      </a:ext>
                    </a:extLst>
                  </a:tr>
                  <a:tr h="584645">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Temperature at Worst Case Cold</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−14 ℃=259.15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den>
                              </m:f>
                              <m:sSup>
                                <m:s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e>
                                <m:sup>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m:t>
                                      </m:r>
                                    </m:num>
                                    <m:den>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den>
                                  </m:f>
                                </m:sup>
                              </m:sSup>
                            </m:oMath>
                          </a14:m>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15000"/>
                            </a:lnSpc>
                            <a:spcAft>
                              <a:spcPts val="1000"/>
                            </a:spcAft>
                          </a:pPr>
                          <a14:m>
                            <m:oMath xmlns:m="http://schemas.openxmlformats.org/officeDocument/2006/math">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num>
                                <m:den>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m:t>
                              </m:r>
                            </m:oMath>
                          </a14:m>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2475298"/>
                      </a:ext>
                    </a:extLst>
                  </a:tr>
                  <a:tr h="685483">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Total Heater Power at </a:t>
                          </a:r>
                          <a14:m>
                            <m:oMath xmlns:m="http://schemas.openxmlformats.org/officeDocument/2006/math">
                              <m:sSub>
                                <m:sSubPr>
                                  <m:ctrlPr>
                                    <a:rPr lang="ko-KR" sz="800"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𝑻</m:t>
                                  </m:r>
                                </m:e>
                                <m:sub>
                                  <m:r>
                                    <a:rPr lang="en-US" sz="8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𝒍</m:t>
                                  </m:r>
                                </m:sub>
                              </m:sSub>
                            </m:oMath>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𝑛</m:t>
                                    </m:r>
                                  </m:sub>
                                </m:sSub>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604.5 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𝑛</m:t>
                                    </m:r>
                                  </m:sub>
                                </m:sSub>
                                <m: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m:t>
                                        </m:r>
                                      </m:sub>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𝑤𝑚𝑖𝑛</m:t>
                                    </m:r>
                                  </m:sub>
                                </m:sSub>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𝐺</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𝑠</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𝛼</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𝑐𝑜𝑠</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𝜃</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𝑛</m:t>
                                        </m:r>
                                      </m:sub>
                                    </m:s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num>
                                  <m:den>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den>
                                </m:f>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8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m:t>
                                    </m:r>
                                  </m:sub>
                                  <m: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m:t>
                                </m:r>
                                <m:r>
                                  <a:rPr lang="en-US" sz="8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oMath>
                            </m:oMathPara>
                          </a14:m>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211685667"/>
                      </a:ext>
                    </a:extLst>
                  </a:tr>
                </a:tbl>
              </a:graphicData>
            </a:graphic>
          </p:graphicFrame>
        </mc:Choice>
        <mc:Fallback xmlns="">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extLst>
                  <p:ext uri="{D42A27DB-BD31-4B8C-83A1-F6EECF244321}">
                    <p14:modId xmlns:p14="http://schemas.microsoft.com/office/powerpoint/2010/main" val="3431566427"/>
                  </p:ext>
                </p:extLst>
              </p:nvPr>
            </p:nvGraphicFramePr>
            <p:xfrm>
              <a:off x="430657" y="1446928"/>
              <a:ext cx="8370530" cy="3300302"/>
            </p:xfrm>
            <a:graphic>
              <a:graphicData uri="http://schemas.openxmlformats.org/drawingml/2006/table">
                <a:tbl>
                  <a:tblPr firstRow="1" bandRow="1">
                    <a:tableStyleId>{1C28B2AB-E718-4DF9-ADA3-83340B5D2C4E}</a:tableStyleId>
                  </a:tblPr>
                  <a:tblGrid>
                    <a:gridCol w="2310755">
                      <a:extLst>
                        <a:ext uri="{9D8B030D-6E8A-4147-A177-3AD203B41FA5}">
                          <a16:colId xmlns:a16="http://schemas.microsoft.com/office/drawing/2014/main" val="1171601383"/>
                        </a:ext>
                      </a:extLst>
                    </a:gridCol>
                    <a:gridCol w="1102042">
                      <a:extLst>
                        <a:ext uri="{9D8B030D-6E8A-4147-A177-3AD203B41FA5}">
                          <a16:colId xmlns:a16="http://schemas.microsoft.com/office/drawing/2014/main" val="4073308631"/>
                        </a:ext>
                      </a:extLst>
                    </a:gridCol>
                    <a:gridCol w="1174595">
                      <a:extLst>
                        <a:ext uri="{9D8B030D-6E8A-4147-A177-3AD203B41FA5}">
                          <a16:colId xmlns:a16="http://schemas.microsoft.com/office/drawing/2014/main" val="2842854813"/>
                        </a:ext>
                      </a:extLst>
                    </a:gridCol>
                    <a:gridCol w="3783138">
                      <a:extLst>
                        <a:ext uri="{9D8B030D-6E8A-4147-A177-3AD203B41FA5}">
                          <a16:colId xmlns:a16="http://schemas.microsoft.com/office/drawing/2014/main" val="1025003951"/>
                        </a:ext>
                      </a:extLst>
                    </a:gridCol>
                  </a:tblGrid>
                  <a:tr h="181577">
                    <a:tc>
                      <a:txBody>
                        <a:bodyPr/>
                        <a:lstStyle/>
                        <a:p>
                          <a:pPr algn="just"/>
                          <a:endParaRPr lang="ko-KR" sz="900" kern="100" dirty="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Symbol</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Value</a:t>
                          </a:r>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Comment</a:t>
                          </a:r>
                          <a:endPar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39039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Worst Case Hot Temperature</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48438" r="-450829" b="-703125"/>
                          </a:stretch>
                        </a:blipFill>
                      </a:tcPr>
                    </a:tc>
                    <a:tc>
                      <a:txBody>
                        <a:bodyPr/>
                        <a:lstStyle/>
                        <a:p>
                          <a:endParaRPr lang="ko-KR"/>
                        </a:p>
                      </a:txBody>
                      <a:tcPr marL="68580" marR="68580" marT="0" marB="0" anchor="ctr">
                        <a:blipFill>
                          <a:blip r:embed="rId3"/>
                          <a:stretch>
                            <a:fillRect l="-290674" t="-48438" r="-322798" b="-703125"/>
                          </a:stretch>
                        </a:blipFill>
                      </a:tcPr>
                    </a:tc>
                    <a:tc>
                      <a:txBody>
                        <a:bodyPr/>
                        <a:lstStyle/>
                        <a:p>
                          <a:endParaRPr lang="ko-KR"/>
                        </a:p>
                      </a:txBody>
                      <a:tcPr marL="68580" marR="68580" marT="0" marB="0" anchor="ctr">
                        <a:blipFill>
                          <a:blip r:embed="rId3"/>
                          <a:stretch>
                            <a:fillRect l="-121417" t="-48438" r="-322" b="-703125"/>
                          </a:stretch>
                        </a:blipFill>
                      </a:tcPr>
                    </a:tc>
                    <a:extLst>
                      <a:ext uri="{0D108BD9-81ED-4DB2-BD59-A6C34878D82A}">
                        <a16:rowId xmlns:a16="http://schemas.microsoft.com/office/drawing/2014/main" val="3546884123"/>
                      </a:ext>
                    </a:extLst>
                  </a:tr>
                  <a:tr h="39039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Worst Case Cold Temperature</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148438" r="-450829" b="-603125"/>
                          </a:stretch>
                        </a:blipFill>
                      </a:tcPr>
                    </a:tc>
                    <a:tc>
                      <a:txBody>
                        <a:bodyPr/>
                        <a:lstStyle/>
                        <a:p>
                          <a:endParaRPr lang="ko-KR"/>
                        </a:p>
                      </a:txBody>
                      <a:tcPr marL="68580" marR="68580" marT="0" marB="0" anchor="ctr">
                        <a:blipFill>
                          <a:blip r:embed="rId3"/>
                          <a:stretch>
                            <a:fillRect l="-290674" t="-148438" r="-322798" b="-603125"/>
                          </a:stretch>
                        </a:blipFill>
                      </a:tcPr>
                    </a:tc>
                    <a:tc>
                      <a:txBody>
                        <a:bodyPr/>
                        <a:lstStyle/>
                        <a:p>
                          <a:endParaRPr lang="ko-KR"/>
                        </a:p>
                      </a:txBody>
                      <a:tcPr marL="68580" marR="68580" marT="0" marB="0" anchor="ctr">
                        <a:blipFill>
                          <a:blip r:embed="rId3"/>
                          <a:stretch>
                            <a:fillRect l="-121417" t="-148438" r="-322" b="-603125"/>
                          </a:stretch>
                        </a:blipFill>
                      </a:tcPr>
                    </a:tc>
                    <a:extLst>
                      <a:ext uri="{0D108BD9-81ED-4DB2-BD59-A6C34878D82A}">
                        <a16:rowId xmlns:a16="http://schemas.microsoft.com/office/drawing/2014/main" val="4145682900"/>
                      </a:ext>
                    </a:extLst>
                  </a:tr>
                  <a:tr h="26720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Upper Temperature Limit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361364" r="-450829" b="-777273"/>
                          </a:stretch>
                        </a:blipFill>
                      </a:tcPr>
                    </a:tc>
                    <a:tc>
                      <a:txBody>
                        <a:bodyPr/>
                        <a:lstStyle/>
                        <a:p>
                          <a:endParaRPr lang="ko-KR"/>
                        </a:p>
                      </a:txBody>
                      <a:tcPr marL="68580" marR="68580" marT="0" marB="0" anchor="ctr">
                        <a:blipFill>
                          <a:blip r:embed="rId3"/>
                          <a:stretch>
                            <a:fillRect l="-290674" t="-361364" r="-322798" b="-777273"/>
                          </a:stretch>
                        </a:blipFill>
                      </a:tcPr>
                    </a:tc>
                    <a:tc>
                      <a:txBody>
                        <a:bodyPr/>
                        <a:lstStyle/>
                        <a:p>
                          <a:pPr algn="ctr" latinLnBrk="1">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40</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a:t>
                          </a: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267208">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Lower Temperature Limit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461364" r="-450829" b="-677273"/>
                          </a:stretch>
                        </a:blipFill>
                      </a:tcPr>
                    </a:tc>
                    <a:tc>
                      <a:txBody>
                        <a:bodyPr/>
                        <a:lstStyle/>
                        <a:p>
                          <a:endParaRPr lang="ko-KR"/>
                        </a:p>
                      </a:txBody>
                      <a:tcPr marL="68580" marR="68580" marT="0" marB="0" anchor="ctr">
                        <a:blipFill>
                          <a:blip r:embed="rId3"/>
                          <a:stretch>
                            <a:fillRect l="-290674" t="-461364" r="-322798" b="-677273"/>
                          </a:stretch>
                        </a:blipFill>
                      </a:tcPr>
                    </a:tc>
                    <a:tc>
                      <a:txBody>
                        <a:bodyPr/>
                        <a:lstStyle/>
                        <a:p>
                          <a:pPr algn="ctr" latinLnBrk="1">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0</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 </a:t>
                          </a: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a:t>
                          </a:r>
                          <a:r>
                            <a:rPr lang="ko-KR"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12801104"/>
                      </a:ext>
                    </a:extLst>
                  </a:tr>
                  <a:tr h="533385">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Area at Worst Case Hot</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283908" r="-450829" b="-242529"/>
                          </a:stretch>
                        </a:blipFill>
                      </a:tcPr>
                    </a:tc>
                    <a:tc>
                      <a:txBody>
                        <a:bodyPr/>
                        <a:lstStyle/>
                        <a:p>
                          <a:endParaRPr lang="ko-KR"/>
                        </a:p>
                      </a:txBody>
                      <a:tcPr marL="68580" marR="68580" marT="0" marB="0" anchor="ctr">
                        <a:blipFill>
                          <a:blip r:embed="rId3"/>
                          <a:stretch>
                            <a:fillRect l="-290674" t="-283908" r="-322798" b="-242529"/>
                          </a:stretch>
                        </a:blipFill>
                      </a:tcPr>
                    </a:tc>
                    <a:tc>
                      <a:txBody>
                        <a:bodyPr/>
                        <a:lstStyle/>
                        <a:p>
                          <a:endParaRPr lang="ko-KR"/>
                        </a:p>
                      </a:txBody>
                      <a:tcPr marL="68580" marR="68580" marT="0" marB="0" anchor="ctr">
                        <a:blipFill>
                          <a:blip r:embed="rId3"/>
                          <a:stretch>
                            <a:fillRect l="-121417" t="-283908" r="-322" b="-242529"/>
                          </a:stretch>
                        </a:blipFill>
                      </a:tcPr>
                    </a:tc>
                    <a:extLst>
                      <a:ext uri="{0D108BD9-81ED-4DB2-BD59-A6C34878D82A}">
                        <a16:rowId xmlns:a16="http://schemas.microsoft.com/office/drawing/2014/main" val="489373389"/>
                      </a:ext>
                    </a:extLst>
                  </a:tr>
                  <a:tr h="584645">
                    <a:tc>
                      <a:txBody>
                        <a:bodyPr/>
                        <a:lstStyle/>
                        <a:p>
                          <a:pPr algn="ctr" latinLnBrk="1">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Temperature at Worst Case Cold</a:t>
                          </a:r>
                          <a:endParaRPr lang="ko-KR" sz="9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347917" r="-450829" b="-119792"/>
                          </a:stretch>
                        </a:blipFill>
                      </a:tcPr>
                    </a:tc>
                    <a:tc>
                      <a:txBody>
                        <a:bodyPr/>
                        <a:lstStyle/>
                        <a:p>
                          <a:endParaRPr lang="ko-KR"/>
                        </a:p>
                      </a:txBody>
                      <a:tcPr marL="68580" marR="68580" marT="0" marB="0" anchor="ctr">
                        <a:blipFill>
                          <a:blip r:embed="rId3"/>
                          <a:stretch>
                            <a:fillRect l="-290674" t="-347917" r="-322798" b="-119792"/>
                          </a:stretch>
                        </a:blipFill>
                      </a:tcPr>
                    </a:tc>
                    <a:tc>
                      <a:txBody>
                        <a:bodyPr/>
                        <a:lstStyle/>
                        <a:p>
                          <a:endParaRPr lang="ko-KR"/>
                        </a:p>
                      </a:txBody>
                      <a:tcPr marL="68580" marR="68580" marT="0" marB="0" anchor="ctr">
                        <a:blipFill>
                          <a:blip r:embed="rId3"/>
                          <a:stretch>
                            <a:fillRect l="-121417" t="-347917" r="-322" b="-119792"/>
                          </a:stretch>
                        </a:blipFill>
                      </a:tcPr>
                    </a:tc>
                    <a:extLst>
                      <a:ext uri="{0D108BD9-81ED-4DB2-BD59-A6C34878D82A}">
                        <a16:rowId xmlns:a16="http://schemas.microsoft.com/office/drawing/2014/main" val="292475298"/>
                      </a:ext>
                    </a:extLst>
                  </a:tr>
                  <a:tr h="685483">
                    <a:tc>
                      <a:txBody>
                        <a:bodyPr/>
                        <a:lstStyle/>
                        <a:p>
                          <a:endParaRPr lang="ko-KR"/>
                        </a:p>
                      </a:txBody>
                      <a:tcPr marL="68580" marR="68580" marT="0" marB="0" anchor="ctr">
                        <a:blipFill>
                          <a:blip r:embed="rId3"/>
                          <a:stretch>
                            <a:fillRect l="-264" t="-380531" r="-263061" b="-1770"/>
                          </a:stretch>
                        </a:blipFill>
                      </a:tcPr>
                    </a:tc>
                    <a:tc>
                      <a:txBody>
                        <a:bodyPr/>
                        <a:lstStyle/>
                        <a:p>
                          <a:endParaRPr lang="ko-KR"/>
                        </a:p>
                      </a:txBody>
                      <a:tcPr marL="68580" marR="68580" marT="0" marB="0" anchor="ctr">
                        <a:blipFill>
                          <a:blip r:embed="rId3"/>
                          <a:stretch>
                            <a:fillRect l="-209945" t="-380531" r="-450829" b="-1770"/>
                          </a:stretch>
                        </a:blipFill>
                      </a:tcPr>
                    </a:tc>
                    <a:tc>
                      <a:txBody>
                        <a:bodyPr/>
                        <a:lstStyle/>
                        <a:p>
                          <a:endParaRPr lang="ko-KR"/>
                        </a:p>
                      </a:txBody>
                      <a:tcPr marL="68580" marR="68580" marT="0" marB="0" anchor="ctr">
                        <a:blipFill>
                          <a:blip r:embed="rId3"/>
                          <a:stretch>
                            <a:fillRect l="-290674" t="-380531" r="-322798" b="-1770"/>
                          </a:stretch>
                        </a:blipFill>
                      </a:tcPr>
                    </a:tc>
                    <a:tc>
                      <a:txBody>
                        <a:bodyPr/>
                        <a:lstStyle/>
                        <a:p>
                          <a:endParaRPr lang="ko-KR"/>
                        </a:p>
                      </a:txBody>
                      <a:tcPr marL="68580" marR="68580" marT="0" marB="0" anchor="ctr">
                        <a:blipFill>
                          <a:blip r:embed="rId3"/>
                          <a:stretch>
                            <a:fillRect l="-121417" t="-380531" r="-322" b="-1770"/>
                          </a:stretch>
                        </a:blipFill>
                      </a:tcPr>
                    </a:tc>
                    <a:extLst>
                      <a:ext uri="{0D108BD9-81ED-4DB2-BD59-A6C34878D82A}">
                        <a16:rowId xmlns:a16="http://schemas.microsoft.com/office/drawing/2014/main" val="2211685667"/>
                      </a:ext>
                    </a:extLst>
                  </a:tr>
                </a:tbl>
              </a:graphicData>
            </a:graphic>
          </p:graphicFrame>
        </mc:Fallback>
      </mc:AlternateContent>
    </p:spTree>
    <p:extLst>
      <p:ext uri="{BB962C8B-B14F-4D97-AF65-F5344CB8AC3E}">
        <p14:creationId xmlns:p14="http://schemas.microsoft.com/office/powerpoint/2010/main" val="35201935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600" dirty="0"/>
              <a:t>9.4 Preliminary Design Process (Battery)</a:t>
            </a:r>
            <a:endParaRPr lang="en-US" sz="2600" dirty="0"/>
          </a:p>
        </p:txBody>
      </p:sp>
      <mc:AlternateContent xmlns:mc="http://schemas.openxmlformats.org/markup-compatibility/2006" xmlns:a14="http://schemas.microsoft.com/office/drawing/2010/main">
        <mc:Choice Requires="a14">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nvGraphicFramePr>
            <p:xfrm>
              <a:off x="423426" y="1831449"/>
              <a:ext cx="8370530" cy="2649871"/>
            </p:xfrm>
            <a:graphic>
              <a:graphicData uri="http://schemas.openxmlformats.org/drawingml/2006/table">
                <a:tbl>
                  <a:tblPr firstRow="1" bandRow="1">
                    <a:tableStyleId>{1C28B2AB-E718-4DF9-ADA3-83340B5D2C4E}</a:tableStyleId>
                  </a:tblPr>
                  <a:tblGrid>
                    <a:gridCol w="2310755">
                      <a:extLst>
                        <a:ext uri="{9D8B030D-6E8A-4147-A177-3AD203B41FA5}">
                          <a16:colId xmlns:a16="http://schemas.microsoft.com/office/drawing/2014/main" val="1171601383"/>
                        </a:ext>
                      </a:extLst>
                    </a:gridCol>
                    <a:gridCol w="1102042">
                      <a:extLst>
                        <a:ext uri="{9D8B030D-6E8A-4147-A177-3AD203B41FA5}">
                          <a16:colId xmlns:a16="http://schemas.microsoft.com/office/drawing/2014/main" val="4073308631"/>
                        </a:ext>
                      </a:extLst>
                    </a:gridCol>
                    <a:gridCol w="1174595">
                      <a:extLst>
                        <a:ext uri="{9D8B030D-6E8A-4147-A177-3AD203B41FA5}">
                          <a16:colId xmlns:a16="http://schemas.microsoft.com/office/drawing/2014/main" val="2842854813"/>
                        </a:ext>
                      </a:extLst>
                    </a:gridCol>
                    <a:gridCol w="3783138">
                      <a:extLst>
                        <a:ext uri="{9D8B030D-6E8A-4147-A177-3AD203B41FA5}">
                          <a16:colId xmlns:a16="http://schemas.microsoft.com/office/drawing/2014/main" val="1025003951"/>
                        </a:ext>
                      </a:extLst>
                    </a:gridCol>
                  </a:tblGrid>
                  <a:tr h="181577">
                    <a:tc>
                      <a:txBody>
                        <a:bodyPr/>
                        <a:lstStyle/>
                        <a:p>
                          <a:pPr algn="just"/>
                          <a:endParaRPr lang="ko-KR" sz="1000" kern="10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Symbol</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Value</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Comment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390398">
                    <a:tc>
                      <a:txBody>
                        <a:bodyPr/>
                        <a:lstStyle/>
                        <a:p>
                          <a:pPr algn="ctr" latinLnBrk="0">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Max Power Dissipation</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100 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Over Charge</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46884123"/>
                      </a:ext>
                    </a:extLst>
                  </a:tr>
                  <a:tr h="390398">
                    <a:tc>
                      <a:txBody>
                        <a:bodyPr/>
                        <a:lstStyle/>
                        <a:p>
                          <a:pPr algn="ctr" latinLnBrk="0">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Min Power Dissipation</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8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8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𝑊𝑚𝑖𝑛</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14:m>
                            <m:oMathPara xmlns:m="http://schemas.openxmlformats.org/officeDocument/2006/math">
                              <m:oMathParaPr>
                                <m:jc m:val="centerGroup"/>
                              </m:oMathParaPr>
                              <m:oMath xmlns:m="http://schemas.openxmlformats.org/officeDocument/2006/math">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0 </m:t>
                                </m:r>
                                <m:r>
                                  <a:rPr lang="en-US" sz="8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0">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Charge Without Heat Dissipation</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145682900"/>
                      </a:ext>
                    </a:extLst>
                  </a:tr>
                  <a:tr h="267208">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Upper Temperature Limit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𝑢</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25 ℃=298.15 </m:t>
                                </m:r>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30</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a:t>
                          </a: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267208">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Lower Temperature Limit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15 ℃=288.15 </m:t>
                                </m:r>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𝐾</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 </a:t>
                          </a: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12801104"/>
                      </a:ext>
                    </a:extLst>
                  </a:tr>
                  <a:tr h="533385">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Area at Worst Case Hot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0.23</m:t>
                                </m:r>
                                <m:sSup>
                                  <m:sSup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f>
                                  <m:f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𝑊𝑚𝑎𝑥</m:t>
                                        </m:r>
                                      </m:sub>
                                    </m:sSub>
                                  </m:num>
                                  <m:den>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𝑢</m:t>
                                        </m:r>
                                      </m:sub>
                                      <m:sup>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den>
                                </m:f>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89373389"/>
                      </a:ext>
                    </a:extLst>
                  </a:tr>
                  <a:tr h="584645">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Total Heater Power at </a:t>
                          </a:r>
                          <a14:m>
                            <m:oMath xmlns:m="http://schemas.openxmlformats.org/officeDocument/2006/math">
                              <m:sSub>
                                <m:sSubPr>
                                  <m:ctrlPr>
                                    <a:rPr lang="ko-KR" sz="900" b="1"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𝑻</m:t>
                                  </m:r>
                                </m:e>
                                <m:sub>
                                  <m:r>
                                    <a:rPr lang="en-US" sz="900" b="1"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𝒍</m:t>
                                  </m:r>
                                </m:sub>
                              </m:sSub>
                            </m:oMath>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𝑛</m:t>
                                    </m:r>
                                  </m:sub>
                                </m:sSub>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87.2 </m:t>
                                </m:r>
                                <m:r>
                                  <a:rPr lang="en-US" sz="900" i="1" kern="1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𝑊</m:t>
                                </m:r>
                              </m:oMath>
                            </m:oMathPara>
                          </a14:m>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tc>
                      <a:txBody>
                        <a:bodyPr/>
                        <a:lstStyle/>
                        <a:p>
                          <a:pPr algn="ctr" latinLnBrk="1">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ko-KR" sz="900" i="1" kern="100" smtClean="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𝑛</m:t>
                                    </m:r>
                                  </m:sub>
                                </m:sSub>
                                <m:r>
                                  <a:rPr lang="en-US" sz="900"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b>
                                  <m:sSub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𝐴</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𝑅</m:t>
                                        </m:r>
                                      </m:sub>
                                    </m:s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𝜎</m:t>
                                    </m:r>
                                    <m:sSub>
                                      <m:sSub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𝜀</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𝑟</m:t>
                                        </m:r>
                                      </m:sub>
                                    </m:sSub>
                                    <m:sSubSup>
                                      <m:sSubSupPr>
                                        <m:ctrlPr>
                                          <a:rPr lang="ko-KR" sz="900" i="1" kern="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𝑇</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𝑙</m:t>
                                        </m:r>
                                      </m:sub>
                                      <m:sup>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bSup>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𝑄</m:t>
                                    </m:r>
                                  </m:e>
                                  <m:sub>
                                    <m:r>
                                      <a:rPr lang="en-US" sz="900" i="1" kern="10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𝑤𝑚𝑖𝑛</m:t>
                                    </m:r>
                                  </m:sub>
                                </m:sSub>
                              </m:oMath>
                            </m:oMathPara>
                          </a14:m>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292475298"/>
                      </a:ext>
                    </a:extLst>
                  </a:tr>
                </a:tbl>
              </a:graphicData>
            </a:graphic>
          </p:graphicFrame>
        </mc:Choice>
        <mc:Fallback xmlns="">
          <p:graphicFrame>
            <p:nvGraphicFramePr>
              <p:cNvPr id="8" name="표 8">
                <a:extLst>
                  <a:ext uri="{FF2B5EF4-FFF2-40B4-BE49-F238E27FC236}">
                    <a16:creationId xmlns:a16="http://schemas.microsoft.com/office/drawing/2014/main" id="{14B9AC26-2369-4DC4-A38E-56428B8F1183}"/>
                  </a:ext>
                </a:extLst>
              </p:cNvPr>
              <p:cNvGraphicFramePr>
                <a:graphicFrameLocks noGrp="1"/>
              </p:cNvGraphicFramePr>
              <p:nvPr>
                <p:extLst>
                  <p:ext uri="{D42A27DB-BD31-4B8C-83A1-F6EECF244321}">
                    <p14:modId xmlns:p14="http://schemas.microsoft.com/office/powerpoint/2010/main" val="3293672213"/>
                  </p:ext>
                </p:extLst>
              </p:nvPr>
            </p:nvGraphicFramePr>
            <p:xfrm>
              <a:off x="423426" y="1831449"/>
              <a:ext cx="8370530" cy="2649871"/>
            </p:xfrm>
            <a:graphic>
              <a:graphicData uri="http://schemas.openxmlformats.org/drawingml/2006/table">
                <a:tbl>
                  <a:tblPr firstRow="1" bandRow="1">
                    <a:tableStyleId>{1C28B2AB-E718-4DF9-ADA3-83340B5D2C4E}</a:tableStyleId>
                  </a:tblPr>
                  <a:tblGrid>
                    <a:gridCol w="2310755">
                      <a:extLst>
                        <a:ext uri="{9D8B030D-6E8A-4147-A177-3AD203B41FA5}">
                          <a16:colId xmlns:a16="http://schemas.microsoft.com/office/drawing/2014/main" val="1171601383"/>
                        </a:ext>
                      </a:extLst>
                    </a:gridCol>
                    <a:gridCol w="1102042">
                      <a:extLst>
                        <a:ext uri="{9D8B030D-6E8A-4147-A177-3AD203B41FA5}">
                          <a16:colId xmlns:a16="http://schemas.microsoft.com/office/drawing/2014/main" val="4073308631"/>
                        </a:ext>
                      </a:extLst>
                    </a:gridCol>
                    <a:gridCol w="1174595">
                      <a:extLst>
                        <a:ext uri="{9D8B030D-6E8A-4147-A177-3AD203B41FA5}">
                          <a16:colId xmlns:a16="http://schemas.microsoft.com/office/drawing/2014/main" val="2842854813"/>
                        </a:ext>
                      </a:extLst>
                    </a:gridCol>
                    <a:gridCol w="3783138">
                      <a:extLst>
                        <a:ext uri="{9D8B030D-6E8A-4147-A177-3AD203B41FA5}">
                          <a16:colId xmlns:a16="http://schemas.microsoft.com/office/drawing/2014/main" val="1025003951"/>
                        </a:ext>
                      </a:extLst>
                    </a:gridCol>
                  </a:tblGrid>
                  <a:tr h="181577">
                    <a:tc>
                      <a:txBody>
                        <a:bodyPr/>
                        <a:lstStyle/>
                        <a:p>
                          <a:pPr algn="just"/>
                          <a:endParaRPr lang="ko-KR" sz="1000" kern="100">
                            <a:solidFill>
                              <a:schemeClr val="bg1"/>
                            </a:solidFill>
                            <a:effectLst/>
                            <a:latin typeface="맑은 고딕" panose="020B0503020000020004" pitchFamily="50" charset="-127"/>
                            <a:ea typeface="맑은 고딕" panose="020B0503020000020004" pitchFamily="50" charset="-127"/>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Symbol</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Value</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Comment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tx2">
                            <a:lumMod val="75000"/>
                          </a:schemeClr>
                        </a:solidFill>
                      </a:tcPr>
                    </a:tc>
                    <a:extLst>
                      <a:ext uri="{0D108BD9-81ED-4DB2-BD59-A6C34878D82A}">
                        <a16:rowId xmlns:a16="http://schemas.microsoft.com/office/drawing/2014/main" val="3534075354"/>
                      </a:ext>
                    </a:extLst>
                  </a:tr>
                  <a:tr h="390398">
                    <a:tc>
                      <a:txBody>
                        <a:bodyPr/>
                        <a:lstStyle/>
                        <a:p>
                          <a:pPr algn="ctr" latinLnBrk="0">
                            <a:lnSpc>
                              <a:spcPct val="115000"/>
                            </a:lnSpc>
                            <a:spcAft>
                              <a:spcPts val="1000"/>
                            </a:spcAft>
                          </a:pPr>
                          <a:r>
                            <a:rPr lang="en-US" sz="800" b="1"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Max Power Dissipation</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51563" r="-450829" b="-535938"/>
                          </a:stretch>
                        </a:blipFill>
                      </a:tcPr>
                    </a:tc>
                    <a:tc>
                      <a:txBody>
                        <a:bodyPr/>
                        <a:lstStyle/>
                        <a:p>
                          <a:endParaRPr lang="ko-KR"/>
                        </a:p>
                      </a:txBody>
                      <a:tcPr marL="68580" marR="68580" marT="0" marB="0" anchor="ctr">
                        <a:blipFill>
                          <a:blip r:embed="rId3"/>
                          <a:stretch>
                            <a:fillRect l="-290674" t="-51563" r="-322798" b="-535938"/>
                          </a:stretch>
                        </a:blipFill>
                      </a:tcPr>
                    </a:tc>
                    <a:tc>
                      <a:txBody>
                        <a:bodyPr/>
                        <a:lstStyle/>
                        <a:p>
                          <a:pPr algn="ctr" latinLnBrk="0">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Over Charge</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546884123"/>
                      </a:ext>
                    </a:extLst>
                  </a:tr>
                  <a:tr h="390398">
                    <a:tc>
                      <a:txBody>
                        <a:bodyPr/>
                        <a:lstStyle/>
                        <a:p>
                          <a:pPr algn="ctr" latinLnBrk="0">
                            <a:lnSpc>
                              <a:spcPct val="115000"/>
                            </a:lnSpc>
                            <a:spcAft>
                              <a:spcPts val="1000"/>
                            </a:spcAft>
                          </a:pPr>
                          <a:r>
                            <a:rPr lang="en-US" sz="8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Min Power Dissipation</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151563" r="-450829" b="-435938"/>
                          </a:stretch>
                        </a:blipFill>
                      </a:tcPr>
                    </a:tc>
                    <a:tc>
                      <a:txBody>
                        <a:bodyPr/>
                        <a:lstStyle/>
                        <a:p>
                          <a:endParaRPr lang="ko-KR"/>
                        </a:p>
                      </a:txBody>
                      <a:tcPr marL="68580" marR="68580" marT="0" marB="0" anchor="ctr">
                        <a:blipFill>
                          <a:blip r:embed="rId3"/>
                          <a:stretch>
                            <a:fillRect l="-290674" t="-151563" r="-322798" b="-435938"/>
                          </a:stretch>
                        </a:blipFill>
                      </a:tcPr>
                    </a:tc>
                    <a:tc>
                      <a:txBody>
                        <a:bodyPr/>
                        <a:lstStyle/>
                        <a:p>
                          <a:pPr algn="ctr" latinLnBrk="0">
                            <a:lnSpc>
                              <a:spcPct val="115000"/>
                            </a:lnSpc>
                            <a:spcAft>
                              <a:spcPts val="1000"/>
                            </a:spcAft>
                          </a:pPr>
                          <a:r>
                            <a:rPr lang="en-US" sz="8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Charge Without Heat Dissipation</a:t>
                          </a:r>
                          <a:endParaRPr lang="ko-KR" sz="1000" kern="100" dirty="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4145682900"/>
                      </a:ext>
                    </a:extLst>
                  </a:tr>
                  <a:tr h="284734">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Upper Temperature Limit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342553" r="-450829" b="-493617"/>
                          </a:stretch>
                        </a:blipFill>
                      </a:tcPr>
                    </a:tc>
                    <a:tc>
                      <a:txBody>
                        <a:bodyPr/>
                        <a:lstStyle/>
                        <a:p>
                          <a:endParaRPr lang="ko-KR"/>
                        </a:p>
                      </a:txBody>
                      <a:tcPr marL="68580" marR="68580" marT="0" marB="0" anchor="ctr">
                        <a:blipFill>
                          <a:blip r:embed="rId3"/>
                          <a:stretch>
                            <a:fillRect l="-290674" t="-342553" r="-322798" b="-493617"/>
                          </a:stretch>
                        </a:blipFill>
                      </a:tcPr>
                    </a:tc>
                    <a:tc>
                      <a:txBody>
                        <a:bodyPr/>
                        <a:lstStyle/>
                        <a:p>
                          <a:pPr algn="ctr" latinLnBrk="1">
                            <a:lnSpc>
                              <a:spcPct val="115000"/>
                            </a:lnSpc>
                            <a:spcAft>
                              <a:spcPts val="1000"/>
                            </a:spcAft>
                          </a:pP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30</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a:t>
                          </a: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 5</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1537254243"/>
                      </a:ext>
                    </a:extLst>
                  </a:tr>
                  <a:tr h="284734">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Lower Temperature Limit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442553" r="-450829" b="-393617"/>
                          </a:stretch>
                        </a:blipFill>
                      </a:tcPr>
                    </a:tc>
                    <a:tc>
                      <a:txBody>
                        <a:bodyPr/>
                        <a:lstStyle/>
                        <a:p>
                          <a:endParaRPr lang="ko-KR"/>
                        </a:p>
                      </a:txBody>
                      <a:tcPr marL="68580" marR="68580" marT="0" marB="0" anchor="ctr">
                        <a:blipFill>
                          <a:blip r:embed="rId3"/>
                          <a:stretch>
                            <a:fillRect l="-290674" t="-442553" r="-322798" b="-393617"/>
                          </a:stretch>
                        </a:blipFill>
                      </a:tcPr>
                    </a:tc>
                    <a:tc>
                      <a:txBody>
                        <a:bodyPr/>
                        <a:lstStyle/>
                        <a:p>
                          <a:pPr algn="ctr" latinLnBrk="1">
                            <a:lnSpc>
                              <a:spcPct val="115000"/>
                            </a:lnSpc>
                            <a:spcAft>
                              <a:spcPts val="1000"/>
                            </a:spcAft>
                          </a:pP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10</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도에서 </a:t>
                          </a:r>
                          <a:r>
                            <a:rPr lang="en-US"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5</a:t>
                          </a:r>
                          <a:r>
                            <a:rPr lang="ko-KR" sz="9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도 마진을 두어 결정</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tc>
                    <a:extLst>
                      <a:ext uri="{0D108BD9-81ED-4DB2-BD59-A6C34878D82A}">
                        <a16:rowId xmlns:a16="http://schemas.microsoft.com/office/drawing/2014/main" val="3912801104"/>
                      </a:ext>
                    </a:extLst>
                  </a:tr>
                  <a:tr h="533385">
                    <a:tc>
                      <a:txBody>
                        <a:bodyPr/>
                        <a:lstStyle/>
                        <a:p>
                          <a:pPr algn="ctr" latinLnBrk="1">
                            <a:lnSpc>
                              <a:spcPct val="115000"/>
                            </a:lnSpc>
                            <a:spcAft>
                              <a:spcPts val="1000"/>
                            </a:spcAft>
                          </a:pPr>
                          <a:r>
                            <a:rPr lang="en-US" sz="900" b="1"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rPr>
                            <a:t>Radiator Area at Worst Case Hot</a:t>
                          </a:r>
                          <a:endParaRPr lang="ko-KR" sz="1000" kern="100">
                            <a:solidFill>
                              <a:schemeClr val="bg1"/>
                            </a:solidFill>
                            <a:effectLst/>
                            <a:latin typeface="맑은 고딕" panose="020B0503020000020004" pitchFamily="50" charset="-127"/>
                            <a:ea typeface="맑은 고딕" panose="020B0503020000020004" pitchFamily="50" charset="-127"/>
                            <a:cs typeface="Times New Roman" panose="02020603050405020304" pitchFamily="18" charset="0"/>
                          </a:endParaRPr>
                        </a:p>
                      </a:txBody>
                      <a:tcPr marL="68580" marR="68580" marT="0" marB="0" anchor="ctr">
                        <a:solidFill>
                          <a:schemeClr val="accent1"/>
                        </a:solidFill>
                      </a:tcPr>
                    </a:tc>
                    <a:tc>
                      <a:txBody>
                        <a:bodyPr/>
                        <a:lstStyle/>
                        <a:p>
                          <a:endParaRPr lang="ko-KR"/>
                        </a:p>
                      </a:txBody>
                      <a:tcPr marL="68580" marR="68580" marT="0" marB="0" anchor="ctr">
                        <a:blipFill>
                          <a:blip r:embed="rId3"/>
                          <a:stretch>
                            <a:fillRect l="-209945" t="-289773" r="-450829" b="-110227"/>
                          </a:stretch>
                        </a:blipFill>
                      </a:tcPr>
                    </a:tc>
                    <a:tc>
                      <a:txBody>
                        <a:bodyPr/>
                        <a:lstStyle/>
                        <a:p>
                          <a:endParaRPr lang="ko-KR"/>
                        </a:p>
                      </a:txBody>
                      <a:tcPr marL="68580" marR="68580" marT="0" marB="0" anchor="ctr">
                        <a:blipFill>
                          <a:blip r:embed="rId3"/>
                          <a:stretch>
                            <a:fillRect l="-290674" t="-289773" r="-322798" b="-110227"/>
                          </a:stretch>
                        </a:blipFill>
                      </a:tcPr>
                    </a:tc>
                    <a:tc>
                      <a:txBody>
                        <a:bodyPr/>
                        <a:lstStyle/>
                        <a:p>
                          <a:endParaRPr lang="ko-KR"/>
                        </a:p>
                      </a:txBody>
                      <a:tcPr marL="68580" marR="68580" marT="0" marB="0" anchor="ctr">
                        <a:blipFill>
                          <a:blip r:embed="rId3"/>
                          <a:stretch>
                            <a:fillRect l="-121417" t="-289773" r="-322" b="-110227"/>
                          </a:stretch>
                        </a:blipFill>
                      </a:tcPr>
                    </a:tc>
                    <a:extLst>
                      <a:ext uri="{0D108BD9-81ED-4DB2-BD59-A6C34878D82A}">
                        <a16:rowId xmlns:a16="http://schemas.microsoft.com/office/drawing/2014/main" val="489373389"/>
                      </a:ext>
                    </a:extLst>
                  </a:tr>
                  <a:tr h="584645">
                    <a:tc>
                      <a:txBody>
                        <a:bodyPr/>
                        <a:lstStyle/>
                        <a:p>
                          <a:endParaRPr lang="ko-KR"/>
                        </a:p>
                      </a:txBody>
                      <a:tcPr marL="68580" marR="68580" marT="0" marB="0" anchor="ctr">
                        <a:blipFill>
                          <a:blip r:embed="rId3"/>
                          <a:stretch>
                            <a:fillRect l="-264" t="-357292" r="-263061" b="-1042"/>
                          </a:stretch>
                        </a:blipFill>
                      </a:tcPr>
                    </a:tc>
                    <a:tc>
                      <a:txBody>
                        <a:bodyPr/>
                        <a:lstStyle/>
                        <a:p>
                          <a:endParaRPr lang="ko-KR"/>
                        </a:p>
                      </a:txBody>
                      <a:tcPr marL="68580" marR="68580" marT="0" marB="0" anchor="ctr">
                        <a:blipFill>
                          <a:blip r:embed="rId3"/>
                          <a:stretch>
                            <a:fillRect l="-209945" t="-357292" r="-450829" b="-1042"/>
                          </a:stretch>
                        </a:blipFill>
                      </a:tcPr>
                    </a:tc>
                    <a:tc>
                      <a:txBody>
                        <a:bodyPr/>
                        <a:lstStyle/>
                        <a:p>
                          <a:endParaRPr lang="ko-KR"/>
                        </a:p>
                      </a:txBody>
                      <a:tcPr marL="68580" marR="68580" marT="0" marB="0" anchor="ctr">
                        <a:blipFill>
                          <a:blip r:embed="rId3"/>
                          <a:stretch>
                            <a:fillRect l="-290674" t="-357292" r="-322798" b="-1042"/>
                          </a:stretch>
                        </a:blipFill>
                      </a:tcPr>
                    </a:tc>
                    <a:tc>
                      <a:txBody>
                        <a:bodyPr/>
                        <a:lstStyle/>
                        <a:p>
                          <a:endParaRPr lang="ko-KR"/>
                        </a:p>
                      </a:txBody>
                      <a:tcPr marL="68580" marR="68580" marT="0" marB="0" anchor="ctr">
                        <a:blipFill>
                          <a:blip r:embed="rId3"/>
                          <a:stretch>
                            <a:fillRect l="-121417" t="-357292" r="-322" b="-1042"/>
                          </a:stretch>
                        </a:blipFill>
                      </a:tcPr>
                    </a:tc>
                    <a:extLst>
                      <a:ext uri="{0D108BD9-81ED-4DB2-BD59-A6C34878D82A}">
                        <a16:rowId xmlns:a16="http://schemas.microsoft.com/office/drawing/2014/main" val="292475298"/>
                      </a:ext>
                    </a:extLst>
                  </a:tr>
                </a:tbl>
              </a:graphicData>
            </a:graphic>
          </p:graphicFrame>
        </mc:Fallback>
      </mc:AlternateContent>
    </p:spTree>
    <p:extLst>
      <p:ext uri="{BB962C8B-B14F-4D97-AF65-F5344CB8AC3E}">
        <p14:creationId xmlns:p14="http://schemas.microsoft.com/office/powerpoint/2010/main" val="40531664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9.5 Thermal Control Hardware Selection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graphicFrame>
        <p:nvGraphicFramePr>
          <p:cNvPr id="5" name="개체 4">
            <a:extLst>
              <a:ext uri="{FF2B5EF4-FFF2-40B4-BE49-F238E27FC236}">
                <a16:creationId xmlns:a16="http://schemas.microsoft.com/office/drawing/2014/main" id="{67E9027C-C987-486F-B833-4F876278539D}"/>
              </a:ext>
            </a:extLst>
          </p:cNvPr>
          <p:cNvGraphicFramePr>
            <a:graphicFrameLocks noChangeAspect="1"/>
          </p:cNvGraphicFramePr>
          <p:nvPr/>
        </p:nvGraphicFramePr>
        <p:xfrm>
          <a:off x="5785440" y="1801723"/>
          <a:ext cx="2707005" cy="820079"/>
        </p:xfrm>
        <a:graphic>
          <a:graphicData uri="http://schemas.openxmlformats.org/presentationml/2006/ole">
            <mc:AlternateContent xmlns:mc="http://schemas.openxmlformats.org/markup-compatibility/2006">
              <mc:Choice xmlns:v="urn:schemas-microsoft-com:vml" Requires="v">
                <p:oleObj spid="_x0000_s7172" name="비트맵 이미지" r:id="rId4" imgW="2316681" imgH="700952" progId="Paint.Picture">
                  <p:embed/>
                </p:oleObj>
              </mc:Choice>
              <mc:Fallback>
                <p:oleObj name="비트맵 이미지" r:id="rId4" imgW="2316681" imgH="700952" progId="Paint.Picture">
                  <p:embed/>
                  <p:pic>
                    <p:nvPicPr>
                      <p:cNvPr id="5" name="개체 4">
                        <a:extLst>
                          <a:ext uri="{FF2B5EF4-FFF2-40B4-BE49-F238E27FC236}">
                            <a16:creationId xmlns:a16="http://schemas.microsoft.com/office/drawing/2014/main" id="{67E9027C-C987-486F-B833-4F87627853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5440" y="1801723"/>
                        <a:ext cx="2707005" cy="820079"/>
                      </a:xfrm>
                      <a:prstGeom prst="rect">
                        <a:avLst/>
                      </a:prstGeom>
                      <a:noFill/>
                    </p:spPr>
                  </p:pic>
                </p:oleObj>
              </mc:Fallback>
            </mc:AlternateContent>
          </a:graphicData>
        </a:graphic>
      </p:graphicFrame>
      <p:pic>
        <p:nvPicPr>
          <p:cNvPr id="14" name="그림 13" descr="coatings lab technician at work">
            <a:extLst>
              <a:ext uri="{FF2B5EF4-FFF2-40B4-BE49-F238E27FC236}">
                <a16:creationId xmlns:a16="http://schemas.microsoft.com/office/drawing/2014/main" id="{460642DD-01B7-43DF-A3A4-CBC5A93BCCD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85440" y="3362818"/>
            <a:ext cx="2707005" cy="1440001"/>
          </a:xfrm>
          <a:prstGeom prst="rect">
            <a:avLst/>
          </a:prstGeom>
          <a:noFill/>
          <a:ln>
            <a:noFill/>
          </a:ln>
        </p:spPr>
      </p:pic>
      <mc:AlternateContent xmlns:mc="http://schemas.openxmlformats.org/markup-compatibility/2006" xmlns:a14="http://schemas.microsoft.com/office/drawing/2010/main">
        <mc:Choice Requires="a14">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nvGraphicFramePr>
            <p:xfrm>
              <a:off x="651555" y="1364595"/>
              <a:ext cx="4437228" cy="1728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Multi-Layer Insulation (</a:t>
                          </a:r>
                          <a:r>
                            <a:rPr lang="en-US" altLang="ko-KR" sz="800" b="1" i="0" u="none" strike="noStrike" cap="none" dirty="0" err="1">
                              <a:solidFill>
                                <a:schemeClr val="bg1"/>
                              </a:solidFill>
                              <a:effectLst/>
                              <a:latin typeface="Arial"/>
                              <a:ea typeface="Arial"/>
                              <a:cs typeface="Times New Roman" panose="02020603050405020304" pitchFamily="18" charset="0"/>
                              <a:sym typeface="Arial"/>
                            </a:rPr>
                            <a:t>Sheldahl</a:t>
                          </a:r>
                          <a:r>
                            <a:rPr lang="en-US" altLang="ko-KR" sz="800" b="1" i="0" u="none" strike="noStrike" cap="none" dirty="0">
                              <a:solidFill>
                                <a:schemeClr val="bg1"/>
                              </a:solidFill>
                              <a:effectLst/>
                              <a:latin typeface="Arial"/>
                              <a:ea typeface="Arial"/>
                              <a:cs typeface="Times New Roman" panose="02020603050405020304" pitchFamily="18" charset="0"/>
                              <a:sym typeface="Arial"/>
                            </a:rPr>
                            <a:t>)</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absorptance (</a:t>
                          </a:r>
                          <a14:m>
                            <m:oMath xmlns:m="http://schemas.openxmlformats.org/officeDocument/2006/math">
                              <m:r>
                                <a:rPr lang="ko-KR" altLang="en-US" sz="800" b="1" i="1" smtClean="0">
                                  <a:solidFill>
                                    <a:schemeClr val="bg1"/>
                                  </a:solidFill>
                                  <a:effectLst/>
                                  <a:latin typeface="Cambria Math" panose="02040503050406030204" pitchFamily="18" charset="0"/>
                                  <a:cs typeface="Times New Roman" panose="02020603050405020304" pitchFamily="18" charset="0"/>
                                </a:rPr>
                                <m:t>𝜶</m:t>
                              </m:r>
                            </m:oMath>
                          </a14:m>
                          <a:r>
                            <a:rPr lang="en-US" altLang="ko-KR" sz="800" b="1" i="0" u="none" strike="noStrike" cap="none" dirty="0">
                              <a:solidFill>
                                <a:schemeClr val="bg1"/>
                              </a:solidFill>
                              <a:effectLst/>
                              <a:latin typeface="Arial"/>
                              <a:ea typeface="Arial"/>
                              <a:cs typeface="Times New Roman" panose="02020603050405020304" pitchFamily="18" charset="0"/>
                              <a:sym typeface="Arial"/>
                            </a:rPr>
                            <a:t>) </a:t>
                          </a:r>
                          <a:endParaRPr lang="ko-KR" altLang="en-US" sz="800" b="1" dirty="0"/>
                        </a:p>
                      </a:txBody>
                      <a:tcPr>
                        <a:solidFill>
                          <a:schemeClr val="tx2"/>
                        </a:solidFill>
                      </a:tcPr>
                    </a:tc>
                    <a:tc>
                      <a:txBody>
                        <a:bodyPr/>
                        <a:lstStyle/>
                        <a:p>
                          <a:pPr algn="ctr" latinLnBrk="1"/>
                          <a:r>
                            <a:rPr lang="ko-KR" altLang="ko-KR" sz="800" dirty="0">
                              <a:solidFill>
                                <a:schemeClr val="bg1"/>
                              </a:solidFill>
                            </a:rPr>
                            <a:t>≤ </a:t>
                          </a:r>
                          <a14:m>
                            <m:oMath xmlns:m="http://schemas.openxmlformats.org/officeDocument/2006/math">
                              <m:r>
                                <a:rPr lang="en-US" altLang="ko-KR" sz="800" i="1">
                                  <a:solidFill>
                                    <a:schemeClr val="bg1"/>
                                  </a:solidFill>
                                  <a:latin typeface="Cambria Math" panose="02040503050406030204" pitchFamily="18" charset="0"/>
                                </a:rPr>
                                <m:t>0.14</m:t>
                              </m:r>
                            </m:oMath>
                          </a14:m>
                          <a:endParaRPr lang="ko-KR" altLang="en-US" sz="800" dirty="0"/>
                        </a:p>
                      </a:txBody>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Emittance (</a:t>
                          </a:r>
                          <a14:m>
                            <m:oMath xmlns:m="http://schemas.openxmlformats.org/officeDocument/2006/math">
                              <m:r>
                                <a:rPr lang="en-US" altLang="ko-KR" sz="800" b="1"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𝜺</m:t>
                              </m:r>
                            </m:oMath>
                          </a14:m>
                          <a:r>
                            <a:rPr lang="en-US" altLang="ko-KR" sz="800" b="1" i="0" u="none" strike="noStrike" cap="none" dirty="0">
                              <a:solidFill>
                                <a:schemeClr val="bg1"/>
                              </a:solidFill>
                              <a:effectLst/>
                              <a:latin typeface="Arial"/>
                              <a:ea typeface="Arial"/>
                              <a:cs typeface="Times New Roman" panose="02020603050405020304" pitchFamily="18" charset="0"/>
                              <a:sym typeface="Arial"/>
                            </a:rPr>
                            <a:t>) </a:t>
                          </a:r>
                          <a:endParaRPr lang="ko-KR" altLang="en-US" sz="800" b="1" dirty="0"/>
                        </a:p>
                      </a:txBody>
                      <a:tcPr>
                        <a:solidFill>
                          <a:schemeClr val="tx2"/>
                        </a:solidFill>
                      </a:tcPr>
                    </a:tc>
                    <a:tc>
                      <a:txBody>
                        <a:bodyPr/>
                        <a:lstStyle/>
                        <a:p>
                          <a:pPr algn="ctr" latinLnBrk="1"/>
                          <a:r>
                            <a:rPr lang="ko-KR" altLang="ko-KR" sz="800" dirty="0">
                              <a:solidFill>
                                <a:schemeClr val="bg1"/>
                              </a:solidFill>
                            </a:rPr>
                            <a:t>≤ </a:t>
                          </a:r>
                          <a14:m>
                            <m:oMath xmlns:m="http://schemas.openxmlformats.org/officeDocument/2006/math">
                              <m:r>
                                <a:rPr lang="en-US" altLang="ko-KR" sz="800" b="0" i="0" smtClean="0">
                                  <a:solidFill>
                                    <a:schemeClr val="bg1"/>
                                  </a:solidFill>
                                  <a:latin typeface="Cambria Math" panose="02040503050406030204" pitchFamily="18" charset="0"/>
                                </a:rPr>
                                <m:t> </m:t>
                              </m:r>
                              <m:r>
                                <a:rPr lang="en-US" altLang="ko-KR" sz="800" i="1">
                                  <a:solidFill>
                                    <a:schemeClr val="bg1"/>
                                  </a:solidFill>
                                  <a:latin typeface="Cambria Math" panose="02040503050406030204" pitchFamily="18" charset="0"/>
                                </a:rPr>
                                <m:t>0.035</m:t>
                              </m:r>
                            </m:oMath>
                          </a14:m>
                          <a:endParaRPr lang="ko-KR" altLang="en-US" sz="800" dirty="0"/>
                        </a:p>
                      </a:txBody>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Area</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latin typeface="Cambria Math" panose="02040503050406030204" pitchFamily="18" charset="0"/>
                                    <a:ea typeface="맑은 고딕" panose="020B0503020000020004" pitchFamily="50" charset="-127"/>
                                    <a:cs typeface="Times New Roman" panose="02020603050405020304" pitchFamily="18" charset="0"/>
                                  </a:rPr>
                                  <m:t>6</m:t>
                                </m:r>
                                <m:r>
                                  <a:rPr lang="en-US" altLang="ko-KR" sz="800" b="0" i="1" smtClean="0">
                                    <a:solidFill>
                                      <a:schemeClr val="bg1"/>
                                    </a:solidFill>
                                    <a:latin typeface="Cambria Math" panose="02040503050406030204" pitchFamily="18" charset="0"/>
                                    <a:ea typeface="맑은 고딕" panose="020B0503020000020004" pitchFamily="50" charset="-127"/>
                                    <a:cs typeface="Times New Roman" panose="02020603050405020304" pitchFamily="18" charset="0"/>
                                  </a:rPr>
                                  <m:t>4.82</m:t>
                                </m:r>
                                <m:sSup>
                                  <m:sSupPr>
                                    <m:ctrlPr>
                                      <a:rPr lang="ko-KR" altLang="ko-KR" sz="800" i="1">
                                        <a:solidFill>
                                          <a:schemeClr val="bg1"/>
                                        </a:solidFill>
                                        <a:effectLst/>
                                        <a:latin typeface="Cambria Math" panose="02040503050406030204" pitchFamily="18" charset="0"/>
                                        <a:ea typeface="Cambria Math" panose="02040503050406030204" pitchFamily="18" charset="0"/>
                                      </a:rPr>
                                    </m:ctrlPr>
                                  </m:sSupPr>
                                  <m:e>
                                    <m:r>
                                      <a:rPr lang="en-US" altLang="ko-KR" sz="800" b="0" i="1" smtClean="0">
                                        <a:solidFill>
                                          <a:schemeClr val="bg1"/>
                                        </a:solidFill>
                                        <a:effectLst/>
                                        <a:latin typeface="Cambria Math" panose="02040503050406030204" pitchFamily="18" charset="0"/>
                                        <a:ea typeface="Cambria Math" panose="02040503050406030204" pitchFamily="18" charset="0"/>
                                      </a:rPr>
                                      <m:t> </m:t>
                                    </m:r>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altLang="en-US" sz="800" dirty="0"/>
                        </a:p>
                      </a:txBody>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Density</a:t>
                          </a:r>
                          <a:r>
                            <a:rPr lang="ko-KR" altLang="en-US" sz="800" b="1" i="0" u="none" strike="noStrike" cap="none" dirty="0">
                              <a:solidFill>
                                <a:schemeClr val="bg1"/>
                              </a:solidFill>
                              <a:latin typeface="Arial"/>
                              <a:ea typeface="Arial"/>
                              <a:cs typeface="Arial"/>
                              <a:sym typeface="Arial"/>
                            </a:rPr>
                            <a:t> </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9</m:t>
                                </m:r>
                                <m:r>
                                  <a:rPr lang="en-US" altLang="ko-KR" sz="800" b="0" i="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m:rPr>
                                    <m:sty m:val="p"/>
                                  </m:rPr>
                                  <a:rPr lang="en-US" altLang="ko-KR" sz="800"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g</m:t>
                                </m:r>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m:t>
                                </m:r>
                                <m:sSup>
                                  <m:sSupPr>
                                    <m:ctrlPr>
                                      <a:rPr lang="ko-KR" altLang="ko-KR" sz="800" i="1">
                                        <a:solidFill>
                                          <a:schemeClr val="bg1"/>
                                        </a:solidFill>
                                        <a:effectLst/>
                                        <a:latin typeface="Cambria Math" panose="02040503050406030204" pitchFamily="18" charset="0"/>
                                        <a:ea typeface="Cambria Math" panose="02040503050406030204" pitchFamily="18" charset="0"/>
                                      </a:rPr>
                                    </m:ctrlPr>
                                  </m:sSupPr>
                                  <m:e>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altLang="en-US" sz="800" dirty="0"/>
                        </a:p>
                      </a:txBody>
                      <a:tcPr/>
                    </a:tc>
                    <a:extLst>
                      <a:ext uri="{0D108BD9-81ED-4DB2-BD59-A6C34878D82A}">
                        <a16:rowId xmlns:a16="http://schemas.microsoft.com/office/drawing/2014/main" val="2577145669"/>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Weight</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0.</m:t>
                                </m:r>
                                <m:r>
                                  <a:rPr lang="en-US" altLang="ko-KR" sz="800" b="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583</m:t>
                                </m:r>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𝑘𝑔</m:t>
                                </m:r>
                              </m:oMath>
                            </m:oMathPara>
                          </a14:m>
                          <a:endParaRPr lang="ko-KR" altLang="en-US" sz="800" dirty="0"/>
                        </a:p>
                      </a:txBody>
                      <a:tcPr/>
                    </a:tc>
                    <a:extLst>
                      <a:ext uri="{0D108BD9-81ED-4DB2-BD59-A6C34878D82A}">
                        <a16:rowId xmlns:a16="http://schemas.microsoft.com/office/drawing/2014/main" val="1142298941"/>
                      </a:ext>
                    </a:extLst>
                  </a:tr>
                </a:tbl>
              </a:graphicData>
            </a:graphic>
          </p:graphicFrame>
        </mc:Choice>
        <mc:Fallback xmlns="">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extLst>
                  <p:ext uri="{D42A27DB-BD31-4B8C-83A1-F6EECF244321}">
                    <p14:modId xmlns:p14="http://schemas.microsoft.com/office/powerpoint/2010/main" val="2744296695"/>
                  </p:ext>
                </p:extLst>
              </p:nvPr>
            </p:nvGraphicFramePr>
            <p:xfrm>
              <a:off x="651555" y="1364595"/>
              <a:ext cx="4437228" cy="1728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Multi-Layer Insulation (</a:t>
                          </a:r>
                          <a:r>
                            <a:rPr lang="en-US" altLang="ko-KR" sz="800" b="1" i="0" u="none" strike="noStrike" cap="none" dirty="0" err="1">
                              <a:solidFill>
                                <a:schemeClr val="bg1"/>
                              </a:solidFill>
                              <a:effectLst/>
                              <a:latin typeface="Arial"/>
                              <a:ea typeface="Arial"/>
                              <a:cs typeface="Times New Roman" panose="02020603050405020304" pitchFamily="18" charset="0"/>
                              <a:sym typeface="Arial"/>
                            </a:rPr>
                            <a:t>Sheldahl</a:t>
                          </a:r>
                          <a:r>
                            <a:rPr lang="en-US" altLang="ko-KR" sz="800" b="1" i="0" u="none" strike="noStrike" cap="none" dirty="0">
                              <a:solidFill>
                                <a:schemeClr val="bg1"/>
                              </a:solidFill>
                              <a:effectLst/>
                              <a:latin typeface="Arial"/>
                              <a:ea typeface="Arial"/>
                              <a:cs typeface="Times New Roman" panose="02020603050405020304" pitchFamily="18" charset="0"/>
                              <a:sym typeface="Arial"/>
                            </a:rPr>
                            <a:t>)</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endParaRPr lang="ko-KR"/>
                        </a:p>
                      </a:txBody>
                      <a:tcPr>
                        <a:blipFill>
                          <a:blip r:embed="rId7"/>
                          <a:stretch>
                            <a:fillRect t="-102128" r="-100274" b="-406383"/>
                          </a:stretch>
                        </a:blipFill>
                      </a:tcPr>
                    </a:tc>
                    <a:tc>
                      <a:txBody>
                        <a:bodyPr/>
                        <a:lstStyle/>
                        <a:p>
                          <a:endParaRPr lang="ko-KR"/>
                        </a:p>
                      </a:txBody>
                      <a:tcPr>
                        <a:blipFill>
                          <a:blip r:embed="rId7"/>
                          <a:stretch>
                            <a:fillRect l="-100275" t="-102128" r="-549" b="-406383"/>
                          </a:stretch>
                        </a:blipFill>
                      </a:tcPr>
                    </a:tc>
                    <a:extLst>
                      <a:ext uri="{0D108BD9-81ED-4DB2-BD59-A6C34878D82A}">
                        <a16:rowId xmlns:a16="http://schemas.microsoft.com/office/drawing/2014/main" val="3314501901"/>
                      </a:ext>
                    </a:extLst>
                  </a:tr>
                  <a:tr h="288000">
                    <a:tc>
                      <a:txBody>
                        <a:bodyPr/>
                        <a:lstStyle/>
                        <a:p>
                          <a:endParaRPr lang="ko-KR"/>
                        </a:p>
                      </a:txBody>
                      <a:tcPr>
                        <a:blipFill>
                          <a:blip r:embed="rId7"/>
                          <a:stretch>
                            <a:fillRect t="-197917" r="-100274" b="-297917"/>
                          </a:stretch>
                        </a:blipFill>
                      </a:tcPr>
                    </a:tc>
                    <a:tc>
                      <a:txBody>
                        <a:bodyPr/>
                        <a:lstStyle/>
                        <a:p>
                          <a:endParaRPr lang="ko-KR"/>
                        </a:p>
                      </a:txBody>
                      <a:tcPr>
                        <a:blipFill>
                          <a:blip r:embed="rId7"/>
                          <a:stretch>
                            <a:fillRect l="-100275" t="-197917" r="-549" b="-297917"/>
                          </a:stretch>
                        </a:blipFill>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Area</a:t>
                          </a:r>
                          <a:endParaRPr lang="ko-KR" altLang="en-US" sz="800" b="1" dirty="0"/>
                        </a:p>
                      </a:txBody>
                      <a:tcPr>
                        <a:solidFill>
                          <a:schemeClr val="tx2"/>
                        </a:solidFill>
                      </a:tcPr>
                    </a:tc>
                    <a:tc>
                      <a:txBody>
                        <a:bodyPr/>
                        <a:lstStyle/>
                        <a:p>
                          <a:endParaRPr lang="ko-KR"/>
                        </a:p>
                      </a:txBody>
                      <a:tcPr>
                        <a:blipFill>
                          <a:blip r:embed="rId7"/>
                          <a:stretch>
                            <a:fillRect l="-100275" t="-304255" r="-549" b="-204255"/>
                          </a:stretch>
                        </a:blipFill>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Density</a:t>
                          </a:r>
                          <a:r>
                            <a:rPr lang="ko-KR" altLang="en-US" sz="800" b="1" i="0" u="none" strike="noStrike" cap="none" dirty="0">
                              <a:solidFill>
                                <a:schemeClr val="bg1"/>
                              </a:solidFill>
                              <a:latin typeface="Arial"/>
                              <a:ea typeface="Arial"/>
                              <a:cs typeface="Arial"/>
                              <a:sym typeface="Arial"/>
                            </a:rPr>
                            <a:t> </a:t>
                          </a:r>
                          <a:endParaRPr lang="ko-KR" altLang="en-US" sz="800" b="1" dirty="0"/>
                        </a:p>
                      </a:txBody>
                      <a:tcPr>
                        <a:solidFill>
                          <a:schemeClr val="tx2"/>
                        </a:solidFill>
                      </a:tcPr>
                    </a:tc>
                    <a:tc>
                      <a:txBody>
                        <a:bodyPr/>
                        <a:lstStyle/>
                        <a:p>
                          <a:endParaRPr lang="ko-KR"/>
                        </a:p>
                      </a:txBody>
                      <a:tcPr>
                        <a:blipFill>
                          <a:blip r:embed="rId7"/>
                          <a:stretch>
                            <a:fillRect l="-100275" t="-395833" r="-549" b="-100000"/>
                          </a:stretch>
                        </a:blipFill>
                      </a:tcPr>
                    </a:tc>
                    <a:extLst>
                      <a:ext uri="{0D108BD9-81ED-4DB2-BD59-A6C34878D82A}">
                        <a16:rowId xmlns:a16="http://schemas.microsoft.com/office/drawing/2014/main" val="2577145669"/>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Weight</a:t>
                          </a:r>
                          <a:endParaRPr lang="ko-KR" altLang="en-US" sz="800" b="1" dirty="0"/>
                        </a:p>
                      </a:txBody>
                      <a:tcPr>
                        <a:solidFill>
                          <a:schemeClr val="tx2"/>
                        </a:solidFill>
                      </a:tcPr>
                    </a:tc>
                    <a:tc>
                      <a:txBody>
                        <a:bodyPr/>
                        <a:lstStyle/>
                        <a:p>
                          <a:endParaRPr lang="ko-KR"/>
                        </a:p>
                      </a:txBody>
                      <a:tcPr>
                        <a:blipFill>
                          <a:blip r:embed="rId7"/>
                          <a:stretch>
                            <a:fillRect l="-100275" t="-506383" r="-549" b="-2128"/>
                          </a:stretch>
                        </a:blipFill>
                      </a:tcPr>
                    </a:tc>
                    <a:extLst>
                      <a:ext uri="{0D108BD9-81ED-4DB2-BD59-A6C34878D82A}">
                        <a16:rowId xmlns:a16="http://schemas.microsoft.com/office/drawing/2014/main" val="114229894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nvGraphicFramePr>
            <p:xfrm>
              <a:off x="651555" y="3377300"/>
              <a:ext cx="4437228" cy="1440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Surface Coating (ALION)</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absorptance (</a:t>
                          </a:r>
                          <a14:m>
                            <m:oMath xmlns:m="http://schemas.openxmlformats.org/officeDocument/2006/math">
                              <m:r>
                                <a:rPr lang="ko-KR" altLang="en-US" sz="800" b="1" i="1" smtClean="0">
                                  <a:solidFill>
                                    <a:schemeClr val="bg1"/>
                                  </a:solidFill>
                                  <a:effectLst/>
                                  <a:latin typeface="Cambria Math" panose="02040503050406030204" pitchFamily="18" charset="0"/>
                                  <a:cs typeface="Times New Roman" panose="02020603050405020304" pitchFamily="18" charset="0"/>
                                </a:rPr>
                                <m:t>𝜶</m:t>
                              </m:r>
                            </m:oMath>
                          </a14:m>
                          <a:r>
                            <a:rPr lang="en-US" altLang="ko-KR" sz="800" b="1" i="0" u="none" strike="noStrike" cap="none" dirty="0">
                              <a:solidFill>
                                <a:schemeClr val="bg1"/>
                              </a:solidFill>
                              <a:effectLst/>
                              <a:latin typeface="Arial"/>
                              <a:ea typeface="Arial"/>
                              <a:cs typeface="Times New Roman" panose="02020603050405020304" pitchFamily="18" charset="0"/>
                              <a:sym typeface="Arial"/>
                            </a:rPr>
                            <a:t>) </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latin typeface="Cambria Math" panose="02040503050406030204" pitchFamily="18" charset="0"/>
                                  </a:rPr>
                                  <m:t>0.</m:t>
                                </m:r>
                                <m:r>
                                  <a:rPr lang="en-US" altLang="ko-KR" sz="800" b="0" i="1" smtClean="0">
                                    <a:solidFill>
                                      <a:schemeClr val="bg1"/>
                                    </a:solidFill>
                                    <a:latin typeface="Cambria Math" panose="02040503050406030204" pitchFamily="18" charset="0"/>
                                  </a:rPr>
                                  <m:t>95</m:t>
                                </m:r>
                              </m:oMath>
                            </m:oMathPara>
                          </a14:m>
                          <a:endParaRPr lang="ko-KR" altLang="en-US" sz="800" dirty="0"/>
                        </a:p>
                      </a:txBody>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Emittance (</a:t>
                          </a:r>
                          <a14:m>
                            <m:oMath xmlns:m="http://schemas.openxmlformats.org/officeDocument/2006/math">
                              <m:r>
                                <a:rPr lang="en-US" altLang="ko-KR" sz="800" b="1"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𝜺</m:t>
                              </m:r>
                            </m:oMath>
                          </a14:m>
                          <a:r>
                            <a:rPr lang="en-US" altLang="ko-KR" sz="800" b="1" i="0" u="none" strike="noStrike" cap="none" dirty="0">
                              <a:solidFill>
                                <a:schemeClr val="bg1"/>
                              </a:solidFill>
                              <a:effectLst/>
                              <a:latin typeface="Arial"/>
                              <a:ea typeface="Arial"/>
                              <a:cs typeface="Times New Roman" panose="02020603050405020304" pitchFamily="18" charset="0"/>
                              <a:sym typeface="Arial"/>
                            </a:rPr>
                            <a:t>) </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latin typeface="Cambria Math" panose="02040503050406030204" pitchFamily="18" charset="0"/>
                                  </a:rPr>
                                  <m:t>0.</m:t>
                                </m:r>
                                <m:r>
                                  <a:rPr lang="en-US" altLang="ko-KR" sz="800" b="0" i="1" smtClean="0">
                                    <a:solidFill>
                                      <a:schemeClr val="bg1"/>
                                    </a:solidFill>
                                    <a:latin typeface="Cambria Math" panose="02040503050406030204" pitchFamily="18" charset="0"/>
                                  </a:rPr>
                                  <m:t>90</m:t>
                                </m:r>
                              </m:oMath>
                            </m:oMathPara>
                          </a14:m>
                          <a:endParaRPr lang="ko-KR" altLang="en-US" sz="800" dirty="0"/>
                        </a:p>
                      </a:txBody>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Area</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71.</m:t>
                                </m:r>
                                <m:r>
                                  <a:rPr lang="en-US" altLang="ko-KR" sz="800" b="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34</m:t>
                                </m:r>
                                <m:sSup>
                                  <m:sSupPr>
                                    <m:ctrlPr>
                                      <a:rPr lang="ko-KR" altLang="ko-KR" sz="800" i="1">
                                        <a:solidFill>
                                          <a:schemeClr val="bg1"/>
                                        </a:solidFill>
                                        <a:effectLst/>
                                        <a:latin typeface="Cambria Math" panose="02040503050406030204" pitchFamily="18" charset="0"/>
                                        <a:ea typeface="Cambria Math" panose="02040503050406030204" pitchFamily="18" charset="0"/>
                                      </a:rPr>
                                    </m:ctrlPr>
                                  </m:sSupPr>
                                  <m:e>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𝑚</m:t>
                                    </m:r>
                                  </m:e>
                                  <m:sup>
                                    <m:r>
                                      <a:rPr lang="en-US" altLang="ko-KR" sz="800" i="1">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2</m:t>
                                    </m:r>
                                  </m:sup>
                                </m:sSup>
                              </m:oMath>
                            </m:oMathPara>
                          </a14:m>
                          <a:endParaRPr lang="ko-KR" altLang="en-US" sz="800" dirty="0"/>
                        </a:p>
                      </a:txBody>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Weight</a:t>
                          </a:r>
                          <a:r>
                            <a:rPr lang="ko-KR" altLang="en-US" sz="800" b="1" i="0" u="none" strike="noStrike" cap="none" dirty="0">
                              <a:solidFill>
                                <a:schemeClr val="bg1"/>
                              </a:solidFill>
                              <a:latin typeface="Arial"/>
                              <a:ea typeface="Arial"/>
                              <a:cs typeface="Arial"/>
                              <a:sym typeface="Arial"/>
                            </a:rPr>
                            <a:t> </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i="1" smtClean="0">
                                    <a:solidFill>
                                      <a:schemeClr val="bg1"/>
                                    </a:solidFill>
                                    <a:latin typeface="Cambria Math" panose="02040503050406030204" pitchFamily="18" charset="0"/>
                                    <a:ea typeface="맑은 고딕" panose="020B0503020000020004" pitchFamily="50" charset="-127"/>
                                    <a:cs typeface="Times New Roman" panose="02020603050405020304" pitchFamily="18" charset="0"/>
                                  </a:rPr>
                                  <m:t>3</m:t>
                                </m:r>
                                <m:r>
                                  <a:rPr lang="en-US" altLang="ko-KR" sz="800" b="0" i="1" smtClean="0">
                                    <a:solidFill>
                                      <a:schemeClr val="bg1"/>
                                    </a:solidFill>
                                    <a:latin typeface="Cambria Math" panose="02040503050406030204" pitchFamily="18" charset="0"/>
                                    <a:ea typeface="맑은 고딕" panose="020B0503020000020004" pitchFamily="50" charset="-127"/>
                                    <a:cs typeface="Times New Roman" panose="02020603050405020304" pitchFamily="18" charset="0"/>
                                  </a:rPr>
                                  <m:t>.567</m:t>
                                </m:r>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 </m:t>
                                </m:r>
                                <m:r>
                                  <a:rPr lang="en-US" altLang="ko-KR" sz="800" i="1" smtClean="0">
                                    <a:solidFill>
                                      <a:schemeClr val="bg1"/>
                                    </a:solidFill>
                                    <a:effectLst/>
                                    <a:latin typeface="Cambria Math" panose="02040503050406030204" pitchFamily="18" charset="0"/>
                                    <a:ea typeface="맑은 고딕" panose="020B0503020000020004" pitchFamily="50" charset="-127"/>
                                    <a:cs typeface="Times New Roman" panose="02020603050405020304" pitchFamily="18" charset="0"/>
                                  </a:rPr>
                                  <m:t>𝑘𝑔</m:t>
                                </m:r>
                              </m:oMath>
                            </m:oMathPara>
                          </a14:m>
                          <a:endParaRPr lang="ko-KR" altLang="en-US" sz="800" dirty="0"/>
                        </a:p>
                      </a:txBody>
                      <a:tcPr/>
                    </a:tc>
                    <a:extLst>
                      <a:ext uri="{0D108BD9-81ED-4DB2-BD59-A6C34878D82A}">
                        <a16:rowId xmlns:a16="http://schemas.microsoft.com/office/drawing/2014/main" val="1142298941"/>
                      </a:ext>
                    </a:extLst>
                  </a:tr>
                </a:tbl>
              </a:graphicData>
            </a:graphic>
          </p:graphicFrame>
        </mc:Choice>
        <mc:Fallback xmlns="">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extLst>
                  <p:ext uri="{D42A27DB-BD31-4B8C-83A1-F6EECF244321}">
                    <p14:modId xmlns:p14="http://schemas.microsoft.com/office/powerpoint/2010/main" val="3168879463"/>
                  </p:ext>
                </p:extLst>
              </p:nvPr>
            </p:nvGraphicFramePr>
            <p:xfrm>
              <a:off x="651555" y="3377300"/>
              <a:ext cx="4437228" cy="1440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Surface Coating (ALION)</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endParaRPr lang="ko-KR"/>
                        </a:p>
                      </a:txBody>
                      <a:tcPr>
                        <a:blipFill>
                          <a:blip r:embed="rId8"/>
                          <a:stretch>
                            <a:fillRect t="-100000" r="-100274" b="-297917"/>
                          </a:stretch>
                        </a:blipFill>
                      </a:tcPr>
                    </a:tc>
                    <a:tc>
                      <a:txBody>
                        <a:bodyPr/>
                        <a:lstStyle/>
                        <a:p>
                          <a:endParaRPr lang="ko-KR"/>
                        </a:p>
                      </a:txBody>
                      <a:tcPr>
                        <a:blipFill>
                          <a:blip r:embed="rId8"/>
                          <a:stretch>
                            <a:fillRect l="-100275" t="-100000" r="-549" b="-297917"/>
                          </a:stretch>
                        </a:blipFill>
                      </a:tcPr>
                    </a:tc>
                    <a:extLst>
                      <a:ext uri="{0D108BD9-81ED-4DB2-BD59-A6C34878D82A}">
                        <a16:rowId xmlns:a16="http://schemas.microsoft.com/office/drawing/2014/main" val="3314501901"/>
                      </a:ext>
                    </a:extLst>
                  </a:tr>
                  <a:tr h="288000">
                    <a:tc>
                      <a:txBody>
                        <a:bodyPr/>
                        <a:lstStyle/>
                        <a:p>
                          <a:endParaRPr lang="ko-KR"/>
                        </a:p>
                      </a:txBody>
                      <a:tcPr>
                        <a:blipFill>
                          <a:blip r:embed="rId8"/>
                          <a:stretch>
                            <a:fillRect t="-204255" r="-100274" b="-204255"/>
                          </a:stretch>
                        </a:blipFill>
                      </a:tcPr>
                    </a:tc>
                    <a:tc>
                      <a:txBody>
                        <a:bodyPr/>
                        <a:lstStyle/>
                        <a:p>
                          <a:endParaRPr lang="ko-KR"/>
                        </a:p>
                      </a:txBody>
                      <a:tcPr>
                        <a:blipFill>
                          <a:blip r:embed="rId8"/>
                          <a:stretch>
                            <a:fillRect l="-100275" t="-204255" r="-549" b="-204255"/>
                          </a:stretch>
                        </a:blipFill>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Area</a:t>
                          </a:r>
                          <a:endParaRPr lang="ko-KR" altLang="en-US" sz="800" b="1" dirty="0"/>
                        </a:p>
                      </a:txBody>
                      <a:tcPr>
                        <a:solidFill>
                          <a:schemeClr val="tx2"/>
                        </a:solidFill>
                      </a:tcPr>
                    </a:tc>
                    <a:tc>
                      <a:txBody>
                        <a:bodyPr/>
                        <a:lstStyle/>
                        <a:p>
                          <a:endParaRPr lang="ko-KR"/>
                        </a:p>
                      </a:txBody>
                      <a:tcPr>
                        <a:blipFill>
                          <a:blip r:embed="rId8"/>
                          <a:stretch>
                            <a:fillRect l="-100275" t="-297917" r="-549" b="-100000"/>
                          </a:stretch>
                        </a:blipFill>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MLI Weight</a:t>
                          </a:r>
                          <a:r>
                            <a:rPr lang="ko-KR" altLang="en-US" sz="800" b="1" i="0" u="none" strike="noStrike" cap="none" dirty="0">
                              <a:solidFill>
                                <a:schemeClr val="bg1"/>
                              </a:solidFill>
                              <a:latin typeface="Arial"/>
                              <a:ea typeface="Arial"/>
                              <a:cs typeface="Arial"/>
                              <a:sym typeface="Arial"/>
                            </a:rPr>
                            <a:t> </a:t>
                          </a:r>
                          <a:endParaRPr lang="ko-KR" altLang="en-US" sz="800" b="1" dirty="0"/>
                        </a:p>
                      </a:txBody>
                      <a:tcPr>
                        <a:solidFill>
                          <a:schemeClr val="tx2"/>
                        </a:solidFill>
                      </a:tcPr>
                    </a:tc>
                    <a:tc>
                      <a:txBody>
                        <a:bodyPr/>
                        <a:lstStyle/>
                        <a:p>
                          <a:endParaRPr lang="ko-KR"/>
                        </a:p>
                      </a:txBody>
                      <a:tcPr>
                        <a:blipFill>
                          <a:blip r:embed="rId8"/>
                          <a:stretch>
                            <a:fillRect l="-100275" t="-406383" r="-549" b="-2128"/>
                          </a:stretch>
                        </a:blipFill>
                      </a:tcPr>
                    </a:tc>
                    <a:extLst>
                      <a:ext uri="{0D108BD9-81ED-4DB2-BD59-A6C34878D82A}">
                        <a16:rowId xmlns:a16="http://schemas.microsoft.com/office/drawing/2014/main" val="1142298941"/>
                      </a:ext>
                    </a:extLst>
                  </a:tr>
                </a:tbl>
              </a:graphicData>
            </a:graphic>
          </p:graphicFrame>
        </mc:Fallback>
      </mc:AlternateContent>
    </p:spTree>
    <p:extLst>
      <p:ext uri="{BB962C8B-B14F-4D97-AF65-F5344CB8AC3E}">
        <p14:creationId xmlns:p14="http://schemas.microsoft.com/office/powerpoint/2010/main" val="36328681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9.5 Thermal Control Hardware Selection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mc:AlternateContent xmlns:mc="http://schemas.openxmlformats.org/markup-compatibility/2006" xmlns:a14="http://schemas.microsoft.com/office/drawing/2010/main">
        <mc:Choice Requires="a14">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nvGraphicFramePr>
            <p:xfrm>
              <a:off x="651555" y="1364595"/>
              <a:ext cx="4437228" cy="1440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Radiator (TMT)</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dirty="0">
                              <a:solidFill>
                                <a:schemeClr val="bg1"/>
                              </a:solidFill>
                            </a:rPr>
                            <a:t>Maximum Power</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604.5 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𝑊</m:t>
                                </m:r>
                              </m:oMath>
                            </m:oMathPara>
                          </a14:m>
                          <a:endParaRPr lang="ko-KR" altLang="en-US" sz="800" dirty="0">
                            <a:solidFill>
                              <a:schemeClr val="bg1"/>
                            </a:solidFill>
                          </a:endParaRPr>
                        </a:p>
                      </a:txBody>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Radiator Area</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7.83</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 </m:t>
                                    </m:r>
                                    <m:r>
                                      <a:rPr lang="en-US" altLang="ko-KR" sz="800" b="0" i="1" u="none" strike="noStrike" cap="none">
                                        <a:solidFill>
                                          <a:schemeClr val="bg1"/>
                                        </a:solidFill>
                                        <a:effectLst/>
                                        <a:latin typeface="Cambria Math" panose="02040503050406030204" pitchFamily="18" charset="0"/>
                                        <a:ea typeface="Arial"/>
                                        <a:cs typeface="Arial"/>
                                        <a:sym typeface="Arial"/>
                                      </a:rPr>
                                      <m:t>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cs typeface="Arial"/>
                              <a:sym typeface="Arial"/>
                            </a:rPr>
                            <a:t>Radiator Density</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8</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r>
                                  <a:rPr lang="en-US" altLang="ko-KR" sz="800" b="0" i="1" u="none" strike="noStrike" cap="none" smtClean="0">
                                    <a:solidFill>
                                      <a:schemeClr val="bg1"/>
                                    </a:solidFill>
                                    <a:effectLst/>
                                    <a:latin typeface="Cambria Math" panose="02040503050406030204" pitchFamily="18" charset="0"/>
                                    <a:ea typeface="Arial"/>
                                    <a:cs typeface="Arial"/>
                                    <a:sym typeface="Arial"/>
                                  </a:rPr>
                                  <m:t>/</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cs typeface="Arial"/>
                              <a:sym typeface="Arial"/>
                            </a:rPr>
                            <a:t>Radiator Weight</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62.64 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oMath>
                            </m:oMathPara>
                          </a14:m>
                          <a:endParaRPr lang="ko-KR" altLang="en-US" sz="800" dirty="0">
                            <a:solidFill>
                              <a:schemeClr val="bg1"/>
                            </a:solidFill>
                          </a:endParaRPr>
                        </a:p>
                      </a:txBody>
                      <a:tcPr/>
                    </a:tc>
                    <a:extLst>
                      <a:ext uri="{0D108BD9-81ED-4DB2-BD59-A6C34878D82A}">
                        <a16:rowId xmlns:a16="http://schemas.microsoft.com/office/drawing/2014/main" val="2577145669"/>
                      </a:ext>
                    </a:extLst>
                  </a:tr>
                </a:tbl>
              </a:graphicData>
            </a:graphic>
          </p:graphicFrame>
        </mc:Choice>
        <mc:Fallback xmlns="">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extLst>
                  <p:ext uri="{D42A27DB-BD31-4B8C-83A1-F6EECF244321}">
                    <p14:modId xmlns:p14="http://schemas.microsoft.com/office/powerpoint/2010/main" val="497830949"/>
                  </p:ext>
                </p:extLst>
              </p:nvPr>
            </p:nvGraphicFramePr>
            <p:xfrm>
              <a:off x="651555" y="1364595"/>
              <a:ext cx="4437228" cy="1440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Radiator (TMT)</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dirty="0">
                              <a:solidFill>
                                <a:schemeClr val="bg1"/>
                              </a:solidFill>
                            </a:rPr>
                            <a:t>Maximum Power</a:t>
                          </a:r>
                          <a:endParaRPr lang="ko-KR" altLang="en-US" sz="800" b="1" dirty="0">
                            <a:solidFill>
                              <a:schemeClr val="bg1"/>
                            </a:solidFill>
                          </a:endParaRPr>
                        </a:p>
                      </a:txBody>
                      <a:tcPr>
                        <a:solidFill>
                          <a:schemeClr val="tx2"/>
                        </a:solidFill>
                      </a:tcPr>
                    </a:tc>
                    <a:tc>
                      <a:txBody>
                        <a:bodyPr/>
                        <a:lstStyle/>
                        <a:p>
                          <a:endParaRPr lang="ko-KR"/>
                        </a:p>
                      </a:txBody>
                      <a:tcPr>
                        <a:blipFill>
                          <a:blip r:embed="rId4"/>
                          <a:stretch>
                            <a:fillRect l="-100275" t="-102128" r="-549" b="-306383"/>
                          </a:stretch>
                        </a:blipFill>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Radiator Area</a:t>
                          </a:r>
                          <a:endParaRPr lang="ko-KR" altLang="en-US" sz="800" b="1" dirty="0">
                            <a:solidFill>
                              <a:schemeClr val="bg1"/>
                            </a:solidFill>
                          </a:endParaRPr>
                        </a:p>
                      </a:txBody>
                      <a:tcPr>
                        <a:solidFill>
                          <a:schemeClr val="tx2"/>
                        </a:solidFill>
                      </a:tcPr>
                    </a:tc>
                    <a:tc>
                      <a:txBody>
                        <a:bodyPr/>
                        <a:lstStyle/>
                        <a:p>
                          <a:endParaRPr lang="ko-KR"/>
                        </a:p>
                      </a:txBody>
                      <a:tcPr>
                        <a:blipFill>
                          <a:blip r:embed="rId4"/>
                          <a:stretch>
                            <a:fillRect l="-100275" t="-197917" r="-549" b="-200000"/>
                          </a:stretch>
                        </a:blipFill>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cs typeface="Arial"/>
                              <a:sym typeface="Arial"/>
                            </a:rPr>
                            <a:t>Radiator Density</a:t>
                          </a:r>
                          <a:endParaRPr lang="ko-KR" altLang="en-US" sz="800" b="1" dirty="0">
                            <a:solidFill>
                              <a:schemeClr val="bg1"/>
                            </a:solidFill>
                          </a:endParaRPr>
                        </a:p>
                      </a:txBody>
                      <a:tcPr>
                        <a:solidFill>
                          <a:schemeClr val="tx2"/>
                        </a:solidFill>
                      </a:tcPr>
                    </a:tc>
                    <a:tc>
                      <a:txBody>
                        <a:bodyPr/>
                        <a:lstStyle/>
                        <a:p>
                          <a:endParaRPr lang="ko-KR"/>
                        </a:p>
                      </a:txBody>
                      <a:tcPr>
                        <a:blipFill>
                          <a:blip r:embed="rId4"/>
                          <a:stretch>
                            <a:fillRect l="-100275" t="-304255" r="-549" b="-104255"/>
                          </a:stretch>
                        </a:blipFill>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cs typeface="Arial"/>
                              <a:sym typeface="Arial"/>
                            </a:rPr>
                            <a:t>Radiator Weight</a:t>
                          </a:r>
                          <a:endParaRPr lang="ko-KR" altLang="en-US" sz="800" b="1" dirty="0">
                            <a:solidFill>
                              <a:schemeClr val="bg1"/>
                            </a:solidFill>
                          </a:endParaRPr>
                        </a:p>
                      </a:txBody>
                      <a:tcPr>
                        <a:solidFill>
                          <a:schemeClr val="tx2"/>
                        </a:solidFill>
                      </a:tcPr>
                    </a:tc>
                    <a:tc>
                      <a:txBody>
                        <a:bodyPr/>
                        <a:lstStyle/>
                        <a:p>
                          <a:endParaRPr lang="ko-KR"/>
                        </a:p>
                      </a:txBody>
                      <a:tcPr>
                        <a:blipFill>
                          <a:blip r:embed="rId4"/>
                          <a:stretch>
                            <a:fillRect l="-100275" t="-395833" r="-549" b="-2083"/>
                          </a:stretch>
                        </a:blipFill>
                      </a:tcPr>
                    </a:tc>
                    <a:extLst>
                      <a:ext uri="{0D108BD9-81ED-4DB2-BD59-A6C34878D82A}">
                        <a16:rowId xmlns:a16="http://schemas.microsoft.com/office/drawing/2014/main" val="257714566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nvGraphicFramePr>
            <p:xfrm>
              <a:off x="651555" y="3473820"/>
              <a:ext cx="4437228" cy="1152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Louver (Orbital)</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Louver Area</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7.83</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 </m:t>
                                    </m:r>
                                    <m:r>
                                      <a:rPr lang="en-US" altLang="ko-KR" sz="800" b="0" i="1" u="none" strike="noStrike" cap="none">
                                        <a:solidFill>
                                          <a:schemeClr val="bg1"/>
                                        </a:solidFill>
                                        <a:effectLst/>
                                        <a:latin typeface="Cambria Math" panose="02040503050406030204" pitchFamily="18" charset="0"/>
                                        <a:ea typeface="Arial"/>
                                        <a:cs typeface="Arial"/>
                                        <a:sym typeface="Arial"/>
                                      </a:rPr>
                                      <m:t>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Louver Density </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3.28</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r>
                                  <a:rPr lang="en-US" altLang="ko-KR" sz="800" b="0" i="1" u="none" strike="noStrike" cap="none" smtClean="0">
                                    <a:solidFill>
                                      <a:schemeClr val="bg1"/>
                                    </a:solidFill>
                                    <a:effectLst/>
                                    <a:latin typeface="Cambria Math" panose="02040503050406030204" pitchFamily="18" charset="0"/>
                                    <a:ea typeface="Arial"/>
                                    <a:cs typeface="Arial"/>
                                    <a:sym typeface="Arial"/>
                                  </a:rPr>
                                  <m:t>/</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cs typeface="Arial"/>
                              <a:sym typeface="Arial"/>
                            </a:rPr>
                            <a:t>Louver Weight</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25.68</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oMath>
                            </m:oMathPara>
                          </a14:m>
                          <a:endParaRPr lang="ko-KR" altLang="en-US" sz="800" dirty="0">
                            <a:solidFill>
                              <a:schemeClr val="bg1"/>
                            </a:solidFill>
                          </a:endParaRPr>
                        </a:p>
                      </a:txBody>
                      <a:tcPr/>
                    </a:tc>
                    <a:extLst>
                      <a:ext uri="{0D108BD9-81ED-4DB2-BD59-A6C34878D82A}">
                        <a16:rowId xmlns:a16="http://schemas.microsoft.com/office/drawing/2014/main" val="3180171557"/>
                      </a:ext>
                    </a:extLst>
                  </a:tr>
                </a:tbl>
              </a:graphicData>
            </a:graphic>
          </p:graphicFrame>
        </mc:Choice>
        <mc:Fallback xmlns="">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extLst>
                  <p:ext uri="{D42A27DB-BD31-4B8C-83A1-F6EECF244321}">
                    <p14:modId xmlns:p14="http://schemas.microsoft.com/office/powerpoint/2010/main" val="2713121471"/>
                  </p:ext>
                </p:extLst>
              </p:nvPr>
            </p:nvGraphicFramePr>
            <p:xfrm>
              <a:off x="651555" y="3473820"/>
              <a:ext cx="4437228" cy="1152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Louver (Orbital)</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Louver Area</a:t>
                          </a:r>
                          <a:endParaRPr lang="ko-KR" altLang="en-US" sz="800" b="1" dirty="0"/>
                        </a:p>
                      </a:txBody>
                      <a:tcPr>
                        <a:solidFill>
                          <a:schemeClr val="tx2"/>
                        </a:solidFill>
                      </a:tcPr>
                    </a:tc>
                    <a:tc>
                      <a:txBody>
                        <a:bodyPr/>
                        <a:lstStyle/>
                        <a:p>
                          <a:endParaRPr lang="ko-KR"/>
                        </a:p>
                      </a:txBody>
                      <a:tcPr>
                        <a:blipFill>
                          <a:blip r:embed="rId5"/>
                          <a:stretch>
                            <a:fillRect l="-100275" t="-102128" r="-549" b="-206383"/>
                          </a:stretch>
                        </a:blipFill>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Louver Density </a:t>
                          </a:r>
                          <a:endParaRPr lang="ko-KR" altLang="en-US" sz="800" b="1" dirty="0"/>
                        </a:p>
                      </a:txBody>
                      <a:tcPr>
                        <a:solidFill>
                          <a:schemeClr val="tx2"/>
                        </a:solidFill>
                      </a:tcPr>
                    </a:tc>
                    <a:tc>
                      <a:txBody>
                        <a:bodyPr/>
                        <a:lstStyle/>
                        <a:p>
                          <a:endParaRPr lang="ko-KR"/>
                        </a:p>
                      </a:txBody>
                      <a:tcPr>
                        <a:blipFill>
                          <a:blip r:embed="rId5"/>
                          <a:stretch>
                            <a:fillRect l="-100275" t="-197917" r="-549" b="-102083"/>
                          </a:stretch>
                        </a:blipFill>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cs typeface="Arial"/>
                              <a:sym typeface="Arial"/>
                            </a:rPr>
                            <a:t>Louver Weight</a:t>
                          </a:r>
                          <a:endParaRPr lang="ko-KR" altLang="en-US" sz="800" b="1" dirty="0"/>
                        </a:p>
                      </a:txBody>
                      <a:tcPr>
                        <a:solidFill>
                          <a:schemeClr val="tx2"/>
                        </a:solidFill>
                      </a:tcPr>
                    </a:tc>
                    <a:tc>
                      <a:txBody>
                        <a:bodyPr/>
                        <a:lstStyle/>
                        <a:p>
                          <a:endParaRPr lang="ko-KR"/>
                        </a:p>
                      </a:txBody>
                      <a:tcPr>
                        <a:blipFill>
                          <a:blip r:embed="rId5"/>
                          <a:stretch>
                            <a:fillRect l="-100275" t="-304255" r="-549" b="-4255"/>
                          </a:stretch>
                        </a:blipFill>
                      </a:tcPr>
                    </a:tc>
                    <a:extLst>
                      <a:ext uri="{0D108BD9-81ED-4DB2-BD59-A6C34878D82A}">
                        <a16:rowId xmlns:a16="http://schemas.microsoft.com/office/drawing/2014/main" val="3180171557"/>
                      </a:ext>
                    </a:extLst>
                  </a:tr>
                </a:tbl>
              </a:graphicData>
            </a:graphic>
          </p:graphicFrame>
        </mc:Fallback>
      </mc:AlternateContent>
      <p:sp>
        <p:nvSpPr>
          <p:cNvPr id="7" name="Rectangle 4">
            <a:extLst>
              <a:ext uri="{FF2B5EF4-FFF2-40B4-BE49-F238E27FC236}">
                <a16:creationId xmlns:a16="http://schemas.microsoft.com/office/drawing/2014/main" id="{D31ADE9D-AC79-478A-B7DF-FA050AFEDFA0}"/>
              </a:ext>
            </a:extLst>
          </p:cNvPr>
          <p:cNvSpPr>
            <a:spLocks noChangeArrowheads="1"/>
          </p:cNvSpPr>
          <p:nvPr/>
        </p:nvSpPr>
        <p:spPr bwMode="auto">
          <a:xfrm>
            <a:off x="5644348" y="1417427"/>
            <a:ext cx="711954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ko-KR" altLang="en-US"/>
          </a:p>
        </p:txBody>
      </p:sp>
      <p:graphicFrame>
        <p:nvGraphicFramePr>
          <p:cNvPr id="8" name="개체 7">
            <a:extLst>
              <a:ext uri="{FF2B5EF4-FFF2-40B4-BE49-F238E27FC236}">
                <a16:creationId xmlns:a16="http://schemas.microsoft.com/office/drawing/2014/main" id="{CD96219A-88AB-49FC-AFF8-482E903AFFAA}"/>
              </a:ext>
            </a:extLst>
          </p:cNvPr>
          <p:cNvGraphicFramePr>
            <a:graphicFrameLocks noChangeAspect="1"/>
          </p:cNvGraphicFramePr>
          <p:nvPr/>
        </p:nvGraphicFramePr>
        <p:xfrm>
          <a:off x="5935324" y="1364595"/>
          <a:ext cx="2270176" cy="1538233"/>
        </p:xfrm>
        <a:graphic>
          <a:graphicData uri="http://schemas.openxmlformats.org/presentationml/2006/ole">
            <mc:AlternateContent xmlns:mc="http://schemas.openxmlformats.org/markup-compatibility/2006">
              <mc:Choice xmlns:v="urn:schemas-microsoft-com:vml" Requires="v">
                <p:oleObj spid="_x0000_s8198" name="비트맵 이미지" r:id="rId6" imgW="2812024" imgH="1905165" progId="Paint.Picture">
                  <p:embed/>
                </p:oleObj>
              </mc:Choice>
              <mc:Fallback>
                <p:oleObj name="비트맵 이미지" r:id="rId6" imgW="2812024" imgH="1905165" progId="Paint.Picture">
                  <p:embed/>
                  <p:pic>
                    <p:nvPicPr>
                      <p:cNvPr id="8" name="개체 7">
                        <a:extLst>
                          <a:ext uri="{FF2B5EF4-FFF2-40B4-BE49-F238E27FC236}">
                            <a16:creationId xmlns:a16="http://schemas.microsoft.com/office/drawing/2014/main" id="{CD96219A-88AB-49FC-AFF8-482E903AFF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5324" y="1364595"/>
                        <a:ext cx="2270176" cy="1538233"/>
                      </a:xfrm>
                      <a:prstGeom prst="rect">
                        <a:avLst/>
                      </a:prstGeom>
                      <a:noFill/>
                    </p:spPr>
                  </p:pic>
                </p:oleObj>
              </mc:Fallback>
            </mc:AlternateContent>
          </a:graphicData>
        </a:graphic>
      </p:graphicFrame>
      <p:sp>
        <p:nvSpPr>
          <p:cNvPr id="11" name="Rectangle 6">
            <a:extLst>
              <a:ext uri="{FF2B5EF4-FFF2-40B4-BE49-F238E27FC236}">
                <a16:creationId xmlns:a16="http://schemas.microsoft.com/office/drawing/2014/main" id="{EEFFE1AE-F348-49B6-9064-11DEA3FEBD3B}"/>
              </a:ext>
            </a:extLst>
          </p:cNvPr>
          <p:cNvSpPr>
            <a:spLocks noChangeArrowheads="1"/>
          </p:cNvSpPr>
          <p:nvPr/>
        </p:nvSpPr>
        <p:spPr bwMode="auto">
          <a:xfrm>
            <a:off x="5737860" y="315468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graphicFrame>
        <p:nvGraphicFramePr>
          <p:cNvPr id="12" name="개체 11">
            <a:extLst>
              <a:ext uri="{FF2B5EF4-FFF2-40B4-BE49-F238E27FC236}">
                <a16:creationId xmlns:a16="http://schemas.microsoft.com/office/drawing/2014/main" id="{32C8B3A1-22EE-4A46-B698-3A0C53FA339A}"/>
              </a:ext>
            </a:extLst>
          </p:cNvPr>
          <p:cNvGraphicFramePr>
            <a:graphicFrameLocks noChangeAspect="1"/>
          </p:cNvGraphicFramePr>
          <p:nvPr/>
        </p:nvGraphicFramePr>
        <p:xfrm>
          <a:off x="5935324" y="3328617"/>
          <a:ext cx="2270176" cy="1517598"/>
        </p:xfrm>
        <a:graphic>
          <a:graphicData uri="http://schemas.openxmlformats.org/presentationml/2006/ole">
            <mc:AlternateContent xmlns:mc="http://schemas.openxmlformats.org/markup-compatibility/2006">
              <mc:Choice xmlns:v="urn:schemas-microsoft-com:vml" Requires="v">
                <p:oleObj spid="_x0000_s8199" name="비트맵 이미지" r:id="rId8" imgW="2682472" imgH="1836190" progId="Paint.Picture">
                  <p:embed/>
                </p:oleObj>
              </mc:Choice>
              <mc:Fallback>
                <p:oleObj name="비트맵 이미지" r:id="rId8" imgW="2682472" imgH="1836190" progId="Paint.Picture">
                  <p:embed/>
                  <p:pic>
                    <p:nvPicPr>
                      <p:cNvPr id="12" name="개체 11">
                        <a:extLst>
                          <a:ext uri="{FF2B5EF4-FFF2-40B4-BE49-F238E27FC236}">
                            <a16:creationId xmlns:a16="http://schemas.microsoft.com/office/drawing/2014/main" id="{32C8B3A1-22EE-4A46-B698-3A0C53FA33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35324" y="3328617"/>
                        <a:ext cx="2270176" cy="1517598"/>
                      </a:xfrm>
                      <a:prstGeom prst="rect">
                        <a:avLst/>
                      </a:prstGeom>
                      <a:noFill/>
                    </p:spPr>
                  </p:pic>
                </p:oleObj>
              </mc:Fallback>
            </mc:AlternateContent>
          </a:graphicData>
        </a:graphic>
      </p:graphicFrame>
    </p:spTree>
    <p:extLst>
      <p:ext uri="{BB962C8B-B14F-4D97-AF65-F5344CB8AC3E}">
        <p14:creationId xmlns:p14="http://schemas.microsoft.com/office/powerpoint/2010/main" val="314342482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9.5 Thermal Control Hardware Selection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mc:AlternateContent xmlns:mc="http://schemas.openxmlformats.org/markup-compatibility/2006" xmlns:a14="http://schemas.microsoft.com/office/drawing/2010/main">
        <mc:Choice Requires="a14">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nvGraphicFramePr>
            <p:xfrm>
              <a:off x="793360" y="3395882"/>
              <a:ext cx="4408868" cy="1162365"/>
            </p:xfrm>
            <a:graphic>
              <a:graphicData uri="http://schemas.openxmlformats.org/drawingml/2006/table">
                <a:tbl>
                  <a:tblPr firstRow="1" bandRow="1">
                    <a:tableStyleId>{1C28B2AB-E718-4DF9-ADA3-83340B5D2C4E}</a:tableStyleId>
                  </a:tblPr>
                  <a:tblGrid>
                    <a:gridCol w="2204434">
                      <a:extLst>
                        <a:ext uri="{9D8B030D-6E8A-4147-A177-3AD203B41FA5}">
                          <a16:colId xmlns:a16="http://schemas.microsoft.com/office/drawing/2014/main" val="873444476"/>
                        </a:ext>
                      </a:extLst>
                    </a:gridCol>
                    <a:gridCol w="2204434">
                      <a:extLst>
                        <a:ext uri="{9D8B030D-6E8A-4147-A177-3AD203B41FA5}">
                          <a16:colId xmlns:a16="http://schemas.microsoft.com/office/drawing/2014/main" val="4026233297"/>
                        </a:ext>
                      </a:extLst>
                    </a:gridCol>
                  </a:tblGrid>
                  <a:tr h="387455">
                    <a:tc gridSpan="2">
                      <a:txBody>
                        <a:bodyPr/>
                        <a:lstStyle/>
                        <a:p>
                          <a:pPr algn="ctr"/>
                          <a:r>
                            <a:rPr lang="en-US" altLang="ko-KR" sz="1200" b="1" i="0" u="none" strike="noStrike" cap="none" dirty="0">
                              <a:solidFill>
                                <a:schemeClr val="bg1"/>
                              </a:solidFill>
                              <a:effectLst/>
                              <a:latin typeface="Arial"/>
                              <a:ea typeface="Arial"/>
                              <a:cs typeface="Times New Roman" panose="02020603050405020304" pitchFamily="18" charset="0"/>
                              <a:sym typeface="Arial"/>
                            </a:rPr>
                            <a:t>Constant Conductance Heat Pipe (</a:t>
                          </a:r>
                          <a:r>
                            <a:rPr lang="en-US" altLang="ko-KR" sz="1200" b="1" i="0" u="none" strike="noStrike" cap="none" dirty="0" err="1">
                              <a:solidFill>
                                <a:schemeClr val="bg1"/>
                              </a:solidFill>
                              <a:effectLst/>
                              <a:latin typeface="Arial"/>
                              <a:ea typeface="Arial"/>
                              <a:cs typeface="Times New Roman" panose="02020603050405020304" pitchFamily="18" charset="0"/>
                              <a:sym typeface="Arial"/>
                            </a:rPr>
                            <a:t>ThalesAlenia</a:t>
                          </a:r>
                          <a:r>
                            <a:rPr lang="en-US" altLang="ko-KR" sz="1200" b="1" i="0" u="none" strike="noStrike" cap="none" dirty="0">
                              <a:solidFill>
                                <a:schemeClr val="bg1"/>
                              </a:solidFill>
                              <a:effectLst/>
                              <a:latin typeface="Arial"/>
                              <a:ea typeface="Arial"/>
                              <a:cs typeface="Times New Roman" panose="02020603050405020304" pitchFamily="18" charset="0"/>
                              <a:sym typeface="Arial"/>
                            </a:rPr>
                            <a:t> Space)</a:t>
                          </a:r>
                        </a:p>
                      </a:txBody>
                      <a:tcPr marT="50292" marB="50292">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387455">
                    <a:tc>
                      <a:txBody>
                        <a:bodyPr/>
                        <a:lstStyle/>
                        <a:p>
                          <a:pPr algn="ctr" latinLnBrk="1"/>
                          <a:r>
                            <a:rPr lang="en-US" altLang="ko-KR" sz="1200" b="1" i="0" u="none" strike="noStrike" cap="none" dirty="0">
                              <a:solidFill>
                                <a:schemeClr val="bg1"/>
                              </a:solidFill>
                              <a:latin typeface="Arial"/>
                              <a:cs typeface="Arial"/>
                              <a:sym typeface="Arial"/>
                            </a:rPr>
                            <a:t>Heat Pipe Density</a:t>
                          </a:r>
                          <a:endParaRPr lang="ko-KR" altLang="en-US" sz="1200" b="1" dirty="0">
                            <a:solidFill>
                              <a:schemeClr val="bg1"/>
                            </a:solidFill>
                          </a:endParaRPr>
                        </a:p>
                      </a:txBody>
                      <a:tcPr marT="66938" marB="66938">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1200" b="0" i="1" u="none" strike="noStrike" cap="none" smtClean="0">
                                    <a:solidFill>
                                      <a:schemeClr val="bg1"/>
                                    </a:solidFill>
                                    <a:effectLst/>
                                    <a:latin typeface="Cambria Math" panose="02040503050406030204" pitchFamily="18" charset="0"/>
                                    <a:ea typeface="Arial"/>
                                    <a:cs typeface="Arial"/>
                                    <a:sym typeface="Arial"/>
                                  </a:rPr>
                                  <m:t>0.377 </m:t>
                                </m:r>
                                <m:r>
                                  <a:rPr lang="en-US" altLang="ko-KR" sz="1200" b="0" i="1" u="none" strike="noStrike" cap="none" smtClean="0">
                                    <a:solidFill>
                                      <a:schemeClr val="bg1"/>
                                    </a:solidFill>
                                    <a:effectLst/>
                                    <a:latin typeface="Cambria Math" panose="02040503050406030204" pitchFamily="18" charset="0"/>
                                    <a:ea typeface="Arial"/>
                                    <a:cs typeface="Arial"/>
                                    <a:sym typeface="Arial"/>
                                  </a:rPr>
                                  <m:t>𝑘𝑔</m:t>
                                </m:r>
                                <m:r>
                                  <a:rPr lang="en-US" altLang="ko-KR" sz="1200" b="0" i="1" u="none" strike="noStrike" cap="none" smtClean="0">
                                    <a:solidFill>
                                      <a:schemeClr val="bg1"/>
                                    </a:solidFill>
                                    <a:effectLst/>
                                    <a:latin typeface="Cambria Math" panose="02040503050406030204" pitchFamily="18" charset="0"/>
                                    <a:ea typeface="Arial"/>
                                    <a:cs typeface="Arial"/>
                                    <a:sym typeface="Arial"/>
                                  </a:rPr>
                                  <m:t>/</m:t>
                                </m:r>
                                <m:r>
                                  <a:rPr lang="en-US" altLang="ko-KR" sz="1200" b="0" i="1" u="none" strike="noStrike" cap="none" smtClean="0">
                                    <a:solidFill>
                                      <a:schemeClr val="bg1"/>
                                    </a:solidFill>
                                    <a:effectLst/>
                                    <a:latin typeface="Cambria Math" panose="02040503050406030204" pitchFamily="18" charset="0"/>
                                    <a:ea typeface="Arial"/>
                                    <a:cs typeface="Arial"/>
                                    <a:sym typeface="Arial"/>
                                  </a:rPr>
                                  <m:t>𝑚</m:t>
                                </m:r>
                              </m:oMath>
                            </m:oMathPara>
                          </a14:m>
                          <a:endParaRPr lang="ko-KR" altLang="en-US" sz="1200" dirty="0">
                            <a:solidFill>
                              <a:schemeClr val="bg1"/>
                            </a:solidFill>
                          </a:endParaRPr>
                        </a:p>
                      </a:txBody>
                      <a:tcPr marT="66938" marB="66938"/>
                    </a:tc>
                    <a:extLst>
                      <a:ext uri="{0D108BD9-81ED-4DB2-BD59-A6C34878D82A}">
                        <a16:rowId xmlns:a16="http://schemas.microsoft.com/office/drawing/2014/main" val="3180171557"/>
                      </a:ext>
                    </a:extLst>
                  </a:tr>
                  <a:tr h="387455">
                    <a:tc>
                      <a:txBody>
                        <a:bodyPr/>
                        <a:lstStyle/>
                        <a:p>
                          <a:pPr algn="ctr" latinLnBrk="1"/>
                          <a:r>
                            <a:rPr lang="en-US" altLang="ko-KR" sz="1200" b="1" i="0" u="none" strike="noStrike" cap="none" dirty="0">
                              <a:solidFill>
                                <a:schemeClr val="bg1"/>
                              </a:solidFill>
                              <a:latin typeface="Arial"/>
                              <a:cs typeface="Arial"/>
                              <a:sym typeface="Arial"/>
                            </a:rPr>
                            <a:t>Heat Pipe Weight</a:t>
                          </a:r>
                          <a:endParaRPr lang="ko-KR" altLang="en-US" sz="1200" b="1" dirty="0">
                            <a:solidFill>
                              <a:schemeClr val="bg1"/>
                            </a:solidFill>
                          </a:endParaRPr>
                        </a:p>
                      </a:txBody>
                      <a:tcPr marT="66938" marB="66938">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1200" b="0" i="1" u="none" strike="noStrike" cap="none" smtClean="0">
                                    <a:solidFill>
                                      <a:schemeClr val="bg1"/>
                                    </a:solidFill>
                                    <a:effectLst/>
                                    <a:latin typeface="Cambria Math" panose="02040503050406030204" pitchFamily="18" charset="0"/>
                                    <a:ea typeface="Arial"/>
                                    <a:cs typeface="Arial"/>
                                    <a:sym typeface="Arial"/>
                                  </a:rPr>
                                  <m:t>0.11 </m:t>
                                </m:r>
                                <m:r>
                                  <a:rPr lang="en-US" altLang="ko-KR" sz="1200" b="0" i="1" u="none" strike="noStrike" cap="none" smtClean="0">
                                    <a:solidFill>
                                      <a:schemeClr val="bg1"/>
                                    </a:solidFill>
                                    <a:effectLst/>
                                    <a:latin typeface="Cambria Math" panose="02040503050406030204" pitchFamily="18" charset="0"/>
                                    <a:ea typeface="Arial"/>
                                    <a:cs typeface="Arial"/>
                                    <a:sym typeface="Arial"/>
                                  </a:rPr>
                                  <m:t>𝑘𝑔</m:t>
                                </m:r>
                              </m:oMath>
                            </m:oMathPara>
                          </a14:m>
                          <a:endParaRPr lang="ko-KR" altLang="en-US" sz="1200" dirty="0">
                            <a:solidFill>
                              <a:schemeClr val="bg1"/>
                            </a:solidFill>
                          </a:endParaRPr>
                        </a:p>
                      </a:txBody>
                      <a:tcPr marT="66938" marB="66938"/>
                    </a:tc>
                    <a:extLst>
                      <a:ext uri="{0D108BD9-81ED-4DB2-BD59-A6C34878D82A}">
                        <a16:rowId xmlns:a16="http://schemas.microsoft.com/office/drawing/2014/main" val="2577145669"/>
                      </a:ext>
                    </a:extLst>
                  </a:tr>
                </a:tbl>
              </a:graphicData>
            </a:graphic>
          </p:graphicFrame>
        </mc:Choice>
        <mc:Fallback xmlns="">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extLst>
                  <p:ext uri="{D42A27DB-BD31-4B8C-83A1-F6EECF244321}">
                    <p14:modId xmlns:p14="http://schemas.microsoft.com/office/powerpoint/2010/main" val="3386730537"/>
                  </p:ext>
                </p:extLst>
              </p:nvPr>
            </p:nvGraphicFramePr>
            <p:xfrm>
              <a:off x="793360" y="3395882"/>
              <a:ext cx="4408868" cy="1162365"/>
            </p:xfrm>
            <a:graphic>
              <a:graphicData uri="http://schemas.openxmlformats.org/drawingml/2006/table">
                <a:tbl>
                  <a:tblPr firstRow="1" bandRow="1">
                    <a:tableStyleId>{1C28B2AB-E718-4DF9-ADA3-83340B5D2C4E}</a:tableStyleId>
                  </a:tblPr>
                  <a:tblGrid>
                    <a:gridCol w="2204434">
                      <a:extLst>
                        <a:ext uri="{9D8B030D-6E8A-4147-A177-3AD203B41FA5}">
                          <a16:colId xmlns:a16="http://schemas.microsoft.com/office/drawing/2014/main" val="873444476"/>
                        </a:ext>
                      </a:extLst>
                    </a:gridCol>
                    <a:gridCol w="2204434">
                      <a:extLst>
                        <a:ext uri="{9D8B030D-6E8A-4147-A177-3AD203B41FA5}">
                          <a16:colId xmlns:a16="http://schemas.microsoft.com/office/drawing/2014/main" val="4026233297"/>
                        </a:ext>
                      </a:extLst>
                    </a:gridCol>
                  </a:tblGrid>
                  <a:tr h="387455">
                    <a:tc gridSpan="2">
                      <a:txBody>
                        <a:bodyPr/>
                        <a:lstStyle/>
                        <a:p>
                          <a:pPr algn="ctr"/>
                          <a:r>
                            <a:rPr lang="en-US" altLang="ko-KR" sz="1200" b="1" i="0" u="none" strike="noStrike" cap="none" dirty="0">
                              <a:solidFill>
                                <a:schemeClr val="bg1"/>
                              </a:solidFill>
                              <a:effectLst/>
                              <a:latin typeface="Arial"/>
                              <a:ea typeface="Arial"/>
                              <a:cs typeface="Times New Roman" panose="02020603050405020304" pitchFamily="18" charset="0"/>
                              <a:sym typeface="Arial"/>
                            </a:rPr>
                            <a:t>Constant Conductance Heat Pipe (</a:t>
                          </a:r>
                          <a:r>
                            <a:rPr lang="en-US" altLang="ko-KR" sz="1200" b="1" i="0" u="none" strike="noStrike" cap="none" dirty="0" err="1">
                              <a:solidFill>
                                <a:schemeClr val="bg1"/>
                              </a:solidFill>
                              <a:effectLst/>
                              <a:latin typeface="Arial"/>
                              <a:ea typeface="Arial"/>
                              <a:cs typeface="Times New Roman" panose="02020603050405020304" pitchFamily="18" charset="0"/>
                              <a:sym typeface="Arial"/>
                            </a:rPr>
                            <a:t>ThalesAlenia</a:t>
                          </a:r>
                          <a:r>
                            <a:rPr lang="en-US" altLang="ko-KR" sz="1200" b="1" i="0" u="none" strike="noStrike" cap="none" dirty="0">
                              <a:solidFill>
                                <a:schemeClr val="bg1"/>
                              </a:solidFill>
                              <a:effectLst/>
                              <a:latin typeface="Arial"/>
                              <a:ea typeface="Arial"/>
                              <a:cs typeface="Times New Roman" panose="02020603050405020304" pitchFamily="18" charset="0"/>
                              <a:sym typeface="Arial"/>
                            </a:rPr>
                            <a:t> Space)</a:t>
                          </a:r>
                        </a:p>
                      </a:txBody>
                      <a:tcPr marT="50292" marB="50292">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387455">
                    <a:tc>
                      <a:txBody>
                        <a:bodyPr/>
                        <a:lstStyle/>
                        <a:p>
                          <a:pPr algn="ctr" latinLnBrk="1"/>
                          <a:r>
                            <a:rPr lang="en-US" altLang="ko-KR" sz="1200" b="1" i="0" u="none" strike="noStrike" cap="none" dirty="0">
                              <a:solidFill>
                                <a:schemeClr val="bg1"/>
                              </a:solidFill>
                              <a:latin typeface="Arial"/>
                              <a:cs typeface="Arial"/>
                              <a:sym typeface="Arial"/>
                            </a:rPr>
                            <a:t>Heat Pipe Density</a:t>
                          </a:r>
                          <a:endParaRPr lang="ko-KR" altLang="en-US" sz="1200" b="1" dirty="0">
                            <a:solidFill>
                              <a:schemeClr val="bg1"/>
                            </a:solidFill>
                          </a:endParaRPr>
                        </a:p>
                      </a:txBody>
                      <a:tcPr marT="66938" marB="66938">
                        <a:solidFill>
                          <a:schemeClr val="tx2"/>
                        </a:solidFill>
                      </a:tcPr>
                    </a:tc>
                    <a:tc>
                      <a:txBody>
                        <a:bodyPr/>
                        <a:lstStyle/>
                        <a:p>
                          <a:endParaRPr lang="ko-KR"/>
                        </a:p>
                      </a:txBody>
                      <a:tcPr marT="66938" marB="66938">
                        <a:blipFill>
                          <a:blip r:embed="rId4"/>
                          <a:stretch>
                            <a:fillRect l="-100276" t="-103175" r="-276" b="-104762"/>
                          </a:stretch>
                        </a:blipFill>
                      </a:tcPr>
                    </a:tc>
                    <a:extLst>
                      <a:ext uri="{0D108BD9-81ED-4DB2-BD59-A6C34878D82A}">
                        <a16:rowId xmlns:a16="http://schemas.microsoft.com/office/drawing/2014/main" val="3180171557"/>
                      </a:ext>
                    </a:extLst>
                  </a:tr>
                  <a:tr h="387455">
                    <a:tc>
                      <a:txBody>
                        <a:bodyPr/>
                        <a:lstStyle/>
                        <a:p>
                          <a:pPr algn="ctr" latinLnBrk="1"/>
                          <a:r>
                            <a:rPr lang="en-US" altLang="ko-KR" sz="1200" b="1" i="0" u="none" strike="noStrike" cap="none" dirty="0">
                              <a:solidFill>
                                <a:schemeClr val="bg1"/>
                              </a:solidFill>
                              <a:latin typeface="Arial"/>
                              <a:cs typeface="Arial"/>
                              <a:sym typeface="Arial"/>
                            </a:rPr>
                            <a:t>Heat Pipe Weight</a:t>
                          </a:r>
                          <a:endParaRPr lang="ko-KR" altLang="en-US" sz="1200" b="1" dirty="0">
                            <a:solidFill>
                              <a:schemeClr val="bg1"/>
                            </a:solidFill>
                          </a:endParaRPr>
                        </a:p>
                      </a:txBody>
                      <a:tcPr marT="66938" marB="66938">
                        <a:solidFill>
                          <a:schemeClr val="tx2"/>
                        </a:solidFill>
                      </a:tcPr>
                    </a:tc>
                    <a:tc>
                      <a:txBody>
                        <a:bodyPr/>
                        <a:lstStyle/>
                        <a:p>
                          <a:endParaRPr lang="ko-KR"/>
                        </a:p>
                      </a:txBody>
                      <a:tcPr marT="66938" marB="66938">
                        <a:blipFill>
                          <a:blip r:embed="rId4"/>
                          <a:stretch>
                            <a:fillRect l="-100276" t="-200000" r="-276" b="-3125"/>
                          </a:stretch>
                        </a:blipFill>
                      </a:tcPr>
                    </a:tc>
                    <a:extLst>
                      <a:ext uri="{0D108BD9-81ED-4DB2-BD59-A6C34878D82A}">
                        <a16:rowId xmlns:a16="http://schemas.microsoft.com/office/drawing/2014/main" val="2577145669"/>
                      </a:ext>
                    </a:extLst>
                  </a:tr>
                </a:tbl>
              </a:graphicData>
            </a:graphic>
          </p:graphicFrame>
        </mc:Fallback>
      </mc:AlternateContent>
      <p:sp>
        <p:nvSpPr>
          <p:cNvPr id="7" name="Rectangle 4">
            <a:extLst>
              <a:ext uri="{FF2B5EF4-FFF2-40B4-BE49-F238E27FC236}">
                <a16:creationId xmlns:a16="http://schemas.microsoft.com/office/drawing/2014/main" id="{876DC4D3-0085-4B54-8417-2526CC317DF8}"/>
              </a:ext>
            </a:extLst>
          </p:cNvPr>
          <p:cNvSpPr>
            <a:spLocks noChangeArrowheads="1"/>
          </p:cNvSpPr>
          <p:nvPr/>
        </p:nvSpPr>
        <p:spPr bwMode="auto">
          <a:xfrm>
            <a:off x="5702300" y="115972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graphicFrame>
        <p:nvGraphicFramePr>
          <p:cNvPr id="8" name="개체 7">
            <a:extLst>
              <a:ext uri="{FF2B5EF4-FFF2-40B4-BE49-F238E27FC236}">
                <a16:creationId xmlns:a16="http://schemas.microsoft.com/office/drawing/2014/main" id="{F5B5E8A9-DE59-450B-9BBC-EABCA6781797}"/>
              </a:ext>
            </a:extLst>
          </p:cNvPr>
          <p:cNvGraphicFramePr>
            <a:graphicFrameLocks noChangeAspect="1"/>
          </p:cNvGraphicFramePr>
          <p:nvPr/>
        </p:nvGraphicFramePr>
        <p:xfrm>
          <a:off x="1516564" y="1716245"/>
          <a:ext cx="2685820" cy="1575590"/>
        </p:xfrm>
        <a:graphic>
          <a:graphicData uri="http://schemas.openxmlformats.org/presentationml/2006/ole">
            <mc:AlternateContent xmlns:mc="http://schemas.openxmlformats.org/markup-compatibility/2006">
              <mc:Choice xmlns:v="urn:schemas-microsoft-com:vml" Requires="v">
                <p:oleObj spid="_x0000_s9222" name="비트맵 이미지" r:id="rId5" imgW="5189670" imgH="4038095" progId="Paint.Picture">
                  <p:embed/>
                </p:oleObj>
              </mc:Choice>
              <mc:Fallback>
                <p:oleObj name="비트맵 이미지" r:id="rId5" imgW="5189670" imgH="4038095" progId="Paint.Picture">
                  <p:embed/>
                  <p:pic>
                    <p:nvPicPr>
                      <p:cNvPr id="8" name="개체 7">
                        <a:extLst>
                          <a:ext uri="{FF2B5EF4-FFF2-40B4-BE49-F238E27FC236}">
                            <a16:creationId xmlns:a16="http://schemas.microsoft.com/office/drawing/2014/main" id="{F5B5E8A9-DE59-450B-9BBC-EABCA67817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16564" y="1716245"/>
                        <a:ext cx="2685820" cy="1575590"/>
                      </a:xfrm>
                      <a:prstGeom prst="rect">
                        <a:avLst/>
                      </a:prstGeom>
                      <a:noFill/>
                    </p:spPr>
                  </p:pic>
                </p:oleObj>
              </mc:Fallback>
            </mc:AlternateContent>
          </a:graphicData>
        </a:graphic>
      </p:graphicFrame>
      <p:sp>
        <p:nvSpPr>
          <p:cNvPr id="11" name="Rectangle 6">
            <a:extLst>
              <a:ext uri="{FF2B5EF4-FFF2-40B4-BE49-F238E27FC236}">
                <a16:creationId xmlns:a16="http://schemas.microsoft.com/office/drawing/2014/main" id="{A8CA3302-A2BB-4441-866B-1D9D63D30A3C}"/>
              </a:ext>
            </a:extLst>
          </p:cNvPr>
          <p:cNvSpPr>
            <a:spLocks noChangeArrowheads="1"/>
          </p:cNvSpPr>
          <p:nvPr/>
        </p:nvSpPr>
        <p:spPr bwMode="auto">
          <a:xfrm>
            <a:off x="4572000" y="244036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graphicFrame>
        <p:nvGraphicFramePr>
          <p:cNvPr id="5" name="개체 4">
            <a:extLst>
              <a:ext uri="{FF2B5EF4-FFF2-40B4-BE49-F238E27FC236}">
                <a16:creationId xmlns:a16="http://schemas.microsoft.com/office/drawing/2014/main" id="{C7AA82BC-8051-44E0-8A49-6DBDAEDDF8DC}"/>
              </a:ext>
            </a:extLst>
          </p:cNvPr>
          <p:cNvGraphicFramePr>
            <a:graphicFrameLocks noChangeAspect="1"/>
          </p:cNvGraphicFramePr>
          <p:nvPr/>
        </p:nvGraphicFramePr>
        <p:xfrm>
          <a:off x="5285573" y="1729913"/>
          <a:ext cx="3732466" cy="2828334"/>
        </p:xfrm>
        <a:graphic>
          <a:graphicData uri="http://schemas.openxmlformats.org/presentationml/2006/ole">
            <mc:AlternateContent xmlns:mc="http://schemas.openxmlformats.org/markup-compatibility/2006">
              <mc:Choice xmlns:v="urn:schemas-microsoft-com:vml" Requires="v">
                <p:oleObj spid="_x0000_s9223" name="비트맵 이미지" r:id="rId7" imgW="5570280" imgH="4221360" progId="Paint.Picture">
                  <p:embed/>
                </p:oleObj>
              </mc:Choice>
              <mc:Fallback>
                <p:oleObj name="비트맵 이미지" r:id="rId7" imgW="5570280" imgH="4221360" progId="Paint.Picture">
                  <p:embed/>
                  <p:pic>
                    <p:nvPicPr>
                      <p:cNvPr id="5" name="개체 4">
                        <a:extLst>
                          <a:ext uri="{FF2B5EF4-FFF2-40B4-BE49-F238E27FC236}">
                            <a16:creationId xmlns:a16="http://schemas.microsoft.com/office/drawing/2014/main" id="{C7AA82BC-8051-44E0-8A49-6DBDAEDDF8DC}"/>
                          </a:ext>
                        </a:extLst>
                      </p:cNvPr>
                      <p:cNvPicPr/>
                      <p:nvPr/>
                    </p:nvPicPr>
                    <p:blipFill>
                      <a:blip r:embed="rId8"/>
                      <a:stretch>
                        <a:fillRect/>
                      </a:stretch>
                    </p:blipFill>
                    <p:spPr>
                      <a:xfrm>
                        <a:off x="5285573" y="1729913"/>
                        <a:ext cx="3732466" cy="2828334"/>
                      </a:xfrm>
                      <a:prstGeom prst="rect">
                        <a:avLst/>
                      </a:prstGeom>
                    </p:spPr>
                  </p:pic>
                </p:oleObj>
              </mc:Fallback>
            </mc:AlternateContent>
          </a:graphicData>
        </a:graphic>
      </p:graphicFrame>
    </p:spTree>
    <p:extLst>
      <p:ext uri="{BB962C8B-B14F-4D97-AF65-F5344CB8AC3E}">
        <p14:creationId xmlns:p14="http://schemas.microsoft.com/office/powerpoint/2010/main" val="16343468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9"/>
          <p:cNvSpPr txBox="1">
            <a:spLocks noGrp="1"/>
          </p:cNvSpPr>
          <p:nvPr>
            <p:ph type="title"/>
          </p:nvPr>
        </p:nvSpPr>
        <p:spPr>
          <a:xfrm>
            <a:off x="938500" y="445025"/>
            <a:ext cx="7819738" cy="941400"/>
          </a:xfrm>
          <a:prstGeom prst="rect">
            <a:avLst/>
          </a:prstGeom>
        </p:spPr>
        <p:txBody>
          <a:bodyPr spcFirstLastPara="1" wrap="square" lIns="91425" tIns="91425" rIns="91425" bIns="91425" anchor="t" anchorCtr="0">
            <a:noAutofit/>
          </a:bodyPr>
          <a:lstStyle/>
          <a:p>
            <a:br>
              <a:rPr lang="ko-KR" altLang="ko-KR" sz="1800" kern="100" dirty="0">
                <a:effectLst/>
                <a:latin typeface="맑은 고딕" panose="020B0503020000020004" pitchFamily="50" charset="-127"/>
                <a:ea typeface="맑은 고딕" panose="020B0503020000020004" pitchFamily="50" charset="-127"/>
                <a:cs typeface="Times New Roman" panose="02020603050405020304" pitchFamily="18" charset="0"/>
              </a:rPr>
            </a:br>
            <a:endParaRPr lang="it-IT" sz="2800" dirty="0"/>
          </a:p>
        </p:txBody>
      </p:sp>
      <p:cxnSp>
        <p:nvCxnSpPr>
          <p:cNvPr id="172" name="Google Shape;172;p39"/>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3" name="Rectangle 2">
            <a:extLst>
              <a:ext uri="{FF2B5EF4-FFF2-40B4-BE49-F238E27FC236}">
                <a16:creationId xmlns:a16="http://schemas.microsoft.com/office/drawing/2014/main" id="{209EEED2-DA55-4383-B770-97998F11D86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6" name="Rectangle 4">
            <a:extLst>
              <a:ext uri="{FF2B5EF4-FFF2-40B4-BE49-F238E27FC236}">
                <a16:creationId xmlns:a16="http://schemas.microsoft.com/office/drawing/2014/main" id="{C4E8C570-41D4-4603-8998-7B27153FD39A}"/>
              </a:ext>
            </a:extLst>
          </p:cNvPr>
          <p:cNvSpPr>
            <a:spLocks noChangeArrowheads="1"/>
          </p:cNvSpPr>
          <p:nvPr/>
        </p:nvSpPr>
        <p:spPr bwMode="auto">
          <a:xfrm>
            <a:off x="7508741" y="23007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4" name="TextBox 3">
            <a:extLst>
              <a:ext uri="{FF2B5EF4-FFF2-40B4-BE49-F238E27FC236}">
                <a16:creationId xmlns:a16="http://schemas.microsoft.com/office/drawing/2014/main" id="{55F30593-169D-45CB-88E4-E0B2964D6AF6}"/>
              </a:ext>
            </a:extLst>
          </p:cNvPr>
          <p:cNvSpPr txBox="1"/>
          <p:nvPr/>
        </p:nvSpPr>
        <p:spPr>
          <a:xfrm>
            <a:off x="378619" y="3643313"/>
            <a:ext cx="814387" cy="307777"/>
          </a:xfrm>
          <a:prstGeom prst="rect">
            <a:avLst/>
          </a:prstGeom>
          <a:noFill/>
        </p:spPr>
        <p:txBody>
          <a:bodyPr wrap="square" rtlCol="0">
            <a:spAutoFit/>
          </a:bodyPr>
          <a:lstStyle/>
          <a:p>
            <a:endParaRPr lang="ko-KR" altLang="en-US" dirty="0">
              <a:solidFill>
                <a:schemeClr val="bg1"/>
              </a:solidFill>
            </a:endParaRPr>
          </a:p>
        </p:txBody>
      </p:sp>
      <p:sp>
        <p:nvSpPr>
          <p:cNvPr id="10" name="Google Shape;214;p44">
            <a:extLst>
              <a:ext uri="{FF2B5EF4-FFF2-40B4-BE49-F238E27FC236}">
                <a16:creationId xmlns:a16="http://schemas.microsoft.com/office/drawing/2014/main" id="{0BDAA886-E7FC-4B0A-BFC7-4DE191686D2D}"/>
              </a:ext>
            </a:extLst>
          </p:cNvPr>
          <p:cNvSpPr txBox="1">
            <a:spLocks/>
          </p:cNvSpPr>
          <p:nvPr/>
        </p:nvSpPr>
        <p:spPr>
          <a:xfrm>
            <a:off x="938500" y="445025"/>
            <a:ext cx="7855456" cy="941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24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r>
              <a:rPr lang="en-US" altLang="ko-KR" sz="2800" dirty="0"/>
              <a:t>9.5 Thermal Control Hardware Selection</a:t>
            </a:r>
            <a:endParaRPr lang="en-US" sz="2800" dirty="0"/>
          </a:p>
        </p:txBody>
      </p:sp>
      <p:sp>
        <p:nvSpPr>
          <p:cNvPr id="2" name="Rectangle 2">
            <a:extLst>
              <a:ext uri="{FF2B5EF4-FFF2-40B4-BE49-F238E27FC236}">
                <a16:creationId xmlns:a16="http://schemas.microsoft.com/office/drawing/2014/main" id="{C8313367-8A96-451D-B791-9BFB42A2D86A}"/>
              </a:ext>
            </a:extLst>
          </p:cNvPr>
          <p:cNvSpPr>
            <a:spLocks noChangeArrowheads="1"/>
          </p:cNvSpPr>
          <p:nvPr/>
        </p:nvSpPr>
        <p:spPr bwMode="auto">
          <a:xfrm>
            <a:off x="1397620" y="208899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mc:AlternateContent xmlns:mc="http://schemas.openxmlformats.org/markup-compatibility/2006" xmlns:a14="http://schemas.microsoft.com/office/drawing/2010/main">
        <mc:Choice Requires="a14">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nvGraphicFramePr>
            <p:xfrm>
              <a:off x="651555" y="1364595"/>
              <a:ext cx="4437228" cy="1728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Heater (Minco)</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Heater Power</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87.2 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𝑊</m:t>
                                </m:r>
                              </m:oMath>
                            </m:oMathPara>
                          </a14:m>
                          <a:endParaRPr lang="ko-KR" altLang="en-US" sz="800" dirty="0">
                            <a:solidFill>
                              <a:schemeClr val="bg1"/>
                            </a:solidFill>
                          </a:endParaRPr>
                        </a:p>
                      </a:txBody>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cs typeface="Times New Roman" panose="02020603050405020304" pitchFamily="18" charset="0"/>
                              <a:sym typeface="Arial"/>
                            </a:rPr>
                            <a:t>Heater Power Density</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1.55 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𝑊</m:t>
                                </m:r>
                                <m:r>
                                  <a:rPr lang="en-US" altLang="ko-KR" sz="800" b="0" i="1" u="none" strike="noStrike" cap="none" smtClean="0">
                                    <a:solidFill>
                                      <a:schemeClr val="bg1"/>
                                    </a:solidFill>
                                    <a:effectLst/>
                                    <a:latin typeface="Cambria Math" panose="02040503050406030204" pitchFamily="18" charset="0"/>
                                    <a:ea typeface="Arial"/>
                                    <a:cs typeface="Arial"/>
                                    <a:sym typeface="Arial"/>
                                  </a:rPr>
                                  <m:t>/</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𝑐𝑚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Heater Area</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56.26 </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𝑐𝑚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cs typeface="Arial"/>
                              <a:sym typeface="Arial"/>
                            </a:rPr>
                            <a:t>Heater Density</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7.5 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r>
                                  <a:rPr lang="en-US" altLang="ko-KR" sz="800" b="0" i="1" u="none" strike="noStrike" cap="none" smtClean="0">
                                    <a:solidFill>
                                      <a:schemeClr val="bg1"/>
                                    </a:solidFill>
                                    <a:effectLst/>
                                    <a:latin typeface="Cambria Math" panose="02040503050406030204" pitchFamily="18" charset="0"/>
                                    <a:ea typeface="Arial"/>
                                    <a:cs typeface="Arial"/>
                                    <a:sym typeface="Arial"/>
                                  </a:rPr>
                                  <m:t>/</m:t>
                                </m:r>
                                <m:sSup>
                                  <m:sSupPr>
                                    <m:ctrlPr>
                                      <a:rPr lang="ko-KR" altLang="ko-KR" sz="800" b="0" i="1" u="none" strike="noStrike" cap="none">
                                        <a:solidFill>
                                          <a:schemeClr val="bg1"/>
                                        </a:solidFill>
                                        <a:effectLst/>
                                        <a:latin typeface="Cambria Math" panose="02040503050406030204" pitchFamily="18" charset="0"/>
                                        <a:ea typeface="Arial"/>
                                        <a:cs typeface="Arial"/>
                                        <a:sym typeface="Arial"/>
                                      </a:rPr>
                                    </m:ctrlPr>
                                  </m:sSupPr>
                                  <m:e>
                                    <m:r>
                                      <a:rPr lang="en-US" altLang="ko-KR" sz="800" b="0" i="1" u="none" strike="noStrike" cap="none">
                                        <a:solidFill>
                                          <a:schemeClr val="bg1"/>
                                        </a:solidFill>
                                        <a:effectLst/>
                                        <a:latin typeface="Cambria Math" panose="02040503050406030204" pitchFamily="18" charset="0"/>
                                        <a:ea typeface="Arial"/>
                                        <a:cs typeface="Arial"/>
                                        <a:sym typeface="Arial"/>
                                      </a:rPr>
                                      <m:t>𝑚</m:t>
                                    </m:r>
                                  </m:e>
                                  <m:sup>
                                    <m:r>
                                      <a:rPr lang="en-US" altLang="ko-KR" sz="800" b="0" i="1" u="none" strike="noStrike" cap="none">
                                        <a:solidFill>
                                          <a:schemeClr val="bg1"/>
                                        </a:solidFill>
                                        <a:effectLst/>
                                        <a:latin typeface="Cambria Math" panose="02040503050406030204" pitchFamily="18" charset="0"/>
                                        <a:ea typeface="Arial"/>
                                        <a:cs typeface="Arial"/>
                                        <a:sym typeface="Arial"/>
                                      </a:rPr>
                                      <m:t>2</m:t>
                                    </m:r>
                                  </m:sup>
                                </m:sSup>
                              </m:oMath>
                            </m:oMathPara>
                          </a14:m>
                          <a:endParaRPr lang="ko-KR" altLang="en-US" sz="800" dirty="0">
                            <a:solidFill>
                              <a:schemeClr val="bg1"/>
                            </a:solidFill>
                          </a:endParaRPr>
                        </a:p>
                      </a:txBody>
                      <a:tcPr/>
                    </a:tc>
                    <a:extLst>
                      <a:ext uri="{0D108BD9-81ED-4DB2-BD59-A6C34878D82A}">
                        <a16:rowId xmlns:a16="http://schemas.microsoft.com/office/drawing/2014/main" val="2577145669"/>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Heater Weight</a:t>
                          </a:r>
                          <a:endParaRPr lang="ko-KR" altLang="en-US" sz="800" b="1" dirty="0"/>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0.042 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oMath>
                            </m:oMathPara>
                          </a14:m>
                          <a:endParaRPr lang="ko-KR" altLang="en-US" sz="800" dirty="0">
                            <a:solidFill>
                              <a:schemeClr val="bg1"/>
                            </a:solidFill>
                          </a:endParaRPr>
                        </a:p>
                      </a:txBody>
                      <a:tcPr/>
                    </a:tc>
                    <a:extLst>
                      <a:ext uri="{0D108BD9-81ED-4DB2-BD59-A6C34878D82A}">
                        <a16:rowId xmlns:a16="http://schemas.microsoft.com/office/drawing/2014/main" val="1142298941"/>
                      </a:ext>
                    </a:extLst>
                  </a:tr>
                </a:tbl>
              </a:graphicData>
            </a:graphic>
          </p:graphicFrame>
        </mc:Choice>
        <mc:Fallback xmlns="">
          <p:graphicFrame>
            <p:nvGraphicFramePr>
              <p:cNvPr id="9" name="표 10">
                <a:extLst>
                  <a:ext uri="{FF2B5EF4-FFF2-40B4-BE49-F238E27FC236}">
                    <a16:creationId xmlns:a16="http://schemas.microsoft.com/office/drawing/2014/main" id="{06220D80-CEE1-462C-9E76-F40882B86042}"/>
                  </a:ext>
                </a:extLst>
              </p:cNvPr>
              <p:cNvGraphicFramePr>
                <a:graphicFrameLocks noGrp="1"/>
              </p:cNvGraphicFramePr>
              <p:nvPr>
                <p:extLst>
                  <p:ext uri="{D42A27DB-BD31-4B8C-83A1-F6EECF244321}">
                    <p14:modId xmlns:p14="http://schemas.microsoft.com/office/powerpoint/2010/main" val="436027095"/>
                  </p:ext>
                </p:extLst>
              </p:nvPr>
            </p:nvGraphicFramePr>
            <p:xfrm>
              <a:off x="651555" y="1364595"/>
              <a:ext cx="4437228" cy="172800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Heater (Minco)</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Heater Power</a:t>
                          </a:r>
                          <a:endParaRPr lang="ko-KR" altLang="en-US" sz="800" b="1" dirty="0"/>
                        </a:p>
                      </a:txBody>
                      <a:tcPr>
                        <a:solidFill>
                          <a:schemeClr val="tx2"/>
                        </a:solidFill>
                      </a:tcPr>
                    </a:tc>
                    <a:tc>
                      <a:txBody>
                        <a:bodyPr/>
                        <a:lstStyle/>
                        <a:p>
                          <a:endParaRPr lang="ko-KR"/>
                        </a:p>
                      </a:txBody>
                      <a:tcPr>
                        <a:blipFill>
                          <a:blip r:embed="rId4"/>
                          <a:stretch>
                            <a:fillRect l="-100275" t="-102128" r="-549" b="-406383"/>
                          </a:stretch>
                        </a:blipFill>
                      </a:tcPr>
                    </a:tc>
                    <a:extLst>
                      <a:ext uri="{0D108BD9-81ED-4DB2-BD59-A6C34878D82A}">
                        <a16:rowId xmlns:a16="http://schemas.microsoft.com/office/drawing/2014/main" val="3314501901"/>
                      </a:ext>
                    </a:extLst>
                  </a:tr>
                  <a:tr h="288000">
                    <a:tc>
                      <a:txBody>
                        <a:bodyPr/>
                        <a:lstStyle/>
                        <a:p>
                          <a:pPr algn="ctr" latinLnBrk="1"/>
                          <a:r>
                            <a:rPr lang="en-US" altLang="ko-KR" sz="800" b="1" i="0" u="none" strike="noStrike" cap="none" dirty="0">
                              <a:solidFill>
                                <a:schemeClr val="bg1"/>
                              </a:solidFill>
                              <a:effectLst/>
                              <a:latin typeface="Arial"/>
                              <a:cs typeface="Times New Roman" panose="02020603050405020304" pitchFamily="18" charset="0"/>
                              <a:sym typeface="Arial"/>
                            </a:rPr>
                            <a:t>Heater Power Density</a:t>
                          </a:r>
                          <a:endParaRPr lang="ko-KR" altLang="en-US" sz="800" b="1" dirty="0"/>
                        </a:p>
                      </a:txBody>
                      <a:tcPr>
                        <a:solidFill>
                          <a:schemeClr val="tx2"/>
                        </a:solidFill>
                      </a:tcPr>
                    </a:tc>
                    <a:tc>
                      <a:txBody>
                        <a:bodyPr/>
                        <a:lstStyle/>
                        <a:p>
                          <a:endParaRPr lang="ko-KR"/>
                        </a:p>
                      </a:txBody>
                      <a:tcPr>
                        <a:blipFill>
                          <a:blip r:embed="rId4"/>
                          <a:stretch>
                            <a:fillRect l="-100275" t="-197917" r="-549" b="-297917"/>
                          </a:stretch>
                        </a:blipFill>
                      </a:tcPr>
                    </a:tc>
                    <a:extLst>
                      <a:ext uri="{0D108BD9-81ED-4DB2-BD59-A6C34878D82A}">
                        <a16:rowId xmlns:a16="http://schemas.microsoft.com/office/drawing/2014/main" val="1459111401"/>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Heater Area</a:t>
                          </a:r>
                          <a:endParaRPr lang="ko-KR" altLang="en-US" sz="800" b="1" dirty="0"/>
                        </a:p>
                      </a:txBody>
                      <a:tcPr>
                        <a:solidFill>
                          <a:schemeClr val="tx2"/>
                        </a:solidFill>
                      </a:tcPr>
                    </a:tc>
                    <a:tc>
                      <a:txBody>
                        <a:bodyPr/>
                        <a:lstStyle/>
                        <a:p>
                          <a:endParaRPr lang="ko-KR"/>
                        </a:p>
                      </a:txBody>
                      <a:tcPr>
                        <a:blipFill>
                          <a:blip r:embed="rId4"/>
                          <a:stretch>
                            <a:fillRect l="-100275" t="-304255" r="-549" b="-204255"/>
                          </a:stretch>
                        </a:blipFill>
                      </a:tcPr>
                    </a:tc>
                    <a:extLst>
                      <a:ext uri="{0D108BD9-81ED-4DB2-BD59-A6C34878D82A}">
                        <a16:rowId xmlns:a16="http://schemas.microsoft.com/office/drawing/2014/main" val="3180171557"/>
                      </a:ext>
                    </a:extLst>
                  </a:tr>
                  <a:tr h="288000">
                    <a:tc>
                      <a:txBody>
                        <a:bodyPr/>
                        <a:lstStyle/>
                        <a:p>
                          <a:pPr algn="ctr" latinLnBrk="1"/>
                          <a:r>
                            <a:rPr lang="en-US" altLang="ko-KR" sz="800" b="1" i="0" u="none" strike="noStrike" cap="none" dirty="0">
                              <a:solidFill>
                                <a:schemeClr val="bg1"/>
                              </a:solidFill>
                              <a:latin typeface="Arial"/>
                              <a:cs typeface="Arial"/>
                              <a:sym typeface="Arial"/>
                            </a:rPr>
                            <a:t>Heater Density</a:t>
                          </a:r>
                          <a:endParaRPr lang="ko-KR" altLang="en-US" sz="800" b="1" dirty="0"/>
                        </a:p>
                      </a:txBody>
                      <a:tcPr>
                        <a:solidFill>
                          <a:schemeClr val="tx2"/>
                        </a:solidFill>
                      </a:tcPr>
                    </a:tc>
                    <a:tc>
                      <a:txBody>
                        <a:bodyPr/>
                        <a:lstStyle/>
                        <a:p>
                          <a:endParaRPr lang="ko-KR"/>
                        </a:p>
                      </a:txBody>
                      <a:tcPr>
                        <a:blipFill>
                          <a:blip r:embed="rId4"/>
                          <a:stretch>
                            <a:fillRect l="-100275" t="-395833" r="-549" b="-100000"/>
                          </a:stretch>
                        </a:blipFill>
                      </a:tcPr>
                    </a:tc>
                    <a:extLst>
                      <a:ext uri="{0D108BD9-81ED-4DB2-BD59-A6C34878D82A}">
                        <a16:rowId xmlns:a16="http://schemas.microsoft.com/office/drawing/2014/main" val="2577145669"/>
                      </a:ext>
                    </a:extLst>
                  </a:tr>
                  <a:tr h="288000">
                    <a:tc>
                      <a:txBody>
                        <a:bodyPr/>
                        <a:lstStyle/>
                        <a:p>
                          <a:pPr algn="ctr" latinLnBrk="1"/>
                          <a:r>
                            <a:rPr lang="en-US" altLang="ko-KR" sz="800" b="1" i="0" u="none" strike="noStrike" cap="none" dirty="0">
                              <a:solidFill>
                                <a:schemeClr val="bg1"/>
                              </a:solidFill>
                              <a:latin typeface="Arial"/>
                              <a:ea typeface="Arial"/>
                              <a:cs typeface="Arial"/>
                              <a:sym typeface="Arial"/>
                            </a:rPr>
                            <a:t>Heater Weight</a:t>
                          </a:r>
                          <a:endParaRPr lang="ko-KR" altLang="en-US" sz="800" b="1" dirty="0"/>
                        </a:p>
                      </a:txBody>
                      <a:tcPr>
                        <a:solidFill>
                          <a:schemeClr val="tx2"/>
                        </a:solidFill>
                      </a:tcPr>
                    </a:tc>
                    <a:tc>
                      <a:txBody>
                        <a:bodyPr/>
                        <a:lstStyle/>
                        <a:p>
                          <a:endParaRPr lang="ko-KR"/>
                        </a:p>
                      </a:txBody>
                      <a:tcPr>
                        <a:blipFill>
                          <a:blip r:embed="rId4"/>
                          <a:stretch>
                            <a:fillRect l="-100275" t="-506383" r="-549" b="-2128"/>
                          </a:stretch>
                        </a:blipFill>
                      </a:tcPr>
                    </a:tc>
                    <a:extLst>
                      <a:ext uri="{0D108BD9-81ED-4DB2-BD59-A6C34878D82A}">
                        <a16:rowId xmlns:a16="http://schemas.microsoft.com/office/drawing/2014/main" val="114229894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nvGraphicFramePr>
            <p:xfrm>
              <a:off x="651555" y="3643313"/>
              <a:ext cx="4437228" cy="78936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Thermal Sensor (ANALOG DEVICES)</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Thermal Sensor Power</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1.5 </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𝑚𝑊</m:t>
                                </m:r>
                              </m:oMath>
                            </m:oMathPara>
                          </a14:m>
                          <a:endParaRPr lang="ko-KR" altLang="en-US" sz="800" dirty="0">
                            <a:solidFill>
                              <a:schemeClr val="bg1"/>
                            </a:solidFill>
                          </a:endParaRPr>
                        </a:p>
                      </a:txBody>
                      <a:tcPr/>
                    </a:tc>
                    <a:extLst>
                      <a:ext uri="{0D108BD9-81ED-4DB2-BD59-A6C34878D82A}">
                        <a16:rowId xmlns:a16="http://schemas.microsoft.com/office/drawing/2014/main" val="3314501901"/>
                      </a:ext>
                    </a:extLst>
                  </a:tr>
                  <a:tr h="0">
                    <a:tc>
                      <a:txBody>
                        <a:bodyPr/>
                        <a:lstStyle/>
                        <a:p>
                          <a:pPr algn="ctr" latinLnBrk="1"/>
                          <a:r>
                            <a:rPr lang="en-US" altLang="ko-KR" sz="800" b="1" i="0" u="none" strike="noStrike" cap="none" dirty="0">
                              <a:solidFill>
                                <a:schemeClr val="bg1"/>
                              </a:solidFill>
                              <a:effectLst/>
                              <a:latin typeface="Arial"/>
                              <a:cs typeface="Times New Roman" panose="02020603050405020304" pitchFamily="18" charset="0"/>
                              <a:sym typeface="Arial"/>
                            </a:rPr>
                            <a:t>Thermal Sensor Weight</a:t>
                          </a:r>
                          <a:endParaRPr lang="ko-KR" altLang="en-US" sz="800" b="1" dirty="0">
                            <a:solidFill>
                              <a:schemeClr val="bg1"/>
                            </a:solidFill>
                          </a:endParaRPr>
                        </a:p>
                      </a:txBody>
                      <a:tcPr>
                        <a:solidFill>
                          <a:schemeClr val="tx2"/>
                        </a:solidFill>
                      </a:tcPr>
                    </a:tc>
                    <a:tc>
                      <a:txBody>
                        <a:bodyPr/>
                        <a:lstStyle/>
                        <a:p>
                          <a:pPr algn="ctr" latinLnBrk="1"/>
                          <a14:m>
                            <m:oMathPara xmlns:m="http://schemas.openxmlformats.org/officeDocument/2006/math">
                              <m:oMathParaPr>
                                <m:jc m:val="centerGroup"/>
                              </m:oMathParaPr>
                              <m:oMath xmlns:m="http://schemas.openxmlformats.org/officeDocument/2006/math">
                                <m:r>
                                  <a:rPr lang="en-US" altLang="ko-KR" sz="800" b="0" i="1" u="none" strike="noStrike" cap="none" smtClean="0">
                                    <a:solidFill>
                                      <a:schemeClr val="bg1"/>
                                    </a:solidFill>
                                    <a:effectLst/>
                                    <a:latin typeface="Cambria Math" panose="02040503050406030204" pitchFamily="18" charset="0"/>
                                    <a:ea typeface="Arial"/>
                                    <a:cs typeface="Arial"/>
                                    <a:sym typeface="Arial"/>
                                  </a:rPr>
                                  <m:t>0.00096</m:t>
                                </m:r>
                                <m:r>
                                  <a:rPr lang="en-US" altLang="ko-KR" sz="800" b="0" i="1" u="none" strike="noStrike" cap="none" smtClean="0">
                                    <a:solidFill>
                                      <a:schemeClr val="bg1"/>
                                    </a:solidFill>
                                    <a:effectLst/>
                                    <a:latin typeface="Cambria Math" panose="02040503050406030204" pitchFamily="18" charset="0"/>
                                    <a:ea typeface="Arial"/>
                                    <a:cs typeface="Arial"/>
                                    <a:sym typeface="Arial"/>
                                  </a:rPr>
                                  <m:t>𝑘𝑔</m:t>
                                </m:r>
                              </m:oMath>
                            </m:oMathPara>
                          </a14:m>
                          <a:endParaRPr lang="ko-KR" altLang="en-US" sz="800" dirty="0">
                            <a:solidFill>
                              <a:schemeClr val="bg1"/>
                            </a:solidFill>
                          </a:endParaRPr>
                        </a:p>
                      </a:txBody>
                      <a:tcPr/>
                    </a:tc>
                    <a:extLst>
                      <a:ext uri="{0D108BD9-81ED-4DB2-BD59-A6C34878D82A}">
                        <a16:rowId xmlns:a16="http://schemas.microsoft.com/office/drawing/2014/main" val="1459111401"/>
                      </a:ext>
                    </a:extLst>
                  </a:tr>
                </a:tbl>
              </a:graphicData>
            </a:graphic>
          </p:graphicFrame>
        </mc:Choice>
        <mc:Fallback xmlns="">
          <p:graphicFrame>
            <p:nvGraphicFramePr>
              <p:cNvPr id="16" name="표 10">
                <a:extLst>
                  <a:ext uri="{FF2B5EF4-FFF2-40B4-BE49-F238E27FC236}">
                    <a16:creationId xmlns:a16="http://schemas.microsoft.com/office/drawing/2014/main" id="{228A9616-59FF-4F43-B24E-441EDF96C288}"/>
                  </a:ext>
                </a:extLst>
              </p:cNvPr>
              <p:cNvGraphicFramePr>
                <a:graphicFrameLocks noGrp="1"/>
              </p:cNvGraphicFramePr>
              <p:nvPr>
                <p:extLst>
                  <p:ext uri="{D42A27DB-BD31-4B8C-83A1-F6EECF244321}">
                    <p14:modId xmlns:p14="http://schemas.microsoft.com/office/powerpoint/2010/main" val="830682275"/>
                  </p:ext>
                </p:extLst>
              </p:nvPr>
            </p:nvGraphicFramePr>
            <p:xfrm>
              <a:off x="651555" y="3643313"/>
              <a:ext cx="4437228" cy="789360"/>
            </p:xfrm>
            <a:graphic>
              <a:graphicData uri="http://schemas.openxmlformats.org/drawingml/2006/table">
                <a:tbl>
                  <a:tblPr firstRow="1" bandRow="1">
                    <a:tableStyleId>{1C28B2AB-E718-4DF9-ADA3-83340B5D2C4E}</a:tableStyleId>
                  </a:tblPr>
                  <a:tblGrid>
                    <a:gridCol w="2218614">
                      <a:extLst>
                        <a:ext uri="{9D8B030D-6E8A-4147-A177-3AD203B41FA5}">
                          <a16:colId xmlns:a16="http://schemas.microsoft.com/office/drawing/2014/main" val="873444476"/>
                        </a:ext>
                      </a:extLst>
                    </a:gridCol>
                    <a:gridCol w="2218614">
                      <a:extLst>
                        <a:ext uri="{9D8B030D-6E8A-4147-A177-3AD203B41FA5}">
                          <a16:colId xmlns:a16="http://schemas.microsoft.com/office/drawing/2014/main" val="4026233297"/>
                        </a:ext>
                      </a:extLst>
                    </a:gridCol>
                  </a:tblGrid>
                  <a:tr h="288000">
                    <a:tc gridSpan="2">
                      <a:txBody>
                        <a:bodyPr/>
                        <a:lstStyle/>
                        <a:p>
                          <a:pPr algn="ctr"/>
                          <a:r>
                            <a:rPr lang="en-US" altLang="ko-KR" sz="800" b="1" i="0" u="none" strike="noStrike" cap="none" dirty="0">
                              <a:solidFill>
                                <a:schemeClr val="bg1"/>
                              </a:solidFill>
                              <a:effectLst/>
                              <a:latin typeface="Arial"/>
                              <a:ea typeface="Arial"/>
                              <a:cs typeface="Times New Roman" panose="02020603050405020304" pitchFamily="18" charset="0"/>
                              <a:sym typeface="Arial"/>
                            </a:rPr>
                            <a:t>Thermal Sensor (ANALOG DEVICES)</a:t>
                          </a:r>
                        </a:p>
                      </a:txBody>
                      <a:tcPr>
                        <a:solidFill>
                          <a:schemeClr val="tx2">
                            <a:lumMod val="75000"/>
                          </a:schemeClr>
                        </a:solidFill>
                      </a:tcPr>
                    </a:tc>
                    <a:tc hMerge="1">
                      <a:txBody>
                        <a:bodyPr/>
                        <a:lstStyle/>
                        <a:p>
                          <a:pPr latinLnBrk="1"/>
                          <a:endParaRPr lang="ko-KR" altLang="en-US" dirty="0"/>
                        </a:p>
                      </a:txBody>
                      <a:tcPr/>
                    </a:tc>
                    <a:extLst>
                      <a:ext uri="{0D108BD9-81ED-4DB2-BD59-A6C34878D82A}">
                        <a16:rowId xmlns:a16="http://schemas.microsoft.com/office/drawing/2014/main" val="380690550"/>
                      </a:ext>
                    </a:extLst>
                  </a:tr>
                  <a:tr h="288000">
                    <a:tc>
                      <a:txBody>
                        <a:bodyPr/>
                        <a:lstStyle/>
                        <a:p>
                          <a:pPr algn="ctr" latinLnBrk="1"/>
                          <a:r>
                            <a:rPr lang="en-US" altLang="ko-KR" sz="800" b="1" i="0" u="none" strike="noStrike" cap="none" dirty="0">
                              <a:solidFill>
                                <a:schemeClr val="bg1"/>
                              </a:solidFill>
                              <a:effectLst/>
                              <a:latin typeface="Arial"/>
                              <a:ea typeface="Arial"/>
                              <a:cs typeface="Times New Roman" panose="02020603050405020304" pitchFamily="18" charset="0"/>
                              <a:sym typeface="Arial"/>
                            </a:rPr>
                            <a:t>Thermal Sensor Power</a:t>
                          </a:r>
                          <a:endParaRPr lang="ko-KR" altLang="en-US" sz="800" b="1" dirty="0">
                            <a:solidFill>
                              <a:schemeClr val="bg1"/>
                            </a:solidFill>
                          </a:endParaRPr>
                        </a:p>
                      </a:txBody>
                      <a:tcPr>
                        <a:solidFill>
                          <a:schemeClr val="tx2"/>
                        </a:solidFill>
                      </a:tcPr>
                    </a:tc>
                    <a:tc>
                      <a:txBody>
                        <a:bodyPr/>
                        <a:lstStyle/>
                        <a:p>
                          <a:endParaRPr lang="ko-KR"/>
                        </a:p>
                      </a:txBody>
                      <a:tcPr>
                        <a:blipFill>
                          <a:blip r:embed="rId5"/>
                          <a:stretch>
                            <a:fillRect l="-100275" t="-102083" r="-549" b="-77083"/>
                          </a:stretch>
                        </a:blipFill>
                      </a:tcPr>
                    </a:tc>
                    <a:extLst>
                      <a:ext uri="{0D108BD9-81ED-4DB2-BD59-A6C34878D82A}">
                        <a16:rowId xmlns:a16="http://schemas.microsoft.com/office/drawing/2014/main" val="3314501901"/>
                      </a:ext>
                    </a:extLst>
                  </a:tr>
                  <a:tr h="213360">
                    <a:tc>
                      <a:txBody>
                        <a:bodyPr/>
                        <a:lstStyle/>
                        <a:p>
                          <a:pPr algn="ctr" latinLnBrk="1"/>
                          <a:r>
                            <a:rPr lang="en-US" altLang="ko-KR" sz="800" b="1" i="0" u="none" strike="noStrike" cap="none" dirty="0">
                              <a:solidFill>
                                <a:schemeClr val="bg1"/>
                              </a:solidFill>
                              <a:effectLst/>
                              <a:latin typeface="Arial"/>
                              <a:cs typeface="Times New Roman" panose="02020603050405020304" pitchFamily="18" charset="0"/>
                              <a:sym typeface="Arial"/>
                            </a:rPr>
                            <a:t>Thermal Sensor Weight</a:t>
                          </a:r>
                          <a:endParaRPr lang="ko-KR" altLang="en-US" sz="800" b="1" dirty="0">
                            <a:solidFill>
                              <a:schemeClr val="bg1"/>
                            </a:solidFill>
                          </a:endParaRPr>
                        </a:p>
                      </a:txBody>
                      <a:tcPr>
                        <a:solidFill>
                          <a:schemeClr val="tx2"/>
                        </a:solidFill>
                      </a:tcPr>
                    </a:tc>
                    <a:tc>
                      <a:txBody>
                        <a:bodyPr/>
                        <a:lstStyle/>
                        <a:p>
                          <a:endParaRPr lang="ko-KR"/>
                        </a:p>
                      </a:txBody>
                      <a:tcPr>
                        <a:blipFill>
                          <a:blip r:embed="rId5"/>
                          <a:stretch>
                            <a:fillRect l="-100275" t="-277143" r="-549" b="-5714"/>
                          </a:stretch>
                        </a:blipFill>
                      </a:tcPr>
                    </a:tc>
                    <a:extLst>
                      <a:ext uri="{0D108BD9-81ED-4DB2-BD59-A6C34878D82A}">
                        <a16:rowId xmlns:a16="http://schemas.microsoft.com/office/drawing/2014/main" val="1459111401"/>
                      </a:ext>
                    </a:extLst>
                  </a:tr>
                </a:tbl>
              </a:graphicData>
            </a:graphic>
          </p:graphicFrame>
        </mc:Fallback>
      </mc:AlternateContent>
      <p:sp>
        <p:nvSpPr>
          <p:cNvPr id="7" name="Rectangle 4">
            <a:extLst>
              <a:ext uri="{FF2B5EF4-FFF2-40B4-BE49-F238E27FC236}">
                <a16:creationId xmlns:a16="http://schemas.microsoft.com/office/drawing/2014/main" id="{76388224-9A90-4670-BD5E-A9BEA2D4A032}"/>
              </a:ext>
            </a:extLst>
          </p:cNvPr>
          <p:cNvSpPr>
            <a:spLocks noChangeArrowheads="1"/>
          </p:cNvSpPr>
          <p:nvPr/>
        </p:nvSpPr>
        <p:spPr bwMode="auto">
          <a:xfrm flipV="1">
            <a:off x="5375728" y="992679"/>
            <a:ext cx="580641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ko-KR" altLang="en-US"/>
          </a:p>
        </p:txBody>
      </p:sp>
      <p:graphicFrame>
        <p:nvGraphicFramePr>
          <p:cNvPr id="8" name="개체 7">
            <a:extLst>
              <a:ext uri="{FF2B5EF4-FFF2-40B4-BE49-F238E27FC236}">
                <a16:creationId xmlns:a16="http://schemas.microsoft.com/office/drawing/2014/main" id="{DD352CD0-743B-42F6-A008-1D3F4F360A45}"/>
              </a:ext>
            </a:extLst>
          </p:cNvPr>
          <p:cNvGraphicFramePr>
            <a:graphicFrameLocks noChangeAspect="1"/>
          </p:cNvGraphicFramePr>
          <p:nvPr/>
        </p:nvGraphicFramePr>
        <p:xfrm>
          <a:off x="5953080" y="1326504"/>
          <a:ext cx="2305544" cy="1728001"/>
        </p:xfrm>
        <a:graphic>
          <a:graphicData uri="http://schemas.openxmlformats.org/presentationml/2006/ole">
            <mc:AlternateContent xmlns:mc="http://schemas.openxmlformats.org/markup-compatibility/2006">
              <mc:Choice xmlns:v="urn:schemas-microsoft-com:vml" Requires="v">
                <p:oleObj spid="_x0000_s10244" name="비트맵 이미지" r:id="rId6" imgW="3162574" imgH="2370025" progId="Paint.Picture">
                  <p:embed/>
                </p:oleObj>
              </mc:Choice>
              <mc:Fallback>
                <p:oleObj name="비트맵 이미지" r:id="rId6" imgW="3162574" imgH="2370025" progId="Paint.Picture">
                  <p:embed/>
                  <p:pic>
                    <p:nvPicPr>
                      <p:cNvPr id="8" name="개체 7">
                        <a:extLst>
                          <a:ext uri="{FF2B5EF4-FFF2-40B4-BE49-F238E27FC236}">
                            <a16:creationId xmlns:a16="http://schemas.microsoft.com/office/drawing/2014/main" id="{DD352CD0-743B-42F6-A008-1D3F4F360A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53080" y="1326504"/>
                        <a:ext cx="2305544" cy="1728001"/>
                      </a:xfrm>
                      <a:prstGeom prst="rect">
                        <a:avLst/>
                      </a:prstGeom>
                      <a:noFill/>
                    </p:spPr>
                  </p:pic>
                </p:oleObj>
              </mc:Fallback>
            </mc:AlternateContent>
          </a:graphicData>
        </a:graphic>
      </p:graphicFrame>
      <p:pic>
        <p:nvPicPr>
          <p:cNvPr id="15" name="그림 14">
            <a:extLst>
              <a:ext uri="{FF2B5EF4-FFF2-40B4-BE49-F238E27FC236}">
                <a16:creationId xmlns:a16="http://schemas.microsoft.com/office/drawing/2014/main" id="{ACACECAA-9090-4C9F-B2C4-53F95659AB7E}"/>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231092" y="3286820"/>
            <a:ext cx="1728001" cy="1728001"/>
          </a:xfrm>
          <a:prstGeom prst="rect">
            <a:avLst/>
          </a:prstGeom>
          <a:noFill/>
          <a:ln>
            <a:noFill/>
          </a:ln>
        </p:spPr>
      </p:pic>
    </p:spTree>
    <p:extLst>
      <p:ext uri="{BB962C8B-B14F-4D97-AF65-F5344CB8AC3E}">
        <p14:creationId xmlns:p14="http://schemas.microsoft.com/office/powerpoint/2010/main" val="36695728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1" y="445025"/>
            <a:ext cx="7969756" cy="4431076"/>
          </a:xfrm>
          <a:prstGeom prst="rect">
            <a:avLst/>
          </a:prstGeom>
        </p:spPr>
        <p:txBody>
          <a:bodyPr spcFirstLastPara="1" wrap="square" lIns="91425" tIns="91425" rIns="91425" bIns="91425" anchor="t" anchorCtr="0">
            <a:noAutofit/>
          </a:bodyPr>
          <a:lstStyle/>
          <a:p>
            <a:r>
              <a:rPr lang="en-US" altLang="ko-KR" sz="2800" dirty="0"/>
              <a:t>10. SMS</a:t>
            </a:r>
            <a:br>
              <a:rPr lang="en-US" altLang="ko-KR" sz="2800" dirty="0"/>
            </a:br>
            <a:br>
              <a:rPr lang="en-US" altLang="ko-KR" sz="2800" dirty="0"/>
            </a:br>
            <a:r>
              <a:rPr lang="en-US" altLang="ko-KR" sz="1200" dirty="0"/>
              <a:t>Index</a:t>
            </a:r>
            <a:br>
              <a:rPr lang="en-US" altLang="ko-KR" sz="1200" dirty="0"/>
            </a:br>
            <a:br>
              <a:rPr lang="en-US" altLang="ko-KR" sz="1200" dirty="0"/>
            </a:br>
            <a:br>
              <a:rPr lang="en-US" altLang="ko-KR" sz="1200" dirty="0"/>
            </a:br>
            <a:r>
              <a:rPr lang="en-US" altLang="ko-KR" sz="1200" dirty="0"/>
              <a:t>10.1 Identity Requirement</a:t>
            </a:r>
            <a:br>
              <a:rPr lang="en-US" altLang="ko-KR" sz="1200" dirty="0"/>
            </a:br>
            <a:br>
              <a:rPr lang="en-US" altLang="ko-KR" sz="1200" dirty="0"/>
            </a:br>
            <a:r>
              <a:rPr lang="en-US" altLang="ko-KR" sz="1200" dirty="0"/>
              <a:t>10.2 Overall Configuration</a:t>
            </a:r>
            <a:br>
              <a:rPr lang="en-US" altLang="ko-KR" sz="1200" dirty="0"/>
            </a:br>
            <a:br>
              <a:rPr lang="en-US" altLang="ko-KR" sz="1200" dirty="0"/>
            </a:br>
            <a:r>
              <a:rPr lang="en-US" altLang="ko-KR" sz="1200" dirty="0"/>
              <a:t>10.3 Develop Packaging Configuration</a:t>
            </a:r>
            <a:br>
              <a:rPr lang="en-US" altLang="ko-KR" sz="1200" dirty="0"/>
            </a:br>
            <a:br>
              <a:rPr lang="en-US" altLang="ko-KR" sz="1200" dirty="0"/>
            </a:br>
            <a:r>
              <a:rPr lang="en-US" altLang="ko-KR" sz="1200" dirty="0"/>
              <a:t>10.4 Design Options</a:t>
            </a:r>
            <a:br>
              <a:rPr lang="en-US" altLang="ko-KR" sz="1200" dirty="0"/>
            </a:br>
            <a:br>
              <a:rPr lang="en-US" altLang="ko-KR" sz="1200" dirty="0"/>
            </a:br>
            <a:r>
              <a:rPr lang="en-US" altLang="ko-KR" sz="1200" dirty="0"/>
              <a:t>10.5 Structure Design Philosophy &amp; Criteria</a:t>
            </a:r>
            <a:br>
              <a:rPr lang="en-US" altLang="ko-KR" sz="1200" dirty="0"/>
            </a:br>
            <a:br>
              <a:rPr lang="en-US" altLang="ko-KR" sz="1200" dirty="0"/>
            </a:br>
            <a:r>
              <a:rPr lang="en-US" altLang="ko-KR" sz="1200" dirty="0"/>
              <a:t>10.6 Size members </a:t>
            </a:r>
            <a:endParaRPr lang="en-US" sz="2800" dirty="0"/>
          </a:p>
        </p:txBody>
      </p:sp>
    </p:spTree>
    <p:extLst>
      <p:ext uri="{BB962C8B-B14F-4D97-AF65-F5344CB8AC3E}">
        <p14:creationId xmlns:p14="http://schemas.microsoft.com/office/powerpoint/2010/main" val="195677543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10.1 Identity Requirement</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10.1.1 Mission</a:t>
            </a:r>
          </a:p>
          <a:p>
            <a:pPr latinLnBrk="0"/>
            <a:endParaRPr lang="en-US" altLang="ko-KR" sz="1200" dirty="0"/>
          </a:p>
          <a:p>
            <a:pPr latinLnBrk="0"/>
            <a:r>
              <a:rPr lang="en-US" altLang="ko-KR" sz="900" dirty="0">
                <a:latin typeface="+mj-ea"/>
                <a:ea typeface="+mj-ea"/>
                <a:cs typeface="Malgun Gothic Semilight" panose="020B0502040204020203" pitchFamily="34" charset="-127"/>
              </a:rPr>
              <a:t>1. </a:t>
            </a:r>
            <a:r>
              <a:rPr lang="ko-KR" altLang="en-US" sz="900" dirty="0">
                <a:latin typeface="+mj-ea"/>
                <a:ea typeface="+mj-ea"/>
                <a:cs typeface="Malgun Gothic Semilight" panose="020B0502040204020203" pitchFamily="34" charset="-127"/>
              </a:rPr>
              <a:t>위성의 발사환경 및 임무환경에서 </a:t>
            </a:r>
            <a:r>
              <a:rPr lang="en-US" altLang="ko-KR" sz="900" dirty="0">
                <a:latin typeface="+mj-ea"/>
                <a:ea typeface="+mj-ea"/>
                <a:cs typeface="Malgun Gothic Semilight" panose="020B0502040204020203" pitchFamily="34" charset="-127"/>
              </a:rPr>
              <a:t>subsystem</a:t>
            </a:r>
            <a:r>
              <a:rPr lang="ko-KR" altLang="en-US" sz="900" dirty="0">
                <a:latin typeface="+mj-ea"/>
                <a:ea typeface="+mj-ea"/>
                <a:cs typeface="Malgun Gothic Semilight" panose="020B0502040204020203" pitchFamily="34" charset="-127"/>
              </a:rPr>
              <a:t>들이 본래의 기능을 온전하게 발휘할 수 있도록 안전하게 </a:t>
            </a:r>
            <a:endParaRPr lang="en-US" altLang="ko-KR" sz="900" dirty="0">
              <a:latin typeface="+mj-ea"/>
              <a:ea typeface="+mj-ea"/>
              <a:cs typeface="Malgun Gothic Semilight" panose="020B0502040204020203" pitchFamily="34" charset="-127"/>
            </a:endParaRPr>
          </a:p>
          <a:p>
            <a:pPr latinLnBrk="0"/>
            <a:r>
              <a:rPr lang="ko-KR" altLang="en-US" sz="900" dirty="0">
                <a:latin typeface="+mj-ea"/>
                <a:ea typeface="+mj-ea"/>
                <a:cs typeface="Malgun Gothic Semilight" panose="020B0502040204020203" pitchFamily="34" charset="-127"/>
              </a:rPr>
              <a:t>보호하고 지지해야 한다</a:t>
            </a:r>
            <a:endParaRPr lang="en-US" altLang="ko-KR" sz="900" dirty="0">
              <a:latin typeface="+mj-ea"/>
              <a:ea typeface="+mj-ea"/>
              <a:cs typeface="Malgun Gothic Semilight" panose="020B0502040204020203" pitchFamily="34" charset="-127"/>
            </a:endParaRPr>
          </a:p>
          <a:p>
            <a:pPr latinLnBrk="0"/>
            <a:endParaRPr lang="en-US" altLang="ko-KR" sz="900" dirty="0">
              <a:latin typeface="+mj-ea"/>
              <a:ea typeface="+mj-ea"/>
              <a:cs typeface="Malgun Gothic Semilight" panose="020B0502040204020203" pitchFamily="34" charset="-127"/>
            </a:endParaRPr>
          </a:p>
          <a:p>
            <a:pPr latinLnBrk="0"/>
            <a:r>
              <a:rPr lang="en-US" altLang="ko-KR" sz="900" dirty="0">
                <a:latin typeface="+mj-ea"/>
                <a:ea typeface="+mj-ea"/>
                <a:cs typeface="Malgun Gothic Semilight" panose="020B0502040204020203" pitchFamily="34" charset="-127"/>
              </a:rPr>
              <a:t>2. </a:t>
            </a:r>
            <a:r>
              <a:rPr lang="ko-KR" altLang="en-US" sz="900" dirty="0">
                <a:latin typeface="+mj-ea"/>
                <a:ea typeface="+mj-ea"/>
                <a:cs typeface="Malgun Gothic Semilight" panose="020B0502040204020203" pitchFamily="34" charset="-127"/>
              </a:rPr>
              <a:t>임무 수행 시 지속적인 안정성을 보장해주도록 설계한다</a:t>
            </a:r>
            <a:r>
              <a:rPr lang="en-US" altLang="ko-KR" sz="900" dirty="0">
                <a:latin typeface="+mj-ea"/>
                <a:ea typeface="+mj-ea"/>
                <a:cs typeface="Malgun Gothic Semilight" panose="020B0502040204020203" pitchFamily="34" charset="-127"/>
              </a:rPr>
              <a:t>.</a:t>
            </a:r>
          </a:p>
          <a:p>
            <a:pPr latinLnBrk="0"/>
            <a:endParaRPr lang="en-US" altLang="ko-KR" sz="1200" dirty="0"/>
          </a:p>
          <a:p>
            <a:pPr latinLnBrk="0"/>
            <a:r>
              <a:rPr lang="en-US" altLang="ko-KR" sz="1200" dirty="0"/>
              <a:t>10.1.2 Launch vehicle (Falcon 9)</a:t>
            </a:r>
          </a:p>
          <a:p>
            <a:pPr latinLnBrk="0"/>
            <a:endParaRPr lang="en-US" altLang="ko-KR" sz="1200" dirty="0"/>
          </a:p>
          <a:p>
            <a:pPr latinLnBrk="0"/>
            <a:r>
              <a:rPr lang="en-US" altLang="ko-KR" sz="900" dirty="0">
                <a:latin typeface="+mn-ea"/>
                <a:ea typeface="+mn-ea"/>
              </a:rPr>
              <a:t>1. </a:t>
            </a:r>
            <a:r>
              <a:rPr lang="ko-KR" altLang="en-US" sz="900" dirty="0">
                <a:latin typeface="+mn-ea"/>
                <a:ea typeface="+mn-ea"/>
              </a:rPr>
              <a:t>위성의 질량은 </a:t>
            </a:r>
            <a:r>
              <a:rPr lang="en-US" altLang="ko-KR" sz="900" dirty="0">
                <a:latin typeface="+mn-ea"/>
                <a:ea typeface="+mn-ea"/>
              </a:rPr>
              <a:t>1360~6800kg</a:t>
            </a:r>
            <a:r>
              <a:rPr lang="ko-KR" altLang="en-US" sz="900" dirty="0">
                <a:latin typeface="+mn-ea"/>
                <a:ea typeface="+mn-ea"/>
              </a:rPr>
              <a:t>이어야 한다</a:t>
            </a:r>
            <a:r>
              <a:rPr lang="en-US" altLang="ko-KR" sz="900" dirty="0">
                <a:latin typeface="+mn-ea"/>
                <a:ea typeface="+mn-ea"/>
              </a:rPr>
              <a:t>.</a:t>
            </a:r>
          </a:p>
          <a:p>
            <a:pPr marL="171450" indent="-171450">
              <a:buAutoNum type="arabicPeriod"/>
            </a:pPr>
            <a:endParaRPr lang="en-US" altLang="ko-KR" sz="900" dirty="0">
              <a:latin typeface="+mn-ea"/>
              <a:ea typeface="+mn-ea"/>
            </a:endParaRPr>
          </a:p>
          <a:p>
            <a:pPr latinLnBrk="0"/>
            <a:r>
              <a:rPr lang="en-US" altLang="ko-KR" sz="900" dirty="0">
                <a:latin typeface="+mn-ea"/>
                <a:ea typeface="+mn-ea"/>
              </a:rPr>
              <a:t>2. Center of Gravity</a:t>
            </a:r>
            <a:r>
              <a:rPr lang="ko-KR" altLang="en-US" sz="900" dirty="0">
                <a:latin typeface="+mn-ea"/>
                <a:ea typeface="+mn-ea"/>
              </a:rPr>
              <a:t>는 위성 형상 중심으로부터 </a:t>
            </a:r>
            <a:r>
              <a:rPr lang="en-US" altLang="ko-KR" sz="900" dirty="0">
                <a:latin typeface="+mn-ea"/>
                <a:ea typeface="+mn-ea"/>
              </a:rPr>
              <a:t>1.25 cm </a:t>
            </a:r>
            <a:r>
              <a:rPr lang="ko-KR" altLang="en-US" sz="900" dirty="0">
                <a:latin typeface="+mn-ea"/>
                <a:ea typeface="+mn-ea"/>
              </a:rPr>
              <a:t>이내에 있어야 한다</a:t>
            </a:r>
            <a:r>
              <a:rPr lang="en-US" altLang="ko-KR" sz="900" dirty="0">
                <a:latin typeface="+mn-ea"/>
                <a:ea typeface="+mn-ea"/>
              </a:rPr>
              <a:t>.</a:t>
            </a:r>
          </a:p>
          <a:p>
            <a:pPr latinLnBrk="0"/>
            <a:endParaRPr lang="en-US" altLang="ko-KR" sz="900" dirty="0">
              <a:latin typeface="+mn-ea"/>
              <a:ea typeface="+mn-ea"/>
            </a:endParaRPr>
          </a:p>
          <a:p>
            <a:pPr latinLnBrk="0"/>
            <a:r>
              <a:rPr lang="en-US" altLang="ko-KR" sz="900" dirty="0">
                <a:latin typeface="+mn-ea"/>
                <a:ea typeface="+mn-ea"/>
              </a:rPr>
              <a:t>3. </a:t>
            </a:r>
            <a:r>
              <a:rPr lang="ko-KR" altLang="en-US" sz="900" dirty="0">
                <a:latin typeface="+mn-ea"/>
                <a:ea typeface="+mn-ea"/>
              </a:rPr>
              <a:t>위성의 최소 고유 진동수는 횡 방향으로 </a:t>
            </a:r>
            <a:r>
              <a:rPr lang="en-US" altLang="ko-KR" sz="900" dirty="0">
                <a:latin typeface="+mn-ea"/>
                <a:ea typeface="+mn-ea"/>
              </a:rPr>
              <a:t>10Hz, </a:t>
            </a:r>
            <a:r>
              <a:rPr lang="ko-KR" altLang="en-US" sz="900" dirty="0">
                <a:latin typeface="+mn-ea"/>
                <a:ea typeface="+mn-ea"/>
              </a:rPr>
              <a:t>종 방향으로 </a:t>
            </a:r>
            <a:r>
              <a:rPr lang="en-US" altLang="ko-KR" sz="900" dirty="0">
                <a:latin typeface="+mn-ea"/>
                <a:ea typeface="+mn-ea"/>
              </a:rPr>
              <a:t>25Hz </a:t>
            </a:r>
            <a:r>
              <a:rPr lang="ko-KR" altLang="en-US" sz="900" dirty="0">
                <a:latin typeface="+mn-ea"/>
                <a:ea typeface="+mn-ea"/>
              </a:rPr>
              <a:t>이상이어야 한다</a:t>
            </a:r>
            <a:r>
              <a:rPr lang="en-US" altLang="ko-KR" sz="900" dirty="0">
                <a:latin typeface="+mn-ea"/>
                <a:ea typeface="+mn-ea"/>
              </a:rPr>
              <a:t>.</a:t>
            </a:r>
          </a:p>
        </p:txBody>
      </p:sp>
    </p:spTree>
    <p:extLst>
      <p:ext uri="{BB962C8B-B14F-4D97-AF65-F5344CB8AC3E}">
        <p14:creationId xmlns:p14="http://schemas.microsoft.com/office/powerpoint/2010/main" val="27643650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10.1 Identity Requirement</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10.1.3 Environments</a:t>
            </a:r>
          </a:p>
          <a:p>
            <a:pPr latinLnBrk="0"/>
            <a:endParaRPr lang="en-US" altLang="ko-KR" sz="1200" dirty="0"/>
          </a:p>
          <a:p>
            <a:pPr latinLnBrk="0"/>
            <a:r>
              <a:rPr lang="en-US" altLang="ko-KR" sz="900" dirty="0">
                <a:latin typeface="+mn-ea"/>
                <a:ea typeface="+mn-ea"/>
                <a:cs typeface="Malgun Gothic Semilight" panose="020B0502040204020203" pitchFamily="50" charset="-127"/>
              </a:rPr>
              <a:t>1. Ground handling </a:t>
            </a:r>
            <a:r>
              <a:rPr lang="ko-KR" altLang="en-US" sz="900" dirty="0">
                <a:latin typeface="+mn-ea"/>
                <a:ea typeface="+mn-ea"/>
                <a:cs typeface="Malgun Gothic Semilight" panose="020B0502040204020203" pitchFamily="50" charset="-127"/>
              </a:rPr>
              <a:t>환경에서 부품들이 신중하게 다뤄져야 한다</a:t>
            </a:r>
            <a:r>
              <a:rPr lang="en-US" altLang="ko-KR" sz="900" dirty="0">
                <a:latin typeface="+mn-ea"/>
                <a:ea typeface="+mn-ea"/>
                <a:cs typeface="Malgun Gothic Semilight" panose="020B0502040204020203" pitchFamily="50" charset="-127"/>
              </a:rPr>
              <a:t>.</a:t>
            </a:r>
          </a:p>
          <a:p>
            <a:pPr marL="171450" indent="-171450">
              <a:buAutoNum type="arabicPeriod"/>
            </a:pPr>
            <a:endParaRPr lang="en-US" altLang="ko-KR" sz="900" dirty="0">
              <a:latin typeface="+mn-ea"/>
              <a:ea typeface="+mn-ea"/>
              <a:cs typeface="Malgun Gothic Semilight" panose="020B0502040204020203" pitchFamily="50" charset="-127"/>
            </a:endParaRPr>
          </a:p>
          <a:p>
            <a:pPr latinLnBrk="0"/>
            <a:r>
              <a:rPr lang="en-US" altLang="ko-KR" sz="900" dirty="0">
                <a:latin typeface="+mn-ea"/>
                <a:ea typeface="+mn-ea"/>
                <a:cs typeface="Malgun Gothic Semilight" panose="020B0502040204020203" pitchFamily="50" charset="-127"/>
              </a:rPr>
              <a:t>2. </a:t>
            </a:r>
            <a:r>
              <a:rPr lang="ko-KR" altLang="en-US" sz="900" dirty="0">
                <a:latin typeface="+mn-ea"/>
                <a:ea typeface="+mn-ea"/>
                <a:cs typeface="Malgun Gothic Semilight" panose="020B0502040204020203" pitchFamily="50" charset="-127"/>
              </a:rPr>
              <a:t>발사되는 동안에 가속도</a:t>
            </a:r>
            <a:r>
              <a:rPr lang="en-US" altLang="ko-KR" sz="900" dirty="0">
                <a:latin typeface="+mn-ea"/>
                <a:ea typeface="+mn-ea"/>
                <a:cs typeface="Malgun Gothic Semilight" panose="020B0502040204020203" pitchFamily="50" charset="-127"/>
              </a:rPr>
              <a:t>, </a:t>
            </a:r>
            <a:r>
              <a:rPr lang="ko-KR" altLang="en-US" sz="900" dirty="0">
                <a:latin typeface="+mn-ea"/>
                <a:ea typeface="+mn-ea"/>
                <a:cs typeface="Malgun Gothic Semilight" panose="020B0502040204020203" pitchFamily="50" charset="-127"/>
              </a:rPr>
              <a:t>진동</a:t>
            </a:r>
            <a:r>
              <a:rPr lang="en-US" altLang="ko-KR" sz="900" dirty="0">
                <a:latin typeface="+mn-ea"/>
                <a:ea typeface="+mn-ea"/>
                <a:cs typeface="Malgun Gothic Semilight" panose="020B0502040204020203" pitchFamily="50" charset="-127"/>
              </a:rPr>
              <a:t>, </a:t>
            </a:r>
            <a:r>
              <a:rPr lang="ko-KR" altLang="en-US" sz="900" dirty="0">
                <a:latin typeface="+mn-ea"/>
                <a:ea typeface="+mn-ea"/>
                <a:cs typeface="Malgun Gothic Semilight" panose="020B0502040204020203" pitchFamily="50" charset="-127"/>
              </a:rPr>
              <a:t>충격환경에서 위성을 보호할 수 있어야 한다</a:t>
            </a:r>
            <a:r>
              <a:rPr lang="en-US" altLang="ko-KR" sz="900" dirty="0">
                <a:latin typeface="+mn-ea"/>
                <a:ea typeface="+mn-ea"/>
                <a:cs typeface="Malgun Gothic Semilight" panose="020B0502040204020203" pitchFamily="50" charset="-127"/>
              </a:rPr>
              <a:t>.</a:t>
            </a:r>
          </a:p>
          <a:p>
            <a:pPr latinLnBrk="0"/>
            <a:endParaRPr lang="en-US" altLang="ko-KR" sz="900" dirty="0">
              <a:latin typeface="+mn-ea"/>
              <a:ea typeface="+mn-ea"/>
              <a:cs typeface="Malgun Gothic Semilight" panose="020B0502040204020203" pitchFamily="50" charset="-127"/>
            </a:endParaRPr>
          </a:p>
          <a:p>
            <a:pPr latinLnBrk="0"/>
            <a:r>
              <a:rPr lang="en-US" altLang="ko-KR" sz="900" dirty="0">
                <a:latin typeface="+mn-ea"/>
                <a:ea typeface="+mn-ea"/>
                <a:cs typeface="Malgun Gothic Semilight" panose="020B0502040204020203" pitchFamily="50" charset="-127"/>
              </a:rPr>
              <a:t>3. </a:t>
            </a:r>
            <a:r>
              <a:rPr lang="ko-KR" altLang="en-US" sz="900" dirty="0">
                <a:latin typeface="+mn-ea"/>
                <a:ea typeface="+mn-ea"/>
                <a:cs typeface="Malgun Gothic Semilight" panose="020B0502040204020203" pitchFamily="50" charset="-127"/>
              </a:rPr>
              <a:t>극한 열적 환경에 의한 부하</a:t>
            </a:r>
            <a:r>
              <a:rPr lang="en-US" altLang="ko-KR" sz="900" dirty="0">
                <a:latin typeface="+mn-ea"/>
                <a:ea typeface="+mn-ea"/>
                <a:cs typeface="Malgun Gothic Semilight" panose="020B0502040204020203" pitchFamily="50" charset="-127"/>
              </a:rPr>
              <a:t>(loads)</a:t>
            </a:r>
            <a:r>
              <a:rPr lang="ko-KR" altLang="en-US" sz="900" dirty="0">
                <a:latin typeface="+mn-ea"/>
                <a:ea typeface="+mn-ea"/>
                <a:cs typeface="Malgun Gothic Semilight" panose="020B0502040204020203" pitchFamily="50" charset="-127"/>
              </a:rPr>
              <a:t>에도 위성의 구조에 변형이 발생하지 않도록 한다</a:t>
            </a:r>
            <a:r>
              <a:rPr lang="en-US" altLang="ko-KR" sz="900" dirty="0">
                <a:latin typeface="+mn-ea"/>
                <a:ea typeface="+mn-ea"/>
                <a:cs typeface="Malgun Gothic Semilight" panose="020B0502040204020203" pitchFamily="50" charset="-127"/>
              </a:rPr>
              <a:t>.</a:t>
            </a:r>
          </a:p>
          <a:p>
            <a:pPr latinLnBrk="0"/>
            <a:endParaRPr lang="en-US" altLang="ko-KR" sz="900" dirty="0">
              <a:latin typeface="+mn-ea"/>
              <a:ea typeface="+mn-ea"/>
              <a:cs typeface="Malgun Gothic Semilight" panose="020B0502040204020203" pitchFamily="50" charset="-127"/>
            </a:endParaRPr>
          </a:p>
          <a:p>
            <a:pPr latinLnBrk="0"/>
            <a:r>
              <a:rPr lang="en-US" altLang="ko-KR" sz="900" dirty="0">
                <a:latin typeface="+mn-ea"/>
                <a:ea typeface="+mn-ea"/>
                <a:cs typeface="Malgun Gothic Semilight" panose="020B0502040204020203" pitchFamily="50" charset="-127"/>
              </a:rPr>
              <a:t>4. Radiation</a:t>
            </a:r>
            <a:r>
              <a:rPr lang="ko-KR" altLang="en-US" sz="900" dirty="0">
                <a:latin typeface="+mn-ea"/>
                <a:ea typeface="+mn-ea"/>
                <a:cs typeface="Malgun Gothic Semilight" panose="020B0502040204020203" pitchFamily="50" charset="-127"/>
              </a:rPr>
              <a:t>으로부터 보호하기 위해 </a:t>
            </a:r>
            <a:r>
              <a:rPr lang="en-US" altLang="ko-KR" sz="900" dirty="0">
                <a:latin typeface="+mn-ea"/>
                <a:ea typeface="+mn-ea"/>
                <a:cs typeface="Malgun Gothic Semilight" panose="020B0502040204020203" pitchFamily="50" charset="-127"/>
              </a:rPr>
              <a:t>material </a:t>
            </a:r>
            <a:r>
              <a:rPr lang="ko-KR" altLang="en-US" sz="900" dirty="0">
                <a:latin typeface="+mn-ea"/>
                <a:ea typeface="+mn-ea"/>
                <a:cs typeface="Malgun Gothic Semilight" panose="020B0502040204020203" pitchFamily="50" charset="-127"/>
              </a:rPr>
              <a:t>별로 최적의 두께를 분석하여 제작한다</a:t>
            </a:r>
            <a:r>
              <a:rPr lang="en-US" altLang="ko-KR" sz="900" dirty="0">
                <a:latin typeface="+mn-ea"/>
                <a:ea typeface="+mn-ea"/>
                <a:cs typeface="Malgun Gothic Semilight" panose="020B0502040204020203" pitchFamily="50" charset="-127"/>
              </a:rPr>
              <a:t>.</a:t>
            </a:r>
          </a:p>
        </p:txBody>
      </p:sp>
    </p:spTree>
    <p:extLst>
      <p:ext uri="{BB962C8B-B14F-4D97-AF65-F5344CB8AC3E}">
        <p14:creationId xmlns:p14="http://schemas.microsoft.com/office/powerpoint/2010/main" val="28186350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10.2.1 Shape</a:t>
            </a:r>
          </a:p>
          <a:p>
            <a:pPr latinLnBrk="0"/>
            <a:endParaRPr lang="en-US" altLang="ko-KR" sz="1200" dirty="0"/>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박스형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제조의 용이성</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경제적 효율성</a:t>
            </a:r>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en-US" altLang="ko-KR" sz="1200" dirty="0"/>
              <a:t>10.2.2 Weight Budget</a:t>
            </a: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10.2 Overall Configuration</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3" name="그림 2">
            <a:extLst>
              <a:ext uri="{FF2B5EF4-FFF2-40B4-BE49-F238E27FC236}">
                <a16:creationId xmlns:a16="http://schemas.microsoft.com/office/drawing/2014/main" id="{B16B0038-9CA9-4158-9607-2C8D34B115DA}"/>
              </a:ext>
            </a:extLst>
          </p:cNvPr>
          <p:cNvPicPr>
            <a:picLocks noChangeAspect="1"/>
          </p:cNvPicPr>
          <p:nvPr/>
        </p:nvPicPr>
        <p:blipFill>
          <a:blip r:embed="rId3"/>
          <a:stretch>
            <a:fillRect/>
          </a:stretch>
        </p:blipFill>
        <p:spPr>
          <a:xfrm>
            <a:off x="3958219" y="1246004"/>
            <a:ext cx="3195494" cy="3704850"/>
          </a:xfrm>
          <a:prstGeom prst="rect">
            <a:avLst/>
          </a:prstGeom>
        </p:spPr>
      </p:pic>
    </p:spTree>
    <p:extLst>
      <p:ext uri="{BB962C8B-B14F-4D97-AF65-F5344CB8AC3E}">
        <p14:creationId xmlns:p14="http://schemas.microsoft.com/office/powerpoint/2010/main" val="10850425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10.2.3 Dimension</a:t>
            </a:r>
          </a:p>
          <a:p>
            <a:pPr latinLnBrk="0"/>
            <a:endParaRPr lang="en-US" altLang="ko-KR" sz="1200" dirty="0"/>
          </a:p>
          <a:p>
            <a:pPr latinLnBrk="0"/>
            <a:r>
              <a:rPr lang="ko-KR" altLang="en-US" sz="900" dirty="0">
                <a:latin typeface="+mn-ea"/>
                <a:ea typeface="+mn-ea"/>
              </a:rPr>
              <a:t>위성의 부피 </a:t>
            </a:r>
            <a:r>
              <a:rPr lang="en-US" altLang="ko-KR" sz="900" dirty="0">
                <a:latin typeface="+mn-ea"/>
                <a:ea typeface="+mn-ea"/>
              </a:rPr>
              <a:t>:</a:t>
            </a:r>
            <a:r>
              <a:rPr lang="ko-KR" altLang="en-US" sz="900" dirty="0">
                <a:latin typeface="+mn-ea"/>
                <a:ea typeface="+mn-ea"/>
              </a:rPr>
              <a:t> 약 </a:t>
            </a:r>
            <a:r>
              <a:rPr lang="en-US" altLang="ko-KR" sz="900" dirty="0">
                <a:latin typeface="+mn-ea"/>
                <a:ea typeface="+mn-ea"/>
              </a:rPr>
              <a:t>41m^3</a:t>
            </a:r>
          </a:p>
          <a:p>
            <a:pPr latinLnBrk="0"/>
            <a:endParaRPr lang="en-US" altLang="ko-KR" sz="900" dirty="0">
              <a:latin typeface="+mn-ea"/>
              <a:ea typeface="+mn-ea"/>
            </a:endParaRPr>
          </a:p>
          <a:p>
            <a:pPr latinLnBrk="0"/>
            <a:r>
              <a:rPr lang="ko-KR" altLang="en-US" sz="900" dirty="0">
                <a:latin typeface="+mn-ea"/>
                <a:ea typeface="+mn-ea"/>
              </a:rPr>
              <a:t>위성의 </a:t>
            </a:r>
            <a:r>
              <a:rPr lang="en-US" altLang="ko-KR" sz="900" dirty="0">
                <a:latin typeface="+mn-ea"/>
                <a:ea typeface="+mn-ea"/>
              </a:rPr>
              <a:t>Linear dimension : </a:t>
            </a:r>
            <a:r>
              <a:rPr lang="ko-KR" altLang="en-US" sz="900" dirty="0">
                <a:latin typeface="+mn-ea"/>
                <a:ea typeface="+mn-ea"/>
              </a:rPr>
              <a:t>약 </a:t>
            </a:r>
            <a:r>
              <a:rPr lang="en-US" altLang="ko-KR" sz="900" dirty="0">
                <a:latin typeface="+mn-ea"/>
                <a:ea typeface="+mn-ea"/>
              </a:rPr>
              <a:t>3.45m</a:t>
            </a:r>
          </a:p>
          <a:p>
            <a:pPr latinLnBrk="0"/>
            <a:endParaRPr lang="en-US" altLang="ko-KR" sz="900" dirty="0">
              <a:latin typeface="+mn-ea"/>
              <a:ea typeface="+mn-ea"/>
            </a:endParaRPr>
          </a:p>
          <a:p>
            <a:pPr latinLnBrk="0"/>
            <a:r>
              <a:rPr lang="ko-KR" altLang="en-US" sz="900" dirty="0">
                <a:latin typeface="+mn-ea"/>
                <a:ea typeface="+mn-ea"/>
              </a:rPr>
              <a:t>위성의 총 표면적 </a:t>
            </a:r>
            <a:r>
              <a:rPr lang="en-US" altLang="ko-KR" sz="900" dirty="0">
                <a:latin typeface="+mn-ea"/>
                <a:ea typeface="+mn-ea"/>
              </a:rPr>
              <a:t>:</a:t>
            </a:r>
            <a:r>
              <a:rPr lang="ko-KR" altLang="en-US" sz="900" dirty="0">
                <a:latin typeface="+mn-ea"/>
                <a:ea typeface="+mn-ea"/>
              </a:rPr>
              <a:t> 약 </a:t>
            </a:r>
            <a:r>
              <a:rPr lang="en-US" altLang="ko-KR" sz="900" dirty="0">
                <a:latin typeface="+mn-ea"/>
                <a:ea typeface="+mn-ea"/>
              </a:rPr>
              <a:t>71.34m^2</a:t>
            </a: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10.2 Overall Configuration</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241972291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10.3.1 PS</a:t>
            </a:r>
          </a:p>
          <a:p>
            <a:pPr latinLnBrk="0"/>
            <a:r>
              <a:rPr lang="en-US" altLang="ko-KR" sz="900" dirty="0">
                <a:latin typeface="+mn-ea"/>
                <a:ea typeface="+mn-ea"/>
              </a:rPr>
              <a:t>1. Propulsion tank</a:t>
            </a:r>
            <a:r>
              <a:rPr lang="ko-KR" altLang="en-US" sz="900" dirty="0">
                <a:latin typeface="+mn-ea"/>
                <a:ea typeface="+mn-ea"/>
              </a:rPr>
              <a:t>는 추진제가 소모됨에 따라 질량중심이 이동하는 것을 방지하기 위해 위성의 무게 중심 근처에 위치시켜야 한다</a:t>
            </a:r>
            <a:r>
              <a:rPr lang="en-US" altLang="ko-KR" sz="900" dirty="0">
                <a:latin typeface="+mn-ea"/>
                <a:ea typeface="+mn-ea"/>
              </a:rPr>
              <a:t>.</a:t>
            </a:r>
          </a:p>
          <a:p>
            <a:pPr latinLnBrk="0"/>
            <a:r>
              <a:rPr lang="en-US" altLang="ko-KR" sz="900" dirty="0">
                <a:latin typeface="+mn-ea"/>
                <a:ea typeface="+mn-ea"/>
              </a:rPr>
              <a:t>2. </a:t>
            </a:r>
            <a:r>
              <a:rPr lang="ko-KR" altLang="en-US" sz="900" dirty="0">
                <a:latin typeface="+mn-ea"/>
                <a:ea typeface="+mn-ea"/>
              </a:rPr>
              <a:t>추진제 가스가 센서</a:t>
            </a:r>
            <a:r>
              <a:rPr lang="en-US" altLang="ko-KR" sz="900" dirty="0">
                <a:latin typeface="+mn-ea"/>
                <a:ea typeface="+mn-ea"/>
              </a:rPr>
              <a:t>, </a:t>
            </a:r>
            <a:r>
              <a:rPr lang="ko-KR" altLang="en-US" sz="900" dirty="0">
                <a:latin typeface="+mn-ea"/>
                <a:ea typeface="+mn-ea"/>
              </a:rPr>
              <a:t>안테나</a:t>
            </a:r>
            <a:r>
              <a:rPr lang="en-US" altLang="ko-KR" sz="900" dirty="0">
                <a:latin typeface="+mn-ea"/>
                <a:ea typeface="+mn-ea"/>
              </a:rPr>
              <a:t>, </a:t>
            </a:r>
            <a:r>
              <a:rPr lang="ko-KR" altLang="en-US" sz="900" dirty="0">
                <a:latin typeface="+mn-ea"/>
                <a:ea typeface="+mn-ea"/>
              </a:rPr>
              <a:t>태양전지판을 가리지 않도록 해야 한다</a:t>
            </a:r>
            <a:r>
              <a:rPr lang="en-US" altLang="ko-KR" sz="900" dirty="0">
                <a:latin typeface="+mn-ea"/>
                <a:ea typeface="+mn-ea"/>
              </a:rPr>
              <a:t>.</a:t>
            </a:r>
          </a:p>
          <a:p>
            <a:pPr latinLnBrk="0"/>
            <a:endParaRPr lang="en-US" altLang="ko-KR" sz="1200" dirty="0"/>
          </a:p>
          <a:p>
            <a:pPr latinLnBrk="0"/>
            <a:r>
              <a:rPr lang="en-US" altLang="ko-KR" sz="1200" dirty="0"/>
              <a:t>10.3.2 ADCS</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1.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센서들이 특정한 축 방향을 지향하도록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Sun sensor : +X, -X axis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지향</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Star sensor : +Y axis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지향</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Earth sensor : +Z axis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지향</a:t>
            </a:r>
          </a:p>
          <a:p>
            <a:pPr latinLnBrk="0"/>
            <a:endParaRPr lang="ko-KR" altLang="en-US" sz="1200" dirty="0"/>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2.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궤도용 추력기는 무게중심 축 방향을 따라 설치한다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3.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접선 방향의 자세 제어를 위한 추력기는 가능한 한 무게중심에서 멀리 떨어뜨려 설치한다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4. 3</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축 안정화 방식에서 필요한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12</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개</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이론적인 최소 개수는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6</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개</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의 추력기에 여분으로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4</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개를 더 고려해서 설치한다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endParaRPr lang="en-US" altLang="ko-KR" sz="1200" dirty="0"/>
          </a:p>
          <a:p>
            <a:pPr latinLnBrk="0"/>
            <a:r>
              <a:rPr lang="en-US" altLang="ko-KR" sz="1200" dirty="0"/>
              <a:t>10.3.3 TTC &amp; CDH</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1.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안테나들은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clear field of vies</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를 갖도록 배치한다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2. C&amp;DH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장비들은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radiation</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의 영향을 최소화하기 위해 위성의 중심부에 배치한다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endParaRPr lang="en-US" altLang="ko-KR" sz="1200" dirty="0"/>
          </a:p>
          <a:p>
            <a:pPr latinLnBrk="0"/>
            <a:r>
              <a:rPr lang="en-US" altLang="ko-KR" sz="1200" dirty="0"/>
              <a:t>10.3.4 EPS</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1.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배터리는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pre-launch test</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나 교체를 위해 접근성이 용이한 곳에 배치되어야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marL="171450" indent="-171450">
              <a:buAutoNum type="arabicPeriod"/>
            </a:pPr>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en-US" altLang="ko-KR" sz="1200" dirty="0"/>
              <a:t>10.3.5 TCS</a:t>
            </a:r>
          </a:p>
          <a:p>
            <a:pPr latinLnBrk="0"/>
            <a:r>
              <a:rPr lang="en-US" altLang="ko-KR" sz="825" dirty="0">
                <a:latin typeface="+mn-ea"/>
                <a:ea typeface="+mn-ea"/>
              </a:rPr>
              <a:t>1. Radiator</a:t>
            </a:r>
            <a:r>
              <a:rPr lang="ko-KR" altLang="en-US" sz="825" dirty="0">
                <a:latin typeface="+mn-ea"/>
                <a:ea typeface="+mn-ea"/>
              </a:rPr>
              <a:t>와 </a:t>
            </a:r>
            <a:r>
              <a:rPr lang="en-US" altLang="ko-KR" sz="825" dirty="0">
                <a:latin typeface="+mn-ea"/>
                <a:ea typeface="+mn-ea"/>
              </a:rPr>
              <a:t>Louver</a:t>
            </a:r>
            <a:r>
              <a:rPr lang="ko-KR" altLang="en-US" sz="825" dirty="0">
                <a:latin typeface="+mn-ea"/>
                <a:ea typeface="+mn-ea"/>
              </a:rPr>
              <a:t>는 태양복사열의 영향을 최소화하기 위해 태양을 바라보는 방향에 수직한 방향에 설치한다</a:t>
            </a:r>
            <a:r>
              <a:rPr lang="en-US" altLang="ko-KR" sz="825" dirty="0">
                <a:latin typeface="+mn-ea"/>
                <a:ea typeface="+mn-ea"/>
              </a:rPr>
              <a:t>.</a:t>
            </a: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10.3 Develop Packaging Configuration</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8636434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10.3 Develop Packaging Configuration</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4" name="그림 3">
            <a:extLst>
              <a:ext uri="{FF2B5EF4-FFF2-40B4-BE49-F238E27FC236}">
                <a16:creationId xmlns:a16="http://schemas.microsoft.com/office/drawing/2014/main" id="{9205A942-E697-472B-8A1F-70B6D9B85912}"/>
              </a:ext>
            </a:extLst>
          </p:cNvPr>
          <p:cNvPicPr>
            <a:picLocks noChangeAspect="1"/>
          </p:cNvPicPr>
          <p:nvPr/>
        </p:nvPicPr>
        <p:blipFill rotWithShape="1">
          <a:blip r:embed="rId3">
            <a:extLst>
              <a:ext uri="{28A0092B-C50C-407E-A947-70E740481C1C}">
                <a14:useLocalDpi xmlns:a14="http://schemas.microsoft.com/office/drawing/2010/main" val="0"/>
              </a:ext>
            </a:extLst>
          </a:blip>
          <a:srcRect l="2825" t="18903" r="4442" b="20856"/>
          <a:stretch/>
        </p:blipFill>
        <p:spPr bwMode="auto">
          <a:xfrm>
            <a:off x="1026200" y="1417428"/>
            <a:ext cx="6262110" cy="325453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67375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r>
              <a:rPr lang="en-US" altLang="ko-KR" sz="1200" dirty="0"/>
              <a:t>10.4.1 Materials</a:t>
            </a:r>
          </a:p>
          <a:p>
            <a:pPr latinLnBrk="0"/>
            <a:endParaRPr lang="en-US" altLang="ko-KR" sz="1200" dirty="0"/>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7075</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보다 가공성이 더 좋은 알루미늄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6061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합금은 위성의 전반적인 구조물을 제작하는데 사용한다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그리고 티타늄 합금과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Graphite,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세라믹은 연료탱크와 같은 </a:t>
            </a:r>
            <a:r>
              <a:rPr lang="ko-KR" altLang="en-US" sz="900" dirty="0" err="1">
                <a:latin typeface="Malgun Gothic Semilight" panose="020B0502040204020203" pitchFamily="50" charset="-127"/>
                <a:ea typeface="Malgun Gothic Semilight" panose="020B0502040204020203" pitchFamily="50" charset="-127"/>
                <a:cs typeface="Malgun Gothic Semilight" panose="020B0502040204020203" pitchFamily="50" charset="-127"/>
              </a:rPr>
              <a:t>추력계</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부품에 사용한다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마지막으로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CFRP</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는 알루미늄과 함께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honeycomb panel</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을 만드는데 쓰일 것이다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en-US" altLang="ko-KR" sz="1200" dirty="0"/>
              <a:t>10.4.1 Types of structure</a:t>
            </a:r>
          </a:p>
          <a:p>
            <a:pPr latinLnBrk="0"/>
            <a:endParaRPr lang="en-US" altLang="ko-KR" sz="1200" dirty="0"/>
          </a:p>
          <a:p>
            <a:pPr latinLnBrk="0"/>
            <a:r>
              <a:rPr lang="en-US" altLang="ko-KR" sz="900" dirty="0">
                <a:latin typeface="+mj-ea"/>
                <a:ea typeface="+mj-ea"/>
              </a:rPr>
              <a:t>Honeycomb panel</a:t>
            </a:r>
            <a:r>
              <a:rPr lang="ko-KR" altLang="en-US" sz="900" dirty="0">
                <a:latin typeface="+mj-ea"/>
                <a:ea typeface="+mj-ea"/>
              </a:rPr>
              <a:t> </a:t>
            </a:r>
            <a:r>
              <a:rPr lang="en-US" altLang="ko-KR" sz="900" dirty="0">
                <a:latin typeface="+mj-ea"/>
                <a:ea typeface="+mj-ea"/>
              </a:rPr>
              <a:t>:</a:t>
            </a:r>
            <a:r>
              <a:rPr lang="ko-KR" altLang="en-US" sz="900" dirty="0">
                <a:latin typeface="+mj-ea"/>
                <a:ea typeface="+mj-ea"/>
              </a:rPr>
              <a:t> </a:t>
            </a:r>
            <a:r>
              <a:rPr lang="en-US" altLang="ko-KR" sz="900" dirty="0">
                <a:latin typeface="+mj-ea"/>
                <a:ea typeface="+mj-ea"/>
              </a:rPr>
              <a:t>facing skin</a:t>
            </a:r>
            <a:r>
              <a:rPr lang="ko-KR" altLang="en-US" sz="900" dirty="0">
                <a:latin typeface="+mj-ea"/>
                <a:ea typeface="+mj-ea"/>
              </a:rPr>
              <a:t>으로 </a:t>
            </a:r>
            <a:r>
              <a:rPr lang="en-US" altLang="ko-KR" sz="900" dirty="0">
                <a:latin typeface="+mj-ea"/>
                <a:ea typeface="+mj-ea"/>
              </a:rPr>
              <a:t>CFRP</a:t>
            </a:r>
            <a:r>
              <a:rPr lang="ko-KR" altLang="en-US" sz="900" dirty="0">
                <a:latin typeface="+mj-ea"/>
                <a:ea typeface="+mj-ea"/>
              </a:rPr>
              <a:t>가</a:t>
            </a:r>
            <a:r>
              <a:rPr lang="en-US" altLang="ko-KR" sz="900" dirty="0">
                <a:latin typeface="+mj-ea"/>
                <a:ea typeface="+mj-ea"/>
              </a:rPr>
              <a:t>, </a:t>
            </a:r>
            <a:r>
              <a:rPr lang="ko-KR" altLang="en-US" sz="900" dirty="0">
                <a:latin typeface="+mj-ea"/>
                <a:ea typeface="+mj-ea"/>
              </a:rPr>
              <a:t>그리고 </a:t>
            </a:r>
            <a:r>
              <a:rPr lang="en-US" altLang="ko-KR" sz="900" dirty="0">
                <a:latin typeface="+mj-ea"/>
                <a:ea typeface="+mj-ea"/>
              </a:rPr>
              <a:t>Honeycomb core</a:t>
            </a:r>
            <a:r>
              <a:rPr lang="ko-KR" altLang="en-US" sz="900" dirty="0">
                <a:latin typeface="+mj-ea"/>
                <a:ea typeface="+mj-ea"/>
              </a:rPr>
              <a:t>로 알루미늄이 사용되어 만들어진 구조로서 </a:t>
            </a:r>
            <a:endParaRPr lang="en-US" altLang="ko-KR" sz="900" dirty="0">
              <a:latin typeface="+mj-ea"/>
              <a:ea typeface="+mj-ea"/>
            </a:endParaRPr>
          </a:p>
          <a:p>
            <a:pPr latinLnBrk="0"/>
            <a:r>
              <a:rPr lang="ko-KR" altLang="en-US" sz="900" dirty="0">
                <a:latin typeface="+mj-ea"/>
                <a:ea typeface="+mj-ea"/>
              </a:rPr>
              <a:t>단열</a:t>
            </a:r>
            <a:r>
              <a:rPr lang="en-US" altLang="ko-KR" sz="900" dirty="0">
                <a:latin typeface="+mj-ea"/>
                <a:ea typeface="+mj-ea"/>
              </a:rPr>
              <a:t>, </a:t>
            </a:r>
            <a:r>
              <a:rPr lang="ko-KR" altLang="en-US" sz="900" dirty="0">
                <a:latin typeface="+mj-ea"/>
                <a:ea typeface="+mj-ea"/>
              </a:rPr>
              <a:t>높은 </a:t>
            </a:r>
            <a:r>
              <a:rPr lang="en-US" altLang="ko-KR" sz="900" dirty="0">
                <a:latin typeface="+mj-ea"/>
                <a:ea typeface="+mj-ea"/>
              </a:rPr>
              <a:t>shear strength, stiffness</a:t>
            </a:r>
            <a:r>
              <a:rPr lang="ko-KR" altLang="en-US" sz="900" dirty="0">
                <a:latin typeface="+mj-ea"/>
                <a:ea typeface="+mj-ea"/>
              </a:rPr>
              <a:t>의 증가라는 장점이 있다</a:t>
            </a:r>
            <a:r>
              <a:rPr lang="en-US" altLang="ko-KR" sz="900" dirty="0">
                <a:latin typeface="+mj-ea"/>
                <a:ea typeface="+mj-ea"/>
              </a:rPr>
              <a:t>. </a:t>
            </a:r>
            <a:r>
              <a:rPr lang="ko-KR" altLang="en-US" sz="900" dirty="0">
                <a:latin typeface="+mj-ea"/>
                <a:ea typeface="+mj-ea"/>
              </a:rPr>
              <a:t>또한 </a:t>
            </a:r>
            <a:r>
              <a:rPr lang="en-US" altLang="ko-KR" sz="900" dirty="0">
                <a:latin typeface="+mj-ea"/>
                <a:ea typeface="+mj-ea"/>
              </a:rPr>
              <a:t>radiation</a:t>
            </a:r>
            <a:r>
              <a:rPr lang="ko-KR" altLang="en-US" sz="900" dirty="0">
                <a:latin typeface="+mj-ea"/>
                <a:ea typeface="+mj-ea"/>
              </a:rPr>
              <a:t>을 효과적으로 차폐하기 위해 알루미늄 코어의 </a:t>
            </a:r>
            <a:endParaRPr lang="en-US" altLang="ko-KR" sz="900" dirty="0">
              <a:latin typeface="+mj-ea"/>
              <a:ea typeface="+mj-ea"/>
            </a:endParaRPr>
          </a:p>
          <a:p>
            <a:pPr latinLnBrk="0"/>
            <a:r>
              <a:rPr lang="ko-KR" altLang="en-US" sz="900" dirty="0">
                <a:latin typeface="+mj-ea"/>
                <a:ea typeface="+mj-ea"/>
              </a:rPr>
              <a:t>두께를 최소 </a:t>
            </a:r>
            <a:r>
              <a:rPr lang="en-US" altLang="ko-KR" sz="900" dirty="0">
                <a:latin typeface="+mj-ea"/>
                <a:ea typeface="+mj-ea"/>
              </a:rPr>
              <a:t>10mm </a:t>
            </a:r>
            <a:r>
              <a:rPr lang="ko-KR" altLang="en-US" sz="900" dirty="0">
                <a:latin typeface="+mj-ea"/>
                <a:ea typeface="+mj-ea"/>
              </a:rPr>
              <a:t>이상으로 설계한다</a:t>
            </a:r>
            <a:r>
              <a:rPr lang="en-US" altLang="ko-KR" sz="900" dirty="0">
                <a:latin typeface="+mj-ea"/>
                <a:ea typeface="+mj-ea"/>
              </a:rPr>
              <a:t>.</a:t>
            </a:r>
          </a:p>
          <a:p>
            <a:pPr latinLnBrk="0"/>
            <a:endParaRPr lang="en-US" altLang="ko-KR" sz="900" dirty="0">
              <a:latin typeface="+mj-ea"/>
              <a:ea typeface="+mj-ea"/>
            </a:endParaRPr>
          </a:p>
          <a:p>
            <a:pPr latinLnBrk="0"/>
            <a:r>
              <a:rPr lang="en-US" altLang="ko-KR" sz="900" dirty="0">
                <a:latin typeface="+mj-ea"/>
                <a:ea typeface="+mj-ea"/>
              </a:rPr>
              <a:t> </a:t>
            </a:r>
          </a:p>
          <a:p>
            <a:pPr latinLnBrk="0"/>
            <a:endParaRPr lang="en-US" altLang="ko-KR" sz="900" dirty="0">
              <a:latin typeface="+mj-ea"/>
              <a:ea typeface="+mj-ea"/>
            </a:endParaRPr>
          </a:p>
          <a:p>
            <a:pPr latinLnBrk="0"/>
            <a:r>
              <a:rPr lang="ko-KR" altLang="en-US" sz="900" dirty="0">
                <a:latin typeface="+mj-ea"/>
                <a:ea typeface="+mj-ea"/>
              </a:rPr>
              <a:t>그리고 박스형 </a:t>
            </a:r>
            <a:r>
              <a:rPr lang="en-US" altLang="ko-KR" sz="900" dirty="0">
                <a:latin typeface="+mj-ea"/>
                <a:ea typeface="+mj-ea"/>
              </a:rPr>
              <a:t>Primary structure </a:t>
            </a:r>
            <a:r>
              <a:rPr lang="ko-KR" altLang="en-US" sz="900" dirty="0">
                <a:latin typeface="+mj-ea"/>
                <a:ea typeface="+mj-ea"/>
              </a:rPr>
              <a:t>내부에서는 </a:t>
            </a:r>
            <a:r>
              <a:rPr lang="en-US" altLang="ko-KR" sz="900" dirty="0">
                <a:latin typeface="+mj-ea"/>
                <a:ea typeface="+mj-ea"/>
              </a:rPr>
              <a:t>Truss </a:t>
            </a:r>
            <a:r>
              <a:rPr lang="ko-KR" altLang="en-US" sz="900" dirty="0">
                <a:latin typeface="+mj-ea"/>
                <a:ea typeface="+mj-ea"/>
              </a:rPr>
              <a:t>구조를 사용하여 가해지는 하중을 잘 분산시키도록 한다</a:t>
            </a:r>
            <a:r>
              <a:rPr lang="en-US" altLang="ko-KR" sz="900" dirty="0">
                <a:latin typeface="+mj-ea"/>
                <a:ea typeface="+mj-ea"/>
              </a:rPr>
              <a:t>.</a:t>
            </a:r>
          </a:p>
          <a:p>
            <a:pPr latinLnBrk="0"/>
            <a:endParaRPr lang="en-US" altLang="ko-KR" sz="900" dirty="0">
              <a:latin typeface="+mj-ea"/>
              <a:ea typeface="+mj-ea"/>
              <a:cs typeface="Malgun Gothic Semilight" panose="020B0502040204020203" pitchFamily="50" charset="-127"/>
            </a:endParaRPr>
          </a:p>
          <a:p>
            <a:pPr latinLnBrk="0"/>
            <a:endParaRPr lang="en-US" altLang="ko-KR" sz="12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10.4 Design Options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19260643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6"/>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en-US" altLang="ko-KR" sz="1200" dirty="0"/>
              <a:t>10.4.3 Method of construction</a:t>
            </a:r>
          </a:p>
          <a:p>
            <a:pPr latinLnBrk="0"/>
            <a:endParaRPr lang="en-US" altLang="ko-KR" sz="1200" dirty="0"/>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위성 제작 시에 접착제</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용접</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기계적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fastener</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를 사용하여 구조물들을 접합할 수 있다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Fastener</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인 볼트를 사용할 경우에 국부적인 응력 집중에 의해 파손을 일으킬 가능성이 있다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그리고 대부분의 알루미늄 합금에 용접도 가능하지만</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용접 열로 인해 용접 부위 근처의 재료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strength</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가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50%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이상 낮아질 수 있다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10.4 Design Options</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55948761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a:br>
            <a:br>
              <a:rPr lang="en-US" altLang="ko-KR" sz="1200"/>
            </a:br>
            <a:br>
              <a:rPr lang="en-US" altLang="ko-KR" sz="1200"/>
            </a:br>
            <a:endParaRPr lang="en-US" altLang="ko-KR" sz="1200"/>
          </a:p>
          <a:p>
            <a:pPr latinLnBrk="0"/>
            <a:r>
              <a:rPr lang="en-US" altLang="ko-KR" sz="1200"/>
              <a:t>10.5.1 Thermal Environment</a:t>
            </a:r>
          </a:p>
          <a:p>
            <a:pPr latinLnBrk="0"/>
            <a:endParaRPr lang="en-US" altLang="ko-KR" sz="1200"/>
          </a:p>
          <a:p>
            <a:pPr latinLnBrk="0"/>
            <a:endParaRPr lang="en-US" altLang="ko-KR" sz="1200"/>
          </a:p>
          <a:p>
            <a:pPr latinLnBrk="0"/>
            <a:r>
              <a:rPr lang="en-US" altLang="ko-KR" sz="1200"/>
              <a:t>10.5.2 Acceleration Environment </a:t>
            </a:r>
          </a:p>
          <a:p>
            <a:pPr latinLnBrk="0"/>
            <a:endParaRPr lang="en-US" altLang="ko-KR" sz="1200"/>
          </a:p>
          <a:p>
            <a:pPr latinLnBrk="0"/>
            <a:endParaRPr lang="en-US" altLang="ko-KR" sz="1200"/>
          </a:p>
          <a:p>
            <a:pPr latinLnBrk="0"/>
            <a:r>
              <a:rPr lang="en-US" altLang="ko-KR" sz="1200"/>
              <a:t>10.5.3 Shock Environment</a:t>
            </a:r>
          </a:p>
          <a:p>
            <a:pPr latinLnBrk="0"/>
            <a:r>
              <a:rPr lang="en-US" altLang="ko-KR" sz="1200"/>
              <a:t> </a:t>
            </a:r>
          </a:p>
          <a:p>
            <a:pPr latinLnBrk="0"/>
            <a:endParaRPr lang="en-US" altLang="ko-KR" sz="1200"/>
          </a:p>
          <a:p>
            <a:pPr latinLnBrk="0"/>
            <a:r>
              <a:rPr lang="en-US" altLang="ko-KR" sz="1200"/>
              <a:t>10.5.4 Acoustic Environment</a:t>
            </a:r>
          </a:p>
          <a:p>
            <a:pPr latinLnBrk="0"/>
            <a:r>
              <a:rPr lang="en-US" altLang="ko-KR" sz="1200"/>
              <a:t> </a:t>
            </a:r>
          </a:p>
          <a:p>
            <a:pPr latinLnBrk="0"/>
            <a:endParaRPr lang="en-US" altLang="ko-KR" sz="1200"/>
          </a:p>
          <a:p>
            <a:pPr latinLnBrk="0"/>
            <a:r>
              <a:rPr lang="en-US" altLang="ko-KR" sz="1200"/>
              <a:t>10.5.5 Vibration Environment</a:t>
            </a:r>
            <a:endParaRPr lang="en-US" altLang="ko-KR" sz="1200" dirty="0"/>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10.5 Structure Design Criteria</a:t>
            </a: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3572130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973"/>
        <p:cNvGrpSpPr/>
        <p:nvPr/>
      </p:nvGrpSpPr>
      <p:grpSpPr>
        <a:xfrm>
          <a:off x="0" y="0"/>
          <a:ext cx="0" cy="0"/>
          <a:chOff x="0" y="0"/>
          <a:chExt cx="0" cy="0"/>
        </a:xfrm>
      </p:grpSpPr>
      <p:sp>
        <p:nvSpPr>
          <p:cNvPr id="7" name="Google Shape;1974;p55">
            <a:extLst>
              <a:ext uri="{FF2B5EF4-FFF2-40B4-BE49-F238E27FC236}">
                <a16:creationId xmlns:a16="http://schemas.microsoft.com/office/drawing/2014/main" id="{B3E6E3B9-4FA6-4B08-9FE1-EAF81170D522}"/>
              </a:ext>
            </a:extLst>
          </p:cNvPr>
          <p:cNvSpPr txBox="1">
            <a:spLocks/>
          </p:cNvSpPr>
          <p:nvPr/>
        </p:nvSpPr>
        <p:spPr>
          <a:xfrm>
            <a:off x="938501" y="445025"/>
            <a:ext cx="7969756" cy="44310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400"/>
              <a:buFont typeface="Montserrat ExtraBold"/>
              <a:buNone/>
              <a:defRPr sz="3200" b="0" i="0" u="none" strike="noStrike" cap="none">
                <a:solidFill>
                  <a:schemeClr val="accent1"/>
                </a:solidFill>
                <a:latin typeface="Montserrat ExtraBold"/>
                <a:ea typeface="Montserrat ExtraBold"/>
                <a:cs typeface="Montserrat ExtraBold"/>
                <a:sym typeface="Montserrat ExtraBold"/>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latinLnBrk="0"/>
            <a:br>
              <a:rPr lang="en-US" altLang="ko-KR" sz="1200" dirty="0"/>
            </a:br>
            <a:br>
              <a:rPr lang="en-US" altLang="ko-KR" sz="1200" dirty="0"/>
            </a:br>
            <a:br>
              <a:rPr lang="en-US" altLang="ko-KR" sz="1200" dirty="0"/>
            </a:br>
            <a:endParaRPr lang="en-US" altLang="ko-KR" sz="1200" dirty="0"/>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그러기 위해서는 항복강도</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(Yield Strength)</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와 극한강도</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(Ultimate Strength)</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에 대하여 </a:t>
            </a:r>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안전계수</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(Safety Factor)</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를 설정한 후에 그 값을 이용하여 안전여유</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(Margin of Safety, MS)</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가 </a:t>
            </a:r>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최소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0</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보다 큰 값이 나오도록 해야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조금 더 구체적인 과정을 설명하자면</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일단 각 구조 또는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material</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 견뎌낼 수 있는 가장 높은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인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Allowable 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를 구하고</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발사 환경동안 예상되는 최대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인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Limit 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를 분석한 후에 안전 계수를 설정한다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이때 아래 테이블을 참고하여서 안전 계수를 정하도록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a:p>
            <a:pPr latinLnBrk="0"/>
            <a:endParaRPr lang="en-US" altLang="ko-KR" sz="1200" dirty="0"/>
          </a:p>
          <a:p>
            <a:pPr latinLnBrk="0"/>
            <a:r>
              <a:rPr lang="en-US" altLang="ko-KR" sz="1200" dirty="0"/>
              <a:t> </a:t>
            </a:r>
          </a:p>
          <a:p>
            <a:pPr latinLnBrk="0"/>
            <a:endParaRPr lang="en-US" altLang="ko-KR" sz="1200" dirty="0"/>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endPar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pPr latinLnBrk="0"/>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이렇게 설정한 안전 계수 값을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Limit 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에 곱한 값을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Design Load</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라고 하며</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이 값이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Allowable load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값보다 더 크지 않아야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즉 </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MS=(Allowable load)/(Design load)-1≥0 </a:t>
            </a:r>
            <a:r>
              <a:rPr lang="ko-KR" altLang="en-US"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을 만족해야 한다</a:t>
            </a:r>
            <a:r>
              <a:rPr lang="en-US" altLang="ko-KR" sz="900" dirty="0">
                <a:latin typeface="Malgun Gothic Semilight" panose="020B0502040204020203" pitchFamily="50" charset="-127"/>
                <a:ea typeface="Malgun Gothic Semilight" panose="020B0502040204020203" pitchFamily="50" charset="-127"/>
                <a:cs typeface="Malgun Gothic Semilight" panose="020B0502040204020203" pitchFamily="50" charset="-127"/>
              </a:rPr>
              <a:t>.</a:t>
            </a:r>
          </a:p>
        </p:txBody>
      </p:sp>
      <p:sp>
        <p:nvSpPr>
          <p:cNvPr id="1974" name="Google Shape;1974;p55"/>
          <p:cNvSpPr txBox="1">
            <a:spLocks noGrp="1"/>
          </p:cNvSpPr>
          <p:nvPr>
            <p:ph type="title"/>
          </p:nvPr>
        </p:nvSpPr>
        <p:spPr>
          <a:xfrm>
            <a:off x="938501" y="445025"/>
            <a:ext cx="7969756" cy="941400"/>
          </a:xfrm>
          <a:prstGeom prst="rect">
            <a:avLst/>
          </a:prstGeom>
        </p:spPr>
        <p:txBody>
          <a:bodyPr spcFirstLastPara="1" wrap="square" lIns="91425" tIns="91425" rIns="91425" bIns="91425" anchor="t" anchorCtr="0">
            <a:noAutofit/>
          </a:bodyPr>
          <a:lstStyle/>
          <a:p>
            <a:r>
              <a:rPr lang="en-US" altLang="ko-KR" sz="2800" dirty="0"/>
              <a:t>10.5 Structure Design Criteria</a:t>
            </a:r>
            <a:br>
              <a:rPr lang="en-US" altLang="ko-KR" sz="2800" dirty="0"/>
            </a:br>
            <a:endParaRPr lang="en-US" sz="2800" dirty="0"/>
          </a:p>
        </p:txBody>
      </p:sp>
      <p:cxnSp>
        <p:nvCxnSpPr>
          <p:cNvPr id="1981" name="Google Shape;1981;p55"/>
          <p:cNvCxnSpPr/>
          <p:nvPr/>
        </p:nvCxnSpPr>
        <p:spPr>
          <a:xfrm>
            <a:off x="1026200" y="414022"/>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pic>
        <p:nvPicPr>
          <p:cNvPr id="5" name="그림 4">
            <a:extLst>
              <a:ext uri="{FF2B5EF4-FFF2-40B4-BE49-F238E27FC236}">
                <a16:creationId xmlns:a16="http://schemas.microsoft.com/office/drawing/2014/main" id="{E79E83EC-68E4-4D85-A7F6-33E22C03A1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26201" y="2416561"/>
            <a:ext cx="4293394" cy="1243013"/>
          </a:xfrm>
          <a:prstGeom prst="rect">
            <a:avLst/>
          </a:prstGeom>
          <a:noFill/>
          <a:ln>
            <a:noFill/>
          </a:ln>
        </p:spPr>
      </p:pic>
    </p:spTree>
    <p:extLst>
      <p:ext uri="{BB962C8B-B14F-4D97-AF65-F5344CB8AC3E}">
        <p14:creationId xmlns:p14="http://schemas.microsoft.com/office/powerpoint/2010/main" val="334719534"/>
      </p:ext>
    </p:extLst>
  </p:cSld>
  <p:clrMapOvr>
    <a:masterClrMapping/>
  </p:clrMapOvr>
</p:sld>
</file>

<file path=ppt/theme/theme1.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a:spAutoFit/>
      </a:bodyPr>
      <a:lstStyle>
        <a:defPPr algn="l">
          <a:defRPr sz="1200" dirty="0">
            <a:solidFill>
              <a:schemeClr val="bg1"/>
            </a:solidFill>
            <a:effectLst/>
            <a:latin typeface="맑은 고딕" panose="020B0503020000020004" pitchFamily="50" charset="-127"/>
            <a:cs typeface="Times New Roman" panose="02020603050405020304" pitchFamily="18" charset="0"/>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3744</TotalTime>
  <Words>8217</Words>
  <Application>Microsoft Office PowerPoint</Application>
  <PresentationFormat>화면 슬라이드 쇼(16:9)</PresentationFormat>
  <Paragraphs>2055</Paragraphs>
  <Slides>132</Slides>
  <Notes>107</Notes>
  <HiddenSlides>0</HiddenSlides>
  <MMClips>0</MMClips>
  <ScaleCrop>false</ScaleCrop>
  <HeadingPairs>
    <vt:vector size="8" baseType="variant">
      <vt:variant>
        <vt:lpstr>사용한 글꼴</vt:lpstr>
      </vt:variant>
      <vt:variant>
        <vt:i4>9</vt:i4>
      </vt:variant>
      <vt:variant>
        <vt:lpstr>테마</vt:lpstr>
      </vt:variant>
      <vt:variant>
        <vt:i4>1</vt:i4>
      </vt:variant>
      <vt:variant>
        <vt:lpstr>포함된 OLE 서버</vt:lpstr>
      </vt:variant>
      <vt:variant>
        <vt:i4>1</vt:i4>
      </vt:variant>
      <vt:variant>
        <vt:lpstr>슬라이드 제목</vt:lpstr>
      </vt:variant>
      <vt:variant>
        <vt:i4>132</vt:i4>
      </vt:variant>
    </vt:vector>
  </HeadingPairs>
  <TitlesOfParts>
    <vt:vector size="143" baseType="lpstr">
      <vt:lpstr>Arial</vt:lpstr>
      <vt:lpstr>Malgun Gothic Semilight</vt:lpstr>
      <vt:lpstr>맑은 고딕</vt:lpstr>
      <vt:lpstr>굴림</vt:lpstr>
      <vt:lpstr>맑은 고딕</vt:lpstr>
      <vt:lpstr>함초롬바탕</vt:lpstr>
      <vt:lpstr>Cambria Math</vt:lpstr>
      <vt:lpstr>Montserrat ExtraBold</vt:lpstr>
      <vt:lpstr>Montserrat</vt:lpstr>
      <vt:lpstr>Futuristic Background by Slidesgo</vt:lpstr>
      <vt:lpstr>비트맵 이미지</vt:lpstr>
      <vt:lpstr>한국형 항법위성 구현</vt:lpstr>
      <vt:lpstr>1. Mission Statement</vt:lpstr>
      <vt:lpstr>1.1 Define broad objectives and constraints</vt:lpstr>
      <vt:lpstr>1.1 Define broad objectives and constraints</vt:lpstr>
      <vt:lpstr>1.2 Estimate quantitative mission needs and requirements</vt:lpstr>
      <vt:lpstr>1.3 Estimate quantitative constraints</vt:lpstr>
      <vt:lpstr>1.4 Budgets for spacecraft propellant, power, and weight</vt:lpstr>
      <vt:lpstr>1.4 Budgets for spacecraft propellant, power, and weight</vt:lpstr>
      <vt:lpstr>1.4 Budgets for spacecraft propellant, power, and weight</vt:lpstr>
      <vt:lpstr>1.5 Satellite System</vt:lpstr>
      <vt:lpstr>2. Payload Subsystem</vt:lpstr>
      <vt:lpstr>2. Payload Subsystem</vt:lpstr>
      <vt:lpstr>2. Payload Subsystem</vt:lpstr>
      <vt:lpstr>2. Payload Subsystem</vt:lpstr>
      <vt:lpstr>2. Payload Subsystem</vt:lpstr>
      <vt:lpstr>2. Payload Subsystem</vt:lpstr>
      <vt:lpstr>2. Payload Subsystem</vt:lpstr>
      <vt:lpstr>2. Payload Subsystem</vt:lpstr>
      <vt:lpstr>3. Propulsion Subsystem</vt:lpstr>
      <vt:lpstr>3.1 Budgets for propellant Subsystem</vt:lpstr>
      <vt:lpstr>3.1 Budgets for propellant Subsystem</vt:lpstr>
      <vt:lpstr>3.1 Budgets for propellant Subsystem</vt:lpstr>
      <vt:lpstr>3.1 Budgets for propellant Subsystem</vt:lpstr>
      <vt:lpstr>3.1 Budgets for propellant Subsystem</vt:lpstr>
      <vt:lpstr>3.2 Hardware for Propellant Subsystem</vt:lpstr>
      <vt:lpstr>3.2 Hardware for Propellant Subsystem</vt:lpstr>
      <vt:lpstr>3.2 Hardware for Propellant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4. Guidance, Navigation  &amp; Control Subsystem</vt:lpstr>
      <vt:lpstr>PowerPoint 프레젠테이션</vt:lpstr>
      <vt:lpstr>5.1.a. Define control modes</vt:lpstr>
      <vt:lpstr>5.1.b. Define or derive system-level requirements by control mode</vt:lpstr>
      <vt:lpstr>5.1.b. Define or derive system-level requirements by control mode</vt:lpstr>
      <vt:lpstr>5.2. Select type of S/C control by attitude control mode</vt:lpstr>
      <vt:lpstr>5.2. Select type of S/C control by attitude control mode</vt:lpstr>
      <vt:lpstr>5.3 Estimate Worst-Case Disturbance Torques </vt:lpstr>
      <vt:lpstr>5.3 Estimate Worst-Case Disturbance Torques </vt:lpstr>
      <vt:lpstr>5.3 Estimate Worst-Case Disturbance Torques </vt:lpstr>
      <vt:lpstr>5.3 Estimate Worst-Case Disturbance Torques </vt:lpstr>
      <vt:lpstr>5.3 Estimate Worst-Case Disturbance Torques </vt:lpstr>
      <vt:lpstr>5.3 Estimate Worst-Case Disturbance Torques</vt:lpstr>
      <vt:lpstr>5.3 Estimate Worst-Case Disturbance Torques</vt:lpstr>
      <vt:lpstr>5.3 Estimate Worst-Case Disturbance Torques</vt:lpstr>
      <vt:lpstr>5.3 Estimate Worst-Case Disturbance Torques</vt:lpstr>
      <vt:lpstr>5.4. Select and size ADCS hardware</vt:lpstr>
      <vt:lpstr>5.4. Select and size ADCS hardware</vt:lpstr>
      <vt:lpstr>5.4. Select and size ADCS hardware</vt:lpstr>
      <vt:lpstr>5.4. Select and size ADCS hardware</vt:lpstr>
      <vt:lpstr>5.4. Select and size ADCS hardware</vt:lpstr>
      <vt:lpstr>5.4. Select and size ADCS hardware</vt:lpstr>
      <vt:lpstr>5.4. Select and size ADCS hardware</vt:lpstr>
      <vt:lpstr>5.4. Select and size ADCS hardware</vt:lpstr>
      <vt:lpstr>5.4. Select and size ADCS hardware</vt:lpstr>
      <vt:lpstr>5.5. Define determination and control algorithms</vt:lpstr>
      <vt:lpstr>TT&amp;C</vt:lpstr>
      <vt:lpstr>Identify Requirements</vt:lpstr>
      <vt:lpstr>Design Process - Frequency</vt:lpstr>
      <vt:lpstr>Design Process – Modulation Method</vt:lpstr>
      <vt:lpstr>Design Process – Data Rates</vt:lpstr>
      <vt:lpstr>Link Analysis</vt:lpstr>
      <vt:lpstr>Link Analysis</vt:lpstr>
      <vt:lpstr>Link Analysis</vt:lpstr>
      <vt:lpstr>Link Analysis</vt:lpstr>
      <vt:lpstr>Link Analysis</vt:lpstr>
      <vt:lpstr>Link Analysis</vt:lpstr>
      <vt:lpstr>Link Analysis</vt:lpstr>
      <vt:lpstr>Ground Station</vt:lpstr>
      <vt:lpstr>TT&amp;C Data Diagram</vt:lpstr>
      <vt:lpstr>TT&amp;C Hardware</vt:lpstr>
      <vt:lpstr>C&amp;DH</vt:lpstr>
      <vt:lpstr>Identify Requirements</vt:lpstr>
      <vt:lpstr>C&amp;DH Modes</vt:lpstr>
      <vt:lpstr>C&amp;DH Data Flow with subsystems</vt:lpstr>
      <vt:lpstr>C&amp;DH Data Flow with subsystems</vt:lpstr>
      <vt:lpstr>C&amp;DH Data Flow with subsystems</vt:lpstr>
      <vt:lpstr>C&amp;DH Hardware Architecture</vt:lpstr>
      <vt:lpstr>C&amp;DH Software Architecture</vt:lpstr>
      <vt:lpstr>Complexity</vt:lpstr>
      <vt:lpstr>Complexity</vt:lpstr>
      <vt:lpstr>C&amp;DH Hardware</vt:lpstr>
      <vt:lpstr>8.1 EPS Objective &amp; Constraints</vt:lpstr>
      <vt:lpstr>8.2 EPS Requirements</vt:lpstr>
      <vt:lpstr>8.3 Power Budget </vt:lpstr>
      <vt:lpstr>8.4 Design Process</vt:lpstr>
      <vt:lpstr> </vt:lpstr>
      <vt:lpstr> </vt:lpstr>
      <vt:lpstr> </vt:lpstr>
      <vt:lpstr> </vt:lpstr>
      <vt:lpstr> </vt:lpstr>
      <vt:lpstr> </vt:lpstr>
      <vt:lpstr>9.1 TCS Objective &amp; Constraints</vt:lpstr>
      <vt:lpstr>9.2 TCS Requirements</vt:lpstr>
      <vt:lpstr>9.3 Operating Temperature </vt:lpstr>
      <vt:lpstr>9.4 Preliminary Design Process</vt:lpstr>
      <vt:lpstr> </vt:lpstr>
      <vt:lpstr> </vt:lpstr>
      <vt:lpstr> </vt:lpstr>
      <vt:lpstr> </vt:lpstr>
      <vt:lpstr> </vt:lpstr>
      <vt:lpstr> </vt:lpstr>
      <vt:lpstr> </vt:lpstr>
      <vt:lpstr>10. SMS  Index   10.1 Identity Requirement  10.2 Overall Configuration  10.3 Develop Packaging Configuration  10.4 Design Options  10.5 Structure Design Philosophy &amp; Criteria  10.6 Size members </vt:lpstr>
      <vt:lpstr>10.1 Identity Requirement</vt:lpstr>
      <vt:lpstr>10.1 Identity Requirement</vt:lpstr>
      <vt:lpstr>10.2 Overall Configuration</vt:lpstr>
      <vt:lpstr>10.2 Overall Configuration</vt:lpstr>
      <vt:lpstr>10.3 Develop Packaging Configuration</vt:lpstr>
      <vt:lpstr>10.3 Develop Packaging Configuration</vt:lpstr>
      <vt:lpstr>10.4 Design Options</vt:lpstr>
      <vt:lpstr>10.4 Design Options</vt:lpstr>
      <vt:lpstr>10.5 Structure Design Criteria</vt:lpstr>
      <vt:lpstr>10.5 Structure Design Criteria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Safari</dc:title>
  <dc:creator>김규민</dc:creator>
  <cp:lastModifiedBy>이진진</cp:lastModifiedBy>
  <cp:revision>95</cp:revision>
  <dcterms:modified xsi:type="dcterms:W3CDTF">2021-12-13T01:54:08Z</dcterms:modified>
</cp:coreProperties>
</file>