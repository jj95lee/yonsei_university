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29"/>
  </p:notesMasterIdLst>
  <p:sldIdLst>
    <p:sldId id="256" r:id="rId2"/>
    <p:sldId id="342" r:id="rId3"/>
    <p:sldId id="333" r:id="rId4"/>
    <p:sldId id="440" r:id="rId5"/>
    <p:sldId id="441" r:id="rId6"/>
    <p:sldId id="442" r:id="rId7"/>
    <p:sldId id="443" r:id="rId8"/>
    <p:sldId id="446" r:id="rId9"/>
    <p:sldId id="448" r:id="rId10"/>
    <p:sldId id="449" r:id="rId11"/>
    <p:sldId id="450" r:id="rId12"/>
    <p:sldId id="451" r:id="rId13"/>
    <p:sldId id="452" r:id="rId14"/>
    <p:sldId id="453" r:id="rId15"/>
    <p:sldId id="454" r:id="rId16"/>
    <p:sldId id="455" r:id="rId17"/>
    <p:sldId id="456" r:id="rId18"/>
    <p:sldId id="457" r:id="rId19"/>
    <p:sldId id="458" r:id="rId20"/>
    <p:sldId id="370" r:id="rId21"/>
    <p:sldId id="372" r:id="rId22"/>
    <p:sldId id="373" r:id="rId23"/>
    <p:sldId id="374" r:id="rId24"/>
    <p:sldId id="380" r:id="rId25"/>
    <p:sldId id="459" r:id="rId26"/>
    <p:sldId id="460" r:id="rId27"/>
    <p:sldId id="461" r:id="rId28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0"/>
    </p:embeddedFont>
    <p:embeddedFont>
      <p:font typeface="Montserrat" panose="00000500000000000000" pitchFamily="2" charset="0"/>
      <p:regular r:id="rId31"/>
      <p:bold r:id="rId32"/>
      <p:italic r:id="rId33"/>
      <p:boldItalic r:id="rId34"/>
    </p:embeddedFont>
    <p:embeddedFont>
      <p:font typeface="Montserrat ExtraBold" panose="00000900000000000000" pitchFamily="2" charset="0"/>
      <p:bold r:id="rId35"/>
      <p:italic r:id="rId36"/>
      <p:boldItalic r:id="rId37"/>
    </p:embeddedFont>
    <p:embeddedFont>
      <p:font typeface="맑은 고딕" panose="020B0503020000020004" pitchFamily="50" charset="-127"/>
      <p:regular r:id="rId38"/>
      <p:bold r:id="rId39"/>
    </p:embeddedFont>
    <p:embeddedFont>
      <p:font typeface="함초롬바탕" panose="02030504000101010101" pitchFamily="18" charset="-127"/>
      <p:regular r:id="rId40"/>
      <p:bold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B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C28B2AB-E718-4DF9-ADA3-83340B5D2C4E}">
  <a:tblStyle styleId="{1C28B2AB-E718-4DF9-ADA3-83340B5D2C4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2" autoAdjust="0"/>
    <p:restoredTop sz="74585" autoAdjust="0"/>
  </p:normalViewPr>
  <p:slideViewPr>
    <p:cSldViewPr snapToGrid="0">
      <p:cViewPr varScale="1">
        <p:scale>
          <a:sx n="108" d="100"/>
          <a:sy n="108" d="100"/>
        </p:scale>
        <p:origin x="19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152680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7f9262ee2f_0_26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" name="Google Shape;1972;g7f9262ee2f_0_26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0802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7f9262ee2f_0_26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" name="Google Shape;1972;g7f9262ee2f_0_26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87303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7f9262ee2f_0_26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" name="Google Shape;1972;g7f9262ee2f_0_26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7472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7f9262ee2f_0_26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" name="Google Shape;1972;g7f9262ee2f_0_26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885677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7f9262ee2f_0_26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" name="Google Shape;1972;g7f9262ee2f_0_26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023943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7f9262ee2f_0_26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" name="Google Shape;1972;g7f9262ee2f_0_26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624150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7f9262ee2f_0_26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" name="Google Shape;1972;g7f9262ee2f_0_26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50064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7f9262ee2f_0_26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" name="Google Shape;1972;g7f9262ee2f_0_26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93302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7f9262ee2f_0_26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" name="Google Shape;1972;g7f9262ee2f_0_26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800" kern="0" dirty="0">
              <a:solidFill>
                <a:srgbClr val="000000"/>
              </a:solidFill>
              <a:effectLst/>
              <a:latin typeface="굴림" panose="020B0600000101010101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49667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7f9262ee2f_0_26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" name="Google Shape;1972;g7f9262ee2f_0_26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94911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7f9262ee2f_0_26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" name="Google Shape;1972;g7f9262ee2f_0_26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76807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7f9262ee2f_0_26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" name="Google Shape;1972;g7f9262ee2f_0_26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05778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7f9262ee2f_0_26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" name="Google Shape;1972;g7f9262ee2f_0_26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b="0" dirty="0"/>
          </a:p>
        </p:txBody>
      </p:sp>
    </p:spTree>
    <p:extLst>
      <p:ext uri="{BB962C8B-B14F-4D97-AF65-F5344CB8AC3E}">
        <p14:creationId xmlns:p14="http://schemas.microsoft.com/office/powerpoint/2010/main" val="33963704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7f9262ee2f_0_26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" name="Google Shape;1972;g7f9262ee2f_0_26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b="0" dirty="0"/>
          </a:p>
        </p:txBody>
      </p:sp>
    </p:spTree>
    <p:extLst>
      <p:ext uri="{BB962C8B-B14F-4D97-AF65-F5344CB8AC3E}">
        <p14:creationId xmlns:p14="http://schemas.microsoft.com/office/powerpoint/2010/main" val="4998513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7f9262ee2f_0_26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" name="Google Shape;1972;g7f9262ee2f_0_26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b="0" dirty="0"/>
          </a:p>
        </p:txBody>
      </p:sp>
    </p:spTree>
    <p:extLst>
      <p:ext uri="{BB962C8B-B14F-4D97-AF65-F5344CB8AC3E}">
        <p14:creationId xmlns:p14="http://schemas.microsoft.com/office/powerpoint/2010/main" val="18666983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7f9262ee2f_0_26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" name="Google Shape;1972;g7f9262ee2f_0_26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b="0" dirty="0"/>
          </a:p>
        </p:txBody>
      </p:sp>
    </p:spTree>
    <p:extLst>
      <p:ext uri="{BB962C8B-B14F-4D97-AF65-F5344CB8AC3E}">
        <p14:creationId xmlns:p14="http://schemas.microsoft.com/office/powerpoint/2010/main" val="28029598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7f9262ee2f_0_26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" name="Google Shape;1972;g7f9262ee2f_0_26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b="0" dirty="0"/>
          </a:p>
        </p:txBody>
      </p:sp>
    </p:spTree>
    <p:extLst>
      <p:ext uri="{BB962C8B-B14F-4D97-AF65-F5344CB8AC3E}">
        <p14:creationId xmlns:p14="http://schemas.microsoft.com/office/powerpoint/2010/main" val="2373468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7f9262ee2f_0_26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" name="Google Shape;1972;g7f9262ee2f_0_26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269336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7f9262ee2f_0_26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" name="Google Shape;1972;g7f9262ee2f_0_26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945388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7f9262ee2f_0_26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" name="Google Shape;1972;g7f9262ee2f_0_26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260195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7f9262ee2f_0_26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" name="Google Shape;1972;g7f9262ee2f_0_26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44064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7f9262ee2f_0_26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" name="Google Shape;1972;g7f9262ee2f_0_26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3293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7f9262ee2f_0_26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" name="Google Shape;1972;g7f9262ee2f_0_26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219078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7f9262ee2f_0_26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" name="Google Shape;1972;g7f9262ee2f_0_26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50445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7f9262ee2f_0_26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" name="Google Shape;1972;g7f9262ee2f_0_26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3202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3">
  <p:cSld name="CAPTION_ONLY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8" r:id="rId4"/>
    <p:sldLayoutId id="2147483669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"/>
          <p:cNvSpPr txBox="1">
            <a:spLocks noGrp="1"/>
          </p:cNvSpPr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  <a:effectLst>
            <a:outerShdw blurRad="142875" dist="19050" dir="87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한국형 항법위성 구현</a:t>
            </a:r>
            <a:endParaRPr dirty="0"/>
          </a:p>
        </p:txBody>
      </p:sp>
      <p:sp>
        <p:nvSpPr>
          <p:cNvPr id="164" name="Google Shape;164;p38"/>
          <p:cNvSpPr txBox="1">
            <a:spLocks noGrp="1"/>
          </p:cNvSpPr>
          <p:nvPr>
            <p:ph type="ctrTitle"/>
          </p:nvPr>
        </p:nvSpPr>
        <p:spPr>
          <a:xfrm>
            <a:off x="2941650" y="2788681"/>
            <a:ext cx="3260700" cy="1290400"/>
          </a:xfrm>
          <a:prstGeom prst="rect">
            <a:avLst/>
          </a:prstGeom>
          <a:effectLst>
            <a:outerShdw blurRad="100013" dist="19050" dir="84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dirty="0">
                <a:latin typeface="Montserrat ExtraBold" panose="00000900000000000000" pitchFamily="2" charset="0"/>
                <a:ea typeface="Montserrat ExtraLight"/>
                <a:cs typeface="Montserrat ExtraLight"/>
                <a:sym typeface="Montserrat ExtraLight"/>
              </a:rPr>
              <a:t>2016135028</a:t>
            </a:r>
            <a:r>
              <a:rPr lang="ko-KR" altLang="en-US" sz="1100" b="0" dirty="0">
                <a:latin typeface="Montserrat ExtraBold" panose="00000900000000000000" pitchFamily="2" charset="0"/>
                <a:ea typeface="Montserrat ExtraLight"/>
                <a:cs typeface="Montserrat ExtraLight"/>
                <a:sym typeface="Montserrat ExtraLight"/>
              </a:rPr>
              <a:t> 신동화</a:t>
            </a:r>
            <a:br>
              <a:rPr lang="en-US" altLang="ko-KR" sz="1100" b="0" dirty="0">
                <a:latin typeface="Montserrat ExtraBold" panose="00000900000000000000" pitchFamily="2" charset="0"/>
                <a:ea typeface="Montserrat ExtraLight"/>
                <a:cs typeface="Montserrat ExtraLight"/>
                <a:sym typeface="Montserrat ExtraLight"/>
              </a:rPr>
            </a:br>
            <a:r>
              <a:rPr lang="en-US" altLang="ko-KR" sz="1100" b="0" dirty="0">
                <a:latin typeface="Montserrat ExtraBold" panose="00000900000000000000" pitchFamily="2" charset="0"/>
                <a:ea typeface="Montserrat ExtraLight"/>
                <a:cs typeface="Montserrat ExtraLight"/>
                <a:sym typeface="Montserrat ExtraLight"/>
              </a:rPr>
              <a:t>2017135009</a:t>
            </a:r>
            <a:r>
              <a:rPr lang="ko-KR" altLang="en-US" sz="1100" b="0" dirty="0">
                <a:latin typeface="Montserrat ExtraBold" panose="00000900000000000000" pitchFamily="2" charset="0"/>
                <a:ea typeface="Montserrat ExtraLight"/>
                <a:cs typeface="Montserrat ExtraLight"/>
                <a:sym typeface="Montserrat ExtraLight"/>
              </a:rPr>
              <a:t> </a:t>
            </a:r>
            <a:r>
              <a:rPr lang="ko-KR" altLang="en-US" sz="1100" b="0" dirty="0" err="1">
                <a:latin typeface="Montserrat ExtraBold" panose="00000900000000000000" pitchFamily="2" charset="0"/>
                <a:ea typeface="Montserrat ExtraLight"/>
                <a:cs typeface="Montserrat ExtraLight"/>
                <a:sym typeface="Montserrat ExtraLight"/>
              </a:rPr>
              <a:t>장덕민</a:t>
            </a:r>
            <a:br>
              <a:rPr lang="en-US" altLang="ko-KR" sz="1100" b="0" dirty="0">
                <a:latin typeface="Montserrat ExtraBold" panose="00000900000000000000" pitchFamily="2" charset="0"/>
                <a:ea typeface="Montserrat ExtraLight"/>
                <a:cs typeface="Montserrat ExtraLight"/>
                <a:sym typeface="Montserrat ExtraLight"/>
              </a:rPr>
            </a:br>
            <a:r>
              <a:rPr lang="en-US" altLang="ko-KR" sz="1100" b="0" dirty="0">
                <a:latin typeface="Montserrat ExtraBold" panose="00000900000000000000" pitchFamily="2" charset="0"/>
                <a:ea typeface="Montserrat ExtraLight"/>
                <a:cs typeface="Montserrat ExtraLight"/>
                <a:sym typeface="Montserrat ExtraLight"/>
              </a:rPr>
              <a:t>2014135023 </a:t>
            </a:r>
            <a:r>
              <a:rPr lang="ko-KR" altLang="en-US" sz="1100" b="0" dirty="0">
                <a:latin typeface="Montserrat ExtraBold" panose="00000900000000000000" pitchFamily="2" charset="0"/>
                <a:ea typeface="Montserrat ExtraLight"/>
                <a:cs typeface="Montserrat ExtraLight"/>
                <a:sym typeface="Montserrat ExtraLight"/>
              </a:rPr>
              <a:t>임지훈</a:t>
            </a:r>
            <a:br>
              <a:rPr lang="en-US" altLang="ko-KR" sz="1100" b="0" dirty="0">
                <a:latin typeface="Montserrat ExtraBold" panose="00000900000000000000" pitchFamily="2" charset="0"/>
                <a:ea typeface="Montserrat ExtraLight"/>
                <a:cs typeface="Montserrat ExtraLight"/>
                <a:sym typeface="Montserrat ExtraLight"/>
              </a:rPr>
            </a:br>
            <a:r>
              <a:rPr lang="en-US" altLang="ko-KR" sz="1100" b="0" dirty="0">
                <a:latin typeface="Montserrat ExtraBold" panose="00000900000000000000" pitchFamily="2" charset="0"/>
                <a:ea typeface="Montserrat ExtraLight"/>
                <a:cs typeface="Montserrat ExtraLight"/>
                <a:sym typeface="Montserrat ExtraLight"/>
              </a:rPr>
              <a:t>2016135014 </a:t>
            </a:r>
            <a:r>
              <a:rPr lang="ko-KR" altLang="en-US" sz="1100" b="0" dirty="0" err="1">
                <a:latin typeface="Montserrat ExtraBold" panose="00000900000000000000" pitchFamily="2" charset="0"/>
                <a:ea typeface="Montserrat ExtraLight"/>
                <a:cs typeface="Montserrat ExtraLight"/>
                <a:sym typeface="Montserrat ExtraLight"/>
              </a:rPr>
              <a:t>김규민</a:t>
            </a:r>
            <a:br>
              <a:rPr lang="en-US" altLang="ko-KR" sz="1100" b="0" dirty="0">
                <a:latin typeface="Montserrat ExtraBold" panose="00000900000000000000" pitchFamily="2" charset="0"/>
                <a:ea typeface="Montserrat ExtraLight"/>
                <a:cs typeface="Montserrat ExtraLight"/>
                <a:sym typeface="Montserrat ExtraLight"/>
              </a:rPr>
            </a:br>
            <a:r>
              <a:rPr lang="en-US" altLang="ko-KR" sz="1100" b="0" dirty="0">
                <a:latin typeface="Montserrat ExtraBold" panose="00000900000000000000" pitchFamily="2" charset="0"/>
                <a:ea typeface="Montserrat ExtraLight"/>
                <a:cs typeface="Montserrat ExtraLight"/>
                <a:sym typeface="Montserrat ExtraLight"/>
              </a:rPr>
              <a:t>2014251149 </a:t>
            </a:r>
            <a:r>
              <a:rPr lang="ko-KR" altLang="en-US" sz="1100" b="0" dirty="0" err="1">
                <a:latin typeface="Montserrat ExtraBold" panose="00000900000000000000" pitchFamily="2" charset="0"/>
                <a:ea typeface="Montserrat ExtraLight"/>
                <a:cs typeface="Montserrat ExtraLight"/>
                <a:sym typeface="Montserrat ExtraLight"/>
              </a:rPr>
              <a:t>배윤관</a:t>
            </a:r>
            <a:br>
              <a:rPr lang="en-US" altLang="ko-KR" sz="1100" b="0" dirty="0">
                <a:latin typeface="Montserrat ExtraBold" panose="00000900000000000000" pitchFamily="2" charset="0"/>
                <a:ea typeface="Montserrat ExtraLight"/>
                <a:cs typeface="Montserrat ExtraLight"/>
                <a:sym typeface="Montserrat ExtraLight"/>
              </a:rPr>
            </a:br>
            <a:r>
              <a:rPr lang="en-US" altLang="ko-KR" sz="1100" b="0" dirty="0">
                <a:latin typeface="Montserrat ExtraBold" panose="00000900000000000000" pitchFamily="2" charset="0"/>
                <a:ea typeface="Montserrat ExtraLight"/>
                <a:cs typeface="Montserrat ExtraLight"/>
                <a:sym typeface="Montserrat ExtraLight"/>
              </a:rPr>
              <a:t>2015135031 </a:t>
            </a:r>
            <a:r>
              <a:rPr lang="ko-KR" altLang="en-US" sz="1100" b="0" dirty="0">
                <a:latin typeface="Montserrat ExtraBold" panose="00000900000000000000" pitchFamily="2" charset="0"/>
                <a:ea typeface="Montserrat ExtraLight"/>
                <a:cs typeface="Montserrat ExtraLight"/>
                <a:sym typeface="Montserrat ExtraLight"/>
              </a:rPr>
              <a:t>김명현</a:t>
            </a:r>
            <a:br>
              <a:rPr lang="en-US" altLang="ko-KR" sz="1100" b="0" dirty="0">
                <a:latin typeface="Montserrat ExtraBold" panose="00000900000000000000" pitchFamily="2" charset="0"/>
                <a:ea typeface="Montserrat ExtraLight"/>
                <a:cs typeface="Montserrat ExtraLight"/>
                <a:sym typeface="Montserrat ExtraLight"/>
              </a:rPr>
            </a:br>
            <a:r>
              <a:rPr lang="en-US" altLang="ko-KR" sz="1100" b="0" dirty="0">
                <a:latin typeface="Montserrat ExtraBold" panose="00000900000000000000" pitchFamily="2" charset="0"/>
                <a:ea typeface="Montserrat ExtraLight"/>
                <a:cs typeface="Montserrat ExtraLight"/>
                <a:sym typeface="Montserrat ExtraLight"/>
              </a:rPr>
              <a:t>2015251109 </a:t>
            </a:r>
            <a:r>
              <a:rPr lang="ko-KR" altLang="en-US" sz="1100" b="0" dirty="0" err="1">
                <a:latin typeface="Montserrat ExtraBold" panose="00000900000000000000" pitchFamily="2" charset="0"/>
                <a:ea typeface="Montserrat ExtraLight"/>
                <a:cs typeface="Montserrat ExtraLight"/>
                <a:sym typeface="Montserrat ExtraLight"/>
              </a:rPr>
              <a:t>이진진</a:t>
            </a:r>
            <a:br>
              <a:rPr lang="en-US" altLang="ko-KR" sz="1100" b="0" dirty="0">
                <a:latin typeface="Montserrat ExtraBold" panose="00000900000000000000" pitchFamily="2" charset="0"/>
                <a:ea typeface="Montserrat ExtraLight"/>
                <a:cs typeface="Montserrat ExtraLight"/>
                <a:sym typeface="Montserrat ExtraLight"/>
              </a:rPr>
            </a:br>
            <a:endParaRPr sz="1100" b="0" dirty="0">
              <a:latin typeface="Montserrat ExtraBold" panose="00000900000000000000" pitchFamily="2" charset="0"/>
              <a:ea typeface="Montserrat ExtraLight"/>
              <a:cs typeface="Montserrat ExtraLight"/>
              <a:sym typeface="Montserrat ExtraLight"/>
            </a:endParaRPr>
          </a:p>
        </p:txBody>
      </p:sp>
      <p:cxnSp>
        <p:nvCxnSpPr>
          <p:cNvPr id="165" name="Google Shape;165;p38"/>
          <p:cNvCxnSpPr/>
          <p:nvPr/>
        </p:nvCxnSpPr>
        <p:spPr>
          <a:xfrm>
            <a:off x="3190500" y="256517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7855456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800" dirty="0"/>
              <a:t>1. Mission Statement</a:t>
            </a:r>
            <a:endParaRPr sz="2800" dirty="0">
              <a:solidFill>
                <a:schemeClr val="accent1"/>
              </a:solidFill>
            </a:endParaRPr>
          </a:p>
        </p:txBody>
      </p:sp>
      <p:sp>
        <p:nvSpPr>
          <p:cNvPr id="215" name="Google Shape;215;p44"/>
          <p:cNvSpPr txBox="1">
            <a:spLocks noGrp="1"/>
          </p:cNvSpPr>
          <p:nvPr>
            <p:ph type="body" idx="1"/>
          </p:nvPr>
        </p:nvSpPr>
        <p:spPr>
          <a:xfrm>
            <a:off x="1026200" y="1417427"/>
            <a:ext cx="7512556" cy="30702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1600"/>
              </a:spcBef>
            </a:pPr>
            <a:r>
              <a:rPr lang="en-US" altLang="ko-KR" sz="1400" dirty="0">
                <a:solidFill>
                  <a:schemeClr val="l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GPS </a:t>
            </a:r>
            <a:r>
              <a:rPr lang="ko-KR" altLang="en-US" sz="1400" dirty="0">
                <a:solidFill>
                  <a:schemeClr val="l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서비스 중단에 대비한 대한민국만의 위성 항법 시스템이 필요성 증대</a:t>
            </a:r>
            <a:endParaRPr lang="en-US" altLang="ko-KR" sz="1400" dirty="0">
              <a:solidFill>
                <a:schemeClr val="l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marL="139700" lvl="0" indent="0" algn="l" rtl="0">
              <a:spcBef>
                <a:spcPts val="1600"/>
              </a:spcBef>
              <a:spcAft>
                <a:spcPts val="0"/>
              </a:spcAft>
              <a:buSzPts val="1400"/>
              <a:buNone/>
            </a:pPr>
            <a:endParaRPr lang="en-US" altLang="ko-KR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>
              <a:spcBef>
                <a:spcPts val="1600"/>
              </a:spcBef>
            </a:pPr>
            <a:r>
              <a:rPr lang="ko-KR" altLang="en-US" sz="1400" dirty="0">
                <a:solidFill>
                  <a:schemeClr val="l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군사 임무 수행을 위한 위치정보의 기밀성 확보</a:t>
            </a: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endParaRPr lang="en-US" altLang="ko-KR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>
              <a:spcBef>
                <a:spcPts val="1600"/>
              </a:spcBef>
            </a:pPr>
            <a:r>
              <a:rPr lang="ko-KR" altLang="en-US" sz="1400" dirty="0">
                <a:solidFill>
                  <a:schemeClr val="l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우주 산업시대에 대비한 기술 개발</a:t>
            </a:r>
          </a:p>
        </p:txBody>
      </p:sp>
      <p:cxnSp>
        <p:nvCxnSpPr>
          <p:cNvPr id="216" name="Google Shape;216;p4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1161265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5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7969756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1.1 Define broad objectives and constraints</a:t>
            </a:r>
            <a:endParaRPr lang="en-US" dirty="0"/>
          </a:p>
        </p:txBody>
      </p:sp>
      <p:cxnSp>
        <p:nvCxnSpPr>
          <p:cNvPr id="1981" name="Google Shape;1981;p5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C5916ED5-893D-4B56-A06E-9A027553C9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5485700"/>
              </p:ext>
            </p:extLst>
          </p:nvPr>
        </p:nvGraphicFramePr>
        <p:xfrm>
          <a:off x="938500" y="1821670"/>
          <a:ext cx="7333964" cy="1373132"/>
        </p:xfrm>
        <a:graphic>
          <a:graphicData uri="http://schemas.openxmlformats.org/drawingml/2006/table">
            <a:tbl>
              <a:tblPr firstRow="1" bandRow="1">
                <a:tableStyleId>{1C28B2AB-E718-4DF9-ADA3-83340B5D2C4E}</a:tableStyleId>
              </a:tblPr>
              <a:tblGrid>
                <a:gridCol w="1380982">
                  <a:extLst>
                    <a:ext uri="{9D8B030D-6E8A-4147-A177-3AD203B41FA5}">
                      <a16:colId xmlns:a16="http://schemas.microsoft.com/office/drawing/2014/main" val="3467863794"/>
                    </a:ext>
                  </a:extLst>
                </a:gridCol>
                <a:gridCol w="5952982">
                  <a:extLst>
                    <a:ext uri="{9D8B030D-6E8A-4147-A177-3AD203B41FA5}">
                      <a16:colId xmlns:a16="http://schemas.microsoft.com/office/drawing/2014/main" val="2403154746"/>
                    </a:ext>
                  </a:extLst>
                </a:gridCol>
              </a:tblGrid>
              <a:tr h="68656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Primary objective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한반도 영역 내에서 대한민국의 독자적인 위성 항법 시스템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(RNSS)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운용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95716348"/>
                  </a:ext>
                </a:extLst>
              </a:tr>
              <a:tr h="68656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Secondary objective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다른 위성 항법 시스템과의 연동으로 오차를 보정하여 정확도 및 정밀도 대폭 향상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25418998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7BBA0A4-B717-44FE-9D2D-6D0E78AEDFDF}"/>
              </a:ext>
            </a:extLst>
          </p:cNvPr>
          <p:cNvSpPr txBox="1"/>
          <p:nvPr/>
        </p:nvSpPr>
        <p:spPr>
          <a:xfrm>
            <a:off x="828106" y="123253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indent="0">
              <a:spcBef>
                <a:spcPts val="1600"/>
              </a:spcBef>
              <a:buNone/>
            </a:pPr>
            <a:r>
              <a:rPr lang="en-US" altLang="ko-KR" dirty="0">
                <a:solidFill>
                  <a:srgbClr val="FFAB40"/>
                </a:solidFill>
                <a:latin typeface="Montserrat ExtraBold" panose="00000900000000000000" pitchFamily="2" charset="0"/>
              </a:rPr>
              <a:t>Primary, secondary object and constraints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3311F93-E2F0-4126-B5CB-4473B66933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106955"/>
              </p:ext>
            </p:extLst>
          </p:nvPr>
        </p:nvGraphicFramePr>
        <p:xfrm>
          <a:off x="938500" y="3194802"/>
          <a:ext cx="7333964" cy="1534676"/>
        </p:xfrm>
        <a:graphic>
          <a:graphicData uri="http://schemas.openxmlformats.org/drawingml/2006/table">
            <a:tbl>
              <a:tblPr firstRow="1" bandRow="1">
                <a:tableStyleId>{1C28B2AB-E718-4DF9-ADA3-83340B5D2C4E}</a:tableStyleId>
              </a:tblPr>
              <a:tblGrid>
                <a:gridCol w="1380982">
                  <a:extLst>
                    <a:ext uri="{9D8B030D-6E8A-4147-A177-3AD203B41FA5}">
                      <a16:colId xmlns:a16="http://schemas.microsoft.com/office/drawing/2014/main" val="2049683984"/>
                    </a:ext>
                  </a:extLst>
                </a:gridCol>
                <a:gridCol w="5952982">
                  <a:extLst>
                    <a:ext uri="{9D8B030D-6E8A-4147-A177-3AD203B41FA5}">
                      <a16:colId xmlns:a16="http://schemas.microsoft.com/office/drawing/2014/main" val="1501546456"/>
                    </a:ext>
                  </a:extLst>
                </a:gridCol>
              </a:tblGrid>
              <a:tr h="1534676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Constraints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buNone/>
                      </a:pP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1.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다른 위성 항법 시스템과의 신호 간섭</a:t>
                      </a:r>
                      <a:endParaRPr lang="en-US" altLang="ko-KR" dirty="0">
                        <a:solidFill>
                          <a:schemeClr val="bg1"/>
                        </a:solidFill>
                      </a:endParaRPr>
                    </a:p>
                    <a:p>
                      <a:pPr marL="0" indent="0" algn="just" latinLnBrk="1">
                        <a:buNone/>
                      </a:pP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2.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자국의 발사체 기술 부족에 따른 해외 발사체 및 발사장 사용</a:t>
                      </a:r>
                      <a:endParaRPr lang="en-US" altLang="ko-KR" dirty="0">
                        <a:solidFill>
                          <a:schemeClr val="bg1"/>
                        </a:solidFill>
                      </a:endParaRPr>
                    </a:p>
                    <a:p>
                      <a:pPr marL="0" indent="0" algn="just" latinLnBrk="1">
                        <a:buNone/>
                      </a:pP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3.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자국의 산악 지형구조 및 도시의 건물들에 의한 신호 방해</a:t>
                      </a:r>
                      <a:endParaRPr lang="en-US" altLang="ko-KR" dirty="0">
                        <a:solidFill>
                          <a:schemeClr val="bg1"/>
                        </a:solidFill>
                      </a:endParaRPr>
                    </a:p>
                    <a:p>
                      <a:pPr marL="0" indent="0" algn="just" latinLnBrk="1">
                        <a:buNone/>
                      </a:pP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4.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위성의 수명을 단축시키는 밴 </a:t>
                      </a:r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앨런대</a:t>
                      </a:r>
                      <a:endParaRPr lang="en-US" altLang="ko-KR" dirty="0">
                        <a:solidFill>
                          <a:schemeClr val="bg1"/>
                        </a:solidFill>
                      </a:endParaRPr>
                    </a:p>
                    <a:p>
                      <a:pPr marL="0" indent="0" algn="just" latinLnBrk="1">
                        <a:buNone/>
                      </a:pP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5.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한정된 예산</a:t>
                      </a:r>
                      <a:endParaRPr lang="en-US" altLang="ko-KR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34848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5595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5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7969756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1.1 Define broad objectives and constraints</a:t>
            </a:r>
            <a:endParaRPr lang="en-US" dirty="0"/>
          </a:p>
        </p:txBody>
      </p:sp>
      <p:cxnSp>
        <p:nvCxnSpPr>
          <p:cNvPr id="1981" name="Google Shape;1981;p5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7BBA0A4-B717-44FE-9D2D-6D0E78AEDFDF}"/>
              </a:ext>
            </a:extLst>
          </p:cNvPr>
          <p:cNvSpPr txBox="1"/>
          <p:nvPr/>
        </p:nvSpPr>
        <p:spPr>
          <a:xfrm>
            <a:off x="828106" y="123253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indent="0">
              <a:spcBef>
                <a:spcPts val="1600"/>
              </a:spcBef>
              <a:buNone/>
            </a:pPr>
            <a:r>
              <a:rPr lang="en-US" altLang="ko-KR" dirty="0">
                <a:solidFill>
                  <a:srgbClr val="FFAB40"/>
                </a:solidFill>
                <a:latin typeface="Montserrat ExtraBold" panose="00000900000000000000" pitchFamily="2" charset="0"/>
              </a:rPr>
              <a:t>requirements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E158B47-B650-492B-B16E-966ADB7DBD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91082"/>
              </p:ext>
            </p:extLst>
          </p:nvPr>
        </p:nvGraphicFramePr>
        <p:xfrm>
          <a:off x="938500" y="1821670"/>
          <a:ext cx="7501412" cy="3004590"/>
        </p:xfrm>
        <a:graphic>
          <a:graphicData uri="http://schemas.openxmlformats.org/drawingml/2006/table">
            <a:tbl>
              <a:tblPr firstRow="1" firstCol="1" bandRow="1"/>
              <a:tblGrid>
                <a:gridCol w="1594964">
                  <a:extLst>
                    <a:ext uri="{9D8B030D-6E8A-4147-A177-3AD203B41FA5}">
                      <a16:colId xmlns:a16="http://schemas.microsoft.com/office/drawing/2014/main" val="32340138"/>
                    </a:ext>
                  </a:extLst>
                </a:gridCol>
                <a:gridCol w="5906448">
                  <a:extLst>
                    <a:ext uri="{9D8B030D-6E8A-4147-A177-3AD203B41FA5}">
                      <a16:colId xmlns:a16="http://schemas.microsoft.com/office/drawing/2014/main" val="2731256957"/>
                    </a:ext>
                  </a:extLst>
                </a:gridCol>
              </a:tblGrid>
              <a:tr h="300459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14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8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Requirements</a:t>
                      </a:r>
                      <a:endParaRPr lang="ko-KR" sz="14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8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390940"/>
                  </a:ext>
                </a:extLst>
              </a:tr>
              <a:tr h="300459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SYS-001</a:t>
                      </a:r>
                      <a:endParaRPr lang="ko-KR" sz="14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ko-KR" sz="1400" kern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위성은</a:t>
                      </a:r>
                      <a:r>
                        <a:rPr lang="ko-KR" sz="14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임무</a:t>
                      </a:r>
                      <a:r>
                        <a:rPr lang="ko-KR" sz="14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기간인</a:t>
                      </a:r>
                      <a:r>
                        <a:rPr lang="ko-KR" sz="14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최소</a:t>
                      </a:r>
                      <a:r>
                        <a:rPr lang="ko-KR" sz="14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en-US" sz="14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</a:t>
                      </a:r>
                      <a:r>
                        <a:rPr lang="ko-KR" sz="1400" kern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년</a:t>
                      </a:r>
                      <a:r>
                        <a:rPr lang="ko-KR" sz="14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동안</a:t>
                      </a:r>
                      <a:r>
                        <a:rPr lang="ko-KR" sz="14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적절한</a:t>
                      </a:r>
                      <a:r>
                        <a:rPr lang="ko-KR" sz="14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궤도와</a:t>
                      </a:r>
                      <a:r>
                        <a:rPr lang="ko-KR" sz="14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자세를</a:t>
                      </a:r>
                      <a:r>
                        <a:rPr lang="ko-KR" sz="14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유지해야</a:t>
                      </a:r>
                      <a:r>
                        <a:rPr lang="ko-KR" sz="14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한다</a:t>
                      </a:r>
                      <a:endParaRPr lang="ko-KR" sz="14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213960"/>
                  </a:ext>
                </a:extLst>
              </a:tr>
              <a:tr h="300459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SYS-002</a:t>
                      </a:r>
                      <a:endParaRPr lang="ko-KR" sz="14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원자시계의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정확도가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위치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오차를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최소화할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수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있어야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한다</a:t>
                      </a:r>
                      <a:endParaRPr lang="ko-KR" sz="14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332661"/>
                  </a:ext>
                </a:extLst>
              </a:tr>
              <a:tr h="300459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SYS-003</a:t>
                      </a:r>
                      <a:endParaRPr lang="ko-KR" sz="14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극한의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날씨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환경에서도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안정적으로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통신이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가능해야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한다</a:t>
                      </a:r>
                      <a:endParaRPr lang="ko-KR" sz="14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3637523"/>
                  </a:ext>
                </a:extLst>
              </a:tr>
              <a:tr h="300459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SYS-004</a:t>
                      </a:r>
                      <a:endParaRPr lang="ko-KR" sz="14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항상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최소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en-US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대의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위성이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지상국과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연결되어야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한다</a:t>
                      </a:r>
                      <a:endParaRPr lang="ko-KR" sz="14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041002"/>
                  </a:ext>
                </a:extLst>
              </a:tr>
              <a:tr h="300459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SYS-005</a:t>
                      </a:r>
                      <a:endParaRPr lang="ko-KR" sz="14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위성의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총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질량은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최소여야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하고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질량분포는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자세제어에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용이해야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한다</a:t>
                      </a:r>
                      <a:endParaRPr lang="ko-KR" sz="14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711596"/>
                  </a:ext>
                </a:extLst>
              </a:tr>
              <a:tr h="300459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SYS-006</a:t>
                      </a:r>
                      <a:endParaRPr lang="ko-KR" sz="14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모든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en-US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Subsystem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들은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위성의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컴퓨터에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의해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제어가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되어야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한다</a:t>
                      </a:r>
                      <a:endParaRPr lang="ko-KR" sz="14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6718104"/>
                  </a:ext>
                </a:extLst>
              </a:tr>
              <a:tr h="300459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SYS-007</a:t>
                      </a:r>
                      <a:endParaRPr lang="ko-KR" sz="14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위치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오차가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en-US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1m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이하여야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한다</a:t>
                      </a:r>
                      <a:endParaRPr lang="ko-KR" sz="14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1851207"/>
                  </a:ext>
                </a:extLst>
              </a:tr>
              <a:tr h="300459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SYS-008</a:t>
                      </a:r>
                      <a:endParaRPr lang="ko-KR" sz="14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위성은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발사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환경에서도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정상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작동해야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한다</a:t>
                      </a:r>
                      <a:endParaRPr lang="ko-KR" sz="14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745958"/>
                  </a:ext>
                </a:extLst>
              </a:tr>
              <a:tr h="300459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SYS-009</a:t>
                      </a:r>
                      <a:endParaRPr lang="ko-KR" sz="14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임무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수행을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위해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충분한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전력을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공급해야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4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한다</a:t>
                      </a:r>
                      <a:endParaRPr lang="ko-KR" sz="14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7429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6799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5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7969756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900" dirty="0"/>
              <a:t>1.2 Estimate quantitative mission needs and requirements</a:t>
            </a:r>
            <a:endParaRPr lang="en-US" sz="1900" dirty="0"/>
          </a:p>
        </p:txBody>
      </p:sp>
      <p:cxnSp>
        <p:nvCxnSpPr>
          <p:cNvPr id="1981" name="Google Shape;1981;p5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graphicFrame>
        <p:nvGraphicFramePr>
          <p:cNvPr id="9" name="표 5">
            <a:extLst>
              <a:ext uri="{FF2B5EF4-FFF2-40B4-BE49-F238E27FC236}">
                <a16:creationId xmlns:a16="http://schemas.microsoft.com/office/drawing/2014/main" id="{D3B60D1A-BF01-4CCC-8386-94995A58FF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734334"/>
              </p:ext>
            </p:extLst>
          </p:nvPr>
        </p:nvGraphicFramePr>
        <p:xfrm>
          <a:off x="938500" y="1192318"/>
          <a:ext cx="7428260" cy="3681434"/>
        </p:xfrm>
        <a:graphic>
          <a:graphicData uri="http://schemas.openxmlformats.org/drawingml/2006/table">
            <a:tbl>
              <a:tblPr firstRow="1" bandRow="1">
                <a:tableStyleId>{1C28B2AB-E718-4DF9-ADA3-83340B5D2C4E}</a:tableStyleId>
              </a:tblPr>
              <a:tblGrid>
                <a:gridCol w="2399675">
                  <a:extLst>
                    <a:ext uri="{9D8B030D-6E8A-4147-A177-3AD203B41FA5}">
                      <a16:colId xmlns:a16="http://schemas.microsoft.com/office/drawing/2014/main" val="1234465190"/>
                    </a:ext>
                  </a:extLst>
                </a:gridCol>
                <a:gridCol w="3171520">
                  <a:extLst>
                    <a:ext uri="{9D8B030D-6E8A-4147-A177-3AD203B41FA5}">
                      <a16:colId xmlns:a16="http://schemas.microsoft.com/office/drawing/2014/main" val="1377162854"/>
                    </a:ext>
                  </a:extLst>
                </a:gridCol>
                <a:gridCol w="1857065">
                  <a:extLst>
                    <a:ext uri="{9D8B030D-6E8A-4147-A177-3AD203B41FA5}">
                      <a16:colId xmlns:a16="http://schemas.microsoft.com/office/drawing/2014/main" val="2374710122"/>
                    </a:ext>
                  </a:extLst>
                </a:gridCol>
              </a:tblGrid>
              <a:tr h="227545">
                <a:tc gridSpan="3"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  <a:tabLst>
                          <a:tab pos="1788160" algn="l"/>
                          <a:tab pos="2794000" algn="ctr"/>
                        </a:tabLst>
                      </a:pPr>
                      <a:r>
                        <a:rPr lang="en-US" sz="1200" b="1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Functional Requirements</a:t>
                      </a: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AB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2439118"/>
                  </a:ext>
                </a:extLst>
              </a:tr>
              <a:tr h="2275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5327374"/>
                  </a:ext>
                </a:extLst>
              </a:tr>
              <a:tr h="227545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Coverage</a:t>
                      </a: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Incheon Fight Information Region</a:t>
                      </a: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3287923"/>
                  </a:ext>
                </a:extLst>
              </a:tr>
              <a:tr h="227545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482496"/>
                  </a:ext>
                </a:extLst>
              </a:tr>
              <a:tr h="227545">
                <a:tc gridSpan="3"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Operational Requirements</a:t>
                      </a: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AB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70562"/>
                  </a:ext>
                </a:extLst>
              </a:tr>
              <a:tr h="227545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801563"/>
                  </a:ext>
                </a:extLst>
              </a:tr>
              <a:tr h="227545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Contents</a:t>
                      </a:r>
                      <a:endParaRPr lang="ko-KR" sz="12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Navigation message, Position and Time information</a:t>
                      </a: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33269"/>
                  </a:ext>
                </a:extLst>
              </a:tr>
              <a:tr h="369352">
                <a:tc rowSpan="3"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Data Format</a:t>
                      </a: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Uplink</a:t>
                      </a: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14488094"/>
                  </a:ext>
                </a:extLst>
              </a:tr>
              <a:tr h="14917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Downlink</a:t>
                      </a: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0312618"/>
                  </a:ext>
                </a:extLst>
              </a:tr>
              <a:tr h="2275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Inter-satellite link</a:t>
                      </a:r>
                      <a:endParaRPr lang="ko-KR" sz="12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513761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14B8096-56C0-42E9-B836-D9CFC995D090}"/>
              </a:ext>
            </a:extLst>
          </p:cNvPr>
          <p:cNvSpPr txBox="1"/>
          <p:nvPr/>
        </p:nvSpPr>
        <p:spPr>
          <a:xfrm>
            <a:off x="1171479" y="1386425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indent="0">
              <a:spcBef>
                <a:spcPts val="1600"/>
              </a:spcBef>
              <a:buNone/>
            </a:pPr>
            <a:r>
              <a:rPr lang="en-US" altLang="ko-KR" sz="1200" b="1" dirty="0">
                <a:solidFill>
                  <a:schemeClr val="bg1"/>
                </a:solidFill>
                <a:latin typeface="+mj-ea"/>
                <a:ea typeface="+mj-ea"/>
              </a:rPr>
              <a:t>Positioning Accuracy          </a:t>
            </a:r>
            <a:r>
              <a:rPr lang="en-US" altLang="ko-KR" sz="1200" dirty="0">
                <a:solidFill>
                  <a:schemeClr val="bg1"/>
                </a:solidFill>
                <a:latin typeface="+mj-ea"/>
                <a:ea typeface="+mj-ea"/>
              </a:rPr>
              <a:t>at least 1m    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E2B67C-09B1-478A-8384-929F9DF8182E}"/>
              </a:ext>
            </a:extLst>
          </p:cNvPr>
          <p:cNvSpPr txBox="1"/>
          <p:nvPr/>
        </p:nvSpPr>
        <p:spPr>
          <a:xfrm>
            <a:off x="1171479" y="1839627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indent="0">
              <a:spcBef>
                <a:spcPts val="1600"/>
              </a:spcBef>
              <a:buNone/>
            </a:pPr>
            <a:r>
              <a:rPr lang="en-US" altLang="ko-KR" sz="1200" b="1" dirty="0">
                <a:solidFill>
                  <a:schemeClr val="bg1"/>
                </a:solidFill>
                <a:latin typeface="+mj-ea"/>
                <a:ea typeface="+mj-ea"/>
              </a:rPr>
              <a:t>Number of Satellites          </a:t>
            </a:r>
            <a:r>
              <a:rPr lang="en-US" altLang="ko-KR" sz="1200" dirty="0">
                <a:solidFill>
                  <a:schemeClr val="bg1"/>
                </a:solidFill>
                <a:latin typeface="+mj-ea"/>
                <a:ea typeface="+mj-ea"/>
              </a:rPr>
              <a:t>at least 4     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C56761-73F1-4F9B-928E-21252E7B25D9}"/>
              </a:ext>
            </a:extLst>
          </p:cNvPr>
          <p:cNvSpPr txBox="1"/>
          <p:nvPr/>
        </p:nvSpPr>
        <p:spPr>
          <a:xfrm>
            <a:off x="1597343" y="2289309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indent="0">
              <a:spcBef>
                <a:spcPts val="1600"/>
              </a:spcBef>
              <a:buNone/>
            </a:pPr>
            <a:r>
              <a:rPr lang="en-US" altLang="ko-KR" sz="1200" b="1" dirty="0">
                <a:solidFill>
                  <a:schemeClr val="bg1"/>
                </a:solidFill>
                <a:latin typeface="+mj-ea"/>
                <a:ea typeface="+mj-ea"/>
              </a:rPr>
              <a:t>Duration                  </a:t>
            </a:r>
            <a:r>
              <a:rPr lang="en-US" altLang="ko-KR" sz="1200" dirty="0">
                <a:solidFill>
                  <a:schemeClr val="bg1"/>
                </a:solidFill>
                <a:latin typeface="+mj-ea"/>
                <a:ea typeface="+mj-ea"/>
              </a:rPr>
              <a:t>at least 8 years     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1B4F9C-25BF-40CB-B852-9A4746515019}"/>
              </a:ext>
            </a:extLst>
          </p:cNvPr>
          <p:cNvSpPr txBox="1"/>
          <p:nvPr/>
        </p:nvSpPr>
        <p:spPr>
          <a:xfrm>
            <a:off x="6502629" y="2841540"/>
            <a:ext cx="1983343" cy="295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 latinLnBrk="1">
              <a:lnSpc>
                <a:spcPct val="106000"/>
              </a:lnSpc>
              <a:spcAft>
                <a:spcPts val="800"/>
              </a:spcAft>
            </a:pPr>
            <a:r>
              <a:rPr lang="en-US" altLang="ko-KR" sz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C-band (5.85-5.925 GHz)</a:t>
            </a:r>
          </a:p>
          <a:p>
            <a:pPr fontAlgn="base" latinLnBrk="1">
              <a:lnSpc>
                <a:spcPct val="106000"/>
              </a:lnSpc>
              <a:spcAft>
                <a:spcPts val="800"/>
              </a:spcAft>
            </a:pPr>
            <a:r>
              <a:rPr lang="en-US" altLang="ko-KR" sz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C-band (4.5-4.8 GHz)</a:t>
            </a:r>
            <a:endParaRPr lang="ko-KR" altLang="ko-KR" sz="1200" kern="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fontAlgn="base" latinLnBrk="1">
              <a:lnSpc>
                <a:spcPct val="106000"/>
              </a:lnSpc>
              <a:spcAft>
                <a:spcPts val="800"/>
              </a:spcAft>
            </a:pPr>
            <a:r>
              <a:rPr lang="en-US" altLang="ko-KR" sz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L1-band (1575.42 MHz)</a:t>
            </a:r>
            <a:endParaRPr lang="ko-KR" altLang="ko-KR" sz="1200" kern="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fontAlgn="base" latinLnBrk="1">
              <a:lnSpc>
                <a:spcPct val="106000"/>
              </a:lnSpc>
              <a:spcAft>
                <a:spcPts val="800"/>
              </a:spcAft>
            </a:pPr>
            <a:r>
              <a:rPr lang="en-US" altLang="ko-KR" sz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L2-band (1227.60 MHz)</a:t>
            </a:r>
            <a:endParaRPr lang="ko-KR" altLang="ko-KR" sz="1200" kern="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fontAlgn="base" latinLnBrk="1">
              <a:lnSpc>
                <a:spcPct val="106000"/>
              </a:lnSpc>
              <a:spcAft>
                <a:spcPts val="800"/>
              </a:spcAft>
            </a:pPr>
            <a:r>
              <a:rPr lang="en-US" altLang="ko-KR" sz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L5-band (1276.45 MHz)</a:t>
            </a:r>
            <a:endParaRPr lang="ko-KR" altLang="ko-KR" sz="1200" kern="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fontAlgn="base" latinLnBrk="1">
              <a:lnSpc>
                <a:spcPct val="106000"/>
              </a:lnSpc>
              <a:spcAft>
                <a:spcPts val="800"/>
              </a:spcAft>
            </a:pPr>
            <a:r>
              <a:rPr lang="en-US" altLang="ko-KR" sz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L6-band (1278.75MHz)</a:t>
            </a:r>
          </a:p>
          <a:p>
            <a:pPr fontAlgn="base" latinLnBrk="1">
              <a:lnSpc>
                <a:spcPct val="106000"/>
              </a:lnSpc>
              <a:spcAft>
                <a:spcPts val="800"/>
              </a:spcAft>
            </a:pPr>
            <a:r>
              <a:rPr lang="en-US" altLang="ko-KR" sz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Ka-band (32.5 GHz)</a:t>
            </a:r>
            <a:endParaRPr lang="ko-KR" altLang="ko-KR" sz="1200" kern="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fontAlgn="base" latinLnBrk="1">
              <a:lnSpc>
                <a:spcPct val="106000"/>
              </a:lnSpc>
              <a:spcAft>
                <a:spcPts val="800"/>
              </a:spcAft>
            </a:pPr>
            <a:endParaRPr lang="ko-KR" altLang="ko-KR" sz="1200" kern="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fontAlgn="base" latinLnBrk="1">
              <a:lnSpc>
                <a:spcPct val="106000"/>
              </a:lnSpc>
              <a:spcAft>
                <a:spcPts val="800"/>
              </a:spcAft>
            </a:pPr>
            <a:endParaRPr lang="en-US" altLang="ko-KR" sz="12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굴림" panose="020B0600000101010101" pitchFamily="50" charset="-127"/>
            </a:endParaRPr>
          </a:p>
          <a:p>
            <a:pPr fontAlgn="base" latinLnBrk="1">
              <a:lnSpc>
                <a:spcPct val="106000"/>
              </a:lnSpc>
              <a:spcAft>
                <a:spcPts val="800"/>
              </a:spcAft>
            </a:pPr>
            <a:endParaRPr lang="ko-KR" altLang="ko-KR" sz="1200" kern="1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589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5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7969756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900" dirty="0"/>
              <a:t>1.3 Estimate quantitative constraints</a:t>
            </a:r>
            <a:endParaRPr lang="en-US" sz="1900" dirty="0"/>
          </a:p>
        </p:txBody>
      </p:sp>
      <p:cxnSp>
        <p:nvCxnSpPr>
          <p:cNvPr id="1981" name="Google Shape;1981;p5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graphicFrame>
        <p:nvGraphicFramePr>
          <p:cNvPr id="9" name="표 5">
            <a:extLst>
              <a:ext uri="{FF2B5EF4-FFF2-40B4-BE49-F238E27FC236}">
                <a16:creationId xmlns:a16="http://schemas.microsoft.com/office/drawing/2014/main" id="{D3B60D1A-BF01-4CCC-8386-94995A58FF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2388728"/>
              </p:ext>
            </p:extLst>
          </p:nvPr>
        </p:nvGraphicFramePr>
        <p:xfrm>
          <a:off x="1026200" y="1417426"/>
          <a:ext cx="5645180" cy="1371495"/>
        </p:xfrm>
        <a:graphic>
          <a:graphicData uri="http://schemas.openxmlformats.org/drawingml/2006/table">
            <a:tbl>
              <a:tblPr firstRow="1" bandRow="1">
                <a:tableStyleId>{1C28B2AB-E718-4DF9-ADA3-83340B5D2C4E}</a:tableStyleId>
              </a:tblPr>
              <a:tblGrid>
                <a:gridCol w="2431543">
                  <a:extLst>
                    <a:ext uri="{9D8B030D-6E8A-4147-A177-3AD203B41FA5}">
                      <a16:colId xmlns:a16="http://schemas.microsoft.com/office/drawing/2014/main" val="1234465190"/>
                    </a:ext>
                  </a:extLst>
                </a:gridCol>
                <a:gridCol w="3213637">
                  <a:extLst>
                    <a:ext uri="{9D8B030D-6E8A-4147-A177-3AD203B41FA5}">
                      <a16:colId xmlns:a16="http://schemas.microsoft.com/office/drawing/2014/main" val="1377162854"/>
                    </a:ext>
                  </a:extLst>
                </a:gridCol>
              </a:tblGrid>
              <a:tr h="274299">
                <a:tc gridSpan="2"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Constraints</a:t>
                      </a: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AB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2439118"/>
                  </a:ext>
                </a:extLst>
              </a:tr>
              <a:tr h="274299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5327374"/>
                  </a:ext>
                </a:extLst>
              </a:tr>
              <a:tr h="274299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287923"/>
                  </a:ext>
                </a:extLst>
              </a:tr>
              <a:tr h="274299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1482496"/>
                  </a:ext>
                </a:extLst>
              </a:tr>
              <a:tr h="274299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577693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7C3EFDF-0DFF-4E1A-86B6-41272914D75F}"/>
              </a:ext>
            </a:extLst>
          </p:cNvPr>
          <p:cNvSpPr txBox="1"/>
          <p:nvPr/>
        </p:nvSpPr>
        <p:spPr>
          <a:xfrm>
            <a:off x="1692772" y="1672175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indent="0">
              <a:spcBef>
                <a:spcPts val="1600"/>
              </a:spcBef>
              <a:buNone/>
            </a:pPr>
            <a:r>
              <a:rPr lang="en-US" altLang="ko-KR" sz="1200" b="1" dirty="0">
                <a:solidFill>
                  <a:schemeClr val="bg1"/>
                </a:solidFill>
                <a:latin typeface="+mj-ea"/>
                <a:ea typeface="+mj-ea"/>
              </a:rPr>
              <a:t>Schedule                  </a:t>
            </a:r>
            <a:r>
              <a:rPr lang="en-US" altLang="ko-KR" sz="1200" dirty="0">
                <a:solidFill>
                  <a:schemeClr val="bg1"/>
                </a:solidFill>
                <a:latin typeface="+mj-ea"/>
                <a:ea typeface="+mj-ea"/>
              </a:rPr>
              <a:t>2035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CAA84B-F7AC-4248-892A-682E24A938A4}"/>
              </a:ext>
            </a:extLst>
          </p:cNvPr>
          <p:cNvSpPr txBox="1"/>
          <p:nvPr/>
        </p:nvSpPr>
        <p:spPr>
          <a:xfrm>
            <a:off x="1861894" y="1935565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indent="0">
              <a:spcBef>
                <a:spcPts val="1600"/>
              </a:spcBef>
              <a:buNone/>
            </a:pPr>
            <a:r>
              <a:rPr lang="en-US" altLang="ko-KR" sz="1200" b="1" dirty="0">
                <a:solidFill>
                  <a:schemeClr val="bg1"/>
                </a:solidFill>
                <a:latin typeface="+mj-ea"/>
                <a:ea typeface="+mj-ea"/>
              </a:rPr>
              <a:t>Cost                     </a:t>
            </a:r>
            <a:r>
              <a:rPr lang="en-US" altLang="ko-KR" sz="1200" dirty="0">
                <a:solidFill>
                  <a:schemeClr val="bg1"/>
                </a:solidFill>
                <a:latin typeface="+mj-ea"/>
                <a:ea typeface="+mj-ea"/>
              </a:rPr>
              <a:t>4 trillion won    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249DB7-B76A-4CA7-A0B2-D515715E3C9E}"/>
              </a:ext>
            </a:extLst>
          </p:cNvPr>
          <p:cNvSpPr txBox="1"/>
          <p:nvPr/>
        </p:nvSpPr>
        <p:spPr>
          <a:xfrm>
            <a:off x="1590222" y="2169876"/>
            <a:ext cx="5784798" cy="612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 latinLnBrk="1">
              <a:lnSpc>
                <a:spcPct val="1500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Orbit eccentricity</a:t>
            </a:r>
            <a:r>
              <a:rPr lang="en-US" altLang="ko-KR" sz="1200" dirty="0">
                <a:solidFill>
                  <a:schemeClr val="bg1"/>
                </a:solidFill>
              </a:rPr>
              <a:t>              0.37 below (To avoid the Van Allen Belt)</a:t>
            </a:r>
            <a:endParaRPr lang="ko-KR" altLang="ko-KR" sz="1200" dirty="0">
              <a:solidFill>
                <a:schemeClr val="bg1"/>
              </a:solidFill>
            </a:endParaRPr>
          </a:p>
          <a:p>
            <a:pPr fontAlgn="base" latinLnBrk="1">
              <a:lnSpc>
                <a:spcPct val="1500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Orbit inclination</a:t>
            </a:r>
            <a:r>
              <a:rPr lang="en-US" altLang="ko-KR" sz="1200" dirty="0">
                <a:solidFill>
                  <a:schemeClr val="bg1"/>
                </a:solidFill>
              </a:rPr>
              <a:t>                45~65</a:t>
            </a:r>
            <a:r>
              <a:rPr lang="ko-KR" altLang="ko-KR" sz="1200" dirty="0">
                <a:solidFill>
                  <a:schemeClr val="bg1"/>
                </a:solidFill>
              </a:rPr>
              <a:t>° </a:t>
            </a:r>
          </a:p>
        </p:txBody>
      </p:sp>
    </p:spTree>
    <p:extLst>
      <p:ext uri="{BB962C8B-B14F-4D97-AF65-F5344CB8AC3E}">
        <p14:creationId xmlns:p14="http://schemas.microsoft.com/office/powerpoint/2010/main" val="4171443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5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7969756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dirty="0"/>
              <a:t>1.4 </a:t>
            </a:r>
            <a:r>
              <a:rPr lang="en-US" altLang="ko-KR" sz="2000" dirty="0">
                <a:solidFill>
                  <a:srgbClr val="FFAB40"/>
                </a:solidFill>
              </a:rPr>
              <a:t>B</a:t>
            </a:r>
            <a:r>
              <a:rPr lang="en-US" altLang="ko-KR" sz="2000" b="1" kern="0" dirty="0">
                <a:solidFill>
                  <a:srgbClr val="FFAB40"/>
                </a:solidFill>
                <a:effectLst/>
                <a:latin typeface="맑은 고딕" panose="020B0503020000020004" pitchFamily="50" charset="-127"/>
                <a:cs typeface="굴림" panose="020B0600000101010101" pitchFamily="50" charset="-127"/>
              </a:rPr>
              <a:t>udgets for spacecraft propellant, power, and weight</a:t>
            </a:r>
            <a:endParaRPr lang="en-US" sz="2000" dirty="0">
              <a:solidFill>
                <a:srgbClr val="FFAB40"/>
              </a:solidFill>
            </a:endParaRPr>
          </a:p>
        </p:txBody>
      </p:sp>
      <p:cxnSp>
        <p:nvCxnSpPr>
          <p:cNvPr id="1981" name="Google Shape;1981;p5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76EEA767-A5F5-4DA4-A144-3D0AD584D9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1495784"/>
                  </p:ext>
                </p:extLst>
              </p:nvPr>
            </p:nvGraphicFramePr>
            <p:xfrm>
              <a:off x="1045433" y="1673459"/>
              <a:ext cx="7053133" cy="273320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908079">
                      <a:extLst>
                        <a:ext uri="{9D8B030D-6E8A-4147-A177-3AD203B41FA5}">
                          <a16:colId xmlns:a16="http://schemas.microsoft.com/office/drawing/2014/main" val="32340138"/>
                        </a:ext>
                      </a:extLst>
                    </a:gridCol>
                    <a:gridCol w="1533853">
                      <a:extLst>
                        <a:ext uri="{9D8B030D-6E8A-4147-A177-3AD203B41FA5}">
                          <a16:colId xmlns:a16="http://schemas.microsoft.com/office/drawing/2014/main" val="558501656"/>
                        </a:ext>
                      </a:extLst>
                    </a:gridCol>
                    <a:gridCol w="1975383">
                      <a:extLst>
                        <a:ext uri="{9D8B030D-6E8A-4147-A177-3AD203B41FA5}">
                          <a16:colId xmlns:a16="http://schemas.microsoft.com/office/drawing/2014/main" val="1634435428"/>
                        </a:ext>
                      </a:extLst>
                    </a:gridCol>
                    <a:gridCol w="1635818">
                      <a:extLst>
                        <a:ext uri="{9D8B030D-6E8A-4147-A177-3AD203B41FA5}">
                          <a16:colId xmlns:a16="http://schemas.microsoft.com/office/drawing/2014/main" val="2731256957"/>
                        </a:ext>
                      </a:extLst>
                    </a:gridCol>
                  </a:tblGrid>
                  <a:tr h="32517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07000"/>
                            </a:lnSpc>
                          </a:pPr>
                          <a:endParaRPr lang="ko-KR" sz="120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F86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GEO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F86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EIGSO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F86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HEO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F86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3390940"/>
                      </a:ext>
                    </a:extLst>
                  </a:tr>
                  <a:tr h="454747"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Total 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4408 m/s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6792.5 m/s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7336.6 m/s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43213960"/>
                      </a:ext>
                    </a:extLst>
                  </a:tr>
                  <a:tr h="526156"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ko-KR" sz="1200" b="1" i="1" kern="0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굴림" panose="020B0600000101010101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 ker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맑은 고딕" panose="020B0503020000020004" pitchFamily="50" charset="-127"/>
                                      <a:cs typeface="굴림" panose="020B0600000101010101" pitchFamily="50" charset="-127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en-US" sz="1200" b="1" i="1" ker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맑은 고딕" panose="020B0503020000020004" pitchFamily="50" charset="-127"/>
                                      <a:cs typeface="굴림" panose="020B0600000101010101" pitchFamily="50" charset="-127"/>
                                    </a:rPr>
                                    <m:t>𝒇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1" kern="0">
                              <a:solidFill>
                                <a:schemeClr val="bg1"/>
                              </a:solidFill>
                              <a:effectLst/>
                              <a:latin typeface="굴림" panose="020B0600000101010101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 </a:t>
                          </a:r>
                          <a:r>
                            <a:rPr lang="en-US" sz="1200" b="1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(dry mass)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B40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2347 kg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1332661"/>
                      </a:ext>
                    </a:extLst>
                  </a:tr>
                  <a:tr h="526156"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ko-KR" sz="1200" b="1" i="1" kern="0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굴림" panose="020B0600000101010101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 ker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맑은 고딕" panose="020B0503020000020004" pitchFamily="50" charset="-127"/>
                                      <a:cs typeface="굴림" panose="020B0600000101010101" pitchFamily="50" charset="-127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sz="1200" b="1" i="1" ker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맑은 고딕" panose="020B0503020000020004" pitchFamily="50" charset="-127"/>
                                      <a:cs typeface="굴림" panose="020B0600000101010101" pitchFamily="50" charset="-127"/>
                                    </a:rPr>
                                    <m:t>𝟎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1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 (velocity @ parking orbit)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B40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7789.4 m/s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63637523"/>
                      </a:ext>
                    </a:extLst>
                  </a:tr>
                  <a:tr h="450484"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ko-KR" sz="1200" b="1" i="1" kern="0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굴림" panose="020B0600000101010101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 ker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맑은 고딕" panose="020B0503020000020004" pitchFamily="50" charset="-127"/>
                                      <a:cs typeface="굴림" panose="020B0600000101010101" pitchFamily="50" charset="-127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en-US" sz="1200" b="1" i="1" ker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맑은 고딕" panose="020B0503020000020004" pitchFamily="50" charset="-127"/>
                                      <a:cs typeface="굴림" panose="020B0600000101010101" pitchFamily="50" charset="-127"/>
                                    </a:rPr>
                                    <m:t>𝒑</m:t>
                                  </m:r>
                                </m:sub>
                              </m:sSub>
                              <m:r>
                                <a:rPr lang="en-US" sz="1200" b="1" i="1" ker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굴림" panose="020B0600000101010101" pitchFamily="50" charset="-127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200" b="1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(propellant mass)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1421.0 kg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1935.5 kg</a:t>
                          </a:r>
                          <a:endParaRPr lang="ko-KR" sz="120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2005.0 kg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97430816"/>
                      </a:ext>
                    </a:extLst>
                  </a:tr>
                  <a:tr h="450484"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Propellant budget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1804.7 kg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2458.1 kg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2546.3 kg</a:t>
                          </a:r>
                          <a:endParaRPr lang="ko-KR" sz="120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059026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76EEA767-A5F5-4DA4-A144-3D0AD584D9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1495784"/>
                  </p:ext>
                </p:extLst>
              </p:nvPr>
            </p:nvGraphicFramePr>
            <p:xfrm>
              <a:off x="1045433" y="1673459"/>
              <a:ext cx="7053133" cy="273320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908079">
                      <a:extLst>
                        <a:ext uri="{9D8B030D-6E8A-4147-A177-3AD203B41FA5}">
                          <a16:colId xmlns:a16="http://schemas.microsoft.com/office/drawing/2014/main" val="32340138"/>
                        </a:ext>
                      </a:extLst>
                    </a:gridCol>
                    <a:gridCol w="1533853">
                      <a:extLst>
                        <a:ext uri="{9D8B030D-6E8A-4147-A177-3AD203B41FA5}">
                          <a16:colId xmlns:a16="http://schemas.microsoft.com/office/drawing/2014/main" val="558501656"/>
                        </a:ext>
                      </a:extLst>
                    </a:gridCol>
                    <a:gridCol w="1975383">
                      <a:extLst>
                        <a:ext uri="{9D8B030D-6E8A-4147-A177-3AD203B41FA5}">
                          <a16:colId xmlns:a16="http://schemas.microsoft.com/office/drawing/2014/main" val="1634435428"/>
                        </a:ext>
                      </a:extLst>
                    </a:gridCol>
                    <a:gridCol w="1635818">
                      <a:extLst>
                        <a:ext uri="{9D8B030D-6E8A-4147-A177-3AD203B41FA5}">
                          <a16:colId xmlns:a16="http://schemas.microsoft.com/office/drawing/2014/main" val="2731256957"/>
                        </a:ext>
                      </a:extLst>
                    </a:gridCol>
                  </a:tblGrid>
                  <a:tr h="32517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07000"/>
                            </a:lnSpc>
                          </a:pPr>
                          <a:endParaRPr lang="ko-KR" sz="120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F86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GEO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F86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EIGSO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F86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HEO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F86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3390940"/>
                      </a:ext>
                    </a:extLst>
                  </a:tr>
                  <a:tr h="454747"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Total 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4408 m/s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6792.5 m/s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7336.6 m/s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43213960"/>
                      </a:ext>
                    </a:extLst>
                  </a:tr>
                  <a:tr h="526156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19" t="-148276" r="-270607" b="-271264"/>
                          </a:stretch>
                        </a:blip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2347 kg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1332661"/>
                      </a:ext>
                    </a:extLst>
                  </a:tr>
                  <a:tr h="526156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19" t="-251163" r="-270607" b="-174419"/>
                          </a:stretch>
                        </a:blip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7789.4 m/s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63637523"/>
                      </a:ext>
                    </a:extLst>
                  </a:tr>
                  <a:tr h="450484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19" t="-408108" r="-270607" b="-10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1421.0 kg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1935.5 kg</a:t>
                          </a:r>
                          <a:endParaRPr lang="ko-KR" sz="120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2005.0 kg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97430816"/>
                      </a:ext>
                    </a:extLst>
                  </a:tr>
                  <a:tr h="450484"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Propellant budget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1804.7 kg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2458.1 kg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2546.3 kg</a:t>
                          </a:r>
                          <a:endParaRPr lang="ko-KR" sz="120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059026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3B00BF6-3F53-4CB3-A3A1-32C4188C1031}"/>
              </a:ext>
            </a:extLst>
          </p:cNvPr>
          <p:cNvSpPr txBox="1"/>
          <p:nvPr/>
        </p:nvSpPr>
        <p:spPr>
          <a:xfrm>
            <a:off x="828106" y="1025374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indent="0">
              <a:spcBef>
                <a:spcPts val="1600"/>
              </a:spcBef>
              <a:buNone/>
            </a:pPr>
            <a:r>
              <a:rPr lang="en-US" altLang="ko-KR" dirty="0">
                <a:solidFill>
                  <a:srgbClr val="FFAB40"/>
                </a:solidFill>
                <a:latin typeface="Montserrat ExtraBold" panose="00000900000000000000" pitchFamily="2" charset="0"/>
              </a:rPr>
              <a:t>(1) Propellant Budget - PS</a:t>
            </a:r>
          </a:p>
        </p:txBody>
      </p:sp>
    </p:spTree>
    <p:extLst>
      <p:ext uri="{BB962C8B-B14F-4D97-AF65-F5344CB8AC3E}">
        <p14:creationId xmlns:p14="http://schemas.microsoft.com/office/powerpoint/2010/main" val="1655427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5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7969756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dirty="0"/>
              <a:t>1.4 </a:t>
            </a:r>
            <a:r>
              <a:rPr lang="en-US" altLang="ko-KR" sz="2000" dirty="0">
                <a:solidFill>
                  <a:srgbClr val="FFAB40"/>
                </a:solidFill>
              </a:rPr>
              <a:t>B</a:t>
            </a:r>
            <a:r>
              <a:rPr lang="en-US" altLang="ko-KR" sz="2000" b="1" kern="0" dirty="0">
                <a:solidFill>
                  <a:srgbClr val="FFAB40"/>
                </a:solidFill>
                <a:effectLst/>
                <a:latin typeface="맑은 고딕" panose="020B0503020000020004" pitchFamily="50" charset="-127"/>
                <a:cs typeface="굴림" panose="020B0600000101010101" pitchFamily="50" charset="-127"/>
              </a:rPr>
              <a:t>udgets for spacecraft propellant, power, and weight</a:t>
            </a:r>
            <a:endParaRPr lang="en-US" sz="2000" dirty="0"/>
          </a:p>
        </p:txBody>
      </p:sp>
      <p:cxnSp>
        <p:nvCxnSpPr>
          <p:cNvPr id="1981" name="Google Shape;1981;p5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3B00BF6-3F53-4CB3-A3A1-32C4188C1031}"/>
              </a:ext>
            </a:extLst>
          </p:cNvPr>
          <p:cNvSpPr txBox="1"/>
          <p:nvPr/>
        </p:nvSpPr>
        <p:spPr>
          <a:xfrm>
            <a:off x="828106" y="913864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indent="0">
              <a:spcBef>
                <a:spcPts val="1600"/>
              </a:spcBef>
              <a:buNone/>
            </a:pPr>
            <a:r>
              <a:rPr lang="en-US" altLang="ko-KR" dirty="0">
                <a:solidFill>
                  <a:srgbClr val="FFAB40"/>
                </a:solidFill>
                <a:latin typeface="Montserrat ExtraBold" panose="00000900000000000000" pitchFamily="2" charset="0"/>
              </a:rPr>
              <a:t>(2) Power Budget - EPS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6CE8BD0-AFE1-4F27-B9C0-22677DE968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017298"/>
              </p:ext>
            </p:extLst>
          </p:nvPr>
        </p:nvGraphicFramePr>
        <p:xfrm>
          <a:off x="1043292" y="1386424"/>
          <a:ext cx="7807070" cy="3523903"/>
        </p:xfrm>
        <a:graphic>
          <a:graphicData uri="http://schemas.openxmlformats.org/drawingml/2006/table">
            <a:tbl>
              <a:tblPr firstRow="1" firstCol="1" bandRow="1"/>
              <a:tblGrid>
                <a:gridCol w="1032396">
                  <a:extLst>
                    <a:ext uri="{9D8B030D-6E8A-4147-A177-3AD203B41FA5}">
                      <a16:colId xmlns:a16="http://schemas.microsoft.com/office/drawing/2014/main" val="32340138"/>
                    </a:ext>
                  </a:extLst>
                </a:gridCol>
                <a:gridCol w="1512968">
                  <a:extLst>
                    <a:ext uri="{9D8B030D-6E8A-4147-A177-3AD203B41FA5}">
                      <a16:colId xmlns:a16="http://schemas.microsoft.com/office/drawing/2014/main" val="352229100"/>
                    </a:ext>
                  </a:extLst>
                </a:gridCol>
                <a:gridCol w="5261706">
                  <a:extLst>
                    <a:ext uri="{9D8B030D-6E8A-4147-A177-3AD203B41FA5}">
                      <a16:colId xmlns:a16="http://schemas.microsoft.com/office/drawing/2014/main" val="558501656"/>
                    </a:ext>
                  </a:extLst>
                </a:gridCol>
              </a:tblGrid>
              <a:tr h="23231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86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Power (W)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86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Components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8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390940"/>
                  </a:ext>
                </a:extLst>
              </a:tr>
              <a:tr h="321391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PAY(&amp; GNC)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1556.8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 </a:t>
                      </a:r>
                      <a:r>
                        <a:rPr lang="en-US" sz="1000" kern="0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Excelitas</a:t>
                      </a: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RAFS (14W) x2</a:t>
                      </a:r>
                      <a:r>
                        <a:rPr lang="en-US" sz="100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/</a:t>
                      </a: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L-band A154R (250W)</a:t>
                      </a:r>
                      <a:r>
                        <a:rPr lang="en-US" sz="100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/</a:t>
                      </a: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CL-</a:t>
                      </a:r>
                      <a:r>
                        <a:rPr lang="en-US" sz="1000" kern="0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Lband</a:t>
                      </a: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-TX (8.8W)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213960"/>
                  </a:ext>
                </a:extLst>
              </a:tr>
              <a:tr h="574174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ADCS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457.4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lnSpc>
                          <a:spcPct val="106000"/>
                        </a:lnSpc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 Thruster (15.6W) x4 / Reaction Wheel (90W) x3 </a:t>
                      </a:r>
                      <a:r>
                        <a:rPr lang="en-US" sz="100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IRU (30W)</a:t>
                      </a:r>
                      <a:r>
                        <a:rPr lang="en-US" sz="100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/ </a:t>
                      </a: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Sun Sensor (1W)</a:t>
                      </a:r>
                      <a:r>
                        <a:rPr lang="en-US" sz="100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/</a:t>
                      </a: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</a:p>
                    <a:p>
                      <a:pPr marL="0" indent="0" algn="l" latinLnBrk="0">
                        <a:lnSpc>
                          <a:spcPct val="106000"/>
                        </a:lnSpc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 Star Sensor (12W) x2</a:t>
                      </a:r>
                      <a:r>
                        <a:rPr lang="en-US" sz="100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/</a:t>
                      </a: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Earth Sensor (4W) x2</a:t>
                      </a:r>
                      <a:r>
                        <a:rPr lang="en-US" sz="100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/ </a:t>
                      </a: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SADA (62W)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332661"/>
                  </a:ext>
                </a:extLst>
              </a:tr>
              <a:tr h="30379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EPS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700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lnSpc>
                          <a:spcPct val="106000"/>
                        </a:lnSpc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 Solar Array</a:t>
                      </a:r>
                      <a:r>
                        <a:rPr lang="en-US" sz="100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/</a:t>
                      </a: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Li-ion Battery</a:t>
                      </a:r>
                      <a:r>
                        <a:rPr lang="en-US" sz="100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/</a:t>
                      </a: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PCDU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3637523"/>
                  </a:ext>
                </a:extLst>
              </a:tr>
              <a:tr h="30772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CNDH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100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 OBC (up to 20W)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7430816"/>
                  </a:ext>
                </a:extLst>
              </a:tr>
              <a:tr h="29013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TT&amp;C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84.5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 C Band </a:t>
                      </a:r>
                      <a:r>
                        <a:rPr lang="ko-KR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송신기</a:t>
                      </a: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(up to 12.5W)</a:t>
                      </a:r>
                      <a:r>
                        <a:rPr lang="en-US" sz="100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/ </a:t>
                      </a: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Ka Band </a:t>
                      </a:r>
                      <a:r>
                        <a:rPr lang="ko-KR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송신기</a:t>
                      </a: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(up to 68W)</a:t>
                      </a:r>
                      <a:r>
                        <a:rPr lang="en-US" sz="100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/</a:t>
                      </a: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 Band Receiver (14W)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487852"/>
                  </a:ext>
                </a:extLst>
              </a:tr>
              <a:tr h="298927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TCS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691.7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 Radiator (604.5W)</a:t>
                      </a:r>
                      <a:r>
                        <a:rPr lang="en-US" sz="100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/ </a:t>
                      </a: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Heater (87.2W)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181118"/>
                  </a:ext>
                </a:extLst>
              </a:tr>
              <a:tr h="33409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PS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70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 R-4D engine (45~70W)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70726"/>
                  </a:ext>
                </a:extLst>
              </a:tr>
              <a:tr h="236875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EOL Power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3660.4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4871400"/>
                  </a:ext>
                </a:extLst>
              </a:tr>
              <a:tr h="307889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Margin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539.6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059262"/>
                  </a:ext>
                </a:extLst>
              </a:tr>
              <a:tr h="31658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EOL Power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4200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015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2936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5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7969756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dirty="0"/>
              <a:t>1.4 </a:t>
            </a:r>
            <a:r>
              <a:rPr lang="en-US" altLang="ko-KR" sz="2000" dirty="0">
                <a:solidFill>
                  <a:srgbClr val="FFAB40"/>
                </a:solidFill>
              </a:rPr>
              <a:t>B</a:t>
            </a:r>
            <a:r>
              <a:rPr lang="en-US" altLang="ko-KR" sz="2000" b="1" kern="0" dirty="0">
                <a:solidFill>
                  <a:srgbClr val="FFAB40"/>
                </a:solidFill>
                <a:effectLst/>
                <a:latin typeface="맑은 고딕" panose="020B0503020000020004" pitchFamily="50" charset="-127"/>
                <a:cs typeface="굴림" panose="020B0600000101010101" pitchFamily="50" charset="-127"/>
              </a:rPr>
              <a:t>udgets for spacecraft propellant, power, and weight</a:t>
            </a:r>
            <a:endParaRPr lang="en-US" sz="2000" dirty="0"/>
          </a:p>
        </p:txBody>
      </p:sp>
      <p:cxnSp>
        <p:nvCxnSpPr>
          <p:cNvPr id="1981" name="Google Shape;1981;p5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3B00BF6-3F53-4CB3-A3A1-32C4188C1031}"/>
              </a:ext>
            </a:extLst>
          </p:cNvPr>
          <p:cNvSpPr txBox="1"/>
          <p:nvPr/>
        </p:nvSpPr>
        <p:spPr>
          <a:xfrm>
            <a:off x="828106" y="913864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indent="0">
              <a:spcBef>
                <a:spcPts val="1600"/>
              </a:spcBef>
              <a:buNone/>
            </a:pPr>
            <a:r>
              <a:rPr lang="en-US" altLang="ko-KR" dirty="0">
                <a:solidFill>
                  <a:srgbClr val="FFAB40"/>
                </a:solidFill>
                <a:latin typeface="Montserrat ExtraBold" panose="00000900000000000000" pitchFamily="2" charset="0"/>
              </a:rPr>
              <a:t>(3) Weight Budget - SMS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6CE8BD0-AFE1-4F27-B9C0-22677DE968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315419"/>
              </p:ext>
            </p:extLst>
          </p:nvPr>
        </p:nvGraphicFramePr>
        <p:xfrm>
          <a:off x="1043292" y="1386425"/>
          <a:ext cx="7807071" cy="3519846"/>
        </p:xfrm>
        <a:graphic>
          <a:graphicData uri="http://schemas.openxmlformats.org/drawingml/2006/table">
            <a:tbl>
              <a:tblPr firstRow="1" firstCol="1" bandRow="1"/>
              <a:tblGrid>
                <a:gridCol w="1032396">
                  <a:extLst>
                    <a:ext uri="{9D8B030D-6E8A-4147-A177-3AD203B41FA5}">
                      <a16:colId xmlns:a16="http://schemas.microsoft.com/office/drawing/2014/main" val="32340138"/>
                    </a:ext>
                  </a:extLst>
                </a:gridCol>
                <a:gridCol w="1088136">
                  <a:extLst>
                    <a:ext uri="{9D8B030D-6E8A-4147-A177-3AD203B41FA5}">
                      <a16:colId xmlns:a16="http://schemas.microsoft.com/office/drawing/2014/main" val="352229100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558501656"/>
                    </a:ext>
                  </a:extLst>
                </a:gridCol>
                <a:gridCol w="978408">
                  <a:extLst>
                    <a:ext uri="{9D8B030D-6E8A-4147-A177-3AD203B41FA5}">
                      <a16:colId xmlns:a16="http://schemas.microsoft.com/office/drawing/2014/main" val="1663284738"/>
                    </a:ext>
                  </a:extLst>
                </a:gridCol>
                <a:gridCol w="3592563">
                  <a:extLst>
                    <a:ext uri="{9D8B030D-6E8A-4147-A177-3AD203B41FA5}">
                      <a16:colId xmlns:a16="http://schemas.microsoft.com/office/drawing/2014/main" val="1105399632"/>
                    </a:ext>
                  </a:extLst>
                </a:gridCol>
              </a:tblGrid>
              <a:tr h="232063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8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Mass(kg)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8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Margin(kg)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8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Percentage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8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Components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8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390940"/>
                  </a:ext>
                </a:extLst>
              </a:tr>
              <a:tr h="371231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Payload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450.0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22.5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25%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 Time instrument</a:t>
                      </a:r>
                      <a:r>
                        <a:rPr lang="en-US" sz="100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/ </a:t>
                      </a: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L-band antenna</a:t>
                      </a:r>
                      <a:r>
                        <a:rPr lang="en-US" sz="100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/</a:t>
                      </a: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Laser reflector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213960"/>
                  </a:ext>
                </a:extLst>
              </a:tr>
              <a:tr h="507428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Structure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450.0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22.5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25%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 Honeycomb panel</a:t>
                      </a:r>
                      <a:r>
                        <a:rPr lang="en-US" sz="100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/</a:t>
                      </a: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Mechanism part</a:t>
                      </a:r>
                      <a:r>
                        <a:rPr lang="en-US" sz="100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/</a:t>
                      </a: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Beam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l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 Truss</a:t>
                      </a:r>
                      <a:r>
                        <a:rPr lang="en-US" sz="100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/</a:t>
                      </a: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Bracket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332661"/>
                  </a:ext>
                </a:extLst>
              </a:tr>
              <a:tr h="350908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Thermal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90.0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4.5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5%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 Electrical heater</a:t>
                      </a:r>
                      <a:r>
                        <a:rPr lang="en-US" sz="100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/</a:t>
                      </a: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Heat pipe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3637523"/>
                  </a:ext>
                </a:extLst>
              </a:tr>
              <a:tr h="355440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Power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414.0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20.7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23%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 Solar array</a:t>
                      </a:r>
                      <a:r>
                        <a:rPr lang="en-US" sz="100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/</a:t>
                      </a: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Battery</a:t>
                      </a:r>
                      <a:r>
                        <a:rPr lang="en-US" sz="100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/</a:t>
                      </a: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PCDU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7430816"/>
                  </a:ext>
                </a:extLst>
              </a:tr>
              <a:tr h="476389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TT&amp;C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90.0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4.5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5%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 Ka-band antenna</a:t>
                      </a:r>
                      <a:r>
                        <a:rPr lang="en-US" sz="100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/</a:t>
                      </a: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C-band antenna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just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 Onboard Computer &amp; Electronic Device 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487852"/>
                  </a:ext>
                </a:extLst>
              </a:tr>
              <a:tr h="476389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ADCS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126.0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6.3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7%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 Reaction wheel</a:t>
                      </a:r>
                      <a:r>
                        <a:rPr lang="en-US" sz="100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/</a:t>
                      </a: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Sun sensor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l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 Earth sensor</a:t>
                      </a:r>
                      <a:r>
                        <a:rPr lang="en-US" sz="100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/</a:t>
                      </a: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Star sensor</a:t>
                      </a:r>
                      <a:r>
                        <a:rPr lang="en-US" sz="100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/</a:t>
                      </a: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IRU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181118"/>
                  </a:ext>
                </a:extLst>
              </a:tr>
              <a:tr h="476389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Propulsion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180.0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9.0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10%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 Thruster/engine</a:t>
                      </a:r>
                      <a:r>
                        <a:rPr lang="en-US" sz="100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/</a:t>
                      </a: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Tank</a:t>
                      </a:r>
                      <a:r>
                        <a:rPr lang="en-US" sz="100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/</a:t>
                      </a: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Distribution system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l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 </a:t>
                      </a:r>
                      <a:r>
                        <a:rPr lang="en-US" sz="1000" kern="0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Pressurant</a:t>
                      </a:r>
                      <a:r>
                        <a:rPr lang="en-US" sz="100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/</a:t>
                      </a:r>
                      <a:r>
                        <a:rPr lang="en-US" sz="10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Propellant control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70726"/>
                  </a:ext>
                </a:extLst>
              </a:tr>
              <a:tr h="273609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Total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1800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90.0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b="1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100%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4871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8081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5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7969756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900" dirty="0"/>
              <a:t>1.5 Satellite System</a:t>
            </a:r>
            <a:endParaRPr lang="en-US" sz="1900" dirty="0"/>
          </a:p>
        </p:txBody>
      </p:sp>
      <p:cxnSp>
        <p:nvCxnSpPr>
          <p:cNvPr id="1981" name="Google Shape;1981;p5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08C6D93F-E8AD-47E5-A9F7-819148178A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386" y="1386426"/>
            <a:ext cx="6243227" cy="306593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15118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5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7969756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900" dirty="0"/>
              <a:t>2. Payload Subsystem</a:t>
            </a:r>
            <a:endParaRPr lang="en-US" sz="1900" dirty="0"/>
          </a:p>
        </p:txBody>
      </p:sp>
      <p:cxnSp>
        <p:nvCxnSpPr>
          <p:cNvPr id="1981" name="Google Shape;1981;p5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3B00BF6-3F53-4CB3-A3A1-32C4188C1031}"/>
              </a:ext>
            </a:extLst>
          </p:cNvPr>
          <p:cNvSpPr txBox="1"/>
          <p:nvPr/>
        </p:nvSpPr>
        <p:spPr>
          <a:xfrm>
            <a:off x="819561" y="107864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indent="0">
              <a:spcBef>
                <a:spcPts val="1600"/>
              </a:spcBef>
              <a:buNone/>
            </a:pPr>
            <a:r>
              <a:rPr lang="en-US" altLang="ko-KR" dirty="0">
                <a:solidFill>
                  <a:srgbClr val="FFAB40"/>
                </a:solidFill>
                <a:latin typeface="Montserrat ExtraBold" panose="00000900000000000000" pitchFamily="2" charset="0"/>
              </a:rPr>
              <a:t>Requirements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72596E3-7A34-40CF-ABD8-A143610E44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28956"/>
              </p:ext>
            </p:extLst>
          </p:nvPr>
        </p:nvGraphicFramePr>
        <p:xfrm>
          <a:off x="1008378" y="1740962"/>
          <a:ext cx="7554508" cy="2680825"/>
        </p:xfrm>
        <a:graphic>
          <a:graphicData uri="http://schemas.openxmlformats.org/drawingml/2006/table">
            <a:tbl>
              <a:tblPr firstRow="1" firstCol="1" bandRow="1"/>
              <a:tblGrid>
                <a:gridCol w="1461357">
                  <a:extLst>
                    <a:ext uri="{9D8B030D-6E8A-4147-A177-3AD203B41FA5}">
                      <a16:colId xmlns:a16="http://schemas.microsoft.com/office/drawing/2014/main" val="32340138"/>
                    </a:ext>
                  </a:extLst>
                </a:gridCol>
                <a:gridCol w="6093151">
                  <a:extLst>
                    <a:ext uri="{9D8B030D-6E8A-4147-A177-3AD203B41FA5}">
                      <a16:colId xmlns:a16="http://schemas.microsoft.com/office/drawing/2014/main" val="2731256957"/>
                    </a:ext>
                  </a:extLst>
                </a:gridCol>
              </a:tblGrid>
              <a:tr h="230931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12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8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Requirements</a:t>
                      </a:r>
                      <a:endParaRPr lang="ko-KR" sz="12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8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390940"/>
                  </a:ext>
                </a:extLst>
              </a:tr>
              <a:tr h="365907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PAY-001</a:t>
                      </a:r>
                      <a:endParaRPr lang="ko-KR" sz="12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Navigation system test(NST)</a:t>
                      </a:r>
                      <a:r>
                        <a:rPr lang="ko-KR" sz="12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를</a:t>
                      </a:r>
                      <a:r>
                        <a:rPr lang="ko-KR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2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통과해야</a:t>
                      </a:r>
                      <a:r>
                        <a:rPr lang="ko-KR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2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한다</a:t>
                      </a:r>
                      <a:r>
                        <a:rPr lang="en-US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.</a:t>
                      </a: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213960"/>
                  </a:ext>
                </a:extLst>
              </a:tr>
              <a:tr h="337842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PAY-002</a:t>
                      </a:r>
                      <a:endParaRPr lang="ko-KR" sz="12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L1, L2, L5 </a:t>
                      </a:r>
                      <a:r>
                        <a:rPr lang="ko-KR" sz="1200" kern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채널로</a:t>
                      </a:r>
                      <a:r>
                        <a:rPr lang="ko-KR" sz="12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200" kern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항법데이터를</a:t>
                      </a:r>
                      <a:r>
                        <a:rPr lang="ko-KR" sz="12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200" kern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송신할</a:t>
                      </a:r>
                      <a:r>
                        <a:rPr lang="ko-KR" sz="12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200" kern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수</a:t>
                      </a:r>
                      <a:r>
                        <a:rPr lang="ko-KR" sz="12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200" kern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있어야</a:t>
                      </a:r>
                      <a:r>
                        <a:rPr lang="ko-KR" sz="12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200" kern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한다</a:t>
                      </a:r>
                      <a:r>
                        <a:rPr lang="en-US" sz="12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.</a:t>
                      </a:r>
                      <a:endParaRPr lang="ko-KR" sz="12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332661"/>
                  </a:ext>
                </a:extLst>
              </a:tr>
              <a:tr h="362609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PAY-003</a:t>
                      </a: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ko-KR" altLang="ko-KR" sz="12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+mn-ea"/>
                          <a:cs typeface="굴림" panose="020B0600000101010101" pitchFamily="50" charset="-127"/>
                        </a:rPr>
                        <a:t>지상국의</a:t>
                      </a:r>
                      <a:r>
                        <a:rPr lang="ko-KR" altLang="ko-KR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altLang="ko-KR" sz="12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+mn-ea"/>
                          <a:cs typeface="굴림" panose="020B0600000101010101" pitchFamily="50" charset="-127"/>
                        </a:rPr>
                        <a:t>시간과</a:t>
                      </a:r>
                      <a:r>
                        <a:rPr lang="ko-KR" altLang="ko-KR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altLang="ko-KR" sz="12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+mn-ea"/>
                          <a:cs typeface="굴림" panose="020B0600000101010101" pitchFamily="50" charset="-127"/>
                        </a:rPr>
                        <a:t>비교할</a:t>
                      </a:r>
                      <a:r>
                        <a:rPr lang="ko-KR" altLang="ko-KR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altLang="ko-KR" sz="12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+mn-ea"/>
                          <a:cs typeface="굴림" panose="020B0600000101010101" pitchFamily="50" charset="-127"/>
                        </a:rPr>
                        <a:t>수</a:t>
                      </a:r>
                      <a:r>
                        <a:rPr lang="ko-KR" altLang="ko-KR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altLang="ko-KR" sz="12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+mn-ea"/>
                          <a:cs typeface="굴림" panose="020B0600000101010101" pitchFamily="50" charset="-127"/>
                        </a:rPr>
                        <a:t>있도록</a:t>
                      </a:r>
                      <a:r>
                        <a:rPr lang="ko-KR" altLang="ko-KR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en-US" altLang="ko-KR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굴림" panose="020B0600000101010101" pitchFamily="50" charset="-127"/>
                        </a:rPr>
                        <a:t>Time Comparison signal</a:t>
                      </a:r>
                      <a:r>
                        <a:rPr lang="ko-KR" altLang="ko-KR" sz="12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+mn-ea"/>
                          <a:cs typeface="굴림" panose="020B0600000101010101" pitchFamily="50" charset="-127"/>
                        </a:rPr>
                        <a:t>이</a:t>
                      </a:r>
                      <a:r>
                        <a:rPr lang="ko-KR" altLang="ko-KR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altLang="ko-KR" sz="12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+mn-ea"/>
                          <a:cs typeface="굴림" panose="020B0600000101010101" pitchFamily="50" charset="-127"/>
                        </a:rPr>
                        <a:t>송</a:t>
                      </a:r>
                      <a:r>
                        <a:rPr lang="en-US" altLang="ko-KR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굴림" panose="020B0600000101010101" pitchFamily="50" charset="-127"/>
                        </a:rPr>
                        <a:t>, </a:t>
                      </a:r>
                      <a:r>
                        <a:rPr lang="ko-KR" altLang="ko-KR" sz="12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+mn-ea"/>
                          <a:cs typeface="굴림" panose="020B0600000101010101" pitchFamily="50" charset="-127"/>
                        </a:rPr>
                        <a:t>수신</a:t>
                      </a:r>
                      <a:r>
                        <a:rPr lang="ko-KR" altLang="ko-KR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altLang="ko-KR" sz="12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+mn-ea"/>
                          <a:cs typeface="굴림" panose="020B0600000101010101" pitchFamily="50" charset="-127"/>
                        </a:rPr>
                        <a:t>가능해야</a:t>
                      </a:r>
                      <a:r>
                        <a:rPr lang="ko-KR" altLang="ko-KR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altLang="ko-KR" sz="12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+mn-ea"/>
                          <a:cs typeface="굴림" panose="020B0600000101010101" pitchFamily="50" charset="-127"/>
                        </a:rPr>
                        <a:t>한다</a:t>
                      </a:r>
                      <a:r>
                        <a:rPr lang="en-US" altLang="ko-KR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굴림" panose="020B0600000101010101" pitchFamily="50" charset="-127"/>
                        </a:rPr>
                        <a:t>.</a:t>
                      </a: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3637523"/>
                  </a:ext>
                </a:extLst>
              </a:tr>
              <a:tr h="345884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PAY-004</a:t>
                      </a:r>
                      <a:endParaRPr lang="ko-KR" sz="12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ko-KR" sz="12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+mn-ea"/>
                          <a:cs typeface="굴림" panose="020B0600000101010101" pitchFamily="50" charset="-127"/>
                        </a:rPr>
                        <a:t>탑재</a:t>
                      </a:r>
                      <a:r>
                        <a:rPr lang="ko-KR" altLang="ko-KR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altLang="ko-KR" sz="12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+mn-ea"/>
                          <a:cs typeface="굴림" panose="020B0600000101010101" pitchFamily="50" charset="-127"/>
                        </a:rPr>
                        <a:t>장비들이</a:t>
                      </a:r>
                      <a:r>
                        <a:rPr lang="ko-KR" altLang="ko-KR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altLang="ko-KR" sz="12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+mn-ea"/>
                          <a:cs typeface="굴림" panose="020B0600000101010101" pitchFamily="50" charset="-127"/>
                        </a:rPr>
                        <a:t>적어도</a:t>
                      </a:r>
                      <a:r>
                        <a:rPr lang="ko-KR" altLang="ko-KR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en-US" altLang="ko-KR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굴림" panose="020B0600000101010101" pitchFamily="50" charset="-127"/>
                        </a:rPr>
                        <a:t>8</a:t>
                      </a:r>
                      <a:r>
                        <a:rPr lang="ko-KR" altLang="ko-KR" sz="12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+mn-ea"/>
                          <a:cs typeface="굴림" panose="020B0600000101010101" pitchFamily="50" charset="-127"/>
                        </a:rPr>
                        <a:t>년간</a:t>
                      </a:r>
                      <a:r>
                        <a:rPr lang="ko-KR" altLang="ko-KR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altLang="ko-KR" sz="12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+mn-ea"/>
                          <a:cs typeface="굴림" panose="020B0600000101010101" pitchFamily="50" charset="-127"/>
                        </a:rPr>
                        <a:t>임무를</a:t>
                      </a:r>
                      <a:r>
                        <a:rPr lang="ko-KR" altLang="ko-KR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altLang="ko-KR" sz="12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+mn-ea"/>
                          <a:cs typeface="굴림" panose="020B0600000101010101" pitchFamily="50" charset="-127"/>
                        </a:rPr>
                        <a:t>수행할</a:t>
                      </a:r>
                      <a:r>
                        <a:rPr lang="ko-KR" altLang="ko-KR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altLang="ko-KR" sz="12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+mn-ea"/>
                          <a:cs typeface="굴림" panose="020B0600000101010101" pitchFamily="50" charset="-127"/>
                        </a:rPr>
                        <a:t>수</a:t>
                      </a:r>
                      <a:r>
                        <a:rPr lang="ko-KR" altLang="ko-KR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altLang="ko-KR" sz="12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+mn-ea"/>
                          <a:cs typeface="굴림" panose="020B0600000101010101" pitchFamily="50" charset="-127"/>
                        </a:rPr>
                        <a:t>있어야</a:t>
                      </a:r>
                      <a:r>
                        <a:rPr lang="ko-KR" altLang="ko-KR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altLang="ko-KR" sz="12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+mn-ea"/>
                          <a:cs typeface="굴림" panose="020B0600000101010101" pitchFamily="50" charset="-127"/>
                        </a:rPr>
                        <a:t>한다</a:t>
                      </a:r>
                      <a:r>
                        <a:rPr lang="en-US" altLang="ko-KR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굴림" panose="020B0600000101010101" pitchFamily="50" charset="-127"/>
                        </a:rPr>
                        <a:t>.</a:t>
                      </a:r>
                      <a:endParaRPr lang="ko-KR" alt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041002"/>
                  </a:ext>
                </a:extLst>
              </a:tr>
              <a:tr h="345884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PAY-005</a:t>
                      </a:r>
                      <a:endParaRPr lang="ko-KR" sz="12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Position accuracy</a:t>
                      </a:r>
                      <a:r>
                        <a:rPr lang="ko-KR" sz="12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가</a:t>
                      </a:r>
                      <a:r>
                        <a:rPr lang="ko-KR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en-US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1m </a:t>
                      </a:r>
                      <a:r>
                        <a:rPr lang="ko-KR" sz="12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이내로</a:t>
                      </a:r>
                      <a:r>
                        <a:rPr lang="ko-KR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2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유지되어야</a:t>
                      </a:r>
                      <a:r>
                        <a:rPr lang="ko-KR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2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한다</a:t>
                      </a:r>
                      <a:r>
                        <a:rPr lang="en-US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.</a:t>
                      </a: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735934"/>
                  </a:ext>
                </a:extLst>
              </a:tr>
              <a:tr h="345884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PAY-006</a:t>
                      </a:r>
                      <a:endParaRPr lang="ko-KR" sz="12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ko-KR" sz="1200" kern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항법</a:t>
                      </a:r>
                      <a:r>
                        <a:rPr lang="ko-KR" sz="12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200" kern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신호가</a:t>
                      </a:r>
                      <a:r>
                        <a:rPr lang="ko-KR" sz="12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200" kern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현존하는</a:t>
                      </a:r>
                      <a:r>
                        <a:rPr lang="ko-KR" sz="12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200" kern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항법</a:t>
                      </a:r>
                      <a:r>
                        <a:rPr lang="ko-KR" sz="12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200" kern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시스템의</a:t>
                      </a:r>
                      <a:r>
                        <a:rPr lang="ko-KR" sz="12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200" kern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신호와</a:t>
                      </a:r>
                      <a:r>
                        <a:rPr lang="ko-KR" sz="12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200" kern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간섭</a:t>
                      </a:r>
                      <a:r>
                        <a:rPr lang="ko-KR" sz="12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200" kern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없이</a:t>
                      </a:r>
                      <a:r>
                        <a:rPr lang="ko-KR" sz="12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200" kern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송수신</a:t>
                      </a:r>
                      <a:r>
                        <a:rPr lang="ko-KR" sz="12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200" kern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되어야</a:t>
                      </a:r>
                      <a:r>
                        <a:rPr lang="ko-KR" sz="12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200" kern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한다</a:t>
                      </a:r>
                      <a:r>
                        <a:rPr lang="en-US" sz="12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.</a:t>
                      </a:r>
                      <a:endParaRPr lang="ko-KR" sz="12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7615091"/>
                  </a:ext>
                </a:extLst>
              </a:tr>
              <a:tr h="345884"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PAY-007</a:t>
                      </a:r>
                      <a:endParaRPr lang="ko-KR" sz="12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Secondary objective </a:t>
                      </a:r>
                      <a:r>
                        <a:rPr lang="ko-KR" sz="12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달성을</a:t>
                      </a:r>
                      <a:r>
                        <a:rPr lang="ko-KR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2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위해</a:t>
                      </a:r>
                      <a:r>
                        <a:rPr lang="ko-KR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en-US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SBAS </a:t>
                      </a:r>
                      <a:r>
                        <a:rPr lang="ko-KR" sz="12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신호</a:t>
                      </a:r>
                      <a:r>
                        <a:rPr lang="ko-KR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2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송신을</a:t>
                      </a:r>
                      <a:r>
                        <a:rPr lang="ko-KR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2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할</a:t>
                      </a:r>
                      <a:r>
                        <a:rPr lang="ko-KR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2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수</a:t>
                      </a:r>
                      <a:r>
                        <a:rPr lang="ko-KR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2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있어야</a:t>
                      </a:r>
                      <a:r>
                        <a:rPr lang="ko-KR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sz="12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한다</a:t>
                      </a:r>
                      <a:r>
                        <a:rPr lang="en-US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.</a:t>
                      </a: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9137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6143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5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7969756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 sz="1900" dirty="0"/>
              <a:t>2. Payload Subsystem</a:t>
            </a:r>
            <a:endParaRPr lang="en-US" sz="1900" dirty="0"/>
          </a:p>
        </p:txBody>
      </p:sp>
      <p:cxnSp>
        <p:nvCxnSpPr>
          <p:cNvPr id="1981" name="Google Shape;1981;p5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3B00BF6-3F53-4CB3-A3A1-32C4188C1031}"/>
              </a:ext>
            </a:extLst>
          </p:cNvPr>
          <p:cNvSpPr txBox="1"/>
          <p:nvPr/>
        </p:nvSpPr>
        <p:spPr>
          <a:xfrm>
            <a:off x="828106" y="103652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indent="0">
              <a:spcBef>
                <a:spcPts val="1600"/>
              </a:spcBef>
              <a:buNone/>
            </a:pPr>
            <a:r>
              <a:rPr lang="en-US" altLang="ko-KR" dirty="0">
                <a:solidFill>
                  <a:srgbClr val="FFAB40"/>
                </a:solidFill>
                <a:latin typeface="Montserrat ExtraBold" panose="00000900000000000000" pitchFamily="2" charset="0"/>
              </a:rPr>
              <a:t>PAY-001 : Navigation System Test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DFFD202-A3A2-4E2D-9B3A-EACBC19B99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2711" y="1383627"/>
            <a:ext cx="4533542" cy="3314848"/>
          </a:xfrm>
          <a:prstGeom prst="rect">
            <a:avLst/>
          </a:prstGeom>
          <a:noFill/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A2B47CD-AB9F-4297-9B73-5E80AEC16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2711" y="1383775"/>
            <a:ext cx="4533900" cy="33147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02AB845-2AB9-433D-A07A-D0ED824DE4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2532" y="1378335"/>
            <a:ext cx="4533900" cy="33147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F5FC1F9-9E9C-420E-9FC6-34A329C425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2353" y="1382380"/>
            <a:ext cx="453390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831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5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7969756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 sz="1900" dirty="0"/>
              <a:t>2. Payload Subsystem</a:t>
            </a:r>
            <a:endParaRPr lang="en-US" sz="1900" dirty="0"/>
          </a:p>
        </p:txBody>
      </p:sp>
      <p:cxnSp>
        <p:nvCxnSpPr>
          <p:cNvPr id="1981" name="Google Shape;1981;p5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3B00BF6-3F53-4CB3-A3A1-32C4188C1031}"/>
              </a:ext>
            </a:extLst>
          </p:cNvPr>
          <p:cNvSpPr txBox="1"/>
          <p:nvPr/>
        </p:nvSpPr>
        <p:spPr>
          <a:xfrm>
            <a:off x="828106" y="109141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indent="0">
              <a:spcBef>
                <a:spcPts val="1600"/>
              </a:spcBef>
              <a:buNone/>
            </a:pPr>
            <a:r>
              <a:rPr lang="en-US" altLang="ko-KR" dirty="0">
                <a:solidFill>
                  <a:srgbClr val="FFAB40"/>
                </a:solidFill>
                <a:latin typeface="Montserrat ExtraBold" panose="00000900000000000000" pitchFamily="2" charset="0"/>
              </a:rPr>
              <a:t>PAY-002 : L-band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DBF1FF1-BCBC-4529-ABA8-1273493DAD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379314"/>
              </p:ext>
            </p:extLst>
          </p:nvPr>
        </p:nvGraphicFramePr>
        <p:xfrm>
          <a:off x="1026200" y="1855264"/>
          <a:ext cx="7418553" cy="2601327"/>
        </p:xfrm>
        <a:graphic>
          <a:graphicData uri="http://schemas.openxmlformats.org/drawingml/2006/table">
            <a:tbl>
              <a:tblPr firstRow="1" bandRow="1">
                <a:tableStyleId>{1C28B2AB-E718-4DF9-ADA3-83340B5D2C4E}</a:tableStyleId>
              </a:tblPr>
              <a:tblGrid>
                <a:gridCol w="1931595">
                  <a:extLst>
                    <a:ext uri="{9D8B030D-6E8A-4147-A177-3AD203B41FA5}">
                      <a16:colId xmlns:a16="http://schemas.microsoft.com/office/drawing/2014/main" val="1141528908"/>
                    </a:ext>
                  </a:extLst>
                </a:gridCol>
                <a:gridCol w="2743479">
                  <a:extLst>
                    <a:ext uri="{9D8B030D-6E8A-4147-A177-3AD203B41FA5}">
                      <a16:colId xmlns:a16="http://schemas.microsoft.com/office/drawing/2014/main" val="1553057432"/>
                    </a:ext>
                  </a:extLst>
                </a:gridCol>
                <a:gridCol w="2743479">
                  <a:extLst>
                    <a:ext uri="{9D8B030D-6E8A-4147-A177-3AD203B41FA5}">
                      <a16:colId xmlns:a16="http://schemas.microsoft.com/office/drawing/2014/main" val="69011627"/>
                    </a:ext>
                  </a:extLst>
                </a:gridCol>
              </a:tblGrid>
              <a:tr h="350236">
                <a:tc>
                  <a:txBody>
                    <a:bodyPr/>
                    <a:lstStyle/>
                    <a:p>
                      <a:pPr algn="ctr" latinLnBrk="0">
                        <a:lnSpc>
                          <a:spcPts val="18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Signal name</a:t>
                      </a: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8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Center frequency</a:t>
                      </a:r>
                      <a:endParaRPr lang="ko-KR" sz="12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8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Comments</a:t>
                      </a:r>
                      <a:endParaRPr lang="ko-KR" sz="12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339822"/>
                  </a:ext>
                </a:extLst>
              </a:tr>
              <a:tr h="350236">
                <a:tc>
                  <a:txBody>
                    <a:bodyPr/>
                    <a:lstStyle/>
                    <a:p>
                      <a:pPr algn="ctr" latinLnBrk="0">
                        <a:lnSpc>
                          <a:spcPts val="18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L1-C/A</a:t>
                      </a: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>
                    <a:solidFill>
                      <a:srgbClr val="FFAB4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0">
                        <a:lnSpc>
                          <a:spcPts val="18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1575.42 MHz</a:t>
                      </a: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/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kern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  • </a:t>
                      </a:r>
                      <a:r>
                        <a:rPr lang="ko-KR" altLang="en-US" sz="1200" kern="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통신위성에서 널리 사용되는</a:t>
                      </a:r>
                      <a:endParaRPr lang="en-US" altLang="ko-KR" sz="1200" kern="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200" kern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kern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  • </a:t>
                      </a:r>
                      <a:r>
                        <a:rPr lang="ko-KR" altLang="ko-KR" sz="1200" dirty="0">
                          <a:solidFill>
                            <a:schemeClr val="bg1"/>
                          </a:solidFill>
                        </a:rPr>
                        <a:t>현대화된 GPS 신호와의 호환 및</a:t>
                      </a: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902815728"/>
                  </a:ext>
                </a:extLst>
              </a:tr>
              <a:tr h="350236">
                <a:tc>
                  <a:txBody>
                    <a:bodyPr/>
                    <a:lstStyle/>
                    <a:p>
                      <a:pPr algn="ctr" latinLnBrk="0">
                        <a:lnSpc>
                          <a:spcPts val="18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L1C</a:t>
                      </a: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>
                    <a:solidFill>
                      <a:srgbClr val="FFAB4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702059"/>
                  </a:ext>
                </a:extLst>
              </a:tr>
              <a:tr h="513723">
                <a:tc>
                  <a:txBody>
                    <a:bodyPr/>
                    <a:lstStyle/>
                    <a:p>
                      <a:pPr algn="ctr" latinLnBrk="0">
                        <a:lnSpc>
                          <a:spcPts val="18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L2C</a:t>
                      </a:r>
                      <a:endParaRPr lang="ko-KR" sz="12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8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1227.6 MHz</a:t>
                      </a: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4449698"/>
                  </a:ext>
                </a:extLst>
              </a:tr>
              <a:tr h="436094">
                <a:tc>
                  <a:txBody>
                    <a:bodyPr/>
                    <a:lstStyle/>
                    <a:p>
                      <a:pPr algn="ctr" latinLnBrk="0">
                        <a:lnSpc>
                          <a:spcPts val="18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L5</a:t>
                      </a: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8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1176.45 MHz</a:t>
                      </a: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20484"/>
                  </a:ext>
                </a:extLst>
              </a:tr>
              <a:tr h="600802">
                <a:tc>
                  <a:txBody>
                    <a:bodyPr/>
                    <a:lstStyle/>
                    <a:p>
                      <a:pPr algn="ctr" latinLnBrk="0">
                        <a:lnSpc>
                          <a:spcPts val="1800"/>
                        </a:lnSpc>
                        <a:spcAft>
                          <a:spcPts val="800"/>
                        </a:spcAft>
                      </a:pPr>
                      <a:r>
                        <a:rPr lang="en-US" altLang="ko-KR" sz="12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L6</a:t>
                      </a: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ts val="1800"/>
                        </a:lnSpc>
                        <a:spcAft>
                          <a:spcPts val="800"/>
                        </a:spcAft>
                      </a:pPr>
                      <a:r>
                        <a:rPr lang="en-US" altLang="ko-KR" sz="12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1278.75 MHz</a:t>
                      </a: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altLang="ko-KR" sz="1200" kern="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ko-KR" altLang="en-US" sz="1200" kern="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위의 신호들과 결합하여 </a:t>
                      </a:r>
                      <a:r>
                        <a:rPr lang="en-US" altLang="ko-KR" sz="1200" kern="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cm</a:t>
                      </a:r>
                      <a:r>
                        <a:rPr lang="ko-KR" altLang="en-US" sz="1200" kern="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단위의</a:t>
                      </a:r>
                      <a:endParaRPr lang="en-US" altLang="ko-KR" sz="1200" kern="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281122056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512C77A-5C41-471A-9229-A54E64948821}"/>
              </a:ext>
            </a:extLst>
          </p:cNvPr>
          <p:cNvSpPr txBox="1"/>
          <p:nvPr/>
        </p:nvSpPr>
        <p:spPr>
          <a:xfrm>
            <a:off x="5846390" y="2791943"/>
            <a:ext cx="11407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kern="0" dirty="0">
                <a:solidFill>
                  <a:schemeClr val="bg1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주파수 대역 </a:t>
            </a:r>
            <a:endParaRPr lang="ko-KR" alt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E2DB41-7174-414E-99B3-94867F57D6BB}"/>
              </a:ext>
            </a:extLst>
          </p:cNvPr>
          <p:cNvSpPr txBox="1"/>
          <p:nvPr/>
        </p:nvSpPr>
        <p:spPr>
          <a:xfrm>
            <a:off x="5848272" y="3354893"/>
            <a:ext cx="2436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ko-KR" sz="1200" dirty="0">
                <a:solidFill>
                  <a:schemeClr val="bg1"/>
                </a:solidFill>
              </a:rPr>
              <a:t>상호 운용</a:t>
            </a:r>
            <a:r>
              <a:rPr lang="ko-KR" altLang="en-US" sz="1200" dirty="0">
                <a:solidFill>
                  <a:schemeClr val="bg1"/>
                </a:solidFill>
              </a:rPr>
              <a:t>이 가능하다</a:t>
            </a:r>
            <a:endParaRPr lang="ko-KR" altLang="ko-KR" sz="1200" kern="100" dirty="0"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091561-898D-4D55-A404-734DE17B5F04}"/>
              </a:ext>
            </a:extLst>
          </p:cNvPr>
          <p:cNvSpPr txBox="1"/>
          <p:nvPr/>
        </p:nvSpPr>
        <p:spPr>
          <a:xfrm>
            <a:off x="5881904" y="4082975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kern="0" dirty="0">
                <a:solidFill>
                  <a:schemeClr val="bg1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훨씬 더 높은 정확도를 제공한다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340688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5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7969756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900" dirty="0"/>
              <a:t>2. Payload Subsystem</a:t>
            </a:r>
            <a:endParaRPr lang="en-US" sz="1900" dirty="0"/>
          </a:p>
        </p:txBody>
      </p:sp>
      <p:cxnSp>
        <p:nvCxnSpPr>
          <p:cNvPr id="1981" name="Google Shape;1981;p5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3B00BF6-3F53-4CB3-A3A1-32C4188C1031}"/>
              </a:ext>
            </a:extLst>
          </p:cNvPr>
          <p:cNvSpPr txBox="1"/>
          <p:nvPr/>
        </p:nvSpPr>
        <p:spPr>
          <a:xfrm>
            <a:off x="828106" y="962317"/>
            <a:ext cx="77780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indent="0">
              <a:spcBef>
                <a:spcPts val="1600"/>
              </a:spcBef>
              <a:buNone/>
            </a:pPr>
            <a:r>
              <a:rPr lang="en-US" altLang="ko-KR" dirty="0">
                <a:solidFill>
                  <a:srgbClr val="FFAB40"/>
                </a:solidFill>
                <a:latin typeface="Montserrat ExtraBold" panose="00000900000000000000" pitchFamily="2" charset="0"/>
              </a:rPr>
              <a:t>Pay-003 : Two-way Satellite Time and Frequency Transfer (TWSTFT)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9AE7F31-BE40-41C1-B872-D0EDEAAAAA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4323" y="1549100"/>
            <a:ext cx="3555638" cy="330651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50044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5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7969756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900" dirty="0"/>
              <a:t>2. Payload Subsystem</a:t>
            </a:r>
            <a:endParaRPr lang="en-US" sz="1900" dirty="0"/>
          </a:p>
        </p:txBody>
      </p:sp>
      <p:cxnSp>
        <p:nvCxnSpPr>
          <p:cNvPr id="1981" name="Google Shape;1981;p5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3B00BF6-3F53-4CB3-A3A1-32C4188C1031}"/>
              </a:ext>
            </a:extLst>
          </p:cNvPr>
          <p:cNvSpPr txBox="1"/>
          <p:nvPr/>
        </p:nvSpPr>
        <p:spPr>
          <a:xfrm>
            <a:off x="828106" y="962317"/>
            <a:ext cx="77780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indent="0">
              <a:spcBef>
                <a:spcPts val="1600"/>
              </a:spcBef>
              <a:buNone/>
            </a:pPr>
            <a:r>
              <a:rPr lang="en-US" altLang="ko-KR" dirty="0">
                <a:solidFill>
                  <a:srgbClr val="FFAB40"/>
                </a:solidFill>
                <a:latin typeface="Montserrat ExtraBold" panose="00000900000000000000" pitchFamily="2" charset="0"/>
              </a:rPr>
              <a:t>Pay-007 : SBAS signal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B80B0E-F6F4-476D-AB59-1EE42397DB01}"/>
              </a:ext>
            </a:extLst>
          </p:cNvPr>
          <p:cNvSpPr txBox="1"/>
          <p:nvPr/>
        </p:nvSpPr>
        <p:spPr>
          <a:xfrm>
            <a:off x="1026200" y="1801961"/>
            <a:ext cx="7504614" cy="2618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 latinLnBrk="1">
              <a:lnSpc>
                <a:spcPct val="106000"/>
              </a:lnSpc>
              <a:spcAft>
                <a:spcPts val="800"/>
              </a:spcAft>
            </a:pPr>
            <a:r>
              <a:rPr lang="en-US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① 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지상의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기준국에서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각각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en-US" altLang="ko-KR" sz="1400" kern="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GPS 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신호를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수신</a:t>
            </a:r>
            <a:r>
              <a:rPr lang="en-US" altLang="ko-KR" sz="1400" kern="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, 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항법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메시지를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추출해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중앙처리국에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전송</a:t>
            </a:r>
            <a:endParaRPr lang="en-US" altLang="ko-KR" sz="1400" kern="0" dirty="0">
              <a:solidFill>
                <a:schemeClr val="bg1"/>
              </a:solidFill>
              <a:effectLst/>
              <a:latin typeface="굴림" panose="020B0600000101010101" pitchFamily="50" charset="-127"/>
              <a:ea typeface="맑은 고딕" panose="020B0503020000020004" pitchFamily="50" charset="-127"/>
              <a:cs typeface="굴림" panose="020B0600000101010101" pitchFamily="50" charset="-127"/>
            </a:endParaRPr>
          </a:p>
          <a:p>
            <a:pPr algn="just" fontAlgn="base" latinLnBrk="1">
              <a:lnSpc>
                <a:spcPct val="106000"/>
              </a:lnSpc>
              <a:spcAft>
                <a:spcPts val="800"/>
              </a:spcAft>
            </a:pPr>
            <a:endParaRPr lang="ko-KR" altLang="ko-KR" sz="1400" kern="100" dirty="0"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06000"/>
              </a:lnSpc>
              <a:spcAft>
                <a:spcPts val="800"/>
              </a:spcAft>
            </a:pPr>
            <a:r>
              <a:rPr lang="en-US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② 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중앙처리국은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en-US" altLang="ko-KR" sz="1400" kern="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GPS 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오차정보를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교정</a:t>
            </a:r>
            <a:r>
              <a:rPr lang="en-US" altLang="ko-KR" sz="1400" kern="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, GPS 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신호의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이상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여부를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알려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주는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정보를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생성</a:t>
            </a:r>
            <a:r>
              <a:rPr lang="ko-KR" altLang="en-US" dirty="0">
                <a:solidFill>
                  <a:schemeClr val="bg1"/>
                </a:solidFill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하여</a:t>
            </a:r>
            <a:endParaRPr lang="ko-KR" altLang="ko-KR" sz="1400" kern="100" dirty="0"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06000"/>
              </a:lnSpc>
              <a:spcAft>
                <a:spcPts val="800"/>
              </a:spcAft>
            </a:pPr>
            <a:r>
              <a:rPr lang="en-US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    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위성통신국으로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보낸다</a:t>
            </a:r>
            <a:r>
              <a:rPr lang="en-US" altLang="ko-KR" sz="1400" kern="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.</a:t>
            </a:r>
          </a:p>
          <a:p>
            <a:pPr algn="just" fontAlgn="base" latinLnBrk="1">
              <a:lnSpc>
                <a:spcPct val="106000"/>
              </a:lnSpc>
              <a:spcAft>
                <a:spcPts val="800"/>
              </a:spcAft>
            </a:pPr>
            <a:endParaRPr lang="ko-KR" altLang="ko-KR" sz="1400" kern="100" dirty="0"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06000"/>
              </a:lnSpc>
              <a:spcAft>
                <a:spcPts val="800"/>
              </a:spcAft>
            </a:pPr>
            <a:r>
              <a:rPr lang="en-US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③ 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위성통신국은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en-US" altLang="ko-KR" sz="1400" kern="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SBAS 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신호를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생성해서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정지궤도위성으로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송신한다</a:t>
            </a:r>
            <a:r>
              <a:rPr lang="en-US" altLang="ko-KR" sz="1400" kern="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.</a:t>
            </a:r>
          </a:p>
          <a:p>
            <a:pPr algn="just" fontAlgn="base" latinLnBrk="1">
              <a:lnSpc>
                <a:spcPct val="106000"/>
              </a:lnSpc>
              <a:spcAft>
                <a:spcPts val="800"/>
              </a:spcAft>
            </a:pPr>
            <a:endParaRPr lang="ko-KR" altLang="ko-KR" sz="1400" kern="100" dirty="0"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fontAlgn="base" latinLnBrk="1">
              <a:lnSpc>
                <a:spcPct val="106000"/>
              </a:lnSpc>
              <a:spcAft>
                <a:spcPts val="800"/>
              </a:spcAft>
            </a:pPr>
            <a:r>
              <a:rPr lang="en-US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④ 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정지궤도위성은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관련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정보들을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전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국토에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일괄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ko-KR" altLang="ko-KR" sz="1400" kern="0" dirty="0">
                <a:solidFill>
                  <a:schemeClr val="bg1"/>
                </a:solidFill>
                <a:effectLst/>
                <a:latin typeface="굴림" panose="020B0600000101010101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제공한다</a:t>
            </a:r>
            <a:r>
              <a:rPr lang="en-US" altLang="ko-KR" sz="1400" kern="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굴림" panose="020B0600000101010101" pitchFamily="50" charset="-127"/>
              </a:rPr>
              <a:t>.</a:t>
            </a:r>
            <a:endParaRPr lang="ko-KR" altLang="ko-KR" sz="1400" kern="100" dirty="0"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7778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5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7969756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900" dirty="0"/>
              <a:t>2. Payload Subsystem</a:t>
            </a:r>
            <a:endParaRPr lang="en-US" sz="1900" dirty="0"/>
          </a:p>
        </p:txBody>
      </p:sp>
      <p:cxnSp>
        <p:nvCxnSpPr>
          <p:cNvPr id="1981" name="Google Shape;1981;p5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3B00BF6-3F53-4CB3-A3A1-32C4188C1031}"/>
              </a:ext>
            </a:extLst>
          </p:cNvPr>
          <p:cNvSpPr txBox="1"/>
          <p:nvPr/>
        </p:nvSpPr>
        <p:spPr>
          <a:xfrm>
            <a:off x="828106" y="962317"/>
            <a:ext cx="77780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indent="0">
              <a:spcBef>
                <a:spcPts val="1600"/>
              </a:spcBef>
              <a:buNone/>
            </a:pPr>
            <a:r>
              <a:rPr lang="en-US" altLang="ko-KR" dirty="0">
                <a:solidFill>
                  <a:srgbClr val="FFAB40"/>
                </a:solidFill>
                <a:latin typeface="Montserrat ExtraBold" panose="00000900000000000000" pitchFamily="2" charset="0"/>
              </a:rPr>
              <a:t>Components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E106382-31D7-4830-9ECA-B1EA552160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793505"/>
              </p:ext>
            </p:extLst>
          </p:nvPr>
        </p:nvGraphicFramePr>
        <p:xfrm>
          <a:off x="938499" y="1579857"/>
          <a:ext cx="6527621" cy="1811413"/>
        </p:xfrm>
        <a:graphic>
          <a:graphicData uri="http://schemas.openxmlformats.org/drawingml/2006/table">
            <a:tbl>
              <a:tblPr firstRow="1" bandRow="1">
                <a:tableStyleId>{1C28B2AB-E718-4DF9-ADA3-83340B5D2C4E}</a:tableStyleId>
              </a:tblPr>
              <a:tblGrid>
                <a:gridCol w="2697010">
                  <a:extLst>
                    <a:ext uri="{9D8B030D-6E8A-4147-A177-3AD203B41FA5}">
                      <a16:colId xmlns:a16="http://schemas.microsoft.com/office/drawing/2014/main" val="2757628008"/>
                    </a:ext>
                  </a:extLst>
                </a:gridCol>
                <a:gridCol w="3830611">
                  <a:extLst>
                    <a:ext uri="{9D8B030D-6E8A-4147-A177-3AD203B41FA5}">
                      <a16:colId xmlns:a16="http://schemas.microsoft.com/office/drawing/2014/main" val="3855092904"/>
                    </a:ext>
                  </a:extLst>
                </a:gridCol>
              </a:tblGrid>
              <a:tr h="333756">
                <a:tc>
                  <a:txBody>
                    <a:bodyPr/>
                    <a:lstStyle/>
                    <a:p>
                      <a:pPr lvl="1" algn="l">
                        <a:lnSpc>
                          <a:spcPct val="107000"/>
                        </a:lnSpc>
                      </a:pP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payload</a:t>
                      </a: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163095"/>
                  </a:ext>
                </a:extLst>
              </a:tr>
              <a:tr h="489551">
                <a:tc>
                  <a:txBody>
                    <a:bodyPr/>
                    <a:lstStyle/>
                    <a:p>
                      <a:pPr lvl="1" indent="63500" algn="l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Time instrument</a:t>
                      </a: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Rubidium Atomic Frequency Standard Clocks</a:t>
                      </a: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7558672"/>
                  </a:ext>
                </a:extLst>
              </a:tr>
              <a:tr h="415574">
                <a:tc rowSpan="2">
                  <a:txBody>
                    <a:bodyPr/>
                    <a:lstStyle/>
                    <a:p>
                      <a:pPr lvl="1" algn="l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Signal instrument</a:t>
                      </a: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L-band Antenna</a:t>
                      </a: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71932093"/>
                  </a:ext>
                </a:extLst>
              </a:tr>
              <a:tr h="5725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Laser Reflector </a:t>
                      </a: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67619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5015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5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7969756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900" dirty="0"/>
              <a:t>2. Payload Subsystem</a:t>
            </a:r>
            <a:endParaRPr lang="en-US" sz="1900" dirty="0"/>
          </a:p>
        </p:txBody>
      </p:sp>
      <p:cxnSp>
        <p:nvCxnSpPr>
          <p:cNvPr id="1981" name="Google Shape;1981;p5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3B00BF6-3F53-4CB3-A3A1-32C4188C1031}"/>
              </a:ext>
            </a:extLst>
          </p:cNvPr>
          <p:cNvSpPr txBox="1"/>
          <p:nvPr/>
        </p:nvSpPr>
        <p:spPr>
          <a:xfrm>
            <a:off x="828106" y="962317"/>
            <a:ext cx="77780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indent="0">
              <a:spcBef>
                <a:spcPts val="1600"/>
              </a:spcBef>
              <a:buNone/>
            </a:pPr>
            <a:r>
              <a:rPr lang="en-US" altLang="ko-KR" dirty="0">
                <a:solidFill>
                  <a:srgbClr val="FFAB40"/>
                </a:solidFill>
                <a:latin typeface="Montserrat ExtraBold" panose="00000900000000000000" pitchFamily="2" charset="0"/>
              </a:rPr>
              <a:t>Hardware</a:t>
            </a:r>
            <a:r>
              <a:rPr lang="ko-KR" altLang="en-US" dirty="0">
                <a:solidFill>
                  <a:srgbClr val="FFAB40"/>
                </a:solidFill>
                <a:latin typeface="Montserrat ExtraBold" panose="00000900000000000000" pitchFamily="2" charset="0"/>
              </a:rPr>
              <a:t> </a:t>
            </a:r>
            <a:r>
              <a:rPr lang="en-US" altLang="ko-KR" dirty="0">
                <a:solidFill>
                  <a:srgbClr val="FFAB40"/>
                </a:solidFill>
                <a:latin typeface="Montserrat ExtraBold" panose="00000900000000000000" pitchFamily="2" charset="0"/>
              </a:rPr>
              <a:t>Specifications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E30D95D-F1BE-4609-8588-9272806869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167379"/>
              </p:ext>
            </p:extLst>
          </p:nvPr>
        </p:nvGraphicFramePr>
        <p:xfrm>
          <a:off x="938500" y="1787652"/>
          <a:ext cx="7969756" cy="2527972"/>
        </p:xfrm>
        <a:graphic>
          <a:graphicData uri="http://schemas.openxmlformats.org/drawingml/2006/table">
            <a:tbl>
              <a:tblPr firstRow="1" firstCol="1" bandRow="1"/>
              <a:tblGrid>
                <a:gridCol w="641725">
                  <a:extLst>
                    <a:ext uri="{9D8B030D-6E8A-4147-A177-3AD203B41FA5}">
                      <a16:colId xmlns:a16="http://schemas.microsoft.com/office/drawing/2014/main" val="1698228651"/>
                    </a:ext>
                  </a:extLst>
                </a:gridCol>
                <a:gridCol w="1562470">
                  <a:extLst>
                    <a:ext uri="{9D8B030D-6E8A-4147-A177-3AD203B41FA5}">
                      <a16:colId xmlns:a16="http://schemas.microsoft.com/office/drawing/2014/main" val="4072496675"/>
                    </a:ext>
                  </a:extLst>
                </a:gridCol>
                <a:gridCol w="1615736">
                  <a:extLst>
                    <a:ext uri="{9D8B030D-6E8A-4147-A177-3AD203B41FA5}">
                      <a16:colId xmlns:a16="http://schemas.microsoft.com/office/drawing/2014/main" val="1118390929"/>
                    </a:ext>
                  </a:extLst>
                </a:gridCol>
                <a:gridCol w="905522">
                  <a:extLst>
                    <a:ext uri="{9D8B030D-6E8A-4147-A177-3AD203B41FA5}">
                      <a16:colId xmlns:a16="http://schemas.microsoft.com/office/drawing/2014/main" val="1085821250"/>
                    </a:ext>
                  </a:extLst>
                </a:gridCol>
                <a:gridCol w="1597981">
                  <a:extLst>
                    <a:ext uri="{9D8B030D-6E8A-4147-A177-3AD203B41FA5}">
                      <a16:colId xmlns:a16="http://schemas.microsoft.com/office/drawing/2014/main" val="118345801"/>
                    </a:ext>
                  </a:extLst>
                </a:gridCol>
                <a:gridCol w="745876">
                  <a:extLst>
                    <a:ext uri="{9D8B030D-6E8A-4147-A177-3AD203B41FA5}">
                      <a16:colId xmlns:a16="http://schemas.microsoft.com/office/drawing/2014/main" val="3400282883"/>
                    </a:ext>
                  </a:extLst>
                </a:gridCol>
                <a:gridCol w="900446">
                  <a:extLst>
                    <a:ext uri="{9D8B030D-6E8A-4147-A177-3AD203B41FA5}">
                      <a16:colId xmlns:a16="http://schemas.microsoft.com/office/drawing/2014/main" val="2271468078"/>
                    </a:ext>
                  </a:extLst>
                </a:gridCol>
              </a:tblGrid>
              <a:tr h="48431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ko-KR" sz="1000" b="1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8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900" b="1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Component</a:t>
                      </a:r>
                      <a:endParaRPr lang="ko-KR" sz="1000" b="1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8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900" b="1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model</a:t>
                      </a:r>
                      <a:endParaRPr lang="ko-KR" sz="1000" b="1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8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900" b="1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Mass (kg)</a:t>
                      </a:r>
                      <a:endParaRPr lang="ko-KR" sz="1000" b="1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8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900" b="1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Power (W)</a:t>
                      </a:r>
                      <a:endParaRPr lang="ko-KR" sz="1000" b="1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8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900" b="1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Operating Temp (</a:t>
                      </a:r>
                      <a:r>
                        <a:rPr lang="en-US" sz="900" b="1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℃</a:t>
                      </a:r>
                      <a:r>
                        <a:rPr lang="en-US" sz="900" b="1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)</a:t>
                      </a:r>
                      <a:endParaRPr lang="ko-KR" sz="1000" b="1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8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ko-KR" sz="900" b="1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비고</a:t>
                      </a:r>
                      <a:endParaRPr lang="ko-KR" sz="1000" b="1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8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215135"/>
                  </a:ext>
                </a:extLst>
              </a:tr>
              <a:tr h="317037">
                <a:tc rowSpan="4"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900" b="1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Payload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9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Laser Retroreflector Array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900" kern="0">
                          <a:solidFill>
                            <a:schemeClr val="bg1"/>
                          </a:solidFill>
                          <a:effectLst/>
                          <a:latin typeface="함초롬바탕" panose="02030504000101010101" pitchFamily="18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-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9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3.1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9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9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9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26*30*5.5mm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237739"/>
                  </a:ext>
                </a:extLst>
              </a:tr>
              <a:tr h="3629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9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Time Unit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63500" algn="ctr" fontAlgn="base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900" kern="0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Excelitas</a:t>
                      </a:r>
                      <a:r>
                        <a:rPr lang="en-US" sz="9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en-US" sz="900" kern="0" dirty="0">
                          <a:solidFill>
                            <a:schemeClr val="bg1"/>
                          </a:solidFill>
                          <a:effectLst/>
                          <a:latin typeface="함초롬바탕" panose="02030504000101010101" pitchFamily="18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RAFS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9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0.6*2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9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14*2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9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-20~65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9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50*75*100 mm*2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543575"/>
                  </a:ext>
                </a:extLst>
              </a:tr>
              <a:tr h="49488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9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L-band Ant/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fontAlgn="base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9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Transmitter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9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L-band A154R/CL-</a:t>
                      </a:r>
                      <a:r>
                        <a:rPr lang="en-US" sz="900" kern="0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Lband</a:t>
                      </a:r>
                      <a:r>
                        <a:rPr lang="en-US" sz="9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-TX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9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34 / 0.325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9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250 / 8.8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9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-40~85 / -10~60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ko-KR" sz="900" kern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약</a:t>
                      </a:r>
                      <a:r>
                        <a:rPr lang="ko-KR" sz="9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en-US" sz="900" kern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1500mm </a:t>
                      </a:r>
                      <a:endParaRPr lang="ko-KR" sz="10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151659"/>
                  </a:ext>
                </a:extLst>
              </a:tr>
              <a:tr h="5517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9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Other components.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9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9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217.6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9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total </a:t>
                      </a:r>
                      <a:r>
                        <a:rPr lang="en-US" sz="900" kern="0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tramit</a:t>
                      </a:r>
                      <a:r>
                        <a:rPr lang="en-US" sz="9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power </a:t>
                      </a:r>
                      <a:r>
                        <a:rPr lang="en-US" sz="900" kern="0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aprrox</a:t>
                      </a:r>
                      <a:r>
                        <a:rPr lang="en-US" sz="9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: 550W(L-band</a:t>
                      </a:r>
                      <a:r>
                        <a:rPr lang="ko-KR" sz="9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포함</a:t>
                      </a:r>
                      <a:r>
                        <a:rPr lang="en-US" sz="9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) / Other component :1200 W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9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-20~60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900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SMS </a:t>
                      </a:r>
                      <a:r>
                        <a:rPr lang="ko-KR" sz="900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참고</a:t>
                      </a:r>
                      <a:endParaRPr lang="ko-KR" sz="10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1017167"/>
                  </a:ext>
                </a:extLst>
              </a:tr>
              <a:tr h="317037">
                <a:tc gridSpan="3">
                  <a:txBody>
                    <a:bodyPr/>
                    <a:lstStyle/>
                    <a:p>
                      <a:pPr algn="ctr" fontAlgn="base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900" b="1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total</a:t>
                      </a:r>
                      <a:endParaRPr lang="ko-KR" sz="1000" b="1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ko-KR" sz="900" b="1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약</a:t>
                      </a:r>
                      <a:r>
                        <a:rPr lang="ko-KR" sz="900" b="1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굴림" panose="020B0600000101010101" pitchFamily="50" charset="-127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en-US" sz="900" b="1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320kg</a:t>
                      </a:r>
                      <a:endParaRPr lang="ko-KR" sz="1000" b="1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ko-KR" sz="900" b="1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약</a:t>
                      </a:r>
                      <a:r>
                        <a:rPr lang="en-US" sz="900" b="1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2kW</a:t>
                      </a:r>
                      <a:endParaRPr lang="ko-KR" sz="1000" b="1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ko-KR" sz="1000" b="1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900" b="1" kern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QZSS</a:t>
                      </a:r>
                      <a:r>
                        <a:rPr lang="ko-KR" sz="900" b="1" kern="0" dirty="0">
                          <a:solidFill>
                            <a:schemeClr val="bg1"/>
                          </a:solidFill>
                          <a:effectLst/>
                          <a:latin typeface="굴림" panose="020B0600000101010101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참고</a:t>
                      </a:r>
                      <a:endParaRPr lang="ko-KR" sz="1000" b="1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924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261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5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7969756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900" dirty="0"/>
              <a:t>2. Payload Subsystem</a:t>
            </a:r>
            <a:endParaRPr lang="en-US" sz="1900" dirty="0"/>
          </a:p>
        </p:txBody>
      </p:sp>
      <p:cxnSp>
        <p:nvCxnSpPr>
          <p:cNvPr id="1981" name="Google Shape;1981;p5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3B00BF6-3F53-4CB3-A3A1-32C4188C1031}"/>
              </a:ext>
            </a:extLst>
          </p:cNvPr>
          <p:cNvSpPr txBox="1"/>
          <p:nvPr/>
        </p:nvSpPr>
        <p:spPr>
          <a:xfrm>
            <a:off x="828106" y="962317"/>
            <a:ext cx="77780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indent="0">
              <a:spcBef>
                <a:spcPts val="1600"/>
              </a:spcBef>
              <a:buNone/>
            </a:pPr>
            <a:r>
              <a:rPr lang="en-US" altLang="ko-KR" dirty="0">
                <a:solidFill>
                  <a:srgbClr val="FFAB40"/>
                </a:solidFill>
                <a:latin typeface="Montserrat ExtraBold" panose="00000900000000000000" pitchFamily="2" charset="0"/>
              </a:rPr>
              <a:t>Payload Hardware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3D0CE4F-79DF-42EA-B468-8EC640E4F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609725"/>
            <a:ext cx="3581400" cy="26860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6FA3169-6CCF-469C-AC25-C347FDB4FB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2712" y="1609725"/>
            <a:ext cx="3052820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9902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5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7969756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900" dirty="0"/>
              <a:t>3. Propulsion Subsystem</a:t>
            </a:r>
            <a:endParaRPr lang="en-US" sz="1900" dirty="0"/>
          </a:p>
        </p:txBody>
      </p:sp>
      <p:cxnSp>
        <p:nvCxnSpPr>
          <p:cNvPr id="1981" name="Google Shape;1981;p5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3B00BF6-3F53-4CB3-A3A1-32C4188C1031}"/>
              </a:ext>
            </a:extLst>
          </p:cNvPr>
          <p:cNvSpPr txBox="1"/>
          <p:nvPr/>
        </p:nvSpPr>
        <p:spPr>
          <a:xfrm>
            <a:off x="828106" y="962317"/>
            <a:ext cx="77780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indent="0">
              <a:spcBef>
                <a:spcPts val="1600"/>
              </a:spcBef>
              <a:buNone/>
            </a:pPr>
            <a:r>
              <a:rPr lang="en-US" altLang="ko-KR" dirty="0">
                <a:solidFill>
                  <a:srgbClr val="FFAB40"/>
                </a:solidFill>
                <a:latin typeface="Montserrat ExtraBold" panose="00000900000000000000" pitchFamily="2" charset="0"/>
              </a:rPr>
              <a:t>Propulsion</a:t>
            </a:r>
            <a:r>
              <a:rPr lang="ko-KR" altLang="en-US" dirty="0">
                <a:solidFill>
                  <a:srgbClr val="FFAB40"/>
                </a:solidFill>
                <a:latin typeface="Montserrat ExtraBold" panose="00000900000000000000" pitchFamily="2" charset="0"/>
              </a:rPr>
              <a:t> </a:t>
            </a:r>
            <a:r>
              <a:rPr lang="en-US" altLang="ko-KR" dirty="0">
                <a:solidFill>
                  <a:srgbClr val="FFAB40"/>
                </a:solidFill>
                <a:latin typeface="Montserrat ExtraBold" panose="00000900000000000000" pitchFamily="2" charset="0"/>
              </a:rPr>
              <a:t>subsystem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C2449A6-5401-43E0-B6C2-184DABD86C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007415"/>
              </p:ext>
            </p:extLst>
          </p:nvPr>
        </p:nvGraphicFramePr>
        <p:xfrm>
          <a:off x="1045433" y="1903717"/>
          <a:ext cx="7053134" cy="1378756"/>
        </p:xfrm>
        <a:graphic>
          <a:graphicData uri="http://schemas.openxmlformats.org/drawingml/2006/table">
            <a:tbl>
              <a:tblPr firstRow="1" firstCol="1" bandRow="1"/>
              <a:tblGrid>
                <a:gridCol w="1499652">
                  <a:extLst>
                    <a:ext uri="{9D8B030D-6E8A-4147-A177-3AD203B41FA5}">
                      <a16:colId xmlns:a16="http://schemas.microsoft.com/office/drawing/2014/main" val="3425724469"/>
                    </a:ext>
                  </a:extLst>
                </a:gridCol>
                <a:gridCol w="5553482">
                  <a:extLst>
                    <a:ext uri="{9D8B030D-6E8A-4147-A177-3AD203B41FA5}">
                      <a16:colId xmlns:a16="http://schemas.microsoft.com/office/drawing/2014/main" val="1443148215"/>
                    </a:ext>
                  </a:extLst>
                </a:gridCol>
              </a:tblGrid>
              <a:tr h="32008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ID</a:t>
                      </a: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86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Requirements</a:t>
                      </a: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굴림" panose="020B0600000101010101" pitchFamily="50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8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362049"/>
                  </a:ext>
                </a:extLst>
              </a:tr>
              <a:tr h="32008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PS-001</a:t>
                      </a:r>
                      <a:endParaRPr lang="ko-KR" sz="12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20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위성을 임무 궤도에 진입시킬 수 있을 정도의 추력을 제공하여야 한다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60259"/>
                  </a:ext>
                </a:extLst>
              </a:tr>
              <a:tr h="32008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PS-002</a:t>
                      </a:r>
                      <a:endParaRPr lang="ko-KR" sz="12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20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임무 기간 동안 궤도</a:t>
                      </a:r>
                      <a:r>
                        <a:rPr lang="en-US" sz="120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20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자세 보정을 할 수 있는 추력을 제공하여야 한다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7403023"/>
                  </a:ext>
                </a:extLst>
              </a:tr>
              <a:tr h="41848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PS-003</a:t>
                      </a:r>
                      <a:endParaRPr lang="ko-KR" sz="120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20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추진제는 분사 시 추진제 분산에 의한 오차를 보정할 수 있는 양을 포함하여야 한다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654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26698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55"/>
          <p:cNvSpPr txBox="1">
            <a:spLocks noGrp="1"/>
          </p:cNvSpPr>
          <p:nvPr>
            <p:ph type="title"/>
          </p:nvPr>
        </p:nvSpPr>
        <p:spPr>
          <a:xfrm>
            <a:off x="574696" y="510575"/>
            <a:ext cx="8258529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9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3.1 Budgets for propellant Subsystem</a:t>
            </a:r>
            <a:endParaRPr lang="ko-KR" altLang="ko-KR" sz="19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1981" name="Google Shape;1981;p5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B9FB585-F5CA-4ED1-8B6D-72CAD9231337}"/>
              </a:ext>
            </a:extLst>
          </p:cNvPr>
          <p:cNvSpPr txBox="1"/>
          <p:nvPr/>
        </p:nvSpPr>
        <p:spPr>
          <a:xfrm>
            <a:off x="7176053" y="3412102"/>
            <a:ext cx="89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471149-CDAF-4625-A0DA-97BEF26FC2D0}"/>
              </a:ext>
            </a:extLst>
          </p:cNvPr>
          <p:cNvSpPr txBox="1"/>
          <p:nvPr/>
        </p:nvSpPr>
        <p:spPr>
          <a:xfrm>
            <a:off x="574694" y="1041241"/>
            <a:ext cx="7563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1. </a:t>
            </a:r>
            <a:r>
              <a:rPr lang="ko-KR" altLang="en-US" sz="1800" dirty="0">
                <a:solidFill>
                  <a:schemeClr val="bg1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속도제어 </a:t>
            </a:r>
            <a:r>
              <a:rPr lang="en-US" altLang="ko-KR" sz="1800" dirty="0">
                <a:solidFill>
                  <a:schemeClr val="bg1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– </a:t>
            </a:r>
            <a:r>
              <a:rPr lang="ko-KR" altLang="en-US" sz="1800" dirty="0">
                <a:solidFill>
                  <a:schemeClr val="bg1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임무 궤도로의 천이</a:t>
            </a:r>
            <a:endParaRPr lang="ko-KR" altLang="en-US" sz="18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894863C-E531-4E90-A131-C17ABDCD89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717747"/>
              </p:ext>
            </p:extLst>
          </p:nvPr>
        </p:nvGraphicFramePr>
        <p:xfrm>
          <a:off x="829860" y="1754971"/>
          <a:ext cx="7053133" cy="2678638"/>
        </p:xfrm>
        <a:graphic>
          <a:graphicData uri="http://schemas.openxmlformats.org/drawingml/2006/table">
            <a:tbl>
              <a:tblPr firstRow="1" firstCol="1" bandRow="1"/>
              <a:tblGrid>
                <a:gridCol w="1752735">
                  <a:extLst>
                    <a:ext uri="{9D8B030D-6E8A-4147-A177-3AD203B41FA5}">
                      <a16:colId xmlns:a16="http://schemas.microsoft.com/office/drawing/2014/main" val="32340138"/>
                    </a:ext>
                  </a:extLst>
                </a:gridCol>
                <a:gridCol w="1689197">
                  <a:extLst>
                    <a:ext uri="{9D8B030D-6E8A-4147-A177-3AD203B41FA5}">
                      <a16:colId xmlns:a16="http://schemas.microsoft.com/office/drawing/2014/main" val="558501656"/>
                    </a:ext>
                  </a:extLst>
                </a:gridCol>
                <a:gridCol w="1975383">
                  <a:extLst>
                    <a:ext uri="{9D8B030D-6E8A-4147-A177-3AD203B41FA5}">
                      <a16:colId xmlns:a16="http://schemas.microsoft.com/office/drawing/2014/main" val="1634435428"/>
                    </a:ext>
                  </a:extLst>
                </a:gridCol>
                <a:gridCol w="1635818">
                  <a:extLst>
                    <a:ext uri="{9D8B030D-6E8A-4147-A177-3AD203B41FA5}">
                      <a16:colId xmlns:a16="http://schemas.microsoft.com/office/drawing/2014/main" val="2731256957"/>
                    </a:ext>
                  </a:extLst>
                </a:gridCol>
              </a:tblGrid>
              <a:tr h="381578"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altLang="ko-KR" sz="1200" b="1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Satellite</a:t>
                      </a:r>
                      <a:endParaRPr lang="ko-KR" altLang="ko-KR" sz="1200" b="1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860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GEO</a:t>
                      </a:r>
                      <a:endParaRPr lang="ko-KR" sz="1200" b="1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860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EIGSO</a:t>
                      </a:r>
                      <a:endParaRPr lang="ko-KR" sz="1200" b="1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860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HEO</a:t>
                      </a:r>
                      <a:endParaRPr lang="ko-KR" sz="1200" b="1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8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390940"/>
                  </a:ext>
                </a:extLst>
              </a:tr>
              <a:tr h="533618">
                <a:tc>
                  <a:txBody>
                    <a:bodyPr/>
                    <a:lstStyle/>
                    <a:p>
                      <a:pPr lvl="1"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Initial orbit SMA (km)</a:t>
                      </a:r>
                      <a:endParaRPr lang="ko-KR" sz="1200" b="1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6569</a:t>
                      </a:r>
                      <a:endParaRPr lang="ko-KR" sz="1200" b="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1"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kern="10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6569</a:t>
                      </a:r>
                      <a:endParaRPr lang="ko-KR" sz="1200" b="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1"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kern="10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6569</a:t>
                      </a:r>
                      <a:endParaRPr lang="ko-KR" sz="1200" b="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213960"/>
                  </a:ext>
                </a:extLst>
              </a:tr>
              <a:tr h="617413">
                <a:tc>
                  <a:txBody>
                    <a:bodyPr/>
                    <a:lstStyle/>
                    <a:p>
                      <a:pPr lvl="1"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Final orbit SMA (km)</a:t>
                      </a:r>
                      <a:endParaRPr lang="ko-KR" sz="1200" b="1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42159</a:t>
                      </a:r>
                      <a:endParaRPr lang="ko-KR" sz="1200" b="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1"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42159</a:t>
                      </a:r>
                      <a:endParaRPr lang="ko-KR" sz="1200" b="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1"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kern="10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42159</a:t>
                      </a:r>
                      <a:endParaRPr lang="ko-KR" sz="1200" b="0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332661"/>
                  </a:ext>
                </a:extLst>
              </a:tr>
              <a:tr h="617413">
                <a:tc>
                  <a:txBody>
                    <a:bodyPr/>
                    <a:lstStyle/>
                    <a:p>
                      <a:pPr lvl="1"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ECC (deg)</a:t>
                      </a:r>
                      <a:endParaRPr lang="ko-KR" sz="1200" b="1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0.001</a:t>
                      </a:r>
                      <a:endParaRPr lang="ko-KR" sz="1200" b="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1"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0.075</a:t>
                      </a:r>
                      <a:endParaRPr lang="ko-KR" sz="1200" b="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1"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0.25</a:t>
                      </a:r>
                      <a:endParaRPr lang="ko-KR" sz="1200" b="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3637523"/>
                  </a:ext>
                </a:extLst>
              </a:tr>
              <a:tr h="528616">
                <a:tc>
                  <a:txBody>
                    <a:bodyPr/>
                    <a:lstStyle/>
                    <a:p>
                      <a:pPr lvl="1"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kern="10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INC (deg)</a:t>
                      </a:r>
                      <a:endParaRPr lang="ko-KR" sz="1200" b="1" kern="10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0</a:t>
                      </a:r>
                      <a:endParaRPr lang="ko-KR" sz="1200" b="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1"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41</a:t>
                      </a:r>
                      <a:endParaRPr lang="ko-KR" sz="1200" b="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1"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kern="10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41</a:t>
                      </a:r>
                      <a:endParaRPr lang="ko-KR" sz="1200" b="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7430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08080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55"/>
          <p:cNvSpPr txBox="1">
            <a:spLocks noGrp="1"/>
          </p:cNvSpPr>
          <p:nvPr>
            <p:ph type="title"/>
          </p:nvPr>
        </p:nvSpPr>
        <p:spPr>
          <a:xfrm>
            <a:off x="574696" y="510575"/>
            <a:ext cx="8258529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9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3.1 Budgets for propellant Subsystem</a:t>
            </a:r>
            <a:endParaRPr lang="ko-KR" altLang="ko-KR" sz="19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1981" name="Google Shape;1981;p5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B9FB585-F5CA-4ED1-8B6D-72CAD9231337}"/>
              </a:ext>
            </a:extLst>
          </p:cNvPr>
          <p:cNvSpPr txBox="1"/>
          <p:nvPr/>
        </p:nvSpPr>
        <p:spPr>
          <a:xfrm>
            <a:off x="7176053" y="3412102"/>
            <a:ext cx="89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471149-CDAF-4625-A0DA-97BEF26FC2D0}"/>
              </a:ext>
            </a:extLst>
          </p:cNvPr>
          <p:cNvSpPr txBox="1"/>
          <p:nvPr/>
        </p:nvSpPr>
        <p:spPr>
          <a:xfrm>
            <a:off x="574694" y="1041241"/>
            <a:ext cx="7563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1. </a:t>
            </a:r>
            <a:r>
              <a:rPr lang="ko-KR" altLang="en-US" sz="1800" dirty="0">
                <a:solidFill>
                  <a:schemeClr val="bg1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속도제어 </a:t>
            </a:r>
            <a:r>
              <a:rPr lang="en-US" altLang="ko-KR" sz="1800" dirty="0">
                <a:solidFill>
                  <a:schemeClr val="bg1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– </a:t>
            </a:r>
            <a:r>
              <a:rPr lang="ko-KR" altLang="en-US" sz="1800" dirty="0">
                <a:solidFill>
                  <a:schemeClr val="bg1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임무 궤도로의 천이</a:t>
            </a:r>
            <a:endParaRPr lang="ko-KR" altLang="en-US" sz="18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D894863C-E531-4E90-A131-C17ABDCD89D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5680200"/>
                  </p:ext>
                </p:extLst>
              </p:nvPr>
            </p:nvGraphicFramePr>
            <p:xfrm>
              <a:off x="829858" y="1754041"/>
              <a:ext cx="7053133" cy="277049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752735">
                      <a:extLst>
                        <a:ext uri="{9D8B030D-6E8A-4147-A177-3AD203B41FA5}">
                          <a16:colId xmlns:a16="http://schemas.microsoft.com/office/drawing/2014/main" val="32340138"/>
                        </a:ext>
                      </a:extLst>
                    </a:gridCol>
                    <a:gridCol w="1689197">
                      <a:extLst>
                        <a:ext uri="{9D8B030D-6E8A-4147-A177-3AD203B41FA5}">
                          <a16:colId xmlns:a16="http://schemas.microsoft.com/office/drawing/2014/main" val="558501656"/>
                        </a:ext>
                      </a:extLst>
                    </a:gridCol>
                    <a:gridCol w="1975383">
                      <a:extLst>
                        <a:ext uri="{9D8B030D-6E8A-4147-A177-3AD203B41FA5}">
                          <a16:colId xmlns:a16="http://schemas.microsoft.com/office/drawing/2014/main" val="1634435428"/>
                        </a:ext>
                      </a:extLst>
                    </a:gridCol>
                    <a:gridCol w="1635818">
                      <a:extLst>
                        <a:ext uri="{9D8B030D-6E8A-4147-A177-3AD203B41FA5}">
                          <a16:colId xmlns:a16="http://schemas.microsoft.com/office/drawing/2014/main" val="2731256957"/>
                        </a:ext>
                      </a:extLst>
                    </a:gridCol>
                  </a:tblGrid>
                  <a:tr h="213921"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Satellite</a:t>
                          </a:r>
                          <a:endParaRPr lang="ko-KR" sz="1200" b="1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F86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Transfer</a:t>
                          </a:r>
                          <a:endParaRPr lang="ko-KR" sz="1200" b="1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F86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1" kern="100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∆</m:t>
                                </m:r>
                                <m:r>
                                  <a:rPr lang="en-US" sz="1200" b="1" i="1" kern="100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𝑽</m:t>
                                </m:r>
                              </m:oMath>
                            </m:oMathPara>
                          </a14:m>
                          <a:endParaRPr lang="ko-KR" sz="1200" b="1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F86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Total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1" i="1" kern="10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  <m:r>
                                <a:rPr lang="en-US" sz="1200" b="1" i="1" kern="10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𝑽</m:t>
                              </m:r>
                            </m:oMath>
                          </a14:m>
                          <a:endParaRPr lang="ko-KR" sz="1200" b="1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F86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3390940"/>
                      </a:ext>
                    </a:extLst>
                  </a:tr>
                  <a:tr h="299157">
                    <a:tc rowSpan="2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GEO</a:t>
                          </a:r>
                          <a:endParaRPr lang="ko-KR" sz="1200" b="1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0" kern="10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LEO -&gt; Elliptic</a:t>
                          </a:r>
                          <a:endParaRPr lang="ko-KR" sz="1200" b="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0" kern="10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2457.0 m/s</a:t>
                          </a:r>
                          <a:endParaRPr lang="ko-KR" sz="1200" b="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0" kern="10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3935.2 m/s</a:t>
                          </a:r>
                          <a:endParaRPr lang="ko-KR" sz="1200" b="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43213960"/>
                      </a:ext>
                    </a:extLst>
                  </a:tr>
                  <a:tr h="346135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0" kern="10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Elliptic -&gt; GEO</a:t>
                          </a:r>
                          <a:endParaRPr lang="ko-KR" sz="1200" b="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0" kern="10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1478.2 m/s</a:t>
                          </a:r>
                          <a:endParaRPr lang="ko-KR" sz="1200" b="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1332661"/>
                      </a:ext>
                    </a:extLst>
                  </a:tr>
                  <a:tr h="346135">
                    <a:tc rowSpan="3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EIGSO</a:t>
                          </a:r>
                          <a:endParaRPr lang="ko-KR" sz="1200" b="1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0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LEO -&gt; GEO</a:t>
                          </a:r>
                          <a:endParaRPr lang="ko-KR" sz="1200" b="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0" kern="10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3935.2 m/s</a:t>
                          </a:r>
                          <a:endParaRPr lang="ko-KR" sz="1200" b="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0" kern="10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6319.7 m/s</a:t>
                          </a:r>
                          <a:endParaRPr lang="ko-KR" sz="1200" b="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63637523"/>
                      </a:ext>
                    </a:extLst>
                  </a:tr>
                  <a:tr h="29635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200" b="0" i="1" kern="10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  <m:r>
                                <a:rPr lang="en-US" sz="1200" b="0" i="1" kern="10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oMath>
                          </a14:m>
                          <a:r>
                            <a:rPr lang="en-US" sz="1200" b="0" kern="100" baseline="-25000" dirty="0" err="1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lang="en-US" sz="1200" b="0" kern="100" baseline="-250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, only</a:t>
                          </a:r>
                          <a:endParaRPr lang="ko-KR" sz="1200" b="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0" kern="10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2153.7 m/s</a:t>
                          </a:r>
                          <a:endParaRPr lang="ko-KR" sz="1200" b="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97430816"/>
                      </a:ext>
                    </a:extLst>
                  </a:tr>
                  <a:tr h="29635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200" b="0" i="1" kern="10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  <m:r>
                                <a:rPr lang="en-US" sz="1200" b="0" i="1" kern="10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oMath>
                          </a14:m>
                          <a:r>
                            <a:rPr lang="en-US" sz="1200" b="0" kern="100" baseline="-25000" dirty="0" err="1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ecc</a:t>
                          </a:r>
                          <a:endParaRPr lang="ko-KR" sz="1200" b="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0" kern="10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230.8 m/s</a:t>
                          </a:r>
                          <a:endParaRPr lang="ko-KR" sz="1200" b="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84338041"/>
                      </a:ext>
                    </a:extLst>
                  </a:tr>
                  <a:tr h="296353">
                    <a:tc rowSpan="3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HEO</a:t>
                          </a:r>
                          <a:endParaRPr lang="ko-KR" sz="1200" b="1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0" kern="10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LEO -&gt; GEO</a:t>
                          </a:r>
                          <a:endParaRPr lang="ko-KR" sz="1200" b="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0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3935.2 m/s</a:t>
                          </a:r>
                          <a:endParaRPr lang="ko-KR" sz="1200" b="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0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6863.8 m/s</a:t>
                          </a:r>
                          <a:endParaRPr lang="ko-KR" sz="1200" b="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4003047"/>
                      </a:ext>
                    </a:extLst>
                  </a:tr>
                  <a:tr h="296353">
                    <a:tc vMerge="1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ko-KR" sz="1200" b="1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200" b="1" i="1" kern="10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  <m:r>
                                <a:rPr lang="en-US" sz="1200" b="1" i="1" kern="10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𝑽</m:t>
                              </m:r>
                            </m:oMath>
                          </a14:m>
                          <a:r>
                            <a:rPr lang="en-US" sz="1200" b="1" kern="100" baseline="-2500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i, only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2153.7 m/s</a:t>
                          </a:r>
                          <a:endParaRPr lang="ko-KR" sz="120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ko-KR" sz="1200" b="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5405508"/>
                      </a:ext>
                    </a:extLst>
                  </a:tr>
                  <a:tr h="296353">
                    <a:tc vMerge="1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ko-KR" sz="1200" b="1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200" b="1" i="1" kern="10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  <m:r>
                                <a:rPr lang="en-US" sz="1200" b="1" i="1" kern="10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𝑽</m:t>
                              </m:r>
                            </m:oMath>
                          </a14:m>
                          <a:r>
                            <a:rPr lang="en-US" sz="1200" b="1" kern="100" baseline="-2500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ecc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774.9 m/s</a:t>
                          </a:r>
                          <a:endParaRPr lang="ko-KR" sz="120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ko-KR" sz="1200" b="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608549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D894863C-E531-4E90-A131-C17ABDCD89D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5680200"/>
                  </p:ext>
                </p:extLst>
              </p:nvPr>
            </p:nvGraphicFramePr>
            <p:xfrm>
              <a:off x="829858" y="1754041"/>
              <a:ext cx="7053133" cy="277049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752735">
                      <a:extLst>
                        <a:ext uri="{9D8B030D-6E8A-4147-A177-3AD203B41FA5}">
                          <a16:colId xmlns:a16="http://schemas.microsoft.com/office/drawing/2014/main" val="32340138"/>
                        </a:ext>
                      </a:extLst>
                    </a:gridCol>
                    <a:gridCol w="1689197">
                      <a:extLst>
                        <a:ext uri="{9D8B030D-6E8A-4147-A177-3AD203B41FA5}">
                          <a16:colId xmlns:a16="http://schemas.microsoft.com/office/drawing/2014/main" val="558501656"/>
                        </a:ext>
                      </a:extLst>
                    </a:gridCol>
                    <a:gridCol w="1975383">
                      <a:extLst>
                        <a:ext uri="{9D8B030D-6E8A-4147-A177-3AD203B41FA5}">
                          <a16:colId xmlns:a16="http://schemas.microsoft.com/office/drawing/2014/main" val="1634435428"/>
                        </a:ext>
                      </a:extLst>
                    </a:gridCol>
                    <a:gridCol w="1635818">
                      <a:extLst>
                        <a:ext uri="{9D8B030D-6E8A-4147-A177-3AD203B41FA5}">
                          <a16:colId xmlns:a16="http://schemas.microsoft.com/office/drawing/2014/main" val="2731256957"/>
                        </a:ext>
                      </a:extLst>
                    </a:gridCol>
                  </a:tblGrid>
                  <a:tr h="297307"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Satellite</a:t>
                          </a:r>
                          <a:endParaRPr lang="ko-KR" sz="1200" b="1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F86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Transfer</a:t>
                          </a:r>
                          <a:endParaRPr lang="ko-KR" sz="1200" b="1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F86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74691" t="-2041" r="-83642" b="-8408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30855" t="-2041" r="-743" b="-8408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3390940"/>
                      </a:ext>
                    </a:extLst>
                  </a:tr>
                  <a:tr h="299157">
                    <a:tc rowSpan="2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GEO</a:t>
                          </a:r>
                          <a:endParaRPr lang="ko-KR" sz="1200" b="1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0" kern="10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LEO -&gt; Elliptic</a:t>
                          </a:r>
                          <a:endParaRPr lang="ko-KR" sz="1200" b="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0" kern="10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2457.0 m/s</a:t>
                          </a:r>
                          <a:endParaRPr lang="ko-KR" sz="1200" b="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0" kern="10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3935.2 m/s</a:t>
                          </a:r>
                          <a:endParaRPr lang="ko-KR" sz="1200" b="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43213960"/>
                      </a:ext>
                    </a:extLst>
                  </a:tr>
                  <a:tr h="346135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0" kern="10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Elliptic -&gt; GEO</a:t>
                          </a:r>
                          <a:endParaRPr lang="ko-KR" sz="1200" b="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0" kern="10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1478.2 m/s</a:t>
                          </a:r>
                          <a:endParaRPr lang="ko-KR" sz="1200" b="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1332661"/>
                      </a:ext>
                    </a:extLst>
                  </a:tr>
                  <a:tr h="346135">
                    <a:tc rowSpan="3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EIGSO</a:t>
                          </a:r>
                          <a:endParaRPr lang="ko-KR" sz="1200" b="1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0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LEO -&gt; GEO</a:t>
                          </a:r>
                          <a:endParaRPr lang="ko-KR" sz="1200" b="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0" kern="10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3935.2 m/s</a:t>
                          </a:r>
                          <a:endParaRPr lang="ko-KR" sz="1200" b="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0" kern="10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6319.7 m/s</a:t>
                          </a:r>
                          <a:endParaRPr lang="ko-KR" sz="1200" b="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63637523"/>
                      </a:ext>
                    </a:extLst>
                  </a:tr>
                  <a:tr h="29635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4332" t="-434694" r="-214801" b="-408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0" kern="10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2153.7 m/s</a:t>
                          </a:r>
                          <a:endParaRPr lang="ko-KR" sz="1200" b="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97430816"/>
                      </a:ext>
                    </a:extLst>
                  </a:tr>
                  <a:tr h="296353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4332" t="-534694" r="-214801" b="-308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0" kern="10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230.8 m/s</a:t>
                          </a:r>
                          <a:endParaRPr lang="ko-KR" sz="1200" b="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84338041"/>
                      </a:ext>
                    </a:extLst>
                  </a:tr>
                  <a:tr h="296353">
                    <a:tc rowSpan="3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HEO</a:t>
                          </a:r>
                          <a:endParaRPr lang="ko-KR" sz="1200" b="1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0" kern="10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LEO -&gt; GEO</a:t>
                          </a:r>
                          <a:endParaRPr lang="ko-KR" sz="1200" b="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0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3935.2 m/s</a:t>
                          </a:r>
                          <a:endParaRPr lang="ko-KR" sz="1200" b="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0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6863.8 m/s</a:t>
                          </a:r>
                          <a:endParaRPr lang="ko-KR" sz="1200" b="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4003047"/>
                      </a:ext>
                    </a:extLst>
                  </a:tr>
                  <a:tr h="296353">
                    <a:tc vMerge="1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ko-KR" sz="1200" b="1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4332" t="-732653" r="-214801" b="-1102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2153.7 m/s</a:t>
                          </a:r>
                          <a:endParaRPr lang="ko-KR" sz="120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ko-KR" sz="1200" b="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5405508"/>
                      </a:ext>
                    </a:extLst>
                  </a:tr>
                  <a:tr h="296353">
                    <a:tc vMerge="1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ko-KR" sz="1200" b="1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4332" t="-832653" r="-214801" b="-102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774.9 m/s</a:t>
                          </a:r>
                          <a:endParaRPr lang="ko-KR" sz="120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ko-KR" sz="1200" b="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6085496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84836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55"/>
          <p:cNvSpPr txBox="1">
            <a:spLocks noGrp="1"/>
          </p:cNvSpPr>
          <p:nvPr>
            <p:ph type="title"/>
          </p:nvPr>
        </p:nvSpPr>
        <p:spPr>
          <a:xfrm>
            <a:off x="574696" y="510575"/>
            <a:ext cx="8258529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9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3.1 Budgets for propellant Subsystem</a:t>
            </a:r>
            <a:endParaRPr lang="ko-KR" altLang="ko-KR" sz="19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1981" name="Google Shape;1981;p5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B9FB585-F5CA-4ED1-8B6D-72CAD9231337}"/>
              </a:ext>
            </a:extLst>
          </p:cNvPr>
          <p:cNvSpPr txBox="1"/>
          <p:nvPr/>
        </p:nvSpPr>
        <p:spPr>
          <a:xfrm>
            <a:off x="7176053" y="3412102"/>
            <a:ext cx="89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471149-CDAF-4625-A0DA-97BEF26FC2D0}"/>
              </a:ext>
            </a:extLst>
          </p:cNvPr>
          <p:cNvSpPr txBox="1"/>
          <p:nvPr/>
        </p:nvSpPr>
        <p:spPr>
          <a:xfrm>
            <a:off x="574694" y="1041241"/>
            <a:ext cx="7563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1. </a:t>
            </a:r>
            <a:r>
              <a:rPr lang="ko-KR" altLang="en-US" sz="1800" dirty="0">
                <a:solidFill>
                  <a:schemeClr val="bg1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속도제어 </a:t>
            </a:r>
            <a:r>
              <a:rPr lang="en-US" altLang="ko-KR" sz="1800" dirty="0">
                <a:solidFill>
                  <a:schemeClr val="bg1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– Station keeping</a:t>
            </a:r>
            <a:endParaRPr lang="ko-KR" altLang="en-US" sz="18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C15FFFAB-E515-4869-9EC2-4F316A93C7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8213642"/>
                  </p:ext>
                </p:extLst>
              </p:nvPr>
            </p:nvGraphicFramePr>
            <p:xfrm>
              <a:off x="829860" y="1818471"/>
              <a:ext cx="5417315" cy="215002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752735">
                      <a:extLst>
                        <a:ext uri="{9D8B030D-6E8A-4147-A177-3AD203B41FA5}">
                          <a16:colId xmlns:a16="http://schemas.microsoft.com/office/drawing/2014/main" val="32340138"/>
                        </a:ext>
                      </a:extLst>
                    </a:gridCol>
                    <a:gridCol w="1689197">
                      <a:extLst>
                        <a:ext uri="{9D8B030D-6E8A-4147-A177-3AD203B41FA5}">
                          <a16:colId xmlns:a16="http://schemas.microsoft.com/office/drawing/2014/main" val="558501656"/>
                        </a:ext>
                      </a:extLst>
                    </a:gridCol>
                    <a:gridCol w="1975383">
                      <a:extLst>
                        <a:ext uri="{9D8B030D-6E8A-4147-A177-3AD203B41FA5}">
                          <a16:colId xmlns:a16="http://schemas.microsoft.com/office/drawing/2014/main" val="1634435428"/>
                        </a:ext>
                      </a:extLst>
                    </a:gridCol>
                  </a:tblGrid>
                  <a:tr h="381578"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Factor</a:t>
                          </a:r>
                          <a:endParaRPr lang="ko-KR" sz="1200" b="1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F86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200" b="1" i="1" kern="10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  <m:r>
                                <a:rPr lang="en-US" sz="1200" b="1" i="1" kern="10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𝑽</m:t>
                              </m:r>
                            </m:oMath>
                          </a14:m>
                          <a:r>
                            <a:rPr lang="en-US" sz="1200" b="1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 (per </a:t>
                          </a:r>
                          <a:r>
                            <a:rPr lang="en-US" sz="1200" b="1" kern="100" dirty="0" err="1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yr</a:t>
                          </a:r>
                          <a:r>
                            <a:rPr lang="en-US" sz="1200" b="1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ko-KR" sz="1200" b="1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F86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1" kern="100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∆</m:t>
                                </m:r>
                                <m:r>
                                  <a:rPr lang="en-US" sz="1200" b="1" i="1" kern="100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𝑽</m:t>
                                </m:r>
                              </m:oMath>
                            </m:oMathPara>
                          </a14:m>
                          <a:endParaRPr lang="ko-KR" sz="1200" b="1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F86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3390940"/>
                      </a:ext>
                    </a:extLst>
                  </a:tr>
                  <a:tr h="533618">
                    <a:tc>
                      <a:txBody>
                        <a:bodyPr/>
                        <a:lstStyle/>
                        <a:p>
                          <a:pPr algn="just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1" kern="100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∆</m:t>
                                </m:r>
                                <m:sSub>
                                  <m:sSubPr>
                                    <m:ctrlPr>
                                      <a:rPr lang="ko-KR" sz="1200" b="1" i="1" kern="1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kern="1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200" b="1" i="1" kern="1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𝑴𝑶𝑶𝑵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sz="1200" b="1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B40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51.1 m/s/yr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408.8 m/s</a:t>
                          </a:r>
                          <a:endParaRPr lang="ko-KR" sz="120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43213960"/>
                      </a:ext>
                    </a:extLst>
                  </a:tr>
                  <a:tr h="617413">
                    <a:tc>
                      <a:txBody>
                        <a:bodyPr/>
                        <a:lstStyle/>
                        <a:p>
                          <a:pPr algn="just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1" kern="100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∆</m:t>
                                </m:r>
                                <m:sSub>
                                  <m:sSubPr>
                                    <m:ctrlPr>
                                      <a:rPr lang="ko-KR" sz="1200" b="1" i="1" kern="1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kern="1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200" b="1" i="1" kern="1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𝑺𝑼𝑵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sz="1200" b="1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B40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1332661"/>
                      </a:ext>
                    </a:extLst>
                  </a:tr>
                  <a:tr h="617413">
                    <a:tc>
                      <a:txBody>
                        <a:bodyPr/>
                        <a:lstStyle/>
                        <a:p>
                          <a:pPr algn="just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1" kern="100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∆</m:t>
                                </m:r>
                                <m:sSub>
                                  <m:sSubPr>
                                    <m:ctrlPr>
                                      <a:rPr lang="ko-KR" sz="1200" b="1" i="1" kern="1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kern="1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200" b="1" i="1" kern="1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𝑬𝑾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sz="1200" b="1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B40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636375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C15FFFAB-E515-4869-9EC2-4F316A93C7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8213642"/>
                  </p:ext>
                </p:extLst>
              </p:nvPr>
            </p:nvGraphicFramePr>
            <p:xfrm>
              <a:off x="829860" y="1818471"/>
              <a:ext cx="5417315" cy="215002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752735">
                      <a:extLst>
                        <a:ext uri="{9D8B030D-6E8A-4147-A177-3AD203B41FA5}">
                          <a16:colId xmlns:a16="http://schemas.microsoft.com/office/drawing/2014/main" val="32340138"/>
                        </a:ext>
                      </a:extLst>
                    </a:gridCol>
                    <a:gridCol w="1689197">
                      <a:extLst>
                        <a:ext uri="{9D8B030D-6E8A-4147-A177-3AD203B41FA5}">
                          <a16:colId xmlns:a16="http://schemas.microsoft.com/office/drawing/2014/main" val="558501656"/>
                        </a:ext>
                      </a:extLst>
                    </a:gridCol>
                    <a:gridCol w="1975383">
                      <a:extLst>
                        <a:ext uri="{9D8B030D-6E8A-4147-A177-3AD203B41FA5}">
                          <a16:colId xmlns:a16="http://schemas.microsoft.com/office/drawing/2014/main" val="1634435428"/>
                        </a:ext>
                      </a:extLst>
                    </a:gridCol>
                  </a:tblGrid>
                  <a:tr h="381578"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Factor</a:t>
                          </a:r>
                          <a:endParaRPr lang="ko-KR" sz="1200" b="1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F86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4332" t="-1587" r="-117690" b="-4650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74691" t="-1587" r="-617" b="-4650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3390940"/>
                      </a:ext>
                    </a:extLst>
                  </a:tr>
                  <a:tr h="53361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47" t="-73563" r="-209375" b="-236782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51.1 m/s/yr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408.8 m/s</a:t>
                          </a:r>
                          <a:endParaRPr lang="ko-KR" sz="120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43213960"/>
                      </a:ext>
                    </a:extLst>
                  </a:tr>
                  <a:tr h="617413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47" t="-148039" r="-209375" b="-101961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1332661"/>
                      </a:ext>
                    </a:extLst>
                  </a:tr>
                  <a:tr h="617413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47" t="-250495" r="-209375" b="-2970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636375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366376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55"/>
          <p:cNvSpPr txBox="1">
            <a:spLocks noGrp="1"/>
          </p:cNvSpPr>
          <p:nvPr>
            <p:ph type="title"/>
          </p:nvPr>
        </p:nvSpPr>
        <p:spPr>
          <a:xfrm>
            <a:off x="574696" y="510575"/>
            <a:ext cx="8258529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9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3.1 Budgets for propellant Subsystem</a:t>
            </a:r>
            <a:endParaRPr lang="ko-KR" altLang="ko-KR" sz="19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1981" name="Google Shape;1981;p5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B9FB585-F5CA-4ED1-8B6D-72CAD9231337}"/>
              </a:ext>
            </a:extLst>
          </p:cNvPr>
          <p:cNvSpPr txBox="1"/>
          <p:nvPr/>
        </p:nvSpPr>
        <p:spPr>
          <a:xfrm>
            <a:off x="7176053" y="3412102"/>
            <a:ext cx="89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471149-CDAF-4625-A0DA-97BEF26FC2D0}"/>
              </a:ext>
            </a:extLst>
          </p:cNvPr>
          <p:cNvSpPr txBox="1"/>
          <p:nvPr/>
        </p:nvSpPr>
        <p:spPr>
          <a:xfrm>
            <a:off x="574694" y="1041241"/>
            <a:ext cx="7563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2. </a:t>
            </a:r>
            <a:r>
              <a:rPr lang="ko-KR" altLang="en-US" sz="1800" dirty="0">
                <a:solidFill>
                  <a:schemeClr val="bg1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자세제어</a:t>
            </a:r>
            <a:endParaRPr lang="ko-KR" altLang="en-US" sz="18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C15FFFAB-E515-4869-9EC2-4F316A93C7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2892126"/>
                  </p:ext>
                </p:extLst>
              </p:nvPr>
            </p:nvGraphicFramePr>
            <p:xfrm>
              <a:off x="829859" y="1831171"/>
              <a:ext cx="6994892" cy="153260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63149">
                      <a:extLst>
                        <a:ext uri="{9D8B030D-6E8A-4147-A177-3AD203B41FA5}">
                          <a16:colId xmlns:a16="http://schemas.microsoft.com/office/drawing/2014/main" val="32340138"/>
                        </a:ext>
                      </a:extLst>
                    </a:gridCol>
                    <a:gridCol w="2181108">
                      <a:extLst>
                        <a:ext uri="{9D8B030D-6E8A-4147-A177-3AD203B41FA5}">
                          <a16:colId xmlns:a16="http://schemas.microsoft.com/office/drawing/2014/main" val="558501656"/>
                        </a:ext>
                      </a:extLst>
                    </a:gridCol>
                    <a:gridCol w="2550635">
                      <a:extLst>
                        <a:ext uri="{9D8B030D-6E8A-4147-A177-3AD203B41FA5}">
                          <a16:colId xmlns:a16="http://schemas.microsoft.com/office/drawing/2014/main" val="1634435428"/>
                        </a:ext>
                      </a:extLst>
                    </a:gridCol>
                  </a:tblGrid>
                  <a:tr h="381578"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Factor</a:t>
                          </a:r>
                          <a:endParaRPr lang="ko-KR" sz="1200" b="1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F86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200" b="1" i="1" kern="10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  <m:r>
                                <a:rPr lang="en-US" sz="1200" b="1" i="1" kern="10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𝑽</m:t>
                              </m:r>
                            </m:oMath>
                          </a14:m>
                          <a:r>
                            <a:rPr lang="en-US" sz="1200" b="1" kern="10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 (per yr)</a:t>
                          </a:r>
                          <a:endParaRPr lang="ko-KR" sz="1200" b="1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F86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1" kern="100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∆</m:t>
                                </m:r>
                                <m:r>
                                  <a:rPr lang="en-US" sz="1200" b="1" i="1" kern="100" smtClean="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𝑽</m:t>
                                </m:r>
                              </m:oMath>
                            </m:oMathPara>
                          </a14:m>
                          <a:endParaRPr lang="ko-KR" sz="1200" b="1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F86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3390940"/>
                      </a:ext>
                    </a:extLst>
                  </a:tr>
                  <a:tr h="533618"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10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3-axis attitude control</a:t>
                          </a:r>
                          <a:endParaRPr lang="ko-KR" sz="1200" b="1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0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 m/s/</a:t>
                          </a:r>
                          <a:r>
                            <a:rPr lang="en-US" sz="1200" b="0" kern="100" dirty="0" err="1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yr</a:t>
                          </a:r>
                          <a:endParaRPr lang="ko-KR" sz="1200" b="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0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 m/s</a:t>
                          </a:r>
                          <a:endParaRPr lang="ko-KR" sz="1200" b="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43213960"/>
                      </a:ext>
                    </a:extLst>
                  </a:tr>
                  <a:tr h="617413"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10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Momentum wheel unloading</a:t>
                          </a:r>
                          <a:endParaRPr lang="ko-KR" sz="1200" b="1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0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 m/s/</a:t>
                          </a:r>
                          <a:r>
                            <a:rPr lang="en-US" sz="1200" b="0" kern="100" dirty="0" err="1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yr</a:t>
                          </a:r>
                          <a:endParaRPr lang="ko-KR" sz="1200" b="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0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 m/s</a:t>
                          </a:r>
                          <a:endParaRPr lang="ko-KR" sz="1200" b="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13326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C15FFFAB-E515-4869-9EC2-4F316A93C7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2892126"/>
                  </p:ext>
                </p:extLst>
              </p:nvPr>
            </p:nvGraphicFramePr>
            <p:xfrm>
              <a:off x="829859" y="1831171"/>
              <a:ext cx="6994892" cy="153260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63149">
                      <a:extLst>
                        <a:ext uri="{9D8B030D-6E8A-4147-A177-3AD203B41FA5}">
                          <a16:colId xmlns:a16="http://schemas.microsoft.com/office/drawing/2014/main" val="32340138"/>
                        </a:ext>
                      </a:extLst>
                    </a:gridCol>
                    <a:gridCol w="2181108">
                      <a:extLst>
                        <a:ext uri="{9D8B030D-6E8A-4147-A177-3AD203B41FA5}">
                          <a16:colId xmlns:a16="http://schemas.microsoft.com/office/drawing/2014/main" val="558501656"/>
                        </a:ext>
                      </a:extLst>
                    </a:gridCol>
                    <a:gridCol w="2550635">
                      <a:extLst>
                        <a:ext uri="{9D8B030D-6E8A-4147-A177-3AD203B41FA5}">
                          <a16:colId xmlns:a16="http://schemas.microsoft.com/office/drawing/2014/main" val="1634435428"/>
                        </a:ext>
                      </a:extLst>
                    </a:gridCol>
                  </a:tblGrid>
                  <a:tr h="381578"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Factor</a:t>
                          </a:r>
                          <a:endParaRPr lang="ko-KR" sz="1200" b="1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F86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3911" t="-1587" r="-117598" b="-30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74224" t="-1587" r="-477" b="-3031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3390940"/>
                      </a:ext>
                    </a:extLst>
                  </a:tr>
                  <a:tr h="533618"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10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3-axis attitude control</a:t>
                          </a:r>
                          <a:endParaRPr lang="ko-KR" sz="1200" b="1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0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 m/s/</a:t>
                          </a:r>
                          <a:r>
                            <a:rPr lang="en-US" sz="1200" b="0" kern="100" dirty="0" err="1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yr</a:t>
                          </a:r>
                          <a:endParaRPr lang="ko-KR" sz="1200" b="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0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 m/s</a:t>
                          </a:r>
                          <a:endParaRPr lang="ko-KR" sz="1200" b="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43213960"/>
                      </a:ext>
                    </a:extLst>
                  </a:tr>
                  <a:tr h="617413"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10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Momentum wheel unloading</a:t>
                          </a:r>
                          <a:endParaRPr lang="ko-KR" sz="1200" b="1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0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5 m/s/</a:t>
                          </a:r>
                          <a:r>
                            <a:rPr lang="en-US" sz="1200" b="0" kern="100" dirty="0" err="1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yr</a:t>
                          </a:r>
                          <a:endParaRPr lang="ko-KR" sz="1200" b="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0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 m/s</a:t>
                          </a:r>
                          <a:endParaRPr lang="ko-KR" sz="1200" b="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133266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500878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AED06112-0423-4641-92EA-E09D539504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0948960"/>
                  </p:ext>
                </p:extLst>
              </p:nvPr>
            </p:nvGraphicFramePr>
            <p:xfrm>
              <a:off x="829859" y="1799159"/>
              <a:ext cx="7053133" cy="273320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752735">
                      <a:extLst>
                        <a:ext uri="{9D8B030D-6E8A-4147-A177-3AD203B41FA5}">
                          <a16:colId xmlns:a16="http://schemas.microsoft.com/office/drawing/2014/main" val="32340138"/>
                        </a:ext>
                      </a:extLst>
                    </a:gridCol>
                    <a:gridCol w="1689197">
                      <a:extLst>
                        <a:ext uri="{9D8B030D-6E8A-4147-A177-3AD203B41FA5}">
                          <a16:colId xmlns:a16="http://schemas.microsoft.com/office/drawing/2014/main" val="558501656"/>
                        </a:ext>
                      </a:extLst>
                    </a:gridCol>
                    <a:gridCol w="1975383">
                      <a:extLst>
                        <a:ext uri="{9D8B030D-6E8A-4147-A177-3AD203B41FA5}">
                          <a16:colId xmlns:a16="http://schemas.microsoft.com/office/drawing/2014/main" val="1634435428"/>
                        </a:ext>
                      </a:extLst>
                    </a:gridCol>
                    <a:gridCol w="1635818">
                      <a:extLst>
                        <a:ext uri="{9D8B030D-6E8A-4147-A177-3AD203B41FA5}">
                          <a16:colId xmlns:a16="http://schemas.microsoft.com/office/drawing/2014/main" val="2731256957"/>
                        </a:ext>
                      </a:extLst>
                    </a:gridCol>
                  </a:tblGrid>
                  <a:tr h="325179"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ko-KR" sz="1200" b="1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F86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GEO</a:t>
                          </a:r>
                          <a:endParaRPr lang="ko-KR" sz="1200" b="1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F86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EIGSO</a:t>
                          </a:r>
                          <a:endParaRPr lang="ko-KR" sz="1200" b="1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F86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10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HEO</a:t>
                          </a:r>
                          <a:endParaRPr lang="ko-KR" sz="1200" b="1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F86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3390940"/>
                      </a:ext>
                    </a:extLst>
                  </a:tr>
                  <a:tr h="454747"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10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Total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1" i="1" kern="10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  <m:r>
                                <a:rPr lang="en-US" sz="1200" b="1" i="1" kern="100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𝑽</m:t>
                              </m:r>
                            </m:oMath>
                          </a14:m>
                          <a:endParaRPr lang="ko-KR" sz="1200" b="1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4408 m/s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6792.5 m/s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7336.6 m/s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43213960"/>
                      </a:ext>
                    </a:extLst>
                  </a:tr>
                  <a:tr h="526156"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ko-KR" sz="1200" b="1" i="1" kern="100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 kern="100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맑은 고딕" panose="020B0503020000020004" pitchFamily="50" charset="-127"/>
                                      <a:cs typeface="Times New Roman" panose="02020603050405020304" pitchFamily="18" charset="0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en-US" sz="1200" b="1" i="1" kern="100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맑은 고딕" panose="020B0503020000020004" pitchFamily="50" charset="-127"/>
                                      <a:cs typeface="Times New Roman" panose="02020603050405020304" pitchFamily="18" charset="0"/>
                                    </a:rPr>
                                    <m:t>𝒇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1" kern="10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 (dry mass)</a:t>
                          </a:r>
                          <a:endParaRPr lang="ko-KR" sz="1200" b="1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B40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2347 kg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1332661"/>
                      </a:ext>
                    </a:extLst>
                  </a:tr>
                  <a:tr h="526156"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ko-KR" sz="1200" b="1" i="1" kern="100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 kern="100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맑은 고딕" panose="020B0503020000020004" pitchFamily="50" charset="-127"/>
                                      <a:cs typeface="Times New Roman" panose="020206030504050203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sz="1200" b="1" i="1" kern="100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맑은 고딕" panose="020B0503020000020004" pitchFamily="50" charset="-127"/>
                                      <a:cs typeface="Times New Roman" panose="020206030504050203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1" kern="10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 (velocity @ parking orbit)</a:t>
                          </a:r>
                          <a:endParaRPr lang="ko-KR" sz="1200" b="1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B40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7789.4 m/s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63637523"/>
                      </a:ext>
                    </a:extLst>
                  </a:tr>
                  <a:tr h="450484"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ko-KR" sz="1200" b="1" i="1" kern="100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 kern="100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맑은 고딕" panose="020B0503020000020004" pitchFamily="50" charset="-127"/>
                                      <a:cs typeface="Times New Roman" panose="02020603050405020304" pitchFamily="18" charset="0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en-US" sz="1200" b="1" i="1" kern="100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맑은 고딕" panose="020B0503020000020004" pitchFamily="50" charset="-127"/>
                                      <a:cs typeface="Times New Roman" panose="02020603050405020304" pitchFamily="18" charset="0"/>
                                    </a:rPr>
                                    <m:t>𝒑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1" kern="10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 (propellant mass)</a:t>
                          </a:r>
                          <a:endParaRPr lang="ko-KR" sz="1200" b="1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1421.0 kg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1935.5 kg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2005.0 kg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97430816"/>
                      </a:ext>
                    </a:extLst>
                  </a:tr>
                  <a:tr h="450484"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10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Propellant budget</a:t>
                          </a:r>
                          <a:endParaRPr lang="ko-KR" sz="1200" b="1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1804.7 kg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2458.1 kg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2546.3 kg</a:t>
                          </a:r>
                          <a:endParaRPr lang="ko-KR" sz="120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059026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AED06112-0423-4641-92EA-E09D539504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0948960"/>
                  </p:ext>
                </p:extLst>
              </p:nvPr>
            </p:nvGraphicFramePr>
            <p:xfrm>
              <a:off x="829859" y="1799159"/>
              <a:ext cx="7053133" cy="273320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752735">
                      <a:extLst>
                        <a:ext uri="{9D8B030D-6E8A-4147-A177-3AD203B41FA5}">
                          <a16:colId xmlns:a16="http://schemas.microsoft.com/office/drawing/2014/main" val="32340138"/>
                        </a:ext>
                      </a:extLst>
                    </a:gridCol>
                    <a:gridCol w="1689197">
                      <a:extLst>
                        <a:ext uri="{9D8B030D-6E8A-4147-A177-3AD203B41FA5}">
                          <a16:colId xmlns:a16="http://schemas.microsoft.com/office/drawing/2014/main" val="558501656"/>
                        </a:ext>
                      </a:extLst>
                    </a:gridCol>
                    <a:gridCol w="1975383">
                      <a:extLst>
                        <a:ext uri="{9D8B030D-6E8A-4147-A177-3AD203B41FA5}">
                          <a16:colId xmlns:a16="http://schemas.microsoft.com/office/drawing/2014/main" val="1634435428"/>
                        </a:ext>
                      </a:extLst>
                    </a:gridCol>
                    <a:gridCol w="1635818">
                      <a:extLst>
                        <a:ext uri="{9D8B030D-6E8A-4147-A177-3AD203B41FA5}">
                          <a16:colId xmlns:a16="http://schemas.microsoft.com/office/drawing/2014/main" val="2731256957"/>
                        </a:ext>
                      </a:extLst>
                    </a:gridCol>
                  </a:tblGrid>
                  <a:tr h="325179"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ko-KR" sz="1200" b="1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F86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GEO</a:t>
                          </a:r>
                          <a:endParaRPr lang="ko-KR" sz="1200" b="1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F86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EIGSO</a:t>
                          </a:r>
                          <a:endParaRPr lang="ko-KR" sz="1200" b="1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F86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10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HEO</a:t>
                          </a:r>
                          <a:endParaRPr lang="ko-KR" sz="1200" b="1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F86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3390940"/>
                      </a:ext>
                    </a:extLst>
                  </a:tr>
                  <a:tr h="45474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47" t="-72000" r="-302778" b="-4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4408 m/s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6792.5 m/s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7336.6 m/s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43213960"/>
                      </a:ext>
                    </a:extLst>
                  </a:tr>
                  <a:tr h="526156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47" t="-148276" r="-302778" b="-271264"/>
                          </a:stretch>
                        </a:blip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2347 kg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1332661"/>
                      </a:ext>
                    </a:extLst>
                  </a:tr>
                  <a:tr h="526156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47" t="-251163" r="-302778" b="-174419"/>
                          </a:stretch>
                        </a:blip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7789.4 m/s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63637523"/>
                      </a:ext>
                    </a:extLst>
                  </a:tr>
                  <a:tr h="450484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47" t="-408108" r="-302778" b="-10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1421.0 kg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1935.5 kg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2005.0 kg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97430816"/>
                      </a:ext>
                    </a:extLst>
                  </a:tr>
                  <a:tr h="450484">
                    <a:tc>
                      <a:txBody>
                        <a:bodyPr/>
                        <a:lstStyle/>
                        <a:p>
                          <a:pPr algn="ctr" latinLnBrk="1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10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Propellant budget</a:t>
                          </a:r>
                          <a:endParaRPr lang="ko-KR" sz="1200" b="1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1804.7 kg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2458.1 kg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2546.3 kg</a:t>
                          </a:r>
                          <a:endParaRPr lang="ko-KR" sz="120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059026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974" name="Google Shape;1974;p55"/>
          <p:cNvSpPr txBox="1">
            <a:spLocks noGrp="1"/>
          </p:cNvSpPr>
          <p:nvPr>
            <p:ph type="title"/>
          </p:nvPr>
        </p:nvSpPr>
        <p:spPr>
          <a:xfrm>
            <a:off x="574696" y="510575"/>
            <a:ext cx="8258529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9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3.1 Budgets for propellant Subsystem</a:t>
            </a:r>
            <a:endParaRPr lang="ko-KR" altLang="ko-KR" sz="19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1981" name="Google Shape;1981;p5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B9FB585-F5CA-4ED1-8B6D-72CAD9231337}"/>
              </a:ext>
            </a:extLst>
          </p:cNvPr>
          <p:cNvSpPr txBox="1"/>
          <p:nvPr/>
        </p:nvSpPr>
        <p:spPr>
          <a:xfrm>
            <a:off x="7176053" y="3412102"/>
            <a:ext cx="89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471149-CDAF-4625-A0DA-97BEF26FC2D0}"/>
              </a:ext>
            </a:extLst>
          </p:cNvPr>
          <p:cNvSpPr txBox="1"/>
          <p:nvPr/>
        </p:nvSpPr>
        <p:spPr>
          <a:xfrm>
            <a:off x="574694" y="1041241"/>
            <a:ext cx="7563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맑은 고딕" panose="020B0503020000020004" pitchFamily="50" charset="-127"/>
                <a:ea typeface="+mj-ea"/>
                <a:cs typeface="Times New Roman" panose="02020603050405020304" pitchFamily="18" charset="0"/>
              </a:rPr>
              <a:t>Total</a:t>
            </a:r>
            <a:r>
              <a:rPr lang="ko-KR" altLang="en-US" sz="1800" dirty="0">
                <a:solidFill>
                  <a:schemeClr val="bg1"/>
                </a:solidFill>
                <a:latin typeface="맑은 고딕" panose="020B0503020000020004" pitchFamily="50" charset="-127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ko-KR" sz="1800" dirty="0">
                <a:solidFill>
                  <a:schemeClr val="bg1"/>
                </a:solidFill>
                <a:latin typeface="맑은 고딕" panose="020B0503020000020004" pitchFamily="50" charset="-127"/>
                <a:ea typeface="+mj-ea"/>
                <a:cs typeface="Times New Roman" panose="02020603050405020304" pitchFamily="18" charset="0"/>
              </a:rPr>
              <a:t>budget</a:t>
            </a:r>
            <a:endParaRPr lang="ko-KR" altLang="en-US" sz="18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2030029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55"/>
          <p:cNvSpPr txBox="1">
            <a:spLocks noGrp="1"/>
          </p:cNvSpPr>
          <p:nvPr>
            <p:ph type="title"/>
          </p:nvPr>
        </p:nvSpPr>
        <p:spPr>
          <a:xfrm>
            <a:off x="574696" y="510575"/>
            <a:ext cx="8258529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9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3.2 Hardware for Propellant Subsystem</a:t>
            </a:r>
            <a:endParaRPr lang="ko-KR" altLang="ko-KR" sz="19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1981" name="Google Shape;1981;p5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B9FB585-F5CA-4ED1-8B6D-72CAD9231337}"/>
              </a:ext>
            </a:extLst>
          </p:cNvPr>
          <p:cNvSpPr txBox="1"/>
          <p:nvPr/>
        </p:nvSpPr>
        <p:spPr>
          <a:xfrm>
            <a:off x="7176053" y="3412102"/>
            <a:ext cx="89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96EA409-EEFA-46F7-9062-33DCCFCF3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00" y="1451975"/>
            <a:ext cx="6744663" cy="284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7988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55"/>
          <p:cNvSpPr txBox="1">
            <a:spLocks noGrp="1"/>
          </p:cNvSpPr>
          <p:nvPr>
            <p:ph type="title"/>
          </p:nvPr>
        </p:nvSpPr>
        <p:spPr>
          <a:xfrm>
            <a:off x="574696" y="510575"/>
            <a:ext cx="8258529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9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3.2 Hardware for Propellant Subsystem</a:t>
            </a:r>
            <a:endParaRPr lang="ko-KR" altLang="ko-KR" sz="19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1981" name="Google Shape;1981;p5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B9FB585-F5CA-4ED1-8B6D-72CAD9231337}"/>
              </a:ext>
            </a:extLst>
          </p:cNvPr>
          <p:cNvSpPr txBox="1"/>
          <p:nvPr/>
        </p:nvSpPr>
        <p:spPr>
          <a:xfrm>
            <a:off x="7176053" y="3412102"/>
            <a:ext cx="89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D51EC110-65C6-402E-A57C-14D7CEFADB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9696244"/>
                  </p:ext>
                </p:extLst>
              </p:nvPr>
            </p:nvGraphicFramePr>
            <p:xfrm>
              <a:off x="1438882" y="1087152"/>
              <a:ext cx="5989290" cy="387795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06164">
                      <a:extLst>
                        <a:ext uri="{9D8B030D-6E8A-4147-A177-3AD203B41FA5}">
                          <a16:colId xmlns:a16="http://schemas.microsoft.com/office/drawing/2014/main" val="2365731488"/>
                        </a:ext>
                      </a:extLst>
                    </a:gridCol>
                    <a:gridCol w="2449805">
                      <a:extLst>
                        <a:ext uri="{9D8B030D-6E8A-4147-A177-3AD203B41FA5}">
                          <a16:colId xmlns:a16="http://schemas.microsoft.com/office/drawing/2014/main" val="3708368964"/>
                        </a:ext>
                      </a:extLst>
                    </a:gridCol>
                    <a:gridCol w="2533321">
                      <a:extLst>
                        <a:ext uri="{9D8B030D-6E8A-4147-A177-3AD203B41FA5}">
                          <a16:colId xmlns:a16="http://schemas.microsoft.com/office/drawing/2014/main" val="3078291690"/>
                        </a:ext>
                      </a:extLst>
                    </a:gridCol>
                  </a:tblGrid>
                  <a:tr h="445372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07000"/>
                            </a:lnSpc>
                          </a:pPr>
                          <a:endParaRPr lang="ko-KR" sz="120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F86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R-4D engine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F86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5lbf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F86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5580238"/>
                      </a:ext>
                    </a:extLst>
                  </a:tr>
                  <a:tr h="1491286"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Thruster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br>
                            <a:rPr lang="ko-KR" sz="1200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</a:br>
                          <a:endParaRPr lang="ko-KR" sz="120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br>
                            <a:rPr lang="ko-KR" sz="1200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</a:br>
                          <a:endParaRPr lang="ko-KR" sz="120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42230897"/>
                      </a:ext>
                    </a:extLst>
                  </a:tr>
                  <a:tr h="509733"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Use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Apogee motor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Orbit/attitude correction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8758814"/>
                      </a:ext>
                    </a:extLst>
                  </a:tr>
                  <a:tr h="490916"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Propellant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MMH / MON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MMH / MON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88411181"/>
                      </a:ext>
                    </a:extLst>
                  </a:tr>
                  <a:tr h="479499"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Thrust</a:t>
                          </a:r>
                          <a:endParaRPr lang="ko-KR" sz="120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490 N</a:t>
                          </a:r>
                          <a:endParaRPr lang="ko-KR" sz="120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22 N</a:t>
                          </a:r>
                          <a:endParaRPr lang="ko-KR" sz="120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71167098"/>
                      </a:ext>
                    </a:extLst>
                  </a:tr>
                  <a:tr h="461148"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ko-KR" sz="1400" b="0" i="1" u="none" strike="noStrike" cap="none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u="none" strike="noStrike" cap="none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  <a:sym typeface="Arial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ko-KR" sz="1400" b="0" i="1" u="none" strike="noStrike" cap="none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  <a:sym typeface="Arial"/>
                                      </a:rPr>
                                      <m:t>𝑠𝑝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kern="0" dirty="0">
                            <a:solidFill>
                              <a:schemeClr val="bg1"/>
                            </a:solidFill>
                            <a:effectLst/>
                            <a:latin typeface="굴림" panose="020B0600000101010101" pitchFamily="50" charset="-127"/>
                            <a:ea typeface="맑은 고딕" panose="020B0503020000020004" pitchFamily="50" charset="-127"/>
                            <a:cs typeface="굴림" panose="020B0600000101010101" pitchFamily="50" charset="-127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312 s</a:t>
                          </a:r>
                          <a:endParaRPr lang="ko-KR" sz="120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288 s</a:t>
                          </a:r>
                          <a:endParaRPr lang="ko-KR" sz="120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740032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D51EC110-65C6-402E-A57C-14D7CEFADB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9696244"/>
                  </p:ext>
                </p:extLst>
              </p:nvPr>
            </p:nvGraphicFramePr>
            <p:xfrm>
              <a:off x="1438882" y="1087152"/>
              <a:ext cx="5989290" cy="387795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06164">
                      <a:extLst>
                        <a:ext uri="{9D8B030D-6E8A-4147-A177-3AD203B41FA5}">
                          <a16:colId xmlns:a16="http://schemas.microsoft.com/office/drawing/2014/main" val="2365731488"/>
                        </a:ext>
                      </a:extLst>
                    </a:gridCol>
                    <a:gridCol w="2449805">
                      <a:extLst>
                        <a:ext uri="{9D8B030D-6E8A-4147-A177-3AD203B41FA5}">
                          <a16:colId xmlns:a16="http://schemas.microsoft.com/office/drawing/2014/main" val="3708368964"/>
                        </a:ext>
                      </a:extLst>
                    </a:gridCol>
                    <a:gridCol w="2533321">
                      <a:extLst>
                        <a:ext uri="{9D8B030D-6E8A-4147-A177-3AD203B41FA5}">
                          <a16:colId xmlns:a16="http://schemas.microsoft.com/office/drawing/2014/main" val="3078291690"/>
                        </a:ext>
                      </a:extLst>
                    </a:gridCol>
                  </a:tblGrid>
                  <a:tr h="445372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07000"/>
                            </a:lnSpc>
                          </a:pPr>
                          <a:endParaRPr lang="ko-KR" sz="120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F86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R-4D engine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F86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5lbf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F86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5580238"/>
                      </a:ext>
                    </a:extLst>
                  </a:tr>
                  <a:tr h="1491286"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Thruster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br>
                            <a:rPr lang="ko-KR" sz="1200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</a:br>
                          <a:endParaRPr lang="ko-KR" sz="120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br>
                            <a:rPr lang="ko-KR" sz="1200" kern="10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</a:br>
                          <a:endParaRPr lang="ko-KR" sz="120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42230897"/>
                      </a:ext>
                    </a:extLst>
                  </a:tr>
                  <a:tr h="509733"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Use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Apogee motor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Orbit/attitude correction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8758814"/>
                      </a:ext>
                    </a:extLst>
                  </a:tr>
                  <a:tr h="490916"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Propellant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MMH / MON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MMH / MON</a:t>
                          </a:r>
                          <a:endParaRPr lang="ko-KR" sz="1200" kern="10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88411181"/>
                      </a:ext>
                    </a:extLst>
                  </a:tr>
                  <a:tr h="479499"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b="1" kern="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Thrust</a:t>
                          </a:r>
                          <a:endParaRPr lang="ko-KR" sz="120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AB4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490 N</a:t>
                          </a:r>
                          <a:endParaRPr lang="ko-KR" sz="120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22 N</a:t>
                          </a:r>
                          <a:endParaRPr lang="ko-KR" sz="120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71167098"/>
                      </a:ext>
                    </a:extLst>
                  </a:tr>
                  <a:tr h="46114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12" t="-739474" r="-49697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312 s</a:t>
                          </a:r>
                          <a:endParaRPr lang="ko-KR" sz="120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ase" latinLnBrk="1">
                            <a:lnSpc>
                              <a:spcPct val="106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200" kern="0" dirty="0">
                              <a:solidFill>
                                <a:schemeClr val="bg1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굴림" panose="020B0600000101010101" pitchFamily="50" charset="-127"/>
                            </a:rPr>
                            <a:t>288 s</a:t>
                          </a:r>
                          <a:endParaRPr lang="ko-KR" sz="1200" kern="100" dirty="0">
                            <a:solidFill>
                              <a:schemeClr val="bg1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7400320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1" name="그림 10" descr="프로젝터이(가) 표시된 사진&#10;&#10;자동 생성된 설명">
            <a:extLst>
              <a:ext uri="{FF2B5EF4-FFF2-40B4-BE49-F238E27FC236}">
                <a16:creationId xmlns:a16="http://schemas.microsoft.com/office/drawing/2014/main" id="{4984EFFD-F352-4901-B605-153F15B4BB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726" y="1532651"/>
            <a:ext cx="2434578" cy="1492560"/>
          </a:xfrm>
          <a:prstGeom prst="rect">
            <a:avLst/>
          </a:prstGeom>
          <a:noFill/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D5AD6CE-4621-46CA-B608-8B831FCCBF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0430" y="1526301"/>
            <a:ext cx="2537742" cy="149255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15046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55"/>
          <p:cNvSpPr txBox="1">
            <a:spLocks noGrp="1"/>
          </p:cNvSpPr>
          <p:nvPr>
            <p:ph type="title"/>
          </p:nvPr>
        </p:nvSpPr>
        <p:spPr>
          <a:xfrm>
            <a:off x="574696" y="510575"/>
            <a:ext cx="8258529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9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3.2 Hardware for Propellant Subsystem</a:t>
            </a:r>
            <a:endParaRPr lang="ko-KR" altLang="ko-KR" sz="19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1981" name="Google Shape;1981;p5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B9FB585-F5CA-4ED1-8B6D-72CAD9231337}"/>
              </a:ext>
            </a:extLst>
          </p:cNvPr>
          <p:cNvSpPr txBox="1"/>
          <p:nvPr/>
        </p:nvSpPr>
        <p:spPr>
          <a:xfrm>
            <a:off x="7176053" y="3412102"/>
            <a:ext cx="89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EBC4EBD-009D-497B-9CA0-749DA700C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321" y="1020931"/>
            <a:ext cx="5536823" cy="387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416332"/>
      </p:ext>
    </p:extLst>
  </p:cSld>
  <p:clrMapOvr>
    <a:masterClrMapping/>
  </p:clrMapOvr>
</p:sld>
</file>

<file path=ppt/theme/theme1.xml><?xml version="1.0" encoding="utf-8"?>
<a:theme xmlns:a="http://schemas.openxmlformats.org/drawingml/2006/main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1200" dirty="0">
            <a:solidFill>
              <a:schemeClr val="bg1"/>
            </a:solidFill>
            <a:effectLst/>
            <a:latin typeface="맑은 고딕" panose="020B0503020000020004" pitchFamily="50" charset="-127"/>
            <a:cs typeface="Times New Roman" panose="02020603050405020304" pitchFamily="18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3453</TotalTime>
  <Words>1454</Words>
  <Application>Microsoft Office PowerPoint</Application>
  <PresentationFormat>화면 슬라이드 쇼(16:9)</PresentationFormat>
  <Paragraphs>410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5" baseType="lpstr">
      <vt:lpstr>함초롬바탕</vt:lpstr>
      <vt:lpstr>Montserrat ExtraBold</vt:lpstr>
      <vt:lpstr>Cambria Math</vt:lpstr>
      <vt:lpstr>Montserrat</vt:lpstr>
      <vt:lpstr>Arial</vt:lpstr>
      <vt:lpstr>맑은 고딕</vt:lpstr>
      <vt:lpstr>굴림</vt:lpstr>
      <vt:lpstr>Futuristic Background by Slidesgo</vt:lpstr>
      <vt:lpstr>한국형 항법위성 구현</vt:lpstr>
      <vt:lpstr>1. Mission Statement</vt:lpstr>
      <vt:lpstr>1.1 Define broad objectives and constraints</vt:lpstr>
      <vt:lpstr>1.1 Define broad objectives and constraints</vt:lpstr>
      <vt:lpstr>1.2 Estimate quantitative mission needs and requirements</vt:lpstr>
      <vt:lpstr>1.3 Estimate quantitative constraints</vt:lpstr>
      <vt:lpstr>1.4 Budgets for spacecraft propellant, power, and weight</vt:lpstr>
      <vt:lpstr>1.4 Budgets for spacecraft propellant, power, and weight</vt:lpstr>
      <vt:lpstr>1.4 Budgets for spacecraft propellant, power, and weight</vt:lpstr>
      <vt:lpstr>1.5 Satellite System</vt:lpstr>
      <vt:lpstr>2. Payload Subsystem</vt:lpstr>
      <vt:lpstr>2. Payload Subsystem</vt:lpstr>
      <vt:lpstr>2. Payload Subsystem</vt:lpstr>
      <vt:lpstr>2. Payload Subsystem</vt:lpstr>
      <vt:lpstr>2. Payload Subsystem</vt:lpstr>
      <vt:lpstr>2. Payload Subsystem</vt:lpstr>
      <vt:lpstr>2. Payload Subsystem</vt:lpstr>
      <vt:lpstr>2. Payload Subsystem</vt:lpstr>
      <vt:lpstr>3. Propulsion Subsystem</vt:lpstr>
      <vt:lpstr>3.1 Budgets for propellant Subsystem</vt:lpstr>
      <vt:lpstr>3.1 Budgets for propellant Subsystem</vt:lpstr>
      <vt:lpstr>3.1 Budgets for propellant Subsystem</vt:lpstr>
      <vt:lpstr>3.1 Budgets for propellant Subsystem</vt:lpstr>
      <vt:lpstr>3.1 Budgets for propellant Subsystem</vt:lpstr>
      <vt:lpstr>3.2 Hardware for Propellant Subsystem</vt:lpstr>
      <vt:lpstr>3.2 Hardware for Propellant Subsystem</vt:lpstr>
      <vt:lpstr>3.2 Hardware for Propellant Subsystem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Safari</dc:title>
  <dc:creator>김규민</dc:creator>
  <cp:lastModifiedBy>이진진</cp:lastModifiedBy>
  <cp:revision>92</cp:revision>
  <dcterms:modified xsi:type="dcterms:W3CDTF">2021-12-10T12:32:48Z</dcterms:modified>
</cp:coreProperties>
</file>