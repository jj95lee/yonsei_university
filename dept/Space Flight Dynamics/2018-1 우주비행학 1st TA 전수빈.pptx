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27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77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6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5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631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21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09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6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829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53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47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9DBC3CDC-058F-4287-A2F9-374362C7D848}" type="datetimeFigureOut">
              <a:rPr lang="ko-KR" altLang="en-US" smtClean="0"/>
              <a:t>2018-04-03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77861B0C-136C-4A59-8A9E-FA918A668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9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1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226F9-E70B-4FDB-BBB5-573D4E395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우주비행학</a:t>
            </a:r>
            <a:br>
              <a:rPr lang="en-US" altLang="ko-KR" dirty="0"/>
            </a:br>
            <a:r>
              <a:rPr lang="en-US" altLang="ko-KR" dirty="0"/>
              <a:t>2018-1 1</a:t>
            </a:r>
            <a:r>
              <a:rPr lang="en-US" altLang="ko-KR" baseline="30000" dirty="0"/>
              <a:t>st</a:t>
            </a:r>
            <a:r>
              <a:rPr lang="ko-KR" altLang="en-US" dirty="0"/>
              <a:t> </a:t>
            </a:r>
            <a:r>
              <a:rPr lang="en-US" altLang="ko-KR" dirty="0"/>
              <a:t>TA</a:t>
            </a:r>
            <a:r>
              <a:rPr lang="ko-KR" altLang="en-US" dirty="0"/>
              <a:t> </a:t>
            </a:r>
            <a:r>
              <a:rPr lang="en-US" altLang="ko-KR" dirty="0"/>
              <a:t>class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B09F67-67E2-4D16-A72A-E7D14850EC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TA </a:t>
            </a:r>
            <a:r>
              <a:rPr lang="ko-KR" altLang="en-US" dirty="0"/>
              <a:t>전수빈</a:t>
            </a:r>
          </a:p>
        </p:txBody>
      </p:sp>
    </p:spTree>
    <p:extLst>
      <p:ext uri="{BB962C8B-B14F-4D97-AF65-F5344CB8AC3E}">
        <p14:creationId xmlns:p14="http://schemas.microsoft.com/office/powerpoint/2010/main" val="420260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0B4A6-04BB-4CA3-ADBD-A3A46AAAC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채점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081271-C5AD-4748-B018-978738EFE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dirty="0"/>
              <a:t>문제당 </a:t>
            </a:r>
            <a:r>
              <a:rPr lang="en-US" altLang="ko-KR" dirty="0"/>
              <a:t>10</a:t>
            </a:r>
            <a:r>
              <a:rPr lang="ko-KR" altLang="en-US" dirty="0"/>
              <a:t>점 </a:t>
            </a:r>
            <a:r>
              <a:rPr lang="en-US" altLang="ko-KR" dirty="0"/>
              <a:t>(</a:t>
            </a:r>
            <a:r>
              <a:rPr lang="ko-KR" altLang="en-US" dirty="0"/>
              <a:t>문제를 풀지 않았을 경우 </a:t>
            </a:r>
            <a:r>
              <a:rPr lang="en-US" altLang="ko-KR" dirty="0"/>
              <a:t>0</a:t>
            </a:r>
            <a:r>
              <a:rPr lang="ko-KR" altLang="en-US" dirty="0"/>
              <a:t>점 처리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계산이 틀렸을 경우 틀린 항목 당 </a:t>
            </a:r>
            <a:r>
              <a:rPr lang="en-US" altLang="ko-KR" dirty="0"/>
              <a:t>-1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문제에 적혀 있는 요소를 고려하지 않았을 경우 </a:t>
            </a:r>
            <a:r>
              <a:rPr lang="en-US" altLang="ko-KR" dirty="0"/>
              <a:t>-1</a:t>
            </a:r>
          </a:p>
          <a:p>
            <a:endParaRPr lang="en-US" altLang="ko-KR" dirty="0"/>
          </a:p>
          <a:p>
            <a:r>
              <a:rPr lang="ko-KR" altLang="en-US" dirty="0"/>
              <a:t>설정을 잘못 잡거나</a:t>
            </a:r>
            <a:r>
              <a:rPr lang="en-US" altLang="ko-KR" dirty="0"/>
              <a:t>, </a:t>
            </a:r>
            <a:r>
              <a:rPr lang="ko-KR" altLang="en-US" dirty="0"/>
              <a:t>식 적용을 잘못 했을 경우 </a:t>
            </a:r>
            <a:r>
              <a:rPr lang="en-US" altLang="ko-KR" dirty="0"/>
              <a:t>-2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문제에서 요구한 것을 적지 않았을 경우 </a:t>
            </a:r>
            <a:r>
              <a:rPr lang="en-US" altLang="ko-KR" dirty="0"/>
              <a:t>-3</a:t>
            </a:r>
          </a:p>
          <a:p>
            <a:endParaRPr lang="en-US" altLang="ko-KR" dirty="0"/>
          </a:p>
          <a:p>
            <a:r>
              <a:rPr lang="ko-KR" altLang="en-US" dirty="0"/>
              <a:t>앞 부분이 틀려서</a:t>
            </a:r>
            <a:r>
              <a:rPr lang="en-US" altLang="ko-KR" dirty="0"/>
              <a:t>, </a:t>
            </a:r>
            <a:r>
              <a:rPr lang="ko-KR" altLang="en-US" dirty="0"/>
              <a:t>이를 이용한 뒤 부분도 틀렸을 경우 앞 부분만 감점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뒤 부분이 앞 부분과 무관하게 틀리면 감점</a:t>
            </a:r>
            <a:r>
              <a:rPr lang="en-US" altLang="ko-KR" dirty="0"/>
              <a:t>)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627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5F20C-177F-49C1-9644-A8270D05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Chapter 1. Particle Dynamics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8EBF2-CC62-485D-A6E6-102C596A9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846320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1.2 Newton’s Laws</a:t>
            </a:r>
          </a:p>
          <a:p>
            <a:endParaRPr lang="en-US" altLang="ko-KR" dirty="0"/>
          </a:p>
          <a:p>
            <a:r>
              <a:rPr lang="en-US" altLang="ko-KR" dirty="0"/>
              <a:t>1.3 The Velocity</a:t>
            </a:r>
          </a:p>
          <a:p>
            <a:endParaRPr lang="en-US" altLang="ko-KR" dirty="0"/>
          </a:p>
          <a:p>
            <a:r>
              <a:rPr lang="en-US" altLang="ko-KR" dirty="0"/>
              <a:t>1.4 Coordinates and Rotations</a:t>
            </a:r>
          </a:p>
          <a:p>
            <a:endParaRPr lang="en-US" altLang="ko-KR" dirty="0"/>
          </a:p>
          <a:p>
            <a:r>
              <a:rPr lang="en-US" altLang="ko-KR" dirty="0"/>
              <a:t>1.5 The Acceleration</a:t>
            </a:r>
          </a:p>
          <a:p>
            <a:endParaRPr lang="en-US" altLang="ko-KR" dirty="0"/>
          </a:p>
          <a:p>
            <a:r>
              <a:rPr lang="en-US" altLang="ko-KR" dirty="0"/>
              <a:t>1.9 Energy for One Particle</a:t>
            </a:r>
          </a:p>
          <a:p>
            <a:r>
              <a:rPr lang="en-US" altLang="ko-KR" dirty="0"/>
              <a:t>1.10 Angular Momentum</a:t>
            </a:r>
          </a:p>
          <a:p>
            <a:endParaRPr lang="en-US" altLang="ko-KR" dirty="0"/>
          </a:p>
          <a:p>
            <a:r>
              <a:rPr lang="en-US" altLang="ko-KR" dirty="0"/>
              <a:t>1.12 Energy for Systems of Particles</a:t>
            </a:r>
          </a:p>
          <a:p>
            <a:r>
              <a:rPr lang="en-US" altLang="ko-KR" dirty="0"/>
              <a:t>1.13 Angular Momentum for Systems of Particles</a:t>
            </a:r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8357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F4409-A6CE-4892-B20D-5BEC607D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Newton’s laws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F40B149-44F2-458B-AF15-48CF4B83E9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 dirty="0"/>
                  <a:t>1) </a:t>
                </a:r>
                <a:r>
                  <a:rPr lang="ko-KR" altLang="en-US" dirty="0"/>
                  <a:t>관성의 법칙</a:t>
                </a:r>
                <a:endParaRPr lang="en-US" altLang="ko-KR" dirty="0"/>
              </a:p>
              <a:p>
                <a:pPr marL="0" indent="0">
                  <a:buNone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latin typeface="+mj-ea"/>
                  </a:rPr>
                  <a:t>2)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The acceleration must be calculated with respect to an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inertial frame of reference</a:t>
                </a:r>
                <a:r>
                  <a:rPr lang="en-US" altLang="ko-KR" dirty="0"/>
                  <a:t>.</a:t>
                </a:r>
              </a:p>
              <a:p>
                <a:pPr marL="457200" indent="-457200">
                  <a:buAutoNum type="arabicPeriod"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3) </a:t>
                </a:r>
                <a:r>
                  <a:rPr lang="ko-KR" altLang="en-US" dirty="0"/>
                  <a:t>작용 반작용 법칙</a:t>
                </a:r>
                <a:endParaRPr lang="en-US" altLang="ko-KR" dirty="0"/>
              </a:p>
              <a:p>
                <a:pPr marL="457200" indent="-457200">
                  <a:buAutoNum type="arabicPeriod"/>
                </a:pP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F40B149-44F2-458B-AF15-48CF4B83E9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30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383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FD305-B2DF-4F30-8D76-BF2F814AD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The</a:t>
            </a:r>
            <a:r>
              <a:rPr lang="ko-KR" altLang="en-US" dirty="0"/>
              <a:t> </a:t>
            </a:r>
            <a:r>
              <a:rPr lang="en-US" altLang="ko-KR" dirty="0"/>
              <a:t>Velocity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013F7DA-0555-4D3C-A5F1-034F5071D0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6813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400" dirty="0"/>
                  <a:t>Inertial frame</a:t>
                </a:r>
              </a:p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⃑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𝑤𝑡</m:t>
                                </m:r>
                              </m:e>
                            </m:d>
                          </m:e>
                        </m:func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̇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𝑅𝑐𝑜𝑠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acc>
                          <m:accPr>
                            <m:chr m:val="̇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sPre>
                  </m:oMath>
                </a14:m>
                <a:endParaRPr lang="en-US" altLang="ko-KR" dirty="0"/>
              </a:p>
              <a:p>
                <a:r>
                  <a:rPr lang="en-US" altLang="ko-KR" sz="2400" dirty="0"/>
                  <a:t>Body frame</a:t>
                </a:r>
              </a:p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Pre>
                      <m:sPre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⃑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𝑤𝑅𝑠𝑖𝑛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𝜃</m:t>
                    </m:r>
                    <m:acc>
                      <m:accPr>
                        <m:chr m:val="̂"/>
                        <m:ctrlPr>
                          <a:rPr lang="ko-KR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𝑤𝑅𝑐𝑜𝑠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𝜃</m:t>
                    </m:r>
                    <m:acc>
                      <m:accPr>
                        <m:chr m:val="̂"/>
                        <m:ctrlPr>
                          <a:rPr lang="ko-KR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⃑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r>
                  <a:rPr lang="en-US" altLang="ko-KR" dirty="0">
                    <a:sym typeface="Wingdings" panose="05000000000000000000" pitchFamily="2" charset="2"/>
                  </a:rPr>
                  <a:t> different frame, same physical meaning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013F7DA-0555-4D3C-A5F1-034F5071D0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68138"/>
              </a:xfrm>
              <a:blipFill>
                <a:blip r:embed="rId2"/>
                <a:stretch>
                  <a:fillRect l="-58" t="-21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97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99259-4565-4DB7-B5C4-BC7C9AC1A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Coordinates and Rotations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BC83165-623E-4040-AD3C-9D82246BD6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i="1" dirty="0">
                    <a:latin typeface="Cambria Math" panose="02040503050406030204" pitchFamily="18" charset="0"/>
                  </a:rPr>
                  <a:t>  </a:t>
                </a:r>
                <a:r>
                  <a:rPr lang="en-US" altLang="ko-KR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altLang="ko-KR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𝑠𝑖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⃑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i="1" dirty="0">
                    <a:latin typeface="Cambria Math" panose="02040503050406030204" pitchFamily="18" charset="0"/>
                  </a:rPr>
                  <a:t>   </a:t>
                </a:r>
                <a:r>
                  <a:rPr lang="en-US" altLang="ko-KR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altLang="ko-KR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  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⃑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⃑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𝑠𝑖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e>
                    </m:sPre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r>
                  <a:rPr lang="en-US" altLang="ko-KR" dirty="0">
                    <a:sym typeface="Wingdings" panose="05000000000000000000" pitchFamily="2" charset="2"/>
                  </a:rPr>
                  <a:t> different coordinate, same vector</a:t>
                </a:r>
              </a:p>
              <a:p>
                <a:endParaRPr lang="en-US" altLang="ko-KR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𝑠𝑖</m:t>
                        </m:r>
                      </m:sup>
                    </m:sSup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: Rotation Matrix from s  </a:t>
                </a:r>
                <a:r>
                  <a:rPr lang="en-US" altLang="ko-KR" dirty="0" err="1">
                    <a:sym typeface="Wingdings" panose="05000000000000000000" pitchFamily="2" charset="2"/>
                  </a:rPr>
                  <a:t>i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</m:oMath>
                </a14:m>
                <a:r>
                  <a:rPr lang="en-US" altLang="ko-KR" dirty="0"/>
                  <a:t> : the angular velocity of the s-frame w.r.t 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-frame</a:t>
                </a:r>
              </a:p>
              <a:p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BC83165-623E-4040-AD3C-9D82246BD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186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C7D6D-6F5E-4B2C-879A-C259A674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The Acceleration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1A622B3-7A0B-47ED-90F7-393CCED3FD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acc>
                          <m:accPr>
                            <m:chr m:val="⃑"/>
                            <m:ctrlP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sPre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Pre>
                      <m:sPre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sPre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acc>
                          <m:accPr>
                            <m:chr m:val="⃑"/>
                            <m:ctrlP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sPre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Pre>
                      <m:sPre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sPre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⃑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Pre>
                      <m:sPre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sPre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b="0" dirty="0"/>
                  <a:t>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Pre>
                      <m:sPre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⃑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+  </m:t>
                    </m:r>
                    <m:sPre>
                      <m:sPre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⃑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+ 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⃑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1A622B3-7A0B-47ED-90F7-393CCED3F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그룹 25">
            <a:extLst>
              <a:ext uri="{FF2B5EF4-FFF2-40B4-BE49-F238E27FC236}">
                <a16:creationId xmlns:a16="http://schemas.microsoft.com/office/drawing/2014/main" id="{4DD8CB4B-1F42-45F9-96B9-6E33E135CBFD}"/>
              </a:ext>
            </a:extLst>
          </p:cNvPr>
          <p:cNvGrpSpPr/>
          <p:nvPr/>
        </p:nvGrpSpPr>
        <p:grpSpPr>
          <a:xfrm>
            <a:off x="2856023" y="1987981"/>
            <a:ext cx="3668695" cy="887768"/>
            <a:chOff x="2856023" y="1987981"/>
            <a:chExt cx="3668695" cy="88776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6180165-497C-4A17-B5CE-9BAA50AEA640}"/>
                </a:ext>
              </a:extLst>
            </p:cNvPr>
            <p:cNvSpPr txBox="1"/>
            <p:nvPr/>
          </p:nvSpPr>
          <p:spPr>
            <a:xfrm>
              <a:off x="4482854" y="1987981"/>
              <a:ext cx="2041864" cy="5847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Inertial acceleration</a:t>
              </a:r>
            </a:p>
            <a:p>
              <a:r>
                <a:rPr lang="en-US" altLang="ko-KR" sz="1600" dirty="0"/>
                <a:t>of origin of s frame</a:t>
              </a:r>
              <a:endParaRPr lang="ko-KR" altLang="en-US" sz="1600" dirty="0"/>
            </a:p>
          </p:txBody>
        </p:sp>
        <p:cxnSp>
          <p:nvCxnSpPr>
            <p:cNvPr id="12" name="연결선: 구부러짐 11">
              <a:extLst>
                <a:ext uri="{FF2B5EF4-FFF2-40B4-BE49-F238E27FC236}">
                  <a16:creationId xmlns:a16="http://schemas.microsoft.com/office/drawing/2014/main" id="{CDC3A4B9-32A4-45B0-996B-27E5A8B13BB3}"/>
                </a:ext>
              </a:extLst>
            </p:cNvPr>
            <p:cNvCxnSpPr>
              <a:endCxn id="4" idx="1"/>
            </p:cNvCxnSpPr>
            <p:nvPr/>
          </p:nvCxnSpPr>
          <p:spPr>
            <a:xfrm flipV="1">
              <a:off x="2856023" y="2280369"/>
              <a:ext cx="1626831" cy="595380"/>
            </a:xfrm>
            <a:prstGeom prst="curved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359F120-1DAE-41C7-AB08-689BD4970025}"/>
              </a:ext>
            </a:extLst>
          </p:cNvPr>
          <p:cNvGrpSpPr/>
          <p:nvPr/>
        </p:nvGrpSpPr>
        <p:grpSpPr>
          <a:xfrm>
            <a:off x="4395697" y="2348622"/>
            <a:ext cx="4545366" cy="923969"/>
            <a:chOff x="5220070" y="2345184"/>
            <a:chExt cx="4545366" cy="92396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EEE8246-121B-4F99-A9AC-109AE16620E1}"/>
                </a:ext>
              </a:extLst>
            </p:cNvPr>
            <p:cNvSpPr txBox="1"/>
            <p:nvPr/>
          </p:nvSpPr>
          <p:spPr>
            <a:xfrm>
              <a:off x="7414333" y="2345184"/>
              <a:ext cx="2351103" cy="5847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Acceleration of particle</a:t>
              </a:r>
            </a:p>
            <a:p>
              <a:r>
                <a:rPr lang="en-US" altLang="ko-KR" sz="1600" dirty="0"/>
                <a:t>seen from s frame</a:t>
              </a:r>
              <a:endParaRPr lang="ko-KR" altLang="en-US" sz="1600" dirty="0"/>
            </a:p>
          </p:txBody>
        </p:sp>
        <p:cxnSp>
          <p:nvCxnSpPr>
            <p:cNvPr id="13" name="연결선: 구부러짐 12">
              <a:extLst>
                <a:ext uri="{FF2B5EF4-FFF2-40B4-BE49-F238E27FC236}">
                  <a16:creationId xmlns:a16="http://schemas.microsoft.com/office/drawing/2014/main" id="{5F694249-C108-41CC-BC55-E7A766E559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0070" y="2655043"/>
              <a:ext cx="2194263" cy="614110"/>
            </a:xfrm>
            <a:prstGeom prst="curvedConnector3">
              <a:avLst>
                <a:gd name="adj1" fmla="val 56878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57522AE-6049-404E-BF1D-A98BE926BF17}"/>
              </a:ext>
            </a:extLst>
          </p:cNvPr>
          <p:cNvGrpSpPr/>
          <p:nvPr/>
        </p:nvGrpSpPr>
        <p:grpSpPr>
          <a:xfrm>
            <a:off x="549796" y="4276202"/>
            <a:ext cx="2065429" cy="1121752"/>
            <a:chOff x="549796" y="4276202"/>
            <a:chExt cx="2065429" cy="11217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064EF2-415F-4DCF-9A28-6B2102F0867F}"/>
                </a:ext>
              </a:extLst>
            </p:cNvPr>
            <p:cNvSpPr txBox="1"/>
            <p:nvPr/>
          </p:nvSpPr>
          <p:spPr>
            <a:xfrm>
              <a:off x="549796" y="4813179"/>
              <a:ext cx="1310198" cy="5847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Coriolis acceleration</a:t>
              </a:r>
              <a:endParaRPr lang="ko-KR" altLang="en-US" sz="1600" dirty="0"/>
            </a:p>
          </p:txBody>
        </p:sp>
        <p:cxnSp>
          <p:nvCxnSpPr>
            <p:cNvPr id="16" name="연결선: 구부러짐 15">
              <a:extLst>
                <a:ext uri="{FF2B5EF4-FFF2-40B4-BE49-F238E27FC236}">
                  <a16:creationId xmlns:a16="http://schemas.microsoft.com/office/drawing/2014/main" id="{F4F88603-CB24-45A5-8652-FC2BF1341DC9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rot="5400000">
              <a:off x="1822927" y="4313269"/>
              <a:ext cx="829366" cy="755231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570D77D-0A8C-4BB4-909E-E918251954DA}"/>
              </a:ext>
            </a:extLst>
          </p:cNvPr>
          <p:cNvGrpSpPr/>
          <p:nvPr/>
        </p:nvGrpSpPr>
        <p:grpSpPr>
          <a:xfrm>
            <a:off x="2488366" y="4175239"/>
            <a:ext cx="2208670" cy="1602626"/>
            <a:chOff x="2488366" y="4175239"/>
            <a:chExt cx="2208670" cy="160262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56A7F7-33EF-4356-A909-04B21556FC99}"/>
                </a:ext>
              </a:extLst>
            </p:cNvPr>
            <p:cNvSpPr txBox="1"/>
            <p:nvPr/>
          </p:nvSpPr>
          <p:spPr>
            <a:xfrm>
              <a:off x="2488366" y="5193090"/>
              <a:ext cx="1310198" cy="5847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Transverse acceleration</a:t>
              </a:r>
              <a:endParaRPr lang="ko-KR" altLang="en-US" sz="1600" dirty="0"/>
            </a:p>
          </p:txBody>
        </p:sp>
        <p:cxnSp>
          <p:nvCxnSpPr>
            <p:cNvPr id="19" name="연결선: 구부러짐 18">
              <a:extLst>
                <a:ext uri="{FF2B5EF4-FFF2-40B4-BE49-F238E27FC236}">
                  <a16:creationId xmlns:a16="http://schemas.microsoft.com/office/drawing/2014/main" id="{9BD665B5-19F7-4F0A-8B3A-82C68821EB71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 rot="5400000">
              <a:off x="3592681" y="4381123"/>
              <a:ext cx="1310239" cy="898471"/>
            </a:xfrm>
            <a:prstGeom prst="curved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75CDB89-C2E9-49F0-84C7-809EE3AFEC9E}"/>
              </a:ext>
            </a:extLst>
          </p:cNvPr>
          <p:cNvGrpSpPr/>
          <p:nvPr/>
        </p:nvGrpSpPr>
        <p:grpSpPr>
          <a:xfrm>
            <a:off x="6440934" y="4087559"/>
            <a:ext cx="1324577" cy="1485598"/>
            <a:chOff x="7616486" y="4204743"/>
            <a:chExt cx="1324577" cy="148559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0E4BD3-CA19-46F7-B6D4-5A8A498B5D9C}"/>
                </a:ext>
              </a:extLst>
            </p:cNvPr>
            <p:cNvSpPr txBox="1"/>
            <p:nvPr/>
          </p:nvSpPr>
          <p:spPr>
            <a:xfrm>
              <a:off x="7616486" y="5105566"/>
              <a:ext cx="1324577" cy="5847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Centripetal acceleration</a:t>
              </a:r>
              <a:endParaRPr lang="ko-KR" altLang="en-US" sz="1600" dirty="0"/>
            </a:p>
          </p:txBody>
        </p:sp>
        <p:cxnSp>
          <p:nvCxnSpPr>
            <p:cNvPr id="21" name="연결선: 구부러짐 20">
              <a:extLst>
                <a:ext uri="{FF2B5EF4-FFF2-40B4-BE49-F238E27FC236}">
                  <a16:creationId xmlns:a16="http://schemas.microsoft.com/office/drawing/2014/main" id="{E962E736-D629-4629-AC63-5E5278F420D7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rot="5400000">
              <a:off x="7210984" y="4610246"/>
              <a:ext cx="1193211" cy="382205"/>
            </a:xfrm>
            <a:prstGeom prst="curvedConnector4">
              <a:avLst>
                <a:gd name="adj1" fmla="val 37748"/>
                <a:gd name="adj2" fmla="val 159811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878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3D746-0F5F-4D2C-931E-75E9C3DF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1.9 Energy for One Particle</a:t>
            </a:r>
            <a:br>
              <a:rPr lang="en-US" altLang="ko-KR" dirty="0"/>
            </a:br>
            <a:r>
              <a:rPr lang="en-US" altLang="ko-KR" dirty="0"/>
              <a:t>1.10 Angular Momentum for One Particle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7AAC97E-59A4-4ADF-9E69-38D96C8438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73053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Energy Conservation Law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altLang="ko-KR" b="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altLang="ko-KR" b="0" i="1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⃑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⃑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dirty="0"/>
                  <a:t> 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𝑡𝑜𝑡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𝑐𝑜𝑛𝑠𝑡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Angular Momentum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⃑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altLang="ko-KR" dirty="0"/>
                  <a:t> 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  <m:acc>
                      <m:accPr>
                        <m:chr m:val="⃑"/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𝐻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acc>
                      <m:accPr>
                        <m:chr m:val="⃑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</m:acc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acc>
                      <m:accPr>
                        <m:chr m:val="⃑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</m:acc>
                  </m:oMath>
                </a14:m>
                <a:endParaRPr lang="en-US" altLang="ko-KR" dirty="0"/>
              </a:p>
              <a:p>
                <a:r>
                  <a:rPr lang="en-US" altLang="ko-KR" dirty="0"/>
                  <a:t>Torque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⃑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acc>
                          <m:accPr>
                            <m:chr m:val="⃑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</m:sPre>
                  </m:oMath>
                </a14:m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7AAC97E-59A4-4ADF-9E69-38D96C843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73053"/>
                <a:ext cx="10515600" cy="5032375"/>
              </a:xfrm>
              <a:blipFill>
                <a:blip r:embed="rId2"/>
                <a:stretch>
                  <a:fillRect l="-58" t="-20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1AC433EC-9F24-4DD3-AF16-1A28AD9EABF2}"/>
              </a:ext>
            </a:extLst>
          </p:cNvPr>
          <p:cNvGrpSpPr/>
          <p:nvPr/>
        </p:nvGrpSpPr>
        <p:grpSpPr>
          <a:xfrm>
            <a:off x="3722145" y="5529431"/>
            <a:ext cx="3238052" cy="923330"/>
            <a:chOff x="4356847" y="5658523"/>
            <a:chExt cx="3238052" cy="92333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A3F73F-CC0F-4976-9CC5-8642CC0D3AAC}"/>
                </a:ext>
              </a:extLst>
            </p:cNvPr>
            <p:cNvSpPr txBox="1"/>
            <p:nvPr/>
          </p:nvSpPr>
          <p:spPr>
            <a:xfrm>
              <a:off x="4959275" y="5658523"/>
              <a:ext cx="2635624" cy="9233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= 0 </a:t>
              </a:r>
            </a:p>
            <a:p>
              <a:r>
                <a:rPr lang="en-US" altLang="ko-KR" dirty="0">
                  <a:sym typeface="Wingdings" panose="05000000000000000000" pitchFamily="2" charset="2"/>
                </a:rPr>
                <a:t> Angular Momentum Conservation Law</a:t>
              </a:r>
              <a:endParaRPr lang="ko-KR" altLang="en-US" dirty="0"/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9007CE17-1F0C-4D29-8DFF-8A51C5EDC4C7}"/>
                </a:ext>
              </a:extLst>
            </p:cNvPr>
            <p:cNvCxnSpPr/>
            <p:nvPr/>
          </p:nvCxnSpPr>
          <p:spPr>
            <a:xfrm flipV="1">
              <a:off x="4356847" y="5895191"/>
              <a:ext cx="580913" cy="37651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1948AE2C-F444-415D-9B3F-4614E3C6C353}"/>
              </a:ext>
            </a:extLst>
          </p:cNvPr>
          <p:cNvSpPr/>
          <p:nvPr/>
        </p:nvSpPr>
        <p:spPr>
          <a:xfrm>
            <a:off x="2829260" y="5701546"/>
            <a:ext cx="355003" cy="3872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27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6A5E3-6386-46EB-8FCC-247D4EBB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600" dirty="0"/>
              <a:t>1.12 Energy for Systems of Particles</a:t>
            </a:r>
            <a:br>
              <a:rPr lang="en-US" altLang="ko-KR" sz="3600" dirty="0"/>
            </a:br>
            <a:r>
              <a:rPr lang="en-US" altLang="ko-KR" sz="3600" dirty="0"/>
              <a:t>1.13 Angular Momentum for Systems of Particles</a:t>
            </a:r>
            <a:endParaRPr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A2F35F-C4CE-4C2E-8BE6-4C97C631B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08662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Systems of Particles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𝑁</m:t>
                        </m:r>
                      </m:sup>
                      <m:e/>
                    </m:nary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Total Kinetic Energy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⃑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</m:acc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acc>
                              <m:accPr>
                                <m:chr m:val="⃑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𝑟</m:t>
                                </m:r>
                              </m:e>
                            </m:acc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Energy Conservation Law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/>
                  <a:t> 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𝑐𝑜𝑛𝑠𝑡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</m:oMath>
                </a14:m>
                <a:r>
                  <a:rPr lang="en-US" altLang="ko-KR" dirty="0"/>
                  <a:t> = total energy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Total Angular Momentum    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⃑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Total Torque    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Pre>
                      <m:sPre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acc>
                          <m:accPr>
                            <m:chr m:val="⃑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</m:sPre>
                  </m:oMath>
                </a14:m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A2F35F-C4CE-4C2E-8BE6-4C97C631B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08662"/>
              </a:xfrm>
              <a:blipFill>
                <a:blip r:embed="rId2"/>
                <a:stretch>
                  <a:fillRect l="-58" t="-18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289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9E05C-B24E-454B-854E-47DE3305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1 (Prob.1)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6C427A7-6107-4BEA-8225-E2385D7EC6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𝑤𝑡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𝑤𝑡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𝑤𝑡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𝑤𝑡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Pre>
                          <m:sPre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𝑑𝑟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sPr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𝑖𝑠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Pre>
                          <m:sPre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𝑑𝑟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sPr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6C427A7-6107-4BEA-8225-E2385D7EC6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881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05280-E7BF-4487-8AF6-3553DF396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2 (Prob.2), </a:t>
            </a:r>
            <a:r>
              <a:rPr lang="ko-KR" altLang="en-US" dirty="0"/>
              <a:t>문제</a:t>
            </a:r>
            <a:r>
              <a:rPr lang="en-US" altLang="ko-KR" dirty="0"/>
              <a:t>4 (Prob.9), </a:t>
            </a:r>
            <a:r>
              <a:rPr lang="ko-KR" altLang="en-US" dirty="0"/>
              <a:t>문제</a:t>
            </a:r>
            <a:r>
              <a:rPr lang="en-US" altLang="ko-KR" dirty="0"/>
              <a:t>5 (Prob.5)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6EFBFD6-5F4E-4D99-86A6-AEB9DC4EC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Velocity Rule</a:t>
                </a:r>
              </a:p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r>
                      <a:rPr lang="en-US" altLang="ko-KR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acc>
                          <m:accPr>
                            <m:chr m:val="⃑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sPre>
                    <m:r>
                      <a:rPr lang="en-US" altLang="ko-KR" i="1">
                        <a:latin typeface="Cambria Math" panose="02040503050406030204" pitchFamily="18" charset="0"/>
                      </a:rPr>
                      <m:t>= </m:t>
                    </m:r>
                    <m:sPre>
                      <m:sPre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sPre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Pre>
                      <m:sPre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sPre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/>
                  <a:t>         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Pre>
                      <m:sPre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⃑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r>
                      <a:rPr lang="en-US" altLang="ko-KR" i="1">
                        <a:latin typeface="Cambria Math" panose="02040503050406030204" pitchFamily="18" charset="0"/>
                      </a:rPr>
                      <m:t>  +  </m:t>
                    </m:r>
                    <m:sPre>
                      <m:sPre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sPre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⃑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  + 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⃑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6EFBFD6-5F4E-4D99-86A6-AEB9DC4EC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7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698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7D17F-8180-44AA-8A47-04459807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3 (Prob.4)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5DF61E6-63A4-42CE-901C-A1D05BC722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⃑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𝑠𝑖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̇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acc>
                      </m:e>
                    </m:d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/>
                  <a:t>Velocity Rule ~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5DF61E6-63A4-42CE-901C-A1D05BC722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5787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A641A-3FFA-496F-8EAD-181F81624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6 (Prob.6)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94E536-8199-45E4-AEC9-FA2C8E8A6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arenBoth"/>
            </a:pPr>
            <a:r>
              <a:rPr lang="en-US" altLang="ko-KR" dirty="0"/>
              <a:t>Velocity Rule</a:t>
            </a:r>
          </a:p>
          <a:p>
            <a:pPr marL="457200" indent="-457200">
              <a:buAutoNum type="arabicParenBoth"/>
            </a:pPr>
            <a:r>
              <a:rPr lang="en-US" altLang="ko-KR" dirty="0"/>
              <a:t>Low gravity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acceleration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~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0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4631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7646E-AE05-4E76-BA56-8BE5B8DB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r>
              <a:rPr lang="en-US" altLang="ko-KR" dirty="0"/>
              <a:t>7 (Prob.10)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0C871D-CB39-4675-9F66-21FF6CB64E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dirty="0"/>
                  <a:t>E = KE + PE</a:t>
                </a:r>
              </a:p>
              <a:p>
                <a:r>
                  <a:rPr lang="en-US" altLang="ko-KR" dirty="0" err="1"/>
                  <a:t>sth</a:t>
                </a:r>
                <a:r>
                  <a:rPr lang="en-US" altLang="ko-KR" dirty="0"/>
                  <a:t> conserved?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d(</a:t>
                </a:r>
                <a:r>
                  <a:rPr lang="en-US" altLang="ko-KR" dirty="0" err="1">
                    <a:sym typeface="Wingdings" panose="05000000000000000000" pitchFamily="2" charset="2"/>
                  </a:rPr>
                  <a:t>sth</a:t>
                </a:r>
                <a:r>
                  <a:rPr lang="en-US" altLang="ko-KR" dirty="0">
                    <a:sym typeface="Wingdings" panose="05000000000000000000" pitchFamily="2" charset="2"/>
                  </a:rPr>
                  <a:t>)/</a:t>
                </a:r>
                <a:r>
                  <a:rPr lang="en-US" altLang="ko-KR" dirty="0" err="1">
                    <a:sym typeface="Wingdings" panose="05000000000000000000" pitchFamily="2" charset="2"/>
                  </a:rPr>
                  <a:t>dt</a:t>
                </a:r>
                <a:r>
                  <a:rPr lang="en-US" altLang="ko-KR" dirty="0">
                    <a:sym typeface="Wingdings" panose="05000000000000000000" pitchFamily="2" charset="2"/>
                  </a:rPr>
                  <a:t> = 0</a:t>
                </a:r>
              </a:p>
              <a:p>
                <a:endParaRPr lang="en-US" altLang="ko-KR" dirty="0">
                  <a:sym typeface="Wingdings" panose="05000000000000000000" pitchFamily="2" charset="2"/>
                </a:endParaRPr>
              </a:p>
              <a:p>
                <a:r>
                  <a:rPr lang="en-US" altLang="ko-KR" dirty="0" err="1">
                    <a:sym typeface="Wingdings" panose="05000000000000000000" pitchFamily="2" charset="2"/>
                  </a:rPr>
                  <a:t>dE</a:t>
                </a:r>
                <a:r>
                  <a:rPr lang="en-US" altLang="ko-KR" dirty="0">
                    <a:sym typeface="Wingdings" panose="05000000000000000000" pitchFamily="2" charset="2"/>
                  </a:rPr>
                  <a:t>/</a:t>
                </a:r>
                <a:r>
                  <a:rPr lang="en-US" altLang="ko-KR" dirty="0" err="1">
                    <a:sym typeface="Wingdings" panose="05000000000000000000" pitchFamily="2" charset="2"/>
                  </a:rPr>
                  <a:t>dt</a:t>
                </a:r>
                <a:r>
                  <a:rPr lang="en-US" altLang="ko-KR" dirty="0">
                    <a:sym typeface="Wingdings" panose="05000000000000000000" pitchFamily="2" charset="2"/>
                  </a:rPr>
                  <a:t> = 0</a:t>
                </a:r>
              </a:p>
              <a:p>
                <a:r>
                  <a:rPr lang="en-US" altLang="ko-KR" dirty="0" err="1">
                    <a:sym typeface="Wingdings" panose="05000000000000000000" pitchFamily="2" charset="2"/>
                  </a:rPr>
                  <a:t>dH</a:t>
                </a:r>
                <a:r>
                  <a:rPr lang="en-US" altLang="ko-KR" dirty="0">
                    <a:sym typeface="Wingdings" panose="05000000000000000000" pitchFamily="2" charset="2"/>
                  </a:rPr>
                  <a:t>/</a:t>
                </a:r>
                <a:r>
                  <a:rPr lang="en-US" altLang="ko-KR" dirty="0" err="1">
                    <a:sym typeface="Wingdings" panose="05000000000000000000" pitchFamily="2" charset="2"/>
                  </a:rPr>
                  <a:t>dt</a:t>
                </a:r>
                <a:r>
                  <a:rPr lang="en-US" altLang="ko-KR" dirty="0">
                    <a:sym typeface="Wingdings" panose="05000000000000000000" pitchFamily="2" charset="2"/>
                  </a:rPr>
                  <a:t> =/0</a:t>
                </a:r>
              </a:p>
              <a:p>
                <a:endParaRPr lang="en-US" altLang="ko-KR" dirty="0">
                  <a:sym typeface="Wingdings" panose="05000000000000000000" pitchFamily="2" charset="2"/>
                </a:endParaRPr>
              </a:p>
              <a:p>
                <a:r>
                  <a:rPr lang="en-US" altLang="ko-KR" dirty="0">
                    <a:sym typeface="Wingdings" panose="05000000000000000000" pitchFamily="2" charset="2"/>
                  </a:rPr>
                  <a:t>Vertical component? 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 component</a:t>
                </a:r>
              </a:p>
              <a:p>
                <a:r>
                  <a:rPr lang="en-US" altLang="ko-KR" dirty="0">
                    <a:sym typeface="Wingdings" panose="05000000000000000000" pitchFamily="2" charset="2"/>
                  </a:rPr>
                  <a:t>Vertical component conserved? 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acc>
                          <m:accPr>
                            <m:chr m:val="⃑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𝐻</m:t>
                            </m:r>
                          </m:e>
                        </m:acc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∙</m:t>
                        </m:r>
                        <m:acc>
                          <m:accPr>
                            <m:chr m:val="̂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= 0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0C871D-CB39-4675-9F66-21FF6CB64E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3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234436"/>
      </p:ext>
    </p:extLst>
  </p:cSld>
  <p:clrMapOvr>
    <a:masterClrMapping/>
  </p:clrMapOvr>
</p:sld>
</file>

<file path=ppt/theme/theme1.xml><?xml version="1.0" encoding="utf-8"?>
<a:theme xmlns:a="http://schemas.openxmlformats.org/drawingml/2006/main" name="메트로폴리탄">
  <a:themeElements>
    <a:clrScheme name="보라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메트로폴리탄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메트로폴리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메트로폴리탄</Template>
  <TotalTime>122</TotalTime>
  <Words>562</Words>
  <Application>Microsoft Office PowerPoint</Application>
  <PresentationFormat>와이드스크린</PresentationFormat>
  <Paragraphs>111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Calibri Light</vt:lpstr>
      <vt:lpstr>Cambria Math</vt:lpstr>
      <vt:lpstr>Wingdings</vt:lpstr>
      <vt:lpstr>메트로폴리탄</vt:lpstr>
      <vt:lpstr>우주비행학 2018-1 1st TA class</vt:lpstr>
      <vt:lpstr>채점 기준</vt:lpstr>
      <vt:lpstr>Chapter 1. Particle Dynamics</vt:lpstr>
      <vt:lpstr>1.2 Newton’s laws</vt:lpstr>
      <vt:lpstr>1.3 The Velocity</vt:lpstr>
      <vt:lpstr>1.4 Coordinates and Rotations</vt:lpstr>
      <vt:lpstr>1.5 The Acceleration</vt:lpstr>
      <vt:lpstr>1.9 Energy for One Particle 1.10 Angular Momentum for One Particle</vt:lpstr>
      <vt:lpstr>1.12 Energy for Systems of Particles 1.13 Angular Momentum for Systems of Particles</vt:lpstr>
      <vt:lpstr>문제1 (Prob.1)</vt:lpstr>
      <vt:lpstr>문제2 (Prob.2), 문제4 (Prob.9), 문제5 (Prob.5)</vt:lpstr>
      <vt:lpstr>문제3 (Prob.4)</vt:lpstr>
      <vt:lpstr>문제6 (Prob.6)</vt:lpstr>
      <vt:lpstr>문제7 (Prob.10)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우주비행학 2018-1</dc:title>
  <dc:creator>SooBin Jeon</dc:creator>
  <cp:lastModifiedBy>SooBin Jeon</cp:lastModifiedBy>
  <cp:revision>62</cp:revision>
  <dcterms:created xsi:type="dcterms:W3CDTF">2018-04-02T16:44:17Z</dcterms:created>
  <dcterms:modified xsi:type="dcterms:W3CDTF">2018-04-02T21:14:35Z</dcterms:modified>
</cp:coreProperties>
</file>