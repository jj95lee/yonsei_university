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300" r:id="rId7"/>
    <p:sldId id="293" r:id="rId8"/>
    <p:sldId id="315" r:id="rId9"/>
    <p:sldId id="322" r:id="rId10"/>
    <p:sldId id="331" r:id="rId11"/>
    <p:sldId id="332" r:id="rId12"/>
    <p:sldId id="329" r:id="rId13"/>
    <p:sldId id="327" r:id="rId14"/>
    <p:sldId id="333" r:id="rId15"/>
    <p:sldId id="336" r:id="rId16"/>
    <p:sldId id="337" r:id="rId17"/>
    <p:sldId id="328" r:id="rId18"/>
    <p:sldId id="338" r:id="rId19"/>
    <p:sldId id="334" r:id="rId20"/>
    <p:sldId id="335" r:id="rId21"/>
    <p:sldId id="263" r:id="rId22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23"/>
    </p:embeddedFont>
    <p:embeddedFont>
      <p:font typeface="나눔스퀘어 Light" panose="020B0600000101010101" pitchFamily="50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226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200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995C5E-7DB5-4818-BF8B-AD45D44F2CAB}"/>
              </a:ext>
            </a:extLst>
          </p:cNvPr>
          <p:cNvSpPr txBox="1"/>
          <p:nvPr/>
        </p:nvSpPr>
        <p:spPr>
          <a:xfrm>
            <a:off x="201482" y="134154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7 : Total WBS introduction / Scientific Objective 1.1, 1.2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492AB-4951-438F-8198-8AFEEE4316E8}"/>
              </a:ext>
            </a:extLst>
          </p:cNvPr>
          <p:cNvSpPr txBox="1"/>
          <p:nvPr/>
        </p:nvSpPr>
        <p:spPr>
          <a:xfrm>
            <a:off x="201482" y="1813426"/>
            <a:ext cx="7287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8 : Modifying overall WBS and PLAN / Observation Method 2.1, 2.2, 2.3 </a:t>
            </a:r>
            <a:endParaRPr lang="ko-KR" altLang="en-US" sz="1600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E1672-DA1C-408B-8792-90233FE8908B}"/>
              </a:ext>
            </a:extLst>
          </p:cNvPr>
          <p:cNvSpPr txBox="1"/>
          <p:nvPr/>
        </p:nvSpPr>
        <p:spPr>
          <a:xfrm>
            <a:off x="201482" y="22735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9 : Observation Method 2.1, 2.2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63950-4022-4970-AAAB-8C5FD242ED68}"/>
              </a:ext>
            </a:extLst>
          </p:cNvPr>
          <p:cNvSpPr txBox="1"/>
          <p:nvPr/>
        </p:nvSpPr>
        <p:spPr>
          <a:xfrm>
            <a:off x="201482" y="27391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10 : Observation Equipment 3.1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91F23-DA1B-4E7C-8A61-6A672AC605E1}"/>
              </a:ext>
            </a:extLst>
          </p:cNvPr>
          <p:cNvSpPr txBox="1"/>
          <p:nvPr/>
        </p:nvSpPr>
        <p:spPr>
          <a:xfrm>
            <a:off x="201482" y="32048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11 : 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B14E-2867-4842-A878-385C1DC5319B}"/>
              </a:ext>
            </a:extLst>
          </p:cNvPr>
          <p:cNvSpPr txBox="1"/>
          <p:nvPr/>
        </p:nvSpPr>
        <p:spPr>
          <a:xfrm>
            <a:off x="201482" y="367047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12 : Data Result 4.1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644A-0DA6-45E3-8DB7-3F9EFFC76DAC}"/>
              </a:ext>
            </a:extLst>
          </p:cNvPr>
          <p:cNvSpPr txBox="1"/>
          <p:nvPr/>
        </p:nvSpPr>
        <p:spPr>
          <a:xfrm>
            <a:off x="201482" y="413611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13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3115D-5BAA-4A15-BA8D-AF9DA348B87C}"/>
              </a:ext>
            </a:extLst>
          </p:cNvPr>
          <p:cNvSpPr txBox="1"/>
          <p:nvPr/>
        </p:nvSpPr>
        <p:spPr>
          <a:xfrm>
            <a:off x="201482" y="46017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14 : Data Result 4.2, 4.3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A30A-EB51-4479-9B46-9D30BD9C4C7F}"/>
              </a:ext>
            </a:extLst>
          </p:cNvPr>
          <p:cNvSpPr txBox="1"/>
          <p:nvPr/>
        </p:nvSpPr>
        <p:spPr>
          <a:xfrm>
            <a:off x="201482" y="50673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15 : Interpretation 5.1, 5.2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FA259-8AA2-4AB1-9CAD-5EB594E6925D}"/>
              </a:ext>
            </a:extLst>
          </p:cNvPr>
          <p:cNvSpPr txBox="1"/>
          <p:nvPr/>
        </p:nvSpPr>
        <p:spPr>
          <a:xfrm>
            <a:off x="201482" y="55330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FF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16 : Conference</a:t>
            </a:r>
            <a:endParaRPr lang="ko-KR" altLang="en-US" sz="1600" b="1" dirty="0">
              <a:solidFill>
                <a:srgbClr val="FFFF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3FB0E7A-F285-CCA8-E7C7-3E731826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53" y="2362813"/>
            <a:ext cx="6620390" cy="3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397AB35-A5E7-D83D-8B5E-873B94807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77" y="1695275"/>
            <a:ext cx="11120846" cy="433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Actual Result –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1295781" y="1814652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Distance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Orbiting velocity</a:t>
            </a:r>
          </a:p>
          <a:p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    Mass</a:t>
            </a:r>
          </a:p>
          <a:p>
            <a:pPr marL="342900" indent="-342900">
              <a:buAutoNum type="arabicPeriod"/>
            </a:pP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85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Result - 51 Pegasi b 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899" y="15406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 (Primary transit)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9C7088-1727-3897-27D9-1B9DD36C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9" y="2283068"/>
            <a:ext cx="3933111" cy="28201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CD30F9-645F-F066-DE6C-DE9D59FF0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57" y="2283065"/>
            <a:ext cx="3798455" cy="28201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D1D10E-66C3-1039-3F98-949ED050CAE4}"/>
              </a:ext>
            </a:extLst>
          </p:cNvPr>
          <p:cNvSpPr txBox="1"/>
          <p:nvPr/>
        </p:nvSpPr>
        <p:spPr>
          <a:xfrm>
            <a:off x="5483123" y="4276994"/>
            <a:ext cx="190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ko-KR" sz="1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Δ</a:t>
            </a:r>
            <a:r>
              <a:rPr lang="en-US" altLang="ko-KR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 ~</a:t>
            </a:r>
            <a:r>
              <a:rPr lang="ko-KR" altLang="en-US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0.00006</a:t>
            </a:r>
            <a:endParaRPr lang="en-US" altLang="ko-KR" sz="1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89271-7459-E3AE-FA18-564DC3D6D0B2}"/>
              </a:ext>
            </a:extLst>
          </p:cNvPr>
          <p:cNvSpPr txBox="1"/>
          <p:nvPr/>
        </p:nvSpPr>
        <p:spPr>
          <a:xfrm>
            <a:off x="9040509" y="2283065"/>
            <a:ext cx="263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R(Star) x sqrt(</a:t>
            </a:r>
            <a:r>
              <a:rPr lang="el-GR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Δ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F)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873229-D165-2BCF-4210-9C707FB0F3B7}"/>
              </a:ext>
            </a:extLst>
          </p:cNvPr>
          <p:cNvSpPr txBox="1"/>
          <p:nvPr/>
        </p:nvSpPr>
        <p:spPr>
          <a:xfrm>
            <a:off x="9040508" y="3021392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1.237 x (0.00006)^(1/2)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1EFA7-25A1-E820-98C2-65337ACD572A}"/>
              </a:ext>
            </a:extLst>
          </p:cNvPr>
          <p:cNvSpPr txBox="1"/>
          <p:nvPr/>
        </p:nvSpPr>
        <p:spPr>
          <a:xfrm>
            <a:off x="9040508" y="3589041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0.0096 R(sun)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8A6237-7413-E242-25F1-0C9749F456DD}"/>
              </a:ext>
            </a:extLst>
          </p:cNvPr>
          <p:cNvSpPr txBox="1"/>
          <p:nvPr/>
        </p:nvSpPr>
        <p:spPr>
          <a:xfrm>
            <a:off x="9040508" y="4142702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0.0096 x 696,340 km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636DF-BCDF-0BAA-1A35-20D0383DC3FA}"/>
              </a:ext>
            </a:extLst>
          </p:cNvPr>
          <p:cNvSpPr txBox="1"/>
          <p:nvPr/>
        </p:nvSpPr>
        <p:spPr>
          <a:xfrm>
            <a:off x="9040508" y="4696363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6685 km  (X) </a:t>
            </a:r>
          </a:p>
        </p:txBody>
      </p:sp>
    </p:spTree>
    <p:extLst>
      <p:ext uri="{BB962C8B-B14F-4D97-AF65-F5344CB8AC3E}">
        <p14:creationId xmlns:p14="http://schemas.microsoft.com/office/powerpoint/2010/main" val="403131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Actual Result - 51 Pegasi b 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899" y="15406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(Radial Velocity)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2630F1-2677-F8EF-FBCA-D46AE2BB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9" y="2283067"/>
            <a:ext cx="5799997" cy="37256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8C73834-0116-FE76-DC8B-19C02B92D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19" y="1852564"/>
            <a:ext cx="5413495" cy="41561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861737-1826-6452-1691-1E5F08DD5911}"/>
              </a:ext>
            </a:extLst>
          </p:cNvPr>
          <p:cNvSpPr txBox="1"/>
          <p:nvPr/>
        </p:nvSpPr>
        <p:spPr>
          <a:xfrm>
            <a:off x="6615419" y="1286891"/>
            <a:ext cx="1930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 = 135,830 km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11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Result - 51 Pegasi b 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899" y="15406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2. Distance from sun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F4925EB-809D-575D-0EA0-EC21C2D4D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60011"/>
            <a:ext cx="5840080" cy="344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Result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959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2. Distance from sun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4AC8-ED59-2D52-B2E7-4178E1A57FAB}"/>
              </a:ext>
            </a:extLst>
          </p:cNvPr>
          <p:cNvSpPr txBox="1"/>
          <p:nvPr/>
        </p:nvSpPr>
        <p:spPr>
          <a:xfrm>
            <a:off x="5774163" y="2340549"/>
            <a:ext cx="361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 = 4.231 days = 365560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E23E7-8D82-DCED-3D2A-967E1AD52592}"/>
              </a:ext>
            </a:extLst>
          </p:cNvPr>
          <p:cNvSpPr txBox="1"/>
          <p:nvPr/>
        </p:nvSpPr>
        <p:spPr>
          <a:xfrm>
            <a:off x="5774163" y="3026575"/>
            <a:ext cx="361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</a:t>
            </a: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= [GM(star) p^2 / 4 pi^2]^(1/3)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C91C8-47A7-A781-F1C1-7A17D67604F7}"/>
              </a:ext>
            </a:extLst>
          </p:cNvPr>
          <p:cNvSpPr txBox="1"/>
          <p:nvPr/>
        </p:nvSpPr>
        <p:spPr>
          <a:xfrm>
            <a:off x="5927156" y="3703454"/>
            <a:ext cx="574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[6.67 x 10^(-11) x 365560^2 M(star) / 4 pi^2]^(1/3)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591B8-B424-3751-9287-6EF0C2DCDBD2}"/>
              </a:ext>
            </a:extLst>
          </p:cNvPr>
          <p:cNvSpPr txBox="1"/>
          <p:nvPr/>
        </p:nvSpPr>
        <p:spPr>
          <a:xfrm>
            <a:off x="5927156" y="4380333"/>
            <a:ext cx="5211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7,943,504,324 m = 7,943,504 km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1ECDD8-3D9B-9BFF-1F7C-E5503E976E66}"/>
              </a:ext>
            </a:extLst>
          </p:cNvPr>
          <p:cNvSpPr txBox="1"/>
          <p:nvPr/>
        </p:nvSpPr>
        <p:spPr>
          <a:xfrm>
            <a:off x="5927155" y="5057212"/>
            <a:ext cx="296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0.053AU</a:t>
            </a:r>
          </a:p>
        </p:txBody>
      </p:sp>
      <p:pic>
        <p:nvPicPr>
          <p:cNvPr id="2050" name="Picture 2" descr="The radial velocity graph of 51 Pegasi">
            <a:extLst>
              <a:ext uri="{FF2B5EF4-FFF2-40B4-BE49-F238E27FC236}">
                <a16:creationId xmlns:a16="http://schemas.microsoft.com/office/drawing/2014/main" id="{A114EA1F-4207-0B64-90B8-62CDDEDA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40" y="2241276"/>
            <a:ext cx="4528770" cy="349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4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Actual Result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959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2. Distance from sun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51C037-863B-F81B-4755-1AC4EAA5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51" y="2197233"/>
            <a:ext cx="10554789" cy="318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8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088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 Orbiting velocity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4AC8-ED59-2D52-B2E7-4178E1A57FAB}"/>
              </a:ext>
            </a:extLst>
          </p:cNvPr>
          <p:cNvSpPr txBox="1"/>
          <p:nvPr/>
        </p:nvSpPr>
        <p:spPr>
          <a:xfrm>
            <a:off x="5774163" y="2340549"/>
            <a:ext cx="361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 = 0.053AU = 7,943,504,324 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E23E7-8D82-DCED-3D2A-967E1AD52592}"/>
              </a:ext>
            </a:extLst>
          </p:cNvPr>
          <p:cNvSpPr txBox="1"/>
          <p:nvPr/>
        </p:nvSpPr>
        <p:spPr>
          <a:xfrm>
            <a:off x="5774163" y="3026575"/>
            <a:ext cx="4528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v = 2 pi (7,943,504,324m) / 365560s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C91C8-47A7-A781-F1C1-7A17D67604F7}"/>
              </a:ext>
            </a:extLst>
          </p:cNvPr>
          <p:cNvSpPr txBox="1"/>
          <p:nvPr/>
        </p:nvSpPr>
        <p:spPr>
          <a:xfrm>
            <a:off x="5927156" y="3703454"/>
            <a:ext cx="574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= 136,531 m/s = 136.5 km/s</a:t>
            </a:r>
          </a:p>
        </p:txBody>
      </p:sp>
      <p:pic>
        <p:nvPicPr>
          <p:cNvPr id="2050" name="Picture 2" descr="The radial velocity graph of 51 Pegasi">
            <a:extLst>
              <a:ext uri="{FF2B5EF4-FFF2-40B4-BE49-F238E27FC236}">
                <a16:creationId xmlns:a16="http://schemas.microsoft.com/office/drawing/2014/main" id="{A114EA1F-4207-0B64-90B8-62CDDEDA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40" y="2241276"/>
            <a:ext cx="4528770" cy="349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67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Actual Result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520471" y="153088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 Orbiting velocity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3286D7-9094-3D52-A60B-4D3179D66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278" y="398709"/>
            <a:ext cx="2376023" cy="60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87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Actual Result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684672" y="175369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 Mass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13F062-4487-D27A-1A6A-7150705EB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278" y="1606582"/>
            <a:ext cx="3011778" cy="80941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003E67-988C-7A48-2688-AB9E9771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11" y="2709221"/>
            <a:ext cx="7218317" cy="35607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4B436A-9207-853D-6F8C-D69AD1B0589E}"/>
              </a:ext>
            </a:extLst>
          </p:cNvPr>
          <p:cNvSpPr txBox="1"/>
          <p:nvPr/>
        </p:nvSpPr>
        <p:spPr>
          <a:xfrm>
            <a:off x="8412478" y="3575177"/>
            <a:ext cx="3596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 = 0.46M(</a:t>
            </a:r>
            <a:r>
              <a:rPr lang="en-US" altLang="ko-KR" dirty="0" err="1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jup</a:t>
            </a: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) = 0.00044M(sun)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   = 8.73 x 10^26 kg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10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684672" y="175369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 Mass</a:t>
            </a: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737A384-55FF-2A4C-1CB5-6DC789EB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12" y="2211978"/>
            <a:ext cx="4798652" cy="40815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8FAA37-C0A8-61AB-634D-D16A6DDD8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2" y="2769666"/>
            <a:ext cx="3011778" cy="809415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3E028F0-5589-B6DC-AF9B-C08691CD4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576350"/>
              </p:ext>
            </p:extLst>
          </p:nvPr>
        </p:nvGraphicFramePr>
        <p:xfrm>
          <a:off x="6583679" y="2211978"/>
          <a:ext cx="4632960" cy="308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171170158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51645866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95473882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47943688"/>
                    </a:ext>
                  </a:extLst>
                </a:gridCol>
              </a:tblGrid>
              <a:tr h="34408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mp</a:t>
                      </a:r>
                      <a:r>
                        <a:rPr lang="en-US" altLang="ko-KR" dirty="0"/>
                        <a:t> (Kg)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Ms</a:t>
                      </a:r>
                      <a:r>
                        <a:rPr lang="en-US" altLang="ko-KR" dirty="0"/>
                        <a:t> (kg)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P (sec)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a (AU)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10704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-1.18x10^(29)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0.005200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2014"/>
                  </a:ext>
                </a:extLst>
              </a:tr>
              <a:tr h="430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-9.38x10^(28)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0.052220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168222"/>
                  </a:ext>
                </a:extLst>
              </a:tr>
              <a:tr h="430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-6.93x10^(28)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0.05240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700467"/>
                  </a:ext>
                </a:extLst>
              </a:tr>
              <a:tr h="430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-4.4x10^(28)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0.05260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91216"/>
                  </a:ext>
                </a:extLst>
              </a:tr>
              <a:tr h="42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-1.96x10^(28)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0.05280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51180"/>
                  </a:ext>
                </a:extLst>
              </a:tr>
              <a:tr h="42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5.4x10^(27)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0.05300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77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40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59259E-6 L -0.33034 -0.00371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23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3F2E495-F657-7A70-D69A-618E5EDFF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112516"/>
              </p:ext>
            </p:extLst>
          </p:nvPr>
        </p:nvGraphicFramePr>
        <p:xfrm>
          <a:off x="391885" y="1740586"/>
          <a:ext cx="4632960" cy="308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171170158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51645866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95473882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47943688"/>
                    </a:ext>
                  </a:extLst>
                </a:gridCol>
              </a:tblGrid>
              <a:tr h="34408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mp</a:t>
                      </a:r>
                      <a:r>
                        <a:rPr lang="en-US" altLang="ko-KR" dirty="0"/>
                        <a:t> (Kg)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Ms</a:t>
                      </a:r>
                      <a:r>
                        <a:rPr lang="en-US" altLang="ko-KR" dirty="0"/>
                        <a:t> (kg)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P (sec)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a (AU)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10704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-1.18x10^(29)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0.005200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2014"/>
                  </a:ext>
                </a:extLst>
              </a:tr>
              <a:tr h="430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-9.38x10^(28)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0.052220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168222"/>
                  </a:ext>
                </a:extLst>
              </a:tr>
              <a:tr h="430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-6.93x10^(28)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0.05240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700467"/>
                  </a:ext>
                </a:extLst>
              </a:tr>
              <a:tr h="430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-4.4x10^(28)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0.05260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91216"/>
                  </a:ext>
                </a:extLst>
              </a:tr>
              <a:tr h="42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-1.96x10^(28)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0.05280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51180"/>
                  </a:ext>
                </a:extLst>
              </a:tr>
              <a:tr h="42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5.4x10^(27)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2.22x10^30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365560</a:t>
                      </a:r>
                      <a:endParaRPr lang="ko-KR" altLang="en-US" sz="1200" b="1" dirty="0"/>
                    </a:p>
                    <a:p>
                      <a:pPr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0.05300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775739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9AD26634-7681-9138-AB3F-3D82FAB7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425" y="1740586"/>
            <a:ext cx="6186896" cy="30689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A4B35E-4B97-A490-BA8E-9CCB5CFAAD90}"/>
              </a:ext>
            </a:extLst>
          </p:cNvPr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A763D7-728B-329B-D3B2-1D302DC0B147}"/>
              </a:ext>
            </a:extLst>
          </p:cNvPr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159DC7-3CD5-AB1E-A2A2-02BB8ED0D589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Expected Data - 51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0049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495ED69-9313-7736-529E-C27852FF5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86470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926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51E3FE7-E9C8-C206-126A-AAAAABEC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77" y="1372792"/>
            <a:ext cx="11120846" cy="4338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194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0" dirty="0">
            <a:solidFill>
              <a:schemeClr val="bg1"/>
            </a:solidFill>
            <a:latin typeface="나눔스퀘어 Light" panose="020B0600000101010101" pitchFamily="50" charset="-127"/>
            <a:ea typeface="나눔스퀘어 Light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6947</TotalTime>
  <Words>477</Words>
  <Application>Microsoft Office PowerPoint</Application>
  <PresentationFormat>와이드스크린</PresentationFormat>
  <Paragraphs>130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맑은 고딕</vt:lpstr>
      <vt:lpstr>나눔스퀘어 ExtraBold</vt:lpstr>
      <vt:lpstr>나눔스퀘어 Light</vt:lpstr>
      <vt:lpstr>Arial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23</cp:revision>
  <dcterms:created xsi:type="dcterms:W3CDTF">2017-05-21T13:44:12Z</dcterms:created>
  <dcterms:modified xsi:type="dcterms:W3CDTF">2022-06-06T19:56:03Z</dcterms:modified>
</cp:coreProperties>
</file>