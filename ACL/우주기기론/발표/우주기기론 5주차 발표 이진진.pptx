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258" r:id="rId7"/>
    <p:sldId id="284" r:id="rId8"/>
    <p:sldId id="291" r:id="rId9"/>
    <p:sldId id="290" r:id="rId10"/>
    <p:sldId id="292" r:id="rId11"/>
    <p:sldId id="279" r:id="rId12"/>
    <p:sldId id="293" r:id="rId13"/>
    <p:sldId id="261" r:id="rId14"/>
    <p:sldId id="294" r:id="rId15"/>
    <p:sldId id="295" r:id="rId16"/>
    <p:sldId id="297" r:id="rId17"/>
    <p:sldId id="296" r:id="rId18"/>
    <p:sldId id="289" r:id="rId19"/>
    <p:sldId id="263" r:id="rId20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21"/>
    </p:embeddedFont>
    <p:embeddedFont>
      <p:font typeface="나눔스퀘어 Light" panose="020B0600000101010101" pitchFamily="50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29993" y="2789592"/>
            <a:ext cx="4332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James Webb Space Telescope</a:t>
            </a:r>
            <a:endParaRPr lang="en-US" altLang="ko-KR" sz="2400" b="0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1918" y="2290822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1942" y="3105835"/>
            <a:ext cx="2122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8662" y="3105835"/>
            <a:ext cx="2792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Observing mode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13492" y="3105835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Data analysis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61350" y="3105835"/>
            <a:ext cx="15751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Detector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3855" y="2290821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05792" y="2290820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7729" y="2290819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04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63092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455521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7378430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255619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0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0867" y="886396"/>
            <a:ext cx="1949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>
            <a:extLst>
              <a:ext uri="{FF2B5EF4-FFF2-40B4-BE49-F238E27FC236}">
                <a16:creationId xmlns:a16="http://schemas.microsoft.com/office/drawing/2014/main" id="{C68939BA-DBD0-45DD-8AF2-9220F4E2F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46" y="1777605"/>
            <a:ext cx="10658475" cy="4193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13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0867" y="894254"/>
            <a:ext cx="2932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Instrument - ISIM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 ISIM Components within the Observatory">
            <a:extLst>
              <a:ext uri="{FF2B5EF4-FFF2-40B4-BE49-F238E27FC236}">
                <a16:creationId xmlns:a16="http://schemas.microsoft.com/office/drawing/2014/main" id="{87599871-5D03-47DA-92BA-3110C384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26" y="1712145"/>
            <a:ext cx="6129624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9B3E87-BF96-44EC-A77F-30C26A15F0CA}"/>
              </a:ext>
            </a:extLst>
          </p:cNvPr>
          <p:cNvSpPr txBox="1"/>
          <p:nvPr/>
        </p:nvSpPr>
        <p:spPr>
          <a:xfrm>
            <a:off x="6854766" y="3163151"/>
            <a:ext cx="4926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Mid-infrared Instrument (MIRI)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4C8578-9178-4BD1-84E7-CDDDA614226D}"/>
              </a:ext>
            </a:extLst>
          </p:cNvPr>
          <p:cNvSpPr txBox="1"/>
          <p:nvPr/>
        </p:nvSpPr>
        <p:spPr>
          <a:xfrm>
            <a:off x="6854766" y="2206467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Near-Infrared Spectrograph (</a:t>
            </a:r>
            <a:r>
              <a:rPr lang="en-US" altLang="ko-KR" dirty="0" err="1">
                <a:solidFill>
                  <a:schemeClr val="bg1"/>
                </a:solidFill>
              </a:rPr>
              <a:t>NIRSpec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1ADEA-2C4E-4DC0-96B4-E1FF9FE01C20}"/>
              </a:ext>
            </a:extLst>
          </p:cNvPr>
          <p:cNvSpPr txBox="1"/>
          <p:nvPr/>
        </p:nvSpPr>
        <p:spPr>
          <a:xfrm>
            <a:off x="6854766" y="1720601"/>
            <a:ext cx="4270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Near-Infrared Camera (</a:t>
            </a:r>
            <a:r>
              <a:rPr lang="en-US" altLang="ko-KR" dirty="0" err="1">
                <a:solidFill>
                  <a:schemeClr val="bg1"/>
                </a:solidFill>
              </a:rPr>
              <a:t>NIRCam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6A1E52-65EA-4E9A-A196-9B7B07684B5F}"/>
              </a:ext>
            </a:extLst>
          </p:cNvPr>
          <p:cNvSpPr txBox="1"/>
          <p:nvPr/>
        </p:nvSpPr>
        <p:spPr>
          <a:xfrm>
            <a:off x="6854766" y="4171620"/>
            <a:ext cx="5425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4. Fine-Guidance Sensor / Near Infrared imager  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and </a:t>
            </a:r>
            <a:r>
              <a:rPr lang="en-US" altLang="ko-KR" dirty="0" err="1">
                <a:solidFill>
                  <a:schemeClr val="bg1"/>
                </a:solidFill>
              </a:rPr>
              <a:t>Slitless</a:t>
            </a:r>
            <a:r>
              <a:rPr lang="en-US" altLang="ko-KR" dirty="0">
                <a:solidFill>
                  <a:schemeClr val="bg1"/>
                </a:solidFill>
              </a:rPr>
              <a:t> Spectrograph (FGS-NIRISS)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56003F-2502-4CB2-8D46-1056136F701E}"/>
              </a:ext>
            </a:extLst>
          </p:cNvPr>
          <p:cNvSpPr txBox="1"/>
          <p:nvPr/>
        </p:nvSpPr>
        <p:spPr>
          <a:xfrm>
            <a:off x="7206333" y="2620955"/>
            <a:ext cx="650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→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0.6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–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5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239C07-BEE4-4CD1-BA01-C9C70809AB50}"/>
              </a:ext>
            </a:extLst>
          </p:cNvPr>
          <p:cNvSpPr txBox="1"/>
          <p:nvPr/>
        </p:nvSpPr>
        <p:spPr>
          <a:xfrm>
            <a:off x="7206333" y="3595659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/>
              </a:rPr>
              <a:t>→ 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5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–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28.3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3DDFC-BD96-42C2-8AF6-C122E4E11954}"/>
              </a:ext>
            </a:extLst>
          </p:cNvPr>
          <p:cNvSpPr txBox="1"/>
          <p:nvPr/>
        </p:nvSpPr>
        <p:spPr>
          <a:xfrm>
            <a:off x="7206333" y="4931398"/>
            <a:ext cx="70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/>
              </a:rPr>
              <a:t>→ 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0.8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–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5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98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9563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Near Infrared imager and </a:t>
            </a:r>
            <a:r>
              <a:rPr lang="en-US" altLang="ko-KR" sz="2800" dirty="0" err="1">
                <a:solidFill>
                  <a:schemeClr val="bg1"/>
                </a:solidFill>
              </a:rPr>
              <a:t>Slitless</a:t>
            </a:r>
            <a:r>
              <a:rPr lang="en-US" altLang="ko-KR" sz="2800" dirty="0">
                <a:solidFill>
                  <a:schemeClr val="bg1"/>
                </a:solidFill>
              </a:rPr>
              <a:t> Spectrograph (NIRISS)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1B830A9-7682-49E3-BDD8-D69E14C7C197}"/>
              </a:ext>
            </a:extLst>
          </p:cNvPr>
          <p:cNvCxnSpPr/>
          <p:nvPr/>
        </p:nvCxnSpPr>
        <p:spPr>
          <a:xfrm>
            <a:off x="5702217" y="6673848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AF08205-A540-4053-B2DE-EACAF248C064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C7801-8D85-47C9-B3F1-D2D2376AD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156" y="2152652"/>
            <a:ext cx="4600061" cy="346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9D0376-F33C-46FF-819B-14C016598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84" y="1885086"/>
            <a:ext cx="4359275" cy="399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6A346EB-A8BB-44D4-BE53-F72441B1C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39" y="1529308"/>
            <a:ext cx="9907561" cy="495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66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9563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Near Infrared imager and </a:t>
            </a:r>
            <a:r>
              <a:rPr lang="en-US" altLang="ko-KR" sz="2800" dirty="0" err="1">
                <a:solidFill>
                  <a:schemeClr val="bg1"/>
                </a:solidFill>
              </a:rPr>
              <a:t>Slitless</a:t>
            </a:r>
            <a:r>
              <a:rPr lang="en-US" altLang="ko-KR" sz="2800" dirty="0">
                <a:solidFill>
                  <a:schemeClr val="bg1"/>
                </a:solidFill>
              </a:rPr>
              <a:t> Spectrograph (NIRISS)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1B830A9-7682-49E3-BDD8-D69E14C7C197}"/>
              </a:ext>
            </a:extLst>
          </p:cNvPr>
          <p:cNvCxnSpPr/>
          <p:nvPr/>
        </p:nvCxnSpPr>
        <p:spPr>
          <a:xfrm>
            <a:off x="5702217" y="6673848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AF08205-A540-4053-B2DE-EACAF248C064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B97D741-9FA6-49D5-9687-2ECD9DF80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783" y="1603344"/>
            <a:ext cx="3781867" cy="48806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C0E593-E59D-4312-BA77-65EEBC87D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063" y="1603344"/>
            <a:ext cx="5657850" cy="488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8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3196" y="730314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9187" y="976535"/>
            <a:ext cx="2792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Observing mode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39179" y="637862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A57DAA-C1DD-42A7-B931-42391C2D2AC3}"/>
              </a:ext>
            </a:extLst>
          </p:cNvPr>
          <p:cNvSpPr txBox="1"/>
          <p:nvPr/>
        </p:nvSpPr>
        <p:spPr>
          <a:xfrm>
            <a:off x="463579" y="2991267"/>
            <a:ext cx="6453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Single object </a:t>
            </a:r>
            <a:r>
              <a:rPr lang="en-US" altLang="ko-KR" dirty="0" err="1">
                <a:solidFill>
                  <a:schemeClr val="bg1"/>
                </a:solidFill>
              </a:rPr>
              <a:t>slitless</a:t>
            </a:r>
            <a:r>
              <a:rPr lang="en-US" altLang="ko-KR" dirty="0">
                <a:solidFill>
                  <a:schemeClr val="bg1"/>
                </a:solidFill>
              </a:rPr>
              <a:t> spectroscopy (SOSS) – 0.6 ~ 2.8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222FB4-C5D9-457A-89A0-5B98F36F77EA}"/>
              </a:ext>
            </a:extLst>
          </p:cNvPr>
          <p:cNvSpPr txBox="1"/>
          <p:nvPr/>
        </p:nvSpPr>
        <p:spPr>
          <a:xfrm>
            <a:off x="463579" y="2509164"/>
            <a:ext cx="6234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Wide-field </a:t>
            </a:r>
            <a:r>
              <a:rPr lang="en-US" altLang="ko-KR" dirty="0" err="1">
                <a:solidFill>
                  <a:schemeClr val="bg1"/>
                </a:solidFill>
              </a:rPr>
              <a:t>slitless</a:t>
            </a:r>
            <a:r>
              <a:rPr lang="en-US" altLang="ko-KR" dirty="0">
                <a:solidFill>
                  <a:schemeClr val="bg1"/>
                </a:solidFill>
              </a:rPr>
              <a:t> spectroscopy (WFSS) – 0.8 ~ 2.2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5BC3E-0A68-491C-8E53-D776175088B8}"/>
              </a:ext>
            </a:extLst>
          </p:cNvPr>
          <p:cNvSpPr txBox="1"/>
          <p:nvPr/>
        </p:nvSpPr>
        <p:spPr>
          <a:xfrm>
            <a:off x="463580" y="3966762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4.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Imaging – 0.8 ~ 5.0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A6E3B4-97E8-4F5C-AD95-F20485DDD7A3}"/>
              </a:ext>
            </a:extLst>
          </p:cNvPr>
          <p:cNvSpPr txBox="1"/>
          <p:nvPr/>
        </p:nvSpPr>
        <p:spPr>
          <a:xfrm>
            <a:off x="463579" y="3480896"/>
            <a:ext cx="6648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3.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Aperture masking interferometry (AMI) – 2.8 ~ 4.8 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BD4FFF-D92C-4B6E-8BCB-A5E96BBE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7" y="2383468"/>
            <a:ext cx="6325870" cy="29335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14722F-457D-4BD7-8AAF-E70BD72B8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516" y="1258807"/>
            <a:ext cx="4022904" cy="501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9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3196" y="730314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9186" y="976535"/>
            <a:ext cx="5860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Observing mode – Imaging mode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39179" y="637862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B89F5E4-3142-4407-9BBB-DD1A9F5AB814}"/>
              </a:ext>
            </a:extLst>
          </p:cNvPr>
          <p:cNvSpPr txBox="1"/>
          <p:nvPr/>
        </p:nvSpPr>
        <p:spPr>
          <a:xfrm>
            <a:off x="639179" y="2203809"/>
            <a:ext cx="6140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Enables standard multi-wavelength imaging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B797B-2F24-439C-8D58-9D528DFD85E3}"/>
              </a:ext>
            </a:extLst>
          </p:cNvPr>
          <p:cNvSpPr txBox="1"/>
          <p:nvPr/>
        </p:nvSpPr>
        <p:spPr>
          <a:xfrm>
            <a:off x="639179" y="4426515"/>
            <a:ext cx="6140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0.065” / pixel image scale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17898-3288-47FE-890D-26420D8A2B29}"/>
              </a:ext>
            </a:extLst>
          </p:cNvPr>
          <p:cNvSpPr txBox="1"/>
          <p:nvPr/>
        </p:nvSpPr>
        <p:spPr>
          <a:xfrm>
            <a:off x="639179" y="3644309"/>
            <a:ext cx="6140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2.2’ x 2.2’ field of view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97920-6A2C-434F-84FE-2BFEBE0D6D51}"/>
              </a:ext>
            </a:extLst>
          </p:cNvPr>
          <p:cNvSpPr txBox="1"/>
          <p:nvPr/>
        </p:nvSpPr>
        <p:spPr>
          <a:xfrm>
            <a:off x="639179" y="2891036"/>
            <a:ext cx="6140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12 filters (0.8-5.0</a:t>
            </a:r>
            <a:r>
              <a:rPr lang="el-GR" altLang="ko-KR" dirty="0">
                <a:solidFill>
                  <a:schemeClr val="bg1"/>
                </a:solidFill>
                <a:effectLst/>
              </a:rPr>
              <a:t> μ</a:t>
            </a:r>
            <a:r>
              <a:rPr lang="en-US" altLang="ko-KR" dirty="0">
                <a:solidFill>
                  <a:schemeClr val="bg1"/>
                </a:solidFill>
                <a:effectLst/>
              </a:rPr>
              <a:t>m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B646FC-A8BA-47A3-B828-D2D6709B038F}"/>
              </a:ext>
            </a:extLst>
          </p:cNvPr>
          <p:cNvSpPr txBox="1"/>
          <p:nvPr/>
        </p:nvSpPr>
        <p:spPr>
          <a:xfrm>
            <a:off x="639179" y="5208721"/>
            <a:ext cx="6140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ㆍ</a:t>
            </a:r>
            <a:r>
              <a:rPr lang="en-US" altLang="ko-KR" dirty="0">
                <a:solidFill>
                  <a:schemeClr val="bg1"/>
                </a:solidFill>
              </a:rPr>
              <a:t>fundamental component of the WFSS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8FAD9A-BA1E-451E-AD6E-0B00A85D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50" y="1865889"/>
            <a:ext cx="93726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2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13" y="890496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Data analysis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50D490-EBBA-40AF-9151-C4F74FC83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84" y="2396181"/>
            <a:ext cx="5668433" cy="283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D4493B-BD44-4613-B610-362B80647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83" y="2396181"/>
            <a:ext cx="5668433" cy="283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90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13" y="890496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Data analysis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1D0455-93B5-41CA-B19A-915981865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739" y="1906159"/>
            <a:ext cx="8923283" cy="4031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899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13" y="890496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Data analysis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CAAC27A-314B-44E0-B1B7-6363FEC3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6" y="1906159"/>
            <a:ext cx="5670519" cy="38305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1381CF5-E14C-4B7F-AF41-B84B216DF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913" y="2827020"/>
            <a:ext cx="4515531" cy="185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0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13" y="890496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Data analysis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B477C775-AFB7-4555-8827-5001AE93F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837" y="485775"/>
            <a:ext cx="3800475" cy="588645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4D8AD78-5A6D-4585-BE0A-2CAE71E3A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575" y="1659937"/>
            <a:ext cx="5741984" cy="472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0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8413" y="890496"/>
            <a:ext cx="226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Data analysis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Overview of the steps of the JWST pipeline.">
            <a:extLst>
              <a:ext uri="{FF2B5EF4-FFF2-40B4-BE49-F238E27FC236}">
                <a16:creationId xmlns:a16="http://schemas.microsoft.com/office/drawing/2014/main" id="{0E7E5175-28CE-44A5-94FA-3D045E2AD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092" y="2509837"/>
            <a:ext cx="80962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13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04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Detector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17F42287-FD97-4FAD-89BD-78F43236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239" y="1926431"/>
            <a:ext cx="3639411" cy="350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045DBBC-750E-4036-A21F-93497626F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784" y="1926431"/>
            <a:ext cx="4410075" cy="3505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BB37024-E97B-471C-BA11-E18B412BDB31}"/>
              </a:ext>
            </a:extLst>
          </p:cNvPr>
          <p:cNvSpPr txBox="1"/>
          <p:nvPr/>
        </p:nvSpPr>
        <p:spPr>
          <a:xfrm>
            <a:off x="2762043" y="5687802"/>
            <a:ext cx="1385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effectLst/>
              </a:rPr>
              <a:t>Hawaii-2RG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66397B-D6E7-4109-8A96-B93DDC197F86}"/>
              </a:ext>
            </a:extLst>
          </p:cNvPr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4F3CF45-A0E2-42B9-BD5C-279273E197B2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62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</TotalTime>
  <Words>214</Words>
  <Application>Microsoft Office PowerPoint</Application>
  <PresentationFormat>와이드스크린</PresentationFormat>
  <Paragraphs>54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Arial</vt:lpstr>
      <vt:lpstr>맑은 고딕</vt:lpstr>
      <vt:lpstr>나눔스퀘어 ExtraBold</vt:lpstr>
      <vt:lpstr>나눔스퀘어 Light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10</cp:revision>
  <dcterms:created xsi:type="dcterms:W3CDTF">2017-05-21T13:44:12Z</dcterms:created>
  <dcterms:modified xsi:type="dcterms:W3CDTF">2022-04-04T21:23:29Z</dcterms:modified>
</cp:coreProperties>
</file>