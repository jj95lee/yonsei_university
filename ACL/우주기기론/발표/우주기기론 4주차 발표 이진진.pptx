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8" r:id="rId1"/>
    <p:sldMasterId id="2147483648" r:id="rId2"/>
    <p:sldMasterId id="2147483656" r:id="rId3"/>
    <p:sldMasterId id="2147483660" r:id="rId4"/>
    <p:sldMasterId id="2147483662" r:id="rId5"/>
  </p:sldMasterIdLst>
  <p:sldIdLst>
    <p:sldId id="257" r:id="rId6"/>
    <p:sldId id="259" r:id="rId7"/>
    <p:sldId id="258" r:id="rId8"/>
    <p:sldId id="284" r:id="rId9"/>
    <p:sldId id="285" r:id="rId10"/>
    <p:sldId id="279" r:id="rId11"/>
    <p:sldId id="261" r:id="rId12"/>
    <p:sldId id="286" r:id="rId13"/>
    <p:sldId id="287" r:id="rId14"/>
    <p:sldId id="288" r:id="rId15"/>
    <p:sldId id="289" r:id="rId16"/>
    <p:sldId id="263" r:id="rId17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18"/>
    </p:embeddedFont>
    <p:embeddedFont>
      <p:font typeface="나눔스퀘어 Light" panose="020B0600000101010101" pitchFamily="50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81" autoAdjust="0"/>
    <p:restoredTop sz="94660"/>
  </p:normalViewPr>
  <p:slideViewPr>
    <p:cSldViewPr snapToGrid="0">
      <p:cViewPr varScale="1">
        <p:scale>
          <a:sx n="47" d="100"/>
          <a:sy n="47" d="100"/>
        </p:scale>
        <p:origin x="66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95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92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1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79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45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6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8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998220"/>
            <a:ext cx="12184380" cy="486156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59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315686"/>
            <a:ext cx="12184380" cy="6226628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45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29993" y="2789592"/>
            <a:ext cx="4332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James Webb Space Telescope</a:t>
            </a:r>
            <a:endParaRPr lang="en-US" altLang="ko-KR" sz="2400" b="0" i="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20408" y="3816532"/>
            <a:ext cx="2012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2022311224 </a:t>
            </a:r>
            <a:r>
              <a:rPr lang="ko-KR" altLang="en-US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이진진</a:t>
            </a:r>
          </a:p>
        </p:txBody>
      </p:sp>
    </p:spTree>
    <p:extLst>
      <p:ext uri="{BB962C8B-B14F-4D97-AF65-F5344CB8AC3E}">
        <p14:creationId xmlns:p14="http://schemas.microsoft.com/office/powerpoint/2010/main" val="395001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2540EC3-1255-4029-AADE-D276E85A2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235" y="801188"/>
            <a:ext cx="6569529" cy="525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066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1918" y="2290822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9218" y="3105835"/>
            <a:ext cx="25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What is JWST?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82936" y="3105835"/>
            <a:ext cx="2924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Limitation of HST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85816" y="3105835"/>
            <a:ext cx="2122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90341" y="3105835"/>
            <a:ext cx="1917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Conclusion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03855" y="2290821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02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05792" y="2290820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07729" y="2290819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04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63092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4455521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7378430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0255619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04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519" y="648033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0867" y="894254"/>
            <a:ext cx="25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What is JWST?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79693" y="599583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Scientists Believe Finding Life Beyond Earth is Within Reach">
            <a:extLst>
              <a:ext uri="{FF2B5EF4-FFF2-40B4-BE49-F238E27FC236}">
                <a16:creationId xmlns:a16="http://schemas.microsoft.com/office/drawing/2014/main" id="{523FC733-2BC0-4F3D-B7DB-1A70A6DCD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17" y="1909917"/>
            <a:ext cx="51816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C5BA9161-4197-4FC2-B0E5-99D456334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837791"/>
              </p:ext>
            </p:extLst>
          </p:nvPr>
        </p:nvGraphicFramePr>
        <p:xfrm>
          <a:off x="6062217" y="1254760"/>
          <a:ext cx="5891750" cy="480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886">
                  <a:extLst>
                    <a:ext uri="{9D8B030D-6E8A-4147-A177-3AD203B41FA5}">
                      <a16:colId xmlns:a16="http://schemas.microsoft.com/office/drawing/2014/main" val="2775315786"/>
                    </a:ext>
                  </a:extLst>
                </a:gridCol>
                <a:gridCol w="3619864">
                  <a:extLst>
                    <a:ext uri="{9D8B030D-6E8A-4147-A177-3AD203B41FA5}">
                      <a16:colId xmlns:a16="http://schemas.microsoft.com/office/drawing/2014/main" val="150046513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James Webb Space Telescope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793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Launch Date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2021. 12. 25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0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Launch mass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6161.4 kg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26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Dimensions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20.197m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x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14.162m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088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Power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kW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091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Rocket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Ariane 5 ECA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209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Launch site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Centre Spatial </a:t>
                      </a:r>
                      <a:r>
                        <a:rPr lang="en-US" altLang="ko-KR" dirty="0" err="1"/>
                        <a:t>Guyanais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126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Periapsis altitude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250,000 km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818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Apoapsis altitude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832,000 km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66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Period 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 months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645265"/>
                  </a:ext>
                </a:extLst>
              </a:tr>
              <a:tr h="213360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Main telescope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Diameter : 6.5 m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64651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Focal ratio : 131.4 m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118122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Wavelength : </a:t>
                      </a:r>
                      <a:r>
                        <a:rPr lang="el-GR" altLang="ko-KR" dirty="0">
                          <a:effectLst/>
                        </a:rPr>
                        <a:t>0.6</a:t>
                      </a:r>
                      <a:r>
                        <a:rPr lang="en-US" altLang="ko-KR" dirty="0">
                          <a:effectLst/>
                        </a:rPr>
                        <a:t> </a:t>
                      </a:r>
                      <a:r>
                        <a:rPr lang="el-GR" altLang="ko-KR" dirty="0">
                          <a:effectLst/>
                        </a:rPr>
                        <a:t>–</a:t>
                      </a:r>
                      <a:r>
                        <a:rPr lang="en-US" altLang="ko-KR" dirty="0">
                          <a:effectLst/>
                        </a:rPr>
                        <a:t> </a:t>
                      </a:r>
                      <a:r>
                        <a:rPr lang="el-GR" altLang="ko-KR" dirty="0">
                          <a:effectLst/>
                        </a:rPr>
                        <a:t>28.3 μ</a:t>
                      </a:r>
                      <a:r>
                        <a:rPr lang="en-US" altLang="ko-KR" dirty="0">
                          <a:effectLst/>
                        </a:rPr>
                        <a:t>m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7919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13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519" y="648033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0867" y="894254"/>
            <a:ext cx="25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What is JWST?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79693" y="599583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earth sun distance &#10;  graphic">
            <a:extLst>
              <a:ext uri="{FF2B5EF4-FFF2-40B4-BE49-F238E27FC236}">
                <a16:creationId xmlns:a16="http://schemas.microsoft.com/office/drawing/2014/main" id="{8AF8A5C8-55F7-42CE-BDF1-66AA4600D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055" y="1962168"/>
            <a:ext cx="8937889" cy="165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ST, Webb distance &#10;  graphic">
            <a:extLst>
              <a:ext uri="{FF2B5EF4-FFF2-40B4-BE49-F238E27FC236}">
                <a16:creationId xmlns:a16="http://schemas.microsoft.com/office/drawing/2014/main" id="{F9CB0FD2-0B0C-4D1A-B1B1-45D04A2C8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48" y="3795040"/>
            <a:ext cx="9015104" cy="245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Diagram showing the Sun, the Earth, Webb, and the Lagrange points">
            <a:extLst>
              <a:ext uri="{FF2B5EF4-FFF2-40B4-BE49-F238E27FC236}">
                <a16:creationId xmlns:a16="http://schemas.microsoft.com/office/drawing/2014/main" id="{54185643-9ECD-4221-9062-9ECE73E83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277" y="1962168"/>
            <a:ext cx="6261203" cy="429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unshield diagram">
            <a:extLst>
              <a:ext uri="{FF2B5EF4-FFF2-40B4-BE49-F238E27FC236}">
                <a16:creationId xmlns:a16="http://schemas.microsoft.com/office/drawing/2014/main" id="{0C6E9F04-FCAD-457E-920C-5C8F20FA8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277" y="894254"/>
            <a:ext cx="6230275" cy="533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165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FB4841-9904-430C-B26A-7D2317F4C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896716"/>
              </p:ext>
            </p:extLst>
          </p:nvPr>
        </p:nvGraphicFramePr>
        <p:xfrm>
          <a:off x="2015066" y="1640066"/>
          <a:ext cx="896107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5134">
                  <a:extLst>
                    <a:ext uri="{9D8B030D-6E8A-4147-A177-3AD203B41FA5}">
                      <a16:colId xmlns:a16="http://schemas.microsoft.com/office/drawing/2014/main" val="420383333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3983876574"/>
                    </a:ext>
                  </a:extLst>
                </a:gridCol>
                <a:gridCol w="2851313">
                  <a:extLst>
                    <a:ext uri="{9D8B030D-6E8A-4147-A177-3AD203B41FA5}">
                      <a16:colId xmlns:a16="http://schemas.microsoft.com/office/drawing/2014/main" val="3633923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JWST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983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wavelength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 ~ 2.5 </a:t>
                      </a:r>
                      <a:r>
                        <a:rPr lang="el-GR" altLang="ko-KR" dirty="0">
                          <a:effectLst/>
                        </a:rPr>
                        <a:t>μ</a:t>
                      </a:r>
                      <a:r>
                        <a:rPr lang="en-US" altLang="ko-KR" dirty="0">
                          <a:effectLst/>
                        </a:rPr>
                        <a:t>m</a:t>
                      </a:r>
                    </a:p>
                    <a:p>
                      <a:pPr latinLnBrk="1"/>
                      <a:r>
                        <a:rPr lang="en-US" altLang="ko-KR" dirty="0">
                          <a:effectLst/>
                        </a:rPr>
                        <a:t>(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 portion of the IR</a:t>
                      </a:r>
                      <a:r>
                        <a:rPr lang="en-US" altLang="ko-KR" dirty="0">
                          <a:effectLst/>
                        </a:rPr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0.6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ko-KR" dirty="0"/>
                        <a:t>~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ko-KR" dirty="0"/>
                        <a:t>28</a:t>
                      </a:r>
                      <a:r>
                        <a:rPr lang="en-US" altLang="ko-KR" dirty="0"/>
                        <a:t> </a:t>
                      </a:r>
                      <a:r>
                        <a:rPr lang="el-GR" altLang="ko-KR" dirty="0">
                          <a:effectLst/>
                        </a:rPr>
                        <a:t>μ</a:t>
                      </a:r>
                      <a:r>
                        <a:rPr lang="en-US" altLang="ko-KR" dirty="0">
                          <a:effectLst/>
                        </a:rPr>
                        <a:t>m</a:t>
                      </a:r>
                    </a:p>
                    <a:p>
                      <a:pPr latinLnBrk="1"/>
                      <a:r>
                        <a:rPr lang="en-US" altLang="ko-KR" dirty="0">
                          <a:effectLst/>
                        </a:rPr>
                        <a:t>(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primarily in the IR range</a:t>
                      </a:r>
                      <a:r>
                        <a:rPr lang="en-US" altLang="ko-KR" dirty="0">
                          <a:effectLst/>
                        </a:rPr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17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Diameter of Primary Mirror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2.4 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6.5 m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960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Orbit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Around the Earth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Around the Sun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309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Altitude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570 km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1.5 millions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km (L2)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50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Period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95.42 minutes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6 months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80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Observation range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toddler galaxies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baby galaxies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91176"/>
                  </a:ext>
                </a:extLst>
              </a:tr>
            </a:tbl>
          </a:graphicData>
        </a:graphic>
      </p:graphicFrame>
      <p:pic>
        <p:nvPicPr>
          <p:cNvPr id="6146" name="Picture 2" descr="EM Spectrum and &#10;satellites">
            <a:extLst>
              <a:ext uri="{FF2B5EF4-FFF2-40B4-BE49-F238E27FC236}">
                <a16:creationId xmlns:a16="http://schemas.microsoft.com/office/drawing/2014/main" id="{8E7167A4-5F29-4CC6-B4BE-F5581F05D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216" y="1643591"/>
            <a:ext cx="8961071" cy="288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ubble's visible and infrared views of the Monkey Head Nebula">
            <a:extLst>
              <a:ext uri="{FF2B5EF4-FFF2-40B4-BE49-F238E27FC236}">
                <a16:creationId xmlns:a16="http://schemas.microsoft.com/office/drawing/2014/main" id="{F6B1A499-CCB6-4F32-A242-89B4432AE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203" y="1499755"/>
            <a:ext cx="9679162" cy="420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Seeing back into the cosmos">
            <a:extLst>
              <a:ext uri="{FF2B5EF4-FFF2-40B4-BE49-F238E27FC236}">
                <a16:creationId xmlns:a16="http://schemas.microsoft.com/office/drawing/2014/main" id="{2E24D0BA-B4A9-4FE8-BD53-F0F44ABFF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275" y="730314"/>
            <a:ext cx="6678479" cy="456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ebb and Hubble mirror &#10;comparison">
            <a:extLst>
              <a:ext uri="{FF2B5EF4-FFF2-40B4-BE49-F238E27FC236}">
                <a16:creationId xmlns:a16="http://schemas.microsoft.com/office/drawing/2014/main" id="{009CD174-F7E0-4C04-8D99-D8CA4009D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6" y="794809"/>
            <a:ext cx="6530164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3196" y="730314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02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3462" y="976535"/>
            <a:ext cx="2924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Limitation of HST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39179" y="637862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39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739" y="890496"/>
            <a:ext cx="2122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>
            <a:extLst>
              <a:ext uri="{FF2B5EF4-FFF2-40B4-BE49-F238E27FC236}">
                <a16:creationId xmlns:a16="http://schemas.microsoft.com/office/drawing/2014/main" id="{5E4EFC8E-6E7E-43AD-8DF0-750A0BEC0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56" y="1659937"/>
            <a:ext cx="10658475" cy="419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90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739" y="890496"/>
            <a:ext cx="6344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Instruments - OTE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>
            <a:extLst>
              <a:ext uri="{FF2B5EF4-FFF2-40B4-BE49-F238E27FC236}">
                <a16:creationId xmlns:a16="http://schemas.microsoft.com/office/drawing/2014/main" id="{7A5B857D-3F69-4AE8-91E3-42B9E953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23" y="1879850"/>
            <a:ext cx="6129624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1A37FF-543D-4787-8C2E-A551A4AC377D}"/>
              </a:ext>
            </a:extLst>
          </p:cNvPr>
          <p:cNvSpPr txBox="1"/>
          <p:nvPr/>
        </p:nvSpPr>
        <p:spPr>
          <a:xfrm>
            <a:off x="7034213" y="544826"/>
            <a:ext cx="4926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6.5m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Primary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mirror (18 hexa-segments)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27AB95-0C48-40FB-AF7E-F66832FB9F1E}"/>
              </a:ext>
            </a:extLst>
          </p:cNvPr>
          <p:cNvSpPr txBox="1"/>
          <p:nvPr/>
        </p:nvSpPr>
        <p:spPr>
          <a:xfrm>
            <a:off x="7034213" y="1128260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0.74m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Secondary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mirror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9B2AC-0C9E-4D56-BD89-0B475E743D0D}"/>
              </a:ext>
            </a:extLst>
          </p:cNvPr>
          <p:cNvSpPr txBox="1"/>
          <p:nvPr/>
        </p:nvSpPr>
        <p:spPr>
          <a:xfrm>
            <a:off x="7034213" y="1711694"/>
            <a:ext cx="4270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Aft Optics Subsystem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   (Tertiary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mirror,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fine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steering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mirror)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F690FC-1042-4367-BCE5-3B1604003094}"/>
              </a:ext>
            </a:extLst>
          </p:cNvPr>
          <p:cNvSpPr txBox="1"/>
          <p:nvPr/>
        </p:nvSpPr>
        <p:spPr>
          <a:xfrm>
            <a:off x="7034213" y="2572127"/>
            <a:ext cx="427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Telescope structure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922041-6E05-4AD7-A9B8-5A08BF6EFE93}"/>
              </a:ext>
            </a:extLst>
          </p:cNvPr>
          <p:cNvSpPr txBox="1"/>
          <p:nvPr/>
        </p:nvSpPr>
        <p:spPr>
          <a:xfrm>
            <a:off x="7403306" y="3013436"/>
            <a:ext cx="6634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 primary mirror backplane assembly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C22BFE-107B-4DC7-80A5-E8AA6B5D7646}"/>
              </a:ext>
            </a:extLst>
          </p:cNvPr>
          <p:cNvSpPr txBox="1"/>
          <p:nvPr/>
        </p:nvSpPr>
        <p:spPr>
          <a:xfrm>
            <a:off x="7403306" y="3464381"/>
            <a:ext cx="7067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 the main backplane support fixture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D541D2-EA53-4874-8CB2-64B81C4870A6}"/>
              </a:ext>
            </a:extLst>
          </p:cNvPr>
          <p:cNvSpPr txBox="1"/>
          <p:nvPr/>
        </p:nvSpPr>
        <p:spPr>
          <a:xfrm>
            <a:off x="7403306" y="3915326"/>
            <a:ext cx="7281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 the secondary mirror support structure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B18B56-7ABF-4186-B065-C78DA38236DE}"/>
              </a:ext>
            </a:extLst>
          </p:cNvPr>
          <p:cNvSpPr txBox="1"/>
          <p:nvPr/>
        </p:nvSpPr>
        <p:spPr>
          <a:xfrm>
            <a:off x="7403306" y="4366271"/>
            <a:ext cx="7281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 the deployable tower array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35F773-DF80-4B35-80CE-65EE2A725DC0}"/>
              </a:ext>
            </a:extLst>
          </p:cNvPr>
          <p:cNvSpPr txBox="1"/>
          <p:nvPr/>
        </p:nvSpPr>
        <p:spPr>
          <a:xfrm>
            <a:off x="7034213" y="4898612"/>
            <a:ext cx="427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Thermal Management Subsystem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94B45C-79AC-4477-B0A1-30FA9D9BCB8C}"/>
              </a:ext>
            </a:extLst>
          </p:cNvPr>
          <p:cNvSpPr txBox="1"/>
          <p:nvPr/>
        </p:nvSpPr>
        <p:spPr>
          <a:xfrm>
            <a:off x="7034213" y="5471926"/>
            <a:ext cx="427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Aft Deployable ISIM Radiator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C37213-C431-44F1-8098-2C6135E19885}"/>
              </a:ext>
            </a:extLst>
          </p:cNvPr>
          <p:cNvSpPr txBox="1"/>
          <p:nvPr/>
        </p:nvSpPr>
        <p:spPr>
          <a:xfrm>
            <a:off x="7034213" y="6029059"/>
            <a:ext cx="427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Wavefront sensing and control</a:t>
            </a:r>
          </a:p>
        </p:txBody>
      </p:sp>
      <p:pic>
        <p:nvPicPr>
          <p:cNvPr id="2050" name="Picture 2" descr="JWST mirror assembly segment">
            <a:extLst>
              <a:ext uri="{FF2B5EF4-FFF2-40B4-BE49-F238E27FC236}">
                <a16:creationId xmlns:a16="http://schemas.microsoft.com/office/drawing/2014/main" id="{465CAB7D-1831-4B1A-828E-834BECAE9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23" y="1879850"/>
            <a:ext cx="5306784" cy="433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JWST mirrors">
            <a:extLst>
              <a:ext uri="{FF2B5EF4-FFF2-40B4-BE49-F238E27FC236}">
                <a16:creationId xmlns:a16="http://schemas.microsoft.com/office/drawing/2014/main" id="{40EC156D-4F6F-487A-B2C3-5521B037F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871" y="1879850"/>
            <a:ext cx="5778499" cy="433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70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 ISIM Components within the Observatory">
            <a:extLst>
              <a:ext uri="{FF2B5EF4-FFF2-40B4-BE49-F238E27FC236}">
                <a16:creationId xmlns:a16="http://schemas.microsoft.com/office/drawing/2014/main" id="{A3D1360B-8AA8-4948-B9D6-35E04D08D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23" y="1874040"/>
            <a:ext cx="6129624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739" y="890274"/>
            <a:ext cx="6344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Instruments - ISIM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81A37FF-543D-4787-8C2E-A551A4AC377D}"/>
              </a:ext>
            </a:extLst>
          </p:cNvPr>
          <p:cNvSpPr txBox="1"/>
          <p:nvPr/>
        </p:nvSpPr>
        <p:spPr>
          <a:xfrm>
            <a:off x="6765989" y="3522206"/>
            <a:ext cx="4926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Mid-infrared Instrument (MIRI)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27AB95-0C48-40FB-AF7E-F66832FB9F1E}"/>
              </a:ext>
            </a:extLst>
          </p:cNvPr>
          <p:cNvSpPr txBox="1"/>
          <p:nvPr/>
        </p:nvSpPr>
        <p:spPr>
          <a:xfrm>
            <a:off x="6765989" y="2348510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Near-Infrared Spectrograph (</a:t>
            </a:r>
            <a:r>
              <a:rPr lang="en-US" altLang="ko-KR" dirty="0" err="1">
                <a:solidFill>
                  <a:schemeClr val="bg1"/>
                </a:solidFill>
              </a:rPr>
              <a:t>NIRSpec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9B2AC-0C9E-4D56-BD89-0B475E743D0D}"/>
              </a:ext>
            </a:extLst>
          </p:cNvPr>
          <p:cNvSpPr txBox="1"/>
          <p:nvPr/>
        </p:nvSpPr>
        <p:spPr>
          <a:xfrm>
            <a:off x="6737350" y="1920463"/>
            <a:ext cx="427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Near-Infrared Camera (</a:t>
            </a:r>
            <a:r>
              <a:rPr lang="en-US" altLang="ko-KR" dirty="0" err="1">
                <a:solidFill>
                  <a:schemeClr val="bg1"/>
                </a:solidFill>
              </a:rPr>
              <a:t>NIRCam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F690FC-1042-4367-BCE5-3B1604003094}"/>
              </a:ext>
            </a:extLst>
          </p:cNvPr>
          <p:cNvSpPr txBox="1"/>
          <p:nvPr/>
        </p:nvSpPr>
        <p:spPr>
          <a:xfrm>
            <a:off x="6766561" y="4583173"/>
            <a:ext cx="54254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Fine-Guidance Sensor /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   Near Infrared imager and </a:t>
            </a:r>
            <a:r>
              <a:rPr lang="en-US" altLang="ko-KR" dirty="0" err="1">
                <a:solidFill>
                  <a:schemeClr val="bg1"/>
                </a:solidFill>
              </a:rPr>
              <a:t>Slitless</a:t>
            </a:r>
            <a:r>
              <a:rPr lang="en-US" altLang="ko-KR" dirty="0">
                <a:solidFill>
                  <a:schemeClr val="bg1"/>
                </a:solidFill>
              </a:rPr>
              <a:t> Spectrograph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   (FGS-NIRISS)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A7542-6355-43EC-8E32-0B4D6F984140}"/>
              </a:ext>
            </a:extLst>
          </p:cNvPr>
          <p:cNvSpPr txBox="1"/>
          <p:nvPr/>
        </p:nvSpPr>
        <p:spPr>
          <a:xfrm>
            <a:off x="7117556" y="2936953"/>
            <a:ext cx="6500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→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0.6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–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 5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 μ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m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7E5E93-AC48-4580-9D7E-BF10883B66F5}"/>
              </a:ext>
            </a:extLst>
          </p:cNvPr>
          <p:cNvSpPr txBox="1"/>
          <p:nvPr/>
        </p:nvSpPr>
        <p:spPr>
          <a:xfrm>
            <a:off x="7117556" y="4040977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ffectLst/>
              </a:rPr>
              <a:t>→ 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5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–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28.3 μ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m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870A90-F980-4A88-BF2B-2DF8CB0EEE82}"/>
              </a:ext>
            </a:extLst>
          </p:cNvPr>
          <p:cNvSpPr txBox="1"/>
          <p:nvPr/>
        </p:nvSpPr>
        <p:spPr>
          <a:xfrm>
            <a:off x="7117556" y="5630633"/>
            <a:ext cx="7034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ffectLst/>
              </a:rPr>
              <a:t>→ 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0.8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–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5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 μ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m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553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sunshield crossection">
            <a:extLst>
              <a:ext uri="{FF2B5EF4-FFF2-40B4-BE49-F238E27FC236}">
                <a16:creationId xmlns:a16="http://schemas.microsoft.com/office/drawing/2014/main" id="{D9328DEA-D042-4802-85F9-DA1824F6E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39" y="1815541"/>
            <a:ext cx="6129624" cy="437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739" y="890274"/>
            <a:ext cx="6344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Instruments - Sunshield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02EBDFE-4BA2-419C-B68D-E25A4B94AA36}"/>
              </a:ext>
            </a:extLst>
          </p:cNvPr>
          <p:cNvSpPr txBox="1"/>
          <p:nvPr/>
        </p:nvSpPr>
        <p:spPr>
          <a:xfrm>
            <a:off x="7100888" y="1815541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ㆍseparates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into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a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warm</a:t>
            </a:r>
            <a:r>
              <a:rPr lang="ko-KR" altLang="en-US" dirty="0">
                <a:solidFill>
                  <a:schemeClr val="bg1"/>
                </a:solidFill>
              </a:rPr>
              <a:t> and </a:t>
            </a:r>
            <a:r>
              <a:rPr lang="ko-KR" altLang="en-US" dirty="0" err="1">
                <a:solidFill>
                  <a:schemeClr val="bg1"/>
                </a:solidFill>
              </a:rPr>
              <a:t>a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cold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side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867A95-456D-44D4-B730-9FB002550CC7}"/>
              </a:ext>
            </a:extLst>
          </p:cNvPr>
          <p:cNvSpPr txBox="1"/>
          <p:nvPr/>
        </p:nvSpPr>
        <p:spPr>
          <a:xfrm>
            <a:off x="7100888" y="2491859"/>
            <a:ext cx="6667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Five layers -&gt; insulator 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9027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739" y="890274"/>
            <a:ext cx="6344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Instruments – Spacecraft Bus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9C0BDE8-3228-44C4-A727-C3B1688D63F1}"/>
              </a:ext>
            </a:extLst>
          </p:cNvPr>
          <p:cNvSpPr txBox="1"/>
          <p:nvPr/>
        </p:nvSpPr>
        <p:spPr>
          <a:xfrm>
            <a:off x="1136078" y="2135965"/>
            <a:ext cx="4926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Electrical Power Subsystem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79F5B4-27B3-42D3-AE25-A0481D8F1C20}"/>
              </a:ext>
            </a:extLst>
          </p:cNvPr>
          <p:cNvSpPr txBox="1"/>
          <p:nvPr/>
        </p:nvSpPr>
        <p:spPr>
          <a:xfrm>
            <a:off x="1136078" y="2719316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Attitude Control Subsystem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960B1-6CEF-4C5F-9285-B9E47EF49CA4}"/>
              </a:ext>
            </a:extLst>
          </p:cNvPr>
          <p:cNvSpPr txBox="1"/>
          <p:nvPr/>
        </p:nvSpPr>
        <p:spPr>
          <a:xfrm>
            <a:off x="1136649" y="3302750"/>
            <a:ext cx="427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Communication Subsystem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B058C-A7DE-4FAD-ABA3-DE23A5318313}"/>
              </a:ext>
            </a:extLst>
          </p:cNvPr>
          <p:cNvSpPr txBox="1"/>
          <p:nvPr/>
        </p:nvSpPr>
        <p:spPr>
          <a:xfrm>
            <a:off x="1136649" y="3888003"/>
            <a:ext cx="5425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Command and Data Handling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1F7B91-F2ED-47F4-BB50-DE1F2C5945CC}"/>
              </a:ext>
            </a:extLst>
          </p:cNvPr>
          <p:cNvSpPr txBox="1"/>
          <p:nvPr/>
        </p:nvSpPr>
        <p:spPr>
          <a:xfrm>
            <a:off x="1131911" y="4471437"/>
            <a:ext cx="5425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Propulsion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C53AE8-069B-4239-9ACD-AF7655495571}"/>
              </a:ext>
            </a:extLst>
          </p:cNvPr>
          <p:cNvSpPr txBox="1"/>
          <p:nvPr/>
        </p:nvSpPr>
        <p:spPr>
          <a:xfrm>
            <a:off x="1131911" y="5054788"/>
            <a:ext cx="5425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Rocket Thrusters And Propellant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30966-6C0B-4DF8-925E-504A5A7701A1}"/>
              </a:ext>
            </a:extLst>
          </p:cNvPr>
          <p:cNvSpPr txBox="1"/>
          <p:nvPr/>
        </p:nvSpPr>
        <p:spPr>
          <a:xfrm>
            <a:off x="1131910" y="5638139"/>
            <a:ext cx="5425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Thermal Control Subsystem</a:t>
            </a:r>
          </a:p>
        </p:txBody>
      </p:sp>
    </p:spTree>
    <p:extLst>
      <p:ext uri="{BB962C8B-B14F-4D97-AF65-F5344CB8AC3E}">
        <p14:creationId xmlns:p14="http://schemas.microsoft.com/office/powerpoint/2010/main" val="889622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36107" y="2550497"/>
            <a:ext cx="53197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spc="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  <a:endParaRPr lang="ko-KR" altLang="en-US" sz="6600" spc="3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9394" y="3748148"/>
            <a:ext cx="261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FOR LISTENING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17197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메인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목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마무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335</Words>
  <Application>Microsoft Office PowerPoint</Application>
  <PresentationFormat>와이드스크린</PresentationFormat>
  <Paragraphs>103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Arial</vt:lpstr>
      <vt:lpstr>맑은 고딕</vt:lpstr>
      <vt:lpstr>나눔스퀘어 ExtraBold</vt:lpstr>
      <vt:lpstr>나눔스퀘어 Light</vt:lpstr>
      <vt:lpstr>2_Office 테마</vt:lpstr>
      <vt:lpstr>메인</vt:lpstr>
      <vt:lpstr>목차</vt:lpstr>
      <vt:lpstr>내용</vt:lpstr>
      <vt:lpstr>마무리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hyeran kang</dc:creator>
  <cp:lastModifiedBy>이진진</cp:lastModifiedBy>
  <cp:revision>7</cp:revision>
  <dcterms:created xsi:type="dcterms:W3CDTF">2017-05-21T13:44:12Z</dcterms:created>
  <dcterms:modified xsi:type="dcterms:W3CDTF">2022-03-28T18:10:00Z</dcterms:modified>
</cp:coreProperties>
</file>