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8" r:id="rId1"/>
    <p:sldMasterId id="2147483648" r:id="rId2"/>
    <p:sldMasterId id="2147483656" r:id="rId3"/>
    <p:sldMasterId id="2147483660" r:id="rId4"/>
    <p:sldMasterId id="2147483662" r:id="rId5"/>
  </p:sldMasterIdLst>
  <p:sldIdLst>
    <p:sldId id="257" r:id="rId6"/>
    <p:sldId id="258" r:id="rId7"/>
    <p:sldId id="290" r:id="rId8"/>
    <p:sldId id="293" r:id="rId9"/>
    <p:sldId id="291" r:id="rId10"/>
    <p:sldId id="284" r:id="rId11"/>
    <p:sldId id="292" r:id="rId12"/>
    <p:sldId id="297" r:id="rId13"/>
    <p:sldId id="296" r:id="rId14"/>
    <p:sldId id="294" r:id="rId15"/>
    <p:sldId id="298" r:id="rId16"/>
    <p:sldId id="261" r:id="rId17"/>
    <p:sldId id="299" r:id="rId18"/>
    <p:sldId id="289" r:id="rId19"/>
    <p:sldId id="300" r:id="rId20"/>
    <p:sldId id="263" r:id="rId21"/>
  </p:sldIdLst>
  <p:sldSz cx="12192000" cy="6858000"/>
  <p:notesSz cx="6858000" cy="9144000"/>
  <p:embeddedFontLst>
    <p:embeddedFont>
      <p:font typeface="Open Sans" panose="020B0606030504020204" pitchFamily="34" charset="0"/>
      <p:regular r:id="rId22"/>
      <p:bold r:id="rId23"/>
      <p:italic r:id="rId24"/>
      <p:boldItalic r:id="rId25"/>
    </p:embeddedFont>
    <p:embeddedFont>
      <p:font typeface="나눔스퀘어 ExtraBold" panose="020B0600000101010101" pitchFamily="50" charset="-127"/>
      <p:bold r:id="rId26"/>
    </p:embeddedFont>
    <p:embeddedFont>
      <p:font typeface="나눔스퀘어 Light" panose="020B0600000101010101" pitchFamily="50" charset="-127"/>
      <p:regular r:id="rId27"/>
    </p:embeddedFont>
    <p:embeddedFont>
      <p:font typeface="맑은 고딕" panose="020B0503020000020004" pitchFamily="50" charset="-127"/>
      <p:regular r:id="rId28"/>
      <p:bold r:id="rId2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14" autoAdjust="0"/>
    <p:restoredTop sz="94660"/>
  </p:normalViewPr>
  <p:slideViewPr>
    <p:cSldViewPr snapToGrid="0">
      <p:cViewPr varScale="1">
        <p:scale>
          <a:sx n="50" d="100"/>
          <a:sy n="50" d="100"/>
        </p:scale>
        <p:origin x="54" y="13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5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958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4926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2149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2792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457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8869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3032760" y="1996440"/>
            <a:ext cx="6126480" cy="286512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98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 userDrawn="1"/>
        </p:nvSpPr>
        <p:spPr>
          <a:xfrm>
            <a:off x="3810" y="998220"/>
            <a:ext cx="12184380" cy="486156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598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 userDrawn="1"/>
        </p:nvSpPr>
        <p:spPr>
          <a:xfrm>
            <a:off x="3810" y="315686"/>
            <a:ext cx="12184380" cy="6226628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459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3032760" y="1996440"/>
            <a:ext cx="6126480" cy="286512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 userDrawn="1"/>
        </p:nvSpPr>
        <p:spPr>
          <a:xfrm>
            <a:off x="3032760" y="1996440"/>
            <a:ext cx="6126480" cy="2865120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375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672024" y="3718560"/>
            <a:ext cx="4860473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29903" y="2789592"/>
            <a:ext cx="173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base"/>
            <a:r>
              <a:rPr lang="en-US" altLang="ko-KR" sz="2400" b="0" i="0" dirty="0">
                <a:solidFill>
                  <a:schemeClr val="bg1"/>
                </a:solidFill>
                <a:effectLst/>
                <a:latin typeface="+mj-lt"/>
              </a:rPr>
              <a:t>Hot</a:t>
            </a:r>
            <a:r>
              <a:rPr lang="ko-KR" altLang="en-US" sz="2400" b="0" i="0" dirty="0">
                <a:solidFill>
                  <a:schemeClr val="bg1"/>
                </a:solidFill>
                <a:effectLst/>
                <a:latin typeface="+mj-lt"/>
              </a:rPr>
              <a:t> </a:t>
            </a:r>
            <a:r>
              <a:rPr lang="en-US" altLang="ko-KR" sz="2400" b="0" i="0" dirty="0">
                <a:solidFill>
                  <a:schemeClr val="bg1"/>
                </a:solidFill>
                <a:effectLst/>
                <a:latin typeface="+mj-lt"/>
              </a:rPr>
              <a:t>Jupiter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0408" y="3816532"/>
            <a:ext cx="20120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2022311224 </a:t>
            </a:r>
            <a:r>
              <a:rPr lang="ko-KR" altLang="en-US" sz="16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이진진</a:t>
            </a:r>
          </a:p>
        </p:txBody>
      </p:sp>
    </p:spTree>
    <p:extLst>
      <p:ext uri="{BB962C8B-B14F-4D97-AF65-F5344CB8AC3E}">
        <p14:creationId xmlns:p14="http://schemas.microsoft.com/office/powerpoint/2010/main" val="3950016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01918" y="2290822"/>
            <a:ext cx="10823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01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1359" y="3105835"/>
            <a:ext cx="19434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Hot Jupiter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51478" y="3105835"/>
            <a:ext cx="238712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Two different </a:t>
            </a:r>
          </a:p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planets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70478" y="3105835"/>
            <a:ext cx="27529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Detect with HST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63087" y="3105835"/>
            <a:ext cx="1771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Limitation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03855" y="2290821"/>
            <a:ext cx="10823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02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05792" y="2290820"/>
            <a:ext cx="10823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03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07729" y="2290819"/>
            <a:ext cx="10823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04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563092" y="2255520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4455521" y="2255520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7378430" y="2255520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10255619" y="2255520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804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8519" y="648033"/>
            <a:ext cx="10823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01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03914" y="886396"/>
            <a:ext cx="19434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Hot Jupiter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579693" y="599583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ategory:Hot Jupiters - Wikimedia Commons">
            <a:extLst>
              <a:ext uri="{FF2B5EF4-FFF2-40B4-BE49-F238E27FC236}">
                <a16:creationId xmlns:a16="http://schemas.microsoft.com/office/drawing/2014/main" id="{3BCB123A-82A8-45EE-9518-0F873C0D4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3" y="2171157"/>
            <a:ext cx="5122524" cy="3201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759009C-6C8F-4F63-8C1A-88BCECCC8E13}"/>
              </a:ext>
            </a:extLst>
          </p:cNvPr>
          <p:cNvSpPr txBox="1"/>
          <p:nvPr/>
        </p:nvSpPr>
        <p:spPr>
          <a:xfrm>
            <a:off x="5882217" y="2350110"/>
            <a:ext cx="64404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solidFill>
                  <a:schemeClr val="bg1"/>
                </a:solidFill>
                <a:effectLst/>
                <a:latin typeface="noto"/>
              </a:rPr>
              <a:t>- Exoplanet (orbiting another star outside the solar system)</a:t>
            </a:r>
            <a:br>
              <a:rPr lang="en-US" altLang="ko-KR" dirty="0">
                <a:solidFill>
                  <a:schemeClr val="bg1"/>
                </a:solidFill>
              </a:rPr>
            </a:b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B60C9D-1832-4553-A58F-CA6D5CF72278}"/>
              </a:ext>
            </a:extLst>
          </p:cNvPr>
          <p:cNvSpPr txBox="1"/>
          <p:nvPr/>
        </p:nvSpPr>
        <p:spPr>
          <a:xfrm>
            <a:off x="5882217" y="2907296"/>
            <a:ext cx="6170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solidFill>
                  <a:schemeClr val="bg1"/>
                </a:solidFill>
                <a:effectLst/>
                <a:latin typeface="noto"/>
              </a:rPr>
              <a:t>- Orbits a very close distance from the star (less than </a:t>
            </a:r>
            <a:r>
              <a:rPr lang="en-US" altLang="ko-KR" dirty="0">
                <a:solidFill>
                  <a:schemeClr val="bg1"/>
                </a:solidFill>
                <a:latin typeface="noto"/>
              </a:rPr>
              <a:t>0.1 AU)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D46211-C06A-4D8E-8561-416F17AD384D}"/>
              </a:ext>
            </a:extLst>
          </p:cNvPr>
          <p:cNvSpPr txBox="1"/>
          <p:nvPr/>
        </p:nvSpPr>
        <p:spPr>
          <a:xfrm>
            <a:off x="5882217" y="3833814"/>
            <a:ext cx="6170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solidFill>
                  <a:schemeClr val="bg1"/>
                </a:solidFill>
                <a:effectLst/>
                <a:latin typeface="noto"/>
              </a:rPr>
              <a:t>- Giant gas planet with a Jupiter mass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DDB3BE-2178-40F9-B2E0-AA62D438C5CB}"/>
              </a:ext>
            </a:extLst>
          </p:cNvPr>
          <p:cNvSpPr txBox="1"/>
          <p:nvPr/>
        </p:nvSpPr>
        <p:spPr>
          <a:xfrm>
            <a:off x="5882217" y="4332082"/>
            <a:ext cx="6170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solidFill>
                  <a:schemeClr val="bg1"/>
                </a:solidFill>
                <a:effectLst/>
                <a:latin typeface="noto"/>
              </a:rPr>
              <a:t>- Surface temperature will be very hot </a:t>
            </a:r>
          </a:p>
          <a:p>
            <a:r>
              <a:rPr lang="en-US" altLang="ko-KR" b="0" i="0" dirty="0">
                <a:solidFill>
                  <a:schemeClr val="bg1"/>
                </a:solidFill>
                <a:effectLst/>
                <a:latin typeface="noto"/>
              </a:rPr>
              <a:t>  (due to the radiation energy of the intense star)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F188BC-D118-4DFD-854D-EAB1F4720148}"/>
              </a:ext>
            </a:extLst>
          </p:cNvPr>
          <p:cNvSpPr txBox="1"/>
          <p:nvPr/>
        </p:nvSpPr>
        <p:spPr>
          <a:xfrm>
            <a:off x="6062217" y="3282303"/>
            <a:ext cx="6235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noto"/>
              </a:rPr>
              <a:t> → </a:t>
            </a:r>
            <a:r>
              <a:rPr lang="ko-KR" altLang="en-US" dirty="0" err="1">
                <a:solidFill>
                  <a:schemeClr val="bg1"/>
                </a:solidFill>
                <a:latin typeface="noto"/>
              </a:rPr>
              <a:t>very</a:t>
            </a:r>
            <a:r>
              <a:rPr lang="ko-KR" altLang="en-US" dirty="0">
                <a:solidFill>
                  <a:schemeClr val="bg1"/>
                </a:solidFill>
                <a:latin typeface="noto"/>
              </a:rPr>
              <a:t> </a:t>
            </a:r>
            <a:r>
              <a:rPr lang="ko-KR" altLang="en-US" dirty="0" err="1">
                <a:solidFill>
                  <a:schemeClr val="bg1"/>
                </a:solidFill>
                <a:latin typeface="noto"/>
              </a:rPr>
              <a:t>short</a:t>
            </a:r>
            <a:r>
              <a:rPr lang="ko-KR" altLang="en-US" dirty="0">
                <a:solidFill>
                  <a:schemeClr val="bg1"/>
                </a:solidFill>
                <a:latin typeface="noto"/>
              </a:rPr>
              <a:t> </a:t>
            </a:r>
            <a:r>
              <a:rPr lang="ko-KR" altLang="en-US" dirty="0" err="1">
                <a:solidFill>
                  <a:schemeClr val="bg1"/>
                </a:solidFill>
                <a:latin typeface="noto"/>
              </a:rPr>
              <a:t>orbital</a:t>
            </a:r>
            <a:r>
              <a:rPr lang="ko-KR" altLang="en-US" dirty="0">
                <a:solidFill>
                  <a:schemeClr val="bg1"/>
                </a:solidFill>
                <a:latin typeface="noto"/>
              </a:rPr>
              <a:t> </a:t>
            </a:r>
            <a:r>
              <a:rPr lang="ko-KR" altLang="en-US" dirty="0" err="1">
                <a:solidFill>
                  <a:schemeClr val="bg1"/>
                </a:solidFill>
                <a:latin typeface="noto"/>
              </a:rPr>
              <a:t>periods</a:t>
            </a:r>
            <a:r>
              <a:rPr lang="ko-KR" altLang="en-US" dirty="0">
                <a:solidFill>
                  <a:schemeClr val="bg1"/>
                </a:solidFill>
                <a:latin typeface="noto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noto"/>
              </a:rPr>
              <a:t>(P</a:t>
            </a:r>
            <a:r>
              <a:rPr lang="ko-KR" altLang="en-US" dirty="0">
                <a:solidFill>
                  <a:schemeClr val="bg1"/>
                </a:solidFill>
                <a:latin typeface="noto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noto"/>
              </a:rPr>
              <a:t>&lt;</a:t>
            </a:r>
            <a:r>
              <a:rPr lang="ko-KR" altLang="en-US" dirty="0">
                <a:solidFill>
                  <a:schemeClr val="bg1"/>
                </a:solidFill>
                <a:latin typeface="noto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noto"/>
              </a:rPr>
              <a:t>10</a:t>
            </a:r>
            <a:r>
              <a:rPr lang="ko-KR" altLang="en-US" dirty="0">
                <a:solidFill>
                  <a:schemeClr val="bg1"/>
                </a:solidFill>
                <a:latin typeface="noto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noto"/>
              </a:rPr>
              <a:t>days)</a:t>
            </a:r>
            <a:endParaRPr lang="ko-KR" altLang="en-US" dirty="0">
              <a:solidFill>
                <a:schemeClr val="bg1"/>
              </a:solidFill>
              <a:latin typeface="noto"/>
            </a:endParaRPr>
          </a:p>
        </p:txBody>
      </p:sp>
    </p:spTree>
    <p:extLst>
      <p:ext uri="{BB962C8B-B14F-4D97-AF65-F5344CB8AC3E}">
        <p14:creationId xmlns:p14="http://schemas.microsoft.com/office/powerpoint/2010/main" val="640984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8519" y="648033"/>
            <a:ext cx="10823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01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03914" y="886396"/>
            <a:ext cx="19434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Hot Jupiter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579693" y="599583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달의 앞면과 뒷면 #창어4호 중국 뒷면탐사 착륙준비 #헬륨3">
            <a:extLst>
              <a:ext uri="{FF2B5EF4-FFF2-40B4-BE49-F238E27FC236}">
                <a16:creationId xmlns:a16="http://schemas.microsoft.com/office/drawing/2014/main" id="{89BDAFF1-9EE2-41E1-BCA3-B09BB5298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745647"/>
            <a:ext cx="3962400" cy="399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1562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8519" y="648033"/>
            <a:ext cx="10823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01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03914" y="886396"/>
            <a:ext cx="19434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Hot Jupiter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579693" y="599583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12B74DE3-9140-463C-9303-1BD9B6ADD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894" y="1734066"/>
            <a:ext cx="6439512" cy="3930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4162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8519" y="648033"/>
            <a:ext cx="10823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01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03914" y="886396"/>
            <a:ext cx="19434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Hot Jupiter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579693" y="599583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DC723F0E-C19F-4C24-BBCF-4B57F7030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2145"/>
            <a:ext cx="12192000" cy="418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130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8519" y="648033"/>
            <a:ext cx="10823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01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03914" y="886396"/>
            <a:ext cx="19434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Hot Jupiter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579693" y="599583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utoShape 4" descr="Hot Jupiter Theories">
            <a:extLst>
              <a:ext uri="{FF2B5EF4-FFF2-40B4-BE49-F238E27FC236}">
                <a16:creationId xmlns:a16="http://schemas.microsoft.com/office/drawing/2014/main" id="{A01504A0-F11B-4C3C-B715-D5E50C9EC0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BF8AEC1-6048-4C61-AFF4-4CEF0C8F4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352" y="1185594"/>
            <a:ext cx="5149729" cy="479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36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0942" y="651933"/>
            <a:ext cx="10919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02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9035" y="950408"/>
            <a:ext cx="635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Two different planets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586925" y="603026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>
            <a:extLst>
              <a:ext uri="{FF2B5EF4-FFF2-40B4-BE49-F238E27FC236}">
                <a16:creationId xmlns:a16="http://schemas.microsoft.com/office/drawing/2014/main" id="{3D7C28BC-04BC-464C-9111-DF4E68E02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350" y="1974385"/>
            <a:ext cx="6096000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D85AA6B-9C98-4900-91BF-3EDA312E378F}"/>
              </a:ext>
            </a:extLst>
          </p:cNvPr>
          <p:cNvSpPr txBox="1"/>
          <p:nvPr/>
        </p:nvSpPr>
        <p:spPr>
          <a:xfrm>
            <a:off x="461350" y="5435378"/>
            <a:ext cx="61699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noto"/>
              </a:rPr>
              <a:t>Picture of Kelt-20b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AB6B0C-EFC2-4277-A09E-2B5995DDCCD8}"/>
              </a:ext>
            </a:extLst>
          </p:cNvPr>
          <p:cNvSpPr txBox="1"/>
          <p:nvPr/>
        </p:nvSpPr>
        <p:spPr>
          <a:xfrm>
            <a:off x="7396662" y="2782669"/>
            <a:ext cx="61699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noto"/>
              </a:rPr>
              <a:t>T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noto"/>
              </a:rPr>
              <a:t>he hottest and Extreme Environmental </a:t>
            </a:r>
          </a:p>
          <a:p>
            <a:r>
              <a:rPr lang="en-US" altLang="ko-KR" b="0" i="0" dirty="0">
                <a:solidFill>
                  <a:schemeClr val="bg1"/>
                </a:solidFill>
                <a:effectLst/>
                <a:latin typeface="noto"/>
              </a:rPr>
              <a:t>exoplanets ever observed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CF28BF-F7F2-4E51-8B35-BDB5BA287E3B}"/>
              </a:ext>
            </a:extLst>
          </p:cNvPr>
          <p:cNvSpPr txBox="1"/>
          <p:nvPr/>
        </p:nvSpPr>
        <p:spPr>
          <a:xfrm>
            <a:off x="6994236" y="1770865"/>
            <a:ext cx="635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WASP-178b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31B0A2-9528-4C0A-8279-9CF5A44960A4}"/>
              </a:ext>
            </a:extLst>
          </p:cNvPr>
          <p:cNvSpPr txBox="1"/>
          <p:nvPr/>
        </p:nvSpPr>
        <p:spPr>
          <a:xfrm>
            <a:off x="9742323" y="1770865"/>
            <a:ext cx="6749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Kelt-20b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4421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0942" y="651933"/>
            <a:ext cx="10919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02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9035" y="950408"/>
            <a:ext cx="635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Two different planets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586925" y="603026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D40E260-E5E0-4E74-982C-24A08019EEA3}"/>
              </a:ext>
            </a:extLst>
          </p:cNvPr>
          <p:cNvSpPr txBox="1"/>
          <p:nvPr/>
        </p:nvSpPr>
        <p:spPr>
          <a:xfrm>
            <a:off x="567328" y="1713849"/>
            <a:ext cx="61700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1.  Wasp178b</a:t>
            </a:r>
            <a:endParaRPr lang="ko-KR" altLang="en-US" sz="2400" b="1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D6A11DB7-11C6-4BBB-9C56-85FB1F3D1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328" y="2436438"/>
            <a:ext cx="6232968" cy="389050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F6071CB-4E13-4B54-93E5-7E01DAF61BCC}"/>
              </a:ext>
            </a:extLst>
          </p:cNvPr>
          <p:cNvSpPr txBox="1"/>
          <p:nvPr/>
        </p:nvSpPr>
        <p:spPr>
          <a:xfrm>
            <a:off x="7325514" y="2436438"/>
            <a:ext cx="6170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solidFill>
                  <a:schemeClr val="bg1"/>
                </a:solidFill>
                <a:effectLst/>
                <a:latin typeface="noto"/>
              </a:rPr>
              <a:t>- The planet is fixed day and night by region.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553A1E-2D5B-4DF7-B286-843F3F53FE02}"/>
              </a:ext>
            </a:extLst>
          </p:cNvPr>
          <p:cNvSpPr txBox="1"/>
          <p:nvPr/>
        </p:nvSpPr>
        <p:spPr>
          <a:xfrm>
            <a:off x="7325514" y="3128901"/>
            <a:ext cx="70060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solidFill>
                  <a:schemeClr val="bg1"/>
                </a:solidFill>
                <a:effectLst/>
                <a:latin typeface="noto"/>
              </a:rPr>
              <a:t>The daytime atmosphere :</a:t>
            </a:r>
          </a:p>
          <a:p>
            <a:r>
              <a:rPr lang="en-US" altLang="ko-KR" b="0" i="0" dirty="0">
                <a:solidFill>
                  <a:schemeClr val="bg1"/>
                </a:solidFill>
                <a:effectLst/>
                <a:latin typeface="noto"/>
              </a:rPr>
              <a:t>Silicon monoxide is densely concentrated in</a:t>
            </a:r>
          </a:p>
          <a:p>
            <a:r>
              <a:rPr lang="en-US" altLang="ko-KR" dirty="0">
                <a:solidFill>
                  <a:schemeClr val="bg1"/>
                </a:solidFill>
                <a:latin typeface="noto"/>
              </a:rPr>
              <a:t>(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noto"/>
              </a:rPr>
              <a:t>speed of more than 3200 kilometers per hour</a:t>
            </a:r>
            <a:r>
              <a:rPr lang="en-US" altLang="ko-KR" dirty="0">
                <a:solidFill>
                  <a:schemeClr val="bg1"/>
                </a:solidFill>
                <a:latin typeface="noto"/>
              </a:rPr>
              <a:t>)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noto"/>
              </a:rPr>
              <a:t> 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90F096-E43C-4989-AADA-F06FA8B3C69A}"/>
              </a:ext>
            </a:extLst>
          </p:cNvPr>
          <p:cNvSpPr txBox="1"/>
          <p:nvPr/>
        </p:nvSpPr>
        <p:spPr>
          <a:xfrm>
            <a:off x="7333590" y="4537359"/>
            <a:ext cx="72397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solidFill>
                  <a:schemeClr val="bg1"/>
                </a:solidFill>
                <a:effectLst/>
                <a:latin typeface="noto"/>
              </a:rPr>
              <a:t>The night-time atmosphere :</a:t>
            </a:r>
          </a:p>
          <a:p>
            <a:r>
              <a:rPr lang="en-US" altLang="ko-KR" dirty="0">
                <a:solidFill>
                  <a:schemeClr val="bg1"/>
                </a:solidFill>
                <a:latin typeface="noto"/>
              </a:rPr>
              <a:t>S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noto"/>
              </a:rPr>
              <a:t>urface has a relatively low temperature </a:t>
            </a:r>
          </a:p>
          <a:p>
            <a:r>
              <a:rPr lang="ko-KR" altLang="en-US" b="0" i="0" dirty="0">
                <a:solidFill>
                  <a:schemeClr val="bg1"/>
                </a:solidFill>
                <a:effectLst/>
                <a:latin typeface="noto"/>
              </a:rPr>
              <a:t>→ 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noto"/>
              </a:rPr>
              <a:t>so the clouded silicon monoxide into a liquid </a:t>
            </a:r>
          </a:p>
          <a:p>
            <a:r>
              <a:rPr lang="en-US" altLang="ko-KR" dirty="0">
                <a:solidFill>
                  <a:schemeClr val="bg1"/>
                </a:solidFill>
                <a:latin typeface="noto"/>
              </a:rPr>
              <a:t>    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noto"/>
              </a:rPr>
              <a:t>causing rock rain.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288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0942" y="651933"/>
            <a:ext cx="10919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02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9035" y="950408"/>
            <a:ext cx="6359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Two different planets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586925" y="603026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D40E260-E5E0-4E74-982C-24A08019EEA3}"/>
              </a:ext>
            </a:extLst>
          </p:cNvPr>
          <p:cNvSpPr txBox="1"/>
          <p:nvPr/>
        </p:nvSpPr>
        <p:spPr>
          <a:xfrm>
            <a:off x="567328" y="1713849"/>
            <a:ext cx="61700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1.  Kelt-20b</a:t>
            </a:r>
            <a:endParaRPr lang="ko-KR" altLang="en-US" sz="2400" b="1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8D4455F-E5E2-44C2-A9EB-6D7457163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26" y="2436438"/>
            <a:ext cx="6170022" cy="38905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CA6343A-1572-4A21-8A72-26BEE8F2956B}"/>
              </a:ext>
            </a:extLst>
          </p:cNvPr>
          <p:cNvSpPr txBox="1"/>
          <p:nvPr/>
        </p:nvSpPr>
        <p:spPr>
          <a:xfrm>
            <a:off x="6917350" y="2646457"/>
            <a:ext cx="6170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Open Sans" panose="020B0606030504020204" pitchFamily="34" charset="0"/>
              </a:rPr>
              <a:t>Absorbs I</a:t>
            </a:r>
            <a:r>
              <a:rPr lang="en-US" altLang="ko-K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ntense ultraviolet radiation from sun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694ED-F8FE-42BD-B6F4-672D78DF48BA}"/>
              </a:ext>
            </a:extLst>
          </p:cNvPr>
          <p:cNvSpPr txBox="1"/>
          <p:nvPr/>
        </p:nvSpPr>
        <p:spPr>
          <a:xfrm>
            <a:off x="9039497" y="3458359"/>
            <a:ext cx="5573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↓</a:t>
            </a:r>
            <a:endParaRPr lang="en-US" altLang="ko-KR" b="0" i="0" dirty="0">
              <a:solidFill>
                <a:schemeClr val="bg1"/>
              </a:solidFill>
              <a:effectLst/>
              <a:latin typeface="Open Sans" panose="020B0606030504020204" pitchFamily="34" charset="0"/>
            </a:endParaRPr>
          </a:p>
          <a:p>
            <a:endParaRPr lang="en-US" altLang="ko-KR" dirty="0">
              <a:solidFill>
                <a:schemeClr val="bg1"/>
              </a:solidFill>
              <a:latin typeface="Open Sans" panose="020B0606030504020204" pitchFamily="34" charset="0"/>
            </a:endParaRPr>
          </a:p>
          <a:p>
            <a:endParaRPr lang="en-US" altLang="ko-KR" b="0" i="0" dirty="0">
              <a:solidFill>
                <a:schemeClr val="bg1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E3F443-A406-4A7B-A0FD-29B4F378B627}"/>
              </a:ext>
            </a:extLst>
          </p:cNvPr>
          <p:cNvSpPr txBox="1"/>
          <p:nvPr/>
        </p:nvSpPr>
        <p:spPr>
          <a:xfrm>
            <a:off x="6917350" y="4197122"/>
            <a:ext cx="66185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planet's upper atmosphere </a:t>
            </a:r>
            <a:r>
              <a:rPr lang="en-US" altLang="ko-KR" dirty="0">
                <a:solidFill>
                  <a:schemeClr val="bg1"/>
                </a:solidFill>
                <a:latin typeface="Open Sans" panose="020B0606030504020204" pitchFamily="34" charset="0"/>
              </a:rPr>
              <a:t>become</a:t>
            </a:r>
            <a:r>
              <a:rPr lang="ko-KR" altLang="en-US" dirty="0">
                <a:solidFill>
                  <a:schemeClr val="bg1"/>
                </a:solidFill>
                <a:latin typeface="Open Sans" panose="020B0606030504020204" pitchFamily="34" charset="0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Open Sans" panose="020B0606030504020204" pitchFamily="34" charset="0"/>
              </a:rPr>
              <a:t>high temp</a:t>
            </a:r>
            <a:endParaRPr lang="en-US" altLang="ko-KR" b="0" i="0" dirty="0">
              <a:solidFill>
                <a:schemeClr val="bg1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301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70739" y="890496"/>
            <a:ext cx="27529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Detect with HST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graphicFrame>
        <p:nvGraphicFramePr>
          <p:cNvPr id="14" name="표 2">
            <a:extLst>
              <a:ext uri="{FF2B5EF4-FFF2-40B4-BE49-F238E27FC236}">
                <a16:creationId xmlns:a16="http://schemas.microsoft.com/office/drawing/2014/main" id="{DCE7F589-5CF3-453D-A19A-48135E210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892157"/>
              </p:ext>
            </p:extLst>
          </p:nvPr>
        </p:nvGraphicFramePr>
        <p:xfrm>
          <a:off x="1603073" y="491627"/>
          <a:ext cx="9053422" cy="5933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6130">
                  <a:extLst>
                    <a:ext uri="{9D8B030D-6E8A-4147-A177-3AD203B41FA5}">
                      <a16:colId xmlns:a16="http://schemas.microsoft.com/office/drawing/2014/main" val="1540690633"/>
                    </a:ext>
                  </a:extLst>
                </a:gridCol>
                <a:gridCol w="3056708">
                  <a:extLst>
                    <a:ext uri="{9D8B030D-6E8A-4147-A177-3AD203B41FA5}">
                      <a16:colId xmlns:a16="http://schemas.microsoft.com/office/drawing/2014/main" val="2300248139"/>
                    </a:ext>
                  </a:extLst>
                </a:gridCol>
                <a:gridCol w="3030584">
                  <a:extLst>
                    <a:ext uri="{9D8B030D-6E8A-4147-A177-3AD203B41FA5}">
                      <a16:colId xmlns:a16="http://schemas.microsoft.com/office/drawing/2014/main" val="946637481"/>
                    </a:ext>
                  </a:extLst>
                </a:gridCol>
              </a:tblGrid>
              <a:tr h="264185">
                <a:tc>
                  <a:txBody>
                    <a:bodyPr/>
                    <a:lstStyle/>
                    <a:p>
                      <a:r>
                        <a:rPr lang="en-US" sz="1000" dirty="0"/>
                        <a:t>Exoplanet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WASP-178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Kelt-20b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831262"/>
                  </a:ext>
                </a:extLst>
              </a:tr>
              <a:tr h="278674">
                <a:tc>
                  <a:txBody>
                    <a:bodyPr/>
                    <a:lstStyle/>
                    <a:p>
                      <a:r>
                        <a:rPr lang="en-US" sz="1000" b="1" dirty="0"/>
                        <a:t>Radius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1.9400 R(</a:t>
                      </a:r>
                      <a:r>
                        <a:rPr lang="en-US" altLang="ko-KR" sz="1000" dirty="0" err="1"/>
                        <a:t>Jup</a:t>
                      </a:r>
                      <a:r>
                        <a:rPr lang="en-US" altLang="ko-KR" sz="1000" dirty="0"/>
                        <a:t>) / 21.7455 R(Earth)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1.8300 R(</a:t>
                      </a:r>
                      <a:r>
                        <a:rPr lang="en-US" altLang="ko-KR" sz="1000" dirty="0" err="1"/>
                        <a:t>Jup</a:t>
                      </a:r>
                      <a:r>
                        <a:rPr lang="en-US" altLang="ko-KR" sz="1000" dirty="0"/>
                        <a:t>) / 20.5125 R(Earth)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7289890"/>
                  </a:ext>
                </a:extLst>
              </a:tr>
              <a:tr h="252549">
                <a:tc>
                  <a:txBody>
                    <a:bodyPr/>
                    <a:lstStyle/>
                    <a:p>
                      <a:r>
                        <a:rPr lang="en-US" sz="1000" b="1" dirty="0"/>
                        <a:t>Mass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1.4100 M(</a:t>
                      </a:r>
                      <a:r>
                        <a:rPr lang="en-US" altLang="ko-KR" sz="1000" dirty="0" err="1"/>
                        <a:t>Jup</a:t>
                      </a:r>
                      <a:r>
                        <a:rPr lang="en-US" altLang="ko-KR" sz="1000" dirty="0"/>
                        <a:t>) / 448.2926 M(Earth)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3.5180 M(</a:t>
                      </a:r>
                      <a:r>
                        <a:rPr lang="en-US" altLang="ko-KR" sz="1000" dirty="0" err="1"/>
                        <a:t>Jup</a:t>
                      </a:r>
                      <a:r>
                        <a:rPr lang="en-US" altLang="ko-KR" sz="1000" dirty="0"/>
                        <a:t>) / 1118.5059 M(Earth)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6651627"/>
                  </a:ext>
                </a:extLst>
              </a:tr>
              <a:tr h="269966">
                <a:tc>
                  <a:txBody>
                    <a:bodyPr/>
                    <a:lstStyle/>
                    <a:p>
                      <a:r>
                        <a:rPr lang="en-US" sz="1000" b="1" dirty="0"/>
                        <a:t>Semi Major Axis (Orbital Distance)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0.0558 AU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0.0542 AU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538824"/>
                  </a:ext>
                </a:extLst>
              </a:tr>
              <a:tr h="278674">
                <a:tc>
                  <a:txBody>
                    <a:bodyPr/>
                    <a:lstStyle/>
                    <a:p>
                      <a:r>
                        <a:rPr lang="en-US" sz="1000" b="1" dirty="0"/>
                        <a:t>Eccentricity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0.0000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0.0000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0408473"/>
                  </a:ext>
                </a:extLst>
              </a:tr>
              <a:tr h="269966">
                <a:tc>
                  <a:txBody>
                    <a:bodyPr/>
                    <a:lstStyle/>
                    <a:p>
                      <a:r>
                        <a:rPr lang="en-US" sz="1000" b="1" dirty="0"/>
                        <a:t>Orbital Period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3.34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3.47 days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378807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rPr lang="en-US" sz="1000" b="1" dirty="0"/>
                        <a:t>Surface Gravity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0.9480 G(Earth)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2.6583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0141451"/>
                  </a:ext>
                </a:extLst>
              </a:tr>
              <a:tr h="261256">
                <a:tc>
                  <a:txBody>
                    <a:bodyPr/>
                    <a:lstStyle/>
                    <a:p>
                      <a:r>
                        <a:rPr lang="en-US" sz="1000" b="1" dirty="0"/>
                        <a:t>Star Radiation at Atmospheric Boundary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7118997.0 W/m^2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6949467.8 W/m^2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4204456"/>
                  </a:ext>
                </a:extLst>
              </a:tr>
              <a:tr h="278674">
                <a:tc>
                  <a:txBody>
                    <a:bodyPr/>
                    <a:lstStyle/>
                    <a:p>
                      <a:r>
                        <a:rPr lang="en-US" sz="1000" b="1" dirty="0"/>
                        <a:t>Blackbody T 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2305.4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2291.6 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7975568"/>
                  </a:ext>
                </a:extLst>
              </a:tr>
              <a:tr h="217714">
                <a:tc>
                  <a:txBody>
                    <a:bodyPr/>
                    <a:lstStyle/>
                    <a:p>
                      <a:r>
                        <a:rPr lang="en-US" sz="1000" b="1" dirty="0"/>
                        <a:t>Blackbody T 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2165.0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2152.0 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603502"/>
                  </a:ext>
                </a:extLst>
              </a:tr>
              <a:tr h="278674">
                <a:tc>
                  <a:txBody>
                    <a:bodyPr/>
                    <a:lstStyle/>
                    <a:p>
                      <a:r>
                        <a:rPr lang="en-US" sz="1000" b="1" dirty="0"/>
                        <a:t>Blackbody T 0.7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1751.7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1741.2 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7642635"/>
                  </a:ext>
                </a:extLst>
              </a:tr>
              <a:tr h="221318">
                <a:tc>
                  <a:txBody>
                    <a:bodyPr/>
                    <a:lstStyle/>
                    <a:p>
                      <a:r>
                        <a:rPr lang="en-US" sz="1000" b="1" dirty="0"/>
                        <a:t>Star Distance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1395 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445LY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87533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r>
                        <a:rPr lang="en-US" sz="1000" b="1" dirty="0"/>
                        <a:t>Stellar Radius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1.8 R(Sun)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1.6 R(Sun)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1813827"/>
                  </a:ext>
                </a:extLst>
              </a:tr>
              <a:tr h="209006">
                <a:tc>
                  <a:txBody>
                    <a:bodyPr/>
                    <a:lstStyle/>
                    <a:p>
                      <a:r>
                        <a:rPr lang="en-US" sz="1000" b="1" dirty="0"/>
                        <a:t>Stellar Mass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1.9 M(Sun)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1.9 M(Sun)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226118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r>
                        <a:rPr lang="en-US" sz="1000" b="1" dirty="0"/>
                        <a:t>Star 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0.4 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0.2 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9995207"/>
                  </a:ext>
                </a:extLst>
              </a:tr>
              <a:tr h="252549">
                <a:tc>
                  <a:txBody>
                    <a:bodyPr/>
                    <a:lstStyle/>
                    <a:p>
                      <a:r>
                        <a:rPr lang="en-US" sz="1000" b="1" dirty="0"/>
                        <a:t>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8640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8980 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9715015"/>
                  </a:ext>
                </a:extLst>
              </a:tr>
              <a:tr h="269966">
                <a:tc>
                  <a:txBody>
                    <a:bodyPr/>
                    <a:lstStyle/>
                    <a:p>
                      <a:r>
                        <a:rPr lang="en-US" sz="1000" b="1" dirty="0"/>
                        <a:t>Spectral type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A1IV-V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4822906"/>
                  </a:ext>
                </a:extLst>
              </a:tr>
              <a:tr h="236319">
                <a:tc>
                  <a:txBody>
                    <a:bodyPr/>
                    <a:lstStyle/>
                    <a:p>
                      <a:r>
                        <a:rPr lang="en-US" sz="1000" b="1" dirty="0"/>
                        <a:t>UV portion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7.8 %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7.8 %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744182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r>
                        <a:rPr lang="en-US" sz="1000" b="1" dirty="0"/>
                        <a:t>Visible portion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44.8 %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44.8 %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2874492"/>
                  </a:ext>
                </a:extLst>
              </a:tr>
              <a:tr h="235131">
                <a:tc>
                  <a:txBody>
                    <a:bodyPr/>
                    <a:lstStyle/>
                    <a:p>
                      <a:r>
                        <a:rPr lang="en-US" sz="1000" b="1" dirty="0"/>
                        <a:t>IR portion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47.4 %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47.4 %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3984656"/>
                  </a:ext>
                </a:extLst>
              </a:tr>
              <a:tr h="200297">
                <a:tc>
                  <a:txBody>
                    <a:bodyPr/>
                    <a:lstStyle/>
                    <a:p>
                      <a:r>
                        <a:rPr lang="en-US" sz="1000" b="1" dirty="0"/>
                        <a:t>Metallicity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-0.1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-0.0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1737982"/>
                  </a:ext>
                </a:extLst>
              </a:tr>
              <a:tr h="217714">
                <a:tc>
                  <a:txBody>
                    <a:bodyPr/>
                    <a:lstStyle/>
                    <a:p>
                      <a:r>
                        <a:rPr lang="en-US" sz="1000" b="1" dirty="0"/>
                        <a:t>Absolute Magnitude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1.8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25.0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7961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b="1" dirty="0"/>
                        <a:t>Apparent Magnitude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9.9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3.0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251902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8773" y="644275"/>
            <a:ext cx="10919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03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644756" y="644275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표 2">
            <a:extLst>
              <a:ext uri="{FF2B5EF4-FFF2-40B4-BE49-F238E27FC236}">
                <a16:creationId xmlns:a16="http://schemas.microsoft.com/office/drawing/2014/main" id="{76FCC1DE-915F-457B-AA53-7B8F2832B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10872"/>
              </p:ext>
            </p:extLst>
          </p:nvPr>
        </p:nvGraphicFramePr>
        <p:xfrm>
          <a:off x="1603073" y="491627"/>
          <a:ext cx="9053422" cy="5933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6130">
                  <a:extLst>
                    <a:ext uri="{9D8B030D-6E8A-4147-A177-3AD203B41FA5}">
                      <a16:colId xmlns:a16="http://schemas.microsoft.com/office/drawing/2014/main" val="1540690633"/>
                    </a:ext>
                  </a:extLst>
                </a:gridCol>
                <a:gridCol w="3056708">
                  <a:extLst>
                    <a:ext uri="{9D8B030D-6E8A-4147-A177-3AD203B41FA5}">
                      <a16:colId xmlns:a16="http://schemas.microsoft.com/office/drawing/2014/main" val="2300248139"/>
                    </a:ext>
                  </a:extLst>
                </a:gridCol>
                <a:gridCol w="3030584">
                  <a:extLst>
                    <a:ext uri="{9D8B030D-6E8A-4147-A177-3AD203B41FA5}">
                      <a16:colId xmlns:a16="http://schemas.microsoft.com/office/drawing/2014/main" val="946637481"/>
                    </a:ext>
                  </a:extLst>
                </a:gridCol>
              </a:tblGrid>
              <a:tr h="264185">
                <a:tc>
                  <a:txBody>
                    <a:bodyPr/>
                    <a:lstStyle/>
                    <a:p>
                      <a:r>
                        <a:rPr lang="en-US" sz="1000" dirty="0"/>
                        <a:t>Exoplanet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WASP-178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Kelt-20b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831262"/>
                  </a:ext>
                </a:extLst>
              </a:tr>
              <a:tr h="278674">
                <a:tc>
                  <a:txBody>
                    <a:bodyPr/>
                    <a:lstStyle/>
                    <a:p>
                      <a:r>
                        <a:rPr lang="en-US" sz="1000" b="1" dirty="0"/>
                        <a:t>Radius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1.9400 R(</a:t>
                      </a:r>
                      <a:r>
                        <a:rPr lang="en-US" altLang="ko-KR" sz="1000" dirty="0" err="1"/>
                        <a:t>Jup</a:t>
                      </a:r>
                      <a:r>
                        <a:rPr lang="en-US" altLang="ko-KR" sz="1000" dirty="0"/>
                        <a:t>) / 21.7455 R(Earth)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1.8300 R(</a:t>
                      </a:r>
                      <a:r>
                        <a:rPr lang="en-US" altLang="ko-KR" sz="1000" dirty="0" err="1"/>
                        <a:t>Jup</a:t>
                      </a:r>
                      <a:r>
                        <a:rPr lang="en-US" altLang="ko-KR" sz="1000" dirty="0"/>
                        <a:t>) / 20.5125 R(Earth)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7289890"/>
                  </a:ext>
                </a:extLst>
              </a:tr>
              <a:tr h="252549">
                <a:tc>
                  <a:txBody>
                    <a:bodyPr/>
                    <a:lstStyle/>
                    <a:p>
                      <a:r>
                        <a:rPr lang="en-US" sz="1000" b="1" dirty="0"/>
                        <a:t>Mass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1.4100 M(</a:t>
                      </a:r>
                      <a:r>
                        <a:rPr lang="en-US" altLang="ko-KR" sz="1000" dirty="0" err="1"/>
                        <a:t>Jup</a:t>
                      </a:r>
                      <a:r>
                        <a:rPr lang="en-US" altLang="ko-KR" sz="1000" dirty="0"/>
                        <a:t>) / 448.2926 M(Earth)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3.5180 M(</a:t>
                      </a:r>
                      <a:r>
                        <a:rPr lang="en-US" altLang="ko-KR" sz="1000" dirty="0" err="1"/>
                        <a:t>Jup</a:t>
                      </a:r>
                      <a:r>
                        <a:rPr lang="en-US" altLang="ko-KR" sz="1000" dirty="0"/>
                        <a:t>) / 1118.5059 M(Earth)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6651627"/>
                  </a:ext>
                </a:extLst>
              </a:tr>
              <a:tr h="269966">
                <a:tc>
                  <a:txBody>
                    <a:bodyPr/>
                    <a:lstStyle/>
                    <a:p>
                      <a:r>
                        <a:rPr lang="en-US" sz="1000" b="1" dirty="0"/>
                        <a:t>Semi Major Axis (Orbital Distance)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0.0558 AU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0.0542 AU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538824"/>
                  </a:ext>
                </a:extLst>
              </a:tr>
              <a:tr h="278674">
                <a:tc>
                  <a:txBody>
                    <a:bodyPr/>
                    <a:lstStyle/>
                    <a:p>
                      <a:r>
                        <a:rPr lang="en-US" sz="1000" b="1" dirty="0"/>
                        <a:t>Eccentricity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0.0000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0.0000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0408473"/>
                  </a:ext>
                </a:extLst>
              </a:tr>
              <a:tr h="269966">
                <a:tc>
                  <a:txBody>
                    <a:bodyPr/>
                    <a:lstStyle/>
                    <a:p>
                      <a:r>
                        <a:rPr lang="en-US" sz="1000" b="1" dirty="0"/>
                        <a:t>Orbital Period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3.34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3.47 days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378807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rPr lang="en-US" sz="1000" b="1" dirty="0"/>
                        <a:t>Surface Gravity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0.9480 G(Earth)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2.6583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0141451"/>
                  </a:ext>
                </a:extLst>
              </a:tr>
              <a:tr h="261256">
                <a:tc>
                  <a:txBody>
                    <a:bodyPr/>
                    <a:lstStyle/>
                    <a:p>
                      <a:r>
                        <a:rPr lang="en-US" sz="1000" b="1" dirty="0"/>
                        <a:t>Star Radiation at Atmospheric Boundary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7118997.0 W/m^2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6949467.8 W/m^2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4204456"/>
                  </a:ext>
                </a:extLst>
              </a:tr>
              <a:tr h="278674">
                <a:tc>
                  <a:txBody>
                    <a:bodyPr/>
                    <a:lstStyle/>
                    <a:p>
                      <a:r>
                        <a:rPr lang="en-US" sz="1000" b="1" dirty="0"/>
                        <a:t>Blackbody T 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2305.4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2291.6 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7975568"/>
                  </a:ext>
                </a:extLst>
              </a:tr>
              <a:tr h="217714">
                <a:tc>
                  <a:txBody>
                    <a:bodyPr/>
                    <a:lstStyle/>
                    <a:p>
                      <a:r>
                        <a:rPr lang="en-US" sz="1000" b="1" dirty="0"/>
                        <a:t>Blackbody T 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2165.0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2152.0 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8603502"/>
                  </a:ext>
                </a:extLst>
              </a:tr>
              <a:tr h="278674">
                <a:tc>
                  <a:txBody>
                    <a:bodyPr/>
                    <a:lstStyle/>
                    <a:p>
                      <a:r>
                        <a:rPr lang="en-US" sz="1000" b="1" dirty="0"/>
                        <a:t>Blackbody T 0.7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1751.7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1741.2 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7642635"/>
                  </a:ext>
                </a:extLst>
              </a:tr>
              <a:tr h="221318">
                <a:tc>
                  <a:txBody>
                    <a:bodyPr/>
                    <a:lstStyle/>
                    <a:p>
                      <a:r>
                        <a:rPr lang="en-US" sz="1000" b="1" dirty="0"/>
                        <a:t>Star Distance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1395 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445LY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8753305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r>
                        <a:rPr lang="en-US" sz="1000" b="1" dirty="0"/>
                        <a:t>Stellar Radius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1.8 R(Sun)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1.6 R(Sun)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1813827"/>
                  </a:ext>
                </a:extLst>
              </a:tr>
              <a:tr h="209006">
                <a:tc>
                  <a:txBody>
                    <a:bodyPr/>
                    <a:lstStyle/>
                    <a:p>
                      <a:r>
                        <a:rPr lang="en-US" sz="1000" b="1" dirty="0"/>
                        <a:t>Stellar Mass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1.9 M(Sun)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1.9 M(Sun)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226118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r>
                        <a:rPr lang="en-US" sz="1000" b="1" dirty="0"/>
                        <a:t>Star 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0.4 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0.2 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9995207"/>
                  </a:ext>
                </a:extLst>
              </a:tr>
              <a:tr h="252549">
                <a:tc>
                  <a:txBody>
                    <a:bodyPr/>
                    <a:lstStyle/>
                    <a:p>
                      <a:r>
                        <a:rPr lang="en-US" sz="1000" b="1" dirty="0"/>
                        <a:t>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8640 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8980 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9715015"/>
                  </a:ext>
                </a:extLst>
              </a:tr>
              <a:tr h="269966">
                <a:tc>
                  <a:txBody>
                    <a:bodyPr/>
                    <a:lstStyle/>
                    <a:p>
                      <a:r>
                        <a:rPr lang="en-US" sz="1000" b="1" dirty="0"/>
                        <a:t>Spectral type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A1IV-V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4822906"/>
                  </a:ext>
                </a:extLst>
              </a:tr>
              <a:tr h="236319">
                <a:tc>
                  <a:txBody>
                    <a:bodyPr/>
                    <a:lstStyle/>
                    <a:p>
                      <a:r>
                        <a:rPr lang="en-US" sz="1000" b="1" dirty="0"/>
                        <a:t>UV portion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7.8 %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7.8 %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744182"/>
                  </a:ext>
                </a:extLst>
              </a:tr>
              <a:tr h="261257">
                <a:tc>
                  <a:txBody>
                    <a:bodyPr/>
                    <a:lstStyle/>
                    <a:p>
                      <a:r>
                        <a:rPr lang="en-US" sz="1000" b="1" dirty="0"/>
                        <a:t>Visible portion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44.8 %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44.8 %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2874492"/>
                  </a:ext>
                </a:extLst>
              </a:tr>
              <a:tr h="235131">
                <a:tc>
                  <a:txBody>
                    <a:bodyPr/>
                    <a:lstStyle/>
                    <a:p>
                      <a:r>
                        <a:rPr lang="en-US" sz="1000" b="1" dirty="0"/>
                        <a:t>IR portion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47.4 %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47.4 %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3984656"/>
                  </a:ext>
                </a:extLst>
              </a:tr>
              <a:tr h="200297">
                <a:tc>
                  <a:txBody>
                    <a:bodyPr/>
                    <a:lstStyle/>
                    <a:p>
                      <a:r>
                        <a:rPr lang="en-US" sz="1000" b="1" dirty="0"/>
                        <a:t>Metallicity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-0.1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-0.0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1737982"/>
                  </a:ext>
                </a:extLst>
              </a:tr>
              <a:tr h="217714">
                <a:tc>
                  <a:txBody>
                    <a:bodyPr/>
                    <a:lstStyle/>
                    <a:p>
                      <a:r>
                        <a:rPr lang="en-US" sz="1000" b="1" dirty="0"/>
                        <a:t>Absolute Magnitude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1.8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25.0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7961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b="1" dirty="0"/>
                        <a:t>Apparent Magnitude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9.9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3.0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2519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1761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8773" y="644275"/>
            <a:ext cx="10919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03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0739" y="890496"/>
            <a:ext cx="27529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Detect with HST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644756" y="644275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표 2">
            <a:extLst>
              <a:ext uri="{FF2B5EF4-FFF2-40B4-BE49-F238E27FC236}">
                <a16:creationId xmlns:a16="http://schemas.microsoft.com/office/drawing/2014/main" id="{B3904232-E322-475C-B5F5-09FC97A4B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642293"/>
              </p:ext>
            </p:extLst>
          </p:nvPr>
        </p:nvGraphicFramePr>
        <p:xfrm>
          <a:off x="475939" y="3060312"/>
          <a:ext cx="6342870" cy="1361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2095">
                  <a:extLst>
                    <a:ext uri="{9D8B030D-6E8A-4147-A177-3AD203B41FA5}">
                      <a16:colId xmlns:a16="http://schemas.microsoft.com/office/drawing/2014/main" val="1540690633"/>
                    </a:ext>
                  </a:extLst>
                </a:gridCol>
                <a:gridCol w="1917533">
                  <a:extLst>
                    <a:ext uri="{9D8B030D-6E8A-4147-A177-3AD203B41FA5}">
                      <a16:colId xmlns:a16="http://schemas.microsoft.com/office/drawing/2014/main" val="2300248139"/>
                    </a:ext>
                  </a:extLst>
                </a:gridCol>
                <a:gridCol w="2123242">
                  <a:extLst>
                    <a:ext uri="{9D8B030D-6E8A-4147-A177-3AD203B41FA5}">
                      <a16:colId xmlns:a16="http://schemas.microsoft.com/office/drawing/2014/main" val="946637481"/>
                    </a:ext>
                  </a:extLst>
                </a:gridCol>
              </a:tblGrid>
              <a:tr h="264185">
                <a:tc>
                  <a:txBody>
                    <a:bodyPr/>
                    <a:lstStyle/>
                    <a:p>
                      <a:r>
                        <a:rPr lang="en-US" sz="1000" dirty="0"/>
                        <a:t>Exoplanet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WASP-178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Kelt-20b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831262"/>
                  </a:ext>
                </a:extLst>
              </a:tr>
              <a:tr h="278674">
                <a:tc>
                  <a:txBody>
                    <a:bodyPr/>
                    <a:lstStyle/>
                    <a:p>
                      <a:r>
                        <a:rPr lang="en-US"/>
                        <a:t>Detection Type :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Primary Transit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7289890"/>
                  </a:ext>
                </a:extLst>
              </a:tr>
              <a:tr h="252549">
                <a:tc>
                  <a:txBody>
                    <a:bodyPr/>
                    <a:lstStyle/>
                    <a:p>
                      <a:r>
                        <a:rPr lang="en-US"/>
                        <a:t>Mass Detection :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Radial Velocity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6651627"/>
                  </a:ext>
                </a:extLst>
              </a:tr>
              <a:tr h="269966">
                <a:tc>
                  <a:txBody>
                    <a:bodyPr/>
                    <a:lstStyle/>
                    <a:p>
                      <a:r>
                        <a:rPr lang="en-US"/>
                        <a:t>Radius Detection :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Primary Transit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538824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B83A06F5-CDF1-427C-AD3D-77F5FD512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7951" y="2067535"/>
            <a:ext cx="3996146" cy="3996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ew ultra-hot Jupiter exoplanet discovered">
            <a:extLst>
              <a:ext uri="{FF2B5EF4-FFF2-40B4-BE49-F238E27FC236}">
                <a16:creationId xmlns:a16="http://schemas.microsoft.com/office/drawing/2014/main" id="{9CC3F1EB-4395-4277-A290-1933F50DA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7951" y="2529245"/>
            <a:ext cx="3941384" cy="3534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7903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8773" y="644275"/>
            <a:ext cx="10919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03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0739" y="890496"/>
            <a:ext cx="27529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Detect with HST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644756" y="644275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CB387951-3919-49E8-97B7-D9E3C2A7F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263" y="664022"/>
            <a:ext cx="4859456" cy="5529955"/>
          </a:xfrm>
          <a:prstGeom prst="rect">
            <a:avLst/>
          </a:prstGeom>
        </p:spPr>
      </p:pic>
      <p:pic>
        <p:nvPicPr>
          <p:cNvPr id="2050" name="Picture 2" descr="wide field camera 3 online -">
            <a:extLst>
              <a:ext uri="{FF2B5EF4-FFF2-40B4-BE49-F238E27FC236}">
                <a16:creationId xmlns:a16="http://schemas.microsoft.com/office/drawing/2014/main" id="{115738DD-3BAA-4EAA-860F-C872D93BC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756" y="1912690"/>
            <a:ext cx="5033350" cy="3775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837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8773" y="644275"/>
            <a:ext cx="10919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04</a:t>
            </a:r>
            <a:endParaRPr lang="ko-KR" altLang="en-US" sz="60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0739" y="890274"/>
            <a:ext cx="63445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Limitation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644756" y="644275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166397B-D6E7-4109-8A96-B93DDC197F86}"/>
              </a:ext>
            </a:extLst>
          </p:cNvPr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C4F3CF45-A0E2-42B9-BD5C-279273E197B2}"/>
              </a:ext>
            </a:extLst>
          </p:cNvPr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08" name="Picture 12" descr="Hot Jupiters may form close to their stars | Astronomy.com">
            <a:extLst>
              <a:ext uri="{FF2B5EF4-FFF2-40B4-BE49-F238E27FC236}">
                <a16:creationId xmlns:a16="http://schemas.microsoft.com/office/drawing/2014/main" id="{F6DD01AD-5452-4FF4-9A9B-6EF586D2C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5176" y="2011740"/>
            <a:ext cx="5715000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CE584A63-2434-4B18-80D1-77D28DD11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6851" y="1001487"/>
            <a:ext cx="5271651" cy="532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9622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63504" y="885981"/>
            <a:ext cx="63445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Reference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644756" y="644275"/>
            <a:ext cx="360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2746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5702217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166397B-D6E7-4109-8A96-B93DDC197F86}"/>
              </a:ext>
            </a:extLst>
          </p:cNvPr>
          <p:cNvCxnSpPr/>
          <p:nvPr/>
        </p:nvCxnSpPr>
        <p:spPr>
          <a:xfrm>
            <a:off x="6557350" y="6680199"/>
            <a:ext cx="360000" cy="0"/>
          </a:xfrm>
          <a:prstGeom prst="line">
            <a:avLst/>
          </a:prstGeom>
          <a:ln w="44450" cap="rnd"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C4F3CF45-A0E2-42B9-BD5C-279273E197B2}"/>
              </a:ext>
            </a:extLst>
          </p:cNvPr>
          <p:cNvCxnSpPr/>
          <p:nvPr/>
        </p:nvCxnSpPr>
        <p:spPr>
          <a:xfrm>
            <a:off x="6129784" y="6680199"/>
            <a:ext cx="360000" cy="0"/>
          </a:xfrm>
          <a:prstGeom prst="line">
            <a:avLst/>
          </a:prstGeom>
          <a:ln w="44450" cap="rnd"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7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2E6605B-5F7F-48C3-BB25-F8B99E976BD9}"/>
              </a:ext>
            </a:extLst>
          </p:cNvPr>
          <p:cNvSpPr txBox="1"/>
          <p:nvPr/>
        </p:nvSpPr>
        <p:spPr>
          <a:xfrm>
            <a:off x="668473" y="2732745"/>
            <a:ext cx="6690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https://iopscience.iop.org/article/10.3847/1538-3881/ac58fc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19E3B9-D43C-4D4C-8B04-32F209AF5D62}"/>
              </a:ext>
            </a:extLst>
          </p:cNvPr>
          <p:cNvSpPr txBox="1"/>
          <p:nvPr/>
        </p:nvSpPr>
        <p:spPr>
          <a:xfrm>
            <a:off x="627542" y="3517807"/>
            <a:ext cx="100752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https://www.space.com/hubble-space-telescope-exoplanet-extreme-weather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4D03B1-FC45-4D67-AADE-F74C902FCD0A}"/>
              </a:ext>
            </a:extLst>
          </p:cNvPr>
          <p:cNvSpPr txBox="1"/>
          <p:nvPr/>
        </p:nvSpPr>
        <p:spPr>
          <a:xfrm>
            <a:off x="636251" y="4202261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https://www.nature.com/articles/s41586-022-04453-2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791C9C-3C8A-48D8-AFB7-DF932478CE71}"/>
              </a:ext>
            </a:extLst>
          </p:cNvPr>
          <p:cNvSpPr txBox="1"/>
          <p:nvPr/>
        </p:nvSpPr>
        <p:spPr>
          <a:xfrm>
            <a:off x="668473" y="1992245"/>
            <a:ext cx="7726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https://iopscience.iop.org/article/10.3847/2041-8213/ac4968</a:t>
            </a:r>
          </a:p>
        </p:txBody>
      </p:sp>
    </p:spTree>
    <p:extLst>
      <p:ext uri="{BB962C8B-B14F-4D97-AF65-F5344CB8AC3E}">
        <p14:creationId xmlns:p14="http://schemas.microsoft.com/office/powerpoint/2010/main" val="2092859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672024" y="3718560"/>
            <a:ext cx="4860473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436107" y="2550497"/>
            <a:ext cx="531979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600" spc="3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THANK YOU</a:t>
            </a:r>
            <a:endParaRPr lang="ko-KR" altLang="en-US" sz="6600" spc="300" dirty="0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89394" y="3748148"/>
            <a:ext cx="26132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solidFill>
                  <a:schemeClr val="bg1"/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FOR LISTENING</a:t>
            </a:r>
            <a:endParaRPr lang="ko-KR" altLang="en-US" sz="2800" dirty="0">
              <a:solidFill>
                <a:schemeClr val="bg1"/>
              </a:solidFill>
              <a:latin typeface="나눔스퀘어 Light" panose="020B0600000101010101" pitchFamily="50" charset="-127"/>
              <a:ea typeface="나눔스퀘어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3171976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메인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목차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내용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마무리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2608</TotalTime>
  <Words>663</Words>
  <Application>Microsoft Office PowerPoint</Application>
  <PresentationFormat>와이드스크린</PresentationFormat>
  <Paragraphs>213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5</vt:i4>
      </vt:variant>
      <vt:variant>
        <vt:lpstr>슬라이드 제목</vt:lpstr>
      </vt:variant>
      <vt:variant>
        <vt:i4>16</vt:i4>
      </vt:variant>
    </vt:vector>
  </HeadingPairs>
  <TitlesOfParts>
    <vt:vector size="27" baseType="lpstr">
      <vt:lpstr>맑은 고딕</vt:lpstr>
      <vt:lpstr>noto</vt:lpstr>
      <vt:lpstr>나눔스퀘어 Light</vt:lpstr>
      <vt:lpstr>Arial</vt:lpstr>
      <vt:lpstr>Open Sans</vt:lpstr>
      <vt:lpstr>나눔스퀘어 ExtraBold</vt:lpstr>
      <vt:lpstr>2_Office 테마</vt:lpstr>
      <vt:lpstr>메인</vt:lpstr>
      <vt:lpstr>목차</vt:lpstr>
      <vt:lpstr>내용</vt:lpstr>
      <vt:lpstr>마무리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hyeran kang</dc:creator>
  <cp:lastModifiedBy>이진진</cp:lastModifiedBy>
  <cp:revision>12</cp:revision>
  <dcterms:created xsi:type="dcterms:W3CDTF">2017-05-21T13:44:12Z</dcterms:created>
  <dcterms:modified xsi:type="dcterms:W3CDTF">2022-04-10T15:40:34Z</dcterms:modified>
</cp:coreProperties>
</file>