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8" r:id="rId1"/>
    <p:sldMasterId id="2147483648" r:id="rId2"/>
    <p:sldMasterId id="2147483656" r:id="rId3"/>
    <p:sldMasterId id="2147483660" r:id="rId4"/>
    <p:sldMasterId id="2147483662" r:id="rId5"/>
  </p:sldMasterIdLst>
  <p:sldIdLst>
    <p:sldId id="257" r:id="rId6"/>
    <p:sldId id="300" r:id="rId7"/>
    <p:sldId id="293" r:id="rId8"/>
    <p:sldId id="315" r:id="rId9"/>
    <p:sldId id="322" r:id="rId10"/>
    <p:sldId id="327" r:id="rId11"/>
    <p:sldId id="331" r:id="rId12"/>
    <p:sldId id="332" r:id="rId13"/>
    <p:sldId id="329" r:id="rId14"/>
    <p:sldId id="333" r:id="rId15"/>
    <p:sldId id="328" r:id="rId16"/>
    <p:sldId id="334" r:id="rId17"/>
    <p:sldId id="326" r:id="rId18"/>
    <p:sldId id="335" r:id="rId19"/>
    <p:sldId id="263" r:id="rId20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21"/>
    </p:embeddedFont>
    <p:embeddedFont>
      <p:font typeface="나눔스퀘어 Light" panose="020B0600000101010101" pitchFamily="50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14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4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95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92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14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79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45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86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8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998220"/>
            <a:ext cx="12184380" cy="486156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59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315686"/>
            <a:ext cx="12184380" cy="6226628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45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7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29903" y="2789592"/>
            <a:ext cx="173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/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Hot</a:t>
            </a:r>
            <a:r>
              <a:rPr lang="ko-KR" altLang="en-US" sz="2400" b="0" i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Jupiter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0408" y="3816532"/>
            <a:ext cx="2012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2022311224 </a:t>
            </a:r>
            <a:r>
              <a:rPr lang="ko-KR" altLang="en-US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이진진</a:t>
            </a:r>
          </a:p>
        </p:txBody>
      </p:sp>
    </p:spTree>
    <p:extLst>
      <p:ext uri="{BB962C8B-B14F-4D97-AF65-F5344CB8AC3E}">
        <p14:creationId xmlns:p14="http://schemas.microsoft.com/office/powerpoint/2010/main" val="3950016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60" y="606871"/>
            <a:ext cx="226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PLAN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200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3995C5E-7DB5-4818-BF8B-AD45D44F2CAB}"/>
              </a:ext>
            </a:extLst>
          </p:cNvPr>
          <p:cNvSpPr txBox="1"/>
          <p:nvPr/>
        </p:nvSpPr>
        <p:spPr>
          <a:xfrm>
            <a:off x="201482" y="134154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7 : Total WBS introduction / Scientific Objective 1.1, 1.2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1492AB-4951-438F-8198-8AFEEE4316E8}"/>
              </a:ext>
            </a:extLst>
          </p:cNvPr>
          <p:cNvSpPr txBox="1"/>
          <p:nvPr/>
        </p:nvSpPr>
        <p:spPr>
          <a:xfrm>
            <a:off x="201482" y="1813426"/>
            <a:ext cx="7287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8 : Modifying overall WBS and PLAN / Observation Method 2.1, 2.2, 2.3 </a:t>
            </a:r>
            <a:endParaRPr lang="ko-KR" altLang="en-US" sz="1600" b="1" strike="sng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9E1672-DA1C-408B-8792-90233FE8908B}"/>
              </a:ext>
            </a:extLst>
          </p:cNvPr>
          <p:cNvSpPr txBox="1"/>
          <p:nvPr/>
        </p:nvSpPr>
        <p:spPr>
          <a:xfrm>
            <a:off x="201482" y="227355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9 : Observation Method 2.1, 2.2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763950-4022-4970-AAAB-8C5FD242ED68}"/>
              </a:ext>
            </a:extLst>
          </p:cNvPr>
          <p:cNvSpPr txBox="1"/>
          <p:nvPr/>
        </p:nvSpPr>
        <p:spPr>
          <a:xfrm>
            <a:off x="201482" y="273919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10 : Observation Equipment 3.1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791F23-DA1B-4E7C-8A61-6A672AC605E1}"/>
              </a:ext>
            </a:extLst>
          </p:cNvPr>
          <p:cNvSpPr txBox="1"/>
          <p:nvPr/>
        </p:nvSpPr>
        <p:spPr>
          <a:xfrm>
            <a:off x="201482" y="320483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11 : 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AEB14E-2867-4842-A878-385C1DC5319B}"/>
              </a:ext>
            </a:extLst>
          </p:cNvPr>
          <p:cNvSpPr txBox="1"/>
          <p:nvPr/>
        </p:nvSpPr>
        <p:spPr>
          <a:xfrm>
            <a:off x="201482" y="367047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12 : Data Result 4.1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F5644A-0DA6-45E3-8DB7-3F9EFFC76DAC}"/>
              </a:ext>
            </a:extLst>
          </p:cNvPr>
          <p:cNvSpPr txBox="1"/>
          <p:nvPr/>
        </p:nvSpPr>
        <p:spPr>
          <a:xfrm>
            <a:off x="201482" y="413611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13 : Data Result 4.2, 4.3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63115D-5BAA-4A15-BA8D-AF9DA348B87C}"/>
              </a:ext>
            </a:extLst>
          </p:cNvPr>
          <p:cNvSpPr txBox="1"/>
          <p:nvPr/>
        </p:nvSpPr>
        <p:spPr>
          <a:xfrm>
            <a:off x="201482" y="460175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14 : Interpretation 5.1, 5.2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F9A30A-EB51-4479-9B46-9D30BD9C4C7F}"/>
              </a:ext>
            </a:extLst>
          </p:cNvPr>
          <p:cNvSpPr txBox="1"/>
          <p:nvPr/>
        </p:nvSpPr>
        <p:spPr>
          <a:xfrm>
            <a:off x="201482" y="506739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15 : (Blank Period) 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CFA259-8AA2-4AB1-9CAD-5EB594E6925D}"/>
              </a:ext>
            </a:extLst>
          </p:cNvPr>
          <p:cNvSpPr txBox="1"/>
          <p:nvPr/>
        </p:nvSpPr>
        <p:spPr>
          <a:xfrm>
            <a:off x="201482" y="553303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FFFF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16 : Conference</a:t>
            </a:r>
            <a:endParaRPr lang="ko-KR" altLang="en-US" sz="1600" b="1" dirty="0">
              <a:solidFill>
                <a:srgbClr val="FFFF00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F3FB0E7A-F285-CCA8-E7C7-3E7318262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53" y="2362813"/>
            <a:ext cx="6620390" cy="397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60" y="606871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WBS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824ED4A-04BA-BFB1-3E74-8B85B6CD6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54" y="1543284"/>
            <a:ext cx="10084526" cy="399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6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Data –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1295781" y="1814652"/>
            <a:ext cx="60945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Radius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Distance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Orbiting velocity</a:t>
            </a:r>
          </a:p>
          <a:p>
            <a:endParaRPr lang="en-US" altLang="ko-KR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    Mass</a:t>
            </a:r>
          </a:p>
          <a:p>
            <a:pPr marL="342900" indent="-342900">
              <a:buAutoNum type="arabicPeriod"/>
            </a:pPr>
            <a:endParaRPr lang="en-US" altLang="ko-KR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5.    Temperature &amp; Atmospheric composition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085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Data - 51 Pegasi b 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520899" y="154061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Radius (Primary transit)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E9C7088-1727-3897-27D9-1B9DD36C4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815" y="1835254"/>
            <a:ext cx="5999094" cy="430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16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Data - 51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520471" y="153088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Radius</a:t>
            </a:r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(Primary transit)</a:t>
            </a:r>
            <a:endParaRPr lang="en-US" altLang="ko-KR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774F3D7-5EE8-9364-2AE4-84538B676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723" y="2186662"/>
            <a:ext cx="5583455" cy="41454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34CDC4-CFBE-4A21-1682-5E372717231E}"/>
              </a:ext>
            </a:extLst>
          </p:cNvPr>
          <p:cNvSpPr txBox="1"/>
          <p:nvPr/>
        </p:nvSpPr>
        <p:spPr>
          <a:xfrm>
            <a:off x="6096000" y="5104308"/>
            <a:ext cx="1907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ko-KR" sz="1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Δ</a:t>
            </a:r>
            <a:r>
              <a:rPr lang="en-US" altLang="ko-KR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 ~</a:t>
            </a:r>
            <a:r>
              <a:rPr lang="ko-KR" altLang="en-US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en-US" altLang="ko-KR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0.00006</a:t>
            </a:r>
            <a:endParaRPr lang="en-US" altLang="ko-KR" sz="18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534AC8-ED59-2D52-B2E7-4178E1A57FAB}"/>
              </a:ext>
            </a:extLst>
          </p:cNvPr>
          <p:cNvSpPr txBox="1"/>
          <p:nvPr/>
        </p:nvSpPr>
        <p:spPr>
          <a:xfrm>
            <a:off x="8448740" y="1753692"/>
            <a:ext cx="2630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R(Star) x sqrt(</a:t>
            </a:r>
            <a:r>
              <a:rPr lang="el-GR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Δ</a:t>
            </a:r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F)</a:t>
            </a:r>
            <a:endParaRPr lang="en-US" altLang="ko-KR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7E23E7-8D82-DCED-3D2A-967E1AD52592}"/>
              </a:ext>
            </a:extLst>
          </p:cNvPr>
          <p:cNvSpPr txBox="1"/>
          <p:nvPr/>
        </p:nvSpPr>
        <p:spPr>
          <a:xfrm>
            <a:off x="8448739" y="2492019"/>
            <a:ext cx="2967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1.237 x (0.00006)^(1/2)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9B8D26-669B-FFBD-3FB0-E4CB47C50C2F}"/>
              </a:ext>
            </a:extLst>
          </p:cNvPr>
          <p:cNvSpPr txBox="1"/>
          <p:nvPr/>
        </p:nvSpPr>
        <p:spPr>
          <a:xfrm>
            <a:off x="8448739" y="3059668"/>
            <a:ext cx="2967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0.0096 R(sun)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9C91C8-47A7-A781-F1C1-7A17D67604F7}"/>
              </a:ext>
            </a:extLst>
          </p:cNvPr>
          <p:cNvSpPr txBox="1"/>
          <p:nvPr/>
        </p:nvSpPr>
        <p:spPr>
          <a:xfrm>
            <a:off x="8448739" y="3613329"/>
            <a:ext cx="2967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0.0096 x 696,340 km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F591B8-B424-3751-9287-6EF0C2DCDBD2}"/>
              </a:ext>
            </a:extLst>
          </p:cNvPr>
          <p:cNvSpPr txBox="1"/>
          <p:nvPr/>
        </p:nvSpPr>
        <p:spPr>
          <a:xfrm>
            <a:off x="8448739" y="4166990"/>
            <a:ext cx="2967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6685 km  (X) </a:t>
            </a:r>
          </a:p>
        </p:txBody>
      </p:sp>
    </p:spTree>
    <p:extLst>
      <p:ext uri="{BB962C8B-B14F-4D97-AF65-F5344CB8AC3E}">
        <p14:creationId xmlns:p14="http://schemas.microsoft.com/office/powerpoint/2010/main" val="3373383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Data - 51 Pegasi b 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520899" y="154061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Radius</a:t>
            </a:r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(Primary transit)</a:t>
            </a:r>
            <a:endParaRPr lang="en-US" altLang="ko-KR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2630F1-2677-F8EF-FBCA-D46AE2BB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99" y="2283067"/>
            <a:ext cx="5799997" cy="372566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8C73834-0116-FE76-DC8B-19C02B92D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419" y="1852564"/>
            <a:ext cx="5413495" cy="415616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D861737-1826-6452-1691-1E5F08DD5911}"/>
              </a:ext>
            </a:extLst>
          </p:cNvPr>
          <p:cNvSpPr txBox="1"/>
          <p:nvPr/>
        </p:nvSpPr>
        <p:spPr>
          <a:xfrm>
            <a:off x="6615419" y="1286891"/>
            <a:ext cx="1930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 = 135,830 km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2119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Data - 51 Pegasi b 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520899" y="154061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2. Distance from sun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F4925EB-809D-575D-0EA0-EC21C2D4D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360011"/>
            <a:ext cx="5840080" cy="344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7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Data - 51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520471" y="153088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2. Distance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534AC8-ED59-2D52-B2E7-4178E1A57FAB}"/>
              </a:ext>
            </a:extLst>
          </p:cNvPr>
          <p:cNvSpPr txBox="1"/>
          <p:nvPr/>
        </p:nvSpPr>
        <p:spPr>
          <a:xfrm>
            <a:off x="5774163" y="2340549"/>
            <a:ext cx="361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P = 4.231 days = 365560 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7E23E7-8D82-DCED-3D2A-967E1AD52592}"/>
              </a:ext>
            </a:extLst>
          </p:cNvPr>
          <p:cNvSpPr txBox="1"/>
          <p:nvPr/>
        </p:nvSpPr>
        <p:spPr>
          <a:xfrm>
            <a:off x="5774163" y="3026575"/>
            <a:ext cx="361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</a:t>
            </a: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= [GM(star) p^2 / 4 pi^2]^(1/3)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9C91C8-47A7-A781-F1C1-7A17D67604F7}"/>
              </a:ext>
            </a:extLst>
          </p:cNvPr>
          <p:cNvSpPr txBox="1"/>
          <p:nvPr/>
        </p:nvSpPr>
        <p:spPr>
          <a:xfrm>
            <a:off x="5927156" y="3703454"/>
            <a:ext cx="5742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[6.67 x 10^(-11) x 365560^2 M(star) / 4 pi^2]^(1/3)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F591B8-B424-3751-9287-6EF0C2DCDBD2}"/>
              </a:ext>
            </a:extLst>
          </p:cNvPr>
          <p:cNvSpPr txBox="1"/>
          <p:nvPr/>
        </p:nvSpPr>
        <p:spPr>
          <a:xfrm>
            <a:off x="5927156" y="4380333"/>
            <a:ext cx="5211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7,943,504,324 m = 7,943,504 km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1ECDD8-3D9B-9BFF-1F7C-E5503E976E66}"/>
              </a:ext>
            </a:extLst>
          </p:cNvPr>
          <p:cNvSpPr txBox="1"/>
          <p:nvPr/>
        </p:nvSpPr>
        <p:spPr>
          <a:xfrm>
            <a:off x="5927155" y="5057212"/>
            <a:ext cx="2967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0.053AU</a:t>
            </a:r>
          </a:p>
        </p:txBody>
      </p:sp>
      <p:pic>
        <p:nvPicPr>
          <p:cNvPr id="2050" name="Picture 2" descr="The radial velocity graph of 51 Pegasi">
            <a:extLst>
              <a:ext uri="{FF2B5EF4-FFF2-40B4-BE49-F238E27FC236}">
                <a16:creationId xmlns:a16="http://schemas.microsoft.com/office/drawing/2014/main" id="{A114EA1F-4207-0B64-90B8-62CDDEDA4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40" y="2241276"/>
            <a:ext cx="4528770" cy="349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42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Data - 51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520471" y="153088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 Orbiting velocity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534AC8-ED59-2D52-B2E7-4178E1A57FAB}"/>
              </a:ext>
            </a:extLst>
          </p:cNvPr>
          <p:cNvSpPr txBox="1"/>
          <p:nvPr/>
        </p:nvSpPr>
        <p:spPr>
          <a:xfrm>
            <a:off x="5774163" y="2340549"/>
            <a:ext cx="361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 = 0.053AU = 7,943,504,324 m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7E23E7-8D82-DCED-3D2A-967E1AD52592}"/>
              </a:ext>
            </a:extLst>
          </p:cNvPr>
          <p:cNvSpPr txBox="1"/>
          <p:nvPr/>
        </p:nvSpPr>
        <p:spPr>
          <a:xfrm>
            <a:off x="5774163" y="3026575"/>
            <a:ext cx="4528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v = 2 pi (7,943,504,324m) / 365560s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9C91C8-47A7-A781-F1C1-7A17D67604F7}"/>
              </a:ext>
            </a:extLst>
          </p:cNvPr>
          <p:cNvSpPr txBox="1"/>
          <p:nvPr/>
        </p:nvSpPr>
        <p:spPr>
          <a:xfrm>
            <a:off x="5927156" y="3703454"/>
            <a:ext cx="5742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136,531 m/s = 136.5 km/s</a:t>
            </a:r>
          </a:p>
        </p:txBody>
      </p:sp>
      <p:pic>
        <p:nvPicPr>
          <p:cNvPr id="2050" name="Picture 2" descr="The radial velocity graph of 51 Pegasi">
            <a:extLst>
              <a:ext uri="{FF2B5EF4-FFF2-40B4-BE49-F238E27FC236}">
                <a16:creationId xmlns:a16="http://schemas.microsoft.com/office/drawing/2014/main" id="{A114EA1F-4207-0B64-90B8-62CDDEDA4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40" y="2241276"/>
            <a:ext cx="4528770" cy="349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678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Data - 51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684672" y="175369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 Mass</a:t>
            </a:r>
            <a:endParaRPr lang="en-US" altLang="ko-KR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13F062-4487-D27A-1A6A-7150705EB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278" y="1606582"/>
            <a:ext cx="3011778" cy="80941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C003E67-988C-7A48-2688-AB9E97716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11" y="2709221"/>
            <a:ext cx="7218317" cy="35607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4B436A-9207-853D-6F8C-D69AD1B0589E}"/>
              </a:ext>
            </a:extLst>
          </p:cNvPr>
          <p:cNvSpPr txBox="1"/>
          <p:nvPr/>
        </p:nvSpPr>
        <p:spPr>
          <a:xfrm>
            <a:off x="8473438" y="4803086"/>
            <a:ext cx="3596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M = 0.46M(</a:t>
            </a:r>
            <a:r>
              <a:rPr lang="en-US" altLang="ko-KR" dirty="0" err="1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jup</a:t>
            </a:r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) = 0.00044M(sun)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3404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Data - 51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495ED69-9313-7736-529E-C27852FF5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86470"/>
            <a:ext cx="7620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926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Data HD209458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684672" y="175369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5. Surface Temperature &amp; chemical composition</a:t>
            </a:r>
          </a:p>
        </p:txBody>
      </p:sp>
      <p:pic>
        <p:nvPicPr>
          <p:cNvPr id="3074" name="Picture 2" descr="Figure 1.">
            <a:extLst>
              <a:ext uri="{FF2B5EF4-FFF2-40B4-BE49-F238E27FC236}">
                <a16:creationId xmlns:a16="http://schemas.microsoft.com/office/drawing/2014/main" id="{C0DAAB8B-BC1D-116F-EDDD-77383C0DA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571" y="2435083"/>
            <a:ext cx="4459877" cy="370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93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60" y="606871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WBS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824ED4A-04BA-BFB1-3E74-8B85B6CD6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54" y="1543284"/>
            <a:ext cx="10084526" cy="399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94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36107" y="2550497"/>
            <a:ext cx="53197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spc="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  <a:endParaRPr lang="ko-KR" altLang="en-US" sz="6600" spc="3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9394" y="3748148"/>
            <a:ext cx="2613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FOR LISTENING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17197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메인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목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6000" dirty="0">
            <a:solidFill>
              <a:schemeClr val="bg1"/>
            </a:solidFill>
            <a:latin typeface="나눔스퀘어 Light" panose="020B0600000101010101" pitchFamily="50" charset="-127"/>
            <a:ea typeface="나눔스퀘어 Light" panose="020B0600000101010101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마무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6533</TotalTime>
  <Words>340</Words>
  <Application>Microsoft Office PowerPoint</Application>
  <PresentationFormat>와이드스크린</PresentationFormat>
  <Paragraphs>70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나눔스퀘어 ExtraBold</vt:lpstr>
      <vt:lpstr>나눔스퀘어 Light</vt:lpstr>
      <vt:lpstr>맑은 고딕</vt:lpstr>
      <vt:lpstr>Arial</vt:lpstr>
      <vt:lpstr>2_Office 테마</vt:lpstr>
      <vt:lpstr>메인</vt:lpstr>
      <vt:lpstr>목차</vt:lpstr>
      <vt:lpstr>내용</vt:lpstr>
      <vt:lpstr>마무리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hyeran kang</dc:creator>
  <cp:lastModifiedBy>이진진</cp:lastModifiedBy>
  <cp:revision>21</cp:revision>
  <dcterms:created xsi:type="dcterms:W3CDTF">2017-05-21T13:44:12Z</dcterms:created>
  <dcterms:modified xsi:type="dcterms:W3CDTF">2022-05-23T20:47:42Z</dcterms:modified>
</cp:coreProperties>
</file>