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glb" ContentType="model/gltf.binary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48"/>
  </p:notesMasterIdLst>
  <p:handoutMasterIdLst>
    <p:handoutMasterId r:id="rId49"/>
  </p:handoutMasterIdLst>
  <p:sldIdLst>
    <p:sldId id="372" r:id="rId2"/>
    <p:sldId id="262" r:id="rId3"/>
    <p:sldId id="2184" r:id="rId4"/>
    <p:sldId id="2194" r:id="rId5"/>
    <p:sldId id="2189" r:id="rId6"/>
    <p:sldId id="2206" r:id="rId7"/>
    <p:sldId id="2208" r:id="rId8"/>
    <p:sldId id="2183" r:id="rId9"/>
    <p:sldId id="2186" r:id="rId10"/>
    <p:sldId id="2188" r:id="rId11"/>
    <p:sldId id="2187" r:id="rId12"/>
    <p:sldId id="2190" r:id="rId13"/>
    <p:sldId id="2204" r:id="rId14"/>
    <p:sldId id="2205" r:id="rId15"/>
    <p:sldId id="2191" r:id="rId16"/>
    <p:sldId id="2195" r:id="rId17"/>
    <p:sldId id="2124" r:id="rId18"/>
    <p:sldId id="2105" r:id="rId19"/>
    <p:sldId id="2164" r:id="rId20"/>
    <p:sldId id="2091" r:id="rId21"/>
    <p:sldId id="2209" r:id="rId22"/>
    <p:sldId id="2198" r:id="rId23"/>
    <p:sldId id="2197" r:id="rId24"/>
    <p:sldId id="2213" r:id="rId25"/>
    <p:sldId id="1978" r:id="rId26"/>
    <p:sldId id="1979" r:id="rId27"/>
    <p:sldId id="469" r:id="rId28"/>
    <p:sldId id="1975" r:id="rId29"/>
    <p:sldId id="1976" r:id="rId30"/>
    <p:sldId id="471" r:id="rId31"/>
    <p:sldId id="2199" r:id="rId32"/>
    <p:sldId id="1990" r:id="rId33"/>
    <p:sldId id="2079" r:id="rId34"/>
    <p:sldId id="2119" r:id="rId35"/>
    <p:sldId id="2203" r:id="rId36"/>
    <p:sldId id="2106" r:id="rId37"/>
    <p:sldId id="2108" r:id="rId38"/>
    <p:sldId id="2109" r:id="rId39"/>
    <p:sldId id="2114" r:id="rId40"/>
    <p:sldId id="2115" r:id="rId41"/>
    <p:sldId id="2116" r:id="rId42"/>
    <p:sldId id="2121" r:id="rId43"/>
    <p:sldId id="2167" r:id="rId44"/>
    <p:sldId id="2196" r:id="rId45"/>
    <p:sldId id="2207" r:id="rId46"/>
    <p:sldId id="2212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0"/>
    <a:srgbClr val="F4F9F1"/>
    <a:srgbClr val="000026"/>
    <a:srgbClr val="000042"/>
    <a:srgbClr val="203864"/>
    <a:srgbClr val="E6E6E6"/>
    <a:srgbClr val="27303D"/>
    <a:srgbClr val="211036"/>
    <a:srgbClr val="3A1C5E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4543" autoAdjust="0"/>
  </p:normalViewPr>
  <p:slideViewPr>
    <p:cSldViewPr snapToGrid="0">
      <p:cViewPr varScale="1">
        <p:scale>
          <a:sx n="97" d="100"/>
          <a:sy n="97" d="100"/>
        </p:scale>
        <p:origin x="220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183D24B-7143-49F8-95D8-0B726F0A83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0248FD-2491-4A2F-A44A-AD2201FE3F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A7FFD-7462-482B-8E25-AD33C0A954E2}" type="datetimeFigureOut">
              <a:rPr lang="ko-KR" altLang="en-US" smtClean="0"/>
              <a:t>2019-07-11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3CCF0-5306-4BFD-B0BD-44708757AD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37F26-0F3A-4734-A45F-66B0C88F9F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A311D-E8CE-4FA0-9D4E-65D22642F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797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DBDA4-B704-41D7-B170-F09E60E5C88F}" type="datetimeFigureOut">
              <a:rPr lang="ko-KR" altLang="en-US" smtClean="0"/>
              <a:t>2019-07-11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4E3C0-6E9E-4B69-9FF4-0D082CEB85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5871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st-soa.arc.nasa.gov/03-power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hlinkClick r:id="rId3"/>
              </a:rPr>
              <a:t>https://sst-soa.arc.nasa.gov/03-power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198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954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486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nSight-1 (SCS) / Kepler (CS)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88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E3106504-E648-48C9-9DB5-9D858C18C0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2" b="7939"/>
          <a:stretch/>
        </p:blipFill>
        <p:spPr>
          <a:xfrm rot="5400000">
            <a:off x="1708625" y="-1708625"/>
            <a:ext cx="5738821" cy="9156073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F8EB42-D8E7-4D75-9DE4-E292DC0AB0F5}"/>
              </a:ext>
            </a:extLst>
          </p:cNvPr>
          <p:cNvSpPr/>
          <p:nvPr userDrawn="1"/>
        </p:nvSpPr>
        <p:spPr>
          <a:xfrm>
            <a:off x="0" y="4495339"/>
            <a:ext cx="9156072" cy="2387600"/>
          </a:xfrm>
          <a:prstGeom prst="rect">
            <a:avLst/>
          </a:prstGeom>
          <a:solidFill>
            <a:srgbClr val="00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1687976"/>
            <a:ext cx="9144000" cy="2387600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서브 시스템명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영문</a:t>
            </a:r>
            <a:r>
              <a:rPr lang="en-US" altLang="ko-KR" dirty="0"/>
              <a:t>, </a:t>
            </a:r>
            <a:r>
              <a:rPr lang="ko-KR" altLang="en-US" dirty="0"/>
              <a:t>고딕 제목</a:t>
            </a:r>
            <a:r>
              <a:rPr lang="en-US" altLang="ko-KR" dirty="0"/>
              <a:t>,60 pts)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EE5AB8-3967-4163-BEFC-82F518F30E93}"/>
              </a:ext>
            </a:extLst>
          </p:cNvPr>
          <p:cNvSpPr txBox="1">
            <a:spLocks/>
          </p:cNvSpPr>
          <p:nvPr userDrawn="1"/>
        </p:nvSpPr>
        <p:spPr>
          <a:xfrm>
            <a:off x="-76569" y="4475305"/>
            <a:ext cx="9295383" cy="432000"/>
          </a:xfrm>
          <a:prstGeom prst="rect">
            <a:avLst/>
          </a:prstGeom>
          <a:noFill/>
          <a:ln w="28575">
            <a:solidFill>
              <a:srgbClr val="E6E6E6"/>
            </a:solidFill>
          </a:ln>
        </p:spPr>
        <p:txBody>
          <a:bodyPr vert="horz" lIns="144000" tIns="144000" rIns="144000" bIns="144000" rtlCol="0" anchor="ctr" anchorCtr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1" kern="1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UBESAT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ONSEI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텍스트 개체 틀 27">
            <a:extLst>
              <a:ext uri="{FF2B5EF4-FFF2-40B4-BE49-F238E27FC236}">
                <a16:creationId xmlns:a16="http://schemas.microsoft.com/office/drawing/2014/main" id="{ECBAAF3A-FFDC-4662-8042-A8B0AAE2E0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76568" y="5762727"/>
            <a:ext cx="9144000" cy="43200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r">
              <a:buFontTx/>
              <a:buNone/>
              <a:defRPr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팀원 이름 </a:t>
            </a:r>
            <a:r>
              <a:rPr lang="en-US" altLang="ko-KR" dirty="0"/>
              <a:t>1 (</a:t>
            </a:r>
            <a:r>
              <a:rPr lang="ko-KR" altLang="en-US" dirty="0"/>
              <a:t>영문</a:t>
            </a:r>
            <a:r>
              <a:rPr lang="en-US" altLang="ko-KR" dirty="0"/>
              <a:t>), </a:t>
            </a:r>
            <a:r>
              <a:rPr lang="ko-KR" altLang="en-US" dirty="0"/>
              <a:t>팀원 이름 </a:t>
            </a:r>
            <a:r>
              <a:rPr lang="en-US" altLang="ko-KR" dirty="0"/>
              <a:t>2 (</a:t>
            </a:r>
            <a:r>
              <a:rPr lang="ko-KR" altLang="en-US" dirty="0"/>
              <a:t>영문</a:t>
            </a:r>
            <a:r>
              <a:rPr lang="en-US" altLang="ko-KR" dirty="0"/>
              <a:t>), </a:t>
            </a:r>
            <a:r>
              <a:rPr lang="ko-KR" altLang="en-US" dirty="0"/>
              <a:t>팀원 이름 </a:t>
            </a:r>
            <a:r>
              <a:rPr lang="en-US" altLang="ko-KR" dirty="0"/>
              <a:t>3 (</a:t>
            </a:r>
            <a:r>
              <a:rPr lang="ko-KR" altLang="en-US" dirty="0"/>
              <a:t>영문</a:t>
            </a:r>
            <a:r>
              <a:rPr lang="en-US" altLang="ko-KR" dirty="0"/>
              <a:t>) … (</a:t>
            </a:r>
            <a:r>
              <a:rPr lang="ko-KR" altLang="en-US" dirty="0"/>
              <a:t>고딕 본문</a:t>
            </a:r>
            <a:r>
              <a:rPr lang="en-US" altLang="ko-KR" dirty="0"/>
              <a:t>, 14 pts)</a:t>
            </a:r>
            <a:endParaRPr lang="ko-KR" altLang="en-US" dirty="0"/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B712440-DC74-40E1-938B-E977BFBFE7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88306" y="5357035"/>
            <a:ext cx="9155113" cy="404813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팀장</a:t>
            </a:r>
            <a:r>
              <a:rPr lang="en-US" altLang="ko-KR" dirty="0"/>
              <a:t>/</a:t>
            </a:r>
            <a:r>
              <a:rPr lang="ko-KR" altLang="en-US" dirty="0"/>
              <a:t>발표자 이름 </a:t>
            </a:r>
            <a:r>
              <a:rPr lang="en-US" altLang="ko-KR" dirty="0"/>
              <a:t>(</a:t>
            </a:r>
            <a:r>
              <a:rPr lang="ko-KR" altLang="en-US" dirty="0"/>
              <a:t>영문</a:t>
            </a:r>
            <a:r>
              <a:rPr lang="en-US" altLang="ko-KR" dirty="0"/>
              <a:t>, </a:t>
            </a:r>
            <a:r>
              <a:rPr lang="ko-KR" altLang="en-US" dirty="0"/>
              <a:t>고딕 본문</a:t>
            </a:r>
            <a:r>
              <a:rPr lang="en-US" altLang="ko-KR" dirty="0"/>
              <a:t>, </a:t>
            </a:r>
            <a:r>
              <a:rPr lang="ko-KR" altLang="en-US" dirty="0"/>
              <a:t>굵게</a:t>
            </a:r>
            <a:r>
              <a:rPr lang="en-US" altLang="ko-KR" dirty="0"/>
              <a:t>, 14 pts)</a:t>
            </a:r>
            <a:endParaRPr lang="ko-KR" alt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64EAA10D-B490-496D-9A6B-E39E455D3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299" y="631730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FE54AC0-A730-4F50-9ACD-90A838B5E10B}"/>
              </a:ext>
            </a:extLst>
          </p:cNvPr>
          <p:cNvGrpSpPr/>
          <p:nvPr userDrawn="1"/>
        </p:nvGrpSpPr>
        <p:grpSpPr>
          <a:xfrm>
            <a:off x="7913176" y="70528"/>
            <a:ext cx="1192491" cy="603914"/>
            <a:chOff x="6658587" y="3660293"/>
            <a:chExt cx="1175215" cy="603914"/>
          </a:xfrm>
        </p:grpSpPr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FD80A6B0-7F05-4BF2-9443-DD2DC4D1FA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553" b="97205" l="3636" r="98485">
                          <a14:foregroundMark x1="30606" y1="18012" x2="70303" y2="84472"/>
                          <a14:foregroundMark x1="67879" y1="20497" x2="23636" y2="75776"/>
                          <a14:foregroundMark x1="15152" y1="41615" x2="87576" y2="534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4884" y="3660293"/>
              <a:ext cx="618918" cy="603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" descr="D:\1_연구\1. CANYVAL\Logo &amp; Poster\KARI.jpg">
              <a:extLst>
                <a:ext uri="{FF2B5EF4-FFF2-40B4-BE49-F238E27FC236}">
                  <a16:creationId xmlns:a16="http://schemas.microsoft.com/office/drawing/2014/main" id="{80C7930A-8190-410E-8A23-4B29CFBD43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1497" b="98413" l="15814" r="7488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92" t="41232" r="25814"/>
            <a:stretch/>
          </p:blipFill>
          <p:spPr bwMode="auto">
            <a:xfrm>
              <a:off x="6658587" y="3689044"/>
              <a:ext cx="556297" cy="575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B755B01-C287-4292-BAE7-41F2BEB618B8}"/>
              </a:ext>
            </a:extLst>
          </p:cNvPr>
          <p:cNvCxnSpPr>
            <a:cxnSpLocks/>
          </p:cNvCxnSpPr>
          <p:nvPr userDrawn="1"/>
        </p:nvCxnSpPr>
        <p:spPr>
          <a:xfrm>
            <a:off x="-88306" y="6256014"/>
            <a:ext cx="930712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25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330CF14-8823-4E33-B4A1-D0AF5D5ECB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2" b="7939"/>
          <a:stretch/>
        </p:blipFill>
        <p:spPr>
          <a:xfrm rot="5400000">
            <a:off x="1701997" y="-1701997"/>
            <a:ext cx="5752076" cy="91560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3E6868-0CF8-4109-97A3-AC46367DC9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817" r="7279"/>
          <a:stretch/>
        </p:blipFill>
        <p:spPr>
          <a:xfrm>
            <a:off x="-12077" y="3766870"/>
            <a:ext cx="9168150" cy="2092072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8FE54AC0-A730-4F50-9ACD-90A838B5E10B}"/>
              </a:ext>
            </a:extLst>
          </p:cNvPr>
          <p:cNvGrpSpPr/>
          <p:nvPr userDrawn="1"/>
        </p:nvGrpSpPr>
        <p:grpSpPr>
          <a:xfrm>
            <a:off x="7913176" y="70528"/>
            <a:ext cx="1192491" cy="603914"/>
            <a:chOff x="6658587" y="3660293"/>
            <a:chExt cx="1175215" cy="603914"/>
          </a:xfrm>
        </p:grpSpPr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FD80A6B0-7F05-4BF2-9443-DD2DC4D1FA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553" b="97205" l="3636" r="98485">
                          <a14:foregroundMark x1="30606" y1="18012" x2="70303" y2="84472"/>
                          <a14:foregroundMark x1="67879" y1="20497" x2="23636" y2="75776"/>
                          <a14:foregroundMark x1="15152" y1="41615" x2="87576" y2="534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4884" y="3660293"/>
              <a:ext cx="618918" cy="603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" descr="D:\1_연구\1. CANYVAL\Logo &amp; Poster\KARI.jpg">
              <a:extLst>
                <a:ext uri="{FF2B5EF4-FFF2-40B4-BE49-F238E27FC236}">
                  <a16:creationId xmlns:a16="http://schemas.microsoft.com/office/drawing/2014/main" id="{80C7930A-8190-410E-8A23-4B29CFBD43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1497" b="98413" l="15814" r="7488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92" t="41232" r="25814"/>
            <a:stretch/>
          </p:blipFill>
          <p:spPr bwMode="auto">
            <a:xfrm>
              <a:off x="6658587" y="3689044"/>
              <a:ext cx="556297" cy="575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E9C514-452E-419B-B33C-7FFA967F6CD1}"/>
              </a:ext>
            </a:extLst>
          </p:cNvPr>
          <p:cNvSpPr/>
          <p:nvPr userDrawn="1"/>
        </p:nvSpPr>
        <p:spPr>
          <a:xfrm>
            <a:off x="-12078" y="4937760"/>
            <a:ext cx="9168150" cy="1920239"/>
          </a:xfrm>
          <a:prstGeom prst="rect">
            <a:avLst/>
          </a:prstGeom>
          <a:solidFill>
            <a:srgbClr val="00002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4426" y="4449328"/>
            <a:ext cx="9144000" cy="2387600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소제목 </a:t>
            </a:r>
            <a:r>
              <a:rPr lang="en-US" altLang="ko-KR" dirty="0"/>
              <a:t>(54 pts)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9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0C2383-2DD7-4EB5-9FF4-C4D0FAACE39A}"/>
              </a:ext>
            </a:extLst>
          </p:cNvPr>
          <p:cNvSpPr/>
          <p:nvPr userDrawn="1"/>
        </p:nvSpPr>
        <p:spPr>
          <a:xfrm>
            <a:off x="0" y="1"/>
            <a:ext cx="9144000" cy="836711"/>
          </a:xfrm>
          <a:prstGeom prst="rect">
            <a:avLst/>
          </a:prstGeom>
          <a:solidFill>
            <a:srgbClr val="0000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597" y="25292"/>
            <a:ext cx="8639665" cy="81438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597" y="944688"/>
            <a:ext cx="8639665" cy="5747312"/>
          </a:xfrm>
        </p:spPr>
        <p:txBody>
          <a:bodyPr>
            <a:norm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/>
            </a:lvl1pPr>
            <a:lvl2pPr marL="576000" indent="-288000">
              <a:lnSpc>
                <a:spcPct val="100000"/>
              </a:lnSpc>
              <a:buFont typeface="Wingdings" panose="05000000000000000000" pitchFamily="2" charset="2"/>
              <a:buChar char="u"/>
              <a:defRPr sz="2000"/>
            </a:lvl2pPr>
            <a:lvl3pPr marL="864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800"/>
            </a:lvl3pPr>
            <a:lvl4pPr marL="1152000" indent="-216000">
              <a:lnSpc>
                <a:spcPct val="100000"/>
              </a:lnSpc>
              <a:buFont typeface="Wingdings" panose="05000000000000000000" pitchFamily="2" charset="2"/>
              <a:buChar char="§"/>
              <a:defRPr sz="1600"/>
            </a:lvl4pPr>
            <a:lvl5pPr marL="1512000" indent="-216000">
              <a:lnSpc>
                <a:spcPct val="100000"/>
              </a:lnSpc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05077" y="432483"/>
            <a:ext cx="1538923" cy="360699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0B2CCDA-EFB7-4510-B5AC-E1A6C3BAF9C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AEFCBF3-8E27-44A3-BA1E-5FD1FEA1F26D}"/>
              </a:ext>
            </a:extLst>
          </p:cNvPr>
          <p:cNvGrpSpPr/>
          <p:nvPr userDrawn="1"/>
        </p:nvGrpSpPr>
        <p:grpSpPr>
          <a:xfrm>
            <a:off x="61274" y="6222064"/>
            <a:ext cx="1192491" cy="603914"/>
            <a:chOff x="6658587" y="3660293"/>
            <a:chExt cx="1175215" cy="603914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8B689453-E6E4-4E3A-A411-F9C251C5B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53" b="97205" l="3636" r="98485">
                          <a14:foregroundMark x1="30606" y1="18012" x2="70303" y2="84472"/>
                          <a14:foregroundMark x1="67879" y1="20497" x2="23636" y2="75776"/>
                          <a14:foregroundMark x1="15152" y1="41615" x2="87576" y2="534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4884" y="3660293"/>
              <a:ext cx="618918" cy="603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 descr="D:\1_연구\1. CANYVAL\Logo &amp; Poster\KARI.jpg">
              <a:extLst>
                <a:ext uri="{FF2B5EF4-FFF2-40B4-BE49-F238E27FC236}">
                  <a16:creationId xmlns:a16="http://schemas.microsoft.com/office/drawing/2014/main" id="{D907AFFB-7C0B-47E4-87A2-2A7702334E7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1497" b="98413" l="15814" r="7488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92" t="41232" r="25814"/>
            <a:stretch/>
          </p:blipFill>
          <p:spPr bwMode="auto">
            <a:xfrm>
              <a:off x="6658587" y="3689044"/>
              <a:ext cx="556297" cy="575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557531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DD479-60CE-463E-A9E0-9343B20F0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9.wmf"/><Relationship Id="rId4" Type="http://schemas.openxmlformats.org/officeDocument/2006/relationships/package" Target="../embeddings/Microsoft_Excel_Worksheet.xls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mix3d.com/details/G009SXRRZBKT" TargetMode="External"/><Relationship Id="rId13" Type="http://schemas.openxmlformats.org/officeDocument/2006/relationships/image" Target="../media/image51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11" Type="http://schemas.openxmlformats.org/officeDocument/2006/relationships/image" Target="../media/image49.png"/><Relationship Id="rId5" Type="http://schemas.openxmlformats.org/officeDocument/2006/relationships/image" Target="../media/image47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hyperlink" Target="https://www.remix3d.com/details/f875db103f83477eb943aa9e4378971f" TargetMode="External"/><Relationship Id="rId9" Type="http://schemas.openxmlformats.org/officeDocument/2006/relationships/image" Target="../media/image48.png"/><Relationship Id="rId1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4.wmf"/><Relationship Id="rId4" Type="http://schemas.openxmlformats.org/officeDocument/2006/relationships/package" Target="../embeddings/Microsoft_Excel_Worksheet1.xls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6AB95-BA11-4BCF-9A58-84D3BC9AD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72883"/>
            <a:ext cx="9144000" cy="2979423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 of</a:t>
            </a:r>
            <a:br>
              <a:rPr lang="en-US" altLang="ko-KR" dirty="0"/>
            </a:br>
            <a:r>
              <a:rPr lang="en-US" altLang="ko-KR" dirty="0"/>
              <a:t>Electrical</a:t>
            </a:r>
            <a:r>
              <a:rPr lang="ko-KR" altLang="en-US" dirty="0"/>
              <a:t> </a:t>
            </a:r>
            <a:r>
              <a:rPr lang="en-US" altLang="ko-KR" dirty="0"/>
              <a:t>Power</a:t>
            </a:r>
            <a:br>
              <a:rPr lang="en-US" altLang="ko-KR" dirty="0"/>
            </a:br>
            <a:r>
              <a:rPr lang="en-US" altLang="ko-KR" dirty="0"/>
              <a:t>Subsystem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C15804-4B23-4DB7-B755-9FE8B1A4C6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C60458-02F0-44E5-9141-CB6A8B238F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88306" y="5357035"/>
            <a:ext cx="9155113" cy="404813"/>
          </a:xfrm>
        </p:spPr>
        <p:txBody>
          <a:bodyPr/>
          <a:lstStyle/>
          <a:p>
            <a:r>
              <a:rPr lang="en-US" altLang="ko-KR" dirty="0"/>
              <a:t>Geuk-Nam Kim</a:t>
            </a:r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627B938-5CA9-4A69-A855-FCC348F44CF5}"/>
              </a:ext>
            </a:extLst>
          </p:cNvPr>
          <p:cNvSpPr txBox="1">
            <a:spLocks/>
          </p:cNvSpPr>
          <p:nvPr/>
        </p:nvSpPr>
        <p:spPr>
          <a:xfrm>
            <a:off x="-4426" y="6311900"/>
            <a:ext cx="9144000" cy="525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000" b="0" i="1" dirty="0"/>
              <a:t>Room 618 Science Building, 2019.07.11</a:t>
            </a:r>
            <a:endParaRPr lang="ko-KR" altLang="en-US" sz="2000" b="0" i="1" dirty="0"/>
          </a:p>
        </p:txBody>
      </p:sp>
    </p:spTree>
    <p:extLst>
      <p:ext uri="{BB962C8B-B14F-4D97-AF65-F5344CB8AC3E}">
        <p14:creationId xmlns:p14="http://schemas.microsoft.com/office/powerpoint/2010/main" val="73272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E1E8A-72C9-4682-9523-5448E017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A840C2-A0BD-4D79-A751-854772C9F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629" y="944688"/>
            <a:ext cx="4751633" cy="574731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What is EPS?</a:t>
            </a:r>
          </a:p>
          <a:p>
            <a:r>
              <a:rPr lang="en-US" altLang="ko-KR" dirty="0"/>
              <a:t>EPS Configuration</a:t>
            </a:r>
          </a:p>
          <a:p>
            <a:r>
              <a:rPr lang="en-US" altLang="ko-KR" dirty="0"/>
              <a:t>Power Analysis I</a:t>
            </a:r>
          </a:p>
          <a:p>
            <a:r>
              <a:rPr lang="en-US" altLang="ko-KR" dirty="0"/>
              <a:t>Power Analysis II</a:t>
            </a:r>
          </a:p>
          <a:p>
            <a:r>
              <a:rPr lang="en-US" altLang="ko-KR" dirty="0"/>
              <a:t>Conclusion</a:t>
            </a:r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8FE867-8590-483E-904C-4F098E0BF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85" r="1509"/>
          <a:stretch/>
        </p:blipFill>
        <p:spPr>
          <a:xfrm>
            <a:off x="117560" y="1766388"/>
            <a:ext cx="4032069" cy="4358641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7B0DD9-825E-4AE4-8C0C-9BA36E0F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4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What is EPS?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25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Definition</a:t>
            </a:r>
          </a:p>
          <a:p>
            <a:pPr lvl="1"/>
            <a:r>
              <a:rPr lang="en-US" altLang="ko-KR" dirty="0"/>
              <a:t>Manage power supply and distribution to subsystem components, and generate electrical power</a:t>
            </a:r>
          </a:p>
          <a:p>
            <a:r>
              <a:rPr lang="en-US" altLang="ko-KR" b="1" dirty="0"/>
              <a:t>Requirement and Constraint</a:t>
            </a:r>
          </a:p>
          <a:p>
            <a:pPr lvl="1"/>
            <a:r>
              <a:rPr lang="en-US" altLang="ko-KR" dirty="0"/>
              <a:t>Activation switch: remove before flight (RBF) / separation switch</a:t>
            </a:r>
          </a:p>
          <a:p>
            <a:pPr lvl="1"/>
            <a:r>
              <a:rPr lang="en-US" altLang="ko-KR" dirty="0"/>
              <a:t>Power interface: voltage regulation and supply / single ground / limitation in capacity / bus or switch voltage supply</a:t>
            </a:r>
          </a:p>
          <a:p>
            <a:pPr lvl="1"/>
            <a:r>
              <a:rPr lang="en-US" altLang="ko-KR" dirty="0"/>
              <a:t>Power generation &amp; consumption (budget): solar panel / duty / margin / depth of discharge / state of charge</a:t>
            </a:r>
          </a:p>
          <a:p>
            <a:pPr lvl="1"/>
            <a:r>
              <a:rPr lang="en-US" altLang="ko-KR" dirty="0"/>
              <a:t>Mechanical design: dimension &amp; mass / battery temperature</a:t>
            </a:r>
          </a:p>
          <a:p>
            <a:pPr lvl="1"/>
            <a:r>
              <a:rPr lang="en-US" altLang="ko-KR" dirty="0"/>
              <a:t>Telemetry &amp; telecommand: health data collection / health data transmission / command reception</a:t>
            </a:r>
          </a:p>
          <a:p>
            <a:pPr lvl="1"/>
            <a:r>
              <a:rPr lang="en-US" altLang="ko-KR" dirty="0"/>
              <a:t>+ Etc.: detect and isolate error (watchdog timer, external EDAC) / conformal coating / outgassing …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75828E-7096-49E1-BEB9-F85ED248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2992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Configuration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Hierarchy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C6A2A88-1735-4DE8-8104-94CEC075E7FF}"/>
              </a:ext>
            </a:extLst>
          </p:cNvPr>
          <p:cNvGrpSpPr/>
          <p:nvPr/>
        </p:nvGrpSpPr>
        <p:grpSpPr>
          <a:xfrm>
            <a:off x="1289050" y="1179394"/>
            <a:ext cx="6565900" cy="5114573"/>
            <a:chOff x="1289050" y="1179394"/>
            <a:chExt cx="6565900" cy="511457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205BDDB-9E02-4226-B732-7BE0C6C30663}"/>
                </a:ext>
              </a:extLst>
            </p:cNvPr>
            <p:cNvSpPr/>
            <p:nvPr/>
          </p:nvSpPr>
          <p:spPr>
            <a:xfrm>
              <a:off x="3778250" y="1179394"/>
              <a:ext cx="1587500" cy="596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EPS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068A930-35CB-4948-BC48-CEC4E63789A0}"/>
                </a:ext>
              </a:extLst>
            </p:cNvPr>
            <p:cNvSpPr/>
            <p:nvPr/>
          </p:nvSpPr>
          <p:spPr>
            <a:xfrm>
              <a:off x="1289050" y="2108200"/>
              <a:ext cx="1587500" cy="596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Solar Array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1F9FB28-6619-417F-86C1-F44ECE9C3880}"/>
                </a:ext>
              </a:extLst>
            </p:cNvPr>
            <p:cNvSpPr/>
            <p:nvPr/>
          </p:nvSpPr>
          <p:spPr>
            <a:xfrm>
              <a:off x="3787679" y="2108200"/>
              <a:ext cx="1587500" cy="596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PCDU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0D946A4-1629-4425-993F-C4D72959C91C}"/>
                </a:ext>
              </a:extLst>
            </p:cNvPr>
            <p:cNvSpPr/>
            <p:nvPr/>
          </p:nvSpPr>
          <p:spPr>
            <a:xfrm>
              <a:off x="6267450" y="2108200"/>
              <a:ext cx="1587500" cy="596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Battery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AAC2FDF-41D8-4C46-9991-939915BE6D6C}"/>
                </a:ext>
              </a:extLst>
            </p:cNvPr>
            <p:cNvSpPr/>
            <p:nvPr/>
          </p:nvSpPr>
          <p:spPr>
            <a:xfrm>
              <a:off x="1499319" y="2848213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Solar Cell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3C1BCBE-218D-4A0D-99AD-3D421F7BCED1}"/>
                </a:ext>
              </a:extLst>
            </p:cNvPr>
            <p:cNvSpPr/>
            <p:nvPr/>
          </p:nvSpPr>
          <p:spPr>
            <a:xfrm>
              <a:off x="1499319" y="3359176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Bypass</a:t>
              </a:r>
            </a:p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Diode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7370233-EB05-4AB1-9D8E-3B53123F2442}"/>
                </a:ext>
              </a:extLst>
            </p:cNvPr>
            <p:cNvSpPr/>
            <p:nvPr/>
          </p:nvSpPr>
          <p:spPr>
            <a:xfrm>
              <a:off x="3997948" y="2848213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MCU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2D07DDC-4EC6-458B-8FE0-25E415B16C72}"/>
                </a:ext>
              </a:extLst>
            </p:cNvPr>
            <p:cNvSpPr/>
            <p:nvPr/>
          </p:nvSpPr>
          <p:spPr>
            <a:xfrm>
              <a:off x="3997948" y="3359626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PCM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054D65-7B71-43AA-A09A-8489141D5A73}"/>
                </a:ext>
              </a:extLst>
            </p:cNvPr>
            <p:cNvSpPr/>
            <p:nvPr/>
          </p:nvSpPr>
          <p:spPr>
            <a:xfrm>
              <a:off x="3997948" y="3868612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PDM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F790563-D88C-41EF-B388-3EA633D0F6DA}"/>
                </a:ext>
              </a:extLst>
            </p:cNvPr>
            <p:cNvSpPr/>
            <p:nvPr/>
          </p:nvSpPr>
          <p:spPr>
            <a:xfrm>
              <a:off x="3997948" y="4377598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BCR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C44830A-248C-4359-AC6E-2179F2956004}"/>
                </a:ext>
              </a:extLst>
            </p:cNvPr>
            <p:cNvSpPr/>
            <p:nvPr/>
          </p:nvSpPr>
          <p:spPr>
            <a:xfrm>
              <a:off x="6477719" y="2848213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Li-polymer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1B93757-BC62-469E-A841-77B25935022E}"/>
                </a:ext>
              </a:extLst>
            </p:cNvPr>
            <p:cNvSpPr/>
            <p:nvPr/>
          </p:nvSpPr>
          <p:spPr>
            <a:xfrm>
              <a:off x="6477719" y="3353752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Shield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8329739-B789-4EE4-A7EF-37A12DAF4EED}"/>
                </a:ext>
              </a:extLst>
            </p:cNvPr>
            <p:cNvSpPr/>
            <p:nvPr/>
          </p:nvSpPr>
          <p:spPr>
            <a:xfrm>
              <a:off x="3997948" y="4884157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Activation</a:t>
              </a:r>
            </a:p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Switch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5FCFFB60-D0D5-4BFA-9968-C04CEB7763E8}"/>
                </a:ext>
              </a:extLst>
            </p:cNvPr>
            <p:cNvCxnSpPr>
              <a:cxnSpLocks/>
              <a:stCxn id="6" idx="0"/>
              <a:endCxn id="8" idx="0"/>
            </p:cNvCxnSpPr>
            <p:nvPr/>
          </p:nvCxnSpPr>
          <p:spPr>
            <a:xfrm rot="5400000" flipH="1" flipV="1">
              <a:off x="4572000" y="-381000"/>
              <a:ext cx="12700" cy="4978400"/>
            </a:xfrm>
            <a:prstGeom prst="bentConnector3">
              <a:avLst>
                <a:gd name="adj1" fmla="val 1500000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3B53BE6-61B0-4FC8-BCB7-7680575B2CB2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4572000" y="1776294"/>
              <a:ext cx="9429" cy="3319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4233B4F-A50A-4395-B818-F9686D4E9578}"/>
                </a:ext>
              </a:extLst>
            </p:cNvPr>
            <p:cNvSpPr/>
            <p:nvPr/>
          </p:nvSpPr>
          <p:spPr>
            <a:xfrm>
              <a:off x="6477719" y="3859291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Activation</a:t>
              </a:r>
            </a:p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Switch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7C81B6C-4DD1-4784-90AB-905E978DC69D}"/>
                </a:ext>
              </a:extLst>
            </p:cNvPr>
            <p:cNvSpPr/>
            <p:nvPr/>
          </p:nvSpPr>
          <p:spPr>
            <a:xfrm>
              <a:off x="1499319" y="3868612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Sensors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AF6340A-FB5F-4A78-8CB6-92F966041F27}"/>
                </a:ext>
              </a:extLst>
            </p:cNvPr>
            <p:cNvSpPr/>
            <p:nvPr/>
          </p:nvSpPr>
          <p:spPr>
            <a:xfrm>
              <a:off x="3997948" y="5385862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spc="-20" dirty="0">
                  <a:solidFill>
                    <a:schemeClr val="tx1"/>
                  </a:solidFill>
                </a:rPr>
                <a:t>Deployment</a:t>
              </a:r>
              <a:endParaRPr lang="ko-KR" altLang="en-US" sz="1400" i="1" spc="-2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C0C9AD1-BEF1-445F-8BC3-7019D6BA52AD}"/>
                </a:ext>
              </a:extLst>
            </p:cNvPr>
            <p:cNvSpPr/>
            <p:nvPr/>
          </p:nvSpPr>
          <p:spPr>
            <a:xfrm>
              <a:off x="6477719" y="4364830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Heater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A3848BE-9F96-4176-95AD-85E2C5C1C225}"/>
                </a:ext>
              </a:extLst>
            </p:cNvPr>
            <p:cNvSpPr/>
            <p:nvPr/>
          </p:nvSpPr>
          <p:spPr>
            <a:xfrm>
              <a:off x="6484069" y="4870968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Sensors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917CB05-933B-4A02-8664-6F65232DB0B8}"/>
                </a:ext>
              </a:extLst>
            </p:cNvPr>
            <p:cNvSpPr/>
            <p:nvPr/>
          </p:nvSpPr>
          <p:spPr>
            <a:xfrm>
              <a:off x="3997948" y="5887567"/>
              <a:ext cx="1166962" cy="40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>
                  <a:solidFill>
                    <a:schemeClr val="tx1"/>
                  </a:solidFill>
                </a:rPr>
                <a:t>Sensors</a:t>
              </a:r>
              <a:endParaRPr lang="ko-KR" altLang="en-US" sz="1400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슬라이드 번호 개체 틀 35">
            <a:extLst>
              <a:ext uri="{FF2B5EF4-FFF2-40B4-BE49-F238E27FC236}">
                <a16:creationId xmlns:a16="http://schemas.microsoft.com/office/drawing/2014/main" id="{C1F286CE-3AF1-496E-87AD-B85E90819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219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Budget Management</a:t>
            </a:r>
          </a:p>
          <a:p>
            <a:pPr lvl="1"/>
            <a:r>
              <a:rPr lang="en-US" altLang="ko-KR" dirty="0"/>
              <a:t>Purpose:</a:t>
            </a:r>
            <a:br>
              <a:rPr lang="en-US" altLang="ko-KR" dirty="0"/>
            </a:br>
            <a:r>
              <a:rPr lang="en-US" altLang="ko-KR" dirty="0"/>
              <a:t>check EPS capability for the operation of H/W components, </a:t>
            </a:r>
            <a:br>
              <a:rPr lang="en-US" altLang="ko-KR" dirty="0"/>
            </a:br>
            <a:r>
              <a:rPr lang="en-US" altLang="ko-KR" dirty="0"/>
              <a:t>and worst case analysis for power consumption and generation</a:t>
            </a:r>
          </a:p>
          <a:p>
            <a:r>
              <a:rPr lang="en-US" altLang="ko-KR" dirty="0"/>
              <a:t>Energy Balance Analysis</a:t>
            </a:r>
          </a:p>
          <a:p>
            <a:pPr lvl="1"/>
            <a:r>
              <a:rPr lang="en-US" altLang="ko-KR" dirty="0"/>
              <a:t>Purpose: </a:t>
            </a:r>
            <a:br>
              <a:rPr lang="en-US" altLang="ko-KR" dirty="0"/>
            </a:br>
            <a:r>
              <a:rPr lang="en-US" altLang="ko-KR" dirty="0"/>
              <a:t>check changes of DoD (Depth of Discharge) &amp; SoC (State of Charge) over several periods, and redesign </a:t>
            </a:r>
            <a:r>
              <a:rPr lang="en-US" altLang="ko-KR" dirty="0" err="1"/>
              <a:t>ConOps</a:t>
            </a:r>
            <a:r>
              <a:rPr lang="en-US" altLang="ko-KR" dirty="0"/>
              <a:t> (Concept of Operations) to satisfy EPS requirements and constraints</a:t>
            </a:r>
          </a:p>
          <a:p>
            <a:pPr lvl="1"/>
            <a:r>
              <a:rPr lang="en-US" altLang="ko-KR" dirty="0"/>
              <a:t>Mathematical system modeling</a:t>
            </a:r>
          </a:p>
          <a:p>
            <a:pPr lvl="2"/>
            <a:r>
              <a:rPr lang="en-US" altLang="ko-KR" dirty="0"/>
              <a:t>Current dynamics: PV cells / battery</a:t>
            </a:r>
          </a:p>
          <a:p>
            <a:pPr lvl="2"/>
            <a:r>
              <a:rPr lang="en-US" altLang="ko-KR" dirty="0"/>
              <a:t>Orbit / attitude dynamics</a:t>
            </a:r>
          </a:p>
          <a:p>
            <a:pPr lvl="2"/>
            <a:r>
              <a:rPr lang="en-US" altLang="ko-KR" dirty="0"/>
              <a:t>Power generation, consumption, charge method, …</a:t>
            </a:r>
          </a:p>
          <a:p>
            <a:pPr lvl="1"/>
            <a:r>
              <a:rPr lang="en-US" altLang="ko-KR" dirty="0"/>
              <a:t>Analysis setting and feasibility-check</a:t>
            </a:r>
          </a:p>
          <a:p>
            <a:pPr lvl="2"/>
            <a:r>
              <a:rPr lang="en-US" altLang="ko-KR" dirty="0"/>
              <a:t>Model validation through H/W test (or numerous case studies)</a:t>
            </a:r>
          </a:p>
          <a:p>
            <a:pPr lvl="1"/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62BE2E-AF47-4628-8AA1-90F3A719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035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54506-21A3-4286-88FF-70569EB2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Development Scheme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910F56-F816-46D0-8A64-EAFCC579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#1. Set Requirements and Constraints</a:t>
            </a:r>
          </a:p>
          <a:p>
            <a:r>
              <a:rPr lang="en-US" altLang="ko-KR" dirty="0"/>
              <a:t>#2. Conceptual Design</a:t>
            </a:r>
          </a:p>
          <a:p>
            <a:pPr lvl="1"/>
            <a:r>
              <a:rPr lang="en-US" altLang="ko-KR" dirty="0"/>
              <a:t>Survey H/W as candidates</a:t>
            </a:r>
          </a:p>
          <a:p>
            <a:pPr lvl="1"/>
            <a:r>
              <a:rPr lang="en-US" altLang="ko-KR" dirty="0"/>
              <a:t>Define electrical power I/O</a:t>
            </a:r>
          </a:p>
          <a:p>
            <a:pPr lvl="1"/>
            <a:r>
              <a:rPr lang="en-US" altLang="ko-KR" dirty="0"/>
              <a:t>Define H/W components-EPS-solar array interface</a:t>
            </a:r>
          </a:p>
          <a:p>
            <a:pPr lvl="1"/>
            <a:r>
              <a:rPr lang="en-US" altLang="ko-KR" dirty="0"/>
              <a:t>Power budget based on </a:t>
            </a:r>
            <a:r>
              <a:rPr lang="en-US" altLang="ko-KR" dirty="0" err="1"/>
              <a:t>ConOps</a:t>
            </a:r>
            <a:endParaRPr lang="en-US" altLang="ko-KR" dirty="0"/>
          </a:p>
          <a:p>
            <a:r>
              <a:rPr lang="en-US" altLang="ko-KR" dirty="0"/>
              <a:t>#3. Software-based Analysis</a:t>
            </a:r>
          </a:p>
          <a:p>
            <a:pPr lvl="1"/>
            <a:r>
              <a:rPr lang="en-US" altLang="ko-KR" dirty="0"/>
              <a:t>Energy balance analysis with mathematical H/W models</a:t>
            </a:r>
          </a:p>
          <a:p>
            <a:r>
              <a:rPr lang="en-US" altLang="ko-KR" dirty="0"/>
              <a:t>#4. Repeat #1~#3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Until #1 satisfies mission and system requirements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#5. H/W Development: Manufacturing &amp; Verification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4DC44-509B-4C0D-8B3B-B760AAD3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682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EPS Configuration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892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Distribution and Control Unit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Component to Manage Electrical Power I/O</a:t>
            </a:r>
          </a:p>
          <a:p>
            <a:pPr lvl="1"/>
            <a:r>
              <a:rPr lang="en-US" altLang="ko-KR" dirty="0"/>
              <a:t>BCR: Battery Charge Regulator</a:t>
            </a:r>
          </a:p>
          <a:p>
            <a:pPr lvl="2"/>
            <a:r>
              <a:rPr lang="en-US" altLang="ko-KR" spc="-20" dirty="0"/>
              <a:t>BUCK for high input voltage (~90%) / SEPIC for low input voltage (~80%)</a:t>
            </a:r>
          </a:p>
          <a:p>
            <a:pPr lvl="2"/>
            <a:r>
              <a:rPr lang="en-US" altLang="ko-KR" dirty="0"/>
              <a:t>Internal (or additional) MPPT: Maximum Power Point Tracker</a:t>
            </a:r>
          </a:p>
          <a:p>
            <a:pPr lvl="1"/>
            <a:r>
              <a:rPr lang="en-US" altLang="ko-KR" dirty="0"/>
              <a:t>PCM: Power Conditioning Module</a:t>
            </a:r>
          </a:p>
          <a:p>
            <a:pPr lvl="1"/>
            <a:r>
              <a:rPr lang="en-US" altLang="ko-KR" dirty="0"/>
              <a:t>PDM: Power Distribution Module</a:t>
            </a:r>
          </a:p>
          <a:p>
            <a:r>
              <a:rPr lang="en-US" altLang="ko-KR" dirty="0"/>
              <a:t>Bus Protection</a:t>
            </a:r>
          </a:p>
          <a:p>
            <a:pPr lvl="1"/>
            <a:r>
              <a:rPr lang="en-US" altLang="ko-KR" dirty="0"/>
              <a:t>Over current, battery under voltage</a:t>
            </a:r>
          </a:p>
          <a:p>
            <a:pPr lvl="1"/>
            <a:r>
              <a:rPr lang="en-US" altLang="ko-KR" dirty="0"/>
              <a:t>End of Charge (</a:t>
            </a:r>
            <a:r>
              <a:rPr lang="en-US" altLang="ko-KR" dirty="0" err="1"/>
              <a:t>EoC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Telemetry &amp; Telecommand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5C263C-5B14-4547-80B4-18A6C9C491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6188" y="4616841"/>
            <a:ext cx="5259645" cy="1921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738BC5-24AF-49F4-936C-3CA64F41F913}"/>
              </a:ext>
            </a:extLst>
          </p:cNvPr>
          <p:cNvSpPr txBox="1"/>
          <p:nvPr/>
        </p:nvSpPr>
        <p:spPr>
          <a:xfrm>
            <a:off x="252000" y="6480055"/>
            <a:ext cx="86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&lt;Clyde Space EPS diagram&gt;</a:t>
            </a:r>
            <a:endParaRPr lang="ko-KR" altLang="en-US" sz="1600" b="1" dirty="0"/>
          </a:p>
        </p:txBody>
      </p:sp>
      <p:pic>
        <p:nvPicPr>
          <p:cNvPr id="2050" name="Picture 2" descr="ê´ë ¨ ì´ë¯¸ì§">
            <a:extLst>
              <a:ext uri="{FF2B5EF4-FFF2-40B4-BE49-F238E27FC236}">
                <a16:creationId xmlns:a16="http://schemas.microsoft.com/office/drawing/2014/main" id="{DBB57934-4707-44C5-A9AC-87693DD0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341" y="2599410"/>
            <a:ext cx="3178062" cy="1623239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1609EF4-6416-4409-8842-C99A95D2DCDA}"/>
              </a:ext>
            </a:extLst>
          </p:cNvPr>
          <p:cNvSpPr/>
          <p:nvPr/>
        </p:nvSpPr>
        <p:spPr>
          <a:xfrm>
            <a:off x="3097212" y="5023412"/>
            <a:ext cx="3303588" cy="13034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B59C967-98C3-4D48-B89E-957DE57992CB}"/>
              </a:ext>
            </a:extLst>
          </p:cNvPr>
          <p:cNvCxnSpPr>
            <a:cxnSpLocks/>
            <a:stCxn id="2050" idx="1"/>
            <a:endCxn id="9" idx="0"/>
          </p:cNvCxnSpPr>
          <p:nvPr/>
        </p:nvCxnSpPr>
        <p:spPr>
          <a:xfrm flipH="1">
            <a:off x="4749006" y="3411030"/>
            <a:ext cx="955335" cy="161238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3A9E8AE9-1200-4C6E-9C01-B28E6D51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43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Solar Panel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Energy Generation</a:t>
            </a:r>
          </a:p>
          <a:p>
            <a:pPr lvl="1"/>
            <a:r>
              <a:rPr lang="en-US" altLang="ko-KR" dirty="0"/>
              <a:t>Solar cells: convert light energy to electrical power through the photovoltaic effect</a:t>
            </a:r>
          </a:p>
          <a:p>
            <a:pPr lvl="1"/>
            <a:r>
              <a:rPr lang="en-US" altLang="ko-KR" dirty="0"/>
              <a:t>Characteristics: </a:t>
            </a:r>
            <a:br>
              <a:rPr lang="en-US" altLang="ko-KR" dirty="0"/>
            </a:br>
            <a:r>
              <a:rPr lang="en-US" altLang="ko-KR" dirty="0"/>
              <a:t>low efficiency / sensitive / complicate</a:t>
            </a:r>
            <a:r>
              <a:rPr lang="ko-KR" altLang="en-US" dirty="0"/>
              <a:t> </a:t>
            </a:r>
            <a:r>
              <a:rPr lang="en-US" altLang="ko-KR" dirty="0"/>
              <a:t>to assemble / expensive …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But, very light material and </a:t>
            </a:r>
            <a:r>
              <a:rPr lang="en-US" altLang="ko-KR" b="1" u="sng" dirty="0">
                <a:sym typeface="Wingdings" panose="05000000000000000000" pitchFamily="2" charset="2"/>
              </a:rPr>
              <a:t>highly reliable</a:t>
            </a:r>
            <a:r>
              <a:rPr lang="en-US" altLang="ko-KR" dirty="0">
                <a:sym typeface="Wingdings" panose="05000000000000000000" pitchFamily="2" charset="2"/>
              </a:rPr>
              <a:t> performance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Solar array by integrating several solar panels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Body mount panel / deployable panel</a:t>
            </a:r>
            <a:endParaRPr lang="ko-KR" altLang="en-US" dirty="0"/>
          </a:p>
        </p:txBody>
      </p:sp>
      <p:pic>
        <p:nvPicPr>
          <p:cNvPr id="3076" name="Picture 4" descr="Solar Cell Efficiency">
            <a:extLst>
              <a:ext uri="{FF2B5EF4-FFF2-40B4-BE49-F238E27FC236}">
                <a16:creationId xmlns:a16="http://schemas.microsoft.com/office/drawing/2014/main" id="{AB0A79C4-A37A-48D2-BD69-6304024D8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38" y="3859483"/>
            <a:ext cx="3090770" cy="224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AC-Clyde Solar arrays.">
            <a:extLst>
              <a:ext uri="{FF2B5EF4-FFF2-40B4-BE49-F238E27FC236}">
                <a16:creationId xmlns:a16="http://schemas.microsoft.com/office/drawing/2014/main" id="{C0F4F649-CC4E-49FC-A36A-6FEC63A20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806" y="3859482"/>
            <a:ext cx="3388555" cy="22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4D9CB4-F76C-4063-B4E2-20C0A9298B14}"/>
              </a:ext>
            </a:extLst>
          </p:cNvPr>
          <p:cNvSpPr txBox="1"/>
          <p:nvPr/>
        </p:nvSpPr>
        <p:spPr>
          <a:xfrm>
            <a:off x="0" y="6212238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&lt;Solar cell efficiency (1</a:t>
            </a:r>
            <a:r>
              <a:rPr lang="en-US" altLang="ko-KR" sz="1600" b="1" baseline="30000" dirty="0"/>
              <a:t>st</a:t>
            </a:r>
            <a:r>
              <a:rPr lang="en-US" altLang="ko-KR" sz="1600" b="1" dirty="0"/>
              <a:t>, NASA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credit), commercial CubeSat solar </a:t>
            </a:r>
          </a:p>
          <a:p>
            <a:pPr algn="ctr"/>
            <a:r>
              <a:rPr lang="en-US" altLang="ko-KR" sz="1600" b="1" dirty="0"/>
              <a:t>panel (2</a:t>
            </a:r>
            <a:r>
              <a:rPr lang="en-US" altLang="ko-KR" sz="1600" b="1" baseline="30000" dirty="0"/>
              <a:t>nd</a:t>
            </a:r>
            <a:r>
              <a:rPr lang="en-US" altLang="ko-KR" sz="1600" b="1" dirty="0"/>
              <a:t>, Clyde Space), and solar cell attachment (3</a:t>
            </a:r>
            <a:r>
              <a:rPr lang="en-US" altLang="ko-KR" sz="1600" b="1" baseline="30000" dirty="0"/>
              <a:t>rd</a:t>
            </a:r>
            <a:r>
              <a:rPr lang="en-US" altLang="ko-KR" sz="1600" b="1" dirty="0"/>
              <a:t>, CANYVAL)&gt;</a:t>
            </a:r>
            <a:endParaRPr lang="ko-KR" altLang="en-US" sz="1600" b="1" dirty="0"/>
          </a:p>
        </p:txBody>
      </p:sp>
      <p:pic>
        <p:nvPicPr>
          <p:cNvPr id="9" name="_x213398152" descr="EMB00003364a217">
            <a:extLst>
              <a:ext uri="{FF2B5EF4-FFF2-40B4-BE49-F238E27FC236}">
                <a16:creationId xmlns:a16="http://schemas.microsoft.com/office/drawing/2014/main" id="{77940056-1FFA-406E-89D8-481CD8CD8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6200000">
            <a:off x="6899178" y="4124000"/>
            <a:ext cx="2247742" cy="1718708"/>
          </a:xfrm>
          <a:prstGeom prst="rect">
            <a:avLst/>
          </a:prstGeom>
          <a:noFill/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8E651F-7560-4A9D-8BE7-02EF8866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454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Battery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Energy Storage</a:t>
            </a:r>
          </a:p>
          <a:p>
            <a:pPr lvl="1"/>
            <a:r>
              <a:rPr lang="en-US" altLang="ko-KR" dirty="0"/>
              <a:t>Type: </a:t>
            </a:r>
            <a:r>
              <a:rPr lang="en-US" altLang="ko-KR" b="1" u="sng" dirty="0"/>
              <a:t>Li-ion / Li-polymer</a:t>
            </a:r>
            <a:r>
              <a:rPr lang="en-US" altLang="ko-KR" dirty="0"/>
              <a:t> + Ni-Cd / Ni-MH / Pb / Ni-Zn …</a:t>
            </a:r>
          </a:p>
          <a:p>
            <a:pPr lvl="1"/>
            <a:r>
              <a:rPr lang="en-US" altLang="ko-KR" dirty="0"/>
              <a:t>High energy density to minimize system mass</a:t>
            </a:r>
          </a:p>
          <a:p>
            <a:pPr lvl="1"/>
            <a:r>
              <a:rPr lang="en-US" altLang="ko-KR" dirty="0"/>
              <a:t>Cell balancing technology on multi-string battery</a:t>
            </a:r>
          </a:p>
          <a:p>
            <a:pPr lvl="1"/>
            <a:r>
              <a:rPr lang="en-US" altLang="ko-KR" dirty="0"/>
              <a:t>Inbuilt heater system</a:t>
            </a:r>
          </a:p>
          <a:p>
            <a:pPr lvl="1"/>
            <a:r>
              <a:rPr lang="en-US" altLang="ko-KR" dirty="0"/>
              <a:t>Reliability in a vacuum environment</a:t>
            </a:r>
          </a:p>
          <a:p>
            <a:pPr lvl="1"/>
            <a:endParaRPr lang="ko-KR" altLang="en-US" dirty="0"/>
          </a:p>
        </p:txBody>
      </p:sp>
      <p:pic>
        <p:nvPicPr>
          <p:cNvPr id="4102" name="Picture 6" descr="ê´ë ¨ ì´ë¯¸ì§">
            <a:extLst>
              <a:ext uri="{FF2B5EF4-FFF2-40B4-BE49-F238E27FC236}">
                <a16:creationId xmlns:a16="http://schemas.microsoft.com/office/drawing/2014/main" id="{1D97ADD5-2B91-43F0-B3CC-4620C20F9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247" y="2506519"/>
            <a:ext cx="2728095" cy="184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ubesat batteryì ëí ì´ë¯¸ì§ ê²ìê²°ê³¼">
            <a:extLst>
              <a:ext uri="{FF2B5EF4-FFF2-40B4-BE49-F238E27FC236}">
                <a16:creationId xmlns:a16="http://schemas.microsoft.com/office/drawing/2014/main" id="{F634E44C-6305-4B74-B67F-B2B2E6D26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247" y="4467828"/>
            <a:ext cx="2728095" cy="171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Batteries">
            <a:extLst>
              <a:ext uri="{FF2B5EF4-FFF2-40B4-BE49-F238E27FC236}">
                <a16:creationId xmlns:a16="http://schemas.microsoft.com/office/drawing/2014/main" id="{8DF893D0-1A67-4BF3-81E0-614442BA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34" y="3387413"/>
            <a:ext cx="476250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825AD4-C411-46D4-897B-54AB8AAED1B8}"/>
              </a:ext>
            </a:extLst>
          </p:cNvPr>
          <p:cNvSpPr txBox="1"/>
          <p:nvPr/>
        </p:nvSpPr>
        <p:spPr>
          <a:xfrm>
            <a:off x="252000" y="6225405"/>
            <a:ext cx="86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&lt;Battery efficiency (left, NASA credit) and </a:t>
            </a:r>
          </a:p>
          <a:p>
            <a:pPr algn="ctr"/>
            <a:r>
              <a:rPr lang="en-US" altLang="ko-KR" sz="1600" b="1" dirty="0"/>
              <a:t>commercial CubeSat battery (right, </a:t>
            </a:r>
            <a:r>
              <a:rPr lang="en-US" altLang="ko-KR" sz="1600" b="1" dirty="0" err="1"/>
              <a:t>GOMspace</a:t>
            </a:r>
            <a:r>
              <a:rPr lang="en-US" altLang="ko-KR" sz="1600" b="1" dirty="0"/>
              <a:t> and Clyde Space)&gt;</a:t>
            </a:r>
            <a:endParaRPr lang="ko-KR" altLang="en-US" sz="16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257AD2-B485-4B1F-BE75-B23AEBD7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6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204F-7810-499A-AB5C-C4C8AFDF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AF3F5-7FB6-4C40-8A0E-8EC71F8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Deployment</a:t>
            </a:r>
          </a:p>
          <a:p>
            <a:pPr lvl="1"/>
            <a:r>
              <a:rPr lang="en-US" altLang="ko-KR" dirty="0"/>
              <a:t>Deploy UHF antenna or solar array</a:t>
            </a:r>
          </a:p>
          <a:p>
            <a:pPr lvl="1"/>
            <a:r>
              <a:rPr lang="en-US" altLang="ko-KR" dirty="0"/>
              <a:t>Power supply, and need to manage inrush current to protect circuit</a:t>
            </a:r>
          </a:p>
          <a:p>
            <a:r>
              <a:rPr lang="en-US" altLang="ko-KR" dirty="0"/>
              <a:t>Diode and Sensor</a:t>
            </a:r>
          </a:p>
          <a:p>
            <a:pPr lvl="1"/>
            <a:r>
              <a:rPr lang="en-US" altLang="ko-KR" dirty="0"/>
              <a:t>Bypass diode to prevent a backward current</a:t>
            </a:r>
          </a:p>
          <a:p>
            <a:pPr lvl="1"/>
            <a:r>
              <a:rPr lang="en-US" altLang="ko-KR" dirty="0"/>
              <a:t>Photodiode to detect Sun-light (applicable as an attitude sensor)</a:t>
            </a:r>
          </a:p>
          <a:p>
            <a:pPr lvl="1"/>
            <a:r>
              <a:rPr lang="en-US" altLang="ko-KR" dirty="0"/>
              <a:t>Temperature sensor</a:t>
            </a:r>
            <a:endParaRPr lang="ko-KR" altLang="en-US" dirty="0"/>
          </a:p>
        </p:txBody>
      </p:sp>
      <p:pic>
        <p:nvPicPr>
          <p:cNvPr id="7170" name="Picture 2" descr="cubesat panel deploymentì ëí ì´ë¯¸ì§ ê²ìê²°ê³¼">
            <a:extLst>
              <a:ext uri="{FF2B5EF4-FFF2-40B4-BE49-F238E27FC236}">
                <a16:creationId xmlns:a16="http://schemas.microsoft.com/office/drawing/2014/main" id="{A992C1C2-C7D9-4E02-BBD7-046541633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16" y="3773345"/>
            <a:ext cx="3327888" cy="238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cubesat antenna deploymentì ëí ì´ë¯¸ì§ ê²ìê²°ê³¼">
            <a:extLst>
              <a:ext uri="{FF2B5EF4-FFF2-40B4-BE49-F238E27FC236}">
                <a16:creationId xmlns:a16="http://schemas.microsoft.com/office/drawing/2014/main" id="{311712F2-4467-42A2-A3A5-CCAA5CEA8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935" y="3773345"/>
            <a:ext cx="2383160" cy="242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794429-69A1-43BA-AA09-4A073735085A}"/>
              </a:ext>
            </a:extLst>
          </p:cNvPr>
          <p:cNvSpPr txBox="1"/>
          <p:nvPr/>
        </p:nvSpPr>
        <p:spPr>
          <a:xfrm>
            <a:off x="518216" y="6225405"/>
            <a:ext cx="580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&lt;Deployable array (left, Pumpkin) and </a:t>
            </a:r>
          </a:p>
          <a:p>
            <a:pPr algn="ctr"/>
            <a:r>
              <a:rPr lang="en-US" altLang="ko-KR" sz="1600" b="1" dirty="0"/>
              <a:t>Antenna deployment (right, M-Cubed)&gt;</a:t>
            </a:r>
            <a:endParaRPr lang="ko-KR" altLang="en-US" sz="1600" b="1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1395B626-2354-4093-811C-961C757BE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714" y="3741047"/>
            <a:ext cx="2071374" cy="248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2099F4-CE40-48FC-B398-244B3A200A69}"/>
              </a:ext>
            </a:extLst>
          </p:cNvPr>
          <p:cNvSpPr txBox="1"/>
          <p:nvPr/>
        </p:nvSpPr>
        <p:spPr>
          <a:xfrm>
            <a:off x="6271927" y="6199835"/>
            <a:ext cx="261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&lt;Photodiode on solar panel (CANYVAL-C)&gt;</a:t>
            </a:r>
            <a:endParaRPr lang="ko-KR" altLang="en-US" sz="16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941553-B3BE-4ADE-AFEB-8A483C48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4234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60218-CD26-4809-A8CD-84F218C7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Electrical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EC724-AD5E-4A97-9A7A-AE0EA347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EPS to Subsystems</a:t>
            </a:r>
          </a:p>
          <a:p>
            <a:pPr lvl="1"/>
            <a:r>
              <a:rPr lang="en-US" altLang="ko-KR" dirty="0"/>
              <a:t>Max. Current</a:t>
            </a:r>
            <a:r>
              <a:rPr lang="ko-KR" altLang="en-US" dirty="0"/>
              <a:t> </a:t>
            </a:r>
            <a:r>
              <a:rPr lang="en-US" altLang="ko-KR" dirty="0"/>
              <a:t>/ Voltage</a:t>
            </a:r>
            <a:r>
              <a:rPr lang="ko-KR" altLang="en-US" dirty="0"/>
              <a:t> </a:t>
            </a:r>
            <a:r>
              <a:rPr lang="en-US" altLang="ko-KR" dirty="0"/>
              <a:t>/ Switch </a:t>
            </a:r>
          </a:p>
          <a:p>
            <a:pPr lvl="2"/>
            <a:r>
              <a:rPr lang="en-US" altLang="ko-KR" dirty="0"/>
              <a:t>(Channel) PCM &lt; 4.0 A / PDM &lt; 1.0 A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06774-83B9-4763-BD8E-0552A4E5A438}"/>
              </a:ext>
            </a:extLst>
          </p:cNvPr>
          <p:cNvSpPr txBox="1"/>
          <p:nvPr/>
        </p:nvSpPr>
        <p:spPr>
          <a:xfrm>
            <a:off x="252000" y="6421159"/>
            <a:ext cx="86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&lt;EPS function diagram&gt;</a:t>
            </a:r>
            <a:endParaRPr lang="ko-KR" altLang="en-US" sz="16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0C9D47-984D-439E-914D-70A8434FC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33" y="1273845"/>
            <a:ext cx="7852442" cy="5513300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9206D3-F902-4F09-B758-8D3FA735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8196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60218-CD26-4809-A8CD-84F218C7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Electrical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EC724-AD5E-4A97-9A7A-AE0EA347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Solar Array to EPS</a:t>
            </a:r>
          </a:p>
          <a:p>
            <a:pPr lvl="1"/>
            <a:r>
              <a:rPr lang="en-US" altLang="ko-KR" dirty="0"/>
              <a:t>Input Voltage</a:t>
            </a:r>
          </a:p>
          <a:p>
            <a:pPr lvl="2"/>
            <a:r>
              <a:rPr lang="en-US" altLang="ko-KR" dirty="0"/>
              <a:t>Buck BCR (SA1, SA2): 7.4~30 V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spc="-40" dirty="0">
                <a:sym typeface="Wingdings" panose="05000000000000000000" pitchFamily="2" charset="2"/>
              </a:rPr>
              <a:t>SA2 + SA4/5, SA6/7 (High Power Bundle)</a:t>
            </a:r>
            <a:endParaRPr lang="en-US" altLang="ko-KR" spc="-40" dirty="0"/>
          </a:p>
          <a:p>
            <a:pPr lvl="2"/>
            <a:r>
              <a:rPr lang="en-US" altLang="ko-KR" dirty="0"/>
              <a:t>SEPIC BCR (SA3): 3.0~9.5 V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45C61F-13C8-4B47-B4E7-44025092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3" y="2880343"/>
            <a:ext cx="8987211" cy="29389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B67557-37DC-4803-AC03-85B958809AEC}"/>
              </a:ext>
            </a:extLst>
          </p:cNvPr>
          <p:cNvSpPr txBox="1"/>
          <p:nvPr/>
        </p:nvSpPr>
        <p:spPr>
          <a:xfrm>
            <a:off x="252000" y="5970766"/>
            <a:ext cx="86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&lt;Solar array power I/O diagram&gt;</a:t>
            </a:r>
            <a:endParaRPr lang="ko-KR" altLang="en-US" sz="1600" b="1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CD4880-FEAB-4A82-A3F7-7B14C065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716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Power Analysis I:</a:t>
            </a:r>
            <a:br>
              <a:rPr lang="en-US" altLang="ko-KR" dirty="0"/>
            </a:br>
            <a:r>
              <a:rPr lang="en-US" altLang="ko-KR" dirty="0"/>
              <a:t>Basic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273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F7D1A-83FB-4AB4-ABE9-86D722DA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Overview: Power Budget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EF736F-6079-4626-BE7F-E4B3F5AFB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Simple Method for Electrical Power Management</a:t>
            </a:r>
          </a:p>
          <a:p>
            <a:pPr lvl="1"/>
            <a:r>
              <a:rPr lang="en-US" altLang="ko-KR" dirty="0"/>
              <a:t>Calculate the summation of duty cycled H/W power consumptions in each mode operation</a:t>
            </a:r>
          </a:p>
          <a:p>
            <a:pPr lvl="1"/>
            <a:r>
              <a:rPr lang="en-US" altLang="ko-KR" dirty="0"/>
              <a:t>Calculate loads on each bus voltage (limitation on current)</a:t>
            </a:r>
          </a:p>
          <a:p>
            <a:pPr lvl="1"/>
            <a:r>
              <a:rPr lang="en-US" altLang="ko-KR" dirty="0"/>
              <a:t>EPS design criteria: power consumption &lt;&lt; generation</a:t>
            </a:r>
          </a:p>
          <a:p>
            <a:pPr lvl="1"/>
            <a:r>
              <a:rPr lang="en-US" altLang="ko-KR" dirty="0"/>
              <a:t>Effective way to manage power consumptions by mode, duty cycled H/W operations, the efficiency of voltage regulation, etc.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3EA62F8-FD50-4262-BA0F-C54EC270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50" y="3541013"/>
            <a:ext cx="8507757" cy="3256000"/>
          </a:xfrm>
          <a:prstGeom prst="rect">
            <a:avLst/>
          </a:prstGeom>
        </p:spPr>
      </p:pic>
      <p:graphicFrame>
        <p:nvGraphicFramePr>
          <p:cNvPr id="12" name="개체 11">
            <a:extLst>
              <a:ext uri="{FF2B5EF4-FFF2-40B4-BE49-F238E27FC236}">
                <a16:creationId xmlns:a16="http://schemas.microsoft.com/office/drawing/2014/main" id="{46E31198-15E0-4E8B-A26D-5C6EE90C6F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171124"/>
              </p:ext>
            </p:extLst>
          </p:nvPr>
        </p:nvGraphicFramePr>
        <p:xfrm>
          <a:off x="8204304" y="279926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" name="Worksheet" showAsIcon="1" r:id="rId4" imgW="914400" imgH="771480" progId="Excel.Sheet.12">
                  <p:embed/>
                </p:oleObj>
              </mc:Choice>
              <mc:Fallback>
                <p:oleObj name="Worksheet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04304" y="279926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25F1C8B-4CCD-4134-9F99-9F567F37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384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03192E-EF7F-4ABB-9AB3-978912CD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 [1/4]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247B42-7FC3-4A4F-977B-706E03C0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Normal</a:t>
            </a:r>
            <a:r>
              <a:rPr lang="ko-KR" altLang="en-US" dirty="0"/>
              <a:t> </a:t>
            </a:r>
            <a:r>
              <a:rPr lang="en-US" altLang="ko-KR" dirty="0"/>
              <a:t>Mode: Nadir-pointing</a:t>
            </a:r>
          </a:p>
          <a:p>
            <a:pPr lvl="1"/>
            <a:r>
              <a:rPr lang="en-US" altLang="ko-KR" dirty="0"/>
              <a:t>Beacon: 1 sec transmission by 30 sec / PCM eff.</a:t>
            </a:r>
            <a:r>
              <a:rPr lang="ko-KR" altLang="en-US" dirty="0"/>
              <a:t> </a:t>
            </a:r>
            <a:r>
              <a:rPr lang="en-US" altLang="ko-KR" dirty="0"/>
              <a:t>90%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6497978-3DEC-4F4B-A678-A19815344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480481"/>
              </p:ext>
            </p:extLst>
          </p:nvPr>
        </p:nvGraphicFramePr>
        <p:xfrm>
          <a:off x="457200" y="1803905"/>
          <a:ext cx="8229600" cy="452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42996939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065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39045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0535776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312912"/>
                    </a:ext>
                  </a:extLst>
                </a:gridCol>
              </a:tblGrid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Subsystem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H/W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Consumption 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Duty Cycle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Operation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6125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Imager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Multi-spectral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30428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SDR / FPGA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1156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Main / ADCS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3174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FSS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294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MTRQ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1.24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0.31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 X Rod / 1 X Air-coil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0921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RWA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2.08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 axis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6319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036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979070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EPS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PCDU / BCR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2292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Battery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 </a:t>
                      </a:r>
                      <a:r>
                        <a:rPr lang="en-US" altLang="ko-KR" sz="1000" dirty="0" err="1"/>
                        <a:t>Wh</a:t>
                      </a:r>
                      <a:r>
                        <a:rPr lang="en-US" altLang="ko-KR" sz="1000" dirty="0"/>
                        <a:t> / Active Heater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9123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Beacon / Uplink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3668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75378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RX Only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25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Patch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8447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-8.84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6715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-0.50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Body-mount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53122"/>
                  </a:ext>
                </a:extLst>
              </a:tr>
              <a:tr h="24823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Power Margin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-4.24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+45.3%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2221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0A01E8-25B1-436E-A57C-A20A66EA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1334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03192E-EF7F-4ABB-9AB3-978912CD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 [2/4]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247B42-7FC3-4A4F-977B-706E03C0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Mode: Nadir-pointing</a:t>
            </a:r>
          </a:p>
          <a:p>
            <a:pPr lvl="1"/>
            <a:r>
              <a:rPr lang="en-US" altLang="ko-KR" dirty="0"/>
              <a:t>Taking images / UHF communication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1382E83-1243-42F8-A5E5-59B08B03D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190760"/>
              </p:ext>
            </p:extLst>
          </p:nvPr>
        </p:nvGraphicFramePr>
        <p:xfrm>
          <a:off x="457200" y="1808000"/>
          <a:ext cx="8229600" cy="452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42996939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065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39045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0535776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312912"/>
                    </a:ext>
                  </a:extLst>
                </a:gridCol>
              </a:tblGrid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Subsystem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H/W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Consumption 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Duty Cycle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Operation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6125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Imager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Multi-spectral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30428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0.77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SDR / FPGA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1156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Main / ADCS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3174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FSS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294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MTRQ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1.24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0.62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 X Rod / 1 X Air-coil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0921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RWA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4.17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 axis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6319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036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979070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EPS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PCDU / BCR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2292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Battery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 </a:t>
                      </a:r>
                      <a:r>
                        <a:rPr lang="en-US" altLang="ko-KR" sz="1000" dirty="0" err="1"/>
                        <a:t>Wh</a:t>
                      </a:r>
                      <a:r>
                        <a:rPr lang="en-US" altLang="ko-KR" sz="1000" dirty="0"/>
                        <a:t> / Active Heater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9123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Beacon / Uplink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3668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75378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0.21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RX Only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25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Patch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8447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-7.45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6715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-0.43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Body-mount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53122"/>
                  </a:ext>
                </a:extLst>
              </a:tr>
              <a:tr h="24823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Power Margin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1.29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-16.3%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2221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19F8F1-A4ED-4342-B59C-693659FB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688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03192E-EF7F-4ABB-9AB3-978912CD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 [3/4]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247B42-7FC3-4A4F-977B-706E03C0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Communication Mode: Nadir-pointing</a:t>
            </a:r>
          </a:p>
          <a:p>
            <a:pPr lvl="1"/>
            <a:r>
              <a:rPr lang="en-US" altLang="ko-KR" dirty="0"/>
              <a:t>S-band &amp; UHF communication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1382E83-1243-42F8-A5E5-59B08B03D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929662"/>
              </p:ext>
            </p:extLst>
          </p:nvPr>
        </p:nvGraphicFramePr>
        <p:xfrm>
          <a:off x="457200" y="1808000"/>
          <a:ext cx="8229600" cy="452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42996939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065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39045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0535776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312912"/>
                    </a:ext>
                  </a:extLst>
                </a:gridCol>
              </a:tblGrid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Subsystem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H/W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Consumption 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Duty Cycle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Operation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6125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Imager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Multi-spectral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30428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SDR / FPGA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1156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Main / ADCS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3174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FSS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294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MTRQ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1.24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0.31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 X Rod / 1 X Air-coil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0921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RWA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4.17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 axis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6319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036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979070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EPS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PCDU / BCR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2292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Battery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 </a:t>
                      </a:r>
                      <a:r>
                        <a:rPr lang="en-US" altLang="ko-KR" sz="1000" dirty="0" err="1"/>
                        <a:t>Wh</a:t>
                      </a:r>
                      <a:r>
                        <a:rPr lang="en-US" altLang="ko-KR" sz="1000" dirty="0"/>
                        <a:t> / Active Heater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9123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Beacon / Uplink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3668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75378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RX Only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25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Patch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8447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-8.84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6715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-0.50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Body-mount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53122"/>
                  </a:ext>
                </a:extLst>
              </a:tr>
              <a:tr h="24823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Power Margin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-1.31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+14.0%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2221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5EC02F-8305-4C8C-804B-47520674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18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03192E-EF7F-4ABB-9AB3-978912CD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 [4/4]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247B42-7FC3-4A4F-977B-706E03C0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Emergency: Sun-pointing for Charging (Safe-hold)</a:t>
            </a:r>
          </a:p>
          <a:p>
            <a:pPr lvl="1"/>
            <a:r>
              <a:rPr lang="en-US" altLang="ko-KR" dirty="0"/>
              <a:t>Beacon: 1 sec transmission by 30 sec / PCM eff.</a:t>
            </a:r>
            <a:r>
              <a:rPr lang="ko-KR" altLang="en-US" dirty="0"/>
              <a:t> </a:t>
            </a:r>
            <a:r>
              <a:rPr lang="en-US" altLang="ko-KR" dirty="0"/>
              <a:t>90%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6497978-3DEC-4F4B-A678-A19815344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47667"/>
              </p:ext>
            </p:extLst>
          </p:nvPr>
        </p:nvGraphicFramePr>
        <p:xfrm>
          <a:off x="457200" y="1808000"/>
          <a:ext cx="8229600" cy="452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42996939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065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39045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0535776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312912"/>
                    </a:ext>
                  </a:extLst>
                </a:gridCol>
              </a:tblGrid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Subsystem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H/W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Consumption 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Duty Cycle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 Operation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(W)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6125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Imager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Multi-spectral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30428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SDR / FPGA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1156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OBC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Main / ADCS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3174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FSS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294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MTRQ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1.24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0.31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 X Rod / 1 X Air-coil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0921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RWA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2.08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 axis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6319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0368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GPS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979070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EPS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0.44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PCDU / BCR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22923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Battery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0.89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 </a:t>
                      </a:r>
                      <a:r>
                        <a:rPr lang="en-US" altLang="ko-KR" sz="1000" dirty="0" err="1"/>
                        <a:t>Wh</a:t>
                      </a:r>
                      <a:r>
                        <a:rPr lang="en-US" altLang="ko-KR" sz="1000" dirty="0"/>
                        <a:t> / Active Heater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91235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Beacon / Uplink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366817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UHF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753781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TRX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2.11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Only RX Active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25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S-band Antenna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13.33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off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84474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-17.70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Deployable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67159"/>
                  </a:ext>
                </a:extLst>
              </a:tr>
              <a:tr h="24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Solar Array 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Generate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-1.01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Body-mount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53122"/>
                  </a:ext>
                </a:extLst>
              </a:tr>
              <a:tr h="24823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Power Margin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-14.82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+79.2%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2221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F495C9-9CDC-4589-9500-58A5D3BC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863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1BE77-45F2-4266-AA0A-CB01850A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Generation (Simple)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2E0950-BC28-4654-83BD-9675DC01B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#1. Rule of Thumb</a:t>
            </a:r>
          </a:p>
          <a:p>
            <a:pPr lvl="1"/>
            <a:r>
              <a:rPr lang="en-US" altLang="ko-KR" dirty="0" err="1"/>
              <a:t>P</a:t>
            </a:r>
            <a:r>
              <a:rPr lang="en-US" altLang="ko-KR" baseline="-25000" dirty="0" err="1"/>
              <a:t>max</a:t>
            </a:r>
            <a:r>
              <a:rPr lang="en-US" altLang="ko-KR" baseline="-25000" dirty="0"/>
              <a:t> </a:t>
            </a:r>
            <a:r>
              <a:rPr lang="en-US" altLang="ko-KR" dirty="0"/>
              <a:t>= </a:t>
            </a:r>
            <a:r>
              <a:rPr lang="en-US" altLang="ko-KR" dirty="0" err="1"/>
              <a:t>V</a:t>
            </a:r>
            <a:r>
              <a:rPr lang="en-US" altLang="ko-KR" baseline="-25000" dirty="0" err="1"/>
              <a:t>mp</a:t>
            </a:r>
            <a:r>
              <a:rPr lang="en-US" altLang="ko-KR" dirty="0"/>
              <a:t> X I</a:t>
            </a:r>
            <a:r>
              <a:rPr lang="en-US" altLang="ko-KR" baseline="-25000" dirty="0"/>
              <a:t>mp</a:t>
            </a:r>
            <a:r>
              <a:rPr lang="en-US" altLang="ko-KR" dirty="0"/>
              <a:t> X # of cells (or </a:t>
            </a:r>
            <a:r>
              <a:rPr lang="en-US" altLang="ko-KR" dirty="0" err="1"/>
              <a:t>V</a:t>
            </a:r>
            <a:r>
              <a:rPr lang="en-US" altLang="ko-KR" baseline="-25000" dirty="0" err="1"/>
              <a:t>oc</a:t>
            </a:r>
            <a:r>
              <a:rPr lang="en-US" altLang="ko-KR" dirty="0"/>
              <a:t> X </a:t>
            </a:r>
            <a:r>
              <a:rPr lang="en-US" altLang="ko-KR" dirty="0" err="1"/>
              <a:t>V</a:t>
            </a:r>
            <a:r>
              <a:rPr lang="en-US" altLang="ko-KR" baseline="-25000" dirty="0" err="1"/>
              <a:t>sc</a:t>
            </a:r>
            <a:r>
              <a:rPr lang="en-US" altLang="ko-KR" dirty="0"/>
              <a:t> X solar cell efficiency)</a:t>
            </a:r>
          </a:p>
          <a:p>
            <a:pPr lvl="1"/>
            <a:r>
              <a:rPr lang="en-US" altLang="ko-KR" dirty="0" err="1"/>
              <a:t>P</a:t>
            </a:r>
            <a:r>
              <a:rPr lang="en-US" altLang="ko-KR" baseline="-25000" dirty="0" err="1"/>
              <a:t>average</a:t>
            </a:r>
            <a:r>
              <a:rPr lang="en-US" altLang="ko-KR" dirty="0"/>
              <a:t> [W] = </a:t>
            </a:r>
            <a:r>
              <a:rPr lang="en-US" altLang="ko-KR" dirty="0" err="1"/>
              <a:t>P</a:t>
            </a:r>
            <a:r>
              <a:rPr lang="en-US" altLang="ko-KR" baseline="-25000" dirty="0" err="1"/>
              <a:t>max</a:t>
            </a:r>
            <a:r>
              <a:rPr lang="en-US" altLang="ko-KR" dirty="0"/>
              <a:t> X 0.6</a:t>
            </a:r>
          </a:p>
          <a:p>
            <a:endParaRPr lang="en-US" altLang="ko-KR" dirty="0"/>
          </a:p>
          <a:p>
            <a:r>
              <a:rPr lang="en-US" altLang="ko-KR" dirty="0"/>
              <a:t>#2. Simple Mathematical Equation (Model) with Orbit and Attitude Dynamics</a:t>
            </a:r>
          </a:p>
          <a:p>
            <a:pPr lvl="1"/>
            <a:r>
              <a:rPr lang="en-US" altLang="ko-KR" dirty="0" err="1"/>
              <a:t>P</a:t>
            </a:r>
            <a:r>
              <a:rPr lang="en-US" altLang="ko-KR" baseline="-25000" dirty="0" err="1"/>
              <a:t>average</a:t>
            </a:r>
            <a:r>
              <a:rPr lang="en-US" altLang="ko-KR" dirty="0"/>
              <a:t> [W] = solar irradiation [W/m</a:t>
            </a:r>
            <a:r>
              <a:rPr lang="en-US" altLang="ko-KR" baseline="30000" dirty="0"/>
              <a:t>2</a:t>
            </a:r>
            <a:r>
              <a:rPr lang="en-US" altLang="ko-KR" dirty="0"/>
              <a:t>] X solar cell efficiency </a:t>
            </a:r>
            <a:br>
              <a:rPr lang="en-US" altLang="ko-KR" dirty="0"/>
            </a:br>
            <a:r>
              <a:rPr lang="en-US" altLang="ko-KR" dirty="0"/>
              <a:t>           X total solar cell area [m</a:t>
            </a:r>
            <a:r>
              <a:rPr lang="en-US" altLang="ko-KR" baseline="30000" dirty="0"/>
              <a:t>2</a:t>
            </a:r>
            <a:r>
              <a:rPr lang="en-US" altLang="ko-KR" dirty="0"/>
              <a:t>] X (1-cos(incidence angle, </a:t>
            </a:r>
            <a:r>
              <a:rPr lang="el-GR" altLang="ko-KR" dirty="0"/>
              <a:t>θ</a:t>
            </a:r>
            <a:r>
              <a:rPr lang="en-US" altLang="ko-KR" dirty="0"/>
              <a:t>))</a:t>
            </a:r>
          </a:p>
          <a:p>
            <a:pPr lvl="2"/>
            <a:r>
              <a:rPr lang="en-US" altLang="ko-KR" dirty="0"/>
              <a:t>Solar irradiation: (nominal) 1367 W/m</a:t>
            </a:r>
            <a:r>
              <a:rPr lang="en-US" altLang="ko-KR" baseline="30000" dirty="0"/>
              <a:t>2</a:t>
            </a:r>
            <a:r>
              <a:rPr lang="en-US" altLang="ko-KR" dirty="0"/>
              <a:t> (1326~1408 W/m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endParaRPr lang="ko-KR" altLang="en-US" baseline="30000" dirty="0"/>
          </a:p>
        </p:txBody>
      </p:sp>
      <p:grpSp>
        <p:nvGrpSpPr>
          <p:cNvPr id="6" name="그룹 6">
            <a:extLst>
              <a:ext uri="{FF2B5EF4-FFF2-40B4-BE49-F238E27FC236}">
                <a16:creationId xmlns:a16="http://schemas.microsoft.com/office/drawing/2014/main" id="{5FBB8440-7F8E-4D66-9CC3-A0F001F89507}"/>
              </a:ext>
            </a:extLst>
          </p:cNvPr>
          <p:cNvGrpSpPr/>
          <p:nvPr/>
        </p:nvGrpSpPr>
        <p:grpSpPr>
          <a:xfrm rot="852268">
            <a:off x="1995366" y="4637969"/>
            <a:ext cx="1123245" cy="2087021"/>
            <a:chOff x="4158948" y="2551401"/>
            <a:chExt cx="1123245" cy="2087021"/>
          </a:xfrm>
        </p:grpSpPr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5E12D5C1-5FF5-4D6E-B2C3-8AD48EA7E94E}"/>
                </a:ext>
              </a:extLst>
            </p:cNvPr>
            <p:cNvSpPr/>
            <p:nvPr/>
          </p:nvSpPr>
          <p:spPr>
            <a:xfrm rot="13500000">
              <a:off x="3704179" y="3128474"/>
              <a:ext cx="2087021" cy="932875"/>
            </a:xfrm>
            <a:prstGeom prst="parallelogram">
              <a:avLst>
                <a:gd name="adj" fmla="val 921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D145BBDE-A574-40D0-A608-DBE07F066CD9}"/>
                </a:ext>
              </a:extLst>
            </p:cNvPr>
            <p:cNvSpPr/>
            <p:nvPr/>
          </p:nvSpPr>
          <p:spPr>
            <a:xfrm rot="13500000">
              <a:off x="3997838" y="3003635"/>
              <a:ext cx="1089866" cy="767645"/>
            </a:xfrm>
            <a:prstGeom prst="parallelogram">
              <a:avLst>
                <a:gd name="adj" fmla="val 92170"/>
              </a:avLst>
            </a:prstGeom>
            <a:solidFill>
              <a:srgbClr val="000A1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5009A3E9-F5B9-4A39-BB25-63B7302DD732}"/>
                </a:ext>
              </a:extLst>
            </p:cNvPr>
            <p:cNvSpPr/>
            <p:nvPr/>
          </p:nvSpPr>
          <p:spPr>
            <a:xfrm rot="13500000">
              <a:off x="4353438" y="3359235"/>
              <a:ext cx="1089866" cy="767645"/>
            </a:xfrm>
            <a:prstGeom prst="parallelogram">
              <a:avLst>
                <a:gd name="adj" fmla="val 92170"/>
              </a:avLst>
            </a:prstGeom>
            <a:solidFill>
              <a:srgbClr val="000A1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43D9498-6E28-4732-A660-D80B12C1D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626" y="4650390"/>
            <a:ext cx="7524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원호 7">
            <a:extLst>
              <a:ext uri="{FF2B5EF4-FFF2-40B4-BE49-F238E27FC236}">
                <a16:creationId xmlns:a16="http://schemas.microsoft.com/office/drawing/2014/main" id="{BCC7484B-35B9-4C2E-9E7D-C0C922A50B65}"/>
              </a:ext>
            </a:extLst>
          </p:cNvPr>
          <p:cNvSpPr/>
          <p:nvPr/>
        </p:nvSpPr>
        <p:spPr>
          <a:xfrm>
            <a:off x="2609965" y="5407063"/>
            <a:ext cx="97930" cy="377105"/>
          </a:xfrm>
          <a:prstGeom prst="arc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59D6887-59A9-400F-9CCE-4A5CB47C43D0}"/>
              </a:ext>
            </a:extLst>
          </p:cNvPr>
          <p:cNvCxnSpPr/>
          <p:nvPr/>
        </p:nvCxnSpPr>
        <p:spPr>
          <a:xfrm flipH="1">
            <a:off x="2347319" y="5161119"/>
            <a:ext cx="1272612" cy="332556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71639C9-F45B-45D6-B666-C88B61A3B15F}"/>
              </a:ext>
            </a:extLst>
          </p:cNvPr>
          <p:cNvCxnSpPr/>
          <p:nvPr/>
        </p:nvCxnSpPr>
        <p:spPr>
          <a:xfrm flipH="1">
            <a:off x="2624145" y="5526309"/>
            <a:ext cx="1272612" cy="3325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AA0759-6BC8-4879-BA78-60ED1DA23A14}"/>
              </a:ext>
            </a:extLst>
          </p:cNvPr>
          <p:cNvSpPr/>
          <p:nvPr/>
        </p:nvSpPr>
        <p:spPr>
          <a:xfrm>
            <a:off x="2706963" y="5350061"/>
            <a:ext cx="3113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ko-KR" sz="1600" b="1" dirty="0">
                <a:solidFill>
                  <a:schemeClr val="bg1"/>
                </a:solidFill>
              </a:rPr>
              <a:t>θ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AD97C3B-119A-4F67-909B-E1CFBA5345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4960" y="4559205"/>
            <a:ext cx="3105499" cy="2072819"/>
          </a:xfrm>
          <a:prstGeom prst="rect">
            <a:avLst/>
          </a:prstGeom>
        </p:spPr>
      </p:pic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00CB5AED-E35B-4F14-8824-D847F4BAA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863043"/>
              </p:ext>
            </p:extLst>
          </p:nvPr>
        </p:nvGraphicFramePr>
        <p:xfrm>
          <a:off x="7917338" y="191303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" name="Acrobat Document" showAsIcon="1" r:id="rId5" imgW="914400" imgH="771480" progId="Acrobat.Document.11">
                  <p:embed/>
                </p:oleObj>
              </mc:Choice>
              <mc:Fallback>
                <p:oleObj name="Acrobat Document" showAsIcon="1" r:id="rId5" imgW="914400" imgH="771480" progId="Acrobat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17338" y="191303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0733D75E-62DF-46D6-8879-907D6C09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986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Power Analysis II:</a:t>
            </a:r>
            <a:br>
              <a:rPr lang="en-US" altLang="ko-KR" dirty="0"/>
            </a:br>
            <a:r>
              <a:rPr lang="en-US" altLang="ko-KR" dirty="0"/>
              <a:t>Advanced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569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CEE7BD8-B5B0-42A1-A4B6-78E83762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Overview: Energy Balance Analysis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74BD06-F824-44D1-BD31-EC8B2DD30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Current Dynamics Modeling</a:t>
            </a:r>
          </a:p>
          <a:p>
            <a:pPr lvl="1"/>
            <a:r>
              <a:rPr lang="en-US" altLang="ko-KR" dirty="0"/>
              <a:t>Li-polymer battery modeling (Clyde Space 3G EPS and battery)</a:t>
            </a:r>
          </a:p>
          <a:p>
            <a:pPr lvl="1"/>
            <a:r>
              <a:rPr lang="en-US" altLang="ko-KR" dirty="0"/>
              <a:t>PV cell array modeling (Triple Junction AZUR solar cell)</a:t>
            </a:r>
          </a:p>
          <a:p>
            <a:endParaRPr lang="en-US" altLang="ko-KR" dirty="0"/>
          </a:p>
          <a:p>
            <a:r>
              <a:rPr lang="en-US" altLang="ko-KR" dirty="0"/>
              <a:t>Energy Balancing Simulation</a:t>
            </a:r>
          </a:p>
          <a:p>
            <a:pPr lvl="1"/>
            <a:r>
              <a:rPr lang="en-US" altLang="ko-KR" dirty="0"/>
              <a:t>Battery SoC changes by power generation and consumption</a:t>
            </a:r>
          </a:p>
          <a:p>
            <a:pPr lvl="2"/>
            <a:r>
              <a:rPr lang="en-US" altLang="ko-KR" dirty="0"/>
              <a:t>To analyze battery DoD over mission life</a:t>
            </a:r>
          </a:p>
          <a:p>
            <a:pPr lvl="2"/>
            <a:r>
              <a:rPr lang="en-US" altLang="ko-KR" dirty="0"/>
              <a:t>Should have positive power budget in Normal mode</a:t>
            </a:r>
          </a:p>
          <a:p>
            <a:pPr lvl="2"/>
            <a:r>
              <a:rPr lang="en-US" altLang="ko-KR" dirty="0"/>
              <a:t>To analyze the entrance criteria of safe mode</a:t>
            </a:r>
          </a:p>
          <a:p>
            <a:pPr lvl="1"/>
            <a:r>
              <a:rPr lang="en-US" altLang="ko-KR" dirty="0"/>
              <a:t>Considered </a:t>
            </a:r>
            <a:r>
              <a:rPr lang="en-US" altLang="ko-KR" b="1" u="sng" dirty="0"/>
              <a:t>MPPT efficiency</a:t>
            </a:r>
            <a:r>
              <a:rPr lang="en-US" altLang="ko-KR" dirty="0"/>
              <a:t> changes by body spin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(D. M. 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Erb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et al., 2011)</a:t>
            </a:r>
          </a:p>
          <a:p>
            <a:pPr lvl="2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MPPT in BCR with constant current charging method (fractional open circuit voltage/current)</a:t>
            </a:r>
          </a:p>
          <a:p>
            <a:pPr lvl="1"/>
            <a:r>
              <a:rPr lang="en-US" altLang="ko-KR" dirty="0">
                <a:latin typeface="+mn-ea"/>
                <a:cs typeface="Calibri" panose="020F0502020204030204" pitchFamily="34" charset="0"/>
              </a:rPr>
              <a:t>Considered </a:t>
            </a:r>
            <a:r>
              <a:rPr lang="en-US" altLang="ko-KR" b="1" u="sng" dirty="0">
                <a:latin typeface="+mn-ea"/>
                <a:cs typeface="Calibri" panose="020F0502020204030204" pitchFamily="34" charset="0"/>
              </a:rPr>
              <a:t>PCM output efficiency</a:t>
            </a:r>
            <a:r>
              <a:rPr lang="en-US" altLang="ko-KR" dirty="0">
                <a:latin typeface="+mn-ea"/>
                <a:cs typeface="Calibri" panose="020F0502020204030204" pitchFamily="34" charset="0"/>
              </a:rPr>
              <a:t> by current</a:t>
            </a:r>
            <a:endParaRPr lang="ko-KR" altLang="en-US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6438E0-C7F6-4444-A54E-B569A821FB78}"/>
              </a:ext>
            </a:extLst>
          </p:cNvPr>
          <p:cNvSpPr/>
          <p:nvPr/>
        </p:nvSpPr>
        <p:spPr>
          <a:xfrm>
            <a:off x="601742" y="3119537"/>
            <a:ext cx="7419514" cy="13598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77136F-896B-4975-A52A-EECFB85A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6995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D80D0-2C19-46CD-B3E9-DD440006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Overview: Energy Balance 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CDD3F-58D4-4FB2-820C-15337BCA4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97" y="944688"/>
            <a:ext cx="8639665" cy="5747312"/>
          </a:xfrm>
        </p:spPr>
        <p:txBody>
          <a:bodyPr/>
          <a:lstStyle/>
          <a:p>
            <a:r>
              <a:rPr lang="en-US" altLang="ko-KR" dirty="0"/>
              <a:t>Simulation Architecture</a:t>
            </a:r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278546C-5303-4FDA-93FD-56E07A64EC30}"/>
              </a:ext>
            </a:extLst>
          </p:cNvPr>
          <p:cNvGrpSpPr/>
          <p:nvPr/>
        </p:nvGrpSpPr>
        <p:grpSpPr>
          <a:xfrm>
            <a:off x="1185441" y="1539431"/>
            <a:ext cx="7518879" cy="4391240"/>
            <a:chOff x="1185441" y="1539431"/>
            <a:chExt cx="7518879" cy="439124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28BE5D-4B69-4E59-B4E6-65A3702DFD63}"/>
                </a:ext>
              </a:extLst>
            </p:cNvPr>
            <p:cNvSpPr/>
            <p:nvPr/>
          </p:nvSpPr>
          <p:spPr>
            <a:xfrm>
              <a:off x="1185441" y="1539431"/>
              <a:ext cx="2199190" cy="9838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Spacecraft</a:t>
              </a:r>
            </a:p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Orbit / Attitude</a:t>
              </a:r>
            </a:p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Dynamics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7827CC7-209A-4B79-AECB-466B87C65F6E}"/>
                </a:ext>
              </a:extLst>
            </p:cNvPr>
            <p:cNvSpPr/>
            <p:nvPr/>
          </p:nvSpPr>
          <p:spPr>
            <a:xfrm>
              <a:off x="1185441" y="5441639"/>
              <a:ext cx="2199190" cy="489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Power Generation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79CE623-9744-48D8-AE9B-24ECA634C877}"/>
                </a:ext>
              </a:extLst>
            </p:cNvPr>
            <p:cNvSpPr/>
            <p:nvPr/>
          </p:nvSpPr>
          <p:spPr>
            <a:xfrm>
              <a:off x="4728057" y="1539432"/>
              <a:ext cx="2199190" cy="9838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H/W Operations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B51506D-EC2B-475A-BE90-320AD865567A}"/>
                </a:ext>
              </a:extLst>
            </p:cNvPr>
            <p:cNvSpPr/>
            <p:nvPr/>
          </p:nvSpPr>
          <p:spPr>
            <a:xfrm>
              <a:off x="1185441" y="3490536"/>
              <a:ext cx="2199190" cy="9838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PV Cell Model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EB75FEC-369C-42F9-880A-B64EB1045173}"/>
                </a:ext>
              </a:extLst>
            </p:cNvPr>
            <p:cNvSpPr/>
            <p:nvPr/>
          </p:nvSpPr>
          <p:spPr>
            <a:xfrm>
              <a:off x="2285036" y="2592818"/>
              <a:ext cx="168026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i="1" dirty="0"/>
                <a:t>Incidence Angle</a:t>
              </a:r>
            </a:p>
            <a:p>
              <a:r>
                <a:rPr lang="en-US" altLang="ko-KR" sz="1600" i="1" dirty="0"/>
                <a:t>Beta Angle</a:t>
              </a:r>
            </a:p>
            <a:p>
              <a:r>
                <a:rPr lang="en-US" altLang="ko-KR" sz="1600" i="1" dirty="0"/>
                <a:t>Eclipse</a:t>
              </a:r>
              <a:endParaRPr lang="ko-KR" altLang="en-US" sz="1600" i="1" dirty="0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82831300-C3F6-4FBD-AC12-400868BD30AC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>
              <a:off x="2285036" y="2523281"/>
              <a:ext cx="0" cy="9672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CBC47B0-9B22-404D-A38A-5D8569EAC73E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>
              <a:off x="2285036" y="4474386"/>
              <a:ext cx="0" cy="9672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4E5A2A9-C5EE-40BB-B694-3ADA7AAEA189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3384631" y="2031356"/>
              <a:ext cx="1343426" cy="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0DE4CB8-678F-4E9C-8A84-F54D28F201C8}"/>
                </a:ext>
              </a:extLst>
            </p:cNvPr>
            <p:cNvSpPr/>
            <p:nvPr/>
          </p:nvSpPr>
          <p:spPr>
            <a:xfrm>
              <a:off x="4728057" y="3493720"/>
              <a:ext cx="2199190" cy="9838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Battery Model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42CA8776-4A94-4F94-AAF6-1291B3D2B1A5}"/>
                </a:ext>
              </a:extLst>
            </p:cNvPr>
            <p:cNvCxnSpPr>
              <a:cxnSpLocks/>
              <a:stCxn id="7" idx="2"/>
              <a:endCxn id="20" idx="0"/>
            </p:cNvCxnSpPr>
            <p:nvPr/>
          </p:nvCxnSpPr>
          <p:spPr>
            <a:xfrm>
              <a:off x="5827652" y="2523282"/>
              <a:ext cx="0" cy="970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8739B8-C421-4C57-B5C6-E46D75C31505}"/>
                </a:ext>
              </a:extLst>
            </p:cNvPr>
            <p:cNvSpPr/>
            <p:nvPr/>
          </p:nvSpPr>
          <p:spPr>
            <a:xfrm>
              <a:off x="5845332" y="2716113"/>
              <a:ext cx="285898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i="1" dirty="0"/>
                <a:t>H/W Duty-cycled Operations</a:t>
              </a:r>
            </a:p>
            <a:p>
              <a:r>
                <a:rPr lang="en-US" altLang="ko-KR" sz="1600" b="1" i="1" dirty="0">
                  <a:solidFill>
                    <a:srgbClr val="7030A0"/>
                  </a:solidFill>
                </a:rPr>
                <a:t>Power Consumption</a:t>
              </a:r>
              <a:endParaRPr lang="ko-KR" altLang="en-US" sz="1600" b="1" i="1" dirty="0">
                <a:solidFill>
                  <a:srgbClr val="7030A0"/>
                </a:solidFill>
              </a:endParaRPr>
            </a:p>
          </p:txBody>
        </p: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4AB512DE-6200-49D9-848A-011022AE83BE}"/>
                </a:ext>
              </a:extLst>
            </p:cNvPr>
            <p:cNvCxnSpPr>
              <a:cxnSpLocks/>
              <a:stCxn id="6" idx="3"/>
              <a:endCxn id="20" idx="1"/>
            </p:cNvCxnSpPr>
            <p:nvPr/>
          </p:nvCxnSpPr>
          <p:spPr>
            <a:xfrm flipV="1">
              <a:off x="3384631" y="3985645"/>
              <a:ext cx="1343426" cy="1700510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CAF2A1E-F7D8-45A3-B640-2943B2B38068}"/>
                </a:ext>
              </a:extLst>
            </p:cNvPr>
            <p:cNvSpPr/>
            <p:nvPr/>
          </p:nvSpPr>
          <p:spPr>
            <a:xfrm>
              <a:off x="4728056" y="5441639"/>
              <a:ext cx="2199190" cy="4890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State of Charge</a:t>
              </a: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D8E54BD-7117-451C-B80A-B8E3814803E4}"/>
                </a:ext>
              </a:extLst>
            </p:cNvPr>
            <p:cNvCxnSpPr>
              <a:cxnSpLocks/>
              <a:stCxn id="20" idx="2"/>
              <a:endCxn id="29" idx="0"/>
            </p:cNvCxnSpPr>
            <p:nvPr/>
          </p:nvCxnSpPr>
          <p:spPr>
            <a:xfrm flipH="1">
              <a:off x="5827651" y="4477570"/>
              <a:ext cx="1" cy="9640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1D993060-7020-449B-BF7E-A3E52F744D6C}"/>
                </a:ext>
              </a:extLst>
            </p:cNvPr>
            <p:cNvCxnSpPr>
              <a:cxnSpLocks/>
              <a:stCxn id="29" idx="2"/>
              <a:endCxn id="7" idx="3"/>
            </p:cNvCxnSpPr>
            <p:nvPr/>
          </p:nvCxnSpPr>
          <p:spPr>
            <a:xfrm rot="5400000" flipH="1" flipV="1">
              <a:off x="4427792" y="3431216"/>
              <a:ext cx="3899314" cy="1099596"/>
            </a:xfrm>
            <a:prstGeom prst="bentConnector4">
              <a:avLst>
                <a:gd name="adj1" fmla="val -5863"/>
                <a:gd name="adj2" fmla="val 266052"/>
              </a:avLst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0142C76C-6CF1-47ED-8251-61ECD9CB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749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846577-F5AA-4BD3-96D8-57C65E70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Li-polymer Battery Model [1/2]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9FF940E-86D1-484E-BB23-233F6736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Clyde Space Battery Model (Gao et al., 2002)</a:t>
            </a:r>
          </a:p>
          <a:p>
            <a:pPr lvl="1"/>
            <a:r>
              <a:rPr lang="en-US" altLang="ko-KR" dirty="0"/>
              <a:t>Current dynamics of Li-polymer battery</a:t>
            </a:r>
          </a:p>
          <a:p>
            <a:pPr lvl="2"/>
            <a:r>
              <a:rPr lang="en-US" altLang="ko-KR" dirty="0"/>
              <a:t>String of battery cells</a:t>
            </a:r>
          </a:p>
          <a:p>
            <a:pPr lvl="2"/>
            <a:r>
              <a:rPr lang="en-US" altLang="ko-KR" dirty="0"/>
              <a:t>Power consumption considering duty cycle</a:t>
            </a:r>
          </a:p>
          <a:p>
            <a:pPr lvl="2"/>
            <a:r>
              <a:rPr lang="en-US" altLang="ko-KR" dirty="0"/>
              <a:t>Power generation considering PV model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C6EE89-B89F-4EEC-921D-E238407045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6" r="2030"/>
          <a:stretch/>
        </p:blipFill>
        <p:spPr>
          <a:xfrm>
            <a:off x="4422777" y="2882900"/>
            <a:ext cx="4467222" cy="31029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9BCA6A-6483-4B98-9D75-B2AE7A1D3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00" y="2882900"/>
            <a:ext cx="3829050" cy="308699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48728C-BC26-424F-814C-4664F06F4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603" y="1475142"/>
            <a:ext cx="3000375" cy="117553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CDBBCDF-5D33-48AF-AEEE-E3606B5A737C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402791" y="2650678"/>
            <a:ext cx="0" cy="12298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1051E9-58CA-4BC1-AC14-28B8106A67FB}"/>
              </a:ext>
            </a:extLst>
          </p:cNvPr>
          <p:cNvSpPr/>
          <p:nvPr/>
        </p:nvSpPr>
        <p:spPr>
          <a:xfrm>
            <a:off x="4408075" y="6330950"/>
            <a:ext cx="4496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i="1" dirty="0">
                <a:solidFill>
                  <a:schemeClr val="bg2">
                    <a:lumMod val="50000"/>
                  </a:schemeClr>
                </a:solidFill>
              </a:rPr>
              <a:t>* Draft by KSML</a:t>
            </a:r>
            <a:endParaRPr lang="ko-KR" altLang="en-US" sz="1400" b="1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059B0A-14FC-4F45-A483-D66696FCFD06}"/>
              </a:ext>
            </a:extLst>
          </p:cNvPr>
          <p:cNvSpPr/>
          <p:nvPr/>
        </p:nvSpPr>
        <p:spPr>
          <a:xfrm>
            <a:off x="264700" y="5985842"/>
            <a:ext cx="38290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[Power consumption example]</a:t>
            </a:r>
            <a:endParaRPr lang="ko-KR" altLang="en-US" sz="14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7C6C27-614C-477F-AA4A-3C713F97C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845" y="4651063"/>
            <a:ext cx="2063523" cy="1559209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D4F74E31-E0E1-4423-98AA-4A87DD786C3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69844" y="3878922"/>
            <a:ext cx="1222060" cy="322223"/>
          </a:xfrm>
          <a:prstGeom prst="bentConnector3">
            <a:avLst>
              <a:gd name="adj1" fmla="val 753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F7E31C-4CF2-4955-BB3D-D0E7A7F6B73E}"/>
              </a:ext>
            </a:extLst>
          </p:cNvPr>
          <p:cNvSpPr/>
          <p:nvPr/>
        </p:nvSpPr>
        <p:spPr>
          <a:xfrm>
            <a:off x="4456112" y="3594100"/>
            <a:ext cx="448628" cy="927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50724426-6E8F-4A19-B33C-C3A313F2F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706965" y="4651063"/>
            <a:ext cx="2194297" cy="1559209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953351B-9ABD-4D6F-A500-0403C0EF9F64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V="1">
            <a:off x="7249596" y="4096545"/>
            <a:ext cx="707713" cy="40132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슬라이드 번호 개체 틀 28">
            <a:extLst>
              <a:ext uri="{FF2B5EF4-FFF2-40B4-BE49-F238E27FC236}">
                <a16:creationId xmlns:a16="http://schemas.microsoft.com/office/drawing/2014/main" id="{014B1FDB-4916-4539-9FFE-FD5E749D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286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F96FAFA-89A5-4BA5-8008-5084A4E7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Li-polymer Battery Model [2/2]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A50D4CD-AD05-4E21-B1FC-540E719F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Feasibility</a:t>
            </a:r>
          </a:p>
          <a:p>
            <a:pPr lvl="1"/>
            <a:r>
              <a:rPr lang="en-US" altLang="ko-KR" dirty="0"/>
              <a:t>Checked voltage draw by H/W operation</a:t>
            </a:r>
          </a:p>
          <a:p>
            <a:pPr lvl="1"/>
            <a:r>
              <a:rPr lang="en-US" altLang="ko-KR" dirty="0"/>
              <a:t>Checked end-of-charge mode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6BEC71-930E-4992-B1CB-AF4F2DABF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87" y="2187575"/>
            <a:ext cx="7072725" cy="400141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A11F956-E02E-4C2D-9F0F-58F118A2D06C}"/>
              </a:ext>
            </a:extLst>
          </p:cNvPr>
          <p:cNvSpPr/>
          <p:nvPr/>
        </p:nvSpPr>
        <p:spPr>
          <a:xfrm>
            <a:off x="252000" y="6188993"/>
            <a:ext cx="86399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[End-of-charge mode example]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D96E70-1820-424D-ABCB-BBD12610DA24}"/>
              </a:ext>
            </a:extLst>
          </p:cNvPr>
          <p:cNvSpPr/>
          <p:nvPr/>
        </p:nvSpPr>
        <p:spPr>
          <a:xfrm>
            <a:off x="2486025" y="5245100"/>
            <a:ext cx="2933700" cy="1809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901B4D-434F-4A66-B04F-F74BA868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294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8FC3F8B-93B2-410D-95FE-E28B454E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Photovoltaic Arrays IV-curve [1/2]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447BB86-5460-4D7A-8819-6115D5624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PV Array Modeling</a:t>
            </a:r>
          </a:p>
          <a:p>
            <a:pPr lvl="1"/>
            <a:r>
              <a:rPr lang="en-US" altLang="ko-KR" dirty="0"/>
              <a:t>Current dynamics (Villalva, </a:t>
            </a:r>
            <a:r>
              <a:rPr lang="en-US" altLang="ko-KR" dirty="0" err="1"/>
              <a:t>Gazoli</a:t>
            </a:r>
            <a:r>
              <a:rPr lang="en-US" altLang="ko-KR" dirty="0"/>
              <a:t>, and Filho, 2009)</a:t>
            </a:r>
          </a:p>
          <a:p>
            <a:pPr marL="216000" lvl="1" indent="0">
              <a:buNone/>
            </a:pPr>
            <a:r>
              <a:rPr lang="en-US" altLang="ko-KR" dirty="0"/>
              <a:t>                                                                                              *                                              ,                : thermal voltage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MATLAB function</a:t>
            </a:r>
          </a:p>
          <a:p>
            <a:pPr lvl="2"/>
            <a:r>
              <a:rPr lang="en-US" altLang="ko-KR" dirty="0"/>
              <a:t>Input: </a:t>
            </a:r>
            <a:br>
              <a:rPr lang="en-US" altLang="ko-KR" dirty="0"/>
            </a:br>
            <a:r>
              <a:rPr lang="en-US" altLang="ko-KR" dirty="0"/>
              <a:t>(1) voltage, (2) irradiation (*tilted), (3) temperature</a:t>
            </a:r>
          </a:p>
          <a:p>
            <a:pPr lvl="2"/>
            <a:r>
              <a:rPr lang="en-US" altLang="ko-KR" dirty="0"/>
              <a:t>Output: </a:t>
            </a:r>
            <a:br>
              <a:rPr lang="en-US" altLang="ko-KR" dirty="0"/>
            </a:br>
            <a:r>
              <a:rPr lang="en-US" altLang="ko-KR" dirty="0"/>
              <a:t>(1) current</a:t>
            </a:r>
          </a:p>
          <a:p>
            <a:pPr lvl="2"/>
            <a:r>
              <a:rPr lang="en-US" altLang="ko-KR" dirty="0"/>
              <a:t>Parameter</a:t>
            </a:r>
          </a:p>
          <a:p>
            <a:pPr lvl="3"/>
            <a:r>
              <a:rPr lang="en-US" altLang="ko-KR" dirty="0"/>
              <a:t>Rs = 7.95E-02 (Ohm, Equivalent Series Resistance)</a:t>
            </a:r>
          </a:p>
          <a:p>
            <a:pPr lvl="3"/>
            <a:r>
              <a:rPr lang="en-US" altLang="ko-KR" dirty="0" err="1"/>
              <a:t>Rp</a:t>
            </a:r>
            <a:r>
              <a:rPr lang="en-US" altLang="ko-KR" dirty="0"/>
              <a:t> = 2.62E+03 (Ohm, Equivalent Parallel Resistance)</a:t>
            </a:r>
          </a:p>
          <a:p>
            <a:pPr lvl="3"/>
            <a:r>
              <a:rPr lang="en-US" altLang="ko-KR" dirty="0"/>
              <a:t>Alpha = 3.72 (Diode Ideality Constant)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F5540E-7839-49CB-842C-5B468AA9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30" y="1800479"/>
            <a:ext cx="3946114" cy="71305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62F35E-0779-4B8C-B667-4439560B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535" y="2111878"/>
            <a:ext cx="1255545" cy="295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A5CB14-EF5F-4BC7-92AC-F57F6E153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0" y="2547001"/>
            <a:ext cx="3231739" cy="591485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95624EB-44E5-4FD9-AA5E-6897FDA8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7339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39DE32-5544-49D0-8856-95B8A2BC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Photovoltaic Arrays IV-curve [2/2]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DB54AE5-AA8D-473E-8393-7D3F881C2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Perturbations on PV Cell</a:t>
            </a:r>
          </a:p>
          <a:p>
            <a:pPr lvl="1"/>
            <a:r>
              <a:rPr lang="en-US" altLang="ko-KR" dirty="0"/>
              <a:t>(1) Temperature / (2) Irradiation (@TC = 28℃) effect on PV Cell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875506-F3A1-47C2-A370-E93D11B3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384" y="1861796"/>
            <a:ext cx="3403018" cy="230425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5747461-8A0B-4476-A190-45B3D4A44F92}"/>
              </a:ext>
            </a:extLst>
          </p:cNvPr>
          <p:cNvCxnSpPr/>
          <p:nvPr/>
        </p:nvCxnSpPr>
        <p:spPr>
          <a:xfrm flipH="1">
            <a:off x="3851672" y="2941916"/>
            <a:ext cx="360040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D220792-3C88-49DE-8469-F2E334F5F162}"/>
              </a:ext>
            </a:extLst>
          </p:cNvPr>
          <p:cNvCxnSpPr>
            <a:cxnSpLocks/>
          </p:cNvCxnSpPr>
          <p:nvPr/>
        </p:nvCxnSpPr>
        <p:spPr>
          <a:xfrm flipV="1">
            <a:off x="3664223" y="2015337"/>
            <a:ext cx="0" cy="495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740470CC-DC92-4715-BE30-04880C39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84" y="4495282"/>
            <a:ext cx="3372557" cy="2239192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94011D1-FB3B-4443-AD30-128F4724AB07}"/>
              </a:ext>
            </a:extLst>
          </p:cNvPr>
          <p:cNvCxnSpPr>
            <a:cxnSpLocks/>
          </p:cNvCxnSpPr>
          <p:nvPr/>
        </p:nvCxnSpPr>
        <p:spPr>
          <a:xfrm>
            <a:off x="4072092" y="4870688"/>
            <a:ext cx="0" cy="436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9EB48EF-938D-42BB-A221-0E00C097E7C4}"/>
              </a:ext>
            </a:extLst>
          </p:cNvPr>
          <p:cNvCxnSpPr>
            <a:cxnSpLocks/>
          </p:cNvCxnSpPr>
          <p:nvPr/>
        </p:nvCxnSpPr>
        <p:spPr>
          <a:xfrm flipV="1">
            <a:off x="2440087" y="4622852"/>
            <a:ext cx="0" cy="495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4B6986-4DE4-431A-A6B0-40AB3580A118}"/>
              </a:ext>
            </a:extLst>
          </p:cNvPr>
          <p:cNvSpPr/>
          <p:nvPr/>
        </p:nvSpPr>
        <p:spPr>
          <a:xfrm>
            <a:off x="774956" y="1875944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(1)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8BC0F6-6D01-45CE-A2E0-B873C199CE90}"/>
              </a:ext>
            </a:extLst>
          </p:cNvPr>
          <p:cNvSpPr/>
          <p:nvPr/>
        </p:nvSpPr>
        <p:spPr>
          <a:xfrm>
            <a:off x="5003800" y="1875944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(2)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9B6AFE9-AB68-4C9A-AF10-033367D2A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229" y="1861797"/>
            <a:ext cx="3294554" cy="22577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AD02940-2F2D-4891-81FA-32EDFD347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644" y="4476740"/>
            <a:ext cx="3278572" cy="2257734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E344FFC-88F8-4F45-BC40-E89D7AE3596D}"/>
              </a:ext>
            </a:extLst>
          </p:cNvPr>
          <p:cNvCxnSpPr>
            <a:cxnSpLocks/>
          </p:cNvCxnSpPr>
          <p:nvPr/>
        </p:nvCxnSpPr>
        <p:spPr>
          <a:xfrm flipV="1">
            <a:off x="7596088" y="2015337"/>
            <a:ext cx="0" cy="495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96EC898-3375-402D-BCA0-34FDBAFF6948}"/>
              </a:ext>
            </a:extLst>
          </p:cNvPr>
          <p:cNvCxnSpPr>
            <a:cxnSpLocks/>
          </p:cNvCxnSpPr>
          <p:nvPr/>
        </p:nvCxnSpPr>
        <p:spPr>
          <a:xfrm flipV="1">
            <a:off x="6948016" y="4622852"/>
            <a:ext cx="0" cy="495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8388FCD-C315-4930-B8E9-78E9C9A7BC0A}"/>
              </a:ext>
            </a:extLst>
          </p:cNvPr>
          <p:cNvCxnSpPr>
            <a:cxnSpLocks/>
          </p:cNvCxnSpPr>
          <p:nvPr/>
        </p:nvCxnSpPr>
        <p:spPr>
          <a:xfrm flipV="1">
            <a:off x="8171401" y="4980302"/>
            <a:ext cx="0" cy="14464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2807A1C-8084-48DC-B685-4C91E018E25A}"/>
              </a:ext>
            </a:extLst>
          </p:cNvPr>
          <p:cNvCxnSpPr>
            <a:cxnSpLocks/>
          </p:cNvCxnSpPr>
          <p:nvPr/>
        </p:nvCxnSpPr>
        <p:spPr>
          <a:xfrm flipV="1">
            <a:off x="8162280" y="2923248"/>
            <a:ext cx="114275" cy="9165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35370-B73A-45D6-9235-56750640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3302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F851D0-4947-4A1A-AB68-BEDDA8A9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AZUR Cell IV-curve [1/2]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48CDE0B-31AE-495D-A408-52CD39F5D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2 Series PV Cells</a:t>
                </a:r>
              </a:p>
              <a:p>
                <a:pPr lvl="1"/>
                <a:r>
                  <a:rPr lang="en-US" altLang="ko-KR" dirty="0"/>
                  <a:t>Maximum power point: 2.3902 W 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2.4216 W) </a:t>
                </a:r>
                <a:br>
                  <a:rPr lang="en-US" altLang="ko-KR" dirty="0"/>
                </a:br>
                <a:r>
                  <a:rPr lang="en-US" altLang="ko-KR" dirty="0">
                    <a:sym typeface="Wingdings" panose="05000000000000000000" pitchFamily="2" charset="2"/>
                  </a:rPr>
                  <a:t> 98% of datasheet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48CDE0B-31AE-495D-A408-52CD39F5D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8" t="-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07A420D-AD84-4634-83E1-9AFB08880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7" y="2453763"/>
            <a:ext cx="4320000" cy="34472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4D3185-26B1-4B5B-A8B0-F8339E33F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303" y="2453763"/>
            <a:ext cx="4411120" cy="3447273"/>
          </a:xfrm>
          <a:prstGeom prst="rect">
            <a:avLst/>
          </a:prstGeom>
        </p:spPr>
      </p:pic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FEA1C32D-223B-4C97-BD23-2779347CE799}"/>
              </a:ext>
            </a:extLst>
          </p:cNvPr>
          <p:cNvSpPr/>
          <p:nvPr/>
        </p:nvSpPr>
        <p:spPr>
          <a:xfrm rot="10800000">
            <a:off x="3563888" y="3862659"/>
            <a:ext cx="201948" cy="17852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FA652E79-5AFC-4FF3-80FC-A684B6D95349}"/>
              </a:ext>
            </a:extLst>
          </p:cNvPr>
          <p:cNvSpPr/>
          <p:nvPr/>
        </p:nvSpPr>
        <p:spPr>
          <a:xfrm rot="10800000">
            <a:off x="8074513" y="2962560"/>
            <a:ext cx="201948" cy="17852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4DF851-E3B5-45EB-8102-45A4D53A13D8}"/>
              </a:ext>
            </a:extLst>
          </p:cNvPr>
          <p:cNvSpPr/>
          <p:nvPr/>
        </p:nvSpPr>
        <p:spPr>
          <a:xfrm>
            <a:off x="707770" y="4056472"/>
            <a:ext cx="2952328" cy="144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E2400A13-7E0F-4A7A-84AD-FA8CFDE5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0246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F851D0-4947-4A1A-AB68-BEDDA8A9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AZUR Cell IV-curve [2/2]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48CDE0B-31AE-495D-A408-52CD39F5D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 Series &amp; 2 Parallel PV Cells</a:t>
            </a:r>
          </a:p>
          <a:p>
            <a:pPr lvl="1"/>
            <a:r>
              <a:rPr lang="en-US" altLang="ko-KR" dirty="0"/>
              <a:t>Maximum power point: </a:t>
            </a:r>
            <a:br>
              <a:rPr lang="en-US" altLang="ko-KR" dirty="0"/>
            </a:br>
            <a:r>
              <a:rPr lang="en-US" altLang="ko-KR" dirty="0"/>
              <a:t>~2707.86 </a:t>
            </a:r>
            <a:r>
              <a:rPr lang="en-US" altLang="ko-KR" dirty="0" err="1"/>
              <a:t>mW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&lt;</a:t>
            </a:r>
            <a:r>
              <a:rPr lang="en-US" altLang="ko-KR" dirty="0"/>
              <a:t> “max. P1 + max. P2” </a:t>
            </a:r>
            <a:r>
              <a:rPr lang="en-US" altLang="ko-KR" dirty="0">
                <a:solidFill>
                  <a:srgbClr val="FF0000"/>
                </a:solidFill>
              </a:rPr>
              <a:t>(~97%)</a:t>
            </a:r>
          </a:p>
          <a:p>
            <a:pPr lvl="2"/>
            <a:r>
              <a:rPr lang="en-US" altLang="ko-KR" dirty="0"/>
              <a:t>Assumed a tilted orientation by 10 </a:t>
            </a:r>
            <a:r>
              <a:rPr lang="en-US" altLang="ko-KR" dirty="0" err="1"/>
              <a:t>deg</a:t>
            </a:r>
            <a:r>
              <a:rPr lang="en-US" altLang="ko-KR" dirty="0"/>
              <a:t> with respect to Sun vector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535FF2-7073-4CC6-9E1E-04B741E67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2479163"/>
            <a:ext cx="4370548" cy="3519488"/>
          </a:xfrm>
          <a:prstGeom prst="rect">
            <a:avLst/>
          </a:prstGeom>
        </p:spPr>
      </p:pic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4B9E0134-E258-4064-9D11-96F5A0DB49EC}"/>
              </a:ext>
            </a:extLst>
          </p:cNvPr>
          <p:cNvSpPr/>
          <p:nvPr/>
        </p:nvSpPr>
        <p:spPr>
          <a:xfrm rot="10800000">
            <a:off x="3635896" y="3674851"/>
            <a:ext cx="201948" cy="17852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B57F45-3835-47DF-8DDC-479B79500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2479163"/>
            <a:ext cx="4110229" cy="3519488"/>
          </a:xfrm>
          <a:prstGeom prst="rect">
            <a:avLst/>
          </a:prstGeom>
        </p:spPr>
      </p:pic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5A41F11A-0E09-4669-BBEA-6420B5E682CD}"/>
              </a:ext>
            </a:extLst>
          </p:cNvPr>
          <p:cNvSpPr/>
          <p:nvPr/>
        </p:nvSpPr>
        <p:spPr>
          <a:xfrm rot="10800000">
            <a:off x="8012509" y="2979812"/>
            <a:ext cx="201948" cy="178521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FE2F5CD7-9304-4C67-B34F-61A51504CA4F}"/>
              </a:ext>
            </a:extLst>
          </p:cNvPr>
          <p:cNvSpPr/>
          <p:nvPr/>
        </p:nvSpPr>
        <p:spPr>
          <a:xfrm rot="10800000">
            <a:off x="7873435" y="5116304"/>
            <a:ext cx="201948" cy="178521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A21158B4-3330-4C24-9D69-80262B558AE3}"/>
              </a:ext>
            </a:extLst>
          </p:cNvPr>
          <p:cNvSpPr/>
          <p:nvPr/>
        </p:nvSpPr>
        <p:spPr>
          <a:xfrm rot="10800000">
            <a:off x="7919155" y="2658349"/>
            <a:ext cx="201948" cy="17852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4C8167-F714-4CF5-B598-A79E3674F75A}"/>
              </a:ext>
            </a:extLst>
          </p:cNvPr>
          <p:cNvSpPr/>
          <p:nvPr/>
        </p:nvSpPr>
        <p:spPr>
          <a:xfrm>
            <a:off x="7316744" y="2930572"/>
            <a:ext cx="8274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max. P1 </a:t>
            </a:r>
            <a:endParaRPr lang="ko-KR" altLang="en-US" sz="12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F568F4-794B-403F-A186-27138298CD8A}"/>
              </a:ext>
            </a:extLst>
          </p:cNvPr>
          <p:cNvSpPr/>
          <p:nvPr/>
        </p:nvSpPr>
        <p:spPr>
          <a:xfrm>
            <a:off x="8012509" y="5067065"/>
            <a:ext cx="8274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max. P2 </a:t>
            </a:r>
            <a:endParaRPr lang="ko-KR" altLang="en-US" sz="12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14A8E8-7D49-4149-A54B-8C96F5D3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7809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7C031-D666-497C-8A39-EAFD818C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F1916A-BCF4-436F-AD10-0FDA8E519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Orbit and Attitude Dynamics</a:t>
            </a:r>
          </a:p>
          <a:p>
            <a:pPr lvl="1"/>
            <a:r>
              <a:rPr lang="en-US" altLang="ko-KR" dirty="0"/>
              <a:t>Duration of day-side and eclipse + Beta angle (orbital parameters)</a:t>
            </a:r>
          </a:p>
          <a:p>
            <a:pPr lvl="1"/>
            <a:r>
              <a:rPr lang="en-US" altLang="ko-KR" dirty="0"/>
              <a:t>Panel’s incidence angle </a:t>
            </a:r>
            <a:r>
              <a:rPr lang="en-US" altLang="ko-KR" dirty="0" err="1"/>
              <a:t>w.r.t.</a:t>
            </a:r>
            <a:r>
              <a:rPr lang="en-US" altLang="ko-KR" dirty="0"/>
              <a:t> Sun (attitude pointing accuracy)</a:t>
            </a:r>
          </a:p>
          <a:p>
            <a:endParaRPr lang="en-US" altLang="ko-KR" dirty="0"/>
          </a:p>
          <a:p>
            <a:r>
              <a:rPr lang="en-US" altLang="ko-KR" dirty="0"/>
              <a:t>Thermal, Radiative Effect + Man-made Degradation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BF859E-002B-443F-BC9C-560EA2445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972" y="3120174"/>
            <a:ext cx="4521000" cy="33170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29B0C8-7039-4F82-808D-5FD1C2886866}"/>
              </a:ext>
            </a:extLst>
          </p:cNvPr>
          <p:cNvSpPr/>
          <p:nvPr/>
        </p:nvSpPr>
        <p:spPr>
          <a:xfrm>
            <a:off x="522309" y="6437258"/>
            <a:ext cx="785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[AZUR cell efficiency change by temperature of each cell ]</a:t>
            </a:r>
            <a:endParaRPr lang="ko-KR" altLang="en-US" sz="1400" b="1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537500-B876-4BAE-8EFD-2AB0122A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6351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61EB024-614B-4BC0-AADA-B48B21FA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C55BF7D-D222-4848-A72B-4975D7D4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Efficiency of Charge Method</a:t>
            </a:r>
            <a:endParaRPr lang="ko-KR" altLang="en-US" dirty="0"/>
          </a:p>
          <a:p>
            <a:pPr lvl="1"/>
            <a:r>
              <a:rPr lang="en-US" altLang="ko-KR" dirty="0"/>
              <a:t>Maximum Power Point Tracker</a:t>
            </a:r>
          </a:p>
          <a:p>
            <a:pPr lvl="1"/>
            <a:r>
              <a:rPr lang="en-US" altLang="ko-KR" dirty="0"/>
              <a:t>Battery Charge Regulator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Albedo (10~20% of I</a:t>
            </a:r>
            <a:r>
              <a:rPr lang="en-US" altLang="ko-KR" baseline="-25000" dirty="0"/>
              <a:t>⊙</a:t>
            </a:r>
            <a:r>
              <a:rPr lang="en-US" altLang="ko-KR" dirty="0"/>
              <a:t>) as Margin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5C5BE0-F484-4FD4-84AC-91D64CED3CCB}"/>
              </a:ext>
            </a:extLst>
          </p:cNvPr>
          <p:cNvSpPr/>
          <p:nvPr/>
        </p:nvSpPr>
        <p:spPr>
          <a:xfrm>
            <a:off x="611504" y="1420856"/>
            <a:ext cx="3984911" cy="697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39FEC2-256E-4EE3-8928-5CCD59CFAD86}"/>
              </a:ext>
            </a:extLst>
          </p:cNvPr>
          <p:cNvSpPr/>
          <p:nvPr/>
        </p:nvSpPr>
        <p:spPr>
          <a:xfrm>
            <a:off x="5895975" y="1335399"/>
            <a:ext cx="3248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Inbuild MPPT on BCR</a:t>
            </a:r>
          </a:p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only affected by tumbling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282C10-DD2F-4733-925F-D12F1E395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6415" y="2303959"/>
            <a:ext cx="4285007" cy="1617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1FE5414-AF17-4446-846C-3DC843E40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47" y="2266253"/>
            <a:ext cx="4065434" cy="27849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A6555B-458C-45E3-8620-0B5AD55A9568}"/>
              </a:ext>
            </a:extLst>
          </p:cNvPr>
          <p:cNvSpPr/>
          <p:nvPr/>
        </p:nvSpPr>
        <p:spPr>
          <a:xfrm>
            <a:off x="278347" y="2936265"/>
            <a:ext cx="4065434" cy="352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A41CEF-A875-4F17-B73F-1ECC6DEBE074}"/>
              </a:ext>
            </a:extLst>
          </p:cNvPr>
          <p:cNvSpPr/>
          <p:nvPr/>
        </p:nvSpPr>
        <p:spPr>
          <a:xfrm>
            <a:off x="4581832" y="3781664"/>
            <a:ext cx="4320001" cy="149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C78401-59BB-40F6-B377-8ACE473A3CCD}"/>
              </a:ext>
            </a:extLst>
          </p:cNvPr>
          <p:cNvSpPr/>
          <p:nvPr/>
        </p:nvSpPr>
        <p:spPr>
          <a:xfrm>
            <a:off x="4572000" y="4278786"/>
            <a:ext cx="4328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Need </a:t>
            </a:r>
            <a:r>
              <a:rPr lang="en-US" altLang="ko-KR" i="1" dirty="0">
                <a:solidFill>
                  <a:srgbClr val="FF0000"/>
                </a:solidFill>
              </a:rPr>
              <a:t>normal attitude operation strategy</a:t>
            </a:r>
            <a:r>
              <a:rPr lang="en-US" altLang="ko-KR" dirty="0"/>
              <a:t> to maximize power generation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2536ED2-9B73-4A2E-ACF0-CA998728480C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4343781" y="3112375"/>
            <a:ext cx="252634" cy="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D055325-7D71-4B75-B7B6-46AF9A8208CC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736115" y="3931318"/>
            <a:ext cx="5718" cy="347468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573B382-2606-4A9E-87EB-CA5A3F141B76}"/>
              </a:ext>
            </a:extLst>
          </p:cNvPr>
          <p:cNvSpPr/>
          <p:nvPr/>
        </p:nvSpPr>
        <p:spPr>
          <a:xfrm>
            <a:off x="121220" y="5101573"/>
            <a:ext cx="53285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* </a:t>
            </a:r>
            <a:r>
              <a:rPr lang="en-US" altLang="ko-KR" sz="1000" dirty="0" err="1">
                <a:latin typeface="+mn-ea"/>
              </a:rPr>
              <a:t>Erb</a:t>
            </a:r>
            <a:r>
              <a:rPr lang="en-US" altLang="ko-KR" sz="1000" dirty="0">
                <a:latin typeface="+mn-ea"/>
              </a:rPr>
              <a:t>, </a:t>
            </a:r>
            <a:r>
              <a:rPr lang="en-US" altLang="ko-KR" sz="1000" dirty="0" err="1">
                <a:latin typeface="+mn-ea"/>
              </a:rPr>
              <a:t>Eaniel</a:t>
            </a:r>
            <a:r>
              <a:rPr lang="en-US" altLang="ko-KR" sz="1000" dirty="0">
                <a:latin typeface="+mn-ea"/>
              </a:rPr>
              <a:t> Martin, “Evaluating The Effectiveness of Peak Power Tracking Technologies for Solar Arrays on Small Spacecraft” (2011) </a:t>
            </a:r>
            <a:r>
              <a:rPr lang="en-US" altLang="ko-KR" sz="1000" i="1" dirty="0">
                <a:latin typeface="+mn-ea"/>
              </a:rPr>
              <a:t>University of Master’s Thesis</a:t>
            </a:r>
            <a:r>
              <a:rPr lang="en-US" altLang="ko-KR" sz="1000" dirty="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F93AE62-306F-44E3-9013-9D623CA8D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314" y="4918644"/>
            <a:ext cx="2461698" cy="1773356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22E07D87-3DCF-46B6-A647-1CF5BC37443B}"/>
              </a:ext>
            </a:extLst>
          </p:cNvPr>
          <p:cNvSpPr/>
          <p:nvPr/>
        </p:nvSpPr>
        <p:spPr>
          <a:xfrm>
            <a:off x="788189" y="3288484"/>
            <a:ext cx="28658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i="1" dirty="0">
                <a:solidFill>
                  <a:srgbClr val="FF0000"/>
                </a:solidFill>
              </a:rPr>
              <a:t>Fractional Open Circuit Voltage</a:t>
            </a:r>
            <a:endParaRPr lang="ko-KR" altLang="en-US" sz="1400" b="1" dirty="0"/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44BE766-C814-4108-A519-0FC6D91A0CBD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027437" y="1658565"/>
            <a:ext cx="2868538" cy="1277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0FF2F4B-ECA8-4460-BC96-C7AD2E95EB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064" y="2245335"/>
            <a:ext cx="4320001" cy="3256348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B2C4B9D6-5136-45EE-ACF1-E2D76D3E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28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E83BAA5-83A0-4C66-895C-B37350960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Sun-pointing</a:t>
            </a:r>
            <a:r>
              <a:rPr lang="ko-KR" altLang="en-US" dirty="0"/>
              <a:t> </a:t>
            </a:r>
            <a:r>
              <a:rPr lang="en-US" altLang="ko-KR" dirty="0"/>
              <a:t>(Day-side)</a:t>
            </a:r>
          </a:p>
          <a:p>
            <a:pPr lvl="1"/>
            <a:r>
              <a:rPr lang="en-US" altLang="ko-KR" dirty="0"/>
              <a:t>Safe-hold mode (for charging battery)</a:t>
            </a:r>
          </a:p>
          <a:p>
            <a:r>
              <a:rPr lang="en-US" altLang="ko-KR" dirty="0"/>
              <a:t>Nadir-pointing</a:t>
            </a:r>
            <a:r>
              <a:rPr lang="ko-KR" altLang="en-US" dirty="0"/>
              <a:t> </a:t>
            </a:r>
            <a:r>
              <a:rPr lang="en-US" altLang="ko-KR" dirty="0"/>
              <a:t>(Eclipse)</a:t>
            </a:r>
          </a:p>
          <a:p>
            <a:pPr lvl="1"/>
            <a:r>
              <a:rPr lang="en-US" altLang="ko-KR" b="1" u="sng" dirty="0"/>
              <a:t>Normal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en-US" altLang="ko-KR" b="1" u="sng" dirty="0"/>
              <a:t>Communication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en-US" altLang="ko-KR" b="1" u="sng" dirty="0"/>
              <a:t>Mission mode</a:t>
            </a:r>
            <a:r>
              <a:rPr lang="ko-KR" altLang="en-US" dirty="0"/>
              <a:t> </a:t>
            </a:r>
            <a:r>
              <a:rPr lang="en-US" altLang="ko-KR" dirty="0"/>
              <a:t>+ *protect imager</a:t>
            </a:r>
            <a:endParaRPr lang="ko-KR" altLang="en-US" b="1" u="sng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D9AD33-6426-47A3-BA0F-37EC588F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0253C33-6ABA-4185-8B91-4EDD6BF16E81}"/>
              </a:ext>
            </a:extLst>
          </p:cNvPr>
          <p:cNvSpPr/>
          <p:nvPr/>
        </p:nvSpPr>
        <p:spPr>
          <a:xfrm>
            <a:off x="-16490" y="5902616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&lt;Pointing maneuver operations&gt;</a:t>
            </a:r>
          </a:p>
          <a:p>
            <a:pPr algn="ctr"/>
            <a:r>
              <a:rPr lang="en-US" altLang="ko-KR" sz="1600" i="1" dirty="0"/>
              <a:t>left: Sun-pointing, right: Nadir-pointing</a:t>
            </a:r>
            <a:endParaRPr lang="ko-KR" altLang="en-US" sz="1600" i="1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7909B2-4028-43C7-A5DE-44F06EE9149E}"/>
              </a:ext>
            </a:extLst>
          </p:cNvPr>
          <p:cNvGrpSpPr/>
          <p:nvPr/>
        </p:nvGrpSpPr>
        <p:grpSpPr>
          <a:xfrm>
            <a:off x="4803794" y="2975825"/>
            <a:ext cx="4015501" cy="2669477"/>
            <a:chOff x="4896974" y="3468467"/>
            <a:chExt cx="4015501" cy="2669477"/>
          </a:xfrm>
        </p:grpSpPr>
        <p:sp>
          <p:nvSpPr>
            <p:cNvPr id="84" name="현 83">
              <a:extLst>
                <a:ext uri="{FF2B5EF4-FFF2-40B4-BE49-F238E27FC236}">
                  <a16:creationId xmlns:a16="http://schemas.microsoft.com/office/drawing/2014/main" id="{24750B88-BEE8-4633-9BA5-D097E7FF1772}"/>
                </a:ext>
              </a:extLst>
            </p:cNvPr>
            <p:cNvSpPr/>
            <p:nvPr/>
          </p:nvSpPr>
          <p:spPr>
            <a:xfrm>
              <a:off x="5349230" y="3725188"/>
              <a:ext cx="2455231" cy="2377633"/>
            </a:xfrm>
            <a:prstGeom prst="chord">
              <a:avLst>
                <a:gd name="adj1" fmla="val 5415380"/>
                <a:gd name="adj2" fmla="val 162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779FA2A-709C-432F-AAA0-E00C7191FB0D}"/>
                </a:ext>
              </a:extLst>
            </p:cNvPr>
            <p:cNvSpPr/>
            <p:nvPr/>
          </p:nvSpPr>
          <p:spPr>
            <a:xfrm flipH="1">
              <a:off x="5541804" y="3939787"/>
              <a:ext cx="1977752" cy="1969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33" name="3D 모델 32" descr="The Earth">
                  <a:extLst>
                    <a:ext uri="{FF2B5EF4-FFF2-40B4-BE49-F238E27FC236}">
                      <a16:creationId xmlns:a16="http://schemas.microsoft.com/office/drawing/2014/main" id="{3BC792F7-7563-4B57-9375-A007DBC5B10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6131927" y="4543704"/>
                <a:ext cx="788202" cy="807194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788202" cy="807194"/>
                      </a:xfrm>
                      <a:prstGeom prst="rect">
                        <a:avLst/>
                      </a:prstGeom>
                    </am3d:spPr>
                    <am3d:camera>
                      <am3d:pos x="0" y="0" z="80516301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920067" d="1000000"/>
                      <am3d:preTrans dx="19744" dy="-17995985" dz="10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2940340" ay="-2315797" az="-2140182"/>
                      <am3d:postTrans dx="0" dy="0" dz="0"/>
                    </am3d:trans>
                    <am3d:attrSrcUrl r:id="rId4"/>
                    <am3d:raster rName="Office3DRenderer" rVer="16.0.8326">
                      <am3d:blip r:embed="rId5"/>
                    </am3d:raster>
                    <am3d:objViewport viewportSz="130100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33" name="3D 모델 32" descr="The Earth">
                  <a:extLst>
                    <a:ext uri="{FF2B5EF4-FFF2-40B4-BE49-F238E27FC236}">
                      <a16:creationId xmlns:a16="http://schemas.microsoft.com/office/drawing/2014/main" id="{3BC792F7-7563-4B57-9375-A007DBC5B10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31927" y="4360221"/>
                  <a:ext cx="788202" cy="807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35" name="3D 모델 34" descr="The Sun">
                  <a:extLst>
                    <a:ext uri="{FF2B5EF4-FFF2-40B4-BE49-F238E27FC236}">
                      <a16:creationId xmlns:a16="http://schemas.microsoft.com/office/drawing/2014/main" id="{5151D551-EE7E-462D-A426-C149D4BD8E9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8332513" y="4654913"/>
                <a:ext cx="579962" cy="584775"/>
              </p:xfrm>
              <a:graphic>
                <a:graphicData uri="http://schemas.microsoft.com/office/drawing/2017/model3d">
                  <am3d:model3d r:embed="rId7">
                    <am3d:spPr>
                      <a:xfrm>
                        <a:off x="0" y="0"/>
                        <a:ext cx="579962" cy="584775"/>
                      </a:xfrm>
                      <a:prstGeom prst="rect">
                        <a:avLst/>
                      </a:prstGeom>
                    </am3d:spPr>
                    <am3d:camera>
                      <am3d:pos x="0" y="0" z="81469193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5000000" d="1000000"/>
                      <am3d:preTrans dx="-3" dy="0" dz="-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attrSrcUrl r:id="rId8"/>
                    <am3d:raster rName="Office3DRenderer" rVer="16.0.8326">
                      <am3d:blip r:embed="rId9"/>
                    </am3d:raster>
                    <am3d:objViewport viewportSz="102756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35" name="3D 모델 34" descr="The Sun">
                  <a:extLst>
                    <a:ext uri="{FF2B5EF4-FFF2-40B4-BE49-F238E27FC236}">
                      <a16:creationId xmlns:a16="http://schemas.microsoft.com/office/drawing/2014/main" id="{5151D551-EE7E-462D-A426-C149D4BD8E9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32513" y="4471430"/>
                  <a:ext cx="579962" cy="584775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C17EB5B7-6B97-4F6A-9141-22FA2924187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92" y="4920132"/>
              <a:ext cx="590509" cy="3284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23A0B77E-B3E4-4277-9573-8701F8DBF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8524" y="5067209"/>
              <a:ext cx="219538" cy="519519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F6B6E74D-F7EA-4C72-9815-A13595386A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2768" y="4910744"/>
              <a:ext cx="607677" cy="5054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391EB002-51D8-4DC6-B58D-8F051EBB699D}"/>
                </a:ext>
              </a:extLst>
            </p:cNvPr>
            <p:cNvCxnSpPr>
              <a:cxnSpLocks/>
            </p:cNvCxnSpPr>
            <p:nvPr/>
          </p:nvCxnSpPr>
          <p:spPr>
            <a:xfrm>
              <a:off x="6226926" y="4312957"/>
              <a:ext cx="241854" cy="496486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5F9CEE5-FEEC-4E37-8E5C-62A722D0BA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97" t="13787" r="27811" b="8624"/>
            <a:stretch/>
          </p:blipFill>
          <p:spPr>
            <a:xfrm rot="19672611">
              <a:off x="5679510" y="3468467"/>
              <a:ext cx="1165167" cy="1625489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1DBD590D-5CB1-4891-9F9E-6B0BFF7F32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97" t="13787" r="27811" b="8624"/>
            <a:stretch/>
          </p:blipFill>
          <p:spPr>
            <a:xfrm rot="3032578">
              <a:off x="6848922" y="4369320"/>
              <a:ext cx="1060698" cy="1479748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F1A308E1-8D04-4378-8342-C1E92679C6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97" t="13787" r="27811" b="8624"/>
            <a:stretch/>
          </p:blipFill>
          <p:spPr>
            <a:xfrm rot="2831443" flipH="1" flipV="1">
              <a:off x="5127135" y="3923459"/>
              <a:ext cx="1165167" cy="1625489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0A4E09ED-982C-4E9D-BE19-4980DB49B6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97" t="13787" r="27811" b="8624"/>
            <a:stretch/>
          </p:blipFill>
          <p:spPr>
            <a:xfrm rot="7614929">
              <a:off x="6243740" y="4867721"/>
              <a:ext cx="1060698" cy="1479748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A76950-458A-4828-AD0A-9EA93C0DE1DF}"/>
              </a:ext>
            </a:extLst>
          </p:cNvPr>
          <p:cNvGrpSpPr/>
          <p:nvPr/>
        </p:nvGrpSpPr>
        <p:grpSpPr>
          <a:xfrm>
            <a:off x="162912" y="3132223"/>
            <a:ext cx="4068867" cy="2945216"/>
            <a:chOff x="36974" y="3624202"/>
            <a:chExt cx="4068867" cy="2945216"/>
          </a:xfrm>
        </p:grpSpPr>
        <p:sp>
          <p:nvSpPr>
            <p:cNvPr id="15" name="현 14">
              <a:extLst>
                <a:ext uri="{FF2B5EF4-FFF2-40B4-BE49-F238E27FC236}">
                  <a16:creationId xmlns:a16="http://schemas.microsoft.com/office/drawing/2014/main" id="{DAEED357-4BC5-437A-AAB1-A6AC1D6CD6D2}"/>
                </a:ext>
              </a:extLst>
            </p:cNvPr>
            <p:cNvSpPr/>
            <p:nvPr/>
          </p:nvSpPr>
          <p:spPr>
            <a:xfrm>
              <a:off x="496512" y="3717032"/>
              <a:ext cx="2455231" cy="2377633"/>
            </a:xfrm>
            <a:prstGeom prst="chord">
              <a:avLst>
                <a:gd name="adj1" fmla="val 5415380"/>
                <a:gd name="adj2" fmla="val 162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9A5D7DB1-2A07-4E96-A87C-942785B3FB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03" r="26172"/>
            <a:stretch/>
          </p:blipFill>
          <p:spPr>
            <a:xfrm rot="7511246">
              <a:off x="1394810" y="3335601"/>
              <a:ext cx="994754" cy="1571955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748651BA-B5E1-4376-8B78-74C1A348F6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29" r="28743"/>
            <a:stretch/>
          </p:blipFill>
          <p:spPr>
            <a:xfrm rot="7511246">
              <a:off x="1315597" y="5252632"/>
              <a:ext cx="1061616" cy="1571955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BE1BCBD-F9D5-44A0-8F8F-83E2888608D9}"/>
                </a:ext>
              </a:extLst>
            </p:cNvPr>
            <p:cNvSpPr/>
            <p:nvPr/>
          </p:nvSpPr>
          <p:spPr>
            <a:xfrm>
              <a:off x="692126" y="3924588"/>
              <a:ext cx="1977752" cy="1969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5" name="3D 모델 4" descr="The Earth">
                  <a:extLst>
                    <a:ext uri="{FF2B5EF4-FFF2-40B4-BE49-F238E27FC236}">
                      <a16:creationId xmlns:a16="http://schemas.microsoft.com/office/drawing/2014/main" id="{8CDB4030-234E-48E3-B62C-8F4566DD332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1286901" y="4505661"/>
                <a:ext cx="788202" cy="807194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788202" cy="807194"/>
                      </a:xfrm>
                      <a:prstGeom prst="rect">
                        <a:avLst/>
                      </a:prstGeom>
                    </am3d:spPr>
                    <am3d:camera>
                      <am3d:pos x="0" y="0" z="80516301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920067" d="1000000"/>
                      <am3d:preTrans dx="19744" dy="-17995985" dz="10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2940340" ay="-2315797" az="-2140182"/>
                      <am3d:postTrans dx="0" dy="0" dz="0"/>
                    </am3d:trans>
                    <am3d:attrSrcUrl r:id="rId4"/>
                    <am3d:raster rName="Office3DRenderer" rVer="16.0.8326">
                      <am3d:blip r:embed="rId14"/>
                    </am3d:raster>
                    <am3d:objViewport viewportSz="1218130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" name="3D 모델 4" descr="The Earth">
                  <a:extLst>
                    <a:ext uri="{FF2B5EF4-FFF2-40B4-BE49-F238E27FC236}">
                      <a16:creationId xmlns:a16="http://schemas.microsoft.com/office/drawing/2014/main" id="{8CDB4030-234E-48E3-B62C-8F4566DD332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86901" y="4322178"/>
                  <a:ext cx="788202" cy="807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8" name="3D 모델 7" descr="The Sun">
                  <a:extLst>
                    <a:ext uri="{FF2B5EF4-FFF2-40B4-BE49-F238E27FC236}">
                      <a16:creationId xmlns:a16="http://schemas.microsoft.com/office/drawing/2014/main" id="{072518A4-1EAD-4A3E-B5EE-D7CBC2788F1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3525879" y="4616870"/>
                <a:ext cx="579962" cy="584775"/>
              </p:xfrm>
              <a:graphic>
                <a:graphicData uri="http://schemas.microsoft.com/office/drawing/2017/model3d">
                  <am3d:model3d r:embed="rId7">
                    <am3d:spPr>
                      <a:xfrm>
                        <a:off x="0" y="0"/>
                        <a:ext cx="579962" cy="584775"/>
                      </a:xfrm>
                      <a:prstGeom prst="rect">
                        <a:avLst/>
                      </a:prstGeom>
                    </am3d:spPr>
                    <am3d:camera>
                      <am3d:pos x="0" y="0" z="81469193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5000000" d="1000000"/>
                      <am3d:preTrans dx="-3" dy="0" dz="-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attrSrcUrl r:id="rId8"/>
                    <am3d:raster rName="Office3DRenderer" rVer="16.0.8326">
                      <am3d:blip r:embed="rId15"/>
                    </am3d:raster>
                    <am3d:objViewport viewportSz="93145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8" name="3D 모델 7" descr="The Sun">
                  <a:extLst>
                    <a:ext uri="{FF2B5EF4-FFF2-40B4-BE49-F238E27FC236}">
                      <a16:creationId xmlns:a16="http://schemas.microsoft.com/office/drawing/2014/main" id="{072518A4-1EAD-4A3E-B5EE-D7CBC2788F1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25879" y="4433387"/>
                  <a:ext cx="579962" cy="584775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F1942ECF-A909-41AA-B2B7-693E24E0DF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18" r="26630"/>
            <a:stretch/>
          </p:blipFill>
          <p:spPr>
            <a:xfrm rot="7511246">
              <a:off x="2293595" y="4278132"/>
              <a:ext cx="1067995" cy="1571955"/>
            </a:xfrm>
            <a:prstGeom prst="rect">
              <a:avLst/>
            </a:prstGeom>
          </p:spPr>
        </p:pic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55090B3C-5F39-47B0-8E01-BCB129A26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7556" y="3914252"/>
              <a:ext cx="469159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A825D60B-8692-4ABA-93CC-A22670370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5937" y="4884468"/>
              <a:ext cx="469159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17537C86-CA5A-4DF3-994B-1EDC6E6C1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1680" y="5893927"/>
              <a:ext cx="469159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4A7D8CE4-4648-4CE3-B074-1EFE819B6E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97" t="13787" r="27811" b="8624"/>
            <a:stretch/>
          </p:blipFill>
          <p:spPr>
            <a:xfrm rot="2831443" flipH="1" flipV="1">
              <a:off x="267135" y="3989799"/>
              <a:ext cx="1165167" cy="1625489"/>
            </a:xfrm>
            <a:prstGeom prst="rect">
              <a:avLst/>
            </a:prstGeom>
          </p:spPr>
        </p:pic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15E15F90-34B6-45E4-BCE5-880E62A78E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256" y="4947300"/>
              <a:ext cx="645580" cy="16473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E4C09-B4E0-4F21-B3E1-7E2B4696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1814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BDF7F9B-5D36-4ABF-BE4A-1B925C64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1158B9-2DB9-4A41-BED9-A1452F890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Nadir-pointing</a:t>
            </a:r>
          </a:p>
          <a:p>
            <a:pPr lvl="2"/>
            <a:r>
              <a:rPr lang="en-US" altLang="ko-KR" dirty="0"/>
              <a:t>Local Time on Ascending Node (LTAN), 13:30:00.000</a:t>
            </a:r>
          </a:p>
          <a:p>
            <a:pPr lvl="2"/>
            <a:r>
              <a:rPr lang="en-US" altLang="ko-KR" dirty="0"/>
              <a:t>Sun-synchronous orbit, 500 km, Inclination 97.4 deg</a:t>
            </a:r>
          </a:p>
          <a:p>
            <a:pPr lvl="2"/>
            <a:r>
              <a:rPr lang="en-US" altLang="ko-KR" dirty="0"/>
              <a:t>Beta angle, 32.94 deg</a:t>
            </a:r>
          </a:p>
          <a:p>
            <a:pPr lvl="2"/>
            <a:r>
              <a:rPr lang="en-US" altLang="ko-KR" dirty="0"/>
              <a:t>* Maximum power point tracking / BUCK or SEPIC BCR efficiency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441E0B-E355-47F0-9461-265D63B53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136" y="2793129"/>
            <a:ext cx="5153371" cy="4003884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D2F8B8-D876-41E0-88F5-74FA3119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79CC470A-A02E-41C8-BC14-4C30F5A368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204348"/>
              </p:ext>
            </p:extLst>
          </p:nvPr>
        </p:nvGraphicFramePr>
        <p:xfrm>
          <a:off x="7605077" y="1647057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Worksheet" showAsIcon="1" r:id="rId4" imgW="914400" imgH="771480" progId="Excel.Sheet.12">
                  <p:embed/>
                </p:oleObj>
              </mc:Choice>
              <mc:Fallback>
                <p:oleObj name="Worksheet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05077" y="1647057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07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Power Analysis III:</a:t>
            </a:r>
            <a:br>
              <a:rPr lang="en-US" altLang="ko-KR" dirty="0"/>
            </a:br>
            <a:r>
              <a:rPr lang="en-US" altLang="ko-KR" dirty="0"/>
              <a:t>Case Study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043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EE74A6-84FB-44A3-924E-28488FF2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Operations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22E413D-6A47-4E1D-8FCE-4394E681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H/W Operations: LEOP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B11F478-849E-4C89-A66D-796621EEA5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7200" y="1629312"/>
          <a:ext cx="8229598" cy="46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Subsystem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latin typeface="+mn-ea"/>
                          <a:ea typeface="+mn-ea"/>
                        </a:rPr>
                        <a:t>Mode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Initialization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Deployment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Detumbling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Power (W)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Operation: on/off (duty)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Imager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OBC1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4055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OBC2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FSS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MTQR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1.19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50% Usage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RWA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Speed: 0.90 / Torque: 7.50 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GPS RX + ANT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1.05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EPS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Battery (Heater)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 (Heater: 0.80)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S-band TRX (ANT)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spc="-40" baseline="0" dirty="0"/>
                        <a:t>TX: 1.83 / RX: 1.58 (TX: 10.70)</a:t>
                      </a:r>
                      <a:endParaRPr lang="ko-KR" altLang="en-US" sz="1200" spc="-4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3815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UHF TRX (ANT)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2.81 (TRX: 0.04)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1 sec / 30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(Knife: 2 W)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1 sec / 30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>
                          <a:latin typeface="+mn-ea"/>
                          <a:ea typeface="+mn-ea"/>
                        </a:rPr>
                        <a:t>Power Consumption (W)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2.00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2.37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2.67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Peak</a:t>
                      </a:r>
                      <a:r>
                        <a:rPr lang="en-US" altLang="ko-KR" sz="1200" b="1" baseline="0" dirty="0">
                          <a:latin typeface="+mn-ea"/>
                          <a:ea typeface="+mn-ea"/>
                        </a:rPr>
                        <a:t> Power (W)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5.09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7.31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6.41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Generated</a:t>
                      </a:r>
                      <a:r>
                        <a:rPr lang="en-US" altLang="ko-KR" sz="1200" b="1" baseline="0" dirty="0">
                          <a:latin typeface="+mn-ea"/>
                          <a:ea typeface="+mn-ea"/>
                        </a:rPr>
                        <a:t> Power (W)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TBA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TBA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TBA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3AADA-A8FC-46B1-85AF-81CCF0A9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327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EE74A6-84FB-44A3-924E-28488FF2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Operations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22E413D-6A47-4E1D-8FCE-4394E681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H/W Operations: Normal / Mission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616216-65E5-4C63-97AB-BBDE333071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7200" y="1629312"/>
          <a:ext cx="8229598" cy="46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Subsystem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latin typeface="+mn-ea"/>
                          <a:ea typeface="+mn-ea"/>
                        </a:rPr>
                        <a:t>Mode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Normal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SA Deployment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Mission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Power (W)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Operation: on/off (duty)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Imager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On (480 sec)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OBC1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4055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OBC2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FSS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MTQR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1.19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25% Usage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25% Usage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50% Usage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RWA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Speed: 0.90 / Torque: 7.50 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On / 25% Usage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On / 25% Usage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On / 50% Usage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GPS RX + ANT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1.05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EPS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Knife: 2 W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(Knife: 2 W)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Battery (Heater)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 (Heater: 0.80)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S-band TRX (ANT)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spc="-40" baseline="0" dirty="0"/>
                        <a:t>TX: 1.83 / RX: 1.58 (TX: 10.70)</a:t>
                      </a:r>
                      <a:endParaRPr lang="ko-KR" altLang="en-US" sz="1200" spc="-4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3815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UHF TRX (ANT)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2.81 (TRX: 0.04)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1 sec / 30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1 sec / 30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240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>
                          <a:latin typeface="+mn-ea"/>
                          <a:ea typeface="+mn-ea"/>
                        </a:rPr>
                        <a:t>Power Consumption (W)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6.58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6.95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10.49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latin typeface="+mn-ea"/>
                          <a:ea typeface="+mn-ea"/>
                        </a:rPr>
                        <a:t>Peak</a:t>
                      </a:r>
                      <a:r>
                        <a:rPr lang="en-US" altLang="ko-KR" sz="1200" b="1" baseline="0">
                          <a:latin typeface="+mn-ea"/>
                          <a:ea typeface="+mn-ea"/>
                        </a:rPr>
                        <a:t> Power (W)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7.57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18.91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25.78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Generated</a:t>
                      </a:r>
                      <a:r>
                        <a:rPr lang="en-US" altLang="ko-KR" sz="1200" b="1" baseline="0" dirty="0">
                          <a:latin typeface="+mn-ea"/>
                          <a:ea typeface="+mn-ea"/>
                        </a:rPr>
                        <a:t> Power (W)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8.91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8.91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8.91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319659-67C4-444F-B544-65CEFA4D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3528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EE74A6-84FB-44A3-924E-28488FF2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Operations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22E413D-6A47-4E1D-8FCE-4394E681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H/W Operations: Communication / Safe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324443-BB07-40C2-B941-08D6A6D329D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7200" y="1629312"/>
          <a:ext cx="8229598" cy="46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Subsystem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latin typeface="+mn-ea"/>
                          <a:ea typeface="+mn-ea"/>
                        </a:rPr>
                        <a:t>Mode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Communication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Charge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Detumbling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Power (W)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Operation: on/off (duty)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Imager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OBC1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4055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OBC2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FSS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MTQR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1.19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25% Usage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50% Usage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RWA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Speed: 0.90 / Torque: 7.50 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GPS RX + ANT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1.05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EPS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Battery (Heater)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 (Heater: 0.80)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On (Off)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S-band TRX (ANT)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spc="-40" baseline="0" dirty="0"/>
                        <a:t>TX: 1.83 / RX: 1.58 (TX: 10.70)</a:t>
                      </a:r>
                      <a:endParaRPr lang="ko-KR" altLang="en-US" sz="1200" spc="-4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TX: 120 sec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3815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UHF TRX (ANT)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2.81 (TRX: 0.04)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240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1 sec / 30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TX: 1 sec / 30 sec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>
                          <a:latin typeface="+mn-ea"/>
                          <a:ea typeface="+mn-ea"/>
                        </a:rPr>
                        <a:t>Power Consumption (W)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7.14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2.33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2.67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latin typeface="+mn-ea"/>
                          <a:ea typeface="+mn-ea"/>
                        </a:rPr>
                        <a:t>Peak</a:t>
                      </a:r>
                      <a:r>
                        <a:rPr lang="en-US" altLang="ko-KR" sz="1200" b="1" baseline="0">
                          <a:latin typeface="+mn-ea"/>
                          <a:ea typeface="+mn-ea"/>
                        </a:rPr>
                        <a:t> Power (W)</a:t>
                      </a: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35.81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6.41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6.41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Generated</a:t>
                      </a:r>
                      <a:r>
                        <a:rPr lang="en-US" altLang="ko-KR" sz="1200" b="1" baseline="0" dirty="0">
                          <a:latin typeface="+mn-ea"/>
                          <a:ea typeface="+mn-ea"/>
                        </a:rPr>
                        <a:t> Power (W)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8.91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18.00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18.00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0C1FC2-5FDF-4888-AC63-00EFAFBB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031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966ED2-FAD5-4D05-93D1-2ED885FF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Balance [1/5]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1A3E295-616C-42F0-B6BA-4277CA84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 of Charge Analysis</a:t>
            </a:r>
          </a:p>
          <a:p>
            <a:pPr lvl="1"/>
            <a:r>
              <a:rPr lang="en-US" altLang="ko-KR" b="1" u="sng" dirty="0"/>
              <a:t>Nadir-pointing</a:t>
            </a:r>
            <a:r>
              <a:rPr lang="en-US" altLang="ko-KR" dirty="0"/>
              <a:t> in Normal mode (MPPT eff. ~95%): DOD ~ 11.1%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6007E4-8F10-48B9-96B7-A68EE0BF7C64}"/>
              </a:ext>
            </a:extLst>
          </p:cNvPr>
          <p:cNvGrpSpPr/>
          <p:nvPr/>
        </p:nvGrpSpPr>
        <p:grpSpPr>
          <a:xfrm>
            <a:off x="1160199" y="1928638"/>
            <a:ext cx="7451655" cy="4633116"/>
            <a:chOff x="1160199" y="2093738"/>
            <a:chExt cx="7451655" cy="4633116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8AB8F92-94EE-4445-ADE9-030CBDD2B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0199" y="2093738"/>
              <a:ext cx="7138430" cy="463311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D35641-DC67-4FBF-B31E-A6AE40FB1778}"/>
                </a:ext>
              </a:extLst>
            </p:cNvPr>
            <p:cNvSpPr/>
            <p:nvPr/>
          </p:nvSpPr>
          <p:spPr>
            <a:xfrm>
              <a:off x="4972721" y="4756705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min 78.1%</a:t>
              </a:r>
              <a:endParaRPr lang="ko-KR" altLang="en-US" sz="1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7FEB962-0A4A-4FA9-AB00-60E38C77FB78}"/>
                </a:ext>
              </a:extLst>
            </p:cNvPr>
            <p:cNvSpPr/>
            <p:nvPr/>
          </p:nvSpPr>
          <p:spPr>
            <a:xfrm>
              <a:off x="7525742" y="4335002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end 86.8%</a:t>
              </a:r>
              <a:endParaRPr lang="ko-KR" altLang="en-US" sz="1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8D9462D-D4A5-458E-A6C5-7E0CACC3D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2160" y="4725145"/>
              <a:ext cx="216024" cy="18544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B7D33171-712D-49C3-A25C-F315EB443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6297" y="4488890"/>
              <a:ext cx="360039" cy="127560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07F8A40-BB1E-4521-80F6-C50AC45BBE66}"/>
                </a:ext>
              </a:extLst>
            </p:cNvPr>
            <p:cNvSpPr/>
            <p:nvPr/>
          </p:nvSpPr>
          <p:spPr>
            <a:xfrm>
              <a:off x="2771800" y="5929535"/>
              <a:ext cx="201622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chemeClr val="accent6"/>
                  </a:solidFill>
                </a:rPr>
                <a:t>End of Charge, 8.26V</a:t>
              </a:r>
              <a:endParaRPr lang="ko-KR" altLang="en-US" sz="1400" b="1" i="1" dirty="0">
                <a:solidFill>
                  <a:schemeClr val="accent6"/>
                </a:solidFill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6A8DA42-8425-4001-B1B8-D79A633014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9752" y="5733256"/>
              <a:ext cx="504056" cy="360040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A2DECE-8E0A-43DD-8B3C-9CADF3A8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8981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966ED2-FAD5-4D05-93D1-2ED885FF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Balance [2/5]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1A3E295-616C-42F0-B6BA-4277CA84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 of Charge Analysis</a:t>
            </a:r>
          </a:p>
          <a:p>
            <a:pPr lvl="1"/>
            <a:r>
              <a:rPr lang="en-US" altLang="ko-KR" b="1" u="sng" dirty="0"/>
              <a:t>Attitude control</a:t>
            </a:r>
            <a:r>
              <a:rPr lang="en-US" altLang="ko-KR" dirty="0"/>
              <a:t> in Mission mode (MPPT eff. ~</a:t>
            </a:r>
            <a:r>
              <a:rPr lang="en-US" altLang="ko-KR" b="1" dirty="0">
                <a:solidFill>
                  <a:srgbClr val="FF0000"/>
                </a:solidFill>
              </a:rPr>
              <a:t>80%</a:t>
            </a:r>
            <a:r>
              <a:rPr lang="en-US" altLang="ko-KR" dirty="0"/>
              <a:t>): DOD ~ 17.4%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72ABA3A-8EE6-4332-93F6-F4C4738A7B6D}"/>
              </a:ext>
            </a:extLst>
          </p:cNvPr>
          <p:cNvGrpSpPr/>
          <p:nvPr/>
        </p:nvGrpSpPr>
        <p:grpSpPr>
          <a:xfrm>
            <a:off x="1181903" y="1915612"/>
            <a:ext cx="7385990" cy="4647956"/>
            <a:chOff x="1181903" y="2093412"/>
            <a:chExt cx="7385990" cy="4647956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7344A57-51DC-437D-BAED-B15C30B6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1903" y="2093412"/>
              <a:ext cx="7126484" cy="464795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F69CE44-6229-4073-85FF-F6154569651E}"/>
                </a:ext>
              </a:extLst>
            </p:cNvPr>
            <p:cNvSpPr/>
            <p:nvPr/>
          </p:nvSpPr>
          <p:spPr>
            <a:xfrm>
              <a:off x="4696966" y="4921423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min 69.2%</a:t>
              </a:r>
              <a:endParaRPr lang="ko-KR" altLang="en-US" sz="1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399C1E-D367-4F1B-98C7-E88597829556}"/>
                </a:ext>
              </a:extLst>
            </p:cNvPr>
            <p:cNvSpPr/>
            <p:nvPr/>
          </p:nvSpPr>
          <p:spPr>
            <a:xfrm>
              <a:off x="7481781" y="4474332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end 76.9%</a:t>
              </a:r>
              <a:endParaRPr lang="ko-KR" altLang="en-US" sz="1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FA932EF-9CBE-40B5-842A-2F90C89B1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7086" y="4849415"/>
              <a:ext cx="243695" cy="225897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82F1D1D-19D9-490E-8C3A-A325D44B1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6297" y="4643043"/>
              <a:ext cx="360039" cy="127560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E580815-D265-4AC5-B103-4F76A26479EA}"/>
                </a:ext>
              </a:extLst>
            </p:cNvPr>
            <p:cNvSpPr/>
            <p:nvPr/>
          </p:nvSpPr>
          <p:spPr>
            <a:xfrm>
              <a:off x="1547664" y="3301243"/>
              <a:ext cx="187398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002060"/>
                  </a:solidFill>
                </a:rPr>
                <a:t>Payload Operation</a:t>
              </a:r>
              <a:endParaRPr lang="ko-KR" altLang="en-US" sz="1400" b="1" i="1" dirty="0">
                <a:solidFill>
                  <a:srgbClr val="002060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907F062D-DBFA-48EE-A8D3-3EFA4C78347F}"/>
                </a:ext>
              </a:extLst>
            </p:cNvPr>
            <p:cNvCxnSpPr>
              <a:cxnSpLocks/>
            </p:cNvCxnSpPr>
            <p:nvPr/>
          </p:nvCxnSpPr>
          <p:spPr>
            <a:xfrm>
              <a:off x="2484657" y="3573016"/>
              <a:ext cx="359151" cy="28803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D1C66D9-DA1B-48BC-9B17-8E5F9BB4086C}"/>
                </a:ext>
              </a:extLst>
            </p:cNvPr>
            <p:cNvSpPr/>
            <p:nvPr/>
          </p:nvSpPr>
          <p:spPr>
            <a:xfrm>
              <a:off x="3894478" y="3301243"/>
              <a:ext cx="211768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002060"/>
                  </a:solidFill>
                </a:rPr>
                <a:t>UHF Communication</a:t>
              </a:r>
              <a:endParaRPr lang="ko-KR" altLang="en-US" sz="1400" b="1" i="1" dirty="0">
                <a:solidFill>
                  <a:srgbClr val="002060"/>
                </a:solidFill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EE8D188-6122-4AFA-BCE3-BA1B86C6ED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3848" y="3562920"/>
              <a:ext cx="1607050" cy="44214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BE101A-2C94-469E-8776-FE713264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939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966ED2-FAD5-4D05-93D1-2ED885FF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Balance [3/5]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1A3E295-616C-42F0-B6BA-4277CA84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 of Charge Analysis</a:t>
            </a:r>
          </a:p>
          <a:p>
            <a:pPr lvl="1"/>
            <a:r>
              <a:rPr lang="en-US" altLang="ko-KR" dirty="0"/>
              <a:t>Communication mode in Eclipse (MPPT eff. ~95%): DOD ~ 14.8%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1261130-C3A5-445E-BA95-ED86FA79E4EC}"/>
              </a:ext>
            </a:extLst>
          </p:cNvPr>
          <p:cNvGrpSpPr/>
          <p:nvPr/>
        </p:nvGrpSpPr>
        <p:grpSpPr>
          <a:xfrm>
            <a:off x="1115616" y="1904256"/>
            <a:ext cx="7517976" cy="4633116"/>
            <a:chOff x="1115616" y="2132856"/>
            <a:chExt cx="7517976" cy="463311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261FFB4-A05B-43CC-AC61-9FA844EFC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2132856"/>
              <a:ext cx="7157680" cy="463311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0DBFFB2-8A6F-468B-B216-70A0F7826EA1}"/>
                </a:ext>
              </a:extLst>
            </p:cNvPr>
            <p:cNvSpPr/>
            <p:nvPr/>
          </p:nvSpPr>
          <p:spPr>
            <a:xfrm>
              <a:off x="4837995" y="4921423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min 74.4%</a:t>
              </a:r>
              <a:endParaRPr lang="ko-KR" altLang="en-US" sz="1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5339B6-0F24-478A-A4A5-50D960A27CA5}"/>
                </a:ext>
              </a:extLst>
            </p:cNvPr>
            <p:cNvSpPr/>
            <p:nvPr/>
          </p:nvSpPr>
          <p:spPr>
            <a:xfrm>
              <a:off x="7547480" y="4358772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end 83.1%</a:t>
              </a:r>
              <a:endParaRPr lang="ko-KR" altLang="en-US" sz="1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1346D302-3BE7-435E-948B-0512243F5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107" y="4818673"/>
              <a:ext cx="120588" cy="26804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FA3C62A4-F694-4D58-99CD-4F4B19B9A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6297" y="4538989"/>
              <a:ext cx="360039" cy="127560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F342F2-277C-487F-829F-DB0C43C7B43D}"/>
                </a:ext>
              </a:extLst>
            </p:cNvPr>
            <p:cNvSpPr/>
            <p:nvPr/>
          </p:nvSpPr>
          <p:spPr>
            <a:xfrm>
              <a:off x="4546600" y="3259871"/>
              <a:ext cx="223224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7030A0"/>
                  </a:solidFill>
                </a:rPr>
                <a:t>S-band Communication</a:t>
              </a:r>
              <a:endParaRPr lang="ko-KR" altLang="en-US" sz="1400" b="1" i="1" dirty="0">
                <a:solidFill>
                  <a:srgbClr val="7030A0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73B764A1-19B1-4D2A-AF9C-E585FB19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776" y="3429000"/>
              <a:ext cx="727353" cy="216024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069C7E-987C-4FA1-BF06-90F23B4B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8552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966ED2-FAD5-4D05-93D1-2ED885FF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Balance [4/5]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1A3E295-616C-42F0-B6BA-4277CA84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 of Charge Analysis</a:t>
            </a:r>
          </a:p>
          <a:p>
            <a:pPr lvl="1"/>
            <a:r>
              <a:rPr lang="en-US" altLang="ko-KR" dirty="0"/>
              <a:t>Sun-pointing in Safe-Hold (MPPT eff. ~95%): DOD ~ 14.8%</a:t>
            </a:r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351C99E-A572-4657-B83D-2E1B79A05D0F}"/>
              </a:ext>
            </a:extLst>
          </p:cNvPr>
          <p:cNvGrpSpPr/>
          <p:nvPr/>
        </p:nvGrpSpPr>
        <p:grpSpPr>
          <a:xfrm>
            <a:off x="1149190" y="1905053"/>
            <a:ext cx="7484402" cy="4633116"/>
            <a:chOff x="1149190" y="2070153"/>
            <a:chExt cx="7484402" cy="4633116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F3CF300-69C1-40AF-8D2A-24493FB6C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9190" y="2070153"/>
              <a:ext cx="7149377" cy="463311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0DBFFB2-8A6F-468B-B216-70A0F7826EA1}"/>
                </a:ext>
              </a:extLst>
            </p:cNvPr>
            <p:cNvSpPr/>
            <p:nvPr/>
          </p:nvSpPr>
          <p:spPr>
            <a:xfrm>
              <a:off x="1979712" y="4559228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min 50.0%</a:t>
              </a:r>
              <a:endParaRPr lang="ko-KR" altLang="en-US" sz="1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5339B6-0F24-478A-A4A5-50D960A27CA5}"/>
                </a:ext>
              </a:extLst>
            </p:cNvPr>
            <p:cNvSpPr/>
            <p:nvPr/>
          </p:nvSpPr>
          <p:spPr>
            <a:xfrm>
              <a:off x="7547480" y="4358772"/>
              <a:ext cx="108611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end 80.6%</a:t>
              </a:r>
              <a:endParaRPr lang="ko-KR" altLang="en-US" sz="1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1346D302-3BE7-435E-948B-0512243F5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8610" y="4797152"/>
              <a:ext cx="373110" cy="32188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FA3C62A4-F694-4D58-99CD-4F4B19B9A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6297" y="4538989"/>
              <a:ext cx="360039" cy="127560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F342F2-277C-487F-829F-DB0C43C7B43D}"/>
                </a:ext>
              </a:extLst>
            </p:cNvPr>
            <p:cNvSpPr/>
            <p:nvPr/>
          </p:nvSpPr>
          <p:spPr>
            <a:xfrm>
              <a:off x="4572000" y="3547133"/>
              <a:ext cx="288032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rgbClr val="7030A0"/>
                  </a:solidFill>
                </a:rPr>
                <a:t>MTQ / RWA for Sun-pointing</a:t>
              </a:r>
              <a:endParaRPr lang="ko-KR" altLang="en-US" sz="1400" b="1" i="1" dirty="0">
                <a:solidFill>
                  <a:srgbClr val="7030A0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73B764A1-19B1-4D2A-AF9C-E585FB19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6176" y="3716262"/>
              <a:ext cx="727353" cy="216024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DC4728-A9D2-488B-8758-8CC32A56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30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966ED2-FAD5-4D05-93D1-2ED885FF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Balance [5/5]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1A3E295-616C-42F0-B6BA-4277CA84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 of Charge Analysis</a:t>
            </a:r>
          </a:p>
          <a:p>
            <a:pPr lvl="1"/>
            <a:r>
              <a:rPr lang="en-US" altLang="ko-KR" dirty="0"/>
              <a:t>End-of-Charge (</a:t>
            </a:r>
            <a:r>
              <a:rPr lang="en-US" altLang="ko-KR" dirty="0" err="1"/>
              <a:t>EoC</a:t>
            </a:r>
            <a:r>
              <a:rPr lang="en-US" altLang="ko-KR" dirty="0"/>
              <a:t>) at 8.26 V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ABCAE32-6303-492D-A50E-6E4FC63F28C2}"/>
              </a:ext>
            </a:extLst>
          </p:cNvPr>
          <p:cNvGrpSpPr/>
          <p:nvPr/>
        </p:nvGrpSpPr>
        <p:grpSpPr>
          <a:xfrm>
            <a:off x="1082574" y="1917752"/>
            <a:ext cx="7161834" cy="4633116"/>
            <a:chOff x="1043608" y="2108252"/>
            <a:chExt cx="7161834" cy="4633116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ACDDF69-D1C7-4597-8C26-F9598A428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8" y="2108252"/>
              <a:ext cx="7161834" cy="4633116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20D8C7E-0AEE-489B-BA23-82ED4266B61D}"/>
                </a:ext>
              </a:extLst>
            </p:cNvPr>
            <p:cNvSpPr/>
            <p:nvPr/>
          </p:nvSpPr>
          <p:spPr>
            <a:xfrm>
              <a:off x="3419872" y="5877272"/>
              <a:ext cx="201622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i="1" dirty="0">
                  <a:solidFill>
                    <a:schemeClr val="accent6"/>
                  </a:solidFill>
                </a:rPr>
                <a:t>End of Charge, 8.26V</a:t>
              </a:r>
              <a:endParaRPr lang="ko-KR" altLang="en-US" sz="1400" b="1" i="1" dirty="0">
                <a:solidFill>
                  <a:schemeClr val="accent6"/>
                </a:solidFill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6D10521-6086-4E7B-BA3E-A8C5303874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7824" y="5680993"/>
              <a:ext cx="504056" cy="360040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8C28DC78-8A9B-4E03-A32C-EC758082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2668" y="5701444"/>
              <a:ext cx="383468" cy="339589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42B93-9DEB-417E-B563-A4D435C6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13845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954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20441-7ACE-41B4-BFEA-2C9D2DAD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01F12-88BD-4EB5-82F4-D8AEA7EE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EPS Configuration</a:t>
            </a:r>
          </a:p>
          <a:p>
            <a:pPr lvl="1"/>
            <a:r>
              <a:rPr lang="en-US" altLang="ko-KR" dirty="0"/>
              <a:t>Role in spacecraft, components, architecture, interface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EPS Analysis</a:t>
            </a:r>
          </a:p>
          <a:p>
            <a:pPr lvl="1"/>
            <a:r>
              <a:rPr lang="en-US" altLang="ko-KR" dirty="0"/>
              <a:t>Power budget management</a:t>
            </a:r>
          </a:p>
          <a:p>
            <a:pPr lvl="1"/>
            <a:r>
              <a:rPr lang="en-US" altLang="ko-KR" dirty="0"/>
              <a:t>EPS mathematical model design</a:t>
            </a:r>
          </a:p>
          <a:p>
            <a:pPr lvl="1"/>
            <a:r>
              <a:rPr lang="en-US" altLang="ko-KR" dirty="0"/>
              <a:t>Energy balance analysis: integrated electrical power simulation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Key Words</a:t>
            </a:r>
          </a:p>
          <a:p>
            <a:pPr lvl="1"/>
            <a:r>
              <a:rPr lang="en-US" altLang="ko-KR" dirty="0"/>
              <a:t>PCDU – PCM / PDM</a:t>
            </a:r>
          </a:p>
          <a:p>
            <a:pPr lvl="1"/>
            <a:r>
              <a:rPr lang="en-US" altLang="ko-KR" dirty="0"/>
              <a:t>BCR – BUCK / SEPIC</a:t>
            </a:r>
          </a:p>
          <a:p>
            <a:pPr lvl="1"/>
            <a:r>
              <a:rPr lang="en-US" altLang="ko-KR" dirty="0"/>
              <a:t>MPPT</a:t>
            </a:r>
          </a:p>
          <a:p>
            <a:pPr lvl="1"/>
            <a:r>
              <a:rPr lang="en-US" altLang="ko-KR" dirty="0"/>
              <a:t>Energy Balance – DoD / SoC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8EEB25-6E79-48ED-9B4D-AC654157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951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F8117D2D-3FBE-421B-99A1-2F42437F8DF7}"/>
              </a:ext>
            </a:extLst>
          </p:cNvPr>
          <p:cNvSpPr txBox="1">
            <a:spLocks/>
          </p:cNvSpPr>
          <p:nvPr/>
        </p:nvSpPr>
        <p:spPr>
          <a:xfrm>
            <a:off x="0" y="2073090"/>
            <a:ext cx="9144000" cy="21980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6600"/>
              <a:t>Thank You for </a:t>
            </a:r>
            <a:br>
              <a:rPr lang="en-US" altLang="ko-KR" sz="6600"/>
            </a:br>
            <a:r>
              <a:rPr lang="en-US" altLang="ko-KR" sz="6600"/>
              <a:t>Your Attention</a:t>
            </a:r>
            <a:endParaRPr lang="ko-KR" altLang="en-US" sz="6600" dirty="0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12321922-C023-4E66-850E-73EE1D8AA189}"/>
              </a:ext>
            </a:extLst>
          </p:cNvPr>
          <p:cNvSpPr txBox="1">
            <a:spLocks/>
          </p:cNvSpPr>
          <p:nvPr/>
        </p:nvSpPr>
        <p:spPr>
          <a:xfrm>
            <a:off x="0" y="4865688"/>
            <a:ext cx="9144000" cy="14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6600" dirty="0">
                <a:solidFill>
                  <a:srgbClr val="FFFF00"/>
                </a:solidFill>
              </a:rPr>
              <a:t>Question &amp; Answer</a:t>
            </a:r>
            <a:endParaRPr lang="ko-KR" altLang="en-US" sz="6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65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Tahoma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1373</TotalTime>
  <Words>2669</Words>
  <Application>Microsoft Office PowerPoint</Application>
  <PresentationFormat>화면 슬라이드 쇼(4:3)</PresentationFormat>
  <Paragraphs>924</Paragraphs>
  <Slides>46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맑은 고딕</vt:lpstr>
      <vt:lpstr>Arial</vt:lpstr>
      <vt:lpstr>Calibri</vt:lpstr>
      <vt:lpstr>Cambria Math</vt:lpstr>
      <vt:lpstr>Tahoma</vt:lpstr>
      <vt:lpstr>Wingdings</vt:lpstr>
      <vt:lpstr>Office 테마</vt:lpstr>
      <vt:lpstr>Worksheet</vt:lpstr>
      <vt:lpstr>Acrobat Document</vt:lpstr>
      <vt:lpstr>Microsoft Excel 워크시트</vt:lpstr>
      <vt:lpstr>Introduction of Electrical Power Subsystem</vt:lpstr>
      <vt:lpstr>Contents</vt:lpstr>
      <vt:lpstr>What is EPS?</vt:lpstr>
      <vt:lpstr>Overview</vt:lpstr>
      <vt:lpstr>EPS Configuration</vt:lpstr>
      <vt:lpstr>Power Analysis</vt:lpstr>
      <vt:lpstr>EPS Development Scheme</vt:lpstr>
      <vt:lpstr>EPS Configuration</vt:lpstr>
      <vt:lpstr>Power Distribution and Control Unit</vt:lpstr>
      <vt:lpstr>Solar Panel</vt:lpstr>
      <vt:lpstr>Battery</vt:lpstr>
      <vt:lpstr>Others</vt:lpstr>
      <vt:lpstr>Electrical Interface</vt:lpstr>
      <vt:lpstr>Electrical Interface</vt:lpstr>
      <vt:lpstr>Power Analysis I: Basic</vt:lpstr>
      <vt:lpstr>Overview: Power Budget</vt:lpstr>
      <vt:lpstr>Power Budget [1/4]</vt:lpstr>
      <vt:lpstr>Power Budget [2/4]</vt:lpstr>
      <vt:lpstr>Power Budget [3/4]</vt:lpstr>
      <vt:lpstr>Power Budget [4/4]</vt:lpstr>
      <vt:lpstr>Power Generation (Simple)</vt:lpstr>
      <vt:lpstr>Power Analysis II: Advanced</vt:lpstr>
      <vt:lpstr>Overview: Energy Balance Analysis</vt:lpstr>
      <vt:lpstr>Overview: Energy Balance Analysis</vt:lpstr>
      <vt:lpstr>Li-polymer Battery Model [1/2]</vt:lpstr>
      <vt:lpstr>Li-polymer Battery Model [2/2]</vt:lpstr>
      <vt:lpstr>Photovoltaic Arrays IV-curve [1/2]</vt:lpstr>
      <vt:lpstr>Photovoltaic Arrays IV-curve [2/2]</vt:lpstr>
      <vt:lpstr>AZUR Cell IV-curve [1/2]</vt:lpstr>
      <vt:lpstr>AZUR Cell IV-curve [2/2]</vt:lpstr>
      <vt:lpstr>Power Generation</vt:lpstr>
      <vt:lpstr>Power Generation</vt:lpstr>
      <vt:lpstr>Power Generation</vt:lpstr>
      <vt:lpstr>Power Generation</vt:lpstr>
      <vt:lpstr>Power Analysis III: Case Study</vt:lpstr>
      <vt:lpstr>Concept of Operations</vt:lpstr>
      <vt:lpstr>Concept of Operations</vt:lpstr>
      <vt:lpstr>Concept of Operations</vt:lpstr>
      <vt:lpstr>Energy Balance [1/5]</vt:lpstr>
      <vt:lpstr>Energy Balance [2/5]</vt:lpstr>
      <vt:lpstr>Energy Balance [3/5]</vt:lpstr>
      <vt:lpstr>Energy Balance [4/5]</vt:lpstr>
      <vt:lpstr>Energy Balance [5/5]</vt:lpstr>
      <vt:lpstr>Conclusion</vt:lpstr>
      <vt:lpstr>Summary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 sungmin</dc:creator>
  <cp:lastModifiedBy>김극남 </cp:lastModifiedBy>
  <cp:revision>349</cp:revision>
  <dcterms:created xsi:type="dcterms:W3CDTF">2019-05-19T10:40:51Z</dcterms:created>
  <dcterms:modified xsi:type="dcterms:W3CDTF">2019-07-11T02:41:35Z</dcterms:modified>
</cp:coreProperties>
</file>