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97"/>
  </p:notesMasterIdLst>
  <p:handoutMasterIdLst>
    <p:handoutMasterId r:id="rId98"/>
  </p:handoutMasterIdLst>
  <p:sldIdLst>
    <p:sldId id="2519" r:id="rId2"/>
    <p:sldId id="2520" r:id="rId3"/>
    <p:sldId id="374" r:id="rId4"/>
    <p:sldId id="2525" r:id="rId5"/>
    <p:sldId id="2688" r:id="rId6"/>
    <p:sldId id="3112" r:id="rId7"/>
    <p:sldId id="2650" r:id="rId8"/>
    <p:sldId id="2665" r:id="rId9"/>
    <p:sldId id="2651" r:id="rId10"/>
    <p:sldId id="2666" r:id="rId11"/>
    <p:sldId id="2667" r:id="rId12"/>
    <p:sldId id="2526" r:id="rId13"/>
    <p:sldId id="2691" r:id="rId14"/>
    <p:sldId id="2707" r:id="rId15"/>
    <p:sldId id="2635" r:id="rId16"/>
    <p:sldId id="2639" r:id="rId17"/>
    <p:sldId id="2605" r:id="rId18"/>
    <p:sldId id="2696" r:id="rId19"/>
    <p:sldId id="2692" r:id="rId20"/>
    <p:sldId id="2698" r:id="rId21"/>
    <p:sldId id="2679" r:id="rId22"/>
    <p:sldId id="2706" r:id="rId23"/>
    <p:sldId id="2543" r:id="rId24"/>
    <p:sldId id="2693" r:id="rId25"/>
    <p:sldId id="2197" r:id="rId26"/>
    <p:sldId id="2712" r:id="rId27"/>
    <p:sldId id="2296" r:id="rId28"/>
    <p:sldId id="2709" r:id="rId29"/>
    <p:sldId id="2300" r:id="rId30"/>
    <p:sldId id="3106" r:id="rId31"/>
    <p:sldId id="3105" r:id="rId32"/>
    <p:sldId id="2544" r:id="rId33"/>
    <p:sldId id="3111" r:id="rId34"/>
    <p:sldId id="2695" r:id="rId35"/>
    <p:sldId id="3109" r:id="rId36"/>
    <p:sldId id="3108" r:id="rId37"/>
    <p:sldId id="3110" r:id="rId38"/>
    <p:sldId id="2534" r:id="rId39"/>
    <p:sldId id="2535" r:id="rId40"/>
    <p:sldId id="2676" r:id="rId41"/>
    <p:sldId id="2536" r:id="rId42"/>
    <p:sldId id="2233" r:id="rId43"/>
    <p:sldId id="3126" r:id="rId44"/>
    <p:sldId id="2674" r:id="rId45"/>
    <p:sldId id="2613" r:id="rId46"/>
    <p:sldId id="2675" r:id="rId47"/>
    <p:sldId id="2250" r:id="rId48"/>
    <p:sldId id="2670" r:id="rId49"/>
    <p:sldId id="2671" r:id="rId50"/>
    <p:sldId id="2672" r:id="rId51"/>
    <p:sldId id="2673" r:id="rId52"/>
    <p:sldId id="2654" r:id="rId53"/>
    <p:sldId id="2660" r:id="rId54"/>
    <p:sldId id="3104" r:id="rId55"/>
    <p:sldId id="2661" r:id="rId56"/>
    <p:sldId id="3113" r:id="rId57"/>
    <p:sldId id="2680" r:id="rId58"/>
    <p:sldId id="3114" r:id="rId59"/>
    <p:sldId id="2681" r:id="rId60"/>
    <p:sldId id="2683" r:id="rId61"/>
    <p:sldId id="2684" r:id="rId62"/>
    <p:sldId id="2686" r:id="rId63"/>
    <p:sldId id="2689" r:id="rId64"/>
    <p:sldId id="2690" r:id="rId65"/>
    <p:sldId id="3115" r:id="rId66"/>
    <p:sldId id="3116" r:id="rId67"/>
    <p:sldId id="2697" r:id="rId68"/>
    <p:sldId id="3117" r:id="rId69"/>
    <p:sldId id="2701" r:id="rId70"/>
    <p:sldId id="2724" r:id="rId71"/>
    <p:sldId id="2725" r:id="rId72"/>
    <p:sldId id="2726" r:id="rId73"/>
    <p:sldId id="2727" r:id="rId74"/>
    <p:sldId id="2728" r:id="rId75"/>
    <p:sldId id="2729" r:id="rId76"/>
    <p:sldId id="2732" r:id="rId77"/>
    <p:sldId id="3127" r:id="rId78"/>
    <p:sldId id="2705" r:id="rId79"/>
    <p:sldId id="3118" r:id="rId80"/>
    <p:sldId id="3119" r:id="rId81"/>
    <p:sldId id="2708" r:id="rId82"/>
    <p:sldId id="3120" r:id="rId83"/>
    <p:sldId id="3121" r:id="rId84"/>
    <p:sldId id="2714" r:id="rId85"/>
    <p:sldId id="2715" r:id="rId86"/>
    <p:sldId id="2716" r:id="rId87"/>
    <p:sldId id="2717" r:id="rId88"/>
    <p:sldId id="2718" r:id="rId89"/>
    <p:sldId id="2719" r:id="rId90"/>
    <p:sldId id="2721" r:id="rId91"/>
    <p:sldId id="2722" r:id="rId92"/>
    <p:sldId id="3122" r:id="rId93"/>
    <p:sldId id="2735" r:id="rId94"/>
    <p:sldId id="3123" r:id="rId95"/>
    <p:sldId id="3124" r:id="rId9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864"/>
    <a:srgbClr val="DAE3F3"/>
    <a:srgbClr val="3A4A6A"/>
    <a:srgbClr val="09795E"/>
    <a:srgbClr val="058175"/>
    <a:srgbClr val="A50021"/>
    <a:srgbClr val="7A0851"/>
    <a:srgbClr val="015681"/>
    <a:srgbClr val="622064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17" autoAdjust="0"/>
    <p:restoredTop sz="75943" autoAdjust="0"/>
  </p:normalViewPr>
  <p:slideViewPr>
    <p:cSldViewPr snapToGrid="0">
      <p:cViewPr varScale="1">
        <p:scale>
          <a:sx n="86" d="100"/>
          <a:sy n="86" d="100"/>
        </p:scale>
        <p:origin x="2376" y="96"/>
      </p:cViewPr>
      <p:guideLst>
        <p:guide orient="horz" pos="2137"/>
        <p:guide pos="2880"/>
      </p:guideLst>
    </p:cSldViewPr>
  </p:slideViewPr>
  <p:outlineViewPr>
    <p:cViewPr>
      <p:scale>
        <a:sx n="33" d="100"/>
        <a:sy n="33" d="100"/>
      </p:scale>
      <p:origin x="0" y="-6579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183D24B-7143-49F8-95D8-0B726F0A83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0248FD-2491-4A2F-A44A-AD2201FE3F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EA7FFD-7462-482B-8E25-AD33C0A954E2}" type="datetimeFigureOut">
              <a:rPr lang="ko-KR" altLang="en-US" smtClean="0"/>
              <a:t>2020-10-25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73CCF0-5306-4BFD-B0BD-44708757AD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A37F26-0F3A-4734-A45F-66B0C88F9F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A311D-E8CE-4FA0-9D4E-65D22642F2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2797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2DBDA4-B704-41D7-B170-F09E60E5C88F}" type="datetimeFigureOut">
              <a:rPr lang="ko-KR" altLang="en-US" smtClean="0"/>
              <a:t>2020-10-25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4E3C0-6E9E-4B69-9FF4-0D082CEB85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5871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kr.mathworks.com/help/physmod/sps/powersys/ref/battery.html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4E3C0-6E9E-4B69-9FF4-0D082CEB85E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508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TML &lt; 1.0 , CVCM &lt; 0.1 for aerospace application /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4E3C0-6E9E-4B69-9FF4-0D082CEB85E6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147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4E3C0-6E9E-4B69-9FF4-0D082CEB85E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168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MATLAB Simulation Model for Dynamic Mode of the Lithium-ion Batteries to Power the EV (</a:t>
            </a:r>
            <a:r>
              <a:rPr lang="en-US" altLang="ko-KR" dirty="0" err="1"/>
              <a:t>Baboselac</a:t>
            </a:r>
            <a:r>
              <a:rPr lang="en-US" altLang="ko-KR" dirty="0"/>
              <a:t>, 2017)</a:t>
            </a:r>
          </a:p>
          <a:p>
            <a:r>
              <a:rPr lang="en-US" altLang="ko-KR" dirty="0"/>
              <a:t>A Generic Battery Model for the Dynamic Simulation of Hybrid Electric Vehicle (Tremblay, 2007)</a:t>
            </a:r>
          </a:p>
          <a:p>
            <a:r>
              <a:rPr lang="en-US" altLang="ko-KR" dirty="0"/>
              <a:t>Dynamic Lithium-Ion Battery Model for System Simulation (Gao, 2002)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230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hlinkClick r:id="rId3"/>
              </a:rPr>
              <a:t>https://kr.mathworks.com/help/physmod/sps/powersys/ref/battery.html</a:t>
            </a:r>
            <a:endParaRPr lang="en-US" altLang="ko-KR" dirty="0">
              <a:hlinkClick r:id="" action="ppaction://noaction"/>
            </a:endParaRPr>
          </a:p>
          <a:p>
            <a:r>
              <a:rPr lang="en-US" altLang="ko-KR" dirty="0">
                <a:hlinkClick r:id="" action="ppaction://noaction"/>
              </a:rPr>
              <a:t>https://kr.mathworks.com/help/sldo/examples/estimate-model-parameters-per-experiment-code.html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4167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4E3C0-6E9E-4B69-9FF4-0D082CEB85E6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67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4E3C0-6E9E-4B69-9FF4-0D082CEB85E6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25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4E3C0-6E9E-4B69-9FF4-0D082CEB85E6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775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https://www.researchgate.net/publication/275460703_A_Low-Cost_Photodiode_Sun_Sensor_for_CubeSat_and_Planetary_Microrover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4E3C0-6E9E-4B69-9FF4-0D082CEB85E6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883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1C6483D-7C96-4923-8B28-0A9FDD0C81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4E3C0-6E9E-4B69-9FF4-0D082CEB85E6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728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0739CB59-D521-44D8-BEBC-D2571AD291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68" r="568"/>
          <a:stretch/>
        </p:blipFill>
        <p:spPr>
          <a:xfrm>
            <a:off x="-3" y="-63501"/>
            <a:ext cx="9156075" cy="6372821"/>
          </a:xfrm>
          <a:prstGeom prst="rect">
            <a:avLst/>
          </a:prstGeom>
        </p:spPr>
      </p:pic>
      <p:pic>
        <p:nvPicPr>
          <p:cNvPr id="17" name="그림 16" descr="위성, 운송, 탑이(가) 표시된 사진&#10;&#10;자동 생성된 설명">
            <a:extLst>
              <a:ext uri="{FF2B5EF4-FFF2-40B4-BE49-F238E27FC236}">
                <a16:creationId xmlns:a16="http://schemas.microsoft.com/office/drawing/2014/main" id="{3B376C51-EDC4-453B-910C-46450A06E7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7" t="9489"/>
          <a:stretch/>
        </p:blipFill>
        <p:spPr>
          <a:xfrm rot="20212732" flipH="1">
            <a:off x="1269355" y="480871"/>
            <a:ext cx="2748180" cy="2726484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7FF8EB42-D8E7-4D75-9DE4-E292DC0AB0F5}"/>
              </a:ext>
            </a:extLst>
          </p:cNvPr>
          <p:cNvSpPr/>
          <p:nvPr userDrawn="1"/>
        </p:nvSpPr>
        <p:spPr>
          <a:xfrm>
            <a:off x="0" y="4470401"/>
            <a:ext cx="9143007" cy="2387599"/>
          </a:xfrm>
          <a:prstGeom prst="rect">
            <a:avLst/>
          </a:prstGeom>
          <a:solidFill>
            <a:srgbClr val="000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1687976"/>
            <a:ext cx="9144000" cy="2286074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서브 시스템명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영문</a:t>
            </a:r>
            <a:r>
              <a:rPr lang="en-US" altLang="ko-KR" dirty="0"/>
              <a:t>, </a:t>
            </a:r>
            <a:r>
              <a:rPr lang="ko-KR" altLang="en-US" dirty="0"/>
              <a:t>고딕 제목</a:t>
            </a:r>
            <a:r>
              <a:rPr lang="en-US" altLang="ko-KR" dirty="0"/>
              <a:t>,60 pts)</a:t>
            </a:r>
            <a:endParaRPr lang="en-US" dirty="0"/>
          </a:p>
        </p:txBody>
      </p:sp>
      <p:sp>
        <p:nvSpPr>
          <p:cNvPr id="13" name="텍스트 개체 틀 27">
            <a:extLst>
              <a:ext uri="{FF2B5EF4-FFF2-40B4-BE49-F238E27FC236}">
                <a16:creationId xmlns:a16="http://schemas.microsoft.com/office/drawing/2014/main" id="{ECBAAF3A-FFDC-4662-8042-A8B0AAE2E0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-368" y="5180836"/>
            <a:ext cx="9143007" cy="432000"/>
          </a:xfrm>
        </p:spPr>
        <p:txBody>
          <a:bodyPr lIns="144000" tIns="144000" rIns="144000" bIns="144000" anchor="ctr" anchorCtr="0">
            <a:noAutofit/>
          </a:bodyPr>
          <a:lstStyle>
            <a:lvl1pPr marL="0" indent="0" algn="r">
              <a:buFontTx/>
              <a:buNone/>
              <a:defRPr sz="14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dirty="0"/>
              <a:t>팀원 이름 </a:t>
            </a:r>
            <a:r>
              <a:rPr lang="en-US" altLang="ko-KR" dirty="0"/>
              <a:t>1 (</a:t>
            </a:r>
            <a:r>
              <a:rPr lang="ko-KR" altLang="en-US" dirty="0"/>
              <a:t>영문</a:t>
            </a:r>
            <a:r>
              <a:rPr lang="en-US" altLang="ko-KR" dirty="0"/>
              <a:t>), </a:t>
            </a:r>
            <a:r>
              <a:rPr lang="ko-KR" altLang="en-US" dirty="0"/>
              <a:t>팀원 이름 </a:t>
            </a:r>
            <a:r>
              <a:rPr lang="en-US" altLang="ko-KR" dirty="0"/>
              <a:t>2 (</a:t>
            </a:r>
            <a:r>
              <a:rPr lang="ko-KR" altLang="en-US" dirty="0"/>
              <a:t>영문</a:t>
            </a:r>
            <a:r>
              <a:rPr lang="en-US" altLang="ko-KR" dirty="0"/>
              <a:t>), </a:t>
            </a:r>
            <a:r>
              <a:rPr lang="ko-KR" altLang="en-US" dirty="0"/>
              <a:t>팀원 이름 </a:t>
            </a:r>
            <a:r>
              <a:rPr lang="en-US" altLang="ko-KR" dirty="0"/>
              <a:t>3 (</a:t>
            </a:r>
            <a:r>
              <a:rPr lang="ko-KR" altLang="en-US" dirty="0"/>
              <a:t>영문</a:t>
            </a:r>
            <a:r>
              <a:rPr lang="en-US" altLang="ko-KR" dirty="0"/>
              <a:t>) … (</a:t>
            </a:r>
            <a:r>
              <a:rPr lang="ko-KR" altLang="en-US" dirty="0"/>
              <a:t>고딕 본문</a:t>
            </a:r>
            <a:r>
              <a:rPr lang="en-US" altLang="ko-KR" dirty="0"/>
              <a:t>, 14 pts)</a:t>
            </a:r>
            <a:endParaRPr lang="ko-KR" altLang="en-US" dirty="0"/>
          </a:p>
        </p:txBody>
      </p:sp>
      <p:sp>
        <p:nvSpPr>
          <p:cNvPr id="24" name="텍스트 개체 틀 23">
            <a:extLst>
              <a:ext uri="{FF2B5EF4-FFF2-40B4-BE49-F238E27FC236}">
                <a16:creationId xmlns:a16="http://schemas.microsoft.com/office/drawing/2014/main" id="{9B712440-DC74-40E1-938B-E977BFBFE7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12106" y="4775144"/>
            <a:ext cx="9156106" cy="404813"/>
          </a:xfrm>
        </p:spPr>
        <p:txBody>
          <a:bodyPr anchor="ctr">
            <a:noAutofit/>
          </a:bodyPr>
          <a:lstStyle>
            <a:lvl1pPr marL="0" indent="0" algn="r">
              <a:buNone/>
              <a:defRPr sz="14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dirty="0"/>
              <a:t>팀장</a:t>
            </a:r>
            <a:r>
              <a:rPr lang="en-US" altLang="ko-KR" dirty="0"/>
              <a:t>/</a:t>
            </a:r>
            <a:r>
              <a:rPr lang="ko-KR" altLang="en-US" dirty="0"/>
              <a:t>발표자 이름 </a:t>
            </a:r>
            <a:r>
              <a:rPr lang="en-US" altLang="ko-KR" dirty="0"/>
              <a:t>(</a:t>
            </a:r>
            <a:r>
              <a:rPr lang="ko-KR" altLang="en-US" dirty="0"/>
              <a:t>영문</a:t>
            </a:r>
            <a:r>
              <a:rPr lang="en-US" altLang="ko-KR" dirty="0"/>
              <a:t>, </a:t>
            </a:r>
            <a:r>
              <a:rPr lang="ko-KR" altLang="en-US" dirty="0"/>
              <a:t>고딕 본문</a:t>
            </a:r>
            <a:r>
              <a:rPr lang="en-US" altLang="ko-KR" dirty="0"/>
              <a:t>, </a:t>
            </a:r>
            <a:r>
              <a:rPr lang="ko-KR" altLang="en-US" dirty="0"/>
              <a:t>굵게</a:t>
            </a:r>
            <a:r>
              <a:rPr lang="en-US" altLang="ko-KR" dirty="0"/>
              <a:t>, 14 pts)</a:t>
            </a:r>
            <a:endParaRPr lang="ko-KR" altLang="en-US" dirty="0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B755B01-C287-4292-BAE7-41F2BEB618B8}"/>
              </a:ext>
            </a:extLst>
          </p:cNvPr>
          <p:cNvCxnSpPr>
            <a:cxnSpLocks/>
          </p:cNvCxnSpPr>
          <p:nvPr userDrawn="1"/>
        </p:nvCxnSpPr>
        <p:spPr>
          <a:xfrm>
            <a:off x="-371" y="4470401"/>
            <a:ext cx="914437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BAA8ABBE-BB02-449E-91F0-E7AAB2A1202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635" y="93104"/>
            <a:ext cx="614247" cy="612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2E9745A-2DA7-4FC2-A039-F93661FDD2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4" t="3145" r="3633" b="2785"/>
          <a:stretch/>
        </p:blipFill>
        <p:spPr>
          <a:xfrm>
            <a:off x="8482007" y="92092"/>
            <a:ext cx="614026" cy="614025"/>
          </a:xfrm>
          <a:prstGeom prst="ellipse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43DF41F-4EE6-4731-9DA2-A484BFF535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l="12918" t="15182" r="13097" b="10834"/>
          <a:stretch/>
        </p:blipFill>
        <p:spPr>
          <a:xfrm>
            <a:off x="7177263" y="91981"/>
            <a:ext cx="614247" cy="614247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55252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6602D42A-2C3A-452B-BA15-C0D600F6A1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968" r="568"/>
          <a:stretch/>
        </p:blipFill>
        <p:spPr>
          <a:xfrm>
            <a:off x="-3" y="-63501"/>
            <a:ext cx="9156075" cy="637282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43E6868-0CF8-4109-97A3-AC46367DC9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817" r="7279"/>
          <a:stretch/>
        </p:blipFill>
        <p:spPr>
          <a:xfrm>
            <a:off x="12073" y="3766870"/>
            <a:ext cx="9144000" cy="2092072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9DE9C514-452E-419B-B33C-7FFA967F6CD1}"/>
              </a:ext>
            </a:extLst>
          </p:cNvPr>
          <p:cNvSpPr/>
          <p:nvPr userDrawn="1"/>
        </p:nvSpPr>
        <p:spPr>
          <a:xfrm>
            <a:off x="0" y="4937761"/>
            <a:ext cx="9156072" cy="1920239"/>
          </a:xfrm>
          <a:prstGeom prst="rect">
            <a:avLst/>
          </a:prstGeom>
          <a:solidFill>
            <a:srgbClr val="00002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-3" y="4441310"/>
            <a:ext cx="9156075" cy="1786017"/>
          </a:xfr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소제목 </a:t>
            </a:r>
            <a:r>
              <a:rPr lang="en-US" altLang="ko-KR" dirty="0"/>
              <a:t>(54 pts)</a:t>
            </a:r>
            <a:endParaRPr 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1B75A67-C893-4613-BA45-27E4F10796D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635" y="93104"/>
            <a:ext cx="614247" cy="612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36E44F0-EA1A-48D2-AAD5-FE173B9601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4" t="3145" r="3633" b="2785"/>
          <a:stretch/>
        </p:blipFill>
        <p:spPr>
          <a:xfrm>
            <a:off x="8482007" y="92092"/>
            <a:ext cx="614026" cy="614025"/>
          </a:xfrm>
          <a:prstGeom prst="ellipse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0161ECE-D75B-4A4D-9F7B-6A2DDEFC39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l="12918" t="15182" r="13097" b="10834"/>
          <a:stretch/>
        </p:blipFill>
        <p:spPr>
          <a:xfrm>
            <a:off x="7177263" y="91981"/>
            <a:ext cx="614247" cy="614247"/>
          </a:xfrm>
          <a:prstGeom prst="ellipse">
            <a:avLst/>
          </a:prstGeom>
        </p:spPr>
      </p:pic>
      <p:pic>
        <p:nvPicPr>
          <p:cNvPr id="10" name="그림 9" descr="위성, 운송, 탑이(가) 표시된 사진&#10;&#10;자동 생성된 설명">
            <a:extLst>
              <a:ext uri="{FF2B5EF4-FFF2-40B4-BE49-F238E27FC236}">
                <a16:creationId xmlns:a16="http://schemas.microsoft.com/office/drawing/2014/main" id="{449990FF-B672-4F59-AEC4-C0E91058AB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7" t="9489"/>
          <a:stretch/>
        </p:blipFill>
        <p:spPr>
          <a:xfrm rot="20212732" flipH="1">
            <a:off x="1269355" y="480871"/>
            <a:ext cx="2748180" cy="272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698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F20C2383-2DD7-4EB5-9FF4-C4D0FAACE39A}"/>
              </a:ext>
            </a:extLst>
          </p:cNvPr>
          <p:cNvSpPr/>
          <p:nvPr userDrawn="1"/>
        </p:nvSpPr>
        <p:spPr>
          <a:xfrm>
            <a:off x="0" y="1"/>
            <a:ext cx="9144000" cy="836711"/>
          </a:xfrm>
          <a:prstGeom prst="rect">
            <a:avLst/>
          </a:prstGeom>
          <a:solidFill>
            <a:srgbClr val="00002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1597" y="25292"/>
            <a:ext cx="8639665" cy="814383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(36 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61597" y="944688"/>
            <a:ext cx="8639665" cy="5747312"/>
          </a:xfrm>
        </p:spPr>
        <p:txBody>
          <a:bodyPr>
            <a:norm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000" b="1"/>
            </a:lvl1pPr>
            <a:lvl2pPr marL="504000" indent="-288000">
              <a:lnSpc>
                <a:spcPct val="100000"/>
              </a:lnSpc>
              <a:buFont typeface="Wingdings" panose="05000000000000000000" pitchFamily="2" charset="2"/>
              <a:buChar char="u"/>
              <a:defRPr sz="1800" b="0"/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/>
            </a:lvl3pPr>
            <a:lvl4pPr marL="864000" indent="-216000">
              <a:lnSpc>
                <a:spcPct val="100000"/>
              </a:lnSpc>
              <a:buFont typeface="Wingdings" panose="05000000000000000000" pitchFamily="2" charset="2"/>
              <a:buChar char="§"/>
              <a:defRPr sz="1400"/>
            </a:lvl4pPr>
            <a:lvl5pPr marL="972000" indent="-216000">
              <a:lnSpc>
                <a:spcPct val="100000"/>
              </a:lnSpc>
              <a:buFont typeface="맑은 고딕" panose="020B0503020000020004" pitchFamily="50" charset="-127"/>
              <a:buChar char="–"/>
              <a:defRPr sz="1400"/>
            </a:lvl5pPr>
          </a:lstStyle>
          <a:p>
            <a:pPr lvl="0"/>
            <a:r>
              <a:rPr lang="ko-KR" altLang="en-US" dirty="0"/>
              <a:t>마스터 텍스트 스타일 편집 </a:t>
            </a:r>
            <a:r>
              <a:rPr lang="en-US" altLang="ko-KR" dirty="0"/>
              <a:t>(20 p)</a:t>
            </a:r>
            <a:endParaRPr lang="ko-KR" altLang="en-US" dirty="0"/>
          </a:p>
          <a:p>
            <a:pPr lvl="1"/>
            <a:r>
              <a:rPr lang="ko-KR" altLang="en-US" dirty="0"/>
              <a:t>둘째 수준 </a:t>
            </a:r>
            <a:r>
              <a:rPr lang="en-US" altLang="ko-KR" dirty="0"/>
              <a:t>(18 p)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(16 p)</a:t>
            </a:r>
            <a:endParaRPr lang="ko-KR" altLang="en-US" dirty="0"/>
          </a:p>
          <a:p>
            <a:pPr lvl="3"/>
            <a:r>
              <a:rPr lang="ko-KR" altLang="en-US" dirty="0"/>
              <a:t>넷째 수준 </a:t>
            </a:r>
            <a:r>
              <a:rPr lang="en-US" altLang="ko-KR" dirty="0"/>
              <a:t>(14 p)</a:t>
            </a:r>
            <a:endParaRPr lang="ko-KR" altLang="en-US" dirty="0"/>
          </a:p>
          <a:p>
            <a:pPr lvl="4"/>
            <a:r>
              <a:rPr lang="ko-KR" altLang="en-US" dirty="0"/>
              <a:t>다섯째 수준 </a:t>
            </a:r>
            <a:r>
              <a:rPr lang="en-US" altLang="ko-KR" dirty="0"/>
              <a:t>(14p)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81ECD39-37EA-4E7F-BF69-15D661DB3E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635" y="93104"/>
            <a:ext cx="614247" cy="612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CA40284-7EA0-4C14-B0C4-7D36F5EA35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4" t="3145" r="3633" b="2785"/>
          <a:stretch/>
        </p:blipFill>
        <p:spPr>
          <a:xfrm>
            <a:off x="8482007" y="92092"/>
            <a:ext cx="614026" cy="614025"/>
          </a:xfrm>
          <a:prstGeom prst="ellipse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F84DD39-1DB3-4B74-9B01-9E0A0B1AB5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l="12918" t="15182" r="13097" b="10834"/>
          <a:stretch/>
        </p:blipFill>
        <p:spPr>
          <a:xfrm>
            <a:off x="7177263" y="91981"/>
            <a:ext cx="614247" cy="614247"/>
          </a:xfrm>
          <a:prstGeom prst="ellipse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D0D646F-717E-4A65-A547-2E17FD852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05077" y="847436"/>
            <a:ext cx="1538923" cy="360699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D0B2CCDA-EFB7-4510-B5AC-E1A6C3BAF9C5}" type="slidenum">
              <a:rPr lang="en-US" altLang="ko-KR" smtClean="0"/>
              <a:pPr/>
              <a:t>‹#›</a:t>
            </a:fld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8098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F20C2383-2DD7-4EB5-9FF4-C4D0FAACE39A}"/>
              </a:ext>
            </a:extLst>
          </p:cNvPr>
          <p:cNvSpPr/>
          <p:nvPr userDrawn="1"/>
        </p:nvSpPr>
        <p:spPr>
          <a:xfrm>
            <a:off x="0" y="1"/>
            <a:ext cx="9144000" cy="836711"/>
          </a:xfrm>
          <a:prstGeom prst="rect">
            <a:avLst/>
          </a:prstGeom>
          <a:solidFill>
            <a:srgbClr val="00002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1597" y="25292"/>
            <a:ext cx="8639665" cy="814383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(36 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47308" y="944688"/>
            <a:ext cx="4201391" cy="5747312"/>
          </a:xfrm>
        </p:spPr>
        <p:txBody>
          <a:bodyPr anchor="ctr">
            <a:norm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000" b="1"/>
            </a:lvl1pPr>
            <a:lvl2pPr marL="504000" indent="-288000">
              <a:lnSpc>
                <a:spcPct val="150000"/>
              </a:lnSpc>
              <a:buFont typeface="Wingdings" panose="05000000000000000000" pitchFamily="2" charset="2"/>
              <a:buChar char="u"/>
              <a:defRPr sz="1800" b="0"/>
            </a:lvl2pPr>
            <a:lvl3pPr marL="720000" indent="-288000">
              <a:lnSpc>
                <a:spcPct val="150000"/>
              </a:lnSpc>
              <a:buFont typeface="Wingdings" panose="05000000000000000000" pitchFamily="2" charset="2"/>
              <a:buChar char="Ø"/>
              <a:defRPr sz="1600"/>
            </a:lvl3pPr>
            <a:lvl4pPr marL="864000" indent="-216000">
              <a:lnSpc>
                <a:spcPct val="150000"/>
              </a:lnSpc>
              <a:buFont typeface="Wingdings" panose="05000000000000000000" pitchFamily="2" charset="2"/>
              <a:buChar char="§"/>
              <a:defRPr sz="1400"/>
            </a:lvl4pPr>
            <a:lvl5pPr marL="972000" indent="-216000">
              <a:lnSpc>
                <a:spcPct val="150000"/>
              </a:lnSpc>
              <a:buFont typeface="맑은 고딕" panose="020B0503020000020004" pitchFamily="50" charset="-127"/>
              <a:buChar char="–"/>
              <a:defRPr sz="1400"/>
            </a:lvl5pPr>
          </a:lstStyle>
          <a:p>
            <a:pPr lvl="0"/>
            <a:r>
              <a:rPr lang="ko-KR" altLang="en-US" dirty="0"/>
              <a:t>목차 </a:t>
            </a:r>
            <a:r>
              <a:rPr lang="en-US" altLang="ko-KR" dirty="0"/>
              <a:t>(20 p)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05077" y="847436"/>
            <a:ext cx="1538923" cy="360699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D0B2CCDA-EFB7-4510-B5AC-E1A6C3BAF9C5}" type="slidenum">
              <a:rPr lang="en-US" altLang="ko-KR" smtClean="0"/>
              <a:pPr/>
              <a:t>‹#›</a:t>
            </a:fld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81ECD39-37EA-4E7F-BF69-15D661DB3E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635" y="93104"/>
            <a:ext cx="614247" cy="612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CA40284-7EA0-4C14-B0C4-7D36F5EA35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4" t="3145" r="3633" b="2785"/>
          <a:stretch/>
        </p:blipFill>
        <p:spPr>
          <a:xfrm>
            <a:off x="8482007" y="92092"/>
            <a:ext cx="614026" cy="614025"/>
          </a:xfrm>
          <a:prstGeom prst="ellipse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F84DD39-1DB3-4B74-9B01-9E0A0B1AB5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l="12918" t="15182" r="13097" b="10834"/>
          <a:stretch/>
        </p:blipFill>
        <p:spPr>
          <a:xfrm>
            <a:off x="7177263" y="91981"/>
            <a:ext cx="614247" cy="614247"/>
          </a:xfrm>
          <a:prstGeom prst="ellipse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7538FBF-013E-4C52-8786-AB6C085EC3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l="12918" t="15182" r="13097" b="10834"/>
          <a:stretch/>
        </p:blipFill>
        <p:spPr>
          <a:xfrm>
            <a:off x="495301" y="1939715"/>
            <a:ext cx="3757257" cy="3757257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655753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000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6657F-232C-4355-B9FF-23C5C09F89CA}" type="datetime1">
              <a:rPr lang="ko-KR" altLang="en-US" smtClean="0"/>
              <a:t>2020-10-25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DD479-60CE-463E-A9E0-9343B20F04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03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6" r:id="rId3"/>
    <p:sldLayoutId id="2147483654" r:id="rId4"/>
    <p:sldLayoutId id="2147483657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26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4.jpe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6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88.emf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89.emf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90.emf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3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94.emf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96.emf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emf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emf"/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94.emf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g"/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g"/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94.emf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emf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110.emf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111.emf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112.emf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emf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9BDF5AC-5BF3-4E63-9E1E-7C8E026E38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Electrical Power Subsystem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C9E120-6D1C-4F11-8C94-EAC46342F6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err="1"/>
              <a:t>SeungGwon</a:t>
            </a:r>
            <a:r>
              <a:rPr lang="en-US" altLang="ko-KR" dirty="0"/>
              <a:t> Jeon, </a:t>
            </a:r>
            <a:r>
              <a:rPr lang="en-US" altLang="ko-KR" dirty="0" err="1"/>
              <a:t>SeongYeop</a:t>
            </a:r>
            <a:r>
              <a:rPr lang="en-US" altLang="ko-KR" dirty="0"/>
              <a:t> </a:t>
            </a:r>
            <a:r>
              <a:rPr lang="en-US" altLang="ko-KR" dirty="0" err="1"/>
              <a:t>Yoo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62C117-E388-44BE-BAE0-CBE3514B0C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Geuk-Nam Kim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8903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14AE63-80A8-4AD0-BC5D-5BFF4263B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CC7512-3995-4B86-8F08-C7A7B33E0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Overview</a:t>
            </a:r>
          </a:p>
          <a:p>
            <a:r>
              <a:rPr lang="en-US" altLang="ko-KR" dirty="0"/>
              <a:t>Requirements &amp; Constraints</a:t>
            </a:r>
          </a:p>
          <a:p>
            <a:r>
              <a:rPr lang="en-US" altLang="ko-KR"/>
              <a:t>Components &amp; </a:t>
            </a:r>
            <a:r>
              <a:rPr lang="en-US" altLang="ko-KR" dirty="0"/>
              <a:t>Interface</a:t>
            </a:r>
          </a:p>
          <a:p>
            <a:r>
              <a:rPr lang="en-US" altLang="ko-KR" dirty="0"/>
              <a:t>Electrical Power Budget</a:t>
            </a:r>
          </a:p>
          <a:p>
            <a:r>
              <a:rPr lang="en-US" altLang="ko-KR" dirty="0"/>
              <a:t>Energy Balance Analysis</a:t>
            </a:r>
          </a:p>
          <a:p>
            <a:r>
              <a:rPr lang="en-US" altLang="ko-KR" dirty="0"/>
              <a:t>Verification Plan</a:t>
            </a:r>
          </a:p>
          <a:p>
            <a:r>
              <a:rPr lang="en-US" altLang="ko-KR" dirty="0"/>
              <a:t>Conclusion</a:t>
            </a:r>
          </a:p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69553C6-08B4-4FEE-85E9-B4B26A6F0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2</a:t>
            </a:fld>
            <a:r>
              <a:rPr lang="en-US" altLang="ko-KR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6080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E3242-053D-4559-A53C-3A0F7F512F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Overview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7637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3B3C508-6CA8-4E2A-A32C-CC7C59577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B914B1E-E84B-430C-B2A5-01E6FC9CE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690298"/>
              </p:ext>
            </p:extLst>
          </p:nvPr>
        </p:nvGraphicFramePr>
        <p:xfrm>
          <a:off x="251520" y="1379178"/>
          <a:ext cx="8640960" cy="49259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42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8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434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Electrical Power Subsystem (EPS)</a:t>
                      </a:r>
                      <a:endParaRPr lang="ko-KR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82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Objectives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Wingdings" panose="05000000000000000000" pitchFamily="2" charset="2"/>
                        <a:buChar char="v"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Manage power supply and distribution to subsystem components, and generate electrical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72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Contents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36000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u"/>
                      </a:pPr>
                      <a:r>
                        <a:rPr lang="en-US" altLang="ko-KR" sz="1400" u="none" strike="noStrike" kern="1200" baseline="0" dirty="0">
                          <a:latin typeface="+mj-ea"/>
                          <a:ea typeface="+mj-ea"/>
                          <a:cs typeface="Arial Unicode MS" pitchFamily="50" charset="-127"/>
                        </a:rPr>
                        <a:t>EPS requirements and constraints</a:t>
                      </a:r>
                    </a:p>
                    <a:p>
                      <a:pPr marL="36000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u"/>
                      </a:pPr>
                      <a:r>
                        <a:rPr lang="en-US" altLang="ko-KR" sz="1400" u="none" strike="noStrike" kern="1200" baseline="0" dirty="0">
                          <a:latin typeface="+mj-ea"/>
                          <a:ea typeface="+mj-ea"/>
                          <a:cs typeface="Arial Unicode MS" pitchFamily="50" charset="-127"/>
                        </a:rPr>
                        <a:t>EPS components: power control and distribution, battery, solar panel</a:t>
                      </a:r>
                    </a:p>
                    <a:p>
                      <a:pPr marL="36000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u"/>
                      </a:pPr>
                      <a:r>
                        <a:rPr lang="en-US" altLang="ko-KR" sz="1400" u="none" strike="noStrike" kern="1200" baseline="0" dirty="0">
                          <a:latin typeface="+mj-ea"/>
                          <a:ea typeface="+mj-ea"/>
                          <a:cs typeface="Arial Unicode MS" pitchFamily="50" charset="-127"/>
                        </a:rPr>
                        <a:t>Electrical power interfaces: power supply, power generation, power storage</a:t>
                      </a:r>
                    </a:p>
                    <a:p>
                      <a:pPr marL="36000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u"/>
                      </a:pPr>
                      <a:r>
                        <a:rPr lang="en-US" altLang="ko-KR" sz="1400" u="none" strike="noStrike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Power analysis: budget, energy balancing</a:t>
                      </a:r>
                    </a:p>
                    <a:p>
                      <a:pPr marL="36000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u"/>
                      </a:pPr>
                      <a:r>
                        <a:rPr lang="en-US" altLang="ko-KR" sz="1400" u="none" strike="noStrike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Verification and validation: test plan (component </a:t>
                      </a:r>
                      <a:r>
                        <a:rPr lang="en-US" altLang="ko-KR" sz="1400" u="none" strike="noStrike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integrated EPS)</a:t>
                      </a:r>
                      <a:endParaRPr lang="en-US" altLang="ko-KR" sz="1400" u="none" strike="noStrike" kern="12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360000" lvl="1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u"/>
                      </a:pPr>
                      <a:endParaRPr lang="en-US" altLang="ko-KR" sz="1400" u="none" strike="noStrike" kern="12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3772153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F34FA69-73E1-4A4A-8541-E377D359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4</a:t>
            </a:fld>
            <a:r>
              <a:rPr lang="en-US" altLang="ko-KR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0673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01BE11-B064-460E-8B1E-2512FFC17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EPS Architecture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517C8A-438D-4406-81AD-6A9CFFB12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Hierarchy</a:t>
            </a:r>
            <a:endParaRPr lang="ko-KR" altLang="en-US" dirty="0"/>
          </a:p>
        </p:txBody>
      </p:sp>
      <p:sp>
        <p:nvSpPr>
          <p:cNvPr id="51" name="슬라이드 번호 개체 틀 50">
            <a:extLst>
              <a:ext uri="{FF2B5EF4-FFF2-40B4-BE49-F238E27FC236}">
                <a16:creationId xmlns:a16="http://schemas.microsoft.com/office/drawing/2014/main" id="{A20112A9-E191-42C7-A8C8-53085F294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5</a:t>
            </a:fld>
            <a:r>
              <a:rPr lang="en-US" altLang="ko-KR"/>
              <a:t> </a:t>
            </a:r>
            <a:endParaRPr lang="ko-KR" altLang="en-US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B3BB082-A337-4287-BBCA-4201A669710A}"/>
              </a:ext>
            </a:extLst>
          </p:cNvPr>
          <p:cNvGrpSpPr/>
          <p:nvPr/>
        </p:nvGrpSpPr>
        <p:grpSpPr>
          <a:xfrm>
            <a:off x="33634" y="1445532"/>
            <a:ext cx="7867118" cy="4909679"/>
            <a:chOff x="33634" y="1445532"/>
            <a:chExt cx="7867118" cy="4909679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7AE64ACF-31CE-4139-9C07-AAC531ED915F}"/>
                </a:ext>
              </a:extLst>
            </p:cNvPr>
            <p:cNvSpPr/>
            <p:nvPr/>
          </p:nvSpPr>
          <p:spPr>
            <a:xfrm>
              <a:off x="3784092" y="1445532"/>
              <a:ext cx="1575816" cy="68331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</a:rPr>
                <a:t>EPS</a:t>
              </a:r>
            </a:p>
            <a:p>
              <a:pPr algn="ctr"/>
              <a:r>
                <a:rPr lang="en-US" altLang="ko-KR" sz="1200" spc="-40" dirty="0">
                  <a:solidFill>
                    <a:schemeClr val="tx1"/>
                  </a:solidFill>
                </a:rPr>
                <a:t>Electrical Power</a:t>
              </a:r>
            </a:p>
            <a:p>
              <a:pPr algn="ctr"/>
              <a:r>
                <a:rPr lang="en-US" altLang="ko-KR" sz="1200" spc="-40" dirty="0">
                  <a:solidFill>
                    <a:schemeClr val="tx1"/>
                  </a:solidFill>
                </a:rPr>
                <a:t>Subsystem</a:t>
              </a:r>
              <a:endParaRPr lang="ko-KR" altLang="en-US" sz="1200" spc="-40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C6F7CC5-9223-4510-AEC4-48DA2B9D8D49}"/>
                </a:ext>
              </a:extLst>
            </p:cNvPr>
            <p:cNvSpPr/>
            <p:nvPr/>
          </p:nvSpPr>
          <p:spPr>
            <a:xfrm>
              <a:off x="1243248" y="2880708"/>
              <a:ext cx="1575816" cy="68331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</a:rPr>
                <a:t>SA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Solar Array</a:t>
              </a:r>
            </a:p>
            <a:p>
              <a:pPr algn="ctr"/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8" name="연결선: 꺾임 17">
              <a:extLst>
                <a:ext uri="{FF2B5EF4-FFF2-40B4-BE49-F238E27FC236}">
                  <a16:creationId xmlns:a16="http://schemas.microsoft.com/office/drawing/2014/main" id="{5A3649C4-1380-4659-99EC-D86FD4FE821B}"/>
                </a:ext>
              </a:extLst>
            </p:cNvPr>
            <p:cNvCxnSpPr>
              <a:cxnSpLocks/>
              <a:stCxn id="11" idx="0"/>
              <a:endCxn id="13" idx="0"/>
            </p:cNvCxnSpPr>
            <p:nvPr/>
          </p:nvCxnSpPr>
          <p:spPr>
            <a:xfrm rot="16200000" flipH="1">
              <a:off x="4570031" y="341833"/>
              <a:ext cx="3938" cy="5081688"/>
            </a:xfrm>
            <a:prstGeom prst="bentConnector3">
              <a:avLst>
                <a:gd name="adj1" fmla="val -9191214"/>
              </a:avLst>
            </a:prstGeom>
            <a:ln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0A27598A-FE11-458D-AD14-57007E776044}"/>
                </a:ext>
              </a:extLst>
            </p:cNvPr>
            <p:cNvCxnSpPr>
              <a:cxnSpLocks/>
              <a:stCxn id="24" idx="2"/>
              <a:endCxn id="8" idx="0"/>
            </p:cNvCxnSpPr>
            <p:nvPr/>
          </p:nvCxnSpPr>
          <p:spPr>
            <a:xfrm>
              <a:off x="4572000" y="2128844"/>
              <a:ext cx="0" cy="751864"/>
            </a:xfrm>
            <a:prstGeom prst="line">
              <a:avLst/>
            </a:prstGeom>
            <a:ln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51A5202-9E14-46DA-82E8-333117C5D69B}"/>
                </a:ext>
              </a:extLst>
            </p:cNvPr>
            <p:cNvSpPr/>
            <p:nvPr/>
          </p:nvSpPr>
          <p:spPr>
            <a:xfrm>
              <a:off x="33634" y="1566863"/>
              <a:ext cx="1575816" cy="55953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</a:rPr>
                <a:t>Level 4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1BFFF0B-1B70-4A24-B6C3-39B7E889BAE5}"/>
                </a:ext>
              </a:extLst>
            </p:cNvPr>
            <p:cNvSpPr/>
            <p:nvPr/>
          </p:nvSpPr>
          <p:spPr>
            <a:xfrm>
              <a:off x="33634" y="2413242"/>
              <a:ext cx="1575816" cy="55953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</a:rPr>
                <a:t>Level 5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27D1AF8-9D88-46D8-9CF1-E69B75707826}"/>
                </a:ext>
              </a:extLst>
            </p:cNvPr>
            <p:cNvSpPr/>
            <p:nvPr/>
          </p:nvSpPr>
          <p:spPr>
            <a:xfrm>
              <a:off x="3784092" y="2880708"/>
              <a:ext cx="1575816" cy="68331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</a:rPr>
                <a:t>PCDU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Power Conditioning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&amp; Distribution Unit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B0B115E-550E-4B71-A1D2-C9367DC864F8}"/>
                </a:ext>
              </a:extLst>
            </p:cNvPr>
            <p:cNvSpPr/>
            <p:nvPr/>
          </p:nvSpPr>
          <p:spPr>
            <a:xfrm>
              <a:off x="6324936" y="2884646"/>
              <a:ext cx="1575816" cy="68331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</a:rPr>
                <a:t>BAT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Battery</a:t>
              </a:r>
            </a:p>
            <a:p>
              <a:pPr algn="ctr"/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D2ABF573-08D6-4575-B2C5-602696A58A8C}"/>
                </a:ext>
              </a:extLst>
            </p:cNvPr>
            <p:cNvSpPr/>
            <p:nvPr/>
          </p:nvSpPr>
          <p:spPr>
            <a:xfrm>
              <a:off x="1243248" y="3661272"/>
              <a:ext cx="1575816" cy="37021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Solar Cell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6D8705AF-2A04-46D1-98C2-962D66E0344E}"/>
                </a:ext>
              </a:extLst>
            </p:cNvPr>
            <p:cNvSpPr/>
            <p:nvPr/>
          </p:nvSpPr>
          <p:spPr>
            <a:xfrm>
              <a:off x="1243248" y="4126470"/>
              <a:ext cx="1575816" cy="37021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Bypass Diode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BD981F1E-811D-4F0D-95CF-296CB1F841BA}"/>
                </a:ext>
              </a:extLst>
            </p:cNvPr>
            <p:cNvSpPr/>
            <p:nvPr/>
          </p:nvSpPr>
          <p:spPr>
            <a:xfrm>
              <a:off x="1243248" y="4591668"/>
              <a:ext cx="1575816" cy="37021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Temp. Sensor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338296FD-5714-4570-9FA3-0833D6E08C2F}"/>
                </a:ext>
              </a:extLst>
            </p:cNvPr>
            <p:cNvSpPr/>
            <p:nvPr/>
          </p:nvSpPr>
          <p:spPr>
            <a:xfrm>
              <a:off x="3784092" y="3661272"/>
              <a:ext cx="1575816" cy="37021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Micro Processor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Unit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3B0BF3C9-ABDF-4810-A754-B496660669E5}"/>
                </a:ext>
              </a:extLst>
            </p:cNvPr>
            <p:cNvSpPr/>
            <p:nvPr/>
          </p:nvSpPr>
          <p:spPr>
            <a:xfrm>
              <a:off x="3784092" y="4126017"/>
              <a:ext cx="1575816" cy="37021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Power Conditioning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Module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389207B2-CE31-4C79-BFDD-0346B7715FDD}"/>
                </a:ext>
              </a:extLst>
            </p:cNvPr>
            <p:cNvSpPr/>
            <p:nvPr/>
          </p:nvSpPr>
          <p:spPr>
            <a:xfrm>
              <a:off x="3784092" y="4590762"/>
              <a:ext cx="1575816" cy="37021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Power Distribution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Module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100B647B-78B6-48AF-BC4B-BE4BB64C0DB5}"/>
                </a:ext>
              </a:extLst>
            </p:cNvPr>
            <p:cNvSpPr/>
            <p:nvPr/>
          </p:nvSpPr>
          <p:spPr>
            <a:xfrm>
              <a:off x="3784092" y="5055507"/>
              <a:ext cx="1575816" cy="37021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Battery Charge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Regulator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404B99D0-321F-40B9-90DD-791C77EB5897}"/>
                </a:ext>
              </a:extLst>
            </p:cNvPr>
            <p:cNvSpPr/>
            <p:nvPr/>
          </p:nvSpPr>
          <p:spPr>
            <a:xfrm>
              <a:off x="3784092" y="5520252"/>
              <a:ext cx="1575816" cy="37021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Activation Switch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B15E44F5-6E9C-4009-8EE5-7984890E1932}"/>
                </a:ext>
              </a:extLst>
            </p:cNvPr>
            <p:cNvSpPr/>
            <p:nvPr/>
          </p:nvSpPr>
          <p:spPr>
            <a:xfrm>
              <a:off x="3784092" y="5984997"/>
              <a:ext cx="1575816" cy="37021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Temp. Sensor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C0114536-132A-4ED3-93EC-9C09A0C1A25E}"/>
                </a:ext>
              </a:extLst>
            </p:cNvPr>
            <p:cNvSpPr/>
            <p:nvPr/>
          </p:nvSpPr>
          <p:spPr>
            <a:xfrm>
              <a:off x="6324936" y="3661272"/>
              <a:ext cx="1575816" cy="37021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Micro Processor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Unit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64B2F9CC-5DE4-47D5-8565-E25D90AAA4CD}"/>
                </a:ext>
              </a:extLst>
            </p:cNvPr>
            <p:cNvSpPr/>
            <p:nvPr/>
          </p:nvSpPr>
          <p:spPr>
            <a:xfrm>
              <a:off x="6324936" y="4124800"/>
              <a:ext cx="1575816" cy="37021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Li-ion 18650 Cell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5AE4D609-DB29-4E04-B11F-0C9F22D79696}"/>
                </a:ext>
              </a:extLst>
            </p:cNvPr>
            <p:cNvSpPr/>
            <p:nvPr/>
          </p:nvSpPr>
          <p:spPr>
            <a:xfrm>
              <a:off x="6324936" y="4590762"/>
              <a:ext cx="1575816" cy="37021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Heater</a:t>
              </a: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E095828A-4FC2-4908-96B2-E88E39E3DAFB}"/>
                </a:ext>
              </a:extLst>
            </p:cNvPr>
            <p:cNvSpPr/>
            <p:nvPr/>
          </p:nvSpPr>
          <p:spPr>
            <a:xfrm>
              <a:off x="6324936" y="5055507"/>
              <a:ext cx="1575816" cy="37021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Activation Switch</a:t>
              </a: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75A11C2C-FDC9-4386-825A-73E6A5B07B68}"/>
                </a:ext>
              </a:extLst>
            </p:cNvPr>
            <p:cNvSpPr/>
            <p:nvPr/>
          </p:nvSpPr>
          <p:spPr>
            <a:xfrm>
              <a:off x="6324936" y="5520252"/>
              <a:ext cx="1575816" cy="37021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Temp. Sensor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BB509FFF-3609-4302-985C-CDA1CBAE512F}"/>
              </a:ext>
            </a:extLst>
          </p:cNvPr>
          <p:cNvSpPr txBox="1"/>
          <p:nvPr/>
        </p:nvSpPr>
        <p:spPr>
          <a:xfrm>
            <a:off x="261597" y="6423620"/>
            <a:ext cx="8639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&lt;EPS hierarchy diagram&gt;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502598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E3242-053D-4559-A53C-3A0F7F512F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Requirements &amp; Constraints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5970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9932AC-F64C-4C15-848E-0517533EB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Subsystem Requirement [1/2]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BBAB89-31BF-4B52-8D12-9408CF6F6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Level 4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01EAE0-EDD2-4D3D-87DE-6A6D3B3AB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7</a:t>
            </a:fld>
            <a:r>
              <a:rPr lang="en-US" altLang="ko-KR"/>
              <a:t> 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DDFDE5F-09C3-47F2-8B46-12AEE0BCD5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840555"/>
              </p:ext>
            </p:extLst>
          </p:nvPr>
        </p:nvGraphicFramePr>
        <p:xfrm>
          <a:off x="252000" y="1450040"/>
          <a:ext cx="8640000" cy="48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LEVEL 4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Electrical Power Subsystem (EPS) Requirements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Verification Method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C/N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Title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Requirements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Rationale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Contents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A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I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T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D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EPS-001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Deactivation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before 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Separation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위성의 궤도진입 이전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활성화 되어 있으면 안됨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SYS-026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데이터시트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RBF/Kill Switch</a:t>
                      </a:r>
                      <a:b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인터페이스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EPS-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Electrical 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Power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Distribution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정격 전압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3.3 V, 5.0 V, 12.0 V,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비정격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전압을 각 서브시스템에 공급해야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SYS-026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데이터시트를 통한 전원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인터페이스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EPS-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Component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Lifetime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구성요소는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 이상 안정적으로 동작해야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SYS-001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데이터시트 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EPS-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Electrical 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Power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Generation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구성요소는 임무 종료 시 까지 평균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5.4 W (TBD)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이상의 전력 생산이 가능해야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SYS-026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전력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버짓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EPS-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Maximum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Electrical 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Power Load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구성요소는 임무 종료 시 까지 최대 순간전력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 W (TBD)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공급 가능해야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SYS-026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전력 버짓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분석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EPS-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Electrical 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Power 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Margin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Normal Mode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대해 전력시스템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Margin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 최소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40% (TBD)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 유지해야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SYS-026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전력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버짓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분석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9615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9932AC-F64C-4C15-848E-0517533EB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Subsystem Requirement [2/2]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BBAB89-31BF-4B52-8D12-9408CF6F6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Level 4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01EAE0-EDD2-4D3D-87DE-6A6D3B3AB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8</a:t>
            </a:fld>
            <a:r>
              <a:rPr lang="en-US" altLang="ko-KR"/>
              <a:t> 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DDFDE5F-09C3-47F2-8B46-12AEE0BCD5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335854"/>
              </p:ext>
            </p:extLst>
          </p:nvPr>
        </p:nvGraphicFramePr>
        <p:xfrm>
          <a:off x="252000" y="1450040"/>
          <a:ext cx="8640000" cy="463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LEVEL 4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Electrical Power Subsystem (EPS) Requirements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Verification Method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C/N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Title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Requirements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Rationale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Contents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A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I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T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D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EPS-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007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Thermal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Condition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구성요소는 준비 기간동안 보관 온도 및 임무 기간동안 작동 온도범위를 유지해야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SYS-022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데이터시트 </a:t>
                      </a:r>
                      <a:endParaRPr lang="en-US" altLang="ko-KR" sz="1000" kern="1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확인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EPS-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008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Harness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Dimension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Harness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는 허용전류 및 전압 강하를 고려하여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구조체와 간섭 없는 굵기의 전선을 사용해야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SYS-020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데이터시트 </a:t>
                      </a:r>
                      <a:endParaRPr lang="en-US" altLang="ko-KR" sz="1000" kern="1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확인</a:t>
                      </a:r>
                      <a:r>
                        <a:rPr lang="en-US" altLang="ko-KR" sz="1000" kern="1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sz="1000" kern="1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및</a:t>
                      </a:r>
                      <a:endParaRPr lang="en-US" altLang="ko-KR" sz="1000" kern="1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두께 측정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EPS-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009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Health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Status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Monitoring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전류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온도 등 보드 상태 정보를 자체적으로 수집할 수 있어야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SYS-012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데이터시트 </a:t>
                      </a:r>
                      <a:endParaRPr kumimoji="0" lang="en-US" altLang="ko-KR" sz="1000" b="0" i="0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확인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520167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EPS-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010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Fault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Management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전자부품의 고장을 검출 및 수집이 가능해야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SYS-013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데이터시트 </a:t>
                      </a:r>
                      <a:endParaRPr kumimoji="0" lang="en-US" altLang="ko-KR" sz="1000" b="0" i="0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확인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943536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EPS-011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Electrical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Power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Control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서브시스템을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On/Off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시킬 수 있는 스위치 기능을 가지고 있어야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SYS-013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데이터시트 </a:t>
                      </a:r>
                      <a:endParaRPr kumimoji="0" lang="en-US" altLang="ko-KR" sz="1000" b="0" i="0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ko-KR" sz="10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확인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944144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EPS-012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Systems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Ground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위성 시스템에 최소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이상의 접지 영역을 제공해야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SYS-026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데이터시트 </a:t>
                      </a:r>
                      <a:endParaRPr kumimoji="0" lang="en-US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ko-KR" sz="1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확인</a:t>
                      </a:r>
                      <a:endParaRPr kumimoji="0" lang="ko-KR" altLang="ko-KR" sz="1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896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587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093062-791B-4B19-AA00-716F88F97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 Requirement [1/3]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382D06-8903-4C79-83A8-2228B19C7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Level 5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26CBE6-CA3A-46DF-8ADE-ABEB8BA8F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9</a:t>
            </a:fld>
            <a:r>
              <a:rPr lang="en-US" altLang="ko-KR"/>
              <a:t> 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B79830F-1D24-4D04-AE71-2124B20290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812986"/>
              </p:ext>
            </p:extLst>
          </p:nvPr>
        </p:nvGraphicFramePr>
        <p:xfrm>
          <a:off x="252000" y="1450040"/>
          <a:ext cx="8640000" cy="522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LEVEL 5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25B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Power Control &amp; Distribution Unit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(PCDU) Requirements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25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Verification Method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25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C/N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2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Title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Requirements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Rationale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Contents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A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I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T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D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PCDU-001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Maximum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Input Power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Condition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from Solar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Array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태양전지판으로 부터 받는 전압의 크기는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BCR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 별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2.0 A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16.0 V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넘지 않아야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EPS-003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인터페이스를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고려한 생산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전력 분석을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통해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채널별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전압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전류 확인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PCDU-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Thermal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Condition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PCDU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는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-50~+65℃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사이에서 보관되어야 하며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</a:p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-40~+85℃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사이에서 정상 작동 가능해야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EPS-007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데이터시트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PCDU-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Input Power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Condition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from Battery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배터리로부터 받는 전압의 크기는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12.4 V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이상이 되어야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EPS-006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에너지균형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분석을 통해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방전깊이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및 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최소 배터리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전압 확인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PCDU-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Electrical 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Power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Charging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Method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배터리를 충전하기 위한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Power Regulation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기법으로는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MPPT (Maximum Power Point Tracker)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지원해야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EPS-004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데이터시트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PCDU-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 Bus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Voltage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Channel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서브시스템에 전력을 공급하는 각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BUS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는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3.3 V, </a:t>
                      </a:r>
                    </a:p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5.0 V, 12.0 V,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비정격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전압으로 정해져 있어야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EPS-002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데이터시트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PCDU-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Output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Switchable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Voltage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Channel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서브시스템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3.3 V, 5.0 V, 12.0 V,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비정격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전압에 대해 전력공급 및 스위칭이 가능해야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EPS-011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데이터시트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 후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OBC </a:t>
                      </a: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연동시험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305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911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093062-791B-4B19-AA00-716F88F97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 Requirement [2/3]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382D06-8903-4C79-83A8-2228B19C7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Level 5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26CBE6-CA3A-46DF-8ADE-ABEB8BA8F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10</a:t>
            </a:fld>
            <a:r>
              <a:rPr lang="en-US" altLang="ko-KR"/>
              <a:t> 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B79830F-1D24-4D04-AE71-2124B20290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856374"/>
              </p:ext>
            </p:extLst>
          </p:nvPr>
        </p:nvGraphicFramePr>
        <p:xfrm>
          <a:off x="252000" y="1450040"/>
          <a:ext cx="8640000" cy="386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LEVEL 5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25B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Solar Array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(SA) Requirements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25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Verification Method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25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C/N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2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Title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Requirements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Rationale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Contents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A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I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T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D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SA-001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Thermal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Condition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태양전지판은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-40~+85℃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사이에서 정상 작동 가능해야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EPS-007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데이터시트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SA-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Protection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from Inverse Current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태양전지판은 자체적으로 역전류를 방지하는 회로를 구성해야함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EPS-003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데이터시트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SA-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Solar Array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Interface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태양전지판의 생산 전압 및 전류가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구성요소 내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BCR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회로의 허용치 이내가 되도록 셀 연결이 구성되어야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EPM-001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인터페이스를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고려한 생산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전력 분석을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통해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채널별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전압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전류 확인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SA-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Health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Status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Monitoring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태양전지판은 전압과 전류가 모니터링 되어야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EPS-009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데이터시트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수신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 상태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 종류 및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형식 확인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249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093062-791B-4B19-AA00-716F88F97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Component Requirement [3/3]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382D06-8903-4C79-83A8-2228B19C7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Level 5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26CBE6-CA3A-46DF-8ADE-ABEB8BA8F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11</a:t>
            </a:fld>
            <a:r>
              <a:rPr lang="en-US" altLang="ko-KR"/>
              <a:t> 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B79830F-1D24-4D04-AE71-2124B20290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480946"/>
              </p:ext>
            </p:extLst>
          </p:nvPr>
        </p:nvGraphicFramePr>
        <p:xfrm>
          <a:off x="252000" y="1450040"/>
          <a:ext cx="8640000" cy="51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LEVEL 5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25B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Battery (BAT) Requirements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25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Verification Method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25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C/N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2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Title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Requirements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Rationale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Contents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A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I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T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D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BAT-001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Maximum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Battery DOD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Normal Mode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DoD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20%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이하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임무 기간동안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DoD 40%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이하이어야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EPS-006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에너지균형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분석을 통해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방전깊이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확인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BAT-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Thermal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Condition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배터리는 보관 시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-20~+20℃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사이를 유지해야 하며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충전 시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+0~+45℃,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방전 시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-20~+60℃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사이에서 정상 작동 가능해야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EPS-007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데이터시트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BAT-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Charge &amp;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Discharge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배터리 충전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방전 횟수는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5000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 이상 되어야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EPS-003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데이터시트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BAT-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Battery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Capacity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배터리 용량은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 </a:t>
                      </a:r>
                      <a:r>
                        <a:rPr lang="en-US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Wh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(TBD)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이상이어야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EPS-006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데이터시트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94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BAT-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Battery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Temperature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배터리 셀의 온도는 항상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5℃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이상으로 유지되어야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EPS-007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Heater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작동을 고려한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열해석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결과 분석 후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우주 환경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 수행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BAT-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Health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Status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Monitoring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배터리의 전압과 온도가 모니터링 되어야 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EPS-009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데이터시트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수신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 상태 정보 종류 및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형식 확인 후</a:t>
                      </a:r>
                      <a:b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OBC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연동시험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305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1846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10EE77-6347-40CA-B901-851E00615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EPS Specification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6636C35-D72B-4169-A306-B8C30A96B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341383"/>
              </p:ext>
            </p:extLst>
          </p:nvPr>
        </p:nvGraphicFramePr>
        <p:xfrm>
          <a:off x="252167" y="1265276"/>
          <a:ext cx="8639666" cy="51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328">
                  <a:extLst>
                    <a:ext uri="{9D8B030D-6E8A-4147-A177-3AD203B41FA5}">
                      <a16:colId xmlns:a16="http://schemas.microsoft.com/office/drawing/2014/main" val="1393981297"/>
                    </a:ext>
                  </a:extLst>
                </a:gridCol>
                <a:gridCol w="3502169">
                  <a:extLst>
                    <a:ext uri="{9D8B030D-6E8A-4147-A177-3AD203B41FA5}">
                      <a16:colId xmlns:a16="http://schemas.microsoft.com/office/drawing/2014/main" val="4258649302"/>
                    </a:ext>
                  </a:extLst>
                </a:gridCol>
                <a:gridCol w="3502169">
                  <a:extLst>
                    <a:ext uri="{9D8B030D-6E8A-4147-A177-3AD203B41FA5}">
                      <a16:colId xmlns:a16="http://schemas.microsoft.com/office/drawing/2014/main" val="3416149728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Contents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Requirements and Constraints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Specifications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05113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Power Generation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5.4 W (40% margin, normal mode)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10.57 W (67.6% margin, normal mode)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10638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Solar Input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3.5~16.0 V (each channel)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 2 A (each channel)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 13.5 V (+X-axis)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 1.0 A (+Y-axis)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143440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Depth of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Discharge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 20% (mission lifetime)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 13.20% (mission mode)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223425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Capacity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24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Wh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(mission lifetime)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45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Wh</a:t>
                      </a:r>
                      <a:endParaRPr lang="en-US" altLang="ko-KR" sz="1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91706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Electrical Load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 2 A (each channel)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 4 A (total current draws)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 1.88 A (5 V bus, communication mode)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 3.88 A (communication mode)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914808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Thermal Control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0~+45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℃ (battery cell)</a:t>
                      </a:r>
                      <a:endParaRPr lang="en-US" altLang="ko-KR" sz="1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+10~+35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℃ (heater on battery pack)</a:t>
                      </a:r>
                      <a:endParaRPr lang="en-US" altLang="ko-KR" sz="1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983340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573B9A-6A11-47DC-8175-23F40D06D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12</a:t>
            </a:fld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59E507-6848-47D4-A034-53242BDE59F0}"/>
              </a:ext>
            </a:extLst>
          </p:cNvPr>
          <p:cNvSpPr txBox="1"/>
          <p:nvPr/>
        </p:nvSpPr>
        <p:spPr>
          <a:xfrm>
            <a:off x="261597" y="6423620"/>
            <a:ext cx="8639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&lt;EPS main specifications&gt;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088349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E3242-053D-4559-A53C-3A0F7F512F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Components &amp;</a:t>
            </a:r>
            <a:br>
              <a:rPr lang="en-US" altLang="ko-KR" dirty="0"/>
            </a:br>
            <a:r>
              <a:rPr lang="en-US" altLang="ko-KR" dirty="0"/>
              <a:t>Interface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7089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F97969-3830-41C7-9588-DA58A4D27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EPS Components [1/4]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A69F37-5951-487B-96FC-334182FD8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ISIS Modular EPS Type C: Integrated PCDU and Battery</a:t>
            </a:r>
          </a:p>
          <a:p>
            <a:pPr lvl="1"/>
            <a:r>
              <a:rPr lang="en-US" altLang="ko-KR" dirty="0"/>
              <a:t>Configuration: 16 V &amp; 45 </a:t>
            </a:r>
            <a:r>
              <a:rPr lang="en-US" altLang="ko-KR" dirty="0" err="1"/>
              <a:t>Wh</a:t>
            </a:r>
            <a:r>
              <a:rPr lang="en-US" altLang="ko-KR" dirty="0"/>
              <a:t> battery (4S-1P, Panasonic NCR 18650B)</a:t>
            </a:r>
          </a:p>
          <a:p>
            <a:pPr lvl="2"/>
            <a:endParaRPr lang="en-US" altLang="ko-KR" dirty="0"/>
          </a:p>
          <a:p>
            <a:pPr lvl="1"/>
            <a:endParaRPr lang="ko-KR" altLang="en-US" b="1" dirty="0"/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FC6EE51B-7E69-4059-BC8C-E5B178807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14</a:t>
            </a:fld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DAAC6D-172F-4437-98DC-3C14326552F7}"/>
              </a:ext>
            </a:extLst>
          </p:cNvPr>
          <p:cNvSpPr txBox="1"/>
          <p:nvPr/>
        </p:nvSpPr>
        <p:spPr>
          <a:xfrm>
            <a:off x="261597" y="6458459"/>
            <a:ext cx="8639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&lt;Configuration of ISIS modular EPS type C&gt;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6A29B0B-DFCB-4EC6-B48B-4F50A9D3F5C1}"/>
              </a:ext>
            </a:extLst>
          </p:cNvPr>
          <p:cNvGrpSpPr/>
          <p:nvPr/>
        </p:nvGrpSpPr>
        <p:grpSpPr>
          <a:xfrm>
            <a:off x="360555" y="4090685"/>
            <a:ext cx="8344047" cy="2342374"/>
            <a:chOff x="360555" y="4116085"/>
            <a:chExt cx="8344047" cy="234237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23FA902-8401-4B72-BE07-C2DAB49B5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67031" y="4116085"/>
              <a:ext cx="2537571" cy="2342374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644C175-2FBF-4201-8022-EA4DA8E063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38839"/>
            <a:stretch/>
          </p:blipFill>
          <p:spPr>
            <a:xfrm>
              <a:off x="461069" y="4247425"/>
              <a:ext cx="3184025" cy="2130064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6CB206D-32B4-46B2-876A-71E28BA88710}"/>
                </a:ext>
              </a:extLst>
            </p:cNvPr>
            <p:cNvSpPr/>
            <p:nvPr/>
          </p:nvSpPr>
          <p:spPr>
            <a:xfrm>
              <a:off x="360555" y="6174174"/>
              <a:ext cx="1395896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Integrated PCDU &amp; Battery (Type C)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47092CBF-7E32-4672-8AAF-A90FCA698D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2466"/>
            <a:stretch/>
          </p:blipFill>
          <p:spPr>
            <a:xfrm>
              <a:off x="3451558" y="4190247"/>
              <a:ext cx="2715473" cy="1114834"/>
            </a:xfrm>
            <a:prstGeom prst="rect">
              <a:avLst/>
            </a:prstGeom>
          </p:spPr>
        </p:pic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87291886-D2C9-4E7E-A962-9FE403F213A7}"/>
                </a:ext>
              </a:extLst>
            </p:cNvPr>
            <p:cNvSpPr/>
            <p:nvPr/>
          </p:nvSpPr>
          <p:spPr>
            <a:xfrm>
              <a:off x="3012154" y="4129620"/>
              <a:ext cx="728042" cy="1898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PCDU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52211DF-BBBE-4789-897B-59A9ADF3568B}"/>
                </a:ext>
              </a:extLst>
            </p:cNvPr>
            <p:cNvSpPr/>
            <p:nvPr/>
          </p:nvSpPr>
          <p:spPr>
            <a:xfrm>
              <a:off x="4968875" y="5262647"/>
              <a:ext cx="1102034" cy="1898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Battery Pack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B3EF004A-BA29-4334-AB40-5D5A43625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126124"/>
              </p:ext>
            </p:extLst>
          </p:nvPr>
        </p:nvGraphicFramePr>
        <p:xfrm>
          <a:off x="258117" y="1709335"/>
          <a:ext cx="8639666" cy="228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183">
                  <a:extLst>
                    <a:ext uri="{9D8B030D-6E8A-4147-A177-3AD203B41FA5}">
                      <a16:colId xmlns:a16="http://schemas.microsoft.com/office/drawing/2014/main" val="1393981297"/>
                    </a:ext>
                  </a:extLst>
                </a:gridCol>
                <a:gridCol w="4331200">
                  <a:extLst>
                    <a:ext uri="{9D8B030D-6E8A-4147-A177-3AD203B41FA5}">
                      <a16:colId xmlns:a16="http://schemas.microsoft.com/office/drawing/2014/main" val="4258649302"/>
                    </a:ext>
                  </a:extLst>
                </a:gridCol>
                <a:gridCol w="2293283">
                  <a:extLst>
                    <a:ext uri="{9D8B030D-6E8A-4147-A177-3AD203B41FA5}">
                      <a16:colId xmlns:a16="http://schemas.microsoft.com/office/drawing/2014/main" val="3416149728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Configuration</a:t>
                      </a:r>
                      <a:endParaRPr kumimoji="0" lang="ko-KR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Note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051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Output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Regulated: 3.3 V (4 </a:t>
                      </a:r>
                      <a:r>
                        <a:rPr lang="en-US" altLang="ko-KR" sz="1400" dirty="0" err="1"/>
                        <a:t>ch.</a:t>
                      </a:r>
                      <a:r>
                        <a:rPr lang="en-US" altLang="ko-KR" sz="1400" dirty="0"/>
                        <a:t>), 5 V (3 </a:t>
                      </a:r>
                      <a:r>
                        <a:rPr lang="en-US" altLang="ko-KR" sz="1400" dirty="0" err="1"/>
                        <a:t>ch.</a:t>
                      </a:r>
                      <a:r>
                        <a:rPr lang="en-US" altLang="ko-KR" sz="1400" dirty="0"/>
                        <a:t>), 12 V (1 </a:t>
                      </a:r>
                      <a:r>
                        <a:rPr lang="en-US" altLang="ko-KR" sz="1400" dirty="0" err="1"/>
                        <a:t>ch.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Battery bus: 12.4~16.0 V (3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ch.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All switchable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1063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Input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3.5~16.0 V &amp; &lt; 2 A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Each channel, MPPT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14344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Protection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Under-/over-voltage cut-off &amp; watchdog timer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2234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Power Dissipation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Typ. 90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mW</a:t>
                      </a:r>
                      <a:endParaRPr lang="en-US" altLang="ko-KR" sz="1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Battery heater &lt; 2.5 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9170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Conversion Efficiency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Typ. 90%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Depend on loads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839272"/>
                  </a:ext>
                </a:extLst>
              </a:tr>
            </a:tbl>
          </a:graphicData>
        </a:graphic>
      </p:graphicFrame>
      <p:pic>
        <p:nvPicPr>
          <p:cNvPr id="4100" name="Picture 4" descr="Let's talk about the Panasonic NCR18650B | EV And More">
            <a:extLst>
              <a:ext uri="{FF2B5EF4-FFF2-40B4-BE49-F238E27FC236}">
                <a16:creationId xmlns:a16="http://schemas.microsoft.com/office/drawing/2014/main" id="{AC64A20E-2BC9-4687-8652-E291CEC7B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438" y="5286597"/>
            <a:ext cx="1379870" cy="893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D0A6FDED-7E9A-4AD2-B1E7-B1568A73EE06}"/>
              </a:ext>
            </a:extLst>
          </p:cNvPr>
          <p:cNvGrpSpPr/>
          <p:nvPr/>
        </p:nvGrpSpPr>
        <p:grpSpPr>
          <a:xfrm>
            <a:off x="3525838" y="5350097"/>
            <a:ext cx="2488792" cy="1198430"/>
            <a:chOff x="3525838" y="5438997"/>
            <a:chExt cx="2488792" cy="1198430"/>
          </a:xfrm>
        </p:grpSpPr>
        <p:pic>
          <p:nvPicPr>
            <p:cNvPr id="24" name="Picture 4" descr="Let's talk about the Panasonic NCR18650B | EV And More">
              <a:extLst>
                <a:ext uri="{FF2B5EF4-FFF2-40B4-BE49-F238E27FC236}">
                  <a16:creationId xmlns:a16="http://schemas.microsoft.com/office/drawing/2014/main" id="{8B996C52-6D0A-4487-9E19-62AB552ACB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25838" y="5438997"/>
              <a:ext cx="1379870" cy="8936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4" descr="Let's talk about the Panasonic NCR18650B | EV And More">
              <a:extLst>
                <a:ext uri="{FF2B5EF4-FFF2-40B4-BE49-F238E27FC236}">
                  <a16:creationId xmlns:a16="http://schemas.microsoft.com/office/drawing/2014/main" id="{ADEAD020-5AB1-4F12-9CAD-C8E03B23E5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78238" y="5591397"/>
              <a:ext cx="1379870" cy="8936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4" descr="Let's talk about the Panasonic NCR18650B | EV And More">
              <a:extLst>
                <a:ext uri="{FF2B5EF4-FFF2-40B4-BE49-F238E27FC236}">
                  <a16:creationId xmlns:a16="http://schemas.microsoft.com/office/drawing/2014/main" id="{B321BD17-594E-4F15-A953-DBD6AB6FB0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30638" y="5743797"/>
              <a:ext cx="1379870" cy="8936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D11D133-DCB3-4797-A4EA-386E14763DFD}"/>
                </a:ext>
              </a:extLst>
            </p:cNvPr>
            <p:cNvSpPr/>
            <p:nvPr/>
          </p:nvSpPr>
          <p:spPr>
            <a:xfrm>
              <a:off x="4683073" y="6335340"/>
              <a:ext cx="1331557" cy="1898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Li-ion Battery Cell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0308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74772B-F5B2-4588-8885-F2674EFE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EPS Components [2/4]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47E50E-839E-4B16-97AA-10582A541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Solar Array Configurations</a:t>
            </a:r>
          </a:p>
          <a:p>
            <a:pPr lvl="1"/>
            <a:r>
              <a:rPr lang="en-US" altLang="ko-KR" dirty="0"/>
              <a:t>TJ Solar Cell 3G30C (Azur Space): optimized for </a:t>
            </a:r>
            <a:r>
              <a:rPr lang="en-US" altLang="ko-KR" b="1" dirty="0"/>
              <a:t>LEO missions at EOL</a:t>
            </a:r>
          </a:p>
          <a:p>
            <a:pPr lvl="1"/>
            <a:r>
              <a:rPr lang="en-US" altLang="ko-KR" dirty="0"/>
              <a:t>Configuration: single deployable panel &amp; body-mounted panel </a:t>
            </a:r>
          </a:p>
          <a:p>
            <a:pPr lvl="2"/>
            <a:r>
              <a:rPr lang="en-US" altLang="ko-KR" dirty="0"/>
              <a:t>Mechanical constraint: 3U &amp; total extrusion &lt; 7 mm</a:t>
            </a:r>
          </a:p>
          <a:p>
            <a:pPr lvl="2"/>
            <a:r>
              <a:rPr lang="en-US" altLang="ko-KR" dirty="0"/>
              <a:t>Electrical constraint: maximum generation per channel, </a:t>
            </a:r>
            <a:r>
              <a:rPr lang="en-US" altLang="ko-KR" b="1" u="sng" dirty="0"/>
              <a:t>3.5~16.0 V / &lt; 2.0 A</a:t>
            </a:r>
          </a:p>
          <a:p>
            <a:pPr lvl="2"/>
            <a:r>
              <a:rPr lang="en-US" altLang="ko-KR" dirty="0"/>
              <a:t>Self-deployment mechanism: thermal knife to cut wire</a:t>
            </a:r>
          </a:p>
          <a:p>
            <a:pPr lvl="2"/>
            <a:r>
              <a:rPr lang="en-US" altLang="ko-KR" dirty="0"/>
              <a:t>Telemetry: coarse sun sensor (photo-diode) / temperature sensor</a:t>
            </a:r>
            <a:endParaRPr lang="ko-KR" altLang="en-US" dirty="0"/>
          </a:p>
          <a:p>
            <a:pPr lvl="2"/>
            <a:endParaRPr lang="en-US" altLang="ko-KR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CE1E64-8273-451A-B84A-043377B4E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15</a:t>
            </a:fld>
            <a:r>
              <a:rPr lang="en-US" altLang="ko-KR"/>
              <a:t> </a:t>
            </a:r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752B861-D02D-4145-8766-8934144C8D1D}"/>
              </a:ext>
            </a:extLst>
          </p:cNvPr>
          <p:cNvGrpSpPr/>
          <p:nvPr/>
        </p:nvGrpSpPr>
        <p:grpSpPr>
          <a:xfrm>
            <a:off x="261596" y="3530598"/>
            <a:ext cx="8639666" cy="3204860"/>
            <a:chOff x="261596" y="3530598"/>
            <a:chExt cx="8639666" cy="3204860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B9FEB9EF-CBFF-49C0-9BE0-6D782E676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1597" y="3530598"/>
              <a:ext cx="3031801" cy="2654300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0D4DC452-B4A2-4464-A960-3D1122526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0431" y="3530598"/>
              <a:ext cx="2460831" cy="2654300"/>
            </a:xfrm>
            <a:prstGeom prst="rect">
              <a:avLst/>
            </a:prstGeom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1955BFB-C812-4596-8726-9E90C89FB07C}"/>
                </a:ext>
              </a:extLst>
            </p:cNvPr>
            <p:cNvSpPr/>
            <p:nvPr/>
          </p:nvSpPr>
          <p:spPr>
            <a:xfrm>
              <a:off x="261596" y="6188311"/>
              <a:ext cx="3031801" cy="2115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PX-BSP (4S-1P): 10.8 V &amp; 0.5 A 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9FCD4A7-EF3A-43C0-B836-72C9BFF0D535}"/>
                </a:ext>
              </a:extLst>
            </p:cNvPr>
            <p:cNvSpPr/>
            <p:nvPr/>
          </p:nvSpPr>
          <p:spPr>
            <a:xfrm>
              <a:off x="3293398" y="6188311"/>
              <a:ext cx="3031801" cy="2115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MX-BSP (5S-1P): 13.5 V &amp; 0.5 A 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B3910C5-980A-4DEE-AA51-90F457B6BD3E}"/>
                </a:ext>
              </a:extLst>
            </p:cNvPr>
            <p:cNvSpPr/>
            <p:nvPr/>
          </p:nvSpPr>
          <p:spPr>
            <a:xfrm>
              <a:off x="6325198" y="6188311"/>
              <a:ext cx="2576064" cy="2115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Y-DSP (3S-2P): 8.1 V &amp; 1.0 A 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7DDFABCA-3618-4D6B-BA27-6609ED354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51736" y="3530598"/>
              <a:ext cx="3045957" cy="26543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6405392-14CF-4179-BCCC-B9A14158F674}"/>
                </a:ext>
              </a:extLst>
            </p:cNvPr>
            <p:cNvSpPr txBox="1"/>
            <p:nvPr/>
          </p:nvSpPr>
          <p:spPr>
            <a:xfrm>
              <a:off x="261597" y="6458459"/>
              <a:ext cx="86396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/>
                <a:t>&lt;Configuration of solar array&gt;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3734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30AA4C-18CA-4589-B9B9-887372FEA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EPS Components [3/4]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51B4F5-B6DD-4D18-8D9A-10DDD4995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Deployment Circuit</a:t>
            </a:r>
          </a:p>
          <a:p>
            <a:pPr lvl="1"/>
            <a:r>
              <a:rPr lang="en-US" altLang="ko-KR" dirty="0"/>
              <a:t>Input power</a:t>
            </a:r>
          </a:p>
          <a:p>
            <a:pPr lvl="3"/>
            <a:r>
              <a:rPr lang="en-US" altLang="ko-KR" dirty="0"/>
              <a:t>5 V PDM </a:t>
            </a:r>
            <a:r>
              <a:rPr lang="en-US" altLang="ko-KR" dirty="0">
                <a:sym typeface="Wingdings" panose="05000000000000000000" pitchFamily="2" charset="2"/>
              </a:rPr>
              <a:t> &lt; 0.4 A/circuit</a:t>
            </a:r>
            <a:endParaRPr lang="en-US" altLang="ko-KR" dirty="0"/>
          </a:p>
          <a:p>
            <a:pPr lvl="1"/>
            <a:r>
              <a:rPr lang="en-US" altLang="ko-KR" dirty="0"/>
              <a:t>Logic</a:t>
            </a:r>
          </a:p>
          <a:p>
            <a:pPr lvl="3"/>
            <a:r>
              <a:rPr lang="en-US" altLang="ko-KR" dirty="0"/>
              <a:t>PWR on </a:t>
            </a:r>
            <a:r>
              <a:rPr lang="en-US" altLang="ko-KR" dirty="0">
                <a:sym typeface="Wingdings" panose="05000000000000000000" pitchFamily="2" charset="2"/>
              </a:rPr>
              <a:t> MOSFET EN  Deploy  Detect (3V3 GPIO)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 MOSFET DIS  PWR off</a:t>
            </a:r>
            <a:endParaRPr lang="en-US" altLang="ko-KR" dirty="0"/>
          </a:p>
          <a:p>
            <a:pPr lvl="3"/>
            <a:r>
              <a:rPr lang="en-US" altLang="ko-KR" dirty="0"/>
              <a:t>Detect switch: Panasonic, AV404461</a:t>
            </a:r>
          </a:p>
          <a:p>
            <a:pPr lvl="3"/>
            <a:r>
              <a:rPr lang="en-US" altLang="ko-KR" dirty="0" err="1"/>
              <a:t>Mosfet</a:t>
            </a:r>
            <a:r>
              <a:rPr lang="en-US" altLang="ko-KR" dirty="0"/>
              <a:t> switch: </a:t>
            </a:r>
            <a:r>
              <a:rPr lang="en-US" altLang="ko-KR" dirty="0" err="1"/>
              <a:t>Infelon</a:t>
            </a:r>
            <a:r>
              <a:rPr lang="en-US" altLang="ko-KR" dirty="0"/>
              <a:t>, BTS711L1</a:t>
            </a:r>
            <a:endParaRPr lang="ko-KR" altLang="en-US" dirty="0"/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695C322A-3533-4A7F-8062-12EA33642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16</a:t>
            </a:fld>
            <a:r>
              <a:rPr lang="en-US" altLang="ko-KR"/>
              <a:t> </a:t>
            </a:r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6A39450-33EC-44EB-8E28-AD8D46FAEDCC}"/>
              </a:ext>
            </a:extLst>
          </p:cNvPr>
          <p:cNvGrpSpPr/>
          <p:nvPr/>
        </p:nvGrpSpPr>
        <p:grpSpPr>
          <a:xfrm>
            <a:off x="242738" y="1044936"/>
            <a:ext cx="8468449" cy="5365490"/>
            <a:chOff x="242738" y="960712"/>
            <a:chExt cx="8468449" cy="536549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F3717B4-D035-45F7-804A-5363CFFB75B7}"/>
                </a:ext>
              </a:extLst>
            </p:cNvPr>
            <p:cNvPicPr/>
            <p:nvPr/>
          </p:nvPicPr>
          <p:blipFill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690750" y="2393050"/>
              <a:ext cx="4905428" cy="3933152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DCD8942-A9B4-4B74-8E20-9BD2DE62846E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242738" y="3490683"/>
              <a:ext cx="3893153" cy="1935760"/>
            </a:xfrm>
            <a:prstGeom prst="rect">
              <a:avLst/>
            </a:prstGeom>
            <a:ln w="19050">
              <a:solidFill>
                <a:srgbClr val="0070C0"/>
              </a:solidFill>
            </a:ln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FA0E974-1E58-4EAC-8411-F0905FD7E99E}"/>
                </a:ext>
              </a:extLst>
            </p:cNvPr>
            <p:cNvPicPr/>
            <p:nvPr/>
          </p:nvPicPr>
          <p:blipFill rotWithShape="1">
            <a:blip r:embed="rId4"/>
            <a:srcRect r="38693"/>
            <a:stretch/>
          </p:blipFill>
          <p:spPr>
            <a:xfrm>
              <a:off x="6418900" y="960712"/>
              <a:ext cx="2292287" cy="1256974"/>
            </a:xfrm>
            <a:prstGeom prst="rect">
              <a:avLst/>
            </a:prstGeom>
            <a:ln w="19050">
              <a:solidFill>
                <a:srgbClr val="0070C0"/>
              </a:solidFill>
            </a:ln>
          </p:spPr>
        </p:pic>
        <p:cxnSp>
          <p:nvCxnSpPr>
            <p:cNvPr id="7" name="꺾인 연결선 183">
              <a:extLst>
                <a:ext uri="{FF2B5EF4-FFF2-40B4-BE49-F238E27FC236}">
                  <a16:creationId xmlns:a16="http://schemas.microsoft.com/office/drawing/2014/main" id="{899CBF72-B0E6-4F6A-BB36-7F15FFCAEC71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7565044" y="2217686"/>
              <a:ext cx="0" cy="1272997"/>
            </a:xfrm>
            <a:prstGeom prst="straightConnector1">
              <a:avLst/>
            </a:prstGeom>
            <a:ln w="19050">
              <a:solidFill>
                <a:srgbClr val="0070C0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꺾인 연결선 183">
              <a:extLst>
                <a:ext uri="{FF2B5EF4-FFF2-40B4-BE49-F238E27FC236}">
                  <a16:creationId xmlns:a16="http://schemas.microsoft.com/office/drawing/2014/main" id="{14E01F41-4B66-4C6F-BF38-18C0CDF211C1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4135891" y="4458563"/>
              <a:ext cx="4017509" cy="0"/>
            </a:xfrm>
            <a:prstGeom prst="straightConnector1">
              <a:avLst/>
            </a:prstGeom>
            <a:ln w="19050">
              <a:solidFill>
                <a:srgbClr val="0070C0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950A13B-8ECD-485B-A963-2A1BFD73D362}"/>
              </a:ext>
            </a:extLst>
          </p:cNvPr>
          <p:cNvSpPr txBox="1"/>
          <p:nvPr/>
        </p:nvSpPr>
        <p:spPr>
          <a:xfrm>
            <a:off x="261597" y="6458459"/>
            <a:ext cx="8639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&lt;Configuration of circuit for solar array deployment&gt;</a:t>
            </a:r>
          </a:p>
        </p:txBody>
      </p:sp>
    </p:spTree>
    <p:extLst>
      <p:ext uri="{BB962C8B-B14F-4D97-AF65-F5344CB8AC3E}">
        <p14:creationId xmlns:p14="http://schemas.microsoft.com/office/powerpoint/2010/main" val="1276488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653CC-DBD8-43C6-9F82-0E116E5F3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EPS Components [4/4]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9AC619-2E13-40BC-8861-5328E9161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Wire </a:t>
            </a:r>
          </a:p>
          <a:p>
            <a:pPr lvl="1"/>
            <a:r>
              <a:rPr lang="en-US" altLang="ko-KR" dirty="0"/>
              <a:t>Hook-up wire (Belden)</a:t>
            </a:r>
          </a:p>
          <a:p>
            <a:pPr lvl="2"/>
            <a:r>
              <a:rPr lang="en-US" altLang="ko-KR" dirty="0"/>
              <a:t>Low- outgassing, internal resistance, heat resistance</a:t>
            </a:r>
          </a:p>
          <a:p>
            <a:pPr lvl="2"/>
            <a:r>
              <a:rPr lang="en-US" altLang="ko-KR" dirty="0"/>
              <a:t>AWG24~16 (Teflon coated)</a:t>
            </a:r>
          </a:p>
          <a:p>
            <a:r>
              <a:rPr lang="en-US" altLang="ko-KR" dirty="0"/>
              <a:t>Board-to-board Connector</a:t>
            </a:r>
          </a:p>
          <a:p>
            <a:pPr lvl="1"/>
            <a:r>
              <a:rPr lang="en-US" altLang="ko-KR" dirty="0" err="1"/>
              <a:t>PicoLock</a:t>
            </a:r>
            <a:r>
              <a:rPr lang="en-US" altLang="ko-KR" dirty="0"/>
              <a:t> (Molex) </a:t>
            </a:r>
            <a:r>
              <a:rPr lang="en-US" altLang="ko-KR" dirty="0">
                <a:sym typeface="Wingdings" panose="05000000000000000000" pitchFamily="2" charset="2"/>
              </a:rPr>
              <a:t></a:t>
            </a:r>
            <a:r>
              <a:rPr lang="en-US" altLang="ko-KR" dirty="0"/>
              <a:t> most EPS components</a:t>
            </a:r>
          </a:p>
          <a:p>
            <a:pPr lvl="2"/>
            <a:r>
              <a:rPr lang="en-US" altLang="ko-KR" dirty="0"/>
              <a:t>Extremely low height + (relatively) high current rate</a:t>
            </a:r>
          </a:p>
          <a:p>
            <a:pPr lvl="1"/>
            <a:r>
              <a:rPr lang="en-US" altLang="ko-KR" dirty="0"/>
              <a:t>DF13 (Hirose) </a:t>
            </a:r>
            <a:r>
              <a:rPr lang="en-US" altLang="ko-KR" dirty="0">
                <a:sym typeface="Wingdings" panose="05000000000000000000" pitchFamily="2" charset="2"/>
              </a:rPr>
              <a:t></a:t>
            </a:r>
            <a:r>
              <a:rPr lang="en-US" altLang="ko-KR" dirty="0"/>
              <a:t> vertical type</a:t>
            </a:r>
          </a:p>
          <a:p>
            <a:pPr lvl="2"/>
            <a:r>
              <a:rPr lang="en-US" altLang="ko-KR" dirty="0"/>
              <a:t>Easy to fabricate and connect</a:t>
            </a:r>
          </a:p>
          <a:p>
            <a:pPr lvl="1"/>
            <a:r>
              <a:rPr lang="en-US" altLang="ko-KR" dirty="0"/>
              <a:t>Micro D (</a:t>
            </a:r>
            <a:r>
              <a:rPr lang="en-US" altLang="ko-KR" dirty="0" err="1"/>
              <a:t>Glenair</a:t>
            </a:r>
            <a:r>
              <a:rPr lang="en-US" altLang="ko-KR" dirty="0"/>
              <a:t>) </a:t>
            </a:r>
            <a:r>
              <a:rPr lang="en-US" altLang="ko-KR" dirty="0">
                <a:sym typeface="Wingdings" panose="05000000000000000000" pitchFamily="2" charset="2"/>
              </a:rPr>
              <a:t> only star tracker</a:t>
            </a:r>
            <a:endParaRPr lang="en-US" altLang="ko-KR" dirty="0"/>
          </a:p>
          <a:p>
            <a:pPr lvl="2"/>
            <a:endParaRPr lang="en-US" altLang="ko-KR" dirty="0"/>
          </a:p>
          <a:p>
            <a:endParaRPr lang="ko-KR" altLang="en-US" dirty="0"/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407BAC10-B1AC-48B5-910C-B3CFBFDA5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17</a:t>
            </a:fld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1AEF069-BC85-4791-97A0-931055BE9329}"/>
              </a:ext>
            </a:extLst>
          </p:cNvPr>
          <p:cNvGrpSpPr/>
          <p:nvPr/>
        </p:nvGrpSpPr>
        <p:grpSpPr>
          <a:xfrm>
            <a:off x="6438900" y="1040385"/>
            <a:ext cx="2462361" cy="3115809"/>
            <a:chOff x="6438900" y="1040385"/>
            <a:chExt cx="2462361" cy="3115809"/>
          </a:xfrm>
        </p:grpSpPr>
        <p:pic>
          <p:nvPicPr>
            <p:cNvPr id="4" name="Picture 8" descr="belden wireì ëí ì´ë¯¸ì§ ê²ìê²°ê³¼">
              <a:extLst>
                <a:ext uri="{FF2B5EF4-FFF2-40B4-BE49-F238E27FC236}">
                  <a16:creationId xmlns:a16="http://schemas.microsoft.com/office/drawing/2014/main" id="{F6F991C7-2502-4D51-8132-34C6D2C7A9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38901" y="1040385"/>
              <a:ext cx="2443502" cy="28467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5341AA0-231F-49B2-B367-6E9F47459BD2}"/>
                </a:ext>
              </a:extLst>
            </p:cNvPr>
            <p:cNvSpPr/>
            <p:nvPr/>
          </p:nvSpPr>
          <p:spPr>
            <a:xfrm>
              <a:off x="7493239" y="1083224"/>
              <a:ext cx="13891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i="1" dirty="0"/>
                <a:t> Credit: Belden</a:t>
              </a:r>
              <a:endParaRPr lang="ko-KR" altLang="en-US" sz="1400" i="1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C59F88E-5850-41F5-8974-B18EE2701CB4}"/>
                </a:ext>
              </a:extLst>
            </p:cNvPr>
            <p:cNvSpPr/>
            <p:nvPr/>
          </p:nvSpPr>
          <p:spPr>
            <a:xfrm>
              <a:off x="6438900" y="3879195"/>
              <a:ext cx="2462361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b="1" dirty="0"/>
                <a:t>&lt;AWG24/26 hook-up wire&gt;</a:t>
              </a:r>
              <a:endParaRPr lang="ko-KR" altLang="en-US" sz="1200" b="1" dirty="0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CE392DB-1C5C-4981-AC60-CF01190DCFDC}"/>
              </a:ext>
            </a:extLst>
          </p:cNvPr>
          <p:cNvGrpSpPr/>
          <p:nvPr/>
        </p:nvGrpSpPr>
        <p:grpSpPr>
          <a:xfrm>
            <a:off x="261596" y="4482951"/>
            <a:ext cx="8639665" cy="2273607"/>
            <a:chOff x="261596" y="4482951"/>
            <a:chExt cx="8639665" cy="2273607"/>
          </a:xfrm>
        </p:grpSpPr>
        <p:pic>
          <p:nvPicPr>
            <p:cNvPr id="10" name="Picture 2" descr="molex pico lock에 대한 이미지 검색결과">
              <a:extLst>
                <a:ext uri="{FF2B5EF4-FFF2-40B4-BE49-F238E27FC236}">
                  <a16:creationId xmlns:a16="http://schemas.microsoft.com/office/drawing/2014/main" id="{B58CC6EC-1A25-4BCE-8530-7399923815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596" y="4483100"/>
              <a:ext cx="3042959" cy="18152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2" name="Picture 2" descr="DF13 series - HIROSE Electric Group [Connector]">
              <a:extLst>
                <a:ext uri="{FF2B5EF4-FFF2-40B4-BE49-F238E27FC236}">
                  <a16:creationId xmlns:a16="http://schemas.microsoft.com/office/drawing/2014/main" id="{8F96E21D-6095-484E-B72A-C1F798C61E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5212" y="4482951"/>
              <a:ext cx="2704146" cy="17994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4" name="Picture 4" descr="M83513/04-A03N | Glenair Micro-D Connector | RS Components">
              <a:extLst>
                <a:ext uri="{FF2B5EF4-FFF2-40B4-BE49-F238E27FC236}">
                  <a16:creationId xmlns:a16="http://schemas.microsoft.com/office/drawing/2014/main" id="{447447A3-66F7-4534-86A4-5C3D97F6AB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0014" y="4482952"/>
              <a:ext cx="2272388" cy="17994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5A20BD6-8ADC-4FAB-B873-C2504A82D7D3}"/>
                </a:ext>
              </a:extLst>
            </p:cNvPr>
            <p:cNvSpPr/>
            <p:nvPr/>
          </p:nvSpPr>
          <p:spPr>
            <a:xfrm>
              <a:off x="1960272" y="4482951"/>
              <a:ext cx="133305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i="1" dirty="0"/>
                <a:t> Credit: Molex</a:t>
              </a:r>
              <a:endParaRPr lang="ko-KR" altLang="en-US" sz="1400" i="1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D8395109-6FCC-46ED-9030-D635D248E194}"/>
                </a:ext>
              </a:extLst>
            </p:cNvPr>
            <p:cNvSpPr/>
            <p:nvPr/>
          </p:nvSpPr>
          <p:spPr>
            <a:xfrm>
              <a:off x="3611752" y="5970514"/>
              <a:ext cx="135453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i="1" dirty="0">
                  <a:solidFill>
                    <a:schemeClr val="bg1"/>
                  </a:solidFill>
                </a:rPr>
                <a:t> Credit: Hirose</a:t>
              </a:r>
              <a:endParaRPr lang="ko-KR" altLang="en-US" sz="1400" i="1" dirty="0">
                <a:solidFill>
                  <a:schemeClr val="bg1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570FD04-1F0C-4B76-89B8-B180DC777DF6}"/>
                </a:ext>
              </a:extLst>
            </p:cNvPr>
            <p:cNvSpPr/>
            <p:nvPr/>
          </p:nvSpPr>
          <p:spPr>
            <a:xfrm>
              <a:off x="6442580" y="4482951"/>
              <a:ext cx="141000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i="1" dirty="0"/>
                <a:t> Credit: </a:t>
              </a:r>
              <a:r>
                <a:rPr lang="en-US" altLang="ko-KR" sz="1400" i="1" dirty="0" err="1"/>
                <a:t>Glenair</a:t>
              </a:r>
              <a:endParaRPr lang="ko-KR" altLang="en-US" sz="1400" i="1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8B2FDF2-416D-42A5-8C23-82542C112558}"/>
                </a:ext>
              </a:extLst>
            </p:cNvPr>
            <p:cNvSpPr/>
            <p:nvPr/>
          </p:nvSpPr>
          <p:spPr>
            <a:xfrm>
              <a:off x="261596" y="6479559"/>
              <a:ext cx="8639665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b="1" dirty="0"/>
                <a:t>&lt;Board-to-board connectors&gt;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34672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771628-FBC2-4CF7-9D68-3802646C7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EPS Interface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539CCB-79E0-41B1-BAC9-5763A17A0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Electrical Power Interface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3279E-2972-49FB-92B1-1A692364D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18</a:t>
            </a:fld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37869F94-CCEE-4CC0-AEDE-A29FC1EF12A8}"/>
              </a:ext>
            </a:extLst>
          </p:cNvPr>
          <p:cNvSpPr txBox="1"/>
          <p:nvPr/>
        </p:nvSpPr>
        <p:spPr>
          <a:xfrm>
            <a:off x="261597" y="6423620"/>
            <a:ext cx="8639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&lt;EPS interface diagram&gt;</a:t>
            </a:r>
            <a:endParaRPr lang="ko-KR" altLang="en-US" sz="1200" b="1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0C9973B-D8A8-422E-9095-DADBF6EF67F8}"/>
              </a:ext>
            </a:extLst>
          </p:cNvPr>
          <p:cNvGrpSpPr/>
          <p:nvPr/>
        </p:nvGrpSpPr>
        <p:grpSpPr>
          <a:xfrm>
            <a:off x="590886" y="1442731"/>
            <a:ext cx="7924028" cy="4806566"/>
            <a:chOff x="590886" y="1442731"/>
            <a:chExt cx="7924028" cy="4806566"/>
          </a:xfrm>
        </p:grpSpPr>
        <p:cxnSp>
          <p:nvCxnSpPr>
            <p:cNvPr id="122" name="직선 연결선 57">
              <a:extLst>
                <a:ext uri="{FF2B5EF4-FFF2-40B4-BE49-F238E27FC236}">
                  <a16:creationId xmlns:a16="http://schemas.microsoft.com/office/drawing/2014/main" id="{B8E03ADB-7B42-41A8-A847-36B39E926A64}"/>
                </a:ext>
              </a:extLst>
            </p:cNvPr>
            <p:cNvCxnSpPr>
              <a:cxnSpLocks/>
              <a:endCxn id="288" idx="1"/>
            </p:cNvCxnSpPr>
            <p:nvPr/>
          </p:nvCxnSpPr>
          <p:spPr>
            <a:xfrm>
              <a:off x="6873875" y="4579040"/>
              <a:ext cx="24307" cy="1531404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5881C5ED-9D44-405F-8857-BF6B00B20261}"/>
                </a:ext>
              </a:extLst>
            </p:cNvPr>
            <p:cNvSpPr/>
            <p:nvPr/>
          </p:nvSpPr>
          <p:spPr>
            <a:xfrm>
              <a:off x="2120278" y="4883456"/>
              <a:ext cx="1174398" cy="90566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/>
            <a:lstStyle/>
            <a:p>
              <a:pPr algn="r"/>
              <a:r>
                <a:rPr lang="en-US" altLang="ko-KR" sz="1400" b="1" dirty="0">
                  <a:solidFill>
                    <a:schemeClr val="tx1"/>
                  </a:solidFill>
                </a:rPr>
                <a:t>CNDH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81B00169-693D-4488-B87D-0EAB86595040}"/>
                </a:ext>
              </a:extLst>
            </p:cNvPr>
            <p:cNvSpPr/>
            <p:nvPr/>
          </p:nvSpPr>
          <p:spPr>
            <a:xfrm>
              <a:off x="3331707" y="4883456"/>
              <a:ext cx="3331941" cy="90566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/>
            <a:lstStyle/>
            <a:p>
              <a:pPr algn="r"/>
              <a:r>
                <a:rPr lang="en-US" altLang="ko-KR" sz="1400" b="1" dirty="0">
                  <a:solidFill>
                    <a:schemeClr val="tx1"/>
                  </a:solidFill>
                </a:rPr>
                <a:t>ADCS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4BD2A708-DA76-428B-B61C-6FA5B44F1DE8}"/>
                </a:ext>
              </a:extLst>
            </p:cNvPr>
            <p:cNvSpPr/>
            <p:nvPr/>
          </p:nvSpPr>
          <p:spPr>
            <a:xfrm>
              <a:off x="2171380" y="5040574"/>
              <a:ext cx="488801" cy="68102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OBC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55400FDD-4E32-480A-B240-3E46B51978F0}"/>
                </a:ext>
              </a:extLst>
            </p:cNvPr>
            <p:cNvSpPr/>
            <p:nvPr/>
          </p:nvSpPr>
          <p:spPr>
            <a:xfrm>
              <a:off x="3374678" y="5040574"/>
              <a:ext cx="488801" cy="68102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FSS</a:t>
              </a:r>
            </a:p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CSS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4FFF8158-790B-41DE-971A-BF3B009B9C64}"/>
                </a:ext>
              </a:extLst>
            </p:cNvPr>
            <p:cNvSpPr/>
            <p:nvPr/>
          </p:nvSpPr>
          <p:spPr>
            <a:xfrm>
              <a:off x="3901978" y="5040574"/>
              <a:ext cx="488801" cy="68102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GPS</a:t>
              </a:r>
            </a:p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RX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C3BF50A5-1077-4262-99B6-C5A083E68F84}"/>
                </a:ext>
              </a:extLst>
            </p:cNvPr>
            <p:cNvSpPr/>
            <p:nvPr/>
          </p:nvSpPr>
          <p:spPr>
            <a:xfrm>
              <a:off x="4944925" y="5040574"/>
              <a:ext cx="488801" cy="68102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RWA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69D6F803-4AD3-4796-A7AB-83B340DDF40A}"/>
                </a:ext>
              </a:extLst>
            </p:cNvPr>
            <p:cNvSpPr/>
            <p:nvPr/>
          </p:nvSpPr>
          <p:spPr>
            <a:xfrm>
              <a:off x="4423587" y="5040574"/>
              <a:ext cx="488801" cy="68102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STT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CBE4648A-D405-43F6-939E-966A5A940E17}"/>
                </a:ext>
              </a:extLst>
            </p:cNvPr>
            <p:cNvSpPr/>
            <p:nvPr/>
          </p:nvSpPr>
          <p:spPr>
            <a:xfrm>
              <a:off x="5465660" y="5040574"/>
              <a:ext cx="488801" cy="68102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MTQ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67" name="직선 연결선 57">
              <a:extLst>
                <a:ext uri="{FF2B5EF4-FFF2-40B4-BE49-F238E27FC236}">
                  <a16:creationId xmlns:a16="http://schemas.microsoft.com/office/drawing/2014/main" id="{2A3C45EA-F5FE-4D60-9D46-F549019263D0}"/>
                </a:ext>
              </a:extLst>
            </p:cNvPr>
            <p:cNvCxnSpPr>
              <a:cxnSpLocks/>
              <a:stCxn id="253" idx="0"/>
              <a:endCxn id="151" idx="0"/>
            </p:cNvCxnSpPr>
            <p:nvPr/>
          </p:nvCxnSpPr>
          <p:spPr>
            <a:xfrm rot="16200000" flipH="1" flipV="1">
              <a:off x="4964292" y="2487299"/>
              <a:ext cx="4763" cy="5101786"/>
            </a:xfrm>
            <a:prstGeom prst="bentConnector3">
              <a:avLst>
                <a:gd name="adj1" fmla="val -9598992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직선 연결선 57">
              <a:extLst>
                <a:ext uri="{FF2B5EF4-FFF2-40B4-BE49-F238E27FC236}">
                  <a16:creationId xmlns:a16="http://schemas.microsoft.com/office/drawing/2014/main" id="{35392A0E-6B64-4B7F-82FD-8ACCDE83503D}"/>
                </a:ext>
              </a:extLst>
            </p:cNvPr>
            <p:cNvCxnSpPr>
              <a:cxnSpLocks/>
              <a:endCxn id="153" idx="0"/>
            </p:cNvCxnSpPr>
            <p:nvPr/>
          </p:nvCxnSpPr>
          <p:spPr>
            <a:xfrm>
              <a:off x="3619079" y="4586939"/>
              <a:ext cx="0" cy="453635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직선 연결선 57">
              <a:extLst>
                <a:ext uri="{FF2B5EF4-FFF2-40B4-BE49-F238E27FC236}">
                  <a16:creationId xmlns:a16="http://schemas.microsoft.com/office/drawing/2014/main" id="{2F032831-C246-4C70-8915-32344D9E0876}"/>
                </a:ext>
              </a:extLst>
            </p:cNvPr>
            <p:cNvCxnSpPr>
              <a:cxnSpLocks/>
              <a:endCxn id="155" idx="0"/>
            </p:cNvCxnSpPr>
            <p:nvPr/>
          </p:nvCxnSpPr>
          <p:spPr>
            <a:xfrm>
              <a:off x="4146379" y="4586939"/>
              <a:ext cx="0" cy="453635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직선 연결선 57">
              <a:extLst>
                <a:ext uri="{FF2B5EF4-FFF2-40B4-BE49-F238E27FC236}">
                  <a16:creationId xmlns:a16="http://schemas.microsoft.com/office/drawing/2014/main" id="{7274B364-6FF9-4D68-A4F2-C83B1550EA2F}"/>
                </a:ext>
              </a:extLst>
            </p:cNvPr>
            <p:cNvCxnSpPr>
              <a:cxnSpLocks/>
              <a:endCxn id="161" idx="0"/>
            </p:cNvCxnSpPr>
            <p:nvPr/>
          </p:nvCxnSpPr>
          <p:spPr>
            <a:xfrm>
              <a:off x="4667987" y="4586939"/>
              <a:ext cx="1" cy="453635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직선 연결선 57">
              <a:extLst>
                <a:ext uri="{FF2B5EF4-FFF2-40B4-BE49-F238E27FC236}">
                  <a16:creationId xmlns:a16="http://schemas.microsoft.com/office/drawing/2014/main" id="{DB00C84A-7CBA-4A0F-8680-0A77FED3AB21}"/>
                </a:ext>
              </a:extLst>
            </p:cNvPr>
            <p:cNvCxnSpPr>
              <a:cxnSpLocks/>
              <a:endCxn id="166" idx="0"/>
            </p:cNvCxnSpPr>
            <p:nvPr/>
          </p:nvCxnSpPr>
          <p:spPr>
            <a:xfrm>
              <a:off x="5710061" y="4586939"/>
              <a:ext cx="0" cy="453635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112D917F-20E7-4385-9651-AE642519BCAD}"/>
                </a:ext>
              </a:extLst>
            </p:cNvPr>
            <p:cNvSpPr/>
            <p:nvPr/>
          </p:nvSpPr>
          <p:spPr>
            <a:xfrm>
              <a:off x="3588082" y="4590196"/>
              <a:ext cx="426699" cy="157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3.3 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0D680160-6B00-46B4-BAAC-33254B089F81}"/>
                </a:ext>
              </a:extLst>
            </p:cNvPr>
            <p:cNvSpPr/>
            <p:nvPr/>
          </p:nvSpPr>
          <p:spPr>
            <a:xfrm>
              <a:off x="4098001" y="4590196"/>
              <a:ext cx="426699" cy="157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3.3 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210" name="직선 연결선 57">
              <a:extLst>
                <a:ext uri="{FF2B5EF4-FFF2-40B4-BE49-F238E27FC236}">
                  <a16:creationId xmlns:a16="http://schemas.microsoft.com/office/drawing/2014/main" id="{6A126756-D5B4-4FB1-9E7B-5C07C113E291}"/>
                </a:ext>
              </a:extLst>
            </p:cNvPr>
            <p:cNvCxnSpPr>
              <a:cxnSpLocks/>
              <a:endCxn id="159" idx="0"/>
            </p:cNvCxnSpPr>
            <p:nvPr/>
          </p:nvCxnSpPr>
          <p:spPr>
            <a:xfrm>
              <a:off x="5189325" y="4594959"/>
              <a:ext cx="1" cy="445615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직사각형 212">
              <a:extLst>
                <a:ext uri="{FF2B5EF4-FFF2-40B4-BE49-F238E27FC236}">
                  <a16:creationId xmlns:a16="http://schemas.microsoft.com/office/drawing/2014/main" id="{5D065AD9-98B7-48BA-9BC6-D0D251E8FC70}"/>
                </a:ext>
              </a:extLst>
            </p:cNvPr>
            <p:cNvSpPr/>
            <p:nvPr/>
          </p:nvSpPr>
          <p:spPr>
            <a:xfrm>
              <a:off x="4631140" y="4591604"/>
              <a:ext cx="426699" cy="157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5.0 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AC6ABB36-0528-48F5-BA2E-211CDDA8A863}"/>
                </a:ext>
              </a:extLst>
            </p:cNvPr>
            <p:cNvSpPr/>
            <p:nvPr/>
          </p:nvSpPr>
          <p:spPr>
            <a:xfrm>
              <a:off x="5142575" y="4590195"/>
              <a:ext cx="452459" cy="2884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3.3 V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VBATT 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EB6751D3-1E77-494E-BA8D-5EADAAB6266E}"/>
                </a:ext>
              </a:extLst>
            </p:cNvPr>
            <p:cNvSpPr/>
            <p:nvPr/>
          </p:nvSpPr>
          <p:spPr>
            <a:xfrm>
              <a:off x="5660731" y="4582901"/>
              <a:ext cx="452459" cy="2884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5.0 V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PWM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BDF9172E-628C-4A6C-987C-27788D9F1C21}"/>
                </a:ext>
              </a:extLst>
            </p:cNvPr>
            <p:cNvSpPr/>
            <p:nvPr/>
          </p:nvSpPr>
          <p:spPr>
            <a:xfrm>
              <a:off x="590886" y="4882164"/>
              <a:ext cx="1491114" cy="90566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/>
            <a:lstStyle/>
            <a:p>
              <a:pPr algn="r"/>
              <a:r>
                <a:rPr lang="en-US" altLang="ko-KR" sz="1400" b="1" dirty="0">
                  <a:solidFill>
                    <a:schemeClr val="tx1"/>
                  </a:solidFill>
                </a:rPr>
                <a:t>PAY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E43D33E9-06B0-4339-B3E1-5ED0057BBE87}"/>
                </a:ext>
              </a:extLst>
            </p:cNvPr>
            <p:cNvSpPr/>
            <p:nvPr/>
          </p:nvSpPr>
          <p:spPr>
            <a:xfrm>
              <a:off x="646086" y="5035811"/>
              <a:ext cx="488801" cy="68102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CAM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0EDEEF86-85CA-48E7-ABAA-989771827A5B}"/>
                </a:ext>
              </a:extLst>
            </p:cNvPr>
            <p:cNvSpPr/>
            <p:nvPr/>
          </p:nvSpPr>
          <p:spPr>
            <a:xfrm>
              <a:off x="1173386" y="5035811"/>
              <a:ext cx="488801" cy="68102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BBB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26" name="직선 연결선 57">
              <a:extLst>
                <a:ext uri="{FF2B5EF4-FFF2-40B4-BE49-F238E27FC236}">
                  <a16:creationId xmlns:a16="http://schemas.microsoft.com/office/drawing/2014/main" id="{2738AE4D-B5F1-4160-9645-407B130E370F}"/>
                </a:ext>
              </a:extLst>
            </p:cNvPr>
            <p:cNvCxnSpPr>
              <a:cxnSpLocks/>
              <a:endCxn id="223" idx="0"/>
            </p:cNvCxnSpPr>
            <p:nvPr/>
          </p:nvCxnSpPr>
          <p:spPr>
            <a:xfrm>
              <a:off x="1417787" y="4445016"/>
              <a:ext cx="0" cy="590795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7" name="직사각형 236">
              <a:extLst>
                <a:ext uri="{FF2B5EF4-FFF2-40B4-BE49-F238E27FC236}">
                  <a16:creationId xmlns:a16="http://schemas.microsoft.com/office/drawing/2014/main" id="{B64E6DF8-5F43-40C3-9B92-D3D287628BCB}"/>
                </a:ext>
              </a:extLst>
            </p:cNvPr>
            <p:cNvSpPr/>
            <p:nvPr/>
          </p:nvSpPr>
          <p:spPr>
            <a:xfrm>
              <a:off x="2378744" y="4594032"/>
              <a:ext cx="426699" cy="157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3.3 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38" name="직사각형 237">
              <a:extLst>
                <a:ext uri="{FF2B5EF4-FFF2-40B4-BE49-F238E27FC236}">
                  <a16:creationId xmlns:a16="http://schemas.microsoft.com/office/drawing/2014/main" id="{55BBF8E7-F75D-4B69-8A7A-580C5EDF53F6}"/>
                </a:ext>
              </a:extLst>
            </p:cNvPr>
            <p:cNvSpPr/>
            <p:nvPr/>
          </p:nvSpPr>
          <p:spPr>
            <a:xfrm>
              <a:off x="1383266" y="4453462"/>
              <a:ext cx="426699" cy="157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5.0 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39" name="직사각형 238">
              <a:extLst>
                <a:ext uri="{FF2B5EF4-FFF2-40B4-BE49-F238E27FC236}">
                  <a16:creationId xmlns:a16="http://schemas.microsoft.com/office/drawing/2014/main" id="{68F34860-A2F0-4079-8C2C-4F4C683FE9F7}"/>
                </a:ext>
              </a:extLst>
            </p:cNvPr>
            <p:cNvSpPr/>
            <p:nvPr/>
          </p:nvSpPr>
          <p:spPr>
            <a:xfrm>
              <a:off x="847364" y="4458252"/>
              <a:ext cx="481281" cy="157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12.0 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grpSp>
          <p:nvGrpSpPr>
            <p:cNvPr id="243" name="그룹 242">
              <a:extLst>
                <a:ext uri="{FF2B5EF4-FFF2-40B4-BE49-F238E27FC236}">
                  <a16:creationId xmlns:a16="http://schemas.microsoft.com/office/drawing/2014/main" id="{A087B43F-9C7A-4727-A892-B6FD5421F83A}"/>
                </a:ext>
              </a:extLst>
            </p:cNvPr>
            <p:cNvGrpSpPr/>
            <p:nvPr/>
          </p:nvGrpSpPr>
          <p:grpSpPr>
            <a:xfrm>
              <a:off x="590886" y="1442731"/>
              <a:ext cx="7924027" cy="2863828"/>
              <a:chOff x="732291" y="1470655"/>
              <a:chExt cx="7924027" cy="2863828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76FEF6D1-7358-4998-A5F7-3951A9BE2ACC}"/>
                  </a:ext>
                </a:extLst>
              </p:cNvPr>
              <p:cNvSpPr/>
              <p:nvPr/>
            </p:nvSpPr>
            <p:spPr>
              <a:xfrm>
                <a:off x="875874" y="1558822"/>
                <a:ext cx="640103" cy="2146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-X-axis</a:t>
                </a:r>
              </a:p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5S-1P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578B668E-6B90-4262-AB9E-47877497BC9E}"/>
                  </a:ext>
                </a:extLst>
              </p:cNvPr>
              <p:cNvGrpSpPr/>
              <p:nvPr/>
            </p:nvGrpSpPr>
            <p:grpSpPr>
              <a:xfrm>
                <a:off x="875876" y="1802062"/>
                <a:ext cx="640103" cy="523144"/>
                <a:chOff x="261597" y="1520094"/>
                <a:chExt cx="1216152" cy="914400"/>
              </a:xfrm>
              <a:solidFill>
                <a:schemeClr val="bg1"/>
              </a:solidFill>
            </p:grpSpPr>
            <p:sp>
              <p:nvSpPr>
                <p:cNvPr id="6" name="평행 사변형 5">
                  <a:extLst>
                    <a:ext uri="{FF2B5EF4-FFF2-40B4-BE49-F238E27FC236}">
                      <a16:creationId xmlns:a16="http://schemas.microsoft.com/office/drawing/2014/main" id="{D36C10E5-0903-4403-BEBC-644C9E73CADD}"/>
                    </a:ext>
                  </a:extLst>
                </p:cNvPr>
                <p:cNvSpPr/>
                <p:nvPr/>
              </p:nvSpPr>
              <p:spPr>
                <a:xfrm>
                  <a:off x="261597" y="1520094"/>
                  <a:ext cx="1216152" cy="914400"/>
                </a:xfrm>
                <a:prstGeom prst="parallelogram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36000" rIns="72000" bIns="36000"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8" name="직선 연결선 7">
                  <a:extLst>
                    <a:ext uri="{FF2B5EF4-FFF2-40B4-BE49-F238E27FC236}">
                      <a16:creationId xmlns:a16="http://schemas.microsoft.com/office/drawing/2014/main" id="{7C52963C-802B-44A0-A75E-42FB118EA0BD}"/>
                    </a:ext>
                  </a:extLst>
                </p:cNvPr>
                <p:cNvCxnSpPr>
                  <a:cxnSpLocks/>
                  <a:stCxn id="6" idx="1"/>
                  <a:endCxn id="6" idx="3"/>
                </p:cNvCxnSpPr>
                <p:nvPr/>
              </p:nvCxnSpPr>
              <p:spPr>
                <a:xfrm flipH="1">
                  <a:off x="755373" y="1520094"/>
                  <a:ext cx="228600" cy="91440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직선 연결선 11">
                  <a:extLst>
                    <a:ext uri="{FF2B5EF4-FFF2-40B4-BE49-F238E27FC236}">
                      <a16:creationId xmlns:a16="http://schemas.microsoft.com/office/drawing/2014/main" id="{95403465-3313-45B6-8ECF-EDD413FEC3F5}"/>
                    </a:ext>
                  </a:extLst>
                </p:cNvPr>
                <p:cNvCxnSpPr>
                  <a:cxnSpLocks/>
                  <a:stCxn id="6" idx="5"/>
                  <a:endCxn id="6" idx="2"/>
                </p:cNvCxnSpPr>
                <p:nvPr/>
              </p:nvCxnSpPr>
              <p:spPr>
                <a:xfrm>
                  <a:off x="375897" y="1977294"/>
                  <a:ext cx="987552" cy="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id="{5C085C17-B415-4D9F-A68D-B9DC9C1E2B23}"/>
                  </a:ext>
                </a:extLst>
              </p:cNvPr>
              <p:cNvGrpSpPr/>
              <p:nvPr/>
            </p:nvGrpSpPr>
            <p:grpSpPr>
              <a:xfrm>
                <a:off x="1487568" y="1802062"/>
                <a:ext cx="640103" cy="523144"/>
                <a:chOff x="261597" y="1520094"/>
                <a:chExt cx="1216152" cy="914400"/>
              </a:xfrm>
              <a:solidFill>
                <a:schemeClr val="bg1"/>
              </a:solidFill>
            </p:grpSpPr>
            <p:sp>
              <p:nvSpPr>
                <p:cNvPr id="34" name="평행 사변형 33">
                  <a:extLst>
                    <a:ext uri="{FF2B5EF4-FFF2-40B4-BE49-F238E27FC236}">
                      <a16:creationId xmlns:a16="http://schemas.microsoft.com/office/drawing/2014/main" id="{C938B283-2A1F-4B80-B1B4-D7BBC10701F0}"/>
                    </a:ext>
                  </a:extLst>
                </p:cNvPr>
                <p:cNvSpPr/>
                <p:nvPr/>
              </p:nvSpPr>
              <p:spPr>
                <a:xfrm>
                  <a:off x="261597" y="1520094"/>
                  <a:ext cx="1216152" cy="914400"/>
                </a:xfrm>
                <a:prstGeom prst="parallelogram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36000" rIns="72000" bIns="36000"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5" name="직선 연결선 34">
                  <a:extLst>
                    <a:ext uri="{FF2B5EF4-FFF2-40B4-BE49-F238E27FC236}">
                      <a16:creationId xmlns:a16="http://schemas.microsoft.com/office/drawing/2014/main" id="{5DB9907F-E825-4262-9BD2-CA3FF4C8FF6F}"/>
                    </a:ext>
                  </a:extLst>
                </p:cNvPr>
                <p:cNvCxnSpPr>
                  <a:cxnSpLocks/>
                  <a:stCxn id="34" idx="1"/>
                  <a:endCxn id="34" idx="3"/>
                </p:cNvCxnSpPr>
                <p:nvPr/>
              </p:nvCxnSpPr>
              <p:spPr>
                <a:xfrm flipH="1">
                  <a:off x="755373" y="1520094"/>
                  <a:ext cx="228600" cy="91440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직선 연결선 35">
                  <a:extLst>
                    <a:ext uri="{FF2B5EF4-FFF2-40B4-BE49-F238E27FC236}">
                      <a16:creationId xmlns:a16="http://schemas.microsoft.com/office/drawing/2014/main" id="{5FDF7945-2093-47B9-98D1-308651A4D9EF}"/>
                    </a:ext>
                  </a:extLst>
                </p:cNvPr>
                <p:cNvCxnSpPr>
                  <a:cxnSpLocks/>
                  <a:stCxn id="34" idx="5"/>
                  <a:endCxn id="34" idx="2"/>
                </p:cNvCxnSpPr>
                <p:nvPr/>
              </p:nvCxnSpPr>
              <p:spPr>
                <a:xfrm>
                  <a:off x="375897" y="1977294"/>
                  <a:ext cx="987552" cy="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4695FB38-1A70-4C70-88D6-53A7876E8ED7}"/>
                  </a:ext>
                </a:extLst>
              </p:cNvPr>
              <p:cNvGrpSpPr/>
              <p:nvPr/>
            </p:nvGrpSpPr>
            <p:grpSpPr>
              <a:xfrm>
                <a:off x="2099260" y="1802062"/>
                <a:ext cx="640103" cy="523144"/>
                <a:chOff x="261597" y="1520094"/>
                <a:chExt cx="1216152" cy="914400"/>
              </a:xfrm>
              <a:solidFill>
                <a:schemeClr val="bg1"/>
              </a:solidFill>
            </p:grpSpPr>
            <p:sp>
              <p:nvSpPr>
                <p:cNvPr id="38" name="평행 사변형 37">
                  <a:extLst>
                    <a:ext uri="{FF2B5EF4-FFF2-40B4-BE49-F238E27FC236}">
                      <a16:creationId xmlns:a16="http://schemas.microsoft.com/office/drawing/2014/main" id="{743EB624-8DF9-4A06-BE3A-2AEDA6682C67}"/>
                    </a:ext>
                  </a:extLst>
                </p:cNvPr>
                <p:cNvSpPr/>
                <p:nvPr/>
              </p:nvSpPr>
              <p:spPr>
                <a:xfrm>
                  <a:off x="261597" y="1520094"/>
                  <a:ext cx="1216152" cy="914400"/>
                </a:xfrm>
                <a:prstGeom prst="parallelogram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36000" rIns="72000" bIns="36000"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9" name="직선 연결선 38">
                  <a:extLst>
                    <a:ext uri="{FF2B5EF4-FFF2-40B4-BE49-F238E27FC236}">
                      <a16:creationId xmlns:a16="http://schemas.microsoft.com/office/drawing/2014/main" id="{D52A6A03-5979-4591-A736-6A0BD55B963D}"/>
                    </a:ext>
                  </a:extLst>
                </p:cNvPr>
                <p:cNvCxnSpPr>
                  <a:cxnSpLocks/>
                  <a:stCxn id="38" idx="1"/>
                  <a:endCxn id="38" idx="3"/>
                </p:cNvCxnSpPr>
                <p:nvPr/>
              </p:nvCxnSpPr>
              <p:spPr>
                <a:xfrm flipH="1">
                  <a:off x="755373" y="1520094"/>
                  <a:ext cx="228600" cy="91440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FA009E12-01EB-4EDD-8717-FC919B6B64D7}"/>
                    </a:ext>
                  </a:extLst>
                </p:cNvPr>
                <p:cNvCxnSpPr>
                  <a:cxnSpLocks/>
                  <a:stCxn id="38" idx="5"/>
                  <a:endCxn id="38" idx="2"/>
                </p:cNvCxnSpPr>
                <p:nvPr/>
              </p:nvCxnSpPr>
              <p:spPr>
                <a:xfrm>
                  <a:off x="375897" y="1977294"/>
                  <a:ext cx="987552" cy="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BCF3EF3D-94DB-4ACA-BEB0-B2B90874466B}"/>
                  </a:ext>
                </a:extLst>
              </p:cNvPr>
              <p:cNvGrpSpPr/>
              <p:nvPr/>
            </p:nvGrpSpPr>
            <p:grpSpPr>
              <a:xfrm>
                <a:off x="2710951" y="1802062"/>
                <a:ext cx="640103" cy="523144"/>
                <a:chOff x="261597" y="1520094"/>
                <a:chExt cx="1216152" cy="914400"/>
              </a:xfrm>
              <a:solidFill>
                <a:schemeClr val="bg1"/>
              </a:solidFill>
            </p:grpSpPr>
            <p:sp>
              <p:nvSpPr>
                <p:cNvPr id="42" name="평행 사변형 41">
                  <a:extLst>
                    <a:ext uri="{FF2B5EF4-FFF2-40B4-BE49-F238E27FC236}">
                      <a16:creationId xmlns:a16="http://schemas.microsoft.com/office/drawing/2014/main" id="{F7858FCF-92C8-49F7-8AB4-E1FA6F8109CC}"/>
                    </a:ext>
                  </a:extLst>
                </p:cNvPr>
                <p:cNvSpPr/>
                <p:nvPr/>
              </p:nvSpPr>
              <p:spPr>
                <a:xfrm>
                  <a:off x="261597" y="1520094"/>
                  <a:ext cx="1216152" cy="914400"/>
                </a:xfrm>
                <a:prstGeom prst="parallelogram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36000" rIns="72000" bIns="36000"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43" name="직선 연결선 42">
                  <a:extLst>
                    <a:ext uri="{FF2B5EF4-FFF2-40B4-BE49-F238E27FC236}">
                      <a16:creationId xmlns:a16="http://schemas.microsoft.com/office/drawing/2014/main" id="{9DC3F435-6B56-494F-A19D-29AFCB4DD868}"/>
                    </a:ext>
                  </a:extLst>
                </p:cNvPr>
                <p:cNvCxnSpPr>
                  <a:cxnSpLocks/>
                  <a:stCxn id="42" idx="1"/>
                  <a:endCxn id="42" idx="3"/>
                </p:cNvCxnSpPr>
                <p:nvPr/>
              </p:nvCxnSpPr>
              <p:spPr>
                <a:xfrm flipH="1">
                  <a:off x="755373" y="1520094"/>
                  <a:ext cx="228600" cy="91440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529B4803-E327-412F-982B-BAADA75FFE12}"/>
                    </a:ext>
                  </a:extLst>
                </p:cNvPr>
                <p:cNvCxnSpPr>
                  <a:cxnSpLocks/>
                  <a:stCxn id="42" idx="5"/>
                  <a:endCxn id="42" idx="2"/>
                </p:cNvCxnSpPr>
                <p:nvPr/>
              </p:nvCxnSpPr>
              <p:spPr>
                <a:xfrm>
                  <a:off x="375897" y="1977294"/>
                  <a:ext cx="987552" cy="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8AC2B78A-C0AF-4337-98EE-3851C2B5EC73}"/>
                  </a:ext>
                </a:extLst>
              </p:cNvPr>
              <p:cNvGrpSpPr/>
              <p:nvPr/>
            </p:nvGrpSpPr>
            <p:grpSpPr>
              <a:xfrm>
                <a:off x="3322641" y="1802062"/>
                <a:ext cx="640103" cy="523144"/>
                <a:chOff x="261597" y="1520094"/>
                <a:chExt cx="1216152" cy="914400"/>
              </a:xfrm>
              <a:solidFill>
                <a:schemeClr val="bg1"/>
              </a:solidFill>
            </p:grpSpPr>
            <p:sp>
              <p:nvSpPr>
                <p:cNvPr id="50" name="평행 사변형 49">
                  <a:extLst>
                    <a:ext uri="{FF2B5EF4-FFF2-40B4-BE49-F238E27FC236}">
                      <a16:creationId xmlns:a16="http://schemas.microsoft.com/office/drawing/2014/main" id="{51A94786-9877-4FA9-BF1D-D3418F58C45D}"/>
                    </a:ext>
                  </a:extLst>
                </p:cNvPr>
                <p:cNvSpPr/>
                <p:nvPr/>
              </p:nvSpPr>
              <p:spPr>
                <a:xfrm>
                  <a:off x="261597" y="1520094"/>
                  <a:ext cx="1216152" cy="914400"/>
                </a:xfrm>
                <a:prstGeom prst="parallelogram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36000" rIns="72000" bIns="36000"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F82F3E26-F67C-4A67-84D1-83C6448F55E9}"/>
                    </a:ext>
                  </a:extLst>
                </p:cNvPr>
                <p:cNvCxnSpPr>
                  <a:cxnSpLocks/>
                  <a:stCxn id="50" idx="1"/>
                  <a:endCxn id="50" idx="3"/>
                </p:cNvCxnSpPr>
                <p:nvPr/>
              </p:nvCxnSpPr>
              <p:spPr>
                <a:xfrm flipH="1">
                  <a:off x="755373" y="1520094"/>
                  <a:ext cx="228600" cy="91440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2039E5FE-D2C8-4D65-BDB6-BE696CF5B1AE}"/>
                    </a:ext>
                  </a:extLst>
                </p:cNvPr>
                <p:cNvCxnSpPr>
                  <a:cxnSpLocks/>
                  <a:stCxn id="50" idx="5"/>
                  <a:endCxn id="50" idx="2"/>
                </p:cNvCxnSpPr>
                <p:nvPr/>
              </p:nvCxnSpPr>
              <p:spPr>
                <a:xfrm>
                  <a:off x="375897" y="1977294"/>
                  <a:ext cx="987552" cy="0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28F2673A-5EED-41C0-AE6F-D3963B4CCF17}"/>
                  </a:ext>
                </a:extLst>
              </p:cNvPr>
              <p:cNvSpPr/>
              <p:nvPr/>
            </p:nvSpPr>
            <p:spPr>
              <a:xfrm>
                <a:off x="1487568" y="1563232"/>
                <a:ext cx="640103" cy="2146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+X-axis</a:t>
                </a:r>
              </a:p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4S-1P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C45B72D2-0C30-499E-AA2D-5105D97BC8F9}"/>
                  </a:ext>
                </a:extLst>
              </p:cNvPr>
              <p:cNvSpPr/>
              <p:nvPr/>
            </p:nvSpPr>
            <p:spPr>
              <a:xfrm>
                <a:off x="2099259" y="1564229"/>
                <a:ext cx="640103" cy="2146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-Z-axis</a:t>
                </a:r>
              </a:p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2S-1P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E8FE27F7-C014-4F72-B12D-47551A60F10E}"/>
                  </a:ext>
                </a:extLst>
              </p:cNvPr>
              <p:cNvSpPr/>
              <p:nvPr/>
            </p:nvSpPr>
            <p:spPr>
              <a:xfrm>
                <a:off x="2710951" y="1565226"/>
                <a:ext cx="640103" cy="2146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-Y-axis</a:t>
                </a:r>
              </a:p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3S-2P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571F7CB9-7969-4024-AECC-50BF0BF9B5E4}"/>
                  </a:ext>
                </a:extLst>
              </p:cNvPr>
              <p:cNvSpPr/>
              <p:nvPr/>
            </p:nvSpPr>
            <p:spPr>
              <a:xfrm>
                <a:off x="3322640" y="1566536"/>
                <a:ext cx="640103" cy="2146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+Y-axis</a:t>
                </a:r>
              </a:p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3S-2P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03F8D71C-ADEB-4516-A4EF-2624766823BF}"/>
                  </a:ext>
                </a:extLst>
              </p:cNvPr>
              <p:cNvSpPr/>
              <p:nvPr/>
            </p:nvSpPr>
            <p:spPr>
              <a:xfrm>
                <a:off x="732291" y="1473686"/>
                <a:ext cx="3503492" cy="95539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t"/>
              <a:lstStyle/>
              <a:p>
                <a:pPr algn="r"/>
                <a:r>
                  <a:rPr lang="en-US" altLang="ko-KR" sz="1400" b="1" dirty="0">
                    <a:solidFill>
                      <a:schemeClr val="tx1"/>
                    </a:solidFill>
                  </a:rPr>
                  <a:t>SA</a:t>
                </a:r>
                <a:endParaRPr lang="ko-KR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A81DE3A8-3229-48DC-BEF7-9FE9F111B7DB}"/>
                  </a:ext>
                </a:extLst>
              </p:cNvPr>
              <p:cNvSpPr/>
              <p:nvPr/>
            </p:nvSpPr>
            <p:spPr>
              <a:xfrm>
                <a:off x="4812164" y="2782870"/>
                <a:ext cx="1451525" cy="129225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2" name="직선 연결선 57">
                <a:extLst>
                  <a:ext uri="{FF2B5EF4-FFF2-40B4-BE49-F238E27FC236}">
                    <a16:creationId xmlns:a16="http://schemas.microsoft.com/office/drawing/2014/main" id="{153564A5-BBFD-4EF2-A709-FD8D88E96207}"/>
                  </a:ext>
                </a:extLst>
              </p:cNvPr>
              <p:cNvCxnSpPr>
                <a:cxnSpLocks/>
                <a:stCxn id="6" idx="3"/>
                <a:endCxn id="70" idx="1"/>
              </p:cNvCxnSpPr>
              <p:nvPr/>
            </p:nvCxnSpPr>
            <p:spPr>
              <a:xfrm rot="16200000" flipH="1">
                <a:off x="1706255" y="1749486"/>
                <a:ext cx="1680767" cy="2832206"/>
              </a:xfrm>
              <a:prstGeom prst="bentConnector2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8D455F63-F746-4A0C-99D1-351CE30A3A5D}"/>
                  </a:ext>
                </a:extLst>
              </p:cNvPr>
              <p:cNvSpPr/>
              <p:nvPr/>
            </p:nvSpPr>
            <p:spPr>
              <a:xfrm>
                <a:off x="4867462" y="2843388"/>
                <a:ext cx="656491" cy="1863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MPPT4</a:t>
                </a:r>
                <a:endParaRPr lang="ko-KR" altLang="en-US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CEB6F871-179C-4F8E-9164-2A7DC504F37E}"/>
                  </a:ext>
                </a:extLst>
              </p:cNvPr>
              <p:cNvSpPr/>
              <p:nvPr/>
            </p:nvSpPr>
            <p:spPr>
              <a:xfrm>
                <a:off x="4867462" y="3090225"/>
                <a:ext cx="656491" cy="1863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MPPT3</a:t>
                </a:r>
                <a:endParaRPr lang="ko-KR" altLang="en-US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923FE9F9-8149-4D68-933A-5B045F8A9D23}"/>
                  </a:ext>
                </a:extLst>
              </p:cNvPr>
              <p:cNvSpPr/>
              <p:nvPr/>
            </p:nvSpPr>
            <p:spPr>
              <a:xfrm>
                <a:off x="6549081" y="2630841"/>
                <a:ext cx="336402" cy="159768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직사각형 67">
                <a:extLst>
                  <a:ext uri="{FF2B5EF4-FFF2-40B4-BE49-F238E27FC236}">
                    <a16:creationId xmlns:a16="http://schemas.microsoft.com/office/drawing/2014/main" id="{9084F8AA-5FD3-466D-91B2-9A024AAA81B2}"/>
                  </a:ext>
                </a:extLst>
              </p:cNvPr>
              <p:cNvSpPr/>
              <p:nvPr/>
            </p:nvSpPr>
            <p:spPr>
              <a:xfrm>
                <a:off x="3962743" y="3379975"/>
                <a:ext cx="656491" cy="1863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MPPT0</a:t>
                </a:r>
                <a:endParaRPr lang="ko-KR" altLang="en-US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0E49A3FB-A840-4F73-92E5-6079E061CC76}"/>
                  </a:ext>
                </a:extLst>
              </p:cNvPr>
              <p:cNvSpPr/>
              <p:nvPr/>
            </p:nvSpPr>
            <p:spPr>
              <a:xfrm>
                <a:off x="3962742" y="3641050"/>
                <a:ext cx="656491" cy="1863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MPPT1</a:t>
                </a:r>
                <a:endParaRPr lang="ko-KR" altLang="en-US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FD7D2D81-95DE-4EC3-9A8A-6D1BD8F69B8A}"/>
                  </a:ext>
                </a:extLst>
              </p:cNvPr>
              <p:cNvSpPr/>
              <p:nvPr/>
            </p:nvSpPr>
            <p:spPr>
              <a:xfrm>
                <a:off x="3962741" y="3912813"/>
                <a:ext cx="656491" cy="1863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MPPT2</a:t>
                </a:r>
                <a:endParaRPr lang="ko-KR" altLang="en-US" sz="10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3" name="직선 연결선 57">
                <a:extLst>
                  <a:ext uri="{FF2B5EF4-FFF2-40B4-BE49-F238E27FC236}">
                    <a16:creationId xmlns:a16="http://schemas.microsoft.com/office/drawing/2014/main" id="{912FE221-B874-4E10-A4E2-7987AE22DCE5}"/>
                  </a:ext>
                </a:extLst>
              </p:cNvPr>
              <p:cNvCxnSpPr>
                <a:cxnSpLocks/>
                <a:stCxn id="34" idx="3"/>
                <a:endCxn id="69" idx="1"/>
              </p:cNvCxnSpPr>
              <p:nvPr/>
            </p:nvCxnSpPr>
            <p:spPr>
              <a:xfrm rot="16200000" flipH="1">
                <a:off x="2147982" y="1919450"/>
                <a:ext cx="1409004" cy="2220515"/>
              </a:xfrm>
              <a:prstGeom prst="bentConnector2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57">
                <a:extLst>
                  <a:ext uri="{FF2B5EF4-FFF2-40B4-BE49-F238E27FC236}">
                    <a16:creationId xmlns:a16="http://schemas.microsoft.com/office/drawing/2014/main" id="{E754280D-393A-4FC1-8BE6-99E23719BAD8}"/>
                  </a:ext>
                </a:extLst>
              </p:cNvPr>
              <p:cNvCxnSpPr>
                <a:cxnSpLocks/>
                <a:stCxn id="38" idx="3"/>
                <a:endCxn id="68" idx="1"/>
              </p:cNvCxnSpPr>
              <p:nvPr/>
            </p:nvCxnSpPr>
            <p:spPr>
              <a:xfrm rot="16200000" flipH="1">
                <a:off x="2584367" y="2094758"/>
                <a:ext cx="1147929" cy="1608824"/>
              </a:xfrm>
              <a:prstGeom prst="bentConnector2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직선 연결선 57">
                <a:extLst>
                  <a:ext uri="{FF2B5EF4-FFF2-40B4-BE49-F238E27FC236}">
                    <a16:creationId xmlns:a16="http://schemas.microsoft.com/office/drawing/2014/main" id="{2FD6F815-D24D-4C47-A72B-DB146B948ECE}"/>
                  </a:ext>
                </a:extLst>
              </p:cNvPr>
              <p:cNvCxnSpPr>
                <a:cxnSpLocks/>
                <a:stCxn id="42" idx="3"/>
                <a:endCxn id="64" idx="1"/>
              </p:cNvCxnSpPr>
              <p:nvPr/>
            </p:nvCxnSpPr>
            <p:spPr>
              <a:xfrm rot="16200000" flipH="1">
                <a:off x="3487447" y="1803369"/>
                <a:ext cx="858179" cy="1901852"/>
              </a:xfrm>
              <a:prstGeom prst="bentConnector2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57">
                <a:extLst>
                  <a:ext uri="{FF2B5EF4-FFF2-40B4-BE49-F238E27FC236}">
                    <a16:creationId xmlns:a16="http://schemas.microsoft.com/office/drawing/2014/main" id="{D09905B0-5D70-40E5-A08E-E1AADF164895}"/>
                  </a:ext>
                </a:extLst>
              </p:cNvPr>
              <p:cNvCxnSpPr>
                <a:cxnSpLocks/>
                <a:stCxn id="50" idx="3"/>
                <a:endCxn id="63" idx="1"/>
              </p:cNvCxnSpPr>
              <p:nvPr/>
            </p:nvCxnSpPr>
            <p:spPr>
              <a:xfrm rot="16200000" flipH="1">
                <a:off x="3916710" y="1985796"/>
                <a:ext cx="611342" cy="1290162"/>
              </a:xfrm>
              <a:prstGeom prst="bentConnector2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DA890A7C-5D43-420C-AB45-2A87C0991647}"/>
                  </a:ext>
                </a:extLst>
              </p:cNvPr>
              <p:cNvSpPr/>
              <p:nvPr/>
            </p:nvSpPr>
            <p:spPr>
              <a:xfrm>
                <a:off x="3902584" y="2523514"/>
                <a:ext cx="3080287" cy="181096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t"/>
              <a:lstStyle/>
              <a:p>
                <a:r>
                  <a:rPr lang="en-US" altLang="ko-KR" sz="1400" b="1" dirty="0">
                    <a:solidFill>
                      <a:schemeClr val="tx1"/>
                    </a:solidFill>
                  </a:rPr>
                  <a:t>PCDU</a:t>
                </a:r>
                <a:endParaRPr lang="ko-KR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5790BB80-2A78-4E70-A62C-1A5CF38C87ED}"/>
                  </a:ext>
                </a:extLst>
              </p:cNvPr>
              <p:cNvSpPr/>
              <p:nvPr/>
            </p:nvSpPr>
            <p:spPr>
              <a:xfrm>
                <a:off x="1130533" y="4005972"/>
                <a:ext cx="884978" cy="1571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r>
                  <a:rPr lang="en-US" altLang="ko-KR" sz="800" dirty="0">
                    <a:solidFill>
                      <a:schemeClr val="tx1"/>
                    </a:solidFill>
                  </a:rPr>
                  <a:t>13.5 V / 0.5 A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직사각형 90">
                <a:extLst>
                  <a:ext uri="{FF2B5EF4-FFF2-40B4-BE49-F238E27FC236}">
                    <a16:creationId xmlns:a16="http://schemas.microsoft.com/office/drawing/2014/main" id="{0E3C1933-F04A-4C77-AC69-D11564AB1855}"/>
                  </a:ext>
                </a:extLst>
              </p:cNvPr>
              <p:cNvSpPr/>
              <p:nvPr/>
            </p:nvSpPr>
            <p:spPr>
              <a:xfrm>
                <a:off x="1738566" y="3734209"/>
                <a:ext cx="884978" cy="1571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r>
                  <a:rPr lang="en-US" altLang="ko-KR" sz="800" dirty="0">
                    <a:solidFill>
                      <a:schemeClr val="tx1"/>
                    </a:solidFill>
                  </a:rPr>
                  <a:t>10.8 V / 0.5 A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직사각형 91">
                <a:extLst>
                  <a:ext uri="{FF2B5EF4-FFF2-40B4-BE49-F238E27FC236}">
                    <a16:creationId xmlns:a16="http://schemas.microsoft.com/office/drawing/2014/main" id="{D9EE0CD8-1180-4F6A-BBC2-BB35D276EBF1}"/>
                  </a:ext>
                </a:extLst>
              </p:cNvPr>
              <p:cNvSpPr/>
              <p:nvPr/>
            </p:nvSpPr>
            <p:spPr>
              <a:xfrm>
                <a:off x="2348091" y="3478533"/>
                <a:ext cx="884978" cy="1571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r>
                  <a:rPr lang="en-US" altLang="ko-KR" sz="800" dirty="0">
                    <a:solidFill>
                      <a:schemeClr val="tx1"/>
                    </a:solidFill>
                  </a:rPr>
                  <a:t>5.4 V / 0.5 A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직사각형 92">
                <a:extLst>
                  <a:ext uri="{FF2B5EF4-FFF2-40B4-BE49-F238E27FC236}">
                    <a16:creationId xmlns:a16="http://schemas.microsoft.com/office/drawing/2014/main" id="{36D4591E-0B66-4DBE-A7AD-7BDB6FB3C388}"/>
                  </a:ext>
                </a:extLst>
              </p:cNvPr>
              <p:cNvSpPr/>
              <p:nvPr/>
            </p:nvSpPr>
            <p:spPr>
              <a:xfrm>
                <a:off x="3905509" y="3184021"/>
                <a:ext cx="809267" cy="1571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r>
                  <a:rPr lang="en-US" altLang="ko-KR" sz="800" dirty="0">
                    <a:solidFill>
                      <a:schemeClr val="tx1"/>
                    </a:solidFill>
                  </a:rPr>
                  <a:t>8.1 V / 1.0 A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직사각형 93">
                <a:extLst>
                  <a:ext uri="{FF2B5EF4-FFF2-40B4-BE49-F238E27FC236}">
                    <a16:creationId xmlns:a16="http://schemas.microsoft.com/office/drawing/2014/main" id="{F8FFE1D2-D44C-4CAB-9BB6-4A6FB4CE6827}"/>
                  </a:ext>
                </a:extLst>
              </p:cNvPr>
              <p:cNvSpPr/>
              <p:nvPr/>
            </p:nvSpPr>
            <p:spPr>
              <a:xfrm>
                <a:off x="3905509" y="2938842"/>
                <a:ext cx="809267" cy="1571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r>
                  <a:rPr lang="en-US" altLang="ko-KR" sz="800" dirty="0">
                    <a:solidFill>
                      <a:schemeClr val="tx1"/>
                    </a:solidFill>
                  </a:rPr>
                  <a:t>8.1 V / 1.0 A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직사각형 94">
                <a:extLst>
                  <a:ext uri="{FF2B5EF4-FFF2-40B4-BE49-F238E27FC236}">
                    <a16:creationId xmlns:a16="http://schemas.microsoft.com/office/drawing/2014/main" id="{5975447E-4ACA-4E99-BE3F-7D7219280C69}"/>
                  </a:ext>
                </a:extLst>
              </p:cNvPr>
              <p:cNvSpPr/>
              <p:nvPr/>
            </p:nvSpPr>
            <p:spPr>
              <a:xfrm>
                <a:off x="4295944" y="1474819"/>
                <a:ext cx="2692432" cy="95539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t"/>
              <a:lstStyle/>
              <a:p>
                <a:pPr algn="r"/>
                <a:r>
                  <a:rPr lang="en-US" altLang="ko-KR" sz="1400" b="1" dirty="0">
                    <a:solidFill>
                      <a:schemeClr val="tx1"/>
                    </a:solidFill>
                  </a:rPr>
                  <a:t>BAT</a:t>
                </a:r>
                <a:endParaRPr lang="ko-KR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63E1E2F0-8727-4435-872F-088A7671BFD5}"/>
                  </a:ext>
                </a:extLst>
              </p:cNvPr>
              <p:cNvSpPr/>
              <p:nvPr/>
            </p:nvSpPr>
            <p:spPr>
              <a:xfrm>
                <a:off x="4327206" y="1668844"/>
                <a:ext cx="488801" cy="6810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4.2 V</a:t>
                </a:r>
              </a:p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Li-ion</a:t>
                </a:r>
              </a:p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Cell</a:t>
                </a:r>
                <a:endParaRPr lang="ko-KR" altLang="en-US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52399C7A-07F9-4232-A2F3-7AB2FB7A2060}"/>
                  </a:ext>
                </a:extLst>
              </p:cNvPr>
              <p:cNvSpPr/>
              <p:nvPr/>
            </p:nvSpPr>
            <p:spPr>
              <a:xfrm>
                <a:off x="4891499" y="1668844"/>
                <a:ext cx="488801" cy="6810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4.2 V</a:t>
                </a:r>
              </a:p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Li-ion</a:t>
                </a:r>
              </a:p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Cell</a:t>
                </a:r>
                <a:endParaRPr lang="ko-KR" altLang="en-US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9795F5FC-D134-4CF8-ADEB-67421A5830D4}"/>
                  </a:ext>
                </a:extLst>
              </p:cNvPr>
              <p:cNvSpPr/>
              <p:nvPr/>
            </p:nvSpPr>
            <p:spPr>
              <a:xfrm>
                <a:off x="5455792" y="1668844"/>
                <a:ext cx="488801" cy="6810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4.2 V</a:t>
                </a:r>
              </a:p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Li-ion</a:t>
                </a:r>
              </a:p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Cell</a:t>
                </a:r>
                <a:endParaRPr lang="ko-KR" altLang="en-US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BEBFA4E4-A9AB-493C-A9B0-06CF63E0F5F5}"/>
                  </a:ext>
                </a:extLst>
              </p:cNvPr>
              <p:cNvSpPr/>
              <p:nvPr/>
            </p:nvSpPr>
            <p:spPr>
              <a:xfrm>
                <a:off x="6020085" y="1668844"/>
                <a:ext cx="488801" cy="68102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4.2 V</a:t>
                </a:r>
              </a:p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Li-ion</a:t>
                </a:r>
              </a:p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Cell</a:t>
                </a:r>
                <a:endParaRPr lang="ko-KR" altLang="en-US" sz="10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05" name="직선 연결선 57">
                <a:extLst>
                  <a:ext uri="{FF2B5EF4-FFF2-40B4-BE49-F238E27FC236}">
                    <a16:creationId xmlns:a16="http://schemas.microsoft.com/office/drawing/2014/main" id="{343BA4B8-3B11-416A-AED7-AFF91F8D07FC}"/>
                  </a:ext>
                </a:extLst>
              </p:cNvPr>
              <p:cNvCxnSpPr>
                <a:cxnSpLocks/>
                <a:stCxn id="99" idx="0"/>
                <a:endCxn id="100" idx="2"/>
              </p:cNvCxnSpPr>
              <p:nvPr/>
            </p:nvCxnSpPr>
            <p:spPr>
              <a:xfrm rot="16200000" flipH="1">
                <a:off x="4513240" y="1727211"/>
                <a:ext cx="681026" cy="564293"/>
              </a:xfrm>
              <a:prstGeom prst="bentConnector5">
                <a:avLst>
                  <a:gd name="adj1" fmla="val -5944"/>
                  <a:gd name="adj2" fmla="val 50000"/>
                  <a:gd name="adj3" fmla="val 106643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직선 연결선 57">
                <a:extLst>
                  <a:ext uri="{FF2B5EF4-FFF2-40B4-BE49-F238E27FC236}">
                    <a16:creationId xmlns:a16="http://schemas.microsoft.com/office/drawing/2014/main" id="{A4365043-4FC1-41C0-BBE9-C5E551604BA8}"/>
                  </a:ext>
                </a:extLst>
              </p:cNvPr>
              <p:cNvCxnSpPr>
                <a:cxnSpLocks/>
                <a:stCxn id="100" idx="0"/>
                <a:endCxn id="103" idx="2"/>
              </p:cNvCxnSpPr>
              <p:nvPr/>
            </p:nvCxnSpPr>
            <p:spPr>
              <a:xfrm rot="16200000" flipH="1">
                <a:off x="5077533" y="1727211"/>
                <a:ext cx="681026" cy="564293"/>
              </a:xfrm>
              <a:prstGeom prst="bentConnector5">
                <a:avLst>
                  <a:gd name="adj1" fmla="val -5945"/>
                  <a:gd name="adj2" fmla="val 50000"/>
                  <a:gd name="adj3" fmla="val 106060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57">
                <a:extLst>
                  <a:ext uri="{FF2B5EF4-FFF2-40B4-BE49-F238E27FC236}">
                    <a16:creationId xmlns:a16="http://schemas.microsoft.com/office/drawing/2014/main" id="{451FFDF7-A8DF-4C2C-A367-A66A444B3396}"/>
                  </a:ext>
                </a:extLst>
              </p:cNvPr>
              <p:cNvCxnSpPr>
                <a:cxnSpLocks/>
                <a:stCxn id="103" idx="0"/>
                <a:endCxn id="104" idx="2"/>
              </p:cNvCxnSpPr>
              <p:nvPr/>
            </p:nvCxnSpPr>
            <p:spPr>
              <a:xfrm rot="16200000" flipH="1">
                <a:off x="5641826" y="1727211"/>
                <a:ext cx="681026" cy="564293"/>
              </a:xfrm>
              <a:prstGeom prst="bentConnector5">
                <a:avLst>
                  <a:gd name="adj1" fmla="val -6527"/>
                  <a:gd name="adj2" fmla="val 50000"/>
                  <a:gd name="adj3" fmla="val 105594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직사각형 120">
                <a:extLst>
                  <a:ext uri="{FF2B5EF4-FFF2-40B4-BE49-F238E27FC236}">
                    <a16:creationId xmlns:a16="http://schemas.microsoft.com/office/drawing/2014/main" id="{C38F0E91-C0F2-49CC-82E5-A247BAB8D150}"/>
                  </a:ext>
                </a:extLst>
              </p:cNvPr>
              <p:cNvSpPr/>
              <p:nvPr/>
            </p:nvSpPr>
            <p:spPr>
              <a:xfrm>
                <a:off x="4310142" y="1470655"/>
                <a:ext cx="809267" cy="1571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r>
                  <a:rPr lang="en-US" altLang="ko-KR" sz="800" dirty="0">
                    <a:solidFill>
                      <a:schemeClr val="tx1"/>
                    </a:solidFill>
                  </a:rPr>
                  <a:t>4S-1P (16.8 V)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FC0981AE-7B6D-4C4B-8C94-EC88AC2BA0AD}"/>
                  </a:ext>
                </a:extLst>
              </p:cNvPr>
              <p:cNvSpPr/>
              <p:nvPr/>
            </p:nvSpPr>
            <p:spPr>
              <a:xfrm>
                <a:off x="7137398" y="1599490"/>
                <a:ext cx="1069674" cy="1863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Separation SW</a:t>
                </a:r>
                <a:endParaRPr lang="ko-KR" altLang="en-US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직사각형 126">
                <a:extLst>
                  <a:ext uri="{FF2B5EF4-FFF2-40B4-BE49-F238E27FC236}">
                    <a16:creationId xmlns:a16="http://schemas.microsoft.com/office/drawing/2014/main" id="{84C15240-52E8-479C-8063-2AB6A47A2E2F}"/>
                  </a:ext>
                </a:extLst>
              </p:cNvPr>
              <p:cNvSpPr/>
              <p:nvPr/>
            </p:nvSpPr>
            <p:spPr>
              <a:xfrm>
                <a:off x="7137399" y="1858222"/>
                <a:ext cx="1069674" cy="1863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Separation SW</a:t>
                </a:r>
                <a:endParaRPr lang="ko-KR" altLang="en-US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B2D45198-785B-426F-A334-656E8CD21DC2}"/>
                  </a:ext>
                </a:extLst>
              </p:cNvPr>
              <p:cNvSpPr/>
              <p:nvPr/>
            </p:nvSpPr>
            <p:spPr>
              <a:xfrm>
                <a:off x="7137400" y="2122056"/>
                <a:ext cx="1069674" cy="18631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</a:rPr>
                  <a:t>RBF SW</a:t>
                </a:r>
                <a:endParaRPr lang="ko-KR" altLang="en-US" sz="1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9" name="직사각형 128">
                <a:extLst>
                  <a:ext uri="{FF2B5EF4-FFF2-40B4-BE49-F238E27FC236}">
                    <a16:creationId xmlns:a16="http://schemas.microsoft.com/office/drawing/2014/main" id="{5039EA26-957F-4BF3-871D-070F8D902718}"/>
                  </a:ext>
                </a:extLst>
              </p:cNvPr>
              <p:cNvSpPr/>
              <p:nvPr/>
            </p:nvSpPr>
            <p:spPr>
              <a:xfrm>
                <a:off x="7061997" y="1473686"/>
                <a:ext cx="1594321" cy="95539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t"/>
              <a:lstStyle/>
              <a:p>
                <a:pPr algn="r"/>
                <a:r>
                  <a:rPr lang="en-US" altLang="ko-KR" sz="1400" b="1" dirty="0">
                    <a:solidFill>
                      <a:schemeClr val="tx1"/>
                    </a:solidFill>
                  </a:rPr>
                  <a:t>SW</a:t>
                </a:r>
                <a:endParaRPr lang="ko-KR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직사각형 129">
                <a:extLst>
                  <a:ext uri="{FF2B5EF4-FFF2-40B4-BE49-F238E27FC236}">
                    <a16:creationId xmlns:a16="http://schemas.microsoft.com/office/drawing/2014/main" id="{BE6557B7-11C0-413F-AECC-69E46E114361}"/>
                  </a:ext>
                </a:extLst>
              </p:cNvPr>
              <p:cNvSpPr/>
              <p:nvPr/>
            </p:nvSpPr>
            <p:spPr>
              <a:xfrm>
                <a:off x="5644359" y="2785699"/>
                <a:ext cx="620125" cy="25021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Daughter</a:t>
                </a:r>
              </a:p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Board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1" name="직사각형 130">
                <a:extLst>
                  <a:ext uri="{FF2B5EF4-FFF2-40B4-BE49-F238E27FC236}">
                    <a16:creationId xmlns:a16="http://schemas.microsoft.com/office/drawing/2014/main" id="{A59F87B3-9647-4DF5-8449-1BD7D212CDC1}"/>
                  </a:ext>
                </a:extLst>
              </p:cNvPr>
              <p:cNvSpPr/>
              <p:nvPr/>
            </p:nvSpPr>
            <p:spPr>
              <a:xfrm>
                <a:off x="3929010" y="4162666"/>
                <a:ext cx="883154" cy="1571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Mother Board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32" name="직선 연결선 57">
                <a:extLst>
                  <a:ext uri="{FF2B5EF4-FFF2-40B4-BE49-F238E27FC236}">
                    <a16:creationId xmlns:a16="http://schemas.microsoft.com/office/drawing/2014/main" id="{6EE8569C-AFE8-438B-BCE8-FF0A01B8148D}"/>
                  </a:ext>
                </a:extLst>
              </p:cNvPr>
              <p:cNvCxnSpPr>
                <a:cxnSpLocks/>
                <a:stCxn id="129" idx="2"/>
                <a:endCxn id="86" idx="3"/>
              </p:cNvCxnSpPr>
              <p:nvPr/>
            </p:nvCxnSpPr>
            <p:spPr>
              <a:xfrm rot="5400000">
                <a:off x="6921055" y="2490896"/>
                <a:ext cx="999920" cy="876287"/>
              </a:xfrm>
              <a:prstGeom prst="bentConnector2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57">
                <a:extLst>
                  <a:ext uri="{FF2B5EF4-FFF2-40B4-BE49-F238E27FC236}">
                    <a16:creationId xmlns:a16="http://schemas.microsoft.com/office/drawing/2014/main" id="{DA1B1DEC-12EF-4818-98E5-8B1AE066F4A3}"/>
                  </a:ext>
                </a:extLst>
              </p:cNvPr>
              <p:cNvCxnSpPr>
                <a:cxnSpLocks/>
                <a:stCxn id="129" idx="1"/>
                <a:endCxn id="104" idx="0"/>
              </p:cNvCxnSpPr>
              <p:nvPr/>
            </p:nvCxnSpPr>
            <p:spPr>
              <a:xfrm rot="10800000">
                <a:off x="6264487" y="1668845"/>
                <a:ext cx="797511" cy="282539"/>
              </a:xfrm>
              <a:prstGeom prst="bentConnector4">
                <a:avLst>
                  <a:gd name="adj1" fmla="val 64934"/>
                  <a:gd name="adj2" fmla="val 115732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93F05A49-5360-4AD0-B5D6-0441DCDDEF5F}"/>
                  </a:ext>
                </a:extLst>
              </p:cNvPr>
              <p:cNvSpPr/>
              <p:nvPr/>
            </p:nvSpPr>
            <p:spPr>
              <a:xfrm>
                <a:off x="5024215" y="3754732"/>
                <a:ext cx="1014837" cy="27383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244" name="직선 연결선 57">
              <a:extLst>
                <a:ext uri="{FF2B5EF4-FFF2-40B4-BE49-F238E27FC236}">
                  <a16:creationId xmlns:a16="http://schemas.microsoft.com/office/drawing/2014/main" id="{B48B3546-BECA-4519-BBFF-A825C2F8CE0E}"/>
                </a:ext>
              </a:extLst>
            </p:cNvPr>
            <p:cNvCxnSpPr>
              <a:cxnSpLocks/>
              <a:stCxn id="242" idx="2"/>
              <a:endCxn id="222" idx="0"/>
            </p:cNvCxnSpPr>
            <p:nvPr/>
          </p:nvCxnSpPr>
          <p:spPr>
            <a:xfrm rot="5400000">
              <a:off x="2622774" y="2268356"/>
              <a:ext cx="1035168" cy="4499742"/>
            </a:xfrm>
            <a:prstGeom prst="bentConnector3">
              <a:avLst>
                <a:gd name="adj1" fmla="val 42639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1" name="직사각형 250">
              <a:extLst>
                <a:ext uri="{FF2B5EF4-FFF2-40B4-BE49-F238E27FC236}">
                  <a16:creationId xmlns:a16="http://schemas.microsoft.com/office/drawing/2014/main" id="{3F759261-D8C3-4C36-A469-377F5763137F}"/>
                </a:ext>
              </a:extLst>
            </p:cNvPr>
            <p:cNvSpPr/>
            <p:nvPr/>
          </p:nvSpPr>
          <p:spPr>
            <a:xfrm>
              <a:off x="6700495" y="4878693"/>
              <a:ext cx="1814419" cy="90566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/>
            <a:lstStyle/>
            <a:p>
              <a:pPr algn="r"/>
              <a:r>
                <a:rPr lang="en-US" altLang="ko-KR" sz="1400" b="1" dirty="0">
                  <a:solidFill>
                    <a:schemeClr val="tx1"/>
                  </a:solidFill>
                </a:rPr>
                <a:t>COMS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52" name="직사각형 251">
              <a:extLst>
                <a:ext uri="{FF2B5EF4-FFF2-40B4-BE49-F238E27FC236}">
                  <a16:creationId xmlns:a16="http://schemas.microsoft.com/office/drawing/2014/main" id="{1B33687A-DFBD-48E6-AA9D-E459313AFB0F}"/>
                </a:ext>
              </a:extLst>
            </p:cNvPr>
            <p:cNvSpPr/>
            <p:nvPr/>
          </p:nvSpPr>
          <p:spPr>
            <a:xfrm>
              <a:off x="6740738" y="5035811"/>
              <a:ext cx="488801" cy="68102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UHF</a:t>
              </a:r>
            </a:p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TRX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253" name="직사각형 252">
              <a:extLst>
                <a:ext uri="{FF2B5EF4-FFF2-40B4-BE49-F238E27FC236}">
                  <a16:creationId xmlns:a16="http://schemas.microsoft.com/office/drawing/2014/main" id="{89A596DA-9EB2-4D42-8445-911609BFE1AD}"/>
                </a:ext>
              </a:extLst>
            </p:cNvPr>
            <p:cNvSpPr/>
            <p:nvPr/>
          </p:nvSpPr>
          <p:spPr>
            <a:xfrm>
              <a:off x="7273166" y="5035811"/>
              <a:ext cx="488801" cy="68102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STX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61" name="직선 연결선 57">
              <a:extLst>
                <a:ext uri="{FF2B5EF4-FFF2-40B4-BE49-F238E27FC236}">
                  <a16:creationId xmlns:a16="http://schemas.microsoft.com/office/drawing/2014/main" id="{EE6C22C9-BF5A-4750-A146-4BFF8D262792}"/>
                </a:ext>
              </a:extLst>
            </p:cNvPr>
            <p:cNvCxnSpPr>
              <a:cxnSpLocks/>
              <a:stCxn id="65" idx="2"/>
            </p:cNvCxnSpPr>
            <p:nvPr/>
          </p:nvCxnSpPr>
          <p:spPr>
            <a:xfrm>
              <a:off x="6575877" y="4200602"/>
              <a:ext cx="0" cy="382299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직사각형 263">
              <a:extLst>
                <a:ext uri="{FF2B5EF4-FFF2-40B4-BE49-F238E27FC236}">
                  <a16:creationId xmlns:a16="http://schemas.microsoft.com/office/drawing/2014/main" id="{7D46C580-011A-46AB-BD6C-3938C1ACDD45}"/>
                </a:ext>
              </a:extLst>
            </p:cNvPr>
            <p:cNvSpPr/>
            <p:nvPr/>
          </p:nvSpPr>
          <p:spPr>
            <a:xfrm>
              <a:off x="7459393" y="4577324"/>
              <a:ext cx="426699" cy="157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5.0 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265" name="직선 연결선 57">
              <a:extLst>
                <a:ext uri="{FF2B5EF4-FFF2-40B4-BE49-F238E27FC236}">
                  <a16:creationId xmlns:a16="http://schemas.microsoft.com/office/drawing/2014/main" id="{6EDDC58C-DD2B-425C-AA9D-7581D9AF03F3}"/>
                </a:ext>
              </a:extLst>
            </p:cNvPr>
            <p:cNvCxnSpPr>
              <a:cxnSpLocks/>
              <a:endCxn id="252" idx="0"/>
            </p:cNvCxnSpPr>
            <p:nvPr/>
          </p:nvCxnSpPr>
          <p:spPr>
            <a:xfrm>
              <a:off x="6973165" y="4586939"/>
              <a:ext cx="11974" cy="448872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43F74E07-3681-451C-A036-73697773147C}"/>
                </a:ext>
              </a:extLst>
            </p:cNvPr>
            <p:cNvSpPr/>
            <p:nvPr/>
          </p:nvSpPr>
          <p:spPr>
            <a:xfrm>
              <a:off x="6921887" y="4578217"/>
              <a:ext cx="426699" cy="157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lang="en-US" altLang="ko-KR" sz="800">
                  <a:solidFill>
                    <a:schemeClr val="tx1"/>
                  </a:solidFill>
                </a:rPr>
                <a:t>3.3 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269" name="직선 연결선 57">
              <a:extLst>
                <a:ext uri="{FF2B5EF4-FFF2-40B4-BE49-F238E27FC236}">
                  <a16:creationId xmlns:a16="http://schemas.microsoft.com/office/drawing/2014/main" id="{C7C87915-0B95-4F78-B27C-013E4E26CB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42669" y="4215904"/>
              <a:ext cx="505917" cy="0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직선 연결선 57">
              <a:extLst>
                <a:ext uri="{FF2B5EF4-FFF2-40B4-BE49-F238E27FC236}">
                  <a16:creationId xmlns:a16="http://schemas.microsoft.com/office/drawing/2014/main" id="{2D54768B-B417-4B67-AC06-2FD81C0F27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8582" y="4063379"/>
              <a:ext cx="0" cy="313460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직선 연결선 57">
              <a:extLst>
                <a:ext uri="{FF2B5EF4-FFF2-40B4-BE49-F238E27FC236}">
                  <a16:creationId xmlns:a16="http://schemas.microsoft.com/office/drawing/2014/main" id="{81BDBE12-78AC-4C4C-AE7F-0DAB9D5D66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0019" y="4110449"/>
              <a:ext cx="0" cy="210909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직선 연결선 57">
              <a:extLst>
                <a:ext uri="{FF2B5EF4-FFF2-40B4-BE49-F238E27FC236}">
                  <a16:creationId xmlns:a16="http://schemas.microsoft.com/office/drawing/2014/main" id="{637579E2-46D1-41E4-9FC1-816BFB6225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02328" y="4147588"/>
              <a:ext cx="0" cy="136630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직선 연결선 57">
              <a:extLst>
                <a:ext uri="{FF2B5EF4-FFF2-40B4-BE49-F238E27FC236}">
                  <a16:creationId xmlns:a16="http://schemas.microsoft.com/office/drawing/2014/main" id="{34A46752-F6EA-4AC5-8D78-64599B7348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66622" y="4180435"/>
              <a:ext cx="0" cy="59779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2" name="이등변 삼각형 281">
              <a:extLst>
                <a:ext uri="{FF2B5EF4-FFF2-40B4-BE49-F238E27FC236}">
                  <a16:creationId xmlns:a16="http://schemas.microsoft.com/office/drawing/2014/main" id="{A198EB36-834E-4BCB-BFEF-ECB13DF15CE1}"/>
                </a:ext>
              </a:extLst>
            </p:cNvPr>
            <p:cNvSpPr/>
            <p:nvPr/>
          </p:nvSpPr>
          <p:spPr>
            <a:xfrm>
              <a:off x="3973692" y="5974419"/>
              <a:ext cx="345371" cy="273821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83" name="직선 연결선 57">
              <a:extLst>
                <a:ext uri="{FF2B5EF4-FFF2-40B4-BE49-F238E27FC236}">
                  <a16:creationId xmlns:a16="http://schemas.microsoft.com/office/drawing/2014/main" id="{EEE6A3B5-405C-496A-846A-ABC157056305}"/>
                </a:ext>
              </a:extLst>
            </p:cNvPr>
            <p:cNvCxnSpPr>
              <a:cxnSpLocks/>
              <a:stCxn id="282" idx="0"/>
              <a:endCxn id="155" idx="2"/>
            </p:cNvCxnSpPr>
            <p:nvPr/>
          </p:nvCxnSpPr>
          <p:spPr>
            <a:xfrm flipV="1">
              <a:off x="4146378" y="5721600"/>
              <a:ext cx="1" cy="252819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이등변 삼각형 287">
              <a:extLst>
                <a:ext uri="{FF2B5EF4-FFF2-40B4-BE49-F238E27FC236}">
                  <a16:creationId xmlns:a16="http://schemas.microsoft.com/office/drawing/2014/main" id="{42C97CC3-45C3-46A6-9CF4-A7775F577EFD}"/>
                </a:ext>
              </a:extLst>
            </p:cNvPr>
            <p:cNvSpPr/>
            <p:nvPr/>
          </p:nvSpPr>
          <p:spPr>
            <a:xfrm>
              <a:off x="6811839" y="5973533"/>
              <a:ext cx="345371" cy="273821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89" name="직선 연결선 57">
              <a:extLst>
                <a:ext uri="{FF2B5EF4-FFF2-40B4-BE49-F238E27FC236}">
                  <a16:creationId xmlns:a16="http://schemas.microsoft.com/office/drawing/2014/main" id="{52DE37E1-6500-437D-9B89-CAB136D00513}"/>
                </a:ext>
              </a:extLst>
            </p:cNvPr>
            <p:cNvCxnSpPr>
              <a:cxnSpLocks/>
              <a:stCxn id="288" idx="0"/>
              <a:endCxn id="252" idx="2"/>
            </p:cNvCxnSpPr>
            <p:nvPr/>
          </p:nvCxnSpPr>
          <p:spPr>
            <a:xfrm flipV="1">
              <a:off x="6984525" y="5716837"/>
              <a:ext cx="614" cy="256696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1" name="이등변 삼각형 290">
              <a:extLst>
                <a:ext uri="{FF2B5EF4-FFF2-40B4-BE49-F238E27FC236}">
                  <a16:creationId xmlns:a16="http://schemas.microsoft.com/office/drawing/2014/main" id="{B66FAF4B-DD44-494D-B13A-D42A56F1E9E7}"/>
                </a:ext>
              </a:extLst>
            </p:cNvPr>
            <p:cNvSpPr/>
            <p:nvPr/>
          </p:nvSpPr>
          <p:spPr>
            <a:xfrm>
              <a:off x="7343927" y="5975476"/>
              <a:ext cx="345371" cy="273821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92" name="직선 연결선 57">
              <a:extLst>
                <a:ext uri="{FF2B5EF4-FFF2-40B4-BE49-F238E27FC236}">
                  <a16:creationId xmlns:a16="http://schemas.microsoft.com/office/drawing/2014/main" id="{AA3C19BE-B6A3-4C4D-9418-F272520A343A}"/>
                </a:ext>
              </a:extLst>
            </p:cNvPr>
            <p:cNvCxnSpPr>
              <a:cxnSpLocks/>
              <a:stCxn id="291" idx="0"/>
              <a:endCxn id="253" idx="2"/>
            </p:cNvCxnSpPr>
            <p:nvPr/>
          </p:nvCxnSpPr>
          <p:spPr>
            <a:xfrm flipV="1">
              <a:off x="7516613" y="5716837"/>
              <a:ext cx="954" cy="258639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28211F3F-893E-4FC1-8535-3AC520E55C8C}"/>
                </a:ext>
              </a:extLst>
            </p:cNvPr>
            <p:cNvSpPr/>
            <p:nvPr/>
          </p:nvSpPr>
          <p:spPr>
            <a:xfrm>
              <a:off x="6526775" y="5849159"/>
              <a:ext cx="426699" cy="1571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5.0 V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7363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E3242-053D-4559-A53C-3A0F7F512F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Electrical Power Budget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0714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3B3C508-6CA8-4E2A-A32C-CC7C59577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Overview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1DBD927-9D02-4F42-B2A0-35D6F1DAA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Generation &amp; Consumption</a:t>
            </a:r>
          </a:p>
          <a:p>
            <a:pPr lvl="2"/>
            <a:r>
              <a:rPr lang="en-US" altLang="ko-KR" dirty="0"/>
              <a:t>Required electrical power margin &gt; 40%</a:t>
            </a:r>
          </a:p>
          <a:p>
            <a:pPr lvl="2"/>
            <a:r>
              <a:rPr lang="en-US" altLang="ko-KR" dirty="0"/>
              <a:t>Desired depth of discharge &lt; 20%</a:t>
            </a:r>
          </a:p>
          <a:p>
            <a:pPr lvl="2"/>
            <a:r>
              <a:rPr lang="en-US" altLang="ko-KR" dirty="0"/>
              <a:t>Conversion efficiency &gt; 90%</a:t>
            </a:r>
          </a:p>
          <a:p>
            <a:pPr lvl="2"/>
            <a:r>
              <a:rPr lang="en-US" altLang="ko-KR" dirty="0"/>
              <a:t>Electrical configurations of solar array and battery</a:t>
            </a:r>
          </a:p>
          <a:p>
            <a:pPr lvl="2"/>
            <a:r>
              <a:rPr lang="en-US" altLang="ko-KR" dirty="0"/>
              <a:t>Orbital parameter &amp; coefficient for orientations </a:t>
            </a:r>
            <a:r>
              <a:rPr lang="en-US" altLang="ko-KR" dirty="0">
                <a:sym typeface="Wingdings" panose="05000000000000000000" pitchFamily="2" charset="2"/>
              </a:rPr>
              <a:t> power generation</a:t>
            </a:r>
            <a:endParaRPr lang="en-US" altLang="ko-KR" dirty="0"/>
          </a:p>
          <a:p>
            <a:pPr lvl="2"/>
            <a:r>
              <a:rPr lang="en-US" altLang="ko-KR" dirty="0"/>
              <a:t>Average power draws considering duty rate of components</a:t>
            </a:r>
          </a:p>
          <a:p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7BDC15-27FE-421D-B85F-40373D20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20</a:t>
            </a:fld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27D46B-F603-4AA8-8384-F3EB7253E7F7}"/>
              </a:ext>
            </a:extLst>
          </p:cNvPr>
          <p:cNvSpPr txBox="1"/>
          <p:nvPr/>
        </p:nvSpPr>
        <p:spPr>
          <a:xfrm>
            <a:off x="261597" y="6423620"/>
            <a:ext cx="8639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&lt;Overview of power budget calculator&gt;</a:t>
            </a:r>
            <a:endParaRPr lang="ko-KR" altLang="en-US" sz="1200" b="1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2DD12AB6-B8A8-4384-808D-7255B4C03F54}"/>
              </a:ext>
            </a:extLst>
          </p:cNvPr>
          <p:cNvGrpSpPr/>
          <p:nvPr/>
        </p:nvGrpSpPr>
        <p:grpSpPr>
          <a:xfrm>
            <a:off x="242736" y="3172606"/>
            <a:ext cx="8658526" cy="3199843"/>
            <a:chOff x="242736" y="3239281"/>
            <a:chExt cx="8658526" cy="319984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BB9EBB52-B6FA-4F57-BF67-4335F9486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737" y="3741094"/>
              <a:ext cx="8658525" cy="2682526"/>
            </a:xfrm>
            <a:prstGeom prst="rect">
              <a:avLst/>
            </a:prstGeom>
          </p:spPr>
        </p:pic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6F2EEDB8-4F3F-4896-B02E-33F9415E72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6914" y="5616737"/>
              <a:ext cx="421561" cy="341482"/>
            </a:xfrm>
            <a:prstGeom prst="line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F657125-3CA9-4964-A814-401F6B069C96}"/>
                </a:ext>
              </a:extLst>
            </p:cNvPr>
            <p:cNvSpPr/>
            <p:nvPr/>
          </p:nvSpPr>
          <p:spPr>
            <a:xfrm>
              <a:off x="3819526" y="5921668"/>
              <a:ext cx="1428745" cy="3414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Normal &amp; Peak Power Draw (W)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9F101D2-93A5-480F-8A14-004C3D835DF6}"/>
                </a:ext>
              </a:extLst>
            </p:cNvPr>
            <p:cNvSpPr/>
            <p:nvPr/>
          </p:nvSpPr>
          <p:spPr>
            <a:xfrm>
              <a:off x="5578475" y="3741094"/>
              <a:ext cx="1327150" cy="18596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4DCC03C-743E-4A70-B3D7-AEBCFEA3D557}"/>
                </a:ext>
              </a:extLst>
            </p:cNvPr>
            <p:cNvSpPr/>
            <p:nvPr/>
          </p:nvSpPr>
          <p:spPr>
            <a:xfrm>
              <a:off x="8235950" y="3732475"/>
              <a:ext cx="665312" cy="18596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8233535-0F46-4798-8076-BC23776C183D}"/>
                </a:ext>
              </a:extLst>
            </p:cNvPr>
            <p:cNvSpPr/>
            <p:nvPr/>
          </p:nvSpPr>
          <p:spPr>
            <a:xfrm>
              <a:off x="6704547" y="3239281"/>
              <a:ext cx="1428745" cy="3414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Average</a:t>
              </a: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Power Draw (W)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065AC3E5-1276-457B-96C7-02EF90AEE217}"/>
                </a:ext>
              </a:extLst>
            </p:cNvPr>
            <p:cNvCxnSpPr>
              <a:cxnSpLocks/>
            </p:cNvCxnSpPr>
            <p:nvPr/>
          </p:nvCxnSpPr>
          <p:spPr>
            <a:xfrm>
              <a:off x="8061325" y="3589382"/>
              <a:ext cx="174625" cy="134474"/>
            </a:xfrm>
            <a:prstGeom prst="line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EAF2DF3-7DD5-4588-BA44-93A2EA6A13EC}"/>
                </a:ext>
              </a:extLst>
            </p:cNvPr>
            <p:cNvSpPr/>
            <p:nvPr/>
          </p:nvSpPr>
          <p:spPr>
            <a:xfrm>
              <a:off x="242736" y="5600699"/>
              <a:ext cx="1668613" cy="74268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583EF025-93C4-4FAA-B29E-098265DB26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0209" y="5920007"/>
              <a:ext cx="224741" cy="137254"/>
            </a:xfrm>
            <a:prstGeom prst="line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D1386E04-6BCA-4077-ACCC-3A1F024E0BAC}"/>
                </a:ext>
              </a:extLst>
            </p:cNvPr>
            <p:cNvSpPr/>
            <p:nvPr/>
          </p:nvSpPr>
          <p:spPr>
            <a:xfrm>
              <a:off x="1985958" y="5664979"/>
              <a:ext cx="1751886" cy="3414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Parameter Setting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27C511E-C1AE-4419-8CBB-C80843E1ECC1}"/>
                </a:ext>
              </a:extLst>
            </p:cNvPr>
            <p:cNvSpPr/>
            <p:nvPr/>
          </p:nvSpPr>
          <p:spPr>
            <a:xfrm>
              <a:off x="6905624" y="5592081"/>
              <a:ext cx="1995637" cy="83153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E9B47A8-5EA2-430A-A83E-5F816EDDCDD5}"/>
                </a:ext>
              </a:extLst>
            </p:cNvPr>
            <p:cNvSpPr/>
            <p:nvPr/>
          </p:nvSpPr>
          <p:spPr>
            <a:xfrm>
              <a:off x="5383464" y="6097642"/>
              <a:ext cx="1428746" cy="3414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Analysis Results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1FAB56E1-7580-436E-B1F8-AFAEA84E7B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0842" y="6032423"/>
              <a:ext cx="214781" cy="203974"/>
            </a:xfrm>
            <a:prstGeom prst="line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27122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0E07C9-4E03-4006-BA7A-2728E74D0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Power Generation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9CA793-7BBD-4F5B-8DAA-74C0538A3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prstClr val="black"/>
                </a:solidFill>
              </a:rPr>
              <a:t>Mean Power Generation Analysis by LTAN &amp; Orientation</a:t>
            </a:r>
          </a:p>
          <a:p>
            <a:pPr lvl="1"/>
            <a:r>
              <a:rPr lang="en-US" altLang="ko-KR" dirty="0">
                <a:solidFill>
                  <a:prstClr val="black"/>
                </a:solidFill>
              </a:rPr>
              <a:t>To meet power requirements, </a:t>
            </a:r>
            <a:br>
              <a:rPr lang="en-US" altLang="ko-KR" dirty="0">
                <a:solidFill>
                  <a:prstClr val="black"/>
                </a:solidFill>
              </a:rPr>
            </a:br>
            <a:r>
              <a:rPr lang="en-US" altLang="ko-KR" b="1" dirty="0">
                <a:solidFill>
                  <a:srgbClr val="FF0000"/>
                </a:solidFill>
              </a:rPr>
              <a:t>normally orient to the Sun</a:t>
            </a:r>
          </a:p>
          <a:p>
            <a:pPr lvl="1"/>
            <a:r>
              <a:rPr lang="en-US" altLang="ko-KR" dirty="0">
                <a:solidFill>
                  <a:prstClr val="black"/>
                </a:solidFill>
              </a:rPr>
              <a:t>Reference orbit with </a:t>
            </a:r>
            <a:r>
              <a:rPr lang="en-US" altLang="ko-KR" b="1" dirty="0">
                <a:solidFill>
                  <a:srgbClr val="FF0000"/>
                </a:solidFill>
              </a:rPr>
              <a:t>700 km altitude </a:t>
            </a:r>
            <a:br>
              <a:rPr lang="en-US" altLang="ko-KR" b="1" dirty="0">
                <a:solidFill>
                  <a:srgbClr val="FF0000"/>
                </a:solidFill>
              </a:rPr>
            </a:br>
            <a:r>
              <a:rPr lang="en-US" altLang="ko-KR" b="1" dirty="0">
                <a:solidFill>
                  <a:srgbClr val="FF0000"/>
                </a:solidFill>
              </a:rPr>
              <a:t>&amp; LTAN16</a:t>
            </a:r>
            <a:r>
              <a:rPr lang="en-US" altLang="ko-KR" dirty="0">
                <a:solidFill>
                  <a:prstClr val="black"/>
                </a:solidFill>
              </a:rPr>
              <a:t> for system design &amp; analysis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F24633-C2BA-44BD-9E5B-BF803352A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21</a:t>
            </a:fld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D469DF-A7EB-44F5-A7BA-29F1D9D6573D}"/>
              </a:ext>
            </a:extLst>
          </p:cNvPr>
          <p:cNvSpPr txBox="1"/>
          <p:nvPr/>
        </p:nvSpPr>
        <p:spPr>
          <a:xfrm>
            <a:off x="261597" y="6423620"/>
            <a:ext cx="8639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&lt;Mean power generation by LTAN &amp; orientation&gt;</a:t>
            </a:r>
            <a:endParaRPr lang="ko-KR" altLang="en-US" sz="1200" b="1" dirty="0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26D647F9-0880-46EA-87E9-D8B720CA12B6}"/>
              </a:ext>
            </a:extLst>
          </p:cNvPr>
          <p:cNvGrpSpPr/>
          <p:nvPr/>
        </p:nvGrpSpPr>
        <p:grpSpPr>
          <a:xfrm>
            <a:off x="986977" y="2676072"/>
            <a:ext cx="6851707" cy="3731437"/>
            <a:chOff x="986977" y="2676070"/>
            <a:chExt cx="6851707" cy="3731437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033C1226-A8E8-4885-A5A5-28B5AECE2F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358" t="6232" r="2358" b="3853"/>
            <a:stretch/>
          </p:blipFill>
          <p:spPr>
            <a:xfrm>
              <a:off x="986977" y="2691560"/>
              <a:ext cx="6851707" cy="3715947"/>
            </a:xfrm>
            <a:prstGeom prst="rect">
              <a:avLst/>
            </a:prstGeom>
          </p:spPr>
        </p:pic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8C95F337-2154-4E4D-9220-A7C08D5D5AE8}"/>
                </a:ext>
              </a:extLst>
            </p:cNvPr>
            <p:cNvCxnSpPr>
              <a:cxnSpLocks/>
            </p:cNvCxnSpPr>
            <p:nvPr/>
          </p:nvCxnSpPr>
          <p:spPr>
            <a:xfrm>
              <a:off x="5702300" y="2676070"/>
              <a:ext cx="0" cy="302260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1EEDF809-A678-44EA-9C1B-1E798B730D8B}"/>
                </a:ext>
              </a:extLst>
            </p:cNvPr>
            <p:cNvCxnSpPr>
              <a:cxnSpLocks/>
            </p:cNvCxnSpPr>
            <p:nvPr/>
          </p:nvCxnSpPr>
          <p:spPr>
            <a:xfrm>
              <a:off x="5372100" y="3436504"/>
              <a:ext cx="330200" cy="417946"/>
            </a:xfrm>
            <a:prstGeom prst="line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8F9AD738-E68F-4B18-98A6-C4A78F5FE4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7650" y="4687454"/>
              <a:ext cx="374650" cy="323850"/>
            </a:xfrm>
            <a:prstGeom prst="line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160755C3-B508-4E91-8B43-BF6D31137AA8}"/>
                </a:ext>
              </a:extLst>
            </p:cNvPr>
            <p:cNvSpPr/>
            <p:nvPr/>
          </p:nvSpPr>
          <p:spPr>
            <a:xfrm>
              <a:off x="4572000" y="3175000"/>
              <a:ext cx="901695" cy="2615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rgbClr val="FF0000"/>
                  </a:solidFill>
                </a:rPr>
                <a:t>10.57 W</a:t>
              </a:r>
              <a:endParaRPr lang="ko-KR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A46755DB-2D73-4DD5-B354-E441465AA0F2}"/>
                </a:ext>
              </a:extLst>
            </p:cNvPr>
            <p:cNvSpPr/>
            <p:nvPr/>
          </p:nvSpPr>
          <p:spPr>
            <a:xfrm>
              <a:off x="4551512" y="5006416"/>
              <a:ext cx="901695" cy="2615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rgbClr val="0070C0"/>
                  </a:solidFill>
                </a:rPr>
                <a:t>5.15 W</a:t>
              </a:r>
              <a:endParaRPr lang="ko-KR" altLang="en-US" sz="1400" b="1" dirty="0">
                <a:solidFill>
                  <a:srgbClr val="0070C0"/>
                </a:solidFill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96C188BF-710A-4784-9A19-70D530FE5735}"/>
                </a:ext>
              </a:extLst>
            </p:cNvPr>
            <p:cNvSpPr/>
            <p:nvPr/>
          </p:nvSpPr>
          <p:spPr>
            <a:xfrm>
              <a:off x="5716067" y="2713615"/>
              <a:ext cx="901695" cy="2615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</a:rPr>
                <a:t>LTAN 16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656BAD56-87C1-47BF-A6AE-54253242EE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382418"/>
              </p:ext>
            </p:extLst>
          </p:nvPr>
        </p:nvGraphicFramePr>
        <p:xfrm>
          <a:off x="5163017" y="1383069"/>
          <a:ext cx="3735420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7710">
                  <a:extLst>
                    <a:ext uri="{9D8B030D-6E8A-4147-A177-3AD203B41FA5}">
                      <a16:colId xmlns:a16="http://schemas.microsoft.com/office/drawing/2014/main" val="897270910"/>
                    </a:ext>
                  </a:extLst>
                </a:gridCol>
                <a:gridCol w="1867710">
                  <a:extLst>
                    <a:ext uri="{9D8B030D-6E8A-4147-A177-3AD203B41FA5}">
                      <a16:colId xmlns:a16="http://schemas.microsoft.com/office/drawing/2014/main" val="1772183453"/>
                    </a:ext>
                  </a:extLst>
                </a:gridCol>
              </a:tblGrid>
              <a:tr h="2663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Orientation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Mean Power 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Generation (W)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692800"/>
                  </a:ext>
                </a:extLst>
              </a:tr>
              <a:tr h="2663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Sun-pointing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+mn-lt"/>
                        </a:rPr>
                        <a:t>10.49~16.32</a:t>
                      </a:r>
                      <a:endParaRPr lang="ko-KR" altLang="en-US" sz="1400" b="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408298"/>
                  </a:ext>
                </a:extLst>
              </a:tr>
              <a:tr h="2663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Nadir-pointing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+mn-lt"/>
                        </a:rPr>
                        <a:t>2.00~5.67</a:t>
                      </a:r>
                      <a:endParaRPr lang="ko-KR" altLang="en-US" sz="1400" b="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632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89899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2FB53-EDCB-4228-80F0-E85BD44EA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Operations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506E8A-D722-410A-95D6-E8DB2F861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Components Duty Rate by Scenarios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E989CC-9403-40AE-A861-97CE52EB2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22</a:t>
            </a:fld>
            <a:r>
              <a:rPr lang="en-US" altLang="ko-KR"/>
              <a:t> 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540288B-0E96-4529-A139-DCA94BC6D3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328609"/>
              </p:ext>
            </p:extLst>
          </p:nvPr>
        </p:nvGraphicFramePr>
        <p:xfrm>
          <a:off x="261597" y="1397996"/>
          <a:ext cx="8640000" cy="4989776"/>
        </p:xfrm>
        <a:graphic>
          <a:graphicData uri="http://schemas.openxmlformats.org/drawingml/2006/table">
            <a:tbl>
              <a:tblPr/>
              <a:tblGrid>
                <a:gridCol w="864000">
                  <a:extLst>
                    <a:ext uri="{9D8B030D-6E8A-4147-A177-3AD203B41FA5}">
                      <a16:colId xmlns:a16="http://schemas.microsoft.com/office/drawing/2014/main" val="398134085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32311673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14908154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66043979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2939513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38372365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92390107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70586064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19148728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156263426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Contents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Normal Mode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Mission</a:t>
                      </a:r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Mode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Communication</a:t>
                      </a:r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Mode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Charge</a:t>
                      </a:r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Mode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66588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Component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Sub-</a:t>
                      </a:r>
                    </a:p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system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Daylight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Eclipse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Daylight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Eclipse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Daylight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Eclipse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Daylight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Eclipse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46499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CAM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Payload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300 sec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974758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BBB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Payload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600 sec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902188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OBC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CNDH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696261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Temp. Sensor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CNDH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423795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IMU/MMT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ADCS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67671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FSS/CSS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ADCS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11477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GPS RX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ADCS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7232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STT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ADCS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7030A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1000 sec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7030A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(1000 sec)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7030A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(1000 sec)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8169648"/>
                  </a:ext>
                </a:extLst>
              </a:tr>
              <a:tr h="4608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MTQ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ADCS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 sec on 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(20% mag.) : 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 sec off 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 sec on 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(20% mag.) : 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 sec off 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 sec on </a:t>
                      </a:r>
                    </a:p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(40% mag.) : </a:t>
                      </a:r>
                    </a:p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 sec off 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 sec on </a:t>
                      </a:r>
                    </a:p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(40% mag.) : </a:t>
                      </a:r>
                    </a:p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 sec off 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 sec on </a:t>
                      </a:r>
                    </a:p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(40% mag.) : </a:t>
                      </a:r>
                    </a:p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 sec off 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 sec on </a:t>
                      </a:r>
                    </a:p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(40% mag.) : </a:t>
                      </a:r>
                    </a:p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 sec off 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 sec on 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(20% mag.) : 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 sec off 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 sec on 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(20% mag.) : 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 sec off 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21983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RWA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ADCS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 sec Torque : </a:t>
                      </a:r>
                    </a:p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9 sec Speed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 sec Torque : </a:t>
                      </a:r>
                    </a:p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9 sec Speed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 sec Torque : 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8 sec Speed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 sec Torque : </a:t>
                      </a:r>
                    </a:p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9 sec Speed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(2 sec Torque :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8 sec Speed)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(2 sec Torque :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8 sec Speed)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 sec Torque : </a:t>
                      </a:r>
                    </a:p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9 sec Speed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 sec Torque : </a:t>
                      </a:r>
                    </a:p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9 sec Speed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489269"/>
                  </a:ext>
                </a:extLst>
              </a:tr>
              <a:tr h="4608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UHF TRX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COMS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 sec Tx : </a:t>
                      </a:r>
                    </a:p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30 sec Rx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 sec Tx : </a:t>
                      </a:r>
                    </a:p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30 sec Rx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 sec Tx : </a:t>
                      </a:r>
                    </a:p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30 sec Rx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 sec Tx : </a:t>
                      </a:r>
                    </a:p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30 sec Rx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 sec Tx </a:t>
                      </a:r>
                    </a:p>
                    <a:p>
                      <a:pPr algn="ctr" fontAlgn="ctr"/>
                      <a:r>
                        <a:rPr lang="fr-FR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(300 sec Tx) : </a:t>
                      </a:r>
                    </a:p>
                    <a:p>
                      <a:pPr algn="ctr" fontAlgn="ctr"/>
                      <a:r>
                        <a:rPr lang="fr-FR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30 sec Rx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 sec Tx </a:t>
                      </a:r>
                    </a:p>
                    <a:p>
                      <a:pPr algn="ctr" fontAlgn="ctr"/>
                      <a:r>
                        <a:rPr lang="fr-FR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(300 sec Tx) : </a:t>
                      </a:r>
                    </a:p>
                    <a:p>
                      <a:pPr algn="ctr" fontAlgn="ctr"/>
                      <a:r>
                        <a:rPr lang="fr-FR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30 sec Rx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 sec Tx : </a:t>
                      </a:r>
                    </a:p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30 sec Rx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 sec Tx : </a:t>
                      </a:r>
                    </a:p>
                    <a:p>
                      <a:pPr algn="ctr" fontAlgn="ctr"/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30 sec Rx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5016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S-band TX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COMS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 </a:t>
                      </a:r>
                    </a:p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(600 sec Tx)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 </a:t>
                      </a:r>
                    </a:p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(600 sec Tx)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off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11399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PCDU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EPS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55581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Battery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EPS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always </a:t>
                      </a:r>
                    </a:p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(w/o heater)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always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(w/o heater)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always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(w/o heater)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always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(w/o heater)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always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(w/o heater)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always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(w/o heater)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always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(w/o heater)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always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(w/o heater)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7423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A3C441E-01A6-4BA6-ABC6-917F01B6F181}"/>
              </a:ext>
            </a:extLst>
          </p:cNvPr>
          <p:cNvSpPr txBox="1"/>
          <p:nvPr/>
        </p:nvSpPr>
        <p:spPr>
          <a:xfrm>
            <a:off x="261597" y="6423620"/>
            <a:ext cx="8639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&lt;Summary of components duty rate by scenarios&gt;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9999079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3B3C508-6CA8-4E2A-A32C-CC7C59577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Electrical Power Margin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1DBD927-9D02-4F42-B2A0-35D6F1DAA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Summary of Results</a:t>
            </a:r>
          </a:p>
          <a:p>
            <a:pPr lvl="1"/>
            <a:r>
              <a:rPr lang="en-US" altLang="ko-KR" dirty="0"/>
              <a:t>Electrical power margin &gt; 41.42% at communication mode (&gt; 40% always)</a:t>
            </a:r>
          </a:p>
          <a:p>
            <a:pPr lvl="1"/>
            <a:r>
              <a:rPr lang="en-US" altLang="ko-KR" dirty="0"/>
              <a:t>Required battery capacity &gt; 18.63 </a:t>
            </a:r>
            <a:r>
              <a:rPr lang="en-US" altLang="ko-KR" dirty="0" err="1"/>
              <a:t>Wh</a:t>
            </a:r>
            <a:r>
              <a:rPr lang="en-US" altLang="ko-KR" dirty="0"/>
              <a:t> (with depth of discharge 20%)</a:t>
            </a:r>
          </a:p>
          <a:p>
            <a:pPr lvl="1"/>
            <a:r>
              <a:rPr lang="en-US" altLang="ko-KR" dirty="0"/>
              <a:t>Max. channel load &lt; 1.88 A (&lt; 2.0 A per each channel)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7BDC15-27FE-421D-B85F-40373D20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23</a:t>
            </a:fld>
            <a:r>
              <a:rPr lang="en-US" altLang="ko-KR"/>
              <a:t>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E3B014B-E20D-44B8-9ECA-83225DF6A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75429"/>
              </p:ext>
            </p:extLst>
          </p:nvPr>
        </p:nvGraphicFramePr>
        <p:xfrm>
          <a:off x="252166" y="2351358"/>
          <a:ext cx="8649096" cy="3744000"/>
        </p:xfrm>
        <a:graphic>
          <a:graphicData uri="http://schemas.openxmlformats.org/drawingml/2006/table">
            <a:tbl>
              <a:tblPr/>
              <a:tblGrid>
                <a:gridCol w="1751741">
                  <a:extLst>
                    <a:ext uri="{9D8B030D-6E8A-4147-A177-3AD203B41FA5}">
                      <a16:colId xmlns:a16="http://schemas.microsoft.com/office/drawing/2014/main" val="1430809963"/>
                    </a:ext>
                  </a:extLst>
                </a:gridCol>
                <a:gridCol w="1200650">
                  <a:extLst>
                    <a:ext uri="{9D8B030D-6E8A-4147-A177-3AD203B41FA5}">
                      <a16:colId xmlns:a16="http://schemas.microsoft.com/office/drawing/2014/main" val="178045567"/>
                    </a:ext>
                  </a:extLst>
                </a:gridCol>
                <a:gridCol w="1139341">
                  <a:extLst>
                    <a:ext uri="{9D8B030D-6E8A-4147-A177-3AD203B41FA5}">
                      <a16:colId xmlns:a16="http://schemas.microsoft.com/office/drawing/2014/main" val="3355926984"/>
                    </a:ext>
                  </a:extLst>
                </a:gridCol>
                <a:gridCol w="1139341">
                  <a:extLst>
                    <a:ext uri="{9D8B030D-6E8A-4147-A177-3AD203B41FA5}">
                      <a16:colId xmlns:a16="http://schemas.microsoft.com/office/drawing/2014/main" val="1319794837"/>
                    </a:ext>
                  </a:extLst>
                </a:gridCol>
                <a:gridCol w="1139341">
                  <a:extLst>
                    <a:ext uri="{9D8B030D-6E8A-4147-A177-3AD203B41FA5}">
                      <a16:colId xmlns:a16="http://schemas.microsoft.com/office/drawing/2014/main" val="624048298"/>
                    </a:ext>
                  </a:extLst>
                </a:gridCol>
                <a:gridCol w="1139341">
                  <a:extLst>
                    <a:ext uri="{9D8B030D-6E8A-4147-A177-3AD203B41FA5}">
                      <a16:colId xmlns:a16="http://schemas.microsoft.com/office/drawing/2014/main" val="207114144"/>
                    </a:ext>
                  </a:extLst>
                </a:gridCol>
                <a:gridCol w="1139341">
                  <a:extLst>
                    <a:ext uri="{9D8B030D-6E8A-4147-A177-3AD203B41FA5}">
                      <a16:colId xmlns:a16="http://schemas.microsoft.com/office/drawing/2014/main" val="4096718221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Operational Modes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spc="-4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Detumbling*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spc="-4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Normal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spc="-4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Mission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spc="-4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Communication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spc="-4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Charge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31968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spc="-4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Power Consumption (W)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spc="-4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Total Average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3.43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5.56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2.34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138037"/>
                  </a:ext>
                </a:extLst>
              </a:tr>
              <a:tr h="288000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spc="-4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Peak Load (A)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spc="-4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3.3 V (Mother)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1.17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43218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spc="-4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 V (Mother)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44926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spc="-4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 V (Daughter)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61137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spc="-4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12 V (Daughter)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6576304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spc="-4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VBATT (Mother)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096814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spc="-4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Total Battery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1.51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05983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spc="-4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Power Generation (W)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spc="-4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Orbit Average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2.53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10.57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9.49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9.49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10.57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73021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spc="-4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Power Margin Value (W)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7.14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4.41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3.93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8.23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259816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spc="-4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Power Margin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54.27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67.59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46.49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41.42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77.82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4839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spc="-4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Battery Capacity (</a:t>
                      </a:r>
                      <a:r>
                        <a:rPr lang="en-US" sz="1200" b="1" i="0" u="none" strike="noStrike" spc="-40" baseline="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Wh</a:t>
                      </a:r>
                      <a:r>
                        <a:rPr lang="en-US" sz="1200" b="1" i="0" u="none" strike="noStrike" spc="-4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3.88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12.37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18.33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18.63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7.86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73636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spc="-4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Battery Capacity (Ah)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1.27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1.29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0.55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7452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0B1738F-C7D1-438C-B338-54CA83118B73}"/>
              </a:ext>
            </a:extLst>
          </p:cNvPr>
          <p:cNvSpPr txBox="1"/>
          <p:nvPr/>
        </p:nvSpPr>
        <p:spPr>
          <a:xfrm>
            <a:off x="261597" y="6423620"/>
            <a:ext cx="8639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&lt;Summary of electrical power budget results&gt;</a:t>
            </a:r>
            <a:endParaRPr lang="ko-KR" altLang="en-US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868A7C-0A98-484C-81FB-CAD8CD0F14E8}"/>
              </a:ext>
            </a:extLst>
          </p:cNvPr>
          <p:cNvSpPr txBox="1"/>
          <p:nvPr/>
        </p:nvSpPr>
        <p:spPr>
          <a:xfrm>
            <a:off x="271028" y="6158924"/>
            <a:ext cx="8639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* Detumbling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Case: MTQ duty rate = 15% &amp; OBC/FSS/CSS/Temp. Sensor/Beacon On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834059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E3242-053D-4559-A53C-3A0F7F512F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Energy Balance Analysis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36911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CEE7BD8-B5B0-42A1-A4B6-78E83762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Overview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E74BD06-F824-44D1-BD31-EC8B2DD30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Energy Balance Analysis</a:t>
            </a:r>
          </a:p>
          <a:p>
            <a:pPr lvl="1"/>
            <a:r>
              <a:rPr lang="en-US" altLang="ko-KR" dirty="0"/>
              <a:t>Current dynamics modeling</a:t>
            </a:r>
          </a:p>
          <a:p>
            <a:pPr lvl="2"/>
            <a:r>
              <a:rPr lang="en-US" altLang="ko-KR" dirty="0"/>
              <a:t>Li-ion battery model (ISIS battery pack, 14.4 V &amp; 45 </a:t>
            </a:r>
            <a:r>
              <a:rPr lang="en-US" altLang="ko-KR" dirty="0" err="1"/>
              <a:t>Wh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PV cell array model (Triple Junction AZUR solar cell, 30% efficiency)</a:t>
            </a:r>
          </a:p>
          <a:p>
            <a:pPr lvl="1"/>
            <a:r>
              <a:rPr lang="en-US" altLang="ko-KR" dirty="0"/>
              <a:t>Battery SoC affected by power generation and consumption</a:t>
            </a:r>
          </a:p>
          <a:p>
            <a:pPr lvl="2"/>
            <a:r>
              <a:rPr lang="en-US" altLang="ko-KR" dirty="0"/>
              <a:t>Balanced SoC over orbital period </a:t>
            </a:r>
          </a:p>
          <a:p>
            <a:pPr lvl="2"/>
            <a:r>
              <a:rPr lang="en-US" altLang="ko-KR" dirty="0"/>
              <a:t>Minimized DoD over mission lifetime</a:t>
            </a:r>
          </a:p>
          <a:p>
            <a:pPr lvl="2"/>
            <a:r>
              <a:rPr lang="en-US" altLang="ko-KR" b="1" u="sng" dirty="0"/>
              <a:t>MPPT efficiency</a:t>
            </a:r>
            <a:r>
              <a:rPr lang="en-US" altLang="ko-KR" dirty="0"/>
              <a:t> affected by body spins </a:t>
            </a:r>
            <a:r>
              <a:rPr lang="en-US" altLang="ko-KR" dirty="0">
                <a:cs typeface="Calibri" panose="020F0502020204030204" pitchFamily="34" charset="0"/>
              </a:rPr>
              <a:t>(</a:t>
            </a:r>
            <a:r>
              <a:rPr lang="en-US" altLang="ko-KR" dirty="0" err="1">
                <a:cs typeface="Calibri" panose="020F0502020204030204" pitchFamily="34" charset="0"/>
              </a:rPr>
              <a:t>Erb</a:t>
            </a:r>
            <a:r>
              <a:rPr lang="en-US" altLang="ko-KR" dirty="0">
                <a:cs typeface="Calibri" panose="020F0502020204030204" pitchFamily="34" charset="0"/>
              </a:rPr>
              <a:t> et al., 2011)</a:t>
            </a:r>
          </a:p>
          <a:p>
            <a:pPr lvl="3"/>
            <a:r>
              <a:rPr lang="en-US" altLang="ko-KR" dirty="0">
                <a:cs typeface="Calibri" panose="020F0502020204030204" pitchFamily="34" charset="0"/>
              </a:rPr>
              <a:t>BCR with constant current charging method (fractional open circuit voltage/current)</a:t>
            </a:r>
          </a:p>
          <a:p>
            <a:pPr lvl="2"/>
            <a:r>
              <a:rPr lang="en-US" altLang="ko-KR" b="1" u="sng" dirty="0">
                <a:cs typeface="Calibri" panose="020F0502020204030204" pitchFamily="34" charset="0"/>
              </a:rPr>
              <a:t>PCM output efficiency</a:t>
            </a:r>
            <a:r>
              <a:rPr lang="en-US" altLang="ko-KR" dirty="0">
                <a:cs typeface="Calibri" panose="020F0502020204030204" pitchFamily="34" charset="0"/>
              </a:rPr>
              <a:t> by electrical load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77136F-896B-4975-A52A-EECFB85A1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25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7F9CD00-3E3D-4F84-A623-9A115F3F1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953" y="4167187"/>
            <a:ext cx="3675647" cy="22383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C751C16-8EA4-434C-BB71-9A15BC774B71}"/>
              </a:ext>
            </a:extLst>
          </p:cNvPr>
          <p:cNvSpPr txBox="1"/>
          <p:nvPr/>
        </p:nvSpPr>
        <p:spPr>
          <a:xfrm>
            <a:off x="4955553" y="6423620"/>
            <a:ext cx="3945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&lt;Energy balance analysis flow diagram&gt;</a:t>
            </a:r>
            <a:endParaRPr lang="ko-KR" altLang="en-US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42D70D-B4A6-42F6-BE23-1D4CF2A7258F}"/>
              </a:ext>
            </a:extLst>
          </p:cNvPr>
          <p:cNvSpPr txBox="1"/>
          <p:nvPr/>
        </p:nvSpPr>
        <p:spPr>
          <a:xfrm>
            <a:off x="261597" y="6423620"/>
            <a:ext cx="4693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&lt;Configuration of EPS components&gt;</a:t>
            </a:r>
            <a:endParaRPr lang="ko-KR" altLang="en-US" sz="1200" b="1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E61D96A-D1F1-4348-B8A7-B56EEA659010}"/>
              </a:ext>
            </a:extLst>
          </p:cNvPr>
          <p:cNvGrpSpPr/>
          <p:nvPr/>
        </p:nvGrpSpPr>
        <p:grpSpPr>
          <a:xfrm>
            <a:off x="344387" y="4210730"/>
            <a:ext cx="4511161" cy="2232264"/>
            <a:chOff x="344387" y="4167188"/>
            <a:chExt cx="4511161" cy="2232264"/>
          </a:xfrm>
        </p:grpSpPr>
        <p:pic>
          <p:nvPicPr>
            <p:cNvPr id="3078" name="Picture 6" descr="CubeSat and nano-satellite components | Innovative Solutions In Space">
              <a:extLst>
                <a:ext uri="{FF2B5EF4-FFF2-40B4-BE49-F238E27FC236}">
                  <a16:creationId xmlns:a16="http://schemas.microsoft.com/office/drawing/2014/main" id="{6D09F5E1-2295-4892-A4B8-30D3E565AD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81" t="9428" r="16990" b="13571"/>
            <a:stretch/>
          </p:blipFill>
          <p:spPr bwMode="auto">
            <a:xfrm>
              <a:off x="2474297" y="4661237"/>
              <a:ext cx="2381251" cy="14668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6981B367-A884-4C59-8D9B-CF02613FF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1500" y="4167188"/>
              <a:ext cx="1891836" cy="2069314"/>
            </a:xfrm>
            <a:prstGeom prst="rect">
              <a:avLst/>
            </a:prstGeom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6CCD98A-B985-436D-869A-79DA9E1EC957}"/>
                </a:ext>
              </a:extLst>
            </p:cNvPr>
            <p:cNvSpPr/>
            <p:nvPr/>
          </p:nvSpPr>
          <p:spPr>
            <a:xfrm>
              <a:off x="1967840" y="4234310"/>
              <a:ext cx="1395896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Integrated PCDU &amp; Battery (Type C)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BBD448EA-9E26-48CB-A9CD-25705F1FE6A1}"/>
                </a:ext>
              </a:extLst>
            </p:cNvPr>
            <p:cNvSpPr/>
            <p:nvPr/>
          </p:nvSpPr>
          <p:spPr>
            <a:xfrm>
              <a:off x="344387" y="5286374"/>
              <a:ext cx="728042" cy="1898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PCDU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3D99EBF9-3439-4E74-984E-35C3518356FB}"/>
                </a:ext>
              </a:extLst>
            </p:cNvPr>
            <p:cNvSpPr/>
            <p:nvPr/>
          </p:nvSpPr>
          <p:spPr>
            <a:xfrm>
              <a:off x="344387" y="6209571"/>
              <a:ext cx="728042" cy="1898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Battery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B95862F8-B3C2-4B50-A4AD-7AC05BB715AF}"/>
                </a:ext>
              </a:extLst>
            </p:cNvPr>
            <p:cNvSpPr/>
            <p:nvPr/>
          </p:nvSpPr>
          <p:spPr>
            <a:xfrm>
              <a:off x="3195748" y="6200356"/>
              <a:ext cx="938348" cy="1898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Solar Array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69957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98CE40-D1B3-4DC5-AC0A-01858B8E3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Mathematical Model [1/6]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2AD54C-6060-40E6-8077-D31E31D2F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Generic Battery Dynamic Model </a:t>
            </a:r>
            <a:r>
              <a:rPr lang="en-US" altLang="ko-KR" dirty="0">
                <a:sym typeface="Wingdings" panose="05000000000000000000" pitchFamily="2" charset="2"/>
              </a:rPr>
              <a:t> “Non-linearity”</a:t>
            </a:r>
            <a:endParaRPr lang="en-US" altLang="ko-KR" dirty="0"/>
          </a:p>
          <a:p>
            <a:pPr lvl="1"/>
            <a:r>
              <a:rPr lang="en-US" altLang="ko-KR" dirty="0"/>
              <a:t>Charge current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Discharge current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Perturbations</a:t>
            </a:r>
          </a:p>
          <a:p>
            <a:pPr lvl="2"/>
            <a:r>
              <a:rPr lang="en-US" altLang="ko-KR" dirty="0"/>
              <a:t>Temperature effect, aging effect, …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71A9687-18F1-4D0C-9A85-AB4E9F798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D0AEF8-7BAE-4B11-BF0A-7185DF912666}"/>
                  </a:ext>
                </a:extLst>
              </p:cNvPr>
              <p:cNvSpPr txBox="1"/>
              <p:nvPr/>
            </p:nvSpPr>
            <p:spPr>
              <a:xfrm>
                <a:off x="845957" y="1749056"/>
                <a:ext cx="3746860" cy="5042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𝐴𝑒𝑥𝑝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D0AEF8-7BAE-4B11-BF0A-7185DF912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957" y="1749056"/>
                <a:ext cx="3746860" cy="5042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19E34A-FACF-4946-AF1F-16E5E9282ED5}"/>
                  </a:ext>
                </a:extLst>
              </p:cNvPr>
              <p:cNvSpPr txBox="1"/>
              <p:nvPr/>
            </p:nvSpPr>
            <p:spPr>
              <a:xfrm>
                <a:off x="830892" y="2762693"/>
                <a:ext cx="4602414" cy="5042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−0.1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sSup>
                        <m:sSup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  <m:f>
                        <m:f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𝐴𝑒𝑥𝑝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19E34A-FACF-4946-AF1F-16E5E9282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892" y="2762693"/>
                <a:ext cx="4602414" cy="5042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7C5D9C-242B-4614-B80C-A7E17AAD5C5B}"/>
                  </a:ext>
                </a:extLst>
              </p:cNvPr>
              <p:cNvSpPr txBox="1"/>
              <p:nvPr/>
            </p:nvSpPr>
            <p:spPr>
              <a:xfrm>
                <a:off x="5760785" y="1483587"/>
                <a:ext cx="2809359" cy="6458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𝑆𝑂𝐶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𝑆𝑂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100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</m:sup>
                              </m:sSup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3600</m:t>
                              </m:r>
                            </m:den>
                          </m:f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7C5D9C-242B-4614-B80C-A7E17AAD5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785" y="1483587"/>
                <a:ext cx="2809359" cy="6458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그룹 24">
            <a:extLst>
              <a:ext uri="{FF2B5EF4-FFF2-40B4-BE49-F238E27FC236}">
                <a16:creationId xmlns:a16="http://schemas.microsoft.com/office/drawing/2014/main" id="{7C1028D9-35A3-4E1E-A5FF-8508B45DAB5A}"/>
              </a:ext>
            </a:extLst>
          </p:cNvPr>
          <p:cNvGrpSpPr/>
          <p:nvPr/>
        </p:nvGrpSpPr>
        <p:grpSpPr>
          <a:xfrm>
            <a:off x="5461392" y="2056452"/>
            <a:ext cx="3371302" cy="1852173"/>
            <a:chOff x="5679106" y="2738804"/>
            <a:chExt cx="3371302" cy="18521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E2AA6103-54EC-48EB-9E49-D4318A1E57CE}"/>
                    </a:ext>
                  </a:extLst>
                </p:cNvPr>
                <p:cNvSpPr/>
                <p:nvPr/>
              </p:nvSpPr>
              <p:spPr>
                <a:xfrm>
                  <a:off x="5736297" y="3251203"/>
                  <a:ext cx="2267159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altLang="ko-KR" sz="1400" dirty="0">
                      <a:cs typeface="times" panose="02020603050405020304" pitchFamily="18" charset="0"/>
                    </a:rPr>
                    <a:t>: extracted capacity (Ah)</a:t>
                  </a:r>
                  <a:endParaRPr lang="ko-KR" altLang="en-US" sz="1400" dirty="0">
                    <a:cs typeface="times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E2AA6103-54EC-48EB-9E49-D4318A1E57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6297" y="3251203"/>
                  <a:ext cx="2267159" cy="307777"/>
                </a:xfrm>
                <a:prstGeom prst="rect">
                  <a:avLst/>
                </a:prstGeom>
                <a:blipFill>
                  <a:blip r:embed="rId6"/>
                  <a:stretch>
                    <a:fillRect t="-1961" b="-1960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C5CE8FE2-8C30-4353-AB24-6F4A67A72A58}"/>
                    </a:ext>
                  </a:extLst>
                </p:cNvPr>
                <p:cNvSpPr/>
                <p:nvPr/>
              </p:nvSpPr>
              <p:spPr>
                <a:xfrm>
                  <a:off x="5729947" y="3525754"/>
                  <a:ext cx="3320461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a14:m>
                  <a:r>
                    <a:rPr lang="en-US" altLang="ko-KR" sz="1400" dirty="0">
                      <a:cs typeface="times" panose="02020603050405020304" pitchFamily="18" charset="0"/>
                    </a:rPr>
                    <a:t>: low frequency current dynamics (A)</a:t>
                  </a:r>
                  <a:endParaRPr lang="ko-KR" altLang="en-US" sz="1400" dirty="0">
                    <a:cs typeface="times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C5CE8FE2-8C30-4353-AB24-6F4A67A72A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9947" y="3525754"/>
                  <a:ext cx="3320461" cy="307777"/>
                </a:xfrm>
                <a:prstGeom prst="rect">
                  <a:avLst/>
                </a:prstGeom>
                <a:blipFill>
                  <a:blip r:embed="rId7"/>
                  <a:stretch>
                    <a:fillRect t="-1961" b="-1960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F641F285-06D8-421C-89C9-33D99A0CDA29}"/>
                    </a:ext>
                  </a:extLst>
                </p:cNvPr>
                <p:cNvSpPr/>
                <p:nvPr/>
              </p:nvSpPr>
              <p:spPr>
                <a:xfrm>
                  <a:off x="5748204" y="3780621"/>
                  <a:ext cx="191962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𝑖</m:t>
                      </m:r>
                    </m:oMath>
                  </a14:m>
                  <a:r>
                    <a:rPr lang="en-US" altLang="ko-KR" sz="1400" dirty="0">
                      <a:cs typeface="times" panose="02020603050405020304" pitchFamily="18" charset="0"/>
                    </a:rPr>
                    <a:t> : battery current (A)</a:t>
                  </a:r>
                  <a:endParaRPr lang="ko-KR" altLang="en-US" sz="1400" dirty="0">
                    <a:cs typeface="times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F641F285-06D8-421C-89C9-33D99A0CDA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8204" y="3780621"/>
                  <a:ext cx="1919628" cy="307777"/>
                </a:xfrm>
                <a:prstGeom prst="rect">
                  <a:avLst/>
                </a:prstGeom>
                <a:blipFill>
                  <a:blip r:embed="rId8"/>
                  <a:stretch>
                    <a:fillRect t="-3922" b="-1960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29FE33CD-6EB1-4D6C-B775-730DE34000D4}"/>
                    </a:ext>
                  </a:extLst>
                </p:cNvPr>
                <p:cNvSpPr/>
                <p:nvPr/>
              </p:nvSpPr>
              <p:spPr>
                <a:xfrm>
                  <a:off x="5733081" y="2993504"/>
                  <a:ext cx="2548775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a14:m>
                  <a:r>
                    <a:rPr lang="en-US" altLang="ko-KR" sz="1400" dirty="0">
                      <a:cs typeface="times" panose="02020603050405020304" pitchFamily="18" charset="0"/>
                    </a:rPr>
                    <a:t>: polarization resistance (</a:t>
                  </a:r>
                  <a:r>
                    <a:rPr lang="el-GR" altLang="ko-KR" sz="1400" dirty="0">
                      <a:cs typeface="times" panose="02020603050405020304" pitchFamily="18" charset="0"/>
                    </a:rPr>
                    <a:t>Ω</a:t>
                  </a:r>
                  <a:r>
                    <a:rPr lang="en-US" altLang="ko-KR" sz="1400" dirty="0">
                      <a:cs typeface="times" panose="02020603050405020304" pitchFamily="18" charset="0"/>
                    </a:rPr>
                    <a:t>)</a:t>
                  </a:r>
                  <a:endParaRPr lang="ko-KR" altLang="en-US" sz="1400" dirty="0">
                    <a:cs typeface="times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29FE33CD-6EB1-4D6C-B775-730DE34000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3081" y="2993504"/>
                  <a:ext cx="2548775" cy="307777"/>
                </a:xfrm>
                <a:prstGeom prst="rect">
                  <a:avLst/>
                </a:prstGeom>
                <a:blipFill>
                  <a:blip r:embed="rId9"/>
                  <a:stretch>
                    <a:fillRect t="-3922" b="-1960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DE7A827-6FD5-48FC-AEEF-7BD146C3078B}"/>
                    </a:ext>
                  </a:extLst>
                </p:cNvPr>
                <p:cNvSpPr/>
                <p:nvPr/>
              </p:nvSpPr>
              <p:spPr>
                <a:xfrm>
                  <a:off x="5679106" y="2738804"/>
                  <a:ext cx="2112951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altLang="ko-KR" sz="1400" dirty="0">
                      <a:cs typeface="times" panose="02020603050405020304" pitchFamily="18" charset="0"/>
                    </a:rPr>
                    <a:t>: constant voltage (V)</a:t>
                  </a:r>
                  <a:endParaRPr lang="ko-KR" altLang="en-US" sz="1400" dirty="0">
                    <a:cs typeface="times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DE7A827-6FD5-48FC-AEEF-7BD146C307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9106" y="2738804"/>
                  <a:ext cx="2112951" cy="307777"/>
                </a:xfrm>
                <a:prstGeom prst="rect">
                  <a:avLst/>
                </a:prstGeom>
                <a:blipFill>
                  <a:blip r:embed="rId10"/>
                  <a:stretch>
                    <a:fillRect t="-1961" b="-1960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42FE0275-E60F-4452-BE65-BD16807F1443}"/>
                    </a:ext>
                  </a:extLst>
                </p:cNvPr>
                <p:cNvSpPr/>
                <p:nvPr/>
              </p:nvSpPr>
              <p:spPr>
                <a:xfrm>
                  <a:off x="5701372" y="4033077"/>
                  <a:ext cx="2355709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𝐴</m:t>
                      </m:r>
                    </m:oMath>
                  </a14:m>
                  <a:r>
                    <a:rPr lang="en-US" altLang="ko-KR" sz="1400" dirty="0">
                      <a:cs typeface="times" panose="02020603050405020304" pitchFamily="18" charset="0"/>
                    </a:rPr>
                    <a:t> : exponential voltage (V)</a:t>
                  </a:r>
                  <a:endParaRPr lang="ko-KR" altLang="en-US" sz="1400" dirty="0">
                    <a:cs typeface="times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42FE0275-E60F-4452-BE65-BD16807F14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1372" y="4033077"/>
                  <a:ext cx="2355709" cy="307777"/>
                </a:xfrm>
                <a:prstGeom prst="rect">
                  <a:avLst/>
                </a:prstGeom>
                <a:blipFill>
                  <a:blip r:embed="rId11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직사각형 23">
                  <a:extLst>
                    <a:ext uri="{FF2B5EF4-FFF2-40B4-BE49-F238E27FC236}">
                      <a16:creationId xmlns:a16="http://schemas.microsoft.com/office/drawing/2014/main" id="{83A7BD45-F183-4553-8319-9D12ACC776C6}"/>
                    </a:ext>
                  </a:extLst>
                </p:cNvPr>
                <p:cNvSpPr/>
                <p:nvPr/>
              </p:nvSpPr>
              <p:spPr>
                <a:xfrm>
                  <a:off x="5697285" y="4283200"/>
                  <a:ext cx="2645917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cs typeface="times" panose="02020603050405020304" pitchFamily="18" charset="0"/>
                        </a:rPr>
                        <m:t>𝐵</m:t>
                      </m:r>
                    </m:oMath>
                  </a14:m>
                  <a:r>
                    <a:rPr lang="en-US" altLang="ko-KR" sz="1400" dirty="0">
                      <a:cs typeface="times" panose="02020603050405020304" pitchFamily="18" charset="0"/>
                    </a:rPr>
                    <a:t> : exponential capacity (Ah</a:t>
                  </a:r>
                  <a:r>
                    <a:rPr lang="en-US" altLang="ko-KR" sz="1400" baseline="30000" dirty="0">
                      <a:cs typeface="times" panose="02020603050405020304" pitchFamily="18" charset="0"/>
                    </a:rPr>
                    <a:t>-1</a:t>
                  </a:r>
                  <a:r>
                    <a:rPr lang="en-US" altLang="ko-KR" sz="1400" dirty="0">
                      <a:cs typeface="times" panose="02020603050405020304" pitchFamily="18" charset="0"/>
                    </a:rPr>
                    <a:t>)</a:t>
                  </a:r>
                  <a:endParaRPr lang="ko-KR" altLang="en-US" sz="1400" dirty="0">
                    <a:cs typeface="times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직사각형 23">
                  <a:extLst>
                    <a:ext uri="{FF2B5EF4-FFF2-40B4-BE49-F238E27FC236}">
                      <a16:creationId xmlns:a16="http://schemas.microsoft.com/office/drawing/2014/main" id="{83A7BD45-F183-4553-8319-9D12ACC776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7285" y="4283200"/>
                  <a:ext cx="2645917" cy="307777"/>
                </a:xfrm>
                <a:prstGeom prst="rect">
                  <a:avLst/>
                </a:prstGeom>
                <a:blipFill>
                  <a:blip r:embed="rId12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F34AE63-B5F5-49FF-B1BC-866A00674EDA}"/>
              </a:ext>
            </a:extLst>
          </p:cNvPr>
          <p:cNvCxnSpPr>
            <a:cxnSpLocks/>
          </p:cNvCxnSpPr>
          <p:nvPr/>
        </p:nvCxnSpPr>
        <p:spPr>
          <a:xfrm>
            <a:off x="5145699" y="1806528"/>
            <a:ext cx="476859" cy="0"/>
          </a:xfrm>
          <a:prstGeom prst="line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그림 26">
            <a:extLst>
              <a:ext uri="{FF2B5EF4-FFF2-40B4-BE49-F238E27FC236}">
                <a16:creationId xmlns:a16="http://schemas.microsoft.com/office/drawing/2014/main" id="{86EEBE13-3C26-44C7-9617-F0B334951E1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7080" y="4295669"/>
            <a:ext cx="5166645" cy="20142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3D97BC45-BE29-48B7-8907-6F3BC08F0CB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74228" y="4293562"/>
            <a:ext cx="3412690" cy="201419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98561ED-F012-4493-9EE7-BA9D432FA877}"/>
              </a:ext>
            </a:extLst>
          </p:cNvPr>
          <p:cNvSpPr txBox="1"/>
          <p:nvPr/>
        </p:nvSpPr>
        <p:spPr>
          <a:xfrm>
            <a:off x="261596" y="6423620"/>
            <a:ext cx="8639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&lt;Dynamic Li-ion battery model for system simulation (</a:t>
            </a:r>
            <a:r>
              <a:rPr lang="en-US" altLang="ko-KR" sz="1200" b="1" dirty="0" err="1"/>
              <a:t>Mathworks</a:t>
            </a:r>
            <a:r>
              <a:rPr lang="en-US" altLang="ko-KR" sz="1200" b="1" dirty="0"/>
              <a:t>)&gt;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9712591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CBDDCA-5A30-4F35-911F-A9966D59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Mathematical Model [2/6]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1569F0-2CB7-4FAA-BEA2-F4B35ECC1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Li-ion Cell: NCR 18650B (Panasonic) </a:t>
            </a:r>
          </a:p>
          <a:p>
            <a:pPr lvl="1"/>
            <a:r>
              <a:rPr lang="en-US" altLang="ko-KR" dirty="0"/>
              <a:t>Nominal voltage: 3.6 V (2.5~4.2 V) &amp; capacity: 3.25~3.35 Ah</a:t>
            </a:r>
          </a:p>
          <a:p>
            <a:pPr lvl="1"/>
            <a:r>
              <a:rPr lang="en-US" altLang="ko-KR" dirty="0"/>
              <a:t>Reference voltage: 0.2-C open circuit voltage (OCV)</a:t>
            </a:r>
          </a:p>
          <a:p>
            <a:pPr lvl="1"/>
            <a:r>
              <a:rPr lang="en-US" altLang="ko-KR" dirty="0"/>
              <a:t>EOC mode (with 1</a:t>
            </a:r>
            <a:r>
              <a:rPr lang="en-US" altLang="ko-KR" baseline="30000" dirty="0"/>
              <a:t>st</a:t>
            </a:r>
            <a:r>
              <a:rPr lang="en-US" altLang="ko-KR" dirty="0"/>
              <a:t> order low-pass filter): 4.0 V</a:t>
            </a:r>
          </a:p>
          <a:p>
            <a:pPr lvl="1"/>
            <a:r>
              <a:rPr lang="en-US" altLang="ko-KR" dirty="0"/>
              <a:t>Constant internal resistance: </a:t>
            </a:r>
            <a:br>
              <a:rPr lang="en-US" altLang="ko-KR" dirty="0"/>
            </a:br>
            <a:r>
              <a:rPr lang="en-US" altLang="ko-KR" dirty="0"/>
              <a:t>39 m</a:t>
            </a:r>
            <a:r>
              <a:rPr lang="el-GR" altLang="ko-KR" dirty="0"/>
              <a:t>Ω</a:t>
            </a:r>
            <a:r>
              <a:rPr lang="en-US" altLang="ko-KR" dirty="0"/>
              <a:t> at 25℃ (Wang, 2017)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6B6524A-0109-4BA0-BBA7-64384D4C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5948C2BB-08F4-4C18-8069-149D0A9B2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3238367"/>
            <a:ext cx="4769381" cy="2908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9CFDD57-BC54-402C-A37C-6516A3702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248" y="4486504"/>
            <a:ext cx="2338034" cy="18190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0ED30F-E8C4-4374-BFD2-2D48C710E37D}"/>
              </a:ext>
            </a:extLst>
          </p:cNvPr>
          <p:cNvSpPr txBox="1"/>
          <p:nvPr/>
        </p:nvSpPr>
        <p:spPr>
          <a:xfrm>
            <a:off x="261596" y="6423620"/>
            <a:ext cx="8639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&lt;Li-ion battery model and general characteristics of NCR 18650B&gt;</a:t>
            </a:r>
            <a:endParaRPr lang="ko-KR" altLang="en-US" sz="1200" b="1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C8883BB-91F8-42DE-A08F-45216E62FA15}"/>
              </a:ext>
            </a:extLst>
          </p:cNvPr>
          <p:cNvGrpSpPr/>
          <p:nvPr/>
        </p:nvGrpSpPr>
        <p:grpSpPr>
          <a:xfrm>
            <a:off x="261596" y="3138860"/>
            <a:ext cx="5567674" cy="3041754"/>
            <a:chOff x="-5713707" y="1639186"/>
            <a:chExt cx="5180281" cy="2876654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89FC49D-9E4E-40F6-8008-DA854F9C3AF5}"/>
                </a:ext>
              </a:extLst>
            </p:cNvPr>
            <p:cNvSpPr/>
            <p:nvPr/>
          </p:nvSpPr>
          <p:spPr>
            <a:xfrm>
              <a:off x="-5713706" y="1639186"/>
              <a:ext cx="5180280" cy="28766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B034B08E-8631-413C-9550-7FC187307FB5}"/>
                </a:ext>
              </a:extLst>
            </p:cNvPr>
            <p:cNvPicPr/>
            <p:nvPr/>
          </p:nvPicPr>
          <p:blipFill rotWithShape="1">
            <a:blip r:embed="rId5"/>
            <a:srcRect b="1749"/>
            <a:stretch/>
          </p:blipFill>
          <p:spPr bwMode="auto">
            <a:xfrm>
              <a:off x="-5713707" y="1639186"/>
              <a:ext cx="5180281" cy="287665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06B99455-1370-4ABB-9BEA-CB36EE458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2338" y="2420826"/>
            <a:ext cx="3128923" cy="2055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47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FF5C18-DDD9-424C-951B-94A68C657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Mathematical Model [3/6]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82FEF1-A9EC-4CB4-A767-51A10E8FA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PV Cell: Azur Space Triple Junction Solar Cell 30% Efficiency</a:t>
            </a:r>
          </a:p>
          <a:p>
            <a:pPr lvl="1"/>
            <a:r>
              <a:rPr lang="en-US" altLang="ko-KR" dirty="0"/>
              <a:t>Current dynamics (Villalva, </a:t>
            </a:r>
            <a:r>
              <a:rPr lang="en-US" altLang="ko-KR" dirty="0" err="1"/>
              <a:t>Gazoli</a:t>
            </a:r>
            <a:r>
              <a:rPr lang="en-US" altLang="ko-KR" dirty="0"/>
              <a:t>, and Filho, 2009)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B75B17-2F38-4825-8D8C-E0F441C4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28</a:t>
            </a:fld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7BB717-FD71-4EA1-B84A-0CC9722B70B9}"/>
              </a:ext>
            </a:extLst>
          </p:cNvPr>
          <p:cNvSpPr txBox="1"/>
          <p:nvPr/>
        </p:nvSpPr>
        <p:spPr>
          <a:xfrm>
            <a:off x="261596" y="6423620"/>
            <a:ext cx="8639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&lt;PV cell model with general characteristics&gt;</a:t>
            </a:r>
            <a:endParaRPr lang="ko-KR" altLang="en-US" sz="1200" b="1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9F50B23-C3FD-4632-B11B-EC4658E39767}"/>
              </a:ext>
            </a:extLst>
          </p:cNvPr>
          <p:cNvGrpSpPr/>
          <p:nvPr/>
        </p:nvGrpSpPr>
        <p:grpSpPr>
          <a:xfrm>
            <a:off x="1054412" y="1810281"/>
            <a:ext cx="7035176" cy="1204590"/>
            <a:chOff x="1055481" y="1683281"/>
            <a:chExt cx="7035176" cy="1204590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324E14A6-AC98-4C46-B56F-218F16122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5481" y="1683281"/>
              <a:ext cx="3585167" cy="647833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32AFC05B-B76B-447D-9506-72B14BD49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09133" y="1845033"/>
              <a:ext cx="1098016" cy="258356"/>
            </a:xfrm>
            <a:prstGeom prst="rect">
              <a:avLst/>
            </a:prstGeom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8644F4AF-B138-4577-87B4-322BF5344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5481" y="2357218"/>
              <a:ext cx="2899367" cy="530653"/>
            </a:xfrm>
            <a:prstGeom prst="rect">
              <a:avLst/>
            </a:prstGeom>
          </p:spPr>
        </p:pic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1AB6D3E5-8644-447F-A075-9CF2214B6A60}"/>
                </a:ext>
              </a:extLst>
            </p:cNvPr>
            <p:cNvSpPr/>
            <p:nvPr/>
          </p:nvSpPr>
          <p:spPr>
            <a:xfrm>
              <a:off x="4713237" y="1811413"/>
              <a:ext cx="337742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400" dirty="0"/>
                <a:t>*                  : thermal voltage</a:t>
              </a:r>
              <a:endParaRPr lang="ko-KR" altLang="en-US" sz="1400" dirty="0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826AD00-147F-4A54-8DE4-4DB1E55C929E}"/>
              </a:ext>
            </a:extLst>
          </p:cNvPr>
          <p:cNvGrpSpPr/>
          <p:nvPr/>
        </p:nvGrpSpPr>
        <p:grpSpPr>
          <a:xfrm>
            <a:off x="268797" y="2273987"/>
            <a:ext cx="8676584" cy="4149633"/>
            <a:chOff x="268797" y="2273987"/>
            <a:chExt cx="8676584" cy="4149633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06F61AD7-59A9-4676-B55B-9A38F66CC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8797" y="3301683"/>
              <a:ext cx="5166804" cy="2986318"/>
            </a:xfrm>
            <a:prstGeom prst="rect">
              <a:avLst/>
            </a:prstGeom>
          </p:spPr>
        </p:pic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C8595233-8A94-4748-A70C-45198411A9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67961" y="3993196"/>
              <a:ext cx="3377420" cy="2430424"/>
            </a:xfrm>
            <a:prstGeom prst="rect">
              <a:avLst/>
            </a:prstGeom>
          </p:spPr>
        </p:pic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FF41BA1C-D32B-40F1-98C9-7A230A0649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21247" y="2273987"/>
              <a:ext cx="2270847" cy="1666134"/>
            </a:xfrm>
            <a:prstGeom prst="rect">
              <a:avLst/>
            </a:prstGeom>
          </p:spPr>
        </p:pic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058D7D50-F7A6-4DD5-A09E-AFC240073A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13863" y="3429000"/>
              <a:ext cx="525566" cy="56419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66719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EFBE40D-4D62-4C0A-882B-559E1BAAA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Mathematical Model [4/6]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C54FAD-E22E-4D46-A541-609DDAC87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Electrical Load</a:t>
            </a:r>
          </a:p>
          <a:p>
            <a:pPr lvl="1"/>
            <a:r>
              <a:rPr lang="en-US" altLang="ko-KR" dirty="0"/>
              <a:t>Current draw in battery model</a:t>
            </a:r>
          </a:p>
          <a:p>
            <a:pPr lvl="2"/>
            <a:r>
              <a:rPr lang="en-US" altLang="ko-KR" dirty="0"/>
              <a:t>Generated power (W) + “</a:t>
            </a:r>
            <a:r>
              <a:rPr lang="en-US" altLang="ko-KR" b="1" dirty="0">
                <a:solidFill>
                  <a:srgbClr val="FF0000"/>
                </a:solidFill>
              </a:rPr>
              <a:t>electrical load</a:t>
            </a:r>
            <a:r>
              <a:rPr lang="en-US" altLang="ko-KR" dirty="0"/>
              <a:t>” (W) = battery charge &amp; discharge rate</a:t>
            </a:r>
          </a:p>
          <a:p>
            <a:pPr lvl="2"/>
            <a:r>
              <a:rPr lang="en-US" altLang="ko-KR" dirty="0"/>
              <a:t>Type</a:t>
            </a:r>
          </a:p>
          <a:p>
            <a:pPr lvl="3"/>
            <a:r>
              <a:rPr lang="en-US" altLang="ko-KR" dirty="0"/>
              <a:t>Continuous (constant); OBC, FSS/CSS, PCDU, RWA speed, …</a:t>
            </a:r>
          </a:p>
          <a:p>
            <a:pPr lvl="3"/>
            <a:r>
              <a:rPr lang="en-US" altLang="ko-KR" dirty="0"/>
              <a:t>Spike (peak); RWA torque, inrush, …</a:t>
            </a:r>
          </a:p>
          <a:p>
            <a:pPr lvl="3"/>
            <a:r>
              <a:rPr lang="en-US" altLang="ko-KR" dirty="0"/>
              <a:t>Pulse (rectangular, trapezoidal, sawtooth, …); MTQ, PPS, … 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CE83DEF-838F-4D2B-B0B5-25F971EA5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363713B-A887-4677-A88A-74E4DBADF2F7}"/>
              </a:ext>
            </a:extLst>
          </p:cNvPr>
          <p:cNvSpPr/>
          <p:nvPr/>
        </p:nvSpPr>
        <p:spPr>
          <a:xfrm>
            <a:off x="347688" y="3180868"/>
            <a:ext cx="5084110" cy="31584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2050" name="Picture 2" descr="Rectangular Pulse - an overview | ScienceDirect Topics">
            <a:extLst>
              <a:ext uri="{FF2B5EF4-FFF2-40B4-BE49-F238E27FC236}">
                <a16:creationId xmlns:a16="http://schemas.microsoft.com/office/drawing/2014/main" id="{CB9EC4D3-DD2A-4195-9EEA-BDE5EB8B5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98" y="3429000"/>
            <a:ext cx="2974164" cy="276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85BCCC-69CB-4B9D-B1D5-990DF3DC1B60}"/>
              </a:ext>
            </a:extLst>
          </p:cNvPr>
          <p:cNvSpPr txBox="1"/>
          <p:nvPr/>
        </p:nvSpPr>
        <p:spPr>
          <a:xfrm>
            <a:off x="261596" y="6423620"/>
            <a:ext cx="8639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&lt;Electrical load model and examples&gt;</a:t>
            </a:r>
            <a:endParaRPr lang="ko-KR" altLang="en-US" sz="1200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CC530AD-394C-4684-A55A-50FB156C9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852" y="3212057"/>
            <a:ext cx="5559250" cy="312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0391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371FFE-26BC-4B2F-9CCA-B836BE304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Mathematical Model [5/6]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ACF884-21A3-4A7D-AB1C-57DCC09D2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Conversion Efficiency of Regulators</a:t>
            </a:r>
          </a:p>
          <a:p>
            <a:pPr lvl="1"/>
            <a:r>
              <a:rPr lang="en-US" altLang="ko-KR" dirty="0"/>
              <a:t>Solar input to battery</a:t>
            </a:r>
          </a:p>
          <a:p>
            <a:pPr lvl="2"/>
            <a:r>
              <a:rPr lang="en-US" altLang="ko-KR" dirty="0"/>
              <a:t>Allowable input voltage range, 3.5~16.0 V</a:t>
            </a:r>
          </a:p>
          <a:p>
            <a:pPr lvl="3"/>
            <a:r>
              <a:rPr lang="en-US" altLang="ko-KR" dirty="0"/>
              <a:t>Efficiency w.r.t input voltage range, 80~95%</a:t>
            </a:r>
          </a:p>
          <a:p>
            <a:pPr lvl="3"/>
            <a:r>
              <a:rPr lang="en-US" altLang="ko-KR" dirty="0"/>
              <a:t>** Performance degradations by temperature, </a:t>
            </a:r>
            <a:br>
              <a:rPr lang="en-US" altLang="ko-KR" dirty="0"/>
            </a:br>
            <a:r>
              <a:rPr lang="en-US" altLang="ko-KR" dirty="0"/>
              <a:t>body spins &amp; inherent effects </a:t>
            </a:r>
          </a:p>
          <a:p>
            <a:pPr lvl="1"/>
            <a:r>
              <a:rPr lang="en-US" altLang="ko-KR" dirty="0"/>
              <a:t>Battery to switch output</a:t>
            </a:r>
          </a:p>
          <a:p>
            <a:pPr lvl="2"/>
            <a:r>
              <a:rPr lang="en-US" altLang="ko-KR" dirty="0"/>
              <a:t>Output conversion efficiency w.r.t electrical </a:t>
            </a:r>
            <a:br>
              <a:rPr lang="en-US" altLang="ko-KR" dirty="0"/>
            </a:br>
            <a:r>
              <a:rPr lang="en-US" altLang="ko-KR" dirty="0"/>
              <a:t>loads of each channel, 70~95%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D7EEC1-3AF0-4186-940E-2492B85D8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30</a:t>
            </a:fld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E72128-FB6D-4ABD-8B1F-2907556EF41B}"/>
              </a:ext>
            </a:extLst>
          </p:cNvPr>
          <p:cNvSpPr txBox="1"/>
          <p:nvPr/>
        </p:nvSpPr>
        <p:spPr>
          <a:xfrm>
            <a:off x="5490542" y="6278657"/>
            <a:ext cx="3410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&lt;Conversion efficiency of regulator by electrical loads (ISIS modular EPS type C)&gt;</a:t>
            </a:r>
            <a:endParaRPr lang="ko-KR" altLang="en-US" sz="1200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1385386-C0EA-4B45-9F38-89FF0A2B30E6}"/>
              </a:ext>
            </a:extLst>
          </p:cNvPr>
          <p:cNvGrpSpPr/>
          <p:nvPr/>
        </p:nvGrpSpPr>
        <p:grpSpPr>
          <a:xfrm>
            <a:off x="5447552" y="1321247"/>
            <a:ext cx="3524997" cy="4845804"/>
            <a:chOff x="5447552" y="1321247"/>
            <a:chExt cx="3524997" cy="484580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2C6EC53-43A4-4BF3-A9B2-DE618597F8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464"/>
            <a:stretch/>
          </p:blipFill>
          <p:spPr>
            <a:xfrm>
              <a:off x="5676900" y="1532188"/>
              <a:ext cx="3224361" cy="191715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B100CC8-DC89-4F3B-8DA7-9E78362877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8707"/>
            <a:stretch/>
          </p:blipFill>
          <p:spPr>
            <a:xfrm>
              <a:off x="5676900" y="3765295"/>
              <a:ext cx="3295649" cy="2309385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57E509D-BB4A-477F-B791-274CEFDFE8C6}"/>
                </a:ext>
              </a:extLst>
            </p:cNvPr>
            <p:cNvSpPr/>
            <p:nvPr/>
          </p:nvSpPr>
          <p:spPr>
            <a:xfrm>
              <a:off x="5975351" y="1321247"/>
              <a:ext cx="2787650" cy="4184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Solar Input to Battery </a:t>
              </a: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Convertor Chain Efficiency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64BDE12-2ECB-411B-AFD1-2B4915466E53}"/>
                </a:ext>
              </a:extLst>
            </p:cNvPr>
            <p:cNvSpPr/>
            <p:nvPr/>
          </p:nvSpPr>
          <p:spPr>
            <a:xfrm>
              <a:off x="5975351" y="3660287"/>
              <a:ext cx="2787650" cy="3820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Battery to Switch Output </a:t>
              </a: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Convertor Chain Efficiency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6991647-792E-4BF4-A6D8-5EDDB36323C7}"/>
                </a:ext>
              </a:extLst>
            </p:cNvPr>
            <p:cNvSpPr/>
            <p:nvPr/>
          </p:nvSpPr>
          <p:spPr>
            <a:xfrm rot="16200000">
              <a:off x="5137026" y="4805313"/>
              <a:ext cx="936380" cy="2293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Efficiency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2D8CA06-159F-463C-A9B3-519A93751F57}"/>
                </a:ext>
              </a:extLst>
            </p:cNvPr>
            <p:cNvSpPr/>
            <p:nvPr/>
          </p:nvSpPr>
          <p:spPr>
            <a:xfrm rot="16200000">
              <a:off x="5094036" y="2354024"/>
              <a:ext cx="936380" cy="2293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Efficiency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47C2BFB-246B-4576-A420-8D8AFB542B84}"/>
                </a:ext>
              </a:extLst>
            </p:cNvPr>
            <p:cNvSpPr/>
            <p:nvPr/>
          </p:nvSpPr>
          <p:spPr>
            <a:xfrm>
              <a:off x="6737350" y="3342482"/>
              <a:ext cx="1402060" cy="2293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Load Current (A)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4278B70B-E53A-49D7-A383-3A8D6F00D1EB}"/>
                </a:ext>
              </a:extLst>
            </p:cNvPr>
            <p:cNvSpPr/>
            <p:nvPr/>
          </p:nvSpPr>
          <p:spPr>
            <a:xfrm>
              <a:off x="6668146" y="5937704"/>
              <a:ext cx="1402060" cy="2293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Load Current (A)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FFEFEEE-F7F9-4204-9FE8-00225A5CEB22}"/>
              </a:ext>
            </a:extLst>
          </p:cNvPr>
          <p:cNvGrpSpPr/>
          <p:nvPr/>
        </p:nvGrpSpPr>
        <p:grpSpPr>
          <a:xfrm>
            <a:off x="584403" y="3721248"/>
            <a:ext cx="4372608" cy="3019073"/>
            <a:chOff x="584403" y="3721248"/>
            <a:chExt cx="4372608" cy="301907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8C92966-0ECE-41F5-9D53-2C654E0CAD32}"/>
                </a:ext>
              </a:extLst>
            </p:cNvPr>
            <p:cNvSpPr txBox="1"/>
            <p:nvPr/>
          </p:nvSpPr>
          <p:spPr>
            <a:xfrm>
              <a:off x="990235" y="6278656"/>
              <a:ext cx="34107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/>
                <a:t>&lt;Example profiles of solar input with allowable voltage &amp; current values&gt;</a:t>
              </a:r>
              <a:endParaRPr lang="ko-KR" altLang="en-US" sz="1200" b="1" dirty="0"/>
            </a:p>
          </p:txBody>
        </p:sp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7B6E07D0-C85B-455B-87A0-6C9E24F918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4404" y="3721248"/>
              <a:ext cx="4372607" cy="1298360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B0D95477-0CE2-4A6C-94F3-5BD2286C0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4403" y="5012785"/>
              <a:ext cx="4372608" cy="1282700"/>
            </a:xfrm>
            <a:prstGeom prst="rect">
              <a:avLst/>
            </a:prstGeom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F8656DB2-6CDD-4451-B84F-C7547FA8631D}"/>
                </a:ext>
              </a:extLst>
            </p:cNvPr>
            <p:cNvSpPr/>
            <p:nvPr/>
          </p:nvSpPr>
          <p:spPr>
            <a:xfrm>
              <a:off x="1449918" y="4069433"/>
              <a:ext cx="2491351" cy="2092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Solar Input to Battery: Voltage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16F89567-7618-47EE-B9E3-593B80A938A5}"/>
                </a:ext>
              </a:extLst>
            </p:cNvPr>
            <p:cNvSpPr/>
            <p:nvPr/>
          </p:nvSpPr>
          <p:spPr>
            <a:xfrm>
              <a:off x="1486750" y="5388177"/>
              <a:ext cx="2491351" cy="2092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Solar Input to Battery: Current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7BD76C5-5850-4372-A385-B8D6D17A6639}"/>
              </a:ext>
            </a:extLst>
          </p:cNvPr>
          <p:cNvGrpSpPr/>
          <p:nvPr/>
        </p:nvGrpSpPr>
        <p:grpSpPr>
          <a:xfrm>
            <a:off x="578015" y="4983512"/>
            <a:ext cx="4487779" cy="1340230"/>
            <a:chOff x="578015" y="4983512"/>
            <a:chExt cx="4487779" cy="1340230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AAAA0A74-11AA-4D48-918F-4FA6DA557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8015" y="4983512"/>
              <a:ext cx="4487779" cy="134023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C1A4361-D255-4EAB-A1AB-20A3F7255CBA}"/>
                </a:ext>
              </a:extLst>
            </p:cNvPr>
            <p:cNvSpPr/>
            <p:nvPr/>
          </p:nvSpPr>
          <p:spPr>
            <a:xfrm>
              <a:off x="1420465" y="5424766"/>
              <a:ext cx="2491351" cy="4524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</a:rPr>
                <a:t>Solar Input to Battery: Triggered Energy</a:t>
              </a:r>
              <a:endParaRPr lang="ko-KR" altLang="en-US" sz="12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5046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D6AF34-5F2C-4A81-A2B1-E93B98F45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Mathematical Model [6/6]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5DB48D-EFED-445A-BBAC-E754F758E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Integrated Mathematical Models</a:t>
            </a:r>
          </a:p>
          <a:p>
            <a:pPr lvl="1"/>
            <a:r>
              <a:rPr lang="en-US" altLang="ko-KR" dirty="0"/>
              <a:t>Closed-loop simulation for scenarios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111240-C342-4780-A4E0-2C560FF96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31</a:t>
            </a:fld>
            <a:r>
              <a:rPr lang="en-US" altLang="ko-KR"/>
              <a:t> </a:t>
            </a:r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1A829A3-AD85-483D-B7B8-6C70149B40FB}"/>
              </a:ext>
            </a:extLst>
          </p:cNvPr>
          <p:cNvGrpSpPr/>
          <p:nvPr/>
        </p:nvGrpSpPr>
        <p:grpSpPr>
          <a:xfrm>
            <a:off x="276161" y="2075937"/>
            <a:ext cx="8654764" cy="4347682"/>
            <a:chOff x="244259" y="1633412"/>
            <a:chExt cx="8964048" cy="486898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67866DE-175F-49EC-8298-566785645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71910" y="1633412"/>
              <a:ext cx="8114980" cy="4868988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D5BD6F3-091A-4124-B1D5-C97B84C97D2D}"/>
                </a:ext>
              </a:extLst>
            </p:cNvPr>
            <p:cNvSpPr/>
            <p:nvPr/>
          </p:nvSpPr>
          <p:spPr>
            <a:xfrm>
              <a:off x="471910" y="4799211"/>
              <a:ext cx="1364771" cy="4179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rgbClr val="FF0000"/>
                  </a:solidFill>
                </a:rPr>
                <a:t>Electrical Load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6FC546E-E08A-4F59-9CB2-6B8C37CCDDA8}"/>
                </a:ext>
              </a:extLst>
            </p:cNvPr>
            <p:cNvSpPr/>
            <p:nvPr/>
          </p:nvSpPr>
          <p:spPr>
            <a:xfrm>
              <a:off x="244259" y="1683765"/>
              <a:ext cx="2473370" cy="5671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rgbClr val="FF0000"/>
                  </a:solidFill>
                </a:rPr>
                <a:t>Power Generation Input</a:t>
              </a:r>
            </a:p>
            <a:p>
              <a:pPr algn="ctr"/>
              <a:r>
                <a:rPr lang="en-US" altLang="ko-KR" sz="1200" b="1" dirty="0">
                  <a:solidFill>
                    <a:srgbClr val="FF0000"/>
                  </a:solidFill>
                </a:rPr>
                <a:t>*Orbit/Attitude Dynamics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718F270-9BCD-4838-BB51-4CCC3869C022}"/>
                </a:ext>
              </a:extLst>
            </p:cNvPr>
            <p:cNvSpPr/>
            <p:nvPr/>
          </p:nvSpPr>
          <p:spPr>
            <a:xfrm>
              <a:off x="492162" y="2838449"/>
              <a:ext cx="1261686" cy="189547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2F33922-EF26-4DFE-A310-13F3E40826E9}"/>
                </a:ext>
              </a:extLst>
            </p:cNvPr>
            <p:cNvSpPr/>
            <p:nvPr/>
          </p:nvSpPr>
          <p:spPr>
            <a:xfrm>
              <a:off x="6355734" y="4699958"/>
              <a:ext cx="1364771" cy="4179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rgbClr val="FF0000"/>
                  </a:solidFill>
                </a:rPr>
                <a:t>Battery Model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11A9532-C313-47E1-9768-3F54EF6A3939}"/>
                </a:ext>
              </a:extLst>
            </p:cNvPr>
            <p:cNvSpPr/>
            <p:nvPr/>
          </p:nvSpPr>
          <p:spPr>
            <a:xfrm>
              <a:off x="3991516" y="3053511"/>
              <a:ext cx="580484" cy="247098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32D17E8-1037-47F1-A170-49B304EEC3E1}"/>
                </a:ext>
              </a:extLst>
            </p:cNvPr>
            <p:cNvSpPr/>
            <p:nvPr/>
          </p:nvSpPr>
          <p:spPr>
            <a:xfrm>
              <a:off x="6644490" y="3053511"/>
              <a:ext cx="753260" cy="156929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20C69CA-5411-4586-8749-A720BBC8DB3E}"/>
                </a:ext>
              </a:extLst>
            </p:cNvPr>
            <p:cNvSpPr/>
            <p:nvPr/>
          </p:nvSpPr>
          <p:spPr>
            <a:xfrm>
              <a:off x="3615157" y="5587930"/>
              <a:ext cx="1364771" cy="4179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rgbClr val="FF0000"/>
                  </a:solidFill>
                </a:rPr>
                <a:t>Conversion Efficiency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975A6A9-195D-49A9-85B6-BB85AC3C672D}"/>
                </a:ext>
              </a:extLst>
            </p:cNvPr>
            <p:cNvSpPr/>
            <p:nvPr/>
          </p:nvSpPr>
          <p:spPr>
            <a:xfrm>
              <a:off x="7376409" y="3903684"/>
              <a:ext cx="1831898" cy="6373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rgbClr val="FF0000"/>
                  </a:solidFill>
                </a:rPr>
                <a:t>Battery Capacity Output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AD57989-D32A-4689-89C2-78A7E53D5C27}"/>
              </a:ext>
            </a:extLst>
          </p:cNvPr>
          <p:cNvSpPr txBox="1"/>
          <p:nvPr/>
        </p:nvSpPr>
        <p:spPr>
          <a:xfrm>
            <a:off x="261596" y="6423620"/>
            <a:ext cx="8639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&lt;Integrated mathematical models for energy balance analysis&gt;</a:t>
            </a:r>
            <a:endParaRPr lang="ko-KR" altLang="en-US" sz="12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0B67952-117C-409E-8B5B-16CDFC6B4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195" y="1057897"/>
            <a:ext cx="3675221" cy="221312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E5B1F74-086B-4559-9E05-01CB27AE6534}"/>
              </a:ext>
            </a:extLst>
          </p:cNvPr>
          <p:cNvCxnSpPr>
            <a:cxnSpLocks/>
          </p:cNvCxnSpPr>
          <p:nvPr/>
        </p:nvCxnSpPr>
        <p:spPr>
          <a:xfrm flipV="1">
            <a:off x="1733665" y="1843315"/>
            <a:ext cx="3578564" cy="1812563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71440A4-B648-4246-B529-19E0533B7359}"/>
              </a:ext>
            </a:extLst>
          </p:cNvPr>
          <p:cNvCxnSpPr>
            <a:cxnSpLocks/>
          </p:cNvCxnSpPr>
          <p:nvPr/>
        </p:nvCxnSpPr>
        <p:spPr>
          <a:xfrm flipV="1">
            <a:off x="2467429" y="1307581"/>
            <a:ext cx="3062514" cy="1058248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AC9F6542-621D-42A7-98EA-ABC70A20403E}"/>
              </a:ext>
            </a:extLst>
          </p:cNvPr>
          <p:cNvCxnSpPr>
            <a:cxnSpLocks/>
          </p:cNvCxnSpPr>
          <p:nvPr/>
        </p:nvCxnSpPr>
        <p:spPr>
          <a:xfrm flipH="1" flipV="1">
            <a:off x="6908800" y="2627344"/>
            <a:ext cx="1132114" cy="1475795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3B3C508-6CA8-4E2A-A32C-CC7C59577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Simulation Results [1/2] 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1DBD927-9D02-4F42-B2A0-35D6F1DAA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State-of-charge Profiles in Battery Voltage Level</a:t>
            </a:r>
          </a:p>
          <a:p>
            <a:pPr lvl="1"/>
            <a:r>
              <a:rPr lang="en-US" altLang="ko-KR" dirty="0"/>
              <a:t>DOD &lt; 20% &amp; SOC &gt; 50% (initial SOC, 80%) over 1-period</a:t>
            </a:r>
          </a:p>
          <a:p>
            <a:pPr lvl="2"/>
            <a:r>
              <a:rPr lang="en-US" altLang="ko-KR" dirty="0"/>
              <a:t>Considered orbit &amp; attitude dynamics with uncertainties</a:t>
            </a:r>
          </a:p>
          <a:p>
            <a:pPr lvl="3"/>
            <a:r>
              <a:rPr lang="en-US" altLang="ko-KR" dirty="0"/>
              <a:t>Pointing accuracy, 13 deg (3</a:t>
            </a:r>
            <a:r>
              <a:rPr lang="el-GR" altLang="ko-KR" dirty="0">
                <a:ea typeface="맑은 고딕" panose="020B0503020000020004" pitchFamily="50" charset="-127"/>
              </a:rPr>
              <a:t>σ</a:t>
            </a:r>
            <a:r>
              <a:rPr lang="en-US" altLang="ko-KR" dirty="0">
                <a:ea typeface="맑은 고딕" panose="020B0503020000020004" pitchFamily="50" charset="-127"/>
              </a:rPr>
              <a:t>) </a:t>
            </a:r>
            <a:r>
              <a:rPr lang="en-US" altLang="ko-KR" dirty="0">
                <a:ea typeface="맑은 고딕" panose="020B0503020000020004" pitchFamily="50" charset="-127"/>
                <a:sym typeface="Wingdings" panose="05000000000000000000" pitchFamily="2" charset="2"/>
              </a:rPr>
              <a:t> o</a:t>
            </a:r>
            <a:r>
              <a:rPr lang="en-US" altLang="ko-KR" dirty="0">
                <a:ea typeface="맑은 고딕" panose="020B0503020000020004" pitchFamily="50" charset="-127"/>
              </a:rPr>
              <a:t>rientation changes by mission scenarios</a:t>
            </a:r>
            <a:endParaRPr lang="en-US" altLang="ko-KR" dirty="0"/>
          </a:p>
          <a:p>
            <a:pPr lvl="2"/>
            <a:r>
              <a:rPr lang="en-US" altLang="ko-KR" dirty="0"/>
              <a:t>Considered conversion efficiency &amp; cut-off range of solar array input</a:t>
            </a:r>
          </a:p>
          <a:p>
            <a:pPr lvl="2"/>
            <a:r>
              <a:rPr lang="en-US" altLang="ko-KR" dirty="0"/>
              <a:t>H/W component duty rate by mission scenarios</a:t>
            </a:r>
          </a:p>
          <a:p>
            <a:pPr lvl="2"/>
            <a:r>
              <a:rPr lang="en-US" altLang="ko-KR" dirty="0"/>
              <a:t>SOC estimation based on OCV profiles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7BDC15-27FE-421D-B85F-40373D20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32</a:t>
            </a:fld>
            <a:r>
              <a:rPr lang="en-US" altLang="ko-KR"/>
              <a:t>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51703AA-9F65-407A-B197-6E6759C2F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13484"/>
              </p:ext>
            </p:extLst>
          </p:nvPr>
        </p:nvGraphicFramePr>
        <p:xfrm>
          <a:off x="5295830" y="3236709"/>
          <a:ext cx="3607368" cy="2844000"/>
        </p:xfrm>
        <a:graphic>
          <a:graphicData uri="http://schemas.openxmlformats.org/drawingml/2006/table">
            <a:tbl>
              <a:tblPr/>
              <a:tblGrid>
                <a:gridCol w="901842">
                  <a:extLst>
                    <a:ext uri="{9D8B030D-6E8A-4147-A177-3AD203B41FA5}">
                      <a16:colId xmlns:a16="http://schemas.microsoft.com/office/drawing/2014/main" val="3397571875"/>
                    </a:ext>
                  </a:extLst>
                </a:gridCol>
                <a:gridCol w="901842">
                  <a:extLst>
                    <a:ext uri="{9D8B030D-6E8A-4147-A177-3AD203B41FA5}">
                      <a16:colId xmlns:a16="http://schemas.microsoft.com/office/drawing/2014/main" val="553651255"/>
                    </a:ext>
                  </a:extLst>
                </a:gridCol>
                <a:gridCol w="901842">
                  <a:extLst>
                    <a:ext uri="{9D8B030D-6E8A-4147-A177-3AD203B41FA5}">
                      <a16:colId xmlns:a16="http://schemas.microsoft.com/office/drawing/2014/main" val="3048096170"/>
                    </a:ext>
                  </a:extLst>
                </a:gridCol>
                <a:gridCol w="901842">
                  <a:extLst>
                    <a:ext uri="{9D8B030D-6E8A-4147-A177-3AD203B41FA5}">
                      <a16:colId xmlns:a16="http://schemas.microsoft.com/office/drawing/2014/main" val="2322385229"/>
                    </a:ext>
                  </a:extLst>
                </a:gridCol>
              </a:tblGrid>
              <a:tr h="86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Mode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Average </a:t>
                      </a:r>
                    </a:p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Power </a:t>
                      </a:r>
                    </a:p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Generation</a:t>
                      </a:r>
                    </a:p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(W)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DOD</a:t>
                      </a:r>
                    </a:p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End of </a:t>
                      </a:r>
                    </a:p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SOC</a:t>
                      </a:r>
                    </a:p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42668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Normal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11.82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10.62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90.62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81462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Mission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11.82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13.20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90.50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884809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Comm.</a:t>
                      </a:r>
                    </a:p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Day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9.47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10.50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88.75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778032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Comm.</a:t>
                      </a:r>
                    </a:p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Eclipse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11.94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10.39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4045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Emergency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11.82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N/A (30.81)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80.81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70818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E81DBC9-E178-4A77-83ED-146ECD2B7A9B}"/>
              </a:ext>
            </a:extLst>
          </p:cNvPr>
          <p:cNvSpPr txBox="1"/>
          <p:nvPr/>
        </p:nvSpPr>
        <p:spPr>
          <a:xfrm>
            <a:off x="5154720" y="6304605"/>
            <a:ext cx="3727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&lt;Summary of energy balance analysis </a:t>
            </a:r>
          </a:p>
          <a:p>
            <a:pPr algn="ctr"/>
            <a:r>
              <a:rPr lang="en-US" altLang="ko-KR" sz="1200" b="1" dirty="0"/>
              <a:t>results by scenarios&gt;</a:t>
            </a:r>
            <a:endParaRPr lang="ko-KR" altLang="en-US" sz="1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627396-8B9E-49B3-A4FA-69607059B5AD}"/>
              </a:ext>
            </a:extLst>
          </p:cNvPr>
          <p:cNvSpPr txBox="1"/>
          <p:nvPr/>
        </p:nvSpPr>
        <p:spPr>
          <a:xfrm>
            <a:off x="261595" y="6291509"/>
            <a:ext cx="4911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&lt;Example profiles of generated/consumed power &amp; </a:t>
            </a:r>
          </a:p>
          <a:p>
            <a:pPr algn="ctr"/>
            <a:r>
              <a:rPr lang="en-US" altLang="ko-KR" sz="1200" b="1" dirty="0"/>
              <a:t>battery state-of-charge in mission mode&gt;</a:t>
            </a:r>
            <a:endParaRPr lang="ko-KR" altLang="en-US" sz="1200" b="1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9C4E387-6F20-4D32-8A68-2D3474ABE601}"/>
              </a:ext>
            </a:extLst>
          </p:cNvPr>
          <p:cNvGrpSpPr/>
          <p:nvPr/>
        </p:nvGrpSpPr>
        <p:grpSpPr>
          <a:xfrm>
            <a:off x="261595" y="3350611"/>
            <a:ext cx="4911983" cy="2828536"/>
            <a:chOff x="261595" y="3066586"/>
            <a:chExt cx="4911983" cy="3024000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C954893A-1A92-4263-937E-271709A1C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1595" y="3066586"/>
              <a:ext cx="4911983" cy="3024000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4371FC6-0989-4E33-80B6-9BC7EA22D1A9}"/>
                </a:ext>
              </a:extLst>
            </p:cNvPr>
            <p:cNvSpPr/>
            <p:nvPr/>
          </p:nvSpPr>
          <p:spPr>
            <a:xfrm>
              <a:off x="2044486" y="3438605"/>
              <a:ext cx="1768693" cy="2051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rgbClr val="FF0000"/>
                  </a:solidFill>
                </a:rPr>
                <a:t>Orientation Changes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8560F1AC-962F-413F-9D43-762F0DAA5B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70662" y="3219961"/>
              <a:ext cx="481988" cy="266067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8BC12A6-5F00-4993-AB78-A04088550326}"/>
              </a:ext>
            </a:extLst>
          </p:cNvPr>
          <p:cNvSpPr/>
          <p:nvPr/>
        </p:nvSpPr>
        <p:spPr>
          <a:xfrm>
            <a:off x="5295830" y="6124708"/>
            <a:ext cx="3605431" cy="1919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b="1" dirty="0">
                <a:solidFill>
                  <a:schemeClr val="tx1"/>
                </a:solidFill>
              </a:rPr>
              <a:t>*Initial SOC of Emergency Mode = 50%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2101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2A11C-55D5-465C-84C6-9ABC7C450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Simulation Results [2/2]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B8CDE1-0643-4C9B-A5FB-3931FD9BA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Survivability Analysis in LEOP </a:t>
            </a:r>
            <a:r>
              <a:rPr lang="en-US" altLang="ko-KR" dirty="0">
                <a:sym typeface="Wingdings" panose="05000000000000000000" pitchFamily="2" charset="2"/>
              </a:rPr>
              <a:t> “Charging”</a:t>
            </a:r>
            <a:endParaRPr lang="en-US" altLang="ko-KR" dirty="0"/>
          </a:p>
          <a:p>
            <a:pPr lvl="1"/>
            <a:r>
              <a:rPr lang="en-US" altLang="ko-KR" dirty="0"/>
              <a:t>1-day operations &amp; stowed configuration</a:t>
            </a:r>
          </a:p>
          <a:p>
            <a:pPr lvl="2"/>
            <a:r>
              <a:rPr lang="en-US" altLang="ko-KR" dirty="0"/>
              <a:t>Basic operations; (antenna deployment) beacon, detumbling, HK monitoring, …</a:t>
            </a:r>
          </a:p>
          <a:p>
            <a:pPr lvl="2"/>
            <a:r>
              <a:rPr lang="en-US" altLang="ko-KR" dirty="0"/>
              <a:t>Prolonged detumbling periods </a:t>
            </a:r>
            <a:r>
              <a:rPr lang="en-US" altLang="ko-KR" dirty="0">
                <a:sym typeface="Wingdings" panose="05000000000000000000" pitchFamily="2" charset="2"/>
              </a:rPr>
              <a:t>&amp; </a:t>
            </a:r>
            <a:r>
              <a:rPr lang="en-US" altLang="ko-KR" dirty="0"/>
              <a:t>(partially) fail to stabilize initial angular velocity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BF26BA-5344-4F91-9E86-E96533DC7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33</a:t>
            </a:fld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458BEC-FFBC-45EA-9897-49ED70B2880A}"/>
              </a:ext>
            </a:extLst>
          </p:cNvPr>
          <p:cNvSpPr txBox="1"/>
          <p:nvPr/>
        </p:nvSpPr>
        <p:spPr>
          <a:xfrm>
            <a:off x="261596" y="6507844"/>
            <a:ext cx="8639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&lt;Summary of energy balance analysis results in LEOP&gt;</a:t>
            </a:r>
            <a:endParaRPr lang="ko-KR" altLang="en-US" sz="1200" b="1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A34E1939-E2AE-454B-87D0-1ACC86D6F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73213"/>
              </p:ext>
            </p:extLst>
          </p:nvPr>
        </p:nvGraphicFramePr>
        <p:xfrm>
          <a:off x="261596" y="4983974"/>
          <a:ext cx="8640000" cy="1512000"/>
        </p:xfrm>
        <a:graphic>
          <a:graphicData uri="http://schemas.openxmlformats.org/drawingml/2006/table">
            <a:tbl>
              <a:tblPr/>
              <a:tblGrid>
                <a:gridCol w="504000">
                  <a:extLst>
                    <a:ext uri="{9D8B030D-6E8A-4147-A177-3AD203B41FA5}">
                      <a16:colId xmlns:a16="http://schemas.microsoft.com/office/drawing/2014/main" val="3397571875"/>
                    </a:ext>
                  </a:extLst>
                </a:gridCol>
                <a:gridCol w="3168000">
                  <a:extLst>
                    <a:ext uri="{9D8B030D-6E8A-4147-A177-3AD203B41FA5}">
                      <a16:colId xmlns:a16="http://schemas.microsoft.com/office/drawing/2014/main" val="553651255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3031946598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439617502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3048096170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322385229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Case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Initial </a:t>
                      </a:r>
                      <a:r>
                        <a:rPr lang="el-G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ω</a:t>
                      </a: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(deg/sec)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MPPT eff.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Initial SOC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End of SOC (%)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42668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Detumbling Success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20 (in each axis)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40~90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80 (15.5 V)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89.93 (15.94 V)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81462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Detumbling Fail (No Control)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20 (in each axis)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50 (14.4 V)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76.71 (15.29 V)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884809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Detumbling Partially Fail 1 (No Control)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10 (in each axis)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50 (14.4 V)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89.97 (15.94 V)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778032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Detumbling Partially Fail 2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(No Control)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5 (in each axis)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50 (14.4 V)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89.96 (15.94 V)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4045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Detumbling Partially Fail 3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(No Control)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 (in each axis)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50 (14.4 V)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89.96 (15.94 V)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708182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701D5E43-A8DA-46A4-9266-C32AAE290144}"/>
              </a:ext>
            </a:extLst>
          </p:cNvPr>
          <p:cNvGrpSpPr/>
          <p:nvPr/>
        </p:nvGrpSpPr>
        <p:grpSpPr>
          <a:xfrm>
            <a:off x="4750371" y="2323331"/>
            <a:ext cx="3697126" cy="2607534"/>
            <a:chOff x="261263" y="2323331"/>
            <a:chExt cx="3697126" cy="260753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4E73379-0701-43A3-A39B-F97347017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1263" y="2393621"/>
              <a:ext cx="3697126" cy="2537244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5B4CF78-7AD8-4CE4-AEED-33A4F9CE4CB5}"/>
                </a:ext>
              </a:extLst>
            </p:cNvPr>
            <p:cNvSpPr txBox="1"/>
            <p:nvPr/>
          </p:nvSpPr>
          <p:spPr>
            <a:xfrm>
              <a:off x="1402080" y="2323331"/>
              <a:ext cx="9958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/>
                <a:t>[Case 2]</a:t>
              </a:r>
              <a:endParaRPr lang="ko-KR" altLang="en-US" sz="1200" b="1" dirty="0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691AE29A-620A-491E-AAB6-089ABFD5B3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43" y="2393621"/>
            <a:ext cx="3697126" cy="248534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E8892F-7A51-4994-979A-D7AB2314DB2D}"/>
              </a:ext>
            </a:extLst>
          </p:cNvPr>
          <p:cNvSpPr/>
          <p:nvPr/>
        </p:nvSpPr>
        <p:spPr>
          <a:xfrm>
            <a:off x="520343" y="2393620"/>
            <a:ext cx="3715650" cy="2485339"/>
          </a:xfrm>
          <a:prstGeom prst="rect">
            <a:avLst/>
          </a:prstGeom>
          <a:solidFill>
            <a:schemeClr val="bg1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E099EB5-885D-495F-AD93-EE462FA318B9}"/>
              </a:ext>
            </a:extLst>
          </p:cNvPr>
          <p:cNvSpPr/>
          <p:nvPr/>
        </p:nvSpPr>
        <p:spPr>
          <a:xfrm>
            <a:off x="520343" y="3490913"/>
            <a:ext cx="3697126" cy="21508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0000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067F320-1A66-4AEA-95DC-4BC0CDE11194}"/>
              </a:ext>
            </a:extLst>
          </p:cNvPr>
          <p:cNvGrpSpPr/>
          <p:nvPr/>
        </p:nvGrpSpPr>
        <p:grpSpPr>
          <a:xfrm>
            <a:off x="501819" y="2323331"/>
            <a:ext cx="3715650" cy="2555627"/>
            <a:chOff x="501819" y="2323331"/>
            <a:chExt cx="3715650" cy="2555627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2104649C-B9EA-4D1B-811E-7F566846C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1819" y="2341714"/>
              <a:ext cx="3715650" cy="253724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956DDE7-0378-47F4-8397-6B209C01F811}"/>
                </a:ext>
              </a:extLst>
            </p:cNvPr>
            <p:cNvSpPr txBox="1"/>
            <p:nvPr/>
          </p:nvSpPr>
          <p:spPr>
            <a:xfrm>
              <a:off x="1740297" y="2323331"/>
              <a:ext cx="9958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/>
                <a:t>[Case 1]</a:t>
              </a:r>
              <a:endParaRPr lang="ko-KR" altLang="en-US" sz="1200" b="1" dirty="0"/>
            </a:p>
          </p:txBody>
        </p:sp>
      </p:grp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864184B-804E-4AE2-9CAC-6E7D0C8AA572}"/>
              </a:ext>
            </a:extLst>
          </p:cNvPr>
          <p:cNvCxnSpPr>
            <a:cxnSpLocks/>
          </p:cNvCxnSpPr>
          <p:nvPr/>
        </p:nvCxnSpPr>
        <p:spPr>
          <a:xfrm flipV="1">
            <a:off x="1243013" y="3671320"/>
            <a:ext cx="739930" cy="93961"/>
          </a:xfrm>
          <a:prstGeom prst="straightConnector1">
            <a:avLst/>
          </a:prstGeom>
          <a:ln w="12700">
            <a:solidFill>
              <a:srgbClr val="FF0000"/>
            </a:solidFill>
            <a:prstDash val="soli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89F681EB-17A3-4B02-8C88-7EC09E675EA6}"/>
              </a:ext>
            </a:extLst>
          </p:cNvPr>
          <p:cNvCxnSpPr>
            <a:cxnSpLocks/>
          </p:cNvCxnSpPr>
          <p:nvPr/>
        </p:nvCxnSpPr>
        <p:spPr>
          <a:xfrm flipV="1">
            <a:off x="5877691" y="3818344"/>
            <a:ext cx="1132709" cy="93962"/>
          </a:xfrm>
          <a:prstGeom prst="straightConnector1">
            <a:avLst/>
          </a:prstGeom>
          <a:ln w="12700">
            <a:solidFill>
              <a:srgbClr val="FF0000"/>
            </a:solidFill>
            <a:prstDash val="soli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80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E3242-053D-4559-A53C-3A0F7F512F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Verification Plan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12864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94B8E8-886E-4DDE-89C3-489498960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 Level Testing [1/2]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E8015D-0CF4-4526-A7E1-6BCDE5C0C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Integrated EPS Module Type C</a:t>
            </a:r>
          </a:p>
          <a:p>
            <a:pPr lvl="1"/>
            <a:r>
              <a:rPr lang="en-US" altLang="ko-KR" dirty="0"/>
              <a:t>Activation &amp; RBF switch logic; systems shut-down or boot with external switches for each channel</a:t>
            </a:r>
            <a:endParaRPr lang="ko-KR" altLang="en-US" dirty="0"/>
          </a:p>
          <a:p>
            <a:pPr lvl="1"/>
            <a:r>
              <a:rPr lang="en-US" altLang="ko-KR" dirty="0"/>
              <a:t>Check telemetry &amp; telecommand via I2C communication</a:t>
            </a:r>
          </a:p>
          <a:p>
            <a:pPr lvl="1"/>
            <a:r>
              <a:rPr lang="en-US" altLang="ko-KR" dirty="0"/>
              <a:t>Switch functionalities; on-off operations delay, output voltage &amp; current</a:t>
            </a:r>
          </a:p>
          <a:p>
            <a:pPr lvl="1"/>
            <a:r>
              <a:rPr lang="en-US" altLang="ko-KR" dirty="0"/>
              <a:t>Electrical loads using external power supply and electrical load device</a:t>
            </a:r>
          </a:p>
          <a:p>
            <a:pPr lvl="2"/>
            <a:r>
              <a:rPr lang="en-US" altLang="ko-KR" dirty="0"/>
              <a:t>Evaluate conversion efficiency of regulators, line loss, …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00D3DA-C974-4927-B752-046B62705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35</a:t>
            </a:fld>
            <a:r>
              <a:rPr lang="en-US" altLang="ko-KR"/>
              <a:t> </a:t>
            </a:r>
            <a:endParaRPr lang="ko-KR" altLang="en-US" dirty="0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495108F-8538-4297-910F-B5E1DBE71D8E}"/>
              </a:ext>
            </a:extLst>
          </p:cNvPr>
          <p:cNvGrpSpPr/>
          <p:nvPr/>
        </p:nvGrpSpPr>
        <p:grpSpPr>
          <a:xfrm>
            <a:off x="490205" y="3270416"/>
            <a:ext cx="8050883" cy="3142984"/>
            <a:chOff x="490205" y="3234320"/>
            <a:chExt cx="8050883" cy="3142984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A529D432-BADE-4C22-A5DC-CF43DDBBE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0205" y="3328225"/>
              <a:ext cx="3295657" cy="3043545"/>
            </a:xfrm>
            <a:prstGeom prst="rect">
              <a:avLst/>
            </a:prstGeom>
          </p:spPr>
        </p:pic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93E2D36F-A9FF-4152-901C-C50B07C9B028}"/>
                </a:ext>
              </a:extLst>
            </p:cNvPr>
            <p:cNvGrpSpPr/>
            <p:nvPr/>
          </p:nvGrpSpPr>
          <p:grpSpPr>
            <a:xfrm>
              <a:off x="3983615" y="3316824"/>
              <a:ext cx="1543594" cy="2738335"/>
              <a:chOff x="3755007" y="3316824"/>
              <a:chExt cx="1774936" cy="3054947"/>
            </a:xfrm>
          </p:grpSpPr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11B122A0-7C1B-4149-9C89-18700C352B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55007" y="3327169"/>
                <a:ext cx="1756882" cy="1214445"/>
              </a:xfrm>
              <a:prstGeom prst="rect">
                <a:avLst/>
              </a:prstGeom>
            </p:spPr>
          </p:pic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5A5E0F8E-3FC6-4679-B9E4-FAB7B34B79A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13517" b="14079"/>
              <a:stretch/>
            </p:blipFill>
            <p:spPr>
              <a:xfrm>
                <a:off x="3755007" y="4602115"/>
                <a:ext cx="1756882" cy="954532"/>
              </a:xfrm>
              <a:prstGeom prst="rect">
                <a:avLst/>
              </a:prstGeom>
            </p:spPr>
          </p:pic>
          <p:pic>
            <p:nvPicPr>
              <p:cNvPr id="21" name="Picture 3">
                <a:extLst>
                  <a:ext uri="{FF2B5EF4-FFF2-40B4-BE49-F238E27FC236}">
                    <a16:creationId xmlns:a16="http://schemas.microsoft.com/office/drawing/2014/main" id="{0C855FDE-1CDD-49B1-A807-BE7A447094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3755007" y="5633694"/>
                <a:ext cx="1756882" cy="7380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2D4327B2-A50B-449D-9A68-A0F1A7E50C6B}"/>
                  </a:ext>
                </a:extLst>
              </p:cNvPr>
              <p:cNvSpPr/>
              <p:nvPr/>
            </p:nvSpPr>
            <p:spPr>
              <a:xfrm>
                <a:off x="3755007" y="3316824"/>
                <a:ext cx="1774936" cy="3054947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E9A3754D-95B4-4690-83EF-215D0B189BE8}"/>
                </a:ext>
              </a:extLst>
            </p:cNvPr>
            <p:cNvSpPr/>
            <p:nvPr/>
          </p:nvSpPr>
          <p:spPr>
            <a:xfrm>
              <a:off x="3133732" y="4652963"/>
              <a:ext cx="428625" cy="39052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CCA7D357-0D74-4524-BDAC-2CAA8C533039}"/>
                </a:ext>
              </a:extLst>
            </p:cNvPr>
            <p:cNvCxnSpPr>
              <a:cxnSpLocks/>
              <a:stCxn id="23" idx="1"/>
              <a:endCxn id="25" idx="3"/>
            </p:cNvCxnSpPr>
            <p:nvPr/>
          </p:nvCxnSpPr>
          <p:spPr>
            <a:xfrm flipH="1">
              <a:off x="3562357" y="4685992"/>
              <a:ext cx="421258" cy="162234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oli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79BE2F3B-0396-41E4-8877-4378BC4BA66E}"/>
                </a:ext>
              </a:extLst>
            </p:cNvPr>
            <p:cNvGrpSpPr/>
            <p:nvPr/>
          </p:nvGrpSpPr>
          <p:grpSpPr>
            <a:xfrm>
              <a:off x="5769947" y="4749261"/>
              <a:ext cx="2771141" cy="1628043"/>
              <a:chOff x="5580503" y="4268855"/>
              <a:chExt cx="3320759" cy="2108449"/>
            </a:xfrm>
          </p:grpSpPr>
          <p:pic>
            <p:nvPicPr>
              <p:cNvPr id="34" name="그림 33">
                <a:extLst>
                  <a:ext uri="{FF2B5EF4-FFF2-40B4-BE49-F238E27FC236}">
                    <a16:creationId xmlns:a16="http://schemas.microsoft.com/office/drawing/2014/main" id="{4DC7513A-3582-4C52-A783-E6BFC98DE9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80503" y="5234294"/>
                <a:ext cx="1704217" cy="1143010"/>
              </a:xfrm>
              <a:prstGeom prst="rect">
                <a:avLst/>
              </a:prstGeom>
            </p:spPr>
          </p:pic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31587EF0-3C10-4700-A6F5-286ABD29FB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14805" y="5234292"/>
                <a:ext cx="1586457" cy="1143009"/>
              </a:xfrm>
              <a:prstGeom prst="rect">
                <a:avLst/>
              </a:prstGeom>
            </p:spPr>
          </p:pic>
          <p:pic>
            <p:nvPicPr>
              <p:cNvPr id="36" name="그림 35">
                <a:extLst>
                  <a:ext uri="{FF2B5EF4-FFF2-40B4-BE49-F238E27FC236}">
                    <a16:creationId xmlns:a16="http://schemas.microsoft.com/office/drawing/2014/main" id="{FCCCFDBB-86A8-47DA-B906-FED16C3268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314805" y="4268855"/>
                <a:ext cx="1586457" cy="955091"/>
              </a:xfrm>
              <a:prstGeom prst="rect">
                <a:avLst/>
              </a:prstGeom>
            </p:spPr>
          </p:pic>
          <p:pic>
            <p:nvPicPr>
              <p:cNvPr id="37" name="그림 36">
                <a:extLst>
                  <a:ext uri="{FF2B5EF4-FFF2-40B4-BE49-F238E27FC236}">
                    <a16:creationId xmlns:a16="http://schemas.microsoft.com/office/drawing/2014/main" id="{A8E2C13C-749F-4305-A4D7-BA0EE8F413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80503" y="4268857"/>
                <a:ext cx="1704216" cy="955091"/>
              </a:xfrm>
              <a:prstGeom prst="rect">
                <a:avLst/>
              </a:prstGeom>
            </p:spPr>
          </p:pic>
        </p:grpSp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4C8AFC37-DB0B-4C2B-ADBB-2E4A80ECDB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b="17936"/>
            <a:stretch/>
          </p:blipFill>
          <p:spPr>
            <a:xfrm>
              <a:off x="5769947" y="3234320"/>
              <a:ext cx="2771141" cy="1313630"/>
            </a:xfrm>
            <a:prstGeom prst="rect">
              <a:avLst/>
            </a:prstGeom>
          </p:spPr>
        </p:pic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7A42E9C5-2087-4E43-8748-CD79071BAEC2}"/>
              </a:ext>
            </a:extLst>
          </p:cNvPr>
          <p:cNvSpPr txBox="1"/>
          <p:nvPr/>
        </p:nvSpPr>
        <p:spPr>
          <a:xfrm>
            <a:off x="261596" y="6423620"/>
            <a:ext cx="8639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&lt;Example configuration of integrated EPS module testing&gt;</a:t>
            </a:r>
            <a:endParaRPr lang="ko-KR" altLang="en-US" sz="1200" b="1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290EDB0-E292-4FF7-9385-9DF3B02A7305}"/>
              </a:ext>
            </a:extLst>
          </p:cNvPr>
          <p:cNvSpPr/>
          <p:nvPr/>
        </p:nvSpPr>
        <p:spPr>
          <a:xfrm>
            <a:off x="2293619" y="3813940"/>
            <a:ext cx="1395896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Integrated PCDU &amp; Battery (Type C)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01182AA-3426-4483-B6F2-09B3EB1A658C}"/>
              </a:ext>
            </a:extLst>
          </p:cNvPr>
          <p:cNvSpPr/>
          <p:nvPr/>
        </p:nvSpPr>
        <p:spPr>
          <a:xfrm>
            <a:off x="4071546" y="6126004"/>
            <a:ext cx="1395896" cy="1926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EGSE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3B262AC-D146-444F-A9F1-075366F4B16D}"/>
              </a:ext>
            </a:extLst>
          </p:cNvPr>
          <p:cNvSpPr/>
          <p:nvPr/>
        </p:nvSpPr>
        <p:spPr>
          <a:xfrm>
            <a:off x="6412995" y="4582535"/>
            <a:ext cx="1395896" cy="1926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Test List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9012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94B8E8-886E-4DDE-89C3-489498960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 Level Testing [2/2]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E8015D-0CF4-4526-A7E1-6BCDE5C0C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Solar Array and Sensors</a:t>
            </a:r>
          </a:p>
          <a:p>
            <a:pPr lvl="1"/>
            <a:r>
              <a:rPr lang="en-US" altLang="ko-KR" dirty="0"/>
              <a:t>Measure dark current and evaluate its bypass diode</a:t>
            </a:r>
          </a:p>
          <a:p>
            <a:pPr lvl="1"/>
            <a:r>
              <a:rPr lang="en-US" altLang="ko-KR" dirty="0"/>
              <a:t>Check solar array output measurement with halogen lamp or sunlight</a:t>
            </a:r>
          </a:p>
          <a:p>
            <a:pPr lvl="1"/>
            <a:r>
              <a:rPr lang="en-US" altLang="ko-KR" dirty="0"/>
              <a:t>Check Telemetry &amp; telecommand of sensors; photodiode, temp. sensor, …</a:t>
            </a:r>
          </a:p>
          <a:p>
            <a:r>
              <a:rPr lang="en-US" altLang="ko-KR" dirty="0"/>
              <a:t>Solar Array Deployment Circuit</a:t>
            </a:r>
          </a:p>
          <a:p>
            <a:pPr lvl="1"/>
            <a:r>
              <a:rPr lang="en-US" altLang="ko-KR" dirty="0"/>
              <a:t>Check deployment logic by switch status and power supply</a:t>
            </a:r>
          </a:p>
          <a:p>
            <a:pPr lvl="1"/>
            <a:r>
              <a:rPr lang="en-US" altLang="ko-KR" dirty="0"/>
              <a:t>Check duration of thermal knife operations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00D3DA-C974-4927-B752-046B62705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36</a:t>
            </a:fld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1DD7C2-787F-48F5-AE12-8D459511BE34}"/>
              </a:ext>
            </a:extLst>
          </p:cNvPr>
          <p:cNvSpPr txBox="1"/>
          <p:nvPr/>
        </p:nvSpPr>
        <p:spPr>
          <a:xfrm>
            <a:off x="261596" y="6423620"/>
            <a:ext cx="8639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&lt;Example configuration of solar array and deployment circuit testing&gt;</a:t>
            </a:r>
            <a:endParaRPr lang="ko-KR" altLang="en-US" sz="1200" b="1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70FEEC6-8BA0-4ACB-9CE3-0521100BE44C}"/>
              </a:ext>
            </a:extLst>
          </p:cNvPr>
          <p:cNvGrpSpPr/>
          <p:nvPr/>
        </p:nvGrpSpPr>
        <p:grpSpPr>
          <a:xfrm>
            <a:off x="248283" y="3550642"/>
            <a:ext cx="6330318" cy="2807347"/>
            <a:chOff x="387983" y="3429000"/>
            <a:chExt cx="6330318" cy="2928990"/>
          </a:xfrm>
        </p:grpSpPr>
        <p:pic>
          <p:nvPicPr>
            <p:cNvPr id="6" name="Picture 3">
              <a:extLst>
                <a:ext uri="{FF2B5EF4-FFF2-40B4-BE49-F238E27FC236}">
                  <a16:creationId xmlns:a16="http://schemas.microsoft.com/office/drawing/2014/main" id="{F88766CE-9CED-4185-84E9-D22A2A589D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984" y="3860800"/>
              <a:ext cx="3279172" cy="2497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ECC2E95-68AC-4BDF-B52E-D4BE3484C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25490" y="3530600"/>
              <a:ext cx="2159731" cy="2827390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01F804F-5ADF-44EC-9050-A535E48D3898}"/>
                </a:ext>
              </a:extLst>
            </p:cNvPr>
            <p:cNvSpPr/>
            <p:nvPr/>
          </p:nvSpPr>
          <p:spPr>
            <a:xfrm>
              <a:off x="387983" y="3429000"/>
              <a:ext cx="5497237" cy="2928990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3F1EED56-254D-437D-9290-6B2633FE0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6318" y="3584902"/>
              <a:ext cx="1414191" cy="1146756"/>
            </a:xfrm>
            <a:prstGeom prst="rect">
              <a:avLst/>
            </a:prstGeom>
          </p:spPr>
        </p:pic>
        <p:pic>
          <p:nvPicPr>
            <p:cNvPr id="16" name="그림 15" descr="스크린샷이(가) 표시된 사진&#10;&#10;자동 생성된 설명">
              <a:extLst>
                <a:ext uri="{FF2B5EF4-FFF2-40B4-BE49-F238E27FC236}">
                  <a16:creationId xmlns:a16="http://schemas.microsoft.com/office/drawing/2014/main" id="{1EA2281E-3847-478C-902A-6A9320AC3C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3350" r="58537" b="32677"/>
            <a:stretch/>
          </p:blipFill>
          <p:spPr>
            <a:xfrm>
              <a:off x="5235503" y="3632200"/>
              <a:ext cx="1482798" cy="1778000"/>
            </a:xfrm>
            <a:prstGeom prst="rect">
              <a:avLst/>
            </a:prstGeom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C704213-42D6-4454-B48D-1D55C0CC3F8B}"/>
              </a:ext>
            </a:extLst>
          </p:cNvPr>
          <p:cNvGrpSpPr/>
          <p:nvPr/>
        </p:nvGrpSpPr>
        <p:grpSpPr>
          <a:xfrm>
            <a:off x="6735986" y="3550643"/>
            <a:ext cx="2178588" cy="2807348"/>
            <a:chOff x="6735986" y="3550643"/>
            <a:chExt cx="2178588" cy="2807348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67EA425E-DD7C-4C0D-83C4-AF5A6293F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35986" y="5321300"/>
              <a:ext cx="2178588" cy="1036691"/>
            </a:xfrm>
            <a:prstGeom prst="rect">
              <a:avLst/>
            </a:prstGeom>
          </p:spPr>
        </p:pic>
        <p:pic>
          <p:nvPicPr>
            <p:cNvPr id="1026" name="Picture 2" descr="Design and Verification of a Robust Release Mechanism for CubeSat  Deployables">
              <a:extLst>
                <a:ext uri="{FF2B5EF4-FFF2-40B4-BE49-F238E27FC236}">
                  <a16:creationId xmlns:a16="http://schemas.microsoft.com/office/drawing/2014/main" id="{1C7DC5C2-1060-45F1-911F-05938B97B93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103"/>
            <a:stretch/>
          </p:blipFill>
          <p:spPr bwMode="auto">
            <a:xfrm>
              <a:off x="6735986" y="3808875"/>
              <a:ext cx="2159731" cy="11784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177C751C-FD2D-4525-B078-A67FC82E1906}"/>
                </a:ext>
              </a:extLst>
            </p:cNvPr>
            <p:cNvCxnSpPr>
              <a:cxnSpLocks/>
              <a:stCxn id="1026" idx="2"/>
              <a:endCxn id="20" idx="0"/>
            </p:cNvCxnSpPr>
            <p:nvPr/>
          </p:nvCxnSpPr>
          <p:spPr>
            <a:xfrm>
              <a:off x="7815852" y="4987290"/>
              <a:ext cx="9428" cy="33401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oli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5DF0BDBE-DDDC-4B38-B6B3-453954A0B17D}"/>
                </a:ext>
              </a:extLst>
            </p:cNvPr>
            <p:cNvSpPr/>
            <p:nvPr/>
          </p:nvSpPr>
          <p:spPr>
            <a:xfrm>
              <a:off x="7825280" y="3550643"/>
              <a:ext cx="1057123" cy="19260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err="1">
                  <a:solidFill>
                    <a:schemeClr val="tx1"/>
                  </a:solidFill>
                </a:rPr>
                <a:t>Damkjar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, 2019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89917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DF4DA2-9B51-4193-A102-42E5E6AEB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Integration Level Testing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C2CCEB-939D-4941-94BB-AF188D254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Integrated EPS Module Type C &amp; Solar Array</a:t>
            </a:r>
          </a:p>
          <a:p>
            <a:pPr lvl="1"/>
            <a:r>
              <a:rPr lang="en-US" altLang="ko-KR" dirty="0"/>
              <a:t>Check telemetry &amp; telecommand via I2C communication</a:t>
            </a:r>
          </a:p>
          <a:p>
            <a:pPr lvl="2"/>
            <a:r>
              <a:rPr lang="en-US" altLang="ko-KR" dirty="0"/>
              <a:t>Repeat component level testing sequences</a:t>
            </a:r>
          </a:p>
          <a:p>
            <a:pPr lvl="1"/>
            <a:r>
              <a:rPr lang="en-US" altLang="ko-KR" dirty="0"/>
              <a:t>Measure solar array output and compare with MPPT input</a:t>
            </a:r>
          </a:p>
          <a:p>
            <a:pPr lvl="2"/>
            <a:r>
              <a:rPr lang="en-US" altLang="ko-KR" dirty="0"/>
              <a:t>Light source using halogen lamp or outdoor sunlight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3514FD-859C-4E99-B81E-0A744309A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37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E4DD3B5-F9DB-42EA-AE33-ECBCC5683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38" y="2915084"/>
            <a:ext cx="4605033" cy="35437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2E6985-7CDA-4D4B-85E8-CA75C52BA51F}"/>
              </a:ext>
            </a:extLst>
          </p:cNvPr>
          <p:cNvSpPr txBox="1"/>
          <p:nvPr/>
        </p:nvSpPr>
        <p:spPr>
          <a:xfrm>
            <a:off x="261596" y="6423620"/>
            <a:ext cx="8639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&lt;Example configuration of integrated EPS module and solar array&gt;</a:t>
            </a:r>
            <a:endParaRPr lang="ko-KR" altLang="en-US" sz="12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72A86E6-7269-4B69-B313-A035216C5464}"/>
              </a:ext>
            </a:extLst>
          </p:cNvPr>
          <p:cNvGrpSpPr/>
          <p:nvPr/>
        </p:nvGrpSpPr>
        <p:grpSpPr>
          <a:xfrm>
            <a:off x="4866630" y="2922994"/>
            <a:ext cx="4034632" cy="3500625"/>
            <a:chOff x="4866630" y="2922994"/>
            <a:chExt cx="4034632" cy="350062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7616905-04B7-4F9D-8061-234FF55D37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953715" y="2922994"/>
              <a:ext cx="2179609" cy="1534706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2E7AB9A-3940-4D7C-BF56-76E9A9F7E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25384" y="4162424"/>
              <a:ext cx="2275878" cy="2261195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0D147EC-DFB3-4B52-947B-F5D2063C6B48}"/>
                </a:ext>
              </a:extLst>
            </p:cNvPr>
            <p:cNvSpPr/>
            <p:nvPr/>
          </p:nvSpPr>
          <p:spPr>
            <a:xfrm>
              <a:off x="4966373" y="4215180"/>
              <a:ext cx="901053" cy="19260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Post, 2013</a:t>
              </a:r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50C710E8-BC97-49F9-AFBF-E66CFE827E51}"/>
                </a:ext>
              </a:extLst>
            </p:cNvPr>
            <p:cNvCxnSpPr>
              <a:cxnSpLocks/>
              <a:stCxn id="8" idx="2"/>
              <a:endCxn id="9" idx="1"/>
            </p:cNvCxnSpPr>
            <p:nvPr/>
          </p:nvCxnSpPr>
          <p:spPr>
            <a:xfrm rot="16200000" flipH="1">
              <a:off x="5916791" y="4584429"/>
              <a:ext cx="835322" cy="581864"/>
            </a:xfrm>
            <a:prstGeom prst="bentConnector2">
              <a:avLst/>
            </a:prstGeom>
            <a:ln w="19050">
              <a:solidFill>
                <a:srgbClr val="FF0000"/>
              </a:solidFill>
              <a:prstDash val="soli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0">
              <a:extLst>
                <a:ext uri="{FF2B5EF4-FFF2-40B4-BE49-F238E27FC236}">
                  <a16:creationId xmlns:a16="http://schemas.microsoft.com/office/drawing/2014/main" id="{49C0DF06-A232-44AC-9287-2DD90503E3BE}"/>
                </a:ext>
              </a:extLst>
            </p:cNvPr>
            <p:cNvCxnSpPr>
              <a:cxnSpLocks/>
              <a:stCxn id="9" idx="0"/>
              <a:endCxn id="8" idx="3"/>
            </p:cNvCxnSpPr>
            <p:nvPr/>
          </p:nvCxnSpPr>
          <p:spPr>
            <a:xfrm rot="16200000" flipV="1">
              <a:off x="7212286" y="3611386"/>
              <a:ext cx="472077" cy="629999"/>
            </a:xfrm>
            <a:prstGeom prst="bentConnector2">
              <a:avLst/>
            </a:prstGeom>
            <a:ln w="19050">
              <a:solidFill>
                <a:srgbClr val="FF0000"/>
              </a:solidFill>
              <a:prstDash val="soli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4E0C701-0EC4-473A-9825-BFB400E0BF83}"/>
                </a:ext>
              </a:extLst>
            </p:cNvPr>
            <p:cNvSpPr/>
            <p:nvPr/>
          </p:nvSpPr>
          <p:spPr>
            <a:xfrm>
              <a:off x="4866630" y="5244402"/>
              <a:ext cx="1648151" cy="4555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Measure solar array output as analog values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8" name="직선 화살표 연결선 10">
              <a:extLst>
                <a:ext uri="{FF2B5EF4-FFF2-40B4-BE49-F238E27FC236}">
                  <a16:creationId xmlns:a16="http://schemas.microsoft.com/office/drawing/2014/main" id="{462F9047-3D33-4AB8-942E-D926AC34E0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27700" y="3381686"/>
              <a:ext cx="793798" cy="553193"/>
            </a:xfrm>
            <a:prstGeom prst="straightConnector1">
              <a:avLst/>
            </a:prstGeom>
            <a:ln w="19050">
              <a:solidFill>
                <a:schemeClr val="accent4"/>
              </a:solidFill>
              <a:prstDash val="soli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BB359FE-360B-4ADE-A80B-7C41584D7376}"/>
                </a:ext>
              </a:extLst>
            </p:cNvPr>
            <p:cNvSpPr/>
            <p:nvPr/>
          </p:nvSpPr>
          <p:spPr>
            <a:xfrm>
              <a:off x="5883925" y="3894043"/>
              <a:ext cx="901053" cy="3927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Light Source</a:t>
              </a:r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23" name="직선 화살표 연결선 10">
              <a:extLst>
                <a:ext uri="{FF2B5EF4-FFF2-40B4-BE49-F238E27FC236}">
                  <a16:creationId xmlns:a16="http://schemas.microsoft.com/office/drawing/2014/main" id="{BFA88417-CFC3-4270-869E-1D170646A6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14116" y="2971143"/>
              <a:ext cx="33276" cy="572157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tailEnd type="stealth" w="lg" len="lg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원호 27">
              <a:extLst>
                <a:ext uri="{FF2B5EF4-FFF2-40B4-BE49-F238E27FC236}">
                  <a16:creationId xmlns:a16="http://schemas.microsoft.com/office/drawing/2014/main" id="{148D8EB0-7792-46EB-AD33-CD4DEF980A20}"/>
                </a:ext>
              </a:extLst>
            </p:cNvPr>
            <p:cNvSpPr/>
            <p:nvPr/>
          </p:nvSpPr>
          <p:spPr>
            <a:xfrm>
              <a:off x="5361655" y="3092451"/>
              <a:ext cx="366045" cy="237490"/>
            </a:xfrm>
            <a:prstGeom prst="arc">
              <a:avLst>
                <a:gd name="adj1" fmla="val 18832577"/>
                <a:gd name="adj2" fmla="val 13847930"/>
              </a:avLst>
            </a:prstGeom>
            <a:ln w="12700">
              <a:head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BCC32243-D2D3-4A72-8460-F25E38417717}"/>
                </a:ext>
              </a:extLst>
            </p:cNvPr>
            <p:cNvSpPr/>
            <p:nvPr/>
          </p:nvSpPr>
          <p:spPr>
            <a:xfrm>
              <a:off x="5653336" y="2955988"/>
              <a:ext cx="901053" cy="3927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Rotation</a:t>
              </a:r>
            </a:p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0~180 deg</a:t>
              </a:r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EB4691C-D17E-418A-B90A-8F24EDA859AB}"/>
                </a:ext>
              </a:extLst>
            </p:cNvPr>
            <p:cNvSpPr/>
            <p:nvPr/>
          </p:nvSpPr>
          <p:spPr>
            <a:xfrm>
              <a:off x="7153359" y="3201216"/>
              <a:ext cx="1648151" cy="4555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Compare with solar array input on </a:t>
              </a:r>
            </a:p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PCDU’s MPPT port 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61427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E3242-053D-4559-A53C-3A0F7F512F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Conclusion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71331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3B3C508-6CA8-4E2A-A32C-CC7C59577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1DBD927-9D02-4F42-B2A0-35D6F1DAA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EPS Configurations &amp; Specifications</a:t>
            </a:r>
          </a:p>
          <a:p>
            <a:pPr lvl="1"/>
            <a:r>
              <a:rPr lang="en-US" altLang="ko-KR" dirty="0"/>
              <a:t>Components; PCDU, Li-ion battery, solar array, deployment circuit, …</a:t>
            </a:r>
          </a:p>
          <a:p>
            <a:pPr lvl="1"/>
            <a:r>
              <a:rPr lang="en-US" altLang="ko-KR" dirty="0"/>
              <a:t>Electrical interface; solar array input &amp; battery output for each channel</a:t>
            </a:r>
          </a:p>
          <a:p>
            <a:pPr lvl="1"/>
            <a:r>
              <a:rPr lang="en-US" altLang="ko-KR" dirty="0"/>
              <a:t>Specifications </a:t>
            </a:r>
            <a:r>
              <a:rPr lang="en-US" altLang="ko-KR" dirty="0" err="1"/>
              <a:t>w.r.t.</a:t>
            </a:r>
            <a:r>
              <a:rPr lang="en-US" altLang="ko-KR" dirty="0"/>
              <a:t> requirements &amp; constraints </a:t>
            </a:r>
            <a:r>
              <a:rPr lang="en-US" altLang="ko-KR" dirty="0">
                <a:sym typeface="Wingdings" panose="05000000000000000000" pitchFamily="2" charset="2"/>
              </a:rPr>
              <a:t> “compliable”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EPS Analysis</a:t>
            </a:r>
          </a:p>
          <a:p>
            <a:pPr lvl="1"/>
            <a:r>
              <a:rPr lang="en-US" altLang="ko-KR" dirty="0"/>
              <a:t>Power budget management</a:t>
            </a:r>
          </a:p>
          <a:p>
            <a:pPr lvl="1"/>
            <a:r>
              <a:rPr lang="en-US" altLang="ko-KR" dirty="0"/>
              <a:t>EPS mathematical model design</a:t>
            </a:r>
          </a:p>
          <a:p>
            <a:pPr lvl="1"/>
            <a:r>
              <a:rPr lang="en-US" altLang="ko-KR" dirty="0"/>
              <a:t>Energy balance analysis; integrated electrical power simulation by scenarios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EPS Verification Plan</a:t>
            </a:r>
          </a:p>
          <a:p>
            <a:pPr lvl="1"/>
            <a:r>
              <a:rPr lang="en-US" altLang="ko-KR" dirty="0"/>
              <a:t>Component level testing plan</a:t>
            </a:r>
          </a:p>
          <a:p>
            <a:pPr lvl="1"/>
            <a:r>
              <a:rPr lang="en-US" altLang="ko-KR" dirty="0"/>
              <a:t>Integration level testing plan</a:t>
            </a:r>
          </a:p>
          <a:p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22997FA-C21D-412B-8BF5-694B11FD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39</a:t>
            </a:fld>
            <a:r>
              <a:rPr lang="en-US" altLang="ko-KR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46171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AE737F-604A-42FD-A09D-B40CB2247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Issue and Concern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65FDB-4603-46B9-B1E2-97F942304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Issue</a:t>
            </a:r>
          </a:p>
          <a:p>
            <a:pPr lvl="1"/>
            <a:r>
              <a:rPr lang="en-US" altLang="ko-KR" dirty="0"/>
              <a:t>From thermal analysis results, battery stack has low temperature margin </a:t>
            </a:r>
          </a:p>
          <a:p>
            <a:pPr lvl="2"/>
            <a:r>
              <a:rPr lang="en-US" altLang="ko-KR" dirty="0"/>
              <a:t>Solution 1) evaluation of thermal analysis results; consultation, STM testing</a:t>
            </a:r>
          </a:p>
          <a:p>
            <a:pPr lvl="2"/>
            <a:r>
              <a:rPr lang="en-US" altLang="ko-KR" dirty="0"/>
              <a:t>Solution 2) insulation using Kapton or MLI/SLI</a:t>
            </a:r>
          </a:p>
          <a:p>
            <a:pPr lvl="2"/>
            <a:r>
              <a:rPr lang="en-US" altLang="ko-KR" dirty="0"/>
              <a:t>Solution 3) change the location of battery in structure model</a:t>
            </a:r>
          </a:p>
          <a:p>
            <a:pPr lvl="2"/>
            <a:endParaRPr lang="en-US" altLang="ko-KR" dirty="0"/>
          </a:p>
          <a:p>
            <a:r>
              <a:rPr lang="en-US" altLang="ko-KR" dirty="0"/>
              <a:t>Concern</a:t>
            </a:r>
          </a:p>
          <a:p>
            <a:pPr lvl="1"/>
            <a:r>
              <a:rPr lang="en-US" altLang="ko-KR" dirty="0"/>
              <a:t>Lack of detailed battery specifications due to none-flight heritage version</a:t>
            </a:r>
          </a:p>
          <a:p>
            <a:pPr lvl="2"/>
            <a:r>
              <a:rPr lang="en-US" altLang="ko-KR" dirty="0"/>
              <a:t>Advanced model based on flight heritage model (since 2018)</a:t>
            </a:r>
          </a:p>
          <a:p>
            <a:pPr lvl="2"/>
            <a:r>
              <a:rPr lang="en-US" altLang="ko-KR" dirty="0"/>
              <a:t>Solution 1) limit DOD during operations within 15% (smaller than recommendation)</a:t>
            </a:r>
          </a:p>
          <a:p>
            <a:pPr lvl="2"/>
            <a:r>
              <a:rPr lang="en-US" altLang="ko-KR" dirty="0"/>
              <a:t>Solution 2) local testing using NCR 18650B li-ion battery cell</a:t>
            </a:r>
          </a:p>
          <a:p>
            <a:pPr lvl="1"/>
            <a:r>
              <a:rPr lang="en-US" altLang="ko-KR" dirty="0"/>
              <a:t>Over current during integration testing</a:t>
            </a:r>
          </a:p>
          <a:p>
            <a:pPr lvl="2"/>
            <a:r>
              <a:rPr lang="en-US" altLang="ko-KR" dirty="0"/>
              <a:t>Solution 1) time-sharing of H/W duty rate and evaluate through ETB testing</a:t>
            </a:r>
          </a:p>
          <a:p>
            <a:pPr lvl="2"/>
            <a:r>
              <a:rPr lang="en-US" altLang="ko-KR" dirty="0"/>
              <a:t>Solution 2) utilize redundant channel for component with high-current draw </a:t>
            </a:r>
          </a:p>
          <a:p>
            <a:pPr lvl="1"/>
            <a:r>
              <a:rPr lang="en-US" altLang="ko-KR" dirty="0"/>
              <a:t>Survival during LEOP</a:t>
            </a:r>
          </a:p>
          <a:p>
            <a:pPr lvl="2"/>
            <a:r>
              <a:rPr lang="en-US" altLang="ko-KR" dirty="0"/>
              <a:t>Solution 1</a:t>
            </a:r>
            <a:r>
              <a:rPr lang="en-US" altLang="ko-KR"/>
              <a:t>) set on-orbit </a:t>
            </a:r>
            <a:r>
              <a:rPr lang="en-US" altLang="ko-KR" dirty="0"/>
              <a:t>configurable conditions for detumbling end 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E01D03A-34E2-43C5-9D51-09884FD4D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40</a:t>
            </a:fld>
            <a:r>
              <a:rPr lang="en-US" altLang="ko-KR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53024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3B3C508-6CA8-4E2A-A32C-CC7C59577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Works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1DBD927-9D02-4F42-B2A0-35D6F1DAA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Summary of Main Schedule</a:t>
            </a:r>
          </a:p>
          <a:p>
            <a:pPr lvl="1"/>
            <a:r>
              <a:rPr lang="en-US" altLang="ko-KR" dirty="0"/>
              <a:t>Near-term</a:t>
            </a:r>
          </a:p>
          <a:p>
            <a:pPr lvl="2"/>
            <a:r>
              <a:rPr lang="en-US" altLang="ko-KR" dirty="0"/>
              <a:t>Set-up for component level testing environment based on verification plan</a:t>
            </a:r>
          </a:p>
          <a:p>
            <a:pPr lvl="2"/>
            <a:r>
              <a:rPr lang="en-US" altLang="ko-KR" dirty="0"/>
              <a:t>Evaluation of current design through local interface &amp; function testing</a:t>
            </a:r>
          </a:p>
          <a:p>
            <a:pPr lvl="3"/>
            <a:r>
              <a:rPr lang="en-US" altLang="ko-KR" dirty="0"/>
              <a:t>Deployment circuit logic &amp; performance</a:t>
            </a:r>
          </a:p>
          <a:p>
            <a:pPr lvl="3"/>
            <a:r>
              <a:rPr lang="en-US" altLang="ko-KR" dirty="0"/>
              <a:t>Photodiode &amp; temperature sensor bit resolution with amplifier</a:t>
            </a:r>
          </a:p>
          <a:p>
            <a:pPr lvl="3"/>
            <a:r>
              <a:rPr lang="en-US" altLang="ko-KR" dirty="0"/>
              <a:t>Battery cell charge &amp; discharge testing</a:t>
            </a:r>
          </a:p>
          <a:p>
            <a:pPr lvl="1"/>
            <a:r>
              <a:rPr lang="en-US" altLang="ko-KR" dirty="0"/>
              <a:t>Long-term</a:t>
            </a:r>
          </a:p>
          <a:p>
            <a:pPr lvl="2"/>
            <a:r>
              <a:rPr lang="en-US" altLang="ko-KR" dirty="0"/>
              <a:t>EPS component level testing after delivery of COTS</a:t>
            </a:r>
          </a:p>
          <a:p>
            <a:pPr lvl="2"/>
            <a:r>
              <a:rPr lang="en-US" altLang="ko-KR" dirty="0"/>
              <a:t>EPS integration level testing before ETB flat-sat testing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005B98C-6438-4C15-BDA4-FFDC8517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41</a:t>
            </a:fld>
            <a:r>
              <a:rPr lang="en-US" altLang="ko-KR"/>
              <a:t> </a:t>
            </a:r>
            <a:endParaRPr lang="ko-KR" altLang="en-US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80B4C43-513A-4A9C-8305-E8CF9C0FBC24}"/>
              </a:ext>
            </a:extLst>
          </p:cNvPr>
          <p:cNvGrpSpPr/>
          <p:nvPr/>
        </p:nvGrpSpPr>
        <p:grpSpPr>
          <a:xfrm>
            <a:off x="261596" y="4097087"/>
            <a:ext cx="8639665" cy="2603532"/>
            <a:chOff x="261596" y="4097087"/>
            <a:chExt cx="8639665" cy="260353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0BF7E5D-727A-4C73-BA61-A7EB341EE6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355"/>
            <a:stretch/>
          </p:blipFill>
          <p:spPr>
            <a:xfrm>
              <a:off x="261597" y="4097087"/>
              <a:ext cx="2115496" cy="2274264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12B0BF94-C4AE-48D4-AA96-DC0147677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43151" y="5397195"/>
              <a:ext cx="2283049" cy="974156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40F0828-AB7D-4161-8AD8-AF2A73688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43151" y="4097088"/>
              <a:ext cx="2283049" cy="1226666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1E997D93-21BA-471C-B903-EE396227E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11819" y="4224698"/>
              <a:ext cx="2375359" cy="1797681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11AE8E3-28CF-4C38-BA28-F1DA5C335E60}"/>
                </a:ext>
              </a:extLst>
            </p:cNvPr>
            <p:cNvSpPr txBox="1"/>
            <p:nvPr/>
          </p:nvSpPr>
          <p:spPr>
            <a:xfrm>
              <a:off x="261596" y="6423620"/>
              <a:ext cx="86396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/>
                <a:t>&lt;Example configuration of EPS testing&gt;</a:t>
              </a:r>
              <a:endParaRPr lang="ko-KR" altLang="en-US" sz="1200" b="1" dirty="0"/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B2D1B063-535A-4746-8C37-07375E522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34125" y="4224698"/>
              <a:ext cx="1651199" cy="1979252"/>
            </a:xfrm>
            <a:prstGeom prst="rect">
              <a:avLst/>
            </a:prstGeom>
            <a:ln w="19050">
              <a:solidFill>
                <a:srgbClr val="FFC000"/>
              </a:solidFill>
            </a:ln>
          </p:spPr>
        </p:pic>
        <p:cxnSp>
          <p:nvCxnSpPr>
            <p:cNvPr id="25" name="직선 화살표 연결선 10">
              <a:extLst>
                <a:ext uri="{FF2B5EF4-FFF2-40B4-BE49-F238E27FC236}">
                  <a16:creationId xmlns:a16="http://schemas.microsoft.com/office/drawing/2014/main" id="{38C9CA66-A66C-4D8F-96B3-9CBB331ACABC}"/>
                </a:ext>
              </a:extLst>
            </p:cNvPr>
            <p:cNvCxnSpPr>
              <a:cxnSpLocks/>
              <a:stCxn id="24" idx="1"/>
            </p:cNvCxnSpPr>
            <p:nvPr/>
          </p:nvCxnSpPr>
          <p:spPr>
            <a:xfrm flipH="1">
              <a:off x="1895475" y="5214324"/>
              <a:ext cx="538650" cy="808055"/>
            </a:xfrm>
            <a:prstGeom prst="straightConnector1">
              <a:avLst/>
            </a:prstGeom>
            <a:ln w="19050">
              <a:solidFill>
                <a:schemeClr val="accent4"/>
              </a:solidFill>
              <a:prstDash val="soli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273656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E3242-053D-4559-A53C-3A0F7F512F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FFCC"/>
                </a:solidFill>
              </a:rPr>
              <a:t>Question &amp; Answer</a:t>
            </a:r>
            <a:endParaRPr lang="ko-KR" altLang="en-US" dirty="0">
              <a:solidFill>
                <a:srgbClr val="FFFFC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F2FD46-6BB9-4951-B9A3-817DAD312DB1}"/>
              </a:ext>
            </a:extLst>
          </p:cNvPr>
          <p:cNvSpPr txBox="1"/>
          <p:nvPr/>
        </p:nvSpPr>
        <p:spPr>
          <a:xfrm>
            <a:off x="1001686" y="1541417"/>
            <a:ext cx="7188926" cy="212365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 for Your Attention</a:t>
            </a:r>
            <a:endParaRPr lang="ko-KR" alt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54570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E3242-053D-4559-A53C-3A0F7F512F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Appendix.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93452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5D7EB2-E1CD-432F-8A29-DDDBAF994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Risk Management [1/2]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9D68B19-72CC-4814-ADFD-D8E4357F4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44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0AD739C-9522-442C-9874-6F21E696F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255" y="972577"/>
            <a:ext cx="5077489" cy="728167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B033271-E92B-4C82-BBEA-B2FFB06D679F}"/>
              </a:ext>
            </a:extLst>
          </p:cNvPr>
          <p:cNvGraphicFramePr>
            <a:graphicFrameLocks noGrp="1"/>
          </p:cNvGraphicFramePr>
          <p:nvPr/>
        </p:nvGraphicFramePr>
        <p:xfrm>
          <a:off x="261600" y="1830075"/>
          <a:ext cx="8640000" cy="355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1047073374"/>
                    </a:ext>
                  </a:extLst>
                </a:gridCol>
                <a:gridCol w="1908000">
                  <a:extLst>
                    <a:ext uri="{9D8B030D-6E8A-4147-A177-3AD203B41FA5}">
                      <a16:colId xmlns:a16="http://schemas.microsoft.com/office/drawing/2014/main" val="73027143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00068450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215529643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41454482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944659080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653945406"/>
                    </a:ext>
                  </a:extLst>
                </a:gridCol>
              </a:tblGrid>
              <a:tr h="432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Detection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Solar Array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Battery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Solution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0306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Deployment</a:t>
                      </a:r>
                      <a:endParaRPr lang="ko-KR" altLang="en-US" sz="9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Low Power</a:t>
                      </a:r>
                    </a:p>
                    <a:p>
                      <a:pPr algn="ctr" latinLnBrk="1"/>
                      <a:r>
                        <a:rPr lang="en-US" altLang="ko-KR" sz="900" dirty="0"/>
                        <a:t>Generation</a:t>
                      </a:r>
                      <a:endParaRPr lang="ko-KR" altLang="en-US" sz="9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Heater</a:t>
                      </a:r>
                      <a:endParaRPr lang="ko-KR" altLang="en-US" sz="9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Sensors</a:t>
                      </a:r>
                      <a:endParaRPr lang="ko-KR" altLang="en-US" sz="9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372524"/>
                  </a:ext>
                </a:extLst>
              </a:tr>
              <a:tr h="537250">
                <a:tc>
                  <a:txBody>
                    <a:bodyPr/>
                    <a:lstStyle/>
                    <a:p>
                      <a:pPr marL="0" lvl="3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EPS-01</a:t>
                      </a:r>
                    </a:p>
                  </a:txBody>
                  <a:tcPr marL="7560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3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 battery telemetry</a:t>
                      </a:r>
                    </a:p>
                    <a:p>
                      <a:pPr marL="0" lvl="3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(Battery Temperature)</a:t>
                      </a:r>
                    </a:p>
                  </a:txBody>
                  <a:tcPr marL="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222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3" indent="-171450" 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/>
                        <a:t>FSW reboot by OBC WDT</a:t>
                      </a:r>
                    </a:p>
                    <a:p>
                      <a:pPr marL="171450" lvl="3" indent="-171450" 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/>
                        <a:t>System reboot by PCDU WDT</a:t>
                      </a:r>
                    </a:p>
                  </a:txBody>
                  <a:tcPr marL="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564588"/>
                  </a:ext>
                </a:extLst>
              </a:tr>
              <a:tr h="537250">
                <a:tc>
                  <a:txBody>
                    <a:bodyPr/>
                    <a:lstStyle/>
                    <a:p>
                      <a:pPr marL="0" marR="0" lvl="3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EPS-02</a:t>
                      </a:r>
                    </a:p>
                  </a:txBody>
                  <a:tcPr marL="7560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3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Low battery temperature</a:t>
                      </a:r>
                    </a:p>
                    <a:p>
                      <a:pPr marL="0" lvl="3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(Heater Enable Telemetry)</a:t>
                      </a:r>
                    </a:p>
                  </a:txBody>
                  <a:tcPr marL="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222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3" indent="-171450" 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Attitude control to heat battery (passive thermal control based on thermal analysis)</a:t>
                      </a:r>
                      <a:endParaRPr lang="en-US" altLang="ko-KR" sz="1000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5454908"/>
                  </a:ext>
                </a:extLst>
              </a:tr>
              <a:tr h="537250">
                <a:tc>
                  <a:txBody>
                    <a:bodyPr/>
                    <a:lstStyle/>
                    <a:p>
                      <a:pPr marL="0" marR="0" lvl="3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EPS-03</a:t>
                      </a:r>
                    </a:p>
                  </a:txBody>
                  <a:tcPr marL="7560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3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Anomaly in PCDU telemetry</a:t>
                      </a:r>
                    </a:p>
                    <a:p>
                      <a:pPr marL="0" lvl="3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(PCDU BCR Voltage, Current)</a:t>
                      </a:r>
                    </a:p>
                  </a:txBody>
                  <a:tcPr marL="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222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3" indent="-171450" 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Check a location of damaged solar array</a:t>
                      </a:r>
                    </a:p>
                    <a:p>
                      <a:pPr marL="171450" lvl="3" indent="-171450" 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Orient to Sun for maximum power generation (tumbling &amp; emergency) </a:t>
                      </a:r>
                    </a:p>
                  </a:txBody>
                  <a:tcPr marL="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43241"/>
                  </a:ext>
                </a:extLst>
              </a:tr>
              <a:tr h="5372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EPS-04</a:t>
                      </a:r>
                    </a:p>
                  </a:txBody>
                  <a:tcPr marL="7560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3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 deployment switch signal</a:t>
                      </a:r>
                    </a:p>
                    <a:p>
                      <a:pPr marL="0" lvl="3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(Tact Switch GPIO Signal)</a:t>
                      </a:r>
                    </a:p>
                  </a:txBody>
                  <a:tcPr marL="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222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3" indent="-171450" 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Check PCDU telemetry</a:t>
                      </a:r>
                    </a:p>
                    <a:p>
                      <a:pPr marL="171450" lvl="3" indent="-171450" 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Retry to deploy solar array by telecommand (tumbling &amp; emergency) </a:t>
                      </a:r>
                      <a:endParaRPr lang="en-US" altLang="ko-KR" sz="1000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4244714"/>
                  </a:ext>
                </a:extLst>
              </a:tr>
              <a:tr h="5372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EPS-05</a:t>
                      </a:r>
                    </a:p>
                  </a:txBody>
                  <a:tcPr marL="7560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3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 system responses </a:t>
                      </a:r>
                    </a:p>
                  </a:txBody>
                  <a:tcPr marL="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i="1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3" indent="-171450" 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/>
                        <a:t>System reboot by PCDU WDT</a:t>
                      </a:r>
                      <a:br>
                        <a:rPr lang="en-US" altLang="ko-KR" sz="1000" dirty="0"/>
                      </a:br>
                      <a:r>
                        <a:rPr lang="en-US" altLang="ko-KR" sz="1000" dirty="0"/>
                        <a:t>(generally, it’s a mission failure!) </a:t>
                      </a:r>
                    </a:p>
                  </a:txBody>
                  <a:tcPr marL="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457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506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5D7EB2-E1CD-432F-8A29-DDDBAF994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Risk Management [2/2]</a:t>
            </a:r>
            <a:endParaRPr lang="ko-KR" altLang="en-US" dirty="0"/>
          </a:p>
        </p:txBody>
      </p:sp>
      <p:graphicFrame>
        <p:nvGraphicFramePr>
          <p:cNvPr id="5" name="표 7">
            <a:extLst>
              <a:ext uri="{FF2B5EF4-FFF2-40B4-BE49-F238E27FC236}">
                <a16:creationId xmlns:a16="http://schemas.microsoft.com/office/drawing/2014/main" id="{3053551C-B50D-4472-AF20-D5371E033222}"/>
              </a:ext>
            </a:extLst>
          </p:cNvPr>
          <p:cNvGraphicFramePr>
            <a:graphicFrameLocks noGrp="1"/>
          </p:cNvGraphicFramePr>
          <p:nvPr/>
        </p:nvGraphicFramePr>
        <p:xfrm>
          <a:off x="264869" y="1833646"/>
          <a:ext cx="8640000" cy="4920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>
                  <a:extLst>
                    <a:ext uri="{9D8B030D-6E8A-4147-A177-3AD203B41FA5}">
                      <a16:colId xmlns:a16="http://schemas.microsoft.com/office/drawing/2014/main" val="1047073374"/>
                    </a:ext>
                  </a:extLst>
                </a:gridCol>
                <a:gridCol w="1908000">
                  <a:extLst>
                    <a:ext uri="{9D8B030D-6E8A-4147-A177-3AD203B41FA5}">
                      <a16:colId xmlns:a16="http://schemas.microsoft.com/office/drawing/2014/main" val="73027143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00068450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215529643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41454482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944659080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653945406"/>
                    </a:ext>
                  </a:extLst>
                </a:gridCol>
              </a:tblGrid>
              <a:tr h="432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Detection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PCDU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Solution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0306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BCR</a:t>
                      </a:r>
                      <a:endParaRPr lang="ko-KR" altLang="en-US" sz="9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PDM Switch</a:t>
                      </a:r>
                      <a:endParaRPr lang="ko-KR" altLang="en-US" sz="9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WDT</a:t>
                      </a:r>
                      <a:endParaRPr lang="ko-KR" altLang="en-US" sz="9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I2C</a:t>
                      </a:r>
                      <a:endParaRPr lang="ko-KR" altLang="en-US" sz="9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372524"/>
                  </a:ext>
                </a:extLst>
              </a:tr>
              <a:tr h="537250">
                <a:tc>
                  <a:txBody>
                    <a:bodyPr/>
                    <a:lstStyle/>
                    <a:p>
                      <a:pPr marL="0" lvl="3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EPS-06</a:t>
                      </a:r>
                    </a:p>
                  </a:txBody>
                  <a:tcPr marL="7560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3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 PCDU telemetry</a:t>
                      </a:r>
                    </a:p>
                    <a:p>
                      <a:pPr marL="0" lvl="3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(Battery Voltage, Temperature)</a:t>
                      </a:r>
                    </a:p>
                  </a:txBody>
                  <a:tcPr marL="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2221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3" indent="-171450" 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effectLst/>
                        </a:rPr>
                        <a:t>FSW reboot by OBC WDT</a:t>
                      </a:r>
                    </a:p>
                    <a:p>
                      <a:pPr marL="171450" lvl="3" indent="-171450" 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effectLst/>
                        </a:rPr>
                        <a:t>System reboot by PCDU WDT</a:t>
                      </a:r>
                    </a:p>
                  </a:txBody>
                  <a:tcPr marL="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564588"/>
                  </a:ext>
                </a:extLst>
              </a:tr>
              <a:tr h="537250">
                <a:tc>
                  <a:txBody>
                    <a:bodyPr/>
                    <a:lstStyle/>
                    <a:p>
                      <a:pPr marL="0" marR="0" lvl="3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EPS-07</a:t>
                      </a:r>
                    </a:p>
                  </a:txBody>
                  <a:tcPr marL="7560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3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Fail to contact</a:t>
                      </a:r>
                      <a:br>
                        <a:rPr lang="en-US" altLang="ko-KR" sz="100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(Telecommunication failure)</a:t>
                      </a:r>
                    </a:p>
                  </a:txBody>
                  <a:tcPr marL="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222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3" indent="-171450" 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Wait system reboot other devices</a:t>
                      </a:r>
                      <a:br>
                        <a:rPr lang="en-US" altLang="ko-KR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0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FSW reboot by OBC command)</a:t>
                      </a:r>
                      <a:endParaRPr lang="en-US" altLang="ko-KR" sz="1000" i="1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859169"/>
                  </a:ext>
                </a:extLst>
              </a:tr>
              <a:tr h="537250">
                <a:tc>
                  <a:txBody>
                    <a:bodyPr/>
                    <a:lstStyle/>
                    <a:p>
                      <a:pPr marL="0" marR="0" lvl="3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EPS-08</a:t>
                      </a:r>
                    </a:p>
                  </a:txBody>
                  <a:tcPr marL="7560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3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Anomaly in PCDU / component telemetry</a:t>
                      </a:r>
                    </a:p>
                    <a:p>
                      <a:pPr marL="0" lvl="3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(PDM Voltage, Current)</a:t>
                      </a:r>
                    </a:p>
                  </a:txBody>
                  <a:tcPr marL="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222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3" indent="-171450" 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Compare subsystems telemetry with PCDU PDM telemetry</a:t>
                      </a:r>
                    </a:p>
                    <a:p>
                      <a:pPr marL="171450" marR="0" lvl="3" indent="-17145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effectLst/>
                        </a:rPr>
                        <a:t>FSW reboot by OBC WDT</a:t>
                      </a:r>
                    </a:p>
                    <a:p>
                      <a:pPr marL="171450" lvl="3" indent="-171450" 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Disable / Isolate damaged PDM</a:t>
                      </a:r>
                    </a:p>
                  </a:txBody>
                  <a:tcPr marL="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5454908"/>
                  </a:ext>
                </a:extLst>
              </a:tr>
              <a:tr h="537250">
                <a:tc>
                  <a:txBody>
                    <a:bodyPr/>
                    <a:lstStyle/>
                    <a:p>
                      <a:pPr marL="0" marR="0" lvl="3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EPS-09</a:t>
                      </a:r>
                    </a:p>
                  </a:txBody>
                  <a:tcPr marL="7560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3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Anomaly in BCR telemetry</a:t>
                      </a:r>
                    </a:p>
                    <a:p>
                      <a:pPr marL="0" lvl="3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(BCR Voltage, Current)</a:t>
                      </a:r>
                    </a:p>
                  </a:txBody>
                  <a:tcPr marL="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222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3" indent="-171450" 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Check PCDU BCR telemetry</a:t>
                      </a:r>
                    </a:p>
                    <a:p>
                      <a:pPr marL="171450" lvl="3" indent="-171450" 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PCM reboot or system reboot </a:t>
                      </a:r>
                      <a:endParaRPr lang="en-US" altLang="ko-KR" sz="1000" i="1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43241"/>
                  </a:ext>
                </a:extLst>
              </a:tr>
              <a:tr h="5372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EPS-10</a:t>
                      </a:r>
                    </a:p>
                  </a:txBody>
                  <a:tcPr marL="7560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3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 system responses </a:t>
                      </a:r>
                    </a:p>
                  </a:txBody>
                  <a:tcPr marL="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3" indent="-171450" 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effectLst/>
                        </a:rPr>
                        <a:t>System reboot by PCDU WDT</a:t>
                      </a:r>
                      <a:br>
                        <a:rPr lang="en-US" altLang="ko-KR" sz="1000" dirty="0">
                          <a:effectLst/>
                        </a:rPr>
                      </a:br>
                      <a:r>
                        <a:rPr lang="en-US" altLang="ko-KR" sz="1000" dirty="0">
                          <a:effectLst/>
                        </a:rPr>
                        <a:t>(generally, it’s a mission failure!) </a:t>
                      </a:r>
                    </a:p>
                  </a:txBody>
                  <a:tcPr marL="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4244714"/>
                  </a:ext>
                </a:extLst>
              </a:tr>
              <a:tr h="5372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EPS-11</a:t>
                      </a:r>
                    </a:p>
                  </a:txBody>
                  <a:tcPr marL="7560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3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 PDM output </a:t>
                      </a:r>
                    </a:p>
                    <a:p>
                      <a:pPr marL="0" lvl="3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 disable to control status</a:t>
                      </a:r>
                    </a:p>
                  </a:txBody>
                  <a:tcPr marL="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i="1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3" indent="-171450" 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Compare subsystems telemetry with PCDU PDM telemetry</a:t>
                      </a:r>
                    </a:p>
                    <a:p>
                      <a:pPr marL="171450" marR="0" lvl="3" indent="-17145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effectLst/>
                        </a:rPr>
                        <a:t>FSW reboot by OBC command</a:t>
                      </a:r>
                      <a:endParaRPr lang="en-US" altLang="ko-KR" sz="10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3" indent="-17145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Change system operations</a:t>
                      </a:r>
                      <a:endParaRPr lang="en-US" altLang="ko-KR" sz="1000" dirty="0">
                        <a:effectLst/>
                      </a:endParaRPr>
                    </a:p>
                  </a:txBody>
                  <a:tcPr marL="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457499"/>
                  </a:ext>
                </a:extLst>
              </a:tr>
              <a:tr h="5372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EPS-12</a:t>
                      </a:r>
                    </a:p>
                  </a:txBody>
                  <a:tcPr marL="7560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3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 power generation</a:t>
                      </a:r>
                    </a:p>
                    <a:p>
                      <a:pPr marL="0" marR="0" lvl="3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(BCR telemetry)</a:t>
                      </a:r>
                    </a:p>
                  </a:txBody>
                  <a:tcPr marL="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75365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3" indent="-171450" 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effectLst/>
                        </a:rPr>
                        <a:t>FSW reboot by OBC command</a:t>
                      </a:r>
                      <a:br>
                        <a:rPr lang="en-US" altLang="ko-KR" sz="1000" dirty="0">
                          <a:effectLst/>
                        </a:rPr>
                      </a:br>
                      <a:r>
                        <a:rPr lang="en-US" altLang="ko-KR" sz="1000" dirty="0">
                          <a:effectLst/>
                        </a:rPr>
                        <a:t>(generally, it’s a mission failure!)</a:t>
                      </a:r>
                      <a:endParaRPr lang="en-US" altLang="ko-KR" sz="1000" i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75365" marT="37682" marB="376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367279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A8D76EF4-8DBD-4D39-81C2-D6424EC0E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255" y="972577"/>
            <a:ext cx="5077489" cy="728167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93071BC-1E82-4105-BE39-1424FF09B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45</a:t>
            </a:fld>
            <a:r>
              <a:rPr lang="en-US" altLang="ko-KR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02276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8B5537-F6B7-4244-8BDE-67549C91B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Product Assurance Plan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EC5DEFD-530F-4028-BC07-83C5857C68B1}"/>
              </a:ext>
            </a:extLst>
          </p:cNvPr>
          <p:cNvGraphicFramePr>
            <a:graphicFrameLocks noGrp="1"/>
          </p:cNvGraphicFramePr>
          <p:nvPr/>
        </p:nvGraphicFramePr>
        <p:xfrm>
          <a:off x="587686" y="5197597"/>
          <a:ext cx="7987485" cy="15630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6349">
                  <a:extLst>
                    <a:ext uri="{9D8B030D-6E8A-4147-A177-3AD203B41FA5}">
                      <a16:colId xmlns:a16="http://schemas.microsoft.com/office/drawing/2014/main" val="846958166"/>
                    </a:ext>
                  </a:extLst>
                </a:gridCol>
                <a:gridCol w="3475568">
                  <a:extLst>
                    <a:ext uri="{9D8B030D-6E8A-4147-A177-3AD203B41FA5}">
                      <a16:colId xmlns:a16="http://schemas.microsoft.com/office/drawing/2014/main" val="3644940776"/>
                    </a:ext>
                  </a:extLst>
                </a:gridCol>
                <a:gridCol w="3475568">
                  <a:extLst>
                    <a:ext uri="{9D8B030D-6E8A-4147-A177-3AD203B41FA5}">
                      <a16:colId xmlns:a16="http://schemas.microsoft.com/office/drawing/2014/main" val="2853592187"/>
                    </a:ext>
                  </a:extLst>
                </a:gridCol>
              </a:tblGrid>
              <a:tr h="2605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bg1"/>
                          </a:solidFill>
                        </a:rPr>
                        <a:t>Scale</a:t>
                      </a:r>
                      <a:endParaRPr lang="ko-KR" alt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>
                          <a:solidFill>
                            <a:schemeClr val="bg1"/>
                          </a:solidFill>
                        </a:rPr>
                        <a:t>Probability of Occurrence</a:t>
                      </a:r>
                      <a:endParaRPr lang="ko-KR" alt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bg1"/>
                          </a:solidFill>
                        </a:rPr>
                        <a:t>Impact of Occurrence</a:t>
                      </a:r>
                      <a:endParaRPr lang="ko-KR" alt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969332"/>
                  </a:ext>
                </a:extLst>
              </a:tr>
              <a:tr h="2605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5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Almost Certain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Technical goals cannot be reached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2895362"/>
                  </a:ext>
                </a:extLst>
              </a:tr>
              <a:tr h="2605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4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Highly Probable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Significant degradation in technical performance</a:t>
                      </a:r>
                      <a:endParaRPr lang="ko-KR" alt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8665442"/>
                  </a:ext>
                </a:extLst>
              </a:tr>
              <a:tr h="2605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3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Probable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Moderate reduction of technical performance</a:t>
                      </a:r>
                      <a:endParaRPr lang="ko-KR" alt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0159347"/>
                  </a:ext>
                </a:extLst>
              </a:tr>
              <a:tr h="2605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2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Possible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Small reduction in technical performance</a:t>
                      </a:r>
                      <a:endParaRPr lang="ko-KR" alt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3945688"/>
                  </a:ext>
                </a:extLst>
              </a:tr>
              <a:tr h="2605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Improbable</a:t>
                      </a:r>
                      <a:endParaRPr lang="ko-KR" alt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Minimal or no consequence</a:t>
                      </a:r>
                      <a:endParaRPr lang="ko-KR" alt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0608425"/>
                  </a:ext>
                </a:extLst>
              </a:tr>
            </a:tbl>
          </a:graphicData>
        </a:graphic>
      </p:graphicFrame>
      <p:graphicFrame>
        <p:nvGraphicFramePr>
          <p:cNvPr id="11" name="내용 개체 틀 5">
            <a:extLst>
              <a:ext uri="{FF2B5EF4-FFF2-40B4-BE49-F238E27FC236}">
                <a16:creationId xmlns:a16="http://schemas.microsoft.com/office/drawing/2014/main" id="{2F93E080-0BAC-4216-8358-16CF3500D4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895760" y="1342221"/>
          <a:ext cx="3352480" cy="3445162"/>
        </p:xfrm>
        <a:graphic>
          <a:graphicData uri="http://schemas.openxmlformats.org/drawingml/2006/table">
            <a:tbl>
              <a:tblPr firstRow="1" bandRow="1">
                <a:solidFill>
                  <a:srgbClr val="FE7272"/>
                </a:solidFill>
                <a:tableStyleId>{5940675A-B579-460E-94D1-54222C63F5DA}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3785280117"/>
                    </a:ext>
                  </a:extLst>
                </a:gridCol>
                <a:gridCol w="627296">
                  <a:extLst>
                    <a:ext uri="{9D8B030D-6E8A-4147-A177-3AD203B41FA5}">
                      <a16:colId xmlns:a16="http://schemas.microsoft.com/office/drawing/2014/main" val="3959562732"/>
                    </a:ext>
                  </a:extLst>
                </a:gridCol>
                <a:gridCol w="627296">
                  <a:extLst>
                    <a:ext uri="{9D8B030D-6E8A-4147-A177-3AD203B41FA5}">
                      <a16:colId xmlns:a16="http://schemas.microsoft.com/office/drawing/2014/main" val="4163936809"/>
                    </a:ext>
                  </a:extLst>
                </a:gridCol>
                <a:gridCol w="627296">
                  <a:extLst>
                    <a:ext uri="{9D8B030D-6E8A-4147-A177-3AD203B41FA5}">
                      <a16:colId xmlns:a16="http://schemas.microsoft.com/office/drawing/2014/main" val="2302010035"/>
                    </a:ext>
                  </a:extLst>
                </a:gridCol>
                <a:gridCol w="627296">
                  <a:extLst>
                    <a:ext uri="{9D8B030D-6E8A-4147-A177-3AD203B41FA5}">
                      <a16:colId xmlns:a16="http://schemas.microsoft.com/office/drawing/2014/main" val="1001753780"/>
                    </a:ext>
                  </a:extLst>
                </a:gridCol>
                <a:gridCol w="627296">
                  <a:extLst>
                    <a:ext uri="{9D8B030D-6E8A-4147-A177-3AD203B41FA5}">
                      <a16:colId xmlns:a16="http://schemas.microsoft.com/office/drawing/2014/main" val="867634723"/>
                    </a:ext>
                  </a:extLst>
                </a:gridCol>
              </a:tblGrid>
              <a:tr h="6375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5</a:t>
                      </a:r>
                      <a:endParaRPr lang="ko-KR" altLang="en-US" sz="1200" b="1" dirty="0"/>
                    </a:p>
                  </a:txBody>
                  <a:tcPr marL="74682" marR="74682" marT="37341" marB="37341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F9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F9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380804"/>
                  </a:ext>
                </a:extLst>
              </a:tr>
              <a:tr h="6375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4</a:t>
                      </a:r>
                      <a:endParaRPr lang="ko-KR" altLang="en-US" sz="1200" b="1" dirty="0"/>
                    </a:p>
                  </a:txBody>
                  <a:tcPr marL="74682" marR="74682" marT="37341" marB="37341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F9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884206"/>
                  </a:ext>
                </a:extLst>
              </a:tr>
              <a:tr h="6375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3</a:t>
                      </a:r>
                      <a:endParaRPr lang="ko-KR" altLang="en-US" sz="1200" b="1" dirty="0"/>
                    </a:p>
                  </a:txBody>
                  <a:tcPr marL="74682" marR="74682" marT="37341" marB="37341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EPS-04</a:t>
                      </a:r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EPS-05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EPS-06</a:t>
                      </a:r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EPS-08</a:t>
                      </a:r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F9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EPS-07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EPS-10</a:t>
                      </a:r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089686"/>
                  </a:ext>
                </a:extLst>
              </a:tr>
              <a:tr h="6375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</a:t>
                      </a:r>
                      <a:endParaRPr lang="ko-KR" altLang="en-US" sz="1200" b="1" dirty="0"/>
                    </a:p>
                  </a:txBody>
                  <a:tcPr marL="74682" marR="74682" marT="37341" marB="37341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EPS-02</a:t>
                      </a:r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EPS-03</a:t>
                      </a:r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EPS-09</a:t>
                      </a:r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EPS-11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EPS-12</a:t>
                      </a:r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967242"/>
                  </a:ext>
                </a:extLst>
              </a:tr>
              <a:tr h="6375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1</a:t>
                      </a:r>
                      <a:endParaRPr lang="ko-KR" altLang="en-US" sz="1200" b="1" dirty="0"/>
                    </a:p>
                  </a:txBody>
                  <a:tcPr marL="74682" marR="74682" marT="37341" marB="37341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EPS-01</a:t>
                      </a:r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37569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marL="74682" marR="74682" marT="37341" marB="37341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1</a:t>
                      </a:r>
                      <a:endParaRPr lang="ko-KR" altLang="en-US" sz="1200" b="1" dirty="0"/>
                    </a:p>
                  </a:txBody>
                  <a:tcPr marL="74682" marR="74682" marT="37341" marB="3734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</a:t>
                      </a:r>
                      <a:endParaRPr lang="ko-KR" altLang="en-US" sz="1200" b="1" dirty="0"/>
                    </a:p>
                  </a:txBody>
                  <a:tcPr marL="74682" marR="74682" marT="37341" marB="3734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3</a:t>
                      </a:r>
                      <a:endParaRPr lang="ko-KR" altLang="en-US" sz="1200" b="1" dirty="0"/>
                    </a:p>
                  </a:txBody>
                  <a:tcPr marL="74682" marR="74682" marT="37341" marB="3734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4</a:t>
                      </a:r>
                      <a:endParaRPr lang="ko-KR" altLang="en-US" sz="1200" b="1" dirty="0"/>
                    </a:p>
                  </a:txBody>
                  <a:tcPr marL="74682" marR="74682" marT="37341" marB="3734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5</a:t>
                      </a:r>
                      <a:endParaRPr lang="ko-KR" altLang="en-US" sz="1200" b="1" dirty="0"/>
                    </a:p>
                  </a:txBody>
                  <a:tcPr marL="74682" marR="74682" marT="37341" marB="3734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70499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20EF52B-AF5B-4A8A-B33A-EE5558ED1241}"/>
              </a:ext>
            </a:extLst>
          </p:cNvPr>
          <p:cNvSpPr txBox="1"/>
          <p:nvPr/>
        </p:nvSpPr>
        <p:spPr>
          <a:xfrm>
            <a:off x="4229597" y="942111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Risk</a:t>
            </a:r>
            <a:endParaRPr lang="ko-KR" alt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53B57E-10F8-42DD-9AAC-6ED51821BD90}"/>
              </a:ext>
            </a:extLst>
          </p:cNvPr>
          <p:cNvSpPr txBox="1"/>
          <p:nvPr/>
        </p:nvSpPr>
        <p:spPr>
          <a:xfrm>
            <a:off x="3681241" y="4787383"/>
            <a:ext cx="20317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Impact of Occurrence</a:t>
            </a:r>
            <a:endParaRPr lang="ko-KR" altLang="en-US" sz="1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F1979F-0255-4F0A-AF91-8DF5CF9F3F40}"/>
              </a:ext>
            </a:extLst>
          </p:cNvPr>
          <p:cNvSpPr txBox="1"/>
          <p:nvPr/>
        </p:nvSpPr>
        <p:spPr>
          <a:xfrm rot="16200000">
            <a:off x="1556514" y="2910914"/>
            <a:ext cx="23707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Probability of Occurrence</a:t>
            </a:r>
            <a:endParaRPr lang="ko-KR" altLang="en-US" sz="1400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ED0307-E116-4605-941D-9F46B6E39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46</a:t>
            </a:fld>
            <a:r>
              <a:rPr lang="en-US" altLang="ko-KR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97708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63566-304F-4C6C-9349-F9169EE33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EPS Schedule [1/5]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947581-72A5-4354-9B2F-81279E8FD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Tasks</a:t>
            </a:r>
          </a:p>
          <a:p>
            <a:endParaRPr lang="ko-KR" altLang="en-US" dirty="0"/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2E20B0EC-C8C6-4C6F-8701-89C2653BD769}"/>
              </a:ext>
            </a:extLst>
          </p:cNvPr>
          <p:cNvGraphicFramePr>
            <a:graphicFrameLocks noGrp="1"/>
          </p:cNvGraphicFramePr>
          <p:nvPr/>
        </p:nvGraphicFramePr>
        <p:xfrm>
          <a:off x="1343628" y="1804661"/>
          <a:ext cx="7536005" cy="275846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43097">
                  <a:extLst>
                    <a:ext uri="{9D8B030D-6E8A-4147-A177-3AD203B41FA5}">
                      <a16:colId xmlns:a16="http://schemas.microsoft.com/office/drawing/2014/main" val="2633380443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2749134459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80128589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564600550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54028458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186462934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38557697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157498659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32648160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840122193"/>
                    </a:ext>
                  </a:extLst>
                </a:gridCol>
                <a:gridCol w="242998">
                  <a:extLst>
                    <a:ext uri="{9D8B030D-6E8A-4147-A177-3AD203B41FA5}">
                      <a16:colId xmlns:a16="http://schemas.microsoft.com/office/drawing/2014/main" val="1028909803"/>
                    </a:ext>
                  </a:extLst>
                </a:gridCol>
                <a:gridCol w="243194">
                  <a:extLst>
                    <a:ext uri="{9D8B030D-6E8A-4147-A177-3AD203B41FA5}">
                      <a16:colId xmlns:a16="http://schemas.microsoft.com/office/drawing/2014/main" val="4173015464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715355156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250197322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15944192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408534024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05300636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420293840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406801052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218723577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407415603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97014835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25411152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526899502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65536925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731845398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0543977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94543879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56703981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4196302209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782015360"/>
                    </a:ext>
                  </a:extLst>
                </a:gridCol>
              </a:tblGrid>
              <a:tr h="2767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20355910"/>
                  </a:ext>
                </a:extLst>
              </a:tr>
              <a:tr h="62041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36401009"/>
                  </a:ext>
                </a:extLst>
              </a:tr>
              <a:tr h="62041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85973601"/>
                  </a:ext>
                </a:extLst>
              </a:tr>
              <a:tr h="62041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441189"/>
                  </a:ext>
                </a:extLst>
              </a:tr>
              <a:tr h="62041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94417234"/>
                  </a:ext>
                </a:extLst>
              </a:tr>
            </a:tbl>
          </a:graphicData>
        </a:graphic>
      </p:graphicFrame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16DEE5E3-1B48-4735-BEE5-448B7FA84A7C}"/>
              </a:ext>
            </a:extLst>
          </p:cNvPr>
          <p:cNvGraphicFramePr>
            <a:graphicFrameLocks noGrp="1"/>
          </p:cNvGraphicFramePr>
          <p:nvPr/>
        </p:nvGraphicFramePr>
        <p:xfrm>
          <a:off x="263509" y="2092254"/>
          <a:ext cx="1007041" cy="2474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041">
                  <a:extLst>
                    <a:ext uri="{9D8B030D-6E8A-4147-A177-3AD203B41FA5}">
                      <a16:colId xmlns:a16="http://schemas.microsoft.com/office/drawing/2014/main" val="1866664662"/>
                    </a:ext>
                  </a:extLst>
                </a:gridCol>
              </a:tblGrid>
              <a:tr h="6186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EPS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Survey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63256"/>
                  </a:ext>
                </a:extLst>
              </a:tr>
              <a:tr h="6186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EPS</a:t>
                      </a:r>
                    </a:p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199271"/>
                  </a:ext>
                </a:extLst>
              </a:tr>
              <a:tr h="6186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EPS</a:t>
                      </a:r>
                    </a:p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H/W</a:t>
                      </a:r>
                    </a:p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Development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564854"/>
                  </a:ext>
                </a:extLst>
              </a:tr>
              <a:tr h="6186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EPS</a:t>
                      </a:r>
                    </a:p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Verification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015775"/>
                  </a:ext>
                </a:extLst>
              </a:tr>
            </a:tbl>
          </a:graphicData>
        </a:graphic>
      </p:graphicFrame>
      <p:grpSp>
        <p:nvGrpSpPr>
          <p:cNvPr id="55" name="그룹 54">
            <a:extLst>
              <a:ext uri="{FF2B5EF4-FFF2-40B4-BE49-F238E27FC236}">
                <a16:creationId xmlns:a16="http://schemas.microsoft.com/office/drawing/2014/main" id="{BDE5037A-714B-4EF2-B1ED-81724720A9E4}"/>
              </a:ext>
            </a:extLst>
          </p:cNvPr>
          <p:cNvGrpSpPr/>
          <p:nvPr/>
        </p:nvGrpSpPr>
        <p:grpSpPr>
          <a:xfrm>
            <a:off x="760569" y="1514307"/>
            <a:ext cx="5707660" cy="499382"/>
            <a:chOff x="676572" y="1515606"/>
            <a:chExt cx="5707660" cy="499382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1C5F50C-C427-40BB-BE18-0921560FCAA0}"/>
                </a:ext>
              </a:extLst>
            </p:cNvPr>
            <p:cNvSpPr txBox="1"/>
            <p:nvPr/>
          </p:nvSpPr>
          <p:spPr>
            <a:xfrm>
              <a:off x="676572" y="1798964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Month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0966B04-03D9-4B27-B716-0C8FBF326AE5}"/>
                </a:ext>
              </a:extLst>
            </p:cNvPr>
            <p:cNvSpPr txBox="1"/>
            <p:nvPr/>
          </p:nvSpPr>
          <p:spPr>
            <a:xfrm>
              <a:off x="681460" y="1515606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Year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D0F7202-403D-4047-8426-EC74486AC065}"/>
                </a:ext>
              </a:extLst>
            </p:cNvPr>
            <p:cNvSpPr txBox="1"/>
            <p:nvPr/>
          </p:nvSpPr>
          <p:spPr>
            <a:xfrm>
              <a:off x="5808168" y="1515606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2021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5BA2835-42C5-4903-9B80-856558363E0B}"/>
                </a:ext>
              </a:extLst>
            </p:cNvPr>
            <p:cNvSpPr txBox="1"/>
            <p:nvPr/>
          </p:nvSpPr>
          <p:spPr>
            <a:xfrm>
              <a:off x="1167102" y="1515606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2019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7633DBA-6F94-4187-896F-6ECB87213890}"/>
                </a:ext>
              </a:extLst>
            </p:cNvPr>
            <p:cNvSpPr txBox="1"/>
            <p:nvPr/>
          </p:nvSpPr>
          <p:spPr>
            <a:xfrm>
              <a:off x="2891494" y="1515606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2020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17C9A2C7-8592-442C-B692-E941FF0EFA6A}"/>
              </a:ext>
            </a:extLst>
          </p:cNvPr>
          <p:cNvCxnSpPr>
            <a:cxnSpLocks/>
          </p:cNvCxnSpPr>
          <p:nvPr/>
        </p:nvCxnSpPr>
        <p:spPr>
          <a:xfrm flipV="1">
            <a:off x="3531249" y="1514307"/>
            <a:ext cx="0" cy="3048819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화살표: 오른쪽 61">
            <a:extLst>
              <a:ext uri="{FF2B5EF4-FFF2-40B4-BE49-F238E27FC236}">
                <a16:creationId xmlns:a16="http://schemas.microsoft.com/office/drawing/2014/main" id="{FAE68118-45ED-4BBA-A479-6E41DC8A1CEC}"/>
              </a:ext>
            </a:extLst>
          </p:cNvPr>
          <p:cNvSpPr/>
          <p:nvPr/>
        </p:nvSpPr>
        <p:spPr>
          <a:xfrm>
            <a:off x="1340693" y="2126859"/>
            <a:ext cx="3418194" cy="237134"/>
          </a:xfrm>
          <a:prstGeom prst="rightArrow">
            <a:avLst/>
          </a:prstGeom>
          <a:gradFill flip="none" rotWithShape="1">
            <a:gsLst>
              <a:gs pos="0">
                <a:srgbClr val="015681">
                  <a:shade val="30000"/>
                  <a:satMod val="115000"/>
                </a:srgbClr>
              </a:gs>
              <a:gs pos="50000">
                <a:srgbClr val="015681">
                  <a:shade val="67500"/>
                  <a:satMod val="115000"/>
                </a:srgbClr>
              </a:gs>
              <a:gs pos="100000">
                <a:srgbClr val="015681">
                  <a:shade val="100000"/>
                  <a:satMod val="115000"/>
                </a:srgbClr>
              </a:gs>
            </a:gsLst>
            <a:lin ang="16200000" scaled="1"/>
            <a:tileRect/>
          </a:gra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화살표: 오른쪽 62">
            <a:extLst>
              <a:ext uri="{FF2B5EF4-FFF2-40B4-BE49-F238E27FC236}">
                <a16:creationId xmlns:a16="http://schemas.microsoft.com/office/drawing/2014/main" id="{24D34F66-90C1-4F85-9BCA-0BFBDAE5249E}"/>
              </a:ext>
            </a:extLst>
          </p:cNvPr>
          <p:cNvSpPr/>
          <p:nvPr/>
        </p:nvSpPr>
        <p:spPr>
          <a:xfrm>
            <a:off x="1341520" y="2402113"/>
            <a:ext cx="3417351" cy="237134"/>
          </a:xfrm>
          <a:prstGeom prst="rightArrow">
            <a:avLst/>
          </a:prstGeom>
          <a:gradFill flip="none" rotWithShape="1">
            <a:gsLst>
              <a:gs pos="0">
                <a:srgbClr val="0099FF">
                  <a:shade val="30000"/>
                  <a:satMod val="115000"/>
                </a:srgbClr>
              </a:gs>
              <a:gs pos="50000">
                <a:srgbClr val="0099FF">
                  <a:shade val="67500"/>
                  <a:satMod val="115000"/>
                </a:srgbClr>
              </a:gs>
              <a:gs pos="100000">
                <a:srgbClr val="0099FF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4" name="화살표: 오른쪽 63">
            <a:extLst>
              <a:ext uri="{FF2B5EF4-FFF2-40B4-BE49-F238E27FC236}">
                <a16:creationId xmlns:a16="http://schemas.microsoft.com/office/drawing/2014/main" id="{E741DA5B-584A-469A-B22D-F82FEA1B06E9}"/>
              </a:ext>
            </a:extLst>
          </p:cNvPr>
          <p:cNvSpPr/>
          <p:nvPr/>
        </p:nvSpPr>
        <p:spPr>
          <a:xfrm>
            <a:off x="1345532" y="2760291"/>
            <a:ext cx="2931192" cy="237134"/>
          </a:xfrm>
          <a:prstGeom prst="rightArrow">
            <a:avLst/>
          </a:prstGeom>
          <a:gradFill flip="none" rotWithShape="1">
            <a:gsLst>
              <a:gs pos="0">
                <a:srgbClr val="015681">
                  <a:shade val="30000"/>
                  <a:satMod val="115000"/>
                </a:srgbClr>
              </a:gs>
              <a:gs pos="50000">
                <a:srgbClr val="015681">
                  <a:shade val="67500"/>
                  <a:satMod val="115000"/>
                </a:srgbClr>
              </a:gs>
              <a:gs pos="100000">
                <a:srgbClr val="015681">
                  <a:shade val="100000"/>
                  <a:satMod val="115000"/>
                </a:srgbClr>
              </a:gs>
            </a:gsLst>
            <a:lin ang="16200000" scaled="1"/>
            <a:tileRect/>
          </a:gra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5" name="화살표: 오른쪽 64">
            <a:extLst>
              <a:ext uri="{FF2B5EF4-FFF2-40B4-BE49-F238E27FC236}">
                <a16:creationId xmlns:a16="http://schemas.microsoft.com/office/drawing/2014/main" id="{69BDDECD-4468-414B-9F63-E2E4C7804F04}"/>
              </a:ext>
            </a:extLst>
          </p:cNvPr>
          <p:cNvSpPr/>
          <p:nvPr/>
        </p:nvSpPr>
        <p:spPr>
          <a:xfrm>
            <a:off x="1339219" y="3035545"/>
            <a:ext cx="2931191" cy="237134"/>
          </a:xfrm>
          <a:prstGeom prst="rightArrow">
            <a:avLst/>
          </a:prstGeom>
          <a:gradFill flip="none" rotWithShape="1">
            <a:gsLst>
              <a:gs pos="0">
                <a:srgbClr val="0099FF">
                  <a:shade val="30000"/>
                  <a:satMod val="115000"/>
                </a:srgbClr>
              </a:gs>
              <a:gs pos="50000">
                <a:srgbClr val="0099FF">
                  <a:shade val="67500"/>
                  <a:satMod val="115000"/>
                </a:srgbClr>
              </a:gs>
              <a:gs pos="100000">
                <a:srgbClr val="0099FF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6" name="화살표: 오른쪽 65">
            <a:extLst>
              <a:ext uri="{FF2B5EF4-FFF2-40B4-BE49-F238E27FC236}">
                <a16:creationId xmlns:a16="http://schemas.microsoft.com/office/drawing/2014/main" id="{3C6A04EA-1036-4C6D-8F84-34CFBDA678A6}"/>
              </a:ext>
            </a:extLst>
          </p:cNvPr>
          <p:cNvSpPr/>
          <p:nvPr/>
        </p:nvSpPr>
        <p:spPr>
          <a:xfrm>
            <a:off x="2303611" y="3368840"/>
            <a:ext cx="4164617" cy="237134"/>
          </a:xfrm>
          <a:prstGeom prst="rightArrow">
            <a:avLst/>
          </a:prstGeom>
          <a:gradFill flip="none" rotWithShape="1">
            <a:gsLst>
              <a:gs pos="0">
                <a:srgbClr val="015681">
                  <a:shade val="30000"/>
                  <a:satMod val="115000"/>
                </a:srgbClr>
              </a:gs>
              <a:gs pos="50000">
                <a:srgbClr val="015681">
                  <a:shade val="67500"/>
                  <a:satMod val="115000"/>
                </a:srgbClr>
              </a:gs>
              <a:gs pos="100000">
                <a:srgbClr val="015681">
                  <a:shade val="100000"/>
                  <a:satMod val="115000"/>
                </a:srgbClr>
              </a:gs>
            </a:gsLst>
            <a:lin ang="16200000" scaled="1"/>
            <a:tileRect/>
          </a:gra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7" name="화살표: 오른쪽 66">
            <a:extLst>
              <a:ext uri="{FF2B5EF4-FFF2-40B4-BE49-F238E27FC236}">
                <a16:creationId xmlns:a16="http://schemas.microsoft.com/office/drawing/2014/main" id="{4CDD71A8-70F4-4D9F-89B7-EE83A0D1E8BB}"/>
              </a:ext>
            </a:extLst>
          </p:cNvPr>
          <p:cNvSpPr/>
          <p:nvPr/>
        </p:nvSpPr>
        <p:spPr>
          <a:xfrm>
            <a:off x="2303611" y="3644094"/>
            <a:ext cx="3169279" cy="237134"/>
          </a:xfrm>
          <a:prstGeom prst="rightArrow">
            <a:avLst/>
          </a:prstGeom>
          <a:gradFill flip="none" rotWithShape="1">
            <a:gsLst>
              <a:gs pos="0">
                <a:srgbClr val="0099FF">
                  <a:shade val="30000"/>
                  <a:satMod val="115000"/>
                </a:srgbClr>
              </a:gs>
              <a:gs pos="50000">
                <a:srgbClr val="0099FF">
                  <a:shade val="67500"/>
                  <a:satMod val="115000"/>
                </a:srgbClr>
              </a:gs>
              <a:gs pos="100000">
                <a:srgbClr val="0099FF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화살표: 오른쪽 67">
            <a:extLst>
              <a:ext uri="{FF2B5EF4-FFF2-40B4-BE49-F238E27FC236}">
                <a16:creationId xmlns:a16="http://schemas.microsoft.com/office/drawing/2014/main" id="{A199627A-0393-444D-A263-396B8C7788BD}"/>
              </a:ext>
            </a:extLst>
          </p:cNvPr>
          <p:cNvSpPr/>
          <p:nvPr/>
        </p:nvSpPr>
        <p:spPr>
          <a:xfrm>
            <a:off x="5472891" y="4002272"/>
            <a:ext cx="1476550" cy="237134"/>
          </a:xfrm>
          <a:prstGeom prst="rightArrow">
            <a:avLst/>
          </a:prstGeom>
          <a:gradFill flip="none" rotWithShape="1">
            <a:gsLst>
              <a:gs pos="0">
                <a:srgbClr val="015681">
                  <a:shade val="30000"/>
                  <a:satMod val="115000"/>
                </a:srgbClr>
              </a:gs>
              <a:gs pos="50000">
                <a:srgbClr val="015681">
                  <a:shade val="67500"/>
                  <a:satMod val="115000"/>
                </a:srgbClr>
              </a:gs>
              <a:gs pos="100000">
                <a:srgbClr val="015681">
                  <a:shade val="100000"/>
                  <a:satMod val="115000"/>
                </a:srgbClr>
              </a:gs>
            </a:gsLst>
            <a:lin ang="16200000" scaled="1"/>
            <a:tileRect/>
          </a:gra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EF20AF5-7B42-4923-8809-5CDA3E72E570}"/>
              </a:ext>
            </a:extLst>
          </p:cNvPr>
          <p:cNvGrpSpPr/>
          <p:nvPr/>
        </p:nvGrpSpPr>
        <p:grpSpPr>
          <a:xfrm>
            <a:off x="7059726" y="972312"/>
            <a:ext cx="1650343" cy="583065"/>
            <a:chOff x="1663146" y="6023451"/>
            <a:chExt cx="1650343" cy="583065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B2F39381-034C-4CA2-A6A8-C508DD1130B9}"/>
                </a:ext>
              </a:extLst>
            </p:cNvPr>
            <p:cNvGrpSpPr/>
            <p:nvPr/>
          </p:nvGrpSpPr>
          <p:grpSpPr>
            <a:xfrm>
              <a:off x="2305377" y="6023451"/>
              <a:ext cx="1008112" cy="533577"/>
              <a:chOff x="2051720" y="5995089"/>
              <a:chExt cx="1008112" cy="533577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0B614A0-45C2-42A4-83C1-0D36A3D8E2E5}"/>
                  </a:ext>
                </a:extLst>
              </p:cNvPr>
              <p:cNvSpPr txBox="1"/>
              <p:nvPr/>
            </p:nvSpPr>
            <p:spPr>
              <a:xfrm>
                <a:off x="2051720" y="5995089"/>
                <a:ext cx="1008112" cy="216024"/>
              </a:xfrm>
              <a:prstGeom prst="rect">
                <a:avLst/>
              </a:prstGeom>
            </p:spPr>
            <p:txBody>
              <a:bodyPr vert="horz" wrap="none" lIns="91440" tIns="45720" rIns="91440" bIns="45720" rtlCol="0">
                <a:noAutofit/>
              </a:bodyPr>
              <a:lstStyle/>
              <a:p>
                <a:r>
                  <a:rPr lang="en-US" altLang="ko-KR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Scheduled</a:t>
                </a:r>
                <a:endParaRPr lang="ko-KR" alt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48C7324-5229-4C78-B81B-7724650F61CD}"/>
                  </a:ext>
                </a:extLst>
              </p:cNvPr>
              <p:cNvSpPr txBox="1"/>
              <p:nvPr/>
            </p:nvSpPr>
            <p:spPr>
              <a:xfrm>
                <a:off x="2051720" y="6312642"/>
                <a:ext cx="1008112" cy="216024"/>
              </a:xfrm>
              <a:prstGeom prst="rect">
                <a:avLst/>
              </a:prstGeom>
            </p:spPr>
            <p:txBody>
              <a:bodyPr vert="horz" wrap="none" lIns="91440" tIns="45720" rIns="91440" bIns="45720" rtlCol="0">
                <a:noAutofit/>
              </a:bodyPr>
              <a:lstStyle/>
              <a:p>
                <a:r>
                  <a:rPr lang="en-US" altLang="ko-KR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Progress</a:t>
                </a:r>
                <a:endParaRPr lang="ko-KR" alt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8" name="화살표: 오른쪽 27">
              <a:extLst>
                <a:ext uri="{FF2B5EF4-FFF2-40B4-BE49-F238E27FC236}">
                  <a16:creationId xmlns:a16="http://schemas.microsoft.com/office/drawing/2014/main" id="{0B599625-0B4F-4B02-8384-FFAED63F422F}"/>
                </a:ext>
              </a:extLst>
            </p:cNvPr>
            <p:cNvSpPr/>
            <p:nvPr/>
          </p:nvSpPr>
          <p:spPr>
            <a:xfrm>
              <a:off x="1671855" y="6369382"/>
              <a:ext cx="654940" cy="237134"/>
            </a:xfrm>
            <a:prstGeom prst="rightArrow">
              <a:avLst/>
            </a:prstGeom>
            <a:gradFill flip="none" rotWithShape="1">
              <a:gsLst>
                <a:gs pos="0">
                  <a:srgbClr val="0099FF">
                    <a:shade val="30000"/>
                    <a:satMod val="115000"/>
                  </a:srgbClr>
                </a:gs>
                <a:gs pos="50000">
                  <a:srgbClr val="0099FF">
                    <a:shade val="67500"/>
                    <a:satMod val="115000"/>
                  </a:srgbClr>
                </a:gs>
                <a:gs pos="100000">
                  <a:srgbClr val="0099FF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화살표: 오른쪽 28">
              <a:extLst>
                <a:ext uri="{FF2B5EF4-FFF2-40B4-BE49-F238E27FC236}">
                  <a16:creationId xmlns:a16="http://schemas.microsoft.com/office/drawing/2014/main" id="{D73E7550-845A-41A1-A110-9A4C1B25358B}"/>
                </a:ext>
              </a:extLst>
            </p:cNvPr>
            <p:cNvSpPr/>
            <p:nvPr/>
          </p:nvSpPr>
          <p:spPr>
            <a:xfrm>
              <a:off x="1663146" y="6070324"/>
              <a:ext cx="654940" cy="237134"/>
            </a:xfrm>
            <a:prstGeom prst="rightArrow">
              <a:avLst/>
            </a:prstGeom>
            <a:gradFill flip="none" rotWithShape="1">
              <a:gsLst>
                <a:gs pos="0">
                  <a:srgbClr val="015681">
                    <a:shade val="30000"/>
                    <a:satMod val="115000"/>
                  </a:srgbClr>
                </a:gs>
                <a:gs pos="50000">
                  <a:srgbClr val="015681">
                    <a:shade val="67500"/>
                    <a:satMod val="115000"/>
                  </a:srgbClr>
                </a:gs>
                <a:gs pos="100000">
                  <a:srgbClr val="015681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4759E5-2B87-4299-82EE-512AFB9C7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47</a:t>
            </a:fld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1B1521-9F1B-4CBF-BB9D-F6F339DBCAB8}"/>
              </a:ext>
            </a:extLst>
          </p:cNvPr>
          <p:cNvSpPr txBox="1"/>
          <p:nvPr/>
        </p:nvSpPr>
        <p:spPr>
          <a:xfrm>
            <a:off x="3513232" y="1490199"/>
            <a:ext cx="732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PDR</a:t>
            </a:r>
            <a:endParaRPr lang="ko-KR" altLang="en-US" sz="12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25B00618-BCF2-45D6-AE31-E7C3A1E25630}"/>
              </a:ext>
            </a:extLst>
          </p:cNvPr>
          <p:cNvCxnSpPr>
            <a:cxnSpLocks/>
          </p:cNvCxnSpPr>
          <p:nvPr/>
        </p:nvCxnSpPr>
        <p:spPr>
          <a:xfrm flipV="1">
            <a:off x="5472892" y="1505700"/>
            <a:ext cx="0" cy="304881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327F5C2-5E64-4D84-BE1A-0E365E51962D}"/>
              </a:ext>
            </a:extLst>
          </p:cNvPr>
          <p:cNvSpPr txBox="1"/>
          <p:nvPr/>
        </p:nvSpPr>
        <p:spPr>
          <a:xfrm>
            <a:off x="5454875" y="1481592"/>
            <a:ext cx="732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CDR</a:t>
            </a:r>
            <a:endParaRPr lang="ko-KR" altLang="en-US" sz="1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090606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63566-304F-4C6C-9349-F9169EE33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EPS Schedule [2/5]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852BF1-2137-4A78-948D-2D2B30C73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Detailed Tasks</a:t>
            </a:r>
          </a:p>
        </p:txBody>
      </p:sp>
      <p:graphicFrame>
        <p:nvGraphicFramePr>
          <p:cNvPr id="75" name="표 74">
            <a:extLst>
              <a:ext uri="{FF2B5EF4-FFF2-40B4-BE49-F238E27FC236}">
                <a16:creationId xmlns:a16="http://schemas.microsoft.com/office/drawing/2014/main" id="{2B60BA72-C5EF-4AB4-A894-547297E67C6C}"/>
              </a:ext>
            </a:extLst>
          </p:cNvPr>
          <p:cNvGraphicFramePr>
            <a:graphicFrameLocks noGrp="1"/>
          </p:cNvGraphicFramePr>
          <p:nvPr/>
        </p:nvGraphicFramePr>
        <p:xfrm>
          <a:off x="1330014" y="1801279"/>
          <a:ext cx="7536005" cy="337888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43097">
                  <a:extLst>
                    <a:ext uri="{9D8B030D-6E8A-4147-A177-3AD203B41FA5}">
                      <a16:colId xmlns:a16="http://schemas.microsoft.com/office/drawing/2014/main" val="2633380443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2749134459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80128589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564600550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54028458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186462934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38557697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157498659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32648160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840122193"/>
                    </a:ext>
                  </a:extLst>
                </a:gridCol>
                <a:gridCol w="242998">
                  <a:extLst>
                    <a:ext uri="{9D8B030D-6E8A-4147-A177-3AD203B41FA5}">
                      <a16:colId xmlns:a16="http://schemas.microsoft.com/office/drawing/2014/main" val="1028909803"/>
                    </a:ext>
                  </a:extLst>
                </a:gridCol>
                <a:gridCol w="243194">
                  <a:extLst>
                    <a:ext uri="{9D8B030D-6E8A-4147-A177-3AD203B41FA5}">
                      <a16:colId xmlns:a16="http://schemas.microsoft.com/office/drawing/2014/main" val="4173015464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715355156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250197322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15944192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408534024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05300636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420293840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406801052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218723577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407415603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97014835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25411152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526899502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65536925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731845398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0543977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94543879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56703981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4196302209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782015360"/>
                    </a:ext>
                  </a:extLst>
                </a:gridCol>
              </a:tblGrid>
              <a:tr h="2767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20355910"/>
                  </a:ext>
                </a:extLst>
              </a:tr>
              <a:tr h="62041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36401009"/>
                  </a:ext>
                </a:extLst>
              </a:tr>
              <a:tr h="62041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12873084"/>
                  </a:ext>
                </a:extLst>
              </a:tr>
              <a:tr h="62041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85973601"/>
                  </a:ext>
                </a:extLst>
              </a:tr>
              <a:tr h="62041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441189"/>
                  </a:ext>
                </a:extLst>
              </a:tr>
              <a:tr h="62041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94417234"/>
                  </a:ext>
                </a:extLst>
              </a:tr>
            </a:tbl>
          </a:graphicData>
        </a:graphic>
      </p:graphicFrame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969464C4-554D-44B3-B9A9-13FF551E4939}"/>
              </a:ext>
            </a:extLst>
          </p:cNvPr>
          <p:cNvGraphicFramePr>
            <a:graphicFrameLocks noGrp="1"/>
          </p:cNvGraphicFramePr>
          <p:nvPr/>
        </p:nvGraphicFramePr>
        <p:xfrm>
          <a:off x="249895" y="2088872"/>
          <a:ext cx="1007041" cy="3093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041">
                  <a:extLst>
                    <a:ext uri="{9D8B030D-6E8A-4147-A177-3AD203B41FA5}">
                      <a16:colId xmlns:a16="http://schemas.microsoft.com/office/drawing/2014/main" val="1866664662"/>
                    </a:ext>
                  </a:extLst>
                </a:gridCol>
              </a:tblGrid>
              <a:tr h="6186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EPS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Survey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63256"/>
                  </a:ext>
                </a:extLst>
              </a:tr>
              <a:tr h="6186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Configuration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 EPS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822199271"/>
                  </a:ext>
                </a:extLst>
              </a:tr>
              <a:tr h="6186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Detailed Function of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Components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677191564"/>
                  </a:ext>
                </a:extLst>
              </a:tr>
              <a:tr h="6186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COTS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Selection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500564854"/>
                  </a:ext>
                </a:extLst>
              </a:tr>
              <a:tr h="6186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 and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Verification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Methods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2733015775"/>
                  </a:ext>
                </a:extLst>
              </a:tr>
            </a:tbl>
          </a:graphicData>
        </a:graphic>
      </p:graphicFrame>
      <p:grpSp>
        <p:nvGrpSpPr>
          <p:cNvPr id="77" name="그룹 76">
            <a:extLst>
              <a:ext uri="{FF2B5EF4-FFF2-40B4-BE49-F238E27FC236}">
                <a16:creationId xmlns:a16="http://schemas.microsoft.com/office/drawing/2014/main" id="{11D8B579-E8BE-4FB8-A3B7-2E21E22569FC}"/>
              </a:ext>
            </a:extLst>
          </p:cNvPr>
          <p:cNvGrpSpPr/>
          <p:nvPr/>
        </p:nvGrpSpPr>
        <p:grpSpPr>
          <a:xfrm>
            <a:off x="746955" y="1510925"/>
            <a:ext cx="5707660" cy="499382"/>
            <a:chOff x="676572" y="1515606"/>
            <a:chExt cx="5707660" cy="499382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00645E2-5BD5-45F1-A806-08A83BCF1F69}"/>
                </a:ext>
              </a:extLst>
            </p:cNvPr>
            <p:cNvSpPr txBox="1"/>
            <p:nvPr/>
          </p:nvSpPr>
          <p:spPr>
            <a:xfrm>
              <a:off x="676572" y="1798964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Month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2CAE020-CD4E-40F0-ABE3-5B78240CEF0C}"/>
                </a:ext>
              </a:extLst>
            </p:cNvPr>
            <p:cNvSpPr txBox="1"/>
            <p:nvPr/>
          </p:nvSpPr>
          <p:spPr>
            <a:xfrm>
              <a:off x="681460" y="1515606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Year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2C4DF01-9F27-4BB7-92F0-C1FD7AB0A47B}"/>
                </a:ext>
              </a:extLst>
            </p:cNvPr>
            <p:cNvSpPr txBox="1"/>
            <p:nvPr/>
          </p:nvSpPr>
          <p:spPr>
            <a:xfrm>
              <a:off x="5808168" y="1515606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2021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19698B6-2CD2-4022-A8A9-3533806DEA99}"/>
                </a:ext>
              </a:extLst>
            </p:cNvPr>
            <p:cNvSpPr txBox="1"/>
            <p:nvPr/>
          </p:nvSpPr>
          <p:spPr>
            <a:xfrm>
              <a:off x="1167102" y="1515606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2019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20217D26-8B7C-4F4B-B9F6-73CAEF6C8ABE}"/>
                </a:ext>
              </a:extLst>
            </p:cNvPr>
            <p:cNvSpPr txBox="1"/>
            <p:nvPr/>
          </p:nvSpPr>
          <p:spPr>
            <a:xfrm>
              <a:off x="2891494" y="1515606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2020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9F0FC755-2FC2-4532-93C2-1951B6C2B836}"/>
              </a:ext>
            </a:extLst>
          </p:cNvPr>
          <p:cNvCxnSpPr>
            <a:cxnSpLocks/>
          </p:cNvCxnSpPr>
          <p:nvPr/>
        </p:nvCxnSpPr>
        <p:spPr>
          <a:xfrm flipV="1">
            <a:off x="3517635" y="1510925"/>
            <a:ext cx="0" cy="366923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14724295-1B9D-4D96-8520-1F92A46CD52D}"/>
              </a:ext>
            </a:extLst>
          </p:cNvPr>
          <p:cNvSpPr txBox="1"/>
          <p:nvPr/>
        </p:nvSpPr>
        <p:spPr>
          <a:xfrm>
            <a:off x="3500532" y="1477499"/>
            <a:ext cx="732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PDR</a:t>
            </a:r>
            <a:endParaRPr lang="ko-KR" altLang="en-US" sz="12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8F57BB-B49A-48D9-8522-AA1957718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48</a:t>
            </a:fld>
            <a:r>
              <a:rPr lang="en-US" altLang="ko-KR"/>
              <a:t> </a:t>
            </a:r>
            <a:endParaRPr lang="ko-KR" alt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204DD78-0A5F-4A1C-8D20-C381BCE10CA4}"/>
              </a:ext>
            </a:extLst>
          </p:cNvPr>
          <p:cNvGrpSpPr/>
          <p:nvPr/>
        </p:nvGrpSpPr>
        <p:grpSpPr>
          <a:xfrm>
            <a:off x="7059726" y="972312"/>
            <a:ext cx="1650343" cy="583065"/>
            <a:chOff x="1663146" y="6023451"/>
            <a:chExt cx="1650343" cy="583065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F5AB4693-A92B-49BC-A395-5716C77617B4}"/>
                </a:ext>
              </a:extLst>
            </p:cNvPr>
            <p:cNvGrpSpPr/>
            <p:nvPr/>
          </p:nvGrpSpPr>
          <p:grpSpPr>
            <a:xfrm>
              <a:off x="2305377" y="6023451"/>
              <a:ext cx="1008112" cy="533577"/>
              <a:chOff x="2051720" y="5995089"/>
              <a:chExt cx="1008112" cy="533577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FF7A7A6-A00A-43CB-AE54-9094201609B8}"/>
                  </a:ext>
                </a:extLst>
              </p:cNvPr>
              <p:cNvSpPr txBox="1"/>
              <p:nvPr/>
            </p:nvSpPr>
            <p:spPr>
              <a:xfrm>
                <a:off x="2051720" y="5995089"/>
                <a:ext cx="1008112" cy="216024"/>
              </a:xfrm>
              <a:prstGeom prst="rect">
                <a:avLst/>
              </a:prstGeom>
            </p:spPr>
            <p:txBody>
              <a:bodyPr vert="horz" wrap="none" lIns="91440" tIns="45720" rIns="91440" bIns="45720" rtlCol="0">
                <a:noAutofit/>
              </a:bodyPr>
              <a:lstStyle/>
              <a:p>
                <a:r>
                  <a:rPr lang="en-US" altLang="ko-KR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Scheduled</a:t>
                </a:r>
                <a:endParaRPr lang="ko-KR" alt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6439856-0DA6-4327-9823-D6F231DF064A}"/>
                  </a:ext>
                </a:extLst>
              </p:cNvPr>
              <p:cNvSpPr txBox="1"/>
              <p:nvPr/>
            </p:nvSpPr>
            <p:spPr>
              <a:xfrm>
                <a:off x="2051720" y="6312642"/>
                <a:ext cx="1008112" cy="216024"/>
              </a:xfrm>
              <a:prstGeom prst="rect">
                <a:avLst/>
              </a:prstGeom>
            </p:spPr>
            <p:txBody>
              <a:bodyPr vert="horz" wrap="none" lIns="91440" tIns="45720" rIns="91440" bIns="45720" rtlCol="0">
                <a:noAutofit/>
              </a:bodyPr>
              <a:lstStyle/>
              <a:p>
                <a:r>
                  <a:rPr lang="en-US" altLang="ko-KR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Progress</a:t>
                </a:r>
                <a:endParaRPr lang="ko-KR" alt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1" name="화살표: 오른쪽 40">
              <a:extLst>
                <a:ext uri="{FF2B5EF4-FFF2-40B4-BE49-F238E27FC236}">
                  <a16:creationId xmlns:a16="http://schemas.microsoft.com/office/drawing/2014/main" id="{977DD7CB-80E7-49AE-A0FE-DD76CD50E3A5}"/>
                </a:ext>
              </a:extLst>
            </p:cNvPr>
            <p:cNvSpPr/>
            <p:nvPr/>
          </p:nvSpPr>
          <p:spPr>
            <a:xfrm>
              <a:off x="1671855" y="6369382"/>
              <a:ext cx="654940" cy="237134"/>
            </a:xfrm>
            <a:prstGeom prst="rightArrow">
              <a:avLst/>
            </a:prstGeom>
            <a:gradFill flip="none" rotWithShape="1">
              <a:gsLst>
                <a:gs pos="0">
                  <a:srgbClr val="0099FF">
                    <a:shade val="30000"/>
                    <a:satMod val="115000"/>
                  </a:srgbClr>
                </a:gs>
                <a:gs pos="50000">
                  <a:srgbClr val="0099FF">
                    <a:shade val="67500"/>
                    <a:satMod val="115000"/>
                  </a:srgbClr>
                </a:gs>
                <a:gs pos="100000">
                  <a:srgbClr val="0099FF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화살표: 오른쪽 41">
              <a:extLst>
                <a:ext uri="{FF2B5EF4-FFF2-40B4-BE49-F238E27FC236}">
                  <a16:creationId xmlns:a16="http://schemas.microsoft.com/office/drawing/2014/main" id="{99E4196C-7C91-4252-BF54-05F791687BDE}"/>
                </a:ext>
              </a:extLst>
            </p:cNvPr>
            <p:cNvSpPr/>
            <p:nvPr/>
          </p:nvSpPr>
          <p:spPr>
            <a:xfrm>
              <a:off x="1663146" y="6070324"/>
              <a:ext cx="654940" cy="237134"/>
            </a:xfrm>
            <a:prstGeom prst="rightArrow">
              <a:avLst/>
            </a:prstGeom>
            <a:gradFill flip="none" rotWithShape="1">
              <a:gsLst>
                <a:gs pos="0">
                  <a:srgbClr val="015681">
                    <a:shade val="30000"/>
                    <a:satMod val="115000"/>
                  </a:srgbClr>
                </a:gs>
                <a:gs pos="50000">
                  <a:srgbClr val="015681">
                    <a:shade val="67500"/>
                    <a:satMod val="115000"/>
                  </a:srgbClr>
                </a:gs>
                <a:gs pos="100000">
                  <a:srgbClr val="015681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30D8BC75-9CD5-4E02-B357-C039D851943B}"/>
              </a:ext>
            </a:extLst>
          </p:cNvPr>
          <p:cNvCxnSpPr>
            <a:cxnSpLocks/>
          </p:cNvCxnSpPr>
          <p:nvPr/>
        </p:nvCxnSpPr>
        <p:spPr>
          <a:xfrm flipV="1">
            <a:off x="5454875" y="1505701"/>
            <a:ext cx="18017" cy="367446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8F5D804-EEC8-48DE-87C7-C1A9E32D156A}"/>
              </a:ext>
            </a:extLst>
          </p:cNvPr>
          <p:cNvSpPr txBox="1"/>
          <p:nvPr/>
        </p:nvSpPr>
        <p:spPr>
          <a:xfrm>
            <a:off x="5454875" y="1481592"/>
            <a:ext cx="732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CDR</a:t>
            </a:r>
            <a:endParaRPr lang="ko-KR" altLang="en-US" sz="1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890CCCC7-889A-4979-983E-BDE35DD73207}"/>
              </a:ext>
            </a:extLst>
          </p:cNvPr>
          <p:cNvSpPr/>
          <p:nvPr/>
        </p:nvSpPr>
        <p:spPr>
          <a:xfrm>
            <a:off x="1331918" y="2756909"/>
            <a:ext cx="2660089" cy="237134"/>
          </a:xfrm>
          <a:prstGeom prst="rightArrow">
            <a:avLst/>
          </a:prstGeom>
          <a:solidFill>
            <a:srgbClr val="022C80">
              <a:alpha val="69804"/>
            </a:srgbClr>
          </a:solidFill>
          <a:ln>
            <a:solidFill>
              <a:srgbClr val="022C8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23057E55-D669-4C5C-AEBC-733E9EFBE372}"/>
              </a:ext>
            </a:extLst>
          </p:cNvPr>
          <p:cNvSpPr/>
          <p:nvPr/>
        </p:nvSpPr>
        <p:spPr>
          <a:xfrm>
            <a:off x="1325604" y="3032163"/>
            <a:ext cx="2660089" cy="237134"/>
          </a:xfrm>
          <a:prstGeom prst="rightArrow">
            <a:avLst/>
          </a:prstGeom>
          <a:solidFill>
            <a:srgbClr val="217EBD">
              <a:alpha val="69804"/>
            </a:srgbClr>
          </a:solidFill>
          <a:ln>
            <a:solidFill>
              <a:srgbClr val="217EBD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7D7324FF-1439-4CC1-B276-66B9C10559A2}"/>
              </a:ext>
            </a:extLst>
          </p:cNvPr>
          <p:cNvSpPr/>
          <p:nvPr/>
        </p:nvSpPr>
        <p:spPr>
          <a:xfrm>
            <a:off x="1323652" y="3640712"/>
            <a:ext cx="2173675" cy="237134"/>
          </a:xfrm>
          <a:prstGeom prst="rightArrow">
            <a:avLst/>
          </a:prstGeom>
          <a:solidFill>
            <a:srgbClr val="217EBD">
              <a:alpha val="69804"/>
            </a:srgbClr>
          </a:solidFill>
          <a:ln>
            <a:solidFill>
              <a:srgbClr val="217EBD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31F2A40B-0BD5-424A-8E0B-50979D3FF19B}"/>
              </a:ext>
            </a:extLst>
          </p:cNvPr>
          <p:cNvSpPr/>
          <p:nvPr/>
        </p:nvSpPr>
        <p:spPr>
          <a:xfrm>
            <a:off x="1327907" y="3378570"/>
            <a:ext cx="2189727" cy="237134"/>
          </a:xfrm>
          <a:prstGeom prst="rightArrow">
            <a:avLst/>
          </a:prstGeom>
          <a:solidFill>
            <a:srgbClr val="022C80">
              <a:alpha val="69804"/>
            </a:srgbClr>
          </a:solidFill>
          <a:ln>
            <a:solidFill>
              <a:srgbClr val="022C8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1FCBC368-584D-4661-B174-AB6488B946F7}"/>
              </a:ext>
            </a:extLst>
          </p:cNvPr>
          <p:cNvSpPr/>
          <p:nvPr/>
        </p:nvSpPr>
        <p:spPr>
          <a:xfrm>
            <a:off x="3032759" y="4272296"/>
            <a:ext cx="1199796" cy="237134"/>
          </a:xfrm>
          <a:prstGeom prst="rightArrow">
            <a:avLst/>
          </a:prstGeom>
          <a:solidFill>
            <a:srgbClr val="217EBD">
              <a:alpha val="69804"/>
            </a:srgbClr>
          </a:solidFill>
          <a:ln>
            <a:solidFill>
              <a:srgbClr val="217EBD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2C995C83-E2FB-4282-A3E4-2D2A200CB85E}"/>
              </a:ext>
            </a:extLst>
          </p:cNvPr>
          <p:cNvSpPr/>
          <p:nvPr/>
        </p:nvSpPr>
        <p:spPr>
          <a:xfrm>
            <a:off x="3032760" y="4010154"/>
            <a:ext cx="1199795" cy="237134"/>
          </a:xfrm>
          <a:prstGeom prst="rightArrow">
            <a:avLst/>
          </a:prstGeom>
          <a:solidFill>
            <a:srgbClr val="022C80">
              <a:alpha val="69804"/>
            </a:srgbClr>
          </a:solidFill>
          <a:ln>
            <a:solidFill>
              <a:srgbClr val="022C8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DC0A698B-24E6-466C-8A3D-9A6DF95CA867}"/>
              </a:ext>
            </a:extLst>
          </p:cNvPr>
          <p:cNvSpPr/>
          <p:nvPr/>
        </p:nvSpPr>
        <p:spPr>
          <a:xfrm>
            <a:off x="4002509" y="4883995"/>
            <a:ext cx="720339" cy="237134"/>
          </a:xfrm>
          <a:prstGeom prst="rightArrow">
            <a:avLst/>
          </a:prstGeom>
          <a:solidFill>
            <a:srgbClr val="217EBD">
              <a:alpha val="69804"/>
            </a:srgbClr>
          </a:solidFill>
          <a:ln>
            <a:solidFill>
              <a:srgbClr val="217EBD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A9F6FF13-BB1D-49C7-8371-71A1B1D7D801}"/>
              </a:ext>
            </a:extLst>
          </p:cNvPr>
          <p:cNvSpPr/>
          <p:nvPr/>
        </p:nvSpPr>
        <p:spPr>
          <a:xfrm>
            <a:off x="4002510" y="4621853"/>
            <a:ext cx="720339" cy="237134"/>
          </a:xfrm>
          <a:prstGeom prst="rightArrow">
            <a:avLst/>
          </a:prstGeom>
          <a:solidFill>
            <a:srgbClr val="022C80">
              <a:alpha val="69804"/>
            </a:srgbClr>
          </a:solidFill>
          <a:ln>
            <a:solidFill>
              <a:srgbClr val="022C8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B7A5F2C5-3195-4B07-84A4-232A933FBB23}"/>
              </a:ext>
            </a:extLst>
          </p:cNvPr>
          <p:cNvSpPr/>
          <p:nvPr/>
        </p:nvSpPr>
        <p:spPr>
          <a:xfrm>
            <a:off x="1327075" y="2122175"/>
            <a:ext cx="3413793" cy="237134"/>
          </a:xfrm>
          <a:prstGeom prst="rightArrow">
            <a:avLst/>
          </a:prstGeom>
          <a:gradFill flip="none" rotWithShape="1">
            <a:gsLst>
              <a:gs pos="0">
                <a:srgbClr val="015681">
                  <a:shade val="30000"/>
                  <a:satMod val="115000"/>
                </a:srgbClr>
              </a:gs>
              <a:gs pos="50000">
                <a:srgbClr val="015681">
                  <a:shade val="67500"/>
                  <a:satMod val="115000"/>
                </a:srgbClr>
              </a:gs>
              <a:gs pos="100000">
                <a:srgbClr val="015681">
                  <a:shade val="100000"/>
                  <a:satMod val="115000"/>
                </a:srgbClr>
              </a:gs>
            </a:gsLst>
            <a:lin ang="16200000" scaled="1"/>
            <a:tileRect/>
          </a:gra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화살표: 오른쪽 49">
            <a:extLst>
              <a:ext uri="{FF2B5EF4-FFF2-40B4-BE49-F238E27FC236}">
                <a16:creationId xmlns:a16="http://schemas.microsoft.com/office/drawing/2014/main" id="{D07ECC7A-4066-4BCD-AFD3-1AE11BDD84C0}"/>
              </a:ext>
            </a:extLst>
          </p:cNvPr>
          <p:cNvSpPr/>
          <p:nvPr/>
        </p:nvSpPr>
        <p:spPr>
          <a:xfrm>
            <a:off x="1327075" y="2380834"/>
            <a:ext cx="3413793" cy="237134"/>
          </a:xfrm>
          <a:prstGeom prst="rightArrow">
            <a:avLst/>
          </a:prstGeom>
          <a:gradFill flip="none" rotWithShape="1">
            <a:gsLst>
              <a:gs pos="0">
                <a:srgbClr val="0099FF">
                  <a:shade val="30000"/>
                  <a:satMod val="115000"/>
                </a:srgbClr>
              </a:gs>
              <a:gs pos="50000">
                <a:srgbClr val="0099FF">
                  <a:shade val="67500"/>
                  <a:satMod val="115000"/>
                </a:srgbClr>
              </a:gs>
              <a:gs pos="100000">
                <a:srgbClr val="0099FF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44222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63566-304F-4C6C-9349-F9169EE33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EPS Schedule [3/5]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B409EA-B716-436C-855D-21604F50C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Detailed</a:t>
            </a:r>
            <a:r>
              <a:rPr lang="ko-KR" altLang="en-US"/>
              <a:t> </a:t>
            </a:r>
            <a:r>
              <a:rPr lang="en-US" altLang="ko-KR"/>
              <a:t>Tasks</a:t>
            </a:r>
            <a:endParaRPr lang="ko-KR" altLang="en-US"/>
          </a:p>
          <a:p>
            <a:endParaRPr lang="ko-KR" altLang="en-US" dirty="0"/>
          </a:p>
        </p:txBody>
      </p:sp>
      <p:graphicFrame>
        <p:nvGraphicFramePr>
          <p:cNvPr id="100" name="표 99">
            <a:extLst>
              <a:ext uri="{FF2B5EF4-FFF2-40B4-BE49-F238E27FC236}">
                <a16:creationId xmlns:a16="http://schemas.microsoft.com/office/drawing/2014/main" id="{FE98B33F-58BF-4029-AE5E-1C417EE0AC5D}"/>
              </a:ext>
            </a:extLst>
          </p:cNvPr>
          <p:cNvGraphicFramePr>
            <a:graphicFrameLocks noGrp="1"/>
          </p:cNvGraphicFramePr>
          <p:nvPr/>
        </p:nvGraphicFramePr>
        <p:xfrm>
          <a:off x="1334025" y="1805960"/>
          <a:ext cx="7536005" cy="337888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43097">
                  <a:extLst>
                    <a:ext uri="{9D8B030D-6E8A-4147-A177-3AD203B41FA5}">
                      <a16:colId xmlns:a16="http://schemas.microsoft.com/office/drawing/2014/main" val="2633380443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2749134459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80128589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564600550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54028458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186462934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38557697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157498659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32648160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840122193"/>
                    </a:ext>
                  </a:extLst>
                </a:gridCol>
                <a:gridCol w="242998">
                  <a:extLst>
                    <a:ext uri="{9D8B030D-6E8A-4147-A177-3AD203B41FA5}">
                      <a16:colId xmlns:a16="http://schemas.microsoft.com/office/drawing/2014/main" val="1028909803"/>
                    </a:ext>
                  </a:extLst>
                </a:gridCol>
                <a:gridCol w="243194">
                  <a:extLst>
                    <a:ext uri="{9D8B030D-6E8A-4147-A177-3AD203B41FA5}">
                      <a16:colId xmlns:a16="http://schemas.microsoft.com/office/drawing/2014/main" val="4173015464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715355156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250197322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15944192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408534024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05300636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420293840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406801052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218723577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407415603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97014835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25411152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526899502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65536925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731845398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0543977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94543879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56703981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4196302209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782015360"/>
                    </a:ext>
                  </a:extLst>
                </a:gridCol>
              </a:tblGrid>
              <a:tr h="2767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20355910"/>
                  </a:ext>
                </a:extLst>
              </a:tr>
              <a:tr h="62041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36401009"/>
                  </a:ext>
                </a:extLst>
              </a:tr>
              <a:tr h="62041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12873084"/>
                  </a:ext>
                </a:extLst>
              </a:tr>
              <a:tr h="62041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85973601"/>
                  </a:ext>
                </a:extLst>
              </a:tr>
              <a:tr h="62041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441189"/>
                  </a:ext>
                </a:extLst>
              </a:tr>
              <a:tr h="62041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94417234"/>
                  </a:ext>
                </a:extLst>
              </a:tr>
            </a:tbl>
          </a:graphicData>
        </a:graphic>
      </p:graphicFrame>
      <p:graphicFrame>
        <p:nvGraphicFramePr>
          <p:cNvPr id="101" name="표 100">
            <a:extLst>
              <a:ext uri="{FF2B5EF4-FFF2-40B4-BE49-F238E27FC236}">
                <a16:creationId xmlns:a16="http://schemas.microsoft.com/office/drawing/2014/main" id="{F5D4D5FD-92CD-435B-9236-C752A09B930C}"/>
              </a:ext>
            </a:extLst>
          </p:cNvPr>
          <p:cNvGraphicFramePr>
            <a:graphicFrameLocks noGrp="1"/>
          </p:cNvGraphicFramePr>
          <p:nvPr/>
        </p:nvGraphicFramePr>
        <p:xfrm>
          <a:off x="253906" y="2093553"/>
          <a:ext cx="1007041" cy="3093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041">
                  <a:extLst>
                    <a:ext uri="{9D8B030D-6E8A-4147-A177-3AD203B41FA5}">
                      <a16:colId xmlns:a16="http://schemas.microsoft.com/office/drawing/2014/main" val="1866664662"/>
                    </a:ext>
                  </a:extLst>
                </a:gridCol>
              </a:tblGrid>
              <a:tr h="6186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EPS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63256"/>
                  </a:ext>
                </a:extLst>
              </a:tr>
              <a:tr h="6186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Requirements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 Constraints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822199271"/>
                  </a:ext>
                </a:extLst>
              </a:tr>
              <a:tr h="6186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 and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Budget Analysis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677191564"/>
                  </a:ext>
                </a:extLst>
              </a:tr>
              <a:tr h="6186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EPS Internal/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External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Interfaces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500564854"/>
                  </a:ext>
                </a:extLst>
              </a:tr>
              <a:tr h="6186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Energy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Balance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Simulation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2733015775"/>
                  </a:ext>
                </a:extLst>
              </a:tr>
            </a:tbl>
          </a:graphicData>
        </a:graphic>
      </p:graphicFrame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6DE73953-469B-4C02-857A-A1DF63DBB28E}"/>
              </a:ext>
            </a:extLst>
          </p:cNvPr>
          <p:cNvGrpSpPr/>
          <p:nvPr/>
        </p:nvGrpSpPr>
        <p:grpSpPr>
          <a:xfrm>
            <a:off x="750966" y="1515606"/>
            <a:ext cx="5707660" cy="499382"/>
            <a:chOff x="676572" y="1515606"/>
            <a:chExt cx="5707660" cy="499382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66960A05-EE3E-4715-957A-6F3C758CD1B1}"/>
                </a:ext>
              </a:extLst>
            </p:cNvPr>
            <p:cNvSpPr txBox="1"/>
            <p:nvPr/>
          </p:nvSpPr>
          <p:spPr>
            <a:xfrm>
              <a:off x="676572" y="1798964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Month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39943938-27E2-4345-80E9-F9870E331176}"/>
                </a:ext>
              </a:extLst>
            </p:cNvPr>
            <p:cNvSpPr txBox="1"/>
            <p:nvPr/>
          </p:nvSpPr>
          <p:spPr>
            <a:xfrm>
              <a:off x="681460" y="1515606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Year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F65BE063-AABB-412A-841F-A5D693015FF5}"/>
                </a:ext>
              </a:extLst>
            </p:cNvPr>
            <p:cNvSpPr txBox="1"/>
            <p:nvPr/>
          </p:nvSpPr>
          <p:spPr>
            <a:xfrm>
              <a:off x="5808168" y="1515606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2021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B823DCF7-2AB2-4625-92D3-BFC053311EA9}"/>
                </a:ext>
              </a:extLst>
            </p:cNvPr>
            <p:cNvSpPr txBox="1"/>
            <p:nvPr/>
          </p:nvSpPr>
          <p:spPr>
            <a:xfrm>
              <a:off x="1167102" y="1515606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2019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E97FCF8F-88C7-458A-9EF0-B6D3244A2263}"/>
                </a:ext>
              </a:extLst>
            </p:cNvPr>
            <p:cNvSpPr txBox="1"/>
            <p:nvPr/>
          </p:nvSpPr>
          <p:spPr>
            <a:xfrm>
              <a:off x="2891494" y="1515606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2020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2670D7-5FBC-499B-A37D-DE05C2839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49</a:t>
            </a:fld>
            <a:r>
              <a:rPr lang="en-US" altLang="ko-KR"/>
              <a:t> </a:t>
            </a:r>
            <a:endParaRPr lang="ko-KR" altLang="en-US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72312AD-B369-4F28-A177-1B5830DC1AD7}"/>
              </a:ext>
            </a:extLst>
          </p:cNvPr>
          <p:cNvGrpSpPr/>
          <p:nvPr/>
        </p:nvGrpSpPr>
        <p:grpSpPr>
          <a:xfrm>
            <a:off x="7059726" y="972312"/>
            <a:ext cx="1650343" cy="583065"/>
            <a:chOff x="1663146" y="6023451"/>
            <a:chExt cx="1650343" cy="583065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8913E8E0-0741-42B1-A7DD-7B5B9A335FDF}"/>
                </a:ext>
              </a:extLst>
            </p:cNvPr>
            <p:cNvGrpSpPr/>
            <p:nvPr/>
          </p:nvGrpSpPr>
          <p:grpSpPr>
            <a:xfrm>
              <a:off x="2305377" y="6023451"/>
              <a:ext cx="1008112" cy="533577"/>
              <a:chOff x="2051720" y="5995089"/>
              <a:chExt cx="1008112" cy="533577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5C2111C-299B-4B58-85E9-6B4F5698FFD8}"/>
                  </a:ext>
                </a:extLst>
              </p:cNvPr>
              <p:cNvSpPr txBox="1"/>
              <p:nvPr/>
            </p:nvSpPr>
            <p:spPr>
              <a:xfrm>
                <a:off x="2051720" y="5995089"/>
                <a:ext cx="1008112" cy="216024"/>
              </a:xfrm>
              <a:prstGeom prst="rect">
                <a:avLst/>
              </a:prstGeom>
            </p:spPr>
            <p:txBody>
              <a:bodyPr vert="horz" wrap="none" lIns="91440" tIns="45720" rIns="91440" bIns="45720" rtlCol="0">
                <a:noAutofit/>
              </a:bodyPr>
              <a:lstStyle/>
              <a:p>
                <a:r>
                  <a:rPr lang="en-US" altLang="ko-KR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Scheduled</a:t>
                </a:r>
                <a:endParaRPr lang="ko-KR" alt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BDF0678-012A-462B-90DE-A8B07C17A85E}"/>
                  </a:ext>
                </a:extLst>
              </p:cNvPr>
              <p:cNvSpPr txBox="1"/>
              <p:nvPr/>
            </p:nvSpPr>
            <p:spPr>
              <a:xfrm>
                <a:off x="2051720" y="6312642"/>
                <a:ext cx="1008112" cy="216024"/>
              </a:xfrm>
              <a:prstGeom prst="rect">
                <a:avLst/>
              </a:prstGeom>
            </p:spPr>
            <p:txBody>
              <a:bodyPr vert="horz" wrap="none" lIns="91440" tIns="45720" rIns="91440" bIns="45720" rtlCol="0">
                <a:noAutofit/>
              </a:bodyPr>
              <a:lstStyle/>
              <a:p>
                <a:r>
                  <a:rPr lang="en-US" altLang="ko-KR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Progress</a:t>
                </a:r>
                <a:endParaRPr lang="ko-KR" alt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0" name="화살표: 오른쪽 39">
              <a:extLst>
                <a:ext uri="{FF2B5EF4-FFF2-40B4-BE49-F238E27FC236}">
                  <a16:creationId xmlns:a16="http://schemas.microsoft.com/office/drawing/2014/main" id="{60E70B93-2493-4C70-8AED-A1388CD8F621}"/>
                </a:ext>
              </a:extLst>
            </p:cNvPr>
            <p:cNvSpPr/>
            <p:nvPr/>
          </p:nvSpPr>
          <p:spPr>
            <a:xfrm>
              <a:off x="1671855" y="6369382"/>
              <a:ext cx="654940" cy="237134"/>
            </a:xfrm>
            <a:prstGeom prst="rightArrow">
              <a:avLst/>
            </a:prstGeom>
            <a:gradFill flip="none" rotWithShape="1">
              <a:gsLst>
                <a:gs pos="0">
                  <a:srgbClr val="0099FF">
                    <a:shade val="30000"/>
                    <a:satMod val="115000"/>
                  </a:srgbClr>
                </a:gs>
                <a:gs pos="50000">
                  <a:srgbClr val="0099FF">
                    <a:shade val="67500"/>
                    <a:satMod val="115000"/>
                  </a:srgbClr>
                </a:gs>
                <a:gs pos="100000">
                  <a:srgbClr val="0099FF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화살표: 오른쪽 40">
              <a:extLst>
                <a:ext uri="{FF2B5EF4-FFF2-40B4-BE49-F238E27FC236}">
                  <a16:creationId xmlns:a16="http://schemas.microsoft.com/office/drawing/2014/main" id="{28879A4E-880B-401F-AE7C-FE5C0EEB549F}"/>
                </a:ext>
              </a:extLst>
            </p:cNvPr>
            <p:cNvSpPr/>
            <p:nvPr/>
          </p:nvSpPr>
          <p:spPr>
            <a:xfrm>
              <a:off x="1663146" y="6070324"/>
              <a:ext cx="654940" cy="237134"/>
            </a:xfrm>
            <a:prstGeom prst="rightArrow">
              <a:avLst/>
            </a:prstGeom>
            <a:gradFill flip="none" rotWithShape="1">
              <a:gsLst>
                <a:gs pos="0">
                  <a:srgbClr val="015681">
                    <a:shade val="30000"/>
                    <a:satMod val="115000"/>
                  </a:srgbClr>
                </a:gs>
                <a:gs pos="50000">
                  <a:srgbClr val="015681">
                    <a:shade val="67500"/>
                    <a:satMod val="115000"/>
                  </a:srgbClr>
                </a:gs>
                <a:gs pos="100000">
                  <a:srgbClr val="015681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E81FA2FA-AA35-4C4E-B3BD-33F5FF856046}"/>
              </a:ext>
            </a:extLst>
          </p:cNvPr>
          <p:cNvSpPr txBox="1"/>
          <p:nvPr/>
        </p:nvSpPr>
        <p:spPr>
          <a:xfrm>
            <a:off x="3500532" y="1477501"/>
            <a:ext cx="732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PDR</a:t>
            </a:r>
            <a:endParaRPr lang="ko-KR" altLang="en-US" sz="12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9ED99C15-5280-447F-BDC1-100B03CCD923}"/>
              </a:ext>
            </a:extLst>
          </p:cNvPr>
          <p:cNvCxnSpPr>
            <a:cxnSpLocks/>
          </p:cNvCxnSpPr>
          <p:nvPr/>
        </p:nvCxnSpPr>
        <p:spPr>
          <a:xfrm flipV="1">
            <a:off x="3521646" y="1515606"/>
            <a:ext cx="0" cy="366923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39FB07E3-754F-4CB4-84D8-7A69B28C8D10}"/>
              </a:ext>
            </a:extLst>
          </p:cNvPr>
          <p:cNvCxnSpPr>
            <a:cxnSpLocks/>
          </p:cNvCxnSpPr>
          <p:nvPr/>
        </p:nvCxnSpPr>
        <p:spPr>
          <a:xfrm flipV="1">
            <a:off x="5454875" y="1505701"/>
            <a:ext cx="18017" cy="367446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D16EE7E-5550-40C1-863E-8705D287AB21}"/>
              </a:ext>
            </a:extLst>
          </p:cNvPr>
          <p:cNvSpPr txBox="1"/>
          <p:nvPr/>
        </p:nvSpPr>
        <p:spPr>
          <a:xfrm>
            <a:off x="5454875" y="1481592"/>
            <a:ext cx="732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CDR</a:t>
            </a:r>
            <a:endParaRPr lang="ko-KR" altLang="en-US" sz="1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9B9A4C5F-1F0F-488B-9E91-8271BE259A53}"/>
              </a:ext>
            </a:extLst>
          </p:cNvPr>
          <p:cNvSpPr/>
          <p:nvPr/>
        </p:nvSpPr>
        <p:spPr>
          <a:xfrm>
            <a:off x="1330686" y="3015287"/>
            <a:ext cx="2917084" cy="237134"/>
          </a:xfrm>
          <a:prstGeom prst="rightArrow">
            <a:avLst/>
          </a:prstGeom>
          <a:solidFill>
            <a:srgbClr val="217EBD">
              <a:alpha val="69804"/>
            </a:srgbClr>
          </a:solidFill>
          <a:ln>
            <a:solidFill>
              <a:srgbClr val="217EBD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0CD2DDED-A7B2-4DA9-9361-9DD881BD502E}"/>
              </a:ext>
            </a:extLst>
          </p:cNvPr>
          <p:cNvSpPr/>
          <p:nvPr/>
        </p:nvSpPr>
        <p:spPr>
          <a:xfrm>
            <a:off x="2314323" y="3666461"/>
            <a:ext cx="2186240" cy="237134"/>
          </a:xfrm>
          <a:prstGeom prst="rightArrow">
            <a:avLst/>
          </a:prstGeom>
          <a:solidFill>
            <a:srgbClr val="217EBD">
              <a:alpha val="69804"/>
            </a:srgbClr>
          </a:solidFill>
          <a:ln>
            <a:solidFill>
              <a:srgbClr val="217EBD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FE6F40B6-1579-4C60-8AB8-8ECFA0F9566E}"/>
              </a:ext>
            </a:extLst>
          </p:cNvPr>
          <p:cNvSpPr/>
          <p:nvPr/>
        </p:nvSpPr>
        <p:spPr>
          <a:xfrm>
            <a:off x="3036075" y="4291156"/>
            <a:ext cx="1932703" cy="237134"/>
          </a:xfrm>
          <a:prstGeom prst="rightArrow">
            <a:avLst/>
          </a:prstGeom>
          <a:solidFill>
            <a:srgbClr val="217EBD">
              <a:alpha val="69804"/>
            </a:srgbClr>
          </a:solidFill>
          <a:ln>
            <a:solidFill>
              <a:srgbClr val="217EBD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3599DB69-3CB1-461C-A769-95E9A7762A2F}"/>
              </a:ext>
            </a:extLst>
          </p:cNvPr>
          <p:cNvSpPr/>
          <p:nvPr/>
        </p:nvSpPr>
        <p:spPr>
          <a:xfrm>
            <a:off x="3036076" y="4888676"/>
            <a:ext cx="2418798" cy="237134"/>
          </a:xfrm>
          <a:prstGeom prst="rightArrow">
            <a:avLst/>
          </a:prstGeom>
          <a:solidFill>
            <a:srgbClr val="217EBD">
              <a:alpha val="69804"/>
            </a:srgbClr>
          </a:solidFill>
          <a:ln>
            <a:solidFill>
              <a:srgbClr val="217EBD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E6C49568-DF40-41C1-BE62-1BA6247AA5F6}"/>
              </a:ext>
            </a:extLst>
          </p:cNvPr>
          <p:cNvSpPr/>
          <p:nvPr/>
        </p:nvSpPr>
        <p:spPr>
          <a:xfrm>
            <a:off x="1330686" y="2743375"/>
            <a:ext cx="2917085" cy="237134"/>
          </a:xfrm>
          <a:prstGeom prst="rightArrow">
            <a:avLst/>
          </a:prstGeom>
          <a:solidFill>
            <a:srgbClr val="022C80">
              <a:alpha val="69804"/>
            </a:srgbClr>
          </a:solidFill>
          <a:ln>
            <a:solidFill>
              <a:srgbClr val="022C8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5FDF7B8A-F44D-484D-A8F3-66675133BCD2}"/>
              </a:ext>
            </a:extLst>
          </p:cNvPr>
          <p:cNvSpPr/>
          <p:nvPr/>
        </p:nvSpPr>
        <p:spPr>
          <a:xfrm>
            <a:off x="2308779" y="3366966"/>
            <a:ext cx="2191784" cy="237134"/>
          </a:xfrm>
          <a:prstGeom prst="rightArrow">
            <a:avLst/>
          </a:prstGeom>
          <a:solidFill>
            <a:srgbClr val="022C80">
              <a:alpha val="69804"/>
            </a:srgbClr>
          </a:solidFill>
          <a:ln>
            <a:solidFill>
              <a:srgbClr val="022C8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화살표: 오른쪽 49">
            <a:extLst>
              <a:ext uri="{FF2B5EF4-FFF2-40B4-BE49-F238E27FC236}">
                <a16:creationId xmlns:a16="http://schemas.microsoft.com/office/drawing/2014/main" id="{412977DD-A567-474C-848B-17102436F549}"/>
              </a:ext>
            </a:extLst>
          </p:cNvPr>
          <p:cNvSpPr/>
          <p:nvPr/>
        </p:nvSpPr>
        <p:spPr>
          <a:xfrm>
            <a:off x="3025139" y="4626534"/>
            <a:ext cx="2429735" cy="237134"/>
          </a:xfrm>
          <a:prstGeom prst="rightArrow">
            <a:avLst/>
          </a:prstGeom>
          <a:solidFill>
            <a:srgbClr val="022C80">
              <a:alpha val="69804"/>
            </a:srgbClr>
          </a:solidFill>
          <a:ln>
            <a:solidFill>
              <a:srgbClr val="022C8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1" name="화살표: 오른쪽 50">
            <a:extLst>
              <a:ext uri="{FF2B5EF4-FFF2-40B4-BE49-F238E27FC236}">
                <a16:creationId xmlns:a16="http://schemas.microsoft.com/office/drawing/2014/main" id="{04836E70-FE34-4C2D-9B4B-24B28999F03C}"/>
              </a:ext>
            </a:extLst>
          </p:cNvPr>
          <p:cNvSpPr/>
          <p:nvPr/>
        </p:nvSpPr>
        <p:spPr>
          <a:xfrm>
            <a:off x="3025139" y="3990634"/>
            <a:ext cx="1932704" cy="237134"/>
          </a:xfrm>
          <a:prstGeom prst="rightArrow">
            <a:avLst/>
          </a:prstGeom>
          <a:solidFill>
            <a:srgbClr val="022C80">
              <a:alpha val="69804"/>
            </a:srgbClr>
          </a:solidFill>
          <a:ln>
            <a:solidFill>
              <a:srgbClr val="022C8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화살표: 오른쪽 51">
            <a:extLst>
              <a:ext uri="{FF2B5EF4-FFF2-40B4-BE49-F238E27FC236}">
                <a16:creationId xmlns:a16="http://schemas.microsoft.com/office/drawing/2014/main" id="{70593FF6-4A1A-488C-B611-24C5809C6EFB}"/>
              </a:ext>
            </a:extLst>
          </p:cNvPr>
          <p:cNvSpPr/>
          <p:nvPr/>
        </p:nvSpPr>
        <p:spPr>
          <a:xfrm>
            <a:off x="1331087" y="2126856"/>
            <a:ext cx="4141805" cy="237134"/>
          </a:xfrm>
          <a:prstGeom prst="rightArrow">
            <a:avLst/>
          </a:prstGeom>
          <a:gradFill flip="none" rotWithShape="1">
            <a:gsLst>
              <a:gs pos="0">
                <a:srgbClr val="015681">
                  <a:shade val="30000"/>
                  <a:satMod val="115000"/>
                </a:srgbClr>
              </a:gs>
              <a:gs pos="50000">
                <a:srgbClr val="015681">
                  <a:shade val="67500"/>
                  <a:satMod val="115000"/>
                </a:srgbClr>
              </a:gs>
              <a:gs pos="100000">
                <a:srgbClr val="015681">
                  <a:shade val="100000"/>
                  <a:satMod val="115000"/>
                </a:srgbClr>
              </a:gs>
            </a:gsLst>
            <a:lin ang="16200000" scaled="1"/>
            <a:tileRect/>
          </a:gra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화살표: 오른쪽 52">
            <a:extLst>
              <a:ext uri="{FF2B5EF4-FFF2-40B4-BE49-F238E27FC236}">
                <a16:creationId xmlns:a16="http://schemas.microsoft.com/office/drawing/2014/main" id="{7422C519-9D99-4974-855A-5EA2C8897DA0}"/>
              </a:ext>
            </a:extLst>
          </p:cNvPr>
          <p:cNvSpPr/>
          <p:nvPr/>
        </p:nvSpPr>
        <p:spPr>
          <a:xfrm>
            <a:off x="1338059" y="2385515"/>
            <a:ext cx="4134833" cy="237134"/>
          </a:xfrm>
          <a:prstGeom prst="rightArrow">
            <a:avLst/>
          </a:prstGeom>
          <a:gradFill flip="none" rotWithShape="1">
            <a:gsLst>
              <a:gs pos="0">
                <a:srgbClr val="0099FF">
                  <a:shade val="30000"/>
                  <a:satMod val="115000"/>
                </a:srgbClr>
              </a:gs>
              <a:gs pos="50000">
                <a:srgbClr val="0099FF">
                  <a:shade val="67500"/>
                  <a:satMod val="115000"/>
                </a:srgbClr>
              </a:gs>
              <a:gs pos="100000">
                <a:srgbClr val="0099FF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92407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BBCDBF-FEDE-4ECE-94CC-4FDF5A8D6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EPS Schedule [4/5]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5360E5-DE9C-4D6D-823C-616DD089A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Detailed Tasks</a:t>
            </a:r>
          </a:p>
          <a:p>
            <a:endParaRPr lang="ko-KR" altLang="en-US" dirty="0"/>
          </a:p>
        </p:txBody>
      </p:sp>
      <p:graphicFrame>
        <p:nvGraphicFramePr>
          <p:cNvPr id="73" name="표 72">
            <a:extLst>
              <a:ext uri="{FF2B5EF4-FFF2-40B4-BE49-F238E27FC236}">
                <a16:creationId xmlns:a16="http://schemas.microsoft.com/office/drawing/2014/main" id="{882676CF-62D1-441B-A197-8AEE7745E277}"/>
              </a:ext>
            </a:extLst>
          </p:cNvPr>
          <p:cNvGraphicFramePr>
            <a:graphicFrameLocks noGrp="1"/>
          </p:cNvGraphicFramePr>
          <p:nvPr/>
        </p:nvGraphicFramePr>
        <p:xfrm>
          <a:off x="1334025" y="1805960"/>
          <a:ext cx="7536005" cy="337888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43097">
                  <a:extLst>
                    <a:ext uri="{9D8B030D-6E8A-4147-A177-3AD203B41FA5}">
                      <a16:colId xmlns:a16="http://schemas.microsoft.com/office/drawing/2014/main" val="2633380443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2749134459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80128589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564600550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54028458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186462934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38557697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157498659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32648160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840122193"/>
                    </a:ext>
                  </a:extLst>
                </a:gridCol>
                <a:gridCol w="242998">
                  <a:extLst>
                    <a:ext uri="{9D8B030D-6E8A-4147-A177-3AD203B41FA5}">
                      <a16:colId xmlns:a16="http://schemas.microsoft.com/office/drawing/2014/main" val="1028909803"/>
                    </a:ext>
                  </a:extLst>
                </a:gridCol>
                <a:gridCol w="243194">
                  <a:extLst>
                    <a:ext uri="{9D8B030D-6E8A-4147-A177-3AD203B41FA5}">
                      <a16:colId xmlns:a16="http://schemas.microsoft.com/office/drawing/2014/main" val="4173015464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715355156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250197322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15944192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408534024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05300636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420293840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406801052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218723577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407415603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97014835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25411152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526899502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65536925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731845398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0543977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94543879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56703981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4196302209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782015360"/>
                    </a:ext>
                  </a:extLst>
                </a:gridCol>
              </a:tblGrid>
              <a:tr h="2767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20355910"/>
                  </a:ext>
                </a:extLst>
              </a:tr>
              <a:tr h="62041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36401009"/>
                  </a:ext>
                </a:extLst>
              </a:tr>
              <a:tr h="62041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12873084"/>
                  </a:ext>
                </a:extLst>
              </a:tr>
              <a:tr h="62041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85973601"/>
                  </a:ext>
                </a:extLst>
              </a:tr>
              <a:tr h="62041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441189"/>
                  </a:ext>
                </a:extLst>
              </a:tr>
              <a:tr h="62041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94417234"/>
                  </a:ext>
                </a:extLst>
              </a:tr>
            </a:tbl>
          </a:graphicData>
        </a:graphic>
      </p:graphicFrame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85492E46-F847-4BCD-AB7F-96DE54A0286B}"/>
              </a:ext>
            </a:extLst>
          </p:cNvPr>
          <p:cNvGraphicFramePr>
            <a:graphicFrameLocks noGrp="1"/>
          </p:cNvGraphicFramePr>
          <p:nvPr/>
        </p:nvGraphicFramePr>
        <p:xfrm>
          <a:off x="253906" y="2093553"/>
          <a:ext cx="1007041" cy="3093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041">
                  <a:extLst>
                    <a:ext uri="{9D8B030D-6E8A-4147-A177-3AD203B41FA5}">
                      <a16:colId xmlns:a16="http://schemas.microsoft.com/office/drawing/2014/main" val="1866664662"/>
                    </a:ext>
                  </a:extLst>
                </a:gridCol>
              </a:tblGrid>
              <a:tr h="6186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EPS</a:t>
                      </a:r>
                    </a:p>
                    <a:p>
                      <a:pPr algn="ctr" latinLnBrk="1"/>
                      <a:r>
                        <a:rPr lang="en-US" altLang="ko-KR" sz="1100" dirty="0"/>
                        <a:t>H/W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Development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63256"/>
                  </a:ext>
                </a:extLst>
              </a:tr>
              <a:tr h="6186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Solar Panel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Deployment Device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822199271"/>
                  </a:ext>
                </a:extLst>
              </a:tr>
              <a:tr h="6186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Pin-out &amp;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I/O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677191564"/>
                  </a:ext>
                </a:extLst>
              </a:tr>
              <a:tr h="6186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Testing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500564854"/>
                  </a:ext>
                </a:extLst>
              </a:tr>
              <a:tr h="6186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Functional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Testing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2733015775"/>
                  </a:ext>
                </a:extLst>
              </a:tr>
            </a:tbl>
          </a:graphicData>
        </a:graphic>
      </p:graphicFrame>
      <p:grpSp>
        <p:nvGrpSpPr>
          <p:cNvPr id="75" name="그룹 74">
            <a:extLst>
              <a:ext uri="{FF2B5EF4-FFF2-40B4-BE49-F238E27FC236}">
                <a16:creationId xmlns:a16="http://schemas.microsoft.com/office/drawing/2014/main" id="{97CED7EC-CF86-4B37-A833-D3841DE81BD3}"/>
              </a:ext>
            </a:extLst>
          </p:cNvPr>
          <p:cNvGrpSpPr/>
          <p:nvPr/>
        </p:nvGrpSpPr>
        <p:grpSpPr>
          <a:xfrm>
            <a:off x="750966" y="1515606"/>
            <a:ext cx="5707660" cy="499382"/>
            <a:chOff x="676572" y="1515606"/>
            <a:chExt cx="5707660" cy="499382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0C19F00-9E56-4395-B8BF-34C010FBEC32}"/>
                </a:ext>
              </a:extLst>
            </p:cNvPr>
            <p:cNvSpPr txBox="1"/>
            <p:nvPr/>
          </p:nvSpPr>
          <p:spPr>
            <a:xfrm>
              <a:off x="676572" y="1798964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Month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2CB33BC-AE5E-4850-A173-53A3C140BFDD}"/>
                </a:ext>
              </a:extLst>
            </p:cNvPr>
            <p:cNvSpPr txBox="1"/>
            <p:nvPr/>
          </p:nvSpPr>
          <p:spPr>
            <a:xfrm>
              <a:off x="681460" y="1515606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Year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C6D3E4D-3415-4CA5-B249-C5B84F044876}"/>
                </a:ext>
              </a:extLst>
            </p:cNvPr>
            <p:cNvSpPr txBox="1"/>
            <p:nvPr/>
          </p:nvSpPr>
          <p:spPr>
            <a:xfrm>
              <a:off x="5808168" y="1515606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2021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CC24BD3-E051-4DA4-B993-DDFB01BF192D}"/>
                </a:ext>
              </a:extLst>
            </p:cNvPr>
            <p:cNvSpPr txBox="1"/>
            <p:nvPr/>
          </p:nvSpPr>
          <p:spPr>
            <a:xfrm>
              <a:off x="1167102" y="1515606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2019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67FD9FD-18FF-4125-8B14-3A650293C7A3}"/>
                </a:ext>
              </a:extLst>
            </p:cNvPr>
            <p:cNvSpPr txBox="1"/>
            <p:nvPr/>
          </p:nvSpPr>
          <p:spPr>
            <a:xfrm>
              <a:off x="2891494" y="1515606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2020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D28A5ECA-1558-4746-BEF5-45DDA08CB325}"/>
              </a:ext>
            </a:extLst>
          </p:cNvPr>
          <p:cNvCxnSpPr>
            <a:cxnSpLocks/>
          </p:cNvCxnSpPr>
          <p:nvPr/>
        </p:nvCxnSpPr>
        <p:spPr>
          <a:xfrm flipV="1">
            <a:off x="3521646" y="1515606"/>
            <a:ext cx="0" cy="366923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화살표: 오른쪽 82">
            <a:extLst>
              <a:ext uri="{FF2B5EF4-FFF2-40B4-BE49-F238E27FC236}">
                <a16:creationId xmlns:a16="http://schemas.microsoft.com/office/drawing/2014/main" id="{CA22516E-F33D-4C43-9861-DD128C7B640F}"/>
              </a:ext>
            </a:extLst>
          </p:cNvPr>
          <p:cNvSpPr/>
          <p:nvPr/>
        </p:nvSpPr>
        <p:spPr>
          <a:xfrm>
            <a:off x="2311399" y="2403412"/>
            <a:ext cx="3143476" cy="237134"/>
          </a:xfrm>
          <a:prstGeom prst="rightArrow">
            <a:avLst/>
          </a:prstGeom>
          <a:gradFill flip="none" rotWithShape="1">
            <a:gsLst>
              <a:gs pos="0">
                <a:srgbClr val="0099FF">
                  <a:shade val="30000"/>
                  <a:satMod val="115000"/>
                </a:srgbClr>
              </a:gs>
              <a:gs pos="50000">
                <a:srgbClr val="0099FF">
                  <a:shade val="67500"/>
                  <a:satMod val="115000"/>
                </a:srgbClr>
              </a:gs>
              <a:gs pos="100000">
                <a:srgbClr val="0099FF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4" name="화살표: 오른쪽 83">
            <a:extLst>
              <a:ext uri="{FF2B5EF4-FFF2-40B4-BE49-F238E27FC236}">
                <a16:creationId xmlns:a16="http://schemas.microsoft.com/office/drawing/2014/main" id="{AF556599-3A68-46CA-A153-F2B7459FD918}"/>
              </a:ext>
            </a:extLst>
          </p:cNvPr>
          <p:cNvSpPr/>
          <p:nvPr/>
        </p:nvSpPr>
        <p:spPr>
          <a:xfrm>
            <a:off x="2311387" y="3036844"/>
            <a:ext cx="3143476" cy="237134"/>
          </a:xfrm>
          <a:prstGeom prst="rightArrow">
            <a:avLst/>
          </a:prstGeom>
          <a:solidFill>
            <a:srgbClr val="217EBD">
              <a:alpha val="69804"/>
            </a:srgbClr>
          </a:solidFill>
          <a:ln>
            <a:solidFill>
              <a:srgbClr val="217EBD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5" name="화살표: 오른쪽 84">
            <a:extLst>
              <a:ext uri="{FF2B5EF4-FFF2-40B4-BE49-F238E27FC236}">
                <a16:creationId xmlns:a16="http://schemas.microsoft.com/office/drawing/2014/main" id="{925323FD-87FB-4BF0-996C-8DD4558F4969}"/>
              </a:ext>
            </a:extLst>
          </p:cNvPr>
          <p:cNvSpPr/>
          <p:nvPr/>
        </p:nvSpPr>
        <p:spPr>
          <a:xfrm>
            <a:off x="2301873" y="3645393"/>
            <a:ext cx="2681273" cy="237134"/>
          </a:xfrm>
          <a:prstGeom prst="rightArrow">
            <a:avLst/>
          </a:prstGeom>
          <a:solidFill>
            <a:srgbClr val="217EBD">
              <a:alpha val="69804"/>
            </a:srgbClr>
          </a:solidFill>
          <a:ln>
            <a:solidFill>
              <a:srgbClr val="217EBD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6" name="화살표: 오른쪽 85">
            <a:extLst>
              <a:ext uri="{FF2B5EF4-FFF2-40B4-BE49-F238E27FC236}">
                <a16:creationId xmlns:a16="http://schemas.microsoft.com/office/drawing/2014/main" id="{24E24B29-01AA-4393-AA50-3EE49EE9FE48}"/>
              </a:ext>
            </a:extLst>
          </p:cNvPr>
          <p:cNvSpPr/>
          <p:nvPr/>
        </p:nvSpPr>
        <p:spPr>
          <a:xfrm>
            <a:off x="2311386" y="3383251"/>
            <a:ext cx="2681274" cy="237134"/>
          </a:xfrm>
          <a:prstGeom prst="rightArrow">
            <a:avLst/>
          </a:prstGeom>
          <a:solidFill>
            <a:srgbClr val="4D6BA5"/>
          </a:solidFill>
          <a:ln>
            <a:solidFill>
              <a:srgbClr val="022C8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7" name="화살표: 오른쪽 86">
            <a:extLst>
              <a:ext uri="{FF2B5EF4-FFF2-40B4-BE49-F238E27FC236}">
                <a16:creationId xmlns:a16="http://schemas.microsoft.com/office/drawing/2014/main" id="{AF911BC7-5371-4980-909B-433AF72709A0}"/>
              </a:ext>
            </a:extLst>
          </p:cNvPr>
          <p:cNvSpPr/>
          <p:nvPr/>
        </p:nvSpPr>
        <p:spPr>
          <a:xfrm>
            <a:off x="5478459" y="4014835"/>
            <a:ext cx="466162" cy="237134"/>
          </a:xfrm>
          <a:prstGeom prst="rightArrow">
            <a:avLst/>
          </a:prstGeom>
          <a:solidFill>
            <a:srgbClr val="4D6BA5"/>
          </a:solidFill>
          <a:ln>
            <a:solidFill>
              <a:srgbClr val="022C8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8" name="화살표: 오른쪽 87">
            <a:extLst>
              <a:ext uri="{FF2B5EF4-FFF2-40B4-BE49-F238E27FC236}">
                <a16:creationId xmlns:a16="http://schemas.microsoft.com/office/drawing/2014/main" id="{4E16924B-23D2-4988-A644-3A0AAE02BA9D}"/>
              </a:ext>
            </a:extLst>
          </p:cNvPr>
          <p:cNvSpPr/>
          <p:nvPr/>
        </p:nvSpPr>
        <p:spPr>
          <a:xfrm>
            <a:off x="5703443" y="4626534"/>
            <a:ext cx="737165" cy="237134"/>
          </a:xfrm>
          <a:prstGeom prst="rightArrow">
            <a:avLst/>
          </a:prstGeom>
          <a:solidFill>
            <a:srgbClr val="4D6BA5"/>
          </a:solidFill>
          <a:ln>
            <a:solidFill>
              <a:srgbClr val="022C8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화살표: 오른쪽 94">
            <a:extLst>
              <a:ext uri="{FF2B5EF4-FFF2-40B4-BE49-F238E27FC236}">
                <a16:creationId xmlns:a16="http://schemas.microsoft.com/office/drawing/2014/main" id="{764D2814-C746-45FD-BD85-F1E920B775BC}"/>
              </a:ext>
            </a:extLst>
          </p:cNvPr>
          <p:cNvSpPr/>
          <p:nvPr/>
        </p:nvSpPr>
        <p:spPr>
          <a:xfrm>
            <a:off x="2301874" y="2126856"/>
            <a:ext cx="4138735" cy="237134"/>
          </a:xfrm>
          <a:prstGeom prst="rightArrow">
            <a:avLst/>
          </a:prstGeom>
          <a:gradFill flip="none" rotWithShape="1">
            <a:gsLst>
              <a:gs pos="0">
                <a:srgbClr val="015681">
                  <a:shade val="30000"/>
                  <a:satMod val="115000"/>
                </a:srgbClr>
              </a:gs>
              <a:gs pos="50000">
                <a:srgbClr val="015681">
                  <a:shade val="67500"/>
                  <a:satMod val="115000"/>
                </a:srgbClr>
              </a:gs>
              <a:gs pos="100000">
                <a:srgbClr val="015681">
                  <a:shade val="100000"/>
                  <a:satMod val="115000"/>
                </a:srgbClr>
              </a:gs>
            </a:gsLst>
            <a:lin ang="16200000" scaled="1"/>
            <a:tileRect/>
          </a:gra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6" name="화살표: 오른쪽 95">
            <a:extLst>
              <a:ext uri="{FF2B5EF4-FFF2-40B4-BE49-F238E27FC236}">
                <a16:creationId xmlns:a16="http://schemas.microsoft.com/office/drawing/2014/main" id="{FF18891D-2F14-4500-8983-86EDF5C6B9B8}"/>
              </a:ext>
            </a:extLst>
          </p:cNvPr>
          <p:cNvSpPr/>
          <p:nvPr/>
        </p:nvSpPr>
        <p:spPr>
          <a:xfrm>
            <a:off x="2311398" y="2743375"/>
            <a:ext cx="3623709" cy="237134"/>
          </a:xfrm>
          <a:prstGeom prst="rightArrow">
            <a:avLst/>
          </a:prstGeom>
          <a:solidFill>
            <a:srgbClr val="4D6BA5"/>
          </a:solidFill>
          <a:ln>
            <a:solidFill>
              <a:srgbClr val="022C8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E8D247-B59D-405C-B61E-86FAC60C1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50</a:t>
            </a:fld>
            <a:r>
              <a:rPr lang="en-US" altLang="ko-KR"/>
              <a:t> </a:t>
            </a:r>
            <a:endParaRPr lang="ko-KR" altLang="en-US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21856BD-4440-40E9-ACF4-4438181956E8}"/>
              </a:ext>
            </a:extLst>
          </p:cNvPr>
          <p:cNvGrpSpPr/>
          <p:nvPr/>
        </p:nvGrpSpPr>
        <p:grpSpPr>
          <a:xfrm>
            <a:off x="7059726" y="972312"/>
            <a:ext cx="1650343" cy="583065"/>
            <a:chOff x="1663146" y="6023451"/>
            <a:chExt cx="1650343" cy="583065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E4F2D2AE-9A42-44FF-A7D7-D3A1E12AD39A}"/>
                </a:ext>
              </a:extLst>
            </p:cNvPr>
            <p:cNvGrpSpPr/>
            <p:nvPr/>
          </p:nvGrpSpPr>
          <p:grpSpPr>
            <a:xfrm>
              <a:off x="2305377" y="6023451"/>
              <a:ext cx="1008112" cy="533577"/>
              <a:chOff x="2051720" y="5995089"/>
              <a:chExt cx="1008112" cy="533577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757EBCA-0050-443E-82A2-872F100C89DE}"/>
                  </a:ext>
                </a:extLst>
              </p:cNvPr>
              <p:cNvSpPr txBox="1"/>
              <p:nvPr/>
            </p:nvSpPr>
            <p:spPr>
              <a:xfrm>
                <a:off x="2051720" y="5995089"/>
                <a:ext cx="1008112" cy="216024"/>
              </a:xfrm>
              <a:prstGeom prst="rect">
                <a:avLst/>
              </a:prstGeom>
            </p:spPr>
            <p:txBody>
              <a:bodyPr vert="horz" wrap="none" lIns="91440" tIns="45720" rIns="91440" bIns="45720" rtlCol="0">
                <a:noAutofit/>
              </a:bodyPr>
              <a:lstStyle/>
              <a:p>
                <a:r>
                  <a:rPr lang="en-US" altLang="ko-KR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Scheduled</a:t>
                </a:r>
                <a:endParaRPr lang="ko-KR" alt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691A831-F94B-40F1-A7F5-FCDA423B845E}"/>
                  </a:ext>
                </a:extLst>
              </p:cNvPr>
              <p:cNvSpPr txBox="1"/>
              <p:nvPr/>
            </p:nvSpPr>
            <p:spPr>
              <a:xfrm>
                <a:off x="2051720" y="6312642"/>
                <a:ext cx="1008112" cy="216024"/>
              </a:xfrm>
              <a:prstGeom prst="rect">
                <a:avLst/>
              </a:prstGeom>
            </p:spPr>
            <p:txBody>
              <a:bodyPr vert="horz" wrap="none" lIns="91440" tIns="45720" rIns="91440" bIns="45720" rtlCol="0">
                <a:noAutofit/>
              </a:bodyPr>
              <a:lstStyle/>
              <a:p>
                <a:r>
                  <a:rPr lang="en-US" altLang="ko-KR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Progress</a:t>
                </a:r>
                <a:endParaRPr lang="ko-KR" alt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" name="화살표: 오른쪽 37">
              <a:extLst>
                <a:ext uri="{FF2B5EF4-FFF2-40B4-BE49-F238E27FC236}">
                  <a16:creationId xmlns:a16="http://schemas.microsoft.com/office/drawing/2014/main" id="{244E1544-4477-42EC-9BFC-8C19A4FD4EAE}"/>
                </a:ext>
              </a:extLst>
            </p:cNvPr>
            <p:cNvSpPr/>
            <p:nvPr/>
          </p:nvSpPr>
          <p:spPr>
            <a:xfrm>
              <a:off x="1671855" y="6369382"/>
              <a:ext cx="654940" cy="237134"/>
            </a:xfrm>
            <a:prstGeom prst="rightArrow">
              <a:avLst/>
            </a:prstGeom>
            <a:gradFill flip="none" rotWithShape="1">
              <a:gsLst>
                <a:gs pos="0">
                  <a:srgbClr val="0099FF">
                    <a:shade val="30000"/>
                    <a:satMod val="115000"/>
                  </a:srgbClr>
                </a:gs>
                <a:gs pos="50000">
                  <a:srgbClr val="0099FF">
                    <a:shade val="67500"/>
                    <a:satMod val="115000"/>
                  </a:srgbClr>
                </a:gs>
                <a:gs pos="100000">
                  <a:srgbClr val="0099FF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화살표: 오른쪽 38">
              <a:extLst>
                <a:ext uri="{FF2B5EF4-FFF2-40B4-BE49-F238E27FC236}">
                  <a16:creationId xmlns:a16="http://schemas.microsoft.com/office/drawing/2014/main" id="{BFF55DBD-83FD-4FA7-8FC9-293F45D16A3E}"/>
                </a:ext>
              </a:extLst>
            </p:cNvPr>
            <p:cNvSpPr/>
            <p:nvPr/>
          </p:nvSpPr>
          <p:spPr>
            <a:xfrm>
              <a:off x="1663146" y="6070324"/>
              <a:ext cx="654940" cy="237134"/>
            </a:xfrm>
            <a:prstGeom prst="rightArrow">
              <a:avLst/>
            </a:prstGeom>
            <a:gradFill flip="none" rotWithShape="1">
              <a:gsLst>
                <a:gs pos="0">
                  <a:srgbClr val="015681">
                    <a:shade val="30000"/>
                    <a:satMod val="115000"/>
                  </a:srgbClr>
                </a:gs>
                <a:gs pos="50000">
                  <a:srgbClr val="015681">
                    <a:shade val="67500"/>
                    <a:satMod val="115000"/>
                  </a:srgbClr>
                </a:gs>
                <a:gs pos="100000">
                  <a:srgbClr val="015681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CBDEA38B-FD96-40F7-BFCF-E4F18310F247}"/>
              </a:ext>
            </a:extLst>
          </p:cNvPr>
          <p:cNvSpPr txBox="1"/>
          <p:nvPr/>
        </p:nvSpPr>
        <p:spPr>
          <a:xfrm>
            <a:off x="3500532" y="1477501"/>
            <a:ext cx="732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PDR</a:t>
            </a:r>
            <a:endParaRPr lang="ko-KR" altLang="en-US" sz="12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9D73F52-8BB7-42D8-A301-35FAE0F69D91}"/>
              </a:ext>
            </a:extLst>
          </p:cNvPr>
          <p:cNvCxnSpPr>
            <a:cxnSpLocks/>
          </p:cNvCxnSpPr>
          <p:nvPr/>
        </p:nvCxnSpPr>
        <p:spPr>
          <a:xfrm flipV="1">
            <a:off x="5454875" y="1505701"/>
            <a:ext cx="18017" cy="367446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7DBF9FC-8504-4107-AAF3-8EBD9BAB27BE}"/>
              </a:ext>
            </a:extLst>
          </p:cNvPr>
          <p:cNvSpPr txBox="1"/>
          <p:nvPr/>
        </p:nvSpPr>
        <p:spPr>
          <a:xfrm>
            <a:off x="5454875" y="1481592"/>
            <a:ext cx="732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CDR</a:t>
            </a:r>
            <a:endParaRPr lang="ko-KR" altLang="en-US" sz="1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352257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63566-304F-4C6C-9349-F9169EE33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EPS Schedule [5/5]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B90AAF-0234-42AD-8DEA-E1A987044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Detailed</a:t>
            </a:r>
            <a:r>
              <a:rPr lang="ko-KR" altLang="en-US" dirty="0"/>
              <a:t> </a:t>
            </a:r>
            <a:r>
              <a:rPr lang="en-US" altLang="ko-KR" dirty="0"/>
              <a:t>Tasks</a:t>
            </a:r>
            <a:endParaRPr lang="ko-KR" altLang="en-US" dirty="0"/>
          </a:p>
          <a:p>
            <a:endParaRPr lang="ko-KR" altLang="en-US" dirty="0"/>
          </a:p>
        </p:txBody>
      </p:sp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47305377-4E43-49B5-9AFF-D33F6074C439}"/>
              </a:ext>
            </a:extLst>
          </p:cNvPr>
          <p:cNvGraphicFramePr>
            <a:graphicFrameLocks noGrp="1"/>
          </p:cNvGraphicFramePr>
          <p:nvPr/>
        </p:nvGraphicFramePr>
        <p:xfrm>
          <a:off x="1330014" y="1801281"/>
          <a:ext cx="7536005" cy="275846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43097">
                  <a:extLst>
                    <a:ext uri="{9D8B030D-6E8A-4147-A177-3AD203B41FA5}">
                      <a16:colId xmlns:a16="http://schemas.microsoft.com/office/drawing/2014/main" val="2633380443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2749134459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80128589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564600550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54028458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186462934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38557697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157498659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32648160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840122193"/>
                    </a:ext>
                  </a:extLst>
                </a:gridCol>
                <a:gridCol w="242998">
                  <a:extLst>
                    <a:ext uri="{9D8B030D-6E8A-4147-A177-3AD203B41FA5}">
                      <a16:colId xmlns:a16="http://schemas.microsoft.com/office/drawing/2014/main" val="1028909803"/>
                    </a:ext>
                  </a:extLst>
                </a:gridCol>
                <a:gridCol w="243194">
                  <a:extLst>
                    <a:ext uri="{9D8B030D-6E8A-4147-A177-3AD203B41FA5}">
                      <a16:colId xmlns:a16="http://schemas.microsoft.com/office/drawing/2014/main" val="4173015464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715355156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250197322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15944192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408534024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05300636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420293840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406801052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218723577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407415603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97014835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25411152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526899502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65536925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731845398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0543977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3945438791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567039815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4196302209"/>
                    </a:ext>
                  </a:extLst>
                </a:gridCol>
                <a:gridCol w="243097">
                  <a:extLst>
                    <a:ext uri="{9D8B030D-6E8A-4147-A177-3AD203B41FA5}">
                      <a16:colId xmlns:a16="http://schemas.microsoft.com/office/drawing/2014/main" val="1782015360"/>
                    </a:ext>
                  </a:extLst>
                </a:gridCol>
              </a:tblGrid>
              <a:tr h="2767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20355910"/>
                  </a:ext>
                </a:extLst>
              </a:tr>
              <a:tr h="62041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36401009"/>
                  </a:ext>
                </a:extLst>
              </a:tr>
              <a:tr h="62041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12873084"/>
                  </a:ext>
                </a:extLst>
              </a:tr>
              <a:tr h="62041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85973601"/>
                  </a:ext>
                </a:extLst>
              </a:tr>
              <a:tr h="62041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441189"/>
                  </a:ext>
                </a:extLst>
              </a:tr>
            </a:tbl>
          </a:graphicData>
        </a:graphic>
      </p:graphicFrame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52894C03-8E0D-421F-A6FB-912EFCC12D9A}"/>
              </a:ext>
            </a:extLst>
          </p:cNvPr>
          <p:cNvGraphicFramePr>
            <a:graphicFrameLocks noGrp="1"/>
          </p:cNvGraphicFramePr>
          <p:nvPr/>
        </p:nvGraphicFramePr>
        <p:xfrm>
          <a:off x="249895" y="2088874"/>
          <a:ext cx="1007041" cy="2474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041">
                  <a:extLst>
                    <a:ext uri="{9D8B030D-6E8A-4147-A177-3AD203B41FA5}">
                      <a16:colId xmlns:a16="http://schemas.microsoft.com/office/drawing/2014/main" val="1866664662"/>
                    </a:ext>
                  </a:extLst>
                </a:gridCol>
              </a:tblGrid>
              <a:tr h="6186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EPS</a:t>
                      </a:r>
                    </a:p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Verification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000" marR="36000" anchor="ctr"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63256"/>
                  </a:ext>
                </a:extLst>
              </a:tr>
              <a:tr h="6186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PCDU/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Battery Flat-sat Testing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3822199271"/>
                  </a:ext>
                </a:extLst>
              </a:tr>
              <a:tr h="6186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PCDU/Solar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Array Flat-sat Testing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1677191564"/>
                  </a:ext>
                </a:extLst>
              </a:tr>
              <a:tr h="6186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EPS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End-to-end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Testing</a:t>
                      </a: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500564854"/>
                  </a:ext>
                </a:extLst>
              </a:tr>
            </a:tbl>
          </a:graphicData>
        </a:graphic>
      </p:graphicFrame>
      <p:grpSp>
        <p:nvGrpSpPr>
          <p:cNvPr id="67" name="그룹 66">
            <a:extLst>
              <a:ext uri="{FF2B5EF4-FFF2-40B4-BE49-F238E27FC236}">
                <a16:creationId xmlns:a16="http://schemas.microsoft.com/office/drawing/2014/main" id="{F8C92705-7327-4E2C-A53F-6E310831E1E8}"/>
              </a:ext>
            </a:extLst>
          </p:cNvPr>
          <p:cNvGrpSpPr/>
          <p:nvPr/>
        </p:nvGrpSpPr>
        <p:grpSpPr>
          <a:xfrm>
            <a:off x="746955" y="1510927"/>
            <a:ext cx="5707660" cy="499382"/>
            <a:chOff x="676572" y="1515606"/>
            <a:chExt cx="5707660" cy="499382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20A7A7E-2274-4332-8EDD-3468B444C100}"/>
                </a:ext>
              </a:extLst>
            </p:cNvPr>
            <p:cNvSpPr txBox="1"/>
            <p:nvPr/>
          </p:nvSpPr>
          <p:spPr>
            <a:xfrm>
              <a:off x="676572" y="1798964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Month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AB310CE-F537-4D88-9AA3-4AD83D1FCB16}"/>
                </a:ext>
              </a:extLst>
            </p:cNvPr>
            <p:cNvSpPr txBox="1"/>
            <p:nvPr/>
          </p:nvSpPr>
          <p:spPr>
            <a:xfrm>
              <a:off x="681460" y="1515606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Year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442C9AF-AECF-4D0C-B5A2-904F0D5DBD0D}"/>
                </a:ext>
              </a:extLst>
            </p:cNvPr>
            <p:cNvSpPr txBox="1"/>
            <p:nvPr/>
          </p:nvSpPr>
          <p:spPr>
            <a:xfrm>
              <a:off x="5808168" y="1515606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2021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E34C16D-1EB5-451E-AAF8-7B0D5FA21D7F}"/>
                </a:ext>
              </a:extLst>
            </p:cNvPr>
            <p:cNvSpPr txBox="1"/>
            <p:nvPr/>
          </p:nvSpPr>
          <p:spPr>
            <a:xfrm>
              <a:off x="1167102" y="1515606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2019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C4082BA-F5E8-4B19-A26E-5262142FC744}"/>
                </a:ext>
              </a:extLst>
            </p:cNvPr>
            <p:cNvSpPr txBox="1"/>
            <p:nvPr/>
          </p:nvSpPr>
          <p:spPr>
            <a:xfrm>
              <a:off x="2891494" y="1515606"/>
              <a:ext cx="576064" cy="216024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algn="ctr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2020</a:t>
              </a:r>
              <a:endParaRPr lang="ko-KR" alt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136D394B-BB03-4C48-8980-8B2D38D06F9C}"/>
              </a:ext>
            </a:extLst>
          </p:cNvPr>
          <p:cNvCxnSpPr>
            <a:cxnSpLocks/>
          </p:cNvCxnSpPr>
          <p:nvPr/>
        </p:nvCxnSpPr>
        <p:spPr>
          <a:xfrm flipV="1">
            <a:off x="3517635" y="1510927"/>
            <a:ext cx="0" cy="3048819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1C7FC3EB-644C-45B2-A193-5573AD9BD521}"/>
              </a:ext>
            </a:extLst>
          </p:cNvPr>
          <p:cNvSpPr txBox="1"/>
          <p:nvPr/>
        </p:nvSpPr>
        <p:spPr>
          <a:xfrm>
            <a:off x="3500532" y="1477501"/>
            <a:ext cx="732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PDR</a:t>
            </a:r>
            <a:endParaRPr lang="ko-KR" altLang="en-US" sz="12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5" name="화살표: 오른쪽 74">
            <a:extLst>
              <a:ext uri="{FF2B5EF4-FFF2-40B4-BE49-F238E27FC236}">
                <a16:creationId xmlns:a16="http://schemas.microsoft.com/office/drawing/2014/main" id="{EC12BCD4-6EB8-4A3C-9285-E675D82EBC46}"/>
              </a:ext>
            </a:extLst>
          </p:cNvPr>
          <p:cNvSpPr/>
          <p:nvPr/>
        </p:nvSpPr>
        <p:spPr>
          <a:xfrm>
            <a:off x="5454876" y="2123479"/>
            <a:ext cx="1466152" cy="237134"/>
          </a:xfrm>
          <a:prstGeom prst="rightArrow">
            <a:avLst/>
          </a:prstGeom>
          <a:gradFill flip="none" rotWithShape="1">
            <a:gsLst>
              <a:gs pos="0">
                <a:srgbClr val="015681">
                  <a:shade val="30000"/>
                  <a:satMod val="115000"/>
                </a:srgbClr>
              </a:gs>
              <a:gs pos="50000">
                <a:srgbClr val="015681">
                  <a:shade val="67500"/>
                  <a:satMod val="115000"/>
                </a:srgbClr>
              </a:gs>
              <a:gs pos="100000">
                <a:srgbClr val="015681">
                  <a:shade val="100000"/>
                  <a:satMod val="115000"/>
                </a:srgbClr>
              </a:gs>
            </a:gsLst>
            <a:lin ang="16200000" scaled="1"/>
            <a:tileRect/>
          </a:gra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6" name="화살표: 오른쪽 75">
            <a:extLst>
              <a:ext uri="{FF2B5EF4-FFF2-40B4-BE49-F238E27FC236}">
                <a16:creationId xmlns:a16="http://schemas.microsoft.com/office/drawing/2014/main" id="{79C032B3-AFA6-4C25-A7CC-712DCF7B75A0}"/>
              </a:ext>
            </a:extLst>
          </p:cNvPr>
          <p:cNvSpPr/>
          <p:nvPr/>
        </p:nvSpPr>
        <p:spPr>
          <a:xfrm>
            <a:off x="5472893" y="2756911"/>
            <a:ext cx="963705" cy="237134"/>
          </a:xfrm>
          <a:prstGeom prst="rightArrow">
            <a:avLst/>
          </a:prstGeom>
          <a:solidFill>
            <a:srgbClr val="4D6BA5"/>
          </a:solidFill>
          <a:ln>
            <a:solidFill>
              <a:srgbClr val="022C8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7" name="화살표: 오른쪽 76">
            <a:extLst>
              <a:ext uri="{FF2B5EF4-FFF2-40B4-BE49-F238E27FC236}">
                <a16:creationId xmlns:a16="http://schemas.microsoft.com/office/drawing/2014/main" id="{717DD4E2-D3EF-4112-AC11-7D1BD6623788}"/>
              </a:ext>
            </a:extLst>
          </p:cNvPr>
          <p:cNvSpPr/>
          <p:nvPr/>
        </p:nvSpPr>
        <p:spPr>
          <a:xfrm>
            <a:off x="6186899" y="3378572"/>
            <a:ext cx="490296" cy="237134"/>
          </a:xfrm>
          <a:prstGeom prst="rightArrow">
            <a:avLst/>
          </a:prstGeom>
          <a:solidFill>
            <a:srgbClr val="4D6BA5"/>
          </a:solidFill>
          <a:ln>
            <a:solidFill>
              <a:srgbClr val="022C8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8" name="화살표: 오른쪽 77">
            <a:extLst>
              <a:ext uri="{FF2B5EF4-FFF2-40B4-BE49-F238E27FC236}">
                <a16:creationId xmlns:a16="http://schemas.microsoft.com/office/drawing/2014/main" id="{7B6A9EFC-7718-414D-AFCD-C4E7471B0F67}"/>
              </a:ext>
            </a:extLst>
          </p:cNvPr>
          <p:cNvSpPr/>
          <p:nvPr/>
        </p:nvSpPr>
        <p:spPr>
          <a:xfrm>
            <a:off x="6436598" y="4010156"/>
            <a:ext cx="484430" cy="237134"/>
          </a:xfrm>
          <a:prstGeom prst="rightArrow">
            <a:avLst/>
          </a:prstGeom>
          <a:solidFill>
            <a:srgbClr val="4D6BA5"/>
          </a:solidFill>
          <a:ln>
            <a:solidFill>
              <a:srgbClr val="022C8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5591AF-CA83-4542-A068-650CD0CB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51</a:t>
            </a:fld>
            <a:r>
              <a:rPr lang="en-US" altLang="ko-KR"/>
              <a:t> </a:t>
            </a:r>
            <a:endParaRPr lang="ko-KR" altLang="en-US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CE44C54-891B-4520-B883-48167DF507C3}"/>
              </a:ext>
            </a:extLst>
          </p:cNvPr>
          <p:cNvGrpSpPr/>
          <p:nvPr/>
        </p:nvGrpSpPr>
        <p:grpSpPr>
          <a:xfrm>
            <a:off x="7059726" y="972312"/>
            <a:ext cx="1650343" cy="583065"/>
            <a:chOff x="1663146" y="6023451"/>
            <a:chExt cx="1650343" cy="583065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7A052792-E953-4D5D-88F7-AFAC579D2435}"/>
                </a:ext>
              </a:extLst>
            </p:cNvPr>
            <p:cNvGrpSpPr/>
            <p:nvPr/>
          </p:nvGrpSpPr>
          <p:grpSpPr>
            <a:xfrm>
              <a:off x="2305377" y="6023451"/>
              <a:ext cx="1008112" cy="533577"/>
              <a:chOff x="2051720" y="5995089"/>
              <a:chExt cx="1008112" cy="533577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3EC3BD3-600E-438B-937A-58067EEBFAAE}"/>
                  </a:ext>
                </a:extLst>
              </p:cNvPr>
              <p:cNvSpPr txBox="1"/>
              <p:nvPr/>
            </p:nvSpPr>
            <p:spPr>
              <a:xfrm>
                <a:off x="2051720" y="5995089"/>
                <a:ext cx="1008112" cy="216024"/>
              </a:xfrm>
              <a:prstGeom prst="rect">
                <a:avLst/>
              </a:prstGeom>
            </p:spPr>
            <p:txBody>
              <a:bodyPr vert="horz" wrap="none" lIns="91440" tIns="45720" rIns="91440" bIns="45720" rtlCol="0">
                <a:noAutofit/>
              </a:bodyPr>
              <a:lstStyle/>
              <a:p>
                <a:r>
                  <a:rPr lang="en-US" altLang="ko-KR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Scheduled</a:t>
                </a:r>
                <a:endParaRPr lang="ko-KR" alt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F2F37A0-DA1D-4CDD-8BC9-4A48EA3EC45F}"/>
                  </a:ext>
                </a:extLst>
              </p:cNvPr>
              <p:cNvSpPr txBox="1"/>
              <p:nvPr/>
            </p:nvSpPr>
            <p:spPr>
              <a:xfrm>
                <a:off x="2051720" y="6312642"/>
                <a:ext cx="1008112" cy="216024"/>
              </a:xfrm>
              <a:prstGeom prst="rect">
                <a:avLst/>
              </a:prstGeom>
            </p:spPr>
            <p:txBody>
              <a:bodyPr vert="horz" wrap="none" lIns="91440" tIns="45720" rIns="91440" bIns="45720" rtlCol="0">
                <a:noAutofit/>
              </a:bodyPr>
              <a:lstStyle/>
              <a:p>
                <a:r>
                  <a:rPr lang="en-US" altLang="ko-KR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Progress</a:t>
                </a:r>
                <a:endParaRPr lang="ko-KR" altLang="en-US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5" name="화살표: 오른쪽 34">
              <a:extLst>
                <a:ext uri="{FF2B5EF4-FFF2-40B4-BE49-F238E27FC236}">
                  <a16:creationId xmlns:a16="http://schemas.microsoft.com/office/drawing/2014/main" id="{537840EC-E8DC-4886-8647-51059107A91F}"/>
                </a:ext>
              </a:extLst>
            </p:cNvPr>
            <p:cNvSpPr/>
            <p:nvPr/>
          </p:nvSpPr>
          <p:spPr>
            <a:xfrm>
              <a:off x="1671855" y="6369382"/>
              <a:ext cx="654940" cy="237134"/>
            </a:xfrm>
            <a:prstGeom prst="rightArrow">
              <a:avLst/>
            </a:prstGeom>
            <a:gradFill flip="none" rotWithShape="1">
              <a:gsLst>
                <a:gs pos="0">
                  <a:srgbClr val="0099FF">
                    <a:shade val="30000"/>
                    <a:satMod val="115000"/>
                  </a:srgbClr>
                </a:gs>
                <a:gs pos="50000">
                  <a:srgbClr val="0099FF">
                    <a:shade val="67500"/>
                    <a:satMod val="115000"/>
                  </a:srgbClr>
                </a:gs>
                <a:gs pos="100000">
                  <a:srgbClr val="0099FF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화살표: 오른쪽 35">
              <a:extLst>
                <a:ext uri="{FF2B5EF4-FFF2-40B4-BE49-F238E27FC236}">
                  <a16:creationId xmlns:a16="http://schemas.microsoft.com/office/drawing/2014/main" id="{2C82EBA0-1CAB-425C-A6C8-EAD6B32E4FDE}"/>
                </a:ext>
              </a:extLst>
            </p:cNvPr>
            <p:cNvSpPr/>
            <p:nvPr/>
          </p:nvSpPr>
          <p:spPr>
            <a:xfrm>
              <a:off x="1663146" y="6070324"/>
              <a:ext cx="654940" cy="237134"/>
            </a:xfrm>
            <a:prstGeom prst="rightArrow">
              <a:avLst/>
            </a:prstGeom>
            <a:gradFill flip="none" rotWithShape="1">
              <a:gsLst>
                <a:gs pos="0">
                  <a:srgbClr val="015681">
                    <a:shade val="30000"/>
                    <a:satMod val="115000"/>
                  </a:srgbClr>
                </a:gs>
                <a:gs pos="50000">
                  <a:srgbClr val="015681">
                    <a:shade val="67500"/>
                    <a:satMod val="115000"/>
                  </a:srgbClr>
                </a:gs>
                <a:gs pos="100000">
                  <a:srgbClr val="015681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EE93395F-2725-430F-A156-FAD6B4474B32}"/>
              </a:ext>
            </a:extLst>
          </p:cNvPr>
          <p:cNvCxnSpPr>
            <a:cxnSpLocks/>
          </p:cNvCxnSpPr>
          <p:nvPr/>
        </p:nvCxnSpPr>
        <p:spPr>
          <a:xfrm flipV="1">
            <a:off x="5454875" y="1505701"/>
            <a:ext cx="18017" cy="305404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78D992F-640F-4F7C-933B-47068FB807FA}"/>
              </a:ext>
            </a:extLst>
          </p:cNvPr>
          <p:cNvSpPr txBox="1"/>
          <p:nvPr/>
        </p:nvSpPr>
        <p:spPr>
          <a:xfrm>
            <a:off x="5454875" y="1481592"/>
            <a:ext cx="732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CDR</a:t>
            </a:r>
            <a:endParaRPr lang="ko-KR" altLang="en-US" sz="1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022991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5A0C73-2E66-49D5-86DC-47A1F26EB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Wire</a:t>
            </a:r>
            <a:r>
              <a:rPr lang="ko-KR" altLang="en-US" dirty="0"/>
              <a:t> </a:t>
            </a:r>
            <a:r>
              <a:rPr lang="en-US" altLang="ko-KR" dirty="0"/>
              <a:t>Diagram [1/4]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7DBEAE-BEAB-4977-B8D0-29B1CAFC4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Solar Panel: Body-mounted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FEF147-9017-4D1A-B6C1-10FFA737E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52</a:t>
            </a:fld>
            <a:r>
              <a:rPr lang="en-US" altLang="ko-KR"/>
              <a:t> </a:t>
            </a:r>
            <a:endParaRPr lang="ko-KR" altLang="en-US" dirty="0"/>
          </a:p>
        </p:txBody>
      </p:sp>
      <p:graphicFrame>
        <p:nvGraphicFramePr>
          <p:cNvPr id="88" name="표 88">
            <a:extLst>
              <a:ext uri="{FF2B5EF4-FFF2-40B4-BE49-F238E27FC236}">
                <a16:creationId xmlns:a16="http://schemas.microsoft.com/office/drawing/2014/main" id="{C4718257-5EBE-44F2-927A-64AD663FA8F4}"/>
              </a:ext>
            </a:extLst>
          </p:cNvPr>
          <p:cNvGraphicFramePr>
            <a:graphicFrameLocks noGrp="1"/>
          </p:cNvGraphicFramePr>
          <p:nvPr/>
        </p:nvGraphicFramePr>
        <p:xfrm>
          <a:off x="254724" y="5090417"/>
          <a:ext cx="1202883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1">
                  <a:extLst>
                    <a:ext uri="{9D8B030D-6E8A-4147-A177-3AD203B41FA5}">
                      <a16:colId xmlns:a16="http://schemas.microsoft.com/office/drawing/2014/main" val="3880181302"/>
                    </a:ext>
                  </a:extLst>
                </a:gridCol>
                <a:gridCol w="869132">
                  <a:extLst>
                    <a:ext uri="{9D8B030D-6E8A-4147-A177-3AD203B41FA5}">
                      <a16:colId xmlns:a16="http://schemas.microsoft.com/office/drawing/2014/main" val="3293656403"/>
                    </a:ext>
                  </a:extLst>
                </a:gridCol>
              </a:tblGrid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Description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324176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Positive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2628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Positive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76304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Negative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01400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Negative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01637"/>
                  </a:ext>
                </a:extLst>
              </a:tr>
            </a:tbl>
          </a:graphicData>
        </a:graphic>
      </p:graphicFrame>
      <p:graphicFrame>
        <p:nvGraphicFramePr>
          <p:cNvPr id="90" name="표 88">
            <a:extLst>
              <a:ext uri="{FF2B5EF4-FFF2-40B4-BE49-F238E27FC236}">
                <a16:creationId xmlns:a16="http://schemas.microsoft.com/office/drawing/2014/main" id="{DD46D0EB-8A02-45A2-AFBF-97A04C450E0E}"/>
              </a:ext>
            </a:extLst>
          </p:cNvPr>
          <p:cNvGraphicFramePr>
            <a:graphicFrameLocks noGrp="1"/>
          </p:cNvGraphicFramePr>
          <p:nvPr/>
        </p:nvGraphicFramePr>
        <p:xfrm>
          <a:off x="254724" y="5898250"/>
          <a:ext cx="1202883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1">
                  <a:extLst>
                    <a:ext uri="{9D8B030D-6E8A-4147-A177-3AD203B41FA5}">
                      <a16:colId xmlns:a16="http://schemas.microsoft.com/office/drawing/2014/main" val="3880181302"/>
                    </a:ext>
                  </a:extLst>
                </a:gridCol>
                <a:gridCol w="869132">
                  <a:extLst>
                    <a:ext uri="{9D8B030D-6E8A-4147-A177-3AD203B41FA5}">
                      <a16:colId xmlns:a16="http://schemas.microsoft.com/office/drawing/2014/main" val="3293656403"/>
                    </a:ext>
                  </a:extLst>
                </a:gridCol>
              </a:tblGrid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Description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324176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GND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2628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Temp. </a:t>
                      </a:r>
                      <a:r>
                        <a:rPr lang="en-US" altLang="ko-KR" sz="10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Vout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76304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3V3 SW2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014000"/>
                  </a:ext>
                </a:extLst>
              </a:tr>
              <a:tr h="1120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Photodiode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01637"/>
                  </a:ext>
                </a:extLst>
              </a:tr>
            </a:tbl>
          </a:graphicData>
        </a:graphic>
      </p:graphicFrame>
      <p:graphicFrame>
        <p:nvGraphicFramePr>
          <p:cNvPr id="91" name="표 88">
            <a:extLst>
              <a:ext uri="{FF2B5EF4-FFF2-40B4-BE49-F238E27FC236}">
                <a16:creationId xmlns:a16="http://schemas.microsoft.com/office/drawing/2014/main" id="{7D65A8C8-1F19-4B1E-BE32-B32AEBB4EF5C}"/>
              </a:ext>
            </a:extLst>
          </p:cNvPr>
          <p:cNvGraphicFramePr>
            <a:graphicFrameLocks noGrp="1"/>
          </p:cNvGraphicFramePr>
          <p:nvPr/>
        </p:nvGraphicFramePr>
        <p:xfrm>
          <a:off x="1586248" y="5090245"/>
          <a:ext cx="1195971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833">
                  <a:extLst>
                    <a:ext uri="{9D8B030D-6E8A-4147-A177-3AD203B41FA5}">
                      <a16:colId xmlns:a16="http://schemas.microsoft.com/office/drawing/2014/main" val="3880181302"/>
                    </a:ext>
                  </a:extLst>
                </a:gridCol>
                <a:gridCol w="864138">
                  <a:extLst>
                    <a:ext uri="{9D8B030D-6E8A-4147-A177-3AD203B41FA5}">
                      <a16:colId xmlns:a16="http://schemas.microsoft.com/office/drawing/2014/main" val="3293656403"/>
                    </a:ext>
                  </a:extLst>
                </a:gridCol>
              </a:tblGrid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Description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324176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Positive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2628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Positive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76304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Negative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01400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Negative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01637"/>
                  </a:ext>
                </a:extLst>
              </a:tr>
            </a:tbl>
          </a:graphicData>
        </a:graphic>
      </p:graphicFrame>
      <p:graphicFrame>
        <p:nvGraphicFramePr>
          <p:cNvPr id="92" name="표 88">
            <a:extLst>
              <a:ext uri="{FF2B5EF4-FFF2-40B4-BE49-F238E27FC236}">
                <a16:creationId xmlns:a16="http://schemas.microsoft.com/office/drawing/2014/main" id="{F2496B62-8EA3-4EDB-BBF3-FA935B6DDE59}"/>
              </a:ext>
            </a:extLst>
          </p:cNvPr>
          <p:cNvGraphicFramePr>
            <a:graphicFrameLocks noGrp="1"/>
          </p:cNvGraphicFramePr>
          <p:nvPr/>
        </p:nvGraphicFramePr>
        <p:xfrm>
          <a:off x="1586248" y="5897839"/>
          <a:ext cx="1195971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833">
                  <a:extLst>
                    <a:ext uri="{9D8B030D-6E8A-4147-A177-3AD203B41FA5}">
                      <a16:colId xmlns:a16="http://schemas.microsoft.com/office/drawing/2014/main" val="3880181302"/>
                    </a:ext>
                  </a:extLst>
                </a:gridCol>
                <a:gridCol w="864138">
                  <a:extLst>
                    <a:ext uri="{9D8B030D-6E8A-4147-A177-3AD203B41FA5}">
                      <a16:colId xmlns:a16="http://schemas.microsoft.com/office/drawing/2014/main" val="3293656403"/>
                    </a:ext>
                  </a:extLst>
                </a:gridCol>
              </a:tblGrid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Description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324176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GND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2628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Temp. </a:t>
                      </a:r>
                      <a:r>
                        <a:rPr lang="en-US" altLang="ko-KR" sz="10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Vout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76304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3V3 SW2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01400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Photodiode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01637"/>
                  </a:ext>
                </a:extLst>
              </a:tr>
            </a:tbl>
          </a:graphicData>
        </a:graphic>
      </p:graphicFrame>
      <p:sp>
        <p:nvSpPr>
          <p:cNvPr id="94" name="직사각형 93">
            <a:extLst>
              <a:ext uri="{FF2B5EF4-FFF2-40B4-BE49-F238E27FC236}">
                <a16:creationId xmlns:a16="http://schemas.microsoft.com/office/drawing/2014/main" id="{066D7A40-CF8C-45B1-B5C3-7AB1BE1C5DF7}"/>
              </a:ext>
            </a:extLst>
          </p:cNvPr>
          <p:cNvSpPr/>
          <p:nvPr/>
        </p:nvSpPr>
        <p:spPr>
          <a:xfrm>
            <a:off x="252607" y="4792224"/>
            <a:ext cx="1202883" cy="296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Molex </a:t>
            </a:r>
            <a:r>
              <a:rPr lang="en-US" altLang="ko-KR" sz="1000" b="1" dirty="0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Picolock</a:t>
            </a:r>
            <a:endParaRPr lang="en-US" altLang="ko-KR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504050-0491</a:t>
            </a:r>
            <a:endParaRPr lang="ko-KR" altLang="en-US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FCA9E957-1A99-4FF9-9945-8E5017026C55}"/>
              </a:ext>
            </a:extLst>
          </p:cNvPr>
          <p:cNvSpPr/>
          <p:nvPr/>
        </p:nvSpPr>
        <p:spPr>
          <a:xfrm>
            <a:off x="1581083" y="4790994"/>
            <a:ext cx="1202883" cy="296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Molex </a:t>
            </a:r>
            <a:r>
              <a:rPr lang="en-US" altLang="ko-KR" sz="1000" b="1" dirty="0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Picolock</a:t>
            </a:r>
            <a:endParaRPr lang="en-US" altLang="ko-KR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504050-0491</a:t>
            </a:r>
            <a:endParaRPr lang="ko-KR" altLang="en-US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50BA25F4-A0AA-4073-AD72-75D5E9901430}"/>
              </a:ext>
            </a:extLst>
          </p:cNvPr>
          <p:cNvSpPr/>
          <p:nvPr/>
        </p:nvSpPr>
        <p:spPr>
          <a:xfrm>
            <a:off x="252607" y="6689987"/>
            <a:ext cx="2529612" cy="1427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Solar Panel Side Connector</a:t>
            </a:r>
            <a:endParaRPr lang="ko-KR" altLang="en-US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1E5B8C1-FE04-4632-8D38-EA343FFA5B50}"/>
              </a:ext>
            </a:extLst>
          </p:cNvPr>
          <p:cNvGrpSpPr/>
          <p:nvPr/>
        </p:nvGrpSpPr>
        <p:grpSpPr>
          <a:xfrm>
            <a:off x="261597" y="1407248"/>
            <a:ext cx="8620806" cy="5178358"/>
            <a:chOff x="261597" y="1407248"/>
            <a:chExt cx="8620806" cy="5178358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008BA96E-9283-4464-929E-3E82C8352C57}"/>
                </a:ext>
              </a:extLst>
            </p:cNvPr>
            <p:cNvGrpSpPr/>
            <p:nvPr/>
          </p:nvGrpSpPr>
          <p:grpSpPr>
            <a:xfrm>
              <a:off x="261597" y="1407249"/>
              <a:ext cx="1196011" cy="2980601"/>
              <a:chOff x="261597" y="1502499"/>
              <a:chExt cx="1196011" cy="2980601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194D259C-5418-47D6-94F4-AD7632CB155D}"/>
                  </a:ext>
                </a:extLst>
              </p:cNvPr>
              <p:cNvSpPr/>
              <p:nvPr/>
            </p:nvSpPr>
            <p:spPr>
              <a:xfrm>
                <a:off x="261597" y="1502499"/>
                <a:ext cx="1196011" cy="2980601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b="1">
                  <a:solidFill>
                    <a:schemeClr val="bg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4408C9A7-6F13-4BFD-A758-946F53460E05}"/>
                  </a:ext>
                </a:extLst>
              </p:cNvPr>
              <p:cNvSpPr/>
              <p:nvPr/>
            </p:nvSpPr>
            <p:spPr>
              <a:xfrm>
                <a:off x="312397" y="1575428"/>
                <a:ext cx="1090953" cy="417969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bg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(-X) 5S-1P</a:t>
                </a:r>
                <a:endParaRPr lang="ko-KR" altLang="en-US" sz="1400" b="1" dirty="0">
                  <a:solidFill>
                    <a:schemeClr val="bg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57F9B2EB-1295-46F0-9BF7-93CCDF35766C}"/>
                  </a:ext>
                </a:extLst>
              </p:cNvPr>
              <p:cNvSpPr/>
              <p:nvPr/>
            </p:nvSpPr>
            <p:spPr>
              <a:xfrm>
                <a:off x="312396" y="2056897"/>
                <a:ext cx="1090953" cy="417969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bg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Body-mounted</a:t>
                </a:r>
                <a:endParaRPr lang="ko-KR" altLang="en-US" sz="1400" b="1" dirty="0">
                  <a:solidFill>
                    <a:schemeClr val="bg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F3F8CE19-473B-4BF9-B9EE-9E80D77E4D0B}"/>
                  </a:ext>
                </a:extLst>
              </p:cNvPr>
              <p:cNvSpPr/>
              <p:nvPr/>
            </p:nvSpPr>
            <p:spPr>
              <a:xfrm>
                <a:off x="312396" y="2538366"/>
                <a:ext cx="1090953" cy="417969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b="1">
                  <a:solidFill>
                    <a:schemeClr val="bg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5F892C9F-646E-4459-BBE6-01E680246F2E}"/>
                  </a:ext>
                </a:extLst>
              </p:cNvPr>
              <p:cNvSpPr/>
              <p:nvPr/>
            </p:nvSpPr>
            <p:spPr>
              <a:xfrm>
                <a:off x="312396" y="3019835"/>
                <a:ext cx="1090953" cy="417969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b="1">
                  <a:solidFill>
                    <a:schemeClr val="bg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C40C3133-6FE0-4D5E-AD8C-B56E6BB3B413}"/>
                </a:ext>
              </a:extLst>
            </p:cNvPr>
            <p:cNvGrpSpPr/>
            <p:nvPr/>
          </p:nvGrpSpPr>
          <p:grpSpPr>
            <a:xfrm>
              <a:off x="2910903" y="1407248"/>
              <a:ext cx="1196011" cy="1054965"/>
              <a:chOff x="261597" y="1502500"/>
              <a:chExt cx="1196011" cy="1054965"/>
            </a:xfrm>
          </p:grpSpPr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81C55832-ECE8-4040-AE13-8DF573B46378}"/>
                  </a:ext>
                </a:extLst>
              </p:cNvPr>
              <p:cNvSpPr/>
              <p:nvPr/>
            </p:nvSpPr>
            <p:spPr>
              <a:xfrm>
                <a:off x="261597" y="1502500"/>
                <a:ext cx="1196011" cy="1054965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b="1">
                  <a:solidFill>
                    <a:schemeClr val="bg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A42EAD7C-68BA-40A1-A650-D77918A7A3CF}"/>
                  </a:ext>
                </a:extLst>
              </p:cNvPr>
              <p:cNvSpPr/>
              <p:nvPr/>
            </p:nvSpPr>
            <p:spPr>
              <a:xfrm>
                <a:off x="312397" y="1575428"/>
                <a:ext cx="1090953" cy="417969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bg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(+Z) 2S-1P</a:t>
                </a:r>
                <a:endParaRPr lang="ko-KR" altLang="en-US" sz="1400" b="1" dirty="0">
                  <a:solidFill>
                    <a:schemeClr val="bg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F2BEE965-7226-4A30-90C6-475246AFA1B5}"/>
                  </a:ext>
                </a:extLst>
              </p:cNvPr>
              <p:cNvSpPr/>
              <p:nvPr/>
            </p:nvSpPr>
            <p:spPr>
              <a:xfrm>
                <a:off x="312396" y="2056897"/>
                <a:ext cx="1090953" cy="417969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bg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Body-mounted</a:t>
                </a:r>
                <a:endParaRPr lang="ko-KR" altLang="en-US" sz="1400" b="1" dirty="0">
                  <a:solidFill>
                    <a:schemeClr val="bg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ABDA45AD-EE48-43C7-B424-DEAA36D12C2B}"/>
                </a:ext>
              </a:extLst>
            </p:cNvPr>
            <p:cNvGrpSpPr/>
            <p:nvPr/>
          </p:nvGrpSpPr>
          <p:grpSpPr>
            <a:xfrm>
              <a:off x="5554431" y="2893146"/>
              <a:ext cx="3327972" cy="2980601"/>
              <a:chOff x="2910903" y="2810237"/>
              <a:chExt cx="3327972" cy="2980601"/>
            </a:xfrm>
          </p:grpSpPr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93AB2368-700B-4ABF-96EE-AC260DCB732E}"/>
                  </a:ext>
                </a:extLst>
              </p:cNvPr>
              <p:cNvSpPr/>
              <p:nvPr/>
            </p:nvSpPr>
            <p:spPr>
              <a:xfrm>
                <a:off x="2910903" y="2810237"/>
                <a:ext cx="3327972" cy="2980601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altLang="ko-KR" sz="1400" b="1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Mother Board</a:t>
                </a:r>
                <a:endParaRPr lang="ko-KR" altLang="en-US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12A74331-8033-4E2E-9A89-72759B4C15E0}"/>
                  </a:ext>
                </a:extLst>
              </p:cNvPr>
              <p:cNvSpPr/>
              <p:nvPr/>
            </p:nvSpPr>
            <p:spPr>
              <a:xfrm>
                <a:off x="3015964" y="3079390"/>
                <a:ext cx="2651411" cy="263294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Daughter Board</a:t>
                </a:r>
                <a:endParaRPr lang="ko-KR" altLang="en-US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A3CEF311-BE63-41DD-B616-8034A54A56F1}"/>
                  </a:ext>
                </a:extLst>
              </p:cNvPr>
              <p:cNvSpPr/>
              <p:nvPr/>
            </p:nvSpPr>
            <p:spPr>
              <a:xfrm rot="16200000">
                <a:off x="4541176" y="5067679"/>
                <a:ext cx="944612" cy="2581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MPPT 3</a:t>
                </a:r>
                <a:endParaRPr lang="ko-KR" altLang="en-US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6766A0C1-CB5D-4CE0-8319-8809088578A7}"/>
                  </a:ext>
                </a:extLst>
              </p:cNvPr>
              <p:cNvSpPr/>
              <p:nvPr/>
            </p:nvSpPr>
            <p:spPr>
              <a:xfrm rot="16200000">
                <a:off x="4927967" y="5063393"/>
                <a:ext cx="944612" cy="2581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MPPT 4</a:t>
                </a:r>
                <a:endParaRPr lang="ko-KR" altLang="en-US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2D41E277-7867-4F66-B08F-6CB8A99B3EFD}"/>
                  </a:ext>
                </a:extLst>
              </p:cNvPr>
              <p:cNvSpPr/>
              <p:nvPr/>
            </p:nvSpPr>
            <p:spPr>
              <a:xfrm rot="16200000">
                <a:off x="5456746" y="5008432"/>
                <a:ext cx="992178" cy="415637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bg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CSKB</a:t>
                </a:r>
                <a:endParaRPr lang="ko-KR" altLang="en-US" sz="1400" b="1" dirty="0">
                  <a:solidFill>
                    <a:schemeClr val="bg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A2BB9582-EA78-4B45-BC45-944AC5FA5A4D}"/>
                  </a:ext>
                </a:extLst>
              </p:cNvPr>
              <p:cNvSpPr/>
              <p:nvPr/>
            </p:nvSpPr>
            <p:spPr>
              <a:xfrm>
                <a:off x="3063303" y="3799512"/>
                <a:ext cx="944612" cy="2581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MPPT 0</a:t>
                </a:r>
                <a:endParaRPr lang="ko-KR" altLang="en-US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777A62E9-13DB-4043-8F75-4D7E912D3163}"/>
                  </a:ext>
                </a:extLst>
              </p:cNvPr>
              <p:cNvSpPr/>
              <p:nvPr/>
            </p:nvSpPr>
            <p:spPr>
              <a:xfrm>
                <a:off x="3063303" y="4167626"/>
                <a:ext cx="944612" cy="2581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MPPT 1</a:t>
                </a:r>
                <a:endParaRPr lang="ko-KR" altLang="en-US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2545A3F4-3BC4-42CC-BBAF-5BF193B3187B}"/>
                  </a:ext>
                </a:extLst>
              </p:cNvPr>
              <p:cNvSpPr/>
              <p:nvPr/>
            </p:nvSpPr>
            <p:spPr>
              <a:xfrm>
                <a:off x="3063303" y="4535740"/>
                <a:ext cx="944612" cy="25814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MPPT 2</a:t>
                </a:r>
                <a:endParaRPr lang="ko-KR" altLang="en-US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p:grpSp>
        <p:cxnSp>
          <p:nvCxnSpPr>
            <p:cNvPr id="50" name="연결선: 꺾임 49">
              <a:extLst>
                <a:ext uri="{FF2B5EF4-FFF2-40B4-BE49-F238E27FC236}">
                  <a16:creationId xmlns:a16="http://schemas.microsoft.com/office/drawing/2014/main" id="{3DE62420-15D8-4578-AD5E-EE2BB48EC8DA}"/>
                </a:ext>
              </a:extLst>
            </p:cNvPr>
            <p:cNvCxnSpPr>
              <a:cxnSpLocks/>
              <a:stCxn id="47" idx="1"/>
              <a:endCxn id="5" idx="2"/>
            </p:cNvCxnSpPr>
            <p:nvPr/>
          </p:nvCxnSpPr>
          <p:spPr>
            <a:xfrm rot="10800000">
              <a:off x="859603" y="4387850"/>
              <a:ext cx="4847228" cy="359874"/>
            </a:xfrm>
            <a:prstGeom prst="bentConnector2">
              <a:avLst/>
            </a:prstGeom>
            <a:ln w="19050">
              <a:solidFill>
                <a:srgbClr val="FF0000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0EC7EEDE-CB7B-4A14-89D5-F235717667DD}"/>
                </a:ext>
              </a:extLst>
            </p:cNvPr>
            <p:cNvSpPr/>
            <p:nvPr/>
          </p:nvSpPr>
          <p:spPr>
            <a:xfrm>
              <a:off x="3448892" y="4754075"/>
              <a:ext cx="2102100" cy="2072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13.5 V &amp; 0.5 A</a:t>
              </a:r>
              <a:endPara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cxnSp>
          <p:nvCxnSpPr>
            <p:cNvPr id="64" name="연결선: 꺾임 63">
              <a:extLst>
                <a:ext uri="{FF2B5EF4-FFF2-40B4-BE49-F238E27FC236}">
                  <a16:creationId xmlns:a16="http://schemas.microsoft.com/office/drawing/2014/main" id="{4FA8A2A6-35EA-4ACB-AE14-BA56B6072334}"/>
                </a:ext>
              </a:extLst>
            </p:cNvPr>
            <p:cNvCxnSpPr>
              <a:cxnSpLocks/>
              <a:stCxn id="45" idx="1"/>
              <a:endCxn id="22" idx="2"/>
            </p:cNvCxnSpPr>
            <p:nvPr/>
          </p:nvCxnSpPr>
          <p:spPr>
            <a:xfrm rot="10800000">
              <a:off x="3508909" y="2462214"/>
              <a:ext cx="2197922" cy="1549283"/>
            </a:xfrm>
            <a:prstGeom prst="bentConnector2">
              <a:avLst/>
            </a:prstGeom>
            <a:ln w="19050">
              <a:solidFill>
                <a:srgbClr val="FF0000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00EB3201-3A3A-41B4-A48B-D4A6708B01BF}"/>
                </a:ext>
              </a:extLst>
            </p:cNvPr>
            <p:cNvGrpSpPr/>
            <p:nvPr/>
          </p:nvGrpSpPr>
          <p:grpSpPr>
            <a:xfrm>
              <a:off x="4429899" y="5403222"/>
              <a:ext cx="1963013" cy="1182384"/>
              <a:chOff x="4429899" y="5498472"/>
              <a:chExt cx="1963013" cy="1182384"/>
            </a:xfrm>
          </p:grpSpPr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921F3E21-5DBD-4A30-B810-5ADFE5EC7686}"/>
                  </a:ext>
                </a:extLst>
              </p:cNvPr>
              <p:cNvSpPr/>
              <p:nvPr/>
            </p:nvSpPr>
            <p:spPr>
              <a:xfrm>
                <a:off x="4429899" y="5498472"/>
                <a:ext cx="944612" cy="48266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BRF +X</a:t>
                </a:r>
                <a:endParaRPr lang="ko-KR" altLang="en-US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6F8A4677-0C98-4CA3-BCE0-68D0B87546A5}"/>
                  </a:ext>
                </a:extLst>
              </p:cNvPr>
              <p:cNvSpPr/>
              <p:nvPr/>
            </p:nvSpPr>
            <p:spPr>
              <a:xfrm>
                <a:off x="5448300" y="6198187"/>
                <a:ext cx="944612" cy="48266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BRF +Y</a:t>
                </a:r>
                <a:endParaRPr lang="ko-KR" altLang="en-US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cxnSp>
            <p:nvCxnSpPr>
              <p:cNvPr id="67" name="연결선: 꺾임 57">
                <a:extLst>
                  <a:ext uri="{FF2B5EF4-FFF2-40B4-BE49-F238E27FC236}">
                    <a16:creationId xmlns:a16="http://schemas.microsoft.com/office/drawing/2014/main" id="{DEAD1568-6A29-4939-8276-BAEFE5B3C2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14900" y="5968997"/>
                <a:ext cx="5334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연결선: 꺾임 57">
                <a:extLst>
                  <a:ext uri="{FF2B5EF4-FFF2-40B4-BE49-F238E27FC236}">
                    <a16:creationId xmlns:a16="http://schemas.microsoft.com/office/drawing/2014/main" id="{F28265ED-FDD4-487C-B8CD-342E3A4D7C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48300" y="5968997"/>
                <a:ext cx="0" cy="52081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oval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0179EF09-F9E2-43CD-BB56-81E327399AF1}"/>
                </a:ext>
              </a:extLst>
            </p:cNvPr>
            <p:cNvSpPr/>
            <p:nvPr/>
          </p:nvSpPr>
          <p:spPr>
            <a:xfrm>
              <a:off x="3516455" y="4015825"/>
              <a:ext cx="2102100" cy="24370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5.4 V &amp; 0.5 A</a:t>
              </a:r>
              <a:endPara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cxnSp>
          <p:nvCxnSpPr>
            <p:cNvPr id="77" name="연결선: 꺾임 76">
              <a:extLst>
                <a:ext uri="{FF2B5EF4-FFF2-40B4-BE49-F238E27FC236}">
                  <a16:creationId xmlns:a16="http://schemas.microsoft.com/office/drawing/2014/main" id="{259BC371-6125-4DE6-A4DC-F7711E3B0DF6}"/>
                </a:ext>
              </a:extLst>
            </p:cNvPr>
            <p:cNvCxnSpPr>
              <a:cxnSpLocks/>
              <a:stCxn id="45" idx="1"/>
              <a:endCxn id="84" idx="2"/>
            </p:cNvCxnSpPr>
            <p:nvPr/>
          </p:nvCxnSpPr>
          <p:spPr>
            <a:xfrm rot="10800000">
              <a:off x="5105461" y="2430712"/>
              <a:ext cx="601370" cy="1580785"/>
            </a:xfrm>
            <a:prstGeom prst="bentConnector2">
              <a:avLst/>
            </a:prstGeom>
            <a:ln w="19050">
              <a:solidFill>
                <a:srgbClr val="FF0000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2AE441B6-3229-4FD0-AFA8-33F350F92A61}"/>
                </a:ext>
              </a:extLst>
            </p:cNvPr>
            <p:cNvSpPr/>
            <p:nvPr/>
          </p:nvSpPr>
          <p:spPr>
            <a:xfrm>
              <a:off x="4253467" y="1837949"/>
              <a:ext cx="1703988" cy="5927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Umbilical External Charging Port</a:t>
              </a:r>
              <a:endPara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E1962E8C-5BF6-4FDA-9907-B384A47BC7BE}"/>
                </a:ext>
              </a:extLst>
            </p:cNvPr>
            <p:cNvGrpSpPr/>
            <p:nvPr/>
          </p:nvGrpSpPr>
          <p:grpSpPr>
            <a:xfrm>
              <a:off x="316037" y="1407248"/>
              <a:ext cx="2466224" cy="2980601"/>
              <a:chOff x="316037" y="1407248"/>
              <a:chExt cx="2466224" cy="2980601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03113859-EC27-4301-9EE9-7F6665830333}"/>
                  </a:ext>
                </a:extLst>
              </p:cNvPr>
              <p:cNvSpPr/>
              <p:nvPr/>
            </p:nvSpPr>
            <p:spPr>
              <a:xfrm>
                <a:off x="1586250" y="1407248"/>
                <a:ext cx="1196011" cy="2980601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b="1">
                  <a:solidFill>
                    <a:schemeClr val="bg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AC87DFA9-B2C2-4E09-AE1E-258A16F9D80B}"/>
                  </a:ext>
                </a:extLst>
              </p:cNvPr>
              <p:cNvSpPr/>
              <p:nvPr/>
            </p:nvSpPr>
            <p:spPr>
              <a:xfrm>
                <a:off x="1637050" y="1480177"/>
                <a:ext cx="1090953" cy="417969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bg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(+X) 4S-1P</a:t>
                </a:r>
                <a:endParaRPr lang="ko-KR" altLang="en-US" sz="1400" b="1" dirty="0">
                  <a:solidFill>
                    <a:schemeClr val="bg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E29BAB54-FC2A-4D3E-AF12-3DECE95DC617}"/>
                  </a:ext>
                </a:extLst>
              </p:cNvPr>
              <p:cNvSpPr/>
              <p:nvPr/>
            </p:nvSpPr>
            <p:spPr>
              <a:xfrm>
                <a:off x="1637049" y="1961646"/>
                <a:ext cx="1090953" cy="417969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bg1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Body-mounted</a:t>
                </a:r>
                <a:endParaRPr lang="ko-KR" altLang="en-US" sz="1400" b="1" dirty="0">
                  <a:solidFill>
                    <a:schemeClr val="bg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12E3D18B-1E07-4B9A-AC87-F759B6C43956}"/>
                  </a:ext>
                </a:extLst>
              </p:cNvPr>
              <p:cNvSpPr/>
              <p:nvPr/>
            </p:nvSpPr>
            <p:spPr>
              <a:xfrm>
                <a:off x="1637049" y="2443115"/>
                <a:ext cx="1090953" cy="417969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b="1">
                  <a:solidFill>
                    <a:schemeClr val="bg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FF570DDB-A2D9-41E1-9DBA-E9B416A4CED7}"/>
                  </a:ext>
                </a:extLst>
              </p:cNvPr>
              <p:cNvSpPr/>
              <p:nvPr/>
            </p:nvSpPr>
            <p:spPr>
              <a:xfrm>
                <a:off x="1637049" y="2924584"/>
                <a:ext cx="1090953" cy="417969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b="1">
                  <a:solidFill>
                    <a:schemeClr val="bg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D1FE013B-23C9-4A1C-B6EA-2BBED0CE2BF0}"/>
                  </a:ext>
                </a:extLst>
              </p:cNvPr>
              <p:cNvSpPr/>
              <p:nvPr/>
            </p:nvSpPr>
            <p:spPr>
              <a:xfrm>
                <a:off x="316037" y="3911776"/>
                <a:ext cx="1090953" cy="417969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b="1" dirty="0">
                  <a:solidFill>
                    <a:schemeClr val="bg1"/>
                  </a:solidFill>
                  <a:latin typeface="times" panose="02020603050405020304" pitchFamily="18" charset="0"/>
                  <a:cs typeface="times" panose="02020603050405020304" pitchFamily="18" charset="0"/>
                </a:endParaRPr>
              </a:p>
            </p:txBody>
          </p:sp>
        </p:grp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A2A4A9B-8E82-4531-92ED-1289BE36E1CB}"/>
              </a:ext>
            </a:extLst>
          </p:cNvPr>
          <p:cNvSpPr/>
          <p:nvPr/>
        </p:nvSpPr>
        <p:spPr>
          <a:xfrm>
            <a:off x="261596" y="6497604"/>
            <a:ext cx="86396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/>
              <a:t>&lt;Solar array to PCDU (mother) wire diagram&gt;</a:t>
            </a:r>
            <a:endParaRPr lang="ko-KR" altLang="en-US" sz="1200" b="1" dirty="0"/>
          </a:p>
        </p:txBody>
      </p: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4BE352DA-6D99-4F9C-879B-286B51DFD5AB}"/>
              </a:ext>
            </a:extLst>
          </p:cNvPr>
          <p:cNvCxnSpPr>
            <a:cxnSpLocks/>
            <a:stCxn id="46" idx="1"/>
            <a:endCxn id="14" idx="2"/>
          </p:cNvCxnSpPr>
          <p:nvPr/>
        </p:nvCxnSpPr>
        <p:spPr>
          <a:xfrm rot="10800000" flipV="1">
            <a:off x="2184257" y="4379609"/>
            <a:ext cx="3522575" cy="8239"/>
          </a:xfrm>
          <a:prstGeom prst="bentConnector4">
            <a:avLst>
              <a:gd name="adj1" fmla="val 11678"/>
              <a:gd name="adj2" fmla="val 2183202"/>
            </a:avLst>
          </a:prstGeom>
          <a:ln w="190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E46B7D9-A07A-456E-A755-00E2442B441F}"/>
              </a:ext>
            </a:extLst>
          </p:cNvPr>
          <p:cNvSpPr/>
          <p:nvPr/>
        </p:nvSpPr>
        <p:spPr>
          <a:xfrm>
            <a:off x="3601292" y="4330717"/>
            <a:ext cx="2102100" cy="2277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10.8 V &amp; 0.5 A</a:t>
            </a:r>
          </a:p>
        </p:txBody>
      </p:sp>
    </p:spTree>
    <p:extLst>
      <p:ext uri="{BB962C8B-B14F-4D97-AF65-F5344CB8AC3E}">
        <p14:creationId xmlns:p14="http://schemas.microsoft.com/office/powerpoint/2010/main" val="2415061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5A0C73-2E66-49D5-86DC-47A1F26EB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Wire</a:t>
            </a:r>
            <a:r>
              <a:rPr lang="ko-KR" altLang="en-US" dirty="0"/>
              <a:t> </a:t>
            </a:r>
            <a:r>
              <a:rPr lang="en-US" altLang="ko-KR" dirty="0"/>
              <a:t>Diagram [2/4]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7DBEAE-BEAB-4977-B8D0-29B1CAFC4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Solar Panel: Deployable [1/2]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FEF147-9017-4D1A-B6C1-10FFA737E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53</a:t>
            </a:fld>
            <a:r>
              <a:rPr lang="en-US" altLang="ko-KR"/>
              <a:t> </a:t>
            </a:r>
            <a:endParaRPr lang="ko-KR" altLang="en-US" dirty="0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00EB3201-3A3A-41B4-A48B-D4A6708B01BF}"/>
              </a:ext>
            </a:extLst>
          </p:cNvPr>
          <p:cNvGrpSpPr/>
          <p:nvPr/>
        </p:nvGrpSpPr>
        <p:grpSpPr>
          <a:xfrm>
            <a:off x="6989636" y="1632573"/>
            <a:ext cx="1871978" cy="1114310"/>
            <a:chOff x="4061392" y="5104990"/>
            <a:chExt cx="1871978" cy="1114310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921F3E21-5DBD-4A30-B810-5ADFE5EC7686}"/>
                </a:ext>
              </a:extLst>
            </p:cNvPr>
            <p:cNvSpPr/>
            <p:nvPr/>
          </p:nvSpPr>
          <p:spPr>
            <a:xfrm>
              <a:off x="4988758" y="5104990"/>
              <a:ext cx="944612" cy="4826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BRF +X</a:t>
              </a:r>
              <a:endPara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6F8A4677-0C98-4CA3-BCE0-68D0B87546A5}"/>
                </a:ext>
              </a:extLst>
            </p:cNvPr>
            <p:cNvSpPr/>
            <p:nvPr/>
          </p:nvSpPr>
          <p:spPr>
            <a:xfrm>
              <a:off x="4061392" y="5736631"/>
              <a:ext cx="944612" cy="4826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BRF +Y</a:t>
              </a:r>
              <a:endPara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cxnSp>
          <p:nvCxnSpPr>
            <p:cNvPr id="67" name="연결선: 꺾임 57">
              <a:extLst>
                <a:ext uri="{FF2B5EF4-FFF2-40B4-BE49-F238E27FC236}">
                  <a16:creationId xmlns:a16="http://schemas.microsoft.com/office/drawing/2014/main" id="{DEAD1568-6A29-4939-8276-BAEFE5B3C2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4900" y="5968997"/>
              <a:ext cx="5334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연결선: 꺾임 57">
              <a:extLst>
                <a:ext uri="{FF2B5EF4-FFF2-40B4-BE49-F238E27FC236}">
                  <a16:creationId xmlns:a16="http://schemas.microsoft.com/office/drawing/2014/main" id="{F28265ED-FDD4-487C-B8CD-342E3A4D7C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8300" y="5460040"/>
              <a:ext cx="0" cy="50895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2D979866-911B-4339-8235-98A5C4AC14E9}"/>
              </a:ext>
            </a:extLst>
          </p:cNvPr>
          <p:cNvGrpSpPr/>
          <p:nvPr/>
        </p:nvGrpSpPr>
        <p:grpSpPr>
          <a:xfrm>
            <a:off x="1513826" y="1407248"/>
            <a:ext cx="1196011" cy="2980601"/>
            <a:chOff x="261597" y="1502499"/>
            <a:chExt cx="1196011" cy="2980601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56C4A651-EBBF-48F7-A965-1B20644FAB57}"/>
                </a:ext>
              </a:extLst>
            </p:cNvPr>
            <p:cNvSpPr/>
            <p:nvPr/>
          </p:nvSpPr>
          <p:spPr>
            <a:xfrm>
              <a:off x="261597" y="1502499"/>
              <a:ext cx="1196011" cy="298060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C155E511-ED84-4B37-BD45-4DADE26B8388}"/>
                </a:ext>
              </a:extLst>
            </p:cNvPr>
            <p:cNvSpPr/>
            <p:nvPr/>
          </p:nvSpPr>
          <p:spPr>
            <a:xfrm>
              <a:off x="312397" y="1575428"/>
              <a:ext cx="1090953" cy="41796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(-Y) 3S-2P</a:t>
              </a:r>
              <a:endParaRPr lang="ko-KR" altLang="en-US" sz="1400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DEF5571D-931E-455E-874E-28B2DDDDDC69}"/>
                </a:ext>
              </a:extLst>
            </p:cNvPr>
            <p:cNvSpPr/>
            <p:nvPr/>
          </p:nvSpPr>
          <p:spPr>
            <a:xfrm>
              <a:off x="312396" y="2056897"/>
              <a:ext cx="1090953" cy="41796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Deployable</a:t>
              </a:r>
              <a:endParaRPr lang="ko-KR" altLang="en-US" sz="1400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D4941736-CE3A-4205-8712-A1BAF5C4B83C}"/>
                </a:ext>
              </a:extLst>
            </p:cNvPr>
            <p:cNvSpPr/>
            <p:nvPr/>
          </p:nvSpPr>
          <p:spPr>
            <a:xfrm>
              <a:off x="312396" y="2538366"/>
              <a:ext cx="1090953" cy="41796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6936E65F-61FB-4B9A-9337-58933193BED2}"/>
                </a:ext>
              </a:extLst>
            </p:cNvPr>
            <p:cNvSpPr/>
            <p:nvPr/>
          </p:nvSpPr>
          <p:spPr>
            <a:xfrm>
              <a:off x="312396" y="3019835"/>
              <a:ext cx="1090953" cy="41796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4969F60C-A7EC-4A43-8400-B71B052E982D}"/>
                </a:ext>
              </a:extLst>
            </p:cNvPr>
            <p:cNvSpPr/>
            <p:nvPr/>
          </p:nvSpPr>
          <p:spPr>
            <a:xfrm>
              <a:off x="312395" y="3501304"/>
              <a:ext cx="1090953" cy="41796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CACC70F1-10C5-448F-8B2E-A7B2EF8D7565}"/>
                </a:ext>
              </a:extLst>
            </p:cNvPr>
            <p:cNvSpPr/>
            <p:nvPr/>
          </p:nvSpPr>
          <p:spPr>
            <a:xfrm>
              <a:off x="312394" y="3980381"/>
              <a:ext cx="1090953" cy="41796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079E7B6E-DCCC-42FB-A845-3E51850A57F0}"/>
              </a:ext>
            </a:extLst>
          </p:cNvPr>
          <p:cNvGrpSpPr/>
          <p:nvPr/>
        </p:nvGrpSpPr>
        <p:grpSpPr>
          <a:xfrm>
            <a:off x="261597" y="1415925"/>
            <a:ext cx="1196011" cy="2980601"/>
            <a:chOff x="261597" y="1502499"/>
            <a:chExt cx="1196011" cy="2980601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DE28F2FE-9307-4F7F-B5AB-B852CD08ED12}"/>
                </a:ext>
              </a:extLst>
            </p:cNvPr>
            <p:cNvSpPr/>
            <p:nvPr/>
          </p:nvSpPr>
          <p:spPr>
            <a:xfrm>
              <a:off x="261597" y="1502499"/>
              <a:ext cx="1196011" cy="298060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2F5418B9-F683-4057-8615-EDDC0CAD556B}"/>
                </a:ext>
              </a:extLst>
            </p:cNvPr>
            <p:cNvSpPr/>
            <p:nvPr/>
          </p:nvSpPr>
          <p:spPr>
            <a:xfrm>
              <a:off x="312397" y="1575428"/>
              <a:ext cx="1090953" cy="41796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(+Y) 3S-2P</a:t>
              </a:r>
              <a:endParaRPr lang="ko-KR" altLang="en-US" sz="1400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DE2DB045-7E3A-4683-90DC-65BF9D4F472F}"/>
                </a:ext>
              </a:extLst>
            </p:cNvPr>
            <p:cNvSpPr/>
            <p:nvPr/>
          </p:nvSpPr>
          <p:spPr>
            <a:xfrm>
              <a:off x="312396" y="2056897"/>
              <a:ext cx="1090953" cy="41796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Deployable</a:t>
              </a:r>
              <a:endParaRPr lang="ko-KR" altLang="en-US" sz="1400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F86B229-D835-4A9F-A4D7-F3367126ED9B}"/>
                </a:ext>
              </a:extLst>
            </p:cNvPr>
            <p:cNvSpPr/>
            <p:nvPr/>
          </p:nvSpPr>
          <p:spPr>
            <a:xfrm>
              <a:off x="312396" y="2538366"/>
              <a:ext cx="1090953" cy="41796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6EB4124B-B0F9-4386-91CF-4CC4377B8DF5}"/>
                </a:ext>
              </a:extLst>
            </p:cNvPr>
            <p:cNvSpPr/>
            <p:nvPr/>
          </p:nvSpPr>
          <p:spPr>
            <a:xfrm>
              <a:off x="312396" y="3019835"/>
              <a:ext cx="1090953" cy="41796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BBB73E9D-A9BD-4C62-99CF-1166036D4F49}"/>
                </a:ext>
              </a:extLst>
            </p:cNvPr>
            <p:cNvSpPr/>
            <p:nvPr/>
          </p:nvSpPr>
          <p:spPr>
            <a:xfrm>
              <a:off x="312395" y="3501304"/>
              <a:ext cx="1090953" cy="41796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AAF246E0-CBD5-47B3-AE76-350B2D122893}"/>
                </a:ext>
              </a:extLst>
            </p:cNvPr>
            <p:cNvSpPr/>
            <p:nvPr/>
          </p:nvSpPr>
          <p:spPr>
            <a:xfrm>
              <a:off x="312394" y="3980381"/>
              <a:ext cx="1090953" cy="41796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4200FEE2-78DF-4624-951D-4D4B48ABEB1A}"/>
              </a:ext>
            </a:extLst>
          </p:cNvPr>
          <p:cNvGrpSpPr/>
          <p:nvPr/>
        </p:nvGrpSpPr>
        <p:grpSpPr>
          <a:xfrm rot="5400000">
            <a:off x="5554432" y="2893147"/>
            <a:ext cx="3327972" cy="2980601"/>
            <a:chOff x="2910903" y="2810237"/>
            <a:chExt cx="3327972" cy="2980601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89A99869-A66D-4D73-8A35-EBAF45945DEA}"/>
                </a:ext>
              </a:extLst>
            </p:cNvPr>
            <p:cNvSpPr/>
            <p:nvPr/>
          </p:nvSpPr>
          <p:spPr>
            <a:xfrm>
              <a:off x="2910903" y="2810237"/>
              <a:ext cx="3327972" cy="298060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Mother Board</a:t>
              </a:r>
              <a:endPara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4E459517-57D7-4936-8FF5-DB2F3A0ABAE2}"/>
                </a:ext>
              </a:extLst>
            </p:cNvPr>
            <p:cNvSpPr/>
            <p:nvPr/>
          </p:nvSpPr>
          <p:spPr>
            <a:xfrm>
              <a:off x="3015965" y="3117906"/>
              <a:ext cx="2651411" cy="259443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Daughter Board</a:t>
              </a:r>
              <a:endPara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248B5160-E0F6-4908-9C0D-0977E83D20C8}"/>
                </a:ext>
              </a:extLst>
            </p:cNvPr>
            <p:cNvSpPr/>
            <p:nvPr/>
          </p:nvSpPr>
          <p:spPr>
            <a:xfrm rot="16200000">
              <a:off x="4541176" y="5067679"/>
              <a:ext cx="944612" cy="2581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MPPT 3</a:t>
              </a:r>
              <a:endPara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FC6D985C-20C0-4968-9754-47211183A62F}"/>
                </a:ext>
              </a:extLst>
            </p:cNvPr>
            <p:cNvSpPr/>
            <p:nvPr/>
          </p:nvSpPr>
          <p:spPr>
            <a:xfrm rot="16200000">
              <a:off x="4927967" y="5063393"/>
              <a:ext cx="944612" cy="2581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MPPT 4</a:t>
              </a:r>
              <a:endPara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A9D774EE-D0D7-4907-AE9A-9B31F6776EBE}"/>
                </a:ext>
              </a:extLst>
            </p:cNvPr>
            <p:cNvSpPr/>
            <p:nvPr/>
          </p:nvSpPr>
          <p:spPr>
            <a:xfrm rot="16200000">
              <a:off x="5456746" y="5008432"/>
              <a:ext cx="992178" cy="41563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CSKB</a:t>
              </a:r>
              <a:endParaRPr lang="ko-KR" altLang="en-US" sz="1400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EEBCB06F-9159-46D6-885E-0482D9207183}"/>
                </a:ext>
              </a:extLst>
            </p:cNvPr>
            <p:cNvSpPr/>
            <p:nvPr/>
          </p:nvSpPr>
          <p:spPr>
            <a:xfrm>
              <a:off x="3063303" y="3799512"/>
              <a:ext cx="944612" cy="2581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MPPT 0</a:t>
              </a:r>
              <a:endPara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F683A5E3-0C23-4518-9B49-26F07C8BDF12}"/>
                </a:ext>
              </a:extLst>
            </p:cNvPr>
            <p:cNvSpPr/>
            <p:nvPr/>
          </p:nvSpPr>
          <p:spPr>
            <a:xfrm>
              <a:off x="3063303" y="4167626"/>
              <a:ext cx="944612" cy="2581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MPPT 1</a:t>
              </a:r>
              <a:endPara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AEB6568D-2E80-4F65-A928-DD02ED8650D7}"/>
                </a:ext>
              </a:extLst>
            </p:cNvPr>
            <p:cNvSpPr/>
            <p:nvPr/>
          </p:nvSpPr>
          <p:spPr>
            <a:xfrm>
              <a:off x="3063303" y="4535740"/>
              <a:ext cx="944612" cy="2581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MPPT 2</a:t>
              </a:r>
              <a:endPara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05" name="표 88">
            <a:extLst>
              <a:ext uri="{FF2B5EF4-FFF2-40B4-BE49-F238E27FC236}">
                <a16:creationId xmlns:a16="http://schemas.microsoft.com/office/drawing/2014/main" id="{0473E1BB-0F58-40DA-B2D8-76F71D01C4A5}"/>
              </a:ext>
            </a:extLst>
          </p:cNvPr>
          <p:cNvGraphicFramePr>
            <a:graphicFrameLocks noGrp="1"/>
          </p:cNvGraphicFramePr>
          <p:nvPr/>
        </p:nvGraphicFramePr>
        <p:xfrm>
          <a:off x="254724" y="5223767"/>
          <a:ext cx="120288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1">
                  <a:extLst>
                    <a:ext uri="{9D8B030D-6E8A-4147-A177-3AD203B41FA5}">
                      <a16:colId xmlns:a16="http://schemas.microsoft.com/office/drawing/2014/main" val="3880181302"/>
                    </a:ext>
                  </a:extLst>
                </a:gridCol>
                <a:gridCol w="869132">
                  <a:extLst>
                    <a:ext uri="{9D8B030D-6E8A-4147-A177-3AD203B41FA5}">
                      <a16:colId xmlns:a16="http://schemas.microsoft.com/office/drawing/2014/main" val="3293656403"/>
                    </a:ext>
                  </a:extLst>
                </a:gridCol>
              </a:tblGrid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Description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324176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Positive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2628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Negative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01637"/>
                  </a:ext>
                </a:extLst>
              </a:tr>
            </a:tbl>
          </a:graphicData>
        </a:graphic>
      </p:graphicFrame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71B99E15-74AB-4A16-984F-737BD70EBAD2}"/>
              </a:ext>
            </a:extLst>
          </p:cNvPr>
          <p:cNvSpPr/>
          <p:nvPr/>
        </p:nvSpPr>
        <p:spPr>
          <a:xfrm>
            <a:off x="252607" y="4879854"/>
            <a:ext cx="1202883" cy="296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Molex </a:t>
            </a:r>
            <a:r>
              <a:rPr lang="en-US" altLang="ko-KR" sz="1000" b="1" dirty="0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Picolock</a:t>
            </a:r>
            <a:endParaRPr lang="en-US" altLang="ko-KR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504050-0291</a:t>
            </a:r>
            <a:endParaRPr lang="ko-KR" altLang="en-US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B20516FE-1C78-42C7-825F-D261B534C2ED}"/>
              </a:ext>
            </a:extLst>
          </p:cNvPr>
          <p:cNvSpPr/>
          <p:nvPr/>
        </p:nvSpPr>
        <p:spPr>
          <a:xfrm>
            <a:off x="1581083" y="5610380"/>
            <a:ext cx="1202883" cy="296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Molex </a:t>
            </a:r>
            <a:r>
              <a:rPr lang="en-US" altLang="ko-KR" sz="1000" b="1" dirty="0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Picolock</a:t>
            </a:r>
            <a:endParaRPr lang="en-US" altLang="ko-KR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504050-0291</a:t>
            </a:r>
            <a:endParaRPr lang="ko-KR" altLang="en-US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D2BB3C82-B215-40A8-B842-6A727E072315}"/>
              </a:ext>
            </a:extLst>
          </p:cNvPr>
          <p:cNvSpPr/>
          <p:nvPr/>
        </p:nvSpPr>
        <p:spPr>
          <a:xfrm>
            <a:off x="252607" y="6466356"/>
            <a:ext cx="2529612" cy="1427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Solar Panel Side Connector</a:t>
            </a:r>
            <a:endParaRPr lang="ko-KR" altLang="en-US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232AF31-9DAB-483F-A22B-D2B6096D76AA}"/>
              </a:ext>
            </a:extLst>
          </p:cNvPr>
          <p:cNvSpPr/>
          <p:nvPr/>
        </p:nvSpPr>
        <p:spPr>
          <a:xfrm>
            <a:off x="3196861" y="1401135"/>
            <a:ext cx="1196011" cy="29806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(+Y) Body-mounted</a:t>
            </a:r>
          </a:p>
          <a:p>
            <a:pPr algn="ctr"/>
            <a:endParaRPr lang="en-US" altLang="ko-KR" sz="1400" b="1" dirty="0">
              <a:solidFill>
                <a:schemeClr val="bg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E4F812D-9F48-44B6-ABFB-D00F7F11BFFA}"/>
              </a:ext>
            </a:extLst>
          </p:cNvPr>
          <p:cNvSpPr/>
          <p:nvPr/>
        </p:nvSpPr>
        <p:spPr>
          <a:xfrm>
            <a:off x="4464648" y="1401135"/>
            <a:ext cx="1196011" cy="29806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(-Y) Body-mounted</a:t>
            </a:r>
          </a:p>
          <a:p>
            <a:pPr algn="ctr"/>
            <a:endParaRPr lang="en-US" altLang="ko-KR" sz="1400" b="1" dirty="0">
              <a:solidFill>
                <a:schemeClr val="bg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aphicFrame>
        <p:nvGraphicFramePr>
          <p:cNvPr id="59" name="표 88">
            <a:extLst>
              <a:ext uri="{FF2B5EF4-FFF2-40B4-BE49-F238E27FC236}">
                <a16:creationId xmlns:a16="http://schemas.microsoft.com/office/drawing/2014/main" id="{A5A5D686-4272-4F68-B1E1-BE8C9904FB82}"/>
              </a:ext>
            </a:extLst>
          </p:cNvPr>
          <p:cNvGraphicFramePr>
            <a:graphicFrameLocks noGrp="1"/>
          </p:cNvGraphicFramePr>
          <p:nvPr/>
        </p:nvGraphicFramePr>
        <p:xfrm>
          <a:off x="1586248" y="5955351"/>
          <a:ext cx="1195971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833">
                  <a:extLst>
                    <a:ext uri="{9D8B030D-6E8A-4147-A177-3AD203B41FA5}">
                      <a16:colId xmlns:a16="http://schemas.microsoft.com/office/drawing/2014/main" val="3880181302"/>
                    </a:ext>
                  </a:extLst>
                </a:gridCol>
                <a:gridCol w="864138">
                  <a:extLst>
                    <a:ext uri="{9D8B030D-6E8A-4147-A177-3AD203B41FA5}">
                      <a16:colId xmlns:a16="http://schemas.microsoft.com/office/drawing/2014/main" val="3293656403"/>
                    </a:ext>
                  </a:extLst>
                </a:gridCol>
              </a:tblGrid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Description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324176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Positive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2628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Negative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01637"/>
                  </a:ext>
                </a:extLst>
              </a:tr>
            </a:tbl>
          </a:graphicData>
        </a:graphic>
      </p:graphicFrame>
      <p:sp>
        <p:nvSpPr>
          <p:cNvPr id="62" name="직사각형 61">
            <a:extLst>
              <a:ext uri="{FF2B5EF4-FFF2-40B4-BE49-F238E27FC236}">
                <a16:creationId xmlns:a16="http://schemas.microsoft.com/office/drawing/2014/main" id="{D436F0DE-B85D-4078-8729-5EAAF5A05B1D}"/>
              </a:ext>
            </a:extLst>
          </p:cNvPr>
          <p:cNvSpPr/>
          <p:nvPr/>
        </p:nvSpPr>
        <p:spPr>
          <a:xfrm>
            <a:off x="1868388" y="4951115"/>
            <a:ext cx="981941" cy="4908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8.1 V &amp; </a:t>
            </a: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1.0 A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aphicFrame>
        <p:nvGraphicFramePr>
          <p:cNvPr id="50" name="표 88">
            <a:extLst>
              <a:ext uri="{FF2B5EF4-FFF2-40B4-BE49-F238E27FC236}">
                <a16:creationId xmlns:a16="http://schemas.microsoft.com/office/drawing/2014/main" id="{6836C660-D10F-4925-9AAA-2612E1D10E99}"/>
              </a:ext>
            </a:extLst>
          </p:cNvPr>
          <p:cNvGraphicFramePr>
            <a:graphicFrameLocks noGrp="1"/>
          </p:cNvGraphicFramePr>
          <p:nvPr/>
        </p:nvGraphicFramePr>
        <p:xfrm>
          <a:off x="2995505" y="3455062"/>
          <a:ext cx="1202883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1">
                  <a:extLst>
                    <a:ext uri="{9D8B030D-6E8A-4147-A177-3AD203B41FA5}">
                      <a16:colId xmlns:a16="http://schemas.microsoft.com/office/drawing/2014/main" val="3880181302"/>
                    </a:ext>
                  </a:extLst>
                </a:gridCol>
                <a:gridCol w="869132">
                  <a:extLst>
                    <a:ext uri="{9D8B030D-6E8A-4147-A177-3AD203B41FA5}">
                      <a16:colId xmlns:a16="http://schemas.microsoft.com/office/drawing/2014/main" val="3293656403"/>
                    </a:ext>
                  </a:extLst>
                </a:gridCol>
              </a:tblGrid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Description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324176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Positive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2628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Positive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76304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Negative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01400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Negative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01637"/>
                  </a:ext>
                </a:extLst>
              </a:tr>
            </a:tbl>
          </a:graphicData>
        </a:graphic>
      </p:graphicFrame>
      <p:graphicFrame>
        <p:nvGraphicFramePr>
          <p:cNvPr id="57" name="표 88">
            <a:extLst>
              <a:ext uri="{FF2B5EF4-FFF2-40B4-BE49-F238E27FC236}">
                <a16:creationId xmlns:a16="http://schemas.microsoft.com/office/drawing/2014/main" id="{99CE91E4-92E3-45CF-9173-FAC309F290CA}"/>
              </a:ext>
            </a:extLst>
          </p:cNvPr>
          <p:cNvGraphicFramePr>
            <a:graphicFrameLocks noGrp="1"/>
          </p:cNvGraphicFramePr>
          <p:nvPr/>
        </p:nvGraphicFramePr>
        <p:xfrm>
          <a:off x="4406475" y="3808843"/>
          <a:ext cx="1195971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833">
                  <a:extLst>
                    <a:ext uri="{9D8B030D-6E8A-4147-A177-3AD203B41FA5}">
                      <a16:colId xmlns:a16="http://schemas.microsoft.com/office/drawing/2014/main" val="3880181302"/>
                    </a:ext>
                  </a:extLst>
                </a:gridCol>
                <a:gridCol w="864138">
                  <a:extLst>
                    <a:ext uri="{9D8B030D-6E8A-4147-A177-3AD203B41FA5}">
                      <a16:colId xmlns:a16="http://schemas.microsoft.com/office/drawing/2014/main" val="3293656403"/>
                    </a:ext>
                  </a:extLst>
                </a:gridCol>
              </a:tblGrid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Description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324176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Positive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2628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Positive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76304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Negative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01400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Negative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01637"/>
                  </a:ext>
                </a:extLst>
              </a:tr>
            </a:tbl>
          </a:graphicData>
        </a:graphic>
      </p:graphicFrame>
      <p:graphicFrame>
        <p:nvGraphicFramePr>
          <p:cNvPr id="63" name="표 88">
            <a:extLst>
              <a:ext uri="{FF2B5EF4-FFF2-40B4-BE49-F238E27FC236}">
                <a16:creationId xmlns:a16="http://schemas.microsoft.com/office/drawing/2014/main" id="{3C6137DF-81FA-40C7-BD0E-83748652FF84}"/>
              </a:ext>
            </a:extLst>
          </p:cNvPr>
          <p:cNvGraphicFramePr>
            <a:graphicFrameLocks noGrp="1"/>
          </p:cNvGraphicFramePr>
          <p:nvPr/>
        </p:nvGraphicFramePr>
        <p:xfrm>
          <a:off x="2998468" y="2711077"/>
          <a:ext cx="120288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1">
                  <a:extLst>
                    <a:ext uri="{9D8B030D-6E8A-4147-A177-3AD203B41FA5}">
                      <a16:colId xmlns:a16="http://schemas.microsoft.com/office/drawing/2014/main" val="3880181302"/>
                    </a:ext>
                  </a:extLst>
                </a:gridCol>
                <a:gridCol w="869132">
                  <a:extLst>
                    <a:ext uri="{9D8B030D-6E8A-4147-A177-3AD203B41FA5}">
                      <a16:colId xmlns:a16="http://schemas.microsoft.com/office/drawing/2014/main" val="3293656403"/>
                    </a:ext>
                  </a:extLst>
                </a:gridCol>
              </a:tblGrid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Description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324176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Positive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2628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Negative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01637"/>
                  </a:ext>
                </a:extLst>
              </a:tr>
            </a:tbl>
          </a:graphicData>
        </a:graphic>
      </p:graphicFrame>
      <p:graphicFrame>
        <p:nvGraphicFramePr>
          <p:cNvPr id="65" name="표 88">
            <a:extLst>
              <a:ext uri="{FF2B5EF4-FFF2-40B4-BE49-F238E27FC236}">
                <a16:creationId xmlns:a16="http://schemas.microsoft.com/office/drawing/2014/main" id="{4BA46D1C-9E6A-4C1A-BA41-9AE48A423C0E}"/>
              </a:ext>
            </a:extLst>
          </p:cNvPr>
          <p:cNvGraphicFramePr>
            <a:graphicFrameLocks noGrp="1"/>
          </p:cNvGraphicFramePr>
          <p:nvPr/>
        </p:nvGraphicFramePr>
        <p:xfrm>
          <a:off x="4406476" y="3057616"/>
          <a:ext cx="1195971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833">
                  <a:extLst>
                    <a:ext uri="{9D8B030D-6E8A-4147-A177-3AD203B41FA5}">
                      <a16:colId xmlns:a16="http://schemas.microsoft.com/office/drawing/2014/main" val="3880181302"/>
                    </a:ext>
                  </a:extLst>
                </a:gridCol>
                <a:gridCol w="864138">
                  <a:extLst>
                    <a:ext uri="{9D8B030D-6E8A-4147-A177-3AD203B41FA5}">
                      <a16:colId xmlns:a16="http://schemas.microsoft.com/office/drawing/2014/main" val="3293656403"/>
                    </a:ext>
                  </a:extLst>
                </a:gridCol>
              </a:tblGrid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Description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324176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Positive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2628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Negative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01637"/>
                  </a:ext>
                </a:extLst>
              </a:tr>
            </a:tbl>
          </a:graphicData>
        </a:graphic>
      </p:graphicFrame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1F57C2E1-F047-4659-A2FC-FBED4B7F8D28}"/>
              </a:ext>
            </a:extLst>
          </p:cNvPr>
          <p:cNvCxnSpPr>
            <a:cxnSpLocks/>
            <a:stCxn id="63" idx="2"/>
            <a:endCxn id="50" idx="0"/>
          </p:cNvCxnSpPr>
          <p:nvPr/>
        </p:nvCxnSpPr>
        <p:spPr>
          <a:xfrm flipH="1">
            <a:off x="3596946" y="3168277"/>
            <a:ext cx="2963" cy="286785"/>
          </a:xfrm>
          <a:prstGeom prst="straightConnector1">
            <a:avLst/>
          </a:prstGeom>
          <a:ln w="190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1AC4C7D-8DBB-4D35-88E7-77B6C1135A25}"/>
              </a:ext>
            </a:extLst>
          </p:cNvPr>
          <p:cNvSpPr/>
          <p:nvPr/>
        </p:nvSpPr>
        <p:spPr>
          <a:xfrm>
            <a:off x="3002377" y="2096122"/>
            <a:ext cx="1196011" cy="296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FFFF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Front</a:t>
            </a:r>
            <a:endParaRPr lang="ko-KR" altLang="en-US" sz="1200" b="1" dirty="0">
              <a:solidFill>
                <a:srgbClr val="FFFF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FCB5954-E56B-484A-BDBB-A5846D037F49}"/>
              </a:ext>
            </a:extLst>
          </p:cNvPr>
          <p:cNvSpPr/>
          <p:nvPr/>
        </p:nvSpPr>
        <p:spPr>
          <a:xfrm>
            <a:off x="2995505" y="2358724"/>
            <a:ext cx="1202883" cy="296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FF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Molex </a:t>
            </a:r>
            <a:r>
              <a:rPr lang="en-US" altLang="ko-KR" sz="1000" b="1" dirty="0" err="1">
                <a:solidFill>
                  <a:srgbClr val="FFFF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Picolock</a:t>
            </a:r>
            <a:endParaRPr lang="en-US" altLang="ko-KR" sz="1000" b="1" dirty="0">
              <a:solidFill>
                <a:srgbClr val="FFFF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altLang="ko-KR" sz="1000" b="1" dirty="0">
                <a:solidFill>
                  <a:srgbClr val="FFFF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504050-0291</a:t>
            </a:r>
            <a:endParaRPr lang="ko-KR" altLang="en-US" sz="1000" b="1" dirty="0">
              <a:solidFill>
                <a:srgbClr val="FFFF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C9B137DB-A9CD-49D2-969B-D02BEDC781C6}"/>
              </a:ext>
            </a:extLst>
          </p:cNvPr>
          <p:cNvSpPr/>
          <p:nvPr/>
        </p:nvSpPr>
        <p:spPr>
          <a:xfrm>
            <a:off x="4398376" y="2456778"/>
            <a:ext cx="1196011" cy="296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FFFF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Front</a:t>
            </a:r>
            <a:endParaRPr lang="ko-KR" altLang="en-US" sz="1200" b="1" dirty="0">
              <a:solidFill>
                <a:srgbClr val="FFFF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7958D55A-3022-44B8-86AF-B329C8DAB4A7}"/>
              </a:ext>
            </a:extLst>
          </p:cNvPr>
          <p:cNvSpPr/>
          <p:nvPr/>
        </p:nvSpPr>
        <p:spPr>
          <a:xfrm>
            <a:off x="4391504" y="2719380"/>
            <a:ext cx="1202883" cy="296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FF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Molex </a:t>
            </a:r>
            <a:r>
              <a:rPr lang="en-US" altLang="ko-KR" sz="1000" b="1" dirty="0" err="1">
                <a:solidFill>
                  <a:srgbClr val="FFFF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Picolock</a:t>
            </a:r>
            <a:endParaRPr lang="en-US" altLang="ko-KR" sz="1000" b="1" dirty="0">
              <a:solidFill>
                <a:srgbClr val="FFFF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altLang="ko-KR" sz="1000" b="1" dirty="0">
                <a:solidFill>
                  <a:srgbClr val="FFFF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504050-0291</a:t>
            </a:r>
            <a:endParaRPr lang="ko-KR" altLang="en-US" sz="1000" b="1" dirty="0">
              <a:solidFill>
                <a:srgbClr val="FFFF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9143213A-EE4A-49B4-AD1D-CC6F0EA83A9D}"/>
              </a:ext>
            </a:extLst>
          </p:cNvPr>
          <p:cNvSpPr/>
          <p:nvPr/>
        </p:nvSpPr>
        <p:spPr>
          <a:xfrm>
            <a:off x="3278843" y="3226361"/>
            <a:ext cx="384845" cy="172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FF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Via</a:t>
            </a:r>
            <a:endParaRPr lang="ko-KR" altLang="en-US" sz="1000" b="1" dirty="0">
              <a:solidFill>
                <a:srgbClr val="FFFF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21931AB5-0313-49AC-900C-091BEE64B384}"/>
              </a:ext>
            </a:extLst>
          </p:cNvPr>
          <p:cNvSpPr/>
          <p:nvPr/>
        </p:nvSpPr>
        <p:spPr>
          <a:xfrm>
            <a:off x="4675126" y="3598638"/>
            <a:ext cx="384845" cy="172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FF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Via</a:t>
            </a:r>
            <a:endParaRPr lang="ko-KR" altLang="en-US" sz="1000" b="1" dirty="0">
              <a:solidFill>
                <a:srgbClr val="FFFF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DC2663E3-7574-4E95-A746-41B13B8317B2}"/>
              </a:ext>
            </a:extLst>
          </p:cNvPr>
          <p:cNvCxnSpPr>
            <a:cxnSpLocks/>
            <a:stCxn id="50" idx="2"/>
            <a:endCxn id="97" idx="1"/>
          </p:cNvCxnSpPr>
          <p:nvPr/>
        </p:nvCxnSpPr>
        <p:spPr>
          <a:xfrm rot="16200000" flipH="1">
            <a:off x="4229679" y="3584329"/>
            <a:ext cx="991770" cy="2257236"/>
          </a:xfrm>
          <a:prstGeom prst="bentConnector2">
            <a:avLst/>
          </a:prstGeom>
          <a:ln w="190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35521D10-11B4-41A8-BECD-6D7E51CFB862}"/>
              </a:ext>
            </a:extLst>
          </p:cNvPr>
          <p:cNvCxnSpPr>
            <a:cxnSpLocks/>
            <a:stCxn id="105" idx="3"/>
            <a:endCxn id="63" idx="1"/>
          </p:cNvCxnSpPr>
          <p:nvPr/>
        </p:nvCxnSpPr>
        <p:spPr>
          <a:xfrm flipV="1">
            <a:off x="1457607" y="2939677"/>
            <a:ext cx="1540861" cy="2512690"/>
          </a:xfrm>
          <a:prstGeom prst="bentConnector3">
            <a:avLst>
              <a:gd name="adj1" fmla="val 91129"/>
            </a:avLst>
          </a:prstGeom>
          <a:ln w="190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488B06A3-7EDC-426F-A87A-2434FDE070D0}"/>
              </a:ext>
            </a:extLst>
          </p:cNvPr>
          <p:cNvCxnSpPr>
            <a:cxnSpLocks/>
            <a:stCxn id="59" idx="3"/>
            <a:endCxn id="65" idx="1"/>
          </p:cNvCxnSpPr>
          <p:nvPr/>
        </p:nvCxnSpPr>
        <p:spPr>
          <a:xfrm flipV="1">
            <a:off x="2782219" y="3286216"/>
            <a:ext cx="1624257" cy="2897735"/>
          </a:xfrm>
          <a:prstGeom prst="bentConnector3">
            <a:avLst>
              <a:gd name="adj1" fmla="val 91753"/>
            </a:avLst>
          </a:prstGeom>
          <a:ln w="19050">
            <a:solidFill>
              <a:srgbClr val="7030A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연결선: 꺾임 65">
            <a:extLst>
              <a:ext uri="{FF2B5EF4-FFF2-40B4-BE49-F238E27FC236}">
                <a16:creationId xmlns:a16="http://schemas.microsoft.com/office/drawing/2014/main" id="{A8889F90-42D9-4F78-92F7-45365698D23D}"/>
              </a:ext>
            </a:extLst>
          </p:cNvPr>
          <p:cNvCxnSpPr>
            <a:cxnSpLocks/>
            <a:stCxn id="65" idx="2"/>
            <a:endCxn id="57" idx="0"/>
          </p:cNvCxnSpPr>
          <p:nvPr/>
        </p:nvCxnSpPr>
        <p:spPr>
          <a:xfrm flipH="1">
            <a:off x="5004460" y="3514816"/>
            <a:ext cx="1" cy="294027"/>
          </a:xfrm>
          <a:prstGeom prst="straightConnector1">
            <a:avLst/>
          </a:prstGeom>
          <a:ln w="19050">
            <a:solidFill>
              <a:srgbClr val="7030A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A1B8A36B-E5B7-4373-90A3-98FD6874BC7E}"/>
              </a:ext>
            </a:extLst>
          </p:cNvPr>
          <p:cNvSpPr/>
          <p:nvPr/>
        </p:nvSpPr>
        <p:spPr>
          <a:xfrm>
            <a:off x="3327870" y="5714662"/>
            <a:ext cx="981941" cy="440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8.1 V &amp; </a:t>
            </a: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1.0 A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10D4C929-52FF-4650-9481-A5DFBEDFED65}"/>
              </a:ext>
            </a:extLst>
          </p:cNvPr>
          <p:cNvCxnSpPr>
            <a:cxnSpLocks/>
            <a:stCxn id="57" idx="2"/>
            <a:endCxn id="96" idx="1"/>
          </p:cNvCxnSpPr>
          <p:nvPr/>
        </p:nvCxnSpPr>
        <p:spPr>
          <a:xfrm rot="16200000" flipH="1">
            <a:off x="5301579" y="4273724"/>
            <a:ext cx="251198" cy="845436"/>
          </a:xfrm>
          <a:prstGeom prst="bentConnector2">
            <a:avLst/>
          </a:prstGeom>
          <a:ln w="19050">
            <a:solidFill>
              <a:srgbClr val="7030A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1451624-9480-4755-8778-7663A6379C14}"/>
              </a:ext>
            </a:extLst>
          </p:cNvPr>
          <p:cNvSpPr/>
          <p:nvPr/>
        </p:nvSpPr>
        <p:spPr>
          <a:xfrm>
            <a:off x="261596" y="6497604"/>
            <a:ext cx="86396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/>
              <a:t>&lt;Solar array to PCDU (daughter) wire diagram&gt;</a:t>
            </a:r>
            <a:endParaRPr lang="ko-KR" altLang="en-US" sz="1200" b="1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CEF0A9FD-1F21-48C2-BB67-2A5D226DFA26}"/>
              </a:ext>
            </a:extLst>
          </p:cNvPr>
          <p:cNvSpPr/>
          <p:nvPr/>
        </p:nvSpPr>
        <p:spPr>
          <a:xfrm>
            <a:off x="3000541" y="4247664"/>
            <a:ext cx="1202883" cy="296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Molex </a:t>
            </a:r>
            <a:r>
              <a:rPr lang="en-US" altLang="ko-KR" sz="1000" b="1" dirty="0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Picolock</a:t>
            </a:r>
            <a:endParaRPr lang="en-US" altLang="ko-KR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504050-0491</a:t>
            </a:r>
            <a:endParaRPr lang="ko-KR" altLang="en-US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65E85CAC-2D66-43B2-AC80-B3D26D0B5770}"/>
              </a:ext>
            </a:extLst>
          </p:cNvPr>
          <p:cNvSpPr/>
          <p:nvPr/>
        </p:nvSpPr>
        <p:spPr>
          <a:xfrm>
            <a:off x="4408382" y="4615811"/>
            <a:ext cx="1202883" cy="296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Molex </a:t>
            </a:r>
            <a:r>
              <a:rPr lang="en-US" altLang="ko-KR" sz="1000" b="1" dirty="0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Picolock</a:t>
            </a:r>
            <a:endParaRPr lang="en-US" altLang="ko-KR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504050-0491</a:t>
            </a:r>
            <a:endParaRPr lang="ko-KR" altLang="en-US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5975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D80260-4A40-4AF5-9461-23C815784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Wire</a:t>
            </a:r>
            <a:r>
              <a:rPr lang="ko-KR" altLang="en-US" dirty="0"/>
              <a:t> </a:t>
            </a:r>
            <a:r>
              <a:rPr lang="en-US" altLang="ko-KR" dirty="0"/>
              <a:t>Diagram [3/4]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284763-25C8-48BF-9C3F-35D5571FD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54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E70460F-949A-4540-816C-6BB83B11702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154556" y="1060081"/>
            <a:ext cx="6739444" cy="38128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C8E4A10-2C06-4ED1-B2A1-7E03E945C23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1597" y="3082289"/>
            <a:ext cx="3103421" cy="3420461"/>
          </a:xfrm>
          <a:prstGeom prst="rect">
            <a:avLst/>
          </a:prstGeom>
        </p:spPr>
      </p:pic>
      <p:graphicFrame>
        <p:nvGraphicFramePr>
          <p:cNvPr id="9" name="표 88">
            <a:extLst>
              <a:ext uri="{FF2B5EF4-FFF2-40B4-BE49-F238E27FC236}">
                <a16:creationId xmlns:a16="http://schemas.microsoft.com/office/drawing/2014/main" id="{766C6CF8-48EA-477B-96C3-2B197989E335}"/>
              </a:ext>
            </a:extLst>
          </p:cNvPr>
          <p:cNvGraphicFramePr>
            <a:graphicFrameLocks noGrp="1"/>
          </p:cNvGraphicFramePr>
          <p:nvPr/>
        </p:nvGraphicFramePr>
        <p:xfrm>
          <a:off x="4546504" y="2664593"/>
          <a:ext cx="120288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1">
                  <a:extLst>
                    <a:ext uri="{9D8B030D-6E8A-4147-A177-3AD203B41FA5}">
                      <a16:colId xmlns:a16="http://schemas.microsoft.com/office/drawing/2014/main" val="3880181302"/>
                    </a:ext>
                  </a:extLst>
                </a:gridCol>
                <a:gridCol w="869132">
                  <a:extLst>
                    <a:ext uri="{9D8B030D-6E8A-4147-A177-3AD203B41FA5}">
                      <a16:colId xmlns:a16="http://schemas.microsoft.com/office/drawing/2014/main" val="3293656403"/>
                    </a:ext>
                  </a:extLst>
                </a:gridCol>
              </a:tblGrid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Description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324176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Positive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2628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Negative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01637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E271FFEC-A6CF-48E0-87D3-A3EDBE649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2151" y="4598915"/>
            <a:ext cx="2467483" cy="1905831"/>
          </a:xfrm>
          <a:prstGeom prst="rect">
            <a:avLst/>
          </a:prstGeom>
        </p:spPr>
      </p:pic>
      <p:graphicFrame>
        <p:nvGraphicFramePr>
          <p:cNvPr id="11" name="표 88">
            <a:extLst>
              <a:ext uri="{FF2B5EF4-FFF2-40B4-BE49-F238E27FC236}">
                <a16:creationId xmlns:a16="http://schemas.microsoft.com/office/drawing/2014/main" id="{A9FD51B3-0590-435F-9BE8-42B6BE062708}"/>
              </a:ext>
            </a:extLst>
          </p:cNvPr>
          <p:cNvGraphicFramePr>
            <a:graphicFrameLocks noGrp="1"/>
          </p:cNvGraphicFramePr>
          <p:nvPr/>
        </p:nvGraphicFramePr>
        <p:xfrm>
          <a:off x="4832550" y="3325214"/>
          <a:ext cx="120288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1">
                  <a:extLst>
                    <a:ext uri="{9D8B030D-6E8A-4147-A177-3AD203B41FA5}">
                      <a16:colId xmlns:a16="http://schemas.microsoft.com/office/drawing/2014/main" val="3880181302"/>
                    </a:ext>
                  </a:extLst>
                </a:gridCol>
                <a:gridCol w="869132">
                  <a:extLst>
                    <a:ext uri="{9D8B030D-6E8A-4147-A177-3AD203B41FA5}">
                      <a16:colId xmlns:a16="http://schemas.microsoft.com/office/drawing/2014/main" val="3293656403"/>
                    </a:ext>
                  </a:extLst>
                </a:gridCol>
              </a:tblGrid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Description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324176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Positive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2628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Negative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01637"/>
                  </a:ext>
                </a:extLst>
              </a:tr>
            </a:tbl>
          </a:graphicData>
        </a:graphic>
      </p:graphicFrame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7C10A478-5BAE-4A67-A6B0-19433FB1BAF2}"/>
              </a:ext>
            </a:extLst>
          </p:cNvPr>
          <p:cNvCxnSpPr>
            <a:cxnSpLocks/>
            <a:stCxn id="11" idx="1"/>
            <a:endCxn id="9" idx="1"/>
          </p:cNvCxnSpPr>
          <p:nvPr/>
        </p:nvCxnSpPr>
        <p:spPr>
          <a:xfrm rot="10800000">
            <a:off x="4546504" y="2893194"/>
            <a:ext cx="286046" cy="660621"/>
          </a:xfrm>
          <a:prstGeom prst="bentConnector3">
            <a:avLst>
              <a:gd name="adj1" fmla="val 179917"/>
            </a:avLst>
          </a:prstGeom>
          <a:ln w="190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표 88">
            <a:extLst>
              <a:ext uri="{FF2B5EF4-FFF2-40B4-BE49-F238E27FC236}">
                <a16:creationId xmlns:a16="http://schemas.microsoft.com/office/drawing/2014/main" id="{940F41A4-9285-4A64-B095-A2E5BB0CACE9}"/>
              </a:ext>
            </a:extLst>
          </p:cNvPr>
          <p:cNvGraphicFramePr>
            <a:graphicFrameLocks noGrp="1"/>
          </p:cNvGraphicFramePr>
          <p:nvPr/>
        </p:nvGraphicFramePr>
        <p:xfrm>
          <a:off x="6035433" y="4215920"/>
          <a:ext cx="1202883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1">
                  <a:extLst>
                    <a:ext uri="{9D8B030D-6E8A-4147-A177-3AD203B41FA5}">
                      <a16:colId xmlns:a16="http://schemas.microsoft.com/office/drawing/2014/main" val="3880181302"/>
                    </a:ext>
                  </a:extLst>
                </a:gridCol>
                <a:gridCol w="869132">
                  <a:extLst>
                    <a:ext uri="{9D8B030D-6E8A-4147-A177-3AD203B41FA5}">
                      <a16:colId xmlns:a16="http://schemas.microsoft.com/office/drawing/2014/main" val="3293656403"/>
                    </a:ext>
                  </a:extLst>
                </a:gridCol>
              </a:tblGrid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Description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324176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Positive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2628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Positive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76304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Negative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01400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Negative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01637"/>
                  </a:ext>
                </a:extLst>
              </a:tr>
            </a:tbl>
          </a:graphicData>
        </a:graphic>
      </p:graphicFrame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359A8FBD-E35E-41C6-BA1C-D85D80FE1DD7}"/>
              </a:ext>
            </a:extLst>
          </p:cNvPr>
          <p:cNvCxnSpPr>
            <a:cxnSpLocks/>
            <a:stCxn id="21" idx="0"/>
            <a:endCxn id="11" idx="2"/>
          </p:cNvCxnSpPr>
          <p:nvPr/>
        </p:nvCxnSpPr>
        <p:spPr>
          <a:xfrm rot="16200000" flipV="1">
            <a:off x="5818680" y="3397725"/>
            <a:ext cx="433506" cy="1202883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2776D832-56ED-4555-B4B1-97E8884D481F}"/>
              </a:ext>
            </a:extLst>
          </p:cNvPr>
          <p:cNvCxnSpPr>
            <a:cxnSpLocks/>
            <a:stCxn id="21" idx="2"/>
            <a:endCxn id="10" idx="3"/>
          </p:cNvCxnSpPr>
          <p:nvPr/>
        </p:nvCxnSpPr>
        <p:spPr>
          <a:xfrm rot="5400000">
            <a:off x="6046299" y="4961255"/>
            <a:ext cx="573911" cy="607240"/>
          </a:xfrm>
          <a:prstGeom prst="bentConnector2">
            <a:avLst/>
          </a:prstGeom>
          <a:ln w="190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399A550-A16A-49ED-81C5-714EB050F417}"/>
              </a:ext>
            </a:extLst>
          </p:cNvPr>
          <p:cNvSpPr/>
          <p:nvPr/>
        </p:nvSpPr>
        <p:spPr>
          <a:xfrm>
            <a:off x="5792086" y="3801401"/>
            <a:ext cx="384845" cy="1720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Via</a:t>
            </a:r>
            <a:endParaRPr lang="ko-KR" altLang="en-US" sz="1000" b="1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1" name="원호 30">
            <a:extLst>
              <a:ext uri="{FF2B5EF4-FFF2-40B4-BE49-F238E27FC236}">
                <a16:creationId xmlns:a16="http://schemas.microsoft.com/office/drawing/2014/main" id="{C675D129-1040-4E6D-82A4-7188FCFFBDA2}"/>
              </a:ext>
            </a:extLst>
          </p:cNvPr>
          <p:cNvSpPr/>
          <p:nvPr/>
        </p:nvSpPr>
        <p:spPr>
          <a:xfrm>
            <a:off x="250000" y="2190749"/>
            <a:ext cx="2998025" cy="2152651"/>
          </a:xfrm>
          <a:prstGeom prst="arc">
            <a:avLst>
              <a:gd name="adj1" fmla="val 8841530"/>
              <a:gd name="adj2" fmla="val 18787661"/>
            </a:avLst>
          </a:prstGeom>
          <a:ln w="19050">
            <a:solidFill>
              <a:srgbClr val="FF0000"/>
            </a:solidFill>
            <a:headEnd type="oval"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98B8A8-B753-472F-9780-6DB996936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Solar Panel: Deployable [2/2]</a:t>
            </a:r>
          </a:p>
          <a:p>
            <a:pPr lvl="1"/>
            <a:r>
              <a:rPr lang="en-US" altLang="ko-KR" dirty="0"/>
              <a:t>Panel to PCDU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DE88DFC-13FC-4462-A3D6-C0396E0F26C9}"/>
              </a:ext>
            </a:extLst>
          </p:cNvPr>
          <p:cNvSpPr/>
          <p:nvPr/>
        </p:nvSpPr>
        <p:spPr>
          <a:xfrm>
            <a:off x="4088085" y="2310347"/>
            <a:ext cx="1202883" cy="296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Molex </a:t>
            </a:r>
            <a:r>
              <a:rPr lang="en-US" altLang="ko-KR" sz="1000" b="1" dirty="0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Picolock</a:t>
            </a:r>
            <a:endParaRPr lang="en-US" altLang="ko-KR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504050-0291</a:t>
            </a:r>
            <a:endParaRPr lang="ko-KR" altLang="en-US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EC1949E-AD03-4457-8830-99B085627A54}"/>
              </a:ext>
            </a:extLst>
          </p:cNvPr>
          <p:cNvSpPr/>
          <p:nvPr/>
        </p:nvSpPr>
        <p:spPr>
          <a:xfrm>
            <a:off x="3759575" y="3578566"/>
            <a:ext cx="1202883" cy="296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Molex </a:t>
            </a:r>
            <a:r>
              <a:rPr lang="en-US" altLang="ko-KR" sz="1000" b="1" dirty="0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Picolock</a:t>
            </a:r>
            <a:endParaRPr lang="en-US" altLang="ko-KR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504050-0291</a:t>
            </a:r>
            <a:endParaRPr lang="ko-KR" altLang="en-US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01802A0-2B6C-43C7-BF30-60103B1809B6}"/>
              </a:ext>
            </a:extLst>
          </p:cNvPr>
          <p:cNvSpPr/>
          <p:nvPr/>
        </p:nvSpPr>
        <p:spPr>
          <a:xfrm>
            <a:off x="6636874" y="5044126"/>
            <a:ext cx="1202883" cy="296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Molex </a:t>
            </a:r>
            <a:r>
              <a:rPr lang="en-US" altLang="ko-KR" sz="1000" b="1" dirty="0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Picolock</a:t>
            </a:r>
            <a:endParaRPr lang="en-US" altLang="ko-KR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504050-0491</a:t>
            </a:r>
            <a:endParaRPr lang="ko-KR" altLang="en-US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5DAB8E5-2164-4A4E-85A5-B65760B33F53}"/>
              </a:ext>
            </a:extLst>
          </p:cNvPr>
          <p:cNvSpPr/>
          <p:nvPr/>
        </p:nvSpPr>
        <p:spPr>
          <a:xfrm>
            <a:off x="261596" y="6497604"/>
            <a:ext cx="86396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/>
              <a:t>&lt;Solar array to PCDU wire diagram&gt;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1814309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5A0C73-2E66-49D5-86DC-47A1F26EB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Wire</a:t>
            </a:r>
            <a:r>
              <a:rPr lang="ko-KR" altLang="en-US" dirty="0"/>
              <a:t> </a:t>
            </a:r>
            <a:r>
              <a:rPr lang="en-US" altLang="ko-KR" dirty="0"/>
              <a:t>Diagram [4/4]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7DBEAE-BEAB-4977-B8D0-29B1CAFC4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Electrical Interface Board: ADCS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FEF147-9017-4D1A-B6C1-10FFA737E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55</a:t>
            </a:fld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4D259C-5418-47D6-94F4-AD7632CB155D}"/>
              </a:ext>
            </a:extLst>
          </p:cNvPr>
          <p:cNvSpPr/>
          <p:nvPr/>
        </p:nvSpPr>
        <p:spPr>
          <a:xfrm>
            <a:off x="261597" y="1343749"/>
            <a:ext cx="873783" cy="2090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(+X)</a:t>
            </a: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Body-mounted</a:t>
            </a: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Solar</a:t>
            </a: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Panel</a:t>
            </a: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4S-1P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ABDA45AD-EE48-43C7-B424-DEAA36D12C2B}"/>
              </a:ext>
            </a:extLst>
          </p:cNvPr>
          <p:cNvGrpSpPr/>
          <p:nvPr/>
        </p:nvGrpSpPr>
        <p:grpSpPr>
          <a:xfrm>
            <a:off x="5554431" y="2829646"/>
            <a:ext cx="3327972" cy="2980601"/>
            <a:chOff x="2910903" y="2810237"/>
            <a:chExt cx="3327972" cy="2980601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93AB2368-700B-4ABF-96EE-AC260DCB732E}"/>
                </a:ext>
              </a:extLst>
            </p:cNvPr>
            <p:cNvSpPr/>
            <p:nvPr/>
          </p:nvSpPr>
          <p:spPr>
            <a:xfrm>
              <a:off x="2910903" y="2810237"/>
              <a:ext cx="3327972" cy="298060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US" altLang="ko-KR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Electrical Interface Board (ADCS)</a:t>
              </a:r>
            </a:p>
            <a:p>
              <a:pPr algn="r"/>
              <a:r>
                <a:rPr lang="en-US" altLang="ko-KR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Top View</a:t>
              </a:r>
              <a:endPara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A2BB9582-EA78-4B45-BC45-944AC5FA5A4D}"/>
                </a:ext>
              </a:extLst>
            </p:cNvPr>
            <p:cNvSpPr/>
            <p:nvPr/>
          </p:nvSpPr>
          <p:spPr>
            <a:xfrm>
              <a:off x="3063302" y="3799512"/>
              <a:ext cx="1587402" cy="2581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CSS/Temp SPI0</a:t>
              </a:r>
              <a:endPara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777A62E9-13DB-4043-8F75-4D7E912D3163}"/>
                </a:ext>
              </a:extLst>
            </p:cNvPr>
            <p:cNvSpPr/>
            <p:nvPr/>
          </p:nvSpPr>
          <p:spPr>
            <a:xfrm>
              <a:off x="3063302" y="4167626"/>
              <a:ext cx="1587401" cy="2581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CSS/Temp Analog</a:t>
              </a:r>
              <a:endPara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2545A3F4-3BC4-42CC-BBAF-5BF193B3187B}"/>
                </a:ext>
              </a:extLst>
            </p:cNvPr>
            <p:cNvSpPr/>
            <p:nvPr/>
          </p:nvSpPr>
          <p:spPr>
            <a:xfrm>
              <a:off x="3063302" y="4535740"/>
              <a:ext cx="1587401" cy="2581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CSS/Temp 3V3</a:t>
              </a:r>
              <a:endPara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3DE62420-15D8-4578-AD5E-EE2BB48EC8DA}"/>
              </a:ext>
            </a:extLst>
          </p:cNvPr>
          <p:cNvCxnSpPr>
            <a:cxnSpLocks/>
            <a:stCxn id="47" idx="1"/>
            <a:endCxn id="5" idx="2"/>
          </p:cNvCxnSpPr>
          <p:nvPr/>
        </p:nvCxnSpPr>
        <p:spPr>
          <a:xfrm rot="10800000">
            <a:off x="698490" y="3434080"/>
            <a:ext cx="5008341" cy="1250144"/>
          </a:xfrm>
          <a:prstGeom prst="bentConnector2">
            <a:avLst/>
          </a:prstGeom>
          <a:ln w="19050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1C3EB61-BA9F-45C2-BCC2-284E3A48763D}"/>
              </a:ext>
            </a:extLst>
          </p:cNvPr>
          <p:cNvSpPr/>
          <p:nvPr/>
        </p:nvSpPr>
        <p:spPr>
          <a:xfrm>
            <a:off x="1176198" y="1343749"/>
            <a:ext cx="873783" cy="2090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(-X)</a:t>
            </a: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Body-mounted</a:t>
            </a: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Solar</a:t>
            </a: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Panel</a:t>
            </a: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5S-1P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6E6DF23-D1DB-4B07-8703-85B7CFC7FACF}"/>
              </a:ext>
            </a:extLst>
          </p:cNvPr>
          <p:cNvSpPr/>
          <p:nvPr/>
        </p:nvSpPr>
        <p:spPr>
          <a:xfrm>
            <a:off x="2085395" y="1343749"/>
            <a:ext cx="873783" cy="2090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(+Y)</a:t>
            </a: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Body-mounted</a:t>
            </a: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Only</a:t>
            </a: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PCB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068E74A-489F-47BD-866E-CA651870CE8A}"/>
              </a:ext>
            </a:extLst>
          </p:cNvPr>
          <p:cNvSpPr/>
          <p:nvPr/>
        </p:nvSpPr>
        <p:spPr>
          <a:xfrm>
            <a:off x="2994126" y="1343749"/>
            <a:ext cx="873783" cy="2090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(-Y)</a:t>
            </a: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Body-mounted</a:t>
            </a: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Only</a:t>
            </a: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PCB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73F82BD-1941-43CF-87B5-EA0E019D9C80}"/>
              </a:ext>
            </a:extLst>
          </p:cNvPr>
          <p:cNvSpPr/>
          <p:nvPr/>
        </p:nvSpPr>
        <p:spPr>
          <a:xfrm>
            <a:off x="3902857" y="1343750"/>
            <a:ext cx="873783" cy="139980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(+Z)</a:t>
            </a: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Body-mounted</a:t>
            </a: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Solar</a:t>
            </a: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Panel</a:t>
            </a: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2S-1P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68" name="연결선: 꺾임 57">
            <a:extLst>
              <a:ext uri="{FF2B5EF4-FFF2-40B4-BE49-F238E27FC236}">
                <a16:creationId xmlns:a16="http://schemas.microsoft.com/office/drawing/2014/main" id="{5F646C50-5BD7-4CBB-82A9-1A69064CAD19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1613090" y="3434080"/>
            <a:ext cx="0" cy="1241906"/>
          </a:xfrm>
          <a:prstGeom prst="straightConnector1">
            <a:avLst/>
          </a:prstGeom>
          <a:ln w="19050"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꺾임 57">
            <a:extLst>
              <a:ext uri="{FF2B5EF4-FFF2-40B4-BE49-F238E27FC236}">
                <a16:creationId xmlns:a16="http://schemas.microsoft.com/office/drawing/2014/main" id="{B56D8ED5-9CC6-4655-8E39-5A92F91106AD}"/>
              </a:ext>
            </a:extLst>
          </p:cNvPr>
          <p:cNvCxnSpPr>
            <a:cxnSpLocks/>
            <a:endCxn id="57" idx="2"/>
          </p:cNvCxnSpPr>
          <p:nvPr/>
        </p:nvCxnSpPr>
        <p:spPr>
          <a:xfrm flipV="1">
            <a:off x="2522287" y="3434080"/>
            <a:ext cx="0" cy="1241906"/>
          </a:xfrm>
          <a:prstGeom prst="straightConnector1">
            <a:avLst/>
          </a:prstGeom>
          <a:ln w="19050"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꺾임 57">
            <a:extLst>
              <a:ext uri="{FF2B5EF4-FFF2-40B4-BE49-F238E27FC236}">
                <a16:creationId xmlns:a16="http://schemas.microsoft.com/office/drawing/2014/main" id="{7E871E92-09A1-4985-8B71-D5ECEE12715D}"/>
              </a:ext>
            </a:extLst>
          </p:cNvPr>
          <p:cNvCxnSpPr>
            <a:cxnSpLocks/>
            <a:endCxn id="59" idx="2"/>
          </p:cNvCxnSpPr>
          <p:nvPr/>
        </p:nvCxnSpPr>
        <p:spPr>
          <a:xfrm flipH="1" flipV="1">
            <a:off x="3431018" y="3434080"/>
            <a:ext cx="14436" cy="1241906"/>
          </a:xfrm>
          <a:prstGeom prst="straightConnector1">
            <a:avLst/>
          </a:prstGeom>
          <a:ln w="19050"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8F81A05E-56F4-4C23-80C0-303402B35460}"/>
              </a:ext>
            </a:extLst>
          </p:cNvPr>
          <p:cNvCxnSpPr>
            <a:cxnSpLocks/>
            <a:stCxn id="46" idx="1"/>
          </p:cNvCxnSpPr>
          <p:nvPr/>
        </p:nvCxnSpPr>
        <p:spPr>
          <a:xfrm rot="10800000">
            <a:off x="933450" y="3435724"/>
            <a:ext cx="4773380" cy="880386"/>
          </a:xfrm>
          <a:prstGeom prst="bentConnector3">
            <a:avLst>
              <a:gd name="adj1" fmla="val 99886"/>
            </a:avLst>
          </a:prstGeom>
          <a:ln w="19050">
            <a:solidFill>
              <a:srgbClr val="00B05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연결선: 꺾임 57">
            <a:extLst>
              <a:ext uri="{FF2B5EF4-FFF2-40B4-BE49-F238E27FC236}">
                <a16:creationId xmlns:a16="http://schemas.microsoft.com/office/drawing/2014/main" id="{24ECBD29-06D5-4702-8416-3AF70068450D}"/>
              </a:ext>
            </a:extLst>
          </p:cNvPr>
          <p:cNvCxnSpPr>
            <a:cxnSpLocks/>
          </p:cNvCxnSpPr>
          <p:nvPr/>
        </p:nvCxnSpPr>
        <p:spPr>
          <a:xfrm flipV="1">
            <a:off x="1822640" y="3429128"/>
            <a:ext cx="0" cy="886984"/>
          </a:xfrm>
          <a:prstGeom prst="straightConnector1">
            <a:avLst/>
          </a:prstGeom>
          <a:ln w="19050">
            <a:solidFill>
              <a:srgbClr val="00B05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꺾임 57">
            <a:extLst>
              <a:ext uri="{FF2B5EF4-FFF2-40B4-BE49-F238E27FC236}">
                <a16:creationId xmlns:a16="http://schemas.microsoft.com/office/drawing/2014/main" id="{0E0F6596-0028-4239-A55B-47177B4DDB72}"/>
              </a:ext>
            </a:extLst>
          </p:cNvPr>
          <p:cNvCxnSpPr>
            <a:cxnSpLocks/>
          </p:cNvCxnSpPr>
          <p:nvPr/>
        </p:nvCxnSpPr>
        <p:spPr>
          <a:xfrm flipV="1">
            <a:off x="2737040" y="3429128"/>
            <a:ext cx="0" cy="886984"/>
          </a:xfrm>
          <a:prstGeom prst="straightConnector1">
            <a:avLst/>
          </a:prstGeom>
          <a:ln w="19050">
            <a:solidFill>
              <a:srgbClr val="00B05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57">
            <a:extLst>
              <a:ext uri="{FF2B5EF4-FFF2-40B4-BE49-F238E27FC236}">
                <a16:creationId xmlns:a16="http://schemas.microsoft.com/office/drawing/2014/main" id="{8C196BD5-2A94-4BB3-9754-2237EB47BA09}"/>
              </a:ext>
            </a:extLst>
          </p:cNvPr>
          <p:cNvCxnSpPr>
            <a:cxnSpLocks/>
          </p:cNvCxnSpPr>
          <p:nvPr/>
        </p:nvCxnSpPr>
        <p:spPr>
          <a:xfrm flipV="1">
            <a:off x="3651440" y="3435724"/>
            <a:ext cx="0" cy="880387"/>
          </a:xfrm>
          <a:prstGeom prst="straightConnector1">
            <a:avLst/>
          </a:prstGeom>
          <a:ln w="19050">
            <a:solidFill>
              <a:srgbClr val="00B05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65B772C8-34E7-4DE6-B04A-8254F61E4737}"/>
              </a:ext>
            </a:extLst>
          </p:cNvPr>
          <p:cNvCxnSpPr>
            <a:cxnSpLocks/>
            <a:stCxn id="45" idx="1"/>
          </p:cNvCxnSpPr>
          <p:nvPr/>
        </p:nvCxnSpPr>
        <p:spPr>
          <a:xfrm rot="10800000">
            <a:off x="4572000" y="2743556"/>
            <a:ext cx="1134830" cy="1204440"/>
          </a:xfrm>
          <a:prstGeom prst="bentConnector2">
            <a:avLst/>
          </a:prstGeom>
          <a:ln w="19050">
            <a:solidFill>
              <a:srgbClr val="0070C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연결선: 꺾임 57">
            <a:extLst>
              <a:ext uri="{FF2B5EF4-FFF2-40B4-BE49-F238E27FC236}">
                <a16:creationId xmlns:a16="http://schemas.microsoft.com/office/drawing/2014/main" id="{7627475A-9DC4-4596-9051-CFBC48F9E171}"/>
              </a:ext>
            </a:extLst>
          </p:cNvPr>
          <p:cNvCxnSpPr>
            <a:cxnSpLocks/>
            <a:endCxn id="60" idx="2"/>
          </p:cNvCxnSpPr>
          <p:nvPr/>
        </p:nvCxnSpPr>
        <p:spPr>
          <a:xfrm flipV="1">
            <a:off x="4339749" y="2743556"/>
            <a:ext cx="0" cy="1952287"/>
          </a:xfrm>
          <a:prstGeom prst="straightConnector1">
            <a:avLst/>
          </a:prstGeom>
          <a:ln w="19050"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연결선: 꺾임 57">
            <a:extLst>
              <a:ext uri="{FF2B5EF4-FFF2-40B4-BE49-F238E27FC236}">
                <a16:creationId xmlns:a16="http://schemas.microsoft.com/office/drawing/2014/main" id="{2327D144-0F52-4A92-9E2C-D7DBC8BD26F5}"/>
              </a:ext>
            </a:extLst>
          </p:cNvPr>
          <p:cNvCxnSpPr>
            <a:cxnSpLocks/>
          </p:cNvCxnSpPr>
          <p:nvPr/>
        </p:nvCxnSpPr>
        <p:spPr>
          <a:xfrm flipV="1">
            <a:off x="4458475" y="2743557"/>
            <a:ext cx="0" cy="1572554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92214226-5EC8-4B42-87B7-7512E28388F1}"/>
              </a:ext>
            </a:extLst>
          </p:cNvPr>
          <p:cNvSpPr/>
          <p:nvPr/>
        </p:nvSpPr>
        <p:spPr>
          <a:xfrm>
            <a:off x="4413665" y="4019725"/>
            <a:ext cx="836637" cy="220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CSS +Z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C2F7450A-18DD-450B-AE23-B34A5BF95053}"/>
              </a:ext>
            </a:extLst>
          </p:cNvPr>
          <p:cNvSpPr/>
          <p:nvPr/>
        </p:nvSpPr>
        <p:spPr>
          <a:xfrm>
            <a:off x="5706829" y="5423024"/>
            <a:ext cx="1208321" cy="2581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STT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aphicFrame>
        <p:nvGraphicFramePr>
          <p:cNvPr id="112" name="표 88">
            <a:extLst>
              <a:ext uri="{FF2B5EF4-FFF2-40B4-BE49-F238E27FC236}">
                <a16:creationId xmlns:a16="http://schemas.microsoft.com/office/drawing/2014/main" id="{DFE7EDAC-0D35-45ED-9A71-4CEBC08A07F6}"/>
              </a:ext>
            </a:extLst>
          </p:cNvPr>
          <p:cNvGraphicFramePr>
            <a:graphicFrameLocks noGrp="1"/>
          </p:cNvGraphicFramePr>
          <p:nvPr/>
        </p:nvGraphicFramePr>
        <p:xfrm>
          <a:off x="265998" y="4816638"/>
          <a:ext cx="1195971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833">
                  <a:extLst>
                    <a:ext uri="{9D8B030D-6E8A-4147-A177-3AD203B41FA5}">
                      <a16:colId xmlns:a16="http://schemas.microsoft.com/office/drawing/2014/main" val="3880181302"/>
                    </a:ext>
                  </a:extLst>
                </a:gridCol>
                <a:gridCol w="864138">
                  <a:extLst>
                    <a:ext uri="{9D8B030D-6E8A-4147-A177-3AD203B41FA5}">
                      <a16:colId xmlns:a16="http://schemas.microsoft.com/office/drawing/2014/main" val="3293656403"/>
                    </a:ext>
                  </a:extLst>
                </a:gridCol>
              </a:tblGrid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P4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Description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324176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GND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2628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Temp. </a:t>
                      </a:r>
                      <a:r>
                        <a:rPr lang="en-US" altLang="ko-KR" sz="10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Vout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76304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3V3 SW2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01400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Photodiode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01637"/>
                  </a:ext>
                </a:extLst>
              </a:tr>
            </a:tbl>
          </a:graphicData>
        </a:graphic>
      </p:graphicFrame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ACEE4FC6-5485-4582-978A-1226A5A9AAFF}"/>
              </a:ext>
            </a:extLst>
          </p:cNvPr>
          <p:cNvSpPr/>
          <p:nvPr/>
        </p:nvSpPr>
        <p:spPr>
          <a:xfrm>
            <a:off x="5684044" y="4160730"/>
            <a:ext cx="1637316" cy="685908"/>
          </a:xfrm>
          <a:prstGeom prst="rect">
            <a:avLst/>
          </a:prstGeom>
          <a:noFill/>
          <a:ln w="25400">
            <a:solidFill>
              <a:schemeClr val="accent4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114" name="연결선: 꺾임 113">
            <a:extLst>
              <a:ext uri="{FF2B5EF4-FFF2-40B4-BE49-F238E27FC236}">
                <a16:creationId xmlns:a16="http://schemas.microsoft.com/office/drawing/2014/main" id="{FC8632F8-C269-4DAE-BCD3-8C2A051332EF}"/>
              </a:ext>
            </a:extLst>
          </p:cNvPr>
          <p:cNvCxnSpPr>
            <a:cxnSpLocks/>
            <a:stCxn id="113" idx="2"/>
            <a:endCxn id="112" idx="3"/>
          </p:cNvCxnSpPr>
          <p:nvPr/>
        </p:nvCxnSpPr>
        <p:spPr>
          <a:xfrm rot="5400000">
            <a:off x="3806836" y="2501772"/>
            <a:ext cx="351000" cy="5040733"/>
          </a:xfrm>
          <a:prstGeom prst="bentConnector2">
            <a:avLst/>
          </a:prstGeom>
          <a:ln w="19050">
            <a:solidFill>
              <a:schemeClr val="accent4">
                <a:lumMod val="20000"/>
                <a:lumOff val="8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7" name="표 88">
            <a:extLst>
              <a:ext uri="{FF2B5EF4-FFF2-40B4-BE49-F238E27FC236}">
                <a16:creationId xmlns:a16="http://schemas.microsoft.com/office/drawing/2014/main" id="{368AA4F1-3139-4E1E-8D3C-3D4D19C5641B}"/>
              </a:ext>
            </a:extLst>
          </p:cNvPr>
          <p:cNvGraphicFramePr>
            <a:graphicFrameLocks noGrp="1"/>
          </p:cNvGraphicFramePr>
          <p:nvPr/>
        </p:nvGraphicFramePr>
        <p:xfrm>
          <a:off x="4850314" y="1528614"/>
          <a:ext cx="119597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833">
                  <a:extLst>
                    <a:ext uri="{9D8B030D-6E8A-4147-A177-3AD203B41FA5}">
                      <a16:colId xmlns:a16="http://schemas.microsoft.com/office/drawing/2014/main" val="3880181302"/>
                    </a:ext>
                  </a:extLst>
                </a:gridCol>
                <a:gridCol w="864138">
                  <a:extLst>
                    <a:ext uri="{9D8B030D-6E8A-4147-A177-3AD203B41FA5}">
                      <a16:colId xmlns:a16="http://schemas.microsoft.com/office/drawing/2014/main" val="3293656403"/>
                    </a:ext>
                  </a:extLst>
                </a:gridCol>
              </a:tblGrid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P5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Description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324176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-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-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259212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3V3 SW2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127112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SPI CS1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105334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SPI MOSI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806161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SPI SCK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2628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Photodiode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76304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GND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01400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GND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01637"/>
                  </a:ext>
                </a:extLst>
              </a:tr>
            </a:tbl>
          </a:graphicData>
        </a:graphic>
      </p:graphicFrame>
      <p:graphicFrame>
        <p:nvGraphicFramePr>
          <p:cNvPr id="118" name="표 88">
            <a:extLst>
              <a:ext uri="{FF2B5EF4-FFF2-40B4-BE49-F238E27FC236}">
                <a16:creationId xmlns:a16="http://schemas.microsoft.com/office/drawing/2014/main" id="{B2D9AEB7-ABD6-4B6D-90A8-4C03AC27EF3E}"/>
              </a:ext>
            </a:extLst>
          </p:cNvPr>
          <p:cNvGraphicFramePr>
            <a:graphicFrameLocks noGrp="1"/>
          </p:cNvGraphicFramePr>
          <p:nvPr/>
        </p:nvGraphicFramePr>
        <p:xfrm>
          <a:off x="418398" y="4969038"/>
          <a:ext cx="1195971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833">
                  <a:extLst>
                    <a:ext uri="{9D8B030D-6E8A-4147-A177-3AD203B41FA5}">
                      <a16:colId xmlns:a16="http://schemas.microsoft.com/office/drawing/2014/main" val="3880181302"/>
                    </a:ext>
                  </a:extLst>
                </a:gridCol>
                <a:gridCol w="864138">
                  <a:extLst>
                    <a:ext uri="{9D8B030D-6E8A-4147-A177-3AD203B41FA5}">
                      <a16:colId xmlns:a16="http://schemas.microsoft.com/office/drawing/2014/main" val="3293656403"/>
                    </a:ext>
                  </a:extLst>
                </a:gridCol>
              </a:tblGrid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P3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Description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324176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GND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2628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Temp. </a:t>
                      </a:r>
                      <a:r>
                        <a:rPr lang="en-US" altLang="ko-KR" sz="10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Vout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76304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3V3 SW2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01400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Photodiode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01637"/>
                  </a:ext>
                </a:extLst>
              </a:tr>
            </a:tbl>
          </a:graphicData>
        </a:graphic>
      </p:graphicFrame>
      <p:graphicFrame>
        <p:nvGraphicFramePr>
          <p:cNvPr id="119" name="표 88">
            <a:extLst>
              <a:ext uri="{FF2B5EF4-FFF2-40B4-BE49-F238E27FC236}">
                <a16:creationId xmlns:a16="http://schemas.microsoft.com/office/drawing/2014/main" id="{E4561F71-8E56-4A01-B2A3-A0B16CBF6F9B}"/>
              </a:ext>
            </a:extLst>
          </p:cNvPr>
          <p:cNvGraphicFramePr>
            <a:graphicFrameLocks noGrp="1"/>
          </p:cNvGraphicFramePr>
          <p:nvPr/>
        </p:nvGraphicFramePr>
        <p:xfrm>
          <a:off x="570798" y="5121438"/>
          <a:ext cx="1195971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833">
                  <a:extLst>
                    <a:ext uri="{9D8B030D-6E8A-4147-A177-3AD203B41FA5}">
                      <a16:colId xmlns:a16="http://schemas.microsoft.com/office/drawing/2014/main" val="3880181302"/>
                    </a:ext>
                  </a:extLst>
                </a:gridCol>
                <a:gridCol w="864138">
                  <a:extLst>
                    <a:ext uri="{9D8B030D-6E8A-4147-A177-3AD203B41FA5}">
                      <a16:colId xmlns:a16="http://schemas.microsoft.com/office/drawing/2014/main" val="3293656403"/>
                    </a:ext>
                  </a:extLst>
                </a:gridCol>
              </a:tblGrid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Description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324176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GND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2628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Temp. </a:t>
                      </a:r>
                      <a:r>
                        <a:rPr lang="en-US" altLang="ko-KR" sz="10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Vout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76304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3V3 SW2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01400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Photodiode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01637"/>
                  </a:ext>
                </a:extLst>
              </a:tr>
            </a:tbl>
          </a:graphicData>
        </a:graphic>
      </p:graphicFrame>
      <p:graphicFrame>
        <p:nvGraphicFramePr>
          <p:cNvPr id="120" name="표 88">
            <a:extLst>
              <a:ext uri="{FF2B5EF4-FFF2-40B4-BE49-F238E27FC236}">
                <a16:creationId xmlns:a16="http://schemas.microsoft.com/office/drawing/2014/main" id="{D77FAA86-547B-43E6-AAF4-D8F1831FA545}"/>
              </a:ext>
            </a:extLst>
          </p:cNvPr>
          <p:cNvGraphicFramePr>
            <a:graphicFrameLocks noGrp="1"/>
          </p:cNvGraphicFramePr>
          <p:nvPr/>
        </p:nvGraphicFramePr>
        <p:xfrm>
          <a:off x="723198" y="5273838"/>
          <a:ext cx="1195971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833">
                  <a:extLst>
                    <a:ext uri="{9D8B030D-6E8A-4147-A177-3AD203B41FA5}">
                      <a16:colId xmlns:a16="http://schemas.microsoft.com/office/drawing/2014/main" val="3880181302"/>
                    </a:ext>
                  </a:extLst>
                </a:gridCol>
                <a:gridCol w="864138">
                  <a:extLst>
                    <a:ext uri="{9D8B030D-6E8A-4147-A177-3AD203B41FA5}">
                      <a16:colId xmlns:a16="http://schemas.microsoft.com/office/drawing/2014/main" val="3293656403"/>
                    </a:ext>
                  </a:extLst>
                </a:gridCol>
              </a:tblGrid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Description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324176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GND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2628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Temp. </a:t>
                      </a:r>
                      <a:r>
                        <a:rPr lang="en-US" altLang="ko-KR" sz="10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Vout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76304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3V3 SW2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01400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Photodiode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01637"/>
                  </a:ext>
                </a:extLst>
              </a:tr>
            </a:tbl>
          </a:graphicData>
        </a:graphic>
      </p:graphicFrame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934FEADB-AD32-4CAA-BEB2-E582D840FE63}"/>
              </a:ext>
            </a:extLst>
          </p:cNvPr>
          <p:cNvSpPr/>
          <p:nvPr/>
        </p:nvSpPr>
        <p:spPr>
          <a:xfrm>
            <a:off x="265998" y="6058094"/>
            <a:ext cx="1653172" cy="296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Molex </a:t>
            </a:r>
            <a:r>
              <a:rPr lang="en-US" altLang="ko-KR" sz="1000" b="1" dirty="0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Picolock</a:t>
            </a:r>
            <a:endParaRPr lang="en-US" altLang="ko-KR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504050-0491</a:t>
            </a:r>
            <a:endParaRPr lang="ko-KR" altLang="en-US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B14C8BAB-211B-4CAE-B708-7E99484D6205}"/>
              </a:ext>
            </a:extLst>
          </p:cNvPr>
          <p:cNvSpPr/>
          <p:nvPr/>
        </p:nvSpPr>
        <p:spPr>
          <a:xfrm>
            <a:off x="5684044" y="3792616"/>
            <a:ext cx="1637316" cy="322420"/>
          </a:xfrm>
          <a:prstGeom prst="rect">
            <a:avLst/>
          </a:prstGeom>
          <a:noFill/>
          <a:ln w="254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124" name="연결선: 꺾임 123">
            <a:extLst>
              <a:ext uri="{FF2B5EF4-FFF2-40B4-BE49-F238E27FC236}">
                <a16:creationId xmlns:a16="http://schemas.microsoft.com/office/drawing/2014/main" id="{72B6D697-7B39-48B5-A41B-AD88B41E1C67}"/>
              </a:ext>
            </a:extLst>
          </p:cNvPr>
          <p:cNvCxnSpPr>
            <a:cxnSpLocks/>
            <a:stCxn id="122" idx="0"/>
            <a:endCxn id="117" idx="2"/>
          </p:cNvCxnSpPr>
          <p:nvPr/>
        </p:nvCxnSpPr>
        <p:spPr>
          <a:xfrm rot="16200000" flipV="1">
            <a:off x="5529300" y="2819213"/>
            <a:ext cx="892402" cy="1054403"/>
          </a:xfrm>
          <a:prstGeom prst="bentConnector3">
            <a:avLst>
              <a:gd name="adj1" fmla="val 31215"/>
            </a:avLst>
          </a:prstGeom>
          <a:ln w="19050">
            <a:solidFill>
              <a:schemeClr val="accent1">
                <a:lumMod val="20000"/>
                <a:lumOff val="8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C6A7AE80-3F71-4B83-A8EF-F8AFDBB90988}"/>
              </a:ext>
            </a:extLst>
          </p:cNvPr>
          <p:cNvSpPr/>
          <p:nvPr/>
        </p:nvSpPr>
        <p:spPr>
          <a:xfrm>
            <a:off x="4621713" y="1201668"/>
            <a:ext cx="1653172" cy="296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Molex </a:t>
            </a:r>
            <a:r>
              <a:rPr lang="en-US" altLang="ko-KR" sz="1000" b="1" dirty="0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Picolock</a:t>
            </a:r>
            <a:endParaRPr lang="en-US" altLang="ko-KR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504050-0891</a:t>
            </a:r>
            <a:endParaRPr lang="ko-KR" altLang="en-US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E01D69A2-F257-4EA3-A1F0-D3E3D5EB14B9}"/>
              </a:ext>
            </a:extLst>
          </p:cNvPr>
          <p:cNvSpPr/>
          <p:nvPr/>
        </p:nvSpPr>
        <p:spPr>
          <a:xfrm>
            <a:off x="6993741" y="1201135"/>
            <a:ext cx="1888662" cy="144310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On-board Computer</a:t>
            </a:r>
          </a:p>
          <a:p>
            <a:pPr algn="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Bottom View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BCDF74F1-A76C-4838-AD7D-7D88B992D106}"/>
              </a:ext>
            </a:extLst>
          </p:cNvPr>
          <p:cNvSpPr/>
          <p:nvPr/>
        </p:nvSpPr>
        <p:spPr>
          <a:xfrm>
            <a:off x="7201509" y="5118224"/>
            <a:ext cx="1208321" cy="2581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RWL3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5D1D409E-E071-4E00-9DC4-42B224233119}"/>
              </a:ext>
            </a:extLst>
          </p:cNvPr>
          <p:cNvSpPr/>
          <p:nvPr/>
        </p:nvSpPr>
        <p:spPr>
          <a:xfrm>
            <a:off x="7353909" y="5270624"/>
            <a:ext cx="1208321" cy="2581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RWL2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C7C209D6-74B8-422C-AFD0-697FCB8BB064}"/>
              </a:ext>
            </a:extLst>
          </p:cNvPr>
          <p:cNvSpPr/>
          <p:nvPr/>
        </p:nvSpPr>
        <p:spPr>
          <a:xfrm>
            <a:off x="7506309" y="5423024"/>
            <a:ext cx="1208321" cy="2581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RWL1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DC259613-267C-4CB5-8989-8EBC9C0326FC}"/>
              </a:ext>
            </a:extLst>
          </p:cNvPr>
          <p:cNvSpPr/>
          <p:nvPr/>
        </p:nvSpPr>
        <p:spPr>
          <a:xfrm>
            <a:off x="7419059" y="3394597"/>
            <a:ext cx="1208321" cy="2581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CSS/Temp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FC5FE60A-EB77-48F2-8202-3F74A39C8E5B}"/>
              </a:ext>
            </a:extLst>
          </p:cNvPr>
          <p:cNvSpPr/>
          <p:nvPr/>
        </p:nvSpPr>
        <p:spPr>
          <a:xfrm>
            <a:off x="7419059" y="3712376"/>
            <a:ext cx="1208321" cy="2581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RWA/STT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7652419B-F2F4-4DE8-A943-A31F60031276}"/>
              </a:ext>
            </a:extLst>
          </p:cNvPr>
          <p:cNvSpPr/>
          <p:nvPr/>
        </p:nvSpPr>
        <p:spPr>
          <a:xfrm>
            <a:off x="7380179" y="3350260"/>
            <a:ext cx="1276830" cy="669137"/>
          </a:xfrm>
          <a:prstGeom prst="rect">
            <a:avLst/>
          </a:prstGeom>
          <a:noFill/>
          <a:ln w="254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141" name="연결선: 꺾임 140">
            <a:extLst>
              <a:ext uri="{FF2B5EF4-FFF2-40B4-BE49-F238E27FC236}">
                <a16:creationId xmlns:a16="http://schemas.microsoft.com/office/drawing/2014/main" id="{0AF9AAC5-5D5C-43C2-90DD-D9BB273795D7}"/>
              </a:ext>
            </a:extLst>
          </p:cNvPr>
          <p:cNvCxnSpPr>
            <a:cxnSpLocks/>
            <a:stCxn id="140" idx="0"/>
          </p:cNvCxnSpPr>
          <p:nvPr/>
        </p:nvCxnSpPr>
        <p:spPr>
          <a:xfrm flipV="1">
            <a:off x="8018594" y="2540540"/>
            <a:ext cx="2194" cy="809720"/>
          </a:xfrm>
          <a:prstGeom prst="straightConnector1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419F27A0-9F38-45EB-8AA6-92C6BE8F1B36}"/>
              </a:ext>
            </a:extLst>
          </p:cNvPr>
          <p:cNvSpPr/>
          <p:nvPr/>
        </p:nvSpPr>
        <p:spPr>
          <a:xfrm>
            <a:off x="7419059" y="1915740"/>
            <a:ext cx="1208321" cy="2581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CSS/Temp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0748E9A2-A0B0-4F8F-8D6A-1E4DD92EA480}"/>
              </a:ext>
            </a:extLst>
          </p:cNvPr>
          <p:cNvSpPr/>
          <p:nvPr/>
        </p:nvSpPr>
        <p:spPr>
          <a:xfrm>
            <a:off x="7419059" y="2233519"/>
            <a:ext cx="1208321" cy="2581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RWA/STT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F5D26843-AA9A-4317-9BC3-441D3F3F7729}"/>
              </a:ext>
            </a:extLst>
          </p:cNvPr>
          <p:cNvSpPr/>
          <p:nvPr/>
        </p:nvSpPr>
        <p:spPr>
          <a:xfrm>
            <a:off x="7380179" y="1871403"/>
            <a:ext cx="1276830" cy="669137"/>
          </a:xfrm>
          <a:prstGeom prst="rect">
            <a:avLst/>
          </a:prstGeom>
          <a:noFill/>
          <a:ln w="254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0E46261E-73D2-4504-9269-66C324FAE65F}"/>
              </a:ext>
            </a:extLst>
          </p:cNvPr>
          <p:cNvSpPr/>
          <p:nvPr/>
        </p:nvSpPr>
        <p:spPr>
          <a:xfrm>
            <a:off x="5597151" y="4862617"/>
            <a:ext cx="836637" cy="220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P1 ~ P4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1CA83948-403B-4251-8408-D4256C6E076E}"/>
              </a:ext>
            </a:extLst>
          </p:cNvPr>
          <p:cNvSpPr/>
          <p:nvPr/>
        </p:nvSpPr>
        <p:spPr>
          <a:xfrm>
            <a:off x="5676726" y="3528605"/>
            <a:ext cx="836637" cy="220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P5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DCD6043B-77CE-4DB3-8F49-98D67D6C7B1D}"/>
              </a:ext>
            </a:extLst>
          </p:cNvPr>
          <p:cNvSpPr/>
          <p:nvPr/>
        </p:nvSpPr>
        <p:spPr>
          <a:xfrm>
            <a:off x="8006705" y="4845909"/>
            <a:ext cx="836637" cy="220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P6 ~ P8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642C3C45-95E1-465C-B4C6-1F4E295A26EE}"/>
              </a:ext>
            </a:extLst>
          </p:cNvPr>
          <p:cNvSpPr/>
          <p:nvPr/>
        </p:nvSpPr>
        <p:spPr>
          <a:xfrm>
            <a:off x="6531377" y="5156568"/>
            <a:ext cx="436429" cy="220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P9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0BC16AAB-B657-4194-8306-0ADF50213390}"/>
              </a:ext>
            </a:extLst>
          </p:cNvPr>
          <p:cNvSpPr/>
          <p:nvPr/>
        </p:nvSpPr>
        <p:spPr>
          <a:xfrm>
            <a:off x="7523616" y="4060630"/>
            <a:ext cx="1049244" cy="220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P10 ~ P11</a:t>
            </a:r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aphicFrame>
        <p:nvGraphicFramePr>
          <p:cNvPr id="156" name="표 88">
            <a:extLst>
              <a:ext uri="{FF2B5EF4-FFF2-40B4-BE49-F238E27FC236}">
                <a16:creationId xmlns:a16="http://schemas.microsoft.com/office/drawing/2014/main" id="{C9854320-113D-426A-8D5F-F5D12BD1AF63}"/>
              </a:ext>
            </a:extLst>
          </p:cNvPr>
          <p:cNvGraphicFramePr>
            <a:graphicFrameLocks noGrp="1"/>
          </p:cNvGraphicFramePr>
          <p:nvPr/>
        </p:nvGraphicFramePr>
        <p:xfrm>
          <a:off x="2217876" y="5062633"/>
          <a:ext cx="1195971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833">
                  <a:extLst>
                    <a:ext uri="{9D8B030D-6E8A-4147-A177-3AD203B41FA5}">
                      <a16:colId xmlns:a16="http://schemas.microsoft.com/office/drawing/2014/main" val="3880181302"/>
                    </a:ext>
                  </a:extLst>
                </a:gridCol>
                <a:gridCol w="864138">
                  <a:extLst>
                    <a:ext uri="{9D8B030D-6E8A-4147-A177-3AD203B41FA5}">
                      <a16:colId xmlns:a16="http://schemas.microsoft.com/office/drawing/2014/main" val="3293656403"/>
                    </a:ext>
                  </a:extLst>
                </a:gridCol>
              </a:tblGrid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P8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Description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324176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CAN0 LOW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463638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66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CAN0 HIGH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44706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GND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2628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3V3 SW1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76304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3V3 SW2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01400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VBATT0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01637"/>
                  </a:ext>
                </a:extLst>
              </a:tr>
            </a:tbl>
          </a:graphicData>
        </a:graphic>
      </p:graphicFrame>
      <p:graphicFrame>
        <p:nvGraphicFramePr>
          <p:cNvPr id="157" name="표 88">
            <a:extLst>
              <a:ext uri="{FF2B5EF4-FFF2-40B4-BE49-F238E27FC236}">
                <a16:creationId xmlns:a16="http://schemas.microsoft.com/office/drawing/2014/main" id="{BC25F430-6327-4F44-BDFF-535F12004EDC}"/>
              </a:ext>
            </a:extLst>
          </p:cNvPr>
          <p:cNvGraphicFramePr>
            <a:graphicFrameLocks noGrp="1"/>
          </p:cNvGraphicFramePr>
          <p:nvPr/>
        </p:nvGraphicFramePr>
        <p:xfrm>
          <a:off x="2370276" y="5215033"/>
          <a:ext cx="1195971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833">
                  <a:extLst>
                    <a:ext uri="{9D8B030D-6E8A-4147-A177-3AD203B41FA5}">
                      <a16:colId xmlns:a16="http://schemas.microsoft.com/office/drawing/2014/main" val="3880181302"/>
                    </a:ext>
                  </a:extLst>
                </a:gridCol>
                <a:gridCol w="864138">
                  <a:extLst>
                    <a:ext uri="{9D8B030D-6E8A-4147-A177-3AD203B41FA5}">
                      <a16:colId xmlns:a16="http://schemas.microsoft.com/office/drawing/2014/main" val="3293656403"/>
                    </a:ext>
                  </a:extLst>
                </a:gridCol>
              </a:tblGrid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P7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Description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324176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CAN0 LOW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463638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66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CAN0 HIGH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44706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GND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2628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3V3 SW1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76304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3V3 SW2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01400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VBATT0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01637"/>
                  </a:ext>
                </a:extLst>
              </a:tr>
            </a:tbl>
          </a:graphicData>
        </a:graphic>
      </p:graphicFrame>
      <p:graphicFrame>
        <p:nvGraphicFramePr>
          <p:cNvPr id="158" name="표 88">
            <a:extLst>
              <a:ext uri="{FF2B5EF4-FFF2-40B4-BE49-F238E27FC236}">
                <a16:creationId xmlns:a16="http://schemas.microsoft.com/office/drawing/2014/main" id="{E39DBAD1-525B-41A1-92BB-86C9A205A5BE}"/>
              </a:ext>
            </a:extLst>
          </p:cNvPr>
          <p:cNvGraphicFramePr>
            <a:graphicFrameLocks noGrp="1"/>
          </p:cNvGraphicFramePr>
          <p:nvPr/>
        </p:nvGraphicFramePr>
        <p:xfrm>
          <a:off x="2522676" y="5367433"/>
          <a:ext cx="1195971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833">
                  <a:extLst>
                    <a:ext uri="{9D8B030D-6E8A-4147-A177-3AD203B41FA5}">
                      <a16:colId xmlns:a16="http://schemas.microsoft.com/office/drawing/2014/main" val="3880181302"/>
                    </a:ext>
                  </a:extLst>
                </a:gridCol>
                <a:gridCol w="864138">
                  <a:extLst>
                    <a:ext uri="{9D8B030D-6E8A-4147-A177-3AD203B41FA5}">
                      <a16:colId xmlns:a16="http://schemas.microsoft.com/office/drawing/2014/main" val="3293656403"/>
                    </a:ext>
                  </a:extLst>
                </a:gridCol>
              </a:tblGrid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P6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Description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324176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CAN0 LOW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463638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66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CAN0 HIGH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44706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GND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2628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3V3 SW1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76304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3V3 SW2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01400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VBATT0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01637"/>
                  </a:ext>
                </a:extLst>
              </a:tr>
            </a:tbl>
          </a:graphicData>
        </a:graphic>
      </p:graphicFrame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50024BA4-8EF7-48CB-8261-CF68902E8480}"/>
              </a:ext>
            </a:extLst>
          </p:cNvPr>
          <p:cNvSpPr/>
          <p:nvPr/>
        </p:nvSpPr>
        <p:spPr>
          <a:xfrm>
            <a:off x="7172835" y="5072352"/>
            <a:ext cx="1578015" cy="649161"/>
          </a:xfrm>
          <a:prstGeom prst="rect">
            <a:avLst/>
          </a:prstGeom>
          <a:noFill/>
          <a:ln w="25400">
            <a:solidFill>
              <a:schemeClr val="accent4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B6ECAF27-2C8A-4E7C-B1BF-452C297B2ACD}"/>
              </a:ext>
            </a:extLst>
          </p:cNvPr>
          <p:cNvSpPr/>
          <p:nvPr/>
        </p:nvSpPr>
        <p:spPr>
          <a:xfrm>
            <a:off x="5663527" y="5378102"/>
            <a:ext cx="1294486" cy="343411"/>
          </a:xfrm>
          <a:prstGeom prst="rect">
            <a:avLst/>
          </a:prstGeom>
          <a:noFill/>
          <a:ln w="254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163" name="연결선: 꺾임 162">
            <a:extLst>
              <a:ext uri="{FF2B5EF4-FFF2-40B4-BE49-F238E27FC236}">
                <a16:creationId xmlns:a16="http://schemas.microsoft.com/office/drawing/2014/main" id="{771CDA31-4B52-4EFC-97B2-95FA036B3AF6}"/>
              </a:ext>
            </a:extLst>
          </p:cNvPr>
          <p:cNvCxnSpPr>
            <a:cxnSpLocks/>
            <a:stCxn id="159" idx="2"/>
            <a:endCxn id="158" idx="2"/>
          </p:cNvCxnSpPr>
          <p:nvPr/>
        </p:nvCxnSpPr>
        <p:spPr>
          <a:xfrm rot="5400000">
            <a:off x="5184892" y="3657282"/>
            <a:ext cx="712720" cy="4841182"/>
          </a:xfrm>
          <a:prstGeom prst="bentConnector3">
            <a:avLst>
              <a:gd name="adj1" fmla="val 132074"/>
            </a:avLst>
          </a:prstGeom>
          <a:ln w="19050">
            <a:solidFill>
              <a:schemeClr val="accent4">
                <a:lumMod val="20000"/>
                <a:lumOff val="8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6" name="표 88">
            <a:extLst>
              <a:ext uri="{FF2B5EF4-FFF2-40B4-BE49-F238E27FC236}">
                <a16:creationId xmlns:a16="http://schemas.microsoft.com/office/drawing/2014/main" id="{99D57870-5C8C-4323-9F70-A6DEB2785C9F}"/>
              </a:ext>
            </a:extLst>
          </p:cNvPr>
          <p:cNvGraphicFramePr>
            <a:graphicFrameLocks noGrp="1"/>
          </p:cNvGraphicFramePr>
          <p:nvPr/>
        </p:nvGraphicFramePr>
        <p:xfrm>
          <a:off x="3950756" y="5360052"/>
          <a:ext cx="1195971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833">
                  <a:extLst>
                    <a:ext uri="{9D8B030D-6E8A-4147-A177-3AD203B41FA5}">
                      <a16:colId xmlns:a16="http://schemas.microsoft.com/office/drawing/2014/main" val="3880181302"/>
                    </a:ext>
                  </a:extLst>
                </a:gridCol>
                <a:gridCol w="864138">
                  <a:extLst>
                    <a:ext uri="{9D8B030D-6E8A-4147-A177-3AD203B41FA5}">
                      <a16:colId xmlns:a16="http://schemas.microsoft.com/office/drawing/2014/main" val="3293656403"/>
                    </a:ext>
                  </a:extLst>
                </a:gridCol>
              </a:tblGrid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P9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Description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324176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RS485 A (Rx)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105334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/>
                          <a:cs typeface="times" panose="02020603050405020304" pitchFamily="18" charset="0"/>
                        </a:rPr>
                        <a:t>RS485 B (Rx)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806161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/>
                          <a:cs typeface="times" panose="02020603050405020304" pitchFamily="18" charset="0"/>
                        </a:rPr>
                        <a:t>RS485 Z (Tx)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2628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/>
                          <a:cs typeface="times" panose="02020603050405020304" pitchFamily="18" charset="0"/>
                        </a:rPr>
                        <a:t>RS485 Y (Tx)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76304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GND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014000"/>
                  </a:ext>
                </a:extLst>
              </a:tr>
              <a:tr h="139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5V SW3</a:t>
                      </a:r>
                      <a:endParaRPr lang="ko-KR" altLang="en-US" sz="10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360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01637"/>
                  </a:ext>
                </a:extLst>
              </a:tr>
            </a:tbl>
          </a:graphicData>
        </a:graphic>
      </p:graphicFrame>
      <p:cxnSp>
        <p:nvCxnSpPr>
          <p:cNvPr id="167" name="연결선: 꺾임 140">
            <a:extLst>
              <a:ext uri="{FF2B5EF4-FFF2-40B4-BE49-F238E27FC236}">
                <a16:creationId xmlns:a16="http://schemas.microsoft.com/office/drawing/2014/main" id="{E335B166-B9FB-471C-90BA-31DF67A3246E}"/>
              </a:ext>
            </a:extLst>
          </p:cNvPr>
          <p:cNvCxnSpPr>
            <a:cxnSpLocks/>
            <a:stCxn id="161" idx="1"/>
            <a:endCxn id="166" idx="3"/>
          </p:cNvCxnSpPr>
          <p:nvPr/>
        </p:nvCxnSpPr>
        <p:spPr>
          <a:xfrm rot="10800000" flipV="1">
            <a:off x="5146727" y="5549808"/>
            <a:ext cx="516800" cy="34364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>
                <a:lumMod val="20000"/>
                <a:lumOff val="8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470F0609-946A-4C3A-96A3-4720BCBBEBD6}"/>
              </a:ext>
            </a:extLst>
          </p:cNvPr>
          <p:cNvSpPr/>
          <p:nvPr/>
        </p:nvSpPr>
        <p:spPr>
          <a:xfrm>
            <a:off x="2217875" y="4753235"/>
            <a:ext cx="1500771" cy="296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Molex </a:t>
            </a:r>
            <a:r>
              <a:rPr lang="en-US" altLang="ko-KR" sz="1000" b="1" dirty="0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Picolock</a:t>
            </a:r>
            <a:endParaRPr lang="en-US" altLang="ko-KR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504050-0691</a:t>
            </a:r>
            <a:endParaRPr lang="ko-KR" altLang="en-US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947015E9-0160-41AC-B9E9-FFECA10CC66C}"/>
              </a:ext>
            </a:extLst>
          </p:cNvPr>
          <p:cNvSpPr/>
          <p:nvPr/>
        </p:nvSpPr>
        <p:spPr>
          <a:xfrm>
            <a:off x="3958705" y="4753235"/>
            <a:ext cx="1195972" cy="296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Molex </a:t>
            </a:r>
            <a:r>
              <a:rPr lang="en-US" altLang="ko-KR" sz="1000" b="1" dirty="0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Picolock</a:t>
            </a:r>
            <a:endParaRPr lang="en-US" altLang="ko-KR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504050-0691</a:t>
            </a:r>
            <a:endParaRPr lang="ko-KR" altLang="en-US" sz="1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5DF7FF9F-F223-4CE7-A2F8-ECEB122166C0}"/>
              </a:ext>
            </a:extLst>
          </p:cNvPr>
          <p:cNvGrpSpPr/>
          <p:nvPr/>
        </p:nvGrpSpPr>
        <p:grpSpPr>
          <a:xfrm>
            <a:off x="7081526" y="5730479"/>
            <a:ext cx="1963013" cy="991336"/>
            <a:chOff x="4429899" y="5498472"/>
            <a:chExt cx="1963013" cy="991336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65CF51CA-4F27-47DE-B5F9-B64CEB55977C}"/>
                </a:ext>
              </a:extLst>
            </p:cNvPr>
            <p:cNvSpPr/>
            <p:nvPr/>
          </p:nvSpPr>
          <p:spPr>
            <a:xfrm>
              <a:off x="4429899" y="5498472"/>
              <a:ext cx="944612" cy="4826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BRF +X</a:t>
              </a:r>
              <a:endPara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887F5CA4-95E1-4C00-959B-659559781464}"/>
                </a:ext>
              </a:extLst>
            </p:cNvPr>
            <p:cNvSpPr/>
            <p:nvPr/>
          </p:nvSpPr>
          <p:spPr>
            <a:xfrm>
              <a:off x="5448300" y="5962799"/>
              <a:ext cx="944612" cy="4826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BRF +Y</a:t>
              </a:r>
              <a:endParaRPr lang="ko-KR" altLang="en-US" sz="1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cxnSp>
          <p:nvCxnSpPr>
            <p:cNvPr id="77" name="연결선: 꺾임 57">
              <a:extLst>
                <a:ext uri="{FF2B5EF4-FFF2-40B4-BE49-F238E27FC236}">
                  <a16:creationId xmlns:a16="http://schemas.microsoft.com/office/drawing/2014/main" id="{F2D8F04C-47B7-4868-B2DE-35D77C832B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4900" y="5968997"/>
              <a:ext cx="5334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연결선: 꺾임 57">
              <a:extLst>
                <a:ext uri="{FF2B5EF4-FFF2-40B4-BE49-F238E27FC236}">
                  <a16:creationId xmlns:a16="http://schemas.microsoft.com/office/drawing/2014/main" id="{C54B3725-F953-4D65-A932-0F2F972B3968}"/>
                </a:ext>
              </a:extLst>
            </p:cNvPr>
            <p:cNvCxnSpPr>
              <a:cxnSpLocks/>
            </p:cNvCxnSpPr>
            <p:nvPr/>
          </p:nvCxnSpPr>
          <p:spPr>
            <a:xfrm>
              <a:off x="5448300" y="5968997"/>
              <a:ext cx="0" cy="52081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A0F8B161-0CA8-45A6-A7CE-1ADA9306DF3D}"/>
              </a:ext>
            </a:extLst>
          </p:cNvPr>
          <p:cNvSpPr/>
          <p:nvPr/>
        </p:nvSpPr>
        <p:spPr>
          <a:xfrm>
            <a:off x="261596" y="6497604"/>
            <a:ext cx="86396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/>
              <a:t>&lt;Sensors on solar array to OBC wire diagram&gt;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1718566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0162C3-FCDC-4A8B-92C7-37E91525E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Normal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6697D7-A386-4610-ACD7-D93DDE4A5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Generation</a:t>
            </a:r>
          </a:p>
          <a:p>
            <a:pPr lvl="1"/>
            <a:r>
              <a:rPr lang="en-US" altLang="ko-KR" dirty="0"/>
              <a:t>Sun-pointing: </a:t>
            </a:r>
            <a:r>
              <a:rPr lang="en-US" altLang="ko-KR" b="1" dirty="0"/>
              <a:t>11.82 W </a:t>
            </a:r>
            <a:r>
              <a:rPr lang="en-US" altLang="ko-KR" dirty="0"/>
              <a:t>(orbital</a:t>
            </a:r>
            <a:r>
              <a:rPr lang="ko-KR" altLang="en-US" dirty="0"/>
              <a:t> </a:t>
            </a:r>
            <a:r>
              <a:rPr lang="en-US" altLang="ko-KR" dirty="0"/>
              <a:t>average)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77FBB5-D6B9-481E-A9E2-A313AC334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56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BD6B028-B672-4838-97B5-70935AD0A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29" y="1645247"/>
            <a:ext cx="7267342" cy="482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738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0FCB92CD-C78C-4E91-8231-92CC43AFB796}"/>
              </a:ext>
            </a:extLst>
          </p:cNvPr>
          <p:cNvGrpSpPr/>
          <p:nvPr/>
        </p:nvGrpSpPr>
        <p:grpSpPr>
          <a:xfrm>
            <a:off x="1124267" y="1854799"/>
            <a:ext cx="6713892" cy="4745286"/>
            <a:chOff x="891185" y="1845834"/>
            <a:chExt cx="6713892" cy="474528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BEEE81A-01EE-445A-B148-904C9743E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185" y="1845834"/>
              <a:ext cx="6713892" cy="4745286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8356A2DE-E758-4A67-BB1E-A91EE030CF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95384"/>
            <a:stretch/>
          </p:blipFill>
          <p:spPr>
            <a:xfrm>
              <a:off x="1347707" y="6327281"/>
              <a:ext cx="6009317" cy="184347"/>
            </a:xfrm>
            <a:prstGeom prst="rect">
              <a:avLst/>
            </a:prstGeom>
          </p:spPr>
        </p:pic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DC259355-403E-4246-AA91-1DD074AB5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Normal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259140-4349-4F75-84C7-DE207A3DB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Battery Capacity</a:t>
            </a:r>
          </a:p>
          <a:p>
            <a:pPr lvl="1"/>
            <a:r>
              <a:rPr lang="en-US" altLang="ko-KR" dirty="0"/>
              <a:t>Battery SoC [%] – start at 80%</a:t>
            </a:r>
            <a:endParaRPr lang="ko-KR" altLang="en-US" dirty="0"/>
          </a:p>
          <a:p>
            <a:pPr lvl="2"/>
            <a:r>
              <a:rPr lang="en-US" altLang="ko-KR" dirty="0"/>
              <a:t>DOD = 4.78%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7BC225-52EC-47E5-BB8A-FC3E12D9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57</a:t>
            </a:fld>
            <a:r>
              <a:rPr lang="en-US" altLang="ko-KR"/>
              <a:t> </a:t>
            </a:r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FB5D880-6F8A-40E1-9548-924BB8F4B948}"/>
              </a:ext>
            </a:extLst>
          </p:cNvPr>
          <p:cNvCxnSpPr/>
          <p:nvPr/>
        </p:nvCxnSpPr>
        <p:spPr>
          <a:xfrm>
            <a:off x="5531223" y="4087906"/>
            <a:ext cx="69924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10778BB-600F-48D8-B502-9C84C8ED2326}"/>
              </a:ext>
            </a:extLst>
          </p:cNvPr>
          <p:cNvSpPr txBox="1"/>
          <p:nvPr/>
        </p:nvSpPr>
        <p:spPr>
          <a:xfrm>
            <a:off x="6324600" y="3903240"/>
            <a:ext cx="793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85.26</a:t>
            </a:r>
            <a:endParaRPr lang="ko-KR" altLang="en-US" b="1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70DD89F-ED0C-4F72-9563-7ED52511F222}"/>
              </a:ext>
            </a:extLst>
          </p:cNvPr>
          <p:cNvCxnSpPr/>
          <p:nvPr/>
        </p:nvCxnSpPr>
        <p:spPr>
          <a:xfrm>
            <a:off x="3792071" y="2707341"/>
            <a:ext cx="69924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722E1E5-BA25-42A5-BEAB-B579DB4B8004}"/>
              </a:ext>
            </a:extLst>
          </p:cNvPr>
          <p:cNvSpPr txBox="1"/>
          <p:nvPr/>
        </p:nvSpPr>
        <p:spPr>
          <a:xfrm>
            <a:off x="4585448" y="2522675"/>
            <a:ext cx="793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90.04</a:t>
            </a:r>
            <a:endParaRPr lang="ko-KR" altLang="en-US" b="1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3615E67-57F6-43E7-ADC3-97DC41B2E134}"/>
              </a:ext>
            </a:extLst>
          </p:cNvPr>
          <p:cNvGrpSpPr/>
          <p:nvPr/>
        </p:nvGrpSpPr>
        <p:grpSpPr>
          <a:xfrm>
            <a:off x="3236258" y="2736932"/>
            <a:ext cx="242048" cy="1350974"/>
            <a:chOff x="3003176" y="2698376"/>
            <a:chExt cx="242048" cy="1380565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1B225418-6292-4948-8273-5C683E382054}"/>
                </a:ext>
              </a:extLst>
            </p:cNvPr>
            <p:cNvCxnSpPr/>
            <p:nvPr/>
          </p:nvCxnSpPr>
          <p:spPr>
            <a:xfrm>
              <a:off x="3003176" y="2698376"/>
              <a:ext cx="24204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1EA8DA21-9A02-4398-B979-EACEF7FFE59B}"/>
                </a:ext>
              </a:extLst>
            </p:cNvPr>
            <p:cNvCxnSpPr>
              <a:cxnSpLocks/>
            </p:cNvCxnSpPr>
            <p:nvPr/>
          </p:nvCxnSpPr>
          <p:spPr>
            <a:xfrm>
              <a:off x="3119718" y="2698376"/>
              <a:ext cx="4482" cy="138056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8FF2045F-36A3-47A3-9FD3-F150B1E82700}"/>
                </a:ext>
              </a:extLst>
            </p:cNvPr>
            <p:cNvCxnSpPr/>
            <p:nvPr/>
          </p:nvCxnSpPr>
          <p:spPr>
            <a:xfrm>
              <a:off x="3003176" y="4078941"/>
              <a:ext cx="24204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CA09096-A702-43E0-ADC1-BCF29BF97B45}"/>
              </a:ext>
            </a:extLst>
          </p:cNvPr>
          <p:cNvSpPr txBox="1"/>
          <p:nvPr/>
        </p:nvSpPr>
        <p:spPr>
          <a:xfrm>
            <a:off x="3352800" y="3227753"/>
            <a:ext cx="701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4.78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2850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619FB-DF20-4CF5-A0B6-03C5B102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Normal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A7616-C7E8-4867-98E7-0A9A52C1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Battery Capacity</a:t>
            </a:r>
          </a:p>
          <a:p>
            <a:pPr lvl="1"/>
            <a:r>
              <a:rPr lang="en-US" altLang="ko-KR" dirty="0"/>
              <a:t>Battery voltage [V]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208F84-DD79-404F-8DF6-64CBCD8F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58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8FB04F-7F58-4397-9C9F-080666155D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570"/>
          <a:stretch/>
        </p:blipFill>
        <p:spPr>
          <a:xfrm>
            <a:off x="261597" y="1721462"/>
            <a:ext cx="8468372" cy="474209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10E8A6B-70B5-4BE1-8773-694EA9CA1D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5384"/>
          <a:stretch/>
        </p:blipFill>
        <p:spPr>
          <a:xfrm>
            <a:off x="1980182" y="6481007"/>
            <a:ext cx="5202494" cy="1595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B80E02-D06F-46F5-8BFE-8D1AE5C67C70}"/>
              </a:ext>
            </a:extLst>
          </p:cNvPr>
          <p:cNvSpPr txBox="1"/>
          <p:nvPr/>
        </p:nvSpPr>
        <p:spPr>
          <a:xfrm>
            <a:off x="5897884" y="5221492"/>
            <a:ext cx="1515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Min 15.56</a:t>
            </a:r>
            <a:endParaRPr lang="ko-KR" altLang="en-US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CE8347-FF1A-43A9-A34C-D1BB25913E77}"/>
              </a:ext>
            </a:extLst>
          </p:cNvPr>
          <p:cNvSpPr/>
          <p:nvPr/>
        </p:nvSpPr>
        <p:spPr>
          <a:xfrm>
            <a:off x="1361440" y="5265419"/>
            <a:ext cx="157480" cy="6478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233B385-3BCF-4988-8D88-132D82A24D44}"/>
              </a:ext>
            </a:extLst>
          </p:cNvPr>
          <p:cNvCxnSpPr/>
          <p:nvPr/>
        </p:nvCxnSpPr>
        <p:spPr>
          <a:xfrm>
            <a:off x="1361440" y="5244353"/>
            <a:ext cx="0" cy="9989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D1AC8D9-0EC2-4370-B6A9-7B697E4BA340}"/>
              </a:ext>
            </a:extLst>
          </p:cNvPr>
          <p:cNvSpPr txBox="1"/>
          <p:nvPr/>
        </p:nvSpPr>
        <p:spPr>
          <a:xfrm>
            <a:off x="6249164" y="2217427"/>
            <a:ext cx="13559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Max 16.10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1786098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60AF5-7769-4EF0-BD5B-09F106666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Normal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C3479D-E66B-47CF-9C40-A29C86F48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Consumption</a:t>
            </a:r>
          </a:p>
          <a:p>
            <a:pPr lvl="1"/>
            <a:r>
              <a:rPr lang="en-US" altLang="ko-KR" dirty="0"/>
              <a:t>Total output channels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BA5CE8-542F-447B-8486-0AFB9B0F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59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949EC5-9172-4C94-8165-8D52C1B06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97" y="1562903"/>
            <a:ext cx="8552329" cy="518912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3E782BB-C50E-4C06-846F-6164CEF8DF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5384"/>
          <a:stretch/>
        </p:blipFill>
        <p:spPr>
          <a:xfrm>
            <a:off x="1970753" y="6592428"/>
            <a:ext cx="5202494" cy="15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0428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60AF5-7769-4EF0-BD5B-09F106666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Normal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C3479D-E66B-47CF-9C40-A29C86F48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Consumption</a:t>
            </a:r>
          </a:p>
          <a:p>
            <a:pPr lvl="1"/>
            <a:r>
              <a:rPr lang="en-US" altLang="ko-KR" dirty="0"/>
              <a:t>3.3 V output channels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BA5CE8-542F-447B-8486-0AFB9B0F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60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DE447E-9AB1-46EA-93D2-C0708DF1D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44" y="1573057"/>
            <a:ext cx="7645391" cy="545643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AB0C411-0D7C-464B-8F48-156CE8CE38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5384"/>
          <a:stretch/>
        </p:blipFill>
        <p:spPr>
          <a:xfrm>
            <a:off x="1719741" y="6621353"/>
            <a:ext cx="5202494" cy="15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5714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60AF5-7769-4EF0-BD5B-09F106666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Normal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C3479D-E66B-47CF-9C40-A29C86F48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Consumption</a:t>
            </a:r>
          </a:p>
          <a:p>
            <a:pPr lvl="1"/>
            <a:r>
              <a:rPr lang="en-US" altLang="ko-KR" dirty="0"/>
              <a:t>5 V output channels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BA5CE8-542F-447B-8486-0AFB9B0F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61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32C565-4478-4ABD-8C1C-FD8C09B6DE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75"/>
          <a:stretch/>
        </p:blipFill>
        <p:spPr>
          <a:xfrm>
            <a:off x="520249" y="1613647"/>
            <a:ext cx="8103502" cy="524435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FC1D9A3-1EBA-4836-9A62-9E1E104687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5384"/>
          <a:stretch/>
        </p:blipFill>
        <p:spPr>
          <a:xfrm>
            <a:off x="1737671" y="6584913"/>
            <a:ext cx="5202494" cy="15959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3537BFD-DAD6-4557-A1D3-44F4D324DB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370" t="4059" r="5362" b="7417"/>
          <a:stretch/>
        </p:blipFill>
        <p:spPr>
          <a:xfrm>
            <a:off x="3982000" y="3598708"/>
            <a:ext cx="4919262" cy="314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438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619FB-DF20-4CF5-A0B6-03C5B102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Normal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A7616-C7E8-4867-98E7-0A9A52C1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Consumption</a:t>
            </a:r>
          </a:p>
          <a:p>
            <a:pPr lvl="1"/>
            <a:r>
              <a:rPr lang="en-US" altLang="ko-KR" dirty="0"/>
              <a:t>Battery voltage output channels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208F84-DD79-404F-8DF6-64CBCD8F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62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34B753-A061-42FF-B4DA-0149E3D92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73" y="1523997"/>
            <a:ext cx="8183053" cy="525331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B9D2F3F-82C7-47C7-8E67-4C9A90C3AA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5384"/>
          <a:stretch/>
        </p:blipFill>
        <p:spPr>
          <a:xfrm>
            <a:off x="1809389" y="6414585"/>
            <a:ext cx="5202494" cy="15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27736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619FB-DF20-4CF5-A0B6-03C5B102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Communication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A7616-C7E8-4867-98E7-0A9A52C1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Generation</a:t>
            </a:r>
          </a:p>
          <a:p>
            <a:pPr lvl="1"/>
            <a:r>
              <a:rPr lang="en-US" altLang="ko-KR" dirty="0"/>
              <a:t>Sun-pointing &amp; nadir-pointing: </a:t>
            </a:r>
            <a:r>
              <a:rPr lang="en-US" altLang="ko-KR" b="1" dirty="0"/>
              <a:t>9.47 W </a:t>
            </a:r>
            <a:r>
              <a:rPr lang="en-US" altLang="ko-KR" dirty="0"/>
              <a:t>(orbital</a:t>
            </a:r>
            <a:r>
              <a:rPr lang="ko-KR" altLang="en-US" dirty="0"/>
              <a:t> </a:t>
            </a:r>
            <a:r>
              <a:rPr lang="en-US" altLang="ko-KR" dirty="0"/>
              <a:t>average)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208F84-DD79-404F-8DF6-64CBCD8F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63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FA823DD-CB68-4534-B41C-929AA7597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80" y="1620646"/>
            <a:ext cx="7045837" cy="530907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C68DCD3-7FDC-4A1E-A56F-6AC1568C86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5384"/>
          <a:stretch/>
        </p:blipFill>
        <p:spPr>
          <a:xfrm>
            <a:off x="1970752" y="6575948"/>
            <a:ext cx="5202494" cy="15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2164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619FB-DF20-4CF5-A0B6-03C5B102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Communication Mode (Day)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A7616-C7E8-4867-98E7-0A9A52C1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Battery Capacity</a:t>
            </a:r>
          </a:p>
          <a:p>
            <a:pPr lvl="1"/>
            <a:r>
              <a:rPr lang="en-US" altLang="ko-KR" dirty="0"/>
              <a:t>Battery SoC [%] – start at 80%</a:t>
            </a:r>
            <a:endParaRPr lang="ko-KR" altLang="en-US" dirty="0"/>
          </a:p>
          <a:p>
            <a:pPr lvl="2"/>
            <a:r>
              <a:rPr lang="en-US" altLang="ko-KR" dirty="0"/>
              <a:t>DOD = 11.05%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208F84-DD79-404F-8DF6-64CBCD8F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64</a:t>
            </a:fld>
            <a:r>
              <a:rPr lang="en-US" altLang="ko-KR"/>
              <a:t> 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EE30C85-3B9E-417F-A018-142A5D8CBFC6}"/>
              </a:ext>
            </a:extLst>
          </p:cNvPr>
          <p:cNvGrpSpPr/>
          <p:nvPr/>
        </p:nvGrpSpPr>
        <p:grpSpPr>
          <a:xfrm>
            <a:off x="1072354" y="1748174"/>
            <a:ext cx="6999291" cy="5041078"/>
            <a:chOff x="889650" y="1441551"/>
            <a:chExt cx="7383558" cy="531783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D047895-AEF9-4BFE-81AF-661BB09FC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650" y="1441551"/>
              <a:ext cx="7383558" cy="531783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C68DCD3-7FDC-4A1E-A56F-6AC1568C86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95384"/>
            <a:stretch/>
          </p:blipFill>
          <p:spPr>
            <a:xfrm>
              <a:off x="1934893" y="6504230"/>
              <a:ext cx="5202494" cy="159595"/>
            </a:xfrm>
            <a:prstGeom prst="rect">
              <a:avLst/>
            </a:prstGeom>
          </p:spPr>
        </p:pic>
      </p:grp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6D8D23C-B625-4BA9-AC35-C0DE30138900}"/>
              </a:ext>
            </a:extLst>
          </p:cNvPr>
          <p:cNvCxnSpPr/>
          <p:nvPr/>
        </p:nvCxnSpPr>
        <p:spPr>
          <a:xfrm>
            <a:off x="5593976" y="4778188"/>
            <a:ext cx="69924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4C7A491-36BA-4402-A347-8F380D1D564C}"/>
              </a:ext>
            </a:extLst>
          </p:cNvPr>
          <p:cNvSpPr txBox="1"/>
          <p:nvPr/>
        </p:nvSpPr>
        <p:spPr>
          <a:xfrm>
            <a:off x="6387353" y="4593522"/>
            <a:ext cx="793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75.55</a:t>
            </a:r>
            <a:endParaRPr lang="ko-KR" altLang="en-US" b="1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4F7029C-9C44-4B9B-A344-36FDD173B1A3}"/>
              </a:ext>
            </a:extLst>
          </p:cNvPr>
          <p:cNvCxnSpPr/>
          <p:nvPr/>
        </p:nvCxnSpPr>
        <p:spPr>
          <a:xfrm>
            <a:off x="2850776" y="3607535"/>
            <a:ext cx="69924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6678250-BD34-4B50-B699-C3F513DF51F5}"/>
              </a:ext>
            </a:extLst>
          </p:cNvPr>
          <p:cNvSpPr txBox="1"/>
          <p:nvPr/>
        </p:nvSpPr>
        <p:spPr>
          <a:xfrm>
            <a:off x="3644153" y="3422869"/>
            <a:ext cx="793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86.60</a:t>
            </a:r>
            <a:endParaRPr lang="ko-KR" altLang="en-US" b="1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56F4764-0631-4F4D-962E-E501AE765C3C}"/>
              </a:ext>
            </a:extLst>
          </p:cNvPr>
          <p:cNvGrpSpPr/>
          <p:nvPr/>
        </p:nvGrpSpPr>
        <p:grpSpPr>
          <a:xfrm>
            <a:off x="4572000" y="3656834"/>
            <a:ext cx="131061" cy="1049637"/>
            <a:chOff x="3003176" y="2698376"/>
            <a:chExt cx="242048" cy="1380565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275E0F1-0EA7-4138-9F15-3C0A54DA360A}"/>
                </a:ext>
              </a:extLst>
            </p:cNvPr>
            <p:cNvCxnSpPr/>
            <p:nvPr/>
          </p:nvCxnSpPr>
          <p:spPr>
            <a:xfrm>
              <a:off x="3003176" y="2698376"/>
              <a:ext cx="24204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65C28EA-DB6D-438A-9A0A-D18E2E3BC119}"/>
                </a:ext>
              </a:extLst>
            </p:cNvPr>
            <p:cNvCxnSpPr>
              <a:cxnSpLocks/>
            </p:cNvCxnSpPr>
            <p:nvPr/>
          </p:nvCxnSpPr>
          <p:spPr>
            <a:xfrm>
              <a:off x="3119718" y="2698376"/>
              <a:ext cx="4482" cy="138056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6842EA71-065F-4C19-A31F-54EE8E3E427D}"/>
                </a:ext>
              </a:extLst>
            </p:cNvPr>
            <p:cNvCxnSpPr/>
            <p:nvPr/>
          </p:nvCxnSpPr>
          <p:spPr>
            <a:xfrm>
              <a:off x="3003176" y="4078941"/>
              <a:ext cx="24204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3536E60-383D-4015-87F7-7C21FE27BEE8}"/>
              </a:ext>
            </a:extLst>
          </p:cNvPr>
          <p:cNvSpPr txBox="1"/>
          <p:nvPr/>
        </p:nvSpPr>
        <p:spPr>
          <a:xfrm>
            <a:off x="4635104" y="4023287"/>
            <a:ext cx="807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11.05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6841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619FB-DF20-4CF5-A0B6-03C5B102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Communication Mode (Day)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A7616-C7E8-4867-98E7-0A9A52C1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Battery Capacity</a:t>
            </a:r>
          </a:p>
          <a:p>
            <a:pPr lvl="1"/>
            <a:r>
              <a:rPr lang="en-US" altLang="ko-KR" dirty="0"/>
              <a:t>Battery voltage [V]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208F84-DD79-404F-8DF6-64CBCD8F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65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8ED698E-8552-4770-8E7F-2E991730F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29" y="1559858"/>
            <a:ext cx="8018742" cy="54073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6DACEC-8925-4BFA-B49B-3EF22F14C738}"/>
              </a:ext>
            </a:extLst>
          </p:cNvPr>
          <p:cNvSpPr txBox="1"/>
          <p:nvPr/>
        </p:nvSpPr>
        <p:spPr>
          <a:xfrm>
            <a:off x="5763414" y="5543980"/>
            <a:ext cx="1515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Min 15.12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30872A-09B5-43A9-8245-C1BEBFBE65DD}"/>
              </a:ext>
            </a:extLst>
          </p:cNvPr>
          <p:cNvSpPr txBox="1"/>
          <p:nvPr/>
        </p:nvSpPr>
        <p:spPr>
          <a:xfrm>
            <a:off x="6428845" y="2343821"/>
            <a:ext cx="1515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Max 16.15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70295133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619FB-DF20-4CF5-A0B6-03C5B102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Communication Mode (Day)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A7616-C7E8-4867-98E7-0A9A52C1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Consumption</a:t>
            </a:r>
          </a:p>
          <a:p>
            <a:pPr lvl="1"/>
            <a:r>
              <a:rPr lang="en-US" altLang="ko-KR" dirty="0"/>
              <a:t>Total output channels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208F84-DD79-404F-8DF6-64CBCD8F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66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68DCD3-7FDC-4A1E-A56F-6AC1568C86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5384"/>
          <a:stretch/>
        </p:blipFill>
        <p:spPr>
          <a:xfrm>
            <a:off x="1737669" y="6612202"/>
            <a:ext cx="5202494" cy="15959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44605A1-50EA-4A6D-B05F-082D579EA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18" y="1640541"/>
            <a:ext cx="8520607" cy="505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5155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60AF5-7769-4EF0-BD5B-09F106666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Communication Mode (Day)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C3479D-E66B-47CF-9C40-A29C86F48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Consumption</a:t>
            </a:r>
          </a:p>
          <a:p>
            <a:pPr lvl="1"/>
            <a:r>
              <a:rPr lang="en-US" altLang="ko-KR" dirty="0"/>
              <a:t>3.3 V output channels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BA5CE8-542F-447B-8486-0AFB9B0F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67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AB0C411-0D7C-464B-8F48-156CE8CE38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5384"/>
          <a:stretch/>
        </p:blipFill>
        <p:spPr>
          <a:xfrm>
            <a:off x="1719741" y="6621353"/>
            <a:ext cx="5202494" cy="15959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09E6D8E-0D02-4350-A25E-783014945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00" y="1521024"/>
            <a:ext cx="7586159" cy="543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8265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60AF5-7769-4EF0-BD5B-09F106666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Communication Mode (Day)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C3479D-E66B-47CF-9C40-A29C86F48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Consumption</a:t>
            </a:r>
          </a:p>
          <a:p>
            <a:pPr lvl="1"/>
            <a:r>
              <a:rPr lang="en-US" altLang="ko-KR" dirty="0"/>
              <a:t>5 V output channels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BA5CE8-542F-447B-8486-0AFB9B0F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68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FC1D9A3-1EBA-4836-9A62-9E1E104687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5384"/>
          <a:stretch/>
        </p:blipFill>
        <p:spPr>
          <a:xfrm>
            <a:off x="1737671" y="6584913"/>
            <a:ext cx="5202494" cy="15959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D91B249-BD72-442F-A50C-9D86527B9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184" y="1594897"/>
            <a:ext cx="7539216" cy="526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06859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619FB-DF20-4CF5-A0B6-03C5B102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Communication Mode (Day)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A7616-C7E8-4867-98E7-0A9A52C1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Consumption</a:t>
            </a:r>
          </a:p>
          <a:p>
            <a:pPr lvl="1"/>
            <a:r>
              <a:rPr lang="en-US" altLang="ko-KR" dirty="0"/>
              <a:t>Battery voltage output channels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208F84-DD79-404F-8DF6-64CBCD8F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69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34B753-A061-42FF-B4DA-0149E3D92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73" y="1523997"/>
            <a:ext cx="8183053" cy="525331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B9D2F3F-82C7-47C7-8E67-4C9A90C3AA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5384"/>
          <a:stretch/>
        </p:blipFill>
        <p:spPr>
          <a:xfrm>
            <a:off x="1809389" y="6414585"/>
            <a:ext cx="5202494" cy="15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32853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619FB-DF20-4CF5-A0B6-03C5B102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Communication Mode (Eclipse)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A7616-C7E8-4867-98E7-0A9A52C1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Generation</a:t>
            </a:r>
          </a:p>
          <a:p>
            <a:pPr lvl="1"/>
            <a:r>
              <a:rPr lang="en-US" altLang="ko-KR" dirty="0"/>
              <a:t>Sun-pointing: </a:t>
            </a:r>
            <a:r>
              <a:rPr lang="en-US" altLang="ko-KR" b="1" dirty="0"/>
              <a:t>11.82 W </a:t>
            </a:r>
            <a:r>
              <a:rPr lang="en-US" altLang="ko-KR" dirty="0"/>
              <a:t>(orbital</a:t>
            </a:r>
            <a:r>
              <a:rPr lang="ko-KR" altLang="en-US" dirty="0"/>
              <a:t> </a:t>
            </a:r>
            <a:r>
              <a:rPr lang="en-US" altLang="ko-KR" dirty="0"/>
              <a:t>average)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208F84-DD79-404F-8DF6-64CBCD8F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70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FA823DD-CB68-4534-B41C-929AA7597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0825" y="1620646"/>
            <a:ext cx="6882347" cy="530907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C68DCD3-7FDC-4A1E-A56F-6AC1568C86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5384"/>
          <a:stretch/>
        </p:blipFill>
        <p:spPr>
          <a:xfrm>
            <a:off x="1970752" y="6575948"/>
            <a:ext cx="5202494" cy="15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37462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9EE30C85-3B9E-417F-A018-142A5D8CBFC6}"/>
              </a:ext>
            </a:extLst>
          </p:cNvPr>
          <p:cNvGrpSpPr/>
          <p:nvPr/>
        </p:nvGrpSpPr>
        <p:grpSpPr>
          <a:xfrm>
            <a:off x="996177" y="1828799"/>
            <a:ext cx="7181384" cy="4960452"/>
            <a:chOff x="809291" y="1526603"/>
            <a:chExt cx="7575649" cy="523278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D047895-AEF9-4BFE-81AF-661BB09FC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09291" y="1526603"/>
              <a:ext cx="7575649" cy="523278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C68DCD3-7FDC-4A1E-A56F-6AC1568C86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95384"/>
            <a:stretch/>
          </p:blipFill>
          <p:spPr>
            <a:xfrm>
              <a:off x="1934893" y="6504230"/>
              <a:ext cx="5202494" cy="159595"/>
            </a:xfrm>
            <a:prstGeom prst="rect">
              <a:avLst/>
            </a:prstGeom>
          </p:spPr>
        </p:pic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9D7619FB-DF20-4CF5-A0B6-03C5B102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Communication Mode (Eclipse)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A7616-C7E8-4867-98E7-0A9A52C1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Battery Capacity</a:t>
            </a:r>
          </a:p>
          <a:p>
            <a:pPr lvl="1"/>
            <a:r>
              <a:rPr lang="en-US" altLang="ko-KR" dirty="0"/>
              <a:t>Battery SoC [%] – start at 80%</a:t>
            </a:r>
            <a:endParaRPr lang="ko-KR" altLang="en-US" dirty="0"/>
          </a:p>
          <a:p>
            <a:pPr lvl="2"/>
            <a:r>
              <a:rPr lang="en-US" altLang="ko-KR" dirty="0"/>
              <a:t>DOD = 10.4%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208F84-DD79-404F-8DF6-64CBCD8F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71</a:t>
            </a:fld>
            <a:r>
              <a:rPr lang="en-US" altLang="ko-KR"/>
              <a:t> </a:t>
            </a:r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6D8D23C-B625-4BA9-AC35-C0DE30138900}"/>
              </a:ext>
            </a:extLst>
          </p:cNvPr>
          <p:cNvCxnSpPr/>
          <p:nvPr/>
        </p:nvCxnSpPr>
        <p:spPr>
          <a:xfrm>
            <a:off x="5788685" y="5486400"/>
            <a:ext cx="69924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4C7A491-36BA-4402-A347-8F380D1D564C}"/>
              </a:ext>
            </a:extLst>
          </p:cNvPr>
          <p:cNvSpPr txBox="1"/>
          <p:nvPr/>
        </p:nvSpPr>
        <p:spPr>
          <a:xfrm>
            <a:off x="6598246" y="5301734"/>
            <a:ext cx="793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79.6</a:t>
            </a:r>
            <a:endParaRPr lang="ko-KR" altLang="en-US" b="1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4F7029C-9C44-4B9B-A344-36FDD173B1A3}"/>
              </a:ext>
            </a:extLst>
          </p:cNvPr>
          <p:cNvCxnSpPr/>
          <p:nvPr/>
        </p:nvCxnSpPr>
        <p:spPr>
          <a:xfrm>
            <a:off x="3967976" y="3808038"/>
            <a:ext cx="69924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6678250-BD34-4B50-B699-C3F513DF51F5}"/>
              </a:ext>
            </a:extLst>
          </p:cNvPr>
          <p:cNvSpPr txBox="1"/>
          <p:nvPr/>
        </p:nvSpPr>
        <p:spPr>
          <a:xfrm>
            <a:off x="4761353" y="3623372"/>
            <a:ext cx="793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90</a:t>
            </a:r>
            <a:endParaRPr lang="ko-KR" altLang="en-US" b="1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56F4764-0631-4F4D-962E-E501AE765C3C}"/>
              </a:ext>
            </a:extLst>
          </p:cNvPr>
          <p:cNvGrpSpPr/>
          <p:nvPr/>
        </p:nvGrpSpPr>
        <p:grpSpPr>
          <a:xfrm>
            <a:off x="4572000" y="3792201"/>
            <a:ext cx="200722" cy="1694199"/>
            <a:chOff x="3003176" y="2698376"/>
            <a:chExt cx="242048" cy="1380565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275E0F1-0EA7-4138-9F15-3C0A54DA360A}"/>
                </a:ext>
              </a:extLst>
            </p:cNvPr>
            <p:cNvCxnSpPr/>
            <p:nvPr/>
          </p:nvCxnSpPr>
          <p:spPr>
            <a:xfrm>
              <a:off x="3003176" y="2698376"/>
              <a:ext cx="24204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65C28EA-DB6D-438A-9A0A-D18E2E3BC119}"/>
                </a:ext>
              </a:extLst>
            </p:cNvPr>
            <p:cNvCxnSpPr>
              <a:cxnSpLocks/>
            </p:cNvCxnSpPr>
            <p:nvPr/>
          </p:nvCxnSpPr>
          <p:spPr>
            <a:xfrm>
              <a:off x="3119718" y="2698376"/>
              <a:ext cx="4482" cy="138056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6842EA71-065F-4C19-A31F-54EE8E3E427D}"/>
                </a:ext>
              </a:extLst>
            </p:cNvPr>
            <p:cNvCxnSpPr/>
            <p:nvPr/>
          </p:nvCxnSpPr>
          <p:spPr>
            <a:xfrm>
              <a:off x="3003176" y="4078941"/>
              <a:ext cx="24204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3536E60-383D-4015-87F7-7C21FE27BEE8}"/>
              </a:ext>
            </a:extLst>
          </p:cNvPr>
          <p:cNvSpPr txBox="1"/>
          <p:nvPr/>
        </p:nvSpPr>
        <p:spPr>
          <a:xfrm>
            <a:off x="4635104" y="4023287"/>
            <a:ext cx="807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10.4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8878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08ED698E-8552-4770-8E7F-2E991730F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4205" y="1559859"/>
            <a:ext cx="8311375" cy="529814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D7619FB-DF20-4CF5-A0B6-03C5B102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Communication Mode (Eclipse)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A7616-C7E8-4867-98E7-0A9A52C1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Battery Capacity</a:t>
            </a:r>
          </a:p>
          <a:p>
            <a:pPr lvl="1"/>
            <a:r>
              <a:rPr lang="en-US" altLang="ko-KR" dirty="0"/>
              <a:t>Battery voltage [V]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208F84-DD79-404F-8DF6-64CBCD8F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72</a:t>
            </a:fld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6DACEC-8925-4BFA-B49B-3EF22F14C738}"/>
              </a:ext>
            </a:extLst>
          </p:cNvPr>
          <p:cNvSpPr txBox="1"/>
          <p:nvPr/>
        </p:nvSpPr>
        <p:spPr>
          <a:xfrm>
            <a:off x="6089147" y="5728646"/>
            <a:ext cx="1515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Min 15.29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30872A-09B5-43A9-8245-C1BEBFBE65DD}"/>
              </a:ext>
            </a:extLst>
          </p:cNvPr>
          <p:cNvSpPr txBox="1"/>
          <p:nvPr/>
        </p:nvSpPr>
        <p:spPr>
          <a:xfrm>
            <a:off x="5938191" y="2113362"/>
            <a:ext cx="1515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Max 16.16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78009674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619FB-DF20-4CF5-A0B6-03C5B102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Communication Mode (Eclipse)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A7616-C7E8-4867-98E7-0A9A52C1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Consumption</a:t>
            </a:r>
          </a:p>
          <a:p>
            <a:pPr lvl="1"/>
            <a:r>
              <a:rPr lang="en-US" altLang="ko-KR" dirty="0"/>
              <a:t>Total output channels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208F84-DD79-404F-8DF6-64CBCD8F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73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44605A1-50EA-4A6D-B05F-082D579EA1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6" t="5012" b="3716"/>
          <a:stretch/>
        </p:blipFill>
        <p:spPr>
          <a:xfrm>
            <a:off x="261598" y="1706988"/>
            <a:ext cx="8787928" cy="515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69672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60AF5-7769-4EF0-BD5B-09F106666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Communication Mode (Eclipse)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C3479D-E66B-47CF-9C40-A29C86F48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Consumption</a:t>
            </a:r>
          </a:p>
          <a:p>
            <a:pPr lvl="1"/>
            <a:r>
              <a:rPr lang="en-US" altLang="ko-KR" dirty="0"/>
              <a:t>3.3 V output channels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BA5CE8-542F-447B-8486-0AFB9B0F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74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AB0C411-0D7C-464B-8F48-156CE8CE38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5384"/>
          <a:stretch/>
        </p:blipFill>
        <p:spPr>
          <a:xfrm>
            <a:off x="1719741" y="6621353"/>
            <a:ext cx="5202494" cy="15959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09E6D8E-0D02-4350-A25E-7830149453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8" t="4282" r="743" b="3433"/>
          <a:stretch/>
        </p:blipFill>
        <p:spPr>
          <a:xfrm>
            <a:off x="1021079" y="1775461"/>
            <a:ext cx="7589521" cy="501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40764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60AF5-7769-4EF0-BD5B-09F106666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Communication Mode (Eclipse)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C3479D-E66B-47CF-9C40-A29C86F48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Consumption</a:t>
            </a:r>
          </a:p>
          <a:p>
            <a:pPr lvl="1"/>
            <a:r>
              <a:rPr lang="en-US" altLang="ko-KR" dirty="0"/>
              <a:t>5 V output channels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BA5CE8-542F-447B-8486-0AFB9B0F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75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FC1D9A3-1EBA-4836-9A62-9E1E104687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5384"/>
          <a:stretch/>
        </p:blipFill>
        <p:spPr>
          <a:xfrm>
            <a:off x="1737671" y="6584913"/>
            <a:ext cx="5202494" cy="15959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D91B249-BD72-442F-A50C-9D86527B9C7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3"/>
          <a:stretch/>
        </p:blipFill>
        <p:spPr>
          <a:xfrm>
            <a:off x="807720" y="1714500"/>
            <a:ext cx="744283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686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619FB-DF20-4CF5-A0B6-03C5B102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Communication Mode (Eclipse)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A7616-C7E8-4867-98E7-0A9A52C1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Consumption</a:t>
            </a:r>
          </a:p>
          <a:p>
            <a:pPr lvl="1"/>
            <a:r>
              <a:rPr lang="en-US" altLang="ko-KR" dirty="0"/>
              <a:t>Battery voltage output channels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208F84-DD79-404F-8DF6-64CBCD8F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76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34B753-A061-42FF-B4DA-0149E3D92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73" y="1523997"/>
            <a:ext cx="8183053" cy="525331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B9D2F3F-82C7-47C7-8E67-4C9A90C3AA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5384"/>
          <a:stretch/>
        </p:blipFill>
        <p:spPr>
          <a:xfrm>
            <a:off x="1809389" y="6414585"/>
            <a:ext cx="5202494" cy="15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6872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0162C3-FCDC-4A8B-92C7-37E91525E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Charge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6697D7-A386-4610-ACD7-D93DDE4A5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Generation</a:t>
            </a:r>
          </a:p>
          <a:p>
            <a:pPr lvl="1"/>
            <a:r>
              <a:rPr lang="en-US" altLang="ko-KR" dirty="0"/>
              <a:t>Sun-pointing: </a:t>
            </a:r>
            <a:r>
              <a:rPr lang="en-US" altLang="ko-KR" b="1" dirty="0"/>
              <a:t>11.82 W </a:t>
            </a:r>
            <a:r>
              <a:rPr lang="en-US" altLang="ko-KR" dirty="0"/>
              <a:t>(orbital</a:t>
            </a:r>
            <a:r>
              <a:rPr lang="ko-KR" altLang="en-US" dirty="0"/>
              <a:t> </a:t>
            </a:r>
            <a:r>
              <a:rPr lang="en-US" altLang="ko-KR" dirty="0"/>
              <a:t>average)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77FBB5-D6B9-481E-A9E2-A313AC334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77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BD6B028-B672-4838-97B5-70935AD0A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29" y="1645247"/>
            <a:ext cx="7267342" cy="482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18218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0C0F4BB-0FAA-4DD2-8B87-1A2561D59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697" y="2051347"/>
            <a:ext cx="7218605" cy="470154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D7619FB-DF20-4CF5-A0B6-03C5B102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Charge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A7616-C7E8-4867-98E7-0A9A52C1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Battery Capacity</a:t>
            </a:r>
          </a:p>
          <a:p>
            <a:pPr lvl="1"/>
            <a:r>
              <a:rPr lang="en-US" altLang="ko-KR" dirty="0"/>
              <a:t>Battery SoC [%] – start at 80%</a:t>
            </a:r>
            <a:endParaRPr lang="ko-KR" altLang="en-US" dirty="0"/>
          </a:p>
          <a:p>
            <a:pPr lvl="2"/>
            <a:r>
              <a:rPr lang="en-US" altLang="ko-KR" dirty="0"/>
              <a:t>DOD = 3.52%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208F84-DD79-404F-8DF6-64CBCD8F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78</a:t>
            </a:fld>
            <a:r>
              <a:rPr lang="en-US" altLang="ko-KR"/>
              <a:t> </a:t>
            </a:r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6D8D23C-B625-4BA9-AC35-C0DE30138900}"/>
              </a:ext>
            </a:extLst>
          </p:cNvPr>
          <p:cNvCxnSpPr/>
          <p:nvPr/>
        </p:nvCxnSpPr>
        <p:spPr>
          <a:xfrm>
            <a:off x="5593976" y="4778188"/>
            <a:ext cx="69924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4C7A491-36BA-4402-A347-8F380D1D564C}"/>
              </a:ext>
            </a:extLst>
          </p:cNvPr>
          <p:cNvSpPr txBox="1"/>
          <p:nvPr/>
        </p:nvSpPr>
        <p:spPr>
          <a:xfrm>
            <a:off x="6387353" y="4593522"/>
            <a:ext cx="793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62.96</a:t>
            </a:r>
            <a:endParaRPr lang="ko-KR" altLang="en-US" b="1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4F7029C-9C44-4B9B-A344-36FDD173B1A3}"/>
              </a:ext>
            </a:extLst>
          </p:cNvPr>
          <p:cNvCxnSpPr>
            <a:cxnSpLocks/>
          </p:cNvCxnSpPr>
          <p:nvPr/>
        </p:nvCxnSpPr>
        <p:spPr>
          <a:xfrm flipH="1">
            <a:off x="2931459" y="4104100"/>
            <a:ext cx="64994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6678250-BD34-4B50-B699-C3F513DF51F5}"/>
              </a:ext>
            </a:extLst>
          </p:cNvPr>
          <p:cNvSpPr txBox="1"/>
          <p:nvPr/>
        </p:nvSpPr>
        <p:spPr>
          <a:xfrm>
            <a:off x="2138082" y="3919434"/>
            <a:ext cx="793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66.48</a:t>
            </a:r>
            <a:endParaRPr lang="ko-KR" altLang="en-US" b="1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56F4764-0631-4F4D-962E-E501AE765C3C}"/>
              </a:ext>
            </a:extLst>
          </p:cNvPr>
          <p:cNvGrpSpPr/>
          <p:nvPr/>
        </p:nvGrpSpPr>
        <p:grpSpPr>
          <a:xfrm>
            <a:off x="4049769" y="4090051"/>
            <a:ext cx="206188" cy="510989"/>
            <a:chOff x="3003176" y="2698376"/>
            <a:chExt cx="242048" cy="1380565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275E0F1-0EA7-4138-9F15-3C0A54DA360A}"/>
                </a:ext>
              </a:extLst>
            </p:cNvPr>
            <p:cNvCxnSpPr/>
            <p:nvPr/>
          </p:nvCxnSpPr>
          <p:spPr>
            <a:xfrm>
              <a:off x="3003176" y="2698376"/>
              <a:ext cx="24204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65C28EA-DB6D-438A-9A0A-D18E2E3BC119}"/>
                </a:ext>
              </a:extLst>
            </p:cNvPr>
            <p:cNvCxnSpPr>
              <a:cxnSpLocks/>
            </p:cNvCxnSpPr>
            <p:nvPr/>
          </p:nvCxnSpPr>
          <p:spPr>
            <a:xfrm>
              <a:off x="3119718" y="2698376"/>
              <a:ext cx="4482" cy="138056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6842EA71-065F-4C19-A31F-54EE8E3E427D}"/>
                </a:ext>
              </a:extLst>
            </p:cNvPr>
            <p:cNvCxnSpPr/>
            <p:nvPr/>
          </p:nvCxnSpPr>
          <p:spPr>
            <a:xfrm>
              <a:off x="3003176" y="4078941"/>
              <a:ext cx="24204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3536E60-383D-4015-87F7-7C21FE27BEE8}"/>
              </a:ext>
            </a:extLst>
          </p:cNvPr>
          <p:cNvSpPr txBox="1"/>
          <p:nvPr/>
        </p:nvSpPr>
        <p:spPr>
          <a:xfrm>
            <a:off x="4252139" y="4160880"/>
            <a:ext cx="807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3.52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3D0A2C6-3B28-4A19-AAB4-BE75DEE366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5384"/>
          <a:stretch/>
        </p:blipFill>
        <p:spPr>
          <a:xfrm>
            <a:off x="2054840" y="6532405"/>
            <a:ext cx="5202494" cy="15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8006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520C8C4-1266-4C4F-A110-37F721BC3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1539240"/>
            <a:ext cx="8092440" cy="531876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D7619FB-DF20-4CF5-A0B6-03C5B102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Charge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A7616-C7E8-4867-98E7-0A9A52C1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Battery Capacity</a:t>
            </a:r>
          </a:p>
          <a:p>
            <a:pPr lvl="1"/>
            <a:r>
              <a:rPr lang="en-US" altLang="ko-KR" dirty="0"/>
              <a:t>Battery voltage [V]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208F84-DD79-404F-8DF6-64CBCD8F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79</a:t>
            </a:fld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6DACEC-8925-4BFA-B49B-3EF22F14C738}"/>
              </a:ext>
            </a:extLst>
          </p:cNvPr>
          <p:cNvSpPr txBox="1"/>
          <p:nvPr/>
        </p:nvSpPr>
        <p:spPr>
          <a:xfrm>
            <a:off x="5763414" y="5543980"/>
            <a:ext cx="1515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Min 14.7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30872A-09B5-43A9-8245-C1BEBFBE65DD}"/>
              </a:ext>
            </a:extLst>
          </p:cNvPr>
          <p:cNvSpPr txBox="1"/>
          <p:nvPr/>
        </p:nvSpPr>
        <p:spPr>
          <a:xfrm>
            <a:off x="6392986" y="2783092"/>
            <a:ext cx="1515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Max 15.69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61386105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619FB-DF20-4CF5-A0B6-03C5B102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Charge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A7616-C7E8-4867-98E7-0A9A52C1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Consumption</a:t>
            </a:r>
          </a:p>
          <a:p>
            <a:pPr lvl="1"/>
            <a:r>
              <a:rPr lang="en-US" altLang="ko-KR" dirty="0"/>
              <a:t>Total output channels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208F84-DD79-404F-8DF6-64CBCD8F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80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68DCD3-7FDC-4A1E-A56F-6AC1568C86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5384"/>
          <a:stretch/>
        </p:blipFill>
        <p:spPr>
          <a:xfrm>
            <a:off x="1737669" y="6612202"/>
            <a:ext cx="5202494" cy="15959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13D9F6A-F7FB-46CC-921A-65EF81114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54" y="1378700"/>
            <a:ext cx="8305208" cy="523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31664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543E3A5-9C32-490E-A56B-4390C05A8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99" y="1566767"/>
            <a:ext cx="7825839" cy="534155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6760AF5-7769-4EF0-BD5B-09F106666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Charge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C3479D-E66B-47CF-9C40-A29C86F48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Consumption</a:t>
            </a:r>
          </a:p>
          <a:p>
            <a:pPr lvl="1"/>
            <a:r>
              <a:rPr lang="en-US" altLang="ko-KR" dirty="0"/>
              <a:t>3.3 V output channels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BA5CE8-542F-447B-8486-0AFB9B0F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81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AB0C411-0D7C-464B-8F48-156CE8CE38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5384"/>
          <a:stretch/>
        </p:blipFill>
        <p:spPr>
          <a:xfrm>
            <a:off x="1719741" y="6621353"/>
            <a:ext cx="5202494" cy="15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76261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A60003D-37FE-46D9-8109-E5A2C9F66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981" y="1546881"/>
            <a:ext cx="7444776" cy="535913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6760AF5-7769-4EF0-BD5B-09F106666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Charge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C3479D-E66B-47CF-9C40-A29C86F48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Consumption</a:t>
            </a:r>
          </a:p>
          <a:p>
            <a:pPr lvl="1"/>
            <a:r>
              <a:rPr lang="en-US" altLang="ko-KR" dirty="0"/>
              <a:t>5 V output channels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BA5CE8-542F-447B-8486-0AFB9B0F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82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FC1D9A3-1EBA-4836-9A62-9E1E104687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5384"/>
          <a:stretch/>
        </p:blipFill>
        <p:spPr>
          <a:xfrm>
            <a:off x="1737671" y="6584913"/>
            <a:ext cx="5202494" cy="15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49684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78C40F7-E5D7-454D-B1A3-EC0BFB763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69" y="1481340"/>
            <a:ext cx="7599859" cy="525331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D7619FB-DF20-4CF5-A0B6-03C5B102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Charge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A7616-C7E8-4867-98E7-0A9A52C1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Consumption</a:t>
            </a:r>
          </a:p>
          <a:p>
            <a:pPr lvl="1"/>
            <a:r>
              <a:rPr lang="en-US" altLang="ko-KR" dirty="0"/>
              <a:t>Battery voltage output channels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208F84-DD79-404F-8DF6-64CBCD8F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83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B9D2F3F-82C7-47C7-8E67-4C9A90C3AA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5384"/>
          <a:stretch/>
        </p:blipFill>
        <p:spPr>
          <a:xfrm>
            <a:off x="1809389" y="6414585"/>
            <a:ext cx="5202494" cy="15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47354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0162C3-FCDC-4A8B-92C7-37E91525E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Mission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6697D7-A386-4610-ACD7-D93DDE4A5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Mission mode </a:t>
            </a:r>
          </a:p>
          <a:p>
            <a:pPr lvl="1"/>
            <a:r>
              <a:rPr lang="en-US" altLang="ko-KR" dirty="0"/>
              <a:t>Power generation (Total) </a:t>
            </a:r>
            <a:r>
              <a:rPr lang="en-US" altLang="ko-KR" b="1" dirty="0"/>
              <a:t>11.82 W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77FBB5-D6B9-481E-A9E2-A313AC334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84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BD6B028-B672-4838-97B5-70935AD0A0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7" t="4943" r="8264" b="6120"/>
          <a:stretch/>
        </p:blipFill>
        <p:spPr>
          <a:xfrm>
            <a:off x="1063083" y="1625849"/>
            <a:ext cx="7337502" cy="46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11350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BEEE81A-01EE-445A-B148-904C9743E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4267" y="1694985"/>
            <a:ext cx="6713892" cy="481732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C259355-403E-4246-AA91-1DD074AB5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Mission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259140-4349-4F75-84C7-DE207A3DB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Battery Capacity</a:t>
            </a:r>
          </a:p>
          <a:p>
            <a:pPr lvl="1"/>
            <a:r>
              <a:rPr lang="en-US" altLang="ko-KR" dirty="0"/>
              <a:t>Battery SoC [%] – start at 80%</a:t>
            </a:r>
            <a:endParaRPr lang="ko-KR" altLang="en-US" dirty="0"/>
          </a:p>
          <a:p>
            <a:pPr lvl="2"/>
            <a:r>
              <a:rPr lang="en-US" altLang="ko-KR" dirty="0"/>
              <a:t>DOD = 10.45%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7BC225-52EC-47E5-BB8A-FC3E12D9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85</a:t>
            </a:fld>
            <a:r>
              <a:rPr lang="en-US" altLang="ko-KR"/>
              <a:t> </a:t>
            </a:r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FB5D880-6F8A-40E1-9548-924BB8F4B948}"/>
              </a:ext>
            </a:extLst>
          </p:cNvPr>
          <p:cNvCxnSpPr/>
          <p:nvPr/>
        </p:nvCxnSpPr>
        <p:spPr>
          <a:xfrm>
            <a:off x="3781966" y="5953869"/>
            <a:ext cx="69924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10778BB-600F-48D8-B502-9C84C8ED2326}"/>
              </a:ext>
            </a:extLst>
          </p:cNvPr>
          <p:cNvSpPr txBox="1"/>
          <p:nvPr/>
        </p:nvSpPr>
        <p:spPr>
          <a:xfrm>
            <a:off x="4662789" y="5784946"/>
            <a:ext cx="793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80.00</a:t>
            </a:r>
            <a:endParaRPr lang="ko-KR" altLang="en-US" b="1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70DD89F-ED0C-4F72-9563-7ED52511F222}"/>
              </a:ext>
            </a:extLst>
          </p:cNvPr>
          <p:cNvCxnSpPr/>
          <p:nvPr/>
        </p:nvCxnSpPr>
        <p:spPr>
          <a:xfrm>
            <a:off x="3757244" y="2538855"/>
            <a:ext cx="69924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722E1E5-BA25-42A5-BEAB-B579DB4B8004}"/>
              </a:ext>
            </a:extLst>
          </p:cNvPr>
          <p:cNvSpPr txBox="1"/>
          <p:nvPr/>
        </p:nvSpPr>
        <p:spPr>
          <a:xfrm>
            <a:off x="4585448" y="2344250"/>
            <a:ext cx="793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90.45</a:t>
            </a:r>
            <a:endParaRPr lang="ko-KR" altLang="en-US" b="1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3615E67-57F6-43E7-ADC3-97DC41B2E134}"/>
              </a:ext>
            </a:extLst>
          </p:cNvPr>
          <p:cNvGrpSpPr/>
          <p:nvPr/>
        </p:nvGrpSpPr>
        <p:grpSpPr>
          <a:xfrm>
            <a:off x="3258669" y="2522675"/>
            <a:ext cx="290663" cy="3446937"/>
            <a:chOff x="3003176" y="2698376"/>
            <a:chExt cx="242048" cy="1380565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1B225418-6292-4948-8273-5C683E382054}"/>
                </a:ext>
              </a:extLst>
            </p:cNvPr>
            <p:cNvCxnSpPr/>
            <p:nvPr/>
          </p:nvCxnSpPr>
          <p:spPr>
            <a:xfrm>
              <a:off x="3003176" y="2698376"/>
              <a:ext cx="24204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1EA8DA21-9A02-4398-B979-EACEF7FFE59B}"/>
                </a:ext>
              </a:extLst>
            </p:cNvPr>
            <p:cNvCxnSpPr>
              <a:cxnSpLocks/>
            </p:cNvCxnSpPr>
            <p:nvPr/>
          </p:nvCxnSpPr>
          <p:spPr>
            <a:xfrm>
              <a:off x="3119718" y="2698376"/>
              <a:ext cx="4482" cy="138056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8FF2045F-36A3-47A3-9FD3-F150B1E82700}"/>
                </a:ext>
              </a:extLst>
            </p:cNvPr>
            <p:cNvCxnSpPr/>
            <p:nvPr/>
          </p:nvCxnSpPr>
          <p:spPr>
            <a:xfrm>
              <a:off x="3003176" y="4078941"/>
              <a:ext cx="24204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CA09096-A702-43E0-ADC1-BCF29BF97B45}"/>
              </a:ext>
            </a:extLst>
          </p:cNvPr>
          <p:cNvSpPr txBox="1"/>
          <p:nvPr/>
        </p:nvSpPr>
        <p:spPr>
          <a:xfrm>
            <a:off x="3541200" y="3639761"/>
            <a:ext cx="806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10.45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87113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619FB-DF20-4CF5-A0B6-03C5B102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Mission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A7616-C7E8-4867-98E7-0A9A52C1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Battery Capacity</a:t>
            </a:r>
          </a:p>
          <a:p>
            <a:pPr lvl="1"/>
            <a:r>
              <a:rPr lang="en-US" altLang="ko-KR" dirty="0"/>
              <a:t>Battery voltage [V]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208F84-DD79-404F-8DF6-64CBCD8F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86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8FB04F-7F58-4397-9C9F-080666155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5" b="2215"/>
          <a:stretch/>
        </p:blipFill>
        <p:spPr>
          <a:xfrm>
            <a:off x="261597" y="1832972"/>
            <a:ext cx="8468372" cy="47420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B80E02-D06F-46F5-8BFE-8D1AE5C67C70}"/>
              </a:ext>
            </a:extLst>
          </p:cNvPr>
          <p:cNvSpPr txBox="1"/>
          <p:nvPr/>
        </p:nvSpPr>
        <p:spPr>
          <a:xfrm>
            <a:off x="5897884" y="5221492"/>
            <a:ext cx="1515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Min 15.46</a:t>
            </a:r>
            <a:endParaRPr lang="ko-KR" altLang="en-US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CE8347-FF1A-43A9-A34C-D1BB25913E77}"/>
              </a:ext>
            </a:extLst>
          </p:cNvPr>
          <p:cNvSpPr/>
          <p:nvPr/>
        </p:nvSpPr>
        <p:spPr>
          <a:xfrm>
            <a:off x="1361440" y="5265419"/>
            <a:ext cx="157480" cy="6478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233B385-3BCF-4988-8D88-132D82A24D44}"/>
              </a:ext>
            </a:extLst>
          </p:cNvPr>
          <p:cNvCxnSpPr/>
          <p:nvPr/>
        </p:nvCxnSpPr>
        <p:spPr>
          <a:xfrm>
            <a:off x="1361440" y="5244353"/>
            <a:ext cx="0" cy="9989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D1AC8D9-0EC2-4370-B6A9-7B697E4BA340}"/>
              </a:ext>
            </a:extLst>
          </p:cNvPr>
          <p:cNvSpPr txBox="1"/>
          <p:nvPr/>
        </p:nvSpPr>
        <p:spPr>
          <a:xfrm>
            <a:off x="6249164" y="2217427"/>
            <a:ext cx="13559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Max 16.12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48525319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60AF5-7769-4EF0-BD5B-09F106666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Mission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C3479D-E66B-47CF-9C40-A29C86F48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Consumption</a:t>
            </a:r>
          </a:p>
          <a:p>
            <a:pPr lvl="1"/>
            <a:r>
              <a:rPr lang="en-US" altLang="ko-KR" dirty="0"/>
              <a:t>Total output channels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BA5CE8-542F-447B-8486-0AFB9B0F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87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949EC5-9172-4C94-8165-8D52C1B06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59" y="1651897"/>
            <a:ext cx="8795067" cy="515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27894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60AF5-7769-4EF0-BD5B-09F106666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Mission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C3479D-E66B-47CF-9C40-A29C86F48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Consumption</a:t>
            </a:r>
          </a:p>
          <a:p>
            <a:pPr lvl="1"/>
            <a:r>
              <a:rPr lang="en-US" altLang="ko-KR" dirty="0"/>
              <a:t>3.3 V output channels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BA5CE8-542F-447B-8486-0AFB9B0F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88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DE447E-9AB1-46EA-93D2-C0708DF1DC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5" t="1880" r="745"/>
          <a:stretch/>
        </p:blipFill>
        <p:spPr>
          <a:xfrm>
            <a:off x="1249680" y="1706880"/>
            <a:ext cx="7173557" cy="516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88713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60AF5-7769-4EF0-BD5B-09F106666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Mission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C3479D-E66B-47CF-9C40-A29C86F48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Consumption</a:t>
            </a:r>
          </a:p>
          <a:p>
            <a:pPr lvl="1"/>
            <a:r>
              <a:rPr lang="en-US" altLang="ko-KR" dirty="0"/>
              <a:t>5 V output channels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BA5CE8-542F-447B-8486-0AFB9B0F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89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32C565-4478-4ABD-8C1C-FD8C09B6D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1" r="4731"/>
          <a:stretch/>
        </p:blipFill>
        <p:spPr>
          <a:xfrm>
            <a:off x="520249" y="1613647"/>
            <a:ext cx="8103502" cy="524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44802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619FB-DF20-4CF5-A0B6-03C5B102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Mission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A7616-C7E8-4867-98E7-0A9A52C1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Consumption</a:t>
            </a:r>
          </a:p>
          <a:p>
            <a:pPr lvl="1"/>
            <a:r>
              <a:rPr lang="en-US" altLang="ko-KR" dirty="0"/>
              <a:t>12 V</a:t>
            </a:r>
            <a:r>
              <a:rPr lang="ko-KR" altLang="en-US" dirty="0"/>
              <a:t> </a:t>
            </a:r>
            <a:r>
              <a:rPr lang="en-US" altLang="ko-KR" dirty="0"/>
              <a:t>output channels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208F84-DD79-404F-8DF6-64CBCD8F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90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80C31B-6932-457E-BF48-02B8DA954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079" y="1911819"/>
            <a:ext cx="7886700" cy="462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59427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619FB-DF20-4CF5-A0B6-03C5B102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Mission Mode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1A7616-C7E8-4867-98E7-0A9A52C1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Power Consumption</a:t>
            </a:r>
          </a:p>
          <a:p>
            <a:pPr lvl="1"/>
            <a:r>
              <a:rPr lang="en-US" altLang="ko-KR" dirty="0"/>
              <a:t>Battery voltage output channels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208F84-DD79-404F-8DF6-64CBCD8F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91</a:t>
            </a:fld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34B753-A061-42FF-B4DA-0149E3D92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0473" y="1753277"/>
            <a:ext cx="8183053" cy="479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87681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63566-304F-4C6C-9349-F9169EE33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Power Budget</a:t>
            </a:r>
            <a:endParaRPr lang="ko-KR" altLang="en-US" dirty="0"/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19682875-C1F3-4242-BBFB-33FEAE4B3C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25065"/>
              </p:ext>
            </p:extLst>
          </p:nvPr>
        </p:nvGraphicFramePr>
        <p:xfrm>
          <a:off x="261597" y="1313148"/>
          <a:ext cx="8639668" cy="3363815"/>
        </p:xfrm>
        <a:graphic>
          <a:graphicData uri="http://schemas.openxmlformats.org/drawingml/2006/table">
            <a:tbl>
              <a:tblPr/>
              <a:tblGrid>
                <a:gridCol w="802428">
                  <a:extLst>
                    <a:ext uri="{9D8B030D-6E8A-4147-A177-3AD203B41FA5}">
                      <a16:colId xmlns:a16="http://schemas.microsoft.com/office/drawing/2014/main" val="2228169455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1293892332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3618521456"/>
                    </a:ext>
                  </a:extLst>
                </a:gridCol>
                <a:gridCol w="384650">
                  <a:extLst>
                    <a:ext uri="{9D8B030D-6E8A-4147-A177-3AD203B41FA5}">
                      <a16:colId xmlns:a16="http://schemas.microsoft.com/office/drawing/2014/main" val="776502351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3515478455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4224712325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2831383256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2515075390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3588406522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1903353260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2392904008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2175570486"/>
                    </a:ext>
                  </a:extLst>
                </a:gridCol>
              </a:tblGrid>
              <a:tr h="1731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Component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Product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Operations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Amount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Voltage Input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Current Draw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Current Draw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Consumption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Consumption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Duty Rate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Duty Rate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Consumption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959878"/>
                  </a:ext>
                </a:extLst>
              </a:tr>
              <a:tr h="920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Nominal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Nominal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Peak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Nominal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Peak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Nominal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Peak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Average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078480"/>
                  </a:ext>
                </a:extLst>
              </a:tr>
              <a:tr h="920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EA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W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W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W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53974"/>
                  </a:ext>
                </a:extLst>
              </a:tr>
              <a:tr h="9207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CCD Camera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B3420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12.0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0.425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0.425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5.10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5.10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365129"/>
                  </a:ext>
                </a:extLst>
              </a:tr>
              <a:tr h="173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Camera Control Board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BeagleBone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 Black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Full Load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0.210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0.460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1.05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2.30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407016"/>
                  </a:ext>
                </a:extLst>
              </a:tr>
              <a:tr h="1805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On-board Computer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ARM926EJ-S SAM9X25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Full Load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0.109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0.109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106600"/>
                  </a:ext>
                </a:extLst>
              </a:tr>
              <a:tr h="152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Temperature Sensor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0.160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450210"/>
                  </a:ext>
                </a:extLst>
              </a:tr>
              <a:tr h="1805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Inertial Measurement Unit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ICM-20689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14153"/>
                  </a:ext>
                </a:extLst>
              </a:tr>
              <a:tr h="9207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Magnetometer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MMC5883MA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349144"/>
                  </a:ext>
                </a:extLst>
              </a:tr>
              <a:tr h="9207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Fine Sun Sensor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FSS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0.023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0.023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0.08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0.08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0.08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187970"/>
                  </a:ext>
                </a:extLst>
              </a:tr>
              <a:tr h="152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Coarse Sun Sensor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CSS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147409"/>
                  </a:ext>
                </a:extLst>
              </a:tr>
              <a:tr h="9207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GNSS RX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OEM719A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0.280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0.280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0.92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0.92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0.92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773696"/>
                  </a:ext>
                </a:extLst>
              </a:tr>
              <a:tr h="9207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GNSS Antenna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TW1421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0.015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0.015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0.05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0.05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0.05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436715"/>
                  </a:ext>
                </a:extLst>
              </a:tr>
              <a:tr h="1731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Star Tracker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KU Leuven Star Tracker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782910"/>
                  </a:ext>
                </a:extLst>
              </a:tr>
              <a:tr h="92074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Magnetic Torquer</a:t>
                      </a:r>
                    </a:p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136" marR="3136" marT="31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Air Coil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Full Load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0.096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0.096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0.48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0.48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0.05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759164"/>
                  </a:ext>
                </a:extLst>
              </a:tr>
              <a:tr h="149761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3340" marR="3340" marT="33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Rod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Full Load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0.134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0.134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1.34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1.34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926582"/>
                  </a:ext>
                </a:extLst>
              </a:tr>
              <a:tr h="92074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Reaction Wheel</a:t>
                      </a:r>
                    </a:p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136" marR="3136" marT="31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CubeWheel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 Medium</a:t>
                      </a:r>
                    </a:p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136" marR="3136" marT="31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0.023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0.023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27637"/>
                  </a:ext>
                </a:extLst>
              </a:tr>
              <a:tr h="173123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3340" marR="3340" marT="33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3340" marR="3340" marT="33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 (@2000 rpm)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14.4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0.008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0.008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0.35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0.35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90%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0.31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501619"/>
                  </a:ext>
                </a:extLst>
              </a:tr>
              <a:tr h="92074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3340" marR="3340" marT="33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3340" marR="3340" marT="33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Torque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14.4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0.144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0.144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6.21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6.21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0.62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581568"/>
                  </a:ext>
                </a:extLst>
              </a:tr>
              <a:tr h="92074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UHF TRX</a:t>
                      </a:r>
                    </a:p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136" marR="3136" marT="31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AX100U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TX (max. RF)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0.800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0.850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2.64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2.81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0.14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850353"/>
                  </a:ext>
                </a:extLst>
              </a:tr>
              <a:tr h="92074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3340" marR="3340" marT="33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RX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0.055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0.120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0.18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0.40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95%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0.17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68364"/>
                  </a:ext>
                </a:extLst>
              </a:tr>
              <a:tr h="9207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UHF Antenna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UHF Antenna III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0.002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95%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198367"/>
                  </a:ext>
                </a:extLst>
              </a:tr>
              <a:tr h="92074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S-band TX</a:t>
                      </a:r>
                    </a:p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136" marR="3136" marT="31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PULSAR-STX</a:t>
                      </a:r>
                    </a:p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136" marR="3136" marT="31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Idle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0.122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0.122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0.61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0.61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384182"/>
                  </a:ext>
                </a:extLst>
              </a:tr>
              <a:tr h="92074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3340" marR="3340" marT="33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3340" marR="3340" marT="33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TX (max. RF)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0.920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1.000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4.60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505535"/>
                  </a:ext>
                </a:extLst>
              </a:tr>
              <a:tr h="9207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S-band Antenna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PULSAR-DATA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TX (max. RF)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220246"/>
                  </a:ext>
                </a:extLst>
              </a:tr>
              <a:tr h="152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PCDU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ISIS CEPS Type C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Idle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14.4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0.028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0.006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0.006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0.09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70537"/>
                  </a:ext>
                </a:extLst>
              </a:tr>
              <a:tr h="1528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Battery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NCR18650B 4S1P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Heater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14.4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0.156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0.156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2.25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2.25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881556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5591AF-CA83-4542-A068-650CD0CB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92</a:t>
            </a:fld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CD566891-896C-4D8E-B905-CD7B0E6BB89C}"/>
              </a:ext>
            </a:extLst>
          </p:cNvPr>
          <p:cNvSpPr txBox="1">
            <a:spLocks/>
          </p:cNvSpPr>
          <p:nvPr/>
        </p:nvSpPr>
        <p:spPr>
          <a:xfrm>
            <a:off x="261597" y="944688"/>
            <a:ext cx="8639665" cy="574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2000" indent="-216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Normal Mode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353C079-686C-49EC-AC51-B9B67AAFB1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508703"/>
              </p:ext>
            </p:extLst>
          </p:nvPr>
        </p:nvGraphicFramePr>
        <p:xfrm>
          <a:off x="881847" y="4785333"/>
          <a:ext cx="8019415" cy="2011680"/>
        </p:xfrm>
        <a:graphic>
          <a:graphicData uri="http://schemas.openxmlformats.org/drawingml/2006/table">
            <a:tbl>
              <a:tblPr/>
              <a:tblGrid>
                <a:gridCol w="1988815">
                  <a:extLst>
                    <a:ext uri="{9D8B030D-6E8A-4147-A177-3AD203B41FA5}">
                      <a16:colId xmlns:a16="http://schemas.microsoft.com/office/drawing/2014/main" val="301541343"/>
                    </a:ext>
                  </a:extLst>
                </a:gridCol>
                <a:gridCol w="1988815">
                  <a:extLst>
                    <a:ext uri="{9D8B030D-6E8A-4147-A177-3AD203B41FA5}">
                      <a16:colId xmlns:a16="http://schemas.microsoft.com/office/drawing/2014/main" val="2958283484"/>
                    </a:ext>
                  </a:extLst>
                </a:gridCol>
                <a:gridCol w="2584778">
                  <a:extLst>
                    <a:ext uri="{9D8B030D-6E8A-4147-A177-3AD203B41FA5}">
                      <a16:colId xmlns:a16="http://schemas.microsoft.com/office/drawing/2014/main" val="1519537811"/>
                    </a:ext>
                  </a:extLst>
                </a:gridCol>
                <a:gridCol w="430522">
                  <a:extLst>
                    <a:ext uri="{9D8B030D-6E8A-4147-A177-3AD203B41FA5}">
                      <a16:colId xmlns:a16="http://schemas.microsoft.com/office/drawing/2014/main" val="4250607878"/>
                    </a:ext>
                  </a:extLst>
                </a:gridCol>
                <a:gridCol w="1026485">
                  <a:extLst>
                    <a:ext uri="{9D8B030D-6E8A-4147-A177-3AD203B41FA5}">
                      <a16:colId xmlns:a16="http://schemas.microsoft.com/office/drawing/2014/main" val="2815211211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Consumption (W)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Total Average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3.43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842047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Peak Load (A)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 V (Mother)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&lt; 2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3991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 V (Mother)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0.41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&lt; 2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647305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 V (Daughter)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&lt; 2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74110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12.0 V (Daughter)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&lt; 2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886504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VBATT (Mother)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0.51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&lt; 2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11672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Total Battery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2.42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&lt; 4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656523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Generation (W)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Orbit Average (EOL)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13.34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Sun-pointing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259449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Margin Value (W)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Orbit Average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9.91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777576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Margin (%)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Orbit Average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289.38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&gt; 30%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748479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Battery Capacity (Wh)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Orbit Average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11.49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460497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Battery Capacity (Ah)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Orbit Average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9398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499758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63566-304F-4C6C-9349-F9169EE33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Power Budget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5591AF-CA83-4542-A068-650CD0CB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93</a:t>
            </a:fld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CD566891-896C-4D8E-B905-CD7B0E6BB89C}"/>
              </a:ext>
            </a:extLst>
          </p:cNvPr>
          <p:cNvSpPr txBox="1">
            <a:spLocks/>
          </p:cNvSpPr>
          <p:nvPr/>
        </p:nvSpPr>
        <p:spPr>
          <a:xfrm>
            <a:off x="261597" y="944688"/>
            <a:ext cx="8639665" cy="574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2000" indent="-216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Mission Mode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1B75850-3296-412C-89DC-3B0F599CB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182508"/>
              </p:ext>
            </p:extLst>
          </p:nvPr>
        </p:nvGraphicFramePr>
        <p:xfrm>
          <a:off x="1219490" y="4855002"/>
          <a:ext cx="6723878" cy="1920240"/>
        </p:xfrm>
        <a:graphic>
          <a:graphicData uri="http://schemas.openxmlformats.org/drawingml/2006/table">
            <a:tbl>
              <a:tblPr/>
              <a:tblGrid>
                <a:gridCol w="1667522">
                  <a:extLst>
                    <a:ext uri="{9D8B030D-6E8A-4147-A177-3AD203B41FA5}">
                      <a16:colId xmlns:a16="http://schemas.microsoft.com/office/drawing/2014/main" val="1511612954"/>
                    </a:ext>
                  </a:extLst>
                </a:gridCol>
                <a:gridCol w="1667522">
                  <a:extLst>
                    <a:ext uri="{9D8B030D-6E8A-4147-A177-3AD203B41FA5}">
                      <a16:colId xmlns:a16="http://schemas.microsoft.com/office/drawing/2014/main" val="3387414331"/>
                    </a:ext>
                  </a:extLst>
                </a:gridCol>
                <a:gridCol w="2160818">
                  <a:extLst>
                    <a:ext uri="{9D8B030D-6E8A-4147-A177-3AD203B41FA5}">
                      <a16:colId xmlns:a16="http://schemas.microsoft.com/office/drawing/2014/main" val="1214855956"/>
                    </a:ext>
                  </a:extLst>
                </a:gridCol>
                <a:gridCol w="367360">
                  <a:extLst>
                    <a:ext uri="{9D8B030D-6E8A-4147-A177-3AD203B41FA5}">
                      <a16:colId xmlns:a16="http://schemas.microsoft.com/office/drawing/2014/main" val="2769500214"/>
                    </a:ext>
                  </a:extLst>
                </a:gridCol>
                <a:gridCol w="860656">
                  <a:extLst>
                    <a:ext uri="{9D8B030D-6E8A-4147-A177-3AD203B41FA5}">
                      <a16:colId xmlns:a16="http://schemas.microsoft.com/office/drawing/2014/main" val="1776503929"/>
                    </a:ext>
                  </a:extLst>
                </a:gridCol>
              </a:tblGrid>
              <a:tr h="1284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Consumption (W)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Total Average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5.56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540205"/>
                  </a:ext>
                </a:extLst>
              </a:tr>
              <a:tr h="1284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Peak Load (A)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 V (Mother)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&lt; 2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4827574"/>
                  </a:ext>
                </a:extLst>
              </a:tr>
              <a:tr h="1284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 V (Mother)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1.88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&lt; 2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2700680"/>
                  </a:ext>
                </a:extLst>
              </a:tr>
              <a:tr h="1284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 V (Daughter)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&lt; 2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8982801"/>
                  </a:ext>
                </a:extLst>
              </a:tr>
              <a:tr h="1284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12.0 V (Daughter)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&lt; 2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140739"/>
                  </a:ext>
                </a:extLst>
              </a:tr>
              <a:tr h="1284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VBATT (Mother)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0.51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&lt; 2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92596"/>
                  </a:ext>
                </a:extLst>
              </a:tr>
              <a:tr h="1284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Total Battery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3.89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&lt; 4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968736"/>
                  </a:ext>
                </a:extLst>
              </a:tr>
              <a:tr h="1284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Generation (W)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Orbit Average (EOL)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12.18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Nadir-pointing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3208314"/>
                  </a:ext>
                </a:extLst>
              </a:tr>
              <a:tr h="1284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Margin Value (W)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Orbit Average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6.62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4946263"/>
                  </a:ext>
                </a:extLst>
              </a:tr>
              <a:tr h="1284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Margin (%)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Orbit Average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119.21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&gt; 30%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0278829"/>
                  </a:ext>
                </a:extLst>
              </a:tr>
              <a:tr h="1284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Battery Capacity (Wh)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Orbit Average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18.63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7207199"/>
                  </a:ext>
                </a:extLst>
              </a:tr>
              <a:tr h="1336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Battery Capacity (Ah)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Orbit Average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1.29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5292648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00FABF57-4342-469B-BB9A-4E88EE20E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97" y="1313148"/>
            <a:ext cx="8639665" cy="336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54514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63566-304F-4C6C-9349-F9169EE33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Power Budget</a:t>
            </a:r>
            <a:endParaRPr lang="ko-KR" altLang="en-US" dirty="0"/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19682875-C1F3-4242-BBFB-33FEAE4B3C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5837047"/>
              </p:ext>
            </p:extLst>
          </p:nvPr>
        </p:nvGraphicFramePr>
        <p:xfrm>
          <a:off x="261597" y="1313148"/>
          <a:ext cx="8639668" cy="3438241"/>
        </p:xfrm>
        <a:graphic>
          <a:graphicData uri="http://schemas.openxmlformats.org/drawingml/2006/table">
            <a:tbl>
              <a:tblPr/>
              <a:tblGrid>
                <a:gridCol w="802428">
                  <a:extLst>
                    <a:ext uri="{9D8B030D-6E8A-4147-A177-3AD203B41FA5}">
                      <a16:colId xmlns:a16="http://schemas.microsoft.com/office/drawing/2014/main" val="2228169455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1293892332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3618521456"/>
                    </a:ext>
                  </a:extLst>
                </a:gridCol>
                <a:gridCol w="384650">
                  <a:extLst>
                    <a:ext uri="{9D8B030D-6E8A-4147-A177-3AD203B41FA5}">
                      <a16:colId xmlns:a16="http://schemas.microsoft.com/office/drawing/2014/main" val="776502351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3515478455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4224712325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2831383256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2515075390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3588406522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1903353260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2392904008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2175570486"/>
                    </a:ext>
                  </a:extLst>
                </a:gridCol>
              </a:tblGrid>
              <a:tr h="1748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Component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Product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Operations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Amount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Voltage Input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Current Draw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Current Draw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Consumption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Consumption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Duty Rate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Duty Rate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Consumption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959878"/>
                  </a:ext>
                </a:extLst>
              </a:tr>
              <a:tr h="9719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Nominal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Nominal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Peak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Nominal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Peak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Nominal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Peak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Average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078480"/>
                  </a:ext>
                </a:extLst>
              </a:tr>
              <a:tr h="9719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EA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53974"/>
                  </a:ext>
                </a:extLst>
              </a:tr>
              <a:tr h="97190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CCD Camera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B3420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12.0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0.425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0.425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365129"/>
                  </a:ext>
                </a:extLst>
              </a:tr>
              <a:tr h="174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Camera Control Board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BeagleBone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 Black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Full Load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0.460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2.30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407016"/>
                  </a:ext>
                </a:extLst>
              </a:tr>
              <a:tr h="1831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On-board Computer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ARM926EJ-S SAM9X25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Full Load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106600"/>
                  </a:ext>
                </a:extLst>
              </a:tr>
              <a:tr h="1543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Temperature Sensor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450210"/>
                  </a:ext>
                </a:extLst>
              </a:tr>
              <a:tr h="1831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Inertial Measurement Unit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ICM-20689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14153"/>
                  </a:ext>
                </a:extLst>
              </a:tr>
              <a:tr h="97190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Magnetometer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MMC5883MA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349144"/>
                  </a:ext>
                </a:extLst>
              </a:tr>
              <a:tr h="97190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Fine Sun Sensor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FSS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187970"/>
                  </a:ext>
                </a:extLst>
              </a:tr>
              <a:tr h="1543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Coarse Sun Sensor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CSS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147409"/>
                  </a:ext>
                </a:extLst>
              </a:tr>
              <a:tr h="97190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GNSS RX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OEM719A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0.92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0.92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0.92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773696"/>
                  </a:ext>
                </a:extLst>
              </a:tr>
              <a:tr h="97190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GNSS Antenna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TW1421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436715"/>
                  </a:ext>
                </a:extLst>
              </a:tr>
              <a:tr h="174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Star Tracker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KU Leuven Star Tracker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782910"/>
                  </a:ext>
                </a:extLst>
              </a:tr>
              <a:tr h="9719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Magnetic Torquer</a:t>
                      </a:r>
                    </a:p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136" marR="3136" marT="31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Air Coil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Full Load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0.096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0.096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0.48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0.48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759164"/>
                  </a:ext>
                </a:extLst>
              </a:tr>
              <a:tr h="151254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3340" marR="3340" marT="33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Rod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Full Load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926582"/>
                  </a:ext>
                </a:extLst>
              </a:tr>
              <a:tr h="97190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Reaction Wheel</a:t>
                      </a:r>
                    </a:p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136" marR="3136" marT="31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CubeWheel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 Medium</a:t>
                      </a:r>
                    </a:p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136" marR="3136" marT="31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27637"/>
                  </a:ext>
                </a:extLst>
              </a:tr>
              <a:tr h="17485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3340" marR="3340" marT="33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3340" marR="3340" marT="33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 (@2000 rpm)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14.4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0.35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0.35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80%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501619"/>
                  </a:ext>
                </a:extLst>
              </a:tr>
              <a:tr h="9719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3340" marR="3340" marT="33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3340" marR="3340" marT="33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Torque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14.4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0.144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0.144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6.21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6.21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1.24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581568"/>
                  </a:ext>
                </a:extLst>
              </a:tr>
              <a:tr h="9719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UHF TRX</a:t>
                      </a:r>
                    </a:p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136" marR="3136" marT="31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AX100U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TX (max. RF)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0.800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0.850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2.64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2.81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850353"/>
                  </a:ext>
                </a:extLst>
              </a:tr>
              <a:tr h="9719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3340" marR="3340" marT="33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RX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0.055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95%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68364"/>
                  </a:ext>
                </a:extLst>
              </a:tr>
              <a:tr h="97190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UHF Antenna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UHF Antenna III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95%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198367"/>
                  </a:ext>
                </a:extLst>
              </a:tr>
              <a:tr h="9719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S-band TX</a:t>
                      </a:r>
                    </a:p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136" marR="3136" marT="31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PULSAR-STX</a:t>
                      </a:r>
                    </a:p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136" marR="3136" marT="31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Idle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0.122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0.122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0.61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0.61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90%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0.55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384182"/>
                  </a:ext>
                </a:extLst>
              </a:tr>
              <a:tr h="9719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3340" marR="3340" marT="33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3340" marR="3340" marT="33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TX (max. RF)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0.920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4.60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505535"/>
                  </a:ext>
                </a:extLst>
              </a:tr>
              <a:tr h="97190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S-band Antenna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PULSAR-DATA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TX (max. RF)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220246"/>
                  </a:ext>
                </a:extLst>
              </a:tr>
              <a:tr h="1543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PCDU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ISIS CEPS Type C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Idle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14.4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0.028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70537"/>
                  </a:ext>
                </a:extLst>
              </a:tr>
              <a:tr h="1543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Battery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NCR18650B 4S1P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Heater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14.4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0.156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0.156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2.25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2.25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881556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5591AF-CA83-4542-A068-650CD0CB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94</a:t>
            </a:fld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5E3FCD3-D114-4093-B313-AEA2F4C8830D}"/>
              </a:ext>
            </a:extLst>
          </p:cNvPr>
          <p:cNvSpPr txBox="1">
            <a:spLocks/>
          </p:cNvSpPr>
          <p:nvPr/>
        </p:nvSpPr>
        <p:spPr>
          <a:xfrm>
            <a:off x="261597" y="944688"/>
            <a:ext cx="8639665" cy="574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2000" indent="-216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Communication Mode</a:t>
            </a:r>
            <a:endParaRPr lang="ko-KR" altLang="en-US" dirty="0"/>
          </a:p>
        </p:txBody>
      </p:sp>
      <p:graphicFrame>
        <p:nvGraphicFramePr>
          <p:cNvPr id="7" name="내용 개체 틀 9">
            <a:extLst>
              <a:ext uri="{FF2B5EF4-FFF2-40B4-BE49-F238E27FC236}">
                <a16:creationId xmlns:a16="http://schemas.microsoft.com/office/drawing/2014/main" id="{BF04E717-6E8C-493D-9DF5-3343063C22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3989079"/>
              </p:ext>
            </p:extLst>
          </p:nvPr>
        </p:nvGraphicFramePr>
        <p:xfrm>
          <a:off x="781815" y="4856402"/>
          <a:ext cx="7872635" cy="2011680"/>
        </p:xfrm>
        <a:graphic>
          <a:graphicData uri="http://schemas.openxmlformats.org/drawingml/2006/table">
            <a:tbl>
              <a:tblPr/>
              <a:tblGrid>
                <a:gridCol w="1988815">
                  <a:extLst>
                    <a:ext uri="{9D8B030D-6E8A-4147-A177-3AD203B41FA5}">
                      <a16:colId xmlns:a16="http://schemas.microsoft.com/office/drawing/2014/main" val="4199673757"/>
                    </a:ext>
                  </a:extLst>
                </a:gridCol>
                <a:gridCol w="1988815">
                  <a:extLst>
                    <a:ext uri="{9D8B030D-6E8A-4147-A177-3AD203B41FA5}">
                      <a16:colId xmlns:a16="http://schemas.microsoft.com/office/drawing/2014/main" val="1231280176"/>
                    </a:ext>
                  </a:extLst>
                </a:gridCol>
                <a:gridCol w="2593986">
                  <a:extLst>
                    <a:ext uri="{9D8B030D-6E8A-4147-A177-3AD203B41FA5}">
                      <a16:colId xmlns:a16="http://schemas.microsoft.com/office/drawing/2014/main" val="2431390217"/>
                    </a:ext>
                  </a:extLst>
                </a:gridCol>
                <a:gridCol w="430943">
                  <a:extLst>
                    <a:ext uri="{9D8B030D-6E8A-4147-A177-3AD203B41FA5}">
                      <a16:colId xmlns:a16="http://schemas.microsoft.com/office/drawing/2014/main" val="1979742349"/>
                    </a:ext>
                  </a:extLst>
                </a:gridCol>
                <a:gridCol w="135160">
                  <a:extLst>
                    <a:ext uri="{9D8B030D-6E8A-4147-A177-3AD203B41FA5}">
                      <a16:colId xmlns:a16="http://schemas.microsoft.com/office/drawing/2014/main" val="4199198990"/>
                    </a:ext>
                  </a:extLst>
                </a:gridCol>
                <a:gridCol w="734916">
                  <a:extLst>
                    <a:ext uri="{9D8B030D-6E8A-4147-A177-3AD203B41FA5}">
                      <a16:colId xmlns:a16="http://schemas.microsoft.com/office/drawing/2014/main" val="3994203736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Consumption (W)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Total Average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2.34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1131979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Peak Load (A)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 V (Mother)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1.17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&lt; 2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02651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 V (Mother)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0.41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&lt; 2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321855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 V (Daughter)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&lt; 2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2060565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12.0 V (Daughter)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&lt; 2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7214528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VBATT (Mother)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0.51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&lt; 2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2677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Total Battery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2.09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&lt; 4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8597249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Generation (W)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Orbit Average (EOL)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13.34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Sun-pointing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33977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Margin Value (W)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Orbit Average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11.00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98594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Margin (%)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Orbit Average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469.05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&gt; 30%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087909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Battery Capacity (Wh)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Orbit Average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7.86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71514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Battery Capacity (Ah)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Orbit Average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0.55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9971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829495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63566-304F-4C6C-9349-F9169EE33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Power Budget</a:t>
            </a:r>
            <a:endParaRPr lang="ko-KR" altLang="en-US" dirty="0"/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19682875-C1F3-4242-BBFB-33FEAE4B3C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6211681"/>
              </p:ext>
            </p:extLst>
          </p:nvPr>
        </p:nvGraphicFramePr>
        <p:xfrm>
          <a:off x="261597" y="1313149"/>
          <a:ext cx="8639668" cy="3441917"/>
        </p:xfrm>
        <a:graphic>
          <a:graphicData uri="http://schemas.openxmlformats.org/drawingml/2006/table">
            <a:tbl>
              <a:tblPr/>
              <a:tblGrid>
                <a:gridCol w="802428">
                  <a:extLst>
                    <a:ext uri="{9D8B030D-6E8A-4147-A177-3AD203B41FA5}">
                      <a16:colId xmlns:a16="http://schemas.microsoft.com/office/drawing/2014/main" val="2228169455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1293892332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3618521456"/>
                    </a:ext>
                  </a:extLst>
                </a:gridCol>
                <a:gridCol w="384650">
                  <a:extLst>
                    <a:ext uri="{9D8B030D-6E8A-4147-A177-3AD203B41FA5}">
                      <a16:colId xmlns:a16="http://schemas.microsoft.com/office/drawing/2014/main" val="776502351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3515478455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4224712325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2831383256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2515075390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3588406522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1903353260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2392904008"/>
                    </a:ext>
                  </a:extLst>
                </a:gridCol>
                <a:gridCol w="745259">
                  <a:extLst>
                    <a:ext uri="{9D8B030D-6E8A-4147-A177-3AD203B41FA5}">
                      <a16:colId xmlns:a16="http://schemas.microsoft.com/office/drawing/2014/main" val="2175570486"/>
                    </a:ext>
                  </a:extLst>
                </a:gridCol>
              </a:tblGrid>
              <a:tr h="1796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Component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Product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Operations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Amount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Voltage Input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Current Draw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Current Draw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Consumption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Consumption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Duty Rate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Duty Rate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Consumption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959878"/>
                  </a:ext>
                </a:extLst>
              </a:tr>
              <a:tr h="966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Nominal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Nominal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Peak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Nominal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Peak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Nominal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Peak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Average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078480"/>
                  </a:ext>
                </a:extLst>
              </a:tr>
              <a:tr h="966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EA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V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53974"/>
                  </a:ext>
                </a:extLst>
              </a:tr>
              <a:tr h="966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CCD Camera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B3420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12.0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0.425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0.425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365129"/>
                  </a:ext>
                </a:extLst>
              </a:tr>
              <a:tr h="1746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Camera Control Board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BeagleBone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 Black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Full Load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0.460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2.30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407016"/>
                  </a:ext>
                </a:extLst>
              </a:tr>
              <a:tr h="182118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On-board Computer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ARM926EJ-S SAM9X25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Full Load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0.36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106600"/>
                  </a:ext>
                </a:extLst>
              </a:tr>
              <a:tr h="1542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Temperature Sensor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450210"/>
                  </a:ext>
                </a:extLst>
              </a:tr>
              <a:tr h="1746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Inertial Measurement Unit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ICM-20689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14153"/>
                  </a:ext>
                </a:extLst>
              </a:tr>
              <a:tr h="966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Magnetometer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MMC5883MA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349144"/>
                  </a:ext>
                </a:extLst>
              </a:tr>
              <a:tr h="966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Fine Sun Sensor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FSS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187970"/>
                  </a:ext>
                </a:extLst>
              </a:tr>
              <a:tr h="1542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Coarse Sun Sensor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CSS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147409"/>
                  </a:ext>
                </a:extLst>
              </a:tr>
              <a:tr h="966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GNSS RX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OEM719A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0.92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0.92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773696"/>
                  </a:ext>
                </a:extLst>
              </a:tr>
              <a:tr h="966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GNSS Antenna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TW1421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436715"/>
                  </a:ext>
                </a:extLst>
              </a:tr>
              <a:tr h="1746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Star Tracker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KU Leuven Star Tracker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782910"/>
                  </a:ext>
                </a:extLst>
              </a:tr>
              <a:tr h="96656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Magnetic Torquer</a:t>
                      </a:r>
                    </a:p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136" marR="3136" marT="31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Air Coil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Full Load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0.096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0.096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0.48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0.48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759164"/>
                  </a:ext>
                </a:extLst>
              </a:tr>
              <a:tr h="151099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3340" marR="3340" marT="33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Rod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Full Load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926582"/>
                  </a:ext>
                </a:extLst>
              </a:tr>
              <a:tr h="96656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Reaction Wheel</a:t>
                      </a:r>
                    </a:p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136" marR="3136" marT="31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CubeWheel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 Medium</a:t>
                      </a:r>
                    </a:p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136" marR="3136" marT="31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27637"/>
                  </a:ext>
                </a:extLst>
              </a:tr>
              <a:tr h="174670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3340" marR="3340" marT="33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3340" marR="3340" marT="33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 (@2000 rpm)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14.4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0.35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0.35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90%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0.31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501619"/>
                  </a:ext>
                </a:extLst>
              </a:tr>
              <a:tr h="9665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3340" marR="3340" marT="33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3340" marR="3340" marT="33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Torque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14.4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0.144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0.144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6.21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6.21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0.62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581568"/>
                  </a:ext>
                </a:extLst>
              </a:tr>
              <a:tr h="96656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UHF TRX</a:t>
                      </a:r>
                    </a:p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136" marR="3136" marT="31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AX100U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TX (max. RF)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0.800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0.850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2.64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2.81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850353"/>
                  </a:ext>
                </a:extLst>
              </a:tr>
              <a:tr h="9665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3340" marR="3340" marT="33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RX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0.055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95%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68364"/>
                  </a:ext>
                </a:extLst>
              </a:tr>
              <a:tr h="966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UHF Antenna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UHF Antenna III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Steady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95%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198367"/>
                  </a:ext>
                </a:extLst>
              </a:tr>
              <a:tr h="96656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S-band TX</a:t>
                      </a:r>
                    </a:p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136" marR="3136" marT="31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PULSAR-STX</a:t>
                      </a:r>
                    </a:p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136" marR="3136" marT="313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Idle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0.122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0.122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0.61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0.61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384182"/>
                  </a:ext>
                </a:extLst>
              </a:tr>
              <a:tr h="96656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3340" marR="3340" marT="33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3340" marR="3340" marT="33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TX (max. RF)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0.920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4.60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505535"/>
                  </a:ext>
                </a:extLst>
              </a:tr>
              <a:tr h="966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S-band Antenna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PULSAR-DATA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TX (max. RF)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220246"/>
                  </a:ext>
                </a:extLst>
              </a:tr>
              <a:tr h="1542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PCDU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ISIS CEPS Type C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Idle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14.4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0.028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70537"/>
                  </a:ext>
                </a:extLst>
              </a:tr>
              <a:tr h="1542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Battery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NCR18650B 4S1P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Heater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14.4</a:t>
                      </a:r>
                    </a:p>
                  </a:txBody>
                  <a:tcPr marL="3767" marR="3767" marT="376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0.156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0.156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2.25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2.25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881556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5591AF-CA83-4542-A068-650CD0CB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CCDA-EFB7-4510-B5AC-E1A6C3BAF9C5}" type="slidenum">
              <a:rPr lang="en-US" altLang="ko-KR" smtClean="0"/>
              <a:pPr/>
              <a:t>95</a:t>
            </a:fld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F8BDCEB-4E8D-4918-B947-1BE34E0D4C95}"/>
              </a:ext>
            </a:extLst>
          </p:cNvPr>
          <p:cNvSpPr txBox="1">
            <a:spLocks/>
          </p:cNvSpPr>
          <p:nvPr/>
        </p:nvSpPr>
        <p:spPr>
          <a:xfrm>
            <a:off x="261597" y="944688"/>
            <a:ext cx="8639665" cy="574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2000" indent="-216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맑은 고딕" panose="020B0503020000020004" pitchFamily="50" charset="-127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Charge Mode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57A9D03-D3EE-4FD8-A0DA-F51F2A17B4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710910"/>
              </p:ext>
            </p:extLst>
          </p:nvPr>
        </p:nvGraphicFramePr>
        <p:xfrm>
          <a:off x="645112" y="4851508"/>
          <a:ext cx="7872633" cy="1981200"/>
        </p:xfrm>
        <a:graphic>
          <a:graphicData uri="http://schemas.openxmlformats.org/drawingml/2006/table">
            <a:tbl>
              <a:tblPr/>
              <a:tblGrid>
                <a:gridCol w="1952413">
                  <a:extLst>
                    <a:ext uri="{9D8B030D-6E8A-4147-A177-3AD203B41FA5}">
                      <a16:colId xmlns:a16="http://schemas.microsoft.com/office/drawing/2014/main" val="2211393804"/>
                    </a:ext>
                  </a:extLst>
                </a:gridCol>
                <a:gridCol w="1952413">
                  <a:extLst>
                    <a:ext uri="{9D8B030D-6E8A-4147-A177-3AD203B41FA5}">
                      <a16:colId xmlns:a16="http://schemas.microsoft.com/office/drawing/2014/main" val="944915212"/>
                    </a:ext>
                  </a:extLst>
                </a:gridCol>
                <a:gridCol w="2660419">
                  <a:extLst>
                    <a:ext uri="{9D8B030D-6E8A-4147-A177-3AD203B41FA5}">
                      <a16:colId xmlns:a16="http://schemas.microsoft.com/office/drawing/2014/main" val="2474338479"/>
                    </a:ext>
                  </a:extLst>
                </a:gridCol>
                <a:gridCol w="408878">
                  <a:extLst>
                    <a:ext uri="{9D8B030D-6E8A-4147-A177-3AD203B41FA5}">
                      <a16:colId xmlns:a16="http://schemas.microsoft.com/office/drawing/2014/main" val="2052160813"/>
                    </a:ext>
                  </a:extLst>
                </a:gridCol>
                <a:gridCol w="898510">
                  <a:extLst>
                    <a:ext uri="{9D8B030D-6E8A-4147-A177-3AD203B41FA5}">
                      <a16:colId xmlns:a16="http://schemas.microsoft.com/office/drawing/2014/main" val="3723467082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Consumption (W)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Total Average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78220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Peak Load (A)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3.3 V (Mother)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&lt; 2 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848486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 V (Mother)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&lt; 2 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42129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5.0 V (Daughter)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&lt; 2 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898940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12.0 V (Daughter)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&lt; 2 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9504075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VBATT (Mother)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0.51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&lt; 2 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per Ch.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960864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Total Battery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3.62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&lt; 4 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051245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Generation (W)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Orbit Average (EOL)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12.18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Nadir-pointing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47575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Margin Value (W)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Orbit Average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7.10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2528239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Power Margin (%)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Orbit Average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139.96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&gt; 30%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940285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Battery Capacity (Wh)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Orbit Average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17.02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044173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Battery Capacity (Ah)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Orbit Average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ea typeface="맑은 고딕" panose="020B0503020000020004" pitchFamily="50" charset="-127"/>
                        </a:rPr>
                        <a:t>1.18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0071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0319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Tahoma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12446</TotalTime>
  <Words>7832</Words>
  <Application>Microsoft Office PowerPoint</Application>
  <PresentationFormat>화면 슬라이드 쇼(4:3)</PresentationFormat>
  <Paragraphs>3327</Paragraphs>
  <Slides>95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95</vt:i4>
      </vt:variant>
    </vt:vector>
  </HeadingPairs>
  <TitlesOfParts>
    <vt:vector size="102" baseType="lpstr">
      <vt:lpstr>맑은 고딕</vt:lpstr>
      <vt:lpstr>Arial</vt:lpstr>
      <vt:lpstr>Cambria Math</vt:lpstr>
      <vt:lpstr>Tahoma</vt:lpstr>
      <vt:lpstr>times</vt:lpstr>
      <vt:lpstr>Wingdings</vt:lpstr>
      <vt:lpstr>Office 테마</vt:lpstr>
      <vt:lpstr>Electrical Power Subsystem</vt:lpstr>
      <vt:lpstr>Contents</vt:lpstr>
      <vt:lpstr>Overview</vt:lpstr>
      <vt:lpstr>Introduction</vt:lpstr>
      <vt:lpstr>EPS Architecture</vt:lpstr>
      <vt:lpstr>Requirements &amp; Constraints</vt:lpstr>
      <vt:lpstr>Subsystem Requirement [1/2]</vt:lpstr>
      <vt:lpstr>Subsystem Requirement [2/2]</vt:lpstr>
      <vt:lpstr>Component Requirement [1/3]</vt:lpstr>
      <vt:lpstr>Component Requirement [2/3]</vt:lpstr>
      <vt:lpstr>Component Requirement [3/3]</vt:lpstr>
      <vt:lpstr>EPS Specification</vt:lpstr>
      <vt:lpstr>Components &amp; Interface</vt:lpstr>
      <vt:lpstr>EPS Components [1/4]</vt:lpstr>
      <vt:lpstr>EPS Components [2/4]</vt:lpstr>
      <vt:lpstr>EPS Components [3/4]</vt:lpstr>
      <vt:lpstr>EPS Components [4/4]</vt:lpstr>
      <vt:lpstr>EPS Interface</vt:lpstr>
      <vt:lpstr>Electrical Power Budget</vt:lpstr>
      <vt:lpstr>Overview</vt:lpstr>
      <vt:lpstr>Power Generation</vt:lpstr>
      <vt:lpstr>System Operations</vt:lpstr>
      <vt:lpstr>Electrical Power Margin</vt:lpstr>
      <vt:lpstr>Energy Balance Analysis</vt:lpstr>
      <vt:lpstr>Overview</vt:lpstr>
      <vt:lpstr>Mathematical Model [1/6]</vt:lpstr>
      <vt:lpstr>Mathematical Model [2/6]</vt:lpstr>
      <vt:lpstr>Mathematical Model [3/6]</vt:lpstr>
      <vt:lpstr>Mathematical Model [4/6]</vt:lpstr>
      <vt:lpstr>Mathematical Model [5/6]</vt:lpstr>
      <vt:lpstr>Mathematical Model [6/6]</vt:lpstr>
      <vt:lpstr>Simulation Results [1/2] </vt:lpstr>
      <vt:lpstr>Simulation Results [2/2] </vt:lpstr>
      <vt:lpstr>Verification Plan</vt:lpstr>
      <vt:lpstr>Component Level Testing [1/2]</vt:lpstr>
      <vt:lpstr>Component Level Testing [2/2]</vt:lpstr>
      <vt:lpstr>Integration Level Testing</vt:lpstr>
      <vt:lpstr>Conclusion</vt:lpstr>
      <vt:lpstr>Summary</vt:lpstr>
      <vt:lpstr>Issue and Concern</vt:lpstr>
      <vt:lpstr>Future Works</vt:lpstr>
      <vt:lpstr>Question &amp; Answer</vt:lpstr>
      <vt:lpstr>Appendix. </vt:lpstr>
      <vt:lpstr>Risk Management [1/2]</vt:lpstr>
      <vt:lpstr>Risk Management [2/2]</vt:lpstr>
      <vt:lpstr>Product Assurance Plan</vt:lpstr>
      <vt:lpstr>EPS Schedule [1/5]</vt:lpstr>
      <vt:lpstr>EPS Schedule [2/5]</vt:lpstr>
      <vt:lpstr>EPS Schedule [3/5]</vt:lpstr>
      <vt:lpstr>EPS Schedule [4/5]</vt:lpstr>
      <vt:lpstr>EPS Schedule [5/5]</vt:lpstr>
      <vt:lpstr>Wire Diagram [1/4]</vt:lpstr>
      <vt:lpstr>Wire Diagram [2/4]</vt:lpstr>
      <vt:lpstr>Wire Diagram [3/4]</vt:lpstr>
      <vt:lpstr>Wire Diagram [4/4]</vt:lpstr>
      <vt:lpstr>Normal Mode</vt:lpstr>
      <vt:lpstr>Normal Mode</vt:lpstr>
      <vt:lpstr>Normal Mode</vt:lpstr>
      <vt:lpstr>Normal Mode</vt:lpstr>
      <vt:lpstr>Normal Mode</vt:lpstr>
      <vt:lpstr>Normal Mode</vt:lpstr>
      <vt:lpstr>Normal Mode</vt:lpstr>
      <vt:lpstr>Communication Mode</vt:lpstr>
      <vt:lpstr>Communication Mode (Day)</vt:lpstr>
      <vt:lpstr>Communication Mode (Day)</vt:lpstr>
      <vt:lpstr>Communication Mode (Day)</vt:lpstr>
      <vt:lpstr>Communication Mode (Day)</vt:lpstr>
      <vt:lpstr>Communication Mode (Day)</vt:lpstr>
      <vt:lpstr>Communication Mode (Day)</vt:lpstr>
      <vt:lpstr>Communication Mode (Eclipse)</vt:lpstr>
      <vt:lpstr>Communication Mode (Eclipse)</vt:lpstr>
      <vt:lpstr>Communication Mode (Eclipse)</vt:lpstr>
      <vt:lpstr>Communication Mode (Eclipse)</vt:lpstr>
      <vt:lpstr>Communication Mode (Eclipse)</vt:lpstr>
      <vt:lpstr>Communication Mode (Eclipse)</vt:lpstr>
      <vt:lpstr>Communication Mode (Eclipse)</vt:lpstr>
      <vt:lpstr>Charge Mode</vt:lpstr>
      <vt:lpstr>Charge Mode</vt:lpstr>
      <vt:lpstr>Charge Mode</vt:lpstr>
      <vt:lpstr>Charge Mode</vt:lpstr>
      <vt:lpstr>Charge Mode</vt:lpstr>
      <vt:lpstr>Charge Mode</vt:lpstr>
      <vt:lpstr>Charge Mode</vt:lpstr>
      <vt:lpstr>Mission Mode</vt:lpstr>
      <vt:lpstr>Mission Mode</vt:lpstr>
      <vt:lpstr>Mission Mode</vt:lpstr>
      <vt:lpstr>Mission Mode</vt:lpstr>
      <vt:lpstr>Mission Mode</vt:lpstr>
      <vt:lpstr>Mission Mode</vt:lpstr>
      <vt:lpstr>Mission Mode</vt:lpstr>
      <vt:lpstr>Mission Mode</vt:lpstr>
      <vt:lpstr>Power Budget</vt:lpstr>
      <vt:lpstr>Power Budget</vt:lpstr>
      <vt:lpstr>Power Budget</vt:lpstr>
      <vt:lpstr>Power Budget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jin sungmin</dc:creator>
  <cp:lastModifiedBy>진성민</cp:lastModifiedBy>
  <cp:revision>1307</cp:revision>
  <dcterms:created xsi:type="dcterms:W3CDTF">2019-05-19T10:40:51Z</dcterms:created>
  <dcterms:modified xsi:type="dcterms:W3CDTF">2020-10-25T11:53:21Z</dcterms:modified>
</cp:coreProperties>
</file>