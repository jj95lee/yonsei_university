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3"/>
  </p:notesMasterIdLst>
  <p:handoutMasterIdLst>
    <p:handoutMasterId r:id="rId74"/>
  </p:handoutMasterIdLst>
  <p:sldIdLst>
    <p:sldId id="2550" r:id="rId2"/>
    <p:sldId id="2239" r:id="rId3"/>
    <p:sldId id="2554" r:id="rId4"/>
    <p:sldId id="2565" r:id="rId5"/>
    <p:sldId id="2743" r:id="rId6"/>
    <p:sldId id="2347" r:id="rId7"/>
    <p:sldId id="2747" r:id="rId8"/>
    <p:sldId id="2748" r:id="rId9"/>
    <p:sldId id="2749" r:id="rId10"/>
    <p:sldId id="2745" r:id="rId11"/>
    <p:sldId id="2742" r:id="rId12"/>
    <p:sldId id="2706" r:id="rId13"/>
    <p:sldId id="2647" r:id="rId14"/>
    <p:sldId id="2750" r:id="rId15"/>
    <p:sldId id="2751" r:id="rId16"/>
    <p:sldId id="2752" r:id="rId17"/>
    <p:sldId id="2753" r:id="rId18"/>
    <p:sldId id="2754" r:id="rId19"/>
    <p:sldId id="2755" r:id="rId20"/>
    <p:sldId id="2756" r:id="rId21"/>
    <p:sldId id="2697" r:id="rId22"/>
    <p:sldId id="2757" r:id="rId23"/>
    <p:sldId id="2758" r:id="rId24"/>
    <p:sldId id="2759" r:id="rId25"/>
    <p:sldId id="2760" r:id="rId26"/>
    <p:sldId id="2761" r:id="rId27"/>
    <p:sldId id="2762" r:id="rId28"/>
    <p:sldId id="2763" r:id="rId29"/>
    <p:sldId id="2765" r:id="rId30"/>
    <p:sldId id="2766" r:id="rId31"/>
    <p:sldId id="2764" r:id="rId32"/>
    <p:sldId id="2768" r:id="rId33"/>
    <p:sldId id="2767" r:id="rId34"/>
    <p:sldId id="2769" r:id="rId35"/>
    <p:sldId id="2770" r:id="rId36"/>
    <p:sldId id="2771" r:id="rId37"/>
    <p:sldId id="2772" r:id="rId38"/>
    <p:sldId id="2773" r:id="rId39"/>
    <p:sldId id="2774" r:id="rId40"/>
    <p:sldId id="2775" r:id="rId41"/>
    <p:sldId id="2776" r:id="rId42"/>
    <p:sldId id="2693" r:id="rId43"/>
    <p:sldId id="2674" r:id="rId44"/>
    <p:sldId id="2781" r:id="rId45"/>
    <p:sldId id="2777" r:id="rId46"/>
    <p:sldId id="2778" r:id="rId47"/>
    <p:sldId id="2779" r:id="rId48"/>
    <p:sldId id="2780" r:id="rId49"/>
    <p:sldId id="2703" r:id="rId50"/>
    <p:sldId id="2677" r:id="rId51"/>
    <p:sldId id="2704" r:id="rId52"/>
    <p:sldId id="2783" r:id="rId53"/>
    <p:sldId id="2782" r:id="rId54"/>
    <p:sldId id="2785" r:id="rId55"/>
    <p:sldId id="2786" r:id="rId56"/>
    <p:sldId id="2701" r:id="rId57"/>
    <p:sldId id="2727" r:id="rId58"/>
    <p:sldId id="2728" r:id="rId59"/>
    <p:sldId id="2735" r:id="rId60"/>
    <p:sldId id="2789" r:id="rId61"/>
    <p:sldId id="2787" r:id="rId62"/>
    <p:sldId id="2790" r:id="rId63"/>
    <p:sldId id="2788" r:id="rId64"/>
    <p:sldId id="2791" r:id="rId65"/>
    <p:sldId id="2792" r:id="rId66"/>
    <p:sldId id="2793" r:id="rId67"/>
    <p:sldId id="2794" r:id="rId68"/>
    <p:sldId id="2609" r:id="rId69"/>
    <p:sldId id="2724" r:id="rId70"/>
    <p:sldId id="2795" r:id="rId71"/>
    <p:sldId id="2510" r:id="rId7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1E46"/>
    <a:srgbClr val="9933FF"/>
    <a:srgbClr val="3333FF"/>
    <a:srgbClr val="1003BD"/>
    <a:srgbClr val="6600CC"/>
    <a:srgbClr val="FFFFFF"/>
    <a:srgbClr val="404040"/>
    <a:srgbClr val="CC99FF"/>
    <a:srgbClr val="000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0" d="100"/>
          <a:sy n="90" d="100"/>
        </p:scale>
        <p:origin x="2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이종이라는 용어를 어떤 지표로 구분할 것인가에 따라 개념이 조금씩 달라짐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3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OPTISAR </a:t>
            </a:r>
            <a:r>
              <a:rPr lang="ko-KR" altLang="en-US" dirty="0"/>
              <a:t>연구의 목표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프로젝트 무산됨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178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386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9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063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567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46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322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12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Ts,</a:t>
            </a:r>
            <a:r>
              <a:rPr lang="ko-KR" altLang="en-US" dirty="0"/>
              <a:t> </a:t>
            </a:r>
            <a:r>
              <a:rPr lang="en-US" altLang="ko-KR" dirty="0" err="1"/>
              <a:t>Tg</a:t>
            </a:r>
            <a:r>
              <a:rPr lang="ko-KR" altLang="en-US" dirty="0"/>
              <a:t>가 </a:t>
            </a:r>
            <a:r>
              <a:rPr lang="ko-KR" altLang="en-US" dirty="0" err="1"/>
              <a:t>뭔지</a:t>
            </a:r>
            <a:r>
              <a:rPr lang="ko-KR" altLang="en-US" dirty="0"/>
              <a:t>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164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7724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9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613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631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9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22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310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7459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9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5376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0147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17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441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914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60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5432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6711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244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0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409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898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334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0543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772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2008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2349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805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C7A2-7D54-88A6-5015-21C7D507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90A61-BC52-0FBD-BAA6-EE9AFCFC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7A36D-0D27-A10B-9B12-5945895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B3241-616D-F192-644A-FFEC5E79C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8206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48A9-FDBE-29AB-A310-B9149FCC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434ABA-2BA8-803D-D265-6B230EED3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6C0AB-AFFE-7992-F967-9A84422C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67462-51E5-EA5F-749C-ADCB895C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9180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C7A2-7D54-88A6-5015-21C7D507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90A61-BC52-0FBD-BAA6-EE9AFCFC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7A36D-0D27-A10B-9B12-594589531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B3241-616D-F192-644A-FFEC5E79C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149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3366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36D8-CD35-8369-C9D0-1573B050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25C263-D6D8-A24F-05D7-717ACD10C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180DF-EBE4-FFF8-A1DB-F1590EFB4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74493-8451-59EF-5ED5-51E287F58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157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36D8-CD35-8369-C9D0-1573B050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25C263-D6D8-A24F-05D7-717ACD10C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180DF-EBE4-FFF8-A1DB-F1590EFB4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74493-8451-59EF-5ED5-51E287F58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260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64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274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7026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782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777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512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438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6429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3881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148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447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01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348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gif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png"/><Relationship Id="rId7" Type="http://schemas.openxmlformats.org/officeDocument/2006/relationships/image" Target="../media/image75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Relationship Id="rId9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5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2024-04-23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예비 심사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760728"/>
              </p:ext>
            </p:extLst>
          </p:nvPr>
        </p:nvGraphicFramePr>
        <p:xfrm>
          <a:off x="1568900" y="1810810"/>
          <a:ext cx="7318019" cy="437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시뮬레이션 환경 설정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APC Decomposition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Quasi-symmetric Method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Method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BILP Method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를 이용한 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설계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54907"/>
                  </a:ext>
                </a:extLst>
              </a:tr>
            </a:tbl>
          </a:graphicData>
        </a:graphic>
      </p:graphicFrame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708641"/>
              </p:ext>
            </p:extLst>
          </p:nvPr>
        </p:nvGraphicFramePr>
        <p:xfrm>
          <a:off x="1568899" y="947714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서론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B036A7-121E-B175-E558-836E9786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15" y="971496"/>
            <a:ext cx="10382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서론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배경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위성군의 탄생 배경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인공위성 개발 이후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복잡한 상황 속에서 운용되는 고차원적 연구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가 진행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및 공간 등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특정 상황에 따라 요구조건을 유동성 있게 변경해야 하는 임무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필요성이 제기되기 시작 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복잡한 임무 목표 달성을 위해 하나의 위성을 운용하는 것에 그치지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않고 둘 이상의 위성체를 동시에 운용하는 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이라는 개념이 새롭게 탄생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이처럼 둘 이상의 위성체를 동시에 운용하는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 중에</a:t>
            </a:r>
            <a:r>
              <a:rPr lang="en-US" altLang="ko-KR" b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각기 다른 특성을 갖는 위성이 그룹 내에서 상호작용할 수 있도록 고안된 개념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 이종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이종 위성군은 각 위성의 성격에 따라 다음과 같이 구분 가능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서로 다른 종류의 탑재체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 포함된 </a:t>
            </a:r>
            <a:r>
              <a:rPr lang="ko-KR" altLang="en-US" b="0" i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서로 다른 종류의 궤도 유형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동시에 운용하는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지표에 따른 이종 위성군의 구분</a:t>
            </a:r>
            <a:r>
              <a:rPr lang="en-US" altLang="ko-KR" dirty="0"/>
              <a:t> </a:t>
            </a:r>
            <a:r>
              <a:rPr lang="ko-KR" altLang="en-US" dirty="0"/>
              <a:t>및 종류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6000" lvl="1" indent="0">
              <a:buNone/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7F053-F9AE-E4E9-BE9C-E2BBC0115478}"/>
              </a:ext>
            </a:extLst>
          </p:cNvPr>
          <p:cNvGrpSpPr/>
          <p:nvPr/>
        </p:nvGrpSpPr>
        <p:grpSpPr>
          <a:xfrm>
            <a:off x="860774" y="1635080"/>
            <a:ext cx="8026144" cy="3587839"/>
            <a:chOff x="884057" y="1612846"/>
            <a:chExt cx="8026144" cy="35878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8861726-C0FB-571B-B3EF-EAE76E694565}"/>
                </a:ext>
              </a:extLst>
            </p:cNvPr>
            <p:cNvSpPr/>
            <p:nvPr/>
          </p:nvSpPr>
          <p:spPr bwMode="auto">
            <a:xfrm>
              <a:off x="953562" y="3544576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1FCA1B-B504-21FF-41D3-ED692D0B749F}"/>
                </a:ext>
              </a:extLst>
            </p:cNvPr>
            <p:cNvSpPr/>
            <p:nvPr/>
          </p:nvSpPr>
          <p:spPr bwMode="auto">
            <a:xfrm>
              <a:off x="953563" y="1911533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1FDBC4-A563-BD27-7075-1AB343907692}"/>
                </a:ext>
              </a:extLst>
            </p:cNvPr>
            <p:cNvSpPr/>
            <p:nvPr/>
          </p:nvSpPr>
          <p:spPr bwMode="auto">
            <a:xfrm>
              <a:off x="4271637" y="3554305"/>
              <a:ext cx="3475781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863626-51C4-78D5-2317-166CC2EBB71C}"/>
                </a:ext>
              </a:extLst>
            </p:cNvPr>
            <p:cNvSpPr/>
            <p:nvPr/>
          </p:nvSpPr>
          <p:spPr bwMode="auto">
            <a:xfrm>
              <a:off x="4271638" y="1921262"/>
              <a:ext cx="3475781" cy="16463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F5A24-0933-8FFB-18C4-12DB8F6AB7EA}"/>
                </a:ext>
              </a:extLst>
            </p:cNvPr>
            <p:cNvCxnSpPr>
              <a:cxnSpLocks/>
            </p:cNvCxnSpPr>
            <p:nvPr/>
          </p:nvCxnSpPr>
          <p:spPr>
            <a:xfrm>
              <a:off x="953563" y="3554306"/>
              <a:ext cx="680926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DF58D54-2146-088E-91C1-ABD78F85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5473" y="1921262"/>
              <a:ext cx="0" cy="32660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D48F92-6051-995E-24AA-C7F6BBA66FCC}"/>
                </a:ext>
              </a:extLst>
            </p:cNvPr>
            <p:cNvSpPr txBox="1"/>
            <p:nvPr/>
          </p:nvSpPr>
          <p:spPr>
            <a:xfrm>
              <a:off x="3656455" y="1612846"/>
              <a:ext cx="1238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0070C0"/>
                  </a:solidFill>
                </a:rPr>
                <a:t>운용 궤도 유형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27D276-36C0-55E9-4A0F-F78429E54BDD}"/>
                </a:ext>
              </a:extLst>
            </p:cNvPr>
            <p:cNvSpPr txBox="1"/>
            <p:nvPr/>
          </p:nvSpPr>
          <p:spPr>
            <a:xfrm>
              <a:off x="7783371" y="3415806"/>
              <a:ext cx="11268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Payload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차이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2893C4-BF52-D0D6-7777-4C15001CA540}"/>
                </a:ext>
              </a:extLst>
            </p:cNvPr>
            <p:cNvSpPr txBox="1"/>
            <p:nvPr/>
          </p:nvSpPr>
          <p:spPr>
            <a:xfrm>
              <a:off x="4271638" y="2057734"/>
              <a:ext cx="765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다양한 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 유형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A584A1-6A77-A8E2-F949-CA36E1014433}"/>
                </a:ext>
              </a:extLst>
            </p:cNvPr>
            <p:cNvSpPr txBox="1"/>
            <p:nvPr/>
          </p:nvSpPr>
          <p:spPr>
            <a:xfrm>
              <a:off x="4294072" y="2851187"/>
              <a:ext cx="6929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궤도평면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963D3D-4AB2-E83F-3EF1-9F894CDE87D4}"/>
                </a:ext>
              </a:extLst>
            </p:cNvPr>
            <p:cNvSpPr txBox="1"/>
            <p:nvPr/>
          </p:nvSpPr>
          <p:spPr>
            <a:xfrm>
              <a:off x="4271639" y="4015513"/>
              <a:ext cx="1366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</a:rPr>
                <a:t>RAAN </a:t>
              </a:r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DB15F1-18E4-6DA4-E77E-369A354BA33D}"/>
                </a:ext>
              </a:extLst>
            </p:cNvPr>
            <p:cNvSpPr txBox="1"/>
            <p:nvPr/>
          </p:nvSpPr>
          <p:spPr>
            <a:xfrm>
              <a:off x="4294073" y="4737050"/>
              <a:ext cx="12618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0070C0"/>
                  </a:solidFill>
                </a:rPr>
                <a:t>편대비행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40CD9E7-99A2-7B5C-DEC6-AC3A5637584E}"/>
                </a:ext>
              </a:extLst>
            </p:cNvPr>
            <p:cNvSpPr txBox="1"/>
            <p:nvPr/>
          </p:nvSpPr>
          <p:spPr>
            <a:xfrm>
              <a:off x="1144965" y="3587469"/>
              <a:ext cx="118614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동일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BA077C-3F46-EE78-1BA2-D852D82B69B9}"/>
                </a:ext>
              </a:extLst>
            </p:cNvPr>
            <p:cNvSpPr txBox="1"/>
            <p:nvPr/>
          </p:nvSpPr>
          <p:spPr>
            <a:xfrm>
              <a:off x="2746009" y="3583086"/>
              <a:ext cx="92621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성능 차이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0E10E6-F3F5-CA67-C27E-238EB5EB2FB0}"/>
                </a:ext>
              </a:extLst>
            </p:cNvPr>
            <p:cNvSpPr txBox="1"/>
            <p:nvPr/>
          </p:nvSpPr>
          <p:spPr>
            <a:xfrm>
              <a:off x="5037453" y="3592481"/>
              <a:ext cx="11268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이종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31B90D-A0BC-6A07-0268-393F1BB84DD3}"/>
                </a:ext>
              </a:extLst>
            </p:cNvPr>
            <p:cNvSpPr txBox="1"/>
            <p:nvPr/>
          </p:nvSpPr>
          <p:spPr>
            <a:xfrm>
              <a:off x="6624591" y="3588634"/>
              <a:ext cx="10589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rgbClr val="FF0000"/>
                  </a:solidFill>
                </a:rPr>
                <a:t>Multi-Satellite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76E85E-01AC-3BE8-A6CB-DAE87A1CBB8B}"/>
                </a:ext>
              </a:extLst>
            </p:cNvPr>
            <p:cNvSpPr txBox="1"/>
            <p:nvPr/>
          </p:nvSpPr>
          <p:spPr>
            <a:xfrm>
              <a:off x="2797381" y="2859588"/>
              <a:ext cx="85907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Starlink</a:t>
              </a:r>
              <a:endParaRPr lang="ko-KR" altLang="en-US" sz="14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E60461C-6875-0FA1-D1AB-3BEBBB856284}"/>
                </a:ext>
              </a:extLst>
            </p:cNvPr>
            <p:cNvSpPr txBox="1"/>
            <p:nvPr/>
          </p:nvSpPr>
          <p:spPr>
            <a:xfrm>
              <a:off x="4954868" y="2751145"/>
              <a:ext cx="122645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SAR/EO </a:t>
              </a:r>
            </a:p>
            <a:p>
              <a:pPr algn="ctr"/>
              <a:r>
                <a:rPr lang="ko-KR" altLang="en-US" sz="1400" b="1" dirty="0"/>
                <a:t>초소형 위성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3EEA9D-2365-8F6A-7D8E-7FEDB23E21D2}"/>
                </a:ext>
              </a:extLst>
            </p:cNvPr>
            <p:cNvSpPr txBox="1"/>
            <p:nvPr/>
          </p:nvSpPr>
          <p:spPr>
            <a:xfrm>
              <a:off x="1511400" y="3980297"/>
              <a:ext cx="58211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GPS</a:t>
              </a:r>
              <a:endParaRPr lang="ko-KR" altLang="en-US" sz="14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2EDA13-CB59-67E5-D16A-E40C7EC61641}"/>
                </a:ext>
              </a:extLst>
            </p:cNvPr>
            <p:cNvSpPr txBox="1"/>
            <p:nvPr/>
          </p:nvSpPr>
          <p:spPr>
            <a:xfrm>
              <a:off x="2738292" y="4701194"/>
              <a:ext cx="108220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Terra SAR</a:t>
              </a:r>
              <a:endParaRPr lang="ko-KR" altLang="en-US" sz="14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D99B3C-34F0-8AFC-B761-8E6908722B72}"/>
                </a:ext>
              </a:extLst>
            </p:cNvPr>
            <p:cNvSpPr txBox="1"/>
            <p:nvPr/>
          </p:nvSpPr>
          <p:spPr>
            <a:xfrm>
              <a:off x="5147493" y="4709599"/>
              <a:ext cx="97825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OptiSAR</a:t>
              </a:r>
              <a:endParaRPr lang="ko-KR" altLang="en-US" sz="14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7CD476-0BB0-91B3-EBAE-69D57ADE1A1D}"/>
                </a:ext>
              </a:extLst>
            </p:cNvPr>
            <p:cNvSpPr txBox="1"/>
            <p:nvPr/>
          </p:nvSpPr>
          <p:spPr>
            <a:xfrm>
              <a:off x="6806583" y="4706690"/>
              <a:ext cx="80415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A-train</a:t>
              </a:r>
              <a:endParaRPr lang="ko-KR" altLang="en-US" sz="14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1D8EFC-5AB4-65AD-9871-C58FA1E5235C}"/>
                </a:ext>
              </a:extLst>
            </p:cNvPr>
            <p:cNvSpPr txBox="1"/>
            <p:nvPr/>
          </p:nvSpPr>
          <p:spPr>
            <a:xfrm>
              <a:off x="6367566" y="1919323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Heterogeneous </a:t>
              </a:r>
            </a:p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7E1593-E88B-F630-2699-AB4AE7D9EE6C}"/>
                </a:ext>
              </a:extLst>
            </p:cNvPr>
            <p:cNvSpPr txBox="1"/>
            <p:nvPr/>
          </p:nvSpPr>
          <p:spPr>
            <a:xfrm>
              <a:off x="884057" y="4778146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Homogeneous </a:t>
              </a:r>
            </a:p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34810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운용 사례</a:t>
            </a:r>
            <a:r>
              <a:rPr lang="en-US" altLang="ko-KR" dirty="0"/>
              <a:t>(</a:t>
            </a:r>
            <a:r>
              <a:rPr lang="ko-KR" altLang="en-US" dirty="0"/>
              <a:t>해외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169751" y="618978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Rich Data Cheap Satellites</a:t>
            </a:r>
            <a:r>
              <a:rPr lang="en-US" altLang="ko-KR" sz="1000" b="1" dirty="0"/>
              <a:t>,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2017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Luis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Gomes</a:t>
            </a:r>
            <a:r>
              <a:rPr lang="ko-KR" altLang="en-US" sz="1000" b="1" dirty="0"/>
              <a:t>. </a:t>
            </a:r>
            <a:r>
              <a:rPr lang="ko-KR" altLang="en-US" sz="1000" b="1" dirty="0" err="1"/>
              <a:t>Surrey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Satellite</a:t>
            </a:r>
            <a:r>
              <a:rPr lang="ko-KR" altLang="en-US" sz="1000" b="1" dirty="0"/>
              <a:t> Technology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운용 사례</a:t>
            </a:r>
            <a:r>
              <a:rPr lang="en-US" altLang="ko-KR" dirty="0"/>
              <a:t>(</a:t>
            </a:r>
            <a:r>
              <a:rPr lang="ko-KR" altLang="en-US" dirty="0"/>
              <a:t>국내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4.25(SAR.EO) </a:t>
            </a:r>
            <a:r>
              <a:rPr lang="ko-KR" altLang="en-US" dirty="0"/>
              <a:t>사업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개념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대한민국 국방부가 군 최초로 진행하는 위성 사업으로</a:t>
            </a:r>
            <a:r>
              <a:rPr lang="en-US" altLang="ko-KR" dirty="0"/>
              <a:t>, </a:t>
            </a:r>
            <a:r>
              <a:rPr lang="ko-KR" altLang="en-US" dirty="0"/>
              <a:t>한반도 주변을 감시하는 위성을 운용하여 </a:t>
            </a:r>
            <a:r>
              <a:rPr lang="ko-KR" altLang="en-US" b="1" u="sng" dirty="0"/>
              <a:t>북한 위협을 실시간 탐지하고 선제 타격</a:t>
            </a:r>
            <a:r>
              <a:rPr lang="ko-KR" altLang="en-US" dirty="0"/>
              <a:t>하는 군 대응 시스템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</a:t>
            </a:r>
            <a:r>
              <a:rPr lang="ko-KR" altLang="en-US" dirty="0"/>
              <a:t>위성 </a:t>
            </a:r>
            <a:r>
              <a:rPr lang="en-US" altLang="ko-KR" dirty="0"/>
              <a:t>: 4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광학위성 </a:t>
            </a:r>
            <a:r>
              <a:rPr lang="en-US" altLang="ko-KR" dirty="0"/>
              <a:t>: 1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목적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기본으로 군용으로 사용하지만 산불</a:t>
            </a:r>
            <a:r>
              <a:rPr lang="en-US" altLang="ko-KR" dirty="0"/>
              <a:t>,</a:t>
            </a:r>
            <a:r>
              <a:rPr lang="ko-KR" altLang="en-US" dirty="0"/>
              <a:t> 중국어선 등의 촬영을 위한 별도 수집계획도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상위 의사결정기구에서 수집계획을 수립하면 그에 따른 임무를 수행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궤도 및 해상도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고도 </a:t>
            </a:r>
            <a:r>
              <a:rPr lang="en-US" altLang="ko-KR" b="1" u="sng" dirty="0"/>
              <a:t>500~600km</a:t>
            </a:r>
            <a:r>
              <a:rPr lang="ko-KR" altLang="en-US" b="1" u="sng" dirty="0"/>
              <a:t>의 </a:t>
            </a:r>
            <a:r>
              <a:rPr lang="en-US" altLang="ko-KR" b="1" u="sng" dirty="0"/>
              <a:t>SSO </a:t>
            </a:r>
            <a:r>
              <a:rPr lang="ko-KR" altLang="en-US" b="1" u="sng" dirty="0"/>
              <a:t>및 </a:t>
            </a:r>
            <a:r>
              <a:rPr lang="en-US" altLang="ko-KR" b="1" u="sng" dirty="0"/>
              <a:t>LEO </a:t>
            </a:r>
            <a:r>
              <a:rPr lang="ko-KR" altLang="en-US" dirty="0"/>
              <a:t>사용 </a:t>
            </a:r>
            <a:r>
              <a:rPr lang="en-US" altLang="ko-KR" dirty="0"/>
              <a:t>&amp; </a:t>
            </a:r>
            <a:r>
              <a:rPr lang="ko-KR" altLang="en-US" b="1" u="sng" dirty="0"/>
              <a:t>해상도 </a:t>
            </a:r>
            <a:r>
              <a:rPr lang="en-US" altLang="ko-KR" b="1" u="sng" dirty="0"/>
              <a:t>30cm</a:t>
            </a:r>
            <a:r>
              <a:rPr lang="ko-KR" altLang="en-US" dirty="0"/>
              <a:t>가량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425</a:t>
            </a:r>
            <a:r>
              <a:rPr lang="ko-KR" altLang="en-US" dirty="0"/>
              <a:t>등 </a:t>
            </a:r>
            <a:r>
              <a:rPr lang="ko-KR" altLang="en-US" dirty="0" err="1"/>
              <a:t>중형급</a:t>
            </a:r>
            <a:r>
              <a:rPr lang="ko-KR" altLang="en-US" dirty="0"/>
              <a:t> 위성은 궤도상 </a:t>
            </a:r>
            <a:r>
              <a:rPr lang="en-US" altLang="ko-KR" dirty="0"/>
              <a:t>Maneuver</a:t>
            </a:r>
            <a:r>
              <a:rPr lang="ko-KR" altLang="en-US" dirty="0"/>
              <a:t>가 가능하지만</a:t>
            </a:r>
            <a:r>
              <a:rPr lang="en-US" altLang="ko-KR" dirty="0"/>
              <a:t>, </a:t>
            </a:r>
            <a:r>
              <a:rPr lang="ko-KR" altLang="en-US" b="1" u="sng" dirty="0"/>
              <a:t>초소형 위성은 사실상 불가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해상도 및 재방문 주기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주기를 줄이기 위해서 </a:t>
            </a:r>
            <a:r>
              <a:rPr lang="en-US" altLang="ko-KR" b="1" u="sng" dirty="0"/>
              <a:t>ISL</a:t>
            </a:r>
            <a:r>
              <a:rPr lang="ko-KR" altLang="en-US" b="1" u="sng" dirty="0"/>
              <a:t>을 통해 명령을 빠르게 올려 보내는 것</a:t>
            </a:r>
            <a:r>
              <a:rPr lang="ko-KR" altLang="en-US" dirty="0"/>
              <a:t>이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 정의 관점에서 사람의 </a:t>
            </a:r>
            <a:r>
              <a:rPr lang="en-US" altLang="ko-KR" b="1" u="sng" dirty="0"/>
              <a:t>Delay, Imaging processing time</a:t>
            </a:r>
            <a:r>
              <a:rPr lang="ko-KR" altLang="en-US" b="1" u="sng" dirty="0"/>
              <a:t>등 여러 요소</a:t>
            </a:r>
            <a:r>
              <a:rPr lang="ko-KR" altLang="en-US" dirty="0"/>
              <a:t>가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촬영한 영상을 받는 과정에서의 </a:t>
            </a:r>
            <a:r>
              <a:rPr lang="en-US" altLang="ko-KR" dirty="0"/>
              <a:t>Delay</a:t>
            </a:r>
            <a:r>
              <a:rPr lang="ko-KR" altLang="en-US" dirty="0"/>
              <a:t>를 줄이려면 실질적으로 </a:t>
            </a:r>
            <a:r>
              <a:rPr lang="ko-KR" altLang="en-US" b="1" u="sng" dirty="0"/>
              <a:t>정지궤도 통신 위성</a:t>
            </a:r>
            <a:r>
              <a:rPr lang="ko-KR" altLang="en-US" dirty="0"/>
              <a:t>을 경유하는 방법이 있지만 </a:t>
            </a:r>
            <a:r>
              <a:rPr lang="ko-KR" altLang="en-US" b="1" u="sng" dirty="0"/>
              <a:t>초소형 위성에서는 현실적으로 어려움</a:t>
            </a:r>
            <a:endParaRPr lang="en-US" altLang="ko-KR" b="1" u="sng" dirty="0"/>
          </a:p>
          <a:p>
            <a:pPr lvl="0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336758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선행 연구의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해외 선행 연구의 한계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2021</a:t>
            </a:r>
            <a:r>
              <a:rPr lang="ko-KR" altLang="en-US" dirty="0"/>
              <a:t>년도 발사 예정이었으나 </a:t>
            </a:r>
            <a:r>
              <a:rPr lang="ko-KR" altLang="en-US" b="1" u="sng" dirty="0"/>
              <a:t>주최측</a:t>
            </a:r>
            <a:r>
              <a:rPr lang="en-US" altLang="ko-KR" b="1" u="sng" dirty="0"/>
              <a:t>(UrtheCast)</a:t>
            </a:r>
            <a:r>
              <a:rPr lang="ko-KR" altLang="en-US" b="1" u="sng" dirty="0"/>
              <a:t>이</a:t>
            </a:r>
            <a:r>
              <a:rPr lang="en-US" altLang="ko-KR" b="1" u="sng" dirty="0"/>
              <a:t> </a:t>
            </a:r>
            <a:r>
              <a:rPr lang="ko-KR" altLang="en-US" b="1" u="sng" dirty="0"/>
              <a:t>파산함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따라 무산됨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현재는 </a:t>
            </a:r>
            <a:r>
              <a:rPr lang="ko-KR" altLang="en-US" b="1" u="sng" dirty="0"/>
              <a:t>상업적인 임무를 수행하고 있지 않음</a:t>
            </a:r>
            <a:endParaRPr lang="en-US" altLang="ko-KR" b="1" u="sng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국내 선행 연구의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사용자가 원하는 지역의 </a:t>
            </a:r>
            <a:r>
              <a:rPr lang="ko-KR" altLang="en-US" b="1" u="sng" dirty="0"/>
              <a:t>영상 및 이미지 획득이 주요 목표</a:t>
            </a:r>
            <a:endParaRPr lang="en-US" altLang="ko-KR" b="1" u="sng" dirty="0"/>
          </a:p>
          <a:p>
            <a:pPr lvl="2">
              <a:defRPr/>
            </a:pPr>
            <a:r>
              <a:rPr lang="en-US" altLang="ko-KR" dirty="0"/>
              <a:t>EO</a:t>
            </a:r>
            <a:r>
              <a:rPr lang="ko-KR" altLang="en-US" dirty="0"/>
              <a:t>탑재체를 반드시 포함해야 하기 때문에 </a:t>
            </a:r>
            <a:r>
              <a:rPr lang="ko-KR" altLang="en-US" b="1" u="sng" dirty="0"/>
              <a:t>다소 전문적</a:t>
            </a:r>
            <a:r>
              <a:rPr lang="ko-KR" altLang="en-US" dirty="0"/>
              <a:t>일 수 있음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EO</a:t>
            </a:r>
            <a:r>
              <a:rPr lang="ko-KR" altLang="en-US" dirty="0"/>
              <a:t>외의 성능을 결정하는 </a:t>
            </a:r>
            <a:r>
              <a:rPr lang="ko-KR" altLang="en-US" b="1" u="sng" dirty="0"/>
              <a:t>다른 </a:t>
            </a:r>
            <a:r>
              <a:rPr lang="ko-KR" altLang="en-US" b="1" u="sng" dirty="0" err="1"/>
              <a:t>탑재체</a:t>
            </a:r>
            <a:r>
              <a:rPr lang="ko-KR" altLang="en-US" b="1" u="sng" dirty="0"/>
              <a:t> 활용한 사례는 찾을 수 없었음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dirty="0"/>
              <a:t>다양한 종류의 위성을 선택하는데 있어 </a:t>
            </a:r>
            <a:r>
              <a:rPr lang="ko-KR" altLang="en-US" b="1" u="sng" dirty="0"/>
              <a:t>자유도가 낮음</a:t>
            </a:r>
            <a:endParaRPr lang="en-US" altLang="ko-KR" b="1" u="sng" dirty="0"/>
          </a:p>
        </p:txBody>
      </p:sp>
    </p:spTree>
    <p:extLst>
      <p:ext uri="{BB962C8B-B14F-4D97-AF65-F5344CB8AC3E}">
        <p14:creationId xmlns:p14="http://schemas.microsoft.com/office/powerpoint/2010/main" val="176022794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목적 및 의의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 위성군의 연구 목표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</a:t>
            </a:r>
            <a:r>
              <a:rPr lang="ko-KR" altLang="en-US" dirty="0" err="1"/>
              <a:t>탑재체</a:t>
            </a:r>
            <a:r>
              <a:rPr lang="ko-KR" altLang="en-US" dirty="0"/>
              <a:t> 또는 궤도를 사용하여 </a:t>
            </a:r>
            <a:r>
              <a:rPr lang="ko-KR" altLang="en-US" b="1" u="sng" dirty="0"/>
              <a:t>이종 위성군을 운용하였을 때 얼마나 더 높은 성능을 내는 지 </a:t>
            </a:r>
            <a:r>
              <a:rPr lang="en-US" altLang="ko-KR" b="1" u="sng" dirty="0" err="1"/>
              <a:t>FoM</a:t>
            </a:r>
            <a:r>
              <a:rPr lang="ko-KR" altLang="en-US" dirty="0"/>
              <a:t>을 세우고 각각의 지표를 기준으로 </a:t>
            </a:r>
            <a:r>
              <a:rPr lang="ko-KR" altLang="en-US" b="1" u="sng" dirty="0" err="1"/>
              <a:t>상황별</a:t>
            </a:r>
            <a:r>
              <a:rPr lang="ko-KR" altLang="en-US" b="1" u="sng" dirty="0"/>
              <a:t> 최적 결과를 도출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 대표적인 두 가지의 설계 방법을 비교하여 </a:t>
            </a:r>
            <a:r>
              <a:rPr lang="ko-KR" altLang="en-US" b="1" u="sng" dirty="0"/>
              <a:t>기술 및 비용면에서 더 효율적인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방법을 선택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Quasi-symmetric Method</a:t>
            </a:r>
          </a:p>
          <a:p>
            <a:pPr lvl="2">
              <a:defRPr/>
            </a:pPr>
            <a:r>
              <a:rPr lang="en-US" altLang="ko-KR" dirty="0"/>
              <a:t>BILP Method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연구의</a:t>
            </a:r>
            <a:r>
              <a:rPr lang="en-US" altLang="ko-KR" dirty="0"/>
              <a:t> </a:t>
            </a:r>
            <a:r>
              <a:rPr lang="ko-KR" altLang="en-US" dirty="0"/>
              <a:t>의의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기존에 널리 쓰이던 대칭설계기법</a:t>
            </a:r>
            <a:r>
              <a:rPr lang="en-US" altLang="ko-KR" dirty="0"/>
              <a:t>(Quasi-symmetric Method)</a:t>
            </a:r>
            <a:r>
              <a:rPr lang="ko-KR" altLang="en-US" dirty="0"/>
              <a:t>의 한계를 지적하고 </a:t>
            </a:r>
            <a:r>
              <a:rPr lang="ko-KR" altLang="en-US" dirty="0" err="1"/>
              <a:t>위성군</a:t>
            </a:r>
            <a:r>
              <a:rPr lang="ko-KR" altLang="en-US" dirty="0"/>
              <a:t> 사용자의 </a:t>
            </a:r>
            <a:r>
              <a:rPr lang="ko-KR" altLang="en-US" b="1" u="sng" dirty="0"/>
              <a:t>구체적인 요구사항을 고려하여 최적의 설계 방법을 제안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국내에서도 적용할 수 있는 </a:t>
            </a:r>
            <a:r>
              <a:rPr lang="ko-KR" altLang="en-US" b="1" u="sng" dirty="0"/>
              <a:t>지상국의 좌표를 정밀하게 설정</a:t>
            </a:r>
            <a:r>
              <a:rPr lang="ko-KR" altLang="en-US" dirty="0"/>
              <a:t>하고 </a:t>
            </a:r>
            <a:r>
              <a:rPr lang="en-US" altLang="ko-KR" b="1" u="sng" dirty="0"/>
              <a:t>BILP </a:t>
            </a:r>
            <a:r>
              <a:rPr lang="ko-KR" altLang="en-US" b="1" u="sng" dirty="0"/>
              <a:t>최적화 방법이 갖는 강점을 실험 결과로서 재확인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국내 인공위성 운용 분야에서 활용될 </a:t>
            </a:r>
            <a:r>
              <a:rPr lang="ko-KR" altLang="en-US" b="1" u="sng" dirty="0"/>
              <a:t>이종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체계의 발전에 기여</a:t>
            </a:r>
            <a:r>
              <a:rPr lang="ko-KR" altLang="en-US" dirty="0"/>
              <a:t>할 것으로 기대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0663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33139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62068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시뮬레이션 환경 설정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참고문헌과 동일한 초기 조건 설정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참고문헌에서 도출한 결과와 </a:t>
            </a:r>
            <a:r>
              <a:rPr lang="ko-KR" altLang="en-US" b="1" u="sng" dirty="0"/>
              <a:t>실제 연구 결과의 비교를 위해 동일한 값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직접 작성한 </a:t>
            </a:r>
            <a:r>
              <a:rPr lang="ko-KR" altLang="en-US" b="1" u="sng" dirty="0"/>
              <a:t>프로그램 언어에 대한 신뢰성 확인 가능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두 가지의 설계기법에 </a:t>
            </a:r>
            <a:r>
              <a:rPr lang="ko-KR" altLang="en-US" b="1" u="sng" dirty="0"/>
              <a:t>공통으로 해당되는 입력 정보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시간 정보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지상국</a:t>
            </a:r>
            <a:r>
              <a:rPr lang="ko-KR" altLang="en-US" dirty="0"/>
              <a:t> 정보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기준 위성의 궤도요소 정보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환경 설정</a:t>
            </a:r>
          </a:p>
        </p:txBody>
      </p:sp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 문헌에서의 시간 정보 설정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위성의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궤도 전파 시작 시각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(Epoch Time) : </a:t>
            </a: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주어지지 않음</a:t>
            </a:r>
            <a:endParaRPr lang="en-US" altLang="ko-KR" b="1" i="0" u="sng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임의로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’24.01.01 00:00:00’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으로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시간 정보 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F0D534F-2CBC-7E6B-EB71-D9EC4E8AC4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925205"/>
                  </p:ext>
                </p:extLst>
              </p:nvPr>
            </p:nvGraphicFramePr>
            <p:xfrm>
              <a:off x="884057" y="2106869"/>
              <a:ext cx="6202252" cy="8451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위성의 궤도 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F0D534F-2CBC-7E6B-EB71-D9EC4E8AC4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925205"/>
                  </p:ext>
                </p:extLst>
              </p:nvPr>
            </p:nvGraphicFramePr>
            <p:xfrm>
              <a:off x="884057" y="2106869"/>
              <a:ext cx="6202252" cy="8451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위성의 궤도 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575" t="-2326" r="-787" b="-72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050531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 문헌에서의 </a:t>
            </a:r>
            <a:r>
              <a:rPr lang="ko-KR" altLang="en-US" dirty="0" err="1"/>
              <a:t>지상국</a:t>
            </a:r>
            <a:r>
              <a:rPr lang="ko-KR" altLang="en-US" dirty="0"/>
              <a:t> 정보 설정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관심 지역을 </a:t>
            </a: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하나의</a:t>
            </a:r>
            <a:r>
              <a:rPr lang="en-US" altLang="ko-KR" b="1" i="0" u="sng" dirty="0">
                <a:solidFill>
                  <a:srgbClr val="1F2328"/>
                </a:solidFill>
                <a:effectLst/>
                <a:latin typeface="-apple-system"/>
              </a:rPr>
              <a:t> Target Point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</a:t>
            </a:r>
            <a:r>
              <a:rPr lang="ko-KR" altLang="en-US" dirty="0" err="1"/>
              <a:t>지상국</a:t>
            </a:r>
            <a:r>
              <a:rPr lang="ko-KR" altLang="en-US" dirty="0"/>
              <a:t> 정보 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2A3A3AB-5FA3-4A97-75EA-7CC58A113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4634270"/>
                  </p:ext>
                </p:extLst>
              </p:nvPr>
            </p:nvGraphicFramePr>
            <p:xfrm>
              <a:off x="884057" y="1829467"/>
              <a:ext cx="6903755" cy="849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위도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경도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(Min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Elev.Angle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4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최</m:t>
                              </m:r>
                            </m:oMath>
                          </a14:m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소 커버리지 요구 횟수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(Cove.</a:t>
                          </a:r>
                          <a:r>
                            <a:rPr lang="en-US" altLang="ko-KR" sz="1400" baseline="0" dirty="0">
                              <a:latin typeface="Times New Roman"/>
                              <a:ea typeface="+mn-ea"/>
                              <a:cs typeface="Times New Roman"/>
                            </a:rPr>
                            <a:t> Req.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2A3A3AB-5FA3-4A97-75EA-7CC58A113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4634270"/>
                  </p:ext>
                </p:extLst>
              </p:nvPr>
            </p:nvGraphicFramePr>
            <p:xfrm>
              <a:off x="884057" y="1829467"/>
              <a:ext cx="6903755" cy="849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5221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" t="-2326" r="-298246" b="-72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56" t="-2326" r="-199296" b="-72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(Min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Elev.Angle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6810" t="-2326" r="-717" b="-72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72052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참고 문헌에서의 기준 위성의 궤도 요소 정보 설정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기준이 되는 위성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(Seed Satellite)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 하나의 궤도 요소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정보 설정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궤도 </a:t>
                </a:r>
                <a:r>
                  <a:rPr lang="ko-KR" altLang="en-US" b="0" i="0" dirty="0" err="1">
                    <a:solidFill>
                      <a:srgbClr val="1F2328"/>
                    </a:solidFill>
                    <a:effectLst/>
                    <a:latin typeface="-apple-system"/>
                  </a:rPr>
                  <a:t>장반경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을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궤도 회전 주기의 비 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period ratio(</a:t>
                </a:r>
                <a14:m>
                  <m:oMath xmlns:m="http://schemas.openxmlformats.org/officeDocument/2006/math">
                    <m:r>
                      <a:rPr lang="el-GR" altLang="ko-KR" b="1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로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대체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함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934933"/>
                  </p:ext>
                </p:extLst>
              </p:nvPr>
            </p:nvGraphicFramePr>
            <p:xfrm>
              <a:off x="884057" y="2176220"/>
              <a:ext cx="4064490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41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934933"/>
                  </p:ext>
                </p:extLst>
              </p:nvPr>
            </p:nvGraphicFramePr>
            <p:xfrm>
              <a:off x="884057" y="2176220"/>
              <a:ext cx="4064490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41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02" t="-1818" r="-5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02" t="-1818" r="-4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18" r="-29910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703" t="-1818" r="-2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703" t="-1818" r="-1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2703" t="-1818" r="-1802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37536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Repeating Ground Track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참고문헌에서 </a:t>
                </a:r>
                <a:r>
                  <a:rPr lang="ko-KR" altLang="en-US" b="1" u="sng" dirty="0"/>
                  <a:t>모든 설계기법에 대해 기본적으로 가정</a:t>
                </a:r>
                <a:r>
                  <a:rPr lang="ko-KR" altLang="en-US" dirty="0"/>
                  <a:t>한 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일반 궤도에 비해 </a:t>
                </a:r>
                <a:r>
                  <a:rPr lang="ko-KR" altLang="en-US" b="1" u="sng" dirty="0"/>
                  <a:t>높은 커버리지 성능</a:t>
                </a:r>
                <a:r>
                  <a:rPr lang="ko-KR" altLang="en-US" dirty="0"/>
                  <a:t>을 보임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위성이 특정 횟수의 공전을 마치면 </a:t>
                </a:r>
                <a:r>
                  <a:rPr lang="ko-KR" altLang="en-US" b="1" u="sng" dirty="0"/>
                  <a:t>궤도 전파 초기의 위치로 돌아오는 특징</a:t>
                </a:r>
                <a:endParaRPr lang="en-US" altLang="ko-KR" b="1" u="sng" dirty="0"/>
              </a:p>
              <a:p>
                <a:pPr lvl="2">
                  <a:defRPr/>
                </a:pPr>
                <a:r>
                  <a:rPr lang="ko-KR" altLang="en-US" dirty="0"/>
                  <a:t>주어진 전파 시간 동안 위성의 공전 횟수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>
                  <a:defRPr/>
                </a:pPr>
                <a:r>
                  <a:rPr lang="ko-KR" altLang="en-US" dirty="0"/>
                  <a:t>초기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위치로 돌아오는 데 걸리는 시간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</a:p>
              <a:p>
                <a:pPr lvl="2">
                  <a:defRPr/>
                </a:pPr>
                <a:r>
                  <a:rPr lang="en-US" altLang="ko-KR" dirty="0"/>
                  <a:t>ex)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12/1 : </a:t>
                </a:r>
                <a:r>
                  <a:rPr lang="ko-KR" altLang="en-US" dirty="0"/>
                  <a:t>하루에</a:t>
                </a:r>
                <a:r>
                  <a:rPr lang="en-US" altLang="ko-KR" dirty="0"/>
                  <a:t> 12</a:t>
                </a:r>
                <a:r>
                  <a:rPr lang="ko-KR" altLang="en-US" dirty="0"/>
                  <a:t>번 공전 후 초기 위치로 돌아오는 </a:t>
                </a:r>
                <a:r>
                  <a:rPr lang="en-US" altLang="ko-KR" dirty="0"/>
                  <a:t>RGT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RGT </a:t>
                </a:r>
                <a:r>
                  <a:rPr lang="ko-KR" altLang="en-US" dirty="0"/>
                  <a:t>궤도의 특성을 이용하여 </a:t>
                </a:r>
                <a:r>
                  <a:rPr lang="ko-KR" altLang="en-US" b="1" u="sng" dirty="0"/>
                  <a:t>궤도 </a:t>
                </a:r>
                <a:r>
                  <a:rPr lang="ko-KR" altLang="en-US" b="1" u="sng" dirty="0" err="1"/>
                  <a:t>장반경</a:t>
                </a:r>
                <a:r>
                  <a:rPr lang="en-US" altLang="ko-KR" b="1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b="1" u="sng" dirty="0"/>
                  <a:t>을 역으로 계산 가능</a:t>
                </a:r>
                <a:r>
                  <a:rPr lang="en-US" altLang="ko-KR" b="1" u="sng" dirty="0"/>
                  <a:t>	</a:t>
                </a:r>
                <a:r>
                  <a:rPr lang="en-US" altLang="ko-KR" dirty="0"/>
                  <a:t>	</a:t>
                </a:r>
              </a:p>
              <a:p>
                <a:pPr lvl="1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28001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Repeating Ground Track </a:t>
            </a:r>
            <a:r>
              <a:rPr lang="ko-KR" altLang="en-US" dirty="0"/>
              <a:t>궤도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						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3D68F2-6A74-785E-5A28-D383B403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8" y="1491288"/>
            <a:ext cx="4338887" cy="3827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E30D1-0E60-345D-535A-ACEC0FD2C961}"/>
              </a:ext>
            </a:extLst>
          </p:cNvPr>
          <p:cNvSpPr txBox="1"/>
          <p:nvPr/>
        </p:nvSpPr>
        <p:spPr>
          <a:xfrm>
            <a:off x="-169751" y="5999821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Sharon D. </a:t>
            </a:r>
            <a:r>
              <a:rPr lang="en-US" altLang="ko-KR" sz="1000" b="1" dirty="0" err="1">
                <a:solidFill>
                  <a:srgbClr val="1F2328"/>
                </a:solidFill>
              </a:rPr>
              <a:t>Vtipil</a:t>
            </a:r>
            <a:r>
              <a:rPr lang="en-US" altLang="ko-KR" sz="1000" b="1" dirty="0">
                <a:solidFill>
                  <a:srgbClr val="1F2328"/>
                </a:solidFill>
              </a:rPr>
              <a:t> and Brett Newman, “Determining an Earth Observation Repeat Ground Track Orbit for an Optimization Methodology”, Journal of Spacecraft and Rockets 2012 49:1, 157-164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98CE78-2D8E-A51B-C6B8-E3EFC21D2E60}"/>
              </a:ext>
            </a:extLst>
          </p:cNvPr>
          <p:cNvGrpSpPr/>
          <p:nvPr/>
        </p:nvGrpSpPr>
        <p:grpSpPr>
          <a:xfrm>
            <a:off x="5281631" y="1213890"/>
            <a:ext cx="2233700" cy="1889438"/>
            <a:chOff x="5281631" y="1491288"/>
            <a:chExt cx="2233700" cy="18894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8836E22-A358-B0E7-1280-31176CDC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1631" y="1491288"/>
              <a:ext cx="2233700" cy="18894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6FFEC9-44F0-4328-F611-F7721EA89897}"/>
                </a:ext>
              </a:extLst>
            </p:cNvPr>
            <p:cNvSpPr/>
            <p:nvPr/>
          </p:nvSpPr>
          <p:spPr bwMode="auto">
            <a:xfrm>
              <a:off x="6796088" y="2813441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2EE5E74-ECF3-B5C5-DB3B-69B0B7755495}"/>
                </a:ext>
              </a:extLst>
            </p:cNvPr>
            <p:cNvSpPr/>
            <p:nvPr/>
          </p:nvSpPr>
          <p:spPr bwMode="auto">
            <a:xfrm>
              <a:off x="5919789" y="1910086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E7D780-8785-210A-85C1-E2364794A28B}"/>
                </a:ext>
              </a:extLst>
            </p:cNvPr>
            <p:cNvSpPr/>
            <p:nvPr/>
          </p:nvSpPr>
          <p:spPr bwMode="auto">
            <a:xfrm>
              <a:off x="6242609" y="1890385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E6A41D-63F1-87C3-3879-E5D9447B4769}"/>
                </a:ext>
              </a:extLst>
            </p:cNvPr>
            <p:cNvSpPr/>
            <p:nvPr/>
          </p:nvSpPr>
          <p:spPr bwMode="auto">
            <a:xfrm>
              <a:off x="7116111" y="2793740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6415A70-C401-69B1-74B1-B9877BB902B2}"/>
                </a:ext>
              </a:extLst>
            </p:cNvPr>
            <p:cNvSpPr/>
            <p:nvPr/>
          </p:nvSpPr>
          <p:spPr bwMode="auto">
            <a:xfrm>
              <a:off x="6343136" y="2355374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F60612-8FF6-9A7E-89E8-7175EAC52A60}"/>
                </a:ext>
              </a:extLst>
            </p:cNvPr>
            <p:cNvSpPr/>
            <p:nvPr/>
          </p:nvSpPr>
          <p:spPr bwMode="auto">
            <a:xfrm>
              <a:off x="7176574" y="3066349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431AF93-18C4-E383-11F1-7D96EDAAD775}"/>
              </a:ext>
            </a:extLst>
          </p:cNvPr>
          <p:cNvGrpSpPr/>
          <p:nvPr/>
        </p:nvGrpSpPr>
        <p:grpSpPr>
          <a:xfrm>
            <a:off x="5281631" y="3273245"/>
            <a:ext cx="3668961" cy="2039942"/>
            <a:chOff x="5281631" y="3550643"/>
            <a:chExt cx="3668961" cy="20399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253A1C7-7483-ED5A-E0C9-9ECC0D965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1631" y="3550643"/>
              <a:ext cx="3668961" cy="2039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95446D7-2B16-6B5F-AE9F-5F515880AF11}"/>
                </a:ext>
              </a:extLst>
            </p:cNvPr>
            <p:cNvSpPr/>
            <p:nvPr/>
          </p:nvSpPr>
          <p:spPr bwMode="auto">
            <a:xfrm>
              <a:off x="6844355" y="4441351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406609E-175F-A337-EDA9-BB9CDC1D36E6}"/>
                </a:ext>
              </a:extLst>
            </p:cNvPr>
            <p:cNvSpPr/>
            <p:nvPr/>
          </p:nvSpPr>
          <p:spPr bwMode="auto">
            <a:xfrm>
              <a:off x="6375045" y="3864775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A94532-7B7A-1368-4B38-A8963E98B435}"/>
                </a:ext>
              </a:extLst>
            </p:cNvPr>
            <p:cNvSpPr/>
            <p:nvPr/>
          </p:nvSpPr>
          <p:spPr bwMode="auto">
            <a:xfrm>
              <a:off x="5382563" y="5046403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6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ko-KR" altLang="en-US" sz="62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6200" dirty="0"/>
                  <a:t> </a:t>
                </a:r>
                <a:r>
                  <a:rPr lang="ko-KR" altLang="en-US" sz="6200" dirty="0"/>
                  <a:t>제외한 나머지는 모두 상수</a:t>
                </a:r>
                <a:endParaRPr lang="en-US" altLang="ko-KR" sz="6200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dirty="0"/>
                  <a:t>						</a:t>
                </a:r>
              </a:p>
            </p:txBody>
          </p:sp>
        </mc:Choice>
        <mc:Fallback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  <a:blipFill>
                <a:blip r:embed="rId6"/>
                <a:stretch>
                  <a:fillRect t="-7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54631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참고 문헌에서의 기준 위성의 궤도 요소 정보 설정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기준이 되는 위성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(Seed Satellite)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하나의 궤도 요소 정보 설정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값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통해 궤도 </a:t>
                </a:r>
                <a:r>
                  <a:rPr lang="ko-KR" altLang="en-US" b="0" i="0" dirty="0" err="1">
                    <a:solidFill>
                      <a:srgbClr val="1F2328"/>
                    </a:solidFill>
                    <a:effectLst/>
                    <a:latin typeface="-apple-system"/>
                  </a:rPr>
                  <a:t>장반경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을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역으로 계산 가능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056215"/>
                  </p:ext>
                </p:extLst>
              </p:nvPr>
            </p:nvGraphicFramePr>
            <p:xfrm>
              <a:off x="884057" y="2176220"/>
              <a:ext cx="4216068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99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056215"/>
                  </p:ext>
                </p:extLst>
              </p:nvPr>
            </p:nvGraphicFramePr>
            <p:xfrm>
              <a:off x="884057" y="2176220"/>
              <a:ext cx="4216068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99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1" t="-1818" r="-41029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4324" t="-1818" r="-4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324" t="-1818" r="-3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1429" t="-1818" r="-2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5225" t="-1818" r="-1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5225" t="-1818" r="-1802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704600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APC Decomposition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개념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설계 기법의 기초가 되는 사전 작업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기준이 되는 위성</a:t>
            </a:r>
            <a:r>
              <a:rPr lang="en-US" altLang="ko-KR" b="1" u="sng" dirty="0"/>
              <a:t>(Seed Satellite) </a:t>
            </a:r>
            <a:r>
              <a:rPr lang="ko-KR" altLang="en-US" b="1" u="sng" dirty="0"/>
              <a:t>하나만을 운용하였을 때의 정보</a:t>
            </a:r>
            <a:r>
              <a:rPr lang="ko-KR" altLang="en-US" dirty="0"/>
              <a:t>를 이용하여 여러 대의 위성을 운용하였을 때의 결과를 수학적으로 계산하는 과정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다음의 세 단계로 구성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</a:p>
          <a:p>
            <a:pPr lvl="2">
              <a:defRPr/>
            </a:pPr>
            <a:r>
              <a:rPr lang="en-US" altLang="ko-KR" dirty="0"/>
              <a:t> Constellation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 Vector</a:t>
            </a:r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Access Profile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Seed Satellite </a:t>
                </a:r>
                <a:r>
                  <a:rPr lang="ko-KR" altLang="en-US" dirty="0"/>
                  <a:t>하나만을 운용하였을 때의 </a:t>
                </a:r>
                <a:r>
                  <a:rPr lang="en-US" altLang="ko-KR" dirty="0"/>
                  <a:t>Access Profile</a:t>
                </a:r>
              </a:p>
              <a:p>
                <a:pPr lvl="1">
                  <a:defRPr/>
                </a:pPr>
                <a:r>
                  <a:rPr lang="ko-KR" altLang="en-US" dirty="0"/>
                  <a:t>관측시간 </a:t>
                </a:r>
                <a:r>
                  <a:rPr lang="en-US" altLang="ko-KR" dirty="0"/>
                  <a:t>86400</a:t>
                </a:r>
                <a:r>
                  <a:rPr lang="ko-KR" altLang="en-US" dirty="0"/>
                  <a:t>초</a:t>
                </a:r>
                <a:r>
                  <a:rPr lang="en-US" altLang="ko-KR" dirty="0"/>
                  <a:t>, Time Step 120</a:t>
                </a:r>
                <a:r>
                  <a:rPr lang="ko-KR" altLang="en-US" dirty="0"/>
                  <a:t>초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=720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최소 고도각을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˚로 설정하였을 때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지상국에서 </a:t>
                </a:r>
                <a:r>
                  <a:rPr lang="ko-KR" altLang="en-US" b="1" u="sng" dirty="0"/>
                  <a:t>위성이 관측되는 구간에 대해서만 출력된 </a:t>
                </a:r>
                <a:r>
                  <a:rPr lang="en-US" altLang="ko-KR" b="1" u="sng" dirty="0"/>
                  <a:t>Timeline</a:t>
                </a:r>
                <a:r>
                  <a:rPr lang="ko-KR" altLang="en-US" dirty="0"/>
                  <a:t>의 결과 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 r="-12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B8363F-CC53-A169-0971-AD4522869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7" y="1444134"/>
            <a:ext cx="4245688" cy="33032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A099C-79AD-C37F-74A7-6C06B0ABB4BF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73310623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Constellation Pattern Vector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Seed Satellite</a:t>
                </a:r>
                <a:r>
                  <a:rPr lang="ko-KR" altLang="en-US" dirty="0"/>
                  <a:t>을 기준으로 </a:t>
                </a:r>
                <a:r>
                  <a:rPr lang="ko-KR" altLang="en-US" b="1" u="sng" dirty="0"/>
                  <a:t>각</a:t>
                </a:r>
                <a:r>
                  <a:rPr lang="en-US" altLang="ko-KR" b="1" u="sng" dirty="0"/>
                  <a:t> </a:t>
                </a:r>
                <a:r>
                  <a:rPr lang="ko-KR" altLang="en-US" b="1" u="sng" dirty="0"/>
                  <a:t>위성들의 상대적 위치를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으로 표현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배열에 따라 </a:t>
                </a:r>
                <a:r>
                  <a:rPr lang="en-US" altLang="ko-KR" dirty="0"/>
                  <a:t>Constellation Pattern Vector</a:t>
                </a:r>
                <a:r>
                  <a:rPr lang="ko-KR" altLang="en-US" dirty="0"/>
                  <a:t>를 구성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실제 운용할 위성들은 </a:t>
                </a:r>
                <a:r>
                  <a:rPr lang="en-US" altLang="ko-KR" b="1" u="sng" dirty="0"/>
                  <a:t>Seed Satellite</a:t>
                </a:r>
                <a:r>
                  <a:rPr lang="ko-KR" altLang="en-US" b="1" u="sng" dirty="0"/>
                  <a:t>의 전파시간보다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만큼 늦게 전파</a:t>
                </a:r>
                <a:r>
                  <a:rPr lang="ko-KR" altLang="en-US" dirty="0"/>
                  <a:t>한 결과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값에 따라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𝑅𝐴𝐴𝑁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𝑀𝑒𝑎𝑛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𝑎𝑛𝑜𝑚𝑎𝑙𝑦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 결정 </a:t>
                </a: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Constellation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7F16C-7FC6-A01D-98E5-4A976113C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05" y="1396129"/>
            <a:ext cx="7589521" cy="2838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E857E1-72F1-EC1F-3526-0168B569F82B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9797860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ABE98D-2763-BF48-4592-519363A2E7C0}"/>
              </a:ext>
            </a:extLst>
          </p:cNvPr>
          <p:cNvSpPr/>
          <p:nvPr/>
        </p:nvSpPr>
        <p:spPr bwMode="auto">
          <a:xfrm>
            <a:off x="257082" y="6327787"/>
            <a:ext cx="3357987" cy="4001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Coverage Timeline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앞의 두 과정에서 얻은 정보를 합성하여 </a:t>
                </a:r>
                <a:r>
                  <a:rPr lang="ko-KR" altLang="en-US" b="1" u="sng" dirty="0"/>
                  <a:t>각 위성의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생성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ex) Seed Satellite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이용하여 실제 운용할 위성 </a:t>
                </a:r>
                <a14:m>
                  <m:oMath xmlns:m="http://schemas.openxmlformats.org/officeDocument/2006/math">
                    <m:r>
                      <a:rPr lang="en-US" altLang="ko-KR" b="0" i="0" u="sng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ko-KR" altLang="en-US" b="1" u="sng" dirty="0"/>
                  <a:t>과</a:t>
                </a:r>
                <a:r>
                  <a:rPr lang="en-US" altLang="ko-KR" b="1" u="sng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ko-KR" altLang="en-US" b="1" u="sng" dirty="0"/>
                  <a:t>의</a:t>
                </a:r>
                <a:r>
                  <a:rPr lang="en-US" altLang="ko-KR" b="1" u="sng" dirty="0"/>
                  <a:t> Constellation Pattern Vector</a:t>
                </a:r>
                <a:r>
                  <a:rPr lang="ko-KR" altLang="en-US" b="1" u="sng" dirty="0"/>
                  <a:t>를 각각</a:t>
                </a:r>
                <a14:m>
                  <m:oMath xmlns:m="http://schemas.openxmlformats.org/officeDocument/2006/math">
                    <m:r>
                      <a:rPr lang="en-US" altLang="ko-KR" b="1" i="1" u="sng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b="1" i="1" u="sng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b="1" u="sn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ko-KR" altLang="en-US" b="1" u="sng" dirty="0"/>
                  <a:t>로 설정 후 지연된</a:t>
                </a:r>
                <a:r>
                  <a:rPr lang="en-US" altLang="ko-KR" b="1" u="sng" dirty="0"/>
                  <a:t> </a:t>
                </a:r>
                <a:r>
                  <a:rPr lang="ko-KR" altLang="en-US" b="1" u="sng" dirty="0"/>
                  <a:t>시간 만큼의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생성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ko-KR" altLang="en-US" b="1" u="sng" dirty="0"/>
                  <a:t>두 위성의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겹치게 하여</a:t>
                </a:r>
                <a:r>
                  <a:rPr lang="ko-KR" altLang="en-US" dirty="0"/>
                  <a:t> 최종 </a:t>
                </a:r>
                <a:r>
                  <a:rPr lang="en-US" altLang="ko-KR" dirty="0"/>
                  <a:t>Coverage Timeline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획득</a:t>
                </a:r>
                <a:endParaRPr lang="en-US" altLang="ko-KR" dirty="0"/>
              </a:p>
              <a:p>
                <a:pPr lvl="2">
                  <a:defRPr/>
                </a:pPr>
                <a:r>
                  <a:rPr lang="en-US" altLang="ko-KR" dirty="0"/>
                  <a:t>Seed Satellite</a:t>
                </a:r>
                <a:r>
                  <a:rPr lang="ko-KR" altLang="en-US" dirty="0"/>
                  <a:t>는 실제 운용 위성의 기준을 잡는 용도일 뿐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u="sng" dirty="0"/>
                  <a:t>서는 제외</a:t>
                </a:r>
                <a:endParaRPr lang="en-US" altLang="ko-KR" b="1" u="sng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</a:t>
            </a:r>
            <a:r>
              <a:rPr lang="ko-KR" altLang="en-US" dirty="0"/>
              <a:t> </a:t>
            </a:r>
            <a:r>
              <a:rPr lang="en-US" altLang="ko-KR" dirty="0"/>
              <a:t>Timeline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50408E-7D17-5FB5-7D56-4567E0CA2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24" y="1396877"/>
            <a:ext cx="2922845" cy="28479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B39E5-783C-D0FA-A785-ACEB816ACDE5}"/>
              </a:ext>
            </a:extLst>
          </p:cNvPr>
          <p:cNvSpPr txBox="1"/>
          <p:nvPr/>
        </p:nvSpPr>
        <p:spPr>
          <a:xfrm>
            <a:off x="-200345" y="6195304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61059691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439449-60C0-86AB-9D33-5F2F0505EBC5}"/>
              </a:ext>
            </a:extLst>
          </p:cNvPr>
          <p:cNvSpPr/>
          <p:nvPr/>
        </p:nvSpPr>
        <p:spPr bwMode="auto">
          <a:xfrm>
            <a:off x="257082" y="6266143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참고문헌에서 제시한 </a:t>
            </a:r>
            <a:r>
              <a:rPr lang="en-US" altLang="ko-KR" dirty="0"/>
              <a:t>APC Decomposition</a:t>
            </a:r>
            <a:r>
              <a:rPr lang="ko-KR" altLang="en-US" dirty="0"/>
              <a:t>의 예시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간단한 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4F11BA-A421-115C-4BD7-B5C3F8D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9" y="1434359"/>
            <a:ext cx="6094713" cy="28270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87" t="-1852" r="-50566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52" r="-4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3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852" r="-2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717" t="-1852" r="-10283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065" t="-1852" r="-1869" b="-3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101852" r="-600000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201852" r="-6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301852" r="-600000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첫번째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Seed Satellite</a:t>
                </a:r>
                <a:r>
                  <a:rPr lang="ko-KR" altLang="en-US" dirty="0"/>
                  <a:t>와 궤도요소가 일치하므로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/>
                  <a:t>두번째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아래의 식에 의해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432000" lvl="2" indent="0">
                  <a:lnSpc>
                    <a:spcPct val="120000"/>
                  </a:lnSpc>
                  <a:buNone/>
                  <a:defRPr/>
                </a:pPr>
                <a:r>
                  <a:rPr lang="en-US" altLang="ko-KR" dirty="0">
                    <a:solidFill>
                      <a:srgbClr val="836967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(N : </a:t>
                </a:r>
                <a:r>
                  <a:rPr lang="ko-KR" altLang="en-US" dirty="0"/>
                  <a:t>총 위성 수</a:t>
                </a:r>
                <a:r>
                  <a:rPr lang="en-US" altLang="ko-KR" dirty="0"/>
                  <a:t>)</a:t>
                </a:r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9AE682-CF5D-8D97-5292-0E79DF552B5C}"/>
              </a:ext>
            </a:extLst>
          </p:cNvPr>
          <p:cNvSpPr txBox="1"/>
          <p:nvPr/>
        </p:nvSpPr>
        <p:spPr>
          <a:xfrm>
            <a:off x="-200345" y="625694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8363744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참고문헌에서 제시한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chart</a:t>
            </a:r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 개념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①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Seed Satellite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의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시간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ko-KR" altLang="en-US" b="1" u="sng" dirty="0" err="1">
                    <a:solidFill>
                      <a:schemeClr val="tx1"/>
                    </a:solidFill>
                    <a:cs typeface="Times New Roman"/>
                  </a:rPr>
                  <a:t>지상국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및</a:t>
                </a:r>
                <a:endParaRPr lang="en-US" altLang="ko-KR" b="1" u="sng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궤도요소 정보를 입력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solidFill>
                    <a:schemeClr val="tx1"/>
                  </a:solidFill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②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은 위성의 수에 해당하며 첫 번째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을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으로 시작하여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이 </a:t>
                </a:r>
                <a:r>
                  <a:rPr lang="ko-KR" altLang="en-US" b="1" u="sng" dirty="0">
                    <a:cs typeface="Times New Roman"/>
                  </a:rPr>
                  <a:t>최대 </a:t>
                </a:r>
                <a:r>
                  <a:rPr lang="en-US" altLang="ko-KR" b="1" u="sng" dirty="0">
                    <a:cs typeface="Times New Roman"/>
                  </a:rPr>
                  <a:t>L</a:t>
                </a:r>
                <a:r>
                  <a:rPr lang="ko-KR" altLang="en-US" b="1" u="sng" dirty="0">
                    <a:cs typeface="Times New Roman"/>
                  </a:rPr>
                  <a:t>이 될 때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ko-KR" altLang="en-US" b="1" u="sng" dirty="0">
                    <a:cs typeface="Times New Roman"/>
                  </a:rPr>
                  <a:t>까지 반복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③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로 정의하며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  <a:cs typeface="Times New Roman"/>
                  </a:rPr>
                  <a:t>nint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는 가장 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가까운 정수를 뜻하는 함수다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값에 따라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균등하게 </a:t>
                </a:r>
                <a:r>
                  <a:rPr lang="en-US" altLang="ko-KR" b="1" u="sng" dirty="0">
                    <a:cs typeface="Times New Roman"/>
                  </a:rPr>
                  <a:t>Constellation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en-US" altLang="ko-KR" b="1" u="sng" dirty="0">
                    <a:cs typeface="Times New Roman"/>
                  </a:rPr>
                  <a:t>Pattern Vector</a:t>
                </a:r>
                <a:r>
                  <a:rPr lang="ko-KR" altLang="en-US" b="1" u="sng" dirty="0">
                    <a:cs typeface="Times New Roman"/>
                  </a:rPr>
                  <a:t>를 생성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④ 모든 관측시간에 대해 최소 커버리지 </a:t>
                </a:r>
                <a:endParaRPr lang="en-US" altLang="ko-KR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cs typeface="Times New Roman"/>
                  </a:rPr>
                  <a:t>요구횟수를 달성할 때까지 </a:t>
                </a:r>
                <a:r>
                  <a:rPr lang="ko-KR" altLang="en-US" b="1" u="sng" dirty="0">
                    <a:cs typeface="Times New Roman"/>
                  </a:rPr>
                  <a:t>위성의  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반복 누적</a:t>
                </a:r>
                <a:r>
                  <a:rPr lang="ko-KR" altLang="en-US" dirty="0">
                    <a:cs typeface="Times New Roman"/>
                  </a:rPr>
                  <a:t>하다가 달성 시</a:t>
                </a:r>
                <a:r>
                  <a:rPr lang="en-US" altLang="ko-KR" dirty="0">
                    <a:cs typeface="Times New Roman"/>
                  </a:rPr>
                  <a:t>,        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</a:t>
                </a:r>
                <a:r>
                  <a:rPr lang="en-US" altLang="ko-KR" b="1" dirty="0">
                    <a:cs typeface="Times New Roman"/>
                  </a:rPr>
                  <a:t> </a:t>
                </a:r>
                <a:r>
                  <a:rPr lang="ko-KR" altLang="en-US" b="1" u="sng" dirty="0">
                    <a:cs typeface="Times New Roman"/>
                  </a:rPr>
                  <a:t>전체 관측 시간 동안의 </a:t>
                </a:r>
                <a:r>
                  <a:rPr lang="en-US" altLang="ko-KR" b="1" u="sng" dirty="0">
                    <a:cs typeface="Times New Roman"/>
                  </a:rPr>
                  <a:t>Coverage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출력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 </a:t>
                </a:r>
                <a:r>
                  <a:rPr lang="ko-KR" altLang="en-US" dirty="0">
                    <a:cs typeface="Times New Roman"/>
                  </a:rPr>
                  <a:t>달성 불가 시</a:t>
                </a:r>
                <a:r>
                  <a:rPr lang="en-US" altLang="ko-KR" dirty="0">
                    <a:cs typeface="Times New Roman"/>
                  </a:rPr>
                  <a:t>,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b="1" u="sng" dirty="0">
                    <a:cs typeface="Times New Roman"/>
                  </a:rPr>
                  <a:t>위성 수를 추가</a:t>
                </a:r>
                <a:r>
                  <a:rPr lang="ko-KR" altLang="en-US" dirty="0">
                    <a:cs typeface="Times New Roman"/>
                  </a:rPr>
                  <a:t>하여 반복한다</a:t>
                </a:r>
                <a:r>
                  <a:rPr lang="en-US" altLang="ko-KR" dirty="0">
                    <a:cs typeface="Times New Roman"/>
                  </a:rPr>
                  <a:t>.</a:t>
                </a:r>
                <a:endParaRPr lang="en-US" altLang="ko-KR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  <a:blipFill>
                <a:blip r:embed="rId3"/>
                <a:stretch>
                  <a:fillRect t="-472" b="-1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37EEB853-5D9A-EEF4-4952-8BCD0913E0DD}"/>
              </a:ext>
            </a:extLst>
          </p:cNvPr>
          <p:cNvGrpSpPr/>
          <p:nvPr/>
        </p:nvGrpSpPr>
        <p:grpSpPr>
          <a:xfrm>
            <a:off x="257080" y="1522606"/>
            <a:ext cx="4586170" cy="3443439"/>
            <a:chOff x="686697" y="1508277"/>
            <a:chExt cx="4586170" cy="34434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FDB58B8-8876-21A3-E0C2-8242C9BC4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495" y="1522606"/>
              <a:ext cx="4522372" cy="3429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55184E-6DB8-23E5-0EA4-E7B8C3E4B3B5}"/>
                </a:ext>
              </a:extLst>
            </p:cNvPr>
            <p:cNvSpPr txBox="1"/>
            <p:nvPr/>
          </p:nvSpPr>
          <p:spPr>
            <a:xfrm>
              <a:off x="686697" y="2054831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3DCE4A-BF67-288C-BA71-1A3140CA6322}"/>
                </a:ext>
              </a:extLst>
            </p:cNvPr>
            <p:cNvSpPr/>
            <p:nvPr/>
          </p:nvSpPr>
          <p:spPr bwMode="auto">
            <a:xfrm>
              <a:off x="781317" y="2403615"/>
              <a:ext cx="2033802" cy="10048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1ABB50-8430-61E9-A94D-57F2D41E6EDD}"/>
                </a:ext>
              </a:extLst>
            </p:cNvPr>
            <p:cNvSpPr txBox="1"/>
            <p:nvPr/>
          </p:nvSpPr>
          <p:spPr>
            <a:xfrm>
              <a:off x="1498318" y="1508277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1DCA4EB-9AEF-5636-3509-533BD8D4300F}"/>
                </a:ext>
              </a:extLst>
            </p:cNvPr>
            <p:cNvSpPr/>
            <p:nvPr/>
          </p:nvSpPr>
          <p:spPr bwMode="auto">
            <a:xfrm>
              <a:off x="1873388" y="1611611"/>
              <a:ext cx="2209766" cy="56161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E9A8C-0BE0-2406-D908-F08D6AA6B6CC}"/>
                </a:ext>
              </a:extLst>
            </p:cNvPr>
            <p:cNvSpPr txBox="1"/>
            <p:nvPr/>
          </p:nvSpPr>
          <p:spPr>
            <a:xfrm>
              <a:off x="2897206" y="2638949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2908550-D485-8246-D2D6-7CC37FC99B94}"/>
                </a:ext>
              </a:extLst>
            </p:cNvPr>
            <p:cNvSpPr/>
            <p:nvPr/>
          </p:nvSpPr>
          <p:spPr bwMode="auto">
            <a:xfrm>
              <a:off x="2988904" y="2979260"/>
              <a:ext cx="1166468" cy="6399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FCE270-E235-CCBE-4E71-91A2D36B9173}"/>
                </a:ext>
              </a:extLst>
            </p:cNvPr>
            <p:cNvSpPr/>
            <p:nvPr/>
          </p:nvSpPr>
          <p:spPr bwMode="auto">
            <a:xfrm>
              <a:off x="2037665" y="4213146"/>
              <a:ext cx="3204190" cy="6866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4CE346-6011-0613-D49D-5783B23B458C}"/>
                </a:ext>
              </a:extLst>
            </p:cNvPr>
            <p:cNvSpPr txBox="1"/>
            <p:nvPr/>
          </p:nvSpPr>
          <p:spPr>
            <a:xfrm>
              <a:off x="1692827" y="4136694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E369D9-7E37-8EA6-3E74-C6A5DFF8BB08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72C4C-879D-5FC7-027D-B3C86678CA77}"/>
              </a:ext>
            </a:extLst>
          </p:cNvPr>
          <p:cNvSpPr txBox="1"/>
          <p:nvPr/>
        </p:nvSpPr>
        <p:spPr>
          <a:xfrm>
            <a:off x="-416099" y="647270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17711327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배열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참고문헌에서 제시한 </a:t>
                </a:r>
                <a:r>
                  <a:rPr lang="ko-KR" altLang="en-US" b="1" u="sng" dirty="0"/>
                  <a:t>커버리지 요구 조건을 위해 필요한 최소 위성 수는 </a:t>
                </a:r>
                <a:r>
                  <a:rPr lang="en-US" altLang="ko-KR" b="1" u="sng" dirty="0"/>
                  <a:t>22</a:t>
                </a:r>
                <a:r>
                  <a:rPr lang="ko-KR" altLang="en-US" b="1" u="sng" dirty="0"/>
                  <a:t>대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N=22</a:t>
                </a:r>
                <a:r>
                  <a:rPr lang="ko-KR" altLang="en-US" dirty="0"/>
                  <a:t>를 대입하여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의 배열을 구하고 참고문헌의 값과 비교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배열을 </a:t>
                </a:r>
                <a:r>
                  <a:rPr lang="ko-KR" altLang="en-US" b="1" u="sng" dirty="0"/>
                  <a:t>아래의 식에 따라 계산 가능</a:t>
                </a:r>
                <a:endParaRPr lang="en-US" altLang="ko-KR" b="1" u="sng" dirty="0"/>
              </a:p>
              <a:p>
                <a:pPr marL="216000" lvl="1" indent="0">
                  <a:buNone/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lang="en-US" altLang="ko-KR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≈32.73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𝑛𝑖𝑛𝑡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[32.73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 방법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271146"/>
                  </p:ext>
                </p:extLst>
              </p:nvPr>
            </p:nvGraphicFramePr>
            <p:xfrm>
              <a:off x="884057" y="3834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271146"/>
                  </p:ext>
                </p:extLst>
              </p:nvPr>
            </p:nvGraphicFramePr>
            <p:xfrm>
              <a:off x="884057" y="3834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3704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3704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3704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704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3704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3704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3704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3704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3704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3704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3704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9023420"/>
                  </p:ext>
                </p:extLst>
              </p:nvPr>
            </p:nvGraphicFramePr>
            <p:xfrm>
              <a:off x="884057" y="4613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9023420"/>
                  </p:ext>
                </p:extLst>
              </p:nvPr>
            </p:nvGraphicFramePr>
            <p:xfrm>
              <a:off x="884057" y="4613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0411543D-099B-3C3B-83D8-3835C2C75E46}"/>
              </a:ext>
            </a:extLst>
          </p:cNvPr>
          <p:cNvSpPr txBox="1">
            <a:spLocks/>
          </p:cNvSpPr>
          <p:nvPr/>
        </p:nvSpPr>
        <p:spPr>
          <a:xfrm>
            <a:off x="431865" y="5415310"/>
            <a:ext cx="5022441" cy="654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20000"/>
              </a:lnSpc>
              <a:defRPr/>
            </a:pPr>
            <a:r>
              <a:rPr lang="ko-KR" altLang="en-US" dirty="0">
                <a:cs typeface="Times New Roman"/>
              </a:rPr>
              <a:t>참고 문헌의 </a:t>
            </a:r>
            <a:r>
              <a:rPr lang="en-US" altLang="ko-KR" dirty="0"/>
              <a:t>n</a:t>
            </a:r>
            <a:r>
              <a:rPr lang="ko-KR" altLang="en-US" dirty="0"/>
              <a:t>의 배열 </a:t>
            </a:r>
            <a:r>
              <a:rPr lang="ko-KR" altLang="en-US" dirty="0">
                <a:cs typeface="Times New Roman"/>
              </a:rPr>
              <a:t>결과와 일치</a:t>
            </a:r>
            <a:endParaRPr lang="en-US" altLang="ko-KR" b="0" dirty="0"/>
          </a:p>
          <a:p>
            <a:pPr>
              <a:defRPr/>
            </a:pPr>
            <a:endParaRPr lang="en-US" altLang="ko-KR" sz="1600" b="0" dirty="0"/>
          </a:p>
          <a:p>
            <a:pPr>
              <a:defRPr/>
            </a:pPr>
            <a:endParaRPr lang="en-US" altLang="ko-KR" sz="1600" b="0" dirty="0"/>
          </a:p>
          <a:p>
            <a:pPr>
              <a:defRPr/>
            </a:pPr>
            <a:endParaRPr lang="en-US" altLang="ko-KR" sz="1600" b="0" dirty="0"/>
          </a:p>
          <a:p>
            <a:pPr>
              <a:defRPr/>
            </a:pPr>
            <a:endParaRPr lang="en-US" altLang="ko-KR" sz="1600" b="0" dirty="0"/>
          </a:p>
          <a:p>
            <a:pPr marL="216000" lvl="1" indent="0"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9081935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범위</a:t>
                </a:r>
                <a:r>
                  <a:rPr lang="en-US" altLang="ko-KR" dirty="0"/>
                  <a:t> 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720 </a:t>
                </a:r>
                <a:r>
                  <a:rPr lang="ko-KR" altLang="en-US" dirty="0"/>
                  <a:t>미만의 정수 </a:t>
                </a:r>
                <a:r>
                  <a:rPr lang="en-US" altLang="ko-KR" dirty="0"/>
                  <a:t>(720</a:t>
                </a:r>
                <a:r>
                  <a:rPr lang="ko-KR" altLang="en-US" dirty="0"/>
                  <a:t>개</a:t>
                </a:r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r>
                  <a:rPr lang="ko-KR" altLang="en-US" dirty="0"/>
                  <a:t>𝛺의 범위 </a:t>
                </a:r>
                <a:r>
                  <a:rPr lang="en-US" altLang="ko-KR" dirty="0"/>
                  <a:t>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360 </a:t>
                </a:r>
                <a:r>
                  <a:rPr lang="ko-KR" altLang="en-US" dirty="0"/>
                  <a:t>미만의 유리수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𝛺의 배치를 </a:t>
                </a:r>
                <a:r>
                  <a:rPr lang="ko-KR" altLang="en-US" b="1" u="sng" dirty="0"/>
                  <a:t>아래의 식에 따라 계산 가능  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 방법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211808"/>
                  </p:ext>
                </p:extLst>
              </p:nvPr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211808"/>
                  </p:ext>
                </p:extLst>
              </p:nvPr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586923"/>
                  </p:ext>
                </p:extLst>
              </p:nvPr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586923"/>
                  </p:ext>
                </p:extLst>
              </p:nvPr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597155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b="1" u="sng" dirty="0"/>
                  <a:t>RGT </a:t>
                </a:r>
                <a:r>
                  <a:rPr lang="ko-KR" altLang="en-US" b="1" u="sng" dirty="0"/>
                  <a:t>궤도의 특성</a:t>
                </a:r>
                <a:r>
                  <a:rPr lang="ko-KR" altLang="en-US" dirty="0"/>
                  <a:t>을 이용하여 𝑀의 배치를 </a:t>
                </a:r>
                <a:r>
                  <a:rPr lang="ko-KR" altLang="en-US" b="1" u="sng" dirty="0"/>
                  <a:t>아래의 식에 따라 계산 가능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+1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98.3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˚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400" dirty="0"/>
                  <a:t> 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=98.3−12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ko-KR" altLang="en-US" dirty="0"/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 방법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535252"/>
                  </p:ext>
                </p:extLst>
              </p:nvPr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535252"/>
                  </p:ext>
                </p:extLst>
              </p:nvPr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963708"/>
                  </p:ext>
                </p:extLst>
              </p:nvPr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963708"/>
                  </p:ext>
                </p:extLst>
              </p:nvPr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080826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위성의 배치 및 궤도요소의 결과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127B95-239C-11A9-BE3E-0346E690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57" y="1675925"/>
            <a:ext cx="4099743" cy="337420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2EBAF73-67A1-03DC-F460-E54587943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399501"/>
                  </p:ext>
                </p:extLst>
              </p:nvPr>
            </p:nvGraphicFramePr>
            <p:xfrm>
              <a:off x="4708618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2EBAF73-67A1-03DC-F460-E54587943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399501"/>
                  </p:ext>
                </p:extLst>
              </p:nvPr>
            </p:nvGraphicFramePr>
            <p:xfrm>
              <a:off x="4708618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8571" t="-1020" r="-252857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864" t="-1020" r="-101136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11" t="-1020" r="-2299" b="-4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19B1D2-9D2F-4D8F-1C53-401797C23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969814"/>
                  </p:ext>
                </p:extLst>
              </p:nvPr>
            </p:nvGraphicFramePr>
            <p:xfrm>
              <a:off x="6825452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19B1D2-9D2F-4D8F-1C53-401797C23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969814"/>
                  </p:ext>
                </p:extLst>
              </p:nvPr>
            </p:nvGraphicFramePr>
            <p:xfrm>
              <a:off x="6825452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8571" t="-1020" r="-252857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3864" t="-1020" r="-101136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011" t="-1020" r="-2299" b="-4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F202DF6-3674-E234-5498-4C92571E9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6482271"/>
                  </p:ext>
                </p:extLst>
              </p:nvPr>
            </p:nvGraphicFramePr>
            <p:xfrm>
              <a:off x="4708618" y="1675925"/>
              <a:ext cx="4111412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853">
                      <a:extLst>
                        <a:ext uri="{9D8B030D-6E8A-4147-A177-3AD203B41FA5}">
                          <a16:colId xmlns:a16="http://schemas.microsoft.com/office/drawing/2014/main" val="3445900988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550110510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1101080517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90024837"/>
                        </a:ext>
                      </a:extLst>
                    </a:gridCol>
                  </a:tblGrid>
                  <a:tr h="22602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413979"/>
                      </a:ext>
                    </a:extLst>
                  </a:tr>
                  <a:tr h="22602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8728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F202DF6-3674-E234-5498-4C92571E9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6482271"/>
                  </p:ext>
                </p:extLst>
              </p:nvPr>
            </p:nvGraphicFramePr>
            <p:xfrm>
              <a:off x="4708618" y="1675925"/>
              <a:ext cx="4111412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853">
                      <a:extLst>
                        <a:ext uri="{9D8B030D-6E8A-4147-A177-3AD203B41FA5}">
                          <a16:colId xmlns:a16="http://schemas.microsoft.com/office/drawing/2014/main" val="3445900988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550110510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1101080517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900248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" t="-1961" r="-300592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592" t="-1961" r="-200592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786" t="-1961" r="-101786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1961" r="-1183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41397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8728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84847312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수학적으로 계산한 결과</a:t>
            </a:r>
            <a:r>
              <a:rPr lang="en-US" altLang="ko-KR" dirty="0"/>
              <a:t>(</a:t>
            </a:r>
            <a:r>
              <a:rPr lang="en-US" altLang="ko-KR" dirty="0" err="1"/>
              <a:t>Matlab</a:t>
            </a:r>
            <a:r>
              <a:rPr lang="en-US" altLang="ko-KR" dirty="0"/>
              <a:t>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lvl="2">
              <a:defRPr/>
            </a:pPr>
            <a:r>
              <a:rPr lang="en-US" altLang="ko-KR" dirty="0"/>
              <a:t>Seed Satellite</a:t>
            </a:r>
            <a:r>
              <a:rPr lang="ko-KR" altLang="en-US" dirty="0"/>
              <a:t>의 궤도 전파 </a:t>
            </a:r>
            <a:r>
              <a:rPr lang="en-US" altLang="ko-KR" dirty="0"/>
              <a:t>: </a:t>
            </a:r>
            <a:r>
              <a:rPr lang="en-US" altLang="ko-KR" dirty="0" err="1"/>
              <a:t>Freeflyer</a:t>
            </a:r>
            <a:r>
              <a:rPr lang="en-US" altLang="ko-KR" dirty="0"/>
              <a:t> </a:t>
            </a:r>
            <a:r>
              <a:rPr lang="ko-KR" altLang="en-US" dirty="0"/>
              <a:t>소프트웨어 이용</a:t>
            </a:r>
            <a:r>
              <a:rPr lang="en-US" altLang="ko-KR" dirty="0"/>
              <a:t> </a:t>
            </a:r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8BBCEC6-C9CD-F5EC-5DEF-5F938EC5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606572"/>
              </p:ext>
            </p:extLst>
          </p:nvPr>
        </p:nvGraphicFramePr>
        <p:xfrm>
          <a:off x="701096" y="1503713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[0, 33, 65, 98, 131, 164, 196, 229, 262, 295, 327, 360, 393, 425, 458, 491, 524, 556, 589, 622, 655, 687]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7803E70D-474A-800F-6F16-42698D8866F2}"/>
              </a:ext>
            </a:extLst>
          </p:cNvPr>
          <p:cNvGrpSpPr/>
          <p:nvPr/>
        </p:nvGrpSpPr>
        <p:grpSpPr>
          <a:xfrm>
            <a:off x="559355" y="3043628"/>
            <a:ext cx="4021396" cy="3123787"/>
            <a:chOff x="559355" y="2745914"/>
            <a:chExt cx="4021396" cy="31237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5EF5ED-1839-8DB0-310C-85EE9D917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355" y="2745914"/>
              <a:ext cx="4021396" cy="3123787"/>
            </a:xfrm>
            <a:prstGeom prst="rect">
              <a:avLst/>
            </a:prstGeom>
            <a:noFill/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2F59BE0-8123-0819-D0C2-C336298CFD32}"/>
                </a:ext>
              </a:extLst>
            </p:cNvPr>
            <p:cNvSpPr/>
            <p:nvPr/>
          </p:nvSpPr>
          <p:spPr bwMode="auto">
            <a:xfrm>
              <a:off x="701095" y="2853405"/>
              <a:ext cx="3696243" cy="284875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F2BBFE-AC53-73F1-ACA4-EAE610645DE2}"/>
              </a:ext>
            </a:extLst>
          </p:cNvPr>
          <p:cNvGrpSpPr/>
          <p:nvPr/>
        </p:nvGrpSpPr>
        <p:grpSpPr>
          <a:xfrm>
            <a:off x="4512744" y="3151119"/>
            <a:ext cx="3696243" cy="2848752"/>
            <a:chOff x="4512744" y="2853405"/>
            <a:chExt cx="3696243" cy="2848752"/>
          </a:xfrm>
        </p:grpSpPr>
        <p:pic>
          <p:nvPicPr>
            <p:cNvPr id="8" name="그림 7" descr="텍스트, 스크린샷, 폰트, 도표이(가) 표시된 사진&#10;&#10;자동 생성된 설명">
              <a:extLst>
                <a:ext uri="{FF2B5EF4-FFF2-40B4-BE49-F238E27FC236}">
                  <a16:creationId xmlns:a16="http://schemas.microsoft.com/office/drawing/2014/main" id="{F9075500-A11F-FA2C-7649-E37B23708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1847" y="2863680"/>
              <a:ext cx="3385805" cy="2704913"/>
            </a:xfrm>
            <a:prstGeom prst="rect">
              <a:avLst/>
            </a:prstGeom>
            <a:noFill/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1F616BB-0B11-094E-EBCC-BC2253A36E1B}"/>
                </a:ext>
              </a:extLst>
            </p:cNvPr>
            <p:cNvSpPr/>
            <p:nvPr/>
          </p:nvSpPr>
          <p:spPr bwMode="auto">
            <a:xfrm>
              <a:off x="4512744" y="2853405"/>
              <a:ext cx="3696243" cy="284875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BBADDB6-72E9-50D7-0A86-83EB0F17E5A8}"/>
              </a:ext>
            </a:extLst>
          </p:cNvPr>
          <p:cNvSpPr txBox="1"/>
          <p:nvPr/>
        </p:nvSpPr>
        <p:spPr>
          <a:xfrm>
            <a:off x="626664" y="6021784"/>
            <a:ext cx="3696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cs typeface="Times New Roman"/>
              </a:rPr>
              <a:t>Matlab</a:t>
            </a:r>
            <a:r>
              <a:rPr lang="en-US" altLang="ko-KR" sz="1400" dirty="0">
                <a:cs typeface="Times New Roman"/>
              </a:rPr>
              <a:t> coding</a:t>
            </a:r>
            <a:r>
              <a:rPr lang="ko-KR" altLang="en-US" sz="1400" dirty="0">
                <a:cs typeface="Times New Roman"/>
              </a:rPr>
              <a:t>을 통해 직접 계산한 결과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32C3F5-0BF2-8850-0D68-8C84902B9C41}"/>
              </a:ext>
            </a:extLst>
          </p:cNvPr>
          <p:cNvSpPr txBox="1"/>
          <p:nvPr/>
        </p:nvSpPr>
        <p:spPr>
          <a:xfrm>
            <a:off x="4470212" y="6021784"/>
            <a:ext cx="32223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참고문헌에서 도출한 결과</a:t>
            </a:r>
          </a:p>
        </p:txBody>
      </p:sp>
    </p:spTree>
    <p:extLst>
      <p:ext uri="{BB962C8B-B14F-4D97-AF65-F5344CB8AC3E}">
        <p14:creationId xmlns:p14="http://schemas.microsoft.com/office/powerpoint/2010/main" val="407353438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시뮬레이션 소프트웨어 결과</a:t>
            </a:r>
            <a:r>
              <a:rPr lang="en-US" altLang="ko-KR" dirty="0"/>
              <a:t>(</a:t>
            </a:r>
            <a:r>
              <a:rPr lang="en-US" altLang="ko-KR" dirty="0" err="1"/>
              <a:t>FreeFlyer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pic>
        <p:nvPicPr>
          <p:cNvPr id="22" name="그림 21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41E5B9E3-CFFD-D2F0-DF1C-4816777CA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20" y="1349454"/>
            <a:ext cx="5017569" cy="3754173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C4453-6339-7508-EA7B-539E65ACB6A3}"/>
                  </a:ext>
                </a:extLst>
              </p:cNvPr>
              <p:cNvSpPr txBox="1"/>
              <p:nvPr/>
            </p:nvSpPr>
            <p:spPr>
              <a:xfrm>
                <a:off x="464158" y="5055142"/>
                <a:ext cx="4713898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cs typeface="Times New Roman"/>
                  </a:rPr>
                  <a:t>모든 구간에 대해 방문횟수</a:t>
                </a:r>
                <a:r>
                  <a:rPr lang="en-US" altLang="ko-KR" sz="1400" dirty="0"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400" dirty="0">
                    <a:cs typeface="Times New Roman"/>
                  </a:rPr>
                  <a:t>)</a:t>
                </a:r>
                <a:r>
                  <a:rPr lang="ko-KR" altLang="en-US" sz="1400" dirty="0">
                    <a:cs typeface="Times New Roman"/>
                  </a:rPr>
                  <a:t>가 </a:t>
                </a:r>
                <a:r>
                  <a:rPr lang="en-US" altLang="ko-KR" sz="1400" dirty="0">
                    <a:cs typeface="Times New Roman"/>
                  </a:rPr>
                  <a:t>1 </a:t>
                </a:r>
                <a:r>
                  <a:rPr lang="ko-KR" altLang="en-US" sz="1400" dirty="0">
                    <a:cs typeface="Times New Roman"/>
                  </a:rPr>
                  <a:t>이상을 만족  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C4453-6339-7508-EA7B-539E65ACB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58" y="5055142"/>
                <a:ext cx="4713898" cy="391646"/>
              </a:xfrm>
              <a:prstGeom prst="rect">
                <a:avLst/>
              </a:prstGeom>
              <a:blipFill>
                <a:blip r:embed="rId4"/>
                <a:stretch>
                  <a:fillRect l="-129"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 descr="텍스트, 스크린샷, 행성, 대기권 밖이(가) 표시된 사진&#10;&#10;자동 생성된 설명">
            <a:extLst>
              <a:ext uri="{FF2B5EF4-FFF2-40B4-BE49-F238E27FC236}">
                <a16:creationId xmlns:a16="http://schemas.microsoft.com/office/drawing/2014/main" id="{41E3CDED-2888-74CA-CCE9-A32A5D565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96" y="1665545"/>
            <a:ext cx="3930450" cy="30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999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 </a:t>
            </a:r>
            <a:r>
              <a:rPr lang="ko-KR" altLang="en-US" dirty="0"/>
              <a:t>설계 개념</a:t>
            </a:r>
            <a:r>
              <a:rPr lang="en-US" altLang="ko-KR" dirty="0"/>
              <a:t>(T:P:F=18:3:1)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T, P, F 3</a:t>
            </a:r>
            <a:r>
              <a:rPr lang="ko-KR" altLang="en-US" dirty="0"/>
              <a:t>가지의 </a:t>
            </a:r>
            <a:r>
              <a:rPr lang="en-US" altLang="ko-KR" dirty="0"/>
              <a:t>parameter</a:t>
            </a:r>
            <a:r>
              <a:rPr lang="ko-KR" altLang="en-US" dirty="0"/>
              <a:t>로 비교적 간단히 </a:t>
            </a:r>
            <a:r>
              <a:rPr lang="ko-KR" altLang="en-US" dirty="0" err="1"/>
              <a:t>위성군</a:t>
            </a:r>
            <a:r>
              <a:rPr lang="ko-KR" altLang="en-US" dirty="0"/>
              <a:t> 설계를 할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대표적인 </a:t>
            </a:r>
            <a:r>
              <a:rPr lang="ko-KR" altLang="en-US" dirty="0" err="1"/>
              <a:t>위성군</a:t>
            </a:r>
            <a:r>
              <a:rPr lang="ko-KR" altLang="en-US" dirty="0"/>
              <a:t> 설계 패턴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 : </a:t>
            </a:r>
            <a:r>
              <a:rPr lang="ko-KR" altLang="en-US" dirty="0"/>
              <a:t>총 위성의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궤도 평면의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인접 궤도 간의 </a:t>
            </a:r>
            <a:r>
              <a:rPr lang="ko-KR" altLang="en-US" dirty="0" err="1"/>
              <a:t>위상차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4FA00F-7DAF-C7AB-8C92-F0D22C6AAA1F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5362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Walker-Delta Constellation </a:t>
                </a:r>
                <a:r>
                  <a:rPr lang="ko-KR" altLang="en-US" dirty="0"/>
                  <a:t>설계 개념</a:t>
                </a:r>
                <a:r>
                  <a:rPr lang="en-US" altLang="ko-KR" dirty="0"/>
                  <a:t>(T:P:F=18:3:1)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600" dirty="0"/>
                  <a:t>T=P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일 경우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954809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 </a:t>
            </a:r>
            <a:r>
              <a:rPr lang="ko-KR" altLang="en-US" dirty="0"/>
              <a:t>값에 따른 </a:t>
            </a:r>
            <a:r>
              <a:rPr lang="en-US" altLang="ko-KR" dirty="0"/>
              <a:t>Coverage </a:t>
            </a:r>
            <a:r>
              <a:rPr lang="ko-KR" altLang="en-US" dirty="0"/>
              <a:t>변화</a:t>
            </a:r>
            <a:r>
              <a:rPr lang="en-US" altLang="ko-KR" dirty="0"/>
              <a:t>(T, P=22)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610072"/>
                  </p:ext>
                </p:extLst>
              </p:nvPr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610072"/>
                  </p:ext>
                </p:extLst>
              </p:nvPr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34987"/>
                  </p:ext>
                </p:extLst>
              </p:nvPr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34987"/>
                  </p:ext>
                </p:extLst>
              </p:nvPr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64023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Constellation(T:P:F=22:22:10) vs</a:t>
            </a:r>
            <a:r>
              <a:rPr lang="ko-KR" altLang="en-US" dirty="0"/>
              <a:t> </a:t>
            </a:r>
            <a:r>
              <a:rPr lang="en-US" altLang="ko-KR" dirty="0"/>
              <a:t>QS Method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599307"/>
                  </p:ext>
                </p:extLst>
              </p:nvPr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599307"/>
                  </p:ext>
                </p:extLst>
              </p:nvPr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419720"/>
                  </p:ext>
                </p:extLst>
              </p:nvPr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419720"/>
                  </p:ext>
                </p:extLst>
              </p:nvPr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762413"/>
                  </p:ext>
                </p:extLst>
              </p:nvPr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762413"/>
                  </p:ext>
                </p:extLst>
              </p:nvPr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849709"/>
                  </p:ext>
                </p:extLst>
              </p:nvPr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849709"/>
                  </p:ext>
                </p:extLst>
              </p:nvPr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/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오차율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1%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미만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총 위성의 수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= L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의 약수 일 때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 완벽히 일치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)</a:t>
                </a:r>
              </a:p>
              <a:p>
                <a:endParaRPr lang="en-US" altLang="ko-KR" sz="1400" dirty="0">
                  <a:solidFill>
                    <a:schemeClr val="tx1"/>
                  </a:solidFill>
                  <a:cs typeface="Times New Roman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완벽히 일치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blipFill>
                <a:blip r:embed="rId7"/>
                <a:stretch>
                  <a:fillRect l="-100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37027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Walker-Delta Constellation vs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Quasi-Symmetric Method</a:t>
                </a:r>
              </a:p>
              <a:p>
                <a:pPr lvl="1">
                  <a:defRPr/>
                </a:pPr>
                <a:r>
                  <a:rPr lang="en-US" altLang="ko-KR" dirty="0"/>
                  <a:t>WD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QS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=0(</m:t>
                    </m:r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=12)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→ </a:t>
                </a:r>
                <a:r>
                  <a:rPr lang="ko-KR" altLang="en-US" dirty="0"/>
                  <a:t>정수배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</p:spTree>
    <p:extLst>
      <p:ext uri="{BB962C8B-B14F-4D97-AF65-F5344CB8AC3E}">
        <p14:creationId xmlns:p14="http://schemas.microsoft.com/office/powerpoint/2010/main" val="156948168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Constellation(T:P:F=20:20:8) vs</a:t>
            </a:r>
            <a:r>
              <a:rPr lang="ko-KR" altLang="en-US" dirty="0"/>
              <a:t> </a:t>
            </a:r>
            <a:r>
              <a:rPr lang="en-US" altLang="ko-KR" dirty="0"/>
              <a:t>QS Method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072001"/>
                  </p:ext>
                </p:extLst>
              </p:nvPr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072001"/>
                  </p:ext>
                </p:extLst>
              </p:nvPr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14617"/>
                  </p:ext>
                </p:extLst>
              </p:nvPr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14617"/>
                  </p:ext>
                </p:extLst>
              </p:nvPr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459377"/>
                  </p:ext>
                </p:extLst>
              </p:nvPr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459377"/>
                  </p:ext>
                </p:extLst>
              </p:nvPr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37414"/>
                  </p:ext>
                </p:extLst>
              </p:nvPr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37414"/>
                  </p:ext>
                </p:extLst>
              </p:nvPr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377901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 Constellation(T:P:F=20:20:8) vs</a:t>
            </a:r>
            <a:r>
              <a:rPr lang="ko-KR" altLang="en-US" dirty="0"/>
              <a:t> </a:t>
            </a:r>
            <a:r>
              <a:rPr lang="en-US" altLang="ko-KR" dirty="0"/>
              <a:t>QS Method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  <p:pic>
        <p:nvPicPr>
          <p:cNvPr id="3" name="그림 2" descr="행성, 지구, 원, 대기권 밖이(가) 표시된 사진&#10;&#10;자동 생성된 설명">
            <a:extLst>
              <a:ext uri="{FF2B5EF4-FFF2-40B4-BE49-F238E27FC236}">
                <a16:creationId xmlns:a16="http://schemas.microsoft.com/office/drawing/2014/main" id="{C10458EE-9DD2-97AD-735F-F7B33AB68F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484205"/>
            <a:ext cx="2426335" cy="2132965"/>
          </a:xfrm>
          <a:prstGeom prst="rect">
            <a:avLst/>
          </a:prstGeom>
          <a:noFill/>
        </p:spPr>
      </p:pic>
      <p:pic>
        <p:nvPicPr>
          <p:cNvPr id="5" name="그림 4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97C764E0-B7FB-3BC3-D9EB-45D6163B9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9" y="1294974"/>
            <a:ext cx="3357245" cy="2511425"/>
          </a:xfrm>
          <a:prstGeom prst="rect">
            <a:avLst/>
          </a:prstGeom>
          <a:noFill/>
        </p:spPr>
      </p:pic>
      <p:pic>
        <p:nvPicPr>
          <p:cNvPr id="9" name="그림 8" descr="스크린샷, 원, 행성, 대기권 밖이(가) 표시된 사진&#10;&#10;자동 생성된 설명">
            <a:extLst>
              <a:ext uri="{FF2B5EF4-FFF2-40B4-BE49-F238E27FC236}">
                <a16:creationId xmlns:a16="http://schemas.microsoft.com/office/drawing/2014/main" id="{CFB8EDC3-58A6-FDD1-F0A5-3EB9C1068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6" y="4031830"/>
            <a:ext cx="2426335" cy="2132965"/>
          </a:xfrm>
          <a:prstGeom prst="rect">
            <a:avLst/>
          </a:prstGeom>
          <a:noFill/>
        </p:spPr>
      </p:pic>
      <p:pic>
        <p:nvPicPr>
          <p:cNvPr id="10" name="그림 9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08844703-32CE-AA0D-99B6-17E929C80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8" y="3895764"/>
            <a:ext cx="3357245" cy="251142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982E63-F4A0-BF60-4769-95E86AAF1639}"/>
              </a:ext>
            </a:extLst>
          </p:cNvPr>
          <p:cNvSpPr txBox="1"/>
          <p:nvPr/>
        </p:nvSpPr>
        <p:spPr>
          <a:xfrm>
            <a:off x="6750353" y="2396797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/>
                </a:solidFill>
              </a:rPr>
              <a:t>WD Constellation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3A83B-8522-A8C0-8B6D-3A231CE4950E}"/>
              </a:ext>
            </a:extLst>
          </p:cNvPr>
          <p:cNvSpPr txBox="1"/>
          <p:nvPr/>
        </p:nvSpPr>
        <p:spPr>
          <a:xfrm>
            <a:off x="6833070" y="4944423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1"/>
                </a:solidFill>
              </a:rPr>
              <a:t>Quasi-symmetric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25414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 Method</a:t>
            </a:r>
            <a:r>
              <a:rPr lang="ko-KR" altLang="en-US" dirty="0"/>
              <a:t>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평면 수가 총 위성 수와 같다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항상 최대의 평면을 구성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워커 델타 위성군만큼 간단히 설계할 수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 델타 위성군에 비해 가지는 이점은 크게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새로운 방법의 </a:t>
            </a:r>
            <a:r>
              <a:rPr lang="ko-KR" altLang="en-US" dirty="0" err="1"/>
              <a:t>위성군</a:t>
            </a:r>
            <a:r>
              <a:rPr lang="ko-KR" altLang="en-US" dirty="0"/>
              <a:t> 최적화 설계 방법의 필요성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</a:t>
            </a:r>
            <a:r>
              <a:rPr lang="ko-KR" altLang="en-US" dirty="0"/>
              <a:t>과의 비교</a:t>
            </a:r>
          </a:p>
        </p:txBody>
      </p:sp>
    </p:spTree>
    <p:extLst>
      <p:ext uri="{BB962C8B-B14F-4D97-AF65-F5344CB8AC3E}">
        <p14:creationId xmlns:p14="http://schemas.microsoft.com/office/powerpoint/2010/main" val="303661356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Method(Binary Integer Linear Programming)</a:t>
            </a:r>
          </a:p>
          <a:p>
            <a:pPr lvl="1">
              <a:defRPr/>
            </a:pPr>
            <a:r>
              <a:rPr lang="en-US" altLang="ko-KR" dirty="0"/>
              <a:t> </a:t>
            </a:r>
            <a:r>
              <a:rPr lang="ko-KR" altLang="en-US" dirty="0"/>
              <a:t>최적화 프로그래밍을 거쳐 최적의 동선에 위성을 배치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Quasi-symmetric Method</a:t>
            </a:r>
            <a:r>
              <a:rPr lang="ko-KR" altLang="en-US" dirty="0"/>
              <a:t>에 비해 적은 위성으로도 커버리지 성능 최적화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비대칭으로 위성을 배치하는 새로운 설계 방법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참고문헌에서 제시한 </a:t>
            </a:r>
            <a:r>
              <a:rPr lang="en-US" altLang="ko-KR" dirty="0"/>
              <a:t>flow chart</a:t>
            </a:r>
          </a:p>
          <a:p>
            <a:pPr marL="396000" lvl="2" indent="0">
              <a:buNone/>
              <a:defRPr/>
            </a:pPr>
            <a:r>
              <a:rPr lang="en-US" altLang="ko-KR" dirty="0"/>
              <a:t> </a:t>
            </a:r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 개념</a:t>
            </a:r>
          </a:p>
        </p:txBody>
      </p:sp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560F6EBE-9DEE-B765-3E08-34D2974D95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00" y="1569311"/>
            <a:ext cx="5845448" cy="3503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64695376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직접 작성한 </a:t>
            </a:r>
            <a:r>
              <a:rPr lang="en-US" altLang="ko-KR" dirty="0"/>
              <a:t>flow chart</a:t>
            </a:r>
          </a:p>
          <a:p>
            <a:pPr marL="396000" lvl="2" indent="0">
              <a:buNone/>
              <a:defRPr/>
            </a:pPr>
            <a:r>
              <a:rPr lang="en-US" altLang="ko-KR" dirty="0"/>
              <a:t> </a:t>
            </a:r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 개념</a:t>
            </a:r>
          </a:p>
        </p:txBody>
      </p:sp>
      <p:pic>
        <p:nvPicPr>
          <p:cNvPr id="7" name="그림 6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E852DF57-E657-4E2F-0A07-8DB61C91A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27" y="1520723"/>
            <a:ext cx="6605257" cy="44866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577668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참고문헌에서 제시한 그림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모든 위성</a:t>
                </a:r>
                <a:r>
                  <a:rPr lang="en-US" altLang="ko-KR" dirty="0"/>
                  <a:t>(1 ~ N)</a:t>
                </a:r>
                <a:r>
                  <a:rPr lang="ko-KR" altLang="en-US" dirty="0"/>
                  <a:t>과 모든 </a:t>
                </a:r>
                <a:r>
                  <a:rPr lang="en-US" altLang="ko-KR" dirty="0"/>
                  <a:t>n(0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대응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상황을 가정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지상국으로부터 위성이 관측 된다면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이진수로 나타냄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모든 조합을 전부 확인하는 과정의 비효율성을 피하기 위해 선택 가능한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배열만을 추려가며 무작위로 선택하는 프로그램을 구현함</a:t>
                </a: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 r="-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7" name="그림 6" descr="도표, 라인, 텍스트, 원이(가) 표시된 사진&#10;&#10;자동 생성된 설명">
            <a:extLst>
              <a:ext uri="{FF2B5EF4-FFF2-40B4-BE49-F238E27FC236}">
                <a16:creationId xmlns:a16="http://schemas.microsoft.com/office/drawing/2014/main" id="{95D18C9E-E8E1-06F7-55F3-4C95CBBC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" y="1549954"/>
            <a:ext cx="6398714" cy="259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683905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15642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 </a:t>
            </a:r>
            <a:r>
              <a:rPr lang="ko-KR" altLang="en-US" dirty="0"/>
              <a:t>중복 횟수 최소화 간단한 모식도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 </a:t>
            </a:r>
            <a:r>
              <a:rPr lang="ko-KR" altLang="en-US" dirty="0"/>
              <a:t>설계 개념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C8A1EB9-3FE2-2789-9F42-1E9029D5F91A}"/>
              </a:ext>
            </a:extLst>
          </p:cNvPr>
          <p:cNvSpPr/>
          <p:nvPr/>
        </p:nvSpPr>
        <p:spPr bwMode="auto">
          <a:xfrm>
            <a:off x="1428108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2A5818-6A47-DBC6-D4C0-33E98F5A9BA4}"/>
              </a:ext>
            </a:extLst>
          </p:cNvPr>
          <p:cNvSpPr/>
          <p:nvPr/>
        </p:nvSpPr>
        <p:spPr bwMode="auto">
          <a:xfrm>
            <a:off x="2299701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692A242-60FB-7C5D-ED7C-52FB7CB2DD5B}"/>
              </a:ext>
            </a:extLst>
          </p:cNvPr>
          <p:cNvSpPr/>
          <p:nvPr/>
        </p:nvSpPr>
        <p:spPr bwMode="auto">
          <a:xfrm>
            <a:off x="3171291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074162-92BF-2911-A2D4-842F601932A6}"/>
              </a:ext>
            </a:extLst>
          </p:cNvPr>
          <p:cNvSpPr/>
          <p:nvPr/>
        </p:nvSpPr>
        <p:spPr bwMode="auto">
          <a:xfrm>
            <a:off x="5494960" y="20825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2677F4-C220-FF0C-CE2E-DB57A7AA97EF}"/>
              </a:ext>
            </a:extLst>
          </p:cNvPr>
          <p:cNvSpPr/>
          <p:nvPr/>
        </p:nvSpPr>
        <p:spPr bwMode="auto">
          <a:xfrm>
            <a:off x="6351143" y="2082596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719CFB-7A84-A171-AC6F-C10FDEAF5142}"/>
              </a:ext>
            </a:extLst>
          </p:cNvPr>
          <p:cNvSpPr/>
          <p:nvPr/>
        </p:nvSpPr>
        <p:spPr bwMode="auto">
          <a:xfrm>
            <a:off x="7207320" y="2082595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1EE7E-1DD1-FDB7-5FF9-5FDF3C624362}"/>
              </a:ext>
            </a:extLst>
          </p:cNvPr>
          <p:cNvSpPr txBox="1"/>
          <p:nvPr/>
        </p:nvSpPr>
        <p:spPr>
          <a:xfrm>
            <a:off x="1151569" y="2144463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E797E-D468-A54D-C35A-263622F25AE0}"/>
              </a:ext>
            </a:extLst>
          </p:cNvPr>
          <p:cNvSpPr txBox="1"/>
          <p:nvPr/>
        </p:nvSpPr>
        <p:spPr>
          <a:xfrm>
            <a:off x="2030883" y="2144463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C9F6-7A2A-09B7-CFA2-787072F99A28}"/>
              </a:ext>
            </a:extLst>
          </p:cNvPr>
          <p:cNvSpPr txBox="1"/>
          <p:nvPr/>
        </p:nvSpPr>
        <p:spPr>
          <a:xfrm>
            <a:off x="2902473" y="21444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5F753-4868-5697-A447-C3C00FB1E174}"/>
              </a:ext>
            </a:extLst>
          </p:cNvPr>
          <p:cNvSpPr txBox="1"/>
          <p:nvPr/>
        </p:nvSpPr>
        <p:spPr>
          <a:xfrm>
            <a:off x="5220886" y="21444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470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485C6-0A72-7211-70C5-959A208D2E5B}"/>
              </a:ext>
            </a:extLst>
          </p:cNvPr>
          <p:cNvSpPr txBox="1"/>
          <p:nvPr/>
        </p:nvSpPr>
        <p:spPr>
          <a:xfrm>
            <a:off x="6076315" y="21444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471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F04C9-6F35-AA29-2C34-0B1EDF64FA63}"/>
              </a:ext>
            </a:extLst>
          </p:cNvPr>
          <p:cNvSpPr txBox="1"/>
          <p:nvPr/>
        </p:nvSpPr>
        <p:spPr>
          <a:xfrm>
            <a:off x="6932492" y="2137286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472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BF270-A425-5870-C340-BAC36826BC46}"/>
              </a:ext>
            </a:extLst>
          </p:cNvPr>
          <p:cNvSpPr txBox="1"/>
          <p:nvPr/>
        </p:nvSpPr>
        <p:spPr>
          <a:xfrm>
            <a:off x="4047188" y="213728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E176C-75B3-8EBE-E1CB-6D4A96AB3E03}"/>
              </a:ext>
            </a:extLst>
          </p:cNvPr>
          <p:cNvSpPr txBox="1"/>
          <p:nvPr/>
        </p:nvSpPr>
        <p:spPr>
          <a:xfrm>
            <a:off x="-221707" y="21481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J=1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CE518-D5C6-3090-9171-A5ED627B4679}"/>
              </a:ext>
            </a:extLst>
          </p:cNvPr>
          <p:cNvSpPr txBox="1"/>
          <p:nvPr/>
        </p:nvSpPr>
        <p:spPr>
          <a:xfrm>
            <a:off x="962131" y="177481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n </a:t>
            </a:r>
            <a:r>
              <a:rPr lang="en-US" altLang="ko-KR" sz="1400" dirty="0"/>
              <a:t>= 12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82A35A-D344-56AB-BCE2-CB9F54670145}"/>
              </a:ext>
            </a:extLst>
          </p:cNvPr>
          <p:cNvSpPr txBox="1"/>
          <p:nvPr/>
        </p:nvSpPr>
        <p:spPr>
          <a:xfrm>
            <a:off x="1750288" y="175879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13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275A39-E77A-60C3-5B93-478F62FB371F}"/>
              </a:ext>
            </a:extLst>
          </p:cNvPr>
          <p:cNvSpPr txBox="1"/>
          <p:nvPr/>
        </p:nvSpPr>
        <p:spPr>
          <a:xfrm>
            <a:off x="2731216" y="173587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14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6B53C-132D-93BB-524C-BC519265681D}"/>
              </a:ext>
            </a:extLst>
          </p:cNvPr>
          <p:cNvSpPr txBox="1"/>
          <p:nvPr/>
        </p:nvSpPr>
        <p:spPr>
          <a:xfrm>
            <a:off x="5028357" y="171294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85C09-228C-25CC-4AB5-4EC44B39A4F3}"/>
              </a:ext>
            </a:extLst>
          </p:cNvPr>
          <p:cNvSpPr txBox="1"/>
          <p:nvPr/>
        </p:nvSpPr>
        <p:spPr>
          <a:xfrm>
            <a:off x="5803082" y="173587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=707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A8D8A7-3AB3-0EE0-D251-03A90EB08AAE}"/>
              </a:ext>
            </a:extLst>
          </p:cNvPr>
          <p:cNvSpPr txBox="1"/>
          <p:nvPr/>
        </p:nvSpPr>
        <p:spPr>
          <a:xfrm>
            <a:off x="6718025" y="173485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F9558E-7535-E15B-00E7-8916912F4DC8}"/>
              </a:ext>
            </a:extLst>
          </p:cNvPr>
          <p:cNvCxnSpPr/>
          <p:nvPr/>
        </p:nvCxnSpPr>
        <p:spPr>
          <a:xfrm flipH="1">
            <a:off x="1230358" y="2514110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CBBDF74-A7F0-2A5F-DDAD-2CAAF1740D66}"/>
              </a:ext>
            </a:extLst>
          </p:cNvPr>
          <p:cNvCxnSpPr>
            <a:cxnSpLocks/>
          </p:cNvCxnSpPr>
          <p:nvPr/>
        </p:nvCxnSpPr>
        <p:spPr>
          <a:xfrm>
            <a:off x="1921748" y="2499753"/>
            <a:ext cx="6621762" cy="982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EAA023C6-2B67-A650-1C0D-8CB9D07B7842}"/>
              </a:ext>
            </a:extLst>
          </p:cNvPr>
          <p:cNvSpPr/>
          <p:nvPr/>
        </p:nvSpPr>
        <p:spPr bwMode="auto">
          <a:xfrm>
            <a:off x="1357516" y="3901801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D9476C-A4BE-048D-723E-C456D2CB20E3}"/>
              </a:ext>
            </a:extLst>
          </p:cNvPr>
          <p:cNvSpPr/>
          <p:nvPr/>
        </p:nvSpPr>
        <p:spPr bwMode="auto">
          <a:xfrm>
            <a:off x="2264404" y="3901801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8B4EE53-3AAB-1BCE-DA07-18C0B50E3195}"/>
              </a:ext>
            </a:extLst>
          </p:cNvPr>
          <p:cNvSpPr/>
          <p:nvPr/>
        </p:nvSpPr>
        <p:spPr bwMode="auto">
          <a:xfrm>
            <a:off x="3171291" y="3887457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E75A3F-94BF-B1FC-0476-052357509BF4}"/>
              </a:ext>
            </a:extLst>
          </p:cNvPr>
          <p:cNvSpPr/>
          <p:nvPr/>
        </p:nvSpPr>
        <p:spPr bwMode="auto">
          <a:xfrm>
            <a:off x="5458618" y="39018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4B40506-3F6D-17ED-34E4-5E3DB6E18006}"/>
              </a:ext>
            </a:extLst>
          </p:cNvPr>
          <p:cNvSpPr/>
          <p:nvPr/>
        </p:nvSpPr>
        <p:spPr bwMode="auto">
          <a:xfrm>
            <a:off x="6315845" y="3887457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19AAA9E-7699-2172-7EC9-89D2EC8AD5F1}"/>
              </a:ext>
            </a:extLst>
          </p:cNvPr>
          <p:cNvSpPr/>
          <p:nvPr/>
        </p:nvSpPr>
        <p:spPr bwMode="auto">
          <a:xfrm>
            <a:off x="7172769" y="39018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764B51-3CD3-716B-0FEA-AD398BDC81A5}"/>
              </a:ext>
            </a:extLst>
          </p:cNvPr>
          <p:cNvSpPr txBox="1"/>
          <p:nvPr/>
        </p:nvSpPr>
        <p:spPr>
          <a:xfrm>
            <a:off x="1117986" y="396240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835D4F-97FA-9266-0833-1F4DC4A20F44}"/>
              </a:ext>
            </a:extLst>
          </p:cNvPr>
          <p:cNvSpPr txBox="1"/>
          <p:nvPr/>
        </p:nvSpPr>
        <p:spPr>
          <a:xfrm>
            <a:off x="2024872" y="39695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6A4D9E-8721-B181-5EA9-03001F668767}"/>
              </a:ext>
            </a:extLst>
          </p:cNvPr>
          <p:cNvSpPr txBox="1"/>
          <p:nvPr/>
        </p:nvSpPr>
        <p:spPr>
          <a:xfrm>
            <a:off x="2949510" y="3956657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3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DB722-5D28-4033-B007-F72D6488571C}"/>
              </a:ext>
            </a:extLst>
          </p:cNvPr>
          <p:cNvSpPr txBox="1"/>
          <p:nvPr/>
        </p:nvSpPr>
        <p:spPr>
          <a:xfrm>
            <a:off x="5220886" y="398082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267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41BA-23D7-3D3A-3F15-BE5D46ED01CD}"/>
              </a:ext>
            </a:extLst>
          </p:cNvPr>
          <p:cNvSpPr txBox="1"/>
          <p:nvPr/>
        </p:nvSpPr>
        <p:spPr>
          <a:xfrm>
            <a:off x="6097022" y="39695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268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E3F5A6-41C1-06DF-5E6D-9EE52BA0922E}"/>
              </a:ext>
            </a:extLst>
          </p:cNvPr>
          <p:cNvSpPr txBox="1"/>
          <p:nvPr/>
        </p:nvSpPr>
        <p:spPr>
          <a:xfrm>
            <a:off x="6942726" y="396899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269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0F65B-847F-C2E4-9A81-161987FC14C6}"/>
              </a:ext>
            </a:extLst>
          </p:cNvPr>
          <p:cNvSpPr txBox="1"/>
          <p:nvPr/>
        </p:nvSpPr>
        <p:spPr>
          <a:xfrm>
            <a:off x="916120" y="35090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24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3CF758-C4C0-E767-540B-0877B9153023}"/>
              </a:ext>
            </a:extLst>
          </p:cNvPr>
          <p:cNvSpPr txBox="1"/>
          <p:nvPr/>
        </p:nvSpPr>
        <p:spPr>
          <a:xfrm>
            <a:off x="1744600" y="349656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25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0DB14D-E6CE-413B-F734-F456853396D0}"/>
              </a:ext>
            </a:extLst>
          </p:cNvPr>
          <p:cNvSpPr txBox="1"/>
          <p:nvPr/>
        </p:nvSpPr>
        <p:spPr>
          <a:xfrm>
            <a:off x="2750228" y="348364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26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D907B6-8C51-D1E1-5E4F-E2EDB168F117}"/>
              </a:ext>
            </a:extLst>
          </p:cNvPr>
          <p:cNvSpPr txBox="1"/>
          <p:nvPr/>
        </p:nvSpPr>
        <p:spPr>
          <a:xfrm>
            <a:off x="4983638" y="342016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EC92F-80AF-7B47-5A52-B2330FA0B2FA}"/>
              </a:ext>
            </a:extLst>
          </p:cNvPr>
          <p:cNvSpPr txBox="1"/>
          <p:nvPr/>
        </p:nvSpPr>
        <p:spPr>
          <a:xfrm>
            <a:off x="5923715" y="340891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707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8FA2C3-DDC8-D4F4-E76D-6969FDB91D66}"/>
              </a:ext>
            </a:extLst>
          </p:cNvPr>
          <p:cNvSpPr txBox="1"/>
          <p:nvPr/>
        </p:nvSpPr>
        <p:spPr>
          <a:xfrm>
            <a:off x="6774953" y="3397888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11AB14-EBB0-6813-40D9-AFC36FD8EDD3}"/>
              </a:ext>
            </a:extLst>
          </p:cNvPr>
          <p:cNvSpPr txBox="1"/>
          <p:nvPr/>
        </p:nvSpPr>
        <p:spPr>
          <a:xfrm>
            <a:off x="-200514" y="3993900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J=2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448AAB-97CF-51B3-9CF3-CB4619C20927}"/>
              </a:ext>
            </a:extLst>
          </p:cNvPr>
          <p:cNvSpPr txBox="1"/>
          <p:nvPr/>
        </p:nvSpPr>
        <p:spPr>
          <a:xfrm>
            <a:off x="4044469" y="395258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E273685-5696-5CB5-2E0F-6CFEB5DE9AC3}"/>
              </a:ext>
            </a:extLst>
          </p:cNvPr>
          <p:cNvCxnSpPr/>
          <p:nvPr/>
        </p:nvCxnSpPr>
        <p:spPr>
          <a:xfrm flipH="1">
            <a:off x="1117986" y="4566074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AF7171B-95F7-0F54-38F0-0D7184619ED2}"/>
              </a:ext>
            </a:extLst>
          </p:cNvPr>
          <p:cNvCxnSpPr>
            <a:cxnSpLocks/>
          </p:cNvCxnSpPr>
          <p:nvPr/>
        </p:nvCxnSpPr>
        <p:spPr>
          <a:xfrm>
            <a:off x="2049359" y="4502825"/>
            <a:ext cx="6494151" cy="147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234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7" grpId="0" animBg="1"/>
      <p:bldP spid="49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8" grpId="0" animBg="1"/>
      <p:bldP spid="6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2693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 </a:t>
            </a:r>
            <a:r>
              <a:rPr lang="ko-KR" altLang="en-US" dirty="0"/>
              <a:t>중복 횟수 최소화를 이용한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 </a:t>
            </a:r>
            <a:r>
              <a:rPr lang="ko-KR" altLang="en-US" dirty="0"/>
              <a:t>설계 개념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240591" y="5619711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690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수학적으로 계산한 결과</a:t>
            </a:r>
            <a:r>
              <a:rPr lang="en-US" altLang="ko-KR" dirty="0"/>
              <a:t>(</a:t>
            </a:r>
            <a:r>
              <a:rPr lang="en-US" altLang="ko-KR" dirty="0" err="1"/>
              <a:t>Matlab</a:t>
            </a:r>
            <a:r>
              <a:rPr lang="en-US" altLang="ko-KR" dirty="0"/>
              <a:t>) – </a:t>
            </a:r>
            <a:r>
              <a:rPr lang="ko-KR" altLang="en-US" dirty="0"/>
              <a:t>참고문헌의</a:t>
            </a:r>
            <a:r>
              <a:rPr lang="en-US" altLang="ko-KR" dirty="0"/>
              <a:t> </a:t>
            </a:r>
            <a:r>
              <a:rPr lang="ko-KR" altLang="en-US" dirty="0"/>
              <a:t>해</a:t>
            </a:r>
            <a:r>
              <a:rPr lang="en-US" altLang="ko-KR" dirty="0"/>
              <a:t>(ex.1)</a:t>
            </a:r>
            <a:r>
              <a:rPr lang="ko-KR" altLang="en-US" dirty="0"/>
              <a:t> 대입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3B6534-EFD1-BC56-E9B8-5C519E705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15013"/>
              </p:ext>
            </p:extLst>
          </p:nvPr>
        </p:nvGraphicFramePr>
        <p:xfrm>
          <a:off x="574044" y="1481564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[18, 114, 124, 130, 139, 235, 269, 275, 285, 366, 380, 430, 446, 527, 537, 543, 688, 698]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4D2E0C29-9CD6-0101-5E46-0D7D59AD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0" y="2823793"/>
            <a:ext cx="4624838" cy="34686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8B8981-40C9-9033-A77D-E2E5E894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888" y="2898274"/>
            <a:ext cx="3731722" cy="32524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0D99A2-C1F3-A089-9BC7-8EE11A61ED6E}"/>
              </a:ext>
            </a:extLst>
          </p:cNvPr>
          <p:cNvSpPr txBox="1"/>
          <p:nvPr/>
        </p:nvSpPr>
        <p:spPr>
          <a:xfrm>
            <a:off x="574044" y="2607911"/>
            <a:ext cx="5720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600" dirty="0">
                <a:solidFill>
                  <a:schemeClr val="tx1"/>
                </a:solidFill>
              </a:rPr>
              <a:t>Seed Satellite</a:t>
            </a:r>
            <a:r>
              <a:rPr lang="ko-KR" altLang="en-US" sz="1600" dirty="0">
                <a:solidFill>
                  <a:schemeClr val="tx1"/>
                </a:solidFill>
              </a:rPr>
              <a:t>의 궤도 전파 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en-US" altLang="ko-KR" sz="1600" dirty="0" err="1">
                <a:solidFill>
                  <a:schemeClr val="tx1"/>
                </a:solidFill>
              </a:rPr>
              <a:t>Freeflyer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소프트웨어 이용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78AE9-2687-CE65-1B6B-CEDFB762AA20}"/>
              </a:ext>
            </a:extLst>
          </p:cNvPr>
          <p:cNvSpPr txBox="1"/>
          <p:nvPr/>
        </p:nvSpPr>
        <p:spPr>
          <a:xfrm>
            <a:off x="626664" y="6021784"/>
            <a:ext cx="3696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cs typeface="Times New Roman"/>
              </a:rPr>
              <a:t>Matlab</a:t>
            </a:r>
            <a:r>
              <a:rPr lang="en-US" altLang="ko-KR" sz="1400" dirty="0">
                <a:cs typeface="Times New Roman"/>
              </a:rPr>
              <a:t> coding</a:t>
            </a:r>
            <a:r>
              <a:rPr lang="ko-KR" altLang="en-US" sz="1400" dirty="0">
                <a:cs typeface="Times New Roman"/>
              </a:rPr>
              <a:t>을 통해 직접 계산한 결과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DA7285-975E-0FC1-AF84-A954EEBEE8C3}"/>
              </a:ext>
            </a:extLst>
          </p:cNvPr>
          <p:cNvSpPr txBox="1"/>
          <p:nvPr/>
        </p:nvSpPr>
        <p:spPr>
          <a:xfrm>
            <a:off x="4649345" y="6045406"/>
            <a:ext cx="32223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참고문헌에서 도출한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2052FD-3850-DE8A-2471-EC70977C8244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B441D-C2BD-288E-6D59-D09251AB16AC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0591301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2A0B-3577-CD25-7D3B-4D0C4F6F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6F5D4B0-89AC-42F6-B4CB-1E1D850D46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ko-KR" altLang="en-US" dirty="0"/>
                  <a:t>위성의 배치 및 궤도요소의 결과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756000" lvl="4" indent="0">
                  <a:buNone/>
                  <a:defRPr/>
                </a:pPr>
                <a:r>
                  <a:rPr lang="en-US" altLang="ko-KR" dirty="0"/>
                  <a:t> </a:t>
                </a:r>
              </a:p>
              <a:p>
                <a:pPr lvl="4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6F5D4B0-89AC-42F6-B4CB-1E1D850D46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90BA4F-E869-90A5-A085-8D57BDE3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2F6ED82-15D0-DD9C-1130-1B201EF6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설계결과 검증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086662"/>
                  </p:ext>
                </p:extLst>
              </p:nvPr>
            </p:nvGraphicFramePr>
            <p:xfrm>
              <a:off x="4568570" y="1636866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086662"/>
                  </p:ext>
                </p:extLst>
              </p:nvPr>
            </p:nvGraphicFramePr>
            <p:xfrm>
              <a:off x="4568570" y="1636866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1343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6790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660" t="-2000" r="-10194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660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350.3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69.5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344.3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128.3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134.5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284.3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137.5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142.5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188.3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FC0EE-9DC5-EF47-70E8-A8472A14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72521"/>
              </p:ext>
            </p:extLst>
          </p:nvPr>
        </p:nvGraphicFramePr>
        <p:xfrm>
          <a:off x="6869690" y="1941666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190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215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38.3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446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302.3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527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263.5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176.3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268.5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116.3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543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271.5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290.3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Times New Roman"/>
                          <a:ea typeface="+mn-ea"/>
                          <a:cs typeface="Times New Roman"/>
                        </a:rPr>
                        <a:t>698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349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230.3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FB6941A-499E-C32B-5313-841797A8E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10" y="1504858"/>
            <a:ext cx="4073182" cy="3382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8BF70-F56E-6C91-DBD3-19CB9AEAB9CE}"/>
              </a:ext>
            </a:extLst>
          </p:cNvPr>
          <p:cNvSpPr txBox="1"/>
          <p:nvPr/>
        </p:nvSpPr>
        <p:spPr>
          <a:xfrm>
            <a:off x="-166543" y="600128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1309-13279</a:t>
            </a:r>
          </a:p>
        </p:txBody>
      </p:sp>
    </p:spTree>
    <p:extLst>
      <p:ext uri="{BB962C8B-B14F-4D97-AF65-F5344CB8AC3E}">
        <p14:creationId xmlns:p14="http://schemas.microsoft.com/office/powerpoint/2010/main" val="4130047766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3080-9AF1-520B-20E0-63EF866A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E7E265AD-832C-DCBD-63C3-E832E519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수학적으로 계산한 결과</a:t>
            </a:r>
            <a:r>
              <a:rPr lang="en-US" altLang="ko-KR" dirty="0"/>
              <a:t>(</a:t>
            </a:r>
            <a:r>
              <a:rPr lang="en-US" altLang="ko-KR" dirty="0" err="1"/>
              <a:t>Matlab</a:t>
            </a:r>
            <a:r>
              <a:rPr lang="en-US" altLang="ko-KR" dirty="0"/>
              <a:t>) – </a:t>
            </a:r>
            <a:r>
              <a:rPr lang="ko-KR" altLang="en-US" dirty="0"/>
              <a:t>참고문헌의</a:t>
            </a:r>
            <a:r>
              <a:rPr lang="en-US" altLang="ko-KR" dirty="0"/>
              <a:t> </a:t>
            </a:r>
            <a:r>
              <a:rPr lang="ko-KR" altLang="en-US" dirty="0"/>
              <a:t>해</a:t>
            </a:r>
            <a:r>
              <a:rPr lang="en-US" altLang="ko-KR" dirty="0"/>
              <a:t>(ex.2)</a:t>
            </a:r>
            <a:r>
              <a:rPr lang="ko-KR" altLang="en-US" dirty="0"/>
              <a:t> 대입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76000" lvl="3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7ABCE3-776F-17F3-8206-03B2B0FA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6831494-E3F4-F849-8DBD-438F7A7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B484C3-7DB5-217C-C16B-59F13DBE1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708129"/>
              </p:ext>
            </p:extLst>
          </p:nvPr>
        </p:nvGraphicFramePr>
        <p:xfrm>
          <a:off x="574044" y="1402279"/>
          <a:ext cx="7612666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9, 60, 94, 100, 110, 135, 149, 185, 201, 219, 235, 271, 285, 310, 320, 326, 360, 411, 426, 451, 461, 679, 689, 714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6F94607-EC3E-2BE6-1A22-2E5C113D0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786971"/>
            <a:ext cx="3814202" cy="32999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177A99-ABDB-C456-4F0D-8A21239AB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0" y="2763421"/>
            <a:ext cx="4473918" cy="3355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455687-9810-3C9A-433F-956F4C46DD80}"/>
              </a:ext>
            </a:extLst>
          </p:cNvPr>
          <p:cNvSpPr txBox="1"/>
          <p:nvPr/>
        </p:nvSpPr>
        <p:spPr>
          <a:xfrm>
            <a:off x="574044" y="2480316"/>
            <a:ext cx="5720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600" dirty="0">
                <a:solidFill>
                  <a:schemeClr val="tx1"/>
                </a:solidFill>
              </a:rPr>
              <a:t>Seed Satellite</a:t>
            </a:r>
            <a:r>
              <a:rPr lang="ko-KR" altLang="en-US" sz="1600" dirty="0">
                <a:solidFill>
                  <a:schemeClr val="tx1"/>
                </a:solidFill>
              </a:rPr>
              <a:t>의 궤도 전파 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en-US" altLang="ko-KR" sz="1600" dirty="0" err="1">
                <a:solidFill>
                  <a:schemeClr val="tx1"/>
                </a:solidFill>
              </a:rPr>
              <a:t>Freeflyer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소프트웨어 이용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4E058-28FF-4315-207C-26C5ABA26AF7}"/>
              </a:ext>
            </a:extLst>
          </p:cNvPr>
          <p:cNvSpPr txBox="1"/>
          <p:nvPr/>
        </p:nvSpPr>
        <p:spPr>
          <a:xfrm>
            <a:off x="775522" y="5915456"/>
            <a:ext cx="3696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cs typeface="Times New Roman"/>
              </a:rPr>
              <a:t>Matlab</a:t>
            </a:r>
            <a:r>
              <a:rPr lang="en-US" altLang="ko-KR" sz="1400" dirty="0">
                <a:cs typeface="Times New Roman"/>
              </a:rPr>
              <a:t> coding</a:t>
            </a:r>
            <a:r>
              <a:rPr lang="ko-KR" altLang="en-US" sz="1400" dirty="0">
                <a:cs typeface="Times New Roman"/>
              </a:rPr>
              <a:t>을 통해 직접 계산한 결과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47DC0-71AC-C2D6-00A4-C244EB996CBA}"/>
              </a:ext>
            </a:extLst>
          </p:cNvPr>
          <p:cNvSpPr txBox="1"/>
          <p:nvPr/>
        </p:nvSpPr>
        <p:spPr>
          <a:xfrm>
            <a:off x="4798203" y="5939078"/>
            <a:ext cx="32223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참고문헌에서 도출한 결과</a:t>
            </a:r>
          </a:p>
        </p:txBody>
      </p:sp>
    </p:spTree>
    <p:extLst>
      <p:ext uri="{BB962C8B-B14F-4D97-AF65-F5344CB8AC3E}">
        <p14:creationId xmlns:p14="http://schemas.microsoft.com/office/powerpoint/2010/main" val="414880501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2A0B-3577-CD25-7D3B-4D0C4F6F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6F5D4B0-89AC-42F6-B4CB-1E1D850D46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ko-KR" altLang="en-US" dirty="0"/>
                  <a:t>위성의 배치 및 궤도요소의 결과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756000" lvl="4" indent="0">
                  <a:buNone/>
                  <a:defRPr/>
                </a:pPr>
                <a:r>
                  <a:rPr lang="en-US" altLang="ko-KR" dirty="0"/>
                  <a:t> </a:t>
                </a:r>
              </a:p>
              <a:p>
                <a:pPr lvl="4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6F5D4B0-89AC-42F6-B4CB-1E1D850D46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15B5A12-C048-45D1-572F-281B4EC1E2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67" y="1504858"/>
            <a:ext cx="3988885" cy="3387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90BA4F-E869-90A5-A085-8D57BDE3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2F6ED82-15D0-DD9C-1130-1B201EF6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설계결과 검증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472718"/>
                  </p:ext>
                </p:extLst>
              </p:nvPr>
            </p:nvGraphicFramePr>
            <p:xfrm>
              <a:off x="4568570" y="1488009"/>
              <a:ext cx="2153920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777454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5030498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60766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2C445FB-A14F-B214-A8A8-A25DF08184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472718"/>
                  </p:ext>
                </p:extLst>
              </p:nvPr>
            </p:nvGraphicFramePr>
            <p:xfrm>
              <a:off x="4568570" y="1488009"/>
              <a:ext cx="2153920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93" t="-2000" r="-431343" b="-1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3951" t="-2000" r="-256790" b="-1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4660" t="-2000" r="-101942" b="-1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4660" t="-2000" r="-1942" b="-1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185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77745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235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50304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271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607666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8FC0EE-9DC5-EF47-70E8-A8472A14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4874"/>
              </p:ext>
            </p:extLst>
          </p:nvPr>
        </p:nvGraphicFramePr>
        <p:xfrm>
          <a:off x="6869690" y="1792809"/>
          <a:ext cx="2153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142.5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310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5687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320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160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63692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0927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360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98.3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411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19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62.3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230.5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679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339.5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689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284.3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714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357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134.3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4C8BF70-F56E-6C91-DBD3-19CB9AEAB9CE}"/>
              </a:ext>
            </a:extLst>
          </p:cNvPr>
          <p:cNvSpPr txBox="1"/>
          <p:nvPr/>
        </p:nvSpPr>
        <p:spPr>
          <a:xfrm>
            <a:off x="-166543" y="600128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1309-13279</a:t>
            </a:r>
          </a:p>
        </p:txBody>
      </p:sp>
    </p:spTree>
    <p:extLst>
      <p:ext uri="{BB962C8B-B14F-4D97-AF65-F5344CB8AC3E}">
        <p14:creationId xmlns:p14="http://schemas.microsoft.com/office/powerpoint/2010/main" val="389232543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시뮬레이션 소프트웨어 결과</a:t>
            </a:r>
            <a:r>
              <a:rPr lang="en-US" altLang="ko-KR" dirty="0"/>
              <a:t>(</a:t>
            </a:r>
            <a:r>
              <a:rPr lang="en-US" altLang="ko-KR" dirty="0" err="1"/>
              <a:t>FreeFlyer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8C4453-6339-7508-EA7B-539E65ACB6A3}"/>
              </a:ext>
            </a:extLst>
          </p:cNvPr>
          <p:cNvSpPr txBox="1"/>
          <p:nvPr/>
        </p:nvSpPr>
        <p:spPr>
          <a:xfrm>
            <a:off x="464158" y="5055142"/>
            <a:ext cx="47138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Ex.1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Coverage : 98.19%</a:t>
            </a:r>
            <a:endParaRPr lang="ko-KR" altLang="en-US" sz="1400" dirty="0"/>
          </a:p>
        </p:txBody>
      </p:sp>
      <p:pic>
        <p:nvPicPr>
          <p:cNvPr id="3" name="그림 2" descr="스크린샷, 텍스트, 직사각형, 라인이(가) 표시된 사진&#10;&#10;자동 생성된 설명">
            <a:extLst>
              <a:ext uri="{FF2B5EF4-FFF2-40B4-BE49-F238E27FC236}">
                <a16:creationId xmlns:a16="http://schemas.microsoft.com/office/drawing/2014/main" id="{74F6D62C-0227-3FA6-7C30-216717E93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323" y="1431272"/>
            <a:ext cx="4797971" cy="3590535"/>
          </a:xfrm>
          <a:prstGeom prst="rect">
            <a:avLst/>
          </a:prstGeom>
          <a:noFill/>
        </p:spPr>
      </p:pic>
      <p:pic>
        <p:nvPicPr>
          <p:cNvPr id="5" name="그림 4" descr="텍스트, 스크린샷, 직사각형, 디스플레이이(가) 표시된 사진&#10;&#10;자동 생성된 설명">
            <a:extLst>
              <a:ext uri="{FF2B5EF4-FFF2-40B4-BE49-F238E27FC236}">
                <a16:creationId xmlns:a16="http://schemas.microsoft.com/office/drawing/2014/main" id="{C5517089-196D-924C-84BB-CA3F1109C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06" y="1464607"/>
            <a:ext cx="4797972" cy="359053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C2354-691C-1540-0BB2-C36EAC8D6AB5}"/>
              </a:ext>
            </a:extLst>
          </p:cNvPr>
          <p:cNvSpPr txBox="1"/>
          <p:nvPr/>
        </p:nvSpPr>
        <p:spPr>
          <a:xfrm>
            <a:off x="4944010" y="5021807"/>
            <a:ext cx="373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Ex.2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Coverage : 99.72%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6073870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94EC-467A-E376-1EDC-4B3449C8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933ECB2-3371-7109-956F-FE1DFC523A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시뮬레이션 결과에 영향을 주는 요소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Classical Elemental Orbit of Seed Satellite</a:t>
                </a: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𝑎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8059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𝑎𝑙𝑡𝑖𝑡𝑢𝑑𝑒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1681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 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𝑟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6378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kumimoji="1" lang="ko-KR" alt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kumimoji="1" lang="en-US" altLang="ko-KR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= 12.0426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𝑘𝑚 </a:t>
                </a:r>
              </a:p>
              <a:p>
                <a:pPr lvl="2">
                  <a:defRPr/>
                </a:pPr>
                <a:r>
                  <a:rPr lang="ko-KR" altLang="en-US" dirty="0"/>
                  <a:t>𝑒 </a:t>
                </a:r>
                <a:r>
                  <a:rPr lang="en-US" altLang="ko-KR" dirty="0"/>
                  <a:t>= 0˚,  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= 102.9˚,   </a:t>
                </a:r>
                <a:r>
                  <a:rPr lang="el-GR" altLang="ko-KR" dirty="0"/>
                  <a:t>Ω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0˚,   </a:t>
                </a:r>
                <a:r>
                  <a:rPr lang="ko-KR" altLang="el-GR" dirty="0"/>
                  <a:t>𝜔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98.3˚,   </a:t>
                </a:r>
                <a:r>
                  <a:rPr lang="ko-KR" altLang="el-GR" dirty="0"/>
                  <a:t>𝜈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=</a:t>
                </a:r>
                <a:r>
                  <a:rPr lang="en-US" altLang="ko-KR" dirty="0"/>
                  <a:t> </a:t>
                </a:r>
                <a:r>
                  <a:rPr lang="el-GR" altLang="ko-KR" dirty="0"/>
                  <a:t>0˚</a:t>
                </a:r>
                <a:endParaRPr lang="en-US" altLang="ko-KR" dirty="0"/>
              </a:p>
              <a:p>
                <a:pPr lvl="2">
                  <a:defRPr/>
                </a:pPr>
                <a:endParaRPr lang="el-GR" altLang="ko-KR" dirty="0"/>
              </a:p>
              <a:p>
                <a:pPr lvl="1">
                  <a:defRPr/>
                </a:pPr>
                <a:r>
                  <a:rPr lang="en-US" altLang="ko-KR" dirty="0"/>
                  <a:t>Ground Station</a:t>
                </a:r>
              </a:p>
              <a:p>
                <a:pPr lvl="2">
                  <a:defRPr/>
                </a:pPr>
                <a:r>
                  <a:rPr lang="ko-KR" altLang="en-US" dirty="0"/>
                  <a:t>𝐿𝑎𝑡𝑖𝑡𝑢𝑑𝑒 </a:t>
                </a:r>
                <a:r>
                  <a:rPr lang="en-US" altLang="ko-KR" dirty="0"/>
                  <a:t>= 34.75˚</a:t>
                </a:r>
              </a:p>
              <a:p>
                <a:pPr lvl="2">
                  <a:defRPr/>
                </a:pPr>
                <a:r>
                  <a:rPr lang="ko-KR" altLang="en-US" dirty="0"/>
                  <a:t>𝐿𝑜𝑛𝑔𝑖𝑡𝑢𝑑𝑒 </a:t>
                </a:r>
                <a:r>
                  <a:rPr lang="en-US" altLang="ko-KR" dirty="0"/>
                  <a:t>= −84.39˚</a:t>
                </a:r>
              </a:p>
              <a:p>
                <a:pPr lvl="2">
                  <a:defRPr/>
                </a:pPr>
                <a:r>
                  <a:rPr lang="ko-KR" altLang="en-US" dirty="0"/>
                  <a:t>𝑀𝑖𝑛𝑖𝑚𝑢𝑚 𝐸𝑙𝑒𝑣𝑎𝑡𝑖𝑜𝑛 </a:t>
                </a:r>
                <a:r>
                  <a:rPr lang="en-US" altLang="ko-KR" dirty="0"/>
                  <a:t>= 5˚</a:t>
                </a:r>
              </a:p>
              <a:p>
                <a:pPr lvl="2"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Time</a:t>
                </a: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𝐸𝑝𝑜𝑐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ℎ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𝑇𝑖𝑚𝑒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[23.12.31 18:37:00]   to  [24.01.01 18:37:00]</a:t>
                </a:r>
              </a:p>
              <a:p>
                <a:pPr lvl="2">
                  <a:defRPr/>
                </a:pPr>
                <a:r>
                  <a:rPr lang="ko-KR" altLang="en-US" dirty="0"/>
                  <a:t>𝐿 </a:t>
                </a:r>
                <a:r>
                  <a:rPr lang="en-US" altLang="ko-KR" dirty="0"/>
                  <a:t>= 720</a:t>
                </a:r>
              </a:p>
              <a:p>
                <a:pPr lvl="2">
                  <a:defRPr/>
                </a:pPr>
                <a:r>
                  <a:rPr lang="ko-KR" altLang="en-US" dirty="0"/>
                  <a:t>𝑆𝑡𝑒𝑝 𝑠𝑖𝑧𝑒 </a:t>
                </a:r>
                <a:r>
                  <a:rPr lang="en-US" altLang="ko-KR" dirty="0"/>
                  <a:t>= 120 </a:t>
                </a:r>
                <a:r>
                  <a:rPr lang="ko-KR" altLang="en-US" dirty="0"/>
                  <a:t>𝑠</a:t>
                </a:r>
              </a:p>
              <a:p>
                <a:pPr lvl="4">
                  <a:defRPr/>
                </a:pP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lvl="4"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933ECB2-3371-7109-956F-FE1DFC523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0DB1A1-819D-700D-4842-495A9861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3D091B2-D45A-D169-8E2F-D91D7A6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시뮬레이션 설정 값 조정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6EA4C3-5A78-3EBB-9598-A2C52258B488}"/>
              </a:ext>
            </a:extLst>
          </p:cNvPr>
          <p:cNvGrpSpPr/>
          <p:nvPr/>
        </p:nvGrpSpPr>
        <p:grpSpPr>
          <a:xfrm>
            <a:off x="5809592" y="1053681"/>
            <a:ext cx="3086100" cy="587420"/>
            <a:chOff x="6082301" y="959508"/>
            <a:chExt cx="2476078" cy="58742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C07A1B7-556A-2B06-A328-85BD22603E74}"/>
                </a:ext>
              </a:extLst>
            </p:cNvPr>
            <p:cNvCxnSpPr>
              <a:cxnSpLocks/>
            </p:cNvCxnSpPr>
            <p:nvPr/>
          </p:nvCxnSpPr>
          <p:spPr>
            <a:xfrm>
              <a:off x="6267243" y="1109610"/>
              <a:ext cx="47261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02FA426-8748-B5A9-220F-1110870F1927}"/>
                </a:ext>
              </a:extLst>
            </p:cNvPr>
            <p:cNvCxnSpPr>
              <a:cxnSpLocks/>
            </p:cNvCxnSpPr>
            <p:nvPr/>
          </p:nvCxnSpPr>
          <p:spPr>
            <a:xfrm>
              <a:off x="6267243" y="1385301"/>
              <a:ext cx="47261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434D21-2A9C-FA57-A775-B363AAA4BC52}"/>
                </a:ext>
              </a:extLst>
            </p:cNvPr>
            <p:cNvSpPr txBox="1"/>
            <p:nvPr/>
          </p:nvSpPr>
          <p:spPr>
            <a:xfrm>
              <a:off x="6806296" y="978805"/>
              <a:ext cx="175208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:  </a:t>
              </a:r>
              <a:r>
                <a:rPr lang="ko-KR" altLang="en-US" sz="1100" dirty="0"/>
                <a:t>참고문헌에서 주어진 정보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BED054-1E83-4761-53EE-D00125095193}"/>
                </a:ext>
              </a:extLst>
            </p:cNvPr>
            <p:cNvSpPr txBox="1"/>
            <p:nvPr/>
          </p:nvSpPr>
          <p:spPr>
            <a:xfrm>
              <a:off x="6806297" y="1254496"/>
              <a:ext cx="17520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:  </a:t>
              </a:r>
              <a:r>
                <a:rPr lang="ko-KR" altLang="en-US" sz="1100" dirty="0"/>
                <a:t>주어지지 않은 정보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직접 계산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3F68E4E-A494-ADF9-2734-7F5D3C1BA207}"/>
                </a:ext>
              </a:extLst>
            </p:cNvPr>
            <p:cNvSpPr/>
            <p:nvPr/>
          </p:nvSpPr>
          <p:spPr bwMode="auto">
            <a:xfrm>
              <a:off x="6082301" y="959508"/>
              <a:ext cx="2476078" cy="5874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6467845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94EC-467A-E376-1EDC-4B3449C8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933ECB2-3371-7109-956F-FE1DFC523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780592" cy="585825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시뮬레이션 결과에 영향을 주는 요소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하루</a:t>
            </a:r>
            <a:r>
              <a:rPr lang="en-US" altLang="ko-KR" dirty="0"/>
              <a:t> </a:t>
            </a:r>
            <a:r>
              <a:rPr lang="ko-KR" altLang="en-US" dirty="0"/>
              <a:t>이하의 짧은 관측 시간 동안 운용하는 경우</a:t>
            </a:r>
            <a:r>
              <a:rPr lang="en-US" altLang="ko-KR" dirty="0"/>
              <a:t>, Epoch Start Time</a:t>
            </a:r>
            <a:r>
              <a:rPr lang="ko-KR" altLang="en-US" dirty="0"/>
              <a:t>의 영향을 받음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Epoch Start Time</a:t>
            </a:r>
            <a:r>
              <a:rPr lang="ko-KR" altLang="en-US" dirty="0"/>
              <a:t>을 다르게 설정하면 같은 </a:t>
            </a:r>
            <a:r>
              <a:rPr lang="en-US" altLang="ko-KR" dirty="0"/>
              <a:t>n</a:t>
            </a:r>
            <a:r>
              <a:rPr lang="ko-KR" altLang="en-US" dirty="0"/>
              <a:t>을 지나는 동안에도 지상국과 궤도의 위치 관계에 따라 </a:t>
            </a:r>
            <a:r>
              <a:rPr lang="en-US" altLang="ko-KR" dirty="0"/>
              <a:t>Seed Satellite</a:t>
            </a:r>
            <a:r>
              <a:rPr lang="ko-KR" altLang="en-US" dirty="0"/>
              <a:t>의 </a:t>
            </a:r>
            <a:r>
              <a:rPr lang="en-US" altLang="ko-KR" dirty="0"/>
              <a:t>Access Profile</a:t>
            </a:r>
            <a:r>
              <a:rPr lang="ko-KR" altLang="en-US" dirty="0"/>
              <a:t>의 길이에 차이가 발생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위성의 궤도가 정확히 지상국의 상공에 있을 때 더 높은 성능이 나옴</a:t>
            </a:r>
            <a:endParaRPr lang="en-US" altLang="ko-KR" dirty="0"/>
          </a:p>
          <a:p>
            <a:pPr lvl="6">
              <a:defRPr/>
            </a:pPr>
            <a:endParaRPr lang="en-US" altLang="ko-KR" b="0" dirty="0">
              <a:latin typeface="Cambria Math" panose="02040503050406030204" pitchFamily="18" charset="0"/>
            </a:endParaRPr>
          </a:p>
          <a:p>
            <a:pPr lvl="6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0DB1A1-819D-700D-4842-495A9861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3D091B2-D45A-D169-8E2F-D91D7A6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시뮬레이션 설정 값 조정</a:t>
            </a:r>
            <a:endParaRPr lang="en-US" altLang="ko-KR" dirty="0"/>
          </a:p>
        </p:txBody>
      </p:sp>
      <p:pic>
        <p:nvPicPr>
          <p:cNvPr id="3" name="그림 2" descr="지도, 지구, 행성, 스크린샷이(가) 표시된 사진&#10;&#10;자동 생성된 설명">
            <a:extLst>
              <a:ext uri="{FF2B5EF4-FFF2-40B4-BE49-F238E27FC236}">
                <a16:creationId xmlns:a16="http://schemas.microsoft.com/office/drawing/2014/main" id="{B3879360-4EF3-5B2D-FD40-6538F442A7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37" y="1516441"/>
            <a:ext cx="4096489" cy="3066193"/>
          </a:xfrm>
          <a:prstGeom prst="rect">
            <a:avLst/>
          </a:prstGeom>
          <a:noFill/>
        </p:spPr>
      </p:pic>
      <p:pic>
        <p:nvPicPr>
          <p:cNvPr id="5" name="그림 4" descr="행성, 스크린샷, 지구, 대기권 밖이(가) 표시된 사진&#10;&#10;자동 생성된 설명">
            <a:extLst>
              <a:ext uri="{FF2B5EF4-FFF2-40B4-BE49-F238E27FC236}">
                <a16:creationId xmlns:a16="http://schemas.microsoft.com/office/drawing/2014/main" id="{EE579284-8AFD-86A0-199E-0F815A87A1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414" y="1520488"/>
            <a:ext cx="4090420" cy="306214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75A15B-637C-8B57-52D7-6AFD031AB8ED}"/>
              </a:ext>
            </a:extLst>
          </p:cNvPr>
          <p:cNvSpPr txBox="1"/>
          <p:nvPr/>
        </p:nvSpPr>
        <p:spPr>
          <a:xfrm>
            <a:off x="405804" y="4666416"/>
            <a:ext cx="4713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Epoch Start Time ‘24.01.01 00:00:00’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47D1C-3224-3D42-2223-90E785A19279}"/>
              </a:ext>
            </a:extLst>
          </p:cNvPr>
          <p:cNvSpPr txBox="1"/>
          <p:nvPr/>
        </p:nvSpPr>
        <p:spPr>
          <a:xfrm>
            <a:off x="4672414" y="4655987"/>
            <a:ext cx="4214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cs typeface="Times New Roman"/>
              </a:rPr>
              <a:t>Epoch Start Time ‘23.12.31 18:37:00’</a:t>
            </a:r>
          </a:p>
        </p:txBody>
      </p:sp>
    </p:spTree>
    <p:extLst>
      <p:ext uri="{BB962C8B-B14F-4D97-AF65-F5344CB8AC3E}">
        <p14:creationId xmlns:p14="http://schemas.microsoft.com/office/powerpoint/2010/main" val="20623785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1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626841C-DC0D-B6E7-7669-E0DAF730A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489830"/>
              </p:ext>
            </p:extLst>
          </p:nvPr>
        </p:nvGraphicFramePr>
        <p:xfrm>
          <a:off x="392155" y="1451048"/>
          <a:ext cx="8507366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589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01993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[18, 114, 124, 130, 139, 235, 269, 275, 285, 366, 380, 430, 446, 527, 537, 543, 688, 698]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76B3B440-28F9-2CF6-A966-A3202F0F9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762661"/>
            <a:ext cx="4314917" cy="32361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83C8FA5-7D4A-DA2D-ACC2-C1F1E8F31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94" y="2753804"/>
            <a:ext cx="4119719" cy="3236188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5318060-1080-54E8-6D42-322515078116}"/>
              </a:ext>
            </a:extLst>
          </p:cNvPr>
          <p:cNvSpPr/>
          <p:nvPr/>
        </p:nvSpPr>
        <p:spPr bwMode="auto">
          <a:xfrm>
            <a:off x="5300302" y="610378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2771D-9360-AEB9-F5D4-69FD8DD5AC36}"/>
              </a:ext>
            </a:extLst>
          </p:cNvPr>
          <p:cNvSpPr txBox="1"/>
          <p:nvPr/>
        </p:nvSpPr>
        <p:spPr>
          <a:xfrm>
            <a:off x="5439388" y="611872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</p:spTree>
    <p:extLst>
      <p:ext uri="{BB962C8B-B14F-4D97-AF65-F5344CB8AC3E}">
        <p14:creationId xmlns:p14="http://schemas.microsoft.com/office/powerpoint/2010/main" val="86318845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59CE66-4662-1F8C-0450-97C316D8971A}"/>
              </a:ext>
            </a:extLst>
          </p:cNvPr>
          <p:cNvSpPr/>
          <p:nvPr/>
        </p:nvSpPr>
        <p:spPr bwMode="auto">
          <a:xfrm>
            <a:off x="4571999" y="2753804"/>
            <a:ext cx="4314917" cy="32450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2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DCF367-F017-F9C1-6132-D99435B72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338895"/>
              </p:ext>
            </p:extLst>
          </p:nvPr>
        </p:nvGraphicFramePr>
        <p:xfrm>
          <a:off x="212867" y="1451048"/>
          <a:ext cx="879290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402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3082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76871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43818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53884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68042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1039807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59129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9, 60, 94, 100, 110, 135, 149, 185, 201, 219, 235, 271, 285, 310, 320, 326, 360, 411, 426, 451, 461, 679, 689, 714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3CCADB9-A564-E09A-8285-325BC0B5F07E}"/>
              </a:ext>
            </a:extLst>
          </p:cNvPr>
          <p:cNvSpPr/>
          <p:nvPr/>
        </p:nvSpPr>
        <p:spPr bwMode="auto">
          <a:xfrm>
            <a:off x="5300302" y="6103786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B236F-747E-4674-6EFB-7CF7C3D25DBA}"/>
              </a:ext>
            </a:extLst>
          </p:cNvPr>
          <p:cNvSpPr txBox="1"/>
          <p:nvPr/>
        </p:nvSpPr>
        <p:spPr>
          <a:xfrm>
            <a:off x="5439388" y="6118724"/>
            <a:ext cx="323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= 100 %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261BCC8-6538-D56E-1252-9209569A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892" y="2769480"/>
            <a:ext cx="4320298" cy="3240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A41E9B8-AB02-A6BC-32E6-684353F41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94" y="2753803"/>
            <a:ext cx="4119719" cy="323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92247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59CE66-4662-1F8C-0450-97C316D8971A}"/>
              </a:ext>
            </a:extLst>
          </p:cNvPr>
          <p:cNvSpPr/>
          <p:nvPr/>
        </p:nvSpPr>
        <p:spPr bwMode="auto">
          <a:xfrm>
            <a:off x="4571999" y="2753804"/>
            <a:ext cx="4314917" cy="32450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Example 2</a:t>
            </a:r>
            <a:r>
              <a:rPr lang="ko-KR" altLang="en-US" dirty="0"/>
              <a:t>의 해를 대입한 결과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Epoch Time </a:t>
            </a:r>
            <a:r>
              <a:rPr lang="ko-KR" altLang="en-US" dirty="0"/>
              <a:t>검증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DCF367-F017-F9C1-6132-D99435B72DDC}"/>
              </a:ext>
            </a:extLst>
          </p:cNvPr>
          <p:cNvGraphicFramePr>
            <a:graphicFrameLocks noGrp="1"/>
          </p:cNvGraphicFramePr>
          <p:nvPr/>
        </p:nvGraphicFramePr>
        <p:xfrm>
          <a:off x="266032" y="1451048"/>
          <a:ext cx="868878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190">
                  <a:extLst>
                    <a:ext uri="{9D8B030D-6E8A-4147-A177-3AD203B41FA5}">
                      <a16:colId xmlns:a16="http://schemas.microsoft.com/office/drawing/2014/main" val="2575338983"/>
                    </a:ext>
                  </a:extLst>
                </a:gridCol>
                <a:gridCol w="722166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65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32642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37852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6250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1027494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46587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1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1, 2(240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≤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480)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23.12.31 18:37:00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BILP Method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n = [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39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89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114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164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215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230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255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265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483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493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533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584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618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624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634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659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673</a:t>
                      </a:r>
                      <a:r>
                        <a:rPr lang="en-US" altLang="ko-KR" sz="1200" i="1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Times New Roma"/>
                          <a:ea typeface="+mn-ea"/>
                          <a:cs typeface="+mn-cs"/>
                        </a:rPr>
                        <a:t>709</a:t>
                      </a:r>
                      <a:r>
                        <a:rPr lang="en-US" altLang="ko-KR" sz="1200" dirty="0">
                          <a:latin typeface="Times New Roma"/>
                          <a:ea typeface="+mn-ea"/>
                          <a:cs typeface="Times New Roman"/>
                        </a:rPr>
                        <a:t>]</a:t>
                      </a:r>
                      <a:endParaRPr lang="ko-KR" altLang="en-US" sz="1200" dirty="0">
                        <a:latin typeface="Times New Roma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FCF98A42-C9CF-3FAB-7183-7C6C4D316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331" y="2833808"/>
            <a:ext cx="5445303" cy="11328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588A298-03DA-C7EB-D5C6-7396EE240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201" y="4073452"/>
            <a:ext cx="4618929" cy="1536238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3CCADB9-A564-E09A-8285-325BC0B5F07E}"/>
              </a:ext>
            </a:extLst>
          </p:cNvPr>
          <p:cNvSpPr/>
          <p:nvPr/>
        </p:nvSpPr>
        <p:spPr bwMode="auto">
          <a:xfrm>
            <a:off x="5193974" y="5836658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B236F-747E-4674-6EFB-7CF7C3D25DBA}"/>
              </a:ext>
            </a:extLst>
          </p:cNvPr>
          <p:cNvSpPr txBox="1"/>
          <p:nvPr/>
        </p:nvSpPr>
        <p:spPr>
          <a:xfrm>
            <a:off x="5333060" y="5687212"/>
            <a:ext cx="3447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dirty="0"/>
              <a:t>Coverage requirement 2</a:t>
            </a:r>
          </a:p>
          <a:p>
            <a:pPr lvl="1">
              <a:defRPr/>
            </a:pPr>
            <a:r>
              <a:rPr lang="en-US" altLang="ko-KR" dirty="0"/>
              <a:t>(240 ≤ n ≤ 480) = 93.3 %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5A85CF-CB6C-4F8F-9942-36DA97676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66" y="2753803"/>
            <a:ext cx="4119719" cy="323618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967105B-F797-B2BA-AFC1-3D5DC6166C88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E2DF2-E609-4316-0027-E51EC2D4B876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69775013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92C33A-9A56-101D-11F4-82516FF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2" y="2382519"/>
            <a:ext cx="4413651" cy="331023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44, 109, 156, 195, 205, 290, 318, 356, 367, 451, 458, 464, 500, 530, 612, 623, 655]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6F5B7-5153-D09F-319C-83AC37971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46" y="2382520"/>
            <a:ext cx="4337872" cy="3244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9045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4958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4958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825363"/>
              </p:ext>
            </p:extLst>
          </p:nvPr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183.5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56.3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229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230.3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194.3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655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327.5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0395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5431BA-7081-02F8-3496-FCB7E8B5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1" y="2365719"/>
            <a:ext cx="4466662" cy="3349996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5429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12865.69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시간 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r>
              <a:rPr lang="en-US" altLang="ko-KR" dirty="0"/>
              <a:t>25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38, 64, 88, 111, 150, 161, 245, 251, 259, 354, 420, 451, 462, 574, 612, 623, 709]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681723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51137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51137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644485"/>
              </p:ext>
            </p:extLst>
          </p:nvPr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129.5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354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177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134.3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98.3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231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574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287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354.5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398643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49, 65, 76, 161, 172, 199, 210, 306, 323, 372, 465, 502, 531, 626, 637, 675, 703]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714786-C548-1466-7360-8E94236B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7" y="2362756"/>
            <a:ext cx="4440002" cy="33300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977211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689652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689652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95190"/>
              </p:ext>
            </p:extLst>
          </p:nvPr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186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251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318.5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675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337.5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167333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BILP Method</a:t>
            </a:r>
            <a:r>
              <a:rPr lang="ko-KR" altLang="en-US" dirty="0"/>
              <a:t>를 이용한 이종위성군 설계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1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참고문헌에서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제시한 서로 다른 궤도를 운용하는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두개의 관심지역 </a:t>
                </a:r>
                <a:r>
                  <a:rPr lang="en-US" altLang="ko-KR" dirty="0"/>
                  <a:t>{(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=64.14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=21.94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W), 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=72.8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E)}</a:t>
                </a:r>
              </a:p>
              <a:p>
                <a:pPr lvl="1">
                  <a:defRPr/>
                </a:pPr>
                <a:r>
                  <a:rPr lang="ko-KR" altLang="en-US" dirty="0"/>
                  <a:t>두개의 궤도 유형 </a:t>
                </a:r>
                <a:r>
                  <a:rPr lang="en-US" altLang="ko-KR" dirty="0"/>
                  <a:t>[8/1, 0, 70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], [6/1, 0, 47.915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를 이용한 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 개념</a:t>
            </a:r>
          </a:p>
        </p:txBody>
      </p:sp>
      <p:pic>
        <p:nvPicPr>
          <p:cNvPr id="5" name="그림 4" descr="원, 예술이(가) 표시된 사진&#10;&#10;자동 생성된 설명">
            <a:extLst>
              <a:ext uri="{FF2B5EF4-FFF2-40B4-BE49-F238E27FC236}">
                <a16:creationId xmlns:a16="http://schemas.microsoft.com/office/drawing/2014/main" id="{8B4B7C4C-57C9-2A1A-8FE8-01E871577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1" y="1604188"/>
            <a:ext cx="6327277" cy="2978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35715-F075-B675-6494-A42B7632C2DB}"/>
              </a:ext>
            </a:extLst>
          </p:cNvPr>
          <p:cNvSpPr txBox="1"/>
          <p:nvPr/>
        </p:nvSpPr>
        <p:spPr>
          <a:xfrm>
            <a:off x="-288506" y="59751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57213243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서로 다른 궤도를 동시에 운용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관심지역에서 관측한 </a:t>
            </a:r>
            <a:r>
              <a:rPr lang="en-US" altLang="ko-KR" dirty="0"/>
              <a:t>Seed Satellite</a:t>
            </a:r>
            <a:r>
              <a:rPr lang="ko-KR" altLang="en-US" dirty="0"/>
              <a:t>의 </a:t>
            </a:r>
            <a:r>
              <a:rPr lang="en-US" altLang="ko-KR" dirty="0"/>
              <a:t>Access Profile</a:t>
            </a:r>
            <a:r>
              <a:rPr lang="ko-KR" altLang="en-US" dirty="0"/>
              <a:t>을 획득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최적의 </a:t>
            </a:r>
            <a:r>
              <a:rPr lang="en-US" altLang="ko-KR" dirty="0"/>
              <a:t>n </a:t>
            </a:r>
            <a:r>
              <a:rPr lang="ko-KR" altLang="en-US" dirty="0"/>
              <a:t>배열을 생성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Constellation Pattern Vector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Coverage Timeline</a:t>
            </a:r>
            <a:r>
              <a:rPr lang="ko-KR" altLang="en-US" dirty="0"/>
              <a:t>을 출력</a:t>
            </a: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를 이용한 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 개념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BE3A72-8726-7376-D692-D0077452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61" y="1373305"/>
            <a:ext cx="7294246" cy="33953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0763375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 </a:t>
            </a:r>
          </a:p>
          <a:p>
            <a:pPr lvl="1">
              <a:defRPr/>
            </a:pPr>
            <a:r>
              <a:rPr lang="ko-KR" altLang="en-US" dirty="0"/>
              <a:t>전통적인 </a:t>
            </a:r>
            <a:r>
              <a:rPr lang="en-US" altLang="ko-KR" dirty="0"/>
              <a:t>Quasi-symmetric Method</a:t>
            </a:r>
            <a:r>
              <a:rPr lang="ko-KR" altLang="en-US" dirty="0"/>
              <a:t>를 시작으로 하여 </a:t>
            </a:r>
            <a:r>
              <a:rPr lang="ko-KR" altLang="en-US" dirty="0" err="1"/>
              <a:t>위성군</a:t>
            </a:r>
            <a:r>
              <a:rPr lang="ko-KR" altLang="en-US" dirty="0"/>
              <a:t> 성능 연구 착수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널리 알려진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방법인 </a:t>
            </a:r>
            <a:r>
              <a:rPr lang="en-US" altLang="ko-KR" dirty="0"/>
              <a:t>Walker-Delta Constellation</a:t>
            </a:r>
            <a:r>
              <a:rPr lang="ko-KR" altLang="en-US" dirty="0"/>
              <a:t>과 비교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Walker-Delta Constellation</a:t>
            </a:r>
            <a:r>
              <a:rPr lang="ko-KR" altLang="en-US" dirty="0"/>
              <a:t>에 비해 </a:t>
            </a:r>
            <a:r>
              <a:rPr lang="en-US" altLang="ko-KR" dirty="0"/>
              <a:t>Quasi-symmetric Method</a:t>
            </a:r>
            <a:r>
              <a:rPr lang="ko-KR" altLang="en-US" dirty="0"/>
              <a:t>가 갖는 이점이 없음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Quasi-symmetric Method</a:t>
            </a:r>
            <a:r>
              <a:rPr lang="ko-KR" altLang="en-US" dirty="0"/>
              <a:t>보다 더욱 최적화된 설계 방법이 필요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비대칭성을 이용한 최적화 설계 기법인 </a:t>
            </a:r>
            <a:r>
              <a:rPr lang="en-US" altLang="ko-KR" dirty="0"/>
              <a:t>BILP Method</a:t>
            </a:r>
            <a:r>
              <a:rPr lang="ko-KR" altLang="en-US" dirty="0"/>
              <a:t>가 탄생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Walker-Delta Constellation</a:t>
            </a:r>
            <a:r>
              <a:rPr lang="ko-KR" altLang="en-US" dirty="0"/>
              <a:t>에 비해 궤도 평면 수가 많지만</a:t>
            </a:r>
            <a:r>
              <a:rPr lang="en-US" altLang="ko-KR" dirty="0"/>
              <a:t>, </a:t>
            </a:r>
            <a:r>
              <a:rPr lang="ko-KR" altLang="en-US" dirty="0"/>
              <a:t>위성 수를 줄일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적은 위성으로 </a:t>
            </a:r>
            <a:r>
              <a:rPr lang="en-US" altLang="ko-KR" dirty="0"/>
              <a:t>100% </a:t>
            </a:r>
            <a:r>
              <a:rPr lang="ko-KR" altLang="en-US" dirty="0"/>
              <a:t>성능 도달 검증 완료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궤도를 동시에 운용하는 이종 위성군에 접목시킬 계획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향후 연구 계획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</a:t>
            </a:r>
            <a:r>
              <a:rPr lang="ko-KR" altLang="en-US" dirty="0">
                <a:solidFill>
                  <a:srgbClr val="1F2328"/>
                </a:solidFill>
              </a:rPr>
              <a:t>를 이용한 이종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ko-KR" altLang="en-US" dirty="0">
                <a:solidFill>
                  <a:srgbClr val="1F2328"/>
                </a:solidFill>
              </a:rPr>
              <a:t> 설계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둘 이상의 관심지역에 대한 시뮬레이션 환경 설정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둘 이상의 궤도 유형에 대한 시뮬레이션 환경 설정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궤도의 유형에 따른 각 관심지역의 커버리지 성능 관계 파악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연구의 실용성을 위해 관심지역을 국내에 위치한 지상국으로 재설정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최적의 커버리지 성능을 내는 궤도 설정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100% </a:t>
            </a:r>
            <a:r>
              <a:rPr lang="ko-KR" altLang="en-US" dirty="0">
                <a:solidFill>
                  <a:srgbClr val="1F2328"/>
                </a:solidFill>
              </a:rPr>
              <a:t>커버를 위한 최소 위성 수 도출</a:t>
            </a:r>
            <a:endParaRPr lang="en-US" altLang="ko-KR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579283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101428</TotalTime>
  <Words>5508</Words>
  <Application>Microsoft Office PowerPoint</Application>
  <PresentationFormat>화면 슬라이드 쇼(4:3)</PresentationFormat>
  <Paragraphs>2016</Paragraphs>
  <Slides>71</Slides>
  <Notes>69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0" baseType="lpstr">
      <vt:lpstr>-apple-system</vt:lpstr>
      <vt:lpstr>Times New Roma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예비 심사  BILP(MILP) method를 이용한  위성군 분석 및 설계/최적화</vt:lpstr>
      <vt:lpstr>목차</vt:lpstr>
      <vt:lpstr>서론</vt:lpstr>
      <vt:lpstr>연구 배경</vt:lpstr>
      <vt:lpstr>이종 위성군의 개념</vt:lpstr>
      <vt:lpstr>이종 위성군의 운용 사례(해외)</vt:lpstr>
      <vt:lpstr>이종 위성군의 운용 사례(국내)</vt:lpstr>
      <vt:lpstr>선행 연구의 한계</vt:lpstr>
      <vt:lpstr>연구의 목적 및 의의</vt:lpstr>
      <vt:lpstr>참고 문헌 정보</vt:lpstr>
      <vt:lpstr>BILP(MILP) 설계기법 참고 문헌</vt:lpstr>
      <vt:lpstr>시뮬레이션 환경 설정</vt:lpstr>
      <vt:lpstr>시뮬레이션 환경 설정</vt:lpstr>
      <vt:lpstr>1. 시간 정보 설정</vt:lpstr>
      <vt:lpstr>2. 지상국 정보 설정</vt:lpstr>
      <vt:lpstr>3. 기준 위성의 궤도 요소 정보 설정</vt:lpstr>
      <vt:lpstr>지상 궤적 반복 궤도(RGT)</vt:lpstr>
      <vt:lpstr>지상 궤적 반복 궤도(RGT)</vt:lpstr>
      <vt:lpstr>3. 기준 위성의 궤도 요소 정보 설정</vt:lpstr>
      <vt:lpstr>APC Decomposition</vt:lpstr>
      <vt:lpstr>APC Decomposition</vt:lpstr>
      <vt:lpstr>1. Access Profile</vt:lpstr>
      <vt:lpstr>2. Constellation Pattern Vector</vt:lpstr>
      <vt:lpstr>3. Coverage Timeline</vt:lpstr>
      <vt:lpstr>APC Decomposition의 간단한 예시</vt:lpstr>
      <vt:lpstr>Quasi-symmetric Method</vt:lpstr>
      <vt:lpstr>Quasi-symmetric Method 설계 개념</vt:lpstr>
      <vt:lpstr>Quasi-symmetric Method 설계 방법</vt:lpstr>
      <vt:lpstr>Quasi-symmetric Method 설계 방법</vt:lpstr>
      <vt:lpstr>Quasi-symmetric Method 설계 방법</vt:lpstr>
      <vt:lpstr>Quasi-symmetric Method 설계 방법</vt:lpstr>
      <vt:lpstr>Quasi-symmetric Method 설계결과 검증</vt:lpstr>
      <vt:lpstr>Quasi-symmetric Method 설계결과 검증</vt:lpstr>
      <vt:lpstr>Walker-Delta Constellation과의 비교</vt:lpstr>
      <vt:lpstr>Walker-Delta Constellation과의 비교</vt:lpstr>
      <vt:lpstr>Walker-Delta Constellation과의 비교</vt:lpstr>
      <vt:lpstr>Walker-Delta Constellation과의 비교</vt:lpstr>
      <vt:lpstr>Walker-Delta Constellation과의 비교</vt:lpstr>
      <vt:lpstr>Walker-Delta Constellation과의 비교</vt:lpstr>
      <vt:lpstr>Walker-Delta Constellation과의 비교</vt:lpstr>
      <vt:lpstr>Walker-Delta Constellation과의 비교</vt:lpstr>
      <vt:lpstr>BILP Method</vt:lpstr>
      <vt:lpstr>BILP method 설계 개념</vt:lpstr>
      <vt:lpstr>BILP method 설계 개념</vt:lpstr>
      <vt:lpstr>BILP method 설계 개념</vt:lpstr>
      <vt:lpstr>BILP method 설계 개념</vt:lpstr>
      <vt:lpstr>BILP Method 설계 개념</vt:lpstr>
      <vt:lpstr>BILP Method 설계 개념</vt:lpstr>
      <vt:lpstr>BILP Method 설계결과 검증</vt:lpstr>
      <vt:lpstr>BILP Method 설계결과 검증</vt:lpstr>
      <vt:lpstr>BILP Method 설계결과 검증</vt:lpstr>
      <vt:lpstr>BILP Method 설계결과 검증</vt:lpstr>
      <vt:lpstr>BILP Method 설계결과 검증</vt:lpstr>
      <vt:lpstr>시뮬레이션 설정 값 조정</vt:lpstr>
      <vt:lpstr>시뮬레이션 설정 값 조정</vt:lpstr>
      <vt:lpstr>Epoch Time 검증 결과</vt:lpstr>
      <vt:lpstr>Epoch Time 검증 결과</vt:lpstr>
      <vt:lpstr>Epoch Time 검증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새로운 해의 도출 결과</vt:lpstr>
      <vt:lpstr>BILP Method를 이용한 이종위성군 설계</vt:lpstr>
      <vt:lpstr>BILP를 이용한 이종 위성군 설계 개념</vt:lpstr>
      <vt:lpstr>BILP를 이용한 이종 위성군 설계 개념</vt:lpstr>
      <vt:lpstr>결론</vt:lpstr>
      <vt:lpstr>결론</vt:lpstr>
      <vt:lpstr>향후 연구 계획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4623</cp:revision>
  <dcterms:created xsi:type="dcterms:W3CDTF">2018-01-29T02:45:56Z</dcterms:created>
  <dcterms:modified xsi:type="dcterms:W3CDTF">2024-04-23T05:28:34Z</dcterms:modified>
</cp:coreProperties>
</file>