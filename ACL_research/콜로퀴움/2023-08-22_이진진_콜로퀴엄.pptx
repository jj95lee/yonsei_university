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0" r:id="rId1"/>
  </p:sldMasterIdLst>
  <p:notesMasterIdLst>
    <p:notesMasterId r:id="rId24"/>
  </p:notesMasterIdLst>
  <p:handoutMasterIdLst>
    <p:handoutMasterId r:id="rId25"/>
  </p:handoutMasterIdLst>
  <p:sldIdLst>
    <p:sldId id="2229" r:id="rId2"/>
    <p:sldId id="2239" r:id="rId3"/>
    <p:sldId id="2300" r:id="rId4"/>
    <p:sldId id="2438" r:id="rId5"/>
    <p:sldId id="2512" r:id="rId6"/>
    <p:sldId id="2514" r:id="rId7"/>
    <p:sldId id="2534" r:id="rId8"/>
    <p:sldId id="2517" r:id="rId9"/>
    <p:sldId id="2516" r:id="rId10"/>
    <p:sldId id="2497" r:id="rId11"/>
    <p:sldId id="2519" r:id="rId12"/>
    <p:sldId id="2524" r:id="rId13"/>
    <p:sldId id="2522" r:id="rId14"/>
    <p:sldId id="2529" r:id="rId15"/>
    <p:sldId id="2530" r:id="rId16"/>
    <p:sldId id="2535" r:id="rId17"/>
    <p:sldId id="2565" r:id="rId18"/>
    <p:sldId id="2536" r:id="rId19"/>
    <p:sldId id="2533" r:id="rId20"/>
    <p:sldId id="2508" r:id="rId21"/>
    <p:sldId id="2509" r:id="rId22"/>
    <p:sldId id="2510" r:id="rId23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김극남" initials="김" lastIdx="0" clrIdx="0">
    <p:extLst>
      <p:ext uri="{19B8F6BF-5375-455C-9EA6-DF929625EA0E}">
        <p15:presenceInfo xmlns:p15="http://schemas.microsoft.com/office/powerpoint/2012/main" userId="김극남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99FF"/>
    <a:srgbClr val="000A1E"/>
    <a:srgbClr val="EDB021"/>
    <a:srgbClr val="D9541A"/>
    <a:srgbClr val="404040"/>
    <a:srgbClr val="FFFFFF"/>
    <a:srgbClr val="001E46"/>
    <a:srgbClr val="FFCCCC"/>
    <a:srgbClr val="001432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8A3A2F-24A6-4780-87F1-B038B229A4F4}" v="6" dt="2023-06-14T11:24:23.71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189" autoAdjust="0"/>
    <p:restoredTop sz="82161" autoAdjust="0"/>
  </p:normalViewPr>
  <p:slideViewPr>
    <p:cSldViewPr snapToGrid="0" showGuides="1">
      <p:cViewPr varScale="1">
        <p:scale>
          <a:sx n="66" d="100"/>
          <a:sy n="66" d="100"/>
        </p:scale>
        <p:origin x="66" y="58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65" d="100"/>
          <a:sy n="65" d="100"/>
        </p:scale>
        <p:origin x="2299" y="3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32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진진" userId="2c4bb6cd-31fa-4501-9704-1dfc32333b2e" providerId="ADAL" clId="{B78A3A2F-24A6-4780-87F1-B038B229A4F4}"/>
    <pc:docChg chg="custSel delSld modSld">
      <pc:chgData name="이진진" userId="2c4bb6cd-31fa-4501-9704-1dfc32333b2e" providerId="ADAL" clId="{B78A3A2F-24A6-4780-87F1-B038B229A4F4}" dt="2023-06-14T11:24:28.733" v="61" actId="27636"/>
      <pc:docMkLst>
        <pc:docMk/>
      </pc:docMkLst>
      <pc:sldChg chg="del modNotesTx">
        <pc:chgData name="이진진" userId="2c4bb6cd-31fa-4501-9704-1dfc32333b2e" providerId="ADAL" clId="{B78A3A2F-24A6-4780-87F1-B038B229A4F4}" dt="2023-06-14T11:19:59.194" v="2" actId="2696"/>
        <pc:sldMkLst>
          <pc:docMk/>
          <pc:sldMk cId="607627868" sldId="2438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1148163736" sldId="2444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3904486488" sldId="2446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8295381" sldId="2447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3412052492" sldId="2448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845331008" sldId="2455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412666145" sldId="2456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1035611463" sldId="2457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1633155832" sldId="2458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2943723579" sldId="2459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2574002915" sldId="2460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4142137124" sldId="2461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2795126205" sldId="2462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121109907" sldId="2463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706119381" sldId="2464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2930859256" sldId="2465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194854847" sldId="2466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1928437977" sldId="2467"/>
        </pc:sldMkLst>
      </pc:sldChg>
      <pc:sldChg chg="del">
        <pc:chgData name="이진진" userId="2c4bb6cd-31fa-4501-9704-1dfc32333b2e" providerId="ADAL" clId="{B78A3A2F-24A6-4780-87F1-B038B229A4F4}" dt="2023-06-14T11:19:59.194" v="2" actId="2696"/>
        <pc:sldMkLst>
          <pc:docMk/>
          <pc:sldMk cId="50181166" sldId="2468"/>
        </pc:sldMkLst>
      </pc:sldChg>
      <pc:sldChg chg="modSp mod">
        <pc:chgData name="이진진" userId="2c4bb6cd-31fa-4501-9704-1dfc32333b2e" providerId="ADAL" clId="{B78A3A2F-24A6-4780-87F1-B038B229A4F4}" dt="2023-06-14T11:24:23.716" v="59"/>
        <pc:sldMkLst>
          <pc:docMk/>
          <pc:sldMk cId="4276021245" sldId="2469"/>
        </pc:sldMkLst>
        <pc:spChg chg="mod">
          <ac:chgData name="이진진" userId="2c4bb6cd-31fa-4501-9704-1dfc32333b2e" providerId="ADAL" clId="{B78A3A2F-24A6-4780-87F1-B038B229A4F4}" dt="2023-06-14T11:24:23.716" v="59"/>
          <ac:spMkLst>
            <pc:docMk/>
            <pc:sldMk cId="4276021245" sldId="2469"/>
            <ac:spMk id="4" creationId="{00000000-0000-0000-0000-000000000000}"/>
          </ac:spMkLst>
        </pc:spChg>
      </pc:sldChg>
      <pc:sldChg chg="modSp mod">
        <pc:chgData name="이진진" userId="2c4bb6cd-31fa-4501-9704-1dfc32333b2e" providerId="ADAL" clId="{B78A3A2F-24A6-4780-87F1-B038B229A4F4}" dt="2023-06-14T11:24:28.733" v="61" actId="27636"/>
        <pc:sldMkLst>
          <pc:docMk/>
          <pc:sldMk cId="1668698186" sldId="2470"/>
        </pc:sldMkLst>
        <pc:spChg chg="mod">
          <ac:chgData name="이진진" userId="2c4bb6cd-31fa-4501-9704-1dfc32333b2e" providerId="ADAL" clId="{B78A3A2F-24A6-4780-87F1-B038B229A4F4}" dt="2023-06-14T11:24:28.733" v="61" actId="27636"/>
          <ac:spMkLst>
            <pc:docMk/>
            <pc:sldMk cId="1668698186" sldId="2470"/>
            <ac:spMk id="4" creationId="{00000000-0000-0000-0000-000000000000}"/>
          </ac:spMkLst>
        </pc:spChg>
      </pc:sldChg>
      <pc:sldChg chg="del">
        <pc:chgData name="이진진" userId="2c4bb6cd-31fa-4501-9704-1dfc32333b2e" providerId="ADAL" clId="{B78A3A2F-24A6-4780-87F1-B038B229A4F4}" dt="2023-06-14T11:19:32.986" v="1" actId="2696"/>
        <pc:sldMkLst>
          <pc:docMk/>
          <pc:sldMk cId="2370003660" sldId="2471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E49D1F-15B2-4B9C-8076-11C3A082C32A}" type="datetimeFigureOut">
              <a:rPr lang="ko-KR" altLang="en-US" smtClean="0"/>
              <a:t>2023-08-23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A8452A-AED7-4144-8B8B-DADFF71C57C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28991862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DDD8DE-5D7B-4A4B-9949-78C9C314FE9D}" type="datetimeFigureOut">
              <a:rPr lang="ko-KR" altLang="en-US" smtClean="0"/>
              <a:t>2023-08-23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463564-01E7-4F87-AE00-59478FEE8A8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0012581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안녕하세요 석사 </a:t>
            </a:r>
            <a:r>
              <a:rPr lang="en-US" altLang="ko-KR" dirty="0"/>
              <a:t>4</a:t>
            </a:r>
            <a:r>
              <a:rPr lang="ko-KR" altLang="en-US" dirty="0"/>
              <a:t>학기 차 </a:t>
            </a:r>
            <a:r>
              <a:rPr lang="ko-KR" altLang="en-US" dirty="0" err="1"/>
              <a:t>이진진입니다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제가 맡고 있는 연구과제는 이종 위성군인데요</a:t>
            </a:r>
            <a:r>
              <a:rPr lang="en-US" altLang="ko-KR" dirty="0"/>
              <a:t>, </a:t>
            </a:r>
            <a:r>
              <a:rPr lang="ko-KR" altLang="en-US" dirty="0"/>
              <a:t>각기 다른 </a:t>
            </a:r>
            <a:r>
              <a:rPr lang="ko-KR" altLang="en-US" dirty="0" err="1"/>
              <a:t>탑재체</a:t>
            </a:r>
            <a:r>
              <a:rPr lang="ko-KR" altLang="en-US" dirty="0"/>
              <a:t> 성능을 가진 두 종류의 위성을 동시에 운용하는 연구를 맡고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현재 연구중인 내용은 그 중에서 조금 파생된 </a:t>
            </a:r>
            <a:r>
              <a:rPr lang="en-US" altLang="ko-KR" dirty="0"/>
              <a:t>MILP </a:t>
            </a:r>
            <a:r>
              <a:rPr lang="ko-KR" altLang="en-US" dirty="0"/>
              <a:t>설계 기법을 사용한 </a:t>
            </a:r>
            <a:r>
              <a:rPr lang="ko-KR" altLang="en-US" dirty="0" err="1"/>
              <a:t>위성군</a:t>
            </a:r>
            <a:r>
              <a:rPr lang="ko-KR" altLang="en-US" dirty="0"/>
              <a:t> 운용인데요</a:t>
            </a:r>
            <a:r>
              <a:rPr lang="en-US" altLang="ko-KR" dirty="0"/>
              <a:t>,</a:t>
            </a:r>
            <a:r>
              <a:rPr lang="ko-KR" altLang="en-US" dirty="0"/>
              <a:t>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많은 분들에게 다소 생소한 개념일수도 </a:t>
            </a:r>
            <a:r>
              <a:rPr lang="ko-KR" altLang="en-US" dirty="0" err="1"/>
              <a:t>있을텐데</a:t>
            </a:r>
            <a:r>
              <a:rPr lang="ko-KR" altLang="en-US" dirty="0"/>
              <a:t> 앞으로 하나씩 말씀드리도록 하겠습니다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69897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우선 여러가지 </a:t>
            </a:r>
            <a:r>
              <a:rPr lang="en-US" altLang="ko-KR" dirty="0"/>
              <a:t>Integer programming </a:t>
            </a: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정수화 프로그래밍의 종류 및 특성에 대해 소개해드리고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이것을 이용한 </a:t>
            </a:r>
            <a:r>
              <a:rPr lang="en-US" altLang="ko-KR" dirty="0"/>
              <a:t>solver</a:t>
            </a:r>
            <a:r>
              <a:rPr lang="ko-KR" altLang="en-US" dirty="0"/>
              <a:t>에 대한 설명을 드린 후에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발표 내용을 정리해보겠습니다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30186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109343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Integer programming</a:t>
            </a:r>
            <a:r>
              <a:rPr lang="ko-KR" altLang="en-US" dirty="0"/>
              <a:t>이란</a:t>
            </a:r>
            <a:r>
              <a:rPr lang="en-US" altLang="ko-KR" dirty="0"/>
              <a:t>, </a:t>
            </a:r>
            <a:r>
              <a:rPr lang="ko-KR" altLang="en-US" dirty="0"/>
              <a:t>최적화된 위성의 설계를 위해</a:t>
            </a:r>
            <a:r>
              <a:rPr lang="en-US" altLang="ko-KR" dirty="0"/>
              <a:t> </a:t>
            </a:r>
            <a:r>
              <a:rPr lang="ko-KR" altLang="en-US" dirty="0"/>
              <a:t>정수화를 다루는 문제인데요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위성군</a:t>
            </a:r>
            <a:r>
              <a:rPr lang="ko-KR" altLang="en-US" dirty="0"/>
              <a:t> 운용에서 다루는 여러가지 변수들이 정수 값을 가져야 하는 문제를 해결하는 프로그래밍 과정을 포함하고 있습니다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4822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위성군에서 정수</a:t>
            </a:r>
            <a:r>
              <a:rPr lang="en-US" altLang="ko-KR" dirty="0"/>
              <a:t>, </a:t>
            </a:r>
            <a:r>
              <a:rPr lang="ko-KR" altLang="en-US" dirty="0"/>
              <a:t>또는 이진수가 필요한 이유로는 다양한 이유들이 있는데요</a:t>
            </a:r>
            <a:r>
              <a:rPr lang="en-US" altLang="ko-KR" dirty="0"/>
              <a:t>,</a:t>
            </a:r>
          </a:p>
          <a:p>
            <a:endParaRPr lang="en-US" altLang="ko-KR" dirty="0"/>
          </a:p>
          <a:p>
            <a:r>
              <a:rPr lang="ko-KR" altLang="en-US" dirty="0"/>
              <a:t>빠르게 소개해드리면 </a:t>
            </a:r>
            <a:endParaRPr lang="en-US" altLang="ko-KR" dirty="0"/>
          </a:p>
          <a:p>
            <a:r>
              <a:rPr lang="ko-KR" altLang="en-US" dirty="0"/>
              <a:t>첫 번째로 위성군을 운용할 때 일부 상황에서 각 위성의 상태나 작업의 할당 여부 등으로 </a:t>
            </a:r>
            <a:r>
              <a:rPr lang="en-US" altLang="ko-KR" dirty="0"/>
              <a:t>0</a:t>
            </a:r>
            <a:r>
              <a:rPr lang="ko-KR" altLang="en-US" dirty="0"/>
              <a:t>과 </a:t>
            </a:r>
            <a:r>
              <a:rPr lang="en-US" altLang="ko-KR" dirty="0"/>
              <a:t>1, </a:t>
            </a:r>
            <a:r>
              <a:rPr lang="ko-KR" altLang="en-US" dirty="0"/>
              <a:t>또는 정수의 값을 사용하는 경우가 있기 때문입니다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이와 함께 복잡한 데이터 값에 비해 간단한 정수를 이용하면 제한조건의 복잡성을 피할 수 있고 </a:t>
            </a:r>
            <a:endParaRPr lang="en-US" altLang="ko-KR" dirty="0"/>
          </a:p>
          <a:p>
            <a:r>
              <a:rPr lang="ko-KR" altLang="en-US" dirty="0"/>
              <a:t>최적화 해를 찾기에 계산이 편리하다는 이유로 </a:t>
            </a:r>
            <a:r>
              <a:rPr lang="en-US" altLang="ko-KR" dirty="0"/>
              <a:t>Integer </a:t>
            </a:r>
            <a:r>
              <a:rPr lang="en-US" altLang="ko-KR" dirty="0" err="1"/>
              <a:t>programmin</a:t>
            </a:r>
            <a:r>
              <a:rPr lang="ko-KR" altLang="en-US" dirty="0"/>
              <a:t>이 다양한 분야에서 쓰이고 있습니다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01709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Integer programming</a:t>
            </a:r>
            <a:r>
              <a:rPr lang="ko-KR" altLang="en-US" dirty="0"/>
              <a:t>에는 계산 특성과 과정에 따라 여러 종류로 확장되는데요</a:t>
            </a:r>
            <a:r>
              <a:rPr lang="en-US" altLang="ko-KR" dirty="0"/>
              <a:t>, </a:t>
            </a:r>
          </a:p>
          <a:p>
            <a:endParaRPr lang="en-US" altLang="ko-KR" dirty="0"/>
          </a:p>
          <a:p>
            <a:r>
              <a:rPr lang="ko-KR" altLang="en-US" dirty="0"/>
              <a:t>가장 일반적으로 쓰는 것으로는 </a:t>
            </a:r>
            <a:r>
              <a:rPr lang="en-US" altLang="ko-KR" dirty="0"/>
              <a:t>LP</a:t>
            </a:r>
            <a:r>
              <a:rPr lang="ko-KR" altLang="en-US" dirty="0"/>
              <a:t>와 </a:t>
            </a:r>
            <a:r>
              <a:rPr lang="en-US" altLang="ko-KR" dirty="0"/>
              <a:t>IP</a:t>
            </a:r>
            <a:r>
              <a:rPr lang="ko-KR" altLang="en-US" dirty="0"/>
              <a:t>가 있습니다</a:t>
            </a:r>
            <a:r>
              <a:rPr lang="en-US" altLang="ko-KR" dirty="0"/>
              <a:t>. </a:t>
            </a:r>
          </a:p>
          <a:p>
            <a:endParaRPr lang="en-US" altLang="ko-KR" dirty="0"/>
          </a:p>
          <a:p>
            <a:r>
              <a:rPr lang="ko-KR" altLang="en-US" dirty="0"/>
              <a:t>위성군에서 널리 쓰이는 방법으로는 </a:t>
            </a:r>
            <a:r>
              <a:rPr lang="en-US" altLang="ko-KR" dirty="0"/>
              <a:t>0</a:t>
            </a:r>
            <a:r>
              <a:rPr lang="ko-KR" altLang="en-US" dirty="0"/>
              <a:t>과 </a:t>
            </a:r>
            <a:r>
              <a:rPr lang="en-US" altLang="ko-KR" dirty="0"/>
              <a:t>1</a:t>
            </a:r>
            <a:r>
              <a:rPr lang="ko-KR" altLang="en-US" dirty="0"/>
              <a:t>의 정수만을 사용하는 </a:t>
            </a:r>
            <a:r>
              <a:rPr lang="en-US" altLang="ko-KR" dirty="0"/>
              <a:t>BILP</a:t>
            </a:r>
            <a:r>
              <a:rPr lang="ko-KR" altLang="en-US" dirty="0"/>
              <a:t>가 있고</a:t>
            </a:r>
            <a:endParaRPr lang="en-US" altLang="ko-KR" dirty="0"/>
          </a:p>
          <a:p>
            <a:r>
              <a:rPr lang="ko-KR" altLang="en-US" dirty="0"/>
              <a:t>이를 약간 변형하여 실수 변수까지 허용한 것이 </a:t>
            </a:r>
            <a:r>
              <a:rPr lang="en-US" altLang="ko-KR" dirty="0"/>
              <a:t>mixed integer</a:t>
            </a:r>
            <a:r>
              <a:rPr lang="ko-KR" altLang="en-US" dirty="0"/>
              <a:t>인 </a:t>
            </a:r>
            <a:r>
              <a:rPr lang="en-US" altLang="ko-KR" dirty="0"/>
              <a:t>MILP</a:t>
            </a:r>
            <a:r>
              <a:rPr lang="ko-KR" altLang="en-US" dirty="0"/>
              <a:t>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실수와 정수 변수까지 함께 다룰 수 있기 때문에 더욱 다양한 문제를 해결할 수 있다는 장점이 있습니다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9121413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두 가지 방법을 비교해본 것인데요</a:t>
            </a:r>
            <a:r>
              <a:rPr lang="en-US" altLang="ko-KR" dirty="0"/>
              <a:t>,</a:t>
            </a:r>
          </a:p>
          <a:p>
            <a:endParaRPr lang="en-US" altLang="ko-KR" dirty="0"/>
          </a:p>
          <a:p>
            <a:r>
              <a:rPr lang="ko-KR" altLang="en-US" dirty="0"/>
              <a:t>단순히 선형 문제인 </a:t>
            </a:r>
            <a:r>
              <a:rPr lang="en-US" altLang="ko-KR" dirty="0"/>
              <a:t>Linear programming</a:t>
            </a:r>
            <a:r>
              <a:rPr lang="ko-KR" altLang="en-US" dirty="0"/>
              <a:t>에 변수가 정수여야 한다는 제한조건을 추가한 것이 </a:t>
            </a:r>
            <a:r>
              <a:rPr lang="en-US" altLang="ko-KR" dirty="0"/>
              <a:t>MILP </a:t>
            </a:r>
            <a:r>
              <a:rPr lang="ko-KR" altLang="en-US" dirty="0"/>
              <a:t>라고 생각하시면 되겠습니다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68440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다음으로는 문제 해결의 단계입니다</a:t>
            </a:r>
            <a:r>
              <a:rPr lang="en-US" altLang="ko-KR" dirty="0"/>
              <a:t>. 1</a:t>
            </a:r>
            <a:r>
              <a:rPr lang="ko-KR" altLang="en-US" dirty="0"/>
              <a:t>번부터 </a:t>
            </a:r>
            <a:r>
              <a:rPr lang="en-US" altLang="ko-KR" dirty="0"/>
              <a:t>4</a:t>
            </a:r>
            <a:r>
              <a:rPr lang="ko-KR" altLang="en-US" dirty="0"/>
              <a:t>번까지는 모든 </a:t>
            </a:r>
            <a:r>
              <a:rPr lang="ko-KR" altLang="en-US" dirty="0" err="1"/>
              <a:t>위성군</a:t>
            </a:r>
            <a:r>
              <a:rPr lang="ko-KR" altLang="en-US" dirty="0"/>
              <a:t> 설계의 사전 정의가 포함되고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그 이후에는 결과 분석을 위해 </a:t>
            </a:r>
            <a:r>
              <a:rPr lang="en-US" altLang="ko-KR" dirty="0"/>
              <a:t>MILP </a:t>
            </a:r>
            <a:r>
              <a:rPr lang="ko-KR" altLang="en-US" dirty="0"/>
              <a:t>모델을 설계하고</a:t>
            </a:r>
            <a:r>
              <a:rPr lang="en-US" altLang="ko-KR" dirty="0"/>
              <a:t>, </a:t>
            </a:r>
            <a:r>
              <a:rPr lang="ko-KR" altLang="en-US" dirty="0" err="1"/>
              <a:t>솔버를</a:t>
            </a:r>
            <a:r>
              <a:rPr lang="ko-KR" altLang="en-US" dirty="0"/>
              <a:t> 실행하는 단계가 추가된다는 차이점이 있습니다</a:t>
            </a:r>
            <a:r>
              <a:rPr lang="en-US" altLang="ko-KR" dirty="0"/>
              <a:t>.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26134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최적화 과정이 이론적으로는 그리 복잡하지는 않습니다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수식으로 간단히 예시를 들어볼 수 있는데요</a:t>
            </a:r>
            <a:r>
              <a:rPr lang="en-US" altLang="ko-KR" dirty="0"/>
              <a:t>, </a:t>
            </a:r>
            <a:r>
              <a:rPr lang="ko-KR" altLang="en-US" dirty="0"/>
              <a:t>다음 세가지 식을 만족하면서 원하는 </a:t>
            </a:r>
            <a:r>
              <a:rPr lang="en-US" altLang="ko-KR" dirty="0"/>
              <a:t>Z </a:t>
            </a:r>
            <a:r>
              <a:rPr lang="ko-KR" altLang="en-US" dirty="0"/>
              <a:t>함수를 최소화 하는 방법입니다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아래의 세가지 식이 제한조건으로 적용이 되고 가지치기 형식으로 최솟값을 </a:t>
            </a:r>
            <a:r>
              <a:rPr lang="ko-KR" altLang="en-US" dirty="0" err="1"/>
              <a:t>구해나가게</a:t>
            </a:r>
            <a:r>
              <a:rPr lang="ko-KR" altLang="en-US" dirty="0"/>
              <a:t> 되는데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다른 변수에 어떤 숫자를 넣어도 조건을 만족할 수 없도록 하는 숫자가 있다면 하나씩 걸러가면서 해의 범위를 </a:t>
            </a:r>
            <a:r>
              <a:rPr lang="ko-KR" altLang="en-US" dirty="0" err="1"/>
              <a:t>좁혀나가다</a:t>
            </a:r>
            <a:r>
              <a:rPr lang="ko-KR" altLang="en-US" dirty="0"/>
              <a:t> 보면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가능한 경우의 수에서 최솟값을 선택하는 방식이 바로 </a:t>
            </a:r>
            <a:r>
              <a:rPr lang="en-US" altLang="ko-KR" dirty="0"/>
              <a:t>MILP</a:t>
            </a:r>
            <a:r>
              <a:rPr lang="ko-KR" altLang="en-US" dirty="0"/>
              <a:t>과정입니다</a:t>
            </a:r>
            <a:r>
              <a:rPr lang="en-US" altLang="ko-KR" dirty="0"/>
              <a:t>.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9243786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ko-KR" altLang="en-US" dirty="0"/>
              <a:t>방금 보여드린 제한조건은 특정 숫자 이상의 값을 </a:t>
            </a:r>
            <a:r>
              <a:rPr lang="ko-KR" altLang="en-US" dirty="0" err="1"/>
              <a:t>가져야한다</a:t>
            </a:r>
            <a:r>
              <a:rPr lang="ko-KR" altLang="en-US" dirty="0"/>
              <a:t> 정도의 너무 간단한 예시였지만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ko-KR" altLang="en-US" dirty="0"/>
              <a:t>실제로 적용되는 제한조건으로는 굉장히 다양하고 복잡한 예시들이 있는 것을 알 수 있습니다</a:t>
            </a:r>
            <a:r>
              <a:rPr lang="en-US" altLang="ko-KR" dirty="0"/>
              <a:t>.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43311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dirty="0"/>
              <a:t>다음으로는 방금까지 다룬 이론을 계산해주는 </a:t>
            </a:r>
            <a:r>
              <a:rPr lang="en-US" altLang="ko-KR" dirty="0"/>
              <a:t>solver </a:t>
            </a:r>
            <a:r>
              <a:rPr lang="ko-KR" altLang="en-US" dirty="0"/>
              <a:t>구현에 대한 내용인데요</a:t>
            </a:r>
            <a:endParaRPr lang="en-US" altLang="ko-KR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429489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매트랩에 내장되어 있는 최적화 툴도 존재합니다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이걸 이용해도 최적화된 값을 얻을 수 있지만</a:t>
            </a:r>
            <a:r>
              <a:rPr lang="en-US" altLang="ko-KR" dirty="0"/>
              <a:t>, </a:t>
            </a:r>
            <a:r>
              <a:rPr lang="ko-KR" altLang="en-US" dirty="0"/>
              <a:t>직접 코드를 구현해보고자 해서 간단하게 코드를 작성해보았습니다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94721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두 제한조건에 따라 함수 </a:t>
            </a:r>
            <a:r>
              <a:rPr lang="en-US" altLang="ko-KR" dirty="0"/>
              <a:t>Z</a:t>
            </a:r>
            <a:r>
              <a:rPr lang="ko-KR" altLang="en-US" dirty="0"/>
              <a:t>의 최댓값을 구하는 문제를 예시로 만들어보았는데요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657984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다음과 같이 원하는 계수를 입력하면 원하는 변수의 값과 최적의 해를 자동으로 계산해주는 프로그램을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 err="1"/>
              <a:t>기초적으로나마</a:t>
            </a:r>
            <a:r>
              <a:rPr lang="ko-KR" altLang="en-US" dirty="0"/>
              <a:t> 만들어 보았습니다</a:t>
            </a:r>
            <a:r>
              <a:rPr lang="en-US" altLang="ko-KR" dirty="0"/>
              <a:t>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465139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앞에서 보여드린 가지치기 방식으로 </a:t>
            </a:r>
            <a:r>
              <a:rPr lang="en-US" altLang="ko-KR" dirty="0"/>
              <a:t>x1 x2 </a:t>
            </a:r>
            <a:r>
              <a:rPr lang="ko-KR" altLang="en-US" dirty="0"/>
              <a:t>값을 정수화 및 최적화 하는 일련의 과정 없이도 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이렇게 손쉽게 구할 수 있다는 것이 </a:t>
            </a:r>
            <a:r>
              <a:rPr lang="ko-KR" altLang="en-US" dirty="0" err="1"/>
              <a:t>솔버의</a:t>
            </a:r>
            <a:r>
              <a:rPr lang="ko-KR" altLang="en-US" dirty="0"/>
              <a:t> 장점입니다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오른쪽 그림은 제가 만들어본 프로그램의 실제 계산 과정인데요 가장 가까운 정수를 기준으로 해당 범위에 들어오도록 하는 해를 단계별로 </a:t>
            </a:r>
            <a:r>
              <a:rPr lang="ko-KR" altLang="en-US" dirty="0" err="1"/>
              <a:t>좁혀나가면서</a:t>
            </a:r>
            <a:r>
              <a:rPr lang="ko-KR" altLang="en-US" dirty="0"/>
              <a:t> 최적의 해를 찾는 </a:t>
            </a:r>
            <a:r>
              <a:rPr lang="ko-KR" altLang="en-US" dirty="0" err="1"/>
              <a:t>과정이라고만</a:t>
            </a:r>
            <a:r>
              <a:rPr lang="ko-KR" altLang="en-US" dirty="0"/>
              <a:t> 이해하셔도 되겠습니다</a:t>
            </a:r>
            <a:r>
              <a:rPr lang="en-US" altLang="ko-KR" dirty="0"/>
              <a:t>. </a:t>
            </a:r>
            <a:r>
              <a:rPr lang="ko-KR" altLang="en-US" dirty="0"/>
              <a:t> </a:t>
            </a:r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09534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지금까지 내용은 제가 </a:t>
            </a:r>
            <a:r>
              <a:rPr lang="en-US" altLang="ko-KR" dirty="0"/>
              <a:t>MILP</a:t>
            </a:r>
            <a:r>
              <a:rPr lang="ko-KR" altLang="en-US" dirty="0"/>
              <a:t>라는 개념에 익숙해지기 위해 직접 공부하면서 아주 간단하게 시뮬레이션 해본 내용이고요</a:t>
            </a:r>
            <a:r>
              <a:rPr lang="en-US" altLang="ko-KR" dirty="0"/>
              <a:t>,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7333364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실제로는 여러 제한 조건을 모두 </a:t>
            </a:r>
            <a:r>
              <a:rPr lang="ko-KR" altLang="en-US" dirty="0" err="1"/>
              <a:t>적용해야하는만큼</a:t>
            </a:r>
            <a:r>
              <a:rPr lang="ko-KR" altLang="en-US" dirty="0"/>
              <a:t> 다소 복잡한 과정을 포함하고 있습니다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제가 참고한 이 논문에서는 </a:t>
            </a:r>
            <a:r>
              <a:rPr lang="en-US" altLang="ko-KR" dirty="0"/>
              <a:t>Julia </a:t>
            </a:r>
            <a:r>
              <a:rPr lang="ko-KR" altLang="en-US" dirty="0"/>
              <a:t>라는 언어 프로그램을 사용해서 </a:t>
            </a:r>
            <a:r>
              <a:rPr lang="en-US" altLang="ko-KR" dirty="0"/>
              <a:t>MILP</a:t>
            </a:r>
            <a:r>
              <a:rPr lang="ko-KR" altLang="en-US" dirty="0"/>
              <a:t>방법을 구현한 내용이 담겨있었고</a:t>
            </a:r>
            <a:r>
              <a:rPr lang="en-US" altLang="ko-KR" dirty="0"/>
              <a:t>,</a:t>
            </a:r>
          </a:p>
          <a:p>
            <a:endParaRPr lang="en-US" altLang="ko-KR" dirty="0"/>
          </a:p>
          <a:p>
            <a:r>
              <a:rPr lang="ko-KR" altLang="en-US" dirty="0"/>
              <a:t>이걸 우리 연구실에서 널리 사용하는 </a:t>
            </a:r>
            <a:r>
              <a:rPr lang="en-US" altLang="ko-KR" dirty="0" err="1"/>
              <a:t>matlab</a:t>
            </a:r>
            <a:r>
              <a:rPr lang="ko-KR" altLang="en-US" dirty="0"/>
              <a:t>으로 변환해보면 여러가지 장점이 있지 않을까</a:t>
            </a:r>
            <a:r>
              <a:rPr lang="en-US" altLang="ko-KR" dirty="0"/>
              <a:t>.. </a:t>
            </a:r>
            <a:r>
              <a:rPr lang="ko-KR" altLang="en-US" dirty="0"/>
              <a:t>해서 현재는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002471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줄리아를 </a:t>
            </a:r>
            <a:r>
              <a:rPr lang="ko-KR" altLang="en-US" dirty="0" err="1"/>
              <a:t>매틀랩</a:t>
            </a:r>
            <a:r>
              <a:rPr lang="ko-KR" altLang="en-US" dirty="0"/>
              <a:t> 코드로 구현하는 과정에 있습니다</a:t>
            </a:r>
            <a:r>
              <a:rPr lang="en-US" altLang="ko-KR" dirty="0"/>
              <a:t>. 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196500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그래서 이렇게 복잡한 </a:t>
            </a:r>
            <a:r>
              <a:rPr lang="en-US" altLang="ko-KR" dirty="0"/>
              <a:t>MILP </a:t>
            </a:r>
            <a:r>
              <a:rPr lang="ko-KR" altLang="en-US" dirty="0"/>
              <a:t>방법 설계하면 어떤 기대효과를 얻을 수 있을지에 대한 내용을 말씀드리고 마치겠습니다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앞에서 언급한 논문에서 다룬 시뮬레이션 결과인데요</a:t>
            </a:r>
            <a:endParaRPr lang="en-US" altLang="ko-KR" dirty="0"/>
          </a:p>
          <a:p>
            <a:r>
              <a:rPr lang="ko-KR" altLang="en-US" dirty="0"/>
              <a:t>특정 지역에 대한 감시를 두가지 설계기법을 비교함으로써 어떤 방법이 더 효율적인 결과를 내는가에 대해 살펴보았습니다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첫번째는 대칭성을 이용한 기존의 전통적인 방법인 </a:t>
            </a:r>
            <a:r>
              <a:rPr lang="en-US" altLang="ko-KR" dirty="0"/>
              <a:t>Quasi-symmetric </a:t>
            </a:r>
            <a:r>
              <a:rPr lang="ko-KR" altLang="en-US" dirty="0"/>
              <a:t>방법이고</a:t>
            </a:r>
            <a:r>
              <a:rPr lang="en-US" altLang="ko-KR" dirty="0"/>
              <a:t>,</a:t>
            </a:r>
          </a:p>
          <a:p>
            <a:r>
              <a:rPr lang="ko-KR" altLang="en-US" dirty="0"/>
              <a:t>두번째는 지금까지 말씀드린 정수화 프로그래밍을 통한 설계 방법입니다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결론만 말씀드리면 모든 위성들의 대칭성을 유지하여 일정한 재방문주기를 달성하는 첫번째 방법에 비해</a:t>
            </a:r>
            <a:endParaRPr lang="en-US" altLang="ko-KR" dirty="0"/>
          </a:p>
          <a:p>
            <a:r>
              <a:rPr lang="ko-KR" altLang="en-US" dirty="0"/>
              <a:t>비대칭성을 이용하여 필요한 부분만을 감시하는 정수화 프로그래밍 설계 방법에 대한 위성의 수가 더 적다는 것이 본 연구의 결과입니다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ko-KR" altLang="en-US" dirty="0"/>
              <a:t>따라서 예산 또는 기술적인 문제에 따라 위성 수를 줄여야 하는 과제에 정수화 프로그래밍 설계 방법이 더 용이하다는 것이 연구의 최종 결과라고 말씀 드릴 수 있겠습니다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5829429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ED463564-01E7-4F87-AE00-59478FEE8A8F}" type="slidenum">
              <a:rPr lang="en-US" altLang="en-US"/>
              <a:pPr lvl="0">
                <a:defRPr/>
              </a:pPr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58449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sz="1200" dirty="0" err="1"/>
              <a:t>여기까지가</a:t>
            </a:r>
            <a:r>
              <a:rPr lang="ko-KR" altLang="en-US" sz="1200" dirty="0"/>
              <a:t> 제가 연구중인 </a:t>
            </a:r>
            <a:r>
              <a:rPr lang="en-US" altLang="ko-KR" sz="1200" dirty="0"/>
              <a:t>MILP </a:t>
            </a:r>
            <a:r>
              <a:rPr lang="ko-KR" altLang="en-US" sz="1200" dirty="0"/>
              <a:t>또는 </a:t>
            </a:r>
            <a:r>
              <a:rPr lang="en-US" altLang="ko-KR" sz="1200" dirty="0"/>
              <a:t>BILP metho</a:t>
            </a:r>
            <a:r>
              <a:rPr lang="ko-KR" altLang="en-US" sz="1200" dirty="0"/>
              <a:t>에 대한 내용이었고요</a:t>
            </a:r>
            <a:r>
              <a:rPr lang="en-US" altLang="ko-KR" sz="1200" dirty="0"/>
              <a:t>, </a:t>
            </a:r>
            <a:r>
              <a:rPr lang="ko-KR" altLang="en-US" sz="1200" dirty="0"/>
              <a:t>아직 연구 진행 중에 있어서 부족한 부분이 </a:t>
            </a:r>
            <a:r>
              <a:rPr lang="ko-KR" altLang="en-US" sz="1200" dirty="0" err="1"/>
              <a:t>많았을텐데</a:t>
            </a:r>
            <a:r>
              <a:rPr lang="ko-KR" altLang="en-US" sz="1200" dirty="0"/>
              <a:t> 끝까지 </a:t>
            </a:r>
            <a:r>
              <a:rPr lang="ko-KR" altLang="en-US" sz="1200" dirty="0" err="1"/>
              <a:t>들어주셔서</a:t>
            </a:r>
            <a:r>
              <a:rPr lang="ko-KR" altLang="en-US" sz="1200" dirty="0"/>
              <a:t> 감사합니다</a:t>
            </a:r>
            <a:r>
              <a:rPr lang="en-US" altLang="ko-KR" sz="1200" dirty="0"/>
              <a:t>.</a:t>
            </a:r>
            <a:endParaRPr lang="ko-KR" altLang="en-US" sz="12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D463564-01E7-4F87-AE00-59478FEE8A8F}" type="slidenum">
              <a:rPr lang="ko-KR" altLang="en-US" smtClean="0"/>
              <a:t>20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488376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.jpeg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1143000" y="4419136"/>
            <a:ext cx="6858000" cy="133978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발표장소</a:t>
            </a:r>
            <a:r>
              <a:rPr lang="en-US" altLang="ko-KR" dirty="0"/>
              <a:t>/</a:t>
            </a:r>
            <a:r>
              <a:rPr lang="ko-KR" altLang="en-US" dirty="0"/>
              <a:t>발표일</a:t>
            </a:r>
            <a:endParaRPr lang="en-US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935331"/>
            <a:ext cx="9144000" cy="2226189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발표제목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80F818A9-523E-49E6-8353-F8A3A0FF3B05}"/>
              </a:ext>
            </a:extLst>
          </p:cNvPr>
          <p:cNvGrpSpPr/>
          <p:nvPr userDrawn="1"/>
        </p:nvGrpSpPr>
        <p:grpSpPr>
          <a:xfrm>
            <a:off x="3097294" y="6017853"/>
            <a:ext cx="3389530" cy="720000"/>
            <a:chOff x="3167632" y="6062339"/>
            <a:chExt cx="3389530" cy="720000"/>
          </a:xfrm>
        </p:grpSpPr>
        <p:pic>
          <p:nvPicPr>
            <p:cNvPr id="4" name="그림 3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E63BAE71-441C-4804-B8BC-2FBAFD2A509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15EB456-78DB-470E-AB3C-3A934AB3135F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  <p:pic>
        <p:nvPicPr>
          <p:cNvPr id="15" name="그림 14">
            <a:extLst>
              <a:ext uri="{FF2B5EF4-FFF2-40B4-BE49-F238E27FC236}">
                <a16:creationId xmlns:a16="http://schemas.microsoft.com/office/drawing/2014/main" id="{B0D7EE89-F264-41E4-AEC5-73770F7D8F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b="50000"/>
          <a:stretch/>
        </p:blipFill>
        <p:spPr>
          <a:xfrm>
            <a:off x="7031115" y="4108252"/>
            <a:ext cx="2133955" cy="2761589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FD783890-A54B-4809-84F6-B7736A2B63C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t="5510" b="52178"/>
          <a:stretch/>
        </p:blipFill>
        <p:spPr>
          <a:xfrm flipH="1">
            <a:off x="-21070" y="4419136"/>
            <a:ext cx="2212357" cy="2438864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A08DBB2-FE6A-40A8-BAA8-F4DFAEEBA3FF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89661"/>
            <a:ext cx="720000" cy="720000"/>
          </a:xfrm>
          <a:prstGeom prst="rect">
            <a:avLst/>
          </a:prstGeom>
        </p:spPr>
      </p:pic>
      <p:pic>
        <p:nvPicPr>
          <p:cNvPr id="12" name="Picture 8">
            <a:extLst>
              <a:ext uri="{FF2B5EF4-FFF2-40B4-BE49-F238E27FC236}">
                <a16:creationId xmlns:a16="http://schemas.microsoft.com/office/drawing/2014/main" id="{6A115575-BE6D-40AD-B231-D68D8B4912A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89661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17918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9" name="직선 연결선 48">
            <a:extLst>
              <a:ext uri="{FF2B5EF4-FFF2-40B4-BE49-F238E27FC236}">
                <a16:creationId xmlns:a16="http://schemas.microsoft.com/office/drawing/2014/main" id="{DD644064-7FF7-4F6F-ADA3-1626B4D81BCB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itle 1">
            <a:extLst>
              <a:ext uri="{FF2B5EF4-FFF2-40B4-BE49-F238E27FC236}">
                <a16:creationId xmlns:a16="http://schemas.microsoft.com/office/drawing/2014/main" id="{9EEAC6FF-2CB2-4248-942E-A23DF1B6BE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9" name="그림 18">
            <a:extLst>
              <a:ext uri="{FF2B5EF4-FFF2-40B4-BE49-F238E27FC236}">
                <a16:creationId xmlns:a16="http://schemas.microsoft.com/office/drawing/2014/main" id="{ABD5D053-347B-45C0-B24B-C511B6215BC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sp>
        <p:nvSpPr>
          <p:cNvPr id="26" name="직사각형 25">
            <a:extLst>
              <a:ext uri="{FF2B5EF4-FFF2-40B4-BE49-F238E27FC236}">
                <a16:creationId xmlns:a16="http://schemas.microsoft.com/office/drawing/2014/main" id="{CDF2725A-2EAD-4828-8A48-CF4B69244C83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7" name="슬라이드 번호 개체 틀 4">
            <a:extLst>
              <a:ext uri="{FF2B5EF4-FFF2-40B4-BE49-F238E27FC236}">
                <a16:creationId xmlns:a16="http://schemas.microsoft.com/office/drawing/2014/main" id="{116EEB02-C842-4201-B314-07D2C2222D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823B068E-A8D6-4389-87D7-7224E5B251E9}"/>
              </a:ext>
            </a:extLst>
          </p:cNvPr>
          <p:cNvGrpSpPr/>
          <p:nvPr userDrawn="1"/>
        </p:nvGrpSpPr>
        <p:grpSpPr>
          <a:xfrm>
            <a:off x="695141" y="1187583"/>
            <a:ext cx="698862" cy="4535814"/>
            <a:chOff x="695141" y="1187583"/>
            <a:chExt cx="698862" cy="4535814"/>
          </a:xfrm>
        </p:grpSpPr>
        <p:sp>
          <p:nvSpPr>
            <p:cNvPr id="12" name="타원 11">
              <a:extLst>
                <a:ext uri="{FF2B5EF4-FFF2-40B4-BE49-F238E27FC236}">
                  <a16:creationId xmlns:a16="http://schemas.microsoft.com/office/drawing/2014/main" id="{FB63AC01-59A1-4839-880A-52A4371FE19E}"/>
                </a:ext>
              </a:extLst>
            </p:cNvPr>
            <p:cNvSpPr/>
            <p:nvPr/>
          </p:nvSpPr>
          <p:spPr>
            <a:xfrm>
              <a:off x="701313" y="11875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3" name="타원 12">
              <a:extLst>
                <a:ext uri="{FF2B5EF4-FFF2-40B4-BE49-F238E27FC236}">
                  <a16:creationId xmlns:a16="http://schemas.microsoft.com/office/drawing/2014/main" id="{E40572AD-6701-4266-9752-13DC1E63AA2C}"/>
                </a:ext>
              </a:extLst>
            </p:cNvPr>
            <p:cNvSpPr/>
            <p:nvPr/>
          </p:nvSpPr>
          <p:spPr>
            <a:xfrm>
              <a:off x="695141" y="214960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5" name="타원 14">
              <a:extLst>
                <a:ext uri="{FF2B5EF4-FFF2-40B4-BE49-F238E27FC236}">
                  <a16:creationId xmlns:a16="http://schemas.microsoft.com/office/drawing/2014/main" id="{262E28C8-6768-42E9-BCF0-6BF7AA2C69D1}"/>
                </a:ext>
              </a:extLst>
            </p:cNvPr>
            <p:cNvSpPr/>
            <p:nvPr/>
          </p:nvSpPr>
          <p:spPr>
            <a:xfrm>
              <a:off x="695141" y="311163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III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51C8E578-E54B-4F6C-8319-D77A1971F286}"/>
                </a:ext>
              </a:extLst>
            </p:cNvPr>
            <p:cNvSpPr/>
            <p:nvPr/>
          </p:nvSpPr>
          <p:spPr>
            <a:xfrm>
              <a:off x="695141" y="4073658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IV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  <p:sp>
          <p:nvSpPr>
            <p:cNvPr id="17" name="타원 16">
              <a:extLst>
                <a:ext uri="{FF2B5EF4-FFF2-40B4-BE49-F238E27FC236}">
                  <a16:creationId xmlns:a16="http://schemas.microsoft.com/office/drawing/2014/main" id="{0F52A207-95C0-475F-A6D7-1FCB68CF92B4}"/>
                </a:ext>
              </a:extLst>
            </p:cNvPr>
            <p:cNvSpPr/>
            <p:nvPr/>
          </p:nvSpPr>
          <p:spPr>
            <a:xfrm>
              <a:off x="695141" y="5035683"/>
              <a:ext cx="692690" cy="687714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accent1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b="1" dirty="0">
                  <a:solidFill>
                    <a:schemeClr val="tx1"/>
                  </a:solidFill>
                  <a:latin typeface="times" panose="02020603050405020304" pitchFamily="18" charset="0"/>
                  <a:cs typeface="times" panose="02020603050405020304" pitchFamily="18" charset="0"/>
                </a:rPr>
                <a:t>V</a:t>
              </a:r>
              <a:endParaRPr lang="ko-KR" altLang="en-US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endParaRPr>
            </a:p>
          </p:txBody>
        </p:sp>
      </p:grpSp>
      <p:graphicFrame>
        <p:nvGraphicFramePr>
          <p:cNvPr id="18" name="표 18">
            <a:extLst>
              <a:ext uri="{FF2B5EF4-FFF2-40B4-BE49-F238E27FC236}">
                <a16:creationId xmlns:a16="http://schemas.microsoft.com/office/drawing/2014/main" id="{5B07531E-AAB8-40A5-B3D0-4F0F6D12E2F0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295206933"/>
              </p:ext>
            </p:extLst>
          </p:nvPr>
        </p:nvGraphicFramePr>
        <p:xfrm>
          <a:off x="1454505" y="1029970"/>
          <a:ext cx="7318019" cy="48291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04167346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5247919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284267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405283"/>
                  </a:ext>
                </a:extLst>
              </a:tr>
            </a:tbl>
          </a:graphicData>
        </a:graphic>
      </p:graphicFrame>
      <p:pic>
        <p:nvPicPr>
          <p:cNvPr id="23" name="그림 22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FEF37F4A-64D8-493C-A65A-762B21FB975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6567B15C-EDC8-4FDB-86E3-588E3F4B38B8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764869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.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B04D5D09-A2FC-4C8B-A3FF-CD7464225194}"/>
              </a:ext>
            </a:extLst>
          </p:cNvPr>
          <p:cNvSpPr/>
          <p:nvPr userDrawn="1"/>
        </p:nvSpPr>
        <p:spPr>
          <a:xfrm>
            <a:off x="260193" y="6331061"/>
            <a:ext cx="343363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sz="1800" b="1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rPr>
              <a:t>Astrodynamics and Control Lab.</a:t>
            </a:r>
          </a:p>
        </p:txBody>
      </p:sp>
      <p:sp>
        <p:nvSpPr>
          <p:cNvPr id="25" name="슬라이드 번호 개체 틀 4">
            <a:extLst>
              <a:ext uri="{FF2B5EF4-FFF2-40B4-BE49-F238E27FC236}">
                <a16:creationId xmlns:a16="http://schemas.microsoft.com/office/drawing/2014/main" id="{631309A5-660A-4E14-8195-3A2515234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27787"/>
            <a:ext cx="981169" cy="360000"/>
          </a:xfrm>
          <a:prstGeom prst="rect">
            <a:avLst/>
          </a:prstGeom>
        </p:spPr>
        <p:txBody>
          <a:bodyPr anchor="ctr"/>
          <a:lstStyle>
            <a:lvl1pPr algn="r">
              <a:defRPr sz="1400" b="1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defRPr>
            </a:lvl1pPr>
          </a:lstStyle>
          <a:p>
            <a:fld id="{397DD3AE-C24E-49FC-B527-05061A0348E6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7540F519-A5D5-4C17-A8B9-7371A3A84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Autofit/>
          </a:bodyPr>
          <a:lstStyle>
            <a:lvl1pPr marL="228600" indent="-360000">
              <a:lnSpc>
                <a:spcPct val="100000"/>
              </a:lnSpc>
              <a:buFont typeface="Wingdings" panose="05000000000000000000" pitchFamily="2" charset="2"/>
              <a:buChar char="v"/>
              <a:defRPr sz="24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540000" indent="-324000">
              <a:lnSpc>
                <a:spcPct val="100000"/>
              </a:lnSpc>
              <a:buFont typeface="Wingdings" panose="05000000000000000000" pitchFamily="2" charset="2"/>
              <a:buChar char="u"/>
              <a:defRPr sz="1800" b="0">
                <a:latin typeface="times" panose="02020603050405020304" pitchFamily="18" charset="0"/>
                <a:cs typeface="times" panose="02020603050405020304" pitchFamily="18" charset="0"/>
              </a:defRPr>
            </a:lvl2pPr>
            <a:lvl3pPr marL="720000" indent="-288000">
              <a:lnSpc>
                <a:spcPct val="100000"/>
              </a:lnSpc>
              <a:buFont typeface="Wingdings" panose="05000000000000000000" pitchFamily="2" charset="2"/>
              <a:buChar char="Ø"/>
              <a:defRPr sz="1600">
                <a:latin typeface="times" panose="02020603050405020304" pitchFamily="18" charset="0"/>
                <a:cs typeface="times" panose="02020603050405020304" pitchFamily="18" charset="0"/>
              </a:defRPr>
            </a:lvl3pPr>
            <a:lvl4pPr marL="900000" indent="-252000">
              <a:lnSpc>
                <a:spcPct val="100000"/>
              </a:lnSpc>
              <a:buFont typeface="Wingdings" panose="05000000000000000000" pitchFamily="2" charset="2"/>
              <a:buChar char="ü"/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4pPr>
            <a:lvl5pPr marL="1080000" indent="-252000">
              <a:lnSpc>
                <a:spcPct val="100000"/>
              </a:lnSpc>
              <a:defRPr sz="1400">
                <a:latin typeface="times" panose="02020603050405020304" pitchFamily="18" charset="0"/>
                <a:cs typeface="times" panose="02020603050405020304" pitchFamily="18" charset="0"/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  <a:endParaRPr lang="en-US" dirty="0"/>
          </a:p>
        </p:txBody>
      </p:sp>
      <p:sp>
        <p:nvSpPr>
          <p:cNvPr id="30" name="Title 1">
            <a:extLst>
              <a:ext uri="{FF2B5EF4-FFF2-40B4-BE49-F238E27FC236}">
                <a16:creationId xmlns:a16="http://schemas.microsoft.com/office/drawing/2014/main" id="{78361285-D5CA-4434-A351-5343035FD01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84057" y="71055"/>
            <a:ext cx="6705464" cy="687714"/>
          </a:xfrm>
        </p:spPr>
        <p:txBody>
          <a:bodyPr>
            <a:normAutofit/>
          </a:bodyPr>
          <a:lstStyle>
            <a:lvl1pPr algn="ctr">
              <a:defRPr sz="2800" b="1">
                <a:solidFill>
                  <a:schemeClr val="tx1"/>
                </a:solidFill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마스터 제목 스타일 편집 </a:t>
            </a:r>
            <a:r>
              <a:rPr lang="en-US" altLang="ko-KR" dirty="0"/>
              <a:t>(28 pts)</a:t>
            </a:r>
            <a:endParaRPr lang="en-US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15C7FC81-20F4-4FC2-B40D-A9FF1F5207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3646" r="9900"/>
          <a:stretch/>
        </p:blipFill>
        <p:spPr>
          <a:xfrm>
            <a:off x="7554954" y="1"/>
            <a:ext cx="1589045" cy="1029956"/>
          </a:xfrm>
          <a:prstGeom prst="rect">
            <a:avLst/>
          </a:prstGeom>
        </p:spPr>
      </p:pic>
      <p:cxnSp>
        <p:nvCxnSpPr>
          <p:cNvPr id="14" name="직선 연결선 13">
            <a:extLst>
              <a:ext uri="{FF2B5EF4-FFF2-40B4-BE49-F238E27FC236}">
                <a16:creationId xmlns:a16="http://schemas.microsoft.com/office/drawing/2014/main" id="{4D14EEDE-3F58-409A-8C98-F099C099E03A}"/>
              </a:ext>
            </a:extLst>
          </p:cNvPr>
          <p:cNvCxnSpPr>
            <a:cxnSpLocks/>
          </p:cNvCxnSpPr>
          <p:nvPr userDrawn="1"/>
        </p:nvCxnSpPr>
        <p:spPr>
          <a:xfrm>
            <a:off x="619125" y="876300"/>
            <a:ext cx="7575550" cy="0"/>
          </a:xfrm>
          <a:prstGeom prst="line">
            <a:avLst/>
          </a:prstGeom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그림 14" descr="그리기, 플레이트, 음식, 방이(가) 표시된 사진&#10;&#10;자동 생성된 설명">
            <a:extLst>
              <a:ext uri="{FF2B5EF4-FFF2-40B4-BE49-F238E27FC236}">
                <a16:creationId xmlns:a16="http://schemas.microsoft.com/office/drawing/2014/main" id="{D6923843-3AE5-4E5F-BACA-DFA2C5600B2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23" y="100133"/>
            <a:ext cx="720000" cy="720000"/>
          </a:xfrm>
          <a:prstGeom prst="rect">
            <a:avLst/>
          </a:prstGeom>
        </p:spPr>
      </p:pic>
      <p:cxnSp>
        <p:nvCxnSpPr>
          <p:cNvPr id="16" name="직선 연결선 15">
            <a:extLst>
              <a:ext uri="{FF2B5EF4-FFF2-40B4-BE49-F238E27FC236}">
                <a16:creationId xmlns:a16="http://schemas.microsoft.com/office/drawing/2014/main" id="{04926874-7DA7-4D84-BD23-06EAC42705A1}"/>
              </a:ext>
            </a:extLst>
          </p:cNvPr>
          <p:cNvCxnSpPr>
            <a:cxnSpLocks/>
          </p:cNvCxnSpPr>
          <p:nvPr userDrawn="1"/>
        </p:nvCxnSpPr>
        <p:spPr>
          <a:xfrm>
            <a:off x="781050" y="803275"/>
            <a:ext cx="6732270" cy="0"/>
          </a:xfrm>
          <a:prstGeom prst="line">
            <a:avLst/>
          </a:prstGeom>
          <a:ln w="28575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28288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질의응답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4FBB211E-0AA6-4FE2-9E18-B081DCF3E19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143000" y="4543424"/>
            <a:ext cx="6858000" cy="1339783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 b="1">
                <a:latin typeface="times" panose="02020603050405020304" pitchFamily="18" charset="0"/>
                <a:cs typeface="times" panose="02020603050405020304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dirty="0"/>
              <a:t>이름</a:t>
            </a:r>
            <a:endParaRPr lang="en-US" altLang="ko-KR" dirty="0"/>
          </a:p>
          <a:p>
            <a:r>
              <a:rPr lang="ko-KR" altLang="en-US" dirty="0"/>
              <a:t>소속</a:t>
            </a:r>
            <a:endParaRPr lang="en-US" altLang="ko-KR" dirty="0"/>
          </a:p>
          <a:p>
            <a:r>
              <a:rPr lang="ko-KR" altLang="en-US" dirty="0"/>
              <a:t>연락처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22319A21-8E7C-4790-9643-94CC1925297E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4" name="Picture 8">
            <a:extLst>
              <a:ext uri="{FF2B5EF4-FFF2-40B4-BE49-F238E27FC236}">
                <a16:creationId xmlns:a16="http://schemas.microsoft.com/office/drawing/2014/main" id="{46F0A41C-6A01-44CA-A626-55476509C7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25" name="그룹 24">
            <a:extLst>
              <a:ext uri="{FF2B5EF4-FFF2-40B4-BE49-F238E27FC236}">
                <a16:creationId xmlns:a16="http://schemas.microsoft.com/office/drawing/2014/main" id="{6E63BBB4-44C3-4C69-9162-763FE81E6FB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26" name="그림 25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58F4BD04-EF90-4931-B1B3-0FDABC5889E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727BC293-2715-43CE-819C-216F1B960AEE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457699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88B88FB9-8488-4F3A-9179-85AF22A058C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0" y="1820660"/>
            <a:ext cx="9144000" cy="3180446"/>
          </a:xfrm>
        </p:spPr>
        <p:txBody>
          <a:bodyPr anchor="ctr">
            <a:normAutofit/>
          </a:bodyPr>
          <a:lstStyle>
            <a:lvl1pPr algn="ctr">
              <a:defRPr sz="4000" b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ea typeface="+mj-ea"/>
                <a:cs typeface="times" panose="02020603050405020304" pitchFamily="18" charset="0"/>
              </a:defRPr>
            </a:lvl1pPr>
          </a:lstStyle>
          <a:p>
            <a:r>
              <a:rPr lang="ko-KR" altLang="en-US" dirty="0"/>
              <a:t>간지</a:t>
            </a:r>
            <a:br>
              <a:rPr lang="en-US" altLang="ko-KR" dirty="0"/>
            </a:br>
            <a:r>
              <a:rPr lang="en-US" altLang="ko-KR" dirty="0"/>
              <a:t>(</a:t>
            </a:r>
            <a:r>
              <a:rPr lang="ko-KR" altLang="en-US" dirty="0"/>
              <a:t>국</a:t>
            </a:r>
            <a:r>
              <a:rPr lang="en-US" altLang="ko-KR" dirty="0"/>
              <a:t>/</a:t>
            </a:r>
            <a:r>
              <a:rPr lang="ko-KR" altLang="en-US" dirty="0"/>
              <a:t>영문</a:t>
            </a:r>
            <a:r>
              <a:rPr lang="en-US" altLang="ko-KR" dirty="0"/>
              <a:t>, Times, 40 pts)</a:t>
            </a:r>
            <a:endParaRPr 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E0F02479-4D4E-48F6-A414-FD2BEFAB596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70565" y="6048339"/>
            <a:ext cx="720000" cy="720000"/>
          </a:xfrm>
          <a:prstGeom prst="rect">
            <a:avLst/>
          </a:prstGeom>
        </p:spPr>
      </p:pic>
      <p:pic>
        <p:nvPicPr>
          <p:cNvPr id="10" name="Picture 8">
            <a:extLst>
              <a:ext uri="{FF2B5EF4-FFF2-40B4-BE49-F238E27FC236}">
                <a16:creationId xmlns:a16="http://schemas.microsoft.com/office/drawing/2014/main" id="{93518514-EB1D-4173-98C0-35F88CF32D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8645" y="6048339"/>
            <a:ext cx="720000" cy="72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1" name="그룹 10">
            <a:extLst>
              <a:ext uri="{FF2B5EF4-FFF2-40B4-BE49-F238E27FC236}">
                <a16:creationId xmlns:a16="http://schemas.microsoft.com/office/drawing/2014/main" id="{6A8B2090-A0C2-4296-B39A-3CF2073B64CD}"/>
              </a:ext>
            </a:extLst>
          </p:cNvPr>
          <p:cNvGrpSpPr/>
          <p:nvPr userDrawn="1"/>
        </p:nvGrpSpPr>
        <p:grpSpPr>
          <a:xfrm>
            <a:off x="122423" y="99901"/>
            <a:ext cx="3389530" cy="720000"/>
            <a:chOff x="3167632" y="6062339"/>
            <a:chExt cx="3389530" cy="720000"/>
          </a:xfrm>
        </p:grpSpPr>
        <p:pic>
          <p:nvPicPr>
            <p:cNvPr id="12" name="그림 11" descr="그리기, 플레이트, 음식, 방이(가) 표시된 사진&#10;&#10;자동 생성된 설명">
              <a:extLst>
                <a:ext uri="{FF2B5EF4-FFF2-40B4-BE49-F238E27FC236}">
                  <a16:creationId xmlns:a16="http://schemas.microsoft.com/office/drawing/2014/main" id="{D4A8645E-E578-4994-ACFB-E636079E422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67632" y="6062339"/>
              <a:ext cx="720000" cy="720000"/>
            </a:xfrm>
            <a:prstGeom prst="rect">
              <a:avLst/>
            </a:prstGeom>
          </p:spPr>
        </p:pic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869595E0-FFC1-42B0-845F-81DEAB14A06B}"/>
                </a:ext>
              </a:extLst>
            </p:cNvPr>
            <p:cNvSpPr/>
            <p:nvPr userDrawn="1"/>
          </p:nvSpPr>
          <p:spPr>
            <a:xfrm>
              <a:off x="3846292" y="6114563"/>
              <a:ext cx="2710870" cy="615553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ko-KR" altLang="en-US" sz="2000" b="1" spc="100" baseline="0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우주비행제어연구실</a:t>
              </a:r>
              <a:endParaRPr lang="en-US" altLang="ko-KR" sz="2000" b="1" spc="100" baseline="0" dirty="0">
                <a:solidFill>
                  <a:schemeClr val="accent5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" panose="02020603050405020304" pitchFamily="18" charset="0"/>
                <a:cs typeface="times" panose="02020603050405020304" pitchFamily="18" charset="0"/>
              </a:endParaRPr>
            </a:p>
            <a:p>
              <a:r>
                <a:rPr lang="en-US" altLang="ko-KR" sz="1400" b="1" dirty="0">
                  <a:solidFill>
                    <a:schemeClr val="accent5">
                      <a:lumMod val="7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times" panose="02020603050405020304" pitchFamily="18" charset="0"/>
                  <a:cs typeface="times" panose="02020603050405020304" pitchFamily="18" charset="0"/>
                </a:rPr>
                <a:t>Astrodynamics and Control Lab.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286937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94630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EB3741-4917-4953-934B-4EF1C3CF7792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날짜 개체 틀 7"/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9" name="바닥글 개체 틀 8"/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426940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77" r:id="rId2"/>
    <p:sldLayoutId id="2147483662" r:id="rId3"/>
    <p:sldLayoutId id="2147483679" r:id="rId4"/>
    <p:sldLayoutId id="2147483678" r:id="rId5"/>
    <p:sldLayoutId id="2147483667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부제목 1">
            <a:extLst>
              <a:ext uri="{FF2B5EF4-FFF2-40B4-BE49-F238E27FC236}">
                <a16:creationId xmlns:a16="http://schemas.microsoft.com/office/drawing/2014/main" id="{007FD355-926D-4297-AA2A-AA0058A070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이진진</a:t>
            </a:r>
            <a:endParaRPr lang="en-US" altLang="ko-KR" dirty="0"/>
          </a:p>
          <a:p>
            <a:r>
              <a:rPr lang="ko-KR" altLang="en-US" dirty="0"/>
              <a:t>석사과정 </a:t>
            </a:r>
            <a:r>
              <a:rPr lang="en-US" altLang="ko-KR" dirty="0"/>
              <a:t>4</a:t>
            </a:r>
            <a:r>
              <a:rPr lang="ko-KR" altLang="en-US" dirty="0"/>
              <a:t>학기</a:t>
            </a:r>
            <a:endParaRPr lang="en-US" altLang="ko-KR" dirty="0"/>
          </a:p>
          <a:p>
            <a:r>
              <a:rPr lang="en-US" altLang="ko-KR" dirty="0"/>
              <a:t>2023-08-23</a:t>
            </a:r>
          </a:p>
        </p:txBody>
      </p:sp>
      <p:sp>
        <p:nvSpPr>
          <p:cNvPr id="3" name="제목 2">
            <a:extLst>
              <a:ext uri="{FF2B5EF4-FFF2-40B4-BE49-F238E27FC236}">
                <a16:creationId xmlns:a16="http://schemas.microsoft.com/office/drawing/2014/main" id="{9F47A90A-3F95-4B77-93ED-98D75036845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MILP</a:t>
            </a:r>
            <a:r>
              <a:rPr lang="ko-KR" altLang="en-US" dirty="0"/>
              <a:t> </a:t>
            </a:r>
            <a:r>
              <a:rPr lang="en-US" altLang="ko-KR" dirty="0"/>
              <a:t>method</a:t>
            </a:r>
            <a:r>
              <a:rPr lang="ko-KR" altLang="en-US" dirty="0"/>
              <a:t>를 이용한 </a:t>
            </a:r>
            <a:r>
              <a:rPr lang="ko-KR" altLang="en-US" dirty="0" err="1"/>
              <a:t>위성군</a:t>
            </a:r>
            <a:r>
              <a:rPr lang="ko-KR" altLang="en-US" dirty="0"/>
              <a:t> 설계</a:t>
            </a:r>
          </a:p>
        </p:txBody>
      </p:sp>
    </p:spTree>
    <p:extLst>
      <p:ext uri="{BB962C8B-B14F-4D97-AF65-F5344CB8AC3E}">
        <p14:creationId xmlns:p14="http://schemas.microsoft.com/office/powerpoint/2010/main" val="189475719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BACEF4E-3B7E-4CE7-9B6C-3BDC77E04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828" y="71055"/>
            <a:ext cx="7197892" cy="687714"/>
          </a:xfrm>
        </p:spPr>
        <p:txBody>
          <a:bodyPr/>
          <a:lstStyle/>
          <a:p>
            <a:r>
              <a:rPr lang="ko-KR" altLang="en-US" dirty="0"/>
              <a:t>목차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4B61DD4-0D6A-42E5-9AD2-E3C0BD7CD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905750" y="6388843"/>
            <a:ext cx="981169" cy="360000"/>
          </a:xfrm>
        </p:spPr>
        <p:txBody>
          <a:bodyPr/>
          <a:lstStyle/>
          <a:p>
            <a:fld id="{397DD3AE-C24E-49FC-B527-05061A0348E6}" type="slidenum">
              <a:rPr lang="ko-KR" altLang="en-US" smtClean="0"/>
              <a:pPr/>
              <a:t>1</a:t>
            </a:fld>
            <a:endParaRPr lang="ko-KR" altLang="en-US" dirty="0"/>
          </a:p>
        </p:txBody>
      </p:sp>
      <p:graphicFrame>
        <p:nvGraphicFramePr>
          <p:cNvPr id="11" name="표 18">
            <a:extLst>
              <a:ext uri="{FF2B5EF4-FFF2-40B4-BE49-F238E27FC236}">
                <a16:creationId xmlns:a16="http://schemas.microsoft.com/office/drawing/2014/main" id="{1E7CEB30-BE78-4962-AA69-2D4B76A554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4059465"/>
              </p:ext>
            </p:extLst>
          </p:nvPr>
        </p:nvGraphicFramePr>
        <p:xfrm>
          <a:off x="1454505" y="1029970"/>
          <a:ext cx="7318019" cy="29375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18019">
                  <a:extLst>
                    <a:ext uri="{9D8B030D-6E8A-4147-A177-3AD203B41FA5}">
                      <a16:colId xmlns:a16="http://schemas.microsoft.com/office/drawing/2014/main" val="2719041385"/>
                    </a:ext>
                  </a:extLst>
                </a:gridCol>
              </a:tblGrid>
              <a:tr h="96583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1" dirty="0">
                          <a:solidFill>
                            <a:schemeClr val="tx1"/>
                          </a:solidFill>
                        </a:rPr>
                        <a:t>IP(Integer Programming)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7413000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MILP(BILP) Solver </a:t>
                      </a: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284267"/>
                  </a:ext>
                </a:extLst>
              </a:tr>
              <a:tr h="965835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latinLnBrk="1"/>
                      <a:r>
                        <a:rPr lang="ko-KR" altLang="en-US" sz="2000" b="1" dirty="0">
                          <a:solidFill>
                            <a:schemeClr val="tx1"/>
                          </a:solidFill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결론</a:t>
                      </a:r>
                      <a:endParaRPr lang="en-US" altLang="ko-KR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  <a:p>
                      <a:pPr latinLnBrk="1"/>
                      <a:endParaRPr lang="ko-KR" altLang="en-US" sz="2000" b="1" dirty="0">
                        <a:solidFill>
                          <a:schemeClr val="tx1"/>
                        </a:solidFill>
                        <a:latin typeface="times" panose="02020603050405020304" pitchFamily="18" charset="0"/>
                        <a:cs typeface="times" panose="02020603050405020304" pitchFamily="18" charset="0"/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405283"/>
                  </a:ext>
                </a:extLst>
              </a:tr>
            </a:tbl>
          </a:graphicData>
        </a:graphic>
      </p:graphicFrame>
      <p:sp>
        <p:nvSpPr>
          <p:cNvPr id="6" name="직사각형 5">
            <a:extLst>
              <a:ext uri="{FF2B5EF4-FFF2-40B4-BE49-F238E27FC236}">
                <a16:creationId xmlns:a16="http://schemas.microsoft.com/office/drawing/2014/main" id="{13A039B3-2D6B-414C-B6C3-91F438CC53E3}"/>
              </a:ext>
            </a:extLst>
          </p:cNvPr>
          <p:cNvSpPr/>
          <p:nvPr/>
        </p:nvSpPr>
        <p:spPr>
          <a:xfrm>
            <a:off x="457200" y="4876799"/>
            <a:ext cx="997305" cy="98234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D3282C1-EAF0-E51F-4C6E-64EF18128D36}"/>
              </a:ext>
            </a:extLst>
          </p:cNvPr>
          <p:cNvSpPr/>
          <p:nvPr/>
        </p:nvSpPr>
        <p:spPr bwMode="auto">
          <a:xfrm>
            <a:off x="560887" y="3927475"/>
            <a:ext cx="1787236" cy="1932709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216077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IP(Integer Programming)</a:t>
            </a:r>
            <a:endParaRPr lang="ko-KR" altLang="en-US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26980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Integer Programming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1" y="928686"/>
            <a:ext cx="8712257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Integer Programming</a:t>
            </a:r>
            <a:r>
              <a:rPr lang="ko-KR" altLang="en-US" dirty="0"/>
              <a:t>이란</a:t>
            </a:r>
            <a:endParaRPr lang="en-US" altLang="ko-KR" dirty="0"/>
          </a:p>
          <a:p>
            <a:pPr lvl="1"/>
            <a:r>
              <a:rPr lang="ko-KR" altLang="en-US" dirty="0"/>
              <a:t>최적화 문제를 해결하기 위한 수학적인 기법 중 하나</a:t>
            </a:r>
            <a:endParaRPr lang="en-US" altLang="ko-KR" dirty="0"/>
          </a:p>
          <a:p>
            <a:pPr lvl="1"/>
            <a:r>
              <a:rPr lang="ko-KR" altLang="en-US" dirty="0"/>
              <a:t>변수들이 정수 값을 가져야 하는 제약을 가지는 문제를 다루는 것을 의미함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607627868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Integer Programming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1" y="928686"/>
            <a:ext cx="8712257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Integer Programming</a:t>
            </a:r>
            <a:r>
              <a:rPr lang="ko-KR" altLang="en-US" dirty="0"/>
              <a:t>의 필요성</a:t>
            </a:r>
            <a:endParaRPr lang="en-US" altLang="ko-KR" dirty="0"/>
          </a:p>
          <a:p>
            <a:pPr lvl="1"/>
            <a:r>
              <a:rPr lang="en-US" altLang="ko-KR" b="1" dirty="0"/>
              <a:t>1. </a:t>
            </a:r>
            <a:r>
              <a:rPr lang="ko-KR" altLang="en-US" b="1" dirty="0"/>
              <a:t>이진 결정 변수 </a:t>
            </a:r>
            <a:endParaRPr lang="en-US" altLang="ko-KR" b="1" dirty="0"/>
          </a:p>
          <a:p>
            <a:pPr lvl="2"/>
            <a:r>
              <a:rPr lang="ko-KR" altLang="en-US" dirty="0" err="1"/>
              <a:t>위성군</a:t>
            </a:r>
            <a:r>
              <a:rPr lang="ko-KR" altLang="en-US" dirty="0"/>
              <a:t> 운용에서는 일부 상황에서 </a:t>
            </a:r>
            <a:r>
              <a:rPr lang="en-US" altLang="ko-KR" dirty="0"/>
              <a:t>0</a:t>
            </a:r>
            <a:r>
              <a:rPr lang="ko-KR" altLang="en-US" dirty="0"/>
              <a:t>또는 </a:t>
            </a:r>
            <a:r>
              <a:rPr lang="en-US" altLang="ko-KR" dirty="0"/>
              <a:t>1</a:t>
            </a:r>
            <a:r>
              <a:rPr lang="ko-KR" altLang="en-US" dirty="0"/>
              <a:t>로 나타내는 이진수가 필요</a:t>
            </a:r>
            <a:r>
              <a:rPr lang="en-US" altLang="ko-KR" dirty="0"/>
              <a:t>(BILP)</a:t>
            </a:r>
          </a:p>
          <a:p>
            <a:pPr lvl="2"/>
            <a:r>
              <a:rPr lang="ko-KR" altLang="en-US" dirty="0"/>
              <a:t>각 위성의 상태</a:t>
            </a:r>
            <a:r>
              <a:rPr lang="en-US" altLang="ko-KR" dirty="0"/>
              <a:t>(</a:t>
            </a:r>
            <a:r>
              <a:rPr lang="ko-KR" altLang="en-US" dirty="0"/>
              <a:t>활성화 또는 비활성화</a:t>
            </a:r>
            <a:r>
              <a:rPr lang="en-US" altLang="ko-KR" dirty="0"/>
              <a:t>), </a:t>
            </a:r>
            <a:r>
              <a:rPr lang="ko-KR" altLang="en-US" dirty="0"/>
              <a:t>작업 및 자원 할당 여부 등</a:t>
            </a:r>
            <a:endParaRPr lang="en-US" altLang="ko-KR" dirty="0"/>
          </a:p>
          <a:p>
            <a:pPr lvl="1"/>
            <a:r>
              <a:rPr lang="en-US" altLang="ko-KR" b="1" dirty="0"/>
              <a:t>2. </a:t>
            </a:r>
            <a:r>
              <a:rPr lang="ko-KR" altLang="en-US" b="1" dirty="0"/>
              <a:t>제약조건의 복잡성을 처리하는 데 유리함</a:t>
            </a:r>
            <a:endParaRPr lang="en-US" altLang="ko-KR" b="1" dirty="0"/>
          </a:p>
          <a:p>
            <a:pPr lvl="2"/>
            <a:r>
              <a:rPr lang="en-US" altLang="ko-KR" dirty="0"/>
              <a:t> </a:t>
            </a:r>
            <a:r>
              <a:rPr lang="ko-KR" altLang="en-US" dirty="0"/>
              <a:t>상호 간섭 방지</a:t>
            </a:r>
            <a:r>
              <a:rPr lang="en-US" altLang="ko-KR" dirty="0"/>
              <a:t>, </a:t>
            </a:r>
            <a:r>
              <a:rPr lang="ko-KR" altLang="en-US" dirty="0"/>
              <a:t>자원 할당 제약</a:t>
            </a:r>
            <a:r>
              <a:rPr lang="en-US" altLang="ko-KR" dirty="0"/>
              <a:t>, </a:t>
            </a:r>
            <a:r>
              <a:rPr lang="ko-KR" altLang="en-US" dirty="0"/>
              <a:t>우주 환경 제약 등</a:t>
            </a:r>
            <a:endParaRPr lang="en-US" altLang="ko-KR" dirty="0"/>
          </a:p>
          <a:p>
            <a:pPr lvl="1"/>
            <a:r>
              <a:rPr lang="en-US" altLang="ko-KR" b="1" dirty="0"/>
              <a:t>3. </a:t>
            </a:r>
            <a:r>
              <a:rPr lang="ko-KR" altLang="en-US" b="1" dirty="0"/>
              <a:t>조합 최적화 문제 해결의 적합성</a:t>
            </a:r>
            <a:endParaRPr lang="en-US" altLang="ko-KR" b="1" dirty="0"/>
          </a:p>
          <a:p>
            <a:pPr lvl="2"/>
            <a:r>
              <a:rPr lang="ko-KR" altLang="en-US" dirty="0" err="1"/>
              <a:t>위성군</a:t>
            </a:r>
            <a:r>
              <a:rPr lang="ko-KR" altLang="en-US" dirty="0"/>
              <a:t> 운용은 종종 최적화 문제로 모델링됨</a:t>
            </a:r>
            <a:endParaRPr lang="en-US" altLang="ko-KR" dirty="0"/>
          </a:p>
          <a:p>
            <a:pPr lvl="2"/>
            <a:r>
              <a:rPr lang="ko-KR" altLang="en-US" dirty="0"/>
              <a:t>여러 개체를 조합하여 최적의 해를 찾는 문제</a:t>
            </a:r>
            <a:endParaRPr lang="en-US" altLang="ko-KR" dirty="0"/>
          </a:p>
          <a:p>
            <a:pPr lvl="2"/>
            <a:r>
              <a:rPr lang="ko-KR" altLang="en-US" dirty="0"/>
              <a:t>이 경우</a:t>
            </a:r>
            <a:r>
              <a:rPr lang="en-US" altLang="ko-KR" dirty="0"/>
              <a:t>, </a:t>
            </a:r>
            <a:r>
              <a:rPr lang="ko-KR" altLang="en-US" dirty="0"/>
              <a:t>이항 변수를 사용하여 조합을 표현하고 최적화를 수행하는 것이 필요</a:t>
            </a:r>
            <a:endParaRPr lang="en-US" altLang="ko-KR" dirty="0"/>
          </a:p>
          <a:p>
            <a:pPr lvl="1"/>
            <a:r>
              <a:rPr lang="en-US" altLang="ko-KR" b="1" dirty="0"/>
              <a:t>4. </a:t>
            </a:r>
            <a:r>
              <a:rPr lang="ko-KR" altLang="en-US" b="1" dirty="0"/>
              <a:t>정수 제한조건의 고려</a:t>
            </a:r>
            <a:endParaRPr lang="en-US" altLang="ko-KR" b="1" dirty="0"/>
          </a:p>
          <a:p>
            <a:pPr lvl="2"/>
            <a:r>
              <a:rPr lang="ko-KR" altLang="en-US" dirty="0"/>
              <a:t>위성의 작업 할당이 이산적이어야 하는 경우가 있음</a:t>
            </a:r>
            <a:endParaRPr lang="en-US" altLang="ko-KR" dirty="0"/>
          </a:p>
          <a:p>
            <a:pPr lvl="1"/>
            <a:endParaRPr lang="en-US" altLang="ko-KR" dirty="0"/>
          </a:p>
          <a:p>
            <a:pPr marL="216000" lvl="1" indent="0">
              <a:buNone/>
            </a:pPr>
            <a:r>
              <a:rPr lang="ko-KR" altLang="en-US" dirty="0"/>
              <a:t>즉</a:t>
            </a:r>
            <a:r>
              <a:rPr lang="en-US" altLang="ko-KR" dirty="0"/>
              <a:t>, </a:t>
            </a:r>
            <a:r>
              <a:rPr lang="ko-KR" altLang="en-US" dirty="0"/>
              <a:t>다양한 요소와 제한 조건을 고려해야 하기 때문에 정수 값을 기준으로 판별하는 방법을 이용 </a:t>
            </a:r>
            <a:endParaRPr lang="en-US" altLang="ko-KR" dirty="0"/>
          </a:p>
          <a:p>
            <a:pPr lvl="2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059172539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Integer Programming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1" y="928686"/>
            <a:ext cx="8712257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Integer Programming</a:t>
            </a:r>
            <a:r>
              <a:rPr lang="ko-KR" altLang="en-US" dirty="0"/>
              <a:t>의 종류</a:t>
            </a:r>
            <a:endParaRPr lang="en-US" altLang="ko-KR" dirty="0"/>
          </a:p>
          <a:p>
            <a:pPr lvl="1"/>
            <a:r>
              <a:rPr lang="en-US" altLang="ko-KR" dirty="0"/>
              <a:t>LP(Linear Programming)</a:t>
            </a:r>
          </a:p>
          <a:p>
            <a:pPr lvl="2"/>
            <a:r>
              <a:rPr lang="ko-KR" altLang="en-US" dirty="0"/>
              <a:t>선형 목적 함수와 선형 제한 조건을 가진 최적화 문제</a:t>
            </a:r>
            <a:endParaRPr lang="en-US" altLang="ko-KR" dirty="0"/>
          </a:p>
          <a:p>
            <a:pPr lvl="2"/>
            <a:r>
              <a:rPr lang="ko-KR" altLang="en-US" dirty="0"/>
              <a:t>변수들이 실수 값을 가질 수 있음</a:t>
            </a:r>
            <a:endParaRPr lang="en-US" altLang="ko-KR" dirty="0"/>
          </a:p>
          <a:p>
            <a:pPr lvl="1"/>
            <a:r>
              <a:rPr lang="en-US" altLang="ko-KR" dirty="0"/>
              <a:t>IP(Integer Programming)</a:t>
            </a:r>
          </a:p>
          <a:p>
            <a:pPr lvl="2"/>
            <a:r>
              <a:rPr lang="en-US" altLang="ko-KR" dirty="0"/>
              <a:t>LP</a:t>
            </a:r>
            <a:r>
              <a:rPr lang="ko-KR" altLang="en-US" dirty="0"/>
              <a:t>와 달리 변수들이 정수 값을 가져야 하는 최적화 문제</a:t>
            </a:r>
            <a:endParaRPr lang="en-US" altLang="ko-KR" dirty="0"/>
          </a:p>
          <a:p>
            <a:pPr lvl="2"/>
            <a:r>
              <a:rPr lang="ko-KR" altLang="en-US" dirty="0"/>
              <a:t>정수 제한 조건을 가지므로 연속적인 값을 허용하지 않음</a:t>
            </a:r>
            <a:endParaRPr lang="en-US" altLang="ko-KR" dirty="0"/>
          </a:p>
          <a:p>
            <a:pPr lvl="2"/>
            <a:r>
              <a:rPr lang="ko-KR" altLang="en-US" dirty="0"/>
              <a:t>일반적인 정수 최적화 문제를 다루는데 사용</a:t>
            </a:r>
            <a:endParaRPr lang="en-US" altLang="ko-KR" dirty="0"/>
          </a:p>
          <a:p>
            <a:pPr lvl="1"/>
            <a:r>
              <a:rPr lang="en-US" altLang="ko-KR" dirty="0"/>
              <a:t>BIP(Binary Integer Programming) </a:t>
            </a:r>
          </a:p>
          <a:p>
            <a:pPr lvl="2"/>
            <a:r>
              <a:rPr lang="en-US" altLang="ko-KR" dirty="0"/>
              <a:t>IP</a:t>
            </a:r>
            <a:r>
              <a:rPr lang="ko-KR" altLang="en-US" dirty="0"/>
              <a:t>의 특수한 형태로</a:t>
            </a:r>
            <a:r>
              <a:rPr lang="en-US" altLang="ko-KR" dirty="0"/>
              <a:t>, </a:t>
            </a:r>
            <a:r>
              <a:rPr lang="ko-KR" altLang="en-US" dirty="0"/>
              <a:t>변수들이 </a:t>
            </a:r>
            <a:r>
              <a:rPr lang="en-US" altLang="ko-KR" dirty="0"/>
              <a:t>0 </a:t>
            </a:r>
            <a:r>
              <a:rPr lang="ko-KR" altLang="en-US" dirty="0"/>
              <a:t>또는 </a:t>
            </a:r>
            <a:r>
              <a:rPr lang="en-US" altLang="ko-KR" dirty="0"/>
              <a:t>1</a:t>
            </a:r>
            <a:r>
              <a:rPr lang="ko-KR" altLang="en-US" dirty="0"/>
              <a:t>의 이진 값을 가져야 하는 최적화 문제</a:t>
            </a:r>
            <a:endParaRPr lang="en-US" altLang="ko-KR" dirty="0"/>
          </a:p>
          <a:p>
            <a:pPr lvl="2"/>
            <a:r>
              <a:rPr lang="ko-KR" altLang="en-US" dirty="0"/>
              <a:t>예</a:t>
            </a:r>
            <a:r>
              <a:rPr lang="en-US" altLang="ko-KR" dirty="0"/>
              <a:t>/</a:t>
            </a:r>
            <a:r>
              <a:rPr lang="ko-KR" altLang="en-US" dirty="0" err="1"/>
              <a:t>아니오</a:t>
            </a:r>
            <a:r>
              <a:rPr lang="ko-KR" altLang="en-US" dirty="0"/>
              <a:t> 등과 같은 어떤 결정 또는 선택을 나타내는데 사용</a:t>
            </a:r>
            <a:endParaRPr lang="en-US" altLang="ko-KR" dirty="0"/>
          </a:p>
          <a:p>
            <a:pPr lvl="1"/>
            <a:r>
              <a:rPr lang="en-US" altLang="ko-KR" dirty="0"/>
              <a:t>MILP(Mixed Integer Linear Programming)</a:t>
            </a:r>
          </a:p>
          <a:p>
            <a:pPr lvl="2"/>
            <a:r>
              <a:rPr lang="ko-KR" altLang="en-US" dirty="0"/>
              <a:t>선형 목적 함수와 선형 제한 조건을 가진 최적화 문제</a:t>
            </a:r>
            <a:endParaRPr lang="en-US" altLang="ko-KR" dirty="0"/>
          </a:p>
          <a:p>
            <a:pPr lvl="2"/>
            <a:r>
              <a:rPr lang="ko-KR" altLang="en-US" dirty="0"/>
              <a:t>변수들 중 일부는 </a:t>
            </a:r>
            <a:r>
              <a:rPr lang="ko-KR" altLang="en-US" dirty="0" err="1"/>
              <a:t>정수값을</a:t>
            </a:r>
            <a:r>
              <a:rPr lang="ko-KR" altLang="en-US" dirty="0"/>
              <a:t> 가져야 함</a:t>
            </a:r>
            <a:endParaRPr lang="en-US" altLang="ko-KR" dirty="0"/>
          </a:p>
          <a:p>
            <a:pPr lvl="2"/>
            <a:r>
              <a:rPr lang="en-US" altLang="ko-KR" dirty="0"/>
              <a:t>LP</a:t>
            </a:r>
            <a:r>
              <a:rPr lang="ko-KR" altLang="en-US" dirty="0"/>
              <a:t>와 </a:t>
            </a:r>
            <a:r>
              <a:rPr lang="en-US" altLang="ko-KR" dirty="0"/>
              <a:t>IP</a:t>
            </a:r>
            <a:r>
              <a:rPr lang="ko-KR" altLang="en-US" dirty="0"/>
              <a:t>의 조합으로 이루어진 형태</a:t>
            </a:r>
            <a:endParaRPr lang="en-US" altLang="ko-KR" dirty="0"/>
          </a:p>
          <a:p>
            <a:pPr lvl="2"/>
            <a:r>
              <a:rPr lang="ko-KR" altLang="en-US" dirty="0"/>
              <a:t>실수변수와 정수변수를 함께 다룰 수 있어 더 다양한 문제를 해결할 수 있음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59825036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6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Integer Programming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1" y="928686"/>
            <a:ext cx="8712257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Integer Programming</a:t>
            </a:r>
            <a:r>
              <a:rPr lang="ko-KR" altLang="en-US" dirty="0"/>
              <a:t>의 종류</a:t>
            </a:r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F7D94B68-B9FE-B27F-EFAC-3DE7E7E8D1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26" y="1650128"/>
            <a:ext cx="8119948" cy="4227816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A804309E-A083-B478-19D1-8DB96544E2A9}"/>
              </a:ext>
            </a:extLst>
          </p:cNvPr>
          <p:cNvSpPr/>
          <p:nvPr/>
        </p:nvSpPr>
        <p:spPr bwMode="auto">
          <a:xfrm>
            <a:off x="6421348" y="4633645"/>
            <a:ext cx="2044558" cy="1089061"/>
          </a:xfrm>
          <a:prstGeom prst="rect">
            <a:avLst/>
          </a:prstGeom>
          <a:noFill/>
          <a:ln>
            <a:solidFill>
              <a:srgbClr val="CC99FF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5037531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7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Integer Programming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1" y="928686"/>
            <a:ext cx="8712257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MILP(BILP) </a:t>
            </a:r>
            <a:r>
              <a:rPr lang="ko-KR" altLang="en-US" dirty="0"/>
              <a:t>문제 해결을 위한 단계</a:t>
            </a:r>
            <a:endParaRPr lang="en-US" altLang="ko-KR" dirty="0"/>
          </a:p>
          <a:p>
            <a:pPr lvl="1"/>
            <a:r>
              <a:rPr lang="en-US" altLang="ko-KR" b="1" dirty="0"/>
              <a:t>1. </a:t>
            </a:r>
            <a:r>
              <a:rPr lang="ko-KR" altLang="en-US" b="1" dirty="0"/>
              <a:t>문제 정의 </a:t>
            </a:r>
            <a:r>
              <a:rPr lang="en-US" altLang="ko-KR" dirty="0"/>
              <a:t>: </a:t>
            </a:r>
            <a:r>
              <a:rPr lang="ko-KR" altLang="en-US" dirty="0"/>
              <a:t>설계하려는 위성군의 운용개념 및 목적을 명확히 정의</a:t>
            </a:r>
            <a:endParaRPr lang="en-US" altLang="ko-KR" dirty="0"/>
          </a:p>
          <a:p>
            <a:pPr lvl="2"/>
            <a:r>
              <a:rPr lang="en-US" altLang="ko-KR" dirty="0"/>
              <a:t>Ex. </a:t>
            </a:r>
            <a:r>
              <a:rPr lang="ko-KR" altLang="en-US" dirty="0"/>
              <a:t>통신위성군 </a:t>
            </a:r>
            <a:r>
              <a:rPr lang="en-US" altLang="ko-KR" dirty="0"/>
              <a:t>– </a:t>
            </a:r>
            <a:r>
              <a:rPr lang="ko-KR" altLang="en-US" dirty="0"/>
              <a:t>통신 요구사항</a:t>
            </a:r>
            <a:r>
              <a:rPr lang="en-US" altLang="ko-KR" dirty="0"/>
              <a:t>, </a:t>
            </a:r>
            <a:r>
              <a:rPr lang="ko-KR" altLang="en-US" dirty="0"/>
              <a:t>커버리지 요구사항</a:t>
            </a:r>
            <a:r>
              <a:rPr lang="en-US" altLang="ko-KR" dirty="0"/>
              <a:t>, </a:t>
            </a:r>
            <a:r>
              <a:rPr lang="ko-KR" altLang="en-US" dirty="0"/>
              <a:t>주파수 제한조건 등</a:t>
            </a:r>
            <a:endParaRPr lang="en-US" altLang="ko-KR" dirty="0"/>
          </a:p>
          <a:p>
            <a:pPr lvl="1"/>
            <a:r>
              <a:rPr lang="en-US" altLang="ko-KR" b="1" dirty="0"/>
              <a:t>2. </a:t>
            </a:r>
            <a:r>
              <a:rPr lang="ko-KR" altLang="en-US" b="1" dirty="0"/>
              <a:t>변수 정의</a:t>
            </a:r>
            <a:endParaRPr lang="en-US" altLang="ko-KR" b="1" dirty="0"/>
          </a:p>
          <a:p>
            <a:pPr lvl="2"/>
            <a:r>
              <a:rPr lang="ko-KR" altLang="en-US" dirty="0"/>
              <a:t>주로 위성 상태</a:t>
            </a:r>
            <a:r>
              <a:rPr lang="en-US" altLang="ko-KR" dirty="0"/>
              <a:t>, </a:t>
            </a:r>
            <a:r>
              <a:rPr lang="ko-KR" altLang="en-US" dirty="0"/>
              <a:t>작업 및 자원의 할당 등</a:t>
            </a:r>
            <a:endParaRPr lang="en-US" altLang="ko-KR" dirty="0"/>
          </a:p>
          <a:p>
            <a:pPr lvl="1"/>
            <a:r>
              <a:rPr lang="en-US" altLang="ko-KR" b="1" dirty="0"/>
              <a:t>3. </a:t>
            </a:r>
            <a:r>
              <a:rPr lang="ko-KR" altLang="en-US" b="1" dirty="0"/>
              <a:t>목적함수 정의 </a:t>
            </a:r>
            <a:r>
              <a:rPr lang="en-US" altLang="ko-KR" dirty="0"/>
              <a:t>: </a:t>
            </a:r>
            <a:r>
              <a:rPr lang="ko-KR" altLang="en-US" dirty="0"/>
              <a:t>최대화 또는 최소화 해야 할 성능 지표</a:t>
            </a:r>
            <a:endParaRPr lang="en-US" altLang="ko-KR" dirty="0"/>
          </a:p>
          <a:p>
            <a:pPr lvl="2"/>
            <a:r>
              <a:rPr lang="en-US" altLang="ko-KR" dirty="0"/>
              <a:t>Ex. </a:t>
            </a:r>
            <a:r>
              <a:rPr lang="ko-KR" altLang="en-US" dirty="0"/>
              <a:t>통신 </a:t>
            </a:r>
            <a:r>
              <a:rPr lang="ko-KR" altLang="en-US" dirty="0" err="1"/>
              <a:t>위성군</a:t>
            </a:r>
            <a:r>
              <a:rPr lang="ko-KR" altLang="en-US" dirty="0"/>
              <a:t> </a:t>
            </a:r>
            <a:r>
              <a:rPr lang="en-US" altLang="ko-KR" dirty="0"/>
              <a:t>– </a:t>
            </a:r>
            <a:r>
              <a:rPr lang="ko-KR" altLang="en-US" dirty="0"/>
              <a:t>통신 커버리지</a:t>
            </a:r>
            <a:r>
              <a:rPr lang="en-US" altLang="ko-KR" dirty="0"/>
              <a:t>, </a:t>
            </a:r>
            <a:r>
              <a:rPr lang="ko-KR" altLang="en-US" dirty="0"/>
              <a:t>전력 소비</a:t>
            </a:r>
            <a:r>
              <a:rPr lang="en-US" altLang="ko-KR" dirty="0"/>
              <a:t>, </a:t>
            </a:r>
            <a:r>
              <a:rPr lang="ko-KR" altLang="en-US" dirty="0"/>
              <a:t>대역폭 이용률 등 </a:t>
            </a:r>
            <a:endParaRPr lang="en-US" altLang="ko-KR" dirty="0"/>
          </a:p>
          <a:p>
            <a:pPr lvl="1"/>
            <a:r>
              <a:rPr lang="en-US" altLang="ko-KR" b="1" dirty="0"/>
              <a:t>4. </a:t>
            </a:r>
            <a:r>
              <a:rPr lang="ko-KR" altLang="en-US" b="1" dirty="0"/>
              <a:t>제한조건 정의 </a:t>
            </a:r>
            <a:r>
              <a:rPr lang="en-US" altLang="ko-KR" dirty="0"/>
              <a:t>: </a:t>
            </a:r>
            <a:r>
              <a:rPr lang="ko-KR" altLang="en-US" dirty="0"/>
              <a:t>운용에 적용되는 제한 조건</a:t>
            </a:r>
            <a:endParaRPr lang="en-US" altLang="ko-KR" dirty="0"/>
          </a:p>
          <a:p>
            <a:pPr lvl="2"/>
            <a:r>
              <a:rPr lang="ko-KR" altLang="en-US" dirty="0"/>
              <a:t>각 위성의 작업 및 자원 할당 제약</a:t>
            </a:r>
            <a:r>
              <a:rPr lang="en-US" altLang="ko-KR" dirty="0"/>
              <a:t>, </a:t>
            </a:r>
            <a:r>
              <a:rPr lang="ko-KR" altLang="en-US" dirty="0"/>
              <a:t>상호 간섭 방지</a:t>
            </a:r>
            <a:r>
              <a:rPr lang="en-US" altLang="ko-KR" dirty="0"/>
              <a:t>, </a:t>
            </a:r>
            <a:r>
              <a:rPr lang="ko-KR" altLang="en-US" dirty="0"/>
              <a:t>우주 환경 제약 등</a:t>
            </a:r>
            <a:endParaRPr lang="en-US" altLang="ko-KR" dirty="0"/>
          </a:p>
          <a:p>
            <a:pPr lvl="1"/>
            <a:r>
              <a:rPr lang="en-US" altLang="ko-KR" b="1" dirty="0"/>
              <a:t>5. MILP(BILP) </a:t>
            </a:r>
            <a:r>
              <a:rPr lang="ko-KR" altLang="en-US" b="1" dirty="0"/>
              <a:t>모델 구축 </a:t>
            </a:r>
            <a:r>
              <a:rPr lang="en-US" altLang="ko-KR" dirty="0"/>
              <a:t>: </a:t>
            </a:r>
            <a:r>
              <a:rPr lang="ko-KR" altLang="en-US" dirty="0"/>
              <a:t>위에서 정의한 변수</a:t>
            </a:r>
            <a:r>
              <a:rPr lang="en-US" altLang="ko-KR" dirty="0"/>
              <a:t>, </a:t>
            </a:r>
            <a:r>
              <a:rPr lang="ko-KR" altLang="en-US" dirty="0"/>
              <a:t>목적함수</a:t>
            </a:r>
            <a:r>
              <a:rPr lang="en-US" altLang="ko-KR" dirty="0"/>
              <a:t>, </a:t>
            </a:r>
            <a:r>
              <a:rPr lang="ko-KR" altLang="en-US" dirty="0"/>
              <a:t>제한조건을 사용하여 모델을 구축</a:t>
            </a:r>
            <a:endParaRPr lang="en-US" altLang="ko-KR" dirty="0"/>
          </a:p>
          <a:p>
            <a:pPr lvl="2"/>
            <a:r>
              <a:rPr lang="ko-KR" altLang="en-US" dirty="0"/>
              <a:t>수학적으로 표현된 최적화 문제</a:t>
            </a:r>
            <a:endParaRPr lang="en-US" altLang="ko-KR" dirty="0"/>
          </a:p>
          <a:p>
            <a:pPr lvl="1"/>
            <a:r>
              <a:rPr lang="en-US" altLang="ko-KR" b="1" dirty="0"/>
              <a:t>6. MILP(BILP) </a:t>
            </a:r>
            <a:r>
              <a:rPr lang="ko-KR" altLang="en-US" b="1" dirty="0" err="1"/>
              <a:t>솔버</a:t>
            </a:r>
            <a:r>
              <a:rPr lang="ko-KR" altLang="en-US" b="1" dirty="0"/>
              <a:t> 실행 </a:t>
            </a:r>
            <a:r>
              <a:rPr lang="en-US" altLang="ko-KR" dirty="0"/>
              <a:t>: </a:t>
            </a:r>
            <a:r>
              <a:rPr lang="ko-KR" altLang="en-US" dirty="0"/>
              <a:t>최적의 변수 값들을 찾는 알고리즘 실행</a:t>
            </a:r>
            <a:endParaRPr lang="en-US" altLang="ko-KR" dirty="0"/>
          </a:p>
          <a:p>
            <a:pPr lvl="2"/>
            <a:r>
              <a:rPr lang="en-US" altLang="ko-KR" dirty="0"/>
              <a:t>CPLEX, </a:t>
            </a:r>
            <a:r>
              <a:rPr lang="en-US" altLang="ko-KR" dirty="0" err="1"/>
              <a:t>Gurobi</a:t>
            </a:r>
            <a:r>
              <a:rPr lang="en-US" altLang="ko-KR" dirty="0"/>
              <a:t> </a:t>
            </a:r>
            <a:r>
              <a:rPr lang="ko-KR" altLang="en-US" dirty="0"/>
              <a:t>등 </a:t>
            </a:r>
            <a:endParaRPr lang="en-US" altLang="ko-KR" dirty="0"/>
          </a:p>
          <a:p>
            <a:pPr lvl="1"/>
            <a:r>
              <a:rPr lang="en-US" altLang="ko-KR" b="1" dirty="0"/>
              <a:t>7. </a:t>
            </a:r>
            <a:r>
              <a:rPr lang="ko-KR" altLang="en-US" b="1" dirty="0"/>
              <a:t>결과 분석 </a:t>
            </a:r>
            <a:r>
              <a:rPr lang="en-US" altLang="ko-KR" dirty="0"/>
              <a:t>: </a:t>
            </a:r>
            <a:r>
              <a:rPr lang="ko-KR" altLang="en-US" dirty="0" err="1"/>
              <a:t>솔버</a:t>
            </a:r>
            <a:r>
              <a:rPr lang="ko-KR" altLang="en-US" dirty="0"/>
              <a:t> 실행이 완료되면 최적의 변수 값과 최적화된 목적함수 도출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042588631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8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Integer</a:t>
            </a:r>
            <a:r>
              <a:rPr lang="ko-KR" altLang="en-US" dirty="0"/>
              <a:t> </a:t>
            </a:r>
            <a:r>
              <a:rPr lang="en-US" altLang="ko-KR" dirty="0"/>
              <a:t>Programming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A33FD4D-E8EB-E5CA-49D5-D206DAC5F9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1" y="928686"/>
                <a:ext cx="8712257" cy="5376968"/>
              </a:xfrm>
            </p:spPr>
            <p:txBody>
              <a:bodyPr>
                <a:normAutofit/>
              </a:bodyPr>
              <a:lstStyle/>
              <a:p>
                <a:r>
                  <a:rPr lang="en-US" altLang="ko-KR" dirty="0"/>
                  <a:t>MILP(BILP)</a:t>
                </a:r>
                <a:r>
                  <a:rPr lang="ko-KR" altLang="en-US" dirty="0"/>
                  <a:t>의 최적화 과정</a:t>
                </a:r>
              </a:p>
              <a:p>
                <a:pPr lvl="1"/>
                <a:r>
                  <a:rPr lang="en-US" altLang="ko-KR" dirty="0"/>
                  <a:t>Ex. </a:t>
                </a:r>
                <a:r>
                  <a:rPr lang="ko-KR" altLang="en-US" dirty="0"/>
                  <a:t>아래 식을 모두 만족하면서  </a:t>
                </a:r>
                <a:r>
                  <a:rPr lang="en-US" altLang="ko-KR" dirty="0"/>
                  <a:t>Z =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5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6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9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10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+10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최소화</a:t>
                </a:r>
                <a:endParaRPr lang="en-US" altLang="ko-KR" dirty="0"/>
              </a:p>
              <a:p>
                <a:pPr lvl="2"/>
                <a:r>
                  <a:rPr lang="en-US" altLang="ko-KR" dirty="0"/>
                  <a:t>(1)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6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−3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4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dirty="0"/>
                  <a:t>≥  </a:t>
                </a:r>
                <a:r>
                  <a:rPr lang="en-US" altLang="ko-KR" dirty="0"/>
                  <a:t>2</a:t>
                </a:r>
              </a:p>
              <a:p>
                <a:pPr lvl="2"/>
                <a:r>
                  <a:rPr lang="en-US" altLang="ko-KR" dirty="0"/>
                  <a:t>(2)</a:t>
                </a:r>
                <a:r>
                  <a:rPr lang="pt-BR" altLang="ko-K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pt-BR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−5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0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dirty="0">
                        <a:latin typeface="Cambria Math" panose="02040503050406030204" pitchFamily="18" charset="0"/>
                      </a:rPr>
                      <m:t>3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3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−2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dirty="0"/>
                  <a:t>≥ </a:t>
                </a: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ko-KR" dirty="0"/>
              </a:p>
              <a:p>
                <a:pPr lvl="2"/>
                <a:r>
                  <a:rPr lang="en-US" altLang="ko-KR" dirty="0"/>
                  <a:t>(3)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altLang="ko-KR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0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4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−2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pt-BR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dirty="0"/>
                  <a:t>≥  </a:t>
                </a:r>
                <a14:m>
                  <m:oMath xmlns:m="http://schemas.openxmlformats.org/officeDocument/2006/math">
                    <m:r>
                      <a:rPr lang="en-US" altLang="ko-KR" smtClean="0">
                        <a:latin typeface="Cambria Math" panose="02040503050406030204" pitchFamily="18" charset="0"/>
                      </a:rPr>
                      <m:t>3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marL="432000" lvl="2" indent="0">
                  <a:buNone/>
                </a:pPr>
                <a:r>
                  <a:rPr lang="en-US" altLang="ko-KR" dirty="0">
                    <a:solidFill>
                      <a:srgbClr val="FF0000"/>
                    </a:solidFill>
                  </a:rPr>
                  <a:t>(2)</a:t>
                </a:r>
                <a:r>
                  <a:rPr lang="pt-BR" altLang="ko-KR" dirty="0">
                    <a:solidFill>
                      <a:srgbClr val="FF0000"/>
                    </a:solidFill>
                  </a:rPr>
                  <a:t> -5 -3</a:t>
                </a:r>
                <a:r>
                  <a:rPr lang="en-US" altLang="ko-KR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b>
                      <m:sSubPr>
                        <m:ctrlPr>
                          <a:rPr lang="pt-BR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−2</m:t>
                    </m:r>
                    <m:sSub>
                      <m:sSubPr>
                        <m:ctrlPr>
                          <a:rPr lang="pt-BR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</m:oMath>
                </a14:m>
                <a:r>
                  <a:rPr lang="en-US" altLang="ko-KR" dirty="0">
                    <a:solidFill>
                      <a:srgbClr val="FF0000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ko-KR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pt-BR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altLang="ko-KR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ko-KR" altLang="en-US" dirty="0">
                    <a:solidFill>
                      <a:srgbClr val="FF0000"/>
                    </a:solidFill>
                  </a:rPr>
                  <a:t>≥ </a:t>
                </a:r>
                <a14:m>
                  <m:oMath xmlns:m="http://schemas.openxmlformats.org/officeDocument/2006/math">
                    <m:r>
                      <a:rPr lang="en-US" altLang="ko-KR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ko-KR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altLang="ko-KR" dirty="0">
                  <a:solidFill>
                    <a:srgbClr val="FF0000"/>
                  </a:solidFill>
                </a:endParaRPr>
              </a:p>
              <a:p>
                <a:pPr marL="432000" lvl="2" indent="0">
                  <a:buNone/>
                </a:pPr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lvl="2"/>
                <a:endParaRPr lang="en-US" altLang="ko-KR" dirty="0"/>
              </a:p>
              <a:p>
                <a:pPr lvl="3"/>
                <a:endParaRPr lang="en-US" altLang="ko-KR" dirty="0"/>
              </a:p>
            </p:txBody>
          </p:sp>
        </mc:Choice>
        <mc:Fallback xmlns="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A33FD4D-E8EB-E5CA-49D5-D206DAC5F9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1" y="928686"/>
                <a:ext cx="8712257" cy="5376968"/>
              </a:xfrm>
              <a:blipFill>
                <a:blip r:embed="rId3"/>
                <a:stretch>
                  <a:fillRect l="-910" t="-102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그림 4">
            <a:extLst>
              <a:ext uri="{FF2B5EF4-FFF2-40B4-BE49-F238E27FC236}">
                <a16:creationId xmlns:a16="http://schemas.microsoft.com/office/drawing/2014/main" id="{6FC4F732-8901-F705-42C3-42A80F0D10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057" y="3035595"/>
            <a:ext cx="3493856" cy="2251123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11DE4DE-32A3-A18A-E995-D487DB1FD7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0" y="3027495"/>
            <a:ext cx="3935002" cy="218254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66539E6A-966B-E756-6686-205E8C4F947C}"/>
              </a:ext>
            </a:extLst>
          </p:cNvPr>
          <p:cNvSpPr txBox="1"/>
          <p:nvPr/>
        </p:nvSpPr>
        <p:spPr>
          <a:xfrm>
            <a:off x="721703" y="5734015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2"/>
            <a:r>
              <a:rPr lang="en-US" altLang="ko-KR" dirty="0"/>
              <a:t>1    1     0    1</a:t>
            </a:r>
          </a:p>
        </p:txBody>
      </p:sp>
      <p:sp>
        <p:nvSpPr>
          <p:cNvPr id="14" name="곱하기 기호 13">
            <a:extLst>
              <a:ext uri="{FF2B5EF4-FFF2-40B4-BE49-F238E27FC236}">
                <a16:creationId xmlns:a16="http://schemas.microsoft.com/office/drawing/2014/main" id="{DBFD5812-2FB3-FAA1-9B50-0DD7E0556CCA}"/>
              </a:ext>
            </a:extLst>
          </p:cNvPr>
          <p:cNvSpPr/>
          <p:nvPr/>
        </p:nvSpPr>
        <p:spPr bwMode="auto">
          <a:xfrm>
            <a:off x="2933272" y="4364602"/>
            <a:ext cx="688368" cy="431514"/>
          </a:xfrm>
          <a:prstGeom prst="mathMultiply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F05B3F4-E2D2-C29A-F735-620C6431203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86114" y="2995843"/>
            <a:ext cx="4106773" cy="2922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1522564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9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Integer</a:t>
            </a:r>
            <a:r>
              <a:rPr lang="ko-KR" altLang="en-US" dirty="0"/>
              <a:t> </a:t>
            </a:r>
            <a:r>
              <a:rPr lang="en-US" altLang="ko-KR" dirty="0"/>
              <a:t>Programming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1" y="928686"/>
            <a:ext cx="8712257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Example of Constraints</a:t>
            </a:r>
          </a:p>
          <a:p>
            <a:pPr lvl="1"/>
            <a:r>
              <a:rPr lang="ko-KR" altLang="en-US" b="1" dirty="0"/>
              <a:t>상호 간섭 제한조건 </a:t>
            </a:r>
            <a:r>
              <a:rPr lang="en-US" altLang="ko-KR" dirty="0"/>
              <a:t>: </a:t>
            </a:r>
            <a:r>
              <a:rPr lang="ko-KR" altLang="en-US" dirty="0"/>
              <a:t>각 위성의 위치를 정의하고 거리 제한조건 고려</a:t>
            </a:r>
            <a:endParaRPr lang="en-US" altLang="ko-KR" dirty="0"/>
          </a:p>
          <a:p>
            <a:pPr lvl="2"/>
            <a:r>
              <a:rPr lang="ko-KR" altLang="en-US" dirty="0"/>
              <a:t>위성들 간 충돌을 방지하기 위해 최소 거리 제한을 설정할 수 있음</a:t>
            </a:r>
            <a:endParaRPr lang="en-US" altLang="ko-KR" dirty="0"/>
          </a:p>
          <a:p>
            <a:pPr lvl="1"/>
            <a:r>
              <a:rPr lang="ko-KR" altLang="en-US" b="1" dirty="0"/>
              <a:t>커버리지 제한조건 </a:t>
            </a:r>
            <a:r>
              <a:rPr lang="en-US" altLang="ko-KR" dirty="0"/>
              <a:t>: </a:t>
            </a:r>
            <a:r>
              <a:rPr lang="ko-KR" altLang="en-US" dirty="0"/>
              <a:t>위성군의 목표에 따라 커버리지 제한조건 고려</a:t>
            </a:r>
            <a:endParaRPr lang="en-US" altLang="ko-KR" dirty="0"/>
          </a:p>
          <a:p>
            <a:pPr lvl="2"/>
            <a:r>
              <a:rPr lang="ko-KR" altLang="en-US" dirty="0"/>
              <a:t>지리적 영역 내에서 특정 지점을 커버하기 위해 위성의 커버리지 반경 설정</a:t>
            </a:r>
            <a:r>
              <a:rPr lang="en-US" altLang="ko-KR" dirty="0"/>
              <a:t> </a:t>
            </a:r>
          </a:p>
          <a:p>
            <a:pPr lvl="2"/>
            <a:r>
              <a:rPr lang="ko-KR" altLang="en-US" dirty="0"/>
              <a:t>커버되어야 하는 지점들에 대해 신호 강도 등의 제한조건을 추가</a:t>
            </a:r>
            <a:endParaRPr lang="en-US" altLang="ko-KR" dirty="0"/>
          </a:p>
          <a:p>
            <a:pPr lvl="1"/>
            <a:r>
              <a:rPr lang="ko-KR" altLang="en-US" b="1" dirty="0"/>
              <a:t>리소스 제한조건 </a:t>
            </a:r>
            <a:r>
              <a:rPr lang="en-US" altLang="ko-KR" dirty="0"/>
              <a:t>: </a:t>
            </a:r>
            <a:r>
              <a:rPr lang="ko-KR" altLang="en-US" dirty="0"/>
              <a:t>위성이 갖고 있는 주파수 대역 및 전력 등의 제한조건 고려</a:t>
            </a:r>
            <a:endParaRPr lang="en-US" altLang="ko-KR" dirty="0"/>
          </a:p>
          <a:p>
            <a:pPr lvl="2"/>
            <a:r>
              <a:rPr lang="ko-KR" altLang="en-US" dirty="0"/>
              <a:t>서로 다른 위성이 같은 주파수를 사용하지 않도록 함</a:t>
            </a:r>
            <a:endParaRPr lang="en-US" altLang="ko-KR" dirty="0"/>
          </a:p>
          <a:p>
            <a:pPr lvl="2"/>
            <a:r>
              <a:rPr lang="ko-KR" altLang="en-US" dirty="0"/>
              <a:t>전력 소비 제한조건을 추가하여 전력 예산을 절약</a:t>
            </a:r>
            <a:endParaRPr lang="en-US" altLang="ko-KR" dirty="0"/>
          </a:p>
          <a:p>
            <a:pPr lvl="1"/>
            <a:r>
              <a:rPr lang="ko-KR" altLang="en-US" b="1" dirty="0"/>
              <a:t>지형 제한조건 </a:t>
            </a:r>
            <a:r>
              <a:rPr lang="en-US" altLang="ko-KR" dirty="0"/>
              <a:t>: </a:t>
            </a:r>
            <a:r>
              <a:rPr lang="ko-KR" altLang="en-US" dirty="0"/>
              <a:t>위성의 특정 영역에 접근하지 못하도록 제한조건 고려</a:t>
            </a:r>
            <a:endParaRPr lang="en-US" altLang="ko-KR" dirty="0"/>
          </a:p>
          <a:p>
            <a:pPr lvl="2"/>
            <a:r>
              <a:rPr lang="ko-KR" altLang="en-US" dirty="0"/>
              <a:t>지구의 지형을 고려하여 특정 궤도 경로를 피할 수 있음</a:t>
            </a:r>
            <a:endParaRPr lang="en-US" altLang="ko-KR" dirty="0"/>
          </a:p>
          <a:p>
            <a:pPr lvl="1"/>
            <a:r>
              <a:rPr lang="ko-KR" altLang="en-US" b="1" dirty="0"/>
              <a:t>운용 제한조건 </a:t>
            </a:r>
            <a:r>
              <a:rPr lang="en-US" altLang="ko-KR" dirty="0"/>
              <a:t>: </a:t>
            </a:r>
            <a:r>
              <a:rPr lang="ko-KR" altLang="en-US" dirty="0"/>
              <a:t>위성 운용에 관련된 제한 조건 고려</a:t>
            </a:r>
            <a:endParaRPr lang="en-US" altLang="ko-KR" dirty="0"/>
          </a:p>
          <a:p>
            <a:pPr lvl="2"/>
            <a:r>
              <a:rPr lang="ko-KR" altLang="en-US" dirty="0"/>
              <a:t>작동 시간 또는 작업 간 우선순위 제한을 설정할 수 있음</a:t>
            </a:r>
            <a:endParaRPr lang="en-US" altLang="ko-KR" dirty="0"/>
          </a:p>
          <a:p>
            <a:pPr lvl="1"/>
            <a:r>
              <a:rPr lang="ko-KR" altLang="en-US" b="1" dirty="0"/>
              <a:t>배치 제한조건 </a:t>
            </a:r>
            <a:r>
              <a:rPr lang="en-US" altLang="ko-KR" dirty="0"/>
              <a:t>: </a:t>
            </a:r>
            <a:r>
              <a:rPr lang="ko-KR" altLang="en-US" dirty="0"/>
              <a:t>위성의 배치 위치에 관련된 제한조건 고려</a:t>
            </a:r>
            <a:endParaRPr lang="en-US" altLang="ko-KR" dirty="0"/>
          </a:p>
          <a:p>
            <a:pPr lvl="2"/>
            <a:r>
              <a:rPr lang="ko-KR" altLang="en-US" dirty="0"/>
              <a:t>지구의 특정 영역에 위성을 배치해야 하는 경우</a:t>
            </a:r>
            <a:endParaRPr lang="en-US" altLang="ko-KR" dirty="0"/>
          </a:p>
          <a:p>
            <a:pPr lvl="2"/>
            <a:r>
              <a:rPr lang="ko-KR" altLang="en-US" dirty="0"/>
              <a:t>위성들 사이의 상대적인 위치 및 각도 등</a:t>
            </a: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641319140"/>
      </p:ext>
    </p:ext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MILP</a:t>
            </a:r>
            <a:r>
              <a:rPr lang="ko-KR" altLang="en-US" dirty="0"/>
              <a:t> </a:t>
            </a:r>
            <a:r>
              <a:rPr lang="en-US" altLang="ko-KR" dirty="0"/>
              <a:t>Solver</a:t>
            </a:r>
            <a:endParaRPr lang="ko-KR" altLang="en-US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8595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내용 개체 틀 50">
            <a:extLst>
              <a:ext uri="{FF2B5EF4-FFF2-40B4-BE49-F238E27FC236}">
                <a16:creationId xmlns:a16="http://schemas.microsoft.com/office/drawing/2014/main" id="{0DA17CD2-C9CD-BFBF-1B18-7805CD6ED8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MILP(BILP) Solver</a:t>
            </a:r>
            <a:endParaRPr lang="ko-KR" altLang="en-US" dirty="0"/>
          </a:p>
        </p:txBody>
      </p:sp>
      <p:sp>
        <p:nvSpPr>
          <p:cNvPr id="36" name="직사각형 35">
            <a:extLst>
              <a:ext uri="{FF2B5EF4-FFF2-40B4-BE49-F238E27FC236}">
                <a16:creationId xmlns:a16="http://schemas.microsoft.com/office/drawing/2014/main" id="{ACCE188E-0875-13C5-11CD-B12092CC946E}"/>
              </a:ext>
            </a:extLst>
          </p:cNvPr>
          <p:cNvSpPr/>
          <p:nvPr/>
        </p:nvSpPr>
        <p:spPr bwMode="auto">
          <a:xfrm>
            <a:off x="257081" y="6383020"/>
            <a:ext cx="3390245" cy="341809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11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Integer</a:t>
            </a:r>
            <a:r>
              <a:rPr lang="ko-KR" altLang="en-US" dirty="0"/>
              <a:t> </a:t>
            </a:r>
            <a:r>
              <a:rPr lang="en-US" altLang="ko-KR" dirty="0"/>
              <a:t>Programming using </a:t>
            </a:r>
            <a:r>
              <a:rPr lang="en-US" altLang="ko-KR" dirty="0" err="1"/>
              <a:t>Matlab</a:t>
            </a:r>
            <a:endParaRPr lang="ko-KR" altLang="en-US" dirty="0"/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3E7BD700-F897-3371-58E5-D7F6F67F3887}"/>
              </a:ext>
            </a:extLst>
          </p:cNvPr>
          <p:cNvSpPr/>
          <p:nvPr/>
        </p:nvSpPr>
        <p:spPr bwMode="auto">
          <a:xfrm>
            <a:off x="5085282" y="4092170"/>
            <a:ext cx="194539" cy="1924756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sp>
        <p:nvSpPr>
          <p:cNvPr id="40" name="직사각형 39">
            <a:extLst>
              <a:ext uri="{FF2B5EF4-FFF2-40B4-BE49-F238E27FC236}">
                <a16:creationId xmlns:a16="http://schemas.microsoft.com/office/drawing/2014/main" id="{865298B1-7D48-53CA-99A2-6541907C928B}"/>
              </a:ext>
            </a:extLst>
          </p:cNvPr>
          <p:cNvSpPr/>
          <p:nvPr/>
        </p:nvSpPr>
        <p:spPr bwMode="auto">
          <a:xfrm>
            <a:off x="6609983" y="1177312"/>
            <a:ext cx="540834" cy="341809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pic>
        <p:nvPicPr>
          <p:cNvPr id="42" name="그림 41">
            <a:extLst>
              <a:ext uri="{FF2B5EF4-FFF2-40B4-BE49-F238E27FC236}">
                <a16:creationId xmlns:a16="http://schemas.microsoft.com/office/drawing/2014/main" id="{F70F851D-0A9D-4F42-3276-336DE412BE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8448" y="1461432"/>
            <a:ext cx="5710718" cy="4555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8704502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12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Integer</a:t>
            </a:r>
            <a:r>
              <a:rPr lang="ko-KR" altLang="en-US" dirty="0"/>
              <a:t> </a:t>
            </a:r>
            <a:r>
              <a:rPr lang="en-US" altLang="ko-KR" dirty="0"/>
              <a:t>Programming using </a:t>
            </a:r>
            <a:r>
              <a:rPr lang="en-US" altLang="ko-KR" dirty="0" err="1"/>
              <a:t>Matlab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A33FD4D-E8EB-E5CA-49D5-D206DAC5F9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1" y="928686"/>
                <a:ext cx="8712257" cy="5376968"/>
              </a:xfrm>
            </p:spPr>
            <p:txBody>
              <a:bodyPr>
                <a:normAutofit/>
              </a:bodyPr>
              <a:lstStyle/>
              <a:p>
                <a:r>
                  <a:rPr lang="en-US" altLang="ko-KR" dirty="0"/>
                  <a:t>Matlab code(MILP)</a:t>
                </a:r>
              </a:p>
              <a:p>
                <a:pPr lvl="1"/>
                <a:r>
                  <a:rPr lang="en-US" altLang="ko-KR" dirty="0"/>
                  <a:t>Ex.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a:rPr lang="en-US" altLang="ko-KR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b>
                      <m:sSubPr>
                        <m:ctrlPr>
                          <a:rPr lang="pt-BR" altLang="ko-KR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b="0" dirty="0">
                    <a:solidFill>
                      <a:srgbClr val="FF0000"/>
                    </a:solidFill>
                  </a:rPr>
                  <a:t> +</a:t>
                </a:r>
                <a14:m>
                  <m:oMath xmlns:m="http://schemas.openxmlformats.org/officeDocument/2006/math">
                    <m:r>
                      <a:rPr lang="en-US" altLang="ko-KR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b>
                      <m:sSubPr>
                        <m:ctrlPr>
                          <a:rPr lang="pt-BR" altLang="ko-KR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altLang="ko-KR" b="0" dirty="0"/>
              </a:p>
              <a:p>
                <a:pPr lvl="2"/>
                <a:endParaRPr lang="en-US" altLang="ko-KR" dirty="0"/>
              </a:p>
            </p:txBody>
          </p:sp>
        </mc:Choice>
        <mc:Fallback xmlns="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A33FD4D-E8EB-E5CA-49D5-D206DAC5F9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1" y="928686"/>
                <a:ext cx="8712257" cy="5376968"/>
              </a:xfrm>
              <a:blipFill>
                <a:blip r:embed="rId3"/>
                <a:stretch>
                  <a:fillRect l="-910" t="-90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그림 8">
            <a:extLst>
              <a:ext uri="{FF2B5EF4-FFF2-40B4-BE49-F238E27FC236}">
                <a16:creationId xmlns:a16="http://schemas.microsoft.com/office/drawing/2014/main" id="{C74EA407-6AB5-4F33-38C4-04B4E7B540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057" y="1895456"/>
            <a:ext cx="6061273" cy="3705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2517819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13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Integer</a:t>
            </a:r>
            <a:r>
              <a:rPr lang="ko-KR" altLang="en-US" dirty="0"/>
              <a:t> </a:t>
            </a:r>
            <a:r>
              <a:rPr lang="en-US" altLang="ko-KR" dirty="0"/>
              <a:t>Programming using </a:t>
            </a:r>
            <a:r>
              <a:rPr lang="en-US" altLang="ko-KR" dirty="0" err="1"/>
              <a:t>Matlab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A33FD4D-E8EB-E5CA-49D5-D206DAC5F9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1" y="928686"/>
                <a:ext cx="8712257" cy="5376968"/>
              </a:xfrm>
            </p:spPr>
            <p:txBody>
              <a:bodyPr>
                <a:normAutofit/>
              </a:bodyPr>
              <a:lstStyle/>
              <a:p>
                <a:r>
                  <a:rPr lang="en-US" altLang="ko-KR" dirty="0"/>
                  <a:t>Matlab code(MILP)</a:t>
                </a:r>
              </a:p>
              <a:p>
                <a:pPr lvl="1"/>
                <a:r>
                  <a:rPr lang="en-US" altLang="ko-KR" dirty="0"/>
                  <a:t>Ex.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a:rPr lang="en-US" altLang="ko-KR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b>
                      <m:sSubPr>
                        <m:ctrlPr>
                          <a:rPr lang="pt-BR" altLang="ko-KR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b="0" dirty="0">
                    <a:solidFill>
                      <a:srgbClr val="FF0000"/>
                    </a:solidFill>
                  </a:rPr>
                  <a:t> +</a:t>
                </a:r>
                <a14:m>
                  <m:oMath xmlns:m="http://schemas.openxmlformats.org/officeDocument/2006/math">
                    <m:r>
                      <a:rPr lang="en-US" altLang="ko-KR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b>
                      <m:sSubPr>
                        <m:ctrlPr>
                          <a:rPr lang="pt-BR" altLang="ko-KR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altLang="ko-KR" b="0" dirty="0"/>
              </a:p>
              <a:p>
                <a:pPr lvl="2"/>
                <a:endParaRPr lang="en-US" altLang="ko-KR" dirty="0"/>
              </a:p>
            </p:txBody>
          </p:sp>
        </mc:Choice>
        <mc:Fallback xmlns="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A33FD4D-E8EB-E5CA-49D5-D206DAC5F9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1" y="928686"/>
                <a:ext cx="8712257" cy="5376968"/>
              </a:xfrm>
              <a:blipFill>
                <a:blip r:embed="rId3"/>
                <a:stretch>
                  <a:fillRect l="-910" t="-90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그림 8">
            <a:extLst>
              <a:ext uri="{FF2B5EF4-FFF2-40B4-BE49-F238E27FC236}">
                <a16:creationId xmlns:a16="http://schemas.microsoft.com/office/drawing/2014/main" id="{C74EA407-6AB5-4F33-38C4-04B4E7B5409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057" y="1895456"/>
            <a:ext cx="6061273" cy="3705085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FD6358EA-C589-58E5-BA43-2F6910FE97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14687" y="2054832"/>
            <a:ext cx="4679068" cy="2090790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BCAB9A03-AD53-5B45-687F-2A1AE2751C12}"/>
              </a:ext>
            </a:extLst>
          </p:cNvPr>
          <p:cNvSpPr/>
          <p:nvPr/>
        </p:nvSpPr>
        <p:spPr bwMode="auto">
          <a:xfrm>
            <a:off x="3814687" y="2157571"/>
            <a:ext cx="901151" cy="133565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5F4B417A-E2FE-5F59-7712-E3D028217B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24966" y="4539706"/>
            <a:ext cx="3890387" cy="732062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6254001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14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Integer</a:t>
            </a:r>
            <a:r>
              <a:rPr lang="ko-KR" altLang="en-US" dirty="0"/>
              <a:t> </a:t>
            </a:r>
            <a:r>
              <a:rPr lang="en-US" altLang="ko-KR" dirty="0"/>
              <a:t>Programming using </a:t>
            </a:r>
            <a:r>
              <a:rPr lang="en-US" altLang="ko-KR" dirty="0" err="1"/>
              <a:t>Matlab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A33FD4D-E8EB-E5CA-49D5-D206DAC5F91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7081" y="928686"/>
                <a:ext cx="8712257" cy="5376968"/>
              </a:xfrm>
            </p:spPr>
            <p:txBody>
              <a:bodyPr>
                <a:normAutofit/>
              </a:bodyPr>
              <a:lstStyle/>
              <a:p>
                <a:r>
                  <a:rPr lang="en-US" altLang="ko-KR" dirty="0"/>
                  <a:t>Matlab code(MILP)</a:t>
                </a:r>
              </a:p>
              <a:p>
                <a:pPr lvl="1"/>
                <a:r>
                  <a:rPr lang="en-US" altLang="ko-KR" dirty="0"/>
                  <a:t>Ex.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Z</m:t>
                    </m:r>
                    <m:r>
                      <a:rPr lang="en-US" altLang="ko-KR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0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b>
                      <m:sSubPr>
                        <m:ctrlPr>
                          <a:rPr lang="pt-BR" altLang="ko-KR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altLang="ko-KR" b="0" dirty="0">
                    <a:solidFill>
                      <a:srgbClr val="FF0000"/>
                    </a:solidFill>
                  </a:rPr>
                  <a:t> +</a:t>
                </a:r>
                <a14:m>
                  <m:oMath xmlns:m="http://schemas.openxmlformats.org/officeDocument/2006/math">
                    <m:r>
                      <a:rPr lang="en-US" altLang="ko-KR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ko-KR" i="1" dirty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b>
                      <m:sSubPr>
                        <m:ctrlPr>
                          <a:rPr lang="pt-BR" altLang="ko-KR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</m:oMath>
                </a14:m>
                <a:endParaRPr lang="en-US" altLang="ko-KR" b="0" dirty="0"/>
              </a:p>
              <a:p>
                <a:pPr lvl="2"/>
                <a:endParaRPr lang="en-US" altLang="ko-KR" dirty="0"/>
              </a:p>
            </p:txBody>
          </p:sp>
        </mc:Choice>
        <mc:Fallback xmlns="">
          <p:sp>
            <p:nvSpPr>
              <p:cNvPr id="6" name="내용 개체 틀 1">
                <a:extLst>
                  <a:ext uri="{FF2B5EF4-FFF2-40B4-BE49-F238E27FC236}">
                    <a16:creationId xmlns:a16="http://schemas.microsoft.com/office/drawing/2014/main" id="{AA33FD4D-E8EB-E5CA-49D5-D206DAC5F91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7081" y="928686"/>
                <a:ext cx="8712257" cy="5376968"/>
              </a:xfrm>
              <a:blipFill>
                <a:blip r:embed="rId3"/>
                <a:stretch>
                  <a:fillRect l="-910" t="-90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4" name="그림 13">
            <a:extLst>
              <a:ext uri="{FF2B5EF4-FFF2-40B4-BE49-F238E27FC236}">
                <a16:creationId xmlns:a16="http://schemas.microsoft.com/office/drawing/2014/main" id="{40D3ACF1-9842-0F76-69F4-7D328399EF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90290" y="978853"/>
            <a:ext cx="5204204" cy="5667838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BD44855C-F50B-0FBE-CDAF-95CF045091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9735" y="5495842"/>
            <a:ext cx="3054477" cy="74298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8F457DDC-A9B9-5B75-FB44-EC4C116D92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434" y="1915712"/>
            <a:ext cx="3493856" cy="2251123"/>
          </a:xfrm>
          <a:prstGeom prst="rect">
            <a:avLst/>
          </a:prstGeom>
        </p:spPr>
      </p:pic>
      <p:sp>
        <p:nvSpPr>
          <p:cNvPr id="18" name="곱하기 기호 17">
            <a:extLst>
              <a:ext uri="{FF2B5EF4-FFF2-40B4-BE49-F238E27FC236}">
                <a16:creationId xmlns:a16="http://schemas.microsoft.com/office/drawing/2014/main" id="{5ABD271B-F297-CEFF-3AE8-6CA50BCDDD1E}"/>
              </a:ext>
            </a:extLst>
          </p:cNvPr>
          <p:cNvSpPr/>
          <p:nvPr/>
        </p:nvSpPr>
        <p:spPr bwMode="auto">
          <a:xfrm>
            <a:off x="2145649" y="3244719"/>
            <a:ext cx="688368" cy="431514"/>
          </a:xfrm>
          <a:prstGeom prst="mathMultiply">
            <a:avLst/>
          </a:prstGeom>
          <a:solidFill>
            <a:srgbClr val="FF0000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l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3411327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15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Integer</a:t>
            </a:r>
            <a:r>
              <a:rPr lang="ko-KR" altLang="en-US" dirty="0"/>
              <a:t> </a:t>
            </a:r>
            <a:r>
              <a:rPr lang="en-US" altLang="ko-KR" dirty="0"/>
              <a:t>Programming using </a:t>
            </a:r>
            <a:r>
              <a:rPr lang="en-US" altLang="ko-KR" dirty="0" err="1"/>
              <a:t>Matlab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1" y="928686"/>
            <a:ext cx="8712257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현재 연구 진행 상황</a:t>
            </a:r>
            <a:endParaRPr lang="en-US" altLang="ko-KR" dirty="0"/>
          </a:p>
          <a:p>
            <a:pPr lvl="1"/>
            <a:r>
              <a:rPr lang="en-US" altLang="ko-KR" dirty="0"/>
              <a:t>Julia</a:t>
            </a:r>
            <a:r>
              <a:rPr lang="ko-KR" altLang="en-US" dirty="0"/>
              <a:t> </a:t>
            </a:r>
            <a:r>
              <a:rPr lang="en-US" altLang="ko-KR" dirty="0"/>
              <a:t>code</a:t>
            </a:r>
            <a:r>
              <a:rPr lang="ko-KR" altLang="en-US" dirty="0"/>
              <a:t> → </a:t>
            </a:r>
            <a:r>
              <a:rPr lang="en-US" altLang="ko-KR" dirty="0" err="1"/>
              <a:t>Matlab</a:t>
            </a:r>
            <a:r>
              <a:rPr lang="en-US" altLang="ko-KR" dirty="0"/>
              <a:t> code</a:t>
            </a:r>
          </a:p>
          <a:p>
            <a:pPr lvl="2"/>
            <a:endParaRPr lang="en-US" altLang="ko-KR" b="0" dirty="0"/>
          </a:p>
          <a:p>
            <a:pPr lvl="3"/>
            <a:endParaRPr lang="en-US" altLang="ko-KR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A5B1C97-450D-E1A5-9937-5A5BCBB510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146" y="1872224"/>
            <a:ext cx="8620125" cy="3790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948130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16</a:t>
            </a:fld>
            <a:endParaRPr lang="en-US" altLang="en-US" dirty="0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MILP </a:t>
            </a:r>
            <a:r>
              <a:rPr lang="ko-KR" altLang="en-US" dirty="0"/>
              <a:t>설계기법 참고 문헌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dirty="0"/>
              <a:t>논문</a:t>
            </a:r>
            <a:endParaRPr lang="en-US" altLang="ko-KR" dirty="0"/>
          </a:p>
          <a:p>
            <a:pPr lvl="1">
              <a:defRPr/>
            </a:pPr>
            <a:r>
              <a:rPr lang="en-US" altLang="ko-KR" b="0" i="0" dirty="0" err="1">
                <a:solidFill>
                  <a:srgbClr val="1F2328"/>
                </a:solidFill>
                <a:effectLst/>
                <a:latin typeface="-apple-system"/>
              </a:rPr>
              <a:t>Mencarelli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-apple-system"/>
              </a:rPr>
              <a:t>, L., </a:t>
            </a:r>
            <a:r>
              <a:rPr lang="en-US" altLang="ko-KR" b="0" i="0" dirty="0" err="1">
                <a:solidFill>
                  <a:srgbClr val="1F2328"/>
                </a:solidFill>
                <a:effectLst/>
                <a:latin typeface="-apple-system"/>
              </a:rPr>
              <a:t>Floquet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-apple-system"/>
              </a:rPr>
              <a:t>, J., Georges, F. et al. Mixed integer (non)linear approaches for the satellite constellation design problem. </a:t>
            </a:r>
            <a:r>
              <a:rPr lang="en-US" altLang="ko-KR" b="0" i="0" dirty="0" err="1">
                <a:solidFill>
                  <a:srgbClr val="1F2328"/>
                </a:solidFill>
                <a:effectLst/>
                <a:latin typeface="-apple-system"/>
              </a:rPr>
              <a:t>Optim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-apple-system"/>
              </a:rPr>
              <a:t> Eng (2022).</a:t>
            </a:r>
          </a:p>
          <a:p>
            <a:pPr>
              <a:defRPr/>
            </a:pP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연구 목표</a:t>
            </a:r>
            <a:endParaRPr lang="en-US" altLang="ko-KR" dirty="0">
              <a:solidFill>
                <a:srgbClr val="1F2328"/>
              </a:solidFill>
              <a:latin typeface="-apple-system"/>
            </a:endParaRPr>
          </a:p>
          <a:p>
            <a:pPr lvl="1">
              <a:defRPr/>
            </a:pP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지구의 서로 다른 지역을 주기적으로 감시하는 데 필요한 위성의 수를 최소화하기 위한 새로운 분석 방법</a:t>
            </a:r>
            <a:r>
              <a:rPr lang="en-US" altLang="ko-KR" dirty="0">
                <a:solidFill>
                  <a:srgbClr val="1F2328"/>
                </a:solidFill>
                <a:latin typeface="-apple-system"/>
              </a:rPr>
              <a:t>(MILP)</a:t>
            </a: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을 탐구</a:t>
            </a:r>
            <a:endParaRPr lang="en-US" altLang="ko-KR" dirty="0">
              <a:solidFill>
                <a:srgbClr val="1F2328"/>
              </a:solidFill>
              <a:latin typeface="-apple-system"/>
            </a:endParaRPr>
          </a:p>
          <a:p>
            <a:pPr>
              <a:defRPr/>
            </a:pP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연구 방법</a:t>
            </a:r>
            <a:endParaRPr lang="en-US" altLang="ko-KR" dirty="0">
              <a:solidFill>
                <a:srgbClr val="1F2328"/>
              </a:solidFill>
              <a:latin typeface="-apple-system"/>
            </a:endParaRPr>
          </a:p>
          <a:p>
            <a:pPr lvl="1">
              <a:defRPr/>
            </a:pPr>
            <a:r>
              <a:rPr lang="en-US" altLang="ko-KR" b="0" i="0" dirty="0">
                <a:solidFill>
                  <a:srgbClr val="1F2328"/>
                </a:solidFill>
                <a:effectLst/>
                <a:latin typeface="-apple-system"/>
              </a:rPr>
              <a:t>Julia code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를 사용하여</a:t>
            </a:r>
            <a:r>
              <a:rPr lang="en-US" altLang="ko-KR" b="0" i="0" dirty="0">
                <a:solidFill>
                  <a:srgbClr val="1F2328"/>
                </a:solidFill>
                <a:effectLst/>
                <a:latin typeface="-apple-system"/>
              </a:rPr>
              <a:t>,</a:t>
            </a:r>
            <a:r>
              <a:rPr lang="ko-KR" altLang="en-US" b="0" i="0" dirty="0">
                <a:solidFill>
                  <a:srgbClr val="1F2328"/>
                </a:solidFill>
                <a:effectLst/>
                <a:latin typeface="-apple-system"/>
              </a:rPr>
              <a:t> 각 지역에 대해 재방문 시간을 해당 지점을 적어도 한 번 관찰해야 하는 시간 간격의 길이로 설정</a:t>
            </a: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lvl="1">
              <a:defRPr/>
            </a:pPr>
            <a:r>
              <a:rPr lang="en-US" altLang="ko-KR" b="0" i="0" dirty="0">
                <a:solidFill>
                  <a:srgbClr val="1F2328"/>
                </a:solidFill>
                <a:effectLst/>
                <a:latin typeface="-apple-system"/>
              </a:rPr>
              <a:t>Ex) </a:t>
            </a: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재방문 시간 </a:t>
            </a:r>
            <a:r>
              <a:rPr lang="en-US" altLang="ko-KR" dirty="0">
                <a:solidFill>
                  <a:srgbClr val="1F2328"/>
                </a:solidFill>
                <a:latin typeface="-apple-system"/>
              </a:rPr>
              <a:t>:</a:t>
            </a: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 </a:t>
            </a:r>
            <a:r>
              <a:rPr lang="en-US" altLang="ko-KR" dirty="0">
                <a:solidFill>
                  <a:srgbClr val="1F2328"/>
                </a:solidFill>
                <a:latin typeface="-apple-system"/>
              </a:rPr>
              <a:t>8</a:t>
            </a: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시간 </a:t>
            </a:r>
            <a:r>
              <a:rPr lang="ko-KR" altLang="en-US" dirty="0"/>
              <a:t>→ </a:t>
            </a: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위성군은 </a:t>
            </a:r>
            <a:r>
              <a:rPr lang="en-US" altLang="ko-KR" dirty="0">
                <a:solidFill>
                  <a:srgbClr val="1F2328"/>
                </a:solidFill>
                <a:latin typeface="-apple-system"/>
              </a:rPr>
              <a:t>8</a:t>
            </a:r>
            <a:r>
              <a:rPr lang="ko-KR" altLang="en-US" dirty="0">
                <a:solidFill>
                  <a:srgbClr val="1F2328"/>
                </a:solidFill>
                <a:latin typeface="-apple-system"/>
              </a:rPr>
              <a:t>시간 간격마다 최소 한 번씩 관찰해야 함</a:t>
            </a: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lvl="1">
              <a:defRPr/>
            </a:pPr>
            <a:endParaRPr lang="en-US" altLang="ko-KR" b="0" i="0" dirty="0">
              <a:solidFill>
                <a:srgbClr val="1F2328"/>
              </a:solidFill>
              <a:effectLst/>
              <a:latin typeface="-apple-system"/>
            </a:endParaRPr>
          </a:p>
          <a:p>
            <a:pPr marL="396000" lvl="2" indent="0">
              <a:buNone/>
              <a:defRPr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25388808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17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Integer</a:t>
            </a:r>
            <a:r>
              <a:rPr lang="ko-KR" altLang="en-US" dirty="0"/>
              <a:t> </a:t>
            </a:r>
            <a:r>
              <a:rPr lang="en-US" altLang="ko-KR" dirty="0"/>
              <a:t>Programming using </a:t>
            </a:r>
            <a:r>
              <a:rPr lang="en-US" altLang="ko-KR" dirty="0" err="1"/>
              <a:t>Matlab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1" y="928686"/>
            <a:ext cx="8712257" cy="5376968"/>
          </a:xfrm>
        </p:spPr>
        <p:txBody>
          <a:bodyPr>
            <a:normAutofit/>
          </a:bodyPr>
          <a:lstStyle/>
          <a:p>
            <a:r>
              <a:rPr lang="ko-KR" altLang="en-US" dirty="0"/>
              <a:t>현재 연구 진행 상황</a:t>
            </a:r>
            <a:endParaRPr lang="en-US" altLang="ko-KR" dirty="0"/>
          </a:p>
          <a:p>
            <a:pPr lvl="1"/>
            <a:r>
              <a:rPr lang="en-US" altLang="ko-KR" dirty="0"/>
              <a:t>Julia</a:t>
            </a:r>
            <a:r>
              <a:rPr lang="ko-KR" altLang="en-US" dirty="0"/>
              <a:t> </a:t>
            </a:r>
            <a:r>
              <a:rPr lang="en-US" altLang="ko-KR" dirty="0"/>
              <a:t>code</a:t>
            </a:r>
            <a:r>
              <a:rPr lang="ko-KR" altLang="en-US" dirty="0"/>
              <a:t> → </a:t>
            </a:r>
            <a:r>
              <a:rPr lang="en-US" altLang="ko-KR" dirty="0" err="1"/>
              <a:t>Matlab</a:t>
            </a:r>
            <a:r>
              <a:rPr lang="en-US" altLang="ko-KR" dirty="0"/>
              <a:t> code</a:t>
            </a:r>
          </a:p>
          <a:p>
            <a:pPr lvl="2"/>
            <a:endParaRPr lang="en-US" altLang="ko-KR" b="0" dirty="0"/>
          </a:p>
          <a:p>
            <a:pPr lvl="3"/>
            <a:endParaRPr lang="en-US" altLang="ko-KR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EC5F9F55-528E-5800-73E4-4B69A8E8A7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32860"/>
            <a:ext cx="9144000" cy="4854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2512614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18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dirty="0"/>
              <a:t>Integer</a:t>
            </a:r>
            <a:r>
              <a:rPr lang="ko-KR" altLang="en-US" dirty="0"/>
              <a:t> </a:t>
            </a:r>
            <a:r>
              <a:rPr lang="en-US" altLang="ko-KR" dirty="0"/>
              <a:t>Programming using </a:t>
            </a:r>
            <a:r>
              <a:rPr lang="en-US" altLang="ko-KR" dirty="0" err="1"/>
              <a:t>Matlab</a:t>
            </a:r>
            <a:endParaRPr lang="ko-KR" altLang="en-US" dirty="0"/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1" y="928686"/>
            <a:ext cx="8712257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Matlab code(MILP)</a:t>
            </a:r>
          </a:p>
          <a:p>
            <a:pPr lvl="2"/>
            <a:endParaRPr lang="en-US" altLang="ko-KR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BF1AE10-391A-9CE9-CC42-4304D57F50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662" y="1449642"/>
            <a:ext cx="5189700" cy="5238145"/>
          </a:xfrm>
          <a:prstGeom prst="rect">
            <a:avLst/>
          </a:prstGeom>
          <a:ln>
            <a:solidFill>
              <a:srgbClr val="000A1E"/>
            </a:solidFill>
          </a:ln>
        </p:spPr>
      </p:pic>
    </p:spTree>
    <p:extLst>
      <p:ext uri="{BB962C8B-B14F-4D97-AF65-F5344CB8AC3E}">
        <p14:creationId xmlns:p14="http://schemas.microsoft.com/office/powerpoint/2010/main" val="3243417706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latinLnBrk="1"/>
            <a:r>
              <a:rPr lang="en-US" altLang="ko-KR" sz="4000" b="1" dirty="0">
                <a:solidFill>
                  <a:schemeClr val="tx1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Summary</a:t>
            </a:r>
            <a:endParaRPr lang="ko-KR" altLang="en-US" sz="4000" b="1" dirty="0">
              <a:solidFill>
                <a:schemeClr val="tx1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34375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번호 개체 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397DD3AE-C24E-49FC-B527-05061A0348E6}" type="slidenum">
              <a:rPr lang="en-US" altLang="en-US"/>
              <a:pPr lvl="0">
                <a:defRPr/>
              </a:pPr>
              <a:t>20</a:t>
            </a:fld>
            <a:endParaRPr lang="en-US" altLang="en-US"/>
          </a:p>
        </p:txBody>
      </p:sp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 dirty="0"/>
              <a:t>결론</a:t>
            </a:r>
          </a:p>
        </p:txBody>
      </p:sp>
      <p:sp>
        <p:nvSpPr>
          <p:cNvPr id="6" name="내용 개체 틀 1">
            <a:extLst>
              <a:ext uri="{FF2B5EF4-FFF2-40B4-BE49-F238E27FC236}">
                <a16:creationId xmlns:a16="http://schemas.microsoft.com/office/drawing/2014/main" id="{AA33FD4D-E8EB-E5CA-49D5-D206DAC5F9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82" y="928686"/>
            <a:ext cx="8629838" cy="5376968"/>
          </a:xfrm>
        </p:spPr>
        <p:txBody>
          <a:bodyPr>
            <a:normAutofit/>
          </a:bodyPr>
          <a:lstStyle/>
          <a:p>
            <a:r>
              <a:rPr lang="en-US" altLang="ko-KR" dirty="0"/>
              <a:t>Summary</a:t>
            </a:r>
          </a:p>
          <a:p>
            <a:pPr lvl="2"/>
            <a:r>
              <a:rPr lang="ko-KR" altLang="en-US" dirty="0"/>
              <a:t>여러가지</a:t>
            </a:r>
            <a:r>
              <a:rPr lang="en-US" altLang="ko-KR" dirty="0"/>
              <a:t> Linear Programming </a:t>
            </a:r>
            <a:r>
              <a:rPr lang="ko-KR" altLang="en-US" dirty="0"/>
              <a:t>방법 및 각각의 </a:t>
            </a:r>
            <a:r>
              <a:rPr lang="en-US" altLang="ko-KR" dirty="0"/>
              <a:t>Constraints</a:t>
            </a:r>
            <a:r>
              <a:rPr lang="ko-KR" altLang="en-US" dirty="0"/>
              <a:t>에 대한 소개</a:t>
            </a:r>
            <a:endParaRPr lang="en-US" altLang="ko-KR" dirty="0"/>
          </a:p>
          <a:p>
            <a:pPr lvl="2"/>
            <a:r>
              <a:rPr lang="en-US" altLang="ko-KR" dirty="0"/>
              <a:t>MILP(BILP) method</a:t>
            </a:r>
            <a:r>
              <a:rPr lang="ko-KR" altLang="en-US" dirty="0"/>
              <a:t>를 이용한 </a:t>
            </a:r>
            <a:r>
              <a:rPr lang="en-US" altLang="ko-KR" dirty="0"/>
              <a:t>Solver</a:t>
            </a:r>
            <a:r>
              <a:rPr lang="ko-KR" altLang="en-US" dirty="0"/>
              <a:t>를 </a:t>
            </a:r>
            <a:r>
              <a:rPr lang="en-US" altLang="ko-KR" dirty="0" err="1"/>
              <a:t>matlab</a:t>
            </a:r>
            <a:r>
              <a:rPr lang="ko-KR" altLang="en-US" dirty="0"/>
              <a:t>으로 구현 필요</a:t>
            </a:r>
            <a:endParaRPr lang="en-US" altLang="ko-KR" dirty="0"/>
          </a:p>
          <a:p>
            <a:pPr lvl="2"/>
            <a:r>
              <a:rPr lang="en-US" altLang="ko-KR" dirty="0"/>
              <a:t>Julia code</a:t>
            </a:r>
            <a:r>
              <a:rPr lang="ko-KR" altLang="en-US" dirty="0"/>
              <a:t>를 </a:t>
            </a:r>
            <a:r>
              <a:rPr lang="en-US" altLang="ko-KR" dirty="0" err="1"/>
              <a:t>Matlab</a:t>
            </a:r>
            <a:r>
              <a:rPr lang="en-US" altLang="ko-KR" dirty="0"/>
              <a:t> code</a:t>
            </a:r>
            <a:r>
              <a:rPr lang="ko-KR" altLang="en-US" dirty="0"/>
              <a:t>로 변환하는 과정에 있음</a:t>
            </a:r>
            <a:endParaRPr lang="en-US" altLang="ko-KR" dirty="0"/>
          </a:p>
          <a:p>
            <a:pPr lvl="1"/>
            <a:endParaRPr lang="en-US" altLang="ko-KR" sz="1800" b="1" dirty="0"/>
          </a:p>
          <a:p>
            <a:pPr lvl="1"/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marL="216000" lvl="1" indent="0">
              <a:buNone/>
            </a:pPr>
            <a:endParaRPr lang="en-US" altLang="ko-KR" b="1" dirty="0"/>
          </a:p>
          <a:p>
            <a:pPr lvl="1"/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242280629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>
            <a:extLst>
              <a:ext uri="{FF2B5EF4-FFF2-40B4-BE49-F238E27FC236}">
                <a16:creationId xmlns:a16="http://schemas.microsoft.com/office/drawing/2014/main" id="{B49133EF-F552-4618-8A24-449D405ACA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567740"/>
            <a:ext cx="9144000" cy="3180446"/>
          </a:xfrm>
        </p:spPr>
        <p:txBody>
          <a:bodyPr/>
          <a:lstStyle/>
          <a:p>
            <a:r>
              <a:rPr lang="ko-KR" altLang="en-US" dirty="0"/>
              <a:t>경청해 주셔서 감사합니다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2" name="부제목 1">
            <a:extLst>
              <a:ext uri="{FF2B5EF4-FFF2-40B4-BE49-F238E27FC236}">
                <a16:creationId xmlns:a16="http://schemas.microsoft.com/office/drawing/2014/main" id="{BC56ECCA-CBEB-4852-BDCB-4A64F14D9B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4757433"/>
            <a:ext cx="6858000" cy="1339783"/>
          </a:xfrm>
        </p:spPr>
        <p:txBody>
          <a:bodyPr/>
          <a:lstStyle/>
          <a:p>
            <a:r>
              <a:rPr lang="ko-KR" altLang="en-US" dirty="0"/>
              <a:t>발표자</a:t>
            </a:r>
            <a:r>
              <a:rPr lang="en-US" altLang="ko-KR" dirty="0"/>
              <a:t>: </a:t>
            </a:r>
            <a:r>
              <a:rPr lang="ko-KR" altLang="en-US" dirty="0"/>
              <a:t>이진진</a:t>
            </a:r>
            <a:endParaRPr lang="en-US" altLang="ko-KR" dirty="0"/>
          </a:p>
          <a:p>
            <a:r>
              <a:rPr lang="ko-KR" altLang="en-US" dirty="0"/>
              <a:t>이메일</a:t>
            </a:r>
            <a:r>
              <a:rPr lang="en-US" altLang="ko-KR" dirty="0"/>
              <a:t>: jj95lee@yonsei.acl.kr</a:t>
            </a:r>
            <a:endParaRPr lang="ko-KR" altLang="en-US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B2F92A04-5E08-4877-A7E9-FFBBA1547131}"/>
              </a:ext>
            </a:extLst>
          </p:cNvPr>
          <p:cNvSpPr/>
          <p:nvPr/>
        </p:nvSpPr>
        <p:spPr>
          <a:xfrm>
            <a:off x="0" y="3604912"/>
            <a:ext cx="914400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ko-KR" altLang="en-US" sz="32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times" panose="02020603050405020304" pitchFamily="18" charset="0"/>
                <a:cs typeface="times" panose="02020603050405020304" pitchFamily="18" charset="0"/>
              </a:rPr>
              <a:t>질의응답</a:t>
            </a:r>
          </a:p>
        </p:txBody>
      </p:sp>
    </p:spTree>
    <p:extLst>
      <p:ext uri="{BB962C8B-B14F-4D97-AF65-F5344CB8AC3E}">
        <p14:creationId xmlns:p14="http://schemas.microsoft.com/office/powerpoint/2010/main" val="394085482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solidFill>
          <a:srgbClr val="FFFFFF"/>
        </a:solidFill>
        <a:ln>
          <a:noFill/>
        </a:ln>
        <a:extLs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algn="l">
          <a:defRPr/>
        </a:defPPr>
      </a:lst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84681</TotalTime>
  <Words>1702</Words>
  <Application>Microsoft Office PowerPoint</Application>
  <PresentationFormat>화면 슬라이드 쇼(4:3)</PresentationFormat>
  <Paragraphs>261</Paragraphs>
  <Slides>22</Slides>
  <Notes>21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9" baseType="lpstr">
      <vt:lpstr>-apple-system</vt:lpstr>
      <vt:lpstr>times</vt:lpstr>
      <vt:lpstr>맑은 고딕</vt:lpstr>
      <vt:lpstr>Arial</vt:lpstr>
      <vt:lpstr>Cambria Math</vt:lpstr>
      <vt:lpstr>Wingdings</vt:lpstr>
      <vt:lpstr>Office 테마</vt:lpstr>
      <vt:lpstr>MILP method를 이용한 위성군 설계</vt:lpstr>
      <vt:lpstr>목차</vt:lpstr>
      <vt:lpstr>IP(Integer Programming)</vt:lpstr>
      <vt:lpstr>Integer Programming</vt:lpstr>
      <vt:lpstr>Integer Programming</vt:lpstr>
      <vt:lpstr>Integer Programming</vt:lpstr>
      <vt:lpstr>Integer Programming</vt:lpstr>
      <vt:lpstr>Integer Programming</vt:lpstr>
      <vt:lpstr>Integer Programming</vt:lpstr>
      <vt:lpstr>Integer Programming</vt:lpstr>
      <vt:lpstr>MILP Solver</vt:lpstr>
      <vt:lpstr>Integer Programming using Matlab</vt:lpstr>
      <vt:lpstr>Integer Programming using Matlab</vt:lpstr>
      <vt:lpstr>Integer Programming using Matlab</vt:lpstr>
      <vt:lpstr>Integer Programming using Matlab</vt:lpstr>
      <vt:lpstr>Integer Programming using Matlab</vt:lpstr>
      <vt:lpstr>MILP 설계기법 참고 문헌</vt:lpstr>
      <vt:lpstr>Integer Programming using Matlab</vt:lpstr>
      <vt:lpstr>Integer Programming using Matlab</vt:lpstr>
      <vt:lpstr>Summary</vt:lpstr>
      <vt:lpstr>결론</vt:lpstr>
      <vt:lpstr>경청해 주셔서 감사합니다.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KimGeuk-Nam</dc:creator>
  <cp:lastModifiedBy>이진진</cp:lastModifiedBy>
  <cp:revision>4541</cp:revision>
  <dcterms:created xsi:type="dcterms:W3CDTF">2018-01-29T02:45:56Z</dcterms:created>
  <dcterms:modified xsi:type="dcterms:W3CDTF">2023-08-23T05:51:46Z</dcterms:modified>
</cp:coreProperties>
</file>