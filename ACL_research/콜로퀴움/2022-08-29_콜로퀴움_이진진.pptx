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firstSlideNum="0" showSpecialPlsOnTitleSld="0">
  <p:sldMasterIdLst>
    <p:sldMasterId id="2147483688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1" name="김극남" initials="김" lastIdx="0" clrIdx="0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2069" autoAdjust="0"/>
    <p:restoredTop sz="86353" autoAdjust="0"/>
  </p:normalViewPr>
  <p:slideViewPr>
    <p:cSldViewPr snapToGrid="0">
      <p:cViewPr varScale="1">
        <p:scale>
          <a:sx n="100" d="100"/>
          <a:sy n="100" d="100"/>
        </p:scale>
        <p:origin x="2268" y="78"/>
      </p:cViewPr>
      <p:guideLst>
        <p:guide orient="horz" pos="2158"/>
        <p:guide pos="2878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38"/>
      </p:cViewPr>
    </p:cSldViewPr>
  </p:notes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slide" Target="slides/slide11.xml"  /><Relationship Id="rId15" Type="http://schemas.openxmlformats.org/officeDocument/2006/relationships/slide" Target="slides/slide12.xml"  /><Relationship Id="rId16" Type="http://schemas.openxmlformats.org/officeDocument/2006/relationships/slide" Target="slides/slide13.xml"  /><Relationship Id="rId17" Type="http://schemas.openxmlformats.org/officeDocument/2006/relationships/commentAuthors" Target="commentAuthors.xml"  /><Relationship Id="rId18" Type="http://schemas.openxmlformats.org/officeDocument/2006/relationships/presProps" Target="presProps.xml"  /><Relationship Id="rId19" Type="http://schemas.openxmlformats.org/officeDocument/2006/relationships/viewProps" Target="viewProps.xml"  /><Relationship Id="rId2" Type="http://schemas.openxmlformats.org/officeDocument/2006/relationships/notesMaster" Target="notesMasters/notesMaster1.xml"  /><Relationship Id="rId20" Type="http://schemas.openxmlformats.org/officeDocument/2006/relationships/theme" Target="theme/theme1.xml"  /><Relationship Id="rId21" Type="http://schemas.openxmlformats.org/officeDocument/2006/relationships/tableStyles" Target="tableStyles.xml"  /><Relationship Id="rId3" Type="http://schemas.openxmlformats.org/officeDocument/2006/relationships/handoutMaster" Target="handoutMasters/handoutMaster1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11E49D1F-15B2-4B9C-8076-11C3A082C32A}" type="datetime1">
              <a:rPr lang="ko-KR" altLang="en-US"/>
              <a:pPr lvl="0">
                <a:defRPr/>
              </a:pPr>
              <a:t>2022-08-29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D3A8452A-AED7-4144-8B8B-DADFF71C57C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66DDD8DE-5D7B-4A4B-9949-78C9C314FE9D}" type="datetime1">
              <a:rPr lang="ko-KR" altLang="en-US"/>
              <a:pPr lvl="0">
                <a:defRPr/>
              </a:pPr>
              <a:t>2022-08-29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D463564-01E7-4F87-AE00-59478FEE8A8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6.png"  /><Relationship Id="rId3" Type="http://schemas.openxmlformats.org/officeDocument/2006/relationships/image" Target="../media/image1.jpeg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6.png"  /><Relationship Id="rId3" Type="http://schemas.openxmlformats.org/officeDocument/2006/relationships/image" Target="../media/image1.jpeg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image" Target="../media/image1.jpeg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image" Target="../media/image1.jpeg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5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이진진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석사과정 </a:t>
            </a:r>
            <a:r>
              <a:rPr lang="en-US" altLang="ko-KR"/>
              <a:t>2</a:t>
            </a:r>
            <a:r>
              <a:rPr lang="ko-KR" altLang="en-US"/>
              <a:t>학기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2022-08-29</a:t>
            </a: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</a:t>
            </a:r>
            <a:r>
              <a:rPr lang="ko-KR" altLang="en-US"/>
              <a:t> 하계 콜로퀴움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 idx="0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4000" b="1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2</a:t>
            </a:r>
            <a:r>
              <a:rPr lang="ko-KR" altLang="en-US" sz="4000" b="1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종 위성군 </a:t>
            </a:r>
            <a:r>
              <a:rPr lang="en-US" altLang="ko-KR" sz="4000" b="1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OptiSAR</a:t>
            </a:r>
            <a:r>
              <a:rPr lang="ko-KR" altLang="en-US" sz="4000" b="1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ko-KR" altLang="en-US"/>
              <a:t>연구 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/>
              <a:t>레이다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원리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짧고 강한 펄스 전파 빔을 목표지역에 쏘아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반사파가 레이다 안테나로 돌아오는 시간을 측정하여 </a:t>
            </a:r>
            <a:r>
              <a:rPr lang="en-US" altLang="ko-KR"/>
              <a:t>2</a:t>
            </a:r>
            <a:r>
              <a:rPr lang="ko-KR" altLang="en-US"/>
              <a:t>차원 영상을 구성</a:t>
            </a:r>
            <a:endParaRPr lang="ko-KR" altLang="en-US"/>
          </a:p>
          <a:p>
            <a:pPr marL="777150" lvl="2" indent="-285750"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 해상력을 높이기 위한 방법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목표지역의 좁은 부분에서 나오는 반사파만 골라 수신할 수 있어야 함 </a:t>
            </a:r>
            <a:r>
              <a:rPr lang="en-US" altLang="ko-KR"/>
              <a:t>(</a:t>
            </a:r>
            <a:r>
              <a:rPr lang="ko-KR" altLang="en-US"/>
              <a:t>방위 해상도</a:t>
            </a:r>
            <a:r>
              <a:rPr lang="en-US" altLang="ko-KR"/>
              <a:t>)</a:t>
            </a:r>
            <a:endParaRPr lang="en-US" altLang="ko-KR"/>
          </a:p>
          <a:p>
            <a:pPr marL="777150" lvl="2" indent="-285750">
              <a:defRPr/>
            </a:pPr>
            <a:r>
              <a:rPr lang="ko-KR" altLang="en-US"/>
              <a:t>내보내는 전파 펄스 자체가 시간적으로 짧아야 함</a:t>
            </a:r>
            <a:r>
              <a:rPr lang="en-US" altLang="ko-KR"/>
              <a:t>(</a:t>
            </a:r>
            <a:r>
              <a:rPr lang="ko-KR" altLang="en-US"/>
              <a:t>거리 해상도</a:t>
            </a:r>
            <a:r>
              <a:rPr lang="en-US" altLang="ko-KR"/>
              <a:t>)</a:t>
            </a:r>
            <a:endParaRPr lang="en-US" altLang="ko-KR"/>
          </a:p>
          <a:p>
            <a:pPr marL="777150" lvl="2" indent="-285750">
              <a:defRPr/>
            </a:pPr>
            <a:r>
              <a:rPr lang="ko-KR" altLang="en-US"/>
              <a:t>분산이나 굴절을 최소화하기 위해 되도록 짧은 파장의 전파를 사용해야 함</a:t>
            </a:r>
            <a:endParaRPr lang="ko-KR" altLang="en-US"/>
          </a:p>
          <a:p>
            <a:pPr marL="777150" lvl="2" indent="-285750"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 해상력의 한계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안테나의 직경을 늘리지 않고 배율만 높이면 빛의 회절로 상이 뭉개짐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항공기에 탑재하기엔 크기나 무게에 제한이 있고 빠르게 회전시키는 것도 곤란함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전파의 파장을 짧게 하는 데도 기술적 한계나 실용적 문제가 있음</a:t>
            </a:r>
            <a:endParaRPr lang="ko-KR" altLang="en-US"/>
          </a:p>
          <a:p>
            <a:pPr marL="777150" lvl="2" indent="-285750">
              <a:defRPr/>
            </a:pPr>
            <a:endParaRPr lang="ko-KR" altLang="en-US"/>
          </a:p>
          <a:p>
            <a:pPr marL="216000" lvl="1" indent="0">
              <a:buFont typeface="mn-ea"/>
              <a:buNone/>
              <a:defRPr/>
            </a:pPr>
            <a:r>
              <a:rPr lang="en-US" altLang="ko-KR" b="1"/>
              <a:t>(</a:t>
            </a:r>
            <a:r>
              <a:rPr lang="ko-KR" altLang="en-US" b="1"/>
              <a:t>출처 </a:t>
            </a:r>
            <a:r>
              <a:rPr lang="en-US" altLang="en-US" b="1"/>
              <a:t>Rich Data Cheap Satellites</a:t>
            </a:r>
            <a:r>
              <a:rPr lang="en-US" altLang="ko-KR" b="1"/>
              <a:t>,</a:t>
            </a:r>
            <a:r>
              <a:rPr lang="ko-KR" altLang="en-US" b="1"/>
              <a:t> </a:t>
            </a:r>
            <a:r>
              <a:rPr lang="en-US" altLang="ko-KR" b="1"/>
              <a:t>2017</a:t>
            </a:r>
            <a:r>
              <a:rPr lang="ko-KR" altLang="en-US" b="1"/>
              <a:t> Luis Gomes. Surrey Satellite Technology</a:t>
            </a:r>
            <a:r>
              <a:rPr lang="en-US" altLang="ko-KR" b="1"/>
              <a:t>)</a:t>
            </a:r>
            <a:endParaRPr lang="en-US" altLang="ko-KR" b="1"/>
          </a:p>
          <a:p>
            <a:pPr marL="216000" lvl="1" indent="0">
              <a:buNone/>
              <a:defRPr/>
            </a:pPr>
            <a:endParaRPr lang="en-US" altLang="ko-KR"/>
          </a:p>
          <a:p>
            <a:pPr marL="777150" lvl="2" indent="-285750">
              <a:defRPr/>
            </a:pPr>
            <a:endParaRPr lang="ko-KR" altLang="en-US" sz="1800"/>
          </a:p>
          <a:p>
            <a:pPr marL="491400" lvl="2" indent="0"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SAR</a:t>
            </a:r>
            <a:endParaRPr lang="en-US" altLang="ko-KR"/>
          </a:p>
          <a:p>
            <a:pPr lvl="1">
              <a:defRPr/>
            </a:pPr>
            <a:r>
              <a:rPr lang="ko-KR" altLang="en-US" sz="1800"/>
              <a:t>합성개구레이다</a:t>
            </a:r>
            <a:r>
              <a:rPr lang="en-US" altLang="ko-KR" sz="1800"/>
              <a:t>(Synthetic Aperture Radar)</a:t>
            </a:r>
            <a:endParaRPr lang="ko-KR" altLang="en-US" sz="1800"/>
          </a:p>
          <a:p>
            <a:pPr marL="777150" lvl="2" indent="-285750">
              <a:defRPr/>
            </a:pPr>
            <a:r>
              <a:rPr lang="ko-KR" altLang="en-US"/>
              <a:t>공중에서 지상 및 해양을 관찰하는 레이다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반사된 미세한 시간차를 처리하여 지상지형도를 만들거나 지표 관측</a:t>
            </a:r>
            <a:endParaRPr lang="ko-KR" altLang="en-US"/>
          </a:p>
          <a:p>
            <a:pPr marL="777150" lvl="2" indent="-285750">
              <a:defRPr/>
            </a:pPr>
            <a:r>
              <a:rPr lang="en-US" altLang="ko-KR"/>
              <a:t>1960</a:t>
            </a:r>
            <a:r>
              <a:rPr lang="ko-KR" altLang="en-US"/>
              <a:t>년대부터 주로 군용 정찰장비로 개발</a:t>
            </a:r>
            <a:endParaRPr lang="ko-KR" altLang="en-US"/>
          </a:p>
          <a:p>
            <a:pPr marL="777150" lvl="2" indent="-285750">
              <a:defRPr/>
            </a:pPr>
            <a:r>
              <a:rPr lang="en-US" altLang="ko-KR"/>
              <a:t>1980</a:t>
            </a:r>
            <a:r>
              <a:rPr lang="ko-KR" altLang="en-US"/>
              <a:t>년대에는 단순한 지형패턴만이 아닌 이동목표 추적 능력 탑재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플랫폼에는 특별한 제한이 없으며 무인정찰기 및 인공위성에도 장착</a:t>
            </a:r>
            <a:endParaRPr lang="ko-KR" altLang="en-US" sz="1800"/>
          </a:p>
          <a:p>
            <a:pPr marL="216000" lvl="1" indent="0">
              <a:buNone/>
              <a:defRPr/>
            </a:pPr>
            <a:endParaRPr lang="en-US" altLang="ko-KR"/>
          </a:p>
          <a:p>
            <a:pPr lvl="1">
              <a:defRPr/>
            </a:pPr>
            <a:r>
              <a:rPr lang="ko-KR" altLang="en-US"/>
              <a:t>장점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안테나의 직경을 크게 하지 않으면서 높은 방위해상도를 얻을 수 있음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펄스폭도 넓고 안테나 직경도 작아서 빔의 각도 범위도 넓은 편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공중에서 넓은 범위의 지상의 고해상도의 영상을 획득하는데 아주 효과적임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주간 및 야간</a:t>
            </a:r>
            <a:r>
              <a:rPr lang="en-US" altLang="ko-KR"/>
              <a:t>,</a:t>
            </a:r>
            <a:r>
              <a:rPr lang="ko-KR" altLang="en-US"/>
              <a:t> 악천후에도 사용할 수 있음</a:t>
            </a:r>
            <a:endParaRPr lang="ko-KR" altLang="en-US"/>
          </a:p>
          <a:p>
            <a:pPr marL="777150" lvl="2" indent="-285750">
              <a:defRPr/>
            </a:pPr>
            <a:endParaRPr lang="ko-KR" altLang="en-US"/>
          </a:p>
          <a:p>
            <a:pPr marL="777150" lvl="2" indent="-285750">
              <a:defRPr/>
            </a:pPr>
            <a:endParaRPr lang="ko-KR" altLang="en-US"/>
          </a:p>
          <a:p>
            <a:pPr marL="777150" lvl="2" indent="-285750">
              <a:defRPr/>
            </a:pPr>
            <a:endParaRPr lang="ko-KR" altLang="en-US" sz="1800"/>
          </a:p>
          <a:p>
            <a:pPr marL="491400" lvl="2" indent="0"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/>
            </a:pPr>
            <a:r>
              <a:rPr lang="ko-KR" altLang="en-US"/>
              <a:t> 각국의 </a:t>
            </a:r>
            <a:r>
              <a:rPr lang="en-US" altLang="ko-KR"/>
              <a:t>SAR</a:t>
            </a:r>
            <a:endParaRPr lang="en-US" altLang="ko-KR"/>
          </a:p>
          <a:p>
            <a:pPr marL="777150" lvl="2" indent="-285750">
              <a:defRPr/>
            </a:pPr>
            <a:r>
              <a:rPr lang="en-US" altLang="ko-KR"/>
              <a:t>AIRSAR : </a:t>
            </a:r>
            <a:r>
              <a:rPr lang="ko-KR" altLang="en-US"/>
              <a:t>미국 </a:t>
            </a:r>
            <a:r>
              <a:rPr lang="en-US" altLang="ko-KR"/>
              <a:t>NASA</a:t>
            </a:r>
            <a:r>
              <a:rPr lang="ko-KR" altLang="en-US"/>
              <a:t> </a:t>
            </a:r>
            <a:r>
              <a:rPr lang="en-US" altLang="ko-KR"/>
              <a:t>JPL</a:t>
            </a:r>
            <a:endParaRPr lang="en-US" altLang="ko-KR"/>
          </a:p>
          <a:p>
            <a:pPr marL="777150" lvl="2" indent="-285750">
              <a:defRPr/>
            </a:pPr>
            <a:r>
              <a:rPr lang="en-US" altLang="ko-KR"/>
              <a:t>E-SAR : </a:t>
            </a:r>
            <a:r>
              <a:rPr lang="ko-KR" altLang="en-US"/>
              <a:t>독일 </a:t>
            </a:r>
            <a:r>
              <a:rPr lang="en-US" altLang="ko-KR"/>
              <a:t>DLR</a:t>
            </a:r>
            <a:endParaRPr lang="en-US" altLang="ko-KR"/>
          </a:p>
          <a:p>
            <a:pPr marL="777150" lvl="2" indent="-285750">
              <a:defRPr/>
            </a:pPr>
            <a:r>
              <a:rPr lang="en-US" altLang="ko-KR"/>
              <a:t>PI-SAR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일본 </a:t>
            </a:r>
            <a:r>
              <a:rPr lang="en-US" altLang="ko-KR"/>
              <a:t>JAXA</a:t>
            </a:r>
            <a:endParaRPr lang="en-US" altLang="ko-KR"/>
          </a:p>
          <a:p>
            <a:pPr marL="777150" lvl="2" indent="-285750">
              <a:defRPr/>
            </a:pPr>
            <a:r>
              <a:rPr lang="en-US" altLang="ko-KR"/>
              <a:t>RAMSES : </a:t>
            </a:r>
            <a:r>
              <a:rPr lang="ko-KR" altLang="en-US"/>
              <a:t>프랑스</a:t>
            </a:r>
            <a:r>
              <a:rPr lang="en-US" altLang="ko-KR"/>
              <a:t> ONERA</a:t>
            </a:r>
            <a:endParaRPr lang="en-US" altLang="ko-KR"/>
          </a:p>
          <a:p>
            <a:pPr marL="777150" lvl="2" indent="-285750">
              <a:defRPr/>
            </a:pPr>
            <a:r>
              <a:rPr lang="en-US" altLang="ko-KR"/>
              <a:t>KOMSAR : </a:t>
            </a:r>
            <a:r>
              <a:rPr lang="ko-KR" altLang="en-US"/>
              <a:t>대한민국 국방과학연구소</a:t>
            </a:r>
            <a:endParaRPr lang="ko-KR" altLang="en-US"/>
          </a:p>
          <a:p>
            <a:pPr marL="777150" lvl="2" indent="-285750">
              <a:defRPr/>
            </a:pPr>
            <a:r>
              <a:rPr lang="en-US" altLang="ko-KR"/>
              <a:t>NEXSAR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대한민국 </a:t>
            </a:r>
            <a:r>
              <a:rPr lang="en-US" altLang="ko-KR"/>
              <a:t>LIG</a:t>
            </a:r>
            <a:r>
              <a:rPr lang="ko-KR" altLang="en-US"/>
              <a:t>넥스원</a:t>
            </a:r>
            <a:endParaRPr lang="ko-KR" altLang="en-US"/>
          </a:p>
          <a:p>
            <a:pPr marL="777150" lvl="2" indent="-285750">
              <a:defRPr/>
            </a:pPr>
            <a:r>
              <a:rPr lang="en-US" altLang="ko-KR"/>
              <a:t>EL/M-2055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이스라엘 </a:t>
            </a:r>
            <a:r>
              <a:rPr lang="en-US" altLang="ko-KR"/>
              <a:t>IAI</a:t>
            </a:r>
            <a:r>
              <a:rPr lang="ko-KR" altLang="en-US"/>
              <a:t>사</a:t>
            </a:r>
            <a:endParaRPr lang="ko-KR" altLang="en-US"/>
          </a:p>
          <a:p>
            <a:pPr marL="777150" lvl="2" indent="-285750">
              <a:defRPr/>
            </a:pPr>
            <a:r>
              <a:rPr lang="en-US" altLang="ko-KR"/>
              <a:t>KPU-STC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대한민국 한국산업기술대학</a:t>
            </a:r>
            <a:endParaRPr lang="ko-KR" altLang="en-US"/>
          </a:p>
          <a:p>
            <a:pPr marL="777150" lvl="2" indent="-285750">
              <a:defRPr/>
            </a:pPr>
            <a:endParaRPr lang="en-US" altLang="ko-KR"/>
          </a:p>
          <a:p>
            <a:pPr marL="216000" lvl="1" indent="0">
              <a:buNone/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EO(Electro-Optics)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원리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허공에 전자기파를 쏘아서 물체에 부딪혀 돌아오는 반사파를 측정해 탐지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디지털카메라와 유사한 원리</a:t>
            </a:r>
            <a:endParaRPr lang="ko-KR" altLang="en-US"/>
          </a:p>
          <a:p>
            <a:pPr marL="491400" lvl="2" indent="0">
              <a:buNone/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특징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적외선 이상의 전파를 사용하는 레이더와는 달리 </a:t>
            </a:r>
            <a:r>
              <a:rPr lang="ko-KR" altLang="en-US" u="sng"/>
              <a:t>근적외선 및 가시광선을 사용</a:t>
            </a:r>
            <a:endParaRPr lang="ko-KR" altLang="en-US" u="sng"/>
          </a:p>
          <a:p>
            <a:pPr marL="777150" lvl="2" indent="-285750">
              <a:defRPr/>
            </a:pPr>
            <a:r>
              <a:rPr lang="ko-KR" altLang="en-US"/>
              <a:t>센서의 해상도의 향상과 이에 따른 센서의 부피 및 무게를 해결하는 것이 기술적으로 난이도가 높음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따라서 </a:t>
            </a:r>
            <a:r>
              <a:rPr lang="en-US" altLang="ko-KR"/>
              <a:t>2</a:t>
            </a:r>
            <a:r>
              <a:rPr lang="ko-KR" altLang="en-US"/>
              <a:t>차 세계대전 때부터 사용된 레이더보다 시기가 늦은 </a:t>
            </a:r>
            <a:r>
              <a:rPr lang="en-US" altLang="ko-KR" u="sng"/>
              <a:t>1980</a:t>
            </a:r>
            <a:r>
              <a:rPr lang="ko-KR" altLang="en-US" u="sng"/>
              <a:t>년대 이후부터 사용</a:t>
            </a:r>
            <a:endParaRPr lang="ko-KR" altLang="en-US" u="sng"/>
          </a:p>
          <a:p>
            <a:pPr marL="777150" lvl="2" indent="-285750">
              <a:defRPr/>
            </a:pPr>
            <a:r>
              <a:rPr lang="en-US" altLang="ko-KR"/>
              <a:t>1990</a:t>
            </a:r>
            <a:r>
              <a:rPr lang="ko-KR" altLang="en-US"/>
              <a:t>년대 이후 전자광학 기술 및 해상도 처리하는 기술력이 발전함에 따라 발달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각종 무인기에 장착해 군사 정찰용 및 기상 관측의 용도로 사용</a:t>
            </a:r>
            <a:endParaRPr lang="ko-KR" altLang="en-US"/>
          </a:p>
          <a:p>
            <a:pPr marL="777150" lvl="2" indent="-285750">
              <a:defRPr/>
            </a:pPr>
            <a:endParaRPr lang="ko-KR" altLang="en-US" u="sng"/>
          </a:p>
          <a:p>
            <a:pPr lvl="1">
              <a:defRPr/>
            </a:pPr>
            <a:r>
              <a:rPr lang="ko-KR" altLang="en-US"/>
              <a:t> 장점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가시광선을 이용해 목표의 실제 영상을 실시간으로 관측하는 것이 가능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레이더의 부족한 해상도를 보완하는데 큰 도움을 줌</a:t>
            </a:r>
            <a:endParaRPr lang="ko-KR" altLang="en-US"/>
          </a:p>
          <a:p>
            <a:pPr marL="777150" lvl="2" indent="-285750">
              <a:defRPr/>
            </a:pPr>
            <a:endParaRPr lang="ko-KR" altLang="en-US"/>
          </a:p>
          <a:p>
            <a:pPr marL="777150" lvl="2" indent="-285750">
              <a:defRPr/>
            </a:pPr>
            <a:endParaRPr lang="ko-KR" altLang="en-US"/>
          </a:p>
          <a:p>
            <a:pPr marL="216000" lvl="1" indent="0">
              <a:buNone/>
              <a:defRPr/>
            </a:pPr>
            <a:endParaRPr lang="en-US" altLang="ko-KR"/>
          </a:p>
          <a:p>
            <a:pPr marL="777150" lvl="2" indent="-285750">
              <a:defRPr/>
            </a:pPr>
            <a:endParaRPr lang="ko-KR" altLang="en-US" sz="1800"/>
          </a:p>
          <a:p>
            <a:pPr marL="491400" lvl="2" indent="0"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EO </a:t>
            </a:r>
            <a:r>
              <a:rPr lang="ko-KR" altLang="en-US"/>
              <a:t>및 </a:t>
            </a:r>
            <a:r>
              <a:rPr lang="en-US" altLang="ko-KR"/>
              <a:t>SAR </a:t>
            </a:r>
            <a:r>
              <a:rPr lang="ko-KR" altLang="en-US"/>
              <a:t>탑재체 비교</a:t>
            </a:r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5750" y="1711970"/>
            <a:ext cx="7704801" cy="3358794"/>
          </a:xfrm>
          <a:prstGeom prst="rect">
            <a:avLst/>
          </a:prstGeom>
        </p:spPr>
      </p:pic>
      <p:sp>
        <p:nvSpPr>
          <p:cNvPr id="11" name=""/>
          <p:cNvSpPr txBox="1"/>
          <p:nvPr/>
        </p:nvSpPr>
        <p:spPr>
          <a:xfrm>
            <a:off x="381000" y="5647674"/>
            <a:ext cx="8382000" cy="336548"/>
          </a:xfrm>
          <a:prstGeom prst="rect">
            <a:avLst/>
          </a:prstGeom>
        </p:spPr>
        <p:txBody>
          <a:bodyPr wrap="square">
            <a:spAutoFit/>
          </a:bodyPr>
          <a:p>
            <a:pPr marL="216000" lvl="1" indent="0">
              <a:buFont typeface="Wingdings"/>
              <a:buNone/>
              <a:defRPr/>
            </a:pPr>
            <a:r>
              <a:rPr lang="ko-KR" altLang="en-US" sz="1600" b="1"/>
              <a:t>출처 </a:t>
            </a:r>
            <a:r>
              <a:rPr lang="en-US" altLang="ko-KR" sz="1600" b="1"/>
              <a:t>(</a:t>
            </a:r>
            <a:r>
              <a:rPr lang="ko-KR" altLang="en-US" sz="1600" b="1"/>
              <a:t>초소형 위성군 궤도설계와 궤도유지 방법 연구</a:t>
            </a:r>
            <a:r>
              <a:rPr lang="en-US" altLang="ko-KR" sz="1600" b="1"/>
              <a:t>,</a:t>
            </a:r>
            <a:r>
              <a:rPr lang="ko-KR" altLang="en-US" sz="1600" b="1"/>
              <a:t> </a:t>
            </a:r>
            <a:r>
              <a:rPr lang="en-US" altLang="ko-KR" sz="1600" b="1"/>
              <a:t>2020</a:t>
            </a:r>
            <a:r>
              <a:rPr lang="ko-KR" altLang="en-US" sz="1600" b="1"/>
              <a:t> 황영민</a:t>
            </a:r>
            <a:r>
              <a:rPr lang="en-US" altLang="ko-KR" sz="1600" b="1"/>
              <a:t>)</a:t>
            </a:r>
            <a:endParaRPr lang="en-US" altLang="ko-KR" sz="16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OptiSAR Constellation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개발 배경</a:t>
            </a:r>
            <a:endParaRPr lang="ko-KR" altLang="en-US"/>
          </a:p>
          <a:p>
            <a:pPr lvl="2">
              <a:defRPr/>
            </a:pPr>
            <a:r>
              <a:rPr lang="en-US" altLang="ko-KR"/>
              <a:t>EO</a:t>
            </a:r>
            <a:r>
              <a:rPr lang="ko-KR" altLang="en-US"/>
              <a:t>의 사용 가능한 데이터 세트가 제한적임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대부분 광학 매체 및 고해상도 위성으로 제한되는 경향이 있음</a:t>
            </a:r>
            <a:endParaRPr lang="ko-KR" altLang="en-US"/>
          </a:p>
          <a:p>
            <a:pPr lvl="3">
              <a:defRPr/>
            </a:pPr>
            <a:endParaRPr lang="ko-KR" altLang="en-US"/>
          </a:p>
          <a:p>
            <a:pPr lvl="2">
              <a:defRPr/>
            </a:pPr>
            <a:r>
              <a:rPr lang="ko-KR" altLang="en-US"/>
              <a:t>또한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SAR</a:t>
            </a:r>
            <a:r>
              <a:rPr lang="ko-KR" altLang="en-US"/>
              <a:t> 데이터의 가용성이 제한적임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데이터를 동시에 캡쳐하는 것이 거의 불가능하며 데이터가 비싸고 접근성이 어렵다</a:t>
            </a:r>
            <a:endParaRPr lang="ko-KR" altLang="en-US"/>
          </a:p>
          <a:p>
            <a:pPr marL="432000" lvl="2" indent="0">
              <a:buNone/>
              <a:defRPr/>
            </a:pPr>
            <a:endParaRPr lang="ko-KR" altLang="en-US"/>
          </a:p>
          <a:p>
            <a:pPr lvl="2">
              <a:defRPr/>
            </a:pPr>
            <a:r>
              <a:rPr lang="en-US" altLang="ko-KR"/>
              <a:t>UrtheCast</a:t>
            </a:r>
            <a:r>
              <a:rPr lang="ko-KR" altLang="en-US"/>
              <a:t>는 위의 단점들을 보완하여 다음과 같은 기능을 할 수 있는 독자적인 </a:t>
            </a:r>
            <a:endParaRPr lang="ko-KR" altLang="en-US"/>
          </a:p>
          <a:p>
            <a:pPr marL="432000" lvl="2" indent="0">
              <a:buNone/>
              <a:defRPr/>
            </a:pPr>
            <a:r>
              <a:rPr lang="ko-KR" altLang="en-US"/>
              <a:t>     위성군을 만들기로 결정함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고품질 광학 및 </a:t>
            </a:r>
            <a:r>
              <a:rPr lang="en-US" altLang="ko-KR"/>
              <a:t>SAR</a:t>
            </a:r>
            <a:r>
              <a:rPr lang="ko-KR" altLang="en-US"/>
              <a:t>데이터 세트를 제공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시간 데이터도 동시에 캡처 가능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이를 위해 서로 다른 위성으로 센서를 분할하는 방법을 고안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이 방법으로 위성군 전체에 용량을 분산하여 단점들을 해결할 수 있음 </a:t>
            </a:r>
            <a:endParaRPr lang="ko-KR" altLang="en-US"/>
          </a:p>
          <a:p>
            <a:pPr marL="648000" lvl="3" indent="0">
              <a:buNone/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957150" lvl="3" indent="-285750">
              <a:defRPr/>
            </a:pPr>
            <a:endParaRPr lang="en-US" altLang="ko-KR"/>
          </a:p>
          <a:p>
            <a:pPr marL="957150" lvl="3" indent="-285750">
              <a:defRPr/>
            </a:pPr>
            <a:endParaRPr lang="en-US" altLang="ko-KR"/>
          </a:p>
          <a:p>
            <a:pPr lvl="1">
              <a:defRPr/>
            </a:pPr>
            <a:endParaRPr lang="en-US" altLang="ko-KR"/>
          </a:p>
          <a:p>
            <a:pPr marL="216000" lvl="1" indent="0">
              <a:buNone/>
              <a:defRPr/>
            </a:pPr>
            <a:endParaRPr lang="en-US" altLang="ko-KR"/>
          </a:p>
          <a:p>
            <a:pPr marL="216000" lvl="1" indent="0">
              <a:buNone/>
              <a:defRPr/>
            </a:pP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OptiSAR Constellation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 </a:t>
            </a:r>
            <a:r>
              <a:rPr lang="en-US" altLang="ko-KR"/>
              <a:t>OptiSAR</a:t>
            </a:r>
            <a:r>
              <a:rPr lang="ko-KR" altLang="en-US"/>
              <a:t>의 개발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고도 </a:t>
            </a:r>
            <a:r>
              <a:rPr lang="en-US" altLang="ko-KR"/>
              <a:t>450km</a:t>
            </a:r>
            <a:endParaRPr lang="en-US" altLang="ko-KR"/>
          </a:p>
          <a:p>
            <a:pPr lvl="2">
              <a:defRPr/>
            </a:pPr>
            <a:r>
              <a:rPr lang="en-US" altLang="ko-KR"/>
              <a:t>8</a:t>
            </a:r>
            <a:r>
              <a:rPr lang="ko-KR" altLang="en-US"/>
              <a:t>쌍의 </a:t>
            </a:r>
            <a:r>
              <a:rPr lang="en-US" altLang="ko-KR"/>
              <a:t>Optical Satellites</a:t>
            </a:r>
            <a:r>
              <a:rPr lang="ko-KR" altLang="en-US"/>
              <a:t>와 </a:t>
            </a:r>
            <a:r>
              <a:rPr lang="en-US" altLang="ko-KR"/>
              <a:t>SAR</a:t>
            </a:r>
            <a:r>
              <a:rPr lang="ko-KR" altLang="en-US"/>
              <a:t>가 포함된 위성군 개발</a:t>
            </a:r>
            <a:endParaRPr lang="ko-KR" altLang="en-US"/>
          </a:p>
          <a:p>
            <a:pPr lvl="2">
              <a:defRPr/>
            </a:pPr>
            <a:r>
              <a:rPr lang="en-US" altLang="ko-KR"/>
              <a:t>2</a:t>
            </a:r>
            <a:r>
              <a:rPr lang="ko-KR" altLang="en-US"/>
              <a:t>개의 궤도 평면에 등간격으로 각각 </a:t>
            </a:r>
            <a:r>
              <a:rPr lang="en-US" altLang="ko-KR"/>
              <a:t>4</a:t>
            </a:r>
            <a:r>
              <a:rPr lang="ko-KR" altLang="en-US"/>
              <a:t>쌍씩 배치 </a:t>
            </a:r>
            <a:endParaRPr lang="ko-KR" altLang="en-US"/>
          </a:p>
          <a:p>
            <a:pPr lvl="2">
              <a:defRPr/>
            </a:pPr>
            <a:r>
              <a:rPr lang="en-US" altLang="ko-KR"/>
              <a:t>SAR(</a:t>
            </a:r>
            <a:r>
              <a:rPr lang="ko-KR" altLang="en-US"/>
              <a:t>탑재체에 </a:t>
            </a:r>
            <a:r>
              <a:rPr lang="en-US" altLang="ko-KR"/>
              <a:t>XL</a:t>
            </a:r>
            <a:r>
              <a:rPr lang="ko-KR" altLang="en-US"/>
              <a:t> 기술이 사용됨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en-US" altLang="ko-KR"/>
              <a:t>-&gt;</a:t>
            </a:r>
            <a:r>
              <a:rPr lang="ko-KR" altLang="en-US"/>
              <a:t> </a:t>
            </a:r>
            <a:r>
              <a:rPr lang="en-US" altLang="ko-KR"/>
              <a:t>2</a:t>
            </a:r>
            <a:r>
              <a:rPr lang="ko-KR" altLang="en-US"/>
              <a:t>분 후 </a:t>
            </a:r>
            <a:r>
              <a:rPr lang="en-US" altLang="ko-KR"/>
              <a:t>-&gt;</a:t>
            </a:r>
            <a:r>
              <a:rPr lang="ko-KR" altLang="en-US"/>
              <a:t> </a:t>
            </a:r>
            <a:r>
              <a:rPr lang="en-US" altLang="ko-KR"/>
              <a:t>Optical satellite</a:t>
            </a:r>
            <a:endParaRPr lang="en-US" altLang="ko-KR"/>
          </a:p>
        </p:txBody>
      </p:sp>
      <p:pic>
        <p:nvPicPr>
          <p:cNvPr id="1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22049" y="2995241"/>
            <a:ext cx="4042472" cy="31757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OptiSAR Constellation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 </a:t>
            </a:r>
            <a:r>
              <a:rPr lang="en-US" altLang="ko-KR"/>
              <a:t>OptiSAR</a:t>
            </a:r>
            <a:r>
              <a:rPr lang="ko-KR" altLang="en-US"/>
              <a:t>의 개발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궤도 </a:t>
            </a:r>
            <a:r>
              <a:rPr lang="en-US" altLang="ko-KR"/>
              <a:t>:</a:t>
            </a:r>
            <a:r>
              <a:rPr lang="ko-KR" altLang="en-US"/>
              <a:t> 태양동기궤도</a:t>
            </a:r>
            <a:r>
              <a:rPr lang="en-US" altLang="ko-KR"/>
              <a:t>(SSO)</a:t>
            </a:r>
            <a:r>
              <a:rPr lang="ko-KR" altLang="en-US"/>
              <a:t>와</a:t>
            </a:r>
            <a:r>
              <a:rPr lang="en-US" altLang="ko-KR"/>
              <a:t> Mid-inclination-Orbit(MIO)</a:t>
            </a:r>
            <a:endParaRPr lang="en-US" altLang="ko-KR"/>
          </a:p>
          <a:p>
            <a:pPr lvl="3">
              <a:defRPr/>
            </a:pPr>
            <a:r>
              <a:rPr lang="en-US" altLang="ko-KR"/>
              <a:t>SSO : </a:t>
            </a:r>
            <a:r>
              <a:rPr lang="ko-KR" altLang="en-US"/>
              <a:t> </a:t>
            </a:r>
            <a:r>
              <a:rPr lang="en-US" altLang="ko-KR"/>
              <a:t>10:30 A.M.</a:t>
            </a:r>
            <a:r>
              <a:rPr lang="ko-KR" altLang="en-US"/>
              <a:t>에 적도를 지난다 </a:t>
            </a:r>
            <a:r>
              <a:rPr lang="en-US" altLang="ko-KR"/>
              <a:t>(LTAN 10:30)</a:t>
            </a:r>
            <a:endParaRPr lang="en-US" altLang="ko-KR"/>
          </a:p>
          <a:p>
            <a:pPr lvl="3">
              <a:defRPr/>
            </a:pPr>
            <a:r>
              <a:rPr lang="en-US" altLang="ko-KR"/>
              <a:t>MIO : </a:t>
            </a:r>
            <a:r>
              <a:rPr lang="ko-KR" altLang="en-US"/>
              <a:t>최대 </a:t>
            </a:r>
            <a:r>
              <a:rPr lang="en-US" altLang="ko-KR"/>
              <a:t>45</a:t>
            </a:r>
            <a:r>
              <a:rPr lang="ko-KR" altLang="en-US"/>
              <a:t>˚ 궤도경사각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Ultra-hight revisit</a:t>
            </a:r>
            <a:endParaRPr lang="en-US" altLang="ko-KR"/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50391" y="2812356"/>
            <a:ext cx="5814575" cy="32321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1047425491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OptiSAR</a:t>
            </a:r>
            <a:r>
              <a:rPr lang="ko-KR" altLang="en-US"/>
              <a:t>의 장점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적은 비용으로 큰 위성군 설계 가능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기존 설계를 재사용하여 단순한 설계 유지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0">
              <a:defRPr/>
            </a:pPr>
            <a:r>
              <a:rPr lang="en-US" altLang="ko-KR"/>
              <a:t>OptiSAR</a:t>
            </a:r>
            <a:r>
              <a:rPr lang="ko-KR" altLang="en-US"/>
              <a:t>의 기대효과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광학 및 </a:t>
            </a:r>
            <a:r>
              <a:rPr lang="en-US" altLang="ko-KR"/>
              <a:t>SAR</a:t>
            </a:r>
            <a:r>
              <a:rPr lang="ko-KR" altLang="en-US"/>
              <a:t>의 데이터를 융합한 높은 데이터 용량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SAR</a:t>
            </a:r>
            <a:r>
              <a:rPr lang="ko-KR" altLang="en-US"/>
              <a:t>를 사용하여 날씨에 구애받지 않는 고해상도 이미지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재방문 및 이미징 대기 시간 등 높은 성능의 공간 이미징 기능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SAR-optical satellite </a:t>
            </a:r>
            <a:r>
              <a:rPr lang="ko-KR" altLang="en-US"/>
              <a:t>구성의 비행으로 구름 회피를 가능하게  하는 실시간 처리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궤도면을 통해 극지방까지 확장되는 전 지구적 커버리지 제공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인구가 가장 많은 중위도에서의 최대 재방문율 허용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491400" lvl="2" indent="0">
              <a:buNone/>
              <a:defRPr/>
            </a:pPr>
            <a:r>
              <a:rPr lang="en-US" altLang="ko-KR" sz="1800"/>
              <a:t> </a:t>
            </a:r>
            <a:endParaRPr lang="en-US" altLang="ko-KR" sz="1800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요약 및 연구계획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Microsoft</ep:Company>
  <ep:Words>531</ep:Words>
  <ep:PresentationFormat>화면 슬라이드 쇼(4:3)</ep:PresentationFormat>
  <ep:Paragraphs>111</ep:Paragraphs>
  <ep:Slides>13</ep:Slides>
  <ep:Notes>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Office 테마</vt:lpstr>
      <vt:lpstr>2022 하계 콜로퀴움</vt:lpstr>
      <vt:lpstr>2종 위성군 OptiSAR 연구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결론</vt:lpstr>
      <vt:lpstr>요약 및 연구계획</vt:lpstr>
      <vt:lpstr>경청해 주셔서 감사합니다.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2018-01-29T02:45:56.000</dcterms:created>
  <dc:creator>KimGeuk-Nam</dc:creator>
  <cp:lastModifiedBy>ACL2022_13</cp:lastModifiedBy>
  <dcterms:modified xsi:type="dcterms:W3CDTF">2022-08-29T04:35:40.728</dcterms:modified>
  <cp:revision>3089</cp:revision>
  <dc:title>PowerPoint 프레젠테이션</dc:title>
  <cp:version>1000.0000.01</cp:version>
</cp:coreProperties>
</file>