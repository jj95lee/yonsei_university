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>
  <p:sldMasterIdLst>
    <p:sldMasterId id="2147483705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김극남" initials="김" lastIdx="0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069" autoAdjust="0"/>
    <p:restoredTop sz="86353" autoAdjust="0"/>
  </p:normalViewPr>
  <p:slideViewPr>
    <p:cSldViewPr snapToGrid="0">
      <p:cViewPr>
        <p:scale>
          <a:sx n="79" d="100"/>
          <a:sy n="79" d="100"/>
        </p:scale>
        <p:origin x="2268" y="78"/>
      </p:cViewPr>
      <p:guideLst>
        <p:guide orient="horz" pos="2158"/>
        <p:guide pos="287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commentAuthors" Target="commentAuthors.xml"  /><Relationship Id="rId3" Type="http://schemas.openxmlformats.org/officeDocument/2006/relationships/handoutMaster" Target="handoutMasters/handoutMaster1.xml"  /><Relationship Id="rId30" Type="http://schemas.openxmlformats.org/officeDocument/2006/relationships/presProps" Target="presProps.xml"  /><Relationship Id="rId31" Type="http://schemas.openxmlformats.org/officeDocument/2006/relationships/viewProps" Target="viewProps.xml"  /><Relationship Id="rId32" Type="http://schemas.openxmlformats.org/officeDocument/2006/relationships/theme" Target="theme/theme1.xml"  /><Relationship Id="rId33" Type="http://schemas.openxmlformats.org/officeDocument/2006/relationships/tableStyles" Target="tableStyles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2022-09-08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2022-09-08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연구미팅 시작하겠습니다 </a:t>
            </a:r>
            <a:r>
              <a:rPr lang="en-US" altLang="ko-KR"/>
              <a:t>2</a:t>
            </a:r>
            <a:r>
              <a:rPr lang="ko-KR" altLang="en-US"/>
              <a:t>종위성군 </a:t>
            </a:r>
            <a:r>
              <a:rPr lang="en-US" altLang="ko-KR"/>
              <a:t>Optisar</a:t>
            </a:r>
            <a:r>
              <a:rPr lang="ko-KR" altLang="en-US"/>
              <a:t>에 대한 연구를 계속 진행중에 있으며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그에 대한 프로그램으로 </a:t>
            </a:r>
            <a:r>
              <a:rPr lang="en-US" altLang="ko-KR"/>
              <a:t>FreeFlyer</a:t>
            </a:r>
            <a:r>
              <a:rPr lang="ko-KR" altLang="en-US"/>
              <a:t> 를 학습하고 있습니다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연구에 앞서 지난 미팅 때도 말씀드렸다시피 </a:t>
            </a:r>
            <a:r>
              <a:rPr lang="en-US" altLang="ko-KR"/>
              <a:t>FOM</a:t>
            </a:r>
            <a:r>
              <a:rPr lang="ko-KR" altLang="en-US"/>
              <a:t>에 대해 공부했었는데요</a:t>
            </a:r>
            <a:endParaRPr lang="ko-KR" altLang="en-US"/>
          </a:p>
          <a:p>
            <a:pPr>
              <a:defRPr/>
            </a:pPr>
            <a:r>
              <a:rPr lang="en-US" altLang="ko-KR"/>
              <a:t>Figure of merit </a:t>
            </a:r>
            <a:r>
              <a:rPr lang="ko-KR" altLang="en-US"/>
              <a:t>즉 성능지수는</a:t>
            </a:r>
            <a:r>
              <a:rPr lang="en-US" altLang="ko-KR"/>
              <a:t> </a:t>
            </a:r>
            <a:r>
              <a:rPr lang="ko-KR" altLang="en-US"/>
              <a:t>특정 시스템의 성능을 특성화하기 위해 사용되는 수량입니다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성능지수에 대한 논문을 읽고 해당 논문에서 다룬 두 위성에 대한 시스템 성능을 정량화 한 것을 예시로 가져온</a:t>
            </a:r>
            <a:r>
              <a:rPr lang="en-US" altLang="ko-KR"/>
              <a:t> </a:t>
            </a:r>
            <a:r>
              <a:rPr lang="ko-KR" altLang="en-US"/>
              <a:t>것입니다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이 부분도 전에 공부한 내용이라 빠르게 짚고 넘어가면 </a:t>
            </a:r>
            <a:endParaRPr lang="ko-KR" altLang="en-US"/>
          </a:p>
          <a:p>
            <a:pPr>
              <a:defRPr/>
            </a:pPr>
            <a:r>
              <a:rPr lang="ko-KR" altLang="en-US"/>
              <a:t>성능지수의 정의로 다음과 같이 다양한 요소를 다루고 있음을 알 수 있었습니다</a:t>
            </a:r>
            <a:endParaRPr lang="ko-KR" altLang="en-US"/>
          </a:p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이 중 특히 심화해서 다루었던 요소들은 위의 세가지인데요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위성의 영상촬영이 가능한 지역을 의미하는 접근가능지역</a:t>
            </a:r>
            <a:r>
              <a:rPr lang="en-US" altLang="ko-KR"/>
              <a:t>,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영상 촬영을 요청한 시점부터 표준 영상을 받을때까지의 시간을 뜻하는 시스템 응답 주기</a:t>
            </a:r>
            <a:r>
              <a:rPr lang="en-US" altLang="ko-KR"/>
              <a:t>,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관측지역을 재관측하는데 소요되는 시간을 뜻하는 재 방문 주기가 있었습니다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그 이후에는 본격적으로 프로그램을 진행하기위해 소프트웨어를 실행해보았고</a:t>
            </a:r>
            <a:endParaRPr lang="ko-KR" altLang="en-US"/>
          </a:p>
          <a:p>
            <a:pPr>
              <a:defRPr/>
            </a:pPr>
            <a:r>
              <a:rPr lang="ko-KR" altLang="en-US"/>
              <a:t>다음과 같이 여러 미션들의 샘플이 있었습니다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그 중에 저희가 가장 중점적으로 다루게 될 위성군 커버리지에 대해 사용법을 계속 익히고 있는데요</a:t>
            </a:r>
            <a:r>
              <a:rPr lang="en-US" altLang="ko-KR"/>
              <a:t>,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다음과 같이 여러가지 파라미터의 수치를 설정할 수 있으며</a:t>
            </a:r>
            <a:r>
              <a:rPr lang="en-US" altLang="ko-KR"/>
              <a:t>,</a:t>
            </a:r>
            <a:endParaRPr lang="en-US" altLang="ko-KR"/>
          </a:p>
          <a:p>
            <a:pPr>
              <a:defRPr/>
            </a:pPr>
            <a:r>
              <a:rPr lang="en-US" altLang="ko-KR"/>
              <a:t>analysis region</a:t>
            </a:r>
            <a:r>
              <a:rPr lang="ko-KR" altLang="en-US"/>
              <a:t> 이라고 해서 원하는 지역을 선택하여 궤도에 포함되도록 할 수 있는 기능도 있습니다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다음과 같이 미국</a:t>
            </a:r>
            <a:r>
              <a:rPr lang="en-US" altLang="ko-KR"/>
              <a:t>,</a:t>
            </a:r>
            <a:r>
              <a:rPr lang="ko-KR" altLang="en-US"/>
              <a:t> 캐나다</a:t>
            </a:r>
            <a:r>
              <a:rPr lang="en-US" altLang="ko-KR"/>
              <a:t>,</a:t>
            </a:r>
            <a:r>
              <a:rPr lang="ko-KR" altLang="en-US"/>
              <a:t> 북아프리카</a:t>
            </a:r>
            <a:r>
              <a:rPr lang="en-US" altLang="ko-KR"/>
              <a:t>,</a:t>
            </a:r>
            <a:r>
              <a:rPr lang="ko-KR" altLang="en-US"/>
              <a:t> 글로벌 이렇게 네 가지로 이루어져있는데요 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각각의 지역을 설정하여 시뮬레이션을 돌려본 모습입니다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순서대로 미국</a:t>
            </a:r>
            <a:r>
              <a:rPr lang="en-US" altLang="ko-KR"/>
              <a:t>,</a:t>
            </a:r>
            <a:r>
              <a:rPr lang="ko-KR" altLang="en-US"/>
              <a:t> 캐나다</a:t>
            </a:r>
            <a:r>
              <a:rPr lang="en-US" altLang="ko-KR"/>
              <a:t>,</a:t>
            </a:r>
            <a:r>
              <a:rPr lang="ko-KR" altLang="en-US"/>
              <a:t> 북아프리카</a:t>
            </a:r>
            <a:r>
              <a:rPr lang="en-US" altLang="ko-KR"/>
              <a:t>,</a:t>
            </a:r>
            <a:r>
              <a:rPr lang="ko-KR" altLang="en-US"/>
              <a:t> 글로벌 커버리지 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좀 더 자세히 분석해보기 위해 해당 시뮬레이션의 </a:t>
            </a:r>
            <a:r>
              <a:rPr lang="en-US" altLang="ko-KR"/>
              <a:t>Control </a:t>
            </a:r>
            <a:r>
              <a:rPr lang="ko-KR" altLang="en-US"/>
              <a:t>탭을 확인해보니 다음과 같이 </a:t>
            </a:r>
            <a:endParaRPr lang="ko-KR" altLang="en-US"/>
          </a:p>
          <a:p>
            <a:pPr>
              <a:defRPr/>
            </a:pPr>
            <a:r>
              <a:rPr lang="ko-KR" altLang="en-US"/>
              <a:t>미션 시퀀스에 대해 각각의 코드로 짜여져 있는 것을 볼 수 있었습니다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특히 방금까지 저희가 다루고 있었던 </a:t>
            </a:r>
            <a:r>
              <a:rPr lang="en-US" altLang="ko-KR"/>
              <a:t>5</a:t>
            </a:r>
            <a:r>
              <a:rPr lang="ko-KR" altLang="en-US"/>
              <a:t>번째의 </a:t>
            </a:r>
            <a:r>
              <a:rPr lang="en-US" altLang="ko-KR"/>
              <a:t>Region Point groups</a:t>
            </a:r>
            <a:r>
              <a:rPr lang="ko-KR" altLang="en-US"/>
              <a:t>에 대한</a:t>
            </a:r>
            <a:r>
              <a:rPr lang="en-US" altLang="ko-KR"/>
              <a:t> </a:t>
            </a:r>
            <a:r>
              <a:rPr lang="ko-KR" altLang="en-US"/>
              <a:t>코드를 살펴본 결과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이와 같이 각 케이스에 따라 </a:t>
            </a:r>
            <a:r>
              <a:rPr lang="en-US" altLang="ko-KR"/>
              <a:t>US, AFRICA, </a:t>
            </a:r>
            <a:r>
              <a:rPr lang="ko-KR" altLang="en-US"/>
              <a:t>캐나다의 </a:t>
            </a:r>
            <a:r>
              <a:rPr lang="en-US" altLang="ko-KR"/>
              <a:t>region</a:t>
            </a:r>
            <a:r>
              <a:rPr lang="ko-KR" altLang="en-US"/>
              <a:t> 정보를 불러오는 함수가 있었고</a:t>
            </a:r>
            <a:endParaRPr lang="ko-KR" altLang="en-US"/>
          </a:p>
          <a:p>
            <a:pPr>
              <a:defRPr/>
            </a:pPr>
            <a:r>
              <a:rPr lang="ko-KR" altLang="en-US"/>
              <a:t>이에 따라 방금 보여드린 관심 지역의 커버리지가 설정되는 것 같습니다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그래서 이를 바탕으로 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저도 국내 감시정찰을 위해 이와 같이 한반도를 관심지역으로 설정을 시도해보았습니다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해당 수치는 관측가능지역에 대해 분석한 논문의 데이터를 참고하였습니다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하지만 문제가 좀 있었는데</a:t>
            </a:r>
            <a:endParaRPr lang="ko-KR" altLang="en-US"/>
          </a:p>
          <a:p>
            <a:pPr>
              <a:defRPr/>
            </a:pPr>
            <a:r>
              <a:rPr lang="ko-KR" altLang="en-US"/>
              <a:t>옵션을 저장한 후에 미션 시뮬레이션에서 해당 데이터 파일을 여러번 적용 하려 해보았으나  </a:t>
            </a:r>
            <a:endParaRPr lang="ko-KR" altLang="en-US"/>
          </a:p>
          <a:p>
            <a:pPr>
              <a:defRPr/>
            </a:pPr>
            <a:r>
              <a:rPr lang="ko-KR" altLang="en-US"/>
              <a:t>미션 플랜 파일이 아닌 다른 형식의 빈파일로 저장되어있었습니다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이번주 내내 현지 연구원과 함께 해결 방법을 물색했지만 아직까지 찾지 못해서</a:t>
            </a:r>
            <a:endParaRPr lang="ko-KR" altLang="en-US"/>
          </a:p>
          <a:p>
            <a:pPr>
              <a:defRPr/>
            </a:pPr>
            <a:r>
              <a:rPr lang="ko-KR" altLang="en-US"/>
              <a:t>현재는 </a:t>
            </a:r>
            <a:r>
              <a:rPr lang="en-US" altLang="ko-KR"/>
              <a:t>freeflyer</a:t>
            </a:r>
            <a:r>
              <a:rPr lang="ko-KR" altLang="en-US"/>
              <a:t> 측에 문의 메일을 보내놓은 상황입니다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이 부분만 해결되면 한반도 지역의커버리지 시뮬레이션을 바로 수행하려 합니다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이번주 내내 현지 연구원과 함께 해결 방법을 물색했지만 아직까지 찾지 못해서</a:t>
            </a:r>
            <a:endParaRPr lang="ko-KR" altLang="en-US"/>
          </a:p>
          <a:p>
            <a:pPr>
              <a:defRPr/>
            </a:pPr>
            <a:r>
              <a:rPr lang="ko-KR" altLang="en-US"/>
              <a:t>현재는 </a:t>
            </a:r>
            <a:r>
              <a:rPr lang="en-US" altLang="ko-KR"/>
              <a:t>freeflyer</a:t>
            </a:r>
            <a:r>
              <a:rPr lang="ko-KR" altLang="en-US"/>
              <a:t> 측에 문의 메일을 보내놓은 상황입니다</a:t>
            </a:r>
            <a:endParaRPr lang="ko-KR" altLang="en-US"/>
          </a:p>
          <a:p>
            <a:pPr>
              <a:defRPr/>
            </a:pPr>
            <a:r>
              <a:rPr lang="ko-KR" altLang="en-US"/>
              <a:t>이 부분만 해결되면 </a:t>
            </a:r>
            <a:r>
              <a:rPr lang="en-US" altLang="ko-KR"/>
              <a:t>()</a:t>
            </a:r>
            <a:r>
              <a:rPr lang="ko-KR" altLang="en-US"/>
              <a:t> 한반도 지역의커버리지 시뮬레이션을 바로 수행하려 합니다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900"/>
              <a:t>그리고 최근에 이행운 교수님의 연구팀과 함께하는 위성군 설계 관련 메일을 받았습니다</a:t>
            </a:r>
            <a:r>
              <a:rPr lang="en-US" altLang="ko-KR" sz="900"/>
              <a:t>.</a:t>
            </a:r>
            <a:r>
              <a:rPr lang="ko-KR" altLang="en-US" sz="900"/>
              <a:t> </a:t>
            </a:r>
            <a:endParaRPr lang="ko-KR" altLang="en-US" sz="900"/>
          </a:p>
          <a:p>
            <a:pPr>
              <a:defRPr/>
            </a:pPr>
            <a:endParaRPr lang="ko-KR" altLang="en-US" sz="900"/>
          </a:p>
          <a:p>
            <a:pPr>
              <a:defRPr/>
            </a:pPr>
            <a:r>
              <a:rPr lang="ko-KR" altLang="en-US" sz="900"/>
              <a:t>본격적인 연구가 진행되기 전에 이 교수님의 연구주제에 대해 미리 공부해보면 좋을 것 같아서 해당 논문들을 찾아 읽어보는 중입니다</a:t>
            </a:r>
            <a:r>
              <a:rPr lang="en-US" altLang="ko-KR" sz="900"/>
              <a:t>.</a:t>
            </a:r>
            <a:r>
              <a:rPr lang="ko-KR" altLang="en-US" sz="900"/>
              <a:t> </a:t>
            </a:r>
            <a:endParaRPr lang="ko-KR" altLang="en-US" sz="900"/>
          </a:p>
          <a:p>
            <a:pPr>
              <a:defRPr/>
            </a:pPr>
            <a:r>
              <a:rPr lang="ko-KR" altLang="en-US" sz="900"/>
              <a:t>이 논문은 그 중에 하나로 불확실성의 관심지역을 고려한 위성군 최적화전략에 대한 내용입니다</a:t>
            </a:r>
            <a:r>
              <a:rPr lang="en-US" altLang="ko-KR" sz="900"/>
              <a:t>.</a:t>
            </a:r>
            <a:r>
              <a:rPr lang="ko-KR" altLang="en-US" sz="900"/>
              <a:t> </a:t>
            </a:r>
            <a:endParaRPr lang="ko-KR" altLang="en-US" sz="90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900"/>
              <a:t>또한</a:t>
            </a:r>
            <a:r>
              <a:rPr lang="en-US" altLang="ko-KR" sz="900"/>
              <a:t>,</a:t>
            </a:r>
            <a:r>
              <a:rPr lang="ko-KR" altLang="en-US" sz="900"/>
              <a:t> 저번주에 교수님께서 보내주신 메일을 보고 짧게나마 화상회의에 참여해보았는데  경제적 관점에서의 커버리지 리워드라는 연구 주제에 대한 설명을 들었습니다</a:t>
            </a:r>
            <a:r>
              <a:rPr lang="en-US" altLang="ko-KR" sz="900"/>
              <a:t>.</a:t>
            </a:r>
            <a:endParaRPr lang="en-US" altLang="ko-KR" sz="900"/>
          </a:p>
          <a:p>
            <a:pPr>
              <a:defRPr/>
            </a:pPr>
            <a:r>
              <a:rPr lang="ko-KR" altLang="en-US" sz="900"/>
              <a:t> </a:t>
            </a:r>
            <a:endParaRPr lang="ko-KR" altLang="en-US" sz="900"/>
          </a:p>
          <a:p>
            <a:pPr>
              <a:defRPr/>
            </a:pPr>
            <a:r>
              <a:rPr lang="ko-KR" altLang="en-US" sz="900"/>
              <a:t>어려운 내용이라 이해가 잘 되진 않았지만 그 외에도 운용회사와 미션 오퍼레이션 각각의 관점에서 인공위성을 어떻게 운용할지 토론하는 내용을 들었고 그와 관련된 자료들도 찾아보려고 합니다</a:t>
            </a:r>
            <a:r>
              <a:rPr lang="en-US" altLang="ko-KR" sz="900"/>
              <a:t>.</a:t>
            </a:r>
            <a:r>
              <a:rPr lang="ko-KR" altLang="en-US" sz="900"/>
              <a:t> </a:t>
            </a:r>
            <a:endParaRPr lang="ko-KR" altLang="en-US" sz="900"/>
          </a:p>
          <a:p>
            <a:pPr>
              <a:defRPr/>
            </a:pPr>
            <a:endParaRPr lang="ko-KR" altLang="en-US" sz="90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6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5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이진진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석사과정 </a:t>
            </a:r>
            <a:r>
              <a:rPr lang="en-US" altLang="ko-KR"/>
              <a:t>2</a:t>
            </a:r>
            <a:r>
              <a:rPr lang="ko-KR" altLang="en-US"/>
              <a:t>학기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2022-08-23</a:t>
            </a: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정기 연구미팅 보고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/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/>
              </a:tblGrid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에 대한 연구</a:t>
                      </a:r>
                      <a:endParaRPr lang="ko-KR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주제 및 성격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주요 목표 및 진행 상황</a:t>
            </a:r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/>
                <a:gridCol w="1188689"/>
                <a:gridCol w="1188689"/>
                <a:gridCol w="594345"/>
                <a:gridCol w="257614"/>
                <a:gridCol w="1525420"/>
              </a:tblGrid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선행연구 자료조사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2022.07.25</a:t>
                      </a: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맑은 고딕"/>
                          <a:cs typeface="Times New Roman"/>
                        </a:rPr>
                        <a:t>2022.08.16</a:t>
                      </a:r>
                      <a:endParaRPr kumimoji="0" lang="en-US" altLang="ko-KR" sz="1200" b="0" i="0" u="none" strike="noStrike" kern="1200" cap="none" spc="0" normalizeH="0" baseline="0">
                        <a:solidFill>
                          <a:prstClr val="black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100</a:t>
                      </a: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Free Flyer </a:t>
                      </a: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프로그램 학습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2022.08.16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/>
                <a:gridCol w="4314919"/>
              </a:tblGrid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 대한 위성군 개발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 dirty="0" err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Free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Flyer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소프트웨어 </a:t>
            </a: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선행 </a:t>
            </a:r>
            <a:r>
              <a:rPr lang="ko-KR" altLang="en-US" dirty="0"/>
              <a:t>연구 조사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Figure Of Merit (FOM)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대안에 비해 장치, 시스템 또는 방법의 성능을 특성화하는데 사용되는 수량(quantity)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en-US" altLang="ko-KR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2749" y="1950710"/>
            <a:ext cx="7757067" cy="37382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Figure Of Merit (FOM)</a:t>
            </a:r>
            <a:endParaRPr lang="en-US" altLang="ko-KR"/>
          </a:p>
          <a:p>
            <a:pPr lvl="1">
              <a:defRPr/>
            </a:pP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6739" y="1558668"/>
            <a:ext cx="4293196" cy="4508807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848165" y="1233641"/>
            <a:ext cx="3681195" cy="4707194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188448" y="6080502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임무 운용을 위한 성능지수의 정의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접근가능지역</a:t>
            </a:r>
            <a:r>
              <a:rPr lang="en-US" altLang="ko-KR"/>
              <a:t>(Accessible Area)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최대</a:t>
            </a:r>
            <a:r>
              <a:rPr lang="en-US" altLang="ko-KR"/>
              <a:t>,</a:t>
            </a:r>
            <a:r>
              <a:rPr lang="ko-KR" altLang="en-US"/>
              <a:t> 최소</a:t>
            </a:r>
            <a:r>
              <a:rPr lang="en-US" altLang="ko-KR"/>
              <a:t>,</a:t>
            </a:r>
            <a:r>
              <a:rPr lang="ko-KR" altLang="en-US"/>
              <a:t> 평균 커버리지 비율</a:t>
            </a:r>
            <a:r>
              <a:rPr lang="en-US" altLang="ko-KR"/>
              <a:t>(Coverage Percentages)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최대</a:t>
            </a:r>
            <a:r>
              <a:rPr lang="en-US" altLang="ko-KR"/>
              <a:t>,</a:t>
            </a:r>
            <a:r>
              <a:rPr lang="ko-KR" altLang="en-US"/>
              <a:t> 최소</a:t>
            </a:r>
            <a:r>
              <a:rPr lang="en-US" altLang="ko-KR"/>
              <a:t>,</a:t>
            </a:r>
            <a:r>
              <a:rPr lang="ko-KR" altLang="en-US"/>
              <a:t> 평균 재방문주기</a:t>
            </a:r>
            <a:r>
              <a:rPr lang="en-US" altLang="ko-KR"/>
              <a:t>(Revisit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최대</a:t>
            </a:r>
            <a:r>
              <a:rPr lang="en-US" altLang="ko-KR"/>
              <a:t>,</a:t>
            </a:r>
            <a:r>
              <a:rPr lang="ko-KR" altLang="en-US"/>
              <a:t> 최소</a:t>
            </a:r>
            <a:r>
              <a:rPr lang="en-US" altLang="ko-KR"/>
              <a:t>,</a:t>
            </a:r>
            <a:r>
              <a:rPr lang="ko-KR" altLang="en-US"/>
              <a:t> 평균 시스템응답주기</a:t>
            </a:r>
            <a:r>
              <a:rPr lang="en-US" altLang="ko-KR"/>
              <a:t>(System Response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관측 지역과 지상국의 가시성</a:t>
            </a:r>
            <a:r>
              <a:rPr lang="en-US" altLang="ko-KR"/>
              <a:t>(Ground Stations Visibility)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조도 조건 및 태양의 위치</a:t>
            </a:r>
            <a:endParaRPr lang="ko-KR" altLang="en-US"/>
          </a:p>
          <a:p>
            <a:pPr marL="396000" lvl="2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임무 운용을 위한 성능지수의 정의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396000" lvl="2" indent="0">
              <a:buNone/>
              <a:defRPr/>
            </a:pPr>
            <a:endParaRPr lang="ko-KR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8691" y="1534704"/>
            <a:ext cx="4065556" cy="4419084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188448" y="6008603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접근가능지역</a:t>
            </a:r>
            <a:r>
              <a:rPr lang="en-US" altLang="ko-KR"/>
              <a:t>(Accessible Area)</a:t>
            </a:r>
            <a:endParaRPr lang="en-US" altLang="ko-KR"/>
          </a:p>
          <a:p>
            <a:pPr marL="396000" lvl="2" indent="0">
              <a:buNone/>
              <a:defRPr/>
            </a:pPr>
            <a:endParaRPr lang="ko-KR" altLang="en-US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5648" y="1596048"/>
            <a:ext cx="6977022" cy="4323676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188448" y="6004302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351207" y="5520536"/>
            <a:ext cx="4572001" cy="287809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(SSO)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시스템 응답주기</a:t>
            </a:r>
            <a:r>
              <a:rPr lang="en-US" altLang="ko-KR"/>
              <a:t>(System Response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사용자가 영상촬영을 요청할 때부터 활용가능한 표준영상을 받을 때까지의 시간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 응답주기가 짧을수록 임무에 대해 높은 성능을 가짐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이를 위해 재방문주기 성능 향상이 요구됨</a:t>
            </a:r>
            <a:endParaRPr lang="ko-KR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58461" y="3062287"/>
            <a:ext cx="1771650" cy="733425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16936" y="2514604"/>
            <a:ext cx="7064888" cy="3636339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36766" y="6127921"/>
            <a:ext cx="8238617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187996" y="1852508"/>
            <a:ext cx="1771650" cy="733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재방문 주기</a:t>
            </a:r>
            <a:r>
              <a:rPr lang="en-US" altLang="ko-KR"/>
              <a:t>(Revisit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위성군이 관심 지역에 접근</a:t>
            </a:r>
            <a:r>
              <a:rPr lang="en-US" altLang="ko-KR"/>
              <a:t>(</a:t>
            </a:r>
            <a:r>
              <a:rPr lang="ko-KR" altLang="en-US"/>
              <a:t>관측</a:t>
            </a:r>
            <a:r>
              <a:rPr lang="en-US" altLang="ko-KR"/>
              <a:t>) </a:t>
            </a:r>
            <a:r>
              <a:rPr lang="ko-KR" altLang="en-US"/>
              <a:t>가능한 시간 사이의 관측 공백 시간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이 연구에서 사용한 평균 재방문 주기</a:t>
            </a: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/>
              <a:t>      = </a:t>
            </a:r>
            <a:r>
              <a:rPr lang="ko-KR" altLang="en-US"/>
              <a:t>시뮬레이션 기간 동안 발생한 모든 관측 공백 시간의 합 </a:t>
            </a:r>
            <a:r>
              <a:rPr lang="en-US" altLang="ko-KR"/>
              <a:t>/ </a:t>
            </a:r>
            <a:r>
              <a:rPr lang="ko-KR" altLang="en-US"/>
              <a:t>총 공백 횟수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최소 및 최대 재방문주기 </a:t>
            </a:r>
            <a:r>
              <a:rPr lang="en-US" altLang="ko-KR"/>
              <a:t>: </a:t>
            </a:r>
            <a:r>
              <a:rPr lang="ko-KR" altLang="en-US"/>
              <a:t>각각 전체 시뮬레이션 기간동안 기록된 재방문주기의 </a:t>
            </a: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/>
              <a:t>      </a:t>
            </a:r>
            <a:r>
              <a:rPr lang="ko-KR" altLang="en-US"/>
              <a:t>최소 및 최대값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재방문주기의 표준편차 </a:t>
            </a:r>
            <a:r>
              <a:rPr lang="en-US" altLang="ko-KR"/>
              <a:t>: </a:t>
            </a:r>
            <a:r>
              <a:rPr lang="ko-KR" altLang="en-US"/>
              <a:t>모든 재방문주기의 표본 표준편차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동역학 시뮬레이션 환경에서는 내부 영역을 </a:t>
            </a:r>
            <a:r>
              <a:rPr lang="en-US" altLang="ko-KR"/>
              <a:t>0.25</a:t>
            </a:r>
            <a:r>
              <a:rPr lang="ko-KR" altLang="en-US"/>
              <a:t>˚의 격자로 나누어 설정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1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9228" y="3724351"/>
            <a:ext cx="6600780" cy="2252337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905384" y="6086237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>
              <a:buFont typeface="Wingdings"/>
              <a:buNone/>
              <a:defRPr/>
            </a:pPr>
            <a:r>
              <a:rPr lang="ko-KR" altLang="en-US" sz="1300" b="1"/>
              <a:t>출처 </a:t>
            </a:r>
            <a:r>
              <a:rPr lang="en-US" altLang="ko-KR" sz="1300" b="1"/>
              <a:t>(</a:t>
            </a:r>
            <a:r>
              <a:rPr lang="ko-KR" altLang="en-US" sz="1300" b="1"/>
              <a:t>지역 커버리지 초소형 위성군 궤도 설계와 위성군 궤도 전개 연구</a:t>
            </a:r>
            <a:r>
              <a:rPr lang="en-US" altLang="ko-KR" sz="1300" b="1"/>
              <a:t>, 2020 </a:t>
            </a:r>
            <a:r>
              <a:rPr lang="ko-KR" altLang="en-US" sz="1300" b="1"/>
              <a:t>신진영</a:t>
            </a:r>
            <a:r>
              <a:rPr lang="en-US" altLang="ko-KR" sz="1300" b="1"/>
              <a:t>)</a:t>
            </a:r>
            <a:endParaRPr lang="ko-KR" alt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76003" y="1656889"/>
            <a:ext cx="5689588" cy="4322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6289" y="1741005"/>
            <a:ext cx="8365614" cy="3857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8386" y="1524942"/>
            <a:ext cx="3206692" cy="2263404"/>
          </a:xfrm>
          <a:prstGeom prst="rect">
            <a:avLst/>
          </a:prstGeom>
        </p:spPr>
      </p:pic>
      <p:pic>
        <p:nvPicPr>
          <p:cNvPr id="2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46883" y="1487194"/>
            <a:ext cx="3279589" cy="2263942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90779" y="4016965"/>
            <a:ext cx="3186319" cy="2196537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363065" y="3992779"/>
            <a:ext cx="3308307" cy="2292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52383" y="1544484"/>
            <a:ext cx="6376424" cy="4591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4082" y="1534800"/>
            <a:ext cx="7439464" cy="5100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64518" y="1444112"/>
            <a:ext cx="7414964" cy="4963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접근가능지역</a:t>
            </a:r>
            <a:r>
              <a:rPr lang="en-US" altLang="ko-KR"/>
              <a:t>(Accessible Area)</a:t>
            </a:r>
            <a:endParaRPr lang="en-US" altLang="ko-KR"/>
          </a:p>
          <a:p>
            <a:pPr marL="396000" lvl="2" indent="0">
              <a:buNone/>
              <a:defRPr/>
            </a:pPr>
            <a:endParaRPr lang="ko-KR" altLang="en-US"/>
          </a:p>
        </p:txBody>
      </p:sp>
      <p:sp>
        <p:nvSpPr>
          <p:cNvPr id="16" name=""/>
          <p:cNvSpPr txBox="1"/>
          <p:nvPr/>
        </p:nvSpPr>
        <p:spPr>
          <a:xfrm>
            <a:off x="188448" y="6004302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6487" y="1592955"/>
            <a:ext cx="4437101" cy="4305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64518" y="1444112"/>
            <a:ext cx="7414964" cy="4963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Freeflyer software</a:t>
            </a:r>
            <a:endParaRPr lang="en-US" altLang="ko-KR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64518" y="1444112"/>
            <a:ext cx="7414964" cy="4963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위성군 설계 연구 공동 수행</a:t>
            </a:r>
            <a:endParaRPr lang="ko-KR" altLang="en-US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12465" y="1603576"/>
            <a:ext cx="3719069" cy="4338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위성군 설계 연구 공동 수행</a:t>
            </a:r>
            <a:endParaRPr lang="ko-KR" altLang="en-US"/>
          </a:p>
          <a:p>
            <a:pPr marL="216000" lvl="1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12465" y="1603576"/>
            <a:ext cx="3719069" cy="4338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연구계획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1">
              <a:defRPr/>
            </a:pPr>
            <a:r>
              <a:rPr lang="en-US" altLang="ko-KR"/>
              <a:t>Freeflyer</a:t>
            </a:r>
            <a:r>
              <a:rPr lang="ko-KR" altLang="en-US"/>
              <a:t>의 </a:t>
            </a:r>
            <a:r>
              <a:rPr lang="en-US" altLang="ko-KR"/>
              <a:t>analysis region</a:t>
            </a:r>
            <a:r>
              <a:rPr lang="ko-KR" altLang="en-US"/>
              <a:t>을 한반도로 설정하기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석사논문에 기재된 궤도 중 하나를 선정하여 적용해보기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이를 통해 성능지수 도출해보기</a:t>
            </a:r>
            <a:endParaRPr lang="ko-KR" altLang="en-US"/>
          </a:p>
          <a:p>
            <a:pPr marL="216000" lvl="1" indent="0">
              <a:buNone/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Microsoft</ep:Company>
  <ep:Words>440</ep:Words>
  <ep:PresentationFormat>화면 슬라이드 쇼(4:3)</ep:PresentationFormat>
  <ep:Paragraphs>123</ep:Paragraphs>
  <ep:Slides>25</ep:Slides>
  <ep:Notes>21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ep:HeadingPairs>
  <ep:TitlesOfParts>
    <vt:vector size="26" baseType="lpstr">
      <vt:lpstr>Office 테마</vt:lpstr>
      <vt:lpstr>정기 연구미팅 보고</vt:lpstr>
      <vt:lpstr>목차</vt:lpstr>
      <vt:lpstr>연구/개발 개요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결론</vt:lpstr>
      <vt:lpstr>요약 및 연구계획</vt:lpstr>
      <vt:lpstr>경청해 주셔서 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2018-01-29T02:45:56.000</dcterms:created>
  <dc:creator>KimGeuk-Nam</dc:creator>
  <cp:lastModifiedBy>ACL2022_13</cp:lastModifiedBy>
  <dcterms:modified xsi:type="dcterms:W3CDTF">2022-09-08T04:10:42.269</dcterms:modified>
  <cp:revision>3143</cp:revision>
  <dc:title>PowerPoint 프레젠테이션</dc:title>
  <cp:version>1000.0000.01</cp:version>
</cp:coreProperties>
</file>