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229" r:id="rId2"/>
    <p:sldId id="2250" r:id="rId3"/>
    <p:sldId id="2251" r:id="rId4"/>
    <p:sldId id="2232" r:id="rId5"/>
    <p:sldId id="2259" r:id="rId6"/>
    <p:sldId id="2254" r:id="rId7"/>
    <p:sldId id="2257" r:id="rId8"/>
    <p:sldId id="2258" r:id="rId9"/>
    <p:sldId id="2261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B021"/>
    <a:srgbClr val="D9541A"/>
    <a:srgbClr val="404040"/>
    <a:srgbClr val="FFFFFF"/>
    <a:srgbClr val="001E46"/>
    <a:srgbClr val="000A1E"/>
    <a:srgbClr val="FFCCCC"/>
    <a:srgbClr val="001432"/>
    <a:srgbClr val="FF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1" autoAdjust="0"/>
    <p:restoredTop sz="82161" autoAdjust="0"/>
  </p:normalViewPr>
  <p:slideViewPr>
    <p:cSldViewPr snapToGrid="0" showGuides="1">
      <p:cViewPr varScale="1">
        <p:scale>
          <a:sx n="90" d="100"/>
          <a:sy n="90" d="100"/>
        </p:scale>
        <p:origin x="235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2023-01-10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2023-01-10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ibrary.yonsei.ac.kr/search/detail/CAT000001820382?briefLink=/main/searchBrief?q=%EC%89%BD%EA%B2%8C+%EB%B0%B0%EC%9A%B0%EB%8A%94+matlab" TargetMode="External"/><Relationship Id="rId2" Type="http://schemas.openxmlformats.org/officeDocument/2006/relationships/hyperlink" Target="https://library.yonsei.ac.kr/search/detail/CAT000000899044?briefLink=/main/searchBrief?q=%EC%A0%9C%EB%8C%80%EB%A1%9C+%EB%B0%B0%EC%9A%B0%EB%8A%94+matlab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2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2023-01-10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정기 연구미팅 보고</a:t>
            </a:r>
          </a:p>
        </p:txBody>
      </p:sp>
    </p:spTree>
    <p:extLst>
      <p:ext uri="{BB962C8B-B14F-4D97-AF65-F5344CB8AC3E}">
        <p14:creationId xmlns:p14="http://schemas.microsoft.com/office/powerpoint/2010/main" val="189475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HYVRID</a:t>
            </a:r>
          </a:p>
          <a:p>
            <a:pPr lvl="1"/>
            <a:r>
              <a:rPr lang="en-US" altLang="ko-KR" dirty="0"/>
              <a:t>MATLAB </a:t>
            </a:r>
            <a:r>
              <a:rPr lang="ko-KR" altLang="en-US" dirty="0"/>
              <a:t>및 </a:t>
            </a:r>
            <a:r>
              <a:rPr lang="en-US" altLang="ko-KR" dirty="0"/>
              <a:t>SIMULINK </a:t>
            </a:r>
            <a:r>
              <a:rPr lang="ko-KR" altLang="en-US" dirty="0"/>
              <a:t>다루는 능력 기르기</a:t>
            </a:r>
            <a:endParaRPr lang="en-US" altLang="ko-KR" dirty="0"/>
          </a:p>
          <a:p>
            <a:pPr lvl="2"/>
            <a:r>
              <a:rPr lang="en-US" altLang="ko-KR" dirty="0"/>
              <a:t>MATLAB </a:t>
            </a:r>
            <a:r>
              <a:rPr lang="ko-KR" altLang="en-US" dirty="0"/>
              <a:t>교재</a:t>
            </a:r>
            <a:r>
              <a:rPr lang="en-US" altLang="ko-KR" dirty="0"/>
              <a:t>(</a:t>
            </a:r>
            <a:r>
              <a:rPr lang="ko-KR" altLang="en-US" b="0" i="0" u="none" strike="noStrike" dirty="0">
                <a:solidFill>
                  <a:srgbClr val="003875"/>
                </a:solidFill>
                <a:effectLst/>
                <a:latin typeface="NanumBarunGothic" panose="020B0603020101020101" pitchFamily="50" charset="-127"/>
                <a:ea typeface="NanumBarunGothic" panose="020B0603020101020101" pitchFamily="50" charset="-127"/>
                <a:hlinkClick r:id="rId2"/>
              </a:rPr>
              <a:t>제대로 배우는 </a:t>
            </a:r>
            <a:r>
              <a:rPr lang="en-US" altLang="ko-KR" b="0" i="0" u="none" strike="noStrike" dirty="0">
                <a:solidFill>
                  <a:srgbClr val="003875"/>
                </a:solidFill>
                <a:effectLst/>
                <a:latin typeface="NanumBarunGothic" panose="020B0603020101020101" pitchFamily="50" charset="-127"/>
                <a:ea typeface="NanumBarunGothic" panose="020B0603020101020101" pitchFamily="50" charset="-127"/>
                <a:hlinkClick r:id="rId2"/>
              </a:rPr>
              <a:t>MATLAB</a:t>
            </a:r>
            <a:r>
              <a:rPr lang="en-US" altLang="ko-KR" b="0" i="0" u="none" strike="noStrike" dirty="0">
                <a:solidFill>
                  <a:srgbClr val="003875"/>
                </a:solidFill>
                <a:effectLst/>
                <a:latin typeface="NanumBarunGothic" panose="020B0603020101020101" pitchFamily="50" charset="-127"/>
                <a:ea typeface="NanumBarunGothic" panose="020B0603020101020101" pitchFamily="50" charset="-127"/>
              </a:rPr>
              <a:t> </a:t>
            </a:r>
            <a:r>
              <a:rPr lang="en-US" altLang="ko-KR" b="0" i="0" u="none" strike="noStrike" dirty="0">
                <a:solidFill>
                  <a:srgbClr val="003875"/>
                </a:solidFill>
                <a:effectLst/>
                <a:latin typeface="NanumBarunGothic" panose="020B0603020101020101" pitchFamily="50" charset="-127"/>
                <a:ea typeface="NanumBarunGothic" panose="020B0603020101020101" pitchFamily="50" charset="-127"/>
                <a:hlinkClick r:id="rId3"/>
              </a:rPr>
              <a:t>: 2014</a:t>
            </a:r>
            <a:r>
              <a:rPr lang="en-US" altLang="ko-KR" dirty="0"/>
              <a:t>)</a:t>
            </a:r>
            <a:r>
              <a:rPr lang="ko-KR" altLang="en-US" dirty="0"/>
              <a:t>와 신입생 자료 복습하기</a:t>
            </a:r>
            <a:endParaRPr lang="en-US" altLang="ko-KR" dirty="0"/>
          </a:p>
          <a:p>
            <a:pPr lvl="2"/>
            <a:r>
              <a:rPr lang="en-US" altLang="ko-KR" dirty="0"/>
              <a:t>EPS code </a:t>
            </a:r>
            <a:r>
              <a:rPr lang="ko-KR" altLang="en-US" dirty="0"/>
              <a:t>공부도 병행하기 </a:t>
            </a:r>
            <a:r>
              <a:rPr lang="en-US" altLang="ko-KR" dirty="0"/>
              <a:t>– </a:t>
            </a:r>
            <a:r>
              <a:rPr lang="ko-KR" altLang="en-US" dirty="0" err="1"/>
              <a:t>한줄</a:t>
            </a:r>
            <a:r>
              <a:rPr lang="ko-KR" altLang="en-US" dirty="0"/>
              <a:t> </a:t>
            </a:r>
            <a:r>
              <a:rPr lang="ko-KR" altLang="en-US" dirty="0" err="1"/>
              <a:t>한줄</a:t>
            </a:r>
            <a:r>
              <a:rPr lang="ko-KR" altLang="en-US" dirty="0"/>
              <a:t> 뜯어보면서 코드분석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EPS </a:t>
            </a:r>
            <a:r>
              <a:rPr lang="ko-KR" altLang="en-US" dirty="0"/>
              <a:t>하드웨어 특성 및 기능 숙지하기</a:t>
            </a:r>
            <a:endParaRPr lang="en-US" altLang="ko-KR" dirty="0"/>
          </a:p>
          <a:p>
            <a:pPr lvl="2"/>
            <a:r>
              <a:rPr lang="en-US" altLang="ko-KR" dirty="0"/>
              <a:t>PCDU, Solar Cell, Battery </a:t>
            </a:r>
            <a:r>
              <a:rPr lang="ko-KR" altLang="en-US" dirty="0"/>
              <a:t>데이터시트 수치까지 외울 정도로 자주 들여다보기</a:t>
            </a:r>
            <a:endParaRPr lang="en-US" altLang="ko-KR" dirty="0"/>
          </a:p>
          <a:p>
            <a:pPr lvl="2"/>
            <a:r>
              <a:rPr lang="ko-KR" altLang="en-US" dirty="0"/>
              <a:t>이해 안되는 내용들 </a:t>
            </a:r>
            <a:r>
              <a:rPr lang="en-US" altLang="ko-KR" dirty="0"/>
              <a:t>Reference </a:t>
            </a:r>
            <a:r>
              <a:rPr lang="ko-KR" altLang="en-US" dirty="0"/>
              <a:t>찾아보거나 메모해두고 선배님께 질문하기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팀 미팅 </a:t>
            </a:r>
            <a:r>
              <a:rPr lang="en-US" altLang="ko-KR" dirty="0"/>
              <a:t>(</a:t>
            </a:r>
            <a:r>
              <a:rPr lang="ko-KR" altLang="en-US" dirty="0"/>
              <a:t>매주 수요일 오후 </a:t>
            </a:r>
            <a:r>
              <a:rPr lang="en-US" altLang="ko-KR" dirty="0"/>
              <a:t>4</a:t>
            </a:r>
            <a:r>
              <a:rPr lang="ko-KR" altLang="en-US" dirty="0"/>
              <a:t>시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매주 팀 미팅 보고에서 받은 피드백 내용 숙지한 후 적용하기</a:t>
            </a:r>
            <a:endParaRPr lang="en-US" altLang="ko-KR" dirty="0"/>
          </a:p>
          <a:p>
            <a:pPr lvl="2"/>
            <a:r>
              <a:rPr lang="en-US" altLang="ko-KR" dirty="0"/>
              <a:t>Teams</a:t>
            </a:r>
            <a:r>
              <a:rPr lang="ko-KR" altLang="en-US" dirty="0"/>
              <a:t>에 월간 계획</a:t>
            </a:r>
            <a:r>
              <a:rPr lang="en-US" altLang="ko-KR" dirty="0"/>
              <a:t>,</a:t>
            </a:r>
            <a:r>
              <a:rPr lang="ko-KR" altLang="en-US" dirty="0"/>
              <a:t> 달성도</a:t>
            </a:r>
            <a:r>
              <a:rPr lang="en-US" altLang="ko-KR" dirty="0"/>
              <a:t>, Action Item </a:t>
            </a:r>
            <a:r>
              <a:rPr lang="ko-KR" altLang="en-US" dirty="0"/>
              <a:t>등 진행상황 공유하기 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marL="612000" lvl="3" indent="0">
              <a:buNone/>
            </a:pPr>
            <a:endParaRPr lang="en-US" altLang="ko-KR" dirty="0"/>
          </a:p>
          <a:p>
            <a:pPr marL="612000" lvl="3" indent="0">
              <a:buNone/>
            </a:pPr>
            <a:endParaRPr lang="en-US" altLang="ko-KR" dirty="0"/>
          </a:p>
          <a:p>
            <a:pPr marL="612000" lvl="3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방학기간 중 개선할 사항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054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257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929314"/>
          </a:xfrm>
        </p:spPr>
        <p:txBody>
          <a:bodyPr/>
          <a:lstStyle/>
          <a:p>
            <a:r>
              <a:rPr lang="ko-KR" altLang="en-US" dirty="0"/>
              <a:t>이종위성군</a:t>
            </a:r>
            <a:endParaRPr lang="en-US" altLang="ko-KR" dirty="0"/>
          </a:p>
          <a:p>
            <a:pPr lvl="1"/>
            <a:r>
              <a:rPr lang="en-US" altLang="ko-KR" dirty="0" err="1"/>
              <a:t>FreeFlyer</a:t>
            </a:r>
            <a:endParaRPr lang="en-US" altLang="ko-KR" dirty="0"/>
          </a:p>
          <a:p>
            <a:pPr lvl="2"/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학습내용을 코드에 적용하여 최적의 </a:t>
            </a:r>
            <a:r>
              <a:rPr lang="ko-KR" altLang="en-US" dirty="0" err="1"/>
              <a:t>탑재체</a:t>
            </a:r>
            <a:r>
              <a:rPr lang="ko-KR" altLang="en-US" dirty="0"/>
              <a:t> 성능 찾아보기 </a:t>
            </a:r>
            <a:endParaRPr lang="en-US" altLang="ko-KR" dirty="0"/>
          </a:p>
          <a:p>
            <a:pPr lvl="2"/>
            <a:r>
              <a:rPr lang="en-US" altLang="ko-KR" dirty="0" err="1"/>
              <a:t>FreeFlyer</a:t>
            </a:r>
            <a:r>
              <a:rPr lang="ko-KR" altLang="en-US" dirty="0"/>
              <a:t> 사이트의 </a:t>
            </a:r>
            <a:r>
              <a:rPr lang="en-US" altLang="ko-KR" dirty="0"/>
              <a:t>AI Solution </a:t>
            </a:r>
            <a:r>
              <a:rPr lang="ko-KR" altLang="en-US" dirty="0"/>
              <a:t>적극 활용하여 </a:t>
            </a:r>
            <a:r>
              <a:rPr lang="en-US" altLang="ko-KR" dirty="0"/>
              <a:t>code </a:t>
            </a:r>
            <a:r>
              <a:rPr lang="ko-KR" altLang="en-US" dirty="0"/>
              <a:t>공부하기</a:t>
            </a:r>
            <a:endParaRPr lang="en-US" altLang="ko-KR" dirty="0"/>
          </a:p>
          <a:p>
            <a:endParaRPr lang="en-US" altLang="ko-KR" sz="800" dirty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: </a:t>
            </a:r>
            <a:r>
              <a:rPr lang="ko-KR" altLang="en-US" dirty="0"/>
              <a:t>사례조사</a:t>
            </a:r>
            <a:r>
              <a:rPr lang="en-US" altLang="ko-KR" dirty="0"/>
              <a:t>, </a:t>
            </a:r>
            <a:r>
              <a:rPr lang="ko-KR" altLang="en-US" dirty="0"/>
              <a:t>사전연구조사</a:t>
            </a:r>
            <a:endParaRPr lang="en-US" altLang="ko-KR" dirty="0"/>
          </a:p>
          <a:p>
            <a:pPr lvl="2"/>
            <a:r>
              <a:rPr lang="en-US" altLang="ko-KR" dirty="0" err="1"/>
              <a:t>OptiSAR</a:t>
            </a:r>
            <a:r>
              <a:rPr lang="en-US" altLang="ko-KR" dirty="0"/>
              <a:t>(UrtheCast) </a:t>
            </a:r>
            <a:r>
              <a:rPr lang="ko-KR" altLang="en-US" dirty="0"/>
              <a:t>사례를 바탕으로 이종위성군에 대한 내용 복습하기</a:t>
            </a:r>
            <a:endParaRPr lang="en-US" altLang="ko-KR" dirty="0"/>
          </a:p>
          <a:p>
            <a:pPr lvl="3"/>
            <a:r>
              <a:rPr lang="ko-KR" altLang="en-US" dirty="0"/>
              <a:t>이종 위성군에 대한 추가적인 </a:t>
            </a:r>
            <a:r>
              <a:rPr lang="en-US" altLang="ko-KR" dirty="0"/>
              <a:t>Reference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조사하여 운용개념 분석해보기</a:t>
            </a:r>
            <a:endParaRPr lang="en-US" altLang="ko-KR" dirty="0"/>
          </a:p>
          <a:p>
            <a:pPr lvl="3"/>
            <a:endParaRPr lang="en-US" altLang="ko-KR" sz="400" dirty="0"/>
          </a:p>
          <a:p>
            <a:pPr lvl="2"/>
            <a:r>
              <a:rPr lang="ko-KR" altLang="en-US" dirty="0"/>
              <a:t>황영민</a:t>
            </a:r>
            <a:r>
              <a:rPr lang="en-US" altLang="ko-KR" dirty="0"/>
              <a:t>(2019) </a:t>
            </a:r>
            <a:r>
              <a:rPr lang="ko-KR" altLang="en-US" dirty="0"/>
              <a:t>신진영</a:t>
            </a:r>
            <a:r>
              <a:rPr lang="en-US" altLang="ko-KR" dirty="0"/>
              <a:t>(2020) </a:t>
            </a:r>
            <a:r>
              <a:rPr lang="ko-KR" altLang="en-US" dirty="0"/>
              <a:t>논문 복습하여 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설계기법 익히기</a:t>
            </a:r>
            <a:endParaRPr lang="en-US" altLang="ko-KR" sz="600" dirty="0"/>
          </a:p>
          <a:p>
            <a:pPr lvl="2"/>
            <a:r>
              <a:rPr lang="ko-KR" altLang="en-US" dirty="0"/>
              <a:t>이 내용들을 토대로 한반도 감시</a:t>
            </a:r>
            <a:r>
              <a:rPr lang="en-US" altLang="ko-KR" dirty="0"/>
              <a:t>/</a:t>
            </a:r>
            <a:r>
              <a:rPr lang="ko-KR" altLang="en-US" dirty="0"/>
              <a:t>정찰을 목적으로 하는 이종위성군 설계하기</a:t>
            </a:r>
            <a:endParaRPr lang="en-US" altLang="ko-KR" dirty="0"/>
          </a:p>
          <a:p>
            <a:pPr lvl="2"/>
            <a:endParaRPr lang="en-US" altLang="ko-KR" sz="1100" dirty="0"/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월 </a:t>
            </a:r>
            <a:r>
              <a:rPr lang="en-US" altLang="ko-KR" dirty="0"/>
              <a:t>: </a:t>
            </a:r>
            <a:r>
              <a:rPr lang="ko-KR" altLang="en-US" dirty="0"/>
              <a:t>성능지표 수립</a:t>
            </a:r>
            <a:endParaRPr lang="en-US" altLang="ko-KR" dirty="0"/>
          </a:p>
          <a:p>
            <a:pPr lvl="2"/>
            <a:r>
              <a:rPr lang="ko-KR" altLang="en-US" dirty="0"/>
              <a:t>시뮬레이션을 통해 재방문 주기</a:t>
            </a:r>
            <a:r>
              <a:rPr lang="en-US" altLang="ko-KR" dirty="0"/>
              <a:t>, </a:t>
            </a:r>
            <a:r>
              <a:rPr lang="ko-KR" altLang="en-US" dirty="0"/>
              <a:t>탐색완료시간 등의 최적의 성능지수를 찾아보기</a:t>
            </a:r>
            <a:endParaRPr lang="en-US" altLang="ko-KR" dirty="0"/>
          </a:p>
          <a:p>
            <a:pPr lvl="2"/>
            <a:r>
              <a:rPr lang="ko-KR" altLang="en-US" dirty="0"/>
              <a:t>탑재체에 따른 여러가지 운용모드를 공부하고 성능지수 찾아보기</a:t>
            </a:r>
            <a:endParaRPr lang="en-US" altLang="ko-KR" dirty="0"/>
          </a:p>
          <a:p>
            <a:pPr lvl="2"/>
            <a:endParaRPr lang="en-US" altLang="ko-KR" sz="1200" dirty="0"/>
          </a:p>
          <a:p>
            <a:pPr lvl="1"/>
            <a:r>
              <a:rPr lang="ko-KR" altLang="en-US" dirty="0"/>
              <a:t>팀 미팅 </a:t>
            </a:r>
            <a:r>
              <a:rPr lang="en-US" altLang="ko-KR" dirty="0"/>
              <a:t>(</a:t>
            </a:r>
            <a:r>
              <a:rPr lang="ko-KR" altLang="en-US" dirty="0"/>
              <a:t>매주 화</a:t>
            </a:r>
            <a:r>
              <a:rPr lang="en-US" altLang="ko-KR" dirty="0"/>
              <a:t>, </a:t>
            </a:r>
            <a:r>
              <a:rPr lang="ko-KR" altLang="en-US" dirty="0"/>
              <a:t>목 오후 </a:t>
            </a:r>
            <a:r>
              <a:rPr lang="en-US" altLang="ko-KR" dirty="0"/>
              <a:t>3</a:t>
            </a:r>
            <a:r>
              <a:rPr lang="ko-KR" altLang="en-US" dirty="0"/>
              <a:t>시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피드백 내용 숙지한 후 적용하기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방학기간 중 개선할 사항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694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C46F8AE-F028-6455-E0A6-536ADA749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F97E53A-BF58-8D1D-22D1-E46AF38EF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이종위성군 </a:t>
            </a:r>
            <a:r>
              <a:rPr lang="en-US" altLang="ko-KR"/>
              <a:t>(</a:t>
            </a:r>
            <a:r>
              <a:rPr lang="ko-KR" altLang="en-US"/>
              <a:t>특화센터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6A76EB1-B5F6-7E83-5FE5-AFA39984C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E4264EF-4A2F-9E2C-A2DB-68E2704F7875}"/>
              </a:ext>
            </a:extLst>
          </p:cNvPr>
          <p:cNvGraphicFramePr>
            <a:graphicFrameLocks/>
          </p:cNvGraphicFramePr>
          <p:nvPr/>
        </p:nvGraphicFramePr>
        <p:xfrm>
          <a:off x="257080" y="1905000"/>
          <a:ext cx="8629653" cy="30480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697871">
                  <a:extLst>
                    <a:ext uri="{9D8B030D-6E8A-4147-A177-3AD203B41FA5}">
                      <a16:colId xmlns:a16="http://schemas.microsoft.com/office/drawing/2014/main" val="1555289743"/>
                    </a:ext>
                  </a:extLst>
                </a:gridCol>
                <a:gridCol w="5456264">
                  <a:extLst>
                    <a:ext uri="{9D8B030D-6E8A-4147-A177-3AD203B41FA5}">
                      <a16:colId xmlns:a16="http://schemas.microsoft.com/office/drawing/2014/main" val="3090383927"/>
                    </a:ext>
                  </a:extLst>
                </a:gridCol>
                <a:gridCol w="1237759">
                  <a:extLst>
                    <a:ext uri="{9D8B030D-6E8A-4147-A177-3AD203B41FA5}">
                      <a16:colId xmlns:a16="http://schemas.microsoft.com/office/drawing/2014/main" val="604177315"/>
                    </a:ext>
                  </a:extLst>
                </a:gridCol>
                <a:gridCol w="1237759">
                  <a:extLst>
                    <a:ext uri="{9D8B030D-6E8A-4147-A177-3AD203B41FA5}">
                      <a16:colId xmlns:a16="http://schemas.microsoft.com/office/drawing/2014/main" val="9098811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목표일정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진행률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8993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[1]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이종위성군 사례조사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~ 2022.12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221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OptiSAR</a:t>
                      </a:r>
                      <a:r>
                        <a:rPr lang="en-US" altLang="ko-KR" sz="1400" dirty="0"/>
                        <a:t> (UrtheCast) </a:t>
                      </a:r>
                      <a:r>
                        <a:rPr lang="ko-KR" altLang="en-US" sz="1400" dirty="0"/>
                        <a:t>운용궤도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위성 수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/>
                        <a:t>탑재체</a:t>
                      </a:r>
                      <a:r>
                        <a:rPr lang="ko-KR" altLang="en-US" sz="1400" dirty="0"/>
                        <a:t> 성능 분석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6773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운용개념을 분석하여 궤도평면 내 </a:t>
                      </a:r>
                      <a:r>
                        <a:rPr lang="en-US" altLang="ko-KR" sz="1400" dirty="0"/>
                        <a:t>Optics/SAR </a:t>
                      </a:r>
                      <a:r>
                        <a:rPr lang="ko-KR" altLang="en-US" sz="1400" dirty="0"/>
                        <a:t>위성 배치 최적화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960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/>
                        <a:t>탑재체</a:t>
                      </a:r>
                      <a:r>
                        <a:rPr lang="ko-KR" altLang="en-US" sz="1400" dirty="0"/>
                        <a:t> 성능과 운용모드 분석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8715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[2]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한반도 감시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정찰 목적의 이종위성군 설계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~ 2023.01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1122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/>
                        <a:t>워커</a:t>
                      </a:r>
                      <a:r>
                        <a:rPr lang="en-US" altLang="ko-KR" sz="1400" dirty="0"/>
                        <a:t>-</a:t>
                      </a:r>
                      <a:r>
                        <a:rPr lang="ko-KR" altLang="en-US" sz="1400" dirty="0"/>
                        <a:t>델타 </a:t>
                      </a:r>
                      <a:r>
                        <a:rPr lang="ko-KR" altLang="en-US" sz="1400" dirty="0" err="1"/>
                        <a:t>위성군</a:t>
                      </a:r>
                      <a:r>
                        <a:rPr lang="ko-KR" altLang="en-US" sz="1400" dirty="0"/>
                        <a:t> 설계기법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6213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[3]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이종위성군 성능지표 수립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~ 2023.02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7704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감시정찰을 위한 성능지수 정의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재방문주기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탐색완료시간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6402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/>
                        <a:t>탑재체</a:t>
                      </a:r>
                      <a:r>
                        <a:rPr lang="ko-KR" altLang="en-US" sz="1400" dirty="0"/>
                        <a:t> 특성을 고려한 운용모드 별 성능지수 분석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7036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0611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257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929314"/>
          </a:xfrm>
        </p:spPr>
        <p:txBody>
          <a:bodyPr/>
          <a:lstStyle/>
          <a:p>
            <a:r>
              <a:rPr lang="ko-KR" altLang="en-US" dirty="0"/>
              <a:t>이종위성군</a:t>
            </a:r>
            <a:endParaRPr lang="en-US" altLang="ko-KR" dirty="0"/>
          </a:p>
          <a:p>
            <a:pPr lvl="1"/>
            <a:r>
              <a:rPr lang="en-US" altLang="ko-KR" dirty="0"/>
              <a:t>Feedback </a:t>
            </a:r>
            <a:r>
              <a:rPr lang="ko-KR" altLang="en-US" dirty="0"/>
              <a:t>내용</a:t>
            </a:r>
            <a:endParaRPr lang="en-US" altLang="ko-KR" dirty="0"/>
          </a:p>
          <a:p>
            <a:pPr lvl="2"/>
            <a:r>
              <a:rPr lang="en-US" altLang="ko-KR" dirty="0"/>
              <a:t>Optics</a:t>
            </a:r>
            <a:r>
              <a:rPr lang="ko-KR" altLang="en-US" dirty="0"/>
              <a:t>와 </a:t>
            </a:r>
            <a:r>
              <a:rPr lang="en-US" altLang="ko-KR" dirty="0"/>
              <a:t>SAR </a:t>
            </a:r>
            <a:r>
              <a:rPr lang="ko-KR" altLang="en-US" dirty="0" err="1"/>
              <a:t>탑재체</a:t>
            </a:r>
            <a:r>
              <a:rPr lang="ko-KR" altLang="en-US" dirty="0"/>
              <a:t> 성능</a:t>
            </a:r>
            <a:r>
              <a:rPr lang="en-US" altLang="ko-KR" dirty="0"/>
              <a:t>, </a:t>
            </a:r>
            <a:r>
              <a:rPr lang="ko-KR" altLang="en-US" dirty="0"/>
              <a:t>특성 각각 조사하기</a:t>
            </a:r>
            <a:endParaRPr lang="en-US" altLang="ko-KR" dirty="0"/>
          </a:p>
          <a:p>
            <a:pPr lvl="3"/>
            <a:r>
              <a:rPr lang="ko-KR" altLang="en-US" dirty="0"/>
              <a:t>이를 위해 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공부</a:t>
            </a:r>
            <a:endParaRPr lang="en-US" altLang="ko-KR" dirty="0"/>
          </a:p>
          <a:p>
            <a:pPr lvl="3"/>
            <a:r>
              <a:rPr lang="ko-KR" altLang="en-US" dirty="0"/>
              <a:t>추가적으로 다른 설계기법도 공부 </a:t>
            </a:r>
            <a:r>
              <a:rPr lang="en-US" altLang="ko-KR" dirty="0"/>
              <a:t>(</a:t>
            </a:r>
            <a:r>
              <a:rPr lang="ko-KR" altLang="en-US" dirty="0"/>
              <a:t>황영민</a:t>
            </a:r>
            <a:r>
              <a:rPr lang="en-US" altLang="ko-KR" dirty="0"/>
              <a:t>, </a:t>
            </a:r>
            <a:r>
              <a:rPr lang="ko-KR" altLang="en-US" dirty="0"/>
              <a:t>신진영 석사논문 참고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각 국의 </a:t>
            </a:r>
            <a:r>
              <a:rPr lang="en-US" altLang="ko-KR" dirty="0"/>
              <a:t>SAR </a:t>
            </a:r>
            <a:r>
              <a:rPr lang="ko-KR" altLang="en-US" dirty="0" err="1"/>
              <a:t>위성군</a:t>
            </a:r>
            <a:r>
              <a:rPr lang="ko-KR" altLang="en-US" dirty="0"/>
              <a:t> 현재 운용 중인지 조사하기</a:t>
            </a:r>
            <a:endParaRPr lang="en-US" altLang="ko-KR" dirty="0"/>
          </a:p>
          <a:p>
            <a:pPr lvl="2"/>
            <a:r>
              <a:rPr lang="ko-KR" altLang="en-US" dirty="0"/>
              <a:t>교수님이 말씀하신 </a:t>
            </a:r>
            <a:r>
              <a:rPr lang="en-US" altLang="ko-KR" dirty="0" err="1"/>
              <a:t>OptiSAR</a:t>
            </a:r>
            <a:r>
              <a:rPr lang="en-US" altLang="ko-KR" dirty="0"/>
              <a:t> </a:t>
            </a:r>
            <a:r>
              <a:rPr lang="ko-KR" altLang="en-US" dirty="0"/>
              <a:t>위성군의 한 궤도평면 당 총 위성 수 확인하기</a:t>
            </a:r>
            <a:endParaRPr lang="en-US" altLang="ko-KR" dirty="0"/>
          </a:p>
          <a:p>
            <a:pPr marL="0" indent="0">
              <a:buNone/>
            </a:pPr>
            <a:endParaRPr lang="en-US" altLang="ko-KR" sz="800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방학기간 중 개선할 사항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680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HYVRID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  <a:p>
            <a:pPr marL="612000" lvl="3" indent="0">
              <a:buNone/>
            </a:pPr>
            <a:endParaRPr lang="en-US" altLang="ko-KR" dirty="0"/>
          </a:p>
          <a:p>
            <a:pPr marL="612000" lvl="3" indent="0">
              <a:buNone/>
            </a:pPr>
            <a:endParaRPr lang="en-US" altLang="ko-KR" dirty="0"/>
          </a:p>
          <a:p>
            <a:pPr marL="612000" lvl="3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주간계획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aphicFrame>
        <p:nvGraphicFramePr>
          <p:cNvPr id="5" name="표 8">
            <a:extLst>
              <a:ext uri="{FF2B5EF4-FFF2-40B4-BE49-F238E27FC236}">
                <a16:creationId xmlns:a16="http://schemas.microsoft.com/office/drawing/2014/main" id="{106BEB3F-E459-147C-D5B5-145F636FD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791855"/>
              </p:ext>
            </p:extLst>
          </p:nvPr>
        </p:nvGraphicFramePr>
        <p:xfrm>
          <a:off x="404847" y="1536758"/>
          <a:ext cx="8482069" cy="4707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7177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242482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242482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242482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242482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242482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242482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</a:tblGrid>
              <a:tr h="519165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월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화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수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목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금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토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573977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18072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HYVRID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신입생 자료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강 복습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MATLAB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교재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Chapter 01~02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공부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Datasheet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정독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- PCDU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EPS CODE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분석하기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900" b="0" strike="noStrike" dirty="0">
                          <a:solidFill>
                            <a:schemeClr val="tx1"/>
                          </a:solidFill>
                        </a:rPr>
                        <a:t>신입생 자료 </a:t>
                      </a:r>
                      <a:r>
                        <a:rPr lang="en-US" altLang="ko-KR" sz="900" b="0" strike="noStrike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900" b="0" strike="noStrike" dirty="0">
                          <a:solidFill>
                            <a:schemeClr val="tx1"/>
                          </a:solidFill>
                        </a:rPr>
                        <a:t>강 복습</a:t>
                      </a:r>
                      <a:endParaRPr lang="en-US" altLang="ko-KR" sz="9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900" b="0" strike="noStrike" dirty="0">
                          <a:solidFill>
                            <a:schemeClr val="tx1"/>
                          </a:solidFill>
                        </a:rPr>
                        <a:t>MATLAB </a:t>
                      </a:r>
                      <a:r>
                        <a:rPr lang="ko-KR" altLang="en-US" sz="900" b="0" strike="noStrike" dirty="0">
                          <a:solidFill>
                            <a:schemeClr val="tx1"/>
                          </a:solidFill>
                        </a:rPr>
                        <a:t>교재 </a:t>
                      </a:r>
                      <a:r>
                        <a:rPr lang="en-US" altLang="ko-KR" sz="900" b="0" strike="noStrike" dirty="0">
                          <a:solidFill>
                            <a:schemeClr val="tx1"/>
                          </a:solidFill>
                        </a:rPr>
                        <a:t>Chapter 03~04 </a:t>
                      </a:r>
                      <a:r>
                        <a:rPr lang="ko-KR" altLang="en-US" sz="900" b="0" strike="noStrike" dirty="0">
                          <a:solidFill>
                            <a:schemeClr val="tx1"/>
                          </a:solidFill>
                        </a:rPr>
                        <a:t>공부</a:t>
                      </a:r>
                      <a:endParaRPr lang="en-US" altLang="ko-KR" sz="9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Datasheet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정독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en-US" altLang="ko-KR" sz="900" b="0" strike="noStrike" dirty="0">
                          <a:solidFill>
                            <a:schemeClr val="tx1"/>
                          </a:solidFill>
                        </a:rPr>
                        <a:t>Solar panel, cell</a:t>
                      </a:r>
                      <a:endParaRPr lang="ko-KR" altLang="en-US" sz="900" b="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신입생 자료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강 복습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MATLAB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교재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Chapter 05~06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공부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Datasheet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정독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– battery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신입생 자료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강 복습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MATLAB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교재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Chapter 07~08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공부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Datasheet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정독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– battery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밀린 주간계획 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완료하기</a:t>
                      </a:r>
                    </a:p>
                  </a:txBody>
                  <a:tcPr marL="6928" marR="6928" marT="69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18072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이종위성군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900" b="0" strike="noStrike" dirty="0" err="1">
                          <a:solidFill>
                            <a:schemeClr val="tx1"/>
                          </a:solidFill>
                        </a:rPr>
                        <a:t>OptiSAR</a:t>
                      </a:r>
                      <a:r>
                        <a:rPr lang="ko-KR" altLang="en-US" sz="900" b="0" strike="noStrike" dirty="0">
                          <a:solidFill>
                            <a:schemeClr val="tx1"/>
                          </a:solidFill>
                        </a:rPr>
                        <a:t>와 관련된 논문 </a:t>
                      </a:r>
                      <a:r>
                        <a:rPr lang="ko-KR" altLang="en-US" sz="900" b="0" strike="noStrike" dirty="0" err="1">
                          <a:solidFill>
                            <a:schemeClr val="tx1"/>
                          </a:solidFill>
                        </a:rPr>
                        <a:t>찾아읽기</a:t>
                      </a:r>
                      <a:endParaRPr lang="en-US" altLang="ko-KR" sz="9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b="0" strike="noStrike" dirty="0">
                          <a:solidFill>
                            <a:schemeClr val="tx1"/>
                          </a:solidFill>
                        </a:rPr>
                        <a:t>선배님 피드백</a:t>
                      </a:r>
                      <a:r>
                        <a:rPr lang="en-US" altLang="ko-KR" sz="900" b="0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900" b="0" strike="noStrike" dirty="0">
                          <a:solidFill>
                            <a:schemeClr val="tx1"/>
                          </a:solidFill>
                        </a:rPr>
                        <a:t>내용 공부하여 미팅 자료에 추가하기</a:t>
                      </a:r>
                      <a:endParaRPr lang="en-US" altLang="ko-KR" sz="900" b="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900" b="0" strike="noStrike" dirty="0">
                          <a:solidFill>
                            <a:schemeClr val="tx1"/>
                          </a:solidFill>
                        </a:rPr>
                        <a:t>주간 연구미팅 자료 준비</a:t>
                      </a:r>
                      <a:endParaRPr lang="en-US" altLang="ko-KR" sz="900" b="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b="0" strike="noStrike" dirty="0">
                          <a:solidFill>
                            <a:schemeClr val="tx1"/>
                          </a:solidFill>
                        </a:rPr>
                        <a:t>석사논문 복습하기</a:t>
                      </a:r>
                      <a:endParaRPr lang="en-US" altLang="ko-KR" sz="9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b="0" strike="noStrike" dirty="0">
                          <a:solidFill>
                            <a:schemeClr val="tx1"/>
                          </a:solidFill>
                        </a:rPr>
                        <a:t>워커</a:t>
                      </a:r>
                      <a:r>
                        <a:rPr lang="en-US" altLang="ko-KR" sz="900" b="0" strike="noStrike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900" b="0" strike="noStrike" dirty="0">
                          <a:solidFill>
                            <a:schemeClr val="tx1"/>
                          </a:solidFill>
                        </a:rPr>
                        <a:t>델타 설계기법 익히기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b="0" strike="noStrike" dirty="0">
                          <a:solidFill>
                            <a:schemeClr val="tx1"/>
                          </a:solidFill>
                        </a:rPr>
                        <a:t>석사논문 복습하기</a:t>
                      </a:r>
                      <a:endParaRPr lang="en-US" altLang="ko-KR" sz="9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900" b="0" strike="noStrike" dirty="0">
                          <a:solidFill>
                            <a:schemeClr val="tx1"/>
                          </a:solidFill>
                        </a:rPr>
                        <a:t>위성군의 다른 설계기법들 익히기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sng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928" marR="6928" marT="69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7635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0257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664C14A-87CA-0261-BC79-66A74B13A2FA}"/>
              </a:ext>
            </a:extLst>
          </p:cNvPr>
          <p:cNvSpPr/>
          <p:nvPr/>
        </p:nvSpPr>
        <p:spPr bwMode="auto">
          <a:xfrm>
            <a:off x="257080" y="6305654"/>
            <a:ext cx="3453683" cy="360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  <a:p>
            <a:pPr marL="612000" lvl="3" indent="0">
              <a:buNone/>
            </a:pPr>
            <a:endParaRPr lang="en-US" altLang="ko-KR" dirty="0"/>
          </a:p>
          <a:p>
            <a:pPr marL="612000" lvl="3" indent="0">
              <a:buNone/>
            </a:pPr>
            <a:endParaRPr lang="en-US" altLang="ko-KR" dirty="0"/>
          </a:p>
          <a:p>
            <a:pPr marL="612000" lvl="3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일간계획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aphicFrame>
        <p:nvGraphicFramePr>
          <p:cNvPr id="5" name="표 8">
            <a:extLst>
              <a:ext uri="{FF2B5EF4-FFF2-40B4-BE49-F238E27FC236}">
                <a16:creationId xmlns:a16="http://schemas.microsoft.com/office/drawing/2014/main" id="{106BEB3F-E459-147C-D5B5-145F636FD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746395"/>
              </p:ext>
            </p:extLst>
          </p:nvPr>
        </p:nvGraphicFramePr>
        <p:xfrm>
          <a:off x="473553" y="990042"/>
          <a:ext cx="8196894" cy="5779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832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3471531">
                  <a:extLst>
                    <a:ext uri="{9D8B030D-6E8A-4147-A177-3AD203B41FA5}">
                      <a16:colId xmlns:a16="http://schemas.microsoft.com/office/drawing/2014/main" val="2976171904"/>
                    </a:ext>
                  </a:extLst>
                </a:gridCol>
                <a:gridCol w="3471531">
                  <a:extLst>
                    <a:ext uri="{9D8B030D-6E8A-4147-A177-3AD203B41FA5}">
                      <a16:colId xmlns:a16="http://schemas.microsoft.com/office/drawing/2014/main" val="2481504592"/>
                    </a:ext>
                  </a:extLst>
                </a:gridCol>
              </a:tblGrid>
              <a:tr h="2958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01.10 </a:t>
                      </a:r>
                      <a:r>
                        <a:rPr lang="ko-KR" altLang="en-US" sz="1300" dirty="0"/>
                        <a:t>화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HYVRID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/>
                        <a:t>위성군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09:00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err="1">
                          <a:solidFill>
                            <a:srgbClr val="FF0000"/>
                          </a:solidFill>
                        </a:rPr>
                        <a:t>Matlab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</a:rPr>
                        <a:t>교재 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</a:rPr>
                        <a:t>chapter 01</a:t>
                      </a:r>
                      <a:endParaRPr lang="ko-KR" altLang="en-US" sz="1300" dirty="0">
                        <a:solidFill>
                          <a:srgbClr val="FF0000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10:00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 err="1">
                          <a:solidFill>
                            <a:srgbClr val="FF0000"/>
                          </a:solidFill>
                        </a:rPr>
                        <a:t>Matlab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</a:rPr>
                        <a:t>교재 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</a:rPr>
                        <a:t>chapter 02</a:t>
                      </a:r>
                      <a:endParaRPr lang="ko-KR" altLang="en-US" sz="1300" dirty="0">
                        <a:solidFill>
                          <a:srgbClr val="FF0000"/>
                        </a:solidFill>
                      </a:endParaRP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138590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11:00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Datasheet</a:t>
                      </a:r>
                      <a:r>
                        <a:rPr lang="ko-KR" altLang="en-US" sz="1300" dirty="0"/>
                        <a:t> </a:t>
                      </a:r>
                      <a:r>
                        <a:rPr lang="en-US" altLang="ko-KR" sz="1300" dirty="0"/>
                        <a:t>–</a:t>
                      </a:r>
                      <a:r>
                        <a:rPr lang="ko-KR" altLang="en-US" sz="1300" dirty="0"/>
                        <a:t> </a:t>
                      </a:r>
                      <a:r>
                        <a:rPr lang="en-US" altLang="ko-KR" sz="1300" dirty="0"/>
                        <a:t>PCDU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215833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12:00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점심시간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17859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13:00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err="1">
                          <a:solidFill>
                            <a:srgbClr val="FF0000"/>
                          </a:solidFill>
                        </a:rPr>
                        <a:t>OptiSAR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</a:rPr>
                        <a:t>논문 복습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300" dirty="0" err="1">
                          <a:solidFill>
                            <a:srgbClr val="FF0000"/>
                          </a:solidFill>
                        </a:rPr>
                        <a:t>위성군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300" dirty="0" err="1">
                          <a:solidFill>
                            <a:srgbClr val="FF0000"/>
                          </a:solidFill>
                        </a:rPr>
                        <a:t>팀미팅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</a:rPr>
                        <a:t> 자료 준비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949216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14:00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 err="1">
                          <a:solidFill>
                            <a:srgbClr val="FF0000"/>
                          </a:solidFill>
                        </a:rPr>
                        <a:t>OptiSAR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</a:rPr>
                        <a:t>논문 복습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300" dirty="0" err="1">
                          <a:solidFill>
                            <a:srgbClr val="FF0000"/>
                          </a:solidFill>
                        </a:rPr>
                        <a:t>위성군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300" dirty="0" err="1">
                          <a:solidFill>
                            <a:srgbClr val="FF0000"/>
                          </a:solidFill>
                        </a:rPr>
                        <a:t>팀미팅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</a:rPr>
                        <a:t> 자료 준비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69556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15:00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/>
                        <a:t>위성군</a:t>
                      </a:r>
                      <a:r>
                        <a:rPr lang="ko-KR" altLang="en-US" sz="1300" dirty="0"/>
                        <a:t> </a:t>
                      </a:r>
                      <a:r>
                        <a:rPr lang="ko-KR" altLang="en-US" sz="1300" dirty="0" err="1"/>
                        <a:t>팀미팅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2448156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16:00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EPS CODE </a:t>
                      </a:r>
                      <a:r>
                        <a:rPr lang="ko-KR" altLang="en-US" sz="1300" dirty="0" err="1"/>
                        <a:t>분석마무리</a:t>
                      </a:r>
                      <a:r>
                        <a:rPr lang="ko-KR" altLang="en-US" sz="1300" dirty="0"/>
                        <a:t> </a:t>
                      </a:r>
                      <a:r>
                        <a:rPr lang="en-US" altLang="ko-KR" sz="1300" dirty="0"/>
                        <a:t>(main_make_sun_angle_for_analy_eps4.m)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936692"/>
                  </a:ext>
                </a:extLst>
              </a:tr>
              <a:tr h="19055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17:00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928076"/>
                  </a:ext>
                </a:extLst>
              </a:tr>
              <a:tr h="190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일간 발표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279796"/>
                  </a:ext>
                </a:extLst>
              </a:tr>
              <a:tr h="19055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18:00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371840"/>
                  </a:ext>
                </a:extLst>
              </a:tr>
              <a:tr h="190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저녁시간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250563"/>
                  </a:ext>
                </a:extLst>
              </a:tr>
              <a:tr h="19055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19:00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039208"/>
                  </a:ext>
                </a:extLst>
              </a:tr>
              <a:tr h="190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신입생 자료 </a:t>
                      </a:r>
                      <a:r>
                        <a:rPr lang="en-US" altLang="ko-KR" sz="1300" dirty="0"/>
                        <a:t>2</a:t>
                      </a:r>
                      <a:r>
                        <a:rPr lang="ko-KR" altLang="en-US" sz="1300" dirty="0"/>
                        <a:t>강 복습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643850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20:00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신입생 자료 </a:t>
                      </a:r>
                      <a:r>
                        <a:rPr lang="en-US" altLang="ko-KR" sz="1300" dirty="0"/>
                        <a:t>2</a:t>
                      </a:r>
                      <a:r>
                        <a:rPr lang="ko-KR" altLang="en-US" sz="1300" dirty="0"/>
                        <a:t>강 복습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67362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21:00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신입생 자료 </a:t>
                      </a:r>
                      <a:r>
                        <a:rPr lang="en-US" altLang="ko-KR" sz="1300" dirty="0"/>
                        <a:t>2</a:t>
                      </a:r>
                      <a:r>
                        <a:rPr lang="ko-KR" altLang="en-US" sz="1300" dirty="0"/>
                        <a:t>강 복습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22:00 ~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못한 일간계획 완료하기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156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3442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664C14A-87CA-0261-BC79-66A74B13A2FA}"/>
              </a:ext>
            </a:extLst>
          </p:cNvPr>
          <p:cNvSpPr/>
          <p:nvPr/>
        </p:nvSpPr>
        <p:spPr bwMode="auto">
          <a:xfrm>
            <a:off x="257080" y="6305654"/>
            <a:ext cx="3453683" cy="360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  <a:p>
            <a:pPr marL="612000" lvl="3" indent="0">
              <a:buNone/>
            </a:pPr>
            <a:endParaRPr lang="en-US" altLang="ko-KR" dirty="0"/>
          </a:p>
          <a:p>
            <a:pPr marL="612000" lvl="3" indent="0">
              <a:buNone/>
            </a:pPr>
            <a:endParaRPr lang="en-US" altLang="ko-KR" dirty="0"/>
          </a:p>
          <a:p>
            <a:pPr marL="612000" lvl="3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일간계획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aphicFrame>
        <p:nvGraphicFramePr>
          <p:cNvPr id="5" name="표 8">
            <a:extLst>
              <a:ext uri="{FF2B5EF4-FFF2-40B4-BE49-F238E27FC236}">
                <a16:creationId xmlns:a16="http://schemas.microsoft.com/office/drawing/2014/main" id="{106BEB3F-E459-147C-D5B5-145F636FD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730940"/>
              </p:ext>
            </p:extLst>
          </p:nvPr>
        </p:nvGraphicFramePr>
        <p:xfrm>
          <a:off x="473553" y="989766"/>
          <a:ext cx="8196894" cy="5631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832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3471531">
                  <a:extLst>
                    <a:ext uri="{9D8B030D-6E8A-4147-A177-3AD203B41FA5}">
                      <a16:colId xmlns:a16="http://schemas.microsoft.com/office/drawing/2014/main" val="2976171904"/>
                    </a:ext>
                  </a:extLst>
                </a:gridCol>
                <a:gridCol w="3471531">
                  <a:extLst>
                    <a:ext uri="{9D8B030D-6E8A-4147-A177-3AD203B41FA5}">
                      <a16:colId xmlns:a16="http://schemas.microsoft.com/office/drawing/2014/main" val="2481504592"/>
                    </a:ext>
                  </a:extLst>
                </a:gridCol>
              </a:tblGrid>
              <a:tr h="2958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01.11 </a:t>
                      </a:r>
                      <a:r>
                        <a:rPr lang="ko-KR" altLang="en-US" sz="1300" dirty="0"/>
                        <a:t>수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HYVRID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/>
                        <a:t>위성군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09:00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err="1"/>
                        <a:t>Matlab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교재 </a:t>
                      </a:r>
                      <a:r>
                        <a:rPr lang="en-US" altLang="ko-KR" sz="1300" dirty="0"/>
                        <a:t>chapter 03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10:00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 err="1"/>
                        <a:t>Matlab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교재 </a:t>
                      </a:r>
                      <a:r>
                        <a:rPr lang="en-US" altLang="ko-KR" sz="1300" dirty="0"/>
                        <a:t>chapter 04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138590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11:00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Datasheet</a:t>
                      </a:r>
                      <a:r>
                        <a:rPr lang="ko-KR" altLang="en-US" sz="1300" dirty="0"/>
                        <a:t> </a:t>
                      </a:r>
                      <a:r>
                        <a:rPr lang="en-US" altLang="ko-KR" sz="1300" dirty="0"/>
                        <a:t>–</a:t>
                      </a:r>
                      <a:r>
                        <a:rPr lang="ko-KR" altLang="en-US" sz="1300" dirty="0"/>
                        <a:t> </a:t>
                      </a:r>
                      <a:r>
                        <a:rPr lang="en-US" altLang="ko-KR" sz="1300" dirty="0"/>
                        <a:t>Solar Panel </a:t>
                      </a:r>
                      <a:r>
                        <a:rPr lang="ko-KR" altLang="en-US" sz="1300" dirty="0"/>
                        <a:t>정독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215833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12:00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점심시간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17859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13:00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Datasheet</a:t>
                      </a:r>
                      <a:r>
                        <a:rPr lang="ko-KR" altLang="en-US" sz="1300" dirty="0"/>
                        <a:t> </a:t>
                      </a:r>
                      <a:r>
                        <a:rPr lang="en-US" altLang="ko-KR" sz="1300" dirty="0"/>
                        <a:t>–</a:t>
                      </a:r>
                      <a:r>
                        <a:rPr lang="ko-KR" altLang="en-US" sz="1300" dirty="0"/>
                        <a:t> </a:t>
                      </a:r>
                      <a:r>
                        <a:rPr lang="en-US" altLang="ko-KR" sz="1300" dirty="0"/>
                        <a:t>Solar Panel </a:t>
                      </a:r>
                      <a:r>
                        <a:rPr lang="ko-KR" altLang="en-US" sz="1300" dirty="0"/>
                        <a:t>정독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949216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14:00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HYVRID </a:t>
                      </a:r>
                      <a:r>
                        <a:rPr lang="ko-KR" altLang="en-US" sz="1300" dirty="0" err="1"/>
                        <a:t>팀미팅</a:t>
                      </a:r>
                      <a:r>
                        <a:rPr lang="ko-KR" altLang="en-US" sz="1300" dirty="0"/>
                        <a:t> 자료 준비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69556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15:00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HYVRID </a:t>
                      </a:r>
                      <a:r>
                        <a:rPr lang="ko-KR" altLang="en-US" sz="1300" dirty="0" err="1"/>
                        <a:t>팀미팅</a:t>
                      </a:r>
                      <a:r>
                        <a:rPr lang="ko-KR" altLang="en-US" sz="1300" dirty="0"/>
                        <a:t> 자료 준비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2448156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16:00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HYVRID </a:t>
                      </a:r>
                      <a:r>
                        <a:rPr lang="ko-KR" altLang="en-US" sz="1300" dirty="0" err="1"/>
                        <a:t>팀미팅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936692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17:00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928076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18:00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저녁시간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371840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19:00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주간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연구 미팅 자료 준비 </a:t>
                      </a:r>
                      <a:r>
                        <a:rPr lang="en-US" altLang="ko-KR" sz="1300" dirty="0"/>
                        <a:t>(Feedback </a:t>
                      </a:r>
                      <a:r>
                        <a:rPr lang="ko-KR" altLang="en-US" sz="1300" dirty="0"/>
                        <a:t>적용</a:t>
                      </a:r>
                      <a:r>
                        <a:rPr lang="en-US" altLang="ko-KR" sz="1300" dirty="0"/>
                        <a:t>)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039208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20:00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주간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연구 미팅 자료 준비 </a:t>
                      </a:r>
                      <a:r>
                        <a:rPr lang="en-US" altLang="ko-KR" sz="1300" dirty="0"/>
                        <a:t>(Feedback </a:t>
                      </a:r>
                      <a:r>
                        <a:rPr lang="ko-KR" altLang="en-US" sz="1300" dirty="0"/>
                        <a:t>적용</a:t>
                      </a:r>
                      <a:r>
                        <a:rPr lang="en-US" altLang="ko-KR" sz="1300" dirty="0"/>
                        <a:t>)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67362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21:00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주간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연구 미팅 자료 준비 </a:t>
                      </a:r>
                      <a:r>
                        <a:rPr lang="en-US" altLang="ko-KR" sz="1300" dirty="0"/>
                        <a:t>(Feedback </a:t>
                      </a:r>
                      <a:r>
                        <a:rPr lang="ko-KR" altLang="en-US" sz="1300" dirty="0"/>
                        <a:t>적용</a:t>
                      </a:r>
                      <a:r>
                        <a:rPr lang="en-US" altLang="ko-KR" sz="1300" dirty="0"/>
                        <a:t>)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22:00 ~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못한 일간계획 완료하기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720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01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664C14A-87CA-0261-BC79-66A74B13A2FA}"/>
              </a:ext>
            </a:extLst>
          </p:cNvPr>
          <p:cNvSpPr/>
          <p:nvPr/>
        </p:nvSpPr>
        <p:spPr bwMode="auto">
          <a:xfrm>
            <a:off x="257080" y="6305654"/>
            <a:ext cx="3453683" cy="360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  <a:p>
            <a:pPr marL="612000" lvl="3" indent="0">
              <a:buNone/>
            </a:pPr>
            <a:endParaRPr lang="en-US" altLang="ko-KR" dirty="0"/>
          </a:p>
          <a:p>
            <a:pPr marL="612000" lvl="3" indent="0">
              <a:buNone/>
            </a:pPr>
            <a:endParaRPr lang="en-US" altLang="ko-KR" dirty="0"/>
          </a:p>
          <a:p>
            <a:pPr marL="612000" lvl="3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일간계획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aphicFrame>
        <p:nvGraphicFramePr>
          <p:cNvPr id="5" name="표 8">
            <a:extLst>
              <a:ext uri="{FF2B5EF4-FFF2-40B4-BE49-F238E27FC236}">
                <a16:creationId xmlns:a16="http://schemas.microsoft.com/office/drawing/2014/main" id="{106BEB3F-E459-147C-D5B5-145F636FD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972349"/>
              </p:ext>
            </p:extLst>
          </p:nvPr>
        </p:nvGraphicFramePr>
        <p:xfrm>
          <a:off x="473553" y="989766"/>
          <a:ext cx="8196894" cy="5705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832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3471531">
                  <a:extLst>
                    <a:ext uri="{9D8B030D-6E8A-4147-A177-3AD203B41FA5}">
                      <a16:colId xmlns:a16="http://schemas.microsoft.com/office/drawing/2014/main" val="2976171904"/>
                    </a:ext>
                  </a:extLst>
                </a:gridCol>
                <a:gridCol w="3471531">
                  <a:extLst>
                    <a:ext uri="{9D8B030D-6E8A-4147-A177-3AD203B41FA5}">
                      <a16:colId xmlns:a16="http://schemas.microsoft.com/office/drawing/2014/main" val="2481504592"/>
                    </a:ext>
                  </a:extLst>
                </a:gridCol>
              </a:tblGrid>
              <a:tr h="2958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01.12 </a:t>
                      </a:r>
                      <a:r>
                        <a:rPr lang="ko-KR" altLang="en-US" sz="1300" dirty="0"/>
                        <a:t>목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HYVRID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/>
                        <a:t>위성군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09:00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err="1"/>
                        <a:t>Matlab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교재 </a:t>
                      </a:r>
                      <a:r>
                        <a:rPr lang="en-US" altLang="ko-KR" sz="1300" dirty="0"/>
                        <a:t>chapter 05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10:00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 err="1"/>
                        <a:t>Matlab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교재 </a:t>
                      </a:r>
                      <a:r>
                        <a:rPr lang="en-US" altLang="ko-KR" sz="1300" dirty="0"/>
                        <a:t>chapter 06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138590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11:00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주간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연구 미팅 자료 준비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215833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12:00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주간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연구 미팅 자료 준비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17859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13:00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연구 미팅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949216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14:00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점심시간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69556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15:00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신입생 자료 </a:t>
                      </a:r>
                      <a:r>
                        <a:rPr lang="en-US" altLang="ko-KR" sz="1300" dirty="0"/>
                        <a:t>3</a:t>
                      </a:r>
                      <a:r>
                        <a:rPr lang="ko-KR" altLang="en-US" sz="1300" dirty="0"/>
                        <a:t>강 복습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2448156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16:00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신입생 자료 </a:t>
                      </a:r>
                      <a:r>
                        <a:rPr lang="en-US" altLang="ko-KR" sz="1300" dirty="0"/>
                        <a:t>3</a:t>
                      </a:r>
                      <a:r>
                        <a:rPr lang="ko-KR" altLang="en-US" sz="1300" dirty="0"/>
                        <a:t>강 복습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936692"/>
                  </a:ext>
                </a:extLst>
              </a:tr>
              <a:tr h="19055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17:00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928076"/>
                  </a:ext>
                </a:extLst>
              </a:tr>
              <a:tr h="190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일간 발표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852315"/>
                  </a:ext>
                </a:extLst>
              </a:tr>
              <a:tr h="19055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18:00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371840"/>
                  </a:ext>
                </a:extLst>
              </a:tr>
              <a:tr h="190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저녁시간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322906"/>
                  </a:ext>
                </a:extLst>
              </a:tr>
              <a:tr h="19055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19:00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저녁시간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039208"/>
                  </a:ext>
                </a:extLst>
              </a:tr>
              <a:tr h="1905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황영민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신진영 논문 복습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891705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20:00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황영민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신진영 논문 복습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67362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21:00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황영민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신진영 논문 복습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381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22:00 ~</a:t>
                      </a: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못한 일간계획 완료하기</a:t>
                      </a:r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dirty="0"/>
                    </a:p>
                  </a:txBody>
                  <a:tcPr marL="66509" marR="66509" marT="33254" marB="33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388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9810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79698</TotalTime>
  <Words>708</Words>
  <Application>Microsoft Office PowerPoint</Application>
  <PresentationFormat>화면 슬라이드 쇼(4:3)</PresentationFormat>
  <Paragraphs>248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NanumBarunGothic</vt:lpstr>
      <vt:lpstr>맑은 고딕</vt:lpstr>
      <vt:lpstr>Arial</vt:lpstr>
      <vt:lpstr>times</vt:lpstr>
      <vt:lpstr>Wingdings</vt:lpstr>
      <vt:lpstr>Office 테마</vt:lpstr>
      <vt:lpstr>정기 연구미팅 보고</vt:lpstr>
      <vt:lpstr>방학기간 중 개선할 사항</vt:lpstr>
      <vt:lpstr>방학기간 중 개선할 사항</vt:lpstr>
      <vt:lpstr>이종위성군 (특화센터)</vt:lpstr>
      <vt:lpstr>방학기간 중 개선할 사항</vt:lpstr>
      <vt:lpstr>주간계획</vt:lpstr>
      <vt:lpstr>일간계획</vt:lpstr>
      <vt:lpstr>일간계획</vt:lpstr>
      <vt:lpstr>일간계획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4501</cp:revision>
  <dcterms:created xsi:type="dcterms:W3CDTF">2018-01-29T02:45:56Z</dcterms:created>
  <dcterms:modified xsi:type="dcterms:W3CDTF">2023-01-10T08:29:05Z</dcterms:modified>
</cp:coreProperties>
</file>