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229" r:id="rId2"/>
    <p:sldId id="2239" r:id="rId3"/>
    <p:sldId id="2231" r:id="rId4"/>
    <p:sldId id="2232" r:id="rId5"/>
    <p:sldId id="2233" r:id="rId6"/>
    <p:sldId id="2238" r:id="rId7"/>
    <p:sldId id="2240" r:id="rId8"/>
    <p:sldId id="2242" r:id="rId9"/>
    <p:sldId id="2241" r:id="rId10"/>
    <p:sldId id="2243" r:id="rId11"/>
    <p:sldId id="2245" r:id="rId12"/>
    <p:sldId id="2246" r:id="rId13"/>
    <p:sldId id="2247" r:id="rId14"/>
    <p:sldId id="2248" r:id="rId15"/>
    <p:sldId id="2252" r:id="rId16"/>
    <p:sldId id="2249" r:id="rId17"/>
    <p:sldId id="2251" r:id="rId18"/>
    <p:sldId id="2253" r:id="rId19"/>
    <p:sldId id="2254" r:id="rId20"/>
    <p:sldId id="2255" r:id="rId21"/>
    <p:sldId id="2256" r:id="rId22"/>
    <p:sldId id="2257" r:id="rId23"/>
    <p:sldId id="2258" r:id="rId24"/>
    <p:sldId id="2259" r:id="rId25"/>
    <p:sldId id="2260" r:id="rId26"/>
    <p:sldId id="2236" r:id="rId27"/>
    <p:sldId id="2237" r:id="rId28"/>
    <p:sldId id="2261" r:id="rId29"/>
    <p:sldId id="2262" r:id="rId30"/>
    <p:sldId id="2228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353" autoAdjust="0"/>
  </p:normalViewPr>
  <p:slideViewPr>
    <p:cSldViewPr snapToGrid="0" showGuides="1">
      <p:cViewPr varScale="1">
        <p:scale>
          <a:sx n="81" d="100"/>
          <a:sy n="81" d="100"/>
        </p:scale>
        <p:origin x="102" y="132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2022-07-19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정기 연구미팅 보고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292996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지역 커버리지 초소형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</a:rPr>
                        <a:t>위성군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 궤도 설계 및 궤도 전개 연구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53F75E-15A2-4BF5-A8E7-EE692FC6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A1AB0-2DD1-4D19-ACCC-4ADC927A2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연구</a:t>
            </a:r>
            <a:r>
              <a:rPr lang="en-US" altLang="ko-KR" dirty="0"/>
              <a:t>/</a:t>
            </a:r>
            <a:r>
              <a:rPr lang="ko-KR" altLang="en-US" dirty="0"/>
              <a:t>개발 주제 및 성격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주요 목표 및 진행 상황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11B03C6-6A64-4E77-96F6-4C3D8A94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</a:t>
            </a:r>
            <a:r>
              <a:rPr lang="en-US" altLang="ko-KR" dirty="0"/>
              <a:t>/</a:t>
            </a:r>
            <a:r>
              <a:rPr lang="ko-KR" altLang="en-US" dirty="0"/>
              <a:t>개발 개요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A861C5A-F08F-4CA1-9457-D8BD26AC4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492272"/>
              </p:ext>
            </p:extLst>
          </p:nvPr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594345">
                  <a:extLst>
                    <a:ext uri="{9D8B030D-6E8A-4147-A177-3AD203B41FA5}">
                      <a16:colId xmlns:a16="http://schemas.microsoft.com/office/drawing/2014/main" val="1746969012"/>
                    </a:ext>
                  </a:extLst>
                </a:gridCol>
                <a:gridCol w="257614">
                  <a:extLst>
                    <a:ext uri="{9D8B030D-6E8A-4147-A177-3AD203B41FA5}">
                      <a16:colId xmlns:a16="http://schemas.microsoft.com/office/drawing/2014/main" val="3528031126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선행연구 자료조사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2022.07.19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2022.07.31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궤도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궤도 전개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FCFBBAD-69C8-4632-9371-78275EB16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55367"/>
              </p:ext>
            </p:extLst>
          </p:nvPr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지역 커버리지 초소형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위성군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궤도 설계 및 궤도 전개 연구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66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>
                <a:solidFill>
                  <a:schemeClr val="tx1"/>
                </a:solidFill>
              </a:rPr>
              <a:t>지역 커버리지 초소형 </a:t>
            </a:r>
            <a:r>
              <a:rPr lang="ko-KR" altLang="en-US" sz="3200" b="0" dirty="0" err="1">
                <a:solidFill>
                  <a:schemeClr val="tx1"/>
                </a:solidFill>
              </a:rPr>
              <a:t>위성군</a:t>
            </a:r>
            <a:r>
              <a:rPr lang="ko-KR" altLang="en-US" sz="3200" b="0" dirty="0">
                <a:solidFill>
                  <a:schemeClr val="tx1"/>
                </a:solidFill>
              </a:rPr>
              <a:t> 궤도 설계 및 </a:t>
            </a:r>
            <a:br>
              <a:rPr lang="en-US" altLang="ko-KR" sz="3200" b="0" dirty="0">
                <a:solidFill>
                  <a:schemeClr val="tx1"/>
                </a:solidFill>
              </a:rPr>
            </a:br>
            <a:r>
              <a:rPr lang="ko-KR" altLang="en-US" sz="3200" b="0" dirty="0">
                <a:solidFill>
                  <a:schemeClr val="tx1"/>
                </a:solidFill>
              </a:rPr>
              <a:t>궤도 전개 선행 연구 조사</a:t>
            </a:r>
            <a:br>
              <a:rPr lang="ko-KR" altLang="en-US" sz="3200" b="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연구 목적 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한반도 감시정찰을 위한 초소형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궤도 설계 목적</a:t>
            </a:r>
            <a:endParaRPr lang="en-US" altLang="ko-KR" dirty="0"/>
          </a:p>
          <a:p>
            <a:pPr marL="777150" lvl="2" indent="-285750"/>
            <a:r>
              <a:rPr lang="ko-KR" altLang="en-US" sz="1800" dirty="0"/>
              <a:t>저궤도 </a:t>
            </a:r>
            <a:r>
              <a:rPr lang="en-US" altLang="ko-KR" sz="1800" dirty="0"/>
              <a:t>/ </a:t>
            </a:r>
            <a:r>
              <a:rPr lang="ko-KR" altLang="en-US" sz="1800" dirty="0"/>
              <a:t>불연속 </a:t>
            </a:r>
            <a:r>
              <a:rPr lang="en-US" altLang="ko-KR" sz="1800" dirty="0"/>
              <a:t>/ </a:t>
            </a:r>
            <a:r>
              <a:rPr lang="ko-KR" altLang="en-US" sz="1800" dirty="0"/>
              <a:t>지역 커버리지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설계 문제에 속함</a:t>
            </a: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설계 조건을 반영하여 일반적인 설계 방법을 제시하고 위성군의 재방문 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</a:t>
            </a:r>
            <a:r>
              <a:rPr lang="ko-KR" altLang="en-US" sz="1800" dirty="0"/>
              <a:t>성능을 도출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Font typeface="Wingdings" panose="05000000000000000000" pitchFamily="2" charset="2"/>
              <a:buNone/>
            </a:pPr>
            <a:r>
              <a:rPr lang="ko-KR" altLang="en-US" sz="1600" b="1" dirty="0"/>
              <a:t>출처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지역 커버리지 초소형 </a:t>
            </a:r>
            <a:r>
              <a:rPr lang="ko-KR" altLang="en-US" sz="1600" b="1" dirty="0" err="1"/>
              <a:t>위성군</a:t>
            </a:r>
            <a:r>
              <a:rPr lang="ko-KR" altLang="en-US" sz="1600" b="1" dirty="0"/>
              <a:t> 궤도 설계와 </a:t>
            </a:r>
            <a:r>
              <a:rPr lang="ko-KR" altLang="en-US" sz="1600" b="1" dirty="0" err="1"/>
              <a:t>위성군</a:t>
            </a:r>
            <a:r>
              <a:rPr lang="ko-KR" altLang="en-US" sz="1600" b="1" dirty="0"/>
              <a:t> 궤도 전개 연구</a:t>
            </a:r>
            <a:r>
              <a:rPr lang="en-US" altLang="ko-KR" sz="1600" b="1" dirty="0"/>
              <a:t>, 2020 </a:t>
            </a:r>
            <a:r>
              <a:rPr lang="ko-KR" altLang="en-US" sz="1600" b="1" dirty="0"/>
              <a:t>신진영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4925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초소형 위성의 필요성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위성의 소형화가 진행되면서 초소형 위성으로 이루어진 </a:t>
            </a:r>
            <a:r>
              <a:rPr lang="ko-KR" altLang="en-US" dirty="0" err="1"/>
              <a:t>위성군</a:t>
            </a:r>
            <a:r>
              <a:rPr lang="ko-KR" altLang="en-US" dirty="0"/>
              <a:t> 임무가 국가와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민간 우주 사업에서 활발히 이루어지고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355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B1A4BE9A-E059-8E2A-C0BD-A3039DAA7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962403"/>
              </p:ext>
            </p:extLst>
          </p:nvPr>
        </p:nvGraphicFramePr>
        <p:xfrm>
          <a:off x="257081" y="1220911"/>
          <a:ext cx="862983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9247">
                  <a:extLst>
                    <a:ext uri="{9D8B030D-6E8A-4147-A177-3AD203B41FA5}">
                      <a16:colId xmlns:a16="http://schemas.microsoft.com/office/drawing/2014/main" val="499712561"/>
                    </a:ext>
                  </a:extLst>
                </a:gridCol>
                <a:gridCol w="5680591">
                  <a:extLst>
                    <a:ext uri="{9D8B030D-6E8A-4147-A177-3AD203B41FA5}">
                      <a16:colId xmlns:a16="http://schemas.microsoft.com/office/drawing/2014/main" val="1378540358"/>
                    </a:ext>
                  </a:extLst>
                </a:gridCol>
              </a:tblGrid>
              <a:tr h="34234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67368"/>
                  </a:ext>
                </a:extLst>
              </a:tr>
              <a:tr h="3423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운용목적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한반도 감시정찰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391417"/>
                  </a:ext>
                </a:extLst>
              </a:tr>
              <a:tr h="5909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저궤도에서 운용하면서도 특정 지역에 대한 위성군의 성능이 뛰어나야 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28487"/>
                  </a:ext>
                </a:extLst>
              </a:tr>
              <a:tr h="5909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궤도 전개 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추력을 이용한 궤도 전개 방법</a:t>
                      </a:r>
                      <a:endParaRPr lang="en-US" altLang="ko-KR" dirty="0"/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차등 대기 항력을 이용한 궤도 전개 방법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10609"/>
                  </a:ext>
                </a:extLst>
              </a:tr>
              <a:tr h="3423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위성 궤도의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저궤도 위성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65668"/>
                  </a:ext>
                </a:extLst>
              </a:tr>
              <a:tr h="3423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위성의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20~30</a:t>
                      </a:r>
                      <a:r>
                        <a:rPr lang="ko-KR" altLang="en-US" dirty="0"/>
                        <a:t>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709220"/>
                  </a:ext>
                </a:extLst>
              </a:tr>
              <a:tr h="3423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임무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서울을 포함한 한반도 인근의 주요 군사지역 </a:t>
                      </a:r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186109"/>
                  </a:ext>
                </a:extLst>
              </a:tr>
              <a:tr h="3376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설계 문제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불연속 지역 커버리지 설계 문제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568829"/>
                  </a:ext>
                </a:extLst>
              </a:tr>
              <a:tr h="3376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연구의 최종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재방문 주기를 최소화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370899"/>
                  </a:ext>
                </a:extLst>
              </a:tr>
              <a:tr h="3376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이를 위해 제시된 </a:t>
                      </a:r>
                      <a:r>
                        <a:rPr lang="ko-KR" altLang="en-US" dirty="0" err="1"/>
                        <a:t>위성군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동일 지상 궤적</a:t>
                      </a:r>
                      <a:r>
                        <a:rPr lang="en-US" altLang="ko-KR" dirty="0"/>
                        <a:t>(CGT)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위성군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69927"/>
                  </a:ext>
                </a:extLst>
              </a:tr>
              <a:tr h="5909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가장 중요하게 작용하는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궤도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궤도 경사각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319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76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전통적인 지역 커버리지 위성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지구 정지궤도 및 지구 동기궤도에서 운용</a:t>
            </a:r>
            <a:endParaRPr lang="en-US" altLang="ko-KR" sz="1800" dirty="0"/>
          </a:p>
          <a:p>
            <a:pPr lvl="1"/>
            <a:r>
              <a:rPr lang="ko-KR" altLang="en-US" dirty="0"/>
              <a:t>특정 지역을 적은 수의 위성으로 서비스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ko-KR" altLang="en-US" dirty="0"/>
              <a:t>소형 위성</a:t>
            </a:r>
            <a:endParaRPr lang="en-US" altLang="ko-KR" dirty="0"/>
          </a:p>
          <a:p>
            <a:endParaRPr lang="en-US" altLang="ko-KR" sz="1800" dirty="0"/>
          </a:p>
          <a:p>
            <a:pPr lvl="1"/>
            <a:r>
              <a:rPr lang="ko-KR" altLang="en-US" sz="1800" dirty="0"/>
              <a:t>저궤도에서 운용</a:t>
            </a:r>
            <a:r>
              <a:rPr lang="en-US" altLang="ko-KR" sz="1800" dirty="0"/>
              <a:t>(GEO, HEO </a:t>
            </a:r>
            <a:r>
              <a:rPr lang="ko-KR" altLang="en-US" sz="1800" dirty="0"/>
              <a:t>위성 이용 불가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dirty="0"/>
              <a:t>각 커버리지 성능이 낮음</a:t>
            </a:r>
            <a:endParaRPr lang="en-US" altLang="ko-KR" sz="1800" dirty="0"/>
          </a:p>
          <a:p>
            <a:pPr lvl="1"/>
            <a:r>
              <a:rPr lang="ko-KR" altLang="en-US" dirty="0"/>
              <a:t>제한된 </a:t>
            </a:r>
            <a:r>
              <a:rPr lang="ko-KR" altLang="en-US" dirty="0" err="1"/>
              <a:t>탑재체</a:t>
            </a:r>
            <a:r>
              <a:rPr lang="ko-KR" altLang="en-US" dirty="0"/>
              <a:t> 성능 및 낮은 고도 조건을 반영해야 함</a:t>
            </a:r>
            <a:endParaRPr lang="en-US" altLang="ko-KR" sz="1800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37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중대형 위성 </a:t>
            </a:r>
            <a:r>
              <a:rPr lang="en-US" altLang="ko-KR" sz="1800" dirty="0"/>
              <a:t>(ex. GPS, Iridium-Next, QZSS, IRNSS)</a:t>
            </a:r>
          </a:p>
          <a:p>
            <a:endParaRPr lang="en-US" altLang="ko-KR" sz="1800" dirty="0"/>
          </a:p>
          <a:p>
            <a:pPr lvl="1"/>
            <a:r>
              <a:rPr lang="ko-KR" altLang="en-US" sz="1800" dirty="0" err="1"/>
              <a:t>중궤도</a:t>
            </a:r>
            <a:r>
              <a:rPr lang="ko-KR" altLang="en-US" sz="1800" dirty="0"/>
              <a:t> </a:t>
            </a:r>
            <a:r>
              <a:rPr lang="en-US" altLang="ko-KR" sz="1800" dirty="0"/>
              <a:t>or </a:t>
            </a:r>
            <a:r>
              <a:rPr lang="ko-KR" altLang="en-US" sz="1800" dirty="0"/>
              <a:t>지구 정지궤도에서 운용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ko-KR" altLang="en-US" dirty="0"/>
              <a:t>소형 위성 </a:t>
            </a:r>
            <a:r>
              <a:rPr lang="en-US" altLang="ko-KR" sz="1800" b="0" dirty="0"/>
              <a:t>(ex. </a:t>
            </a:r>
            <a:r>
              <a:rPr lang="en-US" altLang="ko-KR" sz="1800" b="0" dirty="0" err="1"/>
              <a:t>SkySat</a:t>
            </a:r>
            <a:r>
              <a:rPr lang="en-US" altLang="ko-KR" sz="1800" b="0" dirty="0"/>
              <a:t>, ICEYE X </a:t>
            </a:r>
            <a:r>
              <a:rPr lang="ko-KR" altLang="en-US" sz="1800" b="0" dirty="0"/>
              <a:t>시리즈</a:t>
            </a:r>
            <a:r>
              <a:rPr lang="en-US" altLang="ko-KR" sz="1800" b="0" dirty="0"/>
              <a:t>, Capella</a:t>
            </a:r>
            <a:r>
              <a:rPr lang="ko-KR" altLang="en-US" sz="1800" b="0" dirty="0"/>
              <a:t> </a:t>
            </a:r>
            <a:r>
              <a:rPr lang="ko-KR" altLang="en-US" sz="1800" b="0" dirty="0" err="1"/>
              <a:t>위성군</a:t>
            </a:r>
            <a:r>
              <a:rPr lang="en-US" altLang="ko-KR" sz="1800" b="0" dirty="0"/>
              <a:t>)</a:t>
            </a:r>
          </a:p>
          <a:p>
            <a:endParaRPr lang="en-US" altLang="ko-KR" sz="1800" dirty="0"/>
          </a:p>
          <a:p>
            <a:pPr lvl="1"/>
            <a:r>
              <a:rPr lang="ko-KR" altLang="en-US" sz="1800" dirty="0"/>
              <a:t>저궤도에서 운용</a:t>
            </a:r>
            <a:endParaRPr lang="en-US" altLang="ko-KR" sz="1800" dirty="0"/>
          </a:p>
          <a:p>
            <a:pPr lvl="1"/>
            <a:r>
              <a:rPr lang="ko-KR" altLang="en-US" sz="1800" dirty="0" err="1"/>
              <a:t>탑재체</a:t>
            </a:r>
            <a:r>
              <a:rPr lang="ko-KR" altLang="en-US" sz="1800" dirty="0"/>
              <a:t> 성능이 동일할 때</a:t>
            </a:r>
            <a:r>
              <a:rPr lang="en-US" altLang="ko-KR" sz="1800" dirty="0"/>
              <a:t>, </a:t>
            </a:r>
            <a:r>
              <a:rPr lang="ko-KR" altLang="en-US" sz="1800" dirty="0"/>
              <a:t>고도가 높을수록 더 넓은 지역에 접근</a:t>
            </a:r>
            <a:endParaRPr lang="en-US" altLang="ko-KR" sz="1800" dirty="0"/>
          </a:p>
          <a:p>
            <a:pPr lvl="1"/>
            <a:r>
              <a:rPr lang="ko-KR" altLang="en-US" dirty="0"/>
              <a:t>중대형과 동일한 성능을 내기 위해서 상대적으로 많은 수의 위성을 사용해야 함</a:t>
            </a:r>
            <a:endParaRPr lang="en-US" altLang="ko-KR" sz="1800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4934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위성군의 종류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sz="1800" dirty="0"/>
              <a:t>1. </a:t>
            </a:r>
            <a:r>
              <a:rPr lang="ko-KR" altLang="en-US" sz="1800" dirty="0"/>
              <a:t>궤도의 고도</a:t>
            </a:r>
            <a:endParaRPr lang="en-US" altLang="ko-KR" sz="1800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커버리지 범위 </a:t>
            </a:r>
            <a:r>
              <a:rPr lang="en-US" altLang="ko-KR" dirty="0"/>
              <a:t>– </a:t>
            </a:r>
            <a:r>
              <a:rPr lang="ko-KR" altLang="en-US" dirty="0"/>
              <a:t>위성군이 서비스 구역으로 설정한 지역의 크기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sz="1400" dirty="0"/>
              <a:t>                                                  (1. </a:t>
            </a:r>
            <a:r>
              <a:rPr lang="ko-KR" altLang="en-US" sz="1400" dirty="0" err="1"/>
              <a:t>전지구</a:t>
            </a:r>
            <a:r>
              <a:rPr lang="ko-KR" altLang="en-US" sz="1400" dirty="0"/>
              <a:t> 커버리지  </a:t>
            </a:r>
            <a:r>
              <a:rPr lang="en-US" altLang="ko-KR" sz="1400" dirty="0"/>
              <a:t>2. </a:t>
            </a:r>
            <a:r>
              <a:rPr lang="ko-KR" altLang="en-US" sz="1400" dirty="0"/>
              <a:t>대상 커버리지  </a:t>
            </a:r>
            <a:r>
              <a:rPr lang="en-US" altLang="ko-KR" sz="1400" dirty="0"/>
              <a:t>3. </a:t>
            </a:r>
            <a:r>
              <a:rPr lang="ko-KR" altLang="en-US" sz="1400" dirty="0"/>
              <a:t>지역 커버리지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커버리지 연속성 </a:t>
            </a:r>
            <a:r>
              <a:rPr lang="en-US" altLang="ko-KR" dirty="0"/>
              <a:t>– </a:t>
            </a:r>
            <a:r>
              <a:rPr lang="ko-KR" altLang="en-US" dirty="0"/>
              <a:t>위성 커버리지의 시간적 연속성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sz="1400" dirty="0"/>
              <a:t>                                                       (1. </a:t>
            </a:r>
            <a:r>
              <a:rPr lang="ko-KR" altLang="en-US" sz="1400" dirty="0"/>
              <a:t>연속 커버리지 </a:t>
            </a:r>
            <a:r>
              <a:rPr lang="en-US" altLang="ko-KR" sz="1400" dirty="0"/>
              <a:t>– </a:t>
            </a:r>
            <a:r>
              <a:rPr lang="ko-KR" altLang="en-US" sz="1400" dirty="0"/>
              <a:t>공백 없이 연속적으로</a:t>
            </a:r>
            <a:r>
              <a:rPr lang="en-US" altLang="ko-KR" sz="1400" dirty="0"/>
              <a:t>)</a:t>
            </a:r>
          </a:p>
          <a:p>
            <a:pPr marL="216000" lvl="1" indent="0">
              <a:buNone/>
            </a:pPr>
            <a:r>
              <a:rPr lang="en-US" altLang="ko-KR" sz="1400" dirty="0"/>
              <a:t>                                                       (2. </a:t>
            </a:r>
            <a:r>
              <a:rPr lang="ko-KR" altLang="en-US" sz="1400" dirty="0"/>
              <a:t>불연속 커버리지 </a:t>
            </a:r>
            <a:r>
              <a:rPr lang="en-US" altLang="ko-KR" sz="1400" dirty="0"/>
              <a:t>– </a:t>
            </a:r>
            <a:r>
              <a:rPr lang="ko-KR" altLang="en-US" sz="1400" dirty="0"/>
              <a:t>공백 시간을 허용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dirty="0"/>
              <a:t>4. </a:t>
            </a:r>
            <a:r>
              <a:rPr lang="ko-KR" altLang="en-US" dirty="0"/>
              <a:t>커버리지 </a:t>
            </a:r>
            <a:r>
              <a:rPr lang="ko-KR" altLang="en-US" dirty="0" err="1"/>
              <a:t>중첩성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몇 개의 위성이 동시에 활용되어야 하는가 </a:t>
            </a:r>
            <a:r>
              <a:rPr lang="en-US" altLang="ko-KR" sz="1400" dirty="0"/>
              <a:t>(ex.</a:t>
            </a:r>
            <a:r>
              <a:rPr lang="ko-KR" altLang="en-US" sz="1400" dirty="0"/>
              <a:t> </a:t>
            </a:r>
            <a:r>
              <a:rPr lang="en-US" altLang="ko-KR" sz="1400" dirty="0"/>
              <a:t>4</a:t>
            </a:r>
            <a:r>
              <a:rPr lang="ko-KR" altLang="en-US" sz="1400" dirty="0"/>
              <a:t>중첩 </a:t>
            </a:r>
            <a:r>
              <a:rPr lang="ko-KR" altLang="en-US" sz="1400" dirty="0" err="1"/>
              <a:t>위성군</a:t>
            </a:r>
            <a:r>
              <a:rPr lang="en-US" altLang="ko-KR" sz="1400" dirty="0"/>
              <a:t>)</a:t>
            </a:r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2030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위성군</a:t>
            </a:r>
            <a:r>
              <a:rPr lang="ko-KR" altLang="en-US" dirty="0"/>
              <a:t> 설계 연구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최초의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설계 </a:t>
            </a:r>
            <a:r>
              <a:rPr lang="en-US" altLang="ko-KR" sz="1800" dirty="0"/>
              <a:t>– Clark</a:t>
            </a:r>
            <a:r>
              <a:rPr lang="ko-KR" altLang="en-US" sz="1800" dirty="0"/>
              <a:t>가 제시함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3</a:t>
            </a:r>
            <a:r>
              <a:rPr lang="ko-KR" altLang="en-US" sz="1800" dirty="0"/>
              <a:t>개의 </a:t>
            </a:r>
            <a:r>
              <a:rPr lang="en-US" altLang="ko-KR" sz="1800" dirty="0"/>
              <a:t>/ </a:t>
            </a:r>
            <a:r>
              <a:rPr lang="ko-KR" altLang="en-US" sz="1800" dirty="0"/>
              <a:t>지구정지궤도 </a:t>
            </a:r>
            <a:r>
              <a:rPr lang="en-US" altLang="ko-KR" sz="1800" dirty="0"/>
              <a:t>/ </a:t>
            </a:r>
            <a:r>
              <a:rPr lang="ko-KR" altLang="en-US" sz="1800" dirty="0" err="1"/>
              <a:t>전지구</a:t>
            </a:r>
            <a:r>
              <a:rPr lang="ko-KR" altLang="en-US" sz="1800" dirty="0"/>
              <a:t> </a:t>
            </a:r>
            <a:r>
              <a:rPr lang="en-US" altLang="ko-KR" sz="1800" dirty="0"/>
              <a:t>/ </a:t>
            </a:r>
            <a:r>
              <a:rPr lang="ko-KR" altLang="en-US" sz="1800" dirty="0"/>
              <a:t>연속 커버리지 </a:t>
            </a:r>
            <a:r>
              <a:rPr lang="ko-KR" altLang="en-US" sz="1800" dirty="0" err="1"/>
              <a:t>위성군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 algn="l">
              <a:buNone/>
            </a:pPr>
            <a:r>
              <a:rPr lang="en-US" altLang="ko-KR" sz="1400" dirty="0"/>
              <a:t>Ex. SOC (Street Of Coverage)</a:t>
            </a:r>
          </a:p>
          <a:p>
            <a:pPr marL="0" indent="0" algn="l">
              <a:buNone/>
            </a:pPr>
            <a:r>
              <a:rPr lang="en-US" altLang="ko-KR" sz="1400" dirty="0"/>
              <a:t>         </a:t>
            </a:r>
            <a:r>
              <a:rPr lang="ko-KR" altLang="en-US" sz="1400" dirty="0"/>
              <a:t>워커</a:t>
            </a:r>
            <a:r>
              <a:rPr lang="en-US" altLang="ko-KR" sz="1400" dirty="0"/>
              <a:t>-</a:t>
            </a:r>
            <a:r>
              <a:rPr lang="ko-KR" altLang="en-US" sz="1400" dirty="0"/>
              <a:t>스타 </a:t>
            </a:r>
            <a:r>
              <a:rPr lang="en-US" altLang="ko-KR" sz="1400" dirty="0"/>
              <a:t>(Walker-star)</a:t>
            </a:r>
          </a:p>
          <a:p>
            <a:pPr marL="0" indent="0" algn="l">
              <a:buNone/>
            </a:pPr>
            <a:r>
              <a:rPr lang="en-US" altLang="ko-KR" sz="1400" dirty="0"/>
              <a:t>         </a:t>
            </a:r>
            <a:r>
              <a:rPr lang="ko-KR" altLang="en-US" sz="1400" dirty="0">
                <a:solidFill>
                  <a:srgbClr val="FF0000"/>
                </a:solidFill>
              </a:rPr>
              <a:t>워커</a:t>
            </a:r>
            <a:r>
              <a:rPr lang="en-US" altLang="ko-KR" sz="1400" dirty="0">
                <a:solidFill>
                  <a:srgbClr val="FF0000"/>
                </a:solidFill>
              </a:rPr>
              <a:t>-</a:t>
            </a:r>
            <a:r>
              <a:rPr lang="ko-KR" altLang="en-US" sz="1400" dirty="0">
                <a:solidFill>
                  <a:srgbClr val="FF0000"/>
                </a:solidFill>
              </a:rPr>
              <a:t>델타 </a:t>
            </a:r>
            <a:r>
              <a:rPr lang="en-US" altLang="ko-KR" sz="1400" dirty="0">
                <a:solidFill>
                  <a:srgbClr val="FF0000"/>
                </a:solidFill>
              </a:rPr>
              <a:t>(Walker-delta)</a:t>
            </a:r>
          </a:p>
          <a:p>
            <a:pPr marL="0" indent="0" algn="l">
              <a:buNone/>
            </a:pPr>
            <a:r>
              <a:rPr lang="en-US" altLang="ko-KR" sz="1400" dirty="0"/>
              <a:t>         </a:t>
            </a:r>
            <a:r>
              <a:rPr lang="ko-KR" altLang="en-US" sz="1400" dirty="0"/>
              <a:t>플라워 </a:t>
            </a:r>
            <a:r>
              <a:rPr lang="ko-KR" altLang="en-US" sz="1400" dirty="0" err="1"/>
              <a:t>위성군</a:t>
            </a:r>
            <a:endParaRPr lang="ko-KR" altLang="en-US" sz="1400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9931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위성군</a:t>
            </a:r>
            <a:r>
              <a:rPr lang="ko-KR" altLang="en-US" dirty="0"/>
              <a:t> 설계 연구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연구 </a:t>
            </a:r>
            <a:r>
              <a:rPr lang="en-US" altLang="ko-KR" dirty="0"/>
              <a:t> </a:t>
            </a:r>
          </a:p>
          <a:p>
            <a:pPr lvl="1"/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1. </a:t>
            </a:r>
            <a:r>
              <a:rPr lang="ko-KR" altLang="en-US" sz="1800" dirty="0"/>
              <a:t>전통적인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설계 패턴을 이용하는 방법</a:t>
            </a:r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2. </a:t>
            </a:r>
            <a:r>
              <a:rPr lang="ko-KR" altLang="en-US" sz="1800" dirty="0"/>
              <a:t>수치 최적화 기법을 이용한 위성 궤도요소 최적화 방법</a:t>
            </a:r>
            <a:endParaRPr lang="en-US" altLang="ko-KR" sz="1800" dirty="0"/>
          </a:p>
          <a:p>
            <a:pPr marL="777150" lvl="2" indent="-285750"/>
            <a:endParaRPr lang="en-US" altLang="ko-KR" sz="1800" dirty="0"/>
          </a:p>
          <a:p>
            <a:pPr marL="0" indent="0" algn="l">
              <a:buNone/>
            </a:pPr>
            <a:r>
              <a:rPr lang="en-US" altLang="ko-KR" sz="1400" dirty="0"/>
              <a:t>Ex. </a:t>
            </a:r>
            <a:r>
              <a:rPr lang="ko-KR" altLang="en-US" sz="1400" dirty="0"/>
              <a:t>지상 궤적 반복궤도를 사용한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재방문 성능 분석 연구</a:t>
            </a:r>
            <a:endParaRPr lang="en-US" altLang="ko-KR" sz="1400" dirty="0"/>
          </a:p>
          <a:p>
            <a:pPr marL="0" indent="0" algn="l">
              <a:buNone/>
            </a:pPr>
            <a:r>
              <a:rPr lang="ko-KR" altLang="en-US" sz="1400" dirty="0"/>
              <a:t>       미국 지역 </a:t>
            </a:r>
            <a:r>
              <a:rPr lang="ko-KR" altLang="en-US" sz="1400" dirty="0" err="1"/>
              <a:t>커버리지를</a:t>
            </a:r>
            <a:r>
              <a:rPr lang="ko-KR" altLang="en-US" sz="1400" dirty="0"/>
              <a:t> 위한 워커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설계 연구</a:t>
            </a:r>
            <a:endParaRPr lang="en-US" altLang="ko-KR" sz="1400" dirty="0"/>
          </a:p>
          <a:p>
            <a:pPr marL="0" indent="0" algn="l">
              <a:buNone/>
            </a:pPr>
            <a:r>
              <a:rPr lang="ko-KR" altLang="en-US" sz="1400" dirty="0"/>
              <a:t>       중국 지역 </a:t>
            </a:r>
            <a:r>
              <a:rPr lang="ko-KR" altLang="en-US" sz="1400" dirty="0" err="1"/>
              <a:t>커버리지를</a:t>
            </a:r>
            <a:r>
              <a:rPr lang="ko-KR" altLang="en-US" sz="1400" dirty="0"/>
              <a:t> 위한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설계 연구</a:t>
            </a:r>
            <a:endParaRPr lang="en-US" altLang="ko-KR" sz="1400" dirty="0"/>
          </a:p>
          <a:p>
            <a:pPr marL="0" indent="0" algn="l">
              <a:buNone/>
            </a:pPr>
            <a:r>
              <a:rPr lang="ko-KR" altLang="en-US" sz="1400" dirty="0"/>
              <a:t>       유전 알고리즘을 이용한 한반도 지역 커버리지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설계</a:t>
            </a:r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9057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위성군</a:t>
            </a:r>
            <a:r>
              <a:rPr lang="ko-KR" altLang="en-US" dirty="0"/>
              <a:t> 설계 연구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설계 기법 </a:t>
            </a:r>
            <a:r>
              <a:rPr lang="en-US" altLang="ko-KR" dirty="0"/>
              <a:t> </a:t>
            </a:r>
          </a:p>
          <a:p>
            <a:pPr lvl="1"/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1. </a:t>
            </a:r>
            <a:r>
              <a:rPr lang="ko-KR" altLang="en-US" sz="1800" dirty="0"/>
              <a:t>전통적인 </a:t>
            </a:r>
            <a:r>
              <a:rPr lang="ko-KR" altLang="en-US" sz="1800" dirty="0" err="1"/>
              <a:t>전지구</a:t>
            </a:r>
            <a:r>
              <a:rPr lang="ko-KR" altLang="en-US" sz="1800" dirty="0"/>
              <a:t> 커버리지 혹은 대상 커버리지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패턴을 이용한 지역 커버리지 설계 방법</a:t>
            </a:r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2. </a:t>
            </a:r>
            <a:r>
              <a:rPr lang="ko-KR" altLang="en-US" sz="1800" dirty="0"/>
              <a:t>기하학적</a:t>
            </a:r>
            <a:r>
              <a:rPr lang="en-US" altLang="ko-KR" sz="1800" dirty="0"/>
              <a:t>, </a:t>
            </a:r>
            <a:r>
              <a:rPr lang="ko-KR" altLang="en-US" sz="1800" dirty="0"/>
              <a:t>동역학적 특징을 반영하여 해당 지역에 특화된 위성 궤도를 설계하는 방법</a:t>
            </a:r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3. </a:t>
            </a:r>
            <a:r>
              <a:rPr lang="ko-KR" altLang="en-US" sz="1800" dirty="0"/>
              <a:t>최적화 알고리즘을 사용한 위성 궤도 요소 최적화 방법</a:t>
            </a:r>
            <a:endParaRPr lang="en-US" altLang="ko-KR" sz="1800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1218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설계 기법 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pPr lvl="1"/>
            <a:r>
              <a:rPr lang="en-US" altLang="ko-KR" sz="1800" dirty="0"/>
              <a:t>1. </a:t>
            </a:r>
            <a:r>
              <a:rPr lang="ko-KR" altLang="en-US" sz="1800" dirty="0"/>
              <a:t>전통적인 </a:t>
            </a:r>
            <a:r>
              <a:rPr lang="ko-KR" altLang="en-US" sz="1800" dirty="0" err="1"/>
              <a:t>전지구</a:t>
            </a:r>
            <a:r>
              <a:rPr lang="ko-KR" altLang="en-US" sz="1800" dirty="0"/>
              <a:t> 커버리지 혹은 대상 커버리지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패턴을 이용한 지역 </a:t>
            </a:r>
            <a:endParaRPr lang="en-US" altLang="ko-KR" sz="1800" dirty="0"/>
          </a:p>
          <a:p>
            <a:pPr marL="216000" lvl="1" indent="0">
              <a:buNone/>
            </a:pPr>
            <a:r>
              <a:rPr lang="en-US" altLang="ko-KR" dirty="0"/>
              <a:t>         </a:t>
            </a:r>
            <a:r>
              <a:rPr lang="ko-KR" altLang="en-US" sz="1800" dirty="0"/>
              <a:t>커버리지 설계 방법</a:t>
            </a: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기존의 전통적인 설계 패턴을 사용 →</a:t>
            </a:r>
            <a:r>
              <a:rPr lang="en-US" altLang="ko-KR" sz="1800" dirty="0"/>
              <a:t> </a:t>
            </a:r>
            <a:r>
              <a:rPr lang="ko-KR" altLang="en-US" sz="1800" dirty="0"/>
              <a:t>적은 개수의 설계 파라미터 설계 가능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Ex. </a:t>
            </a:r>
            <a:r>
              <a:rPr lang="ko-KR" altLang="en-US" sz="1800" dirty="0"/>
              <a:t>워커 패턴 </a:t>
            </a:r>
            <a:r>
              <a:rPr lang="en-US" altLang="ko-KR" sz="1800" dirty="0"/>
              <a:t>3</a:t>
            </a:r>
            <a:r>
              <a:rPr lang="ko-KR" altLang="en-US" sz="1800" dirty="0"/>
              <a:t>가지 파라미터 </a:t>
            </a:r>
            <a:r>
              <a:rPr lang="en-US" altLang="ko-KR" sz="1800" dirty="0"/>
              <a:t>– </a:t>
            </a:r>
            <a:r>
              <a:rPr lang="ko-KR" altLang="en-US" sz="1800" dirty="0"/>
              <a:t>총 위성 수</a:t>
            </a:r>
            <a:r>
              <a:rPr lang="en-US" altLang="ko-KR" sz="1800" dirty="0"/>
              <a:t>(T)</a:t>
            </a:r>
          </a:p>
          <a:p>
            <a:pPr marL="491400" lvl="2" indent="0">
              <a:buNone/>
            </a:pPr>
            <a:r>
              <a:rPr lang="en-US" altLang="ko-KR" sz="1800" dirty="0"/>
              <a:t>                                                       </a:t>
            </a:r>
            <a:r>
              <a:rPr lang="ko-KR" altLang="en-US" sz="1800" dirty="0"/>
              <a:t>총 궤도 평면 수</a:t>
            </a:r>
            <a:r>
              <a:rPr lang="en-US" altLang="ko-KR" sz="1800" dirty="0"/>
              <a:t>(P)</a:t>
            </a:r>
          </a:p>
          <a:p>
            <a:pPr marL="491400" lvl="2" indent="0">
              <a:buNone/>
            </a:pPr>
            <a:r>
              <a:rPr lang="en-US" altLang="ko-KR" sz="1800" dirty="0"/>
              <a:t>                                                       </a:t>
            </a:r>
            <a:r>
              <a:rPr lang="ko-KR" altLang="en-US" sz="1800" dirty="0"/>
              <a:t>위성 간 위상 차 인수</a:t>
            </a:r>
            <a:r>
              <a:rPr lang="en-US" altLang="ko-KR" sz="1800" dirty="0"/>
              <a:t>(F)</a:t>
            </a:r>
          </a:p>
          <a:p>
            <a:pPr marL="491400" lvl="2" indent="0">
              <a:buNone/>
            </a:pPr>
            <a:r>
              <a:rPr lang="en-US" altLang="ko-KR" sz="1800" dirty="0"/>
              <a:t> </a:t>
            </a:r>
          </a:p>
          <a:p>
            <a:pPr marL="491400" lvl="2" indent="0">
              <a:buNone/>
            </a:pPr>
            <a:r>
              <a:rPr lang="ko-KR" altLang="en-US" sz="1800" dirty="0"/>
              <a:t>→ 고도 및 궤도 경사각을 선정한 뒤 </a:t>
            </a:r>
            <a:r>
              <a:rPr lang="en-US" altLang="ko-KR" sz="1800" dirty="0"/>
              <a:t>3</a:t>
            </a:r>
            <a:r>
              <a:rPr lang="ko-KR" altLang="en-US" sz="1800" dirty="0"/>
              <a:t>개의 파라미터를 결정하면 설계 완료</a:t>
            </a: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But,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전지구</a:t>
            </a:r>
            <a:r>
              <a:rPr lang="ko-KR" altLang="en-US" sz="1800" dirty="0"/>
              <a:t> </a:t>
            </a:r>
            <a:r>
              <a:rPr lang="en-US" altLang="ko-KR" sz="1800" dirty="0"/>
              <a:t>or </a:t>
            </a:r>
            <a:r>
              <a:rPr lang="ko-KR" altLang="en-US" sz="1800" dirty="0"/>
              <a:t>대상 </a:t>
            </a:r>
            <a:r>
              <a:rPr lang="ko-KR" altLang="en-US" sz="1800" dirty="0" err="1"/>
              <a:t>커버리지를</a:t>
            </a:r>
            <a:r>
              <a:rPr lang="ko-KR" altLang="en-US" sz="1800" dirty="0"/>
              <a:t> 목적으로 했기 때문에 특정 지역에 대한 성능 향상에 한계가 있음</a:t>
            </a:r>
            <a:r>
              <a:rPr lang="en-US" altLang="ko-KR" sz="1800" dirty="0"/>
              <a:t>.</a:t>
            </a:r>
          </a:p>
          <a:p>
            <a:pPr marL="777150" lvl="2" indent="-285750"/>
            <a:r>
              <a:rPr lang="ko-KR" altLang="en-US" sz="1800" dirty="0"/>
              <a:t>기하학적 요소만 고려된 결과 → 동역학적 성질은 고려하지 않음</a:t>
            </a:r>
            <a:r>
              <a:rPr lang="en-US" altLang="ko-KR" sz="1800" dirty="0"/>
              <a:t> </a:t>
            </a:r>
          </a:p>
          <a:p>
            <a:pPr marL="777150" lvl="2" indent="-285750"/>
            <a:endParaRPr lang="en-US" altLang="ko-KR" sz="1800" dirty="0"/>
          </a:p>
          <a:p>
            <a:pPr marL="777150" lvl="2" indent="-285750"/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3955267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설계 기법 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pPr lvl="1"/>
            <a:r>
              <a:rPr lang="en-US" altLang="ko-KR" sz="1800" dirty="0"/>
              <a:t>2. </a:t>
            </a:r>
            <a:r>
              <a:rPr lang="ko-KR" altLang="en-US" sz="1800" dirty="0"/>
              <a:t>기하학적</a:t>
            </a:r>
            <a:r>
              <a:rPr lang="en-US" altLang="ko-KR" sz="1800" dirty="0"/>
              <a:t>, </a:t>
            </a:r>
            <a:r>
              <a:rPr lang="ko-KR" altLang="en-US" sz="1800" dirty="0"/>
              <a:t>동역학적 특징을 반영하여 해당 지역에 특화된 위성 궤도를 </a:t>
            </a:r>
            <a:endParaRPr lang="en-US" altLang="ko-KR" sz="1800" dirty="0"/>
          </a:p>
          <a:p>
            <a:pPr marL="216000" lvl="1" indent="0">
              <a:buNone/>
            </a:pPr>
            <a:r>
              <a:rPr lang="en-US" altLang="ko-KR" dirty="0"/>
              <a:t>          </a:t>
            </a:r>
            <a:r>
              <a:rPr lang="ko-KR" altLang="en-US" sz="1800" dirty="0"/>
              <a:t>설계하는 방법</a:t>
            </a: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일반적으로 단일 위성 시스템의 궤도를 설계할 때 주로 사용되는 방법</a:t>
            </a: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491400" lvl="2" indent="0">
              <a:buNone/>
            </a:pPr>
            <a:r>
              <a:rPr lang="ko-KR" altLang="en-US" sz="1800" dirty="0"/>
              <a:t> 위성의 공전 주기</a:t>
            </a:r>
            <a:r>
              <a:rPr lang="en-US" altLang="ko-KR" sz="1800" dirty="0"/>
              <a:t>,</a:t>
            </a:r>
          </a:p>
          <a:p>
            <a:pPr marL="491400" lvl="2" indent="0">
              <a:buNone/>
            </a:pPr>
            <a:r>
              <a:rPr lang="ko-KR" altLang="en-US" sz="1800" dirty="0"/>
              <a:t>궤도 평면의 섭동 특성</a:t>
            </a:r>
            <a:r>
              <a:rPr lang="en-US" altLang="ko-KR" sz="1800" dirty="0"/>
              <a:t>,</a:t>
            </a:r>
          </a:p>
          <a:p>
            <a:pPr marL="491400" lvl="2" indent="0">
              <a:buNone/>
            </a:pPr>
            <a:r>
              <a:rPr lang="ko-KR" altLang="en-US" sz="1800" dirty="0"/>
              <a:t>지구의 자전 주기를 고려한 지상 궤적 반복궤도 설계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</a:t>
            </a:r>
          </a:p>
          <a:p>
            <a:pPr marL="491400" lvl="2" indent="0">
              <a:buNone/>
            </a:pPr>
            <a:r>
              <a:rPr lang="ko-KR" altLang="en-US" sz="1600" dirty="0"/>
              <a:t> → </a:t>
            </a:r>
            <a:r>
              <a:rPr lang="ko-KR" altLang="en-US" dirty="0"/>
              <a:t>위성군의 모든 위성이 같은 지상 궤적을 그리는 </a:t>
            </a:r>
            <a:endParaRPr lang="en-US" altLang="ko-KR" dirty="0"/>
          </a:p>
          <a:p>
            <a:pPr marL="491400" lvl="2" indent="0">
              <a:buNone/>
            </a:pPr>
            <a:r>
              <a:rPr lang="en-US" altLang="ko-KR" sz="1800" dirty="0"/>
              <a:t>     </a:t>
            </a:r>
            <a:r>
              <a:rPr lang="ko-KR" altLang="en-US" sz="1800" dirty="0"/>
              <a:t>동일 지상 궤적 </a:t>
            </a:r>
            <a:r>
              <a:rPr lang="ko-KR" altLang="en-US" sz="1800" dirty="0" err="1"/>
              <a:t>위성군</a:t>
            </a:r>
            <a:r>
              <a:rPr lang="en-US" altLang="ko-KR" sz="1800" dirty="0"/>
              <a:t>(CGT </a:t>
            </a:r>
            <a:r>
              <a:rPr lang="ko-KR" altLang="en-US" sz="1800" dirty="0" err="1"/>
              <a:t>위성군</a:t>
            </a:r>
            <a:r>
              <a:rPr lang="en-US" altLang="ko-KR" sz="1800" dirty="0"/>
              <a:t>)</a:t>
            </a:r>
            <a:r>
              <a:rPr lang="ko-KR" altLang="en-US" sz="1800" dirty="0"/>
              <a:t>으로 정의</a:t>
            </a: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928018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803792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설계 기법 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pPr lvl="1"/>
            <a:r>
              <a:rPr lang="en-US" altLang="ko-KR" sz="1800" dirty="0"/>
              <a:t>3. </a:t>
            </a:r>
            <a:r>
              <a:rPr lang="ko-KR" altLang="en-US" sz="1800" dirty="0"/>
              <a:t>최적화 알고리즘을 사용한 위성 궤도 요소 최적화 방법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</a:t>
            </a:r>
          </a:p>
          <a:p>
            <a:pPr marL="777150" lvl="2" indent="-285750"/>
            <a:r>
              <a:rPr lang="ko-KR" altLang="en-US" sz="1800" dirty="0"/>
              <a:t>장점 </a:t>
            </a:r>
            <a:r>
              <a:rPr lang="en-US" altLang="ko-KR" sz="1800" dirty="0"/>
              <a:t>: </a:t>
            </a:r>
            <a:r>
              <a:rPr lang="ko-KR" altLang="en-US" sz="1800" dirty="0"/>
              <a:t>설계 자유도가 높고 모든 위성의 궤도 요소를 최적화할 수 있다</a:t>
            </a:r>
            <a:r>
              <a:rPr lang="en-US" altLang="ko-KR" sz="1800" dirty="0"/>
              <a:t>.</a:t>
            </a:r>
          </a:p>
          <a:p>
            <a:pPr marL="777150" lvl="2" indent="-285750"/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단점 </a:t>
            </a:r>
            <a:r>
              <a:rPr lang="en-US" altLang="ko-KR" sz="1800" dirty="0"/>
              <a:t>: Two-body problem </a:t>
            </a:r>
            <a:r>
              <a:rPr lang="ko-KR" altLang="en-US" sz="1800" dirty="0"/>
              <a:t>또는 </a:t>
            </a:r>
            <a:r>
              <a:rPr lang="en-US" altLang="ko-KR" sz="1800" dirty="0"/>
              <a:t>J2 </a:t>
            </a:r>
            <a:r>
              <a:rPr lang="ko-KR" altLang="en-US" sz="1800" dirty="0"/>
              <a:t>섭동만을 반영한 동역학 모델을 사용하기 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           </a:t>
            </a:r>
            <a:r>
              <a:rPr lang="ko-KR" altLang="en-US" sz="1800" dirty="0"/>
              <a:t>때문에 해가 설정한 동역학 모델에 한정된다</a:t>
            </a:r>
            <a:r>
              <a:rPr lang="en-US" altLang="ko-KR" sz="1800" dirty="0"/>
              <a:t>.</a:t>
            </a:r>
          </a:p>
          <a:p>
            <a:pPr marL="491400" lvl="2" indent="0">
              <a:buNone/>
            </a:pP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          </a:t>
            </a:r>
            <a:r>
              <a:rPr lang="ko-KR" altLang="en-US" sz="1800" dirty="0"/>
              <a:t>특정 조건에 특화된 해이므로 반복 설계가 어렵고 </a:t>
            </a:r>
            <a:r>
              <a:rPr lang="en-US" altLang="ko-KR" sz="1800" dirty="0"/>
              <a:t>20</a:t>
            </a:r>
            <a:r>
              <a:rPr lang="ko-KR" altLang="en-US" sz="1800" dirty="0"/>
              <a:t>기 이상의 위성군의 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          </a:t>
            </a:r>
            <a:r>
              <a:rPr lang="ko-KR" altLang="en-US" sz="1800" dirty="0"/>
              <a:t>실제 운용 전략을 고려하기 어렵다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97531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지역 재방문 성능 결정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궤도 장반경이 동일할 때 특정 지역에 대한 위성의 평균 재방문 성능은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위성의 </a:t>
            </a:r>
            <a:r>
              <a:rPr lang="ko-KR" altLang="en-US" b="1" dirty="0"/>
              <a:t>궤도 경사각</a:t>
            </a:r>
            <a:r>
              <a:rPr lang="ko-KR" altLang="en-US" dirty="0"/>
              <a:t>에</a:t>
            </a:r>
            <a:r>
              <a:rPr lang="ko-KR" altLang="en-US" b="1" dirty="0"/>
              <a:t> </a:t>
            </a:r>
            <a:r>
              <a:rPr lang="ko-KR" altLang="en-US" dirty="0"/>
              <a:t>주된 영향을 받음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A97113-7D62-1E25-7EBA-52D902E7A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74" y="2714404"/>
            <a:ext cx="6348382" cy="351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47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초소형 </a:t>
            </a:r>
            <a:r>
              <a:rPr lang="ko-KR" altLang="en-US" dirty="0" err="1"/>
              <a:t>위성군</a:t>
            </a:r>
            <a:r>
              <a:rPr lang="ko-KR" altLang="en-US" dirty="0"/>
              <a:t> 발사 및 궤도 전개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초소형 위성을 발사하는 방법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</a:t>
            </a:r>
          </a:p>
          <a:p>
            <a:pPr marL="777150" lvl="2" indent="-285750"/>
            <a:r>
              <a:rPr lang="ko-KR" altLang="en-US" sz="1800" dirty="0"/>
              <a:t>전용 발사체를 사용 </a:t>
            </a:r>
            <a:r>
              <a:rPr lang="en-US" altLang="ko-KR" sz="1800" dirty="0"/>
              <a:t>: 300 kg </a:t>
            </a:r>
            <a:r>
              <a:rPr lang="ko-KR" altLang="en-US" sz="1800" dirty="0"/>
              <a:t>이하의 적재용량을 갖고 저궤도까지 운행함</a:t>
            </a:r>
            <a:r>
              <a:rPr lang="en-US" altLang="ko-KR" sz="1800" dirty="0"/>
              <a:t>.</a:t>
            </a:r>
          </a:p>
          <a:p>
            <a:pPr marL="491400" lvl="2" indent="0">
              <a:buNone/>
            </a:pPr>
            <a:r>
              <a:rPr lang="en-US" altLang="ko-KR" sz="1800" dirty="0"/>
              <a:t>                                          </a:t>
            </a:r>
            <a:r>
              <a:rPr lang="ko-KR" altLang="en-US" sz="1800" dirty="0"/>
              <a:t>지상 발사체 뿐만 아니라 공중에서 발사하는 공중 발사체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                                     </a:t>
            </a:r>
            <a:r>
              <a:rPr lang="ko-KR" altLang="en-US" sz="1800" dirty="0"/>
              <a:t>도 고려할 수 있음</a:t>
            </a: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중대형 위성과의 탑승 공유 </a:t>
            </a:r>
            <a:r>
              <a:rPr lang="en-US" altLang="ko-KR" sz="1800" dirty="0"/>
              <a:t>: </a:t>
            </a:r>
            <a:r>
              <a:rPr lang="ko-KR" altLang="en-US" sz="1800" dirty="0"/>
              <a:t>소형 위성은 보조 페이로드로서 탑재됨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                                                  </a:t>
            </a:r>
            <a:r>
              <a:rPr lang="ko-KR" altLang="en-US" sz="1800" dirty="0"/>
              <a:t>사출 이후 계획한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배치를 가지기 위한 적절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                                                  </a:t>
            </a:r>
            <a:r>
              <a:rPr lang="ko-KR" altLang="en-US" sz="1800" dirty="0"/>
              <a:t>한 전개 전략이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5933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초소형 </a:t>
            </a:r>
            <a:r>
              <a:rPr lang="ko-KR" altLang="en-US" dirty="0" err="1"/>
              <a:t>위성군</a:t>
            </a:r>
            <a:r>
              <a:rPr lang="ko-KR" altLang="en-US" dirty="0"/>
              <a:t> 발사 및 궤도 전개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초소형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궤도 전개 방법</a:t>
            </a:r>
            <a:r>
              <a:rPr lang="en-US" altLang="ko-KR" sz="1800" dirty="0"/>
              <a:t> </a:t>
            </a:r>
          </a:p>
          <a:p>
            <a:pPr marL="777150" lvl="2" indent="-285750"/>
            <a:r>
              <a:rPr lang="ko-KR" altLang="en-US" sz="1800" dirty="0"/>
              <a:t>추력을 이용한 궤도 전개 방법</a:t>
            </a: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추력을 사용하지 않는 방법 </a:t>
            </a:r>
            <a:r>
              <a:rPr lang="en-US" altLang="ko-KR" sz="1800" dirty="0"/>
              <a:t>: </a:t>
            </a:r>
            <a:r>
              <a:rPr lang="ko-KR" altLang="en-US" sz="1800" dirty="0"/>
              <a:t>차등 대기 항력을 이용한 고도 조정을 통해 위성 간 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                                                   </a:t>
            </a:r>
            <a:r>
              <a:rPr lang="ko-KR" altLang="en-US" sz="1800" dirty="0"/>
              <a:t>상대위치를 조정</a:t>
            </a: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491400" lvl="2" indent="0">
              <a:buNone/>
            </a:pPr>
            <a:r>
              <a:rPr lang="ko-KR" altLang="en-US" sz="1600" dirty="0"/>
              <a:t>→ 위성이 대기로부터 받는 항력을 이용한 궤도 제어 방법</a:t>
            </a:r>
            <a:endParaRPr lang="en-US" altLang="ko-KR" sz="1600" dirty="0"/>
          </a:p>
          <a:p>
            <a:pPr marL="491400" lvl="2" indent="0">
              <a:buNone/>
            </a:pPr>
            <a:r>
              <a:rPr lang="en-US" altLang="ko-KR" dirty="0"/>
              <a:t>     (</a:t>
            </a:r>
            <a:r>
              <a:rPr lang="ko-KR" altLang="en-US" dirty="0"/>
              <a:t>위성체의 형상</a:t>
            </a:r>
            <a:r>
              <a:rPr lang="en-US" altLang="ko-KR" dirty="0"/>
              <a:t>, </a:t>
            </a:r>
            <a:r>
              <a:rPr lang="ko-KR" altLang="en-US" dirty="0"/>
              <a:t>질량</a:t>
            </a:r>
            <a:r>
              <a:rPr lang="en-US" altLang="ko-KR" dirty="0"/>
              <a:t>, </a:t>
            </a:r>
            <a:r>
              <a:rPr lang="ko-KR" altLang="en-US" dirty="0"/>
              <a:t>궤도 장반경에 따라 큰 영향을 받음</a:t>
            </a:r>
            <a:r>
              <a:rPr lang="en-US" altLang="ko-KR" dirty="0"/>
              <a:t>)</a:t>
            </a:r>
          </a:p>
          <a:p>
            <a:pPr marL="491400" lvl="2" indent="0">
              <a:buNone/>
            </a:pPr>
            <a:endParaRPr lang="en-US" altLang="ko-KR" dirty="0"/>
          </a:p>
          <a:p>
            <a:pPr marL="491400" lvl="2" indent="0">
              <a:buNone/>
            </a:pPr>
            <a:r>
              <a:rPr lang="ko-KR" altLang="en-US" dirty="0"/>
              <a:t>동일 평면에 사출된 </a:t>
            </a:r>
            <a:r>
              <a:rPr lang="en-US" altLang="ko-KR" dirty="0"/>
              <a:t>8</a:t>
            </a:r>
            <a:r>
              <a:rPr lang="ko-KR" altLang="en-US" dirty="0"/>
              <a:t>기의 위성을 균등하게 배치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07727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CGT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비교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sz="1800" dirty="0"/>
              <a:t>3</a:t>
            </a:r>
            <a:r>
              <a:rPr lang="ko-KR" altLang="en-US" sz="1800" dirty="0"/>
              <a:t>가지 궤도 경사각 조건 </a:t>
            </a:r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1. </a:t>
            </a:r>
            <a:r>
              <a:rPr lang="ko-KR" altLang="en-US" sz="1800" dirty="0"/>
              <a:t>최적 궤도 경사각</a:t>
            </a:r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2. </a:t>
            </a:r>
            <a:r>
              <a:rPr lang="ko-KR" altLang="en-US" sz="1800" dirty="0"/>
              <a:t>한국형 발사체를 고려한 궤도 경사각</a:t>
            </a:r>
            <a:endParaRPr lang="en-US" altLang="ko-KR" sz="1800" dirty="0"/>
          </a:p>
          <a:p>
            <a:pPr marL="777150" lvl="2" indent="-285750"/>
            <a:r>
              <a:rPr lang="en-US" altLang="ko-KR" sz="1800" dirty="0"/>
              <a:t>3. </a:t>
            </a:r>
            <a:r>
              <a:rPr lang="ko-KR" altLang="en-US" sz="1800" dirty="0"/>
              <a:t>태양 동기 궤도 경사각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en-US" altLang="ko-KR" sz="1800" dirty="0"/>
              <a:t>J2</a:t>
            </a:r>
            <a:r>
              <a:rPr lang="ko-KR" altLang="en-US" sz="1800" dirty="0"/>
              <a:t> 섭동을 고려한 시뮬레이션</a:t>
            </a: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최적 궤도 경사각을 사용하지 않을 경우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: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CGT &gt;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워커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델타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위성군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최대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평균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</a:endParaRPr>
          </a:p>
          <a:p>
            <a:pPr marL="491400" lvl="2" indent="0">
              <a:buNone/>
            </a:pP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최적 궤도 경사각을 사용할 경우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   :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CGT =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워커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델타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위성군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평균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)</a:t>
            </a:r>
          </a:p>
          <a:p>
            <a:pPr marL="491400" lvl="2" indent="0">
              <a:buNone/>
            </a:pPr>
            <a:r>
              <a:rPr lang="en-US" altLang="ko-KR" sz="18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     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CGT &gt;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워커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델타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위성군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최대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) </a:t>
            </a:r>
            <a:endParaRPr lang="ko-KR" altLang="en-US" sz="1800" kern="0" spc="0" dirty="0">
              <a:solidFill>
                <a:srgbClr val="000000"/>
              </a:solidFill>
              <a:effectLst/>
            </a:endParaRPr>
          </a:p>
          <a:p>
            <a:pPr marL="491400" lvl="2" indent="0">
              <a:buNone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    CGT &lt;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워커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델타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위성군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특정 패턴에서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010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한반도 감시정찰 초소형 </a:t>
            </a:r>
            <a:r>
              <a:rPr lang="ko-KR" altLang="en-US" dirty="0" err="1"/>
              <a:t>위성군</a:t>
            </a:r>
            <a:r>
              <a:rPr lang="ko-KR" altLang="en-US" dirty="0"/>
              <a:t> 임무 </a:t>
            </a:r>
            <a:r>
              <a:rPr lang="en-US" altLang="ko-KR" dirty="0"/>
              <a:t>/ </a:t>
            </a:r>
            <a:r>
              <a:rPr lang="ko-KR" altLang="en-US" dirty="0"/>
              <a:t>궤도 전개 전략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sz="1800" dirty="0"/>
              <a:t>20~30</a:t>
            </a:r>
            <a:r>
              <a:rPr lang="ko-KR" altLang="en-US" sz="1800" dirty="0"/>
              <a:t>기의 위성을 이용하여 한반도 및 한반도 인근 지역을 빠르게 재방문 하는 </a:t>
            </a:r>
            <a:endParaRPr lang="en-US" altLang="ko-KR" sz="1800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설계를 목적</a:t>
            </a:r>
            <a:endParaRPr lang="en-US" altLang="ko-KR" sz="1800" dirty="0"/>
          </a:p>
          <a:p>
            <a:pPr lvl="1"/>
            <a:r>
              <a:rPr lang="ko-KR" altLang="en-US" sz="1800" dirty="0" err="1"/>
              <a:t>위성군</a:t>
            </a:r>
            <a:r>
              <a:rPr lang="ko-KR" altLang="en-US" sz="1800" dirty="0"/>
              <a:t> 설계 연구의 성능 분석 결과를 고려함 </a:t>
            </a:r>
            <a:r>
              <a:rPr lang="en-US" altLang="ko-KR" sz="1800" dirty="0"/>
              <a:t>+ </a:t>
            </a:r>
            <a:r>
              <a:rPr lang="ko-KR" altLang="en-US" sz="1800" dirty="0"/>
              <a:t>현실적인 임무 조건을 반영함</a:t>
            </a:r>
            <a:endParaRPr lang="en-US" altLang="ko-KR" sz="1800" dirty="0"/>
          </a:p>
          <a:p>
            <a:pPr marL="491400" lvl="2" indent="0">
              <a:buNone/>
            </a:pP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최적 궤도 경사각을 사용한 </a:t>
            </a:r>
            <a:r>
              <a:rPr lang="en-US" altLang="ko-KR" sz="1800" dirty="0"/>
              <a:t>‘</a:t>
            </a:r>
            <a:r>
              <a:rPr lang="ko-KR" altLang="en-US" sz="1800" dirty="0"/>
              <a:t>워커</a:t>
            </a:r>
            <a:r>
              <a:rPr lang="en-US" altLang="ko-KR" sz="1800" dirty="0"/>
              <a:t>-</a:t>
            </a:r>
            <a:r>
              <a:rPr lang="ko-KR" altLang="en-US" sz="1800" dirty="0"/>
              <a:t>델타 위성</a:t>
            </a:r>
            <a:r>
              <a:rPr lang="en-US" altLang="ko-KR" sz="1800" dirty="0"/>
              <a:t>’</a:t>
            </a:r>
            <a:r>
              <a:rPr lang="ko-KR" altLang="en-US" sz="1800" dirty="0"/>
              <a:t>으로 결정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65115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다수의 위성이 균등하게 배치된 평면이 적도 평면 상에서 대칭적으로 배치된 형태</a:t>
            </a:r>
            <a:endParaRPr lang="en-US" altLang="ko-KR" sz="1800" dirty="0"/>
          </a:p>
          <a:p>
            <a:pPr lvl="1"/>
            <a:r>
              <a:rPr lang="ko-KR" altLang="en-US" dirty="0"/>
              <a:t>동일한 궤도 평면을 가지는 위성들은 하나의 발사체에 탑재되어 한 번에 발사됨</a:t>
            </a:r>
            <a:endParaRPr lang="en-US" altLang="ko-KR" dirty="0"/>
          </a:p>
          <a:p>
            <a:pPr lvl="1"/>
            <a:r>
              <a:rPr lang="ko-KR" altLang="en-US" dirty="0"/>
              <a:t>발사체에서 사출된 후 궤도 전개를 통해 설정한 배치 형태를 달성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7502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최적 궤도 경사각 산출 알고리즘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sz="1800" dirty="0"/>
              <a:t>(Ω, u) </a:t>
            </a:r>
            <a:r>
              <a:rPr lang="ko-KR" altLang="en-US" sz="1800" dirty="0"/>
              <a:t>공간에서 </a:t>
            </a:r>
            <a:r>
              <a:rPr lang="en-US" altLang="ko-KR" sz="1800" dirty="0"/>
              <a:t>2</a:t>
            </a:r>
            <a:r>
              <a:rPr lang="ko-KR" altLang="en-US" sz="1800" dirty="0"/>
              <a:t>차원 커버리지 </a:t>
            </a:r>
            <a:r>
              <a:rPr lang="ko-KR" altLang="en-US" sz="1800" dirty="0" err="1"/>
              <a:t>맵을</a:t>
            </a:r>
            <a:r>
              <a:rPr lang="ko-KR" altLang="en-US" sz="1800" dirty="0"/>
              <a:t> 활용</a:t>
            </a:r>
            <a:endParaRPr lang="en-US" altLang="ko-KR" sz="1800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위성의 관측 </a:t>
            </a:r>
            <a:r>
              <a:rPr lang="ko-KR" altLang="en-US" dirty="0" err="1"/>
              <a:t>탑재체</a:t>
            </a:r>
            <a:r>
              <a:rPr lang="ko-KR" altLang="en-US" dirty="0"/>
              <a:t> 커버리지 범위를 반영한 관측 가능성을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b="1" dirty="0"/>
              <a:t>궤도 경사각 별로 정량화</a:t>
            </a:r>
            <a:endParaRPr lang="en-US" altLang="ko-KR" b="1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ko-KR" altLang="en-US" sz="1800" dirty="0"/>
              <a:t>단일 및 다수의 지표면 표적에 대해 </a:t>
            </a:r>
            <a:endParaRPr lang="en-US" altLang="ko-KR" sz="1800" dirty="0"/>
          </a:p>
          <a:p>
            <a:pPr marL="216000" lvl="1" indent="0">
              <a:buNone/>
            </a:pPr>
            <a:r>
              <a:rPr lang="en-US" altLang="ko-KR" b="1" dirty="0"/>
              <a:t>     </a:t>
            </a:r>
            <a:r>
              <a:rPr lang="en-US" altLang="ko-KR" sz="1800" b="1" dirty="0"/>
              <a:t>‘</a:t>
            </a:r>
            <a:r>
              <a:rPr lang="ko-KR" altLang="en-US" sz="1800" b="1" dirty="0"/>
              <a:t>관측 가능성을 최대로 하는 최적 궤도 경사각을 산출</a:t>
            </a:r>
            <a:r>
              <a:rPr lang="en-US" altLang="ko-KR" sz="1800" b="1" dirty="0"/>
              <a:t>＇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52233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연구의 의의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위성의 궤도 경사각이 지역 재방문 성능에 결정적인 역할을 함</a:t>
            </a:r>
            <a:endParaRPr lang="en-US" altLang="ko-KR" sz="1800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관심 지역을 빠르게 재방문 할 수 있는 동일 지상 궤적 </a:t>
            </a:r>
            <a:r>
              <a:rPr lang="ko-KR" altLang="en-US" dirty="0" err="1"/>
              <a:t>위성군</a:t>
            </a:r>
            <a:r>
              <a:rPr lang="ko-KR" altLang="en-US" dirty="0"/>
              <a:t> 설계함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sz="1800" dirty="0"/>
              <a:t>특정 지역에 대해 짧은 재방문 주기를 가지는 위성군을 설계하기 위해 </a:t>
            </a:r>
            <a:r>
              <a:rPr lang="ko-KR" altLang="en-US" sz="1800" u="sng" dirty="0"/>
              <a:t>일반적이고 해석적인 설계 방법을 단계별로 제시</a:t>
            </a:r>
            <a:r>
              <a:rPr lang="ko-KR" altLang="en-US" sz="1800" dirty="0"/>
              <a:t>하여 복잡한 최적화 알고리즘이나 반복적인 시뮬레이션 없이 </a:t>
            </a:r>
            <a:r>
              <a:rPr lang="ko-KR" altLang="en-US" sz="1800" u="sng" dirty="0"/>
              <a:t>간단하게 지역 커버리지 위성군을 설계</a:t>
            </a:r>
            <a:r>
              <a:rPr lang="ko-KR" altLang="en-US" sz="1800" dirty="0"/>
              <a:t>할 수 있도록 함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223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C44EAB-1497-4FF6-911B-348F5DF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궤도설계 및 전개 선행 연구 조사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712AA6-C924-B0D6-F30C-14F9ECD6A1B1}"/>
              </a:ext>
            </a:extLst>
          </p:cNvPr>
          <p:cNvSpPr txBox="1">
            <a:spLocks/>
          </p:cNvSpPr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차등 대기 항력을 이용한 </a:t>
            </a:r>
            <a:r>
              <a:rPr lang="ko-KR" altLang="en-US" dirty="0" err="1"/>
              <a:t>위성군</a:t>
            </a:r>
            <a:r>
              <a:rPr lang="ko-KR" altLang="en-US" dirty="0"/>
              <a:t> 궤도 전개의 의의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1800" dirty="0"/>
              <a:t>차등 대기 항력을 이용한 동일 평면 상의 궤도 전개 개념을 바탕으로 문제를 직접 수식적으로 정의하였으며 간단한 모델링을 통해 해당 문제를 해결하는 알고리즘을 구성함</a:t>
            </a:r>
            <a:endParaRPr lang="en-US" altLang="ko-KR" sz="1800" dirty="0"/>
          </a:p>
          <a:p>
            <a:pPr lvl="1"/>
            <a:endParaRPr lang="en-US" altLang="ko-KR" dirty="0"/>
          </a:p>
          <a:p>
            <a:pPr lvl="1"/>
            <a:r>
              <a:rPr lang="ko-KR" altLang="en-US" sz="1800" dirty="0"/>
              <a:t>주어진 궤도 조건 및 환경 조건에서 차등 대기 항력 제어를 이용한 궤도 전개를 수행할 경우 소요되는 총 시간을 도출함</a:t>
            </a:r>
            <a:endParaRPr lang="en-US" altLang="ko-KR" sz="1800" dirty="0"/>
          </a:p>
          <a:p>
            <a:pPr marL="216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673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CB2D96-FD8B-41F5-85A7-9696F899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C64F3-14F1-42AA-BEDA-CAE69E4E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연구내용 요약 및 방법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궤도 설계 연구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777150" lvl="2" indent="-285750"/>
            <a:r>
              <a:rPr lang="ko-KR" altLang="en-US" sz="1800" dirty="0"/>
              <a:t>단일 및 다중 관심 지역 재방문 성능에 주된 영향을 미치는 궤도 경사각 </a:t>
            </a:r>
            <a:endParaRPr lang="en-US" altLang="ko-KR" sz="1800" dirty="0"/>
          </a:p>
          <a:p>
            <a:pPr marL="491400" lvl="2" indent="0">
              <a:buNone/>
            </a:pPr>
            <a:r>
              <a:rPr lang="ko-KR" altLang="en-US" sz="1800" dirty="0"/>
              <a:t>     최적화 과정</a:t>
            </a: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워커</a:t>
            </a:r>
            <a:r>
              <a:rPr lang="en-US" altLang="ko-KR" sz="1800" dirty="0"/>
              <a:t>-</a:t>
            </a:r>
            <a:r>
              <a:rPr lang="ko-KR" altLang="en-US" sz="1800" dirty="0"/>
              <a:t>델타 패턴과 </a:t>
            </a:r>
            <a:r>
              <a:rPr lang="en-US" altLang="ko-KR" sz="1800" dirty="0"/>
              <a:t>CGT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패턴을 설계</a:t>
            </a: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최종적으로 연구 결과를 종합하여 재방문 주기를 줄이는 지역 커버리지 위성군을 설계</a:t>
            </a:r>
            <a:endParaRPr lang="en-US" altLang="ko-KR" sz="1800" dirty="0"/>
          </a:p>
          <a:p>
            <a:pPr marL="777150" lvl="2" indent="-285750"/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10AA4B-C85D-43C8-825F-6D2C1208B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 및 연구계획</a:t>
            </a:r>
          </a:p>
        </p:txBody>
      </p:sp>
    </p:spTree>
    <p:extLst>
      <p:ext uri="{BB962C8B-B14F-4D97-AF65-F5344CB8AC3E}">
        <p14:creationId xmlns:p14="http://schemas.microsoft.com/office/powerpoint/2010/main" val="146980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CB2D96-FD8B-41F5-85A7-9696F899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C64F3-14F1-42AA-BEDA-CAE69E4E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연구내용 요약 및 방법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궤도 전개 연구 </a:t>
            </a:r>
            <a:r>
              <a:rPr lang="en-US" altLang="ko-KR" dirty="0"/>
              <a:t>– </a:t>
            </a:r>
            <a:r>
              <a:rPr lang="ko-KR" altLang="en-US" dirty="0"/>
              <a:t>대기 항력을 이용한 전개 전략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777150" lvl="2" indent="-285750"/>
            <a:r>
              <a:rPr lang="ko-KR" altLang="en-US" sz="1800" dirty="0"/>
              <a:t>차등 대기 항력을 이용한 궤도 전개 전략을 수식적으로 정의하고 상태 변수로 위성과 제어 위성 간의 위도 인수 차로 정의</a:t>
            </a:r>
            <a:endParaRPr lang="en-US" altLang="ko-KR" sz="1800" dirty="0"/>
          </a:p>
          <a:p>
            <a:pPr marL="777150" lvl="2" indent="-285750"/>
            <a:r>
              <a:rPr lang="ko-KR" altLang="en-US" sz="1800" dirty="0"/>
              <a:t>앞서 산출한 자세 전환 시점 결과를 적용하여 시뮬레이션을 진행</a:t>
            </a:r>
            <a:endParaRPr lang="en-US" altLang="ko-KR" sz="1800" dirty="0"/>
          </a:p>
          <a:p>
            <a:pPr marL="777150" lvl="2" indent="-285750"/>
            <a:endParaRPr lang="en-US" altLang="ko-KR" sz="1800" dirty="0"/>
          </a:p>
          <a:p>
            <a:pPr marL="491400" lvl="2" indent="0">
              <a:buNone/>
            </a:pPr>
            <a:r>
              <a:rPr lang="en-US" altLang="ko-KR" sz="1800" dirty="0"/>
              <a:t> 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10AA4B-C85D-43C8-825F-6D2C1208B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 및 연구계획</a:t>
            </a:r>
          </a:p>
        </p:txBody>
      </p:sp>
    </p:spTree>
    <p:extLst>
      <p:ext uri="{BB962C8B-B14F-4D97-AF65-F5344CB8AC3E}">
        <p14:creationId xmlns:p14="http://schemas.microsoft.com/office/powerpoint/2010/main" val="2986431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CB2D96-FD8B-41F5-85A7-9696F899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C64F3-14F1-42AA-BEDA-CAE69E4E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연구계획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궤도설계 및 전개 관련 논문 추가 정리</a:t>
            </a:r>
            <a:endParaRPr lang="en-US" altLang="ko-KR" dirty="0"/>
          </a:p>
          <a:p>
            <a:pPr lvl="1"/>
            <a:r>
              <a:rPr lang="en-US" altLang="ko-KR" dirty="0" err="1"/>
              <a:t>Vallado</a:t>
            </a:r>
            <a:r>
              <a:rPr lang="en-US" altLang="ko-KR" dirty="0"/>
              <a:t> </a:t>
            </a:r>
            <a:r>
              <a:rPr lang="ko-KR" altLang="en-US" dirty="0"/>
              <a:t>궤도요소</a:t>
            </a:r>
            <a:r>
              <a:rPr lang="en-US" altLang="ko-KR" dirty="0"/>
              <a:t>, </a:t>
            </a:r>
            <a:r>
              <a:rPr lang="ko-KR" altLang="en-US" dirty="0"/>
              <a:t>좌표계 변환</a:t>
            </a:r>
            <a:r>
              <a:rPr lang="en-US" altLang="ko-KR" dirty="0"/>
              <a:t>, </a:t>
            </a:r>
            <a:r>
              <a:rPr lang="ko-KR" altLang="en-US" dirty="0"/>
              <a:t>섭동 관련 부분 공부 </a:t>
            </a:r>
            <a:endParaRPr lang="en-US" altLang="ko-KR" dirty="0"/>
          </a:p>
          <a:p>
            <a:pPr lvl="1"/>
            <a:r>
              <a:rPr lang="ko-KR" altLang="en-US" dirty="0"/>
              <a:t>시뮬레이션 단계에 필요한 시스템 공부</a:t>
            </a:r>
            <a:r>
              <a:rPr lang="en-US" altLang="ko-KR" dirty="0"/>
              <a:t>(ex) GMAT)</a:t>
            </a:r>
          </a:p>
          <a:p>
            <a:pPr lvl="1"/>
            <a:r>
              <a:rPr lang="ko-KR" altLang="en-US" dirty="0"/>
              <a:t>기존 연구에서 보완하거나 새로운 문제 해결 방향 도출  </a:t>
            </a:r>
          </a:p>
          <a:p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10AA4B-C85D-43C8-825F-6D2C1208B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 및 연구계획</a:t>
            </a:r>
          </a:p>
        </p:txBody>
      </p:sp>
    </p:spTree>
    <p:extLst>
      <p:ext uri="{BB962C8B-B14F-4D97-AF65-F5344CB8AC3E}">
        <p14:creationId xmlns:p14="http://schemas.microsoft.com/office/powerpoint/2010/main" val="2071162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44522</TotalTime>
  <Words>1622</Words>
  <Application>Microsoft Office PowerPoint</Application>
  <PresentationFormat>화면 슬라이드 쇼(4:3)</PresentationFormat>
  <Paragraphs>322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times</vt:lpstr>
      <vt:lpstr>Wingdings</vt:lpstr>
      <vt:lpstr>Office 테마</vt:lpstr>
      <vt:lpstr>정기 연구미팅 보고</vt:lpstr>
      <vt:lpstr>목차</vt:lpstr>
      <vt:lpstr>연구/개발 개요</vt:lpstr>
      <vt:lpstr>지역 커버리지 초소형 위성군 궤도 설계 및  궤도 전개 선행 연구 조사 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결론</vt:lpstr>
      <vt:lpstr>요약 및 연구계획</vt:lpstr>
      <vt:lpstr>요약 및 연구계획</vt:lpstr>
      <vt:lpstr>요약 및 연구계획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3017</cp:revision>
  <dcterms:created xsi:type="dcterms:W3CDTF">2018-01-29T02:45:56Z</dcterms:created>
  <dcterms:modified xsi:type="dcterms:W3CDTF">2022-07-19T08:38:31Z</dcterms:modified>
</cp:coreProperties>
</file>