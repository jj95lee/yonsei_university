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 ?><Relationships xmlns="http://schemas.openxmlformats.org/package/2006/relationships"><Relationship Id="rId1" Type="http://schemas.openxmlformats.org/officeDocument/2006/relationships/officeDocument" Target="ppt/presentation.xml"  /><Relationship Id="rId2" Type="http://schemas.openxmlformats.org/package/2006/relationships/metadata/thumbnail" Target="docProps/thumbnail.jpeg"  /><Relationship Id="rId3" Type="http://schemas.openxmlformats.org/package/2006/relationships/metadata/core-properties" Target="docProps/core.xml"  /><Relationship Id="rId4" Type="http://schemas.openxmlformats.org/officeDocument/2006/relationships/extended-properties" Target="docProps/app.xml"  /></Relationships>
</file>

<file path=ppt/presentation.xml><?xml version="1.0" encoding="utf-8"?>
<p:presentation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firstSlideNum="0" showSpecialPlsOnTitleSld="0">
  <p:sldMasterIdLst>
    <p:sldMasterId id="2147483719" r:id="rId1"/>
  </p:sldMasterIdLst>
  <p:notesMasterIdLst>
    <p:notesMasterId r:id="rId2"/>
  </p:notesMasterIdLst>
  <p:handoutMasterIdLst>
    <p:handoutMasterId r:id="rId3"/>
  </p:handout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</p:sldIdLst>
  <p:sldSz cx="9144000" cy="6858000" type="screen4x3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commentAuthors.xml><?xml version="1.0" encoding="utf-8"?>
<p:cmAuthorLs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mAuthor id="1" name="김극남" initials="김" lastIdx="0" clrIdx="0"/>
</p:cmAuthorLst>
</file>

<file path=ppt/presProps.xml><?xml version="1.0" encoding="utf-8"?>
<p:presentationPr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showPr showNarration="1">
    <p:present/>
    <p:sldAll/>
    <p:penClr>
      <a:prstClr val="red"/>
    </p:penClr>
    <p:extLst>
      <p:ext uri="{2FDB2607-1784-4EEB-B798-7EB5836EED8A}">
        <p14:showMediaCtrls xmlns:p14="http://schemas.microsoft.com/office/powerpoint/2010/main" val="1"/>
      </p:ext>
    </p:extLst>
  </p:showPr>
  <p:extLst>
    <p:ext uri="ACF4677E-8BD2-47ae-8A1F-98590045965D">
      <hp:hncThemeShow xmlns:hp="http://schemas.haansoft.com/office/presentation/8.0" themeShowType="1" themeSkinType="1" themeTransitionType="1" useThemeTransition="1" byMouseClick="1" attrType="1" dur="2000"/>
    </p:ext>
  </p:extLst>
</p:presentationPr>
</file>

<file path=ppt/tableStyles.xml><?xml version="1.0" encoding="utf-8"?>
<a:tblStyleLst xmlns:r="http://schemas.openxmlformats.org/officeDocument/2006/relationships" xmlns:c="http://schemas.openxmlformats.org/drawingml/2006/chart" xmlns:dgm="http://schemas.openxmlformats.org/drawingml/2006/diagram" xmlns:dsp="http://schemas.microsoft.com/office/drawing/2008/diagram" xmlns:a="http://schemas.openxmlformats.org/drawingml/2006/main" xmlns:pic="http://schemas.openxmlformats.org/drawingml/2006/picture" xmlns:wp="http://schemas.openxmlformats.org/drawingml/2006/wordprocessingDrawing" xmlns:xdr="http://schemas.openxmlformats.org/drawingml/2006/spreadsheetDrawing" xmlns:lc="http://schemas.openxmlformats.org/drawingml/2006/lockedCanvas" xmlns:p="http://schemas.openxmlformats.org/presentation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TxStyle/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TxStyle/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normalViewPr>
    <p:restoredLeft sz="12069" autoAdjust="0"/>
    <p:restoredTop sz="86353" autoAdjust="0"/>
  </p:normalViewPr>
  <p:slideViewPr>
    <p:cSldViewPr snapToGrid="0">
      <p:cViewPr varScale="1">
        <p:scale>
          <a:sx n="100" d="100"/>
          <a:sy n="100" d="100"/>
        </p:scale>
        <p:origin x="2268" y="78"/>
      </p:cViewPr>
      <p:guideLst>
        <p:guide orient="horz" pos="2159"/>
        <p:guide pos="2879"/>
      </p:guideLst>
    </p:cSldViewPr>
  </p:slideViewPr>
  <p:notesTextViewPr>
    <p:cViewPr>
      <p:scale>
        <a:sx n="150" d="100"/>
        <a:sy n="15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65" d="100"/>
          <a:sy n="65" d="100"/>
        </p:scale>
        <p:origin x="2299" y="38"/>
      </p:cViewPr>
    </p:cSldViewPr>
  </p:notesViewPr>
  <p:gridSpacing cx="72008" cy="72008"/>
</p:viewPr>
</file>

<file path=ppt/_rels/presentation.xml.rels><?xml version="1.0" encoding="UTF-8" standalone="yes" ?><Relationships xmlns="http://schemas.openxmlformats.org/package/2006/relationships"><Relationship Id="rId1" Type="http://schemas.openxmlformats.org/officeDocument/2006/relationships/slideMaster" Target="slideMasters/slideMaster1.xml"  /><Relationship Id="rId10" Type="http://schemas.openxmlformats.org/officeDocument/2006/relationships/slide" Target="slides/slide7.xml"  /><Relationship Id="rId11" Type="http://schemas.openxmlformats.org/officeDocument/2006/relationships/slide" Target="slides/slide8.xml"  /><Relationship Id="rId12" Type="http://schemas.openxmlformats.org/officeDocument/2006/relationships/slide" Target="slides/slide9.xml"  /><Relationship Id="rId13" Type="http://schemas.openxmlformats.org/officeDocument/2006/relationships/slide" Target="slides/slide10.xml"  /><Relationship Id="rId14" Type="http://schemas.openxmlformats.org/officeDocument/2006/relationships/slide" Target="slides/slide11.xml"  /><Relationship Id="rId15" Type="http://schemas.openxmlformats.org/officeDocument/2006/relationships/slide" Target="slides/slide12.xml"  /><Relationship Id="rId16" Type="http://schemas.openxmlformats.org/officeDocument/2006/relationships/slide" Target="slides/slide13.xml"  /><Relationship Id="rId17" Type="http://schemas.openxmlformats.org/officeDocument/2006/relationships/slide" Target="slides/slide14.xml"  /><Relationship Id="rId18" Type="http://schemas.openxmlformats.org/officeDocument/2006/relationships/slide" Target="slides/slide15.xml"  /><Relationship Id="rId19" Type="http://schemas.openxmlformats.org/officeDocument/2006/relationships/slide" Target="slides/slide16.xml"  /><Relationship Id="rId2" Type="http://schemas.openxmlformats.org/officeDocument/2006/relationships/notesMaster" Target="notesMasters/notesMaster1.xml"  /><Relationship Id="rId20" Type="http://schemas.openxmlformats.org/officeDocument/2006/relationships/slide" Target="slides/slide17.xml"  /><Relationship Id="rId21" Type="http://schemas.openxmlformats.org/officeDocument/2006/relationships/slide" Target="slides/slide18.xml"  /><Relationship Id="rId22" Type="http://schemas.openxmlformats.org/officeDocument/2006/relationships/slide" Target="slides/slide19.xml"  /><Relationship Id="rId23" Type="http://schemas.openxmlformats.org/officeDocument/2006/relationships/slide" Target="slides/slide20.xml"  /><Relationship Id="rId24" Type="http://schemas.openxmlformats.org/officeDocument/2006/relationships/commentAuthors" Target="commentAuthors.xml"  /><Relationship Id="rId25" Type="http://schemas.openxmlformats.org/officeDocument/2006/relationships/presProps" Target="presProps.xml"  /><Relationship Id="rId26" Type="http://schemas.openxmlformats.org/officeDocument/2006/relationships/viewProps" Target="viewProps.xml"  /><Relationship Id="rId27" Type="http://schemas.openxmlformats.org/officeDocument/2006/relationships/theme" Target="theme/theme1.xml"  /><Relationship Id="rId28" Type="http://schemas.openxmlformats.org/officeDocument/2006/relationships/tableStyles" Target="tableStyles.xml"  /><Relationship Id="rId3" Type="http://schemas.openxmlformats.org/officeDocument/2006/relationships/handoutMaster" Target="handoutMasters/handoutMaster1.xml"  /><Relationship Id="rId4" Type="http://schemas.openxmlformats.org/officeDocument/2006/relationships/slide" Target="slides/slide1.xml"  /><Relationship Id="rId5" Type="http://schemas.openxmlformats.org/officeDocument/2006/relationships/slide" Target="slides/slide2.xml"  /><Relationship Id="rId6" Type="http://schemas.openxmlformats.org/officeDocument/2006/relationships/slide" Target="slides/slide3.xml"  /><Relationship Id="rId7" Type="http://schemas.openxmlformats.org/officeDocument/2006/relationships/slide" Target="slides/slide4.xml"  /><Relationship Id="rId8" Type="http://schemas.openxmlformats.org/officeDocument/2006/relationships/slide" Target="slides/slide5.xml"  /><Relationship Id="rId9" Type="http://schemas.openxmlformats.org/officeDocument/2006/relationships/slide" Target="slides/slide6.xml"  /></Relationships>
</file>

<file path=ppt/handoutMasters/_rels/handoutMaster1.xml.rels><?xml version="1.0" encoding="UTF-8" standalone="yes" ?><Relationships xmlns="http://schemas.openxmlformats.org/package/2006/relationships"><Relationship Id="rId1" Type="http://schemas.openxmlformats.org/officeDocument/2006/relationships/theme" Target="../theme/theme3.xml"  /></Relationships>
</file>

<file path=ppt/handoutMasters/handoutMaster1.xml><?xml version="1.0" encoding="utf-8"?>
<p:handoutMaster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 idx="0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l">
              <a:defRPr sz="1200"/>
            </a:lvl1pPr>
          </a:lstStyle>
          <a:p>
            <a:pPr lvl="0">
              <a:defRPr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r">
              <a:defRPr sz="1200"/>
            </a:lvl1pPr>
          </a:lstStyle>
          <a:p>
            <a:pPr lvl="0">
              <a:defRPr/>
            </a:pPr>
            <a:fld id="{11E49D1F-15B2-4B9C-8076-11C3A082C32A}" type="datetime1">
              <a:rPr lang="ko-KR" altLang="en-US"/>
              <a:pPr lvl="0">
                <a:defRPr/>
              </a:pPr>
              <a:t>2022-08-02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anchor="b"/>
          <a:lstStyle>
            <a:lvl1pPr algn="l">
              <a:defRPr sz="1200"/>
            </a:lvl1pPr>
          </a:lstStyle>
          <a:p>
            <a:pPr lvl="0">
              <a:defRPr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anchor="b"/>
          <a:lstStyle>
            <a:lvl1pPr algn="r">
              <a:defRPr sz="1200"/>
            </a:lvl1pPr>
          </a:lstStyle>
          <a:p>
            <a:pPr lvl="0">
              <a:defRPr/>
            </a:pPr>
            <a:fld id="{D3A8452A-AED7-4144-8B8B-DADFF71C57C8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 ?><Relationships xmlns="http://schemas.openxmlformats.org/package/2006/relationships"><Relationship Id="rId1" Type="http://schemas.openxmlformats.org/officeDocument/2006/relationships/theme" Target="../theme/theme2.xml"  /></Relationships>
</file>

<file path=ppt/notesMasters/notesMaster1.xml><?xml version="1.0" encoding="utf-8"?>
<p:notesMaster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 idx="0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l">
              <a:defRPr sz="1200"/>
            </a:lvl1pPr>
          </a:lstStyle>
          <a:p>
            <a:pPr lvl="0">
              <a:defRPr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r">
              <a:defRPr sz="1200"/>
            </a:lvl1pPr>
          </a:lstStyle>
          <a:p>
            <a:pPr lvl="0">
              <a:defRPr/>
            </a:pPr>
            <a:fld id="{66DDD8DE-5D7B-4A4B-9949-78C9C314FE9D}" type="datetime1">
              <a:rPr lang="ko-KR" altLang="en-US"/>
              <a:pPr lvl="0">
                <a:defRPr/>
              </a:pPr>
              <a:t>2022-08-02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anchor="ctr"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/>
          <a:lstStyle/>
          <a:p>
            <a:pPr lvl="0">
              <a:defRPr/>
            </a:pPr>
            <a:r>
              <a:rPr lang="ko-KR" altLang="en-US"/>
              <a:t>마스터 텍스트 스타일을 편집합니다</a:t>
            </a:r>
            <a:endParaRPr lang="ko-KR" altLang="en-US"/>
          </a:p>
          <a:p>
            <a:pPr lvl="1">
              <a:defRPr/>
            </a:pPr>
            <a:r>
              <a:rPr lang="ko-KR" altLang="en-US"/>
              <a:t>둘째 수준</a:t>
            </a:r>
            <a:endParaRPr lang="ko-KR" altLang="en-US"/>
          </a:p>
          <a:p>
            <a:pPr lvl="2">
              <a:defRPr/>
            </a:pPr>
            <a:r>
              <a:rPr lang="ko-KR" altLang="en-US"/>
              <a:t>셋째 수준</a:t>
            </a:r>
            <a:endParaRPr lang="ko-KR" altLang="en-US"/>
          </a:p>
          <a:p>
            <a:pPr lvl="3">
              <a:defRPr/>
            </a:pPr>
            <a:r>
              <a:rPr lang="ko-KR" altLang="en-US"/>
              <a:t>넷째 수준</a:t>
            </a:r>
            <a:endParaRPr lang="ko-KR" altLang="en-US"/>
          </a:p>
          <a:p>
            <a:pPr lvl="4">
              <a:defRPr/>
            </a:pPr>
            <a:r>
              <a:rPr lang="ko-KR" altLang="en-US"/>
              <a:t>다섯째 수준</a:t>
            </a:r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anchor="b"/>
          <a:lstStyle>
            <a:lvl1pPr algn="l">
              <a:defRPr sz="1200"/>
            </a:lvl1pPr>
          </a:lstStyle>
          <a:p>
            <a:pPr lvl="0">
              <a:defRPr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anchor="b"/>
          <a:lstStyle>
            <a:lvl1pPr algn="r">
              <a:defRPr sz="1200"/>
            </a:lvl1pPr>
          </a:lstStyle>
          <a:p>
            <a:pPr lvl="0">
              <a:defRPr/>
            </a:pPr>
            <a:fld id="{ED463564-01E7-4F87-AE00-59478FEE8A8F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Relationship Id="rId2" Type="http://schemas.openxmlformats.org/officeDocument/2006/relationships/image" Target="../media/image1.jpeg"  /><Relationship Id="rId3" Type="http://schemas.openxmlformats.org/officeDocument/2006/relationships/image" Target="../media/image2.png"  /><Relationship Id="rId4" Type="http://schemas.openxmlformats.org/officeDocument/2006/relationships/image" Target="../media/image3.png"  /><Relationship Id="rId5" Type="http://schemas.openxmlformats.org/officeDocument/2006/relationships/image" Target="../media/image4.png"  /><Relationship Id="rId6" Type="http://schemas.openxmlformats.org/officeDocument/2006/relationships/image" Target="../media/image5.png"  /></Relationships>
</file>

<file path=ppt/slideLayouts/_rels/slideLayout2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Relationship Id="rId2" Type="http://schemas.openxmlformats.org/officeDocument/2006/relationships/image" Target="../media/image6.png"  /><Relationship Id="rId3" Type="http://schemas.openxmlformats.org/officeDocument/2006/relationships/image" Target="../media/image1.jpeg"  /></Relationships>
</file>

<file path=ppt/slideLayouts/_rels/slideLayout3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Relationship Id="rId2" Type="http://schemas.openxmlformats.org/officeDocument/2006/relationships/image" Target="../media/image6.png"  /><Relationship Id="rId3" Type="http://schemas.openxmlformats.org/officeDocument/2006/relationships/image" Target="../media/image1.jpeg"  /></Relationships>
</file>

<file path=ppt/slideLayouts/_rels/slideLayout4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Relationship Id="rId2" Type="http://schemas.openxmlformats.org/officeDocument/2006/relationships/image" Target="../media/image4.png"  /><Relationship Id="rId3" Type="http://schemas.openxmlformats.org/officeDocument/2006/relationships/image" Target="../media/image5.png"  /><Relationship Id="rId4" Type="http://schemas.openxmlformats.org/officeDocument/2006/relationships/image" Target="../media/image1.jpeg"  /></Relationships>
</file>

<file path=ppt/slideLayouts/_rels/slideLayout5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Relationship Id="rId2" Type="http://schemas.openxmlformats.org/officeDocument/2006/relationships/image" Target="../media/image4.png"  /><Relationship Id="rId3" Type="http://schemas.openxmlformats.org/officeDocument/2006/relationships/image" Target="../media/image5.png"  /><Relationship Id="rId4" Type="http://schemas.openxmlformats.org/officeDocument/2006/relationships/image" Target="../media/image1.jpeg"  /></Relationships>
</file>

<file path=ppt/slideLayouts/_rels/slideLayout6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1143000" y="4419136"/>
            <a:ext cx="6858000" cy="1339783"/>
          </a:xfrm>
        </p:spPr>
        <p:txBody>
          <a:bodyPr anchor="ctr">
            <a:normAutofit/>
          </a:bodyPr>
          <a:lstStyle>
            <a:lvl1pPr marL="0" indent="0" algn="ctr">
              <a:buNone/>
              <a:defRPr sz="1800" b="1">
                <a:latin typeface="times" panose="02020603050405020304" pitchFamily="18" charset="0"/>
                <a:cs typeface="times" panose="02020603050405020304" pitchFamily="18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 dirty="0"/>
              <a:t>이름</a:t>
            </a:r>
            <a:endParaRPr lang="en-US" altLang="ko-KR" dirty="0"/>
          </a:p>
          <a:p>
            <a:r>
              <a:rPr lang="ko-KR" altLang="en-US" dirty="0"/>
              <a:t>소속</a:t>
            </a:r>
            <a:endParaRPr lang="en-US" altLang="ko-KR" dirty="0"/>
          </a:p>
          <a:p>
            <a:r>
              <a:rPr lang="ko-KR" altLang="en-US" dirty="0"/>
              <a:t>발표장소</a:t>
            </a:r>
            <a:r>
              <a:rPr lang="en-US" altLang="ko-KR" dirty="0"/>
              <a:t>/</a:t>
            </a:r>
            <a:r>
              <a:rPr lang="ko-KR" altLang="en-US" dirty="0"/>
              <a:t>발표일</a:t>
            </a:r>
            <a:endParaRPr lang="en-US" dirty="0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88B88FB9-8488-4F3A-9179-85AF22A058C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0" y="1935331"/>
            <a:ext cx="9144000" cy="2226189"/>
          </a:xfrm>
        </p:spPr>
        <p:txBody>
          <a:bodyPr anchor="ctr">
            <a:normAutofit/>
          </a:bodyPr>
          <a:lstStyle>
            <a:lvl1pPr algn="ctr">
              <a:defRPr sz="4000" b="1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" panose="02020603050405020304" pitchFamily="18" charset="0"/>
                <a:ea typeface="+mj-ea"/>
                <a:cs typeface="times" panose="02020603050405020304" pitchFamily="18" charset="0"/>
              </a:defRPr>
            </a:lvl1pPr>
          </a:lstStyle>
          <a:p>
            <a:r>
              <a:rPr lang="ko-KR" altLang="en-US" dirty="0"/>
              <a:t>발표제목</a:t>
            </a:r>
            <a:br>
              <a:rPr lang="en-US" altLang="ko-KR" dirty="0"/>
            </a:br>
            <a:r>
              <a:rPr lang="en-US" altLang="ko-KR" dirty="0"/>
              <a:t>(</a:t>
            </a:r>
            <a:r>
              <a:rPr lang="ko-KR" altLang="en-US" dirty="0"/>
              <a:t>국</a:t>
            </a:r>
            <a:r>
              <a:rPr lang="en-US" altLang="ko-KR" dirty="0"/>
              <a:t>/</a:t>
            </a:r>
            <a:r>
              <a:rPr lang="ko-KR" altLang="en-US" dirty="0"/>
              <a:t>영문</a:t>
            </a:r>
            <a:r>
              <a:rPr lang="en-US" altLang="ko-KR" dirty="0"/>
              <a:t>, Times, 40 pts)</a:t>
            </a:r>
            <a:endParaRPr lang="en-US" dirty="0"/>
          </a:p>
        </p:txBody>
      </p:sp>
      <p:grpSp>
        <p:nvGrpSpPr>
          <p:cNvPr id="7" name="그룹 6">
            <a:extLst>
              <a:ext uri="{FF2B5EF4-FFF2-40B4-BE49-F238E27FC236}">
                <a16:creationId xmlns:a16="http://schemas.microsoft.com/office/drawing/2014/main" id="{80F818A9-523E-49E6-8353-F8A3A0FF3B05}"/>
              </a:ext>
            </a:extLst>
          </p:cNvPr>
          <p:cNvGrpSpPr/>
          <p:nvPr userDrawn="1"/>
        </p:nvGrpSpPr>
        <p:grpSpPr>
          <a:xfrm>
            <a:off x="3097294" y="6017853"/>
            <a:ext cx="3389530" cy="720000"/>
            <a:chOff x="3167632" y="6062339"/>
            <a:chExt cx="3389530" cy="720000"/>
          </a:xfrm>
        </p:grpSpPr>
        <p:pic>
          <p:nvPicPr>
            <p:cNvPr id="4" name="그림 3" descr="그리기, 플레이트, 음식, 방이(가) 표시된 사진&#10;&#10;자동 생성된 설명">
              <a:extLst>
                <a:ext uri="{FF2B5EF4-FFF2-40B4-BE49-F238E27FC236}">
                  <a16:creationId xmlns:a16="http://schemas.microsoft.com/office/drawing/2014/main" id="{E63BAE71-441C-4804-B8BC-2FBAFD2A5090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167632" y="6062339"/>
              <a:ext cx="720000" cy="720000"/>
            </a:xfrm>
            <a:prstGeom prst="rect">
              <a:avLst/>
            </a:prstGeom>
          </p:spPr>
        </p:pic>
        <p:sp>
          <p:nvSpPr>
            <p:cNvPr id="5" name="직사각형 4">
              <a:extLst>
                <a:ext uri="{FF2B5EF4-FFF2-40B4-BE49-F238E27FC236}">
                  <a16:creationId xmlns:a16="http://schemas.microsoft.com/office/drawing/2014/main" id="{215EB456-78DB-470E-AB3C-3A934AB3135F}"/>
                </a:ext>
              </a:extLst>
            </p:cNvPr>
            <p:cNvSpPr/>
            <p:nvPr userDrawn="1"/>
          </p:nvSpPr>
          <p:spPr>
            <a:xfrm>
              <a:off x="3846292" y="6114563"/>
              <a:ext cx="2710870" cy="615553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ko-KR" altLang="en-US" sz="2000" b="1" spc="100" baseline="0" dirty="0">
                  <a:solidFill>
                    <a:schemeClr val="accent5">
                      <a:lumMod val="75000"/>
                    </a:schemeClr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times" panose="02020603050405020304" pitchFamily="18" charset="0"/>
                  <a:cs typeface="times" panose="02020603050405020304" pitchFamily="18" charset="0"/>
                </a:rPr>
                <a:t>우주비행제어연구실</a:t>
              </a:r>
              <a:endParaRPr lang="en-US" altLang="ko-KR" sz="2000" b="1" spc="100" baseline="0" dirty="0">
                <a:solidFill>
                  <a:schemeClr val="accent5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" panose="02020603050405020304" pitchFamily="18" charset="0"/>
                <a:cs typeface="times" panose="02020603050405020304" pitchFamily="18" charset="0"/>
              </a:endParaRPr>
            </a:p>
            <a:p>
              <a:r>
                <a:rPr lang="en-US" altLang="ko-KR" sz="1400" b="1" dirty="0">
                  <a:solidFill>
                    <a:schemeClr val="accent5">
                      <a:lumMod val="75000"/>
                    </a:schemeClr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times" panose="02020603050405020304" pitchFamily="18" charset="0"/>
                  <a:cs typeface="times" panose="02020603050405020304" pitchFamily="18" charset="0"/>
                </a:rPr>
                <a:t>Astrodynamics and Control Lab.</a:t>
              </a:r>
            </a:p>
          </p:txBody>
        </p:sp>
      </p:grpSp>
      <p:pic>
        <p:nvPicPr>
          <p:cNvPr id="15" name="그림 14">
            <a:extLst>
              <a:ext uri="{FF2B5EF4-FFF2-40B4-BE49-F238E27FC236}">
                <a16:creationId xmlns:a16="http://schemas.microsoft.com/office/drawing/2014/main" id="{B0D7EE89-F264-41E4-AEC5-73770F7D8FD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/>
          <a:srcRect b="50000"/>
          <a:stretch/>
        </p:blipFill>
        <p:spPr>
          <a:xfrm>
            <a:off x="7031115" y="4108252"/>
            <a:ext cx="2133955" cy="2761589"/>
          </a:xfrm>
          <a:prstGeom prst="rect">
            <a:avLst/>
          </a:prstGeom>
        </p:spPr>
      </p:pic>
      <p:pic>
        <p:nvPicPr>
          <p:cNvPr id="16" name="그림 15">
            <a:extLst>
              <a:ext uri="{FF2B5EF4-FFF2-40B4-BE49-F238E27FC236}">
                <a16:creationId xmlns:a16="http://schemas.microsoft.com/office/drawing/2014/main" id="{FD783890-A54B-4809-84F6-B7736A2B63C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/>
          <a:srcRect t="5510" b="52178"/>
          <a:stretch/>
        </p:blipFill>
        <p:spPr>
          <a:xfrm flipH="1">
            <a:off x="-21070" y="4419136"/>
            <a:ext cx="2212357" cy="2438864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EA08DBB2-FE6A-40A8-BAA8-F4DFAEEBA3FF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70565" y="89661"/>
            <a:ext cx="720000" cy="720000"/>
          </a:xfrm>
          <a:prstGeom prst="rect">
            <a:avLst/>
          </a:prstGeom>
        </p:spPr>
      </p:pic>
      <p:pic>
        <p:nvPicPr>
          <p:cNvPr id="12" name="Picture 8">
            <a:extLst>
              <a:ext uri="{FF2B5EF4-FFF2-40B4-BE49-F238E27FC236}">
                <a16:creationId xmlns:a16="http://schemas.microsoft.com/office/drawing/2014/main" id="{6A115575-BE6D-40AD-B231-D68D8B4912A7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6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38645" y="89661"/>
            <a:ext cx="720000" cy="720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61791852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4. 본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9" name="직선 연결선 48">
            <a:extLst>
              <a:ext uri="{FF2B5EF4-FFF2-40B4-BE49-F238E27FC236}">
                <a16:creationId xmlns:a16="http://schemas.microsoft.com/office/drawing/2014/main" id="{DD644064-7FF7-4F6F-ADA3-1626B4D81BCB}"/>
              </a:ext>
            </a:extLst>
          </p:cNvPr>
          <p:cNvCxnSpPr>
            <a:cxnSpLocks/>
          </p:cNvCxnSpPr>
          <p:nvPr userDrawn="1"/>
        </p:nvCxnSpPr>
        <p:spPr>
          <a:xfrm>
            <a:off x="619125" y="876300"/>
            <a:ext cx="7575550" cy="0"/>
          </a:xfrm>
          <a:prstGeom prst="line">
            <a:avLst/>
          </a:prstGeom>
          <a:ln w="28575">
            <a:solidFill>
              <a:schemeClr val="accent5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itle 1">
            <a:extLst>
              <a:ext uri="{FF2B5EF4-FFF2-40B4-BE49-F238E27FC236}">
                <a16:creationId xmlns:a16="http://schemas.microsoft.com/office/drawing/2014/main" id="{9EEAC6FF-2CB2-4248-942E-A23DF1B6BE2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84057" y="71055"/>
            <a:ext cx="6705464" cy="687714"/>
          </a:xfrm>
        </p:spPr>
        <p:txBody>
          <a:bodyPr>
            <a:normAutofit/>
          </a:bodyPr>
          <a:lstStyle>
            <a:lvl1pPr algn="ctr">
              <a:defRPr sz="2800" b="1">
                <a:solidFill>
                  <a:schemeClr val="tx1"/>
                </a:solidFill>
                <a:latin typeface="times" panose="02020603050405020304" pitchFamily="18" charset="0"/>
                <a:ea typeface="+mj-ea"/>
                <a:cs typeface="times" panose="02020603050405020304" pitchFamily="18" charset="0"/>
              </a:defRPr>
            </a:lvl1pPr>
          </a:lstStyle>
          <a:p>
            <a:r>
              <a:rPr lang="ko-KR" altLang="en-US" dirty="0"/>
              <a:t>마스터 제목 스타일 편집 </a:t>
            </a:r>
            <a:r>
              <a:rPr lang="en-US" altLang="ko-KR" dirty="0"/>
              <a:t>(28 pts)</a:t>
            </a:r>
            <a:endParaRPr lang="en-US" dirty="0"/>
          </a:p>
        </p:txBody>
      </p:sp>
      <p:pic>
        <p:nvPicPr>
          <p:cNvPr id="19" name="그림 18">
            <a:extLst>
              <a:ext uri="{FF2B5EF4-FFF2-40B4-BE49-F238E27FC236}">
                <a16:creationId xmlns:a16="http://schemas.microsoft.com/office/drawing/2014/main" id="{ABD5D053-347B-45C0-B24B-C511B6215BC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t="3646" r="9900"/>
          <a:stretch/>
        </p:blipFill>
        <p:spPr>
          <a:xfrm>
            <a:off x="7554954" y="1"/>
            <a:ext cx="1589045" cy="1029956"/>
          </a:xfrm>
          <a:prstGeom prst="rect">
            <a:avLst/>
          </a:prstGeom>
        </p:spPr>
      </p:pic>
      <p:sp>
        <p:nvSpPr>
          <p:cNvPr id="26" name="직사각형 25">
            <a:extLst>
              <a:ext uri="{FF2B5EF4-FFF2-40B4-BE49-F238E27FC236}">
                <a16:creationId xmlns:a16="http://schemas.microsoft.com/office/drawing/2014/main" id="{CDF2725A-2EAD-4828-8A48-CF4B69244C83}"/>
              </a:ext>
            </a:extLst>
          </p:cNvPr>
          <p:cNvSpPr/>
          <p:nvPr userDrawn="1"/>
        </p:nvSpPr>
        <p:spPr>
          <a:xfrm>
            <a:off x="260193" y="6331061"/>
            <a:ext cx="343363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800" b="1" dirty="0">
                <a:solidFill>
                  <a:schemeClr val="accent5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" panose="02020603050405020304" pitchFamily="18" charset="0"/>
                <a:cs typeface="times" panose="02020603050405020304" pitchFamily="18" charset="0"/>
              </a:rPr>
              <a:t>Astrodynamics and Control Lab.</a:t>
            </a:r>
          </a:p>
        </p:txBody>
      </p:sp>
      <p:sp>
        <p:nvSpPr>
          <p:cNvPr id="27" name="슬라이드 번호 개체 틀 4">
            <a:extLst>
              <a:ext uri="{FF2B5EF4-FFF2-40B4-BE49-F238E27FC236}">
                <a16:creationId xmlns:a16="http://schemas.microsoft.com/office/drawing/2014/main" id="{116EEB02-C842-4201-B314-07D2C2222D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905750" y="6327787"/>
            <a:ext cx="981169" cy="360000"/>
          </a:xfrm>
          <a:prstGeom prst="rect">
            <a:avLst/>
          </a:prstGeom>
        </p:spPr>
        <p:txBody>
          <a:bodyPr anchor="ctr"/>
          <a:lstStyle>
            <a:lvl1pPr algn="r">
              <a:defRPr sz="1400" b="1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defRPr>
            </a:lvl1pPr>
          </a:lstStyle>
          <a:p>
            <a:fld id="{397DD3AE-C24E-49FC-B527-05061A0348E6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  <p:grpSp>
        <p:nvGrpSpPr>
          <p:cNvPr id="11" name="그룹 10">
            <a:extLst>
              <a:ext uri="{FF2B5EF4-FFF2-40B4-BE49-F238E27FC236}">
                <a16:creationId xmlns:a16="http://schemas.microsoft.com/office/drawing/2014/main" id="{823B068E-A8D6-4389-87D7-7224E5B251E9}"/>
              </a:ext>
            </a:extLst>
          </p:cNvPr>
          <p:cNvGrpSpPr/>
          <p:nvPr userDrawn="1"/>
        </p:nvGrpSpPr>
        <p:grpSpPr>
          <a:xfrm>
            <a:off x="695141" y="1187583"/>
            <a:ext cx="698862" cy="4535814"/>
            <a:chOff x="695141" y="1187583"/>
            <a:chExt cx="698862" cy="4535814"/>
          </a:xfrm>
        </p:grpSpPr>
        <p:sp>
          <p:nvSpPr>
            <p:cNvPr id="12" name="타원 11">
              <a:extLst>
                <a:ext uri="{FF2B5EF4-FFF2-40B4-BE49-F238E27FC236}">
                  <a16:creationId xmlns:a16="http://schemas.microsoft.com/office/drawing/2014/main" id="{FB63AC01-59A1-4839-880A-52A4371FE19E}"/>
                </a:ext>
              </a:extLst>
            </p:cNvPr>
            <p:cNvSpPr/>
            <p:nvPr/>
          </p:nvSpPr>
          <p:spPr>
            <a:xfrm>
              <a:off x="701313" y="1187583"/>
              <a:ext cx="692690" cy="687714"/>
            </a:xfrm>
            <a:prstGeom prst="ellipse">
              <a:avLst/>
            </a:prstGeom>
            <a:solidFill>
              <a:schemeClr val="bg1"/>
            </a:solidFill>
            <a:ln w="38100"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b="1" dirty="0">
                  <a:solidFill>
                    <a:schemeClr val="tx1"/>
                  </a:solidFill>
                  <a:latin typeface="times" panose="02020603050405020304" pitchFamily="18" charset="0"/>
                  <a:cs typeface="times" panose="02020603050405020304" pitchFamily="18" charset="0"/>
                </a:rPr>
                <a:t>I</a:t>
              </a:r>
              <a:endParaRPr lang="ko-KR" altLang="en-US" b="1" dirty="0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endParaRPr>
            </a:p>
          </p:txBody>
        </p:sp>
        <p:sp>
          <p:nvSpPr>
            <p:cNvPr id="13" name="타원 12">
              <a:extLst>
                <a:ext uri="{FF2B5EF4-FFF2-40B4-BE49-F238E27FC236}">
                  <a16:creationId xmlns:a16="http://schemas.microsoft.com/office/drawing/2014/main" id="{E40572AD-6701-4266-9752-13DC1E63AA2C}"/>
                </a:ext>
              </a:extLst>
            </p:cNvPr>
            <p:cNvSpPr/>
            <p:nvPr/>
          </p:nvSpPr>
          <p:spPr>
            <a:xfrm>
              <a:off x="695141" y="2149608"/>
              <a:ext cx="692690" cy="687714"/>
            </a:xfrm>
            <a:prstGeom prst="ellipse">
              <a:avLst/>
            </a:prstGeom>
            <a:solidFill>
              <a:schemeClr val="bg1"/>
            </a:solidFill>
            <a:ln w="38100"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b="1" dirty="0">
                  <a:solidFill>
                    <a:schemeClr val="tx1"/>
                  </a:solidFill>
                  <a:latin typeface="times" panose="02020603050405020304" pitchFamily="18" charset="0"/>
                  <a:cs typeface="times" panose="02020603050405020304" pitchFamily="18" charset="0"/>
                </a:rPr>
                <a:t>II</a:t>
              </a:r>
              <a:endParaRPr lang="ko-KR" altLang="en-US" b="1" dirty="0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endParaRPr>
            </a:p>
          </p:txBody>
        </p:sp>
        <p:sp>
          <p:nvSpPr>
            <p:cNvPr id="15" name="타원 14">
              <a:extLst>
                <a:ext uri="{FF2B5EF4-FFF2-40B4-BE49-F238E27FC236}">
                  <a16:creationId xmlns:a16="http://schemas.microsoft.com/office/drawing/2014/main" id="{262E28C8-6768-42E9-BCF0-6BF7AA2C69D1}"/>
                </a:ext>
              </a:extLst>
            </p:cNvPr>
            <p:cNvSpPr/>
            <p:nvPr/>
          </p:nvSpPr>
          <p:spPr>
            <a:xfrm>
              <a:off x="695141" y="3111633"/>
              <a:ext cx="692690" cy="687714"/>
            </a:xfrm>
            <a:prstGeom prst="ellipse">
              <a:avLst/>
            </a:prstGeom>
            <a:solidFill>
              <a:schemeClr val="bg1"/>
            </a:solidFill>
            <a:ln w="38100"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b="1" dirty="0">
                  <a:solidFill>
                    <a:schemeClr val="tx1"/>
                  </a:solidFill>
                  <a:latin typeface="times" panose="02020603050405020304" pitchFamily="18" charset="0"/>
                  <a:cs typeface="times" panose="02020603050405020304" pitchFamily="18" charset="0"/>
                </a:rPr>
                <a:t>III</a:t>
              </a:r>
              <a:endParaRPr lang="ko-KR" altLang="en-US" b="1" dirty="0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endParaRPr>
            </a:p>
          </p:txBody>
        </p:sp>
        <p:sp>
          <p:nvSpPr>
            <p:cNvPr id="16" name="타원 15">
              <a:extLst>
                <a:ext uri="{FF2B5EF4-FFF2-40B4-BE49-F238E27FC236}">
                  <a16:creationId xmlns:a16="http://schemas.microsoft.com/office/drawing/2014/main" id="{51C8E578-E54B-4F6C-8319-D77A1971F286}"/>
                </a:ext>
              </a:extLst>
            </p:cNvPr>
            <p:cNvSpPr/>
            <p:nvPr/>
          </p:nvSpPr>
          <p:spPr>
            <a:xfrm>
              <a:off x="695141" y="4073658"/>
              <a:ext cx="692690" cy="687714"/>
            </a:xfrm>
            <a:prstGeom prst="ellipse">
              <a:avLst/>
            </a:prstGeom>
            <a:solidFill>
              <a:schemeClr val="bg1"/>
            </a:solidFill>
            <a:ln w="38100"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b="1" dirty="0">
                  <a:solidFill>
                    <a:schemeClr val="tx1"/>
                  </a:solidFill>
                  <a:latin typeface="times" panose="02020603050405020304" pitchFamily="18" charset="0"/>
                  <a:cs typeface="times" panose="02020603050405020304" pitchFamily="18" charset="0"/>
                </a:rPr>
                <a:t>IV</a:t>
              </a:r>
              <a:endParaRPr lang="ko-KR" altLang="en-US" b="1" dirty="0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endParaRPr>
            </a:p>
          </p:txBody>
        </p:sp>
        <p:sp>
          <p:nvSpPr>
            <p:cNvPr id="17" name="타원 16">
              <a:extLst>
                <a:ext uri="{FF2B5EF4-FFF2-40B4-BE49-F238E27FC236}">
                  <a16:creationId xmlns:a16="http://schemas.microsoft.com/office/drawing/2014/main" id="{0F52A207-95C0-475F-A6D7-1FCB68CF92B4}"/>
                </a:ext>
              </a:extLst>
            </p:cNvPr>
            <p:cNvSpPr/>
            <p:nvPr/>
          </p:nvSpPr>
          <p:spPr>
            <a:xfrm>
              <a:off x="695141" y="5035683"/>
              <a:ext cx="692690" cy="687714"/>
            </a:xfrm>
            <a:prstGeom prst="ellipse">
              <a:avLst/>
            </a:prstGeom>
            <a:solidFill>
              <a:schemeClr val="bg1"/>
            </a:solidFill>
            <a:ln w="38100"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b="1" dirty="0">
                  <a:solidFill>
                    <a:schemeClr val="tx1"/>
                  </a:solidFill>
                  <a:latin typeface="times" panose="02020603050405020304" pitchFamily="18" charset="0"/>
                  <a:cs typeface="times" panose="02020603050405020304" pitchFamily="18" charset="0"/>
                </a:rPr>
                <a:t>V</a:t>
              </a:r>
              <a:endParaRPr lang="ko-KR" altLang="en-US" b="1" dirty="0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endParaRPr>
            </a:p>
          </p:txBody>
        </p:sp>
      </p:grpSp>
      <p:graphicFrame>
        <p:nvGraphicFramePr>
          <p:cNvPr id="18" name="표 18">
            <a:extLst>
              <a:ext uri="{FF2B5EF4-FFF2-40B4-BE49-F238E27FC236}">
                <a16:creationId xmlns:a16="http://schemas.microsoft.com/office/drawing/2014/main" id="{5B07531E-AAB8-40A5-B3D0-4F0F6D12E2F0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295206933"/>
              </p:ext>
            </p:extLst>
          </p:nvPr>
        </p:nvGraphicFramePr>
        <p:xfrm>
          <a:off x="1454505" y="1029970"/>
          <a:ext cx="7318019" cy="48291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18019">
                  <a:extLst>
                    <a:ext uri="{9D8B030D-6E8A-4147-A177-3AD203B41FA5}">
                      <a16:colId xmlns:a16="http://schemas.microsoft.com/office/drawing/2014/main" val="2719041385"/>
                    </a:ext>
                  </a:extLst>
                </a:gridCol>
              </a:tblGrid>
              <a:tr h="965835">
                <a:tc>
                  <a:txBody>
                    <a:bodyPr/>
                    <a:lstStyle/>
                    <a:p>
                      <a:pPr latinLnBrk="1"/>
                      <a:endParaRPr lang="ko-KR" altLang="en-US" sz="2000" b="1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77413000"/>
                  </a:ext>
                </a:extLst>
              </a:tr>
              <a:tr h="965835">
                <a:tc>
                  <a:txBody>
                    <a:bodyPr/>
                    <a:lstStyle/>
                    <a:p>
                      <a:pPr latinLnBrk="1"/>
                      <a:endParaRPr lang="ko-KR" altLang="en-US" sz="2000" b="1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04167346"/>
                  </a:ext>
                </a:extLst>
              </a:tr>
              <a:tr h="965835">
                <a:tc>
                  <a:txBody>
                    <a:bodyPr/>
                    <a:lstStyle/>
                    <a:p>
                      <a:pPr latinLnBrk="1"/>
                      <a:endParaRPr lang="ko-KR" altLang="en-US" sz="2000" b="1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45247919"/>
                  </a:ext>
                </a:extLst>
              </a:tr>
              <a:tr h="965835">
                <a:tc>
                  <a:txBody>
                    <a:bodyPr/>
                    <a:lstStyle/>
                    <a:p>
                      <a:pPr latinLnBrk="1"/>
                      <a:endParaRPr lang="ko-KR" altLang="en-US" sz="2000" b="1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81284267"/>
                  </a:ext>
                </a:extLst>
              </a:tr>
              <a:tr h="965835">
                <a:tc>
                  <a:txBody>
                    <a:bodyPr/>
                    <a:lstStyle/>
                    <a:p>
                      <a:pPr latinLnBrk="1"/>
                      <a:endParaRPr lang="ko-KR" altLang="en-US" sz="2000" b="1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35405283"/>
                  </a:ext>
                </a:extLst>
              </a:tr>
            </a:tbl>
          </a:graphicData>
        </a:graphic>
      </p:graphicFrame>
      <p:pic>
        <p:nvPicPr>
          <p:cNvPr id="23" name="그림 22" descr="그리기, 플레이트, 음식, 방이(가) 표시된 사진&#10;&#10;자동 생성된 설명">
            <a:extLst>
              <a:ext uri="{FF2B5EF4-FFF2-40B4-BE49-F238E27FC236}">
                <a16:creationId xmlns:a16="http://schemas.microsoft.com/office/drawing/2014/main" id="{FEF37F4A-64D8-493C-A65A-762B21FB975F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2423" y="100133"/>
            <a:ext cx="720000" cy="720000"/>
          </a:xfrm>
          <a:prstGeom prst="rect">
            <a:avLst/>
          </a:prstGeom>
        </p:spPr>
      </p:pic>
      <p:cxnSp>
        <p:nvCxnSpPr>
          <p:cNvPr id="24" name="직선 연결선 23">
            <a:extLst>
              <a:ext uri="{FF2B5EF4-FFF2-40B4-BE49-F238E27FC236}">
                <a16:creationId xmlns:a16="http://schemas.microsoft.com/office/drawing/2014/main" id="{6567B15C-EDC8-4FDB-86E3-588E3F4B38B8}"/>
              </a:ext>
            </a:extLst>
          </p:cNvPr>
          <p:cNvCxnSpPr>
            <a:cxnSpLocks/>
          </p:cNvCxnSpPr>
          <p:nvPr userDrawn="1"/>
        </p:nvCxnSpPr>
        <p:spPr>
          <a:xfrm>
            <a:off x="781050" y="803275"/>
            <a:ext cx="6732270" cy="0"/>
          </a:xfrm>
          <a:prstGeom prst="line">
            <a:avLst/>
          </a:prstGeom>
          <a:ln w="28575"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7648692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. 본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직사각형 23">
            <a:extLst>
              <a:ext uri="{FF2B5EF4-FFF2-40B4-BE49-F238E27FC236}">
                <a16:creationId xmlns:a16="http://schemas.microsoft.com/office/drawing/2014/main" id="{B04D5D09-A2FC-4C8B-A3FF-CD7464225194}"/>
              </a:ext>
            </a:extLst>
          </p:cNvPr>
          <p:cNvSpPr/>
          <p:nvPr userDrawn="1"/>
        </p:nvSpPr>
        <p:spPr>
          <a:xfrm>
            <a:off x="260193" y="6331061"/>
            <a:ext cx="343363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800" b="1" dirty="0">
                <a:solidFill>
                  <a:schemeClr val="accent5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" panose="02020603050405020304" pitchFamily="18" charset="0"/>
                <a:cs typeface="times" panose="02020603050405020304" pitchFamily="18" charset="0"/>
              </a:rPr>
              <a:t>Astrodynamics and Control Lab.</a:t>
            </a:r>
          </a:p>
        </p:txBody>
      </p:sp>
      <p:sp>
        <p:nvSpPr>
          <p:cNvPr id="25" name="슬라이드 번호 개체 틀 4">
            <a:extLst>
              <a:ext uri="{FF2B5EF4-FFF2-40B4-BE49-F238E27FC236}">
                <a16:creationId xmlns:a16="http://schemas.microsoft.com/office/drawing/2014/main" id="{631309A5-660A-4E14-8195-3A25152345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905750" y="6327787"/>
            <a:ext cx="981169" cy="360000"/>
          </a:xfrm>
          <a:prstGeom prst="rect">
            <a:avLst/>
          </a:prstGeom>
        </p:spPr>
        <p:txBody>
          <a:bodyPr anchor="ctr"/>
          <a:lstStyle>
            <a:lvl1pPr algn="r">
              <a:defRPr sz="1400" b="1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defRPr>
            </a:lvl1pPr>
          </a:lstStyle>
          <a:p>
            <a:fld id="{397DD3AE-C24E-49FC-B527-05061A0348E6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  <p:sp>
        <p:nvSpPr>
          <p:cNvPr id="27" name="Content Placeholder 2">
            <a:extLst>
              <a:ext uri="{FF2B5EF4-FFF2-40B4-BE49-F238E27FC236}">
                <a16:creationId xmlns:a16="http://schemas.microsoft.com/office/drawing/2014/main" id="{7540F519-A5D5-4C17-A8B9-7371A3A8411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7082" y="928686"/>
            <a:ext cx="8629838" cy="5376968"/>
          </a:xfrm>
        </p:spPr>
        <p:txBody>
          <a:bodyPr>
            <a:noAutofit/>
          </a:bodyPr>
          <a:lstStyle>
            <a:lvl1pPr marL="228600" indent="-360000">
              <a:lnSpc>
                <a:spcPct val="100000"/>
              </a:lnSpc>
              <a:buFont typeface="Wingdings" panose="05000000000000000000" pitchFamily="2" charset="2"/>
              <a:buChar char="v"/>
              <a:defRPr sz="2400" b="1">
                <a:latin typeface="times" panose="02020603050405020304" pitchFamily="18" charset="0"/>
                <a:cs typeface="times" panose="02020603050405020304" pitchFamily="18" charset="0"/>
              </a:defRPr>
            </a:lvl1pPr>
            <a:lvl2pPr marL="540000" indent="-324000">
              <a:lnSpc>
                <a:spcPct val="100000"/>
              </a:lnSpc>
              <a:buFont typeface="Wingdings" panose="05000000000000000000" pitchFamily="2" charset="2"/>
              <a:buChar char="u"/>
              <a:defRPr sz="1800" b="0">
                <a:latin typeface="times" panose="02020603050405020304" pitchFamily="18" charset="0"/>
                <a:cs typeface="times" panose="02020603050405020304" pitchFamily="18" charset="0"/>
              </a:defRPr>
            </a:lvl2pPr>
            <a:lvl3pPr marL="720000" indent="-288000">
              <a:lnSpc>
                <a:spcPct val="100000"/>
              </a:lnSpc>
              <a:buFont typeface="Wingdings" panose="05000000000000000000" pitchFamily="2" charset="2"/>
              <a:buChar char="Ø"/>
              <a:defRPr sz="1600">
                <a:latin typeface="times" panose="02020603050405020304" pitchFamily="18" charset="0"/>
                <a:cs typeface="times" panose="02020603050405020304" pitchFamily="18" charset="0"/>
              </a:defRPr>
            </a:lvl3pPr>
            <a:lvl4pPr marL="900000" indent="-252000">
              <a:lnSpc>
                <a:spcPct val="100000"/>
              </a:lnSpc>
              <a:buFont typeface="Wingdings" panose="05000000000000000000" pitchFamily="2" charset="2"/>
              <a:buChar char="ü"/>
              <a:defRPr sz="1400">
                <a:latin typeface="times" panose="02020603050405020304" pitchFamily="18" charset="0"/>
                <a:cs typeface="times" panose="02020603050405020304" pitchFamily="18" charset="0"/>
              </a:defRPr>
            </a:lvl4pPr>
            <a:lvl5pPr marL="1080000" indent="-252000">
              <a:lnSpc>
                <a:spcPct val="100000"/>
              </a:lnSpc>
              <a:defRPr sz="1400">
                <a:latin typeface="times" panose="02020603050405020304" pitchFamily="18" charset="0"/>
                <a:cs typeface="times" panose="02020603050405020304" pitchFamily="18" charset="0"/>
              </a:defRPr>
            </a:lvl5pPr>
          </a:lstStyle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  <a:endParaRPr lang="en-US" dirty="0"/>
          </a:p>
        </p:txBody>
      </p:sp>
      <p:sp>
        <p:nvSpPr>
          <p:cNvPr id="30" name="Title 1">
            <a:extLst>
              <a:ext uri="{FF2B5EF4-FFF2-40B4-BE49-F238E27FC236}">
                <a16:creationId xmlns:a16="http://schemas.microsoft.com/office/drawing/2014/main" id="{78361285-D5CA-4434-A351-5343035FD01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84057" y="71055"/>
            <a:ext cx="6705464" cy="687714"/>
          </a:xfrm>
        </p:spPr>
        <p:txBody>
          <a:bodyPr>
            <a:normAutofit/>
          </a:bodyPr>
          <a:lstStyle>
            <a:lvl1pPr algn="ctr">
              <a:defRPr sz="2800" b="1">
                <a:solidFill>
                  <a:schemeClr val="tx1"/>
                </a:solidFill>
                <a:latin typeface="times" panose="02020603050405020304" pitchFamily="18" charset="0"/>
                <a:ea typeface="+mj-ea"/>
                <a:cs typeface="times" panose="02020603050405020304" pitchFamily="18" charset="0"/>
              </a:defRPr>
            </a:lvl1pPr>
          </a:lstStyle>
          <a:p>
            <a:r>
              <a:rPr lang="ko-KR" altLang="en-US" dirty="0"/>
              <a:t>마스터 제목 스타일 편집 </a:t>
            </a:r>
            <a:r>
              <a:rPr lang="en-US" altLang="ko-KR" dirty="0"/>
              <a:t>(28 pts)</a:t>
            </a:r>
            <a:endParaRPr lang="en-US" dirty="0"/>
          </a:p>
        </p:txBody>
      </p:sp>
      <p:pic>
        <p:nvPicPr>
          <p:cNvPr id="12" name="그림 11">
            <a:extLst>
              <a:ext uri="{FF2B5EF4-FFF2-40B4-BE49-F238E27FC236}">
                <a16:creationId xmlns:a16="http://schemas.microsoft.com/office/drawing/2014/main" id="{15C7FC81-20F4-4FC2-B40D-A9FF1F520769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t="3646" r="9900"/>
          <a:stretch/>
        </p:blipFill>
        <p:spPr>
          <a:xfrm>
            <a:off x="7554954" y="1"/>
            <a:ext cx="1589045" cy="1029956"/>
          </a:xfrm>
          <a:prstGeom prst="rect">
            <a:avLst/>
          </a:prstGeom>
        </p:spPr>
      </p:pic>
      <p:cxnSp>
        <p:nvCxnSpPr>
          <p:cNvPr id="14" name="직선 연결선 13">
            <a:extLst>
              <a:ext uri="{FF2B5EF4-FFF2-40B4-BE49-F238E27FC236}">
                <a16:creationId xmlns:a16="http://schemas.microsoft.com/office/drawing/2014/main" id="{4D14EEDE-3F58-409A-8C98-F099C099E03A}"/>
              </a:ext>
            </a:extLst>
          </p:cNvPr>
          <p:cNvCxnSpPr>
            <a:cxnSpLocks/>
          </p:cNvCxnSpPr>
          <p:nvPr userDrawn="1"/>
        </p:nvCxnSpPr>
        <p:spPr>
          <a:xfrm>
            <a:off x="619125" y="876300"/>
            <a:ext cx="7575550" cy="0"/>
          </a:xfrm>
          <a:prstGeom prst="line">
            <a:avLst/>
          </a:prstGeom>
          <a:ln w="28575">
            <a:solidFill>
              <a:schemeClr val="accent5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5" name="그림 14" descr="그리기, 플레이트, 음식, 방이(가) 표시된 사진&#10;&#10;자동 생성된 설명">
            <a:extLst>
              <a:ext uri="{FF2B5EF4-FFF2-40B4-BE49-F238E27FC236}">
                <a16:creationId xmlns:a16="http://schemas.microsoft.com/office/drawing/2014/main" id="{D6923843-3AE5-4E5F-BACA-DFA2C5600B20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2423" y="100133"/>
            <a:ext cx="720000" cy="720000"/>
          </a:xfrm>
          <a:prstGeom prst="rect">
            <a:avLst/>
          </a:prstGeom>
        </p:spPr>
      </p:pic>
      <p:cxnSp>
        <p:nvCxnSpPr>
          <p:cNvPr id="16" name="직선 연결선 15">
            <a:extLst>
              <a:ext uri="{FF2B5EF4-FFF2-40B4-BE49-F238E27FC236}">
                <a16:creationId xmlns:a16="http://schemas.microsoft.com/office/drawing/2014/main" id="{04926874-7DA7-4D84-BD23-06EAC42705A1}"/>
              </a:ext>
            </a:extLst>
          </p:cNvPr>
          <p:cNvCxnSpPr>
            <a:cxnSpLocks/>
          </p:cNvCxnSpPr>
          <p:nvPr userDrawn="1"/>
        </p:nvCxnSpPr>
        <p:spPr>
          <a:xfrm>
            <a:off x="781050" y="803275"/>
            <a:ext cx="6732270" cy="0"/>
          </a:xfrm>
          <a:prstGeom prst="line">
            <a:avLst/>
          </a:prstGeom>
          <a:ln w="28575"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0282884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88B88FB9-8488-4F3A-9179-85AF22A058C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0" y="1820660"/>
            <a:ext cx="9144000" cy="3180446"/>
          </a:xfrm>
        </p:spPr>
        <p:txBody>
          <a:bodyPr anchor="ctr">
            <a:normAutofit/>
          </a:bodyPr>
          <a:lstStyle>
            <a:lvl1pPr algn="ctr">
              <a:defRPr sz="4000" b="1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" panose="02020603050405020304" pitchFamily="18" charset="0"/>
                <a:ea typeface="+mj-ea"/>
                <a:cs typeface="times" panose="02020603050405020304" pitchFamily="18" charset="0"/>
              </a:defRPr>
            </a:lvl1pPr>
          </a:lstStyle>
          <a:p>
            <a:r>
              <a:rPr lang="ko-KR" altLang="en-US" dirty="0"/>
              <a:t>질의응답</a:t>
            </a:r>
            <a:br>
              <a:rPr lang="en-US" altLang="ko-KR" dirty="0"/>
            </a:br>
            <a:r>
              <a:rPr lang="en-US" altLang="ko-KR" dirty="0"/>
              <a:t>(</a:t>
            </a:r>
            <a:r>
              <a:rPr lang="ko-KR" altLang="en-US" dirty="0"/>
              <a:t>국</a:t>
            </a:r>
            <a:r>
              <a:rPr lang="en-US" altLang="ko-KR" dirty="0"/>
              <a:t>/</a:t>
            </a:r>
            <a:r>
              <a:rPr lang="ko-KR" altLang="en-US" dirty="0"/>
              <a:t>영문</a:t>
            </a:r>
            <a:r>
              <a:rPr lang="en-US" altLang="ko-KR" dirty="0"/>
              <a:t>, Times, 40 pts)</a:t>
            </a:r>
            <a:endParaRPr lang="en-US" dirty="0"/>
          </a:p>
        </p:txBody>
      </p:sp>
      <p:sp>
        <p:nvSpPr>
          <p:cNvPr id="7" name="Subtitle 2">
            <a:extLst>
              <a:ext uri="{FF2B5EF4-FFF2-40B4-BE49-F238E27FC236}">
                <a16:creationId xmlns:a16="http://schemas.microsoft.com/office/drawing/2014/main" id="{4FBB211E-0AA6-4FE2-9E18-B081DCF3E197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143000" y="4543424"/>
            <a:ext cx="6858000" cy="1339783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 b="1">
                <a:latin typeface="times" panose="02020603050405020304" pitchFamily="18" charset="0"/>
                <a:cs typeface="times" panose="02020603050405020304" pitchFamily="18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 dirty="0"/>
              <a:t>이름</a:t>
            </a:r>
            <a:endParaRPr lang="en-US" altLang="ko-KR" dirty="0"/>
          </a:p>
          <a:p>
            <a:r>
              <a:rPr lang="ko-KR" altLang="en-US" dirty="0"/>
              <a:t>소속</a:t>
            </a:r>
            <a:endParaRPr lang="en-US" altLang="ko-KR" dirty="0"/>
          </a:p>
          <a:p>
            <a:r>
              <a:rPr lang="ko-KR" altLang="en-US" dirty="0"/>
              <a:t>연락처</a:t>
            </a:r>
            <a:endParaRPr lang="en-US" dirty="0"/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22319A21-8E7C-4790-9643-94CC1925297E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70565" y="6048339"/>
            <a:ext cx="720000" cy="720000"/>
          </a:xfrm>
          <a:prstGeom prst="rect">
            <a:avLst/>
          </a:prstGeom>
        </p:spPr>
      </p:pic>
      <p:pic>
        <p:nvPicPr>
          <p:cNvPr id="14" name="Picture 8">
            <a:extLst>
              <a:ext uri="{FF2B5EF4-FFF2-40B4-BE49-F238E27FC236}">
                <a16:creationId xmlns:a16="http://schemas.microsoft.com/office/drawing/2014/main" id="{46F0A41C-6A01-44CA-A626-55476509C762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38645" y="6048339"/>
            <a:ext cx="720000" cy="720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25" name="그룹 24">
            <a:extLst>
              <a:ext uri="{FF2B5EF4-FFF2-40B4-BE49-F238E27FC236}">
                <a16:creationId xmlns:a16="http://schemas.microsoft.com/office/drawing/2014/main" id="{6E63BBB4-44C3-4C69-9162-763FE81E6FBD}"/>
              </a:ext>
            </a:extLst>
          </p:cNvPr>
          <p:cNvGrpSpPr/>
          <p:nvPr userDrawn="1"/>
        </p:nvGrpSpPr>
        <p:grpSpPr>
          <a:xfrm>
            <a:off x="122423" y="99901"/>
            <a:ext cx="3389530" cy="720000"/>
            <a:chOff x="3167632" y="6062339"/>
            <a:chExt cx="3389530" cy="720000"/>
          </a:xfrm>
        </p:grpSpPr>
        <p:pic>
          <p:nvPicPr>
            <p:cNvPr id="26" name="그림 25" descr="그리기, 플레이트, 음식, 방이(가) 표시된 사진&#10;&#10;자동 생성된 설명">
              <a:extLst>
                <a:ext uri="{FF2B5EF4-FFF2-40B4-BE49-F238E27FC236}">
                  <a16:creationId xmlns:a16="http://schemas.microsoft.com/office/drawing/2014/main" id="{58F4BD04-EF90-4931-B1B3-0FDABC5889ED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167632" y="6062339"/>
              <a:ext cx="720000" cy="720000"/>
            </a:xfrm>
            <a:prstGeom prst="rect">
              <a:avLst/>
            </a:prstGeom>
          </p:spPr>
        </p:pic>
        <p:sp>
          <p:nvSpPr>
            <p:cNvPr id="27" name="직사각형 26">
              <a:extLst>
                <a:ext uri="{FF2B5EF4-FFF2-40B4-BE49-F238E27FC236}">
                  <a16:creationId xmlns:a16="http://schemas.microsoft.com/office/drawing/2014/main" id="{727BC293-2715-43CE-819C-216F1B960AEE}"/>
                </a:ext>
              </a:extLst>
            </p:cNvPr>
            <p:cNvSpPr/>
            <p:nvPr userDrawn="1"/>
          </p:nvSpPr>
          <p:spPr>
            <a:xfrm>
              <a:off x="3846292" y="6114563"/>
              <a:ext cx="2710870" cy="615553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ko-KR" altLang="en-US" sz="2000" b="1" spc="100" baseline="0" dirty="0">
                  <a:solidFill>
                    <a:schemeClr val="accent5">
                      <a:lumMod val="75000"/>
                    </a:schemeClr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times" panose="02020603050405020304" pitchFamily="18" charset="0"/>
                  <a:cs typeface="times" panose="02020603050405020304" pitchFamily="18" charset="0"/>
                </a:rPr>
                <a:t>우주비행제어연구실</a:t>
              </a:r>
              <a:endParaRPr lang="en-US" altLang="ko-KR" sz="2000" b="1" spc="100" baseline="0" dirty="0">
                <a:solidFill>
                  <a:schemeClr val="accent5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" panose="02020603050405020304" pitchFamily="18" charset="0"/>
                <a:cs typeface="times" panose="02020603050405020304" pitchFamily="18" charset="0"/>
              </a:endParaRPr>
            </a:p>
            <a:p>
              <a:r>
                <a:rPr lang="en-US" altLang="ko-KR" sz="1400" b="1" dirty="0">
                  <a:solidFill>
                    <a:schemeClr val="accent5">
                      <a:lumMod val="75000"/>
                    </a:schemeClr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times" panose="02020603050405020304" pitchFamily="18" charset="0"/>
                  <a:cs typeface="times" panose="02020603050405020304" pitchFamily="18" charset="0"/>
                </a:rPr>
                <a:t>Astrodynamics and Control Lab.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04576994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88B88FB9-8488-4F3A-9179-85AF22A058C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0" y="1820660"/>
            <a:ext cx="9144000" cy="3180446"/>
          </a:xfrm>
        </p:spPr>
        <p:txBody>
          <a:bodyPr anchor="ctr">
            <a:normAutofit/>
          </a:bodyPr>
          <a:lstStyle>
            <a:lvl1pPr algn="ctr">
              <a:defRPr sz="4000" b="1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" panose="02020603050405020304" pitchFamily="18" charset="0"/>
                <a:ea typeface="+mj-ea"/>
                <a:cs typeface="times" panose="02020603050405020304" pitchFamily="18" charset="0"/>
              </a:defRPr>
            </a:lvl1pPr>
          </a:lstStyle>
          <a:p>
            <a:r>
              <a:rPr lang="ko-KR" altLang="en-US" dirty="0"/>
              <a:t>간지</a:t>
            </a:r>
            <a:br>
              <a:rPr lang="en-US" altLang="ko-KR" dirty="0"/>
            </a:br>
            <a:r>
              <a:rPr lang="en-US" altLang="ko-KR" dirty="0"/>
              <a:t>(</a:t>
            </a:r>
            <a:r>
              <a:rPr lang="ko-KR" altLang="en-US" dirty="0"/>
              <a:t>국</a:t>
            </a:r>
            <a:r>
              <a:rPr lang="en-US" altLang="ko-KR" dirty="0"/>
              <a:t>/</a:t>
            </a:r>
            <a:r>
              <a:rPr lang="ko-KR" altLang="en-US" dirty="0"/>
              <a:t>영문</a:t>
            </a:r>
            <a:r>
              <a:rPr lang="en-US" altLang="ko-KR" dirty="0"/>
              <a:t>, Times, 40 pts)</a:t>
            </a:r>
            <a:endParaRPr lang="en-US" dirty="0"/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E0F02479-4D4E-48F6-A414-FD2BEFAB596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70565" y="6048339"/>
            <a:ext cx="720000" cy="720000"/>
          </a:xfrm>
          <a:prstGeom prst="rect">
            <a:avLst/>
          </a:prstGeom>
        </p:spPr>
      </p:pic>
      <p:pic>
        <p:nvPicPr>
          <p:cNvPr id="10" name="Picture 8">
            <a:extLst>
              <a:ext uri="{FF2B5EF4-FFF2-40B4-BE49-F238E27FC236}">
                <a16:creationId xmlns:a16="http://schemas.microsoft.com/office/drawing/2014/main" id="{93518514-EB1D-4173-98C0-35F88CF32D6B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38645" y="6048339"/>
            <a:ext cx="720000" cy="720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11" name="그룹 10">
            <a:extLst>
              <a:ext uri="{FF2B5EF4-FFF2-40B4-BE49-F238E27FC236}">
                <a16:creationId xmlns:a16="http://schemas.microsoft.com/office/drawing/2014/main" id="{6A8B2090-A0C2-4296-B39A-3CF2073B64CD}"/>
              </a:ext>
            </a:extLst>
          </p:cNvPr>
          <p:cNvGrpSpPr/>
          <p:nvPr userDrawn="1"/>
        </p:nvGrpSpPr>
        <p:grpSpPr>
          <a:xfrm>
            <a:off x="122423" y="99901"/>
            <a:ext cx="3389530" cy="720000"/>
            <a:chOff x="3167632" y="6062339"/>
            <a:chExt cx="3389530" cy="720000"/>
          </a:xfrm>
        </p:grpSpPr>
        <p:pic>
          <p:nvPicPr>
            <p:cNvPr id="12" name="그림 11" descr="그리기, 플레이트, 음식, 방이(가) 표시된 사진&#10;&#10;자동 생성된 설명">
              <a:extLst>
                <a:ext uri="{FF2B5EF4-FFF2-40B4-BE49-F238E27FC236}">
                  <a16:creationId xmlns:a16="http://schemas.microsoft.com/office/drawing/2014/main" id="{D4A8645E-E578-4994-ACFB-E636079E4225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167632" y="6062339"/>
              <a:ext cx="720000" cy="720000"/>
            </a:xfrm>
            <a:prstGeom prst="rect">
              <a:avLst/>
            </a:prstGeom>
          </p:spPr>
        </p:pic>
        <p:sp>
          <p:nvSpPr>
            <p:cNvPr id="15" name="직사각형 14">
              <a:extLst>
                <a:ext uri="{FF2B5EF4-FFF2-40B4-BE49-F238E27FC236}">
                  <a16:creationId xmlns:a16="http://schemas.microsoft.com/office/drawing/2014/main" id="{869595E0-FFC1-42B0-845F-81DEAB14A06B}"/>
                </a:ext>
              </a:extLst>
            </p:cNvPr>
            <p:cNvSpPr/>
            <p:nvPr userDrawn="1"/>
          </p:nvSpPr>
          <p:spPr>
            <a:xfrm>
              <a:off x="3846292" y="6114563"/>
              <a:ext cx="2710870" cy="615553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ko-KR" altLang="en-US" sz="2000" b="1" spc="100" baseline="0" dirty="0">
                  <a:solidFill>
                    <a:schemeClr val="accent5">
                      <a:lumMod val="75000"/>
                    </a:schemeClr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times" panose="02020603050405020304" pitchFamily="18" charset="0"/>
                  <a:cs typeface="times" panose="02020603050405020304" pitchFamily="18" charset="0"/>
                </a:rPr>
                <a:t>우주비행제어연구실</a:t>
              </a:r>
              <a:endParaRPr lang="en-US" altLang="ko-KR" sz="2000" b="1" spc="100" baseline="0" dirty="0">
                <a:solidFill>
                  <a:schemeClr val="accent5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" panose="02020603050405020304" pitchFamily="18" charset="0"/>
                <a:cs typeface="times" panose="02020603050405020304" pitchFamily="18" charset="0"/>
              </a:endParaRPr>
            </a:p>
            <a:p>
              <a:r>
                <a:rPr lang="en-US" altLang="ko-KR" sz="1400" b="1" dirty="0">
                  <a:solidFill>
                    <a:schemeClr val="accent5">
                      <a:lumMod val="75000"/>
                    </a:schemeClr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times" panose="02020603050405020304" pitchFamily="18" charset="0"/>
                  <a:cs typeface="times" panose="02020603050405020304" pitchFamily="18" charset="0"/>
                </a:rPr>
                <a:t>Astrodynamics and Control Lab.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0286937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94630032"/>
      </p:ext>
    </p:extLst>
  </p:cSld>
  <p:clrMapOvr>
    <a:masterClrMapping/>
  </p:clrMapOvr>
</p:sldLayout>
</file>

<file path=ppt/slideMasters/_rels/slideMaster1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Relationship Id="rId2" Type="http://schemas.openxmlformats.org/officeDocument/2006/relationships/slideLayout" Target="../slideLayouts/slideLayout2.xml"  /><Relationship Id="rId3" Type="http://schemas.openxmlformats.org/officeDocument/2006/relationships/slideLayout" Target="../slideLayouts/slideLayout3.xml"  /><Relationship Id="rId4" Type="http://schemas.openxmlformats.org/officeDocument/2006/relationships/slideLayout" Target="../slideLayouts/slideLayout4.xml"  /><Relationship Id="rId5" Type="http://schemas.openxmlformats.org/officeDocument/2006/relationships/slideLayout" Target="../slideLayouts/slideLayout5.xml"  /><Relationship Id="rId6" Type="http://schemas.openxmlformats.org/officeDocument/2006/relationships/slideLayout" Target="../slideLayouts/slideLayout6.xml"  /><Relationship Id="rId7" Type="http://schemas.openxmlformats.org/officeDocument/2006/relationships/theme" Target="../theme/theme1.xml" 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4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1EB3741-4917-4953-934B-4EF1C3CF7792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8" name="날짜 개체 틀 7"/>
          <p:cNvSpPr>
            <a:spLocks noGrp="1"/>
          </p:cNvSpPr>
          <p:nvPr>
            <p:ph type="dt" sz="half" idx="2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9" name="바닥글 개체 틀 8"/>
          <p:cNvSpPr>
            <a:spLocks noGrp="1"/>
          </p:cNvSpPr>
          <p:nvPr>
            <p:ph type="ftr" sz="quarter" idx="3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426940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0" r:id="rId1"/>
    <p:sldLayoutId id="2147483677" r:id="rId2"/>
    <p:sldLayoutId id="2147483662" r:id="rId3"/>
    <p:sldLayoutId id="2147483679" r:id="rId4"/>
    <p:sldLayoutId id="2147483678" r:id="rId5"/>
    <p:sldLayoutId id="2147483667" r:id="rId6"/>
  </p:sldLayoutIdLst>
  <p:hf hdr="0" ftr="0" dt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/Relationships>
</file>

<file path=ppt/slides/_rels/slide2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/Relationships>
</file>

<file path=ppt/slides/_rels/slide3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3.xml"  /></Relationships>
</file>

<file path=ppt/slides/_rels/slide4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5.xml"  /></Relationships>
</file>

<file path=ppt/slides/_rels/slide5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3.xml"  /></Relationships>
</file>

<file path=ppt/slides/_rels/slide6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3.xml"  /></Relationships>
</file>

<file path=ppt/slides/_rels/slide7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3.xml"  /></Relationships>
</file>

<file path=ppt/slides/_rels/slide8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3.xml"  /></Relationships>
</file>

<file path=ppt/slides/_rels/slide9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3.xml"  /></Relationships>
</file>

<file path=ppt/slides/_rels/slide10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3.xml"  /><Relationship Id="rId2" Type="http://schemas.openxmlformats.org/officeDocument/2006/relationships/image" Target="../media/image7.png"  /></Relationships>
</file>

<file path=ppt/slides/_rels/slide11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3.xml"  /></Relationships>
</file>

<file path=ppt/slides/_rels/slide12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3.xml"  /><Relationship Id="rId2" Type="http://schemas.openxmlformats.org/officeDocument/2006/relationships/image" Target="../media/image8.png"  /></Relationships>
</file>

<file path=ppt/slides/_rels/slide13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3.xml"  /><Relationship Id="rId2" Type="http://schemas.openxmlformats.org/officeDocument/2006/relationships/image" Target="../media/image9.png"  /><Relationship Id="rId3" Type="http://schemas.openxmlformats.org/officeDocument/2006/relationships/image" Target="../media/image10.png"  /></Relationships>
</file>

<file path=ppt/slides/_rels/slide14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3.xml"  /><Relationship Id="rId2" Type="http://schemas.openxmlformats.org/officeDocument/2006/relationships/image" Target="../media/image11.png"  /></Relationships>
</file>

<file path=ppt/slides/_rels/slide15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3.xml"  /><Relationship Id="rId2" Type="http://schemas.openxmlformats.org/officeDocument/2006/relationships/image" Target="../media/image12.png"  /></Relationships>
</file>

<file path=ppt/slides/_rels/slide16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3.xml"  /><Relationship Id="rId2" Type="http://schemas.openxmlformats.org/officeDocument/2006/relationships/image" Target="../media/image13.png"  /></Relationships>
</file>

<file path=ppt/slides/_rels/slide17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5.xml"  /></Relationships>
</file>

<file path=ppt/slides/_rels/slide18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3.xml"  /></Relationships>
</file>

<file path=ppt/slides/_rels/slide19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3.xml"  /></Relationships>
</file>

<file path=ppt/slides/_rels/slide20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4.xml"  /></Relationships>
</file>

<file path=ppt/slides/slide1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부제목 1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>이진진</a:t>
            </a:r>
            <a:endParaRPr lang="ko-KR" altLang="en-US"/>
          </a:p>
          <a:p>
            <a:pPr lvl="0">
              <a:defRPr/>
            </a:pPr>
            <a:r>
              <a:rPr lang="ko-KR" altLang="en-US"/>
              <a:t>석사과정 </a:t>
            </a:r>
            <a:r>
              <a:rPr lang="en-US" altLang="ko-KR"/>
              <a:t>2</a:t>
            </a:r>
            <a:r>
              <a:rPr lang="ko-KR" altLang="en-US"/>
              <a:t>학기</a:t>
            </a:r>
            <a:endParaRPr lang="ko-KR" altLang="en-US"/>
          </a:p>
          <a:p>
            <a:pPr lvl="0">
              <a:defRPr/>
            </a:pPr>
            <a:r>
              <a:rPr lang="en-US" altLang="ko-KR"/>
              <a:t>2022-08-02</a:t>
            </a:r>
            <a:endParaRPr lang="en-US" altLang="ko-KR"/>
          </a:p>
        </p:txBody>
      </p:sp>
      <p:sp>
        <p:nvSpPr>
          <p:cNvPr id="3" name="제목 2"/>
          <p:cNvSpPr>
            <a:spLocks noGrp="1"/>
          </p:cNvSpPr>
          <p:nvPr>
            <p:ph type="ctrTitle" idx="0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>정기 연구미팅 보고</a:t>
            </a:r>
            <a:endParaRPr lang="ko-KR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2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 idx="0"/>
          </p:nvPr>
        </p:nvSpPr>
        <p:spPr>
          <a:xfrm>
            <a:off x="975828" y="71055"/>
            <a:ext cx="7197892" cy="687714"/>
          </a:xfrm>
        </p:spPr>
        <p:txBody>
          <a:bodyPr/>
          <a:lstStyle/>
          <a:p>
            <a:pPr lvl="0">
              <a:defRPr/>
            </a:pPr>
            <a:r>
              <a:rPr lang="ko-KR" altLang="en-US"/>
              <a:t>목차</a:t>
            </a:r>
            <a:endParaRPr lang="ko-KR" altLang="en-US"/>
          </a:p>
        </p:txBody>
      </p:sp>
      <p:sp>
        <p:nvSpPr>
          <p:cNvPr id="3" name="슬라이드 번호 개체 틀 2"/>
          <p:cNvSpPr>
            <a:spLocks noGrp="1"/>
          </p:cNvSpPr>
          <p:nvPr>
            <p:ph type="sldNum" sz="quarter" idx="12"/>
          </p:nvPr>
        </p:nvSpPr>
        <p:spPr>
          <a:xfrm>
            <a:off x="7905750" y="6388843"/>
            <a:ext cx="981169" cy="360000"/>
          </a:xfrm>
        </p:spPr>
        <p:txBody>
          <a:bodyPr/>
          <a:lstStyle/>
          <a:p>
            <a:pPr lvl="0">
              <a:defRPr/>
            </a:pPr>
            <a:fld id="{397DD3AE-C24E-49FC-B527-05061A0348E6}" type="slidenum">
              <a:rPr lang="en-US" altLang="en-US"/>
              <a:pPr lvl="0">
                <a:defRPr/>
              </a:pPr>
              <a:t>1</a:t>
            </a:fld>
            <a:endParaRPr lang="en-US" altLang="en-US"/>
          </a:p>
        </p:txBody>
      </p:sp>
      <p:graphicFrame>
        <p:nvGraphicFramePr>
          <p:cNvPr id="11" name="표 18"/>
          <p:cNvGraphicFramePr>
            <a:graphicFrameLocks noGrp="1"/>
          </p:cNvGraphicFramePr>
          <p:nvPr/>
        </p:nvGraphicFramePr>
        <p:xfrm>
          <a:off x="1454505" y="1029970"/>
          <a:ext cx="7318019" cy="48291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18019"/>
              </a:tblGrid>
              <a:tr h="965835">
                <a:tc>
                  <a:txBody>
                    <a:bodyPr vert="horz" lIns="91440" tIns="45720" rIns="91440" bIns="45720" anchor="ctr" anchorCtr="0"/>
                    <a:p>
                      <a:pPr latinLnBrk="1">
                        <a:defRPr/>
                      </a:pPr>
                      <a:r>
                        <a:rPr lang="en-US" altLang="ko-KR" sz="2000" b="1">
                          <a:solidFill>
                            <a:schemeClr val="tx1"/>
                          </a:solidFill>
                        </a:rPr>
                        <a:t>2</a:t>
                      </a:r>
                      <a:r>
                        <a:rPr lang="ko-KR" altLang="en-US" sz="2000" b="1">
                          <a:solidFill>
                            <a:schemeClr val="tx1"/>
                          </a:solidFill>
                        </a:rPr>
                        <a:t>종 위성군 </a:t>
                      </a:r>
                      <a:r>
                        <a:rPr lang="en-US" altLang="ko-KR" sz="2000" b="1">
                          <a:solidFill>
                            <a:schemeClr val="tx1"/>
                          </a:solidFill>
                        </a:rPr>
                        <a:t>OptiSAR</a:t>
                      </a:r>
                      <a:r>
                        <a:rPr lang="ko-KR" altLang="en-US" sz="2000" b="1">
                          <a:solidFill>
                            <a:schemeClr val="tx1"/>
                          </a:solidFill>
                        </a:rPr>
                        <a:t>에 대한 연구</a:t>
                      </a:r>
                      <a:endParaRPr lang="ko-KR" altLang="en-US" sz="2000" b="1">
                        <a:solidFill>
                          <a:schemeClr val="tx1"/>
                        </a:solidFill>
                      </a:endParaRPr>
                    </a:p>
                  </a:txBody>
                  <a:tcPr marL="91440" marR="9144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965835">
                <a:tc>
                  <a:txBody>
                    <a:bodyPr vert="horz" lIns="91440" tIns="45720" rIns="91440" bIns="45720" anchor="ctr" anchorCtr="0"/>
                    <a:p>
                      <a:pPr latinLnBrk="1">
                        <a:defRPr/>
                      </a:pPr>
                      <a:r>
                        <a:rPr lang="ko-KR" altLang="en-US" sz="2000" b="1">
                          <a:solidFill>
                            <a:schemeClr val="tx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결론</a:t>
                      </a:r>
                      <a:endParaRPr lang="ko-KR" altLang="en-US" sz="2000" b="1">
                        <a:solidFill>
                          <a:schemeClr val="tx1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marL="91440" marR="9144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965835">
                <a:tc>
                  <a:txBody>
                    <a:bodyPr vert="horz" lIns="91440" tIns="45720" rIns="91440" bIns="45720" anchor="ctr" anchorCtr="0"/>
                    <a:p>
                      <a:pPr latinLnBrk="1">
                        <a:defRPr/>
                      </a:pPr>
                      <a:endParaRPr lang="ko-KR" altLang="en-US" sz="2000" b="1">
                        <a:solidFill>
                          <a:schemeClr val="tx1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marL="91440" marR="9144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965835">
                <a:tc>
                  <a:txBody>
                    <a:bodyPr vert="horz" lIns="91440" tIns="45720" rIns="91440" bIns="45720" anchor="ctr" anchorCtr="0"/>
                    <a:p>
                      <a:pPr latinLnBrk="1">
                        <a:defRPr/>
                      </a:pPr>
                      <a:endParaRPr lang="ko-KR" altLang="en-US" sz="2000" b="1">
                        <a:solidFill>
                          <a:schemeClr val="tx1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marL="91440" marR="9144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965835">
                <a:tc>
                  <a:txBody>
                    <a:bodyPr vert="horz" lIns="91440" tIns="45720" rIns="91440" bIns="45720" anchor="ctr" anchorCtr="0"/>
                    <a:p>
                      <a:pPr latinLnBrk="1">
                        <a:defRPr/>
                      </a:pPr>
                      <a:endParaRPr lang="ko-KR" altLang="en-US" sz="2000" b="1">
                        <a:solidFill>
                          <a:schemeClr val="tx1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marL="91440" marR="9144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6" name="직사각형 5"/>
          <p:cNvSpPr/>
          <p:nvPr/>
        </p:nvSpPr>
        <p:spPr>
          <a:xfrm>
            <a:off x="457200" y="3048000"/>
            <a:ext cx="997305" cy="281114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3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397DD3AE-C24E-49FC-B527-05061A0348E6}" type="slidenum">
              <a:rPr lang="en-US" altLang="en-US"/>
              <a:pPr lvl="0">
                <a:defRPr/>
              </a:pPr>
              <a:t>2</a:t>
            </a:fld>
            <a:endParaRPr lang="en-US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>연구</a:t>
            </a:r>
            <a:r>
              <a:rPr lang="en-US" altLang="ko-KR"/>
              <a:t>/</a:t>
            </a:r>
            <a:r>
              <a:rPr lang="ko-KR" altLang="en-US"/>
              <a:t>개발 주제 및 성격</a:t>
            </a:r>
            <a:endParaRPr lang="ko-KR" altLang="en-US"/>
          </a:p>
          <a:p>
            <a:pPr lvl="0">
              <a:defRPr/>
            </a:pPr>
            <a:endParaRPr lang="en-US" altLang="ko-KR"/>
          </a:p>
          <a:p>
            <a:pPr lvl="0">
              <a:defRPr/>
            </a:pPr>
            <a:endParaRPr lang="en-US" altLang="ko-KR"/>
          </a:p>
          <a:p>
            <a:pPr lvl="0">
              <a:defRPr/>
            </a:pPr>
            <a:endParaRPr lang="en-US" altLang="ko-KR"/>
          </a:p>
          <a:p>
            <a:pPr lvl="0">
              <a:defRPr/>
            </a:pPr>
            <a:r>
              <a:rPr lang="ko-KR" altLang="en-US"/>
              <a:t>주요 목표 및 진행 상황</a:t>
            </a:r>
            <a:endParaRPr lang="en-US" altLang="ko-KR"/>
          </a:p>
        </p:txBody>
      </p:sp>
      <p:sp>
        <p:nvSpPr>
          <p:cNvPr id="4" name="제목 3"/>
          <p:cNvSpPr>
            <a:spLocks noGrp="1"/>
          </p:cNvSpPr>
          <p:nvPr>
            <p:ph type="title" idx="0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>연구</a:t>
            </a:r>
            <a:r>
              <a:rPr lang="en-US" altLang="ko-KR"/>
              <a:t>/</a:t>
            </a:r>
            <a:r>
              <a:rPr lang="ko-KR" altLang="en-US"/>
              <a:t>개발 개요</a:t>
            </a:r>
            <a:endParaRPr lang="ko-KR" altLang="en-US"/>
          </a:p>
        </p:txBody>
      </p:sp>
      <p:graphicFrame>
        <p:nvGraphicFramePr>
          <p:cNvPr id="5" name="표 4"/>
          <p:cNvGraphicFramePr>
            <a:graphicFrameLocks noGrp="1"/>
          </p:cNvGraphicFramePr>
          <p:nvPr/>
        </p:nvGraphicFramePr>
        <p:xfrm>
          <a:off x="257079" y="3368824"/>
          <a:ext cx="8629840" cy="1854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75083"/>
                <a:gridCol w="1188689"/>
                <a:gridCol w="1188689"/>
                <a:gridCol w="594345"/>
                <a:gridCol w="257614"/>
                <a:gridCol w="1525420"/>
              </a:tblGrid>
              <a:tr h="370840">
                <a:tc>
                  <a:txBody>
                    <a:bodyPr vert="horz" lIns="91440" tIns="45720" rIns="91440" bIns="45720" anchor="ctr" anchorCtr="0"/>
                    <a:p>
                      <a:pPr algn="ctr" latinLnBrk="1">
                        <a:defRPr/>
                      </a:pPr>
                      <a:r>
                        <a:rPr lang="ko-KR" altLang="en-US" sz="1400">
                          <a:latin typeface="Times New Roman"/>
                          <a:ea typeface="+mn-ea"/>
                          <a:cs typeface="Times New Roman"/>
                        </a:rPr>
                        <a:t>주요 목표</a:t>
                      </a:r>
                      <a:endParaRPr lang="ko-KR" altLang="en-US" sz="140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marL="91440" marR="9144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 vert="horz" lIns="91440" tIns="45720" rIns="91440" bIns="45720" anchor="ctr" anchorCtr="0"/>
                    <a:p>
                      <a:pPr algn="ctr" latinLnBrk="1">
                        <a:defRPr/>
                      </a:pPr>
                      <a:r>
                        <a:rPr lang="ko-KR" altLang="en-US" sz="1400">
                          <a:latin typeface="Times New Roman"/>
                          <a:ea typeface="+mn-ea"/>
                          <a:cs typeface="Times New Roman"/>
                        </a:rPr>
                        <a:t>착수</a:t>
                      </a:r>
                      <a:endParaRPr lang="ko-KR" altLang="en-US" sz="140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marL="91440" marR="9144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 vert="horz" lIns="91440" tIns="45720" rIns="91440" bIns="45720" anchor="ctr" anchorCtr="0"/>
                    <a:p>
                      <a:pPr algn="ctr" latinLnBrk="1">
                        <a:defRPr/>
                      </a:pPr>
                      <a:r>
                        <a:rPr lang="ko-KR" altLang="en-US" sz="1400">
                          <a:latin typeface="Times New Roman"/>
                          <a:ea typeface="+mn-ea"/>
                          <a:cs typeface="Times New Roman"/>
                        </a:rPr>
                        <a:t>마감</a:t>
                      </a:r>
                      <a:endParaRPr lang="ko-KR" altLang="en-US" sz="140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marL="91440" marR="9144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</a:lnB>
                    <a:solidFill>
                      <a:srgbClr val="001e46"/>
                    </a:solidFill>
                  </a:tcPr>
                </a:tc>
                <a:tc gridSpan="2">
                  <a:txBody>
                    <a:bodyPr vert="horz" lIns="91440" tIns="45720" rIns="91440" bIns="45720" anchor="ctr" anchorCtr="0"/>
                    <a:p>
                      <a:pPr algn="ctr" latinLnBrk="1">
                        <a:defRPr/>
                      </a:pPr>
                      <a:r>
                        <a:rPr lang="ko-KR" altLang="en-US" sz="1400">
                          <a:latin typeface="Times New Roman"/>
                          <a:ea typeface="+mn-ea"/>
                          <a:cs typeface="Times New Roman"/>
                        </a:rPr>
                        <a:t>진행</a:t>
                      </a:r>
                      <a:endParaRPr lang="ko-KR" altLang="en-US" sz="140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marL="91440" marR="9144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</a:lnB>
                    <a:solidFill>
                      <a:srgbClr val="001e46"/>
                    </a:solidFill>
                  </a:tcPr>
                </a:tc>
                <a:tc hMerge="1">
                  <a:txBody>
                    <a:bodyPr/>
                    <a:p>
                      <a:pPr latinLnBrk="1">
                        <a:defRPr/>
                      </a:pPr>
                      <a:endParaRPr lang="ko-KR" altLang="en-US"/>
                    </a:p>
                  </a:txBody>
                  <a:tcPr marL="91440" marR="91440"/>
                </a:tc>
                <a:tc>
                  <a:txBody>
                    <a:bodyPr vert="horz" lIns="91440" tIns="45720" rIns="91440" bIns="45720" anchor="ctr" anchorCtr="0"/>
                    <a:p>
                      <a:pPr algn="ctr" latinLnBrk="1">
                        <a:defRPr/>
                      </a:pPr>
                      <a:r>
                        <a:rPr lang="ko-KR" altLang="en-US" sz="1400">
                          <a:latin typeface="Times New Roman"/>
                          <a:ea typeface="+mn-ea"/>
                          <a:cs typeface="Times New Roman"/>
                        </a:rPr>
                        <a:t>비고</a:t>
                      </a:r>
                      <a:endParaRPr lang="ko-KR" altLang="en-US" sz="140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marL="91440" marR="9144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</a:lnB>
                    <a:solidFill>
                      <a:srgbClr val="001e46"/>
                    </a:solidFill>
                  </a:tcPr>
                </a:tc>
              </a:tr>
              <a:tr h="370840">
                <a:tc>
                  <a:txBody>
                    <a:bodyPr vert="horz" lIns="91440" tIns="45720" rIns="91440" bIns="45720" anchor="ctr" anchorCtr="0"/>
                    <a:p>
                      <a:pPr algn="just" latinLnBrk="1">
                        <a:defRPr/>
                      </a:pPr>
                      <a:r>
                        <a:rPr lang="ko-KR" altLang="en-US" sz="1200">
                          <a:latin typeface="Times New Roman"/>
                          <a:ea typeface="+mn-ea"/>
                          <a:cs typeface="Times New Roman"/>
                        </a:rPr>
                        <a:t>선행연구 자료조사</a:t>
                      </a:r>
                      <a:endParaRPr lang="ko-KR" altLang="en-US" sz="120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marL="91440" marR="9144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vert="horz" lIns="91440" tIns="45720" rIns="91440" bIns="45720" anchor="ctr" anchorCtr="0"/>
                    <a:p>
                      <a:pPr algn="ctr" latinLnBrk="1">
                        <a:defRPr/>
                      </a:pPr>
                      <a:r>
                        <a:rPr lang="en-US" altLang="ko-KR" sz="1200">
                          <a:latin typeface="Times New Roman"/>
                          <a:ea typeface="+mn-ea"/>
                          <a:cs typeface="Times New Roman"/>
                        </a:rPr>
                        <a:t>2022.07.25</a:t>
                      </a:r>
                      <a:endParaRPr lang="en-US" altLang="ko-KR" sz="120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marL="91440" marR="9144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vert="horz" lIns="91440" tIns="45720" rIns="91440" bIns="45720" anchor="ctr" anchorCtr="0"/>
                    <a:p>
                      <a:pPr marL="0" marR="0" lvl="0" indent="0" algn="ctr" defTabSz="914400" rtl="0" eaLnBrk="1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kumimoji="0" lang="en-US" altLang="ko-KR" sz="1200" b="0" i="0" u="none" strike="noStrike" kern="1200" cap="none" spc="0" normalizeH="0" baseline="0"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/>
                          <a:ea typeface="맑은 고딕"/>
                          <a:cs typeface="Times New Roman"/>
                        </a:rPr>
                        <a:t>2022.08.14</a:t>
                      </a:r>
                      <a:endParaRPr kumimoji="0" lang="en-US" altLang="ko-KR" sz="1200" b="0" i="0" u="none" strike="noStrike" kern="1200" cap="none" spc="0" normalizeH="0" baseline="0"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imes New Roman"/>
                        <a:ea typeface="맑은 고딕"/>
                        <a:cs typeface="Times New Roman"/>
                      </a:endParaRPr>
                    </a:p>
                  </a:txBody>
                  <a:tcPr marL="91440" marR="9144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vert="horz" lIns="91440" tIns="45720" rIns="91440" bIns="45720" anchor="ctr" anchorCtr="0"/>
                    <a:p>
                      <a:pPr algn="r" latinLnBrk="1">
                        <a:defRPr/>
                      </a:pPr>
                      <a:r>
                        <a:rPr lang="en-US" altLang="ko-KR" sz="1200">
                          <a:latin typeface="Times New Roman"/>
                          <a:ea typeface="+mn-ea"/>
                          <a:cs typeface="Times New Roman"/>
                        </a:rPr>
                        <a:t>33</a:t>
                      </a:r>
                      <a:endParaRPr lang="en-US" altLang="ko-KR" sz="120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marL="91440" marR="9144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noFill/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vert="horz" lIns="91440" tIns="45720" rIns="91440" bIns="45720" anchor="ctr" anchorCtr="0"/>
                    <a:p>
                      <a:pPr algn="l" latinLnBrk="1">
                        <a:defRPr/>
                      </a:pPr>
                      <a:r>
                        <a:rPr lang="en-US" altLang="ko-KR" sz="1200">
                          <a:latin typeface="Times New Roman"/>
                          <a:ea typeface="+mn-ea"/>
                          <a:cs typeface="Times New Roman"/>
                        </a:rPr>
                        <a:t>%</a:t>
                      </a:r>
                      <a:endParaRPr lang="ko-KR" altLang="en-US" sz="120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marL="91440" marR="91440" anchor="ctr">
                    <a:lnL w="12700" cap="flat" cmpd="sng" algn="ctr">
                      <a:noFill/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vert="horz" lIns="91440" tIns="45720" rIns="91440" bIns="45720" anchor="ctr" anchorCtr="0"/>
                    <a:p>
                      <a:pPr algn="ctr" latinLnBrk="1">
                        <a:defRPr/>
                      </a:pPr>
                      <a:endParaRPr lang="ko-KR" altLang="en-US" sz="120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marL="91440" marR="9144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</a:lnB>
                    <a:solidFill>
                      <a:schemeClr val="bg1"/>
                    </a:solidFill>
                  </a:tcPr>
                </a:tc>
              </a:tr>
              <a:tr h="370840">
                <a:tc>
                  <a:txBody>
                    <a:bodyPr vert="horz" lIns="91440" tIns="45720" rIns="91440" bIns="45720" anchor="ctr" anchorCtr="0"/>
                    <a:p>
                      <a:pPr algn="just" latinLnBrk="1">
                        <a:defRPr/>
                      </a:pPr>
                      <a:endParaRPr lang="ko-KR" altLang="en-US" sz="120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marL="91440" marR="9144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vert="horz" lIns="91440" tIns="45720" rIns="91440" bIns="45720" anchor="ctr" anchorCtr="0"/>
                    <a:p>
                      <a:pPr marL="0" marR="0" lvl="0" indent="0" algn="ctr" defTabSz="914400" rtl="0" eaLnBrk="1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kumimoji="0" lang="en-US" altLang="ko-KR" sz="1200" b="0" i="0" u="none" strike="noStrike" kern="1200" cap="none" spc="0" normalizeH="0" baseline="0"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/>
                          <a:ea typeface="+mn-ea"/>
                          <a:cs typeface="Times New Roman"/>
                        </a:rPr>
                        <a:t>YYYY.MM.DD</a:t>
                      </a:r>
                      <a:endParaRPr kumimoji="0" lang="ko-KR" altLang="en-US" sz="1200" b="0" i="0" u="none" strike="noStrike" kern="1200" cap="none" spc="0" normalizeH="0" baseline="0"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marL="91440" marR="9144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vert="horz" lIns="91440" tIns="45720" rIns="91440" bIns="45720" anchor="ctr" anchorCtr="0"/>
                    <a:p>
                      <a:pPr marL="0" marR="0" lvl="0" indent="0" algn="ctr" defTabSz="914400" rtl="0" eaLnBrk="1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kumimoji="0" lang="en-US" altLang="ko-KR" sz="1200" b="0" i="0" u="none" strike="noStrike" kern="1200" cap="none" spc="0" normalizeH="0" baseline="0"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/>
                          <a:ea typeface="+mn-ea"/>
                          <a:cs typeface="Times New Roman"/>
                        </a:rPr>
                        <a:t>YYYY.MM.DD</a:t>
                      </a:r>
                      <a:endParaRPr kumimoji="0" lang="ko-KR" altLang="en-US" sz="1200" b="0" i="0" u="none" strike="noStrike" kern="1200" cap="none" spc="0" normalizeH="0" baseline="0"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marL="91440" marR="9144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vert="horz" lIns="91440" tIns="45720" rIns="91440" bIns="45720" anchor="ctr" anchorCtr="0"/>
                    <a:p>
                      <a:pPr algn="r" latinLnBrk="1">
                        <a:defRPr/>
                      </a:pPr>
                      <a:endParaRPr lang="ko-KR" altLang="en-US" sz="120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marL="91440" marR="9144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noFill/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vert="horz" lIns="91440" tIns="45720" rIns="91440" bIns="45720" anchor="ctr" anchorCtr="0"/>
                    <a:p>
                      <a:pPr algn="l" latinLnBrk="1">
                        <a:defRPr/>
                      </a:pPr>
                      <a:r>
                        <a:rPr lang="en-US" altLang="ko-KR" sz="1200">
                          <a:latin typeface="Times New Roman"/>
                          <a:ea typeface="+mn-ea"/>
                          <a:cs typeface="Times New Roman"/>
                        </a:rPr>
                        <a:t>%</a:t>
                      </a:r>
                      <a:endParaRPr lang="ko-KR" altLang="en-US" sz="120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marL="91440" marR="91440" anchor="ctr">
                    <a:lnL w="12700" cap="flat" cmpd="sng" algn="ctr">
                      <a:noFill/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vert="horz" lIns="91440" tIns="45720" rIns="91440" bIns="45720" anchor="ctr" anchorCtr="0"/>
                    <a:p>
                      <a:pPr algn="ctr" latinLnBrk="1">
                        <a:defRPr/>
                      </a:pPr>
                      <a:endParaRPr lang="ko-KR" altLang="en-US" sz="120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marL="91440" marR="9144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</a:lnB>
                    <a:solidFill>
                      <a:schemeClr val="bg1"/>
                    </a:solidFill>
                  </a:tcPr>
                </a:tc>
              </a:tr>
              <a:tr h="370840">
                <a:tc>
                  <a:txBody>
                    <a:bodyPr vert="horz" lIns="91440" tIns="45720" rIns="91440" bIns="45720" anchor="ctr" anchorCtr="0"/>
                    <a:p>
                      <a:pPr algn="just" latinLnBrk="1">
                        <a:defRPr/>
                      </a:pPr>
                      <a:endParaRPr lang="ko-KR" altLang="en-US" sz="120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marL="91440" marR="9144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vert="horz" lIns="91440" tIns="45720" rIns="91440" bIns="45720" anchor="ctr" anchorCtr="0"/>
                    <a:p>
                      <a:pPr marL="0" marR="0" lvl="0" indent="0" algn="ctr" defTabSz="914400" rtl="0" eaLnBrk="1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kumimoji="0" lang="en-US" altLang="ko-KR" sz="1200" b="0" i="0" u="none" strike="noStrike" kern="1200" cap="none" spc="0" normalizeH="0" baseline="0"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/>
                          <a:ea typeface="+mn-ea"/>
                          <a:cs typeface="Times New Roman"/>
                        </a:rPr>
                        <a:t>YYYY.MM.DD</a:t>
                      </a:r>
                      <a:endParaRPr kumimoji="0" lang="ko-KR" altLang="en-US" sz="1200" b="0" i="0" u="none" strike="noStrike" kern="1200" cap="none" spc="0" normalizeH="0" baseline="0"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marL="91440" marR="9144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vert="horz" lIns="91440" tIns="45720" rIns="91440" bIns="45720" anchor="ctr" anchorCtr="0"/>
                    <a:p>
                      <a:pPr marL="0" marR="0" lvl="0" indent="0" algn="ctr" defTabSz="914400" rtl="0" eaLnBrk="1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kumimoji="0" lang="en-US" altLang="ko-KR" sz="1200" b="0" i="0" u="none" strike="noStrike" kern="1200" cap="none" spc="0" normalizeH="0" baseline="0"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/>
                          <a:ea typeface="+mn-ea"/>
                          <a:cs typeface="Times New Roman"/>
                        </a:rPr>
                        <a:t>YYYY.MM.DD</a:t>
                      </a:r>
                      <a:endParaRPr kumimoji="0" lang="ko-KR" altLang="en-US" sz="1200" b="0" i="0" u="none" strike="noStrike" kern="1200" cap="none" spc="0" normalizeH="0" baseline="0"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marL="91440" marR="9144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vert="horz" lIns="91440" tIns="45720" rIns="91440" bIns="45720" anchor="ctr" anchorCtr="0"/>
                    <a:p>
                      <a:pPr algn="r" latinLnBrk="1">
                        <a:defRPr/>
                      </a:pPr>
                      <a:endParaRPr lang="ko-KR" altLang="en-US" sz="120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marL="91440" marR="9144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noFill/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vert="horz" lIns="91440" tIns="45720" rIns="91440" bIns="45720" anchor="ctr" anchorCtr="0"/>
                    <a:p>
                      <a:pPr algn="l" latinLnBrk="1">
                        <a:defRPr/>
                      </a:pPr>
                      <a:r>
                        <a:rPr lang="en-US" altLang="ko-KR" sz="1200">
                          <a:latin typeface="Times New Roman"/>
                          <a:ea typeface="+mn-ea"/>
                          <a:cs typeface="Times New Roman"/>
                        </a:rPr>
                        <a:t>%</a:t>
                      </a:r>
                      <a:endParaRPr lang="ko-KR" altLang="en-US" sz="120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marL="91440" marR="91440" anchor="ctr">
                    <a:lnL w="12700" cap="flat" cmpd="sng" algn="ctr">
                      <a:noFill/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vert="horz" lIns="91440" tIns="45720" rIns="91440" bIns="45720" anchor="ctr" anchorCtr="0"/>
                    <a:p>
                      <a:pPr algn="ctr" latinLnBrk="1">
                        <a:defRPr/>
                      </a:pPr>
                      <a:endParaRPr lang="ko-KR" altLang="en-US" sz="120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marL="91440" marR="9144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</a:lnB>
                    <a:solidFill>
                      <a:schemeClr val="bg1"/>
                    </a:solidFill>
                  </a:tcPr>
                </a:tc>
              </a:tr>
              <a:tr h="370840">
                <a:tc>
                  <a:txBody>
                    <a:bodyPr vert="horz" lIns="91440" tIns="45720" rIns="91440" bIns="45720" anchor="ctr" anchorCtr="0"/>
                    <a:p>
                      <a:pPr algn="just" latinLnBrk="1">
                        <a:defRPr/>
                      </a:pPr>
                      <a:endParaRPr lang="ko-KR" altLang="en-US" sz="120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marL="91440" marR="9144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vert="horz" lIns="91440" tIns="45720" rIns="91440" bIns="45720" anchor="ctr" anchorCtr="0"/>
                    <a:p>
                      <a:pPr marL="0" marR="0" lvl="0" indent="0" algn="ctr" defTabSz="914400" rtl="0" eaLnBrk="1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FontTx/>
                        <a:buNone/>
                        <a:defRPr/>
                      </a:pPr>
                      <a:endParaRPr kumimoji="0" lang="ko-KR" altLang="en-US" sz="1200" b="0" i="0" u="none" strike="noStrike" kern="1200" cap="none" spc="0" normalizeH="0" baseline="0"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imes New Roman"/>
                        <a:ea typeface="맑은 고딕"/>
                        <a:cs typeface="Times New Roman"/>
                      </a:endParaRPr>
                    </a:p>
                  </a:txBody>
                  <a:tcPr marL="91440" marR="9144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vert="horz" lIns="91440" tIns="45720" rIns="91440" bIns="45720" anchor="ctr" anchorCtr="0"/>
                    <a:p>
                      <a:pPr marL="0" marR="0" lvl="0" indent="0" algn="ctr" defTabSz="914400" rtl="0" eaLnBrk="1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FontTx/>
                        <a:buNone/>
                        <a:defRPr/>
                      </a:pPr>
                      <a:endParaRPr kumimoji="0" lang="ko-KR" altLang="en-US" sz="1200" b="0" i="0" u="none" strike="noStrike" kern="1200" cap="none" spc="0" normalizeH="0" baseline="0"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imes New Roman"/>
                        <a:ea typeface="맑은 고딕"/>
                        <a:cs typeface="Times New Roman"/>
                      </a:endParaRPr>
                    </a:p>
                  </a:txBody>
                  <a:tcPr marL="91440" marR="9144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vert="horz" lIns="91440" tIns="45720" rIns="91440" bIns="45720" anchor="ctr" anchorCtr="0"/>
                    <a:p>
                      <a:pPr algn="r" latinLnBrk="1">
                        <a:defRPr/>
                      </a:pPr>
                      <a:endParaRPr lang="ko-KR" altLang="en-US" sz="120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marL="91440" marR="9144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noFill/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vert="horz" lIns="91440" tIns="45720" rIns="91440" bIns="45720" anchor="ctr" anchorCtr="0"/>
                    <a:p>
                      <a:pPr algn="l" latinLnBrk="1">
                        <a:defRPr/>
                      </a:pPr>
                      <a:endParaRPr lang="ko-KR" altLang="en-US" sz="120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marL="91440" marR="91440" anchor="ctr">
                    <a:lnL w="12700" cap="flat" cmpd="sng" algn="ctr">
                      <a:noFill/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vert="horz" lIns="91440" tIns="45720" rIns="91440" bIns="45720" anchor="ctr" anchorCtr="0"/>
                    <a:p>
                      <a:pPr algn="ctr" latinLnBrk="1">
                        <a:defRPr/>
                      </a:pPr>
                      <a:endParaRPr lang="ko-KR" altLang="en-US" sz="120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marL="91440" marR="9144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7" name="표 6"/>
          <p:cNvGraphicFramePr>
            <a:graphicFrameLocks noGrp="1"/>
          </p:cNvGraphicFramePr>
          <p:nvPr/>
        </p:nvGraphicFramePr>
        <p:xfrm>
          <a:off x="257077" y="1383366"/>
          <a:ext cx="8629838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314919"/>
                <a:gridCol w="4314919"/>
              </a:tblGrid>
              <a:tr h="370840">
                <a:tc>
                  <a:txBody>
                    <a:bodyPr vert="horz" lIns="91440" tIns="45720" rIns="91440" bIns="45720" anchor="ctr" anchorCtr="0"/>
                    <a:p>
                      <a:pPr algn="ctr" latinLnBrk="1">
                        <a:defRPr/>
                      </a:pPr>
                      <a:r>
                        <a:rPr lang="ko-KR" altLang="en-US" sz="1400">
                          <a:latin typeface="Times New Roman"/>
                          <a:ea typeface="+mn-ea"/>
                          <a:cs typeface="Times New Roman"/>
                        </a:rPr>
                        <a:t>주제</a:t>
                      </a:r>
                      <a:endParaRPr lang="ko-KR" altLang="en-US" sz="140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marL="91440" marR="9144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 vert="horz" lIns="91440" tIns="45720" rIns="91440" bIns="45720" anchor="ctr" anchorCtr="0"/>
                    <a:p>
                      <a:pPr algn="ctr" latinLnBrk="1">
                        <a:defRPr/>
                      </a:pPr>
                      <a:r>
                        <a:rPr lang="ko-KR" altLang="en-US" sz="1400">
                          <a:latin typeface="Times New Roman"/>
                          <a:ea typeface="+mn-ea"/>
                          <a:cs typeface="Times New Roman"/>
                        </a:rPr>
                        <a:t>성격</a:t>
                      </a:r>
                      <a:endParaRPr lang="ko-KR" altLang="en-US" sz="140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marL="91440" marR="9144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</a:lnB>
                    <a:solidFill>
                      <a:srgbClr val="001e46"/>
                    </a:solidFill>
                  </a:tcPr>
                </a:tc>
              </a:tr>
              <a:tr h="370840">
                <a:tc>
                  <a:txBody>
                    <a:bodyPr vert="horz" lIns="91440" tIns="45720" rIns="91440" bIns="45720" anchor="ctr" anchorCtr="0"/>
                    <a:p>
                      <a:pPr latinLnBrk="1">
                        <a:defRPr/>
                      </a:pPr>
                      <a:r>
                        <a:rPr lang="en-US" altLang="ko-KR" sz="1200" b="0">
                          <a:solidFill>
                            <a:schemeClr val="tx1"/>
                          </a:solidFill>
                        </a:rPr>
                        <a:t>2</a:t>
                      </a:r>
                      <a:r>
                        <a:rPr lang="ko-KR" altLang="en-US" sz="1200" b="0">
                          <a:solidFill>
                            <a:schemeClr val="tx1"/>
                          </a:solidFill>
                        </a:rPr>
                        <a:t>종 위성군 </a:t>
                      </a:r>
                      <a:r>
                        <a:rPr lang="en-US" altLang="ko-KR" sz="1200" b="0">
                          <a:solidFill>
                            <a:schemeClr val="tx1"/>
                          </a:solidFill>
                        </a:rPr>
                        <a:t>OptiSAR</a:t>
                      </a:r>
                      <a:r>
                        <a:rPr lang="ko-KR" altLang="en-US" sz="1200" b="0">
                          <a:solidFill>
                            <a:schemeClr val="tx1"/>
                          </a:solidFill>
                        </a:rPr>
                        <a:t>에 대한 위성군 개발</a:t>
                      </a:r>
                      <a:endParaRPr lang="ko-KR" altLang="en-US" sz="1200" b="0">
                        <a:solidFill>
                          <a:schemeClr val="tx1"/>
                        </a:solidFill>
                      </a:endParaRPr>
                    </a:p>
                  </a:txBody>
                  <a:tcPr marL="91440" marR="9144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vert="horz" lIns="91440" tIns="45720" rIns="91440" bIns="45720" anchor="ctr" anchorCtr="0"/>
                    <a:p>
                      <a:pPr algn="just" latinLnBrk="1">
                        <a:defRPr/>
                      </a:pPr>
                      <a:r>
                        <a:rPr lang="ko-KR" altLang="en-US" sz="1200">
                          <a:latin typeface="Times New Roman"/>
                          <a:ea typeface="+mn-ea"/>
                          <a:cs typeface="Times New Roman"/>
                        </a:rPr>
                        <a:t>임무설계</a:t>
                      </a:r>
                      <a:endParaRPr lang="ko-KR" altLang="en-US" sz="120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marL="91440" marR="9144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4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ctrTitle" idx="0"/>
          </p:nvPr>
        </p:nvSpPr>
        <p:spPr/>
        <p:txBody>
          <a:bodyPr>
            <a:normAutofit/>
          </a:bodyPr>
          <a:lstStyle/>
          <a:p>
            <a:pPr lvl="0">
              <a:defRPr/>
            </a:pPr>
            <a:r>
              <a:rPr lang="en-US" altLang="ko-KR" sz="4000" b="1">
                <a:solidFill>
                  <a:schemeClr val="tx1"/>
                </a:solidFill>
                <a:latin typeface="Times New Roman"/>
                <a:ea typeface="+mn-ea"/>
                <a:cs typeface="Times New Roman"/>
              </a:rPr>
              <a:t>2</a:t>
            </a:r>
            <a:r>
              <a:rPr lang="ko-KR" altLang="en-US" sz="4000" b="1">
                <a:solidFill>
                  <a:schemeClr val="tx1"/>
                </a:solidFill>
                <a:latin typeface="Times New Roman"/>
                <a:ea typeface="+mn-ea"/>
                <a:cs typeface="Times New Roman"/>
              </a:rPr>
              <a:t>종 위성군 </a:t>
            </a:r>
            <a:r>
              <a:rPr lang="en-US" altLang="ko-KR" sz="4000" b="1">
                <a:solidFill>
                  <a:schemeClr val="tx1"/>
                </a:solidFill>
                <a:latin typeface="Times New Roman"/>
                <a:ea typeface="+mn-ea"/>
                <a:cs typeface="Times New Roman"/>
              </a:rPr>
              <a:t>OptiSAR</a:t>
            </a:r>
            <a:r>
              <a:rPr lang="ko-KR" altLang="en-US" sz="4000" b="1">
                <a:solidFill>
                  <a:schemeClr val="tx1"/>
                </a:solidFill>
                <a:latin typeface="Times New Roman"/>
                <a:ea typeface="+mn-ea"/>
                <a:cs typeface="Times New Roman"/>
              </a:rPr>
              <a:t> 선행 </a:t>
            </a:r>
            <a:r>
              <a:rPr lang="ko-KR" altLang="en-US"/>
              <a:t>연구 조사</a:t>
            </a:r>
            <a:endParaRPr lang="ko-KR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5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397DD3AE-C24E-49FC-B527-05061A0348E6}" type="slidenum">
              <a:rPr lang="en-US" altLang="en-US"/>
              <a:pPr lvl="0">
                <a:defRPr/>
              </a:pPr>
              <a:t>4</a:t>
            </a:fld>
            <a:endParaRPr lang="en-US" altLang="en-US"/>
          </a:p>
        </p:txBody>
      </p:sp>
      <p:sp>
        <p:nvSpPr>
          <p:cNvPr id="4" name="제목 3"/>
          <p:cNvSpPr>
            <a:spLocks noGrp="1"/>
          </p:cNvSpPr>
          <p:nvPr>
            <p:ph type="title" idx="0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>위성군 궤도설계 및 전개 선행 연구 조사</a:t>
            </a:r>
            <a:endParaRPr lang="ko-KR" altLang="en-US"/>
          </a:p>
        </p:txBody>
      </p:sp>
      <p:sp>
        <p:nvSpPr>
          <p:cNvPr id="10" name="내용 개체 틀 2"/>
          <p:cNvSpPr txBox="1"/>
          <p:nvPr/>
        </p:nvSpPr>
        <p:spPr>
          <a:xfrm>
            <a:off x="257081" y="1050263"/>
            <a:ext cx="8629838" cy="5376968"/>
          </a:xfrm>
          <a:prstGeom prst="rect">
            <a:avLst/>
          </a:prstGeom>
        </p:spPr>
        <p:txBody>
          <a:bodyPr vert="horz" lIns="91440" tIns="45720" rIns="91440" bIns="45720">
            <a:noAutofit/>
          </a:bodyPr>
          <a:lstStyle>
            <a:lvl1pPr marL="228600" indent="-360000" algn="l" defTabSz="914400" rtl="0" eaLnBrk="1" latinLnBrk="1" hangingPunct="1">
              <a:lnSpc>
                <a:spcPct val="100000"/>
              </a:lnSpc>
              <a:spcBef>
                <a:spcPts val="1000"/>
              </a:spcBef>
              <a:buFont typeface="Wingdings"/>
              <a:buChar char="v"/>
              <a:defRPr sz="2400" b="1" kern="1200">
                <a:solidFill>
                  <a:schemeClr val="tx1"/>
                </a:solidFill>
                <a:latin typeface="times"/>
                <a:ea typeface="+mn-ea"/>
                <a:cs typeface="times"/>
              </a:defRPr>
            </a:lvl1pPr>
            <a:lvl2pPr marL="540000" indent="-324000" algn="l" defTabSz="914400" rtl="0" eaLnBrk="1" latinLnBrk="1" hangingPunct="1">
              <a:lnSpc>
                <a:spcPct val="100000"/>
              </a:lnSpc>
              <a:spcBef>
                <a:spcPts val="500"/>
              </a:spcBef>
              <a:buFont typeface="Wingdings"/>
              <a:buChar char="u"/>
              <a:defRPr sz="1800" b="0" kern="1200">
                <a:solidFill>
                  <a:schemeClr val="tx1"/>
                </a:solidFill>
                <a:latin typeface="times"/>
                <a:ea typeface="+mn-ea"/>
                <a:cs typeface="times"/>
              </a:defRPr>
            </a:lvl2pPr>
            <a:lvl3pPr marL="720000" indent="-288000" algn="l" defTabSz="914400" rtl="0" eaLnBrk="1" latinLnBrk="1" hangingPunct="1">
              <a:lnSpc>
                <a:spcPct val="100000"/>
              </a:lnSpc>
              <a:spcBef>
                <a:spcPts val="500"/>
              </a:spcBef>
              <a:buFont typeface="Wingdings"/>
              <a:buChar char="Ø"/>
              <a:defRPr sz="1600" kern="1200">
                <a:solidFill>
                  <a:schemeClr val="tx1"/>
                </a:solidFill>
                <a:latin typeface="times"/>
                <a:ea typeface="+mn-ea"/>
                <a:cs typeface="times"/>
              </a:defRPr>
            </a:lvl3pPr>
            <a:lvl4pPr marL="900000" indent="-252000" algn="l" defTabSz="914400" rtl="0" eaLnBrk="1" latinLnBrk="1" hangingPunct="1">
              <a:lnSpc>
                <a:spcPct val="100000"/>
              </a:lnSpc>
              <a:spcBef>
                <a:spcPts val="500"/>
              </a:spcBef>
              <a:buFont typeface="Wingdings"/>
              <a:buChar char="ü"/>
              <a:defRPr sz="1400" kern="1200">
                <a:solidFill>
                  <a:schemeClr val="tx1"/>
                </a:solidFill>
                <a:latin typeface="times"/>
                <a:ea typeface="+mn-ea"/>
                <a:cs typeface="times"/>
              </a:defRPr>
            </a:lvl4pPr>
            <a:lvl5pPr marL="1080000" indent="-252000" algn="l" defTabSz="914400" rtl="0" eaLnBrk="1" latinLnBrk="1" hangingPunct="1">
              <a:lnSpc>
                <a:spcPct val="100000"/>
              </a:lnSpc>
              <a:spcBef>
                <a:spcPts val="500"/>
              </a:spcBef>
              <a:buFont typeface="Arial"/>
              <a:buChar char="•"/>
              <a:defRPr sz="1400" kern="1200">
                <a:solidFill>
                  <a:schemeClr val="tx1"/>
                </a:solidFill>
                <a:latin typeface="times"/>
                <a:ea typeface="+mn-ea"/>
                <a:cs typeface="time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>
              <a:defRPr/>
            </a:pPr>
            <a:r>
              <a:rPr lang="ko-KR" altLang="en-US"/>
              <a:t>레이다</a:t>
            </a:r>
            <a:endParaRPr lang="ko-KR" altLang="en-US"/>
          </a:p>
          <a:p>
            <a:pPr lvl="1">
              <a:defRPr/>
            </a:pPr>
            <a:r>
              <a:rPr lang="ko-KR" altLang="en-US"/>
              <a:t>원리</a:t>
            </a:r>
            <a:endParaRPr lang="ko-KR" altLang="en-US"/>
          </a:p>
          <a:p>
            <a:pPr marL="777150" lvl="2" indent="-285750">
              <a:defRPr/>
            </a:pPr>
            <a:r>
              <a:rPr lang="ko-KR" altLang="en-US"/>
              <a:t>짧고 강한 펄스 전파 빔을 목표지역에 쏘아</a:t>
            </a:r>
            <a:endParaRPr lang="ko-KR" altLang="en-US"/>
          </a:p>
          <a:p>
            <a:pPr marL="777150" lvl="2" indent="-285750">
              <a:defRPr/>
            </a:pPr>
            <a:r>
              <a:rPr lang="ko-KR" altLang="en-US"/>
              <a:t>반사파가 레이다 안테나로 돌아오는 시간을 측정하여 </a:t>
            </a:r>
            <a:r>
              <a:rPr lang="en-US" altLang="ko-KR"/>
              <a:t>2</a:t>
            </a:r>
            <a:r>
              <a:rPr lang="ko-KR" altLang="en-US"/>
              <a:t>차원 영상을 구성</a:t>
            </a:r>
            <a:endParaRPr lang="ko-KR" altLang="en-US"/>
          </a:p>
          <a:p>
            <a:pPr marL="777150" lvl="2" indent="-285750">
              <a:defRPr/>
            </a:pPr>
            <a:endParaRPr lang="ko-KR" altLang="en-US"/>
          </a:p>
          <a:p>
            <a:pPr lvl="1">
              <a:defRPr/>
            </a:pPr>
            <a:r>
              <a:rPr lang="ko-KR" altLang="en-US"/>
              <a:t> 해상력을 높이기 위한 방법</a:t>
            </a:r>
            <a:endParaRPr lang="ko-KR" altLang="en-US"/>
          </a:p>
          <a:p>
            <a:pPr marL="777150" lvl="2" indent="-285750">
              <a:defRPr/>
            </a:pPr>
            <a:r>
              <a:rPr lang="ko-KR" altLang="en-US"/>
              <a:t>목표지역의 좁은 부분에서 나오는 반사파만 골라 수신할 수 있어야 함 </a:t>
            </a:r>
            <a:r>
              <a:rPr lang="en-US" altLang="ko-KR"/>
              <a:t>(</a:t>
            </a:r>
            <a:r>
              <a:rPr lang="ko-KR" altLang="en-US"/>
              <a:t>방위 해상도</a:t>
            </a:r>
            <a:r>
              <a:rPr lang="en-US" altLang="ko-KR"/>
              <a:t>)</a:t>
            </a:r>
            <a:endParaRPr lang="en-US" altLang="ko-KR"/>
          </a:p>
          <a:p>
            <a:pPr marL="777150" lvl="2" indent="-285750">
              <a:defRPr/>
            </a:pPr>
            <a:r>
              <a:rPr lang="ko-KR" altLang="en-US"/>
              <a:t>내보내는 전파 펄스 자체가 시간적으로 짧아야 함</a:t>
            </a:r>
            <a:r>
              <a:rPr lang="en-US" altLang="ko-KR"/>
              <a:t>(</a:t>
            </a:r>
            <a:r>
              <a:rPr lang="ko-KR" altLang="en-US"/>
              <a:t>거리 해상도</a:t>
            </a:r>
            <a:r>
              <a:rPr lang="en-US" altLang="ko-KR"/>
              <a:t>)</a:t>
            </a:r>
            <a:endParaRPr lang="en-US" altLang="ko-KR"/>
          </a:p>
          <a:p>
            <a:pPr marL="777150" lvl="2" indent="-285750">
              <a:defRPr/>
            </a:pPr>
            <a:r>
              <a:rPr lang="ko-KR" altLang="en-US"/>
              <a:t>분산이나 굴절을 최소화하기 위해 되도록 짧은 파장의 전파를 사용해야 함</a:t>
            </a:r>
            <a:endParaRPr lang="ko-KR" altLang="en-US"/>
          </a:p>
          <a:p>
            <a:pPr marL="777150" lvl="2" indent="-285750">
              <a:defRPr/>
            </a:pPr>
            <a:endParaRPr lang="ko-KR" altLang="en-US"/>
          </a:p>
          <a:p>
            <a:pPr lvl="1">
              <a:defRPr/>
            </a:pPr>
            <a:r>
              <a:rPr lang="ko-KR" altLang="en-US"/>
              <a:t> 해상력의 한계</a:t>
            </a:r>
            <a:endParaRPr lang="ko-KR" altLang="en-US"/>
          </a:p>
          <a:p>
            <a:pPr marL="777150" lvl="2" indent="-285750">
              <a:defRPr/>
            </a:pPr>
            <a:r>
              <a:rPr lang="ko-KR" altLang="en-US"/>
              <a:t>안테나의 직경을 늘리지 않고 배율만 높이면 빛의 회절로 상이 뭉개짐</a:t>
            </a:r>
            <a:endParaRPr lang="ko-KR" altLang="en-US"/>
          </a:p>
          <a:p>
            <a:pPr marL="777150" lvl="2" indent="-285750">
              <a:defRPr/>
            </a:pPr>
            <a:r>
              <a:rPr lang="ko-KR" altLang="en-US"/>
              <a:t>항공기에 탑재하기엔 크기나 무게에 제한이 있고 빠르게 회전시키는 것도 곤란함</a:t>
            </a:r>
            <a:endParaRPr lang="ko-KR" altLang="en-US"/>
          </a:p>
          <a:p>
            <a:pPr marL="777150" lvl="2" indent="-285750">
              <a:defRPr/>
            </a:pPr>
            <a:r>
              <a:rPr lang="ko-KR" altLang="en-US"/>
              <a:t>전파의 파장을 짧게 하는 데도 기술적 한계나 실용적 문제가 있음</a:t>
            </a:r>
            <a:endParaRPr lang="ko-KR" altLang="en-US"/>
          </a:p>
          <a:p>
            <a:pPr marL="777150" lvl="2" indent="-285750">
              <a:defRPr/>
            </a:pPr>
            <a:endParaRPr lang="ko-KR" altLang="en-US"/>
          </a:p>
          <a:p>
            <a:pPr marL="216000" lvl="1" indent="0">
              <a:buFont typeface="mn-ea"/>
              <a:buNone/>
              <a:defRPr/>
            </a:pPr>
            <a:r>
              <a:rPr lang="en-US" altLang="ko-KR" b="1"/>
              <a:t>(</a:t>
            </a:r>
            <a:r>
              <a:rPr lang="ko-KR" altLang="en-US" b="1"/>
              <a:t>출처 </a:t>
            </a:r>
            <a:r>
              <a:rPr lang="en-US" altLang="en-US" b="1"/>
              <a:t>Rich Data Cheap Satellites</a:t>
            </a:r>
            <a:r>
              <a:rPr lang="en-US" altLang="ko-KR" b="1"/>
              <a:t>,</a:t>
            </a:r>
            <a:r>
              <a:rPr lang="ko-KR" altLang="en-US" b="1"/>
              <a:t> </a:t>
            </a:r>
            <a:r>
              <a:rPr lang="en-US" altLang="ko-KR" b="1"/>
              <a:t>2017</a:t>
            </a:r>
            <a:r>
              <a:rPr lang="ko-KR" altLang="en-US" b="1"/>
              <a:t> Luis Gomes. Surrey Satellite Technology</a:t>
            </a:r>
            <a:r>
              <a:rPr lang="en-US" altLang="ko-KR" b="1"/>
              <a:t>)</a:t>
            </a:r>
            <a:endParaRPr lang="en-US" altLang="ko-KR" b="1"/>
          </a:p>
          <a:p>
            <a:pPr marL="216000" lvl="1" indent="0">
              <a:buNone/>
              <a:defRPr/>
            </a:pPr>
            <a:endParaRPr lang="en-US" altLang="ko-KR"/>
          </a:p>
          <a:p>
            <a:pPr marL="777150" lvl="2" indent="-285750">
              <a:defRPr/>
            </a:pPr>
            <a:endParaRPr lang="ko-KR" altLang="en-US" sz="1800"/>
          </a:p>
          <a:p>
            <a:pPr marL="491400" lvl="2" indent="0">
              <a:buNone/>
              <a:defRPr/>
            </a:pPr>
            <a:endParaRPr lang="ko-KR" altLang="en-US" sz="180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6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397DD3AE-C24E-49FC-B527-05061A0348E6}" type="slidenum">
              <a:rPr lang="en-US" altLang="en-US"/>
              <a:pPr lvl="0">
                <a:defRPr/>
              </a:pPr>
              <a:t>5</a:t>
            </a:fld>
            <a:endParaRPr lang="en-US" altLang="en-US"/>
          </a:p>
        </p:txBody>
      </p:sp>
      <p:sp>
        <p:nvSpPr>
          <p:cNvPr id="4" name="제목 3"/>
          <p:cNvSpPr>
            <a:spLocks noGrp="1"/>
          </p:cNvSpPr>
          <p:nvPr>
            <p:ph type="title" idx="0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>위성군 궤도설계 및 전개 선행 연구 조사</a:t>
            </a:r>
            <a:endParaRPr lang="ko-KR" altLang="en-US"/>
          </a:p>
        </p:txBody>
      </p:sp>
      <p:sp>
        <p:nvSpPr>
          <p:cNvPr id="10" name="내용 개체 틀 2"/>
          <p:cNvSpPr txBox="1"/>
          <p:nvPr/>
        </p:nvSpPr>
        <p:spPr>
          <a:xfrm>
            <a:off x="257081" y="1050263"/>
            <a:ext cx="8629838" cy="5376968"/>
          </a:xfrm>
          <a:prstGeom prst="rect">
            <a:avLst/>
          </a:prstGeom>
        </p:spPr>
        <p:txBody>
          <a:bodyPr vert="horz" lIns="91440" tIns="45720" rIns="91440" bIns="45720">
            <a:noAutofit/>
          </a:bodyPr>
          <a:lstStyle>
            <a:lvl1pPr marL="228600" indent="-360000" algn="l" defTabSz="914400" rtl="0" eaLnBrk="1" latinLnBrk="1" hangingPunct="1">
              <a:lnSpc>
                <a:spcPct val="100000"/>
              </a:lnSpc>
              <a:spcBef>
                <a:spcPts val="1000"/>
              </a:spcBef>
              <a:buFont typeface="Wingdings"/>
              <a:buChar char="v"/>
              <a:defRPr sz="2400" b="1" kern="1200">
                <a:solidFill>
                  <a:schemeClr val="tx1"/>
                </a:solidFill>
                <a:latin typeface="times"/>
                <a:ea typeface="+mn-ea"/>
                <a:cs typeface="times"/>
              </a:defRPr>
            </a:lvl1pPr>
            <a:lvl2pPr marL="540000" indent="-324000" algn="l" defTabSz="914400" rtl="0" eaLnBrk="1" latinLnBrk="1" hangingPunct="1">
              <a:lnSpc>
                <a:spcPct val="100000"/>
              </a:lnSpc>
              <a:spcBef>
                <a:spcPts val="500"/>
              </a:spcBef>
              <a:buFont typeface="Wingdings"/>
              <a:buChar char="u"/>
              <a:defRPr sz="1800" b="0" kern="1200">
                <a:solidFill>
                  <a:schemeClr val="tx1"/>
                </a:solidFill>
                <a:latin typeface="times"/>
                <a:ea typeface="+mn-ea"/>
                <a:cs typeface="times"/>
              </a:defRPr>
            </a:lvl2pPr>
            <a:lvl3pPr marL="720000" indent="-288000" algn="l" defTabSz="914400" rtl="0" eaLnBrk="1" latinLnBrk="1" hangingPunct="1">
              <a:lnSpc>
                <a:spcPct val="100000"/>
              </a:lnSpc>
              <a:spcBef>
                <a:spcPts val="500"/>
              </a:spcBef>
              <a:buFont typeface="Wingdings"/>
              <a:buChar char="Ø"/>
              <a:defRPr sz="1600" kern="1200">
                <a:solidFill>
                  <a:schemeClr val="tx1"/>
                </a:solidFill>
                <a:latin typeface="times"/>
                <a:ea typeface="+mn-ea"/>
                <a:cs typeface="times"/>
              </a:defRPr>
            </a:lvl3pPr>
            <a:lvl4pPr marL="900000" indent="-252000" algn="l" defTabSz="914400" rtl="0" eaLnBrk="1" latinLnBrk="1" hangingPunct="1">
              <a:lnSpc>
                <a:spcPct val="100000"/>
              </a:lnSpc>
              <a:spcBef>
                <a:spcPts val="500"/>
              </a:spcBef>
              <a:buFont typeface="Wingdings"/>
              <a:buChar char="ü"/>
              <a:defRPr sz="1400" kern="1200">
                <a:solidFill>
                  <a:schemeClr val="tx1"/>
                </a:solidFill>
                <a:latin typeface="times"/>
                <a:ea typeface="+mn-ea"/>
                <a:cs typeface="times"/>
              </a:defRPr>
            </a:lvl4pPr>
            <a:lvl5pPr marL="1080000" indent="-252000" algn="l" defTabSz="914400" rtl="0" eaLnBrk="1" latinLnBrk="1" hangingPunct="1">
              <a:lnSpc>
                <a:spcPct val="100000"/>
              </a:lnSpc>
              <a:spcBef>
                <a:spcPts val="500"/>
              </a:spcBef>
              <a:buFont typeface="Arial"/>
              <a:buChar char="•"/>
              <a:defRPr sz="1400" kern="1200">
                <a:solidFill>
                  <a:schemeClr val="tx1"/>
                </a:solidFill>
                <a:latin typeface="times"/>
                <a:ea typeface="+mn-ea"/>
                <a:cs typeface="time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>
              <a:defRPr/>
            </a:pPr>
            <a:r>
              <a:rPr lang="en-US" altLang="ko-KR"/>
              <a:t>SAR</a:t>
            </a:r>
            <a:endParaRPr lang="en-US" altLang="ko-KR"/>
          </a:p>
          <a:p>
            <a:pPr lvl="1">
              <a:defRPr/>
            </a:pPr>
            <a:r>
              <a:rPr lang="ko-KR" altLang="en-US" sz="1800"/>
              <a:t>합성개구레이다</a:t>
            </a:r>
            <a:r>
              <a:rPr lang="en-US" altLang="ko-KR" sz="1800"/>
              <a:t>(Synthetic Aperture Radar)</a:t>
            </a:r>
            <a:endParaRPr lang="ko-KR" altLang="en-US" sz="1800"/>
          </a:p>
          <a:p>
            <a:pPr marL="777150" lvl="2" indent="-285750">
              <a:defRPr/>
            </a:pPr>
            <a:r>
              <a:rPr lang="ko-KR" altLang="en-US"/>
              <a:t>공중에서 지상 및 해양을 관찰하는 레이다</a:t>
            </a:r>
            <a:endParaRPr lang="ko-KR" altLang="en-US"/>
          </a:p>
          <a:p>
            <a:pPr marL="777150" lvl="2" indent="-285750">
              <a:defRPr/>
            </a:pPr>
            <a:r>
              <a:rPr lang="ko-KR" altLang="en-US"/>
              <a:t>반사된 미세한 시간차를 처리하여 지상지형도를 만들거나 지표 관측</a:t>
            </a:r>
            <a:endParaRPr lang="ko-KR" altLang="en-US"/>
          </a:p>
          <a:p>
            <a:pPr marL="777150" lvl="2" indent="-285750">
              <a:defRPr/>
            </a:pPr>
            <a:r>
              <a:rPr lang="en-US" altLang="ko-KR"/>
              <a:t>1960</a:t>
            </a:r>
            <a:r>
              <a:rPr lang="ko-KR" altLang="en-US"/>
              <a:t>년대부터 주로 군용 정찰장비로 개발</a:t>
            </a:r>
            <a:endParaRPr lang="ko-KR" altLang="en-US"/>
          </a:p>
          <a:p>
            <a:pPr marL="777150" lvl="2" indent="-285750">
              <a:defRPr/>
            </a:pPr>
            <a:r>
              <a:rPr lang="en-US" altLang="ko-KR"/>
              <a:t>1980</a:t>
            </a:r>
            <a:r>
              <a:rPr lang="ko-KR" altLang="en-US"/>
              <a:t>년대에는 단순한 지형패턴만이 아닌 이동목표 추적 능력 탑재</a:t>
            </a:r>
            <a:endParaRPr lang="ko-KR" altLang="en-US"/>
          </a:p>
          <a:p>
            <a:pPr marL="777150" lvl="2" indent="-285750">
              <a:defRPr/>
            </a:pPr>
            <a:r>
              <a:rPr lang="ko-KR" altLang="en-US"/>
              <a:t>플랫폼에는 특별한 제한이 없으며 무인정찰기 및 인공위성에도 장착</a:t>
            </a:r>
            <a:endParaRPr lang="ko-KR" altLang="en-US" sz="1800"/>
          </a:p>
          <a:p>
            <a:pPr marL="216000" lvl="1" indent="0">
              <a:buNone/>
              <a:defRPr/>
            </a:pPr>
            <a:endParaRPr lang="en-US" altLang="ko-KR"/>
          </a:p>
          <a:p>
            <a:pPr lvl="1">
              <a:defRPr/>
            </a:pPr>
            <a:r>
              <a:rPr lang="ko-KR" altLang="en-US"/>
              <a:t>장점</a:t>
            </a:r>
            <a:endParaRPr lang="ko-KR" altLang="en-US"/>
          </a:p>
          <a:p>
            <a:pPr marL="777150" lvl="2" indent="-285750">
              <a:defRPr/>
            </a:pPr>
            <a:r>
              <a:rPr lang="ko-KR" altLang="en-US"/>
              <a:t>안테나의 직경을 크게 하지 않으면서 높은 방위해상도를 얻을 수 있음</a:t>
            </a:r>
            <a:endParaRPr lang="ko-KR" altLang="en-US"/>
          </a:p>
          <a:p>
            <a:pPr marL="777150" lvl="2" indent="-285750">
              <a:defRPr/>
            </a:pPr>
            <a:r>
              <a:rPr lang="ko-KR" altLang="en-US"/>
              <a:t>펄스폭도 넓고 안테나 직경도 작아서 빔의 각도 범위도 넓은 편</a:t>
            </a:r>
            <a:endParaRPr lang="ko-KR" altLang="en-US"/>
          </a:p>
          <a:p>
            <a:pPr marL="777150" lvl="2" indent="-285750">
              <a:defRPr/>
            </a:pPr>
            <a:r>
              <a:rPr lang="ko-KR" altLang="en-US"/>
              <a:t>공중에서 넓은 범위의 지상의 고해상도의 영상을 획득하는데 아주 효과적임</a:t>
            </a:r>
            <a:endParaRPr lang="ko-KR" altLang="en-US"/>
          </a:p>
          <a:p>
            <a:pPr marL="777150" lvl="2" indent="-285750">
              <a:defRPr/>
            </a:pPr>
            <a:r>
              <a:rPr lang="ko-KR" altLang="en-US"/>
              <a:t>주간 및 야간</a:t>
            </a:r>
            <a:r>
              <a:rPr lang="en-US" altLang="ko-KR"/>
              <a:t>,</a:t>
            </a:r>
            <a:r>
              <a:rPr lang="ko-KR" altLang="en-US"/>
              <a:t> 악천후에도 사용할 수 있음</a:t>
            </a:r>
            <a:endParaRPr lang="ko-KR" altLang="en-US"/>
          </a:p>
          <a:p>
            <a:pPr marL="777150" lvl="2" indent="-285750">
              <a:defRPr/>
            </a:pPr>
            <a:endParaRPr lang="ko-KR" altLang="en-US"/>
          </a:p>
          <a:p>
            <a:pPr marL="777150" lvl="2" indent="-285750">
              <a:defRPr/>
            </a:pPr>
            <a:endParaRPr lang="ko-KR" altLang="en-US"/>
          </a:p>
          <a:p>
            <a:pPr marL="777150" lvl="2" indent="-285750">
              <a:defRPr/>
            </a:pPr>
            <a:endParaRPr lang="ko-KR" altLang="en-US" sz="1800"/>
          </a:p>
          <a:p>
            <a:pPr marL="491400" lvl="2" indent="0">
              <a:buNone/>
              <a:defRPr/>
            </a:pPr>
            <a:endParaRPr lang="ko-KR" altLang="en-US" sz="180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7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397DD3AE-C24E-49FC-B527-05061A0348E6}" type="slidenum">
              <a:rPr lang="en-US" altLang="en-US"/>
              <a:pPr lvl="0">
                <a:defRPr/>
              </a:pPr>
              <a:t>6</a:t>
            </a:fld>
            <a:endParaRPr lang="en-US" altLang="en-US"/>
          </a:p>
        </p:txBody>
      </p:sp>
      <p:sp>
        <p:nvSpPr>
          <p:cNvPr id="4" name="제목 3"/>
          <p:cNvSpPr>
            <a:spLocks noGrp="1"/>
          </p:cNvSpPr>
          <p:nvPr>
            <p:ph type="title" idx="0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>위성군 궤도설계 및 전개 선행 연구 조사</a:t>
            </a:r>
            <a:endParaRPr lang="ko-KR" altLang="en-US"/>
          </a:p>
        </p:txBody>
      </p:sp>
      <p:sp>
        <p:nvSpPr>
          <p:cNvPr id="10" name="내용 개체 틀 2"/>
          <p:cNvSpPr txBox="1"/>
          <p:nvPr/>
        </p:nvSpPr>
        <p:spPr>
          <a:xfrm>
            <a:off x="257081" y="1050263"/>
            <a:ext cx="8629838" cy="5376968"/>
          </a:xfrm>
          <a:prstGeom prst="rect">
            <a:avLst/>
          </a:prstGeom>
        </p:spPr>
        <p:txBody>
          <a:bodyPr vert="horz" lIns="91440" tIns="45720" rIns="91440" bIns="45720">
            <a:noAutofit/>
          </a:bodyPr>
          <a:lstStyle>
            <a:lvl1pPr marL="228600" indent="-360000" algn="l" defTabSz="914400" rtl="0" eaLnBrk="1" latinLnBrk="1" hangingPunct="1">
              <a:lnSpc>
                <a:spcPct val="100000"/>
              </a:lnSpc>
              <a:spcBef>
                <a:spcPts val="1000"/>
              </a:spcBef>
              <a:buFont typeface="Wingdings"/>
              <a:buChar char="v"/>
              <a:defRPr sz="2400" b="1" kern="1200">
                <a:solidFill>
                  <a:schemeClr val="tx1"/>
                </a:solidFill>
                <a:latin typeface="times"/>
                <a:ea typeface="+mn-ea"/>
                <a:cs typeface="times"/>
              </a:defRPr>
            </a:lvl1pPr>
            <a:lvl2pPr marL="540000" indent="-324000" algn="l" defTabSz="914400" rtl="0" eaLnBrk="1" latinLnBrk="1" hangingPunct="1">
              <a:lnSpc>
                <a:spcPct val="100000"/>
              </a:lnSpc>
              <a:spcBef>
                <a:spcPts val="500"/>
              </a:spcBef>
              <a:buFont typeface="Wingdings"/>
              <a:buChar char="u"/>
              <a:defRPr sz="1800" b="0" kern="1200">
                <a:solidFill>
                  <a:schemeClr val="tx1"/>
                </a:solidFill>
                <a:latin typeface="times"/>
                <a:ea typeface="+mn-ea"/>
                <a:cs typeface="times"/>
              </a:defRPr>
            </a:lvl2pPr>
            <a:lvl3pPr marL="720000" indent="-288000" algn="l" defTabSz="914400" rtl="0" eaLnBrk="1" latinLnBrk="1" hangingPunct="1">
              <a:lnSpc>
                <a:spcPct val="100000"/>
              </a:lnSpc>
              <a:spcBef>
                <a:spcPts val="500"/>
              </a:spcBef>
              <a:buFont typeface="Wingdings"/>
              <a:buChar char="Ø"/>
              <a:defRPr sz="1600" kern="1200">
                <a:solidFill>
                  <a:schemeClr val="tx1"/>
                </a:solidFill>
                <a:latin typeface="times"/>
                <a:ea typeface="+mn-ea"/>
                <a:cs typeface="times"/>
              </a:defRPr>
            </a:lvl3pPr>
            <a:lvl4pPr marL="900000" indent="-252000" algn="l" defTabSz="914400" rtl="0" eaLnBrk="1" latinLnBrk="1" hangingPunct="1">
              <a:lnSpc>
                <a:spcPct val="100000"/>
              </a:lnSpc>
              <a:spcBef>
                <a:spcPts val="500"/>
              </a:spcBef>
              <a:buFont typeface="Wingdings"/>
              <a:buChar char="ü"/>
              <a:defRPr sz="1400" kern="1200">
                <a:solidFill>
                  <a:schemeClr val="tx1"/>
                </a:solidFill>
                <a:latin typeface="times"/>
                <a:ea typeface="+mn-ea"/>
                <a:cs typeface="times"/>
              </a:defRPr>
            </a:lvl4pPr>
            <a:lvl5pPr marL="1080000" indent="-252000" algn="l" defTabSz="914400" rtl="0" eaLnBrk="1" latinLnBrk="1" hangingPunct="1">
              <a:lnSpc>
                <a:spcPct val="100000"/>
              </a:lnSpc>
              <a:spcBef>
                <a:spcPts val="500"/>
              </a:spcBef>
              <a:buFont typeface="Arial"/>
              <a:buChar char="•"/>
              <a:defRPr sz="1400" kern="1200">
                <a:solidFill>
                  <a:schemeClr val="tx1"/>
                </a:solidFill>
                <a:latin typeface="times"/>
                <a:ea typeface="+mn-ea"/>
                <a:cs typeface="time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>
              <a:defRPr/>
            </a:pPr>
            <a:r>
              <a:rPr lang="ko-KR" altLang="en-US"/>
              <a:t> 원리</a:t>
            </a:r>
            <a:endParaRPr lang="ko-KR" altLang="en-US"/>
          </a:p>
          <a:p>
            <a:pPr marL="777150" lvl="2" indent="-285750">
              <a:defRPr/>
            </a:pPr>
            <a:r>
              <a:rPr lang="ko-KR" altLang="en-US"/>
              <a:t>고속으로 이동하며 위상이 일치하는 전파 빔을 방사</a:t>
            </a:r>
            <a:endParaRPr lang="ko-KR" altLang="en-US"/>
          </a:p>
          <a:p>
            <a:pPr marL="777150" lvl="2" indent="-285750">
              <a:defRPr/>
            </a:pPr>
            <a:r>
              <a:rPr lang="ko-KR" altLang="en-US"/>
              <a:t>레이다 반사파를 연속적으로 수신</a:t>
            </a:r>
            <a:endParaRPr lang="ko-KR" altLang="en-US"/>
          </a:p>
          <a:p>
            <a:pPr marL="777150" lvl="2" indent="-285750">
              <a:defRPr/>
            </a:pPr>
            <a:r>
              <a:rPr lang="ko-KR" altLang="en-US" u="sng"/>
              <a:t>전파 빔을 방사한 안테나</a:t>
            </a:r>
            <a:r>
              <a:rPr lang="ko-KR" altLang="en-US"/>
              <a:t>와 반사되어 돌아온 </a:t>
            </a:r>
            <a:r>
              <a:rPr lang="ko-KR" altLang="en-US" u="sng"/>
              <a:t>반사파를 수신하는 안테나</a:t>
            </a:r>
            <a:r>
              <a:rPr lang="ko-KR" altLang="en-US"/>
              <a:t>의 위치의 차이</a:t>
            </a:r>
            <a:endParaRPr lang="ko-KR" altLang="en-US"/>
          </a:p>
          <a:p>
            <a:pPr marL="777150" lvl="2" indent="-285750">
              <a:defRPr/>
            </a:pPr>
            <a:r>
              <a:rPr lang="ko-KR" altLang="en-US"/>
              <a:t> 도플러편이 발생</a:t>
            </a:r>
            <a:endParaRPr lang="ko-KR" altLang="en-US"/>
          </a:p>
          <a:p>
            <a:pPr marL="957150" lvl="3" indent="-285750">
              <a:defRPr/>
            </a:pPr>
            <a:r>
              <a:rPr lang="en-US" altLang="ko-KR"/>
              <a:t>1.</a:t>
            </a:r>
            <a:r>
              <a:rPr lang="ko-KR" altLang="en-US"/>
              <a:t> 대상과 레이다 안테나 사이의 거리차에 대한 위상보정 </a:t>
            </a:r>
            <a:endParaRPr lang="ko-KR" altLang="en-US"/>
          </a:p>
          <a:p>
            <a:pPr marL="957150" lvl="3" indent="-285750">
              <a:defRPr/>
            </a:pPr>
            <a:r>
              <a:rPr lang="en-US" altLang="ko-KR"/>
              <a:t>2.</a:t>
            </a:r>
            <a:r>
              <a:rPr lang="ko-KR" altLang="en-US"/>
              <a:t> 또는 수신지점이 다르지만 위상이 같은 신호를 더하여 합성된 안테나 신호를 획득</a:t>
            </a:r>
            <a:endParaRPr lang="ko-KR" altLang="en-US"/>
          </a:p>
          <a:p>
            <a:pPr marL="777150" lvl="2" indent="-285750">
              <a:defRPr/>
            </a:pPr>
            <a:endParaRPr lang="ko-KR" altLang="en-US"/>
          </a:p>
          <a:p>
            <a:pPr marL="777150" lvl="2" indent="-285750">
              <a:defRPr/>
            </a:pPr>
            <a:r>
              <a:rPr lang="ko-KR" altLang="en-US"/>
              <a:t>전파가 반사되어 돌아오는 동안 이동한 거리만큼 레이다 안테나의 직경이 길어지는 효과가 나타나므로 예리하게 반사파를 수신할 수 있음</a:t>
            </a:r>
            <a:endParaRPr lang="ko-KR" altLang="en-US"/>
          </a:p>
          <a:p>
            <a:pPr marL="777150" lvl="2" indent="-285750">
              <a:defRPr/>
            </a:pPr>
            <a:r>
              <a:rPr lang="ko-KR" altLang="en-US"/>
              <a:t>즉</a:t>
            </a:r>
            <a:r>
              <a:rPr lang="en-US" altLang="ko-KR"/>
              <a:t>,</a:t>
            </a:r>
            <a:r>
              <a:rPr lang="ko-KR" altLang="en-US"/>
              <a:t> 작은 안테나로 수신된 연속적인 여러 개의 레이다 신호들을 합성하여 개구면이 큰 안테나 안테나로 합성하는 것</a:t>
            </a:r>
            <a:endParaRPr lang="ko-KR" altLang="en-US"/>
          </a:p>
          <a:p>
            <a:pPr marL="216000" lvl="1" indent="0">
              <a:buNone/>
              <a:defRPr/>
            </a:pPr>
            <a:endParaRPr lang="ko-KR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8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397DD3AE-C24E-49FC-B527-05061A0348E6}" type="slidenum">
              <a:rPr lang="en-US" altLang="en-US"/>
              <a:pPr lvl="0">
                <a:defRPr/>
              </a:pPr>
              <a:t>7</a:t>
            </a:fld>
            <a:endParaRPr lang="en-US" altLang="en-US"/>
          </a:p>
        </p:txBody>
      </p:sp>
      <p:sp>
        <p:nvSpPr>
          <p:cNvPr id="4" name="제목 3"/>
          <p:cNvSpPr>
            <a:spLocks noGrp="1"/>
          </p:cNvSpPr>
          <p:nvPr>
            <p:ph type="title" idx="0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>위성군 궤도설계 및 전개 선행 연구 조사</a:t>
            </a:r>
            <a:endParaRPr lang="ko-KR" altLang="en-US"/>
          </a:p>
        </p:txBody>
      </p:sp>
      <p:sp>
        <p:nvSpPr>
          <p:cNvPr id="10" name="내용 개체 틀 2"/>
          <p:cNvSpPr txBox="1"/>
          <p:nvPr/>
        </p:nvSpPr>
        <p:spPr>
          <a:xfrm>
            <a:off x="257081" y="1050263"/>
            <a:ext cx="8629838" cy="5376968"/>
          </a:xfrm>
          <a:prstGeom prst="rect">
            <a:avLst/>
          </a:prstGeom>
        </p:spPr>
        <p:txBody>
          <a:bodyPr vert="horz" lIns="91440" tIns="45720" rIns="91440" bIns="45720">
            <a:noAutofit/>
          </a:bodyPr>
          <a:lstStyle>
            <a:lvl1pPr marL="228600" indent="-360000" algn="l" defTabSz="914400" rtl="0" eaLnBrk="1" latinLnBrk="1" hangingPunct="1">
              <a:lnSpc>
                <a:spcPct val="100000"/>
              </a:lnSpc>
              <a:spcBef>
                <a:spcPts val="1000"/>
              </a:spcBef>
              <a:buFont typeface="Wingdings"/>
              <a:buChar char="v"/>
              <a:defRPr sz="2400" b="1" kern="1200">
                <a:solidFill>
                  <a:schemeClr val="tx1"/>
                </a:solidFill>
                <a:latin typeface="times"/>
                <a:ea typeface="+mn-ea"/>
                <a:cs typeface="times"/>
              </a:defRPr>
            </a:lvl1pPr>
            <a:lvl2pPr marL="540000" indent="-324000" algn="l" defTabSz="914400" rtl="0" eaLnBrk="1" latinLnBrk="1" hangingPunct="1">
              <a:lnSpc>
                <a:spcPct val="100000"/>
              </a:lnSpc>
              <a:spcBef>
                <a:spcPts val="500"/>
              </a:spcBef>
              <a:buFont typeface="Wingdings"/>
              <a:buChar char="u"/>
              <a:defRPr sz="1800" b="0" kern="1200">
                <a:solidFill>
                  <a:schemeClr val="tx1"/>
                </a:solidFill>
                <a:latin typeface="times"/>
                <a:ea typeface="+mn-ea"/>
                <a:cs typeface="times"/>
              </a:defRPr>
            </a:lvl2pPr>
            <a:lvl3pPr marL="720000" indent="-288000" algn="l" defTabSz="914400" rtl="0" eaLnBrk="1" latinLnBrk="1" hangingPunct="1">
              <a:lnSpc>
                <a:spcPct val="100000"/>
              </a:lnSpc>
              <a:spcBef>
                <a:spcPts val="500"/>
              </a:spcBef>
              <a:buFont typeface="Wingdings"/>
              <a:buChar char="Ø"/>
              <a:defRPr sz="1600" kern="1200">
                <a:solidFill>
                  <a:schemeClr val="tx1"/>
                </a:solidFill>
                <a:latin typeface="times"/>
                <a:ea typeface="+mn-ea"/>
                <a:cs typeface="times"/>
              </a:defRPr>
            </a:lvl3pPr>
            <a:lvl4pPr marL="900000" indent="-252000" algn="l" defTabSz="914400" rtl="0" eaLnBrk="1" latinLnBrk="1" hangingPunct="1">
              <a:lnSpc>
                <a:spcPct val="100000"/>
              </a:lnSpc>
              <a:spcBef>
                <a:spcPts val="500"/>
              </a:spcBef>
              <a:buFont typeface="Wingdings"/>
              <a:buChar char="ü"/>
              <a:defRPr sz="1400" kern="1200">
                <a:solidFill>
                  <a:schemeClr val="tx1"/>
                </a:solidFill>
                <a:latin typeface="times"/>
                <a:ea typeface="+mn-ea"/>
                <a:cs typeface="times"/>
              </a:defRPr>
            </a:lvl4pPr>
            <a:lvl5pPr marL="1080000" indent="-252000" algn="l" defTabSz="914400" rtl="0" eaLnBrk="1" latinLnBrk="1" hangingPunct="1">
              <a:lnSpc>
                <a:spcPct val="100000"/>
              </a:lnSpc>
              <a:spcBef>
                <a:spcPts val="500"/>
              </a:spcBef>
              <a:buFont typeface="Arial"/>
              <a:buChar char="•"/>
              <a:defRPr sz="1400" kern="1200">
                <a:solidFill>
                  <a:schemeClr val="tx1"/>
                </a:solidFill>
                <a:latin typeface="times"/>
                <a:ea typeface="+mn-ea"/>
                <a:cs typeface="time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>
              <a:defRPr/>
            </a:pPr>
            <a:r>
              <a:rPr lang="ko-KR" altLang="en-US"/>
              <a:t> 각국의 </a:t>
            </a:r>
            <a:r>
              <a:rPr lang="en-US" altLang="ko-KR"/>
              <a:t>SAR</a:t>
            </a:r>
            <a:endParaRPr lang="en-US" altLang="ko-KR"/>
          </a:p>
          <a:p>
            <a:pPr marL="777150" lvl="2" indent="-285750">
              <a:defRPr/>
            </a:pPr>
            <a:r>
              <a:rPr lang="en-US" altLang="ko-KR"/>
              <a:t>AIRSAR : </a:t>
            </a:r>
            <a:r>
              <a:rPr lang="ko-KR" altLang="en-US"/>
              <a:t>미국 </a:t>
            </a:r>
            <a:r>
              <a:rPr lang="en-US" altLang="ko-KR"/>
              <a:t>NASA</a:t>
            </a:r>
            <a:r>
              <a:rPr lang="ko-KR" altLang="en-US"/>
              <a:t> </a:t>
            </a:r>
            <a:r>
              <a:rPr lang="en-US" altLang="ko-KR"/>
              <a:t>JPL</a:t>
            </a:r>
            <a:endParaRPr lang="en-US" altLang="ko-KR"/>
          </a:p>
          <a:p>
            <a:pPr marL="777150" lvl="2" indent="-285750">
              <a:defRPr/>
            </a:pPr>
            <a:r>
              <a:rPr lang="en-US" altLang="ko-KR"/>
              <a:t>E-SAR : </a:t>
            </a:r>
            <a:r>
              <a:rPr lang="ko-KR" altLang="en-US"/>
              <a:t>독일 </a:t>
            </a:r>
            <a:r>
              <a:rPr lang="en-US" altLang="ko-KR"/>
              <a:t>DLR</a:t>
            </a:r>
            <a:endParaRPr lang="en-US" altLang="ko-KR"/>
          </a:p>
          <a:p>
            <a:pPr marL="777150" lvl="2" indent="-285750">
              <a:defRPr/>
            </a:pPr>
            <a:r>
              <a:rPr lang="en-US" altLang="ko-KR"/>
              <a:t>PI-SAR</a:t>
            </a:r>
            <a:r>
              <a:rPr lang="ko-KR" altLang="en-US"/>
              <a:t> </a:t>
            </a:r>
            <a:r>
              <a:rPr lang="en-US" altLang="ko-KR"/>
              <a:t>:</a:t>
            </a:r>
            <a:r>
              <a:rPr lang="ko-KR" altLang="en-US"/>
              <a:t> 일본 </a:t>
            </a:r>
            <a:r>
              <a:rPr lang="en-US" altLang="ko-KR"/>
              <a:t>JAXA</a:t>
            </a:r>
            <a:endParaRPr lang="en-US" altLang="ko-KR"/>
          </a:p>
          <a:p>
            <a:pPr marL="777150" lvl="2" indent="-285750">
              <a:defRPr/>
            </a:pPr>
            <a:r>
              <a:rPr lang="en-US" altLang="ko-KR"/>
              <a:t>RAMSES : </a:t>
            </a:r>
            <a:r>
              <a:rPr lang="ko-KR" altLang="en-US"/>
              <a:t>프랑스</a:t>
            </a:r>
            <a:r>
              <a:rPr lang="en-US" altLang="ko-KR"/>
              <a:t> ONERA</a:t>
            </a:r>
            <a:endParaRPr lang="en-US" altLang="ko-KR"/>
          </a:p>
          <a:p>
            <a:pPr marL="777150" lvl="2" indent="-285750">
              <a:defRPr/>
            </a:pPr>
            <a:r>
              <a:rPr lang="en-US" altLang="ko-KR"/>
              <a:t>KOMSAR : </a:t>
            </a:r>
            <a:r>
              <a:rPr lang="ko-KR" altLang="en-US"/>
              <a:t>대한민국 국방과학연구소</a:t>
            </a:r>
            <a:endParaRPr lang="ko-KR" altLang="en-US"/>
          </a:p>
          <a:p>
            <a:pPr marL="777150" lvl="2" indent="-285750">
              <a:defRPr/>
            </a:pPr>
            <a:r>
              <a:rPr lang="en-US" altLang="ko-KR"/>
              <a:t>NEXSAR</a:t>
            </a:r>
            <a:r>
              <a:rPr lang="ko-KR" altLang="en-US"/>
              <a:t> </a:t>
            </a:r>
            <a:r>
              <a:rPr lang="en-US" altLang="ko-KR"/>
              <a:t>:</a:t>
            </a:r>
            <a:r>
              <a:rPr lang="ko-KR" altLang="en-US"/>
              <a:t> 대한민국 </a:t>
            </a:r>
            <a:r>
              <a:rPr lang="en-US" altLang="ko-KR"/>
              <a:t>LIG</a:t>
            </a:r>
            <a:r>
              <a:rPr lang="ko-KR" altLang="en-US"/>
              <a:t>넥스원</a:t>
            </a:r>
            <a:endParaRPr lang="ko-KR" altLang="en-US"/>
          </a:p>
          <a:p>
            <a:pPr marL="777150" lvl="2" indent="-285750">
              <a:defRPr/>
            </a:pPr>
            <a:r>
              <a:rPr lang="en-US" altLang="ko-KR"/>
              <a:t>EL/M-2055</a:t>
            </a:r>
            <a:r>
              <a:rPr lang="ko-KR" altLang="en-US"/>
              <a:t> </a:t>
            </a:r>
            <a:r>
              <a:rPr lang="en-US" altLang="ko-KR"/>
              <a:t>:</a:t>
            </a:r>
            <a:r>
              <a:rPr lang="ko-KR" altLang="en-US"/>
              <a:t> 이스라엘 </a:t>
            </a:r>
            <a:r>
              <a:rPr lang="en-US" altLang="ko-KR"/>
              <a:t>IAI</a:t>
            </a:r>
            <a:r>
              <a:rPr lang="ko-KR" altLang="en-US"/>
              <a:t>사</a:t>
            </a:r>
            <a:endParaRPr lang="ko-KR" altLang="en-US"/>
          </a:p>
          <a:p>
            <a:pPr marL="777150" lvl="2" indent="-285750">
              <a:defRPr/>
            </a:pPr>
            <a:r>
              <a:rPr lang="en-US" altLang="ko-KR"/>
              <a:t>KPU-STC</a:t>
            </a:r>
            <a:r>
              <a:rPr lang="ko-KR" altLang="en-US"/>
              <a:t> </a:t>
            </a:r>
            <a:r>
              <a:rPr lang="en-US" altLang="ko-KR"/>
              <a:t>:</a:t>
            </a:r>
            <a:r>
              <a:rPr lang="ko-KR" altLang="en-US"/>
              <a:t> 대한민국 한국산업기술대학</a:t>
            </a:r>
            <a:endParaRPr lang="ko-KR" altLang="en-US"/>
          </a:p>
          <a:p>
            <a:pPr marL="777150" lvl="2" indent="-285750">
              <a:defRPr/>
            </a:pPr>
            <a:endParaRPr lang="en-US" altLang="ko-KR"/>
          </a:p>
          <a:p>
            <a:pPr marL="216000" lvl="1" indent="0">
              <a:buNone/>
              <a:defRPr/>
            </a:pPr>
            <a:endParaRPr lang="ko-KR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9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397DD3AE-C24E-49FC-B527-05061A0348E6}" type="slidenum">
              <a:rPr lang="en-US" altLang="en-US"/>
              <a:pPr lvl="0">
                <a:defRPr/>
              </a:pPr>
              <a:t>8</a:t>
            </a:fld>
            <a:endParaRPr lang="en-US" altLang="en-US"/>
          </a:p>
        </p:txBody>
      </p:sp>
      <p:sp>
        <p:nvSpPr>
          <p:cNvPr id="4" name="제목 3"/>
          <p:cNvSpPr>
            <a:spLocks noGrp="1"/>
          </p:cNvSpPr>
          <p:nvPr>
            <p:ph type="title" idx="0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>위성군 궤도설계 및 전개 선행 연구 조사</a:t>
            </a:r>
            <a:endParaRPr lang="ko-KR" altLang="en-US"/>
          </a:p>
        </p:txBody>
      </p:sp>
      <p:sp>
        <p:nvSpPr>
          <p:cNvPr id="10" name="내용 개체 틀 2"/>
          <p:cNvSpPr txBox="1"/>
          <p:nvPr/>
        </p:nvSpPr>
        <p:spPr>
          <a:xfrm>
            <a:off x="257081" y="1050263"/>
            <a:ext cx="8629838" cy="5376968"/>
          </a:xfrm>
          <a:prstGeom prst="rect">
            <a:avLst/>
          </a:prstGeom>
        </p:spPr>
        <p:txBody>
          <a:bodyPr vert="horz" lIns="91440" tIns="45720" rIns="91440" bIns="45720">
            <a:noAutofit/>
          </a:bodyPr>
          <a:lstStyle>
            <a:lvl1pPr marL="228600" indent="-360000" algn="l" defTabSz="914400" rtl="0" eaLnBrk="1" latinLnBrk="1" hangingPunct="1">
              <a:lnSpc>
                <a:spcPct val="100000"/>
              </a:lnSpc>
              <a:spcBef>
                <a:spcPts val="1000"/>
              </a:spcBef>
              <a:buFont typeface="Wingdings"/>
              <a:buChar char="v"/>
              <a:defRPr sz="2400" b="1" kern="1200">
                <a:solidFill>
                  <a:schemeClr val="tx1"/>
                </a:solidFill>
                <a:latin typeface="times"/>
                <a:ea typeface="+mn-ea"/>
                <a:cs typeface="times"/>
              </a:defRPr>
            </a:lvl1pPr>
            <a:lvl2pPr marL="540000" indent="-324000" algn="l" defTabSz="914400" rtl="0" eaLnBrk="1" latinLnBrk="1" hangingPunct="1">
              <a:lnSpc>
                <a:spcPct val="100000"/>
              </a:lnSpc>
              <a:spcBef>
                <a:spcPts val="500"/>
              </a:spcBef>
              <a:buFont typeface="Wingdings"/>
              <a:buChar char="u"/>
              <a:defRPr sz="1800" b="0" kern="1200">
                <a:solidFill>
                  <a:schemeClr val="tx1"/>
                </a:solidFill>
                <a:latin typeface="times"/>
                <a:ea typeface="+mn-ea"/>
                <a:cs typeface="times"/>
              </a:defRPr>
            </a:lvl2pPr>
            <a:lvl3pPr marL="720000" indent="-288000" algn="l" defTabSz="914400" rtl="0" eaLnBrk="1" latinLnBrk="1" hangingPunct="1">
              <a:lnSpc>
                <a:spcPct val="100000"/>
              </a:lnSpc>
              <a:spcBef>
                <a:spcPts val="500"/>
              </a:spcBef>
              <a:buFont typeface="Wingdings"/>
              <a:buChar char="Ø"/>
              <a:defRPr sz="1600" kern="1200">
                <a:solidFill>
                  <a:schemeClr val="tx1"/>
                </a:solidFill>
                <a:latin typeface="times"/>
                <a:ea typeface="+mn-ea"/>
                <a:cs typeface="times"/>
              </a:defRPr>
            </a:lvl3pPr>
            <a:lvl4pPr marL="900000" indent="-252000" algn="l" defTabSz="914400" rtl="0" eaLnBrk="1" latinLnBrk="1" hangingPunct="1">
              <a:lnSpc>
                <a:spcPct val="100000"/>
              </a:lnSpc>
              <a:spcBef>
                <a:spcPts val="500"/>
              </a:spcBef>
              <a:buFont typeface="Wingdings"/>
              <a:buChar char="ü"/>
              <a:defRPr sz="1400" kern="1200">
                <a:solidFill>
                  <a:schemeClr val="tx1"/>
                </a:solidFill>
                <a:latin typeface="times"/>
                <a:ea typeface="+mn-ea"/>
                <a:cs typeface="times"/>
              </a:defRPr>
            </a:lvl4pPr>
            <a:lvl5pPr marL="1080000" indent="-252000" algn="l" defTabSz="914400" rtl="0" eaLnBrk="1" latinLnBrk="1" hangingPunct="1">
              <a:lnSpc>
                <a:spcPct val="100000"/>
              </a:lnSpc>
              <a:spcBef>
                <a:spcPts val="500"/>
              </a:spcBef>
              <a:buFont typeface="Arial"/>
              <a:buChar char="•"/>
              <a:defRPr sz="1400" kern="1200">
                <a:solidFill>
                  <a:schemeClr val="tx1"/>
                </a:solidFill>
                <a:latin typeface="times"/>
                <a:ea typeface="+mn-ea"/>
                <a:cs typeface="time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>
              <a:defRPr/>
            </a:pPr>
            <a:r>
              <a:rPr lang="en-US" altLang="ko-KR"/>
              <a:t>EO(Electro-Optics)</a:t>
            </a:r>
            <a:endParaRPr lang="en-US" altLang="ko-KR"/>
          </a:p>
          <a:p>
            <a:pPr lvl="1">
              <a:defRPr/>
            </a:pPr>
            <a:r>
              <a:rPr lang="ko-KR" altLang="en-US"/>
              <a:t>원리</a:t>
            </a:r>
            <a:endParaRPr lang="ko-KR" altLang="en-US"/>
          </a:p>
          <a:p>
            <a:pPr marL="777150" lvl="2" indent="-285750">
              <a:defRPr/>
            </a:pPr>
            <a:r>
              <a:rPr lang="ko-KR" altLang="en-US"/>
              <a:t>허공에 전자기파를 쏘아서 물체에 부딪혀 돌아오는 반사파를 측정해 탐지</a:t>
            </a:r>
            <a:endParaRPr lang="ko-KR" altLang="en-US"/>
          </a:p>
          <a:p>
            <a:pPr marL="777150" lvl="2" indent="-285750">
              <a:defRPr/>
            </a:pPr>
            <a:r>
              <a:rPr lang="ko-KR" altLang="en-US"/>
              <a:t>디지털카메라와 유사한 원리</a:t>
            </a:r>
            <a:endParaRPr lang="ko-KR" altLang="en-US"/>
          </a:p>
          <a:p>
            <a:pPr marL="491400" lvl="2" indent="0">
              <a:buNone/>
              <a:defRPr/>
            </a:pPr>
            <a:endParaRPr lang="ko-KR" altLang="en-US"/>
          </a:p>
          <a:p>
            <a:pPr lvl="1">
              <a:defRPr/>
            </a:pPr>
            <a:r>
              <a:rPr lang="ko-KR" altLang="en-US"/>
              <a:t>특징</a:t>
            </a:r>
            <a:endParaRPr lang="ko-KR" altLang="en-US"/>
          </a:p>
          <a:p>
            <a:pPr marL="777150" lvl="2" indent="-285750">
              <a:defRPr/>
            </a:pPr>
            <a:r>
              <a:rPr lang="ko-KR" altLang="en-US"/>
              <a:t>적외선 이상의 전파를 사용하는 레이더와는 달리 </a:t>
            </a:r>
            <a:r>
              <a:rPr lang="ko-KR" altLang="en-US" u="sng"/>
              <a:t>근적외선 및 가시광선을 사용</a:t>
            </a:r>
            <a:endParaRPr lang="ko-KR" altLang="en-US" u="sng"/>
          </a:p>
          <a:p>
            <a:pPr marL="777150" lvl="2" indent="-285750">
              <a:defRPr/>
            </a:pPr>
            <a:r>
              <a:rPr lang="ko-KR" altLang="en-US"/>
              <a:t>센서의 해상도의 향상과 이에 따른 센서의 부피 및 무게를 해결하는 것이 기술적으로 난이도가 높음</a:t>
            </a:r>
            <a:endParaRPr lang="ko-KR" altLang="en-US"/>
          </a:p>
          <a:p>
            <a:pPr marL="777150" lvl="2" indent="-285750">
              <a:defRPr/>
            </a:pPr>
            <a:r>
              <a:rPr lang="ko-KR" altLang="en-US"/>
              <a:t>따라서 </a:t>
            </a:r>
            <a:r>
              <a:rPr lang="en-US" altLang="ko-KR"/>
              <a:t>2</a:t>
            </a:r>
            <a:r>
              <a:rPr lang="ko-KR" altLang="en-US"/>
              <a:t>차 세계대전 때부터 사용된 레이더보다 시기가 늦은 </a:t>
            </a:r>
            <a:r>
              <a:rPr lang="en-US" altLang="ko-KR" u="sng"/>
              <a:t>1980</a:t>
            </a:r>
            <a:r>
              <a:rPr lang="ko-KR" altLang="en-US" u="sng"/>
              <a:t>년대 이후부터 사용</a:t>
            </a:r>
            <a:endParaRPr lang="ko-KR" altLang="en-US" u="sng"/>
          </a:p>
          <a:p>
            <a:pPr marL="777150" lvl="2" indent="-285750">
              <a:defRPr/>
            </a:pPr>
            <a:r>
              <a:rPr lang="en-US" altLang="ko-KR"/>
              <a:t>1990</a:t>
            </a:r>
            <a:r>
              <a:rPr lang="ko-KR" altLang="en-US"/>
              <a:t>년대 이후 전자광학 기술 및 해상도 처리하는 기술력이 발전함에 따라 발달</a:t>
            </a:r>
            <a:endParaRPr lang="ko-KR" altLang="en-US"/>
          </a:p>
          <a:p>
            <a:pPr marL="777150" lvl="2" indent="-285750">
              <a:defRPr/>
            </a:pPr>
            <a:r>
              <a:rPr lang="ko-KR" altLang="en-US"/>
              <a:t>각종 무인기에 장착해 군사 정찰용 및 기상 관측의 용도로 사용</a:t>
            </a:r>
            <a:endParaRPr lang="ko-KR" altLang="en-US"/>
          </a:p>
          <a:p>
            <a:pPr marL="777150" lvl="2" indent="-285750">
              <a:defRPr/>
            </a:pPr>
            <a:endParaRPr lang="ko-KR" altLang="en-US" u="sng"/>
          </a:p>
          <a:p>
            <a:pPr lvl="1">
              <a:defRPr/>
            </a:pPr>
            <a:r>
              <a:rPr lang="ko-KR" altLang="en-US"/>
              <a:t> 장점</a:t>
            </a:r>
            <a:endParaRPr lang="ko-KR" altLang="en-US"/>
          </a:p>
          <a:p>
            <a:pPr marL="777150" lvl="2" indent="-285750">
              <a:defRPr/>
            </a:pPr>
            <a:r>
              <a:rPr lang="ko-KR" altLang="en-US"/>
              <a:t>가시광선을 이용해 목표의 실제 영상을 실시간으로 관측하는 것이 가능</a:t>
            </a:r>
            <a:endParaRPr lang="ko-KR" altLang="en-US"/>
          </a:p>
          <a:p>
            <a:pPr marL="777150" lvl="2" indent="-285750">
              <a:defRPr/>
            </a:pPr>
            <a:r>
              <a:rPr lang="ko-KR" altLang="en-US"/>
              <a:t>레이더의 부족한 해상도를 보완하는데 큰 도움을 줌</a:t>
            </a:r>
            <a:endParaRPr lang="ko-KR" altLang="en-US"/>
          </a:p>
          <a:p>
            <a:pPr marL="777150" lvl="2" indent="-285750">
              <a:defRPr/>
            </a:pPr>
            <a:endParaRPr lang="ko-KR" altLang="en-US"/>
          </a:p>
          <a:p>
            <a:pPr marL="777150" lvl="2" indent="-285750">
              <a:defRPr/>
            </a:pPr>
            <a:endParaRPr lang="ko-KR" altLang="en-US"/>
          </a:p>
          <a:p>
            <a:pPr marL="216000" lvl="1" indent="0">
              <a:buNone/>
              <a:defRPr/>
            </a:pPr>
            <a:endParaRPr lang="en-US" altLang="ko-KR"/>
          </a:p>
          <a:p>
            <a:pPr marL="777150" lvl="2" indent="-285750">
              <a:defRPr/>
            </a:pPr>
            <a:endParaRPr lang="ko-KR" altLang="en-US" sz="1800"/>
          </a:p>
          <a:p>
            <a:pPr marL="491400" lvl="2" indent="0">
              <a:buNone/>
              <a:defRPr/>
            </a:pPr>
            <a:endParaRPr lang="ko-KR" altLang="en-US" sz="180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10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397DD3AE-C24E-49FC-B527-05061A0348E6}" type="slidenum">
              <a:rPr lang="en-US" altLang="en-US"/>
              <a:pPr lvl="0">
                <a:defRPr/>
              </a:pPr>
              <a:t>9</a:t>
            </a:fld>
            <a:endParaRPr lang="en-US" altLang="en-US"/>
          </a:p>
        </p:txBody>
      </p:sp>
      <p:sp>
        <p:nvSpPr>
          <p:cNvPr id="4" name="제목 3"/>
          <p:cNvSpPr>
            <a:spLocks noGrp="1"/>
          </p:cNvSpPr>
          <p:nvPr>
            <p:ph type="title" idx="0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>위성군 궤도설계 및 전개 선행 연구 조사</a:t>
            </a:r>
            <a:endParaRPr lang="ko-KR" altLang="en-US"/>
          </a:p>
        </p:txBody>
      </p:sp>
      <p:sp>
        <p:nvSpPr>
          <p:cNvPr id="10" name="내용 개체 틀 2"/>
          <p:cNvSpPr txBox="1"/>
          <p:nvPr/>
        </p:nvSpPr>
        <p:spPr>
          <a:xfrm>
            <a:off x="257081" y="1050263"/>
            <a:ext cx="8629838" cy="5376968"/>
          </a:xfrm>
          <a:prstGeom prst="rect">
            <a:avLst/>
          </a:prstGeom>
        </p:spPr>
        <p:txBody>
          <a:bodyPr vert="horz" lIns="91440" tIns="45720" rIns="91440" bIns="45720">
            <a:noAutofit/>
          </a:bodyPr>
          <a:lstStyle>
            <a:lvl1pPr marL="228600" indent="-360000" algn="l" defTabSz="914400" rtl="0" eaLnBrk="1" latinLnBrk="1" hangingPunct="1">
              <a:lnSpc>
                <a:spcPct val="100000"/>
              </a:lnSpc>
              <a:spcBef>
                <a:spcPts val="1000"/>
              </a:spcBef>
              <a:buFont typeface="Wingdings"/>
              <a:buChar char="v"/>
              <a:defRPr sz="2400" b="1" kern="1200">
                <a:solidFill>
                  <a:schemeClr val="tx1"/>
                </a:solidFill>
                <a:latin typeface="times"/>
                <a:ea typeface="+mn-ea"/>
                <a:cs typeface="times"/>
              </a:defRPr>
            </a:lvl1pPr>
            <a:lvl2pPr marL="540000" indent="-324000" algn="l" defTabSz="914400" rtl="0" eaLnBrk="1" latinLnBrk="1" hangingPunct="1">
              <a:lnSpc>
                <a:spcPct val="100000"/>
              </a:lnSpc>
              <a:spcBef>
                <a:spcPts val="500"/>
              </a:spcBef>
              <a:buFont typeface="Wingdings"/>
              <a:buChar char="u"/>
              <a:defRPr sz="1800" b="0" kern="1200">
                <a:solidFill>
                  <a:schemeClr val="tx1"/>
                </a:solidFill>
                <a:latin typeface="times"/>
                <a:ea typeface="+mn-ea"/>
                <a:cs typeface="times"/>
              </a:defRPr>
            </a:lvl2pPr>
            <a:lvl3pPr marL="720000" indent="-288000" algn="l" defTabSz="914400" rtl="0" eaLnBrk="1" latinLnBrk="1" hangingPunct="1">
              <a:lnSpc>
                <a:spcPct val="100000"/>
              </a:lnSpc>
              <a:spcBef>
                <a:spcPts val="500"/>
              </a:spcBef>
              <a:buFont typeface="Wingdings"/>
              <a:buChar char="Ø"/>
              <a:defRPr sz="1600" kern="1200">
                <a:solidFill>
                  <a:schemeClr val="tx1"/>
                </a:solidFill>
                <a:latin typeface="times"/>
                <a:ea typeface="+mn-ea"/>
                <a:cs typeface="times"/>
              </a:defRPr>
            </a:lvl3pPr>
            <a:lvl4pPr marL="900000" indent="-252000" algn="l" defTabSz="914400" rtl="0" eaLnBrk="1" latinLnBrk="1" hangingPunct="1">
              <a:lnSpc>
                <a:spcPct val="100000"/>
              </a:lnSpc>
              <a:spcBef>
                <a:spcPts val="500"/>
              </a:spcBef>
              <a:buFont typeface="Wingdings"/>
              <a:buChar char="ü"/>
              <a:defRPr sz="1400" kern="1200">
                <a:solidFill>
                  <a:schemeClr val="tx1"/>
                </a:solidFill>
                <a:latin typeface="times"/>
                <a:ea typeface="+mn-ea"/>
                <a:cs typeface="times"/>
              </a:defRPr>
            </a:lvl4pPr>
            <a:lvl5pPr marL="1080000" indent="-252000" algn="l" defTabSz="914400" rtl="0" eaLnBrk="1" latinLnBrk="1" hangingPunct="1">
              <a:lnSpc>
                <a:spcPct val="100000"/>
              </a:lnSpc>
              <a:spcBef>
                <a:spcPts val="500"/>
              </a:spcBef>
              <a:buFont typeface="Arial"/>
              <a:buChar char="•"/>
              <a:defRPr sz="1400" kern="1200">
                <a:solidFill>
                  <a:schemeClr val="tx1"/>
                </a:solidFill>
                <a:latin typeface="times"/>
                <a:ea typeface="+mn-ea"/>
                <a:cs typeface="time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>
              <a:defRPr/>
            </a:pPr>
            <a:r>
              <a:rPr lang="en-US" altLang="ko-KR"/>
              <a:t>EO </a:t>
            </a:r>
            <a:r>
              <a:rPr lang="ko-KR" altLang="en-US"/>
              <a:t>및 </a:t>
            </a:r>
            <a:r>
              <a:rPr lang="en-US" altLang="ko-KR"/>
              <a:t>SAR </a:t>
            </a:r>
            <a:r>
              <a:rPr lang="ko-KR" altLang="en-US"/>
              <a:t>탑재체 비교</a:t>
            </a:r>
            <a:endParaRPr lang="en-US" altLang="ko-KR"/>
          </a:p>
        </p:txBody>
      </p:sp>
      <p:pic>
        <p:nvPicPr>
          <p:cNvPr id="5" name="그림 4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535750" y="1711970"/>
            <a:ext cx="7704801" cy="3358794"/>
          </a:xfrm>
          <a:prstGeom prst="rect">
            <a:avLst/>
          </a:prstGeom>
        </p:spPr>
      </p:pic>
      <p:sp>
        <p:nvSpPr>
          <p:cNvPr id="11" name=""/>
          <p:cNvSpPr txBox="1"/>
          <p:nvPr/>
        </p:nvSpPr>
        <p:spPr>
          <a:xfrm>
            <a:off x="381000" y="5647674"/>
            <a:ext cx="8382000" cy="336548"/>
          </a:xfrm>
          <a:prstGeom prst="rect">
            <a:avLst/>
          </a:prstGeom>
        </p:spPr>
        <p:txBody>
          <a:bodyPr wrap="square">
            <a:spAutoFit/>
          </a:bodyPr>
          <a:p>
            <a:pPr marL="216000" lvl="1" indent="0">
              <a:buFont typeface="Wingdings"/>
              <a:buNone/>
              <a:defRPr/>
            </a:pPr>
            <a:r>
              <a:rPr lang="ko-KR" altLang="en-US" sz="1600" b="1"/>
              <a:t>출처 </a:t>
            </a:r>
            <a:r>
              <a:rPr lang="en-US" altLang="ko-KR" sz="1600" b="1"/>
              <a:t>(</a:t>
            </a:r>
            <a:r>
              <a:rPr lang="ko-KR" altLang="en-US" sz="1600" b="1"/>
              <a:t>초소형 위성군 궤도설계와 궤도유지 방법 연구</a:t>
            </a:r>
            <a:r>
              <a:rPr lang="en-US" altLang="ko-KR" sz="1600" b="1"/>
              <a:t>,</a:t>
            </a:r>
            <a:r>
              <a:rPr lang="ko-KR" altLang="en-US" sz="1600" b="1"/>
              <a:t> </a:t>
            </a:r>
            <a:r>
              <a:rPr lang="en-US" altLang="ko-KR" sz="1600" b="1"/>
              <a:t>2020</a:t>
            </a:r>
            <a:r>
              <a:rPr lang="ko-KR" altLang="en-US" sz="1600" b="1"/>
              <a:t> 황영민</a:t>
            </a:r>
            <a:r>
              <a:rPr lang="en-US" altLang="ko-KR" sz="1600" b="1"/>
              <a:t>)</a:t>
            </a:r>
            <a:endParaRPr lang="en-US" altLang="ko-KR" sz="1600" b="1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11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397DD3AE-C24E-49FC-B527-05061A0348E6}" type="slidenum">
              <a:rPr lang="en-US" altLang="en-US"/>
              <a:pPr lvl="0">
                <a:defRPr/>
              </a:pPr>
              <a:t>10</a:t>
            </a:fld>
            <a:endParaRPr lang="en-US" altLang="en-US"/>
          </a:p>
        </p:txBody>
      </p:sp>
      <p:sp>
        <p:nvSpPr>
          <p:cNvPr id="4" name="제목 3"/>
          <p:cNvSpPr>
            <a:spLocks noGrp="1"/>
          </p:cNvSpPr>
          <p:nvPr>
            <p:ph type="title" idx="0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>위성군 궤도설계 및 전개 선행 연구 조사</a:t>
            </a:r>
            <a:endParaRPr lang="ko-KR" altLang="en-US"/>
          </a:p>
        </p:txBody>
      </p:sp>
      <p:sp>
        <p:nvSpPr>
          <p:cNvPr id="10" name="내용 개체 틀 2"/>
          <p:cNvSpPr txBox="1"/>
          <p:nvPr/>
        </p:nvSpPr>
        <p:spPr>
          <a:xfrm>
            <a:off x="257080" y="1050263"/>
            <a:ext cx="8886919" cy="5376968"/>
          </a:xfrm>
          <a:prstGeom prst="rect">
            <a:avLst/>
          </a:prstGeom>
        </p:spPr>
        <p:txBody>
          <a:bodyPr vert="horz" lIns="91440" tIns="45720" rIns="91440" bIns="45720">
            <a:noAutofit/>
          </a:bodyPr>
          <a:lstStyle>
            <a:lvl1pPr marL="228600" indent="-360000" algn="l" defTabSz="914400" rtl="0" eaLnBrk="1" latinLnBrk="1" hangingPunct="1">
              <a:lnSpc>
                <a:spcPct val="100000"/>
              </a:lnSpc>
              <a:spcBef>
                <a:spcPts val="1000"/>
              </a:spcBef>
              <a:buFont typeface="Wingdings"/>
              <a:buChar char="v"/>
              <a:defRPr sz="2400" b="1" kern="1200">
                <a:solidFill>
                  <a:schemeClr val="tx1"/>
                </a:solidFill>
                <a:latin typeface="times"/>
                <a:ea typeface="+mn-ea"/>
                <a:cs typeface="times"/>
              </a:defRPr>
            </a:lvl1pPr>
            <a:lvl2pPr marL="540000" indent="-324000" algn="l" defTabSz="914400" rtl="0" eaLnBrk="1" latinLnBrk="1" hangingPunct="1">
              <a:lnSpc>
                <a:spcPct val="100000"/>
              </a:lnSpc>
              <a:spcBef>
                <a:spcPts val="500"/>
              </a:spcBef>
              <a:buFont typeface="Wingdings"/>
              <a:buChar char="u"/>
              <a:defRPr sz="1800" b="0" kern="1200">
                <a:solidFill>
                  <a:schemeClr val="tx1"/>
                </a:solidFill>
                <a:latin typeface="times"/>
                <a:ea typeface="+mn-ea"/>
                <a:cs typeface="times"/>
              </a:defRPr>
            </a:lvl2pPr>
            <a:lvl3pPr marL="720000" indent="-288000" algn="l" defTabSz="914400" rtl="0" eaLnBrk="1" latinLnBrk="1" hangingPunct="1">
              <a:lnSpc>
                <a:spcPct val="100000"/>
              </a:lnSpc>
              <a:spcBef>
                <a:spcPts val="500"/>
              </a:spcBef>
              <a:buFont typeface="Wingdings"/>
              <a:buChar char="Ø"/>
              <a:defRPr sz="1600" kern="1200">
                <a:solidFill>
                  <a:schemeClr val="tx1"/>
                </a:solidFill>
                <a:latin typeface="times"/>
                <a:ea typeface="+mn-ea"/>
                <a:cs typeface="times"/>
              </a:defRPr>
            </a:lvl3pPr>
            <a:lvl4pPr marL="900000" indent="-252000" algn="l" defTabSz="914400" rtl="0" eaLnBrk="1" latinLnBrk="1" hangingPunct="1">
              <a:lnSpc>
                <a:spcPct val="100000"/>
              </a:lnSpc>
              <a:spcBef>
                <a:spcPts val="500"/>
              </a:spcBef>
              <a:buFont typeface="Wingdings"/>
              <a:buChar char="ü"/>
              <a:defRPr sz="1400" kern="1200">
                <a:solidFill>
                  <a:schemeClr val="tx1"/>
                </a:solidFill>
                <a:latin typeface="times"/>
                <a:ea typeface="+mn-ea"/>
                <a:cs typeface="times"/>
              </a:defRPr>
            </a:lvl4pPr>
            <a:lvl5pPr marL="1080000" indent="-252000" algn="l" defTabSz="914400" rtl="0" eaLnBrk="1" latinLnBrk="1" hangingPunct="1">
              <a:lnSpc>
                <a:spcPct val="100000"/>
              </a:lnSpc>
              <a:spcBef>
                <a:spcPts val="500"/>
              </a:spcBef>
              <a:buFont typeface="Arial"/>
              <a:buChar char="•"/>
              <a:defRPr sz="1400" kern="1200">
                <a:solidFill>
                  <a:schemeClr val="tx1"/>
                </a:solidFill>
                <a:latin typeface="times"/>
                <a:ea typeface="+mn-ea"/>
                <a:cs typeface="time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>
              <a:defRPr/>
            </a:pPr>
            <a:r>
              <a:rPr lang="en-US" altLang="ko-KR"/>
              <a:t>OptiSAR Constellation</a:t>
            </a:r>
            <a:endParaRPr lang="en-US" altLang="ko-KR"/>
          </a:p>
          <a:p>
            <a:pPr lvl="1">
              <a:defRPr/>
            </a:pPr>
            <a:r>
              <a:rPr lang="ko-KR" altLang="en-US"/>
              <a:t>개발 배경</a:t>
            </a:r>
            <a:endParaRPr lang="ko-KR" altLang="en-US"/>
          </a:p>
          <a:p>
            <a:pPr lvl="2">
              <a:defRPr/>
            </a:pPr>
            <a:r>
              <a:rPr lang="en-US" altLang="ko-KR"/>
              <a:t>EO</a:t>
            </a:r>
            <a:r>
              <a:rPr lang="ko-KR" altLang="en-US"/>
              <a:t>의 사용 가능한 데이터 세트가 제한적임</a:t>
            </a:r>
            <a:endParaRPr lang="ko-KR" altLang="en-US"/>
          </a:p>
          <a:p>
            <a:pPr lvl="3">
              <a:defRPr/>
            </a:pPr>
            <a:r>
              <a:rPr lang="ko-KR" altLang="en-US"/>
              <a:t>대부분 광학 매체 및 고해상도 위성으로 제한되는 경향이 있음</a:t>
            </a:r>
            <a:endParaRPr lang="ko-KR" altLang="en-US"/>
          </a:p>
          <a:p>
            <a:pPr lvl="3">
              <a:defRPr/>
            </a:pPr>
            <a:endParaRPr lang="ko-KR" altLang="en-US"/>
          </a:p>
          <a:p>
            <a:pPr lvl="2">
              <a:defRPr/>
            </a:pPr>
            <a:r>
              <a:rPr lang="ko-KR" altLang="en-US"/>
              <a:t>또한</a:t>
            </a:r>
            <a:r>
              <a:rPr lang="en-US" altLang="ko-KR"/>
              <a:t>,</a:t>
            </a:r>
            <a:r>
              <a:rPr lang="ko-KR" altLang="en-US"/>
              <a:t> </a:t>
            </a:r>
            <a:r>
              <a:rPr lang="en-US" altLang="ko-KR"/>
              <a:t>SAR</a:t>
            </a:r>
            <a:r>
              <a:rPr lang="ko-KR" altLang="en-US"/>
              <a:t> 데이터의 가용성이 제한적임</a:t>
            </a:r>
            <a:endParaRPr lang="ko-KR" altLang="en-US"/>
          </a:p>
          <a:p>
            <a:pPr lvl="3">
              <a:defRPr/>
            </a:pPr>
            <a:r>
              <a:rPr lang="ko-KR" altLang="en-US"/>
              <a:t>데이터를 동시에 캡쳐하는 것이 거의 불가능하며 데이터가 비싸고 접근성이 어렵다</a:t>
            </a:r>
            <a:endParaRPr lang="ko-KR" altLang="en-US"/>
          </a:p>
          <a:p>
            <a:pPr marL="432000" lvl="2" indent="0">
              <a:buNone/>
              <a:defRPr/>
            </a:pPr>
            <a:endParaRPr lang="ko-KR" altLang="en-US"/>
          </a:p>
          <a:p>
            <a:pPr lvl="2">
              <a:defRPr/>
            </a:pPr>
            <a:r>
              <a:rPr lang="en-US" altLang="ko-KR"/>
              <a:t>UrtheCast</a:t>
            </a:r>
            <a:r>
              <a:rPr lang="ko-KR" altLang="en-US"/>
              <a:t>는 위의 단점들을 보완하여 다음과 같은 기능을 할 수 있는 독자적인 </a:t>
            </a:r>
            <a:endParaRPr lang="ko-KR" altLang="en-US"/>
          </a:p>
          <a:p>
            <a:pPr marL="432000" lvl="2" indent="0">
              <a:buNone/>
              <a:defRPr/>
            </a:pPr>
            <a:r>
              <a:rPr lang="ko-KR" altLang="en-US"/>
              <a:t>     위성군을 만들기로 결정함</a:t>
            </a:r>
            <a:endParaRPr lang="ko-KR" altLang="en-US"/>
          </a:p>
          <a:p>
            <a:pPr lvl="3">
              <a:defRPr/>
            </a:pPr>
            <a:r>
              <a:rPr lang="ko-KR" altLang="en-US"/>
              <a:t>고품질 광학 및 </a:t>
            </a:r>
            <a:r>
              <a:rPr lang="en-US" altLang="ko-KR"/>
              <a:t>SAR</a:t>
            </a:r>
            <a:r>
              <a:rPr lang="ko-KR" altLang="en-US"/>
              <a:t>데이터 세트를 제공</a:t>
            </a:r>
            <a:endParaRPr lang="ko-KR" altLang="en-US"/>
          </a:p>
          <a:p>
            <a:pPr lvl="3">
              <a:defRPr/>
            </a:pPr>
            <a:r>
              <a:rPr lang="ko-KR" altLang="en-US"/>
              <a:t>시간 데이터도 동시에 캡처 가능</a:t>
            </a:r>
            <a:endParaRPr lang="ko-KR" altLang="en-US"/>
          </a:p>
          <a:p>
            <a:pPr lvl="3">
              <a:defRPr/>
            </a:pPr>
            <a:r>
              <a:rPr lang="ko-KR" altLang="en-US"/>
              <a:t>이를 위해 서로 다른 위성으로 센서를 분할하는 방법을 고안</a:t>
            </a:r>
            <a:endParaRPr lang="ko-KR" altLang="en-US"/>
          </a:p>
          <a:p>
            <a:pPr lvl="3">
              <a:defRPr/>
            </a:pPr>
            <a:r>
              <a:rPr lang="ko-KR" altLang="en-US"/>
              <a:t>이 방법으로 위성군 전체에 용량을 분산하여 단점들을 해결할 수 있음 </a:t>
            </a:r>
            <a:endParaRPr lang="ko-KR" altLang="en-US"/>
          </a:p>
          <a:p>
            <a:pPr marL="648000" lvl="3" indent="0">
              <a:buNone/>
              <a:defRPr/>
            </a:pPr>
            <a:endParaRPr lang="ko-KR" altLang="en-US"/>
          </a:p>
          <a:p>
            <a:pPr lvl="2">
              <a:defRPr/>
            </a:pPr>
            <a:endParaRPr lang="ko-KR" altLang="en-US"/>
          </a:p>
          <a:p>
            <a:pPr marL="957150" lvl="3" indent="-285750">
              <a:defRPr/>
            </a:pPr>
            <a:endParaRPr lang="en-US" altLang="ko-KR"/>
          </a:p>
          <a:p>
            <a:pPr marL="957150" lvl="3" indent="-285750">
              <a:defRPr/>
            </a:pPr>
            <a:endParaRPr lang="en-US" altLang="ko-KR"/>
          </a:p>
          <a:p>
            <a:pPr lvl="1">
              <a:defRPr/>
            </a:pPr>
            <a:endParaRPr lang="en-US" altLang="ko-KR"/>
          </a:p>
          <a:p>
            <a:pPr marL="216000" lvl="1" indent="0">
              <a:buNone/>
              <a:defRPr/>
            </a:pPr>
            <a:endParaRPr lang="en-US" altLang="ko-KR"/>
          </a:p>
          <a:p>
            <a:pPr marL="216000" lvl="1" indent="0">
              <a:buNone/>
              <a:defRPr/>
            </a:pPr>
            <a:endParaRPr lang="en-US" altLang="ko-KR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12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397DD3AE-C24E-49FC-B527-05061A0348E6}" type="slidenum">
              <a:rPr lang="en-US" altLang="en-US"/>
              <a:pPr lvl="0">
                <a:defRPr/>
              </a:pPr>
              <a:t>11</a:t>
            </a:fld>
            <a:endParaRPr lang="en-US" altLang="en-US"/>
          </a:p>
        </p:txBody>
      </p:sp>
      <p:sp>
        <p:nvSpPr>
          <p:cNvPr id="4" name="제목 3"/>
          <p:cNvSpPr>
            <a:spLocks noGrp="1"/>
          </p:cNvSpPr>
          <p:nvPr>
            <p:ph type="title" idx="0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>위성군 궤도설계 및 전개 선행 연구 조사</a:t>
            </a:r>
            <a:endParaRPr lang="ko-KR" altLang="en-US"/>
          </a:p>
        </p:txBody>
      </p:sp>
      <p:sp>
        <p:nvSpPr>
          <p:cNvPr id="10" name="내용 개체 틀 2"/>
          <p:cNvSpPr txBox="1"/>
          <p:nvPr/>
        </p:nvSpPr>
        <p:spPr>
          <a:xfrm>
            <a:off x="257080" y="1050263"/>
            <a:ext cx="8886919" cy="5376968"/>
          </a:xfrm>
          <a:prstGeom prst="rect">
            <a:avLst/>
          </a:prstGeom>
        </p:spPr>
        <p:txBody>
          <a:bodyPr vert="horz" lIns="91440" tIns="45720" rIns="91440" bIns="45720">
            <a:noAutofit/>
          </a:bodyPr>
          <a:lstStyle>
            <a:lvl1pPr marL="228600" indent="-360000" algn="l" defTabSz="914400" rtl="0" eaLnBrk="1" latinLnBrk="1" hangingPunct="1">
              <a:lnSpc>
                <a:spcPct val="100000"/>
              </a:lnSpc>
              <a:spcBef>
                <a:spcPts val="1000"/>
              </a:spcBef>
              <a:buFont typeface="Wingdings"/>
              <a:buChar char="v"/>
              <a:defRPr sz="2400" b="1" kern="1200">
                <a:solidFill>
                  <a:schemeClr val="tx1"/>
                </a:solidFill>
                <a:latin typeface="times"/>
                <a:ea typeface="+mn-ea"/>
                <a:cs typeface="times"/>
              </a:defRPr>
            </a:lvl1pPr>
            <a:lvl2pPr marL="540000" indent="-324000" algn="l" defTabSz="914400" rtl="0" eaLnBrk="1" latinLnBrk="1" hangingPunct="1">
              <a:lnSpc>
                <a:spcPct val="100000"/>
              </a:lnSpc>
              <a:spcBef>
                <a:spcPts val="500"/>
              </a:spcBef>
              <a:buFont typeface="Wingdings"/>
              <a:buChar char="u"/>
              <a:defRPr sz="1800" b="0" kern="1200">
                <a:solidFill>
                  <a:schemeClr val="tx1"/>
                </a:solidFill>
                <a:latin typeface="times"/>
                <a:ea typeface="+mn-ea"/>
                <a:cs typeface="times"/>
              </a:defRPr>
            </a:lvl2pPr>
            <a:lvl3pPr marL="720000" indent="-288000" algn="l" defTabSz="914400" rtl="0" eaLnBrk="1" latinLnBrk="1" hangingPunct="1">
              <a:lnSpc>
                <a:spcPct val="100000"/>
              </a:lnSpc>
              <a:spcBef>
                <a:spcPts val="500"/>
              </a:spcBef>
              <a:buFont typeface="Wingdings"/>
              <a:buChar char="Ø"/>
              <a:defRPr sz="1600" kern="1200">
                <a:solidFill>
                  <a:schemeClr val="tx1"/>
                </a:solidFill>
                <a:latin typeface="times"/>
                <a:ea typeface="+mn-ea"/>
                <a:cs typeface="times"/>
              </a:defRPr>
            </a:lvl3pPr>
            <a:lvl4pPr marL="900000" indent="-252000" algn="l" defTabSz="914400" rtl="0" eaLnBrk="1" latinLnBrk="1" hangingPunct="1">
              <a:lnSpc>
                <a:spcPct val="100000"/>
              </a:lnSpc>
              <a:spcBef>
                <a:spcPts val="500"/>
              </a:spcBef>
              <a:buFont typeface="Wingdings"/>
              <a:buChar char="ü"/>
              <a:defRPr sz="1400" kern="1200">
                <a:solidFill>
                  <a:schemeClr val="tx1"/>
                </a:solidFill>
                <a:latin typeface="times"/>
                <a:ea typeface="+mn-ea"/>
                <a:cs typeface="times"/>
              </a:defRPr>
            </a:lvl4pPr>
            <a:lvl5pPr marL="1080000" indent="-252000" algn="l" defTabSz="914400" rtl="0" eaLnBrk="1" latinLnBrk="1" hangingPunct="1">
              <a:lnSpc>
                <a:spcPct val="100000"/>
              </a:lnSpc>
              <a:spcBef>
                <a:spcPts val="500"/>
              </a:spcBef>
              <a:buFont typeface="Arial"/>
              <a:buChar char="•"/>
              <a:defRPr sz="1400" kern="1200">
                <a:solidFill>
                  <a:schemeClr val="tx1"/>
                </a:solidFill>
                <a:latin typeface="times"/>
                <a:ea typeface="+mn-ea"/>
                <a:cs typeface="time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>
              <a:defRPr/>
            </a:pPr>
            <a:r>
              <a:rPr lang="en-US" altLang="ko-KR"/>
              <a:t>OptiSAR Constellation</a:t>
            </a:r>
            <a:endParaRPr lang="en-US" altLang="ko-KR"/>
          </a:p>
          <a:p>
            <a:pPr lvl="1">
              <a:defRPr/>
            </a:pPr>
            <a:r>
              <a:rPr lang="ko-KR" altLang="en-US"/>
              <a:t> </a:t>
            </a:r>
            <a:r>
              <a:rPr lang="en-US" altLang="ko-KR"/>
              <a:t>OptiSAR</a:t>
            </a:r>
            <a:r>
              <a:rPr lang="ko-KR" altLang="en-US"/>
              <a:t>의 개발</a:t>
            </a:r>
            <a:endParaRPr lang="ko-KR" altLang="en-US"/>
          </a:p>
          <a:p>
            <a:pPr lvl="2">
              <a:defRPr/>
            </a:pPr>
            <a:r>
              <a:rPr lang="ko-KR" altLang="en-US"/>
              <a:t>고도 </a:t>
            </a:r>
            <a:r>
              <a:rPr lang="en-US" altLang="ko-KR"/>
              <a:t>450km</a:t>
            </a:r>
            <a:endParaRPr lang="en-US" altLang="ko-KR"/>
          </a:p>
          <a:p>
            <a:pPr lvl="2">
              <a:defRPr/>
            </a:pPr>
            <a:r>
              <a:rPr lang="en-US" altLang="ko-KR"/>
              <a:t>8</a:t>
            </a:r>
            <a:r>
              <a:rPr lang="ko-KR" altLang="en-US"/>
              <a:t>쌍의 </a:t>
            </a:r>
            <a:r>
              <a:rPr lang="en-US" altLang="ko-KR"/>
              <a:t>Optical Satellites</a:t>
            </a:r>
            <a:r>
              <a:rPr lang="ko-KR" altLang="en-US"/>
              <a:t>와 </a:t>
            </a:r>
            <a:r>
              <a:rPr lang="en-US" altLang="ko-KR"/>
              <a:t>SAR</a:t>
            </a:r>
            <a:r>
              <a:rPr lang="ko-KR" altLang="en-US"/>
              <a:t>가 포함된 위성군 개발</a:t>
            </a:r>
            <a:endParaRPr lang="ko-KR" altLang="en-US"/>
          </a:p>
          <a:p>
            <a:pPr lvl="2">
              <a:defRPr/>
            </a:pPr>
            <a:r>
              <a:rPr lang="en-US" altLang="ko-KR"/>
              <a:t>2</a:t>
            </a:r>
            <a:r>
              <a:rPr lang="ko-KR" altLang="en-US"/>
              <a:t>개의 궤도 평면에 등간격으로 각각 </a:t>
            </a:r>
            <a:r>
              <a:rPr lang="en-US" altLang="ko-KR"/>
              <a:t>4</a:t>
            </a:r>
            <a:r>
              <a:rPr lang="ko-KR" altLang="en-US"/>
              <a:t>쌍씩 배치 </a:t>
            </a:r>
            <a:endParaRPr lang="ko-KR" altLang="en-US"/>
          </a:p>
          <a:p>
            <a:pPr lvl="2">
              <a:defRPr/>
            </a:pPr>
            <a:r>
              <a:rPr lang="en-US" altLang="ko-KR"/>
              <a:t>SAR(</a:t>
            </a:r>
            <a:r>
              <a:rPr lang="ko-KR" altLang="en-US"/>
              <a:t>탑재체에 </a:t>
            </a:r>
            <a:r>
              <a:rPr lang="en-US" altLang="ko-KR"/>
              <a:t>XL</a:t>
            </a:r>
            <a:r>
              <a:rPr lang="ko-KR" altLang="en-US"/>
              <a:t> 기술이 사용됨</a:t>
            </a:r>
            <a:r>
              <a:rPr lang="en-US" altLang="ko-KR"/>
              <a:t>)</a:t>
            </a:r>
            <a:r>
              <a:rPr lang="ko-KR" altLang="en-US"/>
              <a:t> </a:t>
            </a:r>
            <a:r>
              <a:rPr lang="en-US" altLang="ko-KR"/>
              <a:t>-&gt;</a:t>
            </a:r>
            <a:r>
              <a:rPr lang="ko-KR" altLang="en-US"/>
              <a:t> </a:t>
            </a:r>
            <a:r>
              <a:rPr lang="en-US" altLang="ko-KR"/>
              <a:t>2</a:t>
            </a:r>
            <a:r>
              <a:rPr lang="ko-KR" altLang="en-US"/>
              <a:t>분 후 </a:t>
            </a:r>
            <a:r>
              <a:rPr lang="en-US" altLang="ko-KR"/>
              <a:t>-&gt;</a:t>
            </a:r>
            <a:r>
              <a:rPr lang="ko-KR" altLang="en-US"/>
              <a:t> </a:t>
            </a:r>
            <a:r>
              <a:rPr lang="en-US" altLang="ko-KR"/>
              <a:t>Optical satellite</a:t>
            </a:r>
            <a:endParaRPr lang="en-US" altLang="ko-KR"/>
          </a:p>
        </p:txBody>
      </p:sp>
      <p:pic>
        <p:nvPicPr>
          <p:cNvPr id="11" name="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2722049" y="2995241"/>
            <a:ext cx="4042472" cy="317576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13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397DD3AE-C24E-49FC-B527-05061A0348E6}" type="slidenum">
              <a:rPr lang="en-US" altLang="en-US"/>
              <a:pPr lvl="0">
                <a:defRPr/>
              </a:pPr>
              <a:t>12</a:t>
            </a:fld>
            <a:endParaRPr lang="en-US" altLang="en-US"/>
          </a:p>
        </p:txBody>
      </p:sp>
      <p:sp>
        <p:nvSpPr>
          <p:cNvPr id="4" name="제목 3"/>
          <p:cNvSpPr>
            <a:spLocks noGrp="1"/>
          </p:cNvSpPr>
          <p:nvPr>
            <p:ph type="title" idx="0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>위성군 궤도설계 및 전개 선행 연구 조사</a:t>
            </a:r>
            <a:endParaRPr lang="ko-KR" altLang="en-US"/>
          </a:p>
        </p:txBody>
      </p:sp>
      <p:sp>
        <p:nvSpPr>
          <p:cNvPr id="10" name="내용 개체 틀 2"/>
          <p:cNvSpPr txBox="1"/>
          <p:nvPr/>
        </p:nvSpPr>
        <p:spPr>
          <a:xfrm>
            <a:off x="257080" y="1050263"/>
            <a:ext cx="8886919" cy="5376968"/>
          </a:xfrm>
          <a:prstGeom prst="rect">
            <a:avLst/>
          </a:prstGeom>
        </p:spPr>
        <p:txBody>
          <a:bodyPr vert="horz" lIns="91440" tIns="45720" rIns="91440" bIns="45720">
            <a:noAutofit/>
          </a:bodyPr>
          <a:lstStyle>
            <a:lvl1pPr marL="228600" indent="-360000" algn="l" defTabSz="914400" rtl="0" eaLnBrk="1" latinLnBrk="1" hangingPunct="1">
              <a:lnSpc>
                <a:spcPct val="100000"/>
              </a:lnSpc>
              <a:spcBef>
                <a:spcPts val="1000"/>
              </a:spcBef>
              <a:buFont typeface="Wingdings"/>
              <a:buChar char="v"/>
              <a:defRPr sz="2400" b="1" kern="1200">
                <a:solidFill>
                  <a:schemeClr val="tx1"/>
                </a:solidFill>
                <a:latin typeface="times"/>
                <a:ea typeface="+mn-ea"/>
                <a:cs typeface="times"/>
              </a:defRPr>
            </a:lvl1pPr>
            <a:lvl2pPr marL="540000" indent="-324000" algn="l" defTabSz="914400" rtl="0" eaLnBrk="1" latinLnBrk="1" hangingPunct="1">
              <a:lnSpc>
                <a:spcPct val="100000"/>
              </a:lnSpc>
              <a:spcBef>
                <a:spcPts val="500"/>
              </a:spcBef>
              <a:buFont typeface="Wingdings"/>
              <a:buChar char="u"/>
              <a:defRPr sz="1800" b="0" kern="1200">
                <a:solidFill>
                  <a:schemeClr val="tx1"/>
                </a:solidFill>
                <a:latin typeface="times"/>
                <a:ea typeface="+mn-ea"/>
                <a:cs typeface="times"/>
              </a:defRPr>
            </a:lvl2pPr>
            <a:lvl3pPr marL="720000" indent="-288000" algn="l" defTabSz="914400" rtl="0" eaLnBrk="1" latinLnBrk="1" hangingPunct="1">
              <a:lnSpc>
                <a:spcPct val="100000"/>
              </a:lnSpc>
              <a:spcBef>
                <a:spcPts val="500"/>
              </a:spcBef>
              <a:buFont typeface="Wingdings"/>
              <a:buChar char="Ø"/>
              <a:defRPr sz="1600" kern="1200">
                <a:solidFill>
                  <a:schemeClr val="tx1"/>
                </a:solidFill>
                <a:latin typeface="times"/>
                <a:ea typeface="+mn-ea"/>
                <a:cs typeface="times"/>
              </a:defRPr>
            </a:lvl3pPr>
            <a:lvl4pPr marL="900000" indent="-252000" algn="l" defTabSz="914400" rtl="0" eaLnBrk="1" latinLnBrk="1" hangingPunct="1">
              <a:lnSpc>
                <a:spcPct val="100000"/>
              </a:lnSpc>
              <a:spcBef>
                <a:spcPts val="500"/>
              </a:spcBef>
              <a:buFont typeface="Wingdings"/>
              <a:buChar char="ü"/>
              <a:defRPr sz="1400" kern="1200">
                <a:solidFill>
                  <a:schemeClr val="tx1"/>
                </a:solidFill>
                <a:latin typeface="times"/>
                <a:ea typeface="+mn-ea"/>
                <a:cs typeface="times"/>
              </a:defRPr>
            </a:lvl4pPr>
            <a:lvl5pPr marL="1080000" indent="-252000" algn="l" defTabSz="914400" rtl="0" eaLnBrk="1" latinLnBrk="1" hangingPunct="1">
              <a:lnSpc>
                <a:spcPct val="100000"/>
              </a:lnSpc>
              <a:spcBef>
                <a:spcPts val="500"/>
              </a:spcBef>
              <a:buFont typeface="Arial"/>
              <a:buChar char="•"/>
              <a:defRPr sz="1400" kern="1200">
                <a:solidFill>
                  <a:schemeClr val="tx1"/>
                </a:solidFill>
                <a:latin typeface="times"/>
                <a:ea typeface="+mn-ea"/>
                <a:cs typeface="time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>
              <a:defRPr/>
            </a:pPr>
            <a:r>
              <a:rPr lang="en-US" altLang="ko-KR"/>
              <a:t>OptiSAR Constellation</a:t>
            </a:r>
            <a:endParaRPr lang="en-US" altLang="ko-KR"/>
          </a:p>
          <a:p>
            <a:pPr lvl="1">
              <a:defRPr/>
            </a:pPr>
            <a:r>
              <a:rPr lang="ko-KR" altLang="en-US"/>
              <a:t> </a:t>
            </a:r>
            <a:r>
              <a:rPr lang="en-US" altLang="ko-KR"/>
              <a:t>OptiSAR</a:t>
            </a:r>
            <a:r>
              <a:rPr lang="ko-KR" altLang="en-US"/>
              <a:t>의 개발</a:t>
            </a:r>
            <a:endParaRPr lang="ko-KR" altLang="en-US"/>
          </a:p>
          <a:p>
            <a:pPr lvl="2">
              <a:defRPr/>
            </a:pPr>
            <a:r>
              <a:rPr lang="en-US" altLang="ko-KR"/>
              <a:t>Dual - Optical Satellite</a:t>
            </a:r>
            <a:endParaRPr lang="en-US" altLang="ko-KR"/>
          </a:p>
          <a:p>
            <a:pPr lvl="3">
              <a:defRPr/>
            </a:pPr>
            <a:r>
              <a:rPr lang="ko-KR" altLang="en-US"/>
              <a:t>고해상도 </a:t>
            </a:r>
            <a:r>
              <a:rPr lang="en-US" altLang="ko-KR"/>
              <a:t>(0.5GSD)</a:t>
            </a:r>
            <a:r>
              <a:rPr lang="ko-KR" altLang="en-US"/>
              <a:t> 듀얼모드 광학 카메라 </a:t>
            </a:r>
            <a:r>
              <a:rPr lang="en-US" altLang="ko-KR"/>
              <a:t>(</a:t>
            </a:r>
            <a:r>
              <a:rPr lang="en-US" altLang="en-US"/>
              <a:t>multi-spectral pushbroom</a:t>
            </a:r>
            <a:r>
              <a:rPr lang="ko-KR" altLang="en-US"/>
              <a:t> </a:t>
            </a:r>
            <a:r>
              <a:rPr lang="en-US" altLang="ko-KR"/>
              <a:t>+</a:t>
            </a:r>
            <a:r>
              <a:rPr lang="ko-KR" altLang="en-US"/>
              <a:t> </a:t>
            </a:r>
            <a:r>
              <a:rPr lang="en-US" altLang="ko-KR"/>
              <a:t>RGB color video)</a:t>
            </a:r>
            <a:endParaRPr lang="en-US" altLang="ko-KR"/>
          </a:p>
          <a:p>
            <a:pPr lvl="2">
              <a:defRPr/>
            </a:pPr>
            <a:r>
              <a:rPr lang="en-US" altLang="ko-KR"/>
              <a:t>Dual - band</a:t>
            </a:r>
            <a:r>
              <a:rPr lang="ko-KR" altLang="en-US"/>
              <a:t> </a:t>
            </a:r>
            <a:r>
              <a:rPr lang="en-US" altLang="ko-KR"/>
              <a:t>SAR</a:t>
            </a:r>
            <a:endParaRPr lang="en-US" altLang="ko-KR"/>
          </a:p>
          <a:p>
            <a:pPr lvl="3">
              <a:defRPr/>
            </a:pPr>
            <a:r>
              <a:rPr lang="en-US" altLang="ko-KR"/>
              <a:t>SAR-XL </a:t>
            </a:r>
            <a:r>
              <a:rPr lang="ko-KR" altLang="en-US"/>
              <a:t>기술 </a:t>
            </a:r>
            <a:r>
              <a:rPr lang="en-US" altLang="ko-KR"/>
              <a:t>(X-band</a:t>
            </a:r>
            <a:r>
              <a:rPr lang="ko-KR" altLang="en-US"/>
              <a:t>와 </a:t>
            </a:r>
            <a:r>
              <a:rPr lang="en-US" altLang="ko-KR"/>
              <a:t>L-band</a:t>
            </a:r>
            <a:r>
              <a:rPr lang="ko-KR" altLang="en-US"/>
              <a:t>의 듀얼밴드</a:t>
            </a:r>
            <a:r>
              <a:rPr lang="en-US" altLang="ko-KR"/>
              <a:t>)</a:t>
            </a:r>
            <a:endParaRPr lang="en-US" altLang="ko-KR"/>
          </a:p>
          <a:p>
            <a:pPr lvl="3">
              <a:defRPr/>
            </a:pPr>
            <a:r>
              <a:rPr lang="ko-KR" altLang="en-US"/>
              <a:t>탑재체 </a:t>
            </a:r>
            <a:r>
              <a:rPr lang="en-US" altLang="ko-KR"/>
              <a:t>:</a:t>
            </a:r>
            <a:r>
              <a:rPr lang="ko-KR" altLang="en-US"/>
              <a:t> </a:t>
            </a:r>
            <a:r>
              <a:rPr lang="en-US" altLang="ko-KR"/>
              <a:t>1m X-band</a:t>
            </a:r>
            <a:r>
              <a:rPr lang="ko-KR" altLang="en-US"/>
              <a:t> </a:t>
            </a:r>
            <a:r>
              <a:rPr lang="en-US" altLang="ko-KR"/>
              <a:t>+</a:t>
            </a:r>
            <a:r>
              <a:rPr lang="ko-KR" altLang="en-US"/>
              <a:t> </a:t>
            </a:r>
            <a:r>
              <a:rPr lang="en-US" altLang="ko-KR"/>
              <a:t>5m</a:t>
            </a:r>
            <a:r>
              <a:rPr lang="ko-KR" altLang="en-US"/>
              <a:t> </a:t>
            </a:r>
            <a:r>
              <a:rPr lang="en-US" altLang="ko-KR"/>
              <a:t>L-band </a:t>
            </a:r>
            <a:endParaRPr lang="en-US" altLang="ko-KR"/>
          </a:p>
          <a:p>
            <a:pPr lvl="4">
              <a:defRPr/>
            </a:pPr>
            <a:endParaRPr lang="en-US" altLang="ko-KR"/>
          </a:p>
        </p:txBody>
      </p:sp>
      <p:pic>
        <p:nvPicPr>
          <p:cNvPr id="13" name="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937944" y="3949723"/>
            <a:ext cx="3142633" cy="2226300"/>
          </a:xfrm>
          <a:prstGeom prst="rect">
            <a:avLst/>
          </a:prstGeom>
        </p:spPr>
      </p:pic>
      <p:pic>
        <p:nvPicPr>
          <p:cNvPr id="14" name="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4610100" y="4005487"/>
            <a:ext cx="3166497" cy="217308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14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397DD3AE-C24E-49FC-B527-05061A0348E6}" type="slidenum">
              <a:rPr lang="en-US" altLang="en-US"/>
              <a:pPr lvl="0">
                <a:defRPr/>
              </a:pPr>
              <a:t>13</a:t>
            </a:fld>
            <a:endParaRPr lang="en-US" altLang="en-US"/>
          </a:p>
        </p:txBody>
      </p:sp>
      <p:sp>
        <p:nvSpPr>
          <p:cNvPr id="4" name="제목 3"/>
          <p:cNvSpPr>
            <a:spLocks noGrp="1"/>
          </p:cNvSpPr>
          <p:nvPr>
            <p:ph type="title" idx="0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>위성군 궤도설계 및 전개 선행 연구 조사</a:t>
            </a:r>
            <a:endParaRPr lang="ko-KR" altLang="en-US"/>
          </a:p>
        </p:txBody>
      </p:sp>
      <p:sp>
        <p:nvSpPr>
          <p:cNvPr id="10" name="내용 개체 틀 2"/>
          <p:cNvSpPr txBox="1"/>
          <p:nvPr/>
        </p:nvSpPr>
        <p:spPr>
          <a:xfrm>
            <a:off x="257080" y="1050263"/>
            <a:ext cx="8886919" cy="5376968"/>
          </a:xfrm>
          <a:prstGeom prst="rect">
            <a:avLst/>
          </a:prstGeom>
        </p:spPr>
        <p:txBody>
          <a:bodyPr vert="horz" lIns="91440" tIns="45720" rIns="91440" bIns="45720">
            <a:noAutofit/>
          </a:bodyPr>
          <a:lstStyle>
            <a:lvl1pPr marL="228600" indent="-360000" algn="l" defTabSz="914400" rtl="0" eaLnBrk="1" latinLnBrk="1" hangingPunct="1">
              <a:lnSpc>
                <a:spcPct val="100000"/>
              </a:lnSpc>
              <a:spcBef>
                <a:spcPts val="1000"/>
              </a:spcBef>
              <a:buFont typeface="Wingdings"/>
              <a:buChar char="v"/>
              <a:defRPr sz="2400" b="1" kern="1200">
                <a:solidFill>
                  <a:schemeClr val="tx1"/>
                </a:solidFill>
                <a:latin typeface="times"/>
                <a:ea typeface="+mn-ea"/>
                <a:cs typeface="times"/>
              </a:defRPr>
            </a:lvl1pPr>
            <a:lvl2pPr marL="540000" indent="-324000" algn="l" defTabSz="914400" rtl="0" eaLnBrk="1" latinLnBrk="1" hangingPunct="1">
              <a:lnSpc>
                <a:spcPct val="100000"/>
              </a:lnSpc>
              <a:spcBef>
                <a:spcPts val="500"/>
              </a:spcBef>
              <a:buFont typeface="Wingdings"/>
              <a:buChar char="u"/>
              <a:defRPr sz="1800" b="0" kern="1200">
                <a:solidFill>
                  <a:schemeClr val="tx1"/>
                </a:solidFill>
                <a:latin typeface="times"/>
                <a:ea typeface="+mn-ea"/>
                <a:cs typeface="times"/>
              </a:defRPr>
            </a:lvl2pPr>
            <a:lvl3pPr marL="720000" indent="-288000" algn="l" defTabSz="914400" rtl="0" eaLnBrk="1" latinLnBrk="1" hangingPunct="1">
              <a:lnSpc>
                <a:spcPct val="100000"/>
              </a:lnSpc>
              <a:spcBef>
                <a:spcPts val="500"/>
              </a:spcBef>
              <a:buFont typeface="Wingdings"/>
              <a:buChar char="Ø"/>
              <a:defRPr sz="1600" kern="1200">
                <a:solidFill>
                  <a:schemeClr val="tx1"/>
                </a:solidFill>
                <a:latin typeface="times"/>
                <a:ea typeface="+mn-ea"/>
                <a:cs typeface="times"/>
              </a:defRPr>
            </a:lvl3pPr>
            <a:lvl4pPr marL="900000" indent="-252000" algn="l" defTabSz="914400" rtl="0" eaLnBrk="1" latinLnBrk="1" hangingPunct="1">
              <a:lnSpc>
                <a:spcPct val="100000"/>
              </a:lnSpc>
              <a:spcBef>
                <a:spcPts val="500"/>
              </a:spcBef>
              <a:buFont typeface="Wingdings"/>
              <a:buChar char="ü"/>
              <a:defRPr sz="1400" kern="1200">
                <a:solidFill>
                  <a:schemeClr val="tx1"/>
                </a:solidFill>
                <a:latin typeface="times"/>
                <a:ea typeface="+mn-ea"/>
                <a:cs typeface="times"/>
              </a:defRPr>
            </a:lvl4pPr>
            <a:lvl5pPr marL="1080000" indent="-252000" algn="l" defTabSz="914400" rtl="0" eaLnBrk="1" latinLnBrk="1" hangingPunct="1">
              <a:lnSpc>
                <a:spcPct val="100000"/>
              </a:lnSpc>
              <a:spcBef>
                <a:spcPts val="500"/>
              </a:spcBef>
              <a:buFont typeface="Arial"/>
              <a:buChar char="•"/>
              <a:defRPr sz="1400" kern="1200">
                <a:solidFill>
                  <a:schemeClr val="tx1"/>
                </a:solidFill>
                <a:latin typeface="times"/>
                <a:ea typeface="+mn-ea"/>
                <a:cs typeface="time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>
              <a:defRPr/>
            </a:pPr>
            <a:r>
              <a:rPr lang="en-US" altLang="ko-KR"/>
              <a:t>OptiSAR Constellation</a:t>
            </a:r>
            <a:endParaRPr lang="en-US" altLang="ko-KR"/>
          </a:p>
          <a:p>
            <a:pPr lvl="1">
              <a:defRPr/>
            </a:pPr>
            <a:r>
              <a:rPr lang="ko-KR" altLang="en-US"/>
              <a:t> </a:t>
            </a:r>
            <a:r>
              <a:rPr lang="en-US" altLang="ko-KR"/>
              <a:t>OptiSAR</a:t>
            </a:r>
            <a:r>
              <a:rPr lang="ko-KR" altLang="en-US"/>
              <a:t>의 개발</a:t>
            </a:r>
            <a:endParaRPr lang="ko-KR" altLang="en-US"/>
          </a:p>
          <a:p>
            <a:pPr lvl="2">
              <a:defRPr/>
            </a:pPr>
            <a:r>
              <a:rPr lang="ko-KR" altLang="en-US"/>
              <a:t>궤도 </a:t>
            </a:r>
            <a:r>
              <a:rPr lang="en-US" altLang="ko-KR"/>
              <a:t>:</a:t>
            </a:r>
            <a:r>
              <a:rPr lang="ko-KR" altLang="en-US"/>
              <a:t> 태양동기궤도</a:t>
            </a:r>
            <a:r>
              <a:rPr lang="en-US" altLang="ko-KR"/>
              <a:t>(SSO)</a:t>
            </a:r>
            <a:r>
              <a:rPr lang="ko-KR" altLang="en-US"/>
              <a:t>와</a:t>
            </a:r>
            <a:r>
              <a:rPr lang="en-US" altLang="ko-KR"/>
              <a:t> Mid-inclination-Orbit(MIO)</a:t>
            </a:r>
            <a:endParaRPr lang="en-US" altLang="ko-KR"/>
          </a:p>
          <a:p>
            <a:pPr lvl="3">
              <a:defRPr/>
            </a:pPr>
            <a:r>
              <a:rPr lang="en-US" altLang="ko-KR"/>
              <a:t>SSO : </a:t>
            </a:r>
            <a:r>
              <a:rPr lang="ko-KR" altLang="en-US"/>
              <a:t> </a:t>
            </a:r>
            <a:r>
              <a:rPr lang="en-US" altLang="ko-KR"/>
              <a:t>10:30 A.M.</a:t>
            </a:r>
            <a:r>
              <a:rPr lang="ko-KR" altLang="en-US"/>
              <a:t>에 적도를 지난다 </a:t>
            </a:r>
            <a:r>
              <a:rPr lang="en-US" altLang="ko-KR"/>
              <a:t>(LTAN 10:30)</a:t>
            </a:r>
            <a:endParaRPr lang="en-US" altLang="ko-KR"/>
          </a:p>
          <a:p>
            <a:pPr lvl="3">
              <a:defRPr/>
            </a:pPr>
            <a:r>
              <a:rPr lang="en-US" altLang="ko-KR"/>
              <a:t>MIO : </a:t>
            </a:r>
            <a:r>
              <a:rPr lang="ko-KR" altLang="en-US"/>
              <a:t>최대 </a:t>
            </a:r>
            <a:r>
              <a:rPr lang="en-US" altLang="ko-KR"/>
              <a:t>45</a:t>
            </a:r>
            <a:r>
              <a:rPr lang="ko-KR" altLang="en-US"/>
              <a:t>˚ 궤도경사각</a:t>
            </a:r>
            <a:r>
              <a:rPr lang="en-US" altLang="ko-KR"/>
              <a:t>,</a:t>
            </a:r>
            <a:r>
              <a:rPr lang="ko-KR" altLang="en-US"/>
              <a:t> </a:t>
            </a:r>
            <a:r>
              <a:rPr lang="en-US" altLang="ko-KR"/>
              <a:t>Ultra-hight revisit</a:t>
            </a:r>
            <a:endParaRPr lang="en-US" altLang="ko-KR"/>
          </a:p>
        </p:txBody>
      </p:sp>
      <p:pic>
        <p:nvPicPr>
          <p:cNvPr id="13" name="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1250391" y="2812356"/>
            <a:ext cx="5814575" cy="3232194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15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397DD3AE-C24E-49FC-B527-05061A0348E6}" type="slidenum">
              <a:rPr lang="en-US" altLang="en-US"/>
              <a:pPr lvl="0">
                <a:defRPr/>
              </a:pPr>
              <a:t>14</a:t>
            </a:fld>
            <a:endParaRPr lang="en-US" altLang="en-US"/>
          </a:p>
        </p:txBody>
      </p:sp>
      <p:sp>
        <p:nvSpPr>
          <p:cNvPr id="4" name="제목 3"/>
          <p:cNvSpPr>
            <a:spLocks noGrp="1"/>
          </p:cNvSpPr>
          <p:nvPr>
            <p:ph type="title" idx="0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>위성군 궤도설계 및 전개 선행 연구 조사</a:t>
            </a:r>
            <a:endParaRPr lang="ko-KR" altLang="en-US"/>
          </a:p>
        </p:txBody>
      </p:sp>
      <p:sp>
        <p:nvSpPr>
          <p:cNvPr id="10" name="내용 개체 틀 2"/>
          <p:cNvSpPr txBox="1"/>
          <p:nvPr/>
        </p:nvSpPr>
        <p:spPr>
          <a:xfrm>
            <a:off x="257080" y="1050263"/>
            <a:ext cx="8886919" cy="5376968"/>
          </a:xfrm>
          <a:prstGeom prst="rect">
            <a:avLst/>
          </a:prstGeom>
        </p:spPr>
        <p:txBody>
          <a:bodyPr vert="horz" lIns="91440" tIns="45720" rIns="91440" bIns="45720">
            <a:noAutofit/>
          </a:bodyPr>
          <a:lstStyle>
            <a:lvl1pPr marL="228600" indent="-360000" algn="l" defTabSz="914400" rtl="0" eaLnBrk="1" latinLnBrk="1" hangingPunct="1">
              <a:lnSpc>
                <a:spcPct val="100000"/>
              </a:lnSpc>
              <a:spcBef>
                <a:spcPts val="1000"/>
              </a:spcBef>
              <a:buFont typeface="Wingdings"/>
              <a:buChar char="v"/>
              <a:defRPr sz="2400" b="1" kern="1200">
                <a:solidFill>
                  <a:schemeClr val="tx1"/>
                </a:solidFill>
                <a:latin typeface="times"/>
                <a:ea typeface="+mn-ea"/>
                <a:cs typeface="times"/>
              </a:defRPr>
            </a:lvl1pPr>
            <a:lvl2pPr marL="540000" indent="-324000" algn="l" defTabSz="914400" rtl="0" eaLnBrk="1" latinLnBrk="1" hangingPunct="1">
              <a:lnSpc>
                <a:spcPct val="100000"/>
              </a:lnSpc>
              <a:spcBef>
                <a:spcPts val="500"/>
              </a:spcBef>
              <a:buFont typeface="Wingdings"/>
              <a:buChar char="u"/>
              <a:defRPr sz="1800" b="0" kern="1200">
                <a:solidFill>
                  <a:schemeClr val="tx1"/>
                </a:solidFill>
                <a:latin typeface="times"/>
                <a:ea typeface="+mn-ea"/>
                <a:cs typeface="times"/>
              </a:defRPr>
            </a:lvl2pPr>
            <a:lvl3pPr marL="720000" indent="-288000" algn="l" defTabSz="914400" rtl="0" eaLnBrk="1" latinLnBrk="1" hangingPunct="1">
              <a:lnSpc>
                <a:spcPct val="100000"/>
              </a:lnSpc>
              <a:spcBef>
                <a:spcPts val="500"/>
              </a:spcBef>
              <a:buFont typeface="Wingdings"/>
              <a:buChar char="Ø"/>
              <a:defRPr sz="1600" kern="1200">
                <a:solidFill>
                  <a:schemeClr val="tx1"/>
                </a:solidFill>
                <a:latin typeface="times"/>
                <a:ea typeface="+mn-ea"/>
                <a:cs typeface="times"/>
              </a:defRPr>
            </a:lvl3pPr>
            <a:lvl4pPr marL="900000" indent="-252000" algn="l" defTabSz="914400" rtl="0" eaLnBrk="1" latinLnBrk="1" hangingPunct="1">
              <a:lnSpc>
                <a:spcPct val="100000"/>
              </a:lnSpc>
              <a:spcBef>
                <a:spcPts val="500"/>
              </a:spcBef>
              <a:buFont typeface="Wingdings"/>
              <a:buChar char="ü"/>
              <a:defRPr sz="1400" kern="1200">
                <a:solidFill>
                  <a:schemeClr val="tx1"/>
                </a:solidFill>
                <a:latin typeface="times"/>
                <a:ea typeface="+mn-ea"/>
                <a:cs typeface="times"/>
              </a:defRPr>
            </a:lvl4pPr>
            <a:lvl5pPr marL="1080000" indent="-252000" algn="l" defTabSz="914400" rtl="0" eaLnBrk="1" latinLnBrk="1" hangingPunct="1">
              <a:lnSpc>
                <a:spcPct val="100000"/>
              </a:lnSpc>
              <a:spcBef>
                <a:spcPts val="500"/>
              </a:spcBef>
              <a:buFont typeface="Arial"/>
              <a:buChar char="•"/>
              <a:defRPr sz="1400" kern="1200">
                <a:solidFill>
                  <a:schemeClr val="tx1"/>
                </a:solidFill>
                <a:latin typeface="times"/>
                <a:ea typeface="+mn-ea"/>
                <a:cs typeface="time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>
              <a:defRPr/>
            </a:pPr>
            <a:r>
              <a:rPr lang="en-US" altLang="ko-KR"/>
              <a:t>OptiSAR Constellation</a:t>
            </a:r>
            <a:endParaRPr lang="en-US" altLang="ko-KR"/>
          </a:p>
          <a:p>
            <a:pPr lvl="1">
              <a:defRPr/>
            </a:pPr>
            <a:r>
              <a:rPr lang="ko-KR" altLang="en-US"/>
              <a:t> </a:t>
            </a:r>
            <a:r>
              <a:rPr lang="en-US" altLang="ko-KR"/>
              <a:t>Dual-Optical Satellite</a:t>
            </a:r>
            <a:endParaRPr lang="ko-KR" altLang="en-US"/>
          </a:p>
          <a:p>
            <a:pPr lvl="3">
              <a:defRPr/>
            </a:pPr>
            <a:r>
              <a:rPr lang="en-US" altLang="ko-KR"/>
              <a:t>SSTL300</a:t>
            </a:r>
            <a:r>
              <a:rPr lang="ko-KR" altLang="en-US"/>
              <a:t>에 기반한 높은 해상도 및 민감도</a:t>
            </a:r>
            <a:endParaRPr lang="ko-KR" altLang="en-US"/>
          </a:p>
          <a:p>
            <a:pPr lvl="3">
              <a:defRPr/>
            </a:pPr>
            <a:r>
              <a:rPr lang="en-US" altLang="ko-KR"/>
              <a:t>700kg</a:t>
            </a:r>
            <a:endParaRPr lang="en-US" altLang="ko-KR"/>
          </a:p>
          <a:p>
            <a:pPr lvl="3">
              <a:defRPr/>
            </a:pPr>
            <a:r>
              <a:rPr lang="en-US" altLang="ko-KR"/>
              <a:t>6</a:t>
            </a:r>
            <a:r>
              <a:rPr lang="ko-KR" altLang="en-US"/>
              <a:t> </a:t>
            </a:r>
            <a:r>
              <a:rPr lang="en-US" altLang="ko-KR"/>
              <a:t>band push broom still camera + color video</a:t>
            </a:r>
            <a:endParaRPr lang="en-US" altLang="ko-KR"/>
          </a:p>
        </p:txBody>
      </p:sp>
      <p:pic>
        <p:nvPicPr>
          <p:cNvPr id="14" name="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863764" y="2852737"/>
            <a:ext cx="4219575" cy="305752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16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397DD3AE-C24E-49FC-B527-05061A0348E6}" type="slidenum">
              <a:rPr lang="en-US" altLang="en-US"/>
              <a:pPr lvl="0">
                <a:defRPr/>
              </a:pPr>
              <a:t>15</a:t>
            </a:fld>
            <a:endParaRPr lang="en-US" altLang="en-US"/>
          </a:p>
        </p:txBody>
      </p:sp>
      <p:sp>
        <p:nvSpPr>
          <p:cNvPr id="4" name="제목 3"/>
          <p:cNvSpPr>
            <a:spLocks noGrp="1"/>
          </p:cNvSpPr>
          <p:nvPr>
            <p:ph type="title" idx="0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>위성군 궤도설계 및 전개 선행 연구 조사</a:t>
            </a:r>
            <a:endParaRPr lang="ko-KR" altLang="en-US"/>
          </a:p>
        </p:txBody>
      </p:sp>
      <p:sp>
        <p:nvSpPr>
          <p:cNvPr id="10" name="내용 개체 틀 2"/>
          <p:cNvSpPr txBox="1"/>
          <p:nvPr/>
        </p:nvSpPr>
        <p:spPr>
          <a:xfrm>
            <a:off x="257080" y="1050263"/>
            <a:ext cx="8886919" cy="5376968"/>
          </a:xfrm>
          <a:prstGeom prst="rect">
            <a:avLst/>
          </a:prstGeom>
        </p:spPr>
        <p:txBody>
          <a:bodyPr vert="horz" lIns="91440" tIns="45720" rIns="91440" bIns="45720">
            <a:noAutofit/>
          </a:bodyPr>
          <a:lstStyle>
            <a:lvl1pPr marL="228600" indent="-360000" algn="l" defTabSz="914400" rtl="0" eaLnBrk="1" latinLnBrk="1" hangingPunct="1">
              <a:lnSpc>
                <a:spcPct val="100000"/>
              </a:lnSpc>
              <a:spcBef>
                <a:spcPts val="1000"/>
              </a:spcBef>
              <a:buFont typeface="Wingdings"/>
              <a:buChar char="v"/>
              <a:defRPr sz="2400" b="1" kern="1200">
                <a:solidFill>
                  <a:schemeClr val="tx1"/>
                </a:solidFill>
                <a:latin typeface="times"/>
                <a:ea typeface="+mn-ea"/>
                <a:cs typeface="times"/>
              </a:defRPr>
            </a:lvl1pPr>
            <a:lvl2pPr marL="540000" indent="-324000" algn="l" defTabSz="914400" rtl="0" eaLnBrk="1" latinLnBrk="1" hangingPunct="1">
              <a:lnSpc>
                <a:spcPct val="100000"/>
              </a:lnSpc>
              <a:spcBef>
                <a:spcPts val="500"/>
              </a:spcBef>
              <a:buFont typeface="Wingdings"/>
              <a:buChar char="u"/>
              <a:defRPr sz="1800" b="0" kern="1200">
                <a:solidFill>
                  <a:schemeClr val="tx1"/>
                </a:solidFill>
                <a:latin typeface="times"/>
                <a:ea typeface="+mn-ea"/>
                <a:cs typeface="times"/>
              </a:defRPr>
            </a:lvl2pPr>
            <a:lvl3pPr marL="720000" indent="-288000" algn="l" defTabSz="914400" rtl="0" eaLnBrk="1" latinLnBrk="1" hangingPunct="1">
              <a:lnSpc>
                <a:spcPct val="100000"/>
              </a:lnSpc>
              <a:spcBef>
                <a:spcPts val="500"/>
              </a:spcBef>
              <a:buFont typeface="Wingdings"/>
              <a:buChar char="Ø"/>
              <a:defRPr sz="1600" kern="1200">
                <a:solidFill>
                  <a:schemeClr val="tx1"/>
                </a:solidFill>
                <a:latin typeface="times"/>
                <a:ea typeface="+mn-ea"/>
                <a:cs typeface="times"/>
              </a:defRPr>
            </a:lvl3pPr>
            <a:lvl4pPr marL="900000" indent="-252000" algn="l" defTabSz="914400" rtl="0" eaLnBrk="1" latinLnBrk="1" hangingPunct="1">
              <a:lnSpc>
                <a:spcPct val="100000"/>
              </a:lnSpc>
              <a:spcBef>
                <a:spcPts val="500"/>
              </a:spcBef>
              <a:buFont typeface="Wingdings"/>
              <a:buChar char="ü"/>
              <a:defRPr sz="1400" kern="1200">
                <a:solidFill>
                  <a:schemeClr val="tx1"/>
                </a:solidFill>
                <a:latin typeface="times"/>
                <a:ea typeface="+mn-ea"/>
                <a:cs typeface="times"/>
              </a:defRPr>
            </a:lvl4pPr>
            <a:lvl5pPr marL="1080000" indent="-252000" algn="l" defTabSz="914400" rtl="0" eaLnBrk="1" latinLnBrk="1" hangingPunct="1">
              <a:lnSpc>
                <a:spcPct val="100000"/>
              </a:lnSpc>
              <a:spcBef>
                <a:spcPts val="500"/>
              </a:spcBef>
              <a:buFont typeface="Arial"/>
              <a:buChar char="•"/>
              <a:defRPr sz="1400" kern="1200">
                <a:solidFill>
                  <a:schemeClr val="tx1"/>
                </a:solidFill>
                <a:latin typeface="times"/>
                <a:ea typeface="+mn-ea"/>
                <a:cs typeface="time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>
              <a:defRPr/>
            </a:pPr>
            <a:r>
              <a:rPr lang="en-US" altLang="ko-KR"/>
              <a:t>OptiSAR Constellation</a:t>
            </a:r>
            <a:endParaRPr lang="en-US" altLang="ko-KR"/>
          </a:p>
          <a:p>
            <a:pPr lvl="1">
              <a:defRPr/>
            </a:pPr>
            <a:r>
              <a:rPr lang="ko-KR" altLang="en-US"/>
              <a:t> </a:t>
            </a:r>
            <a:r>
              <a:rPr lang="en-US" altLang="ko-KR"/>
              <a:t>Dual-band</a:t>
            </a:r>
            <a:r>
              <a:rPr lang="ko-KR" altLang="en-US"/>
              <a:t> </a:t>
            </a:r>
            <a:r>
              <a:rPr lang="en-US" altLang="ko-KR"/>
              <a:t>SAR</a:t>
            </a:r>
            <a:endParaRPr lang="en-US" altLang="ko-KR"/>
          </a:p>
          <a:p>
            <a:pPr lvl="3">
              <a:defRPr/>
            </a:pPr>
            <a:r>
              <a:rPr lang="en-US" altLang="ko-KR"/>
              <a:t>World first Dual frequency X and L band SAR</a:t>
            </a:r>
            <a:endParaRPr lang="en-US" altLang="ko-KR"/>
          </a:p>
          <a:p>
            <a:pPr lvl="3">
              <a:defRPr/>
            </a:pPr>
            <a:r>
              <a:rPr lang="en-US" altLang="ko-KR"/>
              <a:t>Antenna 1.8m(in elevation) x 1.0m(in azimuth)</a:t>
            </a:r>
            <a:endParaRPr lang="en-US" altLang="ko-KR"/>
          </a:p>
          <a:p>
            <a:pPr lvl="3">
              <a:defRPr/>
            </a:pPr>
            <a:r>
              <a:rPr lang="en-US" altLang="ko-KR"/>
              <a:t>S-band Inter-Satellite-Link to the Optical spacecraft(Tx only)</a:t>
            </a:r>
            <a:endParaRPr lang="en-US" altLang="ko-KR"/>
          </a:p>
          <a:p>
            <a:pPr lvl="3">
              <a:defRPr/>
            </a:pPr>
            <a:endParaRPr lang="en-US" altLang="ko-KR"/>
          </a:p>
        </p:txBody>
      </p:sp>
      <p:pic>
        <p:nvPicPr>
          <p:cNvPr id="16" name="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1751724" y="2823370"/>
            <a:ext cx="5403043" cy="336806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>
            <a:extLst>
              <a:ext uri="{FF2B5EF4-FFF2-40B4-BE49-F238E27FC236}">
                <a16:creationId xmlns:a16="http://schemas.microsoft.com/office/drawing/2014/main" id="{B49133EF-F552-4618-8A24-449D405ACA1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ko-KR" altLang="en-US" dirty="0"/>
              <a:t>결론</a:t>
            </a:r>
          </a:p>
        </p:txBody>
      </p:sp>
    </p:spTree>
    <p:extLst>
      <p:ext uri="{BB962C8B-B14F-4D97-AF65-F5344CB8AC3E}">
        <p14:creationId xmlns:p14="http://schemas.microsoft.com/office/powerpoint/2010/main" val="1047425491"/>
      </p:ext>
    </p:extLst>
  </p:cSld>
  <p:clrMapOvr>
    <a:masterClrMapping/>
  </p:clrMapOvr>
</p:sld>
</file>

<file path=ppt/slides/slide18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397DD3AE-C24E-49FC-B527-05061A0348E6}" type="slidenum">
              <a:rPr lang="en-US" altLang="en-US"/>
              <a:pPr lvl="0">
                <a:defRPr/>
              </a:pPr>
              <a:t>17</a:t>
            </a:fld>
            <a:endParaRPr lang="en-US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/>
              <a:t>OptiSAR</a:t>
            </a:r>
            <a:r>
              <a:rPr lang="ko-KR" altLang="en-US"/>
              <a:t>의 장점</a:t>
            </a:r>
            <a:endParaRPr lang="ko-KR" altLang="en-US"/>
          </a:p>
          <a:p>
            <a:pPr lvl="1">
              <a:defRPr/>
            </a:pPr>
            <a:r>
              <a:rPr lang="ko-KR" altLang="en-US"/>
              <a:t>적은 비용으로 큰 위성군 설계 가능</a:t>
            </a:r>
            <a:endParaRPr lang="ko-KR" altLang="en-US"/>
          </a:p>
          <a:p>
            <a:pPr lvl="1">
              <a:defRPr/>
            </a:pPr>
            <a:r>
              <a:rPr lang="ko-KR" altLang="en-US"/>
              <a:t>기존 설계를 재사용하여 단순한 설계 유지</a:t>
            </a:r>
            <a:endParaRPr lang="ko-KR" altLang="en-US"/>
          </a:p>
          <a:p>
            <a:pPr lvl="1">
              <a:defRPr/>
            </a:pPr>
            <a:endParaRPr lang="ko-KR" altLang="en-US"/>
          </a:p>
          <a:p>
            <a:pPr lvl="0">
              <a:defRPr/>
            </a:pPr>
            <a:r>
              <a:rPr lang="en-US" altLang="ko-KR"/>
              <a:t>OptiSAR</a:t>
            </a:r>
            <a:r>
              <a:rPr lang="ko-KR" altLang="en-US"/>
              <a:t>의 기대효과</a:t>
            </a:r>
            <a:endParaRPr lang="ko-KR" altLang="en-US"/>
          </a:p>
          <a:p>
            <a:pPr lvl="1">
              <a:defRPr/>
            </a:pPr>
            <a:r>
              <a:rPr lang="ko-KR" altLang="en-US"/>
              <a:t>광학 및 </a:t>
            </a:r>
            <a:r>
              <a:rPr lang="en-US" altLang="ko-KR"/>
              <a:t>SAR</a:t>
            </a:r>
            <a:r>
              <a:rPr lang="ko-KR" altLang="en-US"/>
              <a:t>의 데이터를 융합한 높은 데이터 용량</a:t>
            </a:r>
            <a:endParaRPr lang="ko-KR" altLang="en-US"/>
          </a:p>
          <a:p>
            <a:pPr lvl="1">
              <a:defRPr/>
            </a:pPr>
            <a:r>
              <a:rPr lang="en-US" altLang="ko-KR"/>
              <a:t>SAR</a:t>
            </a:r>
            <a:r>
              <a:rPr lang="ko-KR" altLang="en-US"/>
              <a:t>를 사용하여 날씨에 구애받지 않는 고해상도 이미지</a:t>
            </a:r>
            <a:endParaRPr lang="ko-KR" altLang="en-US"/>
          </a:p>
          <a:p>
            <a:pPr lvl="1">
              <a:defRPr/>
            </a:pPr>
            <a:r>
              <a:rPr lang="ko-KR" altLang="en-US"/>
              <a:t>재방문 및 이미징 대기 시간 등 높은 성능의 공간 이미징 기능</a:t>
            </a:r>
            <a:endParaRPr lang="ko-KR" altLang="en-US"/>
          </a:p>
          <a:p>
            <a:pPr lvl="1">
              <a:defRPr/>
            </a:pPr>
            <a:r>
              <a:rPr lang="en-US" altLang="ko-KR"/>
              <a:t>SAR-optical satellite </a:t>
            </a:r>
            <a:r>
              <a:rPr lang="ko-KR" altLang="en-US"/>
              <a:t>구성의 비행으로 구름 회피를 가능하게  하는 실시간 처리</a:t>
            </a:r>
            <a:endParaRPr lang="ko-KR" altLang="en-US"/>
          </a:p>
          <a:p>
            <a:pPr lvl="1">
              <a:defRPr/>
            </a:pPr>
            <a:r>
              <a:rPr lang="ko-KR" altLang="en-US"/>
              <a:t>두 궤도면을 통해 극지방까지 확장되는 전 지구적 커버리지 제공</a:t>
            </a:r>
            <a:endParaRPr lang="ko-KR" altLang="en-US"/>
          </a:p>
          <a:p>
            <a:pPr lvl="1">
              <a:defRPr/>
            </a:pPr>
            <a:r>
              <a:rPr lang="ko-KR" altLang="en-US"/>
              <a:t>인구가 가장 많은 중위도에서의 최대 재방문율 허용</a:t>
            </a:r>
            <a:endParaRPr lang="ko-KR" altLang="en-US"/>
          </a:p>
          <a:p>
            <a:pPr lvl="1">
              <a:defRPr/>
            </a:pPr>
            <a:endParaRPr lang="ko-KR" altLang="en-US"/>
          </a:p>
          <a:p>
            <a:pPr lvl="1">
              <a:defRPr/>
            </a:pPr>
            <a:endParaRPr lang="ko-KR" altLang="en-US"/>
          </a:p>
          <a:p>
            <a:pPr lvl="1">
              <a:defRPr/>
            </a:pPr>
            <a:endParaRPr lang="ko-KR" altLang="en-US"/>
          </a:p>
          <a:p>
            <a:pPr lvl="1">
              <a:defRPr/>
            </a:pPr>
            <a:endParaRPr lang="ko-KR" altLang="en-US"/>
          </a:p>
          <a:p>
            <a:pPr marL="491400" lvl="2" indent="0">
              <a:buNone/>
              <a:defRPr/>
            </a:pPr>
            <a:r>
              <a:rPr lang="en-US" altLang="ko-KR" sz="1800"/>
              <a:t> </a:t>
            </a:r>
            <a:endParaRPr lang="en-US" altLang="ko-KR" sz="1800"/>
          </a:p>
        </p:txBody>
      </p:sp>
      <p:sp>
        <p:nvSpPr>
          <p:cNvPr id="4" name="제목 3"/>
          <p:cNvSpPr>
            <a:spLocks noGrp="1"/>
          </p:cNvSpPr>
          <p:nvPr>
            <p:ph type="title" idx="0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>요약 및 연구계획</a:t>
            </a:r>
            <a:endParaRPr lang="ko-KR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19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397DD3AE-C24E-49FC-B527-05061A0348E6}" type="slidenum">
              <a:rPr lang="en-US" altLang="en-US"/>
              <a:pPr lvl="0">
                <a:defRPr/>
              </a:pPr>
              <a:t>18</a:t>
            </a:fld>
            <a:endParaRPr lang="en-US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>연구계획</a:t>
            </a:r>
            <a:endParaRPr lang="ko-KR" altLang="en-US"/>
          </a:p>
          <a:p>
            <a:pPr lvl="0">
              <a:defRPr/>
            </a:pPr>
            <a:endParaRPr lang="en-US" altLang="ko-KR"/>
          </a:p>
          <a:p>
            <a:pPr lvl="1">
              <a:defRPr/>
            </a:pPr>
            <a:r>
              <a:rPr lang="ko-KR" altLang="en-US"/>
              <a:t>워커</a:t>
            </a:r>
            <a:r>
              <a:rPr lang="en-US" altLang="ko-KR"/>
              <a:t>-</a:t>
            </a:r>
            <a:r>
              <a:rPr lang="ko-KR" altLang="en-US"/>
              <a:t>델타 위성군 사례를 통하여 운용 방법 공부</a:t>
            </a:r>
            <a:endParaRPr lang="ko-KR" altLang="en-US"/>
          </a:p>
          <a:p>
            <a:pPr lvl="1">
              <a:defRPr/>
            </a:pPr>
            <a:r>
              <a:rPr lang="ko-KR" altLang="en-US"/>
              <a:t>요구되는 조건 및 필요한 개념을 중점으로 한 </a:t>
            </a:r>
            <a:r>
              <a:rPr lang="ko-KR" altLang="en-US" u="sng"/>
              <a:t>탑재체의 특성에 대한 연구</a:t>
            </a:r>
            <a:endParaRPr lang="ko-KR" altLang="en-US"/>
          </a:p>
          <a:p>
            <a:pPr lvl="1">
              <a:defRPr/>
            </a:pPr>
            <a:r>
              <a:rPr lang="ko-KR" altLang="en-US" u="sng"/>
              <a:t>요구조건 및 성능지수</a:t>
            </a:r>
            <a:r>
              <a:rPr lang="ko-KR" altLang="en-US"/>
              <a:t>와 관련된 논문 추가 정리 </a:t>
            </a:r>
            <a:endParaRPr lang="ko-KR" altLang="en-US"/>
          </a:p>
          <a:p>
            <a:pPr lvl="1">
              <a:defRPr/>
            </a:pPr>
            <a:r>
              <a:rPr lang="en-US" altLang="ko-KR"/>
              <a:t>SAR, Optical satellite</a:t>
            </a:r>
            <a:r>
              <a:rPr lang="ko-KR" altLang="en-US"/>
              <a:t> 각각의 </a:t>
            </a:r>
            <a:r>
              <a:rPr lang="ko-KR" altLang="en-US" u="sng"/>
              <a:t>개별 위성군과의 성능 차이 분석</a:t>
            </a:r>
            <a:r>
              <a:rPr lang="ko-KR" altLang="en-US"/>
              <a:t> </a:t>
            </a:r>
            <a:endParaRPr lang="ko-KR" altLang="en-US"/>
          </a:p>
          <a:p>
            <a:pPr lvl="1">
              <a:defRPr/>
            </a:pPr>
            <a:endParaRPr lang="ko-KR" altLang="en-US"/>
          </a:p>
          <a:p>
            <a:pPr lvl="0">
              <a:defRPr/>
            </a:pPr>
            <a:endParaRPr lang="ko-KR" altLang="en-US"/>
          </a:p>
        </p:txBody>
      </p:sp>
      <p:sp>
        <p:nvSpPr>
          <p:cNvPr id="4" name="제목 3"/>
          <p:cNvSpPr>
            <a:spLocks noGrp="1"/>
          </p:cNvSpPr>
          <p:nvPr>
            <p:ph type="title" idx="0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>요약 및 연구계획</a:t>
            </a:r>
            <a:endParaRPr lang="ko-KR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>
            <a:extLst>
              <a:ext uri="{FF2B5EF4-FFF2-40B4-BE49-F238E27FC236}">
                <a16:creationId xmlns:a16="http://schemas.microsoft.com/office/drawing/2014/main" id="{B49133EF-F552-4618-8A24-449D405ACA1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1567740"/>
            <a:ext cx="9144000" cy="3180446"/>
          </a:xfrm>
        </p:spPr>
        <p:txBody>
          <a:bodyPr/>
          <a:lstStyle/>
          <a:p>
            <a:r>
              <a:rPr lang="ko-KR" altLang="en-US" dirty="0"/>
              <a:t>경청해 주셔서 감사합니다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2" name="부제목 1">
            <a:extLst>
              <a:ext uri="{FF2B5EF4-FFF2-40B4-BE49-F238E27FC236}">
                <a16:creationId xmlns:a16="http://schemas.microsoft.com/office/drawing/2014/main" id="{BC56ECCA-CBEB-4852-BDCB-4A64F14D9B6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4757433"/>
            <a:ext cx="6858000" cy="1339783"/>
          </a:xfrm>
        </p:spPr>
        <p:txBody>
          <a:bodyPr/>
          <a:lstStyle/>
          <a:p>
            <a:r>
              <a:rPr lang="ko-KR" altLang="en-US" dirty="0"/>
              <a:t>발표자</a:t>
            </a:r>
            <a:r>
              <a:rPr lang="en-US" altLang="ko-KR" dirty="0"/>
              <a:t>: </a:t>
            </a:r>
            <a:r>
              <a:rPr lang="ko-KR" altLang="en-US" dirty="0"/>
              <a:t>이진진</a:t>
            </a:r>
            <a:endParaRPr lang="en-US" altLang="ko-KR" dirty="0"/>
          </a:p>
          <a:p>
            <a:r>
              <a:rPr lang="ko-KR" altLang="en-US" dirty="0"/>
              <a:t>이메일</a:t>
            </a:r>
            <a:r>
              <a:rPr lang="en-US" altLang="ko-KR" dirty="0"/>
              <a:t>: jj95lee@yonsei.acl.kr</a:t>
            </a:r>
            <a:endParaRPr lang="ko-KR" altLang="en-US" dirty="0"/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B2F92A04-5E08-4877-A7E9-FFBBA1547131}"/>
              </a:ext>
            </a:extLst>
          </p:cNvPr>
          <p:cNvSpPr/>
          <p:nvPr/>
        </p:nvSpPr>
        <p:spPr>
          <a:xfrm>
            <a:off x="0" y="3604912"/>
            <a:ext cx="9144000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ko-KR" altLang="en-US" sz="32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times" panose="02020603050405020304" pitchFamily="18" charset="0"/>
                <a:cs typeface="times" panose="02020603050405020304" pitchFamily="18" charset="0"/>
              </a:rPr>
              <a:t>질의응답</a:t>
            </a:r>
          </a:p>
        </p:txBody>
      </p:sp>
    </p:spTree>
    <p:extLst>
      <p:ext uri="{BB962C8B-B14F-4D97-AF65-F5344CB8AC3E}">
        <p14:creationId xmlns:p14="http://schemas.microsoft.com/office/powerpoint/2010/main" val="3820985653"/>
      </p:ext>
    </p:extLst>
  </p:cSld>
  <p:clrMapOvr>
    <a:masterClrMapping/>
  </p:clrMapOvr>
</p:sld>
</file>

<file path=ppt/theme/theme1.xml><?xml version="1.0" encoding="utf-8"?>
<a:theme xmlns:r="http://schemas.openxmlformats.org/officeDocument/2006/relationships" xmlns:c="http://schemas.openxmlformats.org/drawingml/2006/chart" xmlns:dgm="http://schemas.openxmlformats.org/drawingml/2006/diagram" xmlns:dsp="http://schemas.microsoft.com/office/drawing/2008/diagram" xmlns:a="http://schemas.openxmlformats.org/drawingml/2006/main" xmlns:pic="http://schemas.openxmlformats.org/drawingml/2006/picture" xmlns:wp="http://schemas.openxmlformats.org/drawingml/2006/wordprocessingDrawing" xmlns:xdr="http://schemas.openxmlformats.org/drawingml/2006/spreadsheetDrawing" xmlns:lc="http://schemas.openxmlformats.org/drawingml/2006/lockedCanvas" xmlns:p="http://schemas.openxmlformats.org/presentationml/2006/main" name="Office 테마">
  <a:themeElements>
    <a:clrScheme name="Office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20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20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theme/theme2.xml><?xml version="1.0" encoding="utf-8"?>
<a:theme xmlns:r="http://schemas.openxmlformats.org/officeDocument/2006/relationships" xmlns:c="http://schemas.openxmlformats.org/drawingml/2006/chart" xmlns:dgm="http://schemas.openxmlformats.org/drawingml/2006/diagram" xmlns:dsp="http://schemas.microsoft.com/office/drawing/2008/diagram" xmlns:a="http://schemas.openxmlformats.org/drawingml/2006/main" xmlns:pic="http://schemas.openxmlformats.org/drawingml/2006/picture" xmlns:wp="http://schemas.openxmlformats.org/drawingml/2006/wordprocessingDrawing" xmlns:xdr="http://schemas.openxmlformats.org/drawingml/2006/spreadsheetDrawing" xmlns:lc="http://schemas.openxmlformats.org/drawingml/2006/lockedCanvas" xmlns:p="http://schemas.openxmlformats.org/presentation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20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20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theme/theme3.xml><?xml version="1.0" encoding="utf-8"?>
<a:theme xmlns:r="http://schemas.openxmlformats.org/officeDocument/2006/relationships" xmlns:c="http://schemas.openxmlformats.org/drawingml/2006/chart" xmlns:dgm="http://schemas.openxmlformats.org/drawingml/2006/diagram" xmlns:dsp="http://schemas.microsoft.com/office/drawing/2008/diagram" xmlns:a="http://schemas.openxmlformats.org/drawingml/2006/main" xmlns:pic="http://schemas.openxmlformats.org/drawingml/2006/picture" xmlns:wp="http://schemas.openxmlformats.org/drawingml/2006/wordprocessingDrawing" xmlns:xdr="http://schemas.openxmlformats.org/drawingml/2006/spreadsheetDrawing" xmlns:lc="http://schemas.openxmlformats.org/drawingml/2006/lockedCanvas" xmlns:p="http://schemas.openxmlformats.org/presentation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20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20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ep:Properties xmlns:r="http://schemas.openxmlformats.org/officeDocument/2006/relationships" xmlns:ep="http://schemas.openxmlformats.org/officeDocument/2006/extended-properties" xmlns:vt="http://schemas.openxmlformats.org/officeDocument/2006/docPropsVTypes">
  <ep:Manager/>
  <ep:Company>Microsoft</ep:Company>
  <ep:Words>790</ep:Words>
  <ep:PresentationFormat>화면 슬라이드 쇼(4:3)</ep:PresentationFormat>
  <ep:Paragraphs>158</ep:Paragraphs>
  <ep:Slides>20</ep:Slides>
  <ep:Notes>0</ep:Notes>
  <ep:TotalTime>0</ep:TotalTime>
  <ep:HiddenSlides>0</ep:HiddenSlides>
  <ep:MMClips>0</ep:MMClips>
  <ep:HeadingPairs>
    <vt:vector size="4" baseType="variant">
      <vt:variant>
        <vt:lpstr>테마</vt:lpstr>
      </vt:variant>
      <vt:variant>
        <vt:i4>1</vt:i4>
      </vt:variant>
      <vt:variant>
        <vt:lpstr>슬라이드 제목</vt:lpstr>
      </vt:variant>
      <vt:variant>
        <vt:i4>20</vt:i4>
      </vt:variant>
    </vt:vector>
  </ep:HeadingPairs>
  <ep:TitlesOfParts>
    <vt:vector size="21" baseType="lpstr">
      <vt:lpstr>Office 테마</vt:lpstr>
      <vt:lpstr>정기 연구미팅 보고</vt:lpstr>
      <vt:lpstr>목차</vt:lpstr>
      <vt:lpstr>연구/개발 개요</vt:lpstr>
      <vt:lpstr>2종 위성군 OptiSAR 선행 연구 조사</vt:lpstr>
      <vt:lpstr>위성군 궤도설계 및 전개 선행 연구 조사</vt:lpstr>
      <vt:lpstr>위성군 궤도설계 및 전개 선행 연구 조사</vt:lpstr>
      <vt:lpstr>위성군 궤도설계 및 전개 선행 연구 조사</vt:lpstr>
      <vt:lpstr>위성군 궤도설계 및 전개 선행 연구 조사</vt:lpstr>
      <vt:lpstr>위성군 궤도설계 및 전개 선행 연구 조사</vt:lpstr>
      <vt:lpstr>위성군 궤도설계 및 전개 선행 연구 조사</vt:lpstr>
      <vt:lpstr>위성군 궤도설계 및 전개 선행 연구 조사</vt:lpstr>
      <vt:lpstr>위성군 궤도설계 및 전개 선행 연구 조사</vt:lpstr>
      <vt:lpstr>위성군 궤도설계 및 전개 선행 연구 조사</vt:lpstr>
      <vt:lpstr>위성군 궤도설계 및 전개 선행 연구 조사</vt:lpstr>
      <vt:lpstr>위성군 궤도설계 및 전개 선행 연구 조사</vt:lpstr>
      <vt:lpstr>위성군 궤도설계 및 전개 선행 연구 조사</vt:lpstr>
      <vt:lpstr>결론</vt:lpstr>
      <vt:lpstr>요약 및 연구계획</vt:lpstr>
      <vt:lpstr>요약 및 연구계획</vt:lpstr>
      <vt:lpstr>경청해 주셔서 감사합니다.</vt:lpstr>
    </vt:vector>
  </ep:TitlesOfParts>
  <ep:HyperlinkBase/>
  <ep:Application>Show</ep:Application>
  <ep:AppVersion>12.0000</ep:AppVersion>
</ep:Properties>
</file>

<file path=docProps/core.xml><?xml version="1.0" encoding="utf-8"?>
<cp:coreProperties xmlns:r="http://schemas.openxmlformats.org/officeDocument/2006/relationships"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2018-01-29T02:45:56.000</dcterms:created>
  <dc:creator>KimGeuk-Nam</dc:creator>
  <cp:lastModifiedBy>ACL2022_13</cp:lastModifiedBy>
  <dcterms:modified xsi:type="dcterms:W3CDTF">2022-08-02T06:20:58.676</dcterms:modified>
  <cp:revision>3081</cp:revision>
  <dc:title>PowerPoint 프레젠테이션</dc:title>
  <cp:version>1000.0000.01</cp:version>
</cp:coreProperties>
</file>