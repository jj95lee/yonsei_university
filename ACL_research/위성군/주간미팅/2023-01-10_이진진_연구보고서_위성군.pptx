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19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86353" autoAdjust="0"/>
  </p:normalViewPr>
  <p:slideViewPr>
    <p:cSldViewPr snapToGrid="0">
      <p:cViewPr varScale="1">
        <p:scale>
          <a:sx n="95" d="100"/>
          <a:sy n="95" d="100"/>
        </p:scale>
        <p:origin x="2268" y="7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11E49D1F-15B2-4B9C-8076-11C3A082C32A}" type="datetime1">
              <a:rPr lang="ko-KR" altLang="en-US"/>
              <a:pPr lvl="0">
                <a:defRPr/>
              </a:pPr>
              <a:t>2023-01-10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D3A8452A-AED7-4144-8B8B-DADFF71C57C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66DDD8DE-5D7B-4A4B-9949-78C9C314FE9D}" type="datetime1">
              <a:rPr lang="ko-KR" altLang="en-US"/>
              <a:pPr lvl="0">
                <a:defRPr/>
              </a:pPr>
              <a:t>2023-01-10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D463564-01E7-4F87-AE00-59478FEE8A8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이진진</a:t>
            </a:r>
          </a:p>
          <a:p>
            <a:pPr lvl="0">
              <a:defRPr/>
            </a:pPr>
            <a:r>
              <a:rPr lang="ko-KR" altLang="en-US" dirty="0"/>
              <a:t>석사과정 </a:t>
            </a:r>
            <a:r>
              <a:rPr lang="en-US" altLang="ko-KR" dirty="0"/>
              <a:t>2</a:t>
            </a:r>
            <a:r>
              <a:rPr lang="ko-KR" altLang="en-US" dirty="0"/>
              <a:t>학기</a:t>
            </a:r>
          </a:p>
          <a:p>
            <a:pPr lvl="0">
              <a:defRPr/>
            </a:pPr>
            <a:r>
              <a:rPr lang="en-US" altLang="ko-KR" dirty="0"/>
              <a:t>2023-01-10</a:t>
            </a:r>
          </a:p>
        </p:txBody>
      </p:sp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정기 연구미팅 보고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목차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graphicFrame>
        <p:nvGraphicFramePr>
          <p:cNvPr id="11" name="표 18"/>
          <p:cNvGraphicFramePr>
            <a:graphicFrameLocks noGrp="1"/>
          </p:cNvGraphicFramePr>
          <p:nvPr/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2000" b="1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종 위성군 </a:t>
                      </a:r>
                      <a:r>
                        <a:rPr lang="en-US" altLang="ko-KR" sz="2000" b="1">
                          <a:solidFill>
                            <a:schemeClr val="tx1"/>
                          </a:solidFill>
                        </a:rPr>
                        <a:t>OptiSAR</a:t>
                      </a:r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에 대한 연구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2000" b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457200" y="3048000"/>
            <a:ext cx="997305" cy="281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</a:t>
            </a:r>
            <a:r>
              <a:rPr lang="en-US" altLang="ko-KR"/>
              <a:t>/</a:t>
            </a:r>
            <a:r>
              <a:rPr lang="ko-KR" altLang="en-US"/>
              <a:t>개발 주제 및 성격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주요 목표 및 진행 상황</a:t>
            </a:r>
            <a:endParaRPr lang="en-US" altLang="ko-KR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</a:t>
            </a:r>
            <a:r>
              <a:rPr lang="en-US" altLang="ko-KR"/>
              <a:t>/</a:t>
            </a:r>
            <a:r>
              <a:rPr lang="ko-KR" altLang="en-US"/>
              <a:t>개발 개요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868685"/>
              </p:ext>
            </p:extLst>
          </p:nvPr>
        </p:nvGraphicFramePr>
        <p:xfrm>
          <a:off x="257079" y="3368824"/>
          <a:ext cx="86298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5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5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r>
                        <a:rPr lang="ko-KR" altLang="en-US" sz="1200">
                          <a:latin typeface="Times New Roman"/>
                          <a:ea typeface="+mn-ea"/>
                          <a:cs typeface="Times New Roman"/>
                        </a:rPr>
                        <a:t>선행연구 자료조사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2023.01.10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맑은 고딕"/>
                          <a:cs typeface="Times New Roman"/>
                        </a:rPr>
                        <a:t>2023.01.15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endParaRPr lang="en-US" altLang="ko-KR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257077" y="1383366"/>
          <a:ext cx="862983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4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4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성격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종 위성군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OptiSAR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에 대한 위성군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r>
                        <a:rPr lang="ko-KR" altLang="en-US" sz="1200">
                          <a:latin typeface="Times New Roman"/>
                          <a:ea typeface="+mn-ea"/>
                          <a:cs typeface="Times New Roman"/>
                        </a:rPr>
                        <a:t>임무설계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000" b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2</a:t>
            </a:r>
            <a:r>
              <a:rPr lang="ko-KR" altLang="en-US" sz="4000" b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종 위성군 </a:t>
            </a:r>
            <a:r>
              <a:rPr lang="en-US" altLang="ko-KR" sz="4000" b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OptiSAR</a:t>
            </a:r>
            <a:r>
              <a:rPr lang="ko-KR" altLang="en-US" sz="4000" b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선행 </a:t>
            </a:r>
            <a:r>
              <a:rPr lang="ko-KR" altLang="en-US"/>
              <a:t>연구 조사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레이다</a:t>
            </a:r>
          </a:p>
          <a:p>
            <a:pPr lvl="1">
              <a:defRPr/>
            </a:pPr>
            <a:r>
              <a:rPr lang="ko-KR" altLang="en-US"/>
              <a:t>원리</a:t>
            </a:r>
          </a:p>
          <a:p>
            <a:pPr marL="777150" lvl="2" indent="-285750">
              <a:defRPr/>
            </a:pPr>
            <a:r>
              <a:rPr lang="ko-KR" altLang="en-US"/>
              <a:t>짧고 강한 펄스 전파 빔을 목표지역에 쏘아</a:t>
            </a:r>
          </a:p>
          <a:p>
            <a:pPr marL="777150" lvl="2" indent="-285750">
              <a:defRPr/>
            </a:pPr>
            <a:r>
              <a:rPr lang="ko-KR" altLang="en-US"/>
              <a:t>반사파가 레이다 안테나로 돌아오는 시간을 측정하여 </a:t>
            </a:r>
            <a:r>
              <a:rPr lang="en-US" altLang="ko-KR"/>
              <a:t>2</a:t>
            </a:r>
            <a:r>
              <a:rPr lang="ko-KR" altLang="en-US"/>
              <a:t>차원 영상을 구성</a:t>
            </a:r>
          </a:p>
          <a:p>
            <a:pPr marL="777150" lvl="2" indent="-285750"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 해상력을 높이기 위한 방법</a:t>
            </a:r>
          </a:p>
          <a:p>
            <a:pPr marL="777150" lvl="2" indent="-285750">
              <a:defRPr/>
            </a:pPr>
            <a:r>
              <a:rPr lang="ko-KR" altLang="en-US"/>
              <a:t>목표지역의 좁은 부분에서 나오는 반사파만 골라 수신할 수 있어야 함 </a:t>
            </a:r>
            <a:r>
              <a:rPr lang="en-US" altLang="ko-KR"/>
              <a:t>(</a:t>
            </a:r>
            <a:r>
              <a:rPr lang="ko-KR" altLang="en-US"/>
              <a:t>방위 해상도</a:t>
            </a:r>
            <a:r>
              <a:rPr lang="en-US" altLang="ko-KR"/>
              <a:t>)</a:t>
            </a:r>
          </a:p>
          <a:p>
            <a:pPr marL="777150" lvl="2" indent="-285750">
              <a:defRPr/>
            </a:pPr>
            <a:r>
              <a:rPr lang="ko-KR" altLang="en-US"/>
              <a:t>내보내는 전파 펄스 자체가 시간적으로 짧아야 함</a:t>
            </a:r>
            <a:r>
              <a:rPr lang="en-US" altLang="ko-KR"/>
              <a:t>(</a:t>
            </a:r>
            <a:r>
              <a:rPr lang="ko-KR" altLang="en-US"/>
              <a:t>거리 해상도</a:t>
            </a:r>
            <a:r>
              <a:rPr lang="en-US" altLang="ko-KR"/>
              <a:t>)</a:t>
            </a:r>
          </a:p>
          <a:p>
            <a:pPr marL="777150" lvl="2" indent="-285750">
              <a:defRPr/>
            </a:pPr>
            <a:r>
              <a:rPr lang="ko-KR" altLang="en-US"/>
              <a:t>분산이나 굴절을 최소화하기 위해 되도록 짧은 파장의 전파를 사용해야 함</a:t>
            </a:r>
          </a:p>
          <a:p>
            <a:pPr marL="777150" lvl="2" indent="-285750"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 해상력의 한계</a:t>
            </a:r>
          </a:p>
          <a:p>
            <a:pPr marL="777150" lvl="2" indent="-285750">
              <a:defRPr/>
            </a:pPr>
            <a:r>
              <a:rPr lang="ko-KR" altLang="en-US"/>
              <a:t>안테나의 직경을 늘리지 않고 배율만 높이면 빛의 회절로 상이 뭉개짐</a:t>
            </a:r>
          </a:p>
          <a:p>
            <a:pPr marL="777150" lvl="2" indent="-285750">
              <a:defRPr/>
            </a:pPr>
            <a:r>
              <a:rPr lang="ko-KR" altLang="en-US"/>
              <a:t>항공기에 탑재하기엔 크기나 무게에 제한이 있고 빠르게 회전시키는 것도 곤란함</a:t>
            </a:r>
          </a:p>
          <a:p>
            <a:pPr marL="777150" lvl="2" indent="-285750">
              <a:defRPr/>
            </a:pPr>
            <a:r>
              <a:rPr lang="ko-KR" altLang="en-US"/>
              <a:t>전파의 파장을 짧게 하는 데도 기술적 한계나 실용적 문제가 있음</a:t>
            </a:r>
          </a:p>
          <a:p>
            <a:pPr marL="777150" lvl="2" indent="-285750">
              <a:defRPr/>
            </a:pPr>
            <a:endParaRPr lang="ko-KR" altLang="en-US"/>
          </a:p>
          <a:p>
            <a:pPr marL="216000" lvl="1" indent="0">
              <a:buFont typeface="mn-ea"/>
              <a:buNone/>
              <a:defRPr/>
            </a:pPr>
            <a:r>
              <a:rPr lang="en-US" altLang="ko-KR" b="1"/>
              <a:t>(</a:t>
            </a:r>
            <a:r>
              <a:rPr lang="ko-KR" altLang="en-US" b="1"/>
              <a:t>출처 </a:t>
            </a:r>
            <a:r>
              <a:rPr lang="en-US" altLang="en-US" b="1"/>
              <a:t>Rich Data Cheap Satellites</a:t>
            </a:r>
            <a:r>
              <a:rPr lang="en-US" altLang="ko-KR" b="1"/>
              <a:t>,</a:t>
            </a:r>
            <a:r>
              <a:rPr lang="ko-KR" altLang="en-US" b="1"/>
              <a:t> </a:t>
            </a:r>
            <a:r>
              <a:rPr lang="en-US" altLang="ko-KR" b="1"/>
              <a:t>2017</a:t>
            </a:r>
            <a:r>
              <a:rPr lang="ko-KR" altLang="en-US" b="1"/>
              <a:t> Luis Gomes. Surrey Satellite Technology</a:t>
            </a:r>
            <a:r>
              <a:rPr lang="en-US" altLang="ko-KR" b="1"/>
              <a:t>)</a:t>
            </a:r>
          </a:p>
          <a:p>
            <a:pPr marL="216000" lvl="1" indent="0">
              <a:buNone/>
              <a:defRPr/>
            </a:pPr>
            <a:endParaRPr lang="en-US" altLang="ko-KR"/>
          </a:p>
          <a:p>
            <a:pPr marL="777150" lvl="2" indent="-285750">
              <a:defRPr/>
            </a:pPr>
            <a:endParaRPr lang="ko-KR" altLang="en-US" sz="1800"/>
          </a:p>
          <a:p>
            <a:pPr marL="491400" lvl="2" indent="0"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SAR</a:t>
            </a:r>
          </a:p>
          <a:p>
            <a:pPr lvl="1">
              <a:defRPr/>
            </a:pPr>
            <a:r>
              <a:rPr lang="ko-KR" altLang="en-US" sz="1800"/>
              <a:t>합성개구레이다</a:t>
            </a:r>
            <a:r>
              <a:rPr lang="en-US" altLang="ko-KR" sz="1800"/>
              <a:t>(Synthetic Aperture Radar)</a:t>
            </a:r>
            <a:endParaRPr lang="ko-KR" altLang="en-US" sz="1800"/>
          </a:p>
          <a:p>
            <a:pPr marL="777150" lvl="2" indent="-285750">
              <a:defRPr/>
            </a:pPr>
            <a:r>
              <a:rPr lang="ko-KR" altLang="en-US"/>
              <a:t>공중에서 지상 및 해양을 관찰하는 레이다</a:t>
            </a:r>
          </a:p>
          <a:p>
            <a:pPr marL="777150" lvl="2" indent="-285750">
              <a:defRPr/>
            </a:pPr>
            <a:r>
              <a:rPr lang="ko-KR" altLang="en-US"/>
              <a:t>반사된 미세한 시간차를 처리하여 지상지형도를 만들거나 지표 관측</a:t>
            </a:r>
          </a:p>
          <a:p>
            <a:pPr marL="777150" lvl="2" indent="-285750">
              <a:defRPr/>
            </a:pPr>
            <a:r>
              <a:rPr lang="en-US" altLang="ko-KR"/>
              <a:t>1960</a:t>
            </a:r>
            <a:r>
              <a:rPr lang="ko-KR" altLang="en-US"/>
              <a:t>년대부터 주로 군용 정찰장비로 개발</a:t>
            </a:r>
          </a:p>
          <a:p>
            <a:pPr marL="777150" lvl="2" indent="-285750">
              <a:defRPr/>
            </a:pPr>
            <a:r>
              <a:rPr lang="en-US" altLang="ko-KR"/>
              <a:t>1980</a:t>
            </a:r>
            <a:r>
              <a:rPr lang="ko-KR" altLang="en-US"/>
              <a:t>년대에는 단순한 지형패턴만이 아닌 이동목표 추적 능력 탑재</a:t>
            </a:r>
          </a:p>
          <a:p>
            <a:pPr marL="777150" lvl="2" indent="-285750">
              <a:defRPr/>
            </a:pPr>
            <a:r>
              <a:rPr lang="ko-KR" altLang="en-US"/>
              <a:t>플랫폼에는 특별한 제한이 없으며 무인정찰기 및 인공위성에도 장착</a:t>
            </a:r>
            <a:endParaRPr lang="ko-KR" altLang="en-US" sz="1800"/>
          </a:p>
          <a:p>
            <a:pPr marL="216000" lvl="1" indent="0">
              <a:buNone/>
              <a:defRPr/>
            </a:pPr>
            <a:endParaRPr lang="en-US" altLang="ko-KR"/>
          </a:p>
          <a:p>
            <a:pPr lvl="1">
              <a:defRPr/>
            </a:pPr>
            <a:r>
              <a:rPr lang="ko-KR" altLang="en-US"/>
              <a:t>장점</a:t>
            </a:r>
          </a:p>
          <a:p>
            <a:pPr marL="777150" lvl="2" indent="-285750">
              <a:defRPr/>
            </a:pPr>
            <a:r>
              <a:rPr lang="ko-KR" altLang="en-US"/>
              <a:t>안테나의 직경을 크게 하지 않으면서 높은 방위해상도를 얻을 수 있음</a:t>
            </a:r>
          </a:p>
          <a:p>
            <a:pPr marL="777150" lvl="2" indent="-285750">
              <a:defRPr/>
            </a:pPr>
            <a:r>
              <a:rPr lang="ko-KR" altLang="en-US"/>
              <a:t>펄스폭도 넓고 안테나 직경도 작아서 빔의 각도 범위도 넓은 편</a:t>
            </a:r>
          </a:p>
          <a:p>
            <a:pPr marL="777150" lvl="2" indent="-285750">
              <a:defRPr/>
            </a:pPr>
            <a:r>
              <a:rPr lang="ko-KR" altLang="en-US"/>
              <a:t>공중에서 넓은 범위의 지상의 고해상도의 영상을 획득하는데 아주 효과적임</a:t>
            </a:r>
          </a:p>
          <a:p>
            <a:pPr marL="777150" lvl="2" indent="-285750">
              <a:defRPr/>
            </a:pPr>
            <a:r>
              <a:rPr lang="ko-KR" altLang="en-US"/>
              <a:t>주간 및 야간</a:t>
            </a:r>
            <a:r>
              <a:rPr lang="en-US" altLang="ko-KR"/>
              <a:t>,</a:t>
            </a:r>
            <a:r>
              <a:rPr lang="ko-KR" altLang="en-US"/>
              <a:t> 악천후에도 사용할 수 있음</a:t>
            </a:r>
          </a:p>
          <a:p>
            <a:pPr marL="777150" lvl="2" indent="-285750">
              <a:defRPr/>
            </a:pP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marL="777150" lvl="2" indent="-285750">
              <a:defRPr/>
            </a:pPr>
            <a:endParaRPr lang="ko-KR" altLang="en-US" sz="1800"/>
          </a:p>
          <a:p>
            <a:pPr marL="491400" lvl="2" indent="0"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ko-KR" altLang="en-US"/>
              <a:t> 원리</a:t>
            </a:r>
          </a:p>
          <a:p>
            <a:pPr marL="777150" lvl="2" indent="-285750">
              <a:defRPr/>
            </a:pPr>
            <a:r>
              <a:rPr lang="ko-KR" altLang="en-US"/>
              <a:t>고속으로 이동하며 위상이 일치하는 전파 빔을 방사</a:t>
            </a:r>
          </a:p>
          <a:p>
            <a:pPr marL="777150" lvl="2" indent="-285750">
              <a:defRPr/>
            </a:pPr>
            <a:r>
              <a:rPr lang="ko-KR" altLang="en-US"/>
              <a:t>레이다 반사파를 연속적으로 수신</a:t>
            </a:r>
          </a:p>
          <a:p>
            <a:pPr marL="777150" lvl="2" indent="-285750">
              <a:defRPr/>
            </a:pPr>
            <a:r>
              <a:rPr lang="ko-KR" altLang="en-US" u="sng"/>
              <a:t>전파 빔을 방사한 안테나</a:t>
            </a:r>
            <a:r>
              <a:rPr lang="ko-KR" altLang="en-US"/>
              <a:t>와 반사되어 돌아온 </a:t>
            </a:r>
            <a:r>
              <a:rPr lang="ko-KR" altLang="en-US" u="sng"/>
              <a:t>반사파를 수신하는 안테나</a:t>
            </a:r>
            <a:r>
              <a:rPr lang="ko-KR" altLang="en-US"/>
              <a:t>의 위치의 차이</a:t>
            </a:r>
          </a:p>
          <a:p>
            <a:pPr marL="777150" lvl="2" indent="-285750">
              <a:defRPr/>
            </a:pPr>
            <a:r>
              <a:rPr lang="ko-KR" altLang="en-US"/>
              <a:t> 도플러편이 발생</a:t>
            </a:r>
          </a:p>
          <a:p>
            <a:pPr marL="957150" lvl="3" indent="-285750">
              <a:defRPr/>
            </a:pPr>
            <a:r>
              <a:rPr lang="en-US" altLang="ko-KR"/>
              <a:t>1.</a:t>
            </a:r>
            <a:r>
              <a:rPr lang="ko-KR" altLang="en-US"/>
              <a:t> 대상과 레이다 안테나 사이의 거리차에 대한 위상보정 </a:t>
            </a:r>
          </a:p>
          <a:p>
            <a:pPr marL="957150" lvl="3" indent="-285750">
              <a:defRPr/>
            </a:pPr>
            <a:r>
              <a:rPr lang="en-US" altLang="ko-KR"/>
              <a:t>2.</a:t>
            </a:r>
            <a:r>
              <a:rPr lang="ko-KR" altLang="en-US"/>
              <a:t> 또는 수신지점이 다르지만 위상이 같은 신호를 더하여 합성된 안테나 신호를 획득</a:t>
            </a:r>
          </a:p>
          <a:p>
            <a:pPr marL="777150" lvl="2" indent="-285750">
              <a:defRPr/>
            </a:pP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전파가 반사되어 돌아오는 동안 이동한 거리만큼 레이다 안테나의 직경이 길어지는 효과가 나타나므로 예리하게 반사파를 수신할 수 있음</a:t>
            </a:r>
          </a:p>
          <a:p>
            <a:pPr marL="777150" lvl="2" indent="-285750">
              <a:defRPr/>
            </a:pPr>
            <a:r>
              <a:rPr lang="ko-KR" altLang="en-US"/>
              <a:t>즉</a:t>
            </a:r>
            <a:r>
              <a:rPr lang="en-US" altLang="ko-KR"/>
              <a:t>,</a:t>
            </a:r>
            <a:r>
              <a:rPr lang="ko-KR" altLang="en-US"/>
              <a:t> 작은 안테나로 수신된 연속적인 여러 개의 레이다 신호들을 합성하여 개구면이 큰 안테나 안테나로 합성하는 것</a:t>
            </a:r>
          </a:p>
          <a:p>
            <a:pPr marL="216000" lvl="1" indent="0">
              <a:buNone/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ko-KR" altLang="en-US"/>
              <a:t> 각국의 </a:t>
            </a:r>
            <a:r>
              <a:rPr lang="en-US" altLang="ko-KR"/>
              <a:t>SAR</a:t>
            </a:r>
          </a:p>
          <a:p>
            <a:pPr marL="777150" lvl="2" indent="-285750">
              <a:defRPr/>
            </a:pPr>
            <a:r>
              <a:rPr lang="en-US" altLang="ko-KR"/>
              <a:t>AIRSAR : </a:t>
            </a:r>
            <a:r>
              <a:rPr lang="ko-KR" altLang="en-US"/>
              <a:t>미국 </a:t>
            </a:r>
            <a:r>
              <a:rPr lang="en-US" altLang="ko-KR"/>
              <a:t>NASA</a:t>
            </a:r>
            <a:r>
              <a:rPr lang="ko-KR" altLang="en-US"/>
              <a:t> </a:t>
            </a:r>
            <a:r>
              <a:rPr lang="en-US" altLang="ko-KR"/>
              <a:t>JPL</a:t>
            </a:r>
          </a:p>
          <a:p>
            <a:pPr marL="777150" lvl="2" indent="-285750">
              <a:defRPr/>
            </a:pPr>
            <a:r>
              <a:rPr lang="en-US" altLang="ko-KR"/>
              <a:t>E-SAR : </a:t>
            </a:r>
            <a:r>
              <a:rPr lang="ko-KR" altLang="en-US"/>
              <a:t>독일 </a:t>
            </a:r>
            <a:r>
              <a:rPr lang="en-US" altLang="ko-KR"/>
              <a:t>DLR</a:t>
            </a:r>
          </a:p>
          <a:p>
            <a:pPr marL="777150" lvl="2" indent="-285750">
              <a:defRPr/>
            </a:pPr>
            <a:r>
              <a:rPr lang="en-US" altLang="ko-KR"/>
              <a:t>PI-SAR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일본 </a:t>
            </a:r>
            <a:r>
              <a:rPr lang="en-US" altLang="ko-KR"/>
              <a:t>JAXA</a:t>
            </a:r>
          </a:p>
          <a:p>
            <a:pPr marL="777150" lvl="2" indent="-285750">
              <a:defRPr/>
            </a:pPr>
            <a:r>
              <a:rPr lang="en-US" altLang="ko-KR"/>
              <a:t>RAMSES : </a:t>
            </a:r>
            <a:r>
              <a:rPr lang="ko-KR" altLang="en-US"/>
              <a:t>프랑스</a:t>
            </a:r>
            <a:r>
              <a:rPr lang="en-US" altLang="ko-KR"/>
              <a:t> ONERA</a:t>
            </a:r>
          </a:p>
          <a:p>
            <a:pPr marL="777150" lvl="2" indent="-285750">
              <a:defRPr/>
            </a:pPr>
            <a:r>
              <a:rPr lang="en-US" altLang="ko-KR"/>
              <a:t>KOMSAR : </a:t>
            </a:r>
            <a:r>
              <a:rPr lang="ko-KR" altLang="en-US"/>
              <a:t>대한민국 국방과학연구소</a:t>
            </a:r>
          </a:p>
          <a:p>
            <a:pPr marL="777150" lvl="2" indent="-285750">
              <a:defRPr/>
            </a:pPr>
            <a:r>
              <a:rPr lang="en-US" altLang="ko-KR"/>
              <a:t>NEXSAR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대한민국 </a:t>
            </a:r>
            <a:r>
              <a:rPr lang="en-US" altLang="ko-KR"/>
              <a:t>LIG</a:t>
            </a:r>
            <a:r>
              <a:rPr lang="ko-KR" altLang="en-US"/>
              <a:t>넥스원</a:t>
            </a:r>
          </a:p>
          <a:p>
            <a:pPr marL="777150" lvl="2" indent="-285750">
              <a:defRPr/>
            </a:pPr>
            <a:r>
              <a:rPr lang="en-US" altLang="ko-KR"/>
              <a:t>EL/M-2055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이스라엘 </a:t>
            </a:r>
            <a:r>
              <a:rPr lang="en-US" altLang="ko-KR"/>
              <a:t>IAI</a:t>
            </a:r>
            <a:r>
              <a:rPr lang="ko-KR" altLang="en-US"/>
              <a:t>사</a:t>
            </a:r>
          </a:p>
          <a:p>
            <a:pPr marL="777150" lvl="2" indent="-285750">
              <a:defRPr/>
            </a:pPr>
            <a:r>
              <a:rPr lang="en-US" altLang="ko-KR"/>
              <a:t>KPU-STC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대한민국 한국산업기술대학</a:t>
            </a:r>
          </a:p>
          <a:p>
            <a:pPr marL="777150" lvl="2" indent="-285750">
              <a:defRPr/>
            </a:pPr>
            <a:endParaRPr lang="en-US" altLang="ko-KR"/>
          </a:p>
          <a:p>
            <a:pPr marL="216000" lvl="1" indent="0">
              <a:buNone/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EO(Electro-Optics)</a:t>
            </a:r>
          </a:p>
          <a:p>
            <a:pPr lvl="1">
              <a:defRPr/>
            </a:pPr>
            <a:r>
              <a:rPr lang="ko-KR" altLang="en-US"/>
              <a:t>원리</a:t>
            </a:r>
          </a:p>
          <a:p>
            <a:pPr marL="777150" lvl="2" indent="-285750">
              <a:defRPr/>
            </a:pPr>
            <a:r>
              <a:rPr lang="ko-KR" altLang="en-US"/>
              <a:t>허공에 전자기파를 쏘아서 물체에 부딪혀 돌아오는 반사파를 측정해 탐지</a:t>
            </a:r>
          </a:p>
          <a:p>
            <a:pPr marL="777150" lvl="2" indent="-285750">
              <a:defRPr/>
            </a:pPr>
            <a:r>
              <a:rPr lang="ko-KR" altLang="en-US"/>
              <a:t>디지털카메라와 유사한 원리</a:t>
            </a:r>
          </a:p>
          <a:p>
            <a:pPr marL="491400" lvl="2" indent="0">
              <a:buNone/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특징</a:t>
            </a:r>
          </a:p>
          <a:p>
            <a:pPr marL="777150" lvl="2" indent="-285750">
              <a:defRPr/>
            </a:pPr>
            <a:r>
              <a:rPr lang="ko-KR" altLang="en-US"/>
              <a:t>적외선 이상의 전파를 사용하는 레이더와는 달리 </a:t>
            </a:r>
            <a:r>
              <a:rPr lang="ko-KR" altLang="en-US" u="sng"/>
              <a:t>근적외선 및 가시광선을 사용</a:t>
            </a:r>
          </a:p>
          <a:p>
            <a:pPr marL="777150" lvl="2" indent="-285750">
              <a:defRPr/>
            </a:pPr>
            <a:r>
              <a:rPr lang="ko-KR" altLang="en-US"/>
              <a:t>센서의 해상도의 향상과 이에 따른 센서의 부피 및 무게를 해결하는 것이 기술적으로 난이도가 높음</a:t>
            </a:r>
          </a:p>
          <a:p>
            <a:pPr marL="777150" lvl="2" indent="-285750">
              <a:defRPr/>
            </a:pPr>
            <a:r>
              <a:rPr lang="ko-KR" altLang="en-US"/>
              <a:t>따라서 </a:t>
            </a:r>
            <a:r>
              <a:rPr lang="en-US" altLang="ko-KR"/>
              <a:t>2</a:t>
            </a:r>
            <a:r>
              <a:rPr lang="ko-KR" altLang="en-US"/>
              <a:t>차 세계대전 때부터 사용된 레이더보다 시기가 늦은 </a:t>
            </a:r>
            <a:r>
              <a:rPr lang="en-US" altLang="ko-KR" u="sng"/>
              <a:t>1980</a:t>
            </a:r>
            <a:r>
              <a:rPr lang="ko-KR" altLang="en-US" u="sng"/>
              <a:t>년대 이후부터 사용</a:t>
            </a:r>
          </a:p>
          <a:p>
            <a:pPr marL="777150" lvl="2" indent="-285750">
              <a:defRPr/>
            </a:pPr>
            <a:r>
              <a:rPr lang="en-US" altLang="ko-KR"/>
              <a:t>1990</a:t>
            </a:r>
            <a:r>
              <a:rPr lang="ko-KR" altLang="en-US"/>
              <a:t>년대 이후 전자광학 기술 및 해상도 처리하는 기술력이 발전함에 따라 발달</a:t>
            </a:r>
          </a:p>
          <a:p>
            <a:pPr marL="777150" lvl="2" indent="-285750">
              <a:defRPr/>
            </a:pPr>
            <a:r>
              <a:rPr lang="ko-KR" altLang="en-US"/>
              <a:t>각종 무인기에 장착해 군사 정찰용 및 기상 관측의 용도로 사용</a:t>
            </a:r>
          </a:p>
          <a:p>
            <a:pPr marL="777150" lvl="2" indent="-285750">
              <a:defRPr/>
            </a:pPr>
            <a:endParaRPr lang="ko-KR" altLang="en-US" u="sng"/>
          </a:p>
          <a:p>
            <a:pPr lvl="1">
              <a:defRPr/>
            </a:pPr>
            <a:r>
              <a:rPr lang="ko-KR" altLang="en-US"/>
              <a:t> 장점</a:t>
            </a:r>
          </a:p>
          <a:p>
            <a:pPr marL="777150" lvl="2" indent="-285750">
              <a:defRPr/>
            </a:pPr>
            <a:r>
              <a:rPr lang="ko-KR" altLang="en-US"/>
              <a:t>가시광선을 이용해 목표의 실제 영상을 실시간으로 관측하는 것이 가능</a:t>
            </a:r>
          </a:p>
          <a:p>
            <a:pPr marL="777150" lvl="2" indent="-285750">
              <a:defRPr/>
            </a:pPr>
            <a:r>
              <a:rPr lang="ko-KR" altLang="en-US"/>
              <a:t>레이더의 부족한 해상도를 보완하는데 큰 도움을 줌</a:t>
            </a:r>
          </a:p>
          <a:p>
            <a:pPr marL="777150" lvl="2" indent="-285750">
              <a:defRPr/>
            </a:pP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marL="216000" lvl="1" indent="0">
              <a:buNone/>
              <a:defRPr/>
            </a:pPr>
            <a:endParaRPr lang="en-US" altLang="ko-KR"/>
          </a:p>
          <a:p>
            <a:pPr marL="777150" lvl="2" indent="-285750">
              <a:defRPr/>
            </a:pPr>
            <a:endParaRPr lang="ko-KR" altLang="en-US" sz="1800"/>
          </a:p>
          <a:p>
            <a:pPr marL="491400" lvl="2" indent="0"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EO </a:t>
            </a:r>
            <a:r>
              <a:rPr lang="ko-KR" altLang="en-US"/>
              <a:t>및 </a:t>
            </a:r>
            <a:r>
              <a:rPr lang="en-US" altLang="ko-KR"/>
              <a:t>SAR </a:t>
            </a:r>
            <a:r>
              <a:rPr lang="ko-KR" altLang="en-US"/>
              <a:t>탑재체 비교</a:t>
            </a:r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5750" y="1711970"/>
            <a:ext cx="7704801" cy="33587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1000" y="5647674"/>
            <a:ext cx="8382000" cy="336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lvl="1" indent="0">
              <a:buFont typeface="Wingdings"/>
              <a:buNone/>
              <a:defRPr/>
            </a:pPr>
            <a:r>
              <a:rPr lang="ko-KR" altLang="en-US" sz="1600" b="1"/>
              <a:t>출처 </a:t>
            </a:r>
            <a:r>
              <a:rPr lang="en-US" altLang="ko-KR" sz="1600" b="1"/>
              <a:t>(</a:t>
            </a:r>
            <a:r>
              <a:rPr lang="ko-KR" altLang="en-US" sz="1600" b="1"/>
              <a:t>초소형 위성군 궤도설계와 궤도유지 방법 연구</a:t>
            </a:r>
            <a:r>
              <a:rPr lang="en-US" altLang="ko-KR" sz="1600" b="1"/>
              <a:t>,</a:t>
            </a:r>
            <a:r>
              <a:rPr lang="ko-KR" altLang="en-US" sz="1600" b="1"/>
              <a:t> </a:t>
            </a:r>
            <a:r>
              <a:rPr lang="en-US" altLang="ko-KR" sz="1600" b="1"/>
              <a:t>2020</a:t>
            </a:r>
            <a:r>
              <a:rPr lang="ko-KR" altLang="en-US" sz="1600" b="1"/>
              <a:t> 황영민</a:t>
            </a:r>
            <a:r>
              <a:rPr lang="en-US" altLang="ko-KR" sz="1600" b="1"/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</a:p>
          <a:p>
            <a:pPr lvl="1">
              <a:defRPr/>
            </a:pPr>
            <a:r>
              <a:rPr lang="ko-KR" altLang="en-US"/>
              <a:t>개발 배경</a:t>
            </a:r>
          </a:p>
          <a:p>
            <a:pPr lvl="2">
              <a:defRPr/>
            </a:pPr>
            <a:r>
              <a:rPr lang="en-US" altLang="ko-KR"/>
              <a:t>EO</a:t>
            </a:r>
            <a:r>
              <a:rPr lang="ko-KR" altLang="en-US"/>
              <a:t>의 사용 가능한 데이터 세트가 제한적임</a:t>
            </a:r>
          </a:p>
          <a:p>
            <a:pPr lvl="3">
              <a:defRPr/>
            </a:pPr>
            <a:r>
              <a:rPr lang="ko-KR" altLang="en-US"/>
              <a:t>대부분 광학 매체 및 고해상도 위성으로 제한되는 경향이 있음</a:t>
            </a:r>
          </a:p>
          <a:p>
            <a:pPr lvl="3">
              <a:defRPr/>
            </a:pPr>
            <a:endParaRPr lang="ko-KR" altLang="en-US"/>
          </a:p>
          <a:p>
            <a:pPr lvl="2">
              <a:defRPr/>
            </a:pPr>
            <a:r>
              <a:rPr lang="ko-KR" altLang="en-US"/>
              <a:t>또한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SAR</a:t>
            </a:r>
            <a:r>
              <a:rPr lang="ko-KR" altLang="en-US"/>
              <a:t> 데이터의 가용성이 제한적임</a:t>
            </a:r>
          </a:p>
          <a:p>
            <a:pPr lvl="3">
              <a:defRPr/>
            </a:pPr>
            <a:r>
              <a:rPr lang="ko-KR" altLang="en-US"/>
              <a:t>데이터를 동시에 캡쳐하는 것이 거의 불가능하며 데이터가 비싸고 접근성이 어렵다</a:t>
            </a:r>
          </a:p>
          <a:p>
            <a:pPr marL="432000" lvl="2" indent="0">
              <a:buNone/>
              <a:defRPr/>
            </a:pPr>
            <a:endParaRPr lang="ko-KR" altLang="en-US"/>
          </a:p>
          <a:p>
            <a:pPr lvl="2">
              <a:defRPr/>
            </a:pPr>
            <a:r>
              <a:rPr lang="en-US" altLang="ko-KR"/>
              <a:t>UrtheCast</a:t>
            </a:r>
            <a:r>
              <a:rPr lang="ko-KR" altLang="en-US"/>
              <a:t>는 위의 단점들을 보완하여 다음과 같은 기능을 할 수 있는 독자적인 </a:t>
            </a:r>
          </a:p>
          <a:p>
            <a:pPr marL="432000" lvl="2" indent="0">
              <a:buNone/>
              <a:defRPr/>
            </a:pPr>
            <a:r>
              <a:rPr lang="ko-KR" altLang="en-US"/>
              <a:t>     위성군을 만들기로 결정함</a:t>
            </a:r>
          </a:p>
          <a:p>
            <a:pPr lvl="3">
              <a:defRPr/>
            </a:pPr>
            <a:r>
              <a:rPr lang="ko-KR" altLang="en-US"/>
              <a:t>고품질 광학 및 </a:t>
            </a:r>
            <a:r>
              <a:rPr lang="en-US" altLang="ko-KR"/>
              <a:t>SAR</a:t>
            </a:r>
            <a:r>
              <a:rPr lang="ko-KR" altLang="en-US"/>
              <a:t>데이터 세트를 제공</a:t>
            </a:r>
          </a:p>
          <a:p>
            <a:pPr lvl="3">
              <a:defRPr/>
            </a:pPr>
            <a:r>
              <a:rPr lang="ko-KR" altLang="en-US"/>
              <a:t>시간 데이터도 동시에 캡처 가능</a:t>
            </a:r>
          </a:p>
          <a:p>
            <a:pPr lvl="3">
              <a:defRPr/>
            </a:pPr>
            <a:r>
              <a:rPr lang="ko-KR" altLang="en-US"/>
              <a:t>이를 위해 서로 다른 위성으로 센서를 분할하는 방법을 고안</a:t>
            </a:r>
          </a:p>
          <a:p>
            <a:pPr lvl="3">
              <a:defRPr/>
            </a:pPr>
            <a:r>
              <a:rPr lang="ko-KR" altLang="en-US"/>
              <a:t>이 방법으로 위성군 전체에 용량을 분산하여 단점들을 해결할 수 있음 </a:t>
            </a:r>
          </a:p>
          <a:p>
            <a:pPr marL="648000" lvl="3" indent="0">
              <a:buNone/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957150" lvl="3" indent="-285750">
              <a:defRPr/>
            </a:pPr>
            <a:endParaRPr lang="en-US" altLang="ko-KR"/>
          </a:p>
          <a:p>
            <a:pPr marL="957150" lvl="3" indent="-285750">
              <a:defRPr/>
            </a:pPr>
            <a:endParaRPr lang="en-US" altLang="ko-KR"/>
          </a:p>
          <a:p>
            <a:pPr lvl="1">
              <a:defRPr/>
            </a:pPr>
            <a:endParaRPr lang="en-US" altLang="ko-KR"/>
          </a:p>
          <a:p>
            <a:pPr marL="216000" lvl="1" indent="0">
              <a:buNone/>
              <a:defRPr/>
            </a:pPr>
            <a:endParaRPr lang="en-US" altLang="ko-KR"/>
          </a:p>
          <a:p>
            <a:pPr marL="216000" lvl="1" indent="0">
              <a:buNone/>
              <a:defRPr/>
            </a:pP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OptiSAR</a:t>
            </a:r>
            <a:r>
              <a:rPr lang="ko-KR" altLang="en-US"/>
              <a:t>의 개발</a:t>
            </a:r>
          </a:p>
          <a:p>
            <a:pPr lvl="2">
              <a:defRPr/>
            </a:pPr>
            <a:r>
              <a:rPr lang="ko-KR" altLang="en-US"/>
              <a:t>고도 </a:t>
            </a:r>
            <a:r>
              <a:rPr lang="en-US" altLang="ko-KR"/>
              <a:t>450km</a:t>
            </a:r>
          </a:p>
          <a:p>
            <a:pPr lvl="2">
              <a:defRPr/>
            </a:pPr>
            <a:r>
              <a:rPr lang="en-US" altLang="ko-KR"/>
              <a:t>8</a:t>
            </a:r>
            <a:r>
              <a:rPr lang="ko-KR" altLang="en-US"/>
              <a:t>쌍의 </a:t>
            </a:r>
            <a:r>
              <a:rPr lang="en-US" altLang="ko-KR"/>
              <a:t>Optical Satellites</a:t>
            </a:r>
            <a:r>
              <a:rPr lang="ko-KR" altLang="en-US"/>
              <a:t>와 </a:t>
            </a:r>
            <a:r>
              <a:rPr lang="en-US" altLang="ko-KR"/>
              <a:t>SAR</a:t>
            </a:r>
            <a:r>
              <a:rPr lang="ko-KR" altLang="en-US"/>
              <a:t>가 포함된 위성군 개발</a:t>
            </a:r>
          </a:p>
          <a:p>
            <a:pPr lvl="2">
              <a:defRPr/>
            </a:pPr>
            <a:r>
              <a:rPr lang="en-US" altLang="ko-KR"/>
              <a:t>2</a:t>
            </a:r>
            <a:r>
              <a:rPr lang="ko-KR" altLang="en-US"/>
              <a:t>개의 궤도 평면에 등간격으로 각각 </a:t>
            </a:r>
            <a:r>
              <a:rPr lang="en-US" altLang="ko-KR"/>
              <a:t>4</a:t>
            </a:r>
            <a:r>
              <a:rPr lang="ko-KR" altLang="en-US"/>
              <a:t>쌍씩 배치 </a:t>
            </a:r>
          </a:p>
          <a:p>
            <a:pPr lvl="2">
              <a:defRPr/>
            </a:pPr>
            <a:r>
              <a:rPr lang="en-US" altLang="ko-KR"/>
              <a:t>SAR(</a:t>
            </a:r>
            <a:r>
              <a:rPr lang="ko-KR" altLang="en-US"/>
              <a:t>탑재체에 </a:t>
            </a:r>
            <a:r>
              <a:rPr lang="en-US" altLang="ko-KR"/>
              <a:t>XL</a:t>
            </a:r>
            <a:r>
              <a:rPr lang="ko-KR" altLang="en-US"/>
              <a:t> 기술이 사용됨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2</a:t>
            </a:r>
            <a:r>
              <a:rPr lang="ko-KR" altLang="en-US"/>
              <a:t>분 후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Optical satellite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22049" y="2995241"/>
            <a:ext cx="4042472" cy="31757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OptiSAR</a:t>
            </a:r>
            <a:r>
              <a:rPr lang="ko-KR" altLang="en-US"/>
              <a:t>의 개발</a:t>
            </a:r>
          </a:p>
          <a:p>
            <a:pPr lvl="2">
              <a:defRPr/>
            </a:pPr>
            <a:r>
              <a:rPr lang="en-US" altLang="ko-KR"/>
              <a:t>Dual - Optical Satellite</a:t>
            </a:r>
          </a:p>
          <a:p>
            <a:pPr lvl="3">
              <a:defRPr/>
            </a:pPr>
            <a:r>
              <a:rPr lang="ko-KR" altLang="en-US"/>
              <a:t>고해상도 </a:t>
            </a:r>
            <a:r>
              <a:rPr lang="en-US" altLang="ko-KR"/>
              <a:t>(0.5GSD)</a:t>
            </a:r>
            <a:r>
              <a:rPr lang="ko-KR" altLang="en-US"/>
              <a:t> 듀얼모드 광학 카메라 </a:t>
            </a:r>
            <a:r>
              <a:rPr lang="en-US" altLang="ko-KR"/>
              <a:t>(</a:t>
            </a:r>
            <a:r>
              <a:rPr lang="en-US" altLang="en-US"/>
              <a:t>multi-spectral pushbroom</a:t>
            </a:r>
            <a:r>
              <a:rPr lang="ko-KR" altLang="en-US"/>
              <a:t> </a:t>
            </a:r>
            <a:r>
              <a:rPr lang="en-US" altLang="ko-KR"/>
              <a:t>+</a:t>
            </a:r>
            <a:r>
              <a:rPr lang="ko-KR" altLang="en-US"/>
              <a:t> </a:t>
            </a:r>
            <a:r>
              <a:rPr lang="en-US" altLang="ko-KR"/>
              <a:t>RGB color video)</a:t>
            </a:r>
          </a:p>
          <a:p>
            <a:pPr lvl="2">
              <a:defRPr/>
            </a:pPr>
            <a:r>
              <a:rPr lang="en-US" altLang="ko-KR"/>
              <a:t>Dual - band</a:t>
            </a:r>
            <a:r>
              <a:rPr lang="ko-KR" altLang="en-US"/>
              <a:t> </a:t>
            </a:r>
            <a:r>
              <a:rPr lang="en-US" altLang="ko-KR"/>
              <a:t>SAR</a:t>
            </a:r>
          </a:p>
          <a:p>
            <a:pPr lvl="3">
              <a:defRPr/>
            </a:pPr>
            <a:r>
              <a:rPr lang="en-US" altLang="ko-KR"/>
              <a:t>SAR-XL </a:t>
            </a:r>
            <a:r>
              <a:rPr lang="ko-KR" altLang="en-US"/>
              <a:t>기술 </a:t>
            </a:r>
            <a:r>
              <a:rPr lang="en-US" altLang="ko-KR"/>
              <a:t>(X-band</a:t>
            </a:r>
            <a:r>
              <a:rPr lang="ko-KR" altLang="en-US"/>
              <a:t>와 </a:t>
            </a:r>
            <a:r>
              <a:rPr lang="en-US" altLang="ko-KR"/>
              <a:t>L-band</a:t>
            </a:r>
            <a:r>
              <a:rPr lang="ko-KR" altLang="en-US"/>
              <a:t>의 듀얼밴드</a:t>
            </a:r>
            <a:r>
              <a:rPr lang="en-US" altLang="ko-KR"/>
              <a:t>)</a:t>
            </a:r>
          </a:p>
          <a:p>
            <a:pPr lvl="3">
              <a:defRPr/>
            </a:pPr>
            <a:r>
              <a:rPr lang="ko-KR" altLang="en-US"/>
              <a:t>탑재체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1m X-band</a:t>
            </a:r>
            <a:r>
              <a:rPr lang="ko-KR" altLang="en-US"/>
              <a:t> </a:t>
            </a:r>
            <a:r>
              <a:rPr lang="en-US" altLang="ko-KR"/>
              <a:t>+</a:t>
            </a:r>
            <a:r>
              <a:rPr lang="ko-KR" altLang="en-US"/>
              <a:t> </a:t>
            </a:r>
            <a:r>
              <a:rPr lang="en-US" altLang="ko-KR"/>
              <a:t>5m</a:t>
            </a:r>
            <a:r>
              <a:rPr lang="ko-KR" altLang="en-US"/>
              <a:t> </a:t>
            </a:r>
            <a:r>
              <a:rPr lang="en-US" altLang="ko-KR"/>
              <a:t>L-band </a:t>
            </a:r>
          </a:p>
          <a:p>
            <a:pPr lvl="4">
              <a:defRPr/>
            </a:pPr>
            <a:endParaRPr lang="en-US" altLang="ko-KR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37944" y="3949723"/>
            <a:ext cx="3142633" cy="22263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610100" y="4005487"/>
            <a:ext cx="3166497" cy="21730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OptiSAR</a:t>
            </a:r>
            <a:r>
              <a:rPr lang="ko-KR" altLang="en-US"/>
              <a:t>의 개발</a:t>
            </a:r>
          </a:p>
          <a:p>
            <a:pPr lvl="2">
              <a:defRPr/>
            </a:pPr>
            <a:r>
              <a:rPr lang="ko-KR" altLang="en-US"/>
              <a:t>궤도 </a:t>
            </a:r>
            <a:r>
              <a:rPr lang="en-US" altLang="ko-KR"/>
              <a:t>:</a:t>
            </a:r>
            <a:r>
              <a:rPr lang="ko-KR" altLang="en-US"/>
              <a:t> 태양동기궤도</a:t>
            </a:r>
            <a:r>
              <a:rPr lang="en-US" altLang="ko-KR"/>
              <a:t>(SSO)</a:t>
            </a:r>
            <a:r>
              <a:rPr lang="ko-KR" altLang="en-US"/>
              <a:t>와</a:t>
            </a:r>
            <a:r>
              <a:rPr lang="en-US" altLang="ko-KR"/>
              <a:t> Mid-inclination-Orbit(MIO)</a:t>
            </a:r>
          </a:p>
          <a:p>
            <a:pPr lvl="3">
              <a:defRPr/>
            </a:pPr>
            <a:r>
              <a:rPr lang="en-US" altLang="ko-KR"/>
              <a:t>SSO : </a:t>
            </a:r>
            <a:r>
              <a:rPr lang="ko-KR" altLang="en-US"/>
              <a:t> </a:t>
            </a:r>
            <a:r>
              <a:rPr lang="en-US" altLang="ko-KR"/>
              <a:t>10:30 A.M.</a:t>
            </a:r>
            <a:r>
              <a:rPr lang="ko-KR" altLang="en-US"/>
              <a:t>에 적도를 지난다 </a:t>
            </a:r>
            <a:r>
              <a:rPr lang="en-US" altLang="ko-KR"/>
              <a:t>(LTAN 10:30)</a:t>
            </a:r>
          </a:p>
          <a:p>
            <a:pPr lvl="3">
              <a:defRPr/>
            </a:pPr>
            <a:r>
              <a:rPr lang="en-US" altLang="ko-KR"/>
              <a:t>MIO : </a:t>
            </a:r>
            <a:r>
              <a:rPr lang="ko-KR" altLang="en-US"/>
              <a:t>최대 </a:t>
            </a:r>
            <a:r>
              <a:rPr lang="en-US" altLang="ko-KR"/>
              <a:t>45</a:t>
            </a:r>
            <a:r>
              <a:rPr lang="ko-KR" altLang="en-US"/>
              <a:t>˚ 궤도경사각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Ultra-hight revisit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50391" y="2812356"/>
            <a:ext cx="5814575" cy="32321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Dual-Optical Satellite</a:t>
            </a:r>
            <a:endParaRPr lang="ko-KR" altLang="en-US"/>
          </a:p>
          <a:p>
            <a:pPr lvl="3">
              <a:defRPr/>
            </a:pPr>
            <a:r>
              <a:rPr lang="en-US" altLang="ko-KR"/>
              <a:t>SSTL300</a:t>
            </a:r>
            <a:r>
              <a:rPr lang="ko-KR" altLang="en-US"/>
              <a:t>에 기반한 높은 해상도 및 민감도</a:t>
            </a:r>
          </a:p>
          <a:p>
            <a:pPr lvl="3">
              <a:defRPr/>
            </a:pPr>
            <a:r>
              <a:rPr lang="en-US" altLang="ko-KR"/>
              <a:t>700kg</a:t>
            </a:r>
          </a:p>
          <a:p>
            <a:pPr lvl="3">
              <a:defRPr/>
            </a:pPr>
            <a:r>
              <a:rPr lang="en-US" altLang="ko-KR"/>
              <a:t>6</a:t>
            </a:r>
            <a:r>
              <a:rPr lang="ko-KR" altLang="en-US"/>
              <a:t> </a:t>
            </a:r>
            <a:r>
              <a:rPr lang="en-US" altLang="ko-KR"/>
              <a:t>band push broom still camera + color video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63764" y="2852737"/>
            <a:ext cx="4219575" cy="3057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Dual-band</a:t>
            </a:r>
            <a:r>
              <a:rPr lang="ko-KR" altLang="en-US"/>
              <a:t> </a:t>
            </a:r>
            <a:r>
              <a:rPr lang="en-US" altLang="ko-KR"/>
              <a:t>SAR</a:t>
            </a:r>
          </a:p>
          <a:p>
            <a:pPr lvl="3">
              <a:defRPr/>
            </a:pPr>
            <a:r>
              <a:rPr lang="en-US" altLang="ko-KR"/>
              <a:t>World first Dual frequency X and L band SAR</a:t>
            </a:r>
          </a:p>
          <a:p>
            <a:pPr lvl="3">
              <a:defRPr/>
            </a:pPr>
            <a:r>
              <a:rPr lang="en-US" altLang="ko-KR"/>
              <a:t>Antenna 1.8m(in elevation) x 1.0m(in azimuth)</a:t>
            </a:r>
          </a:p>
          <a:p>
            <a:pPr lvl="3">
              <a:defRPr/>
            </a:pPr>
            <a:r>
              <a:rPr lang="en-US" altLang="ko-KR"/>
              <a:t>S-band Inter-Satellite-Link to the Optical spacecraft(Tx only)</a:t>
            </a:r>
          </a:p>
          <a:p>
            <a:pPr lvl="3">
              <a:defRPr/>
            </a:pPr>
            <a:endParaRPr lang="en-US" altLang="ko-KR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51724" y="2823370"/>
            <a:ext cx="5403043" cy="33680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1047425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OptiSAR</a:t>
            </a:r>
            <a:r>
              <a:rPr lang="ko-KR" altLang="en-US"/>
              <a:t>의 장점</a:t>
            </a:r>
          </a:p>
          <a:p>
            <a:pPr lvl="1">
              <a:defRPr/>
            </a:pPr>
            <a:r>
              <a:rPr lang="ko-KR" altLang="en-US"/>
              <a:t>적은 비용으로 큰 위성군 설계 가능</a:t>
            </a:r>
          </a:p>
          <a:p>
            <a:pPr lvl="1">
              <a:defRPr/>
            </a:pPr>
            <a:r>
              <a:rPr lang="ko-KR" altLang="en-US"/>
              <a:t>기존 설계를 재사용하여 단순한 설계 유지</a:t>
            </a:r>
          </a:p>
          <a:p>
            <a:pPr lvl="1"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/>
              <a:t>OptiSAR</a:t>
            </a:r>
            <a:r>
              <a:rPr lang="ko-KR" altLang="en-US"/>
              <a:t>의 기대효과</a:t>
            </a:r>
          </a:p>
          <a:p>
            <a:pPr lvl="1">
              <a:defRPr/>
            </a:pPr>
            <a:r>
              <a:rPr lang="ko-KR" altLang="en-US"/>
              <a:t>광학 및 </a:t>
            </a:r>
            <a:r>
              <a:rPr lang="en-US" altLang="ko-KR"/>
              <a:t>SAR</a:t>
            </a:r>
            <a:r>
              <a:rPr lang="ko-KR" altLang="en-US"/>
              <a:t>의 데이터를 융합한 높은 데이터 용량</a:t>
            </a:r>
          </a:p>
          <a:p>
            <a:pPr lvl="1">
              <a:defRPr/>
            </a:pPr>
            <a:r>
              <a:rPr lang="en-US" altLang="ko-KR"/>
              <a:t>SAR</a:t>
            </a:r>
            <a:r>
              <a:rPr lang="ko-KR" altLang="en-US"/>
              <a:t>를 사용하여 날씨에 구애받지 않는 고해상도 이미지</a:t>
            </a:r>
          </a:p>
          <a:p>
            <a:pPr lvl="1">
              <a:defRPr/>
            </a:pPr>
            <a:r>
              <a:rPr lang="ko-KR" altLang="en-US"/>
              <a:t>재방문 및 이미징 대기 시간 등 높은 성능의 공간 이미징 기능</a:t>
            </a:r>
          </a:p>
          <a:p>
            <a:pPr lvl="1">
              <a:defRPr/>
            </a:pPr>
            <a:r>
              <a:rPr lang="en-US" altLang="ko-KR"/>
              <a:t>SAR-optical satellite </a:t>
            </a:r>
            <a:r>
              <a:rPr lang="ko-KR" altLang="en-US"/>
              <a:t>구성의 비행으로 구름 회피를 가능하게  하는 실시간 처리</a:t>
            </a:r>
          </a:p>
          <a:p>
            <a:pPr lvl="1">
              <a:defRPr/>
            </a:pPr>
            <a:r>
              <a:rPr lang="ko-KR" altLang="en-US"/>
              <a:t>두 궤도면을 통해 극지방까지 확장되는 전 지구적 커버리지 제공</a:t>
            </a:r>
          </a:p>
          <a:p>
            <a:pPr lvl="1">
              <a:defRPr/>
            </a:pPr>
            <a:r>
              <a:rPr lang="ko-KR" altLang="en-US"/>
              <a:t>인구가 가장 많은 중위도에서의 최대 재방문율 허용</a:t>
            </a:r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491400" lvl="2" indent="0">
              <a:buNone/>
              <a:defRPr/>
            </a:pPr>
            <a:r>
              <a:rPr lang="en-US" altLang="ko-KR" sz="1800"/>
              <a:t> 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요약 및 연구계획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연구계획</a:t>
            </a:r>
          </a:p>
          <a:p>
            <a:pPr lvl="0">
              <a:defRPr/>
            </a:pPr>
            <a:endParaRPr lang="en-US" altLang="ko-KR"/>
          </a:p>
          <a:p>
            <a:pPr lvl="1">
              <a:defRPr/>
            </a:pPr>
            <a:r>
              <a:rPr lang="ko-KR" altLang="en-US"/>
              <a:t>워커</a:t>
            </a:r>
            <a:r>
              <a:rPr lang="en-US" altLang="ko-KR"/>
              <a:t>-</a:t>
            </a:r>
            <a:r>
              <a:rPr lang="ko-KR" altLang="en-US"/>
              <a:t>델타 위성군 사례를 통하여 운용 방법 공부</a:t>
            </a:r>
          </a:p>
          <a:p>
            <a:pPr lvl="1">
              <a:defRPr/>
            </a:pPr>
            <a:r>
              <a:rPr lang="ko-KR" altLang="en-US"/>
              <a:t>요구되는 조건 및 필요한 개념을 중점으로 한 </a:t>
            </a:r>
            <a:r>
              <a:rPr lang="ko-KR" altLang="en-US" u="sng"/>
              <a:t>탑재체의 특성에 대한 연구</a:t>
            </a:r>
            <a:endParaRPr lang="ko-KR" altLang="en-US"/>
          </a:p>
          <a:p>
            <a:pPr lvl="1">
              <a:defRPr/>
            </a:pPr>
            <a:r>
              <a:rPr lang="ko-KR" altLang="en-US" u="sng"/>
              <a:t>요구조건 및 성능지수</a:t>
            </a:r>
            <a:r>
              <a:rPr lang="ko-KR" altLang="en-US"/>
              <a:t>와 관련된 논문 추가 정리 </a:t>
            </a:r>
          </a:p>
          <a:p>
            <a:pPr lvl="1">
              <a:defRPr/>
            </a:pPr>
            <a:r>
              <a:rPr lang="en-US" altLang="ko-KR"/>
              <a:t>SAR, Optical satellite</a:t>
            </a:r>
            <a:r>
              <a:rPr lang="ko-KR" altLang="en-US"/>
              <a:t> 각각의 </a:t>
            </a:r>
            <a:r>
              <a:rPr lang="ko-KR" altLang="en-US" u="sng"/>
              <a:t>개별 위성군과의 성능 차이 분석</a:t>
            </a:r>
            <a:r>
              <a:rPr lang="ko-KR" altLang="en-US"/>
              <a:t> </a:t>
            </a:r>
          </a:p>
          <a:p>
            <a:pPr lvl="1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요약 및 연구계획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1009</Words>
  <Application>Microsoft Office PowerPoint</Application>
  <PresentationFormat>화면 슬라이드 쇼(4:3)</PresentationFormat>
  <Paragraphs>208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mn-ea</vt:lpstr>
      <vt:lpstr>맑은 고딕</vt:lpstr>
      <vt:lpstr>Arial</vt:lpstr>
      <vt:lpstr>times</vt:lpstr>
      <vt:lpstr>Times New Roman</vt:lpstr>
      <vt:lpstr>Wingdings</vt:lpstr>
      <vt:lpstr>Office 테마</vt:lpstr>
      <vt:lpstr>정기 연구미팅 보고</vt:lpstr>
      <vt:lpstr>목차</vt:lpstr>
      <vt:lpstr>연구/개발 개요</vt:lpstr>
      <vt:lpstr>2종 위성군 OptiSAR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결론</vt:lpstr>
      <vt:lpstr>요약 및 연구계획</vt:lpstr>
      <vt:lpstr>요약 및 연구계획</vt:lpstr>
      <vt:lpstr>경청해 주셔서 감사합니다.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3082</cp:revision>
  <dcterms:created xsi:type="dcterms:W3CDTF">2018-01-29T02:45:56Z</dcterms:created>
  <dcterms:modified xsi:type="dcterms:W3CDTF">2023-01-10T05:45:35Z</dcterms:modified>
  <cp:version>1000.0000.01</cp:version>
</cp:coreProperties>
</file>