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50" r:id="rId2"/>
    <p:sldId id="2239" r:id="rId3"/>
    <p:sldId id="2554" r:id="rId4"/>
    <p:sldId id="2565" r:id="rId5"/>
    <p:sldId id="2589" r:id="rId6"/>
    <p:sldId id="2588" r:id="rId7"/>
    <p:sldId id="2590" r:id="rId8"/>
    <p:sldId id="2580" r:id="rId9"/>
    <p:sldId id="2568" r:id="rId10"/>
    <p:sldId id="2569" r:id="rId11"/>
    <p:sldId id="2581" r:id="rId12"/>
    <p:sldId id="2591" r:id="rId13"/>
    <p:sldId id="2592" r:id="rId14"/>
    <p:sldId id="2594" r:id="rId15"/>
    <p:sldId id="2587" r:id="rId16"/>
    <p:sldId id="2593" r:id="rId17"/>
    <p:sldId id="2595" r:id="rId18"/>
    <p:sldId id="2596" r:id="rId19"/>
    <p:sldId id="2597" r:id="rId20"/>
    <p:sldId id="2584" r:id="rId21"/>
    <p:sldId id="2509" r:id="rId22"/>
    <p:sldId id="2510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E46"/>
    <a:srgbClr val="CC99FF"/>
    <a:srgbClr val="000A1E"/>
    <a:srgbClr val="EDB021"/>
    <a:srgbClr val="D9541A"/>
    <a:srgbClr val="404040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82161" autoAdjust="0"/>
  </p:normalViewPr>
  <p:slideViewPr>
    <p:cSldViewPr snapToGrid="0" showGuides="1">
      <p:cViewPr>
        <p:scale>
          <a:sx n="100" d="100"/>
          <a:sy n="100" d="100"/>
        </p:scale>
        <p:origin x="2058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614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709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529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7195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924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51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807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724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h1 : </a:t>
            </a:r>
            <a:r>
              <a:rPr lang="ko-KR" altLang="en-US" dirty="0"/>
              <a:t>하나의 </a:t>
            </a:r>
            <a:r>
              <a:rPr lang="en-US" altLang="ko-KR" dirty="0"/>
              <a:t>flow</a:t>
            </a:r>
            <a:r>
              <a:rPr lang="ko-KR" altLang="en-US" dirty="0"/>
              <a:t>가 매칭됨</a:t>
            </a:r>
            <a:endParaRPr lang="en-US" altLang="ko-KR" dirty="0"/>
          </a:p>
          <a:p>
            <a:r>
              <a:rPr lang="en-US" altLang="ko-KR" dirty="0"/>
              <a:t>G1 : </a:t>
            </a:r>
            <a:r>
              <a:rPr lang="ko-KR" altLang="en-US" dirty="0"/>
              <a:t>각 </a:t>
            </a:r>
            <a:r>
              <a:rPr lang="en-US" altLang="ko-KR" dirty="0"/>
              <a:t>n</a:t>
            </a:r>
            <a:r>
              <a:rPr lang="ko-KR" altLang="en-US" dirty="0"/>
              <a:t>에 대해 최대 하나의 위성을 수용할 수 있음</a:t>
            </a:r>
            <a:r>
              <a:rPr lang="en-US" altLang="ko-KR" dirty="0"/>
              <a:t>(</a:t>
            </a:r>
            <a:r>
              <a:rPr lang="ko-KR" altLang="en-US" dirty="0"/>
              <a:t>불균형 선형 제한조건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G2,</a:t>
            </a:r>
            <a:r>
              <a:rPr lang="ko-KR" altLang="en-US" dirty="0"/>
              <a:t> </a:t>
            </a:r>
            <a:r>
              <a:rPr lang="en-US" altLang="ko-KR" dirty="0"/>
              <a:t>g3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big M method </a:t>
            </a:r>
            <a:r>
              <a:rPr lang="ko-KR" altLang="en-US" dirty="0"/>
              <a:t>제한조건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548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204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911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165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7928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185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36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044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3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4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3" Type="http://schemas.openxmlformats.org/officeDocument/2006/relationships/image" Target="../media/image58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62.png"/><Relationship Id="rId9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2023-10-12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91210"/>
              </p:ext>
            </p:extLst>
          </p:nvPr>
        </p:nvGraphicFramePr>
        <p:xfrm>
          <a:off x="1495601" y="1029970"/>
          <a:ext cx="7318019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설계기법 개요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적용 예시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5034337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기존의</a:t>
            </a:r>
            <a:r>
              <a:rPr lang="en-US" altLang="ko-KR" dirty="0"/>
              <a:t> </a:t>
            </a:r>
            <a:r>
              <a:rPr lang="ko-KR" altLang="en-US" dirty="0"/>
              <a:t>논문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논문</a:t>
            </a:r>
            <a:endParaRPr lang="en-US" altLang="ko-KR" dirty="0"/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Binary Integer Linear Programming Formulation for Optimal Satellite Constellation Reconfiguration</a:t>
            </a:r>
            <a:r>
              <a:rPr lang="en-US" altLang="ko-KR" b="1" dirty="0">
                <a:solidFill>
                  <a:srgbClr val="1F2328"/>
                </a:solidFill>
              </a:rPr>
              <a:t>”, 2020 AAS/AIAA Astrodynamics Specialist Conference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Quasi-symmetric</a:t>
            </a:r>
            <a:r>
              <a:rPr lang="ko-KR" altLang="en-US" dirty="0">
                <a:solidFill>
                  <a:srgbClr val="1F2328"/>
                </a:solidFill>
              </a:rPr>
              <a:t>과 </a:t>
            </a: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의 결과를 비교하는 내용을 중점적으로 다룬 기존의 논문에 비해 더욱 자세한 </a:t>
            </a: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 설계기법의 과정을 수학적으로 제시한 논문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Regional Constellation Reconfiguration Problem: Integer Linear Programming Formulation and </a:t>
            </a:r>
            <a:r>
              <a:rPr lang="en-US" altLang="ko-KR" b="1" u="sng" dirty="0" err="1">
                <a:solidFill>
                  <a:srgbClr val="1F2328"/>
                </a:solidFill>
              </a:rPr>
              <a:t>Lagrangian</a:t>
            </a:r>
            <a:r>
              <a:rPr lang="en-US" altLang="ko-KR" b="1" u="sng" dirty="0">
                <a:solidFill>
                  <a:srgbClr val="1F2328"/>
                </a:solidFill>
              </a:rPr>
              <a:t> Heuristic Method</a:t>
            </a:r>
            <a:r>
              <a:rPr lang="en-US" altLang="ko-KR" b="1" dirty="0">
                <a:solidFill>
                  <a:srgbClr val="1F2328"/>
                </a:solidFill>
              </a:rPr>
              <a:t>”, 2023 Journal of Spacecraft and Rockets 0 0:0, 1-18</a:t>
            </a:r>
          </a:p>
          <a:p>
            <a:pPr lvl="2">
              <a:defRPr/>
            </a:pPr>
            <a:r>
              <a:rPr lang="ko-KR" altLang="en-US" dirty="0"/>
              <a:t>위의 논문에 </a:t>
            </a:r>
            <a:r>
              <a:rPr lang="en-US" altLang="ko-KR" dirty="0" err="1"/>
              <a:t>Lagrangian</a:t>
            </a:r>
            <a:r>
              <a:rPr lang="en-US" altLang="ko-KR" dirty="0"/>
              <a:t> Heuristic Method</a:t>
            </a:r>
            <a:r>
              <a:rPr lang="ko-KR" altLang="en-US" dirty="0"/>
              <a:t>에 관한 내용을 추가한 논문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err="1">
                <a:solidFill>
                  <a:srgbClr val="1F2328"/>
                </a:solidFill>
                <a:latin typeface="-apple-system"/>
              </a:rPr>
              <a:t>위성군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 운용 개념</a:t>
            </a:r>
            <a:r>
              <a:rPr lang="en-US" altLang="ko-KR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초기의 요구조건만으로는 원하는 성능지수 달성이 어려울 때</a:t>
            </a:r>
            <a:r>
              <a:rPr lang="en-US" altLang="ko-KR" dirty="0">
                <a:solidFill>
                  <a:srgbClr val="1F2328"/>
                </a:solidFill>
              </a:rPr>
              <a:t>, </a:t>
            </a:r>
            <a:r>
              <a:rPr lang="ko-KR" altLang="en-US" dirty="0">
                <a:solidFill>
                  <a:srgbClr val="1F2328"/>
                </a:solidFill>
              </a:rPr>
              <a:t>제한조건의 값을 조정 함으로서 새로운 위성군을 배치하도록 함  </a:t>
            </a:r>
            <a:endParaRPr lang="en-US" altLang="ko-KR" dirty="0">
              <a:solidFill>
                <a:srgbClr val="1F2328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4EB0EF-9784-EC43-9919-91F8D49A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8" y="2094309"/>
            <a:ext cx="6950736" cy="28205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896964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  <a:latin typeface="-apple-system"/>
                  </a:rPr>
                  <a:t>위성군 운용 개념</a:t>
                </a:r>
                <a:r>
                  <a:rPr lang="en-US" altLang="ko-KR" i="0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</a:p>
              <a:p>
                <a:pPr lvl="1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</a:rPr>
                  <a:t>제한 조건의 수정 예시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1.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최소 커버리지 요구 횟수 수정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 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(1)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커버리지 타입 변경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(single, double fold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등의 연속 커버리지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,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불연속 커버리지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,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시간 커버리지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(2)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최소 </a:t>
                </a:r>
                <a:r>
                  <a:rPr lang="ko-KR" altLang="en-US" dirty="0" err="1">
                    <a:solidFill>
                      <a:srgbClr val="1F2328"/>
                    </a:solidFill>
                  </a:rPr>
                  <a:t>고도각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 기준 변경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 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2.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관심지역 수정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Ｊ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1F2328"/>
                    </a:solidFill>
                  </a:rPr>
                  <a:t> 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Ｊ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</a:p>
              <a:p>
                <a:pPr lvl="2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3.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위성의 수 수정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(1)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새로운 위성을 추가 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(2)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기존의 위성을 제거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3">
                  <a:defRPr/>
                </a:pP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1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</a:rPr>
                  <a:t>제한 조건의 수정에 따른 변화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1. Seed satellite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의 궤도요소 변화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œ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œ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</a:p>
              <a:p>
                <a:pPr lvl="2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2.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위성군의 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pattern vector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변화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</a:p>
              <a:p>
                <a:pPr lvl="2">
                  <a:defRPr/>
                </a:pPr>
                <a:endParaRPr lang="en-US" altLang="ko-KR" dirty="0">
                  <a:solidFill>
                    <a:srgbClr val="1F2328"/>
                  </a:solidFill>
                </a:endParaRPr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1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0CAA6643-725E-5C1A-3B19-CFC084CD5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227" y="5190685"/>
            <a:ext cx="2839643" cy="4433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2684EAC-D91B-35B0-9002-B76A33F07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004" y="5725928"/>
            <a:ext cx="1545441" cy="3566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0A7DA66-E8CC-3CB7-2F57-198B46D51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036" y="5338988"/>
            <a:ext cx="2806591" cy="6997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DBA2A5C-DE02-D038-2890-F29481BD32F0}"/>
              </a:ext>
            </a:extLst>
          </p:cNvPr>
          <p:cNvSpPr/>
          <p:nvPr/>
        </p:nvSpPr>
        <p:spPr bwMode="auto">
          <a:xfrm>
            <a:off x="4230475" y="5546281"/>
            <a:ext cx="534256" cy="26463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04285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  <a:latin typeface="-apple-system"/>
                  </a:rPr>
                  <a:t>위성군 운용 개념</a:t>
                </a:r>
                <a:r>
                  <a:rPr lang="en-US" altLang="ko-KR" i="0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</a:p>
              <a:p>
                <a:pPr lvl="1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</a:rPr>
                  <a:t>제한 조건의 수정 예시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3.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위성의 수 수정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1F2328"/>
                    </a:solidFill>
                  </a:rPr>
                  <a:t>)</a:t>
                </a: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FF0000"/>
                    </a:solidFill>
                  </a:rPr>
                  <a:t>(1)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새로운 위성을 추가 </a:t>
                </a:r>
                <a:endParaRPr lang="en-US" altLang="ko-KR" dirty="0">
                  <a:solidFill>
                    <a:srgbClr val="FF0000"/>
                  </a:solidFill>
                </a:endParaRP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(2)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기존의 위성을 제거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1">
                  <a:defRPr/>
                </a:pP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endParaRPr lang="en-US" altLang="ko-KR" dirty="0">
                  <a:solidFill>
                    <a:srgbClr val="1F2328"/>
                  </a:solidFill>
                </a:endParaRPr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1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0BDA6BF-B64C-600E-0A8E-5C49244FF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974" y="1542563"/>
            <a:ext cx="5257944" cy="44678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19898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설계기법 개요</a:t>
            </a:r>
          </a:p>
        </p:txBody>
      </p:sp>
    </p:spTree>
    <p:extLst>
      <p:ext uri="{BB962C8B-B14F-4D97-AF65-F5344CB8AC3E}">
        <p14:creationId xmlns:p14="http://schemas.microsoft.com/office/powerpoint/2010/main" val="318182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C5E9F8C1-BD44-0BEC-D5AA-B0F4EC2ABEEB}"/>
              </a:ext>
            </a:extLst>
          </p:cNvPr>
          <p:cNvSpPr/>
          <p:nvPr/>
        </p:nvSpPr>
        <p:spPr bwMode="auto">
          <a:xfrm>
            <a:off x="708917" y="1379088"/>
            <a:ext cx="1575768" cy="386074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152C-B3BE-4DFA-8222-A06B9EA5E663}"/>
              </a:ext>
            </a:extLst>
          </p:cNvPr>
          <p:cNvGrpSpPr/>
          <p:nvPr/>
        </p:nvGrpSpPr>
        <p:grpSpPr>
          <a:xfrm>
            <a:off x="734848" y="1337663"/>
            <a:ext cx="1469204" cy="577081"/>
            <a:chOff x="3581400" y="1046837"/>
            <a:chExt cx="1469204" cy="57708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/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Input</a:t>
                  </a:r>
                </a:p>
                <a:p>
                  <a:pPr algn="ctr"/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L, </a:t>
                  </a:r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050" dirty="0" smtClean="0"/>
                        <m:t>œ</m:t>
                      </m:r>
                    </m:oMath>
                  </a14:m>
                  <a:r>
                    <a:rPr lang="en-US" altLang="ko-KR" sz="1050" dirty="0"/>
                    <a:t>, 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altLang="ko-KR" sz="1050" dirty="0"/>
                    <a:t>,</a:t>
                  </a:r>
                  <a:endParaRPr lang="ko-KR" altLang="en-US" sz="1050" dirty="0"/>
                </a:p>
                <a:p>
                  <a:pPr algn="ctr"/>
                  <a:endParaRPr lang="ko-KR" altLang="en-US" sz="105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766AF33-C1AD-85D8-E109-D9AC9AC6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2183" y="1270584"/>
              <a:ext cx="139325" cy="131794"/>
            </a:xfrm>
            <a:prstGeom prst="rect">
              <a:avLst/>
            </a:prstGeom>
          </p:spPr>
        </p:pic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B560B21-E181-E4A0-A25D-487AEC4379B5}"/>
              </a:ext>
            </a:extLst>
          </p:cNvPr>
          <p:cNvCxnSpPr>
            <a:cxnSpLocks/>
          </p:cNvCxnSpPr>
          <p:nvPr/>
        </p:nvCxnSpPr>
        <p:spPr>
          <a:xfrm>
            <a:off x="1490657" y="1775500"/>
            <a:ext cx="6" cy="25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410DAF64-2F41-486F-FD40-89431A48FA67}"/>
              </a:ext>
            </a:extLst>
          </p:cNvPr>
          <p:cNvSpPr/>
          <p:nvPr/>
        </p:nvSpPr>
        <p:spPr bwMode="auto">
          <a:xfrm>
            <a:off x="942976" y="2028825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/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F77E666-26AD-B916-30C5-B8943DAD6EFC}"/>
              </a:ext>
            </a:extLst>
          </p:cNvPr>
          <p:cNvCxnSpPr>
            <a:cxnSpLocks/>
          </p:cNvCxnSpPr>
          <p:nvPr/>
        </p:nvCxnSpPr>
        <p:spPr>
          <a:xfrm>
            <a:off x="1490657" y="257792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7421B-BDB8-85FD-473F-875BDBEBC522}"/>
              </a:ext>
            </a:extLst>
          </p:cNvPr>
          <p:cNvCxnSpPr>
            <a:cxnSpLocks/>
          </p:cNvCxnSpPr>
          <p:nvPr/>
        </p:nvCxnSpPr>
        <p:spPr>
          <a:xfrm>
            <a:off x="2039522" y="2301699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D505CA-00A6-728C-DBE2-CB257FC56A8F}"/>
              </a:ext>
            </a:extLst>
          </p:cNvPr>
          <p:cNvSpPr txBox="1"/>
          <p:nvPr/>
        </p:nvSpPr>
        <p:spPr>
          <a:xfrm>
            <a:off x="1471613" y="258656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81CB6-9C1B-AE3A-C82E-F07D0F905491}"/>
              </a:ext>
            </a:extLst>
          </p:cNvPr>
          <p:cNvSpPr txBox="1"/>
          <p:nvPr/>
        </p:nvSpPr>
        <p:spPr>
          <a:xfrm>
            <a:off x="1928512" y="2072555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A8F0E-C81E-CC71-99E3-AA0A4C6B1F13}"/>
              </a:ext>
            </a:extLst>
          </p:cNvPr>
          <p:cNvSpPr/>
          <p:nvPr/>
        </p:nvSpPr>
        <p:spPr bwMode="auto">
          <a:xfrm>
            <a:off x="2312162" y="2056856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EECEB8-8D06-1F3F-6B32-FDBD9128C1C0}"/>
              </a:ext>
            </a:extLst>
          </p:cNvPr>
          <p:cNvSpPr txBox="1"/>
          <p:nvPr/>
        </p:nvSpPr>
        <p:spPr>
          <a:xfrm>
            <a:off x="2241659" y="2167871"/>
            <a:ext cx="1469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1F2328"/>
                </a:solidFill>
              </a:rPr>
              <a:t>Satellite invisible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051509-1E88-EB12-A776-B801B91FE1E2}"/>
              </a:ext>
            </a:extLst>
          </p:cNvPr>
          <p:cNvSpPr/>
          <p:nvPr/>
        </p:nvSpPr>
        <p:spPr bwMode="auto">
          <a:xfrm>
            <a:off x="708437" y="2897044"/>
            <a:ext cx="1554926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/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050" dirty="0"/>
                  <a:t> </a:t>
                </a:r>
                <a:r>
                  <a:rPr lang="en-US" altLang="ko-KR" sz="1050" dirty="0"/>
                  <a:t>: </a:t>
                </a:r>
              </a:p>
              <a:p>
                <a:pPr algn="ctr"/>
                <a:r>
                  <a:rPr lang="en-US" altLang="ko-KR" sz="1050" dirty="0"/>
                  <a:t>Access profile Saved</a:t>
                </a:r>
                <a:endParaRPr lang="ko-KR" alt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blipFill>
                <a:blip r:embed="rId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AFD061C-8B01-D6DD-700D-166F0376FE0A}"/>
              </a:ext>
            </a:extLst>
          </p:cNvPr>
          <p:cNvCxnSpPr>
            <a:cxnSpLocks/>
          </p:cNvCxnSpPr>
          <p:nvPr/>
        </p:nvCxnSpPr>
        <p:spPr>
          <a:xfrm>
            <a:off x="1490657" y="342332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6C8DBC0A-D168-2684-29D7-6569B3290794}"/>
              </a:ext>
            </a:extLst>
          </p:cNvPr>
          <p:cNvSpPr/>
          <p:nvPr/>
        </p:nvSpPr>
        <p:spPr bwMode="auto">
          <a:xfrm>
            <a:off x="942970" y="3733921"/>
            <a:ext cx="1076324" cy="549099"/>
          </a:xfrm>
          <a:prstGeom prst="diamond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/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1BF00F4-11F8-3AF7-61A4-00FEBAC19E06}"/>
              </a:ext>
            </a:extLst>
          </p:cNvPr>
          <p:cNvCxnSpPr>
            <a:cxnSpLocks/>
          </p:cNvCxnSpPr>
          <p:nvPr/>
        </p:nvCxnSpPr>
        <p:spPr>
          <a:xfrm>
            <a:off x="2035937" y="4014241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7B600A5-CA1F-1A30-BD3E-FAFD91BF2262}"/>
              </a:ext>
            </a:extLst>
          </p:cNvPr>
          <p:cNvSpPr txBox="1"/>
          <p:nvPr/>
        </p:nvSpPr>
        <p:spPr>
          <a:xfrm>
            <a:off x="1934452" y="3785097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E7AC68-193F-16F3-0AE0-FD6E91927ECA}"/>
              </a:ext>
            </a:extLst>
          </p:cNvPr>
          <p:cNvSpPr/>
          <p:nvPr/>
        </p:nvSpPr>
        <p:spPr bwMode="auto">
          <a:xfrm>
            <a:off x="2312162" y="3757829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/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050" dirty="0">
                    <a:solidFill>
                      <a:srgbClr val="1F2328"/>
                    </a:solidFill>
                  </a:rPr>
                  <a:t> : </a:t>
                </a:r>
              </a:p>
              <a:p>
                <a:pPr algn="ctr"/>
                <a:r>
                  <a:rPr lang="en-US" altLang="ko-KR" sz="1050" dirty="0">
                    <a:solidFill>
                      <a:srgbClr val="1F2328"/>
                    </a:solidFill>
                  </a:rPr>
                  <a:t>Seed Satellite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blipFill>
                <a:blip r:embed="rId8"/>
                <a:stretch>
                  <a:fillRect t="-1389"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4DAEAD-5BC8-5AAF-C8A6-42DE45B0995C}"/>
              </a:ext>
            </a:extLst>
          </p:cNvPr>
          <p:cNvCxnSpPr>
            <a:cxnSpLocks/>
          </p:cNvCxnSpPr>
          <p:nvPr/>
        </p:nvCxnSpPr>
        <p:spPr>
          <a:xfrm>
            <a:off x="2972905" y="4269603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58D1CD20-DFE2-FB67-E010-124BE3B1EA39}"/>
              </a:ext>
            </a:extLst>
          </p:cNvPr>
          <p:cNvSpPr/>
          <p:nvPr/>
        </p:nvSpPr>
        <p:spPr bwMode="auto">
          <a:xfrm>
            <a:off x="2434743" y="4580948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/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]=1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blipFill>
                <a:blip r:embed="rId9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C942F0F5-5F59-4EC9-EA0F-6D4DB67970D5}"/>
              </a:ext>
            </a:extLst>
          </p:cNvPr>
          <p:cNvCxnSpPr>
            <a:cxnSpLocks/>
            <a:stCxn id="39" idx="3"/>
            <a:endCxn id="37" idx="3"/>
          </p:cNvCxnSpPr>
          <p:nvPr/>
        </p:nvCxnSpPr>
        <p:spPr>
          <a:xfrm flipV="1">
            <a:off x="3511067" y="4005158"/>
            <a:ext cx="108433" cy="850340"/>
          </a:xfrm>
          <a:prstGeom prst="bentConnector3">
            <a:avLst>
              <a:gd name="adj1" fmla="val 699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6D2F8B3-61CF-237D-0594-EBE799999CA4}"/>
              </a:ext>
            </a:extLst>
          </p:cNvPr>
          <p:cNvSpPr txBox="1"/>
          <p:nvPr/>
        </p:nvSpPr>
        <p:spPr>
          <a:xfrm>
            <a:off x="3604278" y="3775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/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]=0)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blipFill>
                <a:blip r:embed="rId10"/>
                <a:stretch>
                  <a:fillRect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2126F68-9905-DE64-71D1-7D4DE2A6A5CE}"/>
              </a:ext>
            </a:extLst>
          </p:cNvPr>
          <p:cNvSpPr txBox="1"/>
          <p:nvPr/>
        </p:nvSpPr>
        <p:spPr>
          <a:xfrm>
            <a:off x="2956306" y="512621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2FBA164-89CB-7E2E-901C-BACA478C1071}"/>
              </a:ext>
            </a:extLst>
          </p:cNvPr>
          <p:cNvCxnSpPr>
            <a:cxnSpLocks/>
          </p:cNvCxnSpPr>
          <p:nvPr/>
        </p:nvCxnSpPr>
        <p:spPr>
          <a:xfrm>
            <a:off x="2965438" y="514136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/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=1,2, …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blipFill>
                <a:blip r:embed="rId11"/>
                <a:stretch>
                  <a:fillRect t="-30147" b="-8676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/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=1, 2, … , 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50" dirty="0"/>
                  <a:t> :</a:t>
                </a:r>
              </a:p>
              <a:p>
                <a:pPr algn="ctr"/>
                <a:r>
                  <a:rPr lang="en-US" altLang="ko-KR" sz="1050" dirty="0"/>
                  <a:t>Normal Satellite </a:t>
                </a:r>
              </a:p>
              <a:p>
                <a:pPr algn="l"/>
                <a:endParaRPr lang="ko-KR" altLang="en-US" sz="1050" dirty="0"/>
              </a:p>
            </p:txBody>
          </p:sp>
        </mc:Choice>
        <mc:Fallback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blipFill>
                <a:blip r:embed="rId12"/>
                <a:stretch>
                  <a:fillRect b="-555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A571695-8E3B-B0B7-3D03-184E71CFD9FB}"/>
              </a:ext>
            </a:extLst>
          </p:cNvPr>
          <p:cNvCxnSpPr>
            <a:cxnSpLocks/>
            <a:stCxn id="32" idx="2"/>
            <a:endCxn id="71" idx="0"/>
          </p:cNvCxnSpPr>
          <p:nvPr/>
        </p:nvCxnSpPr>
        <p:spPr>
          <a:xfrm>
            <a:off x="1481132" y="4283020"/>
            <a:ext cx="10114" cy="35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FCECAD1-A06C-C8E4-5DC9-279FF09D3EA4}"/>
              </a:ext>
            </a:extLst>
          </p:cNvPr>
          <p:cNvSpPr txBox="1"/>
          <p:nvPr/>
        </p:nvSpPr>
        <p:spPr>
          <a:xfrm>
            <a:off x="1469820" y="4322744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35A5DE9-4EF1-B86F-1642-ED07C411810B}"/>
              </a:ext>
            </a:extLst>
          </p:cNvPr>
          <p:cNvCxnSpPr>
            <a:cxnSpLocks/>
          </p:cNvCxnSpPr>
          <p:nvPr/>
        </p:nvCxnSpPr>
        <p:spPr>
          <a:xfrm>
            <a:off x="1487932" y="5058657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그림 81">
            <a:extLst>
              <a:ext uri="{FF2B5EF4-FFF2-40B4-BE49-F238E27FC236}">
                <a16:creationId xmlns:a16="http://schemas.microsoft.com/office/drawing/2014/main" id="{DD1BFD4B-78FB-538C-1FF4-C6AA95A3D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784" y="5899628"/>
            <a:ext cx="139325" cy="1317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/>
              <p:nvPr/>
            </p:nvSpPr>
            <p:spPr>
              <a:xfrm>
                <a:off x="3018153" y="5830364"/>
                <a:ext cx="31434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153" y="5830364"/>
                <a:ext cx="314347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F3A83EE-7407-E256-3893-E5D0803218E7}"/>
              </a:ext>
            </a:extLst>
          </p:cNvPr>
          <p:cNvGrpSpPr/>
          <p:nvPr/>
        </p:nvGrpSpPr>
        <p:grpSpPr>
          <a:xfrm>
            <a:off x="3671144" y="1674661"/>
            <a:ext cx="1653331" cy="3906397"/>
            <a:chOff x="3528269" y="1503716"/>
            <a:chExt cx="1653331" cy="4258318"/>
          </a:xfrm>
        </p:grpSpPr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B51ECBE8-556F-1CDC-6C85-EE6AE8E9E77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21381" y="3111415"/>
              <a:ext cx="4257507" cy="1043732"/>
            </a:xfrm>
            <a:prstGeom prst="bentConnector3">
              <a:avLst>
                <a:gd name="adj1" fmla="val -338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F2299729-A1E0-7DBA-F792-AB2C8C4C883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1503716"/>
              <a:ext cx="609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2D10448-1B45-D26E-E616-00CBB195E4ED}"/>
              </a:ext>
            </a:extLst>
          </p:cNvPr>
          <p:cNvCxnSpPr>
            <a:cxnSpLocks/>
          </p:cNvCxnSpPr>
          <p:nvPr/>
        </p:nvCxnSpPr>
        <p:spPr>
          <a:xfrm>
            <a:off x="3670414" y="5960315"/>
            <a:ext cx="314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다이아몬드 111">
            <a:extLst>
              <a:ext uri="{FF2B5EF4-FFF2-40B4-BE49-F238E27FC236}">
                <a16:creationId xmlns:a16="http://schemas.microsoft.com/office/drawing/2014/main" id="{5CEF9EC6-1469-252D-D11A-BA83A25D1A7B}"/>
              </a:ext>
            </a:extLst>
          </p:cNvPr>
          <p:cNvSpPr/>
          <p:nvPr/>
        </p:nvSpPr>
        <p:spPr bwMode="auto">
          <a:xfrm>
            <a:off x="3993348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6FDEBC0-7B1D-76B5-933E-F84F421010F7}"/>
              </a:ext>
            </a:extLst>
          </p:cNvPr>
          <p:cNvCxnSpPr>
            <a:cxnSpLocks/>
          </p:cNvCxnSpPr>
          <p:nvPr/>
        </p:nvCxnSpPr>
        <p:spPr>
          <a:xfrm>
            <a:off x="5069672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다이아몬드 115">
            <a:extLst>
              <a:ext uri="{FF2B5EF4-FFF2-40B4-BE49-F238E27FC236}">
                <a16:creationId xmlns:a16="http://schemas.microsoft.com/office/drawing/2014/main" id="{10B7E944-1873-7D68-4383-14AE8FFB5712}"/>
              </a:ext>
            </a:extLst>
          </p:cNvPr>
          <p:cNvSpPr/>
          <p:nvPr/>
        </p:nvSpPr>
        <p:spPr bwMode="auto">
          <a:xfrm>
            <a:off x="5419725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7D78A9B8-92BF-55C4-5AD2-ABC55CCF5188}"/>
              </a:ext>
            </a:extLst>
          </p:cNvPr>
          <p:cNvCxnSpPr>
            <a:cxnSpLocks/>
          </p:cNvCxnSpPr>
          <p:nvPr/>
        </p:nvCxnSpPr>
        <p:spPr>
          <a:xfrm>
            <a:off x="6496049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/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blipFill>
                <a:blip r:embed="rId14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/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blipFill>
                <a:blip r:embed="rId15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5957841-4DF3-D164-B00E-6EC43D5F94D8}"/>
              </a:ext>
            </a:extLst>
          </p:cNvPr>
          <p:cNvSpPr txBox="1"/>
          <p:nvPr/>
        </p:nvSpPr>
        <p:spPr>
          <a:xfrm>
            <a:off x="4505325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9006794B-BE68-E121-42CD-FA0828D802EA}"/>
              </a:ext>
            </a:extLst>
          </p:cNvPr>
          <p:cNvCxnSpPr>
            <a:cxnSpLocks/>
          </p:cNvCxnSpPr>
          <p:nvPr/>
        </p:nvCxnSpPr>
        <p:spPr>
          <a:xfrm>
            <a:off x="4535005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A2A4B6F-33C4-CF8F-F885-C1BA25CC9970}"/>
              </a:ext>
            </a:extLst>
          </p:cNvPr>
          <p:cNvSpPr txBox="1"/>
          <p:nvPr/>
        </p:nvSpPr>
        <p:spPr>
          <a:xfrm>
            <a:off x="5920340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A967B5F-81E0-F1C3-56EF-DAB051B3A3A4}"/>
              </a:ext>
            </a:extLst>
          </p:cNvPr>
          <p:cNvCxnSpPr>
            <a:cxnSpLocks/>
          </p:cNvCxnSpPr>
          <p:nvPr/>
        </p:nvCxnSpPr>
        <p:spPr>
          <a:xfrm>
            <a:off x="5950020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/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Satellite invisible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(at the 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AF4C3AF2-345B-5D27-4A31-513566DB757A}"/>
              </a:ext>
            </a:extLst>
          </p:cNvPr>
          <p:cNvSpPr txBox="1"/>
          <p:nvPr/>
        </p:nvSpPr>
        <p:spPr>
          <a:xfrm>
            <a:off x="5487587" y="6524287"/>
            <a:ext cx="962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rgbClr val="1F2328"/>
                </a:solidFill>
              </a:rPr>
              <a:t>Single fold</a:t>
            </a:r>
            <a:endParaRPr lang="ko-KR" altLang="en-US" sz="8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52BA1A9-74E6-2297-8AE7-631DD16200A4}"/>
              </a:ext>
            </a:extLst>
          </p:cNvPr>
          <p:cNvSpPr txBox="1"/>
          <p:nvPr/>
        </p:nvSpPr>
        <p:spPr>
          <a:xfrm>
            <a:off x="5050914" y="575265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5ED955-EC6E-A2FF-2DBF-5127008EE590}"/>
              </a:ext>
            </a:extLst>
          </p:cNvPr>
          <p:cNvSpPr txBox="1"/>
          <p:nvPr/>
        </p:nvSpPr>
        <p:spPr>
          <a:xfrm>
            <a:off x="6479955" y="575842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/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-fold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 = 2, 3,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blipFill>
                <a:blip r:embed="rId1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/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For all Target points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blipFill>
                <a:blip r:embed="rId18"/>
                <a:stretch>
                  <a:fillRect t="-51304" b="-105217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" name="그림 131">
            <a:extLst>
              <a:ext uri="{FF2B5EF4-FFF2-40B4-BE49-F238E27FC236}">
                <a16:creationId xmlns:a16="http://schemas.microsoft.com/office/drawing/2014/main" id="{C14D2BF7-BD61-2F16-0CB8-377D48D17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457" y="1683143"/>
            <a:ext cx="139325" cy="131794"/>
          </a:xfrm>
          <a:prstGeom prst="rect">
            <a:avLst/>
          </a:prstGeom>
        </p:spPr>
      </p:pic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308B0BE-0C20-A423-1907-DDA65C2A57F8}"/>
              </a:ext>
            </a:extLst>
          </p:cNvPr>
          <p:cNvSpPr/>
          <p:nvPr/>
        </p:nvSpPr>
        <p:spPr bwMode="auto">
          <a:xfrm>
            <a:off x="229041" y="1455346"/>
            <a:ext cx="319320" cy="481786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51F465B-CA6E-C2EC-AC48-948C5DBD96D9}"/>
              </a:ext>
            </a:extLst>
          </p:cNvPr>
          <p:cNvSpPr/>
          <p:nvPr/>
        </p:nvSpPr>
        <p:spPr bwMode="auto">
          <a:xfrm rot="10800000">
            <a:off x="8434549" y="1561752"/>
            <a:ext cx="319320" cy="327501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397180" y="1197127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613041E-BE58-7841-B37E-26A362B8E012}"/>
              </a:ext>
            </a:extLst>
          </p:cNvPr>
          <p:cNvSpPr/>
          <p:nvPr/>
        </p:nvSpPr>
        <p:spPr bwMode="auto">
          <a:xfrm>
            <a:off x="41298" y="354330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09B86F-B3C0-914B-CD0E-20BB112879D7}"/>
              </a:ext>
            </a:extLst>
          </p:cNvPr>
          <p:cNvSpPr txBox="1"/>
          <p:nvPr/>
        </p:nvSpPr>
        <p:spPr>
          <a:xfrm>
            <a:off x="-238504" y="365293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Single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point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3DA9546-3C92-6F3F-BF0C-C25BC0FE5F95}"/>
              </a:ext>
            </a:extLst>
          </p:cNvPr>
          <p:cNvSpPr/>
          <p:nvPr/>
        </p:nvSpPr>
        <p:spPr bwMode="auto">
          <a:xfrm>
            <a:off x="8570270" y="284316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C57F7FD-3851-0A57-8A66-6EA19DD29067}"/>
              </a:ext>
            </a:extLst>
          </p:cNvPr>
          <p:cNvSpPr txBox="1"/>
          <p:nvPr/>
        </p:nvSpPr>
        <p:spPr>
          <a:xfrm>
            <a:off x="8290468" y="295279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Multiple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points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C660ED55-83CA-BA31-5AB1-FE3833E0CC78}"/>
              </a:ext>
            </a:extLst>
          </p:cNvPr>
          <p:cNvCxnSpPr>
            <a:cxnSpLocks/>
          </p:cNvCxnSpPr>
          <p:nvPr/>
        </p:nvCxnSpPr>
        <p:spPr>
          <a:xfrm>
            <a:off x="5967843" y="2046491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4878576A-4DF7-994A-F0D2-6A9C8D5149D2}"/>
              </a:ext>
            </a:extLst>
          </p:cNvPr>
          <p:cNvCxnSpPr>
            <a:cxnSpLocks/>
          </p:cNvCxnSpPr>
          <p:nvPr/>
        </p:nvCxnSpPr>
        <p:spPr>
          <a:xfrm>
            <a:off x="7501523" y="2040733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/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dirty="0"/>
                  <a:t>Coverage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ko-KR" sz="1200" dirty="0"/>
                  <a:t>  </a:t>
                </a:r>
              </a:p>
            </p:txBody>
          </p:sp>
        </mc:Choice>
        <mc:Fallback xmlns="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/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sz="1000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blipFill>
                <a:blip r:embed="rId20"/>
                <a:stretch>
                  <a:fillRect l="-61165" t="-86207" r="-65049" b="-1367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순서도: 처리 164">
            <a:extLst>
              <a:ext uri="{FF2B5EF4-FFF2-40B4-BE49-F238E27FC236}">
                <a16:creationId xmlns:a16="http://schemas.microsoft.com/office/drawing/2014/main" id="{34E472D3-9D69-EEC7-F4D6-47A467AA5FC5}"/>
              </a:ext>
            </a:extLst>
          </p:cNvPr>
          <p:cNvSpPr/>
          <p:nvPr/>
        </p:nvSpPr>
        <p:spPr bwMode="auto">
          <a:xfrm>
            <a:off x="6700464" y="2424392"/>
            <a:ext cx="1639845" cy="849083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200000"/>
              </a:lnSpc>
            </a:pP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/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pt-BR" altLang="ko-KR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blipFill>
                <a:blip r:embed="rId21"/>
                <a:stretch>
                  <a:fillRect l="-36723" t="-87209" r="-64972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/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altLang="ko-KR" sz="1200" dirty="0"/>
                  <a:t>      Cost :</a:t>
                </a:r>
                <a:endParaRPr lang="en-US" altLang="ko-KR" sz="1100" dirty="0"/>
              </a:p>
              <a:p>
                <a:pPr>
                  <a:lnSpc>
                    <a:spcPct val="200000"/>
                  </a:lnSpc>
                </a:pPr>
                <a:r>
                  <a:rPr lang="pt-BR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=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blipFill>
                <a:blip r:embed="rId2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/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CF72728C-D71D-850A-8331-B49F5204C48B}"/>
              </a:ext>
            </a:extLst>
          </p:cNvPr>
          <p:cNvCxnSpPr>
            <a:cxnSpLocks/>
          </p:cNvCxnSpPr>
          <p:nvPr/>
        </p:nvCxnSpPr>
        <p:spPr>
          <a:xfrm>
            <a:off x="5966215" y="3279256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D14D4DA0-DF1B-8C5B-54D2-323FC7E5942D}"/>
              </a:ext>
            </a:extLst>
          </p:cNvPr>
          <p:cNvCxnSpPr>
            <a:cxnSpLocks/>
          </p:cNvCxnSpPr>
          <p:nvPr/>
        </p:nvCxnSpPr>
        <p:spPr>
          <a:xfrm>
            <a:off x="7516570" y="3279255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655F1BC2-571B-A918-E663-73A19E3F61E0}"/>
              </a:ext>
            </a:extLst>
          </p:cNvPr>
          <p:cNvCxnSpPr>
            <a:cxnSpLocks/>
          </p:cNvCxnSpPr>
          <p:nvPr/>
        </p:nvCxnSpPr>
        <p:spPr>
          <a:xfrm>
            <a:off x="6771185" y="3955747"/>
            <a:ext cx="0" cy="340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B2FB661E-1CBA-2ACD-8E7E-BF1DC422BFD8}"/>
              </a:ext>
            </a:extLst>
          </p:cNvPr>
          <p:cNvSpPr/>
          <p:nvPr/>
        </p:nvSpPr>
        <p:spPr bwMode="auto">
          <a:xfrm>
            <a:off x="5353501" y="4316773"/>
            <a:ext cx="2751197" cy="6764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/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ko-KR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blipFill>
                <a:blip r:embed="rId2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/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+      </m:t>
                      </m:r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blipFill>
                <a:blip r:embed="rId25"/>
                <a:stretch>
                  <a:fillRect l="-10169" t="-87209" r="-39548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/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56000" lvl="4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blipFill>
                <a:blip r:embed="rId26"/>
                <a:stretch>
                  <a:fillRect r="-955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/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blipFill>
                <a:blip r:embed="rId27"/>
                <a:stretch>
                  <a:fillRect l="-63725" t="-87209" r="-64706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9124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Flowchart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3DD107-5247-66FF-B0B0-1A92FB35B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916" y="1455948"/>
            <a:ext cx="4630616" cy="2480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F2E7B4-A65F-9D7C-B92B-4B8F95A7B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916" y="4161972"/>
            <a:ext cx="3784303" cy="2480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A564F40-BAC4-77E5-30DB-CFB8DDA96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97" y="1455948"/>
            <a:ext cx="3380293" cy="28665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95917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Flowchart(Coverage)</a:t>
            </a:r>
          </a:p>
          <a:p>
            <a:pPr marL="432000" lvl="2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6FF51A6-490B-32FD-B12D-6092F0EED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68" y="1478147"/>
            <a:ext cx="2762250" cy="1009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087A0A-6C59-BDAC-AF87-699E6F1E2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68" y="2808658"/>
            <a:ext cx="2362200" cy="4572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82D1E-7D66-7D68-2BE8-BE4F6E4621CB}"/>
                  </a:ext>
                </a:extLst>
              </p:cNvPr>
              <p:cNvSpPr txBox="1"/>
              <p:nvPr/>
            </p:nvSpPr>
            <p:spPr>
              <a:xfrm>
                <a:off x="3591904" y="1478147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ko-KR" altLang="en-US" sz="1200" dirty="0"/>
                  <a:t>위성의 실제 방문횟수 </a:t>
                </a:r>
                <a:endParaRPr lang="en-US" altLang="ko-KR" sz="1200" dirty="0"/>
              </a:p>
              <a:p>
                <a:endParaRPr lang="en-US" altLang="ko-KR" sz="1200" dirty="0"/>
              </a:p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sz="1200" dirty="0"/>
                  <a:t> 위성의 최소 방문횟수 요구조건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82D1E-7D66-7D68-2BE8-BE4F6E462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904" y="1478147"/>
                <a:ext cx="4572000" cy="646331"/>
              </a:xfrm>
              <a:prstGeom prst="rect">
                <a:avLst/>
              </a:prstGeom>
              <a:blipFill>
                <a:blip r:embed="rId5"/>
                <a:stretch>
                  <a:fillRect t="-935" b="-46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id="{AF269DAA-0540-F0DB-D6BA-21AAF9630B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368" y="3608204"/>
            <a:ext cx="2733675" cy="762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20D932-2DB9-D2CC-6044-C68915AE0812}"/>
                  </a:ext>
                </a:extLst>
              </p:cNvPr>
              <p:cNvSpPr txBox="1"/>
              <p:nvPr/>
            </p:nvSpPr>
            <p:spPr>
              <a:xfrm>
                <a:off x="3591903" y="2802197"/>
                <a:ext cx="3510645" cy="281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dirty="0"/>
                  <a:t>선</a:t>
                </a:r>
                <a14:m>
                  <m:oMath xmlns:m="http://schemas.openxmlformats.org/officeDocument/2006/math">
                    <m:r>
                      <a:rPr lang="ko-KR" altLang="en-US" sz="1200" b="0" i="1" smtClean="0">
                        <a:latin typeface="Cambria Math" panose="02040503050406030204" pitchFamily="18" charset="0"/>
                      </a:rPr>
                      <m:t>형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화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를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위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해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과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𝐵𝑖𝑔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𝑚𝑒𝑡h𝑜𝑑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1200" dirty="0"/>
                  <a:t> 사용</a:t>
                </a:r>
                <a:endParaRPr lang="en-US" altLang="ko-KR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20D932-2DB9-D2CC-6044-C68915AE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903" y="2802197"/>
                <a:ext cx="3510645" cy="281487"/>
              </a:xfrm>
              <a:prstGeom prst="rect">
                <a:avLst/>
              </a:prstGeom>
              <a:blipFill>
                <a:blip r:embed="rId7"/>
                <a:stretch>
                  <a:fillRect t="-2174"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2814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Flowchart(Cost)</a:t>
            </a:r>
          </a:p>
          <a:p>
            <a:pPr marL="432000" lvl="2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AF1314-6B15-7B1F-8CDD-D8FF46BC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31" y="1416854"/>
            <a:ext cx="6318057" cy="22559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D89FD62-98C2-2B48-7463-B34F7BC09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31" y="3828828"/>
            <a:ext cx="5371760" cy="23739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777350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Flowchart(BILP)</a:t>
            </a:r>
          </a:p>
          <a:p>
            <a:pPr marL="432000" lvl="2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D9D068-EF5D-CCEB-E9F5-04043B0A0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76" y="1570341"/>
            <a:ext cx="7934658" cy="424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6893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설계기법 적용 예시</a:t>
            </a:r>
          </a:p>
        </p:txBody>
      </p:sp>
    </p:spTree>
    <p:extLst>
      <p:ext uri="{BB962C8B-B14F-4D97-AF65-F5344CB8AC3E}">
        <p14:creationId xmlns:p14="http://schemas.microsoft.com/office/powerpoint/2010/main" val="92378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ko-KR" altLang="en-US" dirty="0" err="1"/>
              <a:t>적용예시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42B7DE6A-D901-6D12-54FC-AEC485FCCB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427386"/>
                  </p:ext>
                </p:extLst>
              </p:nvPr>
            </p:nvGraphicFramePr>
            <p:xfrm>
              <a:off x="770449" y="1187851"/>
              <a:ext cx="7214858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1317943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67, 155, </a:t>
                          </a: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399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42B7DE6A-D901-6D12-54FC-AEC485FCCB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427386"/>
                  </p:ext>
                </p:extLst>
              </p:nvPr>
            </p:nvGraphicFramePr>
            <p:xfrm>
              <a:off x="770449" y="1187851"/>
              <a:ext cx="7214858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1317943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7" t="-184286" r="-323929" b="-1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67, 155, </a:t>
                          </a: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blipFill>
                          <a:blip r:embed="rId3"/>
                          <a:stretch>
                            <a:fillRect l="-357" t="-280282" r="-323929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399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1D9182DA-BA80-B800-0824-4E20FD9D2E56}"/>
              </a:ext>
            </a:extLst>
          </p:cNvPr>
          <p:cNvSpPr/>
          <p:nvPr/>
        </p:nvSpPr>
        <p:spPr bwMode="auto">
          <a:xfrm>
            <a:off x="698863" y="1063911"/>
            <a:ext cx="1766929" cy="503434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12A58EF-4C28-ABB9-DC8E-89BEFC977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845" y="3074694"/>
            <a:ext cx="2739214" cy="291813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A7E4AEA2-5EB5-8E6F-599F-C3FEE5B957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165792"/>
                  </p:ext>
                </p:extLst>
              </p:nvPr>
            </p:nvGraphicFramePr>
            <p:xfrm>
              <a:off x="760507" y="3074693"/>
              <a:ext cx="4576366" cy="1009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076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5193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1045273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26359">
                      <a:extLst>
                        <a:ext uri="{9D8B030D-6E8A-4147-A177-3AD203B41FA5}">
                          <a16:colId xmlns:a16="http://schemas.microsoft.com/office/drawing/2014/main" val="3914773828"/>
                        </a:ext>
                      </a:extLst>
                    </a:gridCol>
                    <a:gridCol w="738774">
                      <a:extLst>
                        <a:ext uri="{9D8B030D-6E8A-4147-A177-3AD203B41FA5}">
                          <a16:colId xmlns:a16="http://schemas.microsoft.com/office/drawing/2014/main" val="2966971055"/>
                        </a:ext>
                      </a:extLst>
                    </a:gridCol>
                  </a:tblGrid>
                  <a:tr h="30110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Target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600" dirty="0"/>
                            <a:t>𝜙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λ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Cov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72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California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34.09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118.47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54.4%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72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Nigeria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12.93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11.96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50.6%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07946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A7E4AEA2-5EB5-8E6F-599F-C3FEE5B957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165792"/>
                  </p:ext>
                </p:extLst>
              </p:nvPr>
            </p:nvGraphicFramePr>
            <p:xfrm>
              <a:off x="760507" y="3074693"/>
              <a:ext cx="4576366" cy="1009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076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5193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1045273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26359">
                      <a:extLst>
                        <a:ext uri="{9D8B030D-6E8A-4147-A177-3AD203B41FA5}">
                          <a16:colId xmlns:a16="http://schemas.microsoft.com/office/drawing/2014/main" val="3914773828"/>
                        </a:ext>
                      </a:extLst>
                    </a:gridCol>
                    <a:gridCol w="738774">
                      <a:extLst>
                        <a:ext uri="{9D8B030D-6E8A-4147-A177-3AD203B41FA5}">
                          <a16:colId xmlns:a16="http://schemas.microsoft.com/office/drawing/2014/main" val="296697105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Target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600" dirty="0"/>
                            <a:t>𝜙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λ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4706" t="-7273" r="-90441" b="-2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Cov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72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California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34.09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118.47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54.4%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72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Nigeria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12.93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11.96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50.6%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079469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D6C94BB0-DD2D-75DB-E35F-F8A23B5C8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694" y="4339727"/>
            <a:ext cx="4683132" cy="14413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1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417D4-9095-4938-3865-2AFBB92ED5B4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09552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ko-KR" altLang="en-US" dirty="0" err="1"/>
              <a:t>적용예시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7B15B55-3041-D9AC-A99B-18155E217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101901"/>
                  </p:ext>
                </p:extLst>
              </p:nvPr>
            </p:nvGraphicFramePr>
            <p:xfrm>
              <a:off x="770449" y="1187851"/>
              <a:ext cx="8264195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2367280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27, 78, 144, </a:t>
                          </a: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406, 459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7B15B55-3041-D9AC-A99B-18155E217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101901"/>
                  </p:ext>
                </p:extLst>
              </p:nvPr>
            </p:nvGraphicFramePr>
            <p:xfrm>
              <a:off x="770449" y="1187851"/>
              <a:ext cx="8264195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2367280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7" t="-184286" r="-385357" b="-1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blipFill>
                          <a:blip r:embed="rId3"/>
                          <a:stretch>
                            <a:fillRect l="-357" t="-280282" r="-385357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27, 78, 144, </a:t>
                          </a: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406, 459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75A128C9-9B80-4386-C4FF-676498E6AF98}"/>
              </a:ext>
            </a:extLst>
          </p:cNvPr>
          <p:cNvSpPr/>
          <p:nvPr/>
        </p:nvSpPr>
        <p:spPr bwMode="auto">
          <a:xfrm>
            <a:off x="698863" y="1063911"/>
            <a:ext cx="1766929" cy="503434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Example 2</a:t>
                </a: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pt-BR" altLang="ko-KR" sz="1050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= 7  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= 2)</a:t>
                </a:r>
              </a:p>
              <a:p>
                <a:pPr lvl="2">
                  <a:defRPr/>
                </a:pPr>
                <a:endParaRPr lang="en-US" altLang="ko-KR" dirty="0"/>
              </a:p>
              <a:p>
                <a:pPr marL="396000" lvl="2" indent="0">
                  <a:buNone/>
                  <a:defRPr/>
                </a:pPr>
                <a:endParaRPr lang="en-US" altLang="ko-KR" dirty="0"/>
              </a:p>
              <a:p>
                <a:pPr lvl="4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190600" lvl="5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4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59C8A3F-A8F4-A049-7BAD-B4957F5BE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880" y="3068306"/>
            <a:ext cx="2959081" cy="26900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F2B4DD77-EA54-68A4-1C40-A9F0D6CFB12C}"/>
              </a:ext>
            </a:extLst>
          </p:cNvPr>
          <p:cNvSpPr/>
          <p:nvPr/>
        </p:nvSpPr>
        <p:spPr bwMode="auto">
          <a:xfrm>
            <a:off x="6742374" y="2510759"/>
            <a:ext cx="264601" cy="205482"/>
          </a:xfrm>
          <a:prstGeom prst="flowChartProcess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32CAD5E-F7FC-F0D4-51C2-0727B1C43903}"/>
              </a:ext>
            </a:extLst>
          </p:cNvPr>
          <p:cNvSpPr/>
          <p:nvPr/>
        </p:nvSpPr>
        <p:spPr bwMode="auto">
          <a:xfrm>
            <a:off x="8588968" y="2510757"/>
            <a:ext cx="348990" cy="205483"/>
          </a:xfrm>
          <a:prstGeom prst="flowChartProcess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0640CB4-13EC-3973-5B87-EB1F7C6E8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464" y="3641075"/>
            <a:ext cx="5006035" cy="184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8765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ko-KR" altLang="en-US" dirty="0" err="1"/>
              <a:t>적용예시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7B15B55-3041-D9AC-A99B-18155E2175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449" y="1187851"/>
              <a:ext cx="8264195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2367280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27, 78, 144, </a:t>
                          </a: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406, 459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7B15B55-3041-D9AC-A99B-18155E2175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449" y="1187851"/>
              <a:ext cx="8264195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2367280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7" t="-184286" r="-385357" b="-1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blipFill>
                          <a:blip r:embed="rId3"/>
                          <a:stretch>
                            <a:fillRect l="-357" t="-280282" r="-385357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27, 78, 144, </a:t>
                          </a: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406, 459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75A128C9-9B80-4386-C4FF-676498E6AF98}"/>
              </a:ext>
            </a:extLst>
          </p:cNvPr>
          <p:cNvSpPr/>
          <p:nvPr/>
        </p:nvSpPr>
        <p:spPr bwMode="auto">
          <a:xfrm>
            <a:off x="698863" y="1063911"/>
            <a:ext cx="1766929" cy="503434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Example 2</a:t>
                </a: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pt-BR" altLang="ko-KR" sz="1050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= 7  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= 2)</a:t>
                </a:r>
              </a:p>
              <a:p>
                <a:pPr lvl="2">
                  <a:defRPr/>
                </a:pPr>
                <a:endParaRPr lang="en-US" altLang="ko-KR" dirty="0"/>
              </a:p>
              <a:p>
                <a:pPr marL="396000" lvl="2" indent="0">
                  <a:buNone/>
                  <a:defRPr/>
                </a:pPr>
                <a:endParaRPr lang="en-US" altLang="ko-KR" dirty="0"/>
              </a:p>
              <a:p>
                <a:pPr lvl="4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190600" lvl="5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4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59C8A3F-A8F4-A049-7BAD-B4957F5BE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880" y="3068306"/>
            <a:ext cx="2959081" cy="26900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F2B4DD77-EA54-68A4-1C40-A9F0D6CFB12C}"/>
              </a:ext>
            </a:extLst>
          </p:cNvPr>
          <p:cNvSpPr/>
          <p:nvPr/>
        </p:nvSpPr>
        <p:spPr bwMode="auto">
          <a:xfrm>
            <a:off x="6742374" y="2510759"/>
            <a:ext cx="264601" cy="205482"/>
          </a:xfrm>
          <a:prstGeom prst="flowChartProcess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32CAD5E-F7FC-F0D4-51C2-0727B1C43903}"/>
              </a:ext>
            </a:extLst>
          </p:cNvPr>
          <p:cNvSpPr/>
          <p:nvPr/>
        </p:nvSpPr>
        <p:spPr bwMode="auto">
          <a:xfrm>
            <a:off x="8588968" y="2510757"/>
            <a:ext cx="348990" cy="205483"/>
          </a:xfrm>
          <a:prstGeom prst="flowChartProcess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5FC5CBB-26D6-7FC2-E709-D97D9C4C5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039" y="3391812"/>
            <a:ext cx="4683132" cy="14885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C10670-62F9-820F-755C-3D2E50E33296}"/>
              </a:ext>
            </a:extLst>
          </p:cNvPr>
          <p:cNvSpPr txBox="1"/>
          <p:nvPr/>
        </p:nvSpPr>
        <p:spPr>
          <a:xfrm>
            <a:off x="1150195" y="4901478"/>
            <a:ext cx="143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95.6%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EDDAB-909D-7D4E-71A8-1924B5BFB5AA}"/>
              </a:ext>
            </a:extLst>
          </p:cNvPr>
          <p:cNvSpPr txBox="1"/>
          <p:nvPr/>
        </p:nvSpPr>
        <p:spPr>
          <a:xfrm>
            <a:off x="3970421" y="4900654"/>
            <a:ext cx="794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97%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7A995C-3406-9C3C-4B5B-F134ECA121F9}"/>
                  </a:ext>
                </a:extLst>
              </p:cNvPr>
              <p:cNvSpPr txBox="1"/>
              <p:nvPr/>
            </p:nvSpPr>
            <p:spPr>
              <a:xfrm>
                <a:off x="257080" y="5485697"/>
                <a:ext cx="2471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cs typeface="Times New Roman"/>
                            </a:rPr>
                            <m:t>J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/>
                        </a:rPr>
                        <m:t>=−81.60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7A995C-3406-9C3C-4B5B-F134ECA12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80" y="5485697"/>
                <a:ext cx="2471938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DEEA50-C499-1B3F-095D-4CB77A7507C7}"/>
                  </a:ext>
                </a:extLst>
              </p:cNvPr>
              <p:cNvSpPr txBox="1"/>
              <p:nvPr/>
            </p:nvSpPr>
            <p:spPr>
              <a:xfrm>
                <a:off x="650133" y="5913938"/>
                <a:ext cx="17063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Times New Roman"/>
                        </a:rPr>
                        <m:t>(</m:t>
                      </m:r>
                      <m:sSubSup>
                        <m:sSubSupPr>
                          <m:ctrlPr>
                            <a:rPr lang="pt-BR" altLang="ko-KR" sz="120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200" b="0" i="0" smtClean="0">
                              <a:latin typeface="Cambria Math" panose="02040503050406030204" pitchFamily="18" charset="0"/>
                              <a:cs typeface="Times New Roman"/>
                            </a:rPr>
                            <m:t>J</m:t>
                          </m:r>
                        </m:e>
                        <m:sub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  <a:cs typeface="Times New Roman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∗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Times New Roman"/>
                        </a:rPr>
                        <m:t>=−96.3,</m:t>
                      </m:r>
                      <m:sSubSup>
                        <m:sSubSupPr>
                          <m:ctrlPr>
                            <a:rPr lang="pt-BR" altLang="ko-KR" sz="120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altLang="ko-KR" sz="1200">
                              <a:latin typeface="Cambria Math" panose="02040503050406030204" pitchFamily="18" charset="0"/>
                              <a:cs typeface="Times New Roman"/>
                            </a:rPr>
                            <m:t>J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  <a:cs typeface="Times New Roman"/>
                            </a:rPr>
                            <m:t>∗</m:t>
                          </m:r>
                        </m:sup>
                      </m:sSubSup>
                      <m:r>
                        <a:rPr lang="en-US" altLang="ko-KR" sz="1200" i="1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Times New Roman"/>
                        </a:rPr>
                        <m:t>14.7)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DEEA50-C499-1B3F-095D-4CB77A750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33" y="5913938"/>
                <a:ext cx="1706379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99FC22-6E96-8CC4-B81E-63D318C41CAD}"/>
                  </a:ext>
                </a:extLst>
              </p:cNvPr>
              <p:cNvSpPr txBox="1"/>
              <p:nvPr/>
            </p:nvSpPr>
            <p:spPr>
              <a:xfrm>
                <a:off x="2614030" y="5663846"/>
                <a:ext cx="28713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6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cs typeface="Times New Roman"/>
                          </a:rPr>
                          <m:t>ω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=1/%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cs typeface="Times New Roman"/>
                          </a:rPr>
                          <m:t>ω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1/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𝑘𝑚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)</m:t>
                    </m:r>
                  </m:oMath>
                </a14:m>
                <a:r>
                  <a:rPr lang="en-US" altLang="ko-KR" sz="1600" dirty="0"/>
                  <a:t> 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99FC22-6E96-8CC4-B81E-63D318C41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30" y="5663846"/>
                <a:ext cx="2871375" cy="338554"/>
              </a:xfrm>
              <a:prstGeom prst="rect">
                <a:avLst/>
              </a:prstGeom>
              <a:blipFill>
                <a:blip r:embed="rId9"/>
                <a:stretch>
                  <a:fillRect l="-212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76980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85FC5CBB-26D6-7FC2-E709-D97D9C4C5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40" y="3391812"/>
            <a:ext cx="4694431" cy="14885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7BC96A9-DB17-F02C-8D65-957F57A05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40" y="3441506"/>
            <a:ext cx="4669959" cy="1378112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ko-KR" altLang="en-US" dirty="0" err="1"/>
              <a:t>적용예시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7B15B55-3041-D9AC-A99B-18155E2175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449" y="1187851"/>
              <a:ext cx="8264195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2367280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600" dirty="0" smtClean="0">
                                        <a:latin typeface="Times New Roman"/>
                                        <a:ea typeface="+mn-ea"/>
                                        <a:cs typeface="Times New Roman"/>
                                      </a:rPr>
                                      <m:t>œ</m:t>
                                    </m:r>
                                  </m:e>
                                  <m:sub>
                                    <m:r>
                                      <a:rPr lang="pt-BR" altLang="ko-KR" sz="16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0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27, 78, 144, </a:t>
                          </a: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406, 459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7B15B55-3041-D9AC-A99B-18155E2175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449" y="1187851"/>
              <a:ext cx="8264195" cy="16315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9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8662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414925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939475">
                      <a:extLst>
                        <a:ext uri="{9D8B030D-6E8A-4147-A177-3AD203B41FA5}">
                          <a16:colId xmlns:a16="http://schemas.microsoft.com/office/drawing/2014/main" val="61140256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3785796257"/>
                        </a:ext>
                      </a:extLst>
                    </a:gridCol>
                    <a:gridCol w="501368">
                      <a:extLst>
                        <a:ext uri="{9D8B030D-6E8A-4147-A177-3AD203B41FA5}">
                          <a16:colId xmlns:a16="http://schemas.microsoft.com/office/drawing/2014/main" val="2884593093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36709000"/>
                        </a:ext>
                      </a:extLst>
                    </a:gridCol>
                    <a:gridCol w="2367280">
                      <a:extLst>
                        <a:ext uri="{9D8B030D-6E8A-4147-A177-3AD203B41FA5}">
                          <a16:colId xmlns:a16="http://schemas.microsoft.com/office/drawing/2014/main" val="2458133495"/>
                        </a:ext>
                      </a:extLst>
                    </a:gridCol>
                  </a:tblGrid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Orbital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Elements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Pattern vector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476266"/>
                      </a:ext>
                    </a:extLst>
                  </a:tr>
                  <a:tr h="38728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Seed Satellite 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a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l-GR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M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7" t="-184286" r="-385357" b="-1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10527.4km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70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b="1" u="sng" dirty="0">
                              <a:solidFill>
                                <a:srgbClr val="0070C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600" b="1" u="sng" dirty="0">
                            <a:solidFill>
                              <a:srgbClr val="0070C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84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B>
                        <a:blipFill>
                          <a:blip r:embed="rId5"/>
                          <a:stretch>
                            <a:fillRect l="-357" t="-280282" r="-385357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12758.4km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47.92</a:t>
                          </a:r>
                          <a:r>
                            <a:rPr lang="ko-KR" altLang="en-US" sz="1600" dirty="0"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/>
                            <a:t>0</a:t>
                          </a:r>
                          <a:r>
                            <a:rPr lang="ko-KR" altLang="en-US" sz="1600" dirty="0"/>
                            <a:t>˚</a:t>
                          </a:r>
                          <a:endParaRPr lang="ko-KR" altLang="en-US" sz="16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27, 78, 144, </a:t>
                          </a:r>
                          <a:r>
                            <a:rPr lang="en-US" altLang="ko-KR" sz="1600" b="1" u="sng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r>
                            <a:rPr lang="en-US" altLang="ko-KR" sz="1600" dirty="0">
                              <a:solidFill>
                                <a:schemeClr val="accent2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, 406, 459</a:t>
                          </a:r>
                          <a:endParaRPr lang="ko-KR" altLang="en-US" sz="1600" dirty="0">
                            <a:solidFill>
                              <a:schemeClr val="accent2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5932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75A128C9-9B80-4386-C4FF-676498E6AF98}"/>
              </a:ext>
            </a:extLst>
          </p:cNvPr>
          <p:cNvSpPr/>
          <p:nvPr/>
        </p:nvSpPr>
        <p:spPr bwMode="auto">
          <a:xfrm>
            <a:off x="698863" y="1063911"/>
            <a:ext cx="1766929" cy="503434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Example 3</a:t>
                </a: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pt-BR" altLang="ko-KR" i="1" dirty="0"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pt-BR" altLang="ko-KR" sz="1050" i="1" dirty="0"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= 5  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= 0)</a:t>
                </a:r>
              </a:p>
              <a:p>
                <a:pPr lvl="2">
                  <a:defRPr/>
                </a:pPr>
                <a:endParaRPr lang="en-US" altLang="ko-KR" dirty="0"/>
              </a:p>
              <a:p>
                <a:pPr marL="396000" lvl="2" indent="0">
                  <a:buNone/>
                  <a:defRPr/>
                </a:pPr>
                <a:endParaRPr lang="en-US" altLang="ko-KR" dirty="0"/>
              </a:p>
              <a:p>
                <a:pPr lvl="4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190600" lvl="5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6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59C8A3F-A8F4-A049-7BAD-B4957F5BEF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1880" y="3068306"/>
            <a:ext cx="2959081" cy="26900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F2B4DD77-EA54-68A4-1C40-A9F0D6CFB12C}"/>
              </a:ext>
            </a:extLst>
          </p:cNvPr>
          <p:cNvSpPr/>
          <p:nvPr/>
        </p:nvSpPr>
        <p:spPr bwMode="auto">
          <a:xfrm>
            <a:off x="6742374" y="2510759"/>
            <a:ext cx="264601" cy="205482"/>
          </a:xfrm>
          <a:prstGeom prst="flowChartProcess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32CAD5E-F7FC-F0D4-51C2-0727B1C43903}"/>
              </a:ext>
            </a:extLst>
          </p:cNvPr>
          <p:cNvSpPr/>
          <p:nvPr/>
        </p:nvSpPr>
        <p:spPr bwMode="auto">
          <a:xfrm>
            <a:off x="8588968" y="2510757"/>
            <a:ext cx="348990" cy="205483"/>
          </a:xfrm>
          <a:prstGeom prst="flowChartProcess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10670-62F9-820F-755C-3D2E50E33296}"/>
              </a:ext>
            </a:extLst>
          </p:cNvPr>
          <p:cNvSpPr txBox="1"/>
          <p:nvPr/>
        </p:nvSpPr>
        <p:spPr>
          <a:xfrm>
            <a:off x="1150195" y="4901478"/>
            <a:ext cx="143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86.2%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EDDAB-909D-7D4E-71A8-1924B5BFB5AA}"/>
              </a:ext>
            </a:extLst>
          </p:cNvPr>
          <p:cNvSpPr txBox="1"/>
          <p:nvPr/>
        </p:nvSpPr>
        <p:spPr>
          <a:xfrm>
            <a:off x="3970420" y="4900654"/>
            <a:ext cx="107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91.2%</a:t>
            </a:r>
            <a:endParaRPr lang="ko-KR" altLang="en-US" dirty="0"/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9F434851-4090-5D04-2D3D-43792751E0DD}"/>
              </a:ext>
            </a:extLst>
          </p:cNvPr>
          <p:cNvSpPr/>
          <p:nvPr/>
        </p:nvSpPr>
        <p:spPr bwMode="auto">
          <a:xfrm>
            <a:off x="532001" y="3391812"/>
            <a:ext cx="4726795" cy="1486709"/>
          </a:xfrm>
          <a:prstGeom prst="flowChartProcess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B68C09-FE63-FCD9-BA56-7F2BC04A30AE}"/>
                  </a:ext>
                </a:extLst>
              </p:cNvPr>
              <p:cNvSpPr txBox="1"/>
              <p:nvPr/>
            </p:nvSpPr>
            <p:spPr>
              <a:xfrm>
                <a:off x="257080" y="5485697"/>
                <a:ext cx="2471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cs typeface="Times New Roman"/>
                            </a:rPr>
                            <m:t>J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cs typeface="Times New Roman"/>
                        </a:rPr>
                        <m:t>=−76.29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B68C09-FE63-FCD9-BA56-7F2BC04A3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80" y="5485697"/>
                <a:ext cx="2471938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D98D7D-3E42-DEB1-A9F9-A54106693097}"/>
                  </a:ext>
                </a:extLst>
              </p:cNvPr>
              <p:cNvSpPr txBox="1"/>
              <p:nvPr/>
            </p:nvSpPr>
            <p:spPr>
              <a:xfrm>
                <a:off x="650133" y="5913938"/>
                <a:ext cx="181565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Times New Roman"/>
                        </a:rPr>
                        <m:t>(</m:t>
                      </m:r>
                      <m:sSubSup>
                        <m:sSubSupPr>
                          <m:ctrlPr>
                            <a:rPr lang="pt-BR" altLang="ko-KR" sz="120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200" b="0" i="0" smtClean="0">
                              <a:latin typeface="Cambria Math" panose="02040503050406030204" pitchFamily="18" charset="0"/>
                              <a:cs typeface="Times New Roman"/>
                            </a:rPr>
                            <m:t>J</m:t>
                          </m:r>
                        </m:e>
                        <m:sub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  <a:cs typeface="Times New Roman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∗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Times New Roman"/>
                        </a:rPr>
                        <m:t>=−88.7,</m:t>
                      </m:r>
                      <m:sSubSup>
                        <m:sSubSupPr>
                          <m:ctrlPr>
                            <a:rPr lang="pt-BR" altLang="ko-KR" sz="120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altLang="ko-KR" sz="1200">
                              <a:latin typeface="Cambria Math" panose="02040503050406030204" pitchFamily="18" charset="0"/>
                              <a:cs typeface="Times New Roman"/>
                            </a:rPr>
                            <m:t>J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  <a:cs typeface="Times New Roman"/>
                            </a:rPr>
                            <m:t>∗</m:t>
                          </m:r>
                        </m:sup>
                      </m:sSubSup>
                      <m:r>
                        <a:rPr lang="en-US" altLang="ko-KR" sz="1200" i="1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Times New Roman"/>
                        </a:rPr>
                        <m:t>12.41)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D98D7D-3E42-DEB1-A9F9-A54106693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33" y="5913938"/>
                <a:ext cx="1815659" cy="276999"/>
              </a:xfrm>
              <a:prstGeom prst="rect">
                <a:avLst/>
              </a:prstGeom>
              <a:blipFill>
                <a:blip r:embed="rId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4548EE6-0718-79E0-734B-B707234127D6}"/>
              </a:ext>
            </a:extLst>
          </p:cNvPr>
          <p:cNvCxnSpPr>
            <a:cxnSpLocks/>
          </p:cNvCxnSpPr>
          <p:nvPr/>
        </p:nvCxnSpPr>
        <p:spPr>
          <a:xfrm>
            <a:off x="6134100" y="5269986"/>
            <a:ext cx="381000" cy="21571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DA6F34D-E5DC-CDE7-5858-59F05529C5A0}"/>
              </a:ext>
            </a:extLst>
          </p:cNvPr>
          <p:cNvCxnSpPr>
            <a:cxnSpLocks/>
          </p:cNvCxnSpPr>
          <p:nvPr/>
        </p:nvCxnSpPr>
        <p:spPr>
          <a:xfrm flipV="1">
            <a:off x="6148819" y="5261337"/>
            <a:ext cx="384057" cy="2520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5F3165B-C7F7-30C4-D526-25729D52C0A2}"/>
              </a:ext>
            </a:extLst>
          </p:cNvPr>
          <p:cNvCxnSpPr>
            <a:cxnSpLocks/>
          </p:cNvCxnSpPr>
          <p:nvPr/>
        </p:nvCxnSpPr>
        <p:spPr>
          <a:xfrm>
            <a:off x="5611406" y="4187418"/>
            <a:ext cx="381000" cy="21571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1B60E44-833F-040E-9A9D-4084C3DE355F}"/>
              </a:ext>
            </a:extLst>
          </p:cNvPr>
          <p:cNvCxnSpPr>
            <a:cxnSpLocks/>
          </p:cNvCxnSpPr>
          <p:nvPr/>
        </p:nvCxnSpPr>
        <p:spPr>
          <a:xfrm flipV="1">
            <a:off x="5626125" y="4178769"/>
            <a:ext cx="384057" cy="2520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0F199F-1740-5477-C108-7F83C547D90A}"/>
                  </a:ext>
                </a:extLst>
              </p:cNvPr>
              <p:cNvSpPr txBox="1"/>
              <p:nvPr/>
            </p:nvSpPr>
            <p:spPr>
              <a:xfrm>
                <a:off x="2614030" y="5663846"/>
                <a:ext cx="28713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6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cs typeface="Times New Roman"/>
                          </a:rPr>
                          <m:t>ω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=1/%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cs typeface="Times New Roman"/>
                          </a:rPr>
                          <m:t>ω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1/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𝑘𝑚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/>
                      </a:rPr>
                      <m:t>)</m:t>
                    </m:r>
                  </m:oMath>
                </a14:m>
                <a:r>
                  <a:rPr lang="en-US" altLang="ko-KR" sz="1600" dirty="0"/>
                  <a:t> 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0F199F-1740-5477-C108-7F83C547D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30" y="5663846"/>
                <a:ext cx="2871375" cy="338554"/>
              </a:xfrm>
              <a:prstGeom prst="rect">
                <a:avLst/>
              </a:prstGeom>
              <a:blipFill>
                <a:blip r:embed="rId10"/>
                <a:stretch>
                  <a:fillRect l="-212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91681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>
                <a:latin typeface="Cambria Math" panose="02040503050406030204" pitchFamily="18" charset="0"/>
              </a:rPr>
              <a:t>Gurobi</a:t>
            </a:r>
            <a:endParaRPr lang="pt-BR" altLang="ko-KR" dirty="0">
              <a:latin typeface="Cambria Math" panose="02040503050406030204" pitchFamily="18" charset="0"/>
            </a:endParaRPr>
          </a:p>
          <a:p>
            <a:pPr lvl="1">
              <a:defRPr/>
            </a:pPr>
            <a:endParaRPr lang="pt-BR" altLang="ko-KR" i="1" dirty="0">
              <a:latin typeface="Cambria Math" panose="02040503050406030204" pitchFamily="18" charset="0"/>
            </a:endParaRPr>
          </a:p>
          <a:p>
            <a:pPr marL="432000" lvl="2" indent="0">
              <a:buNone/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ko-KR" altLang="en-US" dirty="0" err="1"/>
              <a:t>적용예시</a:t>
            </a:r>
            <a:endParaRPr lang="ko-KR" altLang="en-US" dirty="0"/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9F434851-4090-5D04-2D3D-43792751E0DD}"/>
              </a:ext>
            </a:extLst>
          </p:cNvPr>
          <p:cNvSpPr/>
          <p:nvPr/>
        </p:nvSpPr>
        <p:spPr bwMode="auto">
          <a:xfrm>
            <a:off x="532001" y="3391812"/>
            <a:ext cx="4726795" cy="1486709"/>
          </a:xfrm>
          <a:prstGeom prst="flowChartProcess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3CC68-BF20-FD4F-5AA5-FA4E4B27D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361" y="1055978"/>
            <a:ext cx="2596330" cy="51191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08044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결론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33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/>
              <a:t>기존 논문에서 </a:t>
            </a:r>
            <a:r>
              <a:rPr lang="en-US" altLang="ko-KR" dirty="0"/>
              <a:t>BILP method</a:t>
            </a:r>
            <a:r>
              <a:rPr lang="ko-KR" altLang="en-US" dirty="0"/>
              <a:t>의 심화내용이 포함된 논문을 추가로 조사함</a:t>
            </a:r>
            <a:endParaRPr lang="en-US" altLang="ko-KR" dirty="0"/>
          </a:p>
          <a:p>
            <a:pPr lvl="1"/>
            <a:r>
              <a:rPr lang="ko-KR" altLang="en-US" dirty="0"/>
              <a:t>새로운 성능지수를 달성하기 위하여 제한조건을 조정할 수 있음</a:t>
            </a:r>
            <a:endParaRPr lang="en-US" altLang="ko-KR" dirty="0"/>
          </a:p>
          <a:p>
            <a:pPr lvl="2"/>
            <a:r>
              <a:rPr lang="en-US" altLang="ko-KR" dirty="0"/>
              <a:t>BILP method</a:t>
            </a:r>
            <a:r>
              <a:rPr lang="ko-KR" altLang="en-US" dirty="0"/>
              <a:t>를 기반으로 한 프로그래밍</a:t>
            </a:r>
            <a:endParaRPr lang="en-US" altLang="ko-KR" dirty="0"/>
          </a:p>
          <a:p>
            <a:pPr lvl="1"/>
            <a:r>
              <a:rPr lang="en-US" altLang="ko-KR" dirty="0"/>
              <a:t>Coverage</a:t>
            </a:r>
            <a:r>
              <a:rPr lang="ko-KR" altLang="en-US" dirty="0"/>
              <a:t>와 </a:t>
            </a:r>
            <a:r>
              <a:rPr lang="en-US" altLang="ko-KR" dirty="0"/>
              <a:t>Cost</a:t>
            </a:r>
            <a:r>
              <a:rPr lang="ko-KR" altLang="en-US" dirty="0"/>
              <a:t>의 비중을 조정하여 제한조건에 부합하는 위성군을 설계하는 것이 목표</a:t>
            </a:r>
            <a:endParaRPr lang="en-US" altLang="ko-KR" dirty="0"/>
          </a:p>
          <a:p>
            <a:pPr lvl="1"/>
            <a:r>
              <a:rPr lang="en-US" altLang="ko-KR" dirty="0" err="1"/>
              <a:t>Matlab</a:t>
            </a:r>
            <a:r>
              <a:rPr lang="ko-KR" altLang="en-US" dirty="0"/>
              <a:t>으로는 간단한 제한조건 정의만 가능하며</a:t>
            </a:r>
            <a:r>
              <a:rPr lang="en-US" altLang="ko-KR" dirty="0"/>
              <a:t>, </a:t>
            </a:r>
            <a:r>
              <a:rPr lang="ko-KR" altLang="en-US" dirty="0"/>
              <a:t>최적화 프로그램을 주로 사용하는 것으로 확인됨 </a:t>
            </a:r>
            <a:r>
              <a:rPr lang="en-US" altLang="ko-KR" dirty="0"/>
              <a:t>(</a:t>
            </a:r>
            <a:r>
              <a:rPr lang="en-US" altLang="ko-KR" dirty="0" err="1"/>
              <a:t>Gurobi</a:t>
            </a:r>
            <a:r>
              <a:rPr lang="en-US" altLang="ko-KR" dirty="0"/>
              <a:t> 9.1.1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228062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87683</TotalTime>
  <Words>1062</Words>
  <Application>Microsoft Office PowerPoint</Application>
  <PresentationFormat>화면 슬라이드 쇼(4:3)</PresentationFormat>
  <Paragraphs>356</Paragraphs>
  <Slides>22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이종위성군 성능 분석 및 설계/최적화</vt:lpstr>
      <vt:lpstr>목차</vt:lpstr>
      <vt:lpstr>참고 문헌 정보</vt:lpstr>
      <vt:lpstr>BILP(MILP) 설계기법 참고 문헌</vt:lpstr>
      <vt:lpstr>BILP(MILP) 설계기법 참고 문헌</vt:lpstr>
      <vt:lpstr>BILP(MILP) 설계기법 참고 문헌</vt:lpstr>
      <vt:lpstr>BILP(MILP) 설계기법 참고 문헌</vt:lpstr>
      <vt:lpstr>설계기법 개요</vt:lpstr>
      <vt:lpstr>BILP(MILP) 설계기법 flowchart</vt:lpstr>
      <vt:lpstr>BILP(MILP) 설계기법 flowchart</vt:lpstr>
      <vt:lpstr>BILP(MILP) 설계기법 flowchart</vt:lpstr>
      <vt:lpstr>BILP(MILP) 설계기법 flowchart</vt:lpstr>
      <vt:lpstr>BILP(MILP) 설계기법 flowchart</vt:lpstr>
      <vt:lpstr>설계기법 적용 예시</vt:lpstr>
      <vt:lpstr>BILP(MILP) 설계기법 적용예시</vt:lpstr>
      <vt:lpstr>BILP(MILP) 설계기법 적용예시</vt:lpstr>
      <vt:lpstr>BILP(MILP) 설계기법 적용예시</vt:lpstr>
      <vt:lpstr>BILP(MILP) 설계기법 적용예시</vt:lpstr>
      <vt:lpstr>BILP(MILP) 설계기법 적용예시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4569</cp:revision>
  <dcterms:created xsi:type="dcterms:W3CDTF">2018-01-29T02:45:56Z</dcterms:created>
  <dcterms:modified xsi:type="dcterms:W3CDTF">2024-01-15T03:22:34Z</dcterms:modified>
</cp:coreProperties>
</file>