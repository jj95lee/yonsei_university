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2550" r:id="rId2"/>
    <p:sldId id="2239" r:id="rId3"/>
    <p:sldId id="2554" r:id="rId4"/>
    <p:sldId id="2565" r:id="rId5"/>
    <p:sldId id="2706" r:id="rId6"/>
    <p:sldId id="2647" r:id="rId7"/>
    <p:sldId id="2697" r:id="rId8"/>
    <p:sldId id="2693" r:id="rId9"/>
    <p:sldId id="2674" r:id="rId10"/>
    <p:sldId id="2677" r:id="rId11"/>
    <p:sldId id="2703" r:id="rId12"/>
    <p:sldId id="2704" r:id="rId13"/>
    <p:sldId id="2696" r:id="rId14"/>
    <p:sldId id="2658" r:id="rId15"/>
    <p:sldId id="2701" r:id="rId16"/>
    <p:sldId id="2727" r:id="rId17"/>
    <p:sldId id="2728" r:id="rId18"/>
    <p:sldId id="2719" r:id="rId19"/>
    <p:sldId id="2726" r:id="rId20"/>
    <p:sldId id="2722" r:id="rId21"/>
    <p:sldId id="2720" r:id="rId22"/>
    <p:sldId id="2729" r:id="rId23"/>
    <p:sldId id="2735" r:id="rId24"/>
    <p:sldId id="2731" r:id="rId25"/>
    <p:sldId id="2736" r:id="rId26"/>
    <p:sldId id="2732" r:id="rId27"/>
    <p:sldId id="2737" r:id="rId28"/>
    <p:sldId id="2733" r:id="rId29"/>
    <p:sldId id="2738" r:id="rId30"/>
    <p:sldId id="2734" r:id="rId31"/>
    <p:sldId id="2739" r:id="rId32"/>
    <p:sldId id="2740" r:id="rId33"/>
    <p:sldId id="2741" r:id="rId34"/>
    <p:sldId id="2609" r:id="rId35"/>
    <p:sldId id="2724" r:id="rId36"/>
    <p:sldId id="2510" r:id="rId37"/>
    <p:sldId id="2718" r:id="rId3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46"/>
    <a:srgbClr val="FFFFFF"/>
    <a:srgbClr val="404040"/>
    <a:srgbClr val="FF0000"/>
    <a:srgbClr val="6600CC"/>
    <a:srgbClr val="CC99FF"/>
    <a:srgbClr val="000A1E"/>
    <a:srgbClr val="EDB021"/>
    <a:srgbClr val="D9541A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151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결과 </a:t>
            </a:r>
            <a:r>
              <a:rPr lang="en-US" altLang="ko-KR" dirty="0"/>
              <a:t>1</a:t>
            </a:r>
            <a:r>
              <a:rPr lang="ko-KR" altLang="en-US" dirty="0"/>
              <a:t> 분포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99.31 이하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F2-472E-AF01-3CA96D9F24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99.44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F2-472E-AF01-3CA96D9F24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99.58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F2-472E-AF01-3CA96D9F242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99.72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F2-472E-AF01-3CA96D9F242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99.86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F2-472E-AF01-3CA96D9F242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100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6F2-472E-AF01-3CA96D9F2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6975920"/>
        <c:axId val="1186977360"/>
      </c:barChart>
      <c:catAx>
        <c:axId val="118697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7360"/>
        <c:crosses val="autoZero"/>
        <c:auto val="1"/>
        <c:lblAlgn val="ctr"/>
        <c:lblOffset val="100"/>
        <c:noMultiLvlLbl val="0"/>
      </c:catAx>
      <c:valAx>
        <c:axId val="118697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5920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결과 </a:t>
            </a:r>
            <a:r>
              <a:rPr lang="en-US" altLang="ko-KR" dirty="0"/>
              <a:t>2</a:t>
            </a:r>
            <a:r>
              <a:rPr lang="ko-KR" altLang="en-US" dirty="0"/>
              <a:t> 분포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99.31 이하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F2-472E-AF01-3CA96D9F24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99.44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F2-472E-AF01-3CA96D9F24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99.58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F2-472E-AF01-3CA96D9F242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99.72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F2-472E-AF01-3CA96D9F242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99.86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F2-472E-AF01-3CA96D9F242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100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6F2-472E-AF01-3CA96D9F2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6975920"/>
        <c:axId val="1186977360"/>
      </c:barChart>
      <c:catAx>
        <c:axId val="118697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7360"/>
        <c:crosses val="autoZero"/>
        <c:auto val="1"/>
        <c:lblAlgn val="ctr"/>
        <c:lblOffset val="100"/>
        <c:noMultiLvlLbl val="0"/>
      </c:catAx>
      <c:valAx>
        <c:axId val="118697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5920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결과 </a:t>
            </a:r>
            <a:r>
              <a:rPr lang="en-US" altLang="ko-KR" dirty="0"/>
              <a:t>3</a:t>
            </a:r>
            <a:r>
              <a:rPr lang="ko-KR" altLang="en-US" dirty="0"/>
              <a:t> 분포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99.31 이하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F2-472E-AF01-3CA96D9F24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99.44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F2-472E-AF01-3CA96D9F24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99.58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F2-472E-AF01-3CA96D9F242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99.72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F2-472E-AF01-3CA96D9F242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99.86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F2-472E-AF01-3CA96D9F242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100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6F2-472E-AF01-3CA96D9F2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6975920"/>
        <c:axId val="1186977360"/>
      </c:barChart>
      <c:catAx>
        <c:axId val="118697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7360"/>
        <c:crosses val="autoZero"/>
        <c:auto val="1"/>
        <c:lblAlgn val="ctr"/>
        <c:lblOffset val="100"/>
        <c:noMultiLvlLbl val="0"/>
      </c:catAx>
      <c:valAx>
        <c:axId val="118697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5920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결과 </a:t>
            </a:r>
            <a:r>
              <a:rPr lang="en-US" altLang="ko-KR" dirty="0"/>
              <a:t>4</a:t>
            </a:r>
            <a:r>
              <a:rPr lang="ko-KR" altLang="en-US" dirty="0"/>
              <a:t> 분포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99.31 이하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F2-472E-AF01-3CA96D9F24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99.44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F2-472E-AF01-3CA96D9F24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99.58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F2-472E-AF01-3CA96D9F242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99.72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F2-472E-AF01-3CA96D9F242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99.86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F2-472E-AF01-3CA96D9F242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100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6F2-472E-AF01-3CA96D9F2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6975920"/>
        <c:axId val="1186977360"/>
      </c:barChart>
      <c:catAx>
        <c:axId val="118697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7360"/>
        <c:crosses val="autoZero"/>
        <c:auto val="1"/>
        <c:lblAlgn val="ctr"/>
        <c:lblOffset val="100"/>
        <c:noMultiLvlLbl val="0"/>
      </c:catAx>
      <c:valAx>
        <c:axId val="118697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5920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결과 </a:t>
            </a:r>
            <a:r>
              <a:rPr lang="en-US" altLang="ko-KR" dirty="0"/>
              <a:t>5</a:t>
            </a:r>
            <a:r>
              <a:rPr lang="ko-KR" altLang="en-US" dirty="0"/>
              <a:t> 분포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99.31 이하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F2-472E-AF01-3CA96D9F24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99.44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F2-472E-AF01-3CA96D9F24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99.58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F2-472E-AF01-3CA96D9F242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99.72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F2-472E-AF01-3CA96D9F242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99.86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F2-472E-AF01-3CA96D9F242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100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6F2-472E-AF01-3CA96D9F2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6975920"/>
        <c:axId val="1186977360"/>
      </c:barChart>
      <c:catAx>
        <c:axId val="118697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7360"/>
        <c:crosses val="autoZero"/>
        <c:auto val="1"/>
        <c:lblAlgn val="ctr"/>
        <c:lblOffset val="100"/>
        <c:noMultiLvlLbl val="0"/>
      </c:catAx>
      <c:valAx>
        <c:axId val="118697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5920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결과 </a:t>
            </a:r>
            <a:r>
              <a:rPr lang="en-US" altLang="ko-KR" dirty="0"/>
              <a:t>6</a:t>
            </a:r>
            <a:r>
              <a:rPr lang="ko-KR" altLang="en-US" dirty="0"/>
              <a:t> 분포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99.31 이하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F2-472E-AF01-3CA96D9F24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99.44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F2-472E-AF01-3CA96D9F24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99.58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F2-472E-AF01-3CA96D9F242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99.72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F2-472E-AF01-3CA96D9F242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99.86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F2-472E-AF01-3CA96D9F242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100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6F2-472E-AF01-3CA96D9F2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6975920"/>
        <c:axId val="1186977360"/>
      </c:barChart>
      <c:catAx>
        <c:axId val="118697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7360"/>
        <c:crosses val="autoZero"/>
        <c:auto val="1"/>
        <c:lblAlgn val="ctr"/>
        <c:lblOffset val="100"/>
        <c:noMultiLvlLbl val="0"/>
      </c:catAx>
      <c:valAx>
        <c:axId val="118697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975920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2024-04-10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69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59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66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569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816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C7A2-7D54-88A6-5015-21C7D507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890A61-BC52-0FBD-BAA6-EE9AFCFC2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07A36D-0D27-A10B-9B12-594589531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B3241-616D-F192-644A-FFEC5E79C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820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8A9-FDBE-29AB-A310-B9149FC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434ABA-2BA8-803D-D265-6B230EED3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6C0AB-AFFE-7992-F967-9A84422C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67462-51E5-EA5F-749C-ADCB895C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880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8A9-FDBE-29AB-A310-B9149FC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434ABA-2BA8-803D-D265-6B230EED3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6C0AB-AFFE-7992-F967-9A84422C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67462-51E5-EA5F-749C-ADCB895C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918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072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836D8-CD35-8369-C9D0-1573B050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25C263-D6D8-A24F-05D7-717ACD10C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7180DF-EBE4-FFF8-A1DB-F1590EFB4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674493-8451-59EF-5ED5-51E287F58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447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56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027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702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7348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237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121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75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8559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1782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4945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2952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044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842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5764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514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1328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2684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6270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191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38C9-A80A-A541-89E7-7948C6A5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C2118-7D5C-AF06-8106-D03A98F81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2B08D0-B046-BC0A-BCE8-0870908F9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4F46E-56E1-B6B5-C6FA-E1973809D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409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emf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21.png"/><Relationship Id="rId7" Type="http://schemas.openxmlformats.org/officeDocument/2006/relationships/image" Target="../media/image2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Relationship Id="rId9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2024-04-11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en-US" altLang="ko-KR" dirty="0"/>
              <a:t>BILP(MILP)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ko-KR" altLang="en-US" dirty="0" err="1"/>
              <a:t>위성군</a:t>
            </a:r>
            <a:r>
              <a:rPr lang="ko-KR" altLang="en-US" dirty="0"/>
              <a:t>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94840"/>
              </p:ext>
            </p:extLst>
          </p:nvPr>
        </p:nvGraphicFramePr>
        <p:xfrm>
          <a:off x="1568900" y="1984287"/>
          <a:ext cx="7318019" cy="3894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80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BILP Method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검증 방법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BILP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Method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수학적인 계산결과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80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BILP Method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실제 시뮬레이션 결과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803169" y="4845685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2784764" y="4936176"/>
            <a:ext cx="1787236" cy="10901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72526"/>
              </p:ext>
            </p:extLst>
          </p:nvPr>
        </p:nvGraphicFramePr>
        <p:xfrm>
          <a:off x="1568899" y="1071002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7389162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BILP method</a:t>
            </a:r>
            <a:r>
              <a:rPr lang="ko-KR" altLang="en-US" dirty="0">
                <a:solidFill>
                  <a:srgbClr val="1F2328"/>
                </a:solidFill>
              </a:rPr>
              <a:t>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추가로 참고한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  <a:endParaRPr lang="en-US" altLang="ko-KR" dirty="0"/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</a:t>
            </a:r>
            <a:r>
              <a:rPr lang="en-US" altLang="ko-KR" dirty="0"/>
              <a:t>reconfiguration</a:t>
            </a:r>
            <a:r>
              <a:rPr lang="ko-KR" altLang="en-US" dirty="0"/>
              <a:t>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검증 방법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5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1)</a:t>
            </a:r>
          </a:p>
          <a:p>
            <a:pPr lvl="1">
              <a:defRPr/>
            </a:pPr>
            <a:r>
              <a:rPr lang="en-US" altLang="ko-KR" dirty="0"/>
              <a:t>Example (1) : </a:t>
            </a:r>
            <a:r>
              <a:rPr lang="en-US" altLang="ko-KR" b="1" u="sng" dirty="0"/>
              <a:t>single-fold</a:t>
            </a:r>
            <a:r>
              <a:rPr lang="en-US" altLang="ko-KR" dirty="0"/>
              <a:t> continuous coverage over a </a:t>
            </a:r>
            <a:r>
              <a:rPr lang="en-US" altLang="ko-KR" b="1" u="sng" dirty="0"/>
              <a:t>single target point</a:t>
            </a:r>
          </a:p>
          <a:p>
            <a:pPr lvl="1">
              <a:defRPr/>
            </a:pPr>
            <a:r>
              <a:rPr lang="en-US" altLang="ko-KR" dirty="0"/>
              <a:t>Example (2) : </a:t>
            </a:r>
            <a:r>
              <a:rPr lang="en-US" altLang="ko-KR" b="1" u="sng" dirty="0"/>
              <a:t>time-varying </a:t>
            </a:r>
            <a:r>
              <a:rPr lang="en-US" altLang="ko-KR" dirty="0"/>
              <a:t>coverage over a </a:t>
            </a:r>
            <a:r>
              <a:rPr lang="en-US" altLang="ko-KR" b="1" u="sng" dirty="0"/>
              <a:t>single target point</a:t>
            </a:r>
          </a:p>
          <a:p>
            <a:pPr lvl="1">
              <a:defRPr/>
            </a:pPr>
            <a:r>
              <a:rPr lang="en-US" altLang="ko-KR" dirty="0"/>
              <a:t>Example (3) : single-fold continuous coverage over multiple target points</a:t>
            </a:r>
          </a:p>
          <a:p>
            <a:pPr lvl="1">
              <a:defRPr/>
            </a:pPr>
            <a:r>
              <a:rPr lang="en-US" altLang="ko-KR" dirty="0"/>
              <a:t>Example (4) : time-varying and spatially varying coverage over multiple target points</a:t>
            </a:r>
          </a:p>
          <a:p>
            <a:pPr lvl="1">
              <a:defRPr/>
            </a:pPr>
            <a:r>
              <a:rPr lang="en-US" altLang="ko-KR" dirty="0"/>
              <a:t>Example (5) :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over multiple target points</a:t>
            </a:r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논문 예시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32768-47BD-01F8-4F6D-4DD80722DA50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639E0EF-BC3C-5463-FE16-A41EB37F0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97404"/>
              </p:ext>
            </p:extLst>
          </p:nvPr>
        </p:nvGraphicFramePr>
        <p:xfrm>
          <a:off x="818054" y="327935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3D8554-82B3-876D-C6A7-1DEC551E0349}"/>
                  </a:ext>
                </a:extLst>
              </p:cNvPr>
              <p:cNvSpPr txBox="1"/>
              <p:nvPr/>
            </p:nvSpPr>
            <p:spPr>
              <a:xfrm>
                <a:off x="889972" y="4765574"/>
                <a:ext cx="6128473" cy="1283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œ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ko-KR" b="0" dirty="0"/>
                  <a:t>   </a:t>
                </a:r>
                <a:r>
                  <a:rPr lang="ko-KR" altLang="en-US" dirty="0"/>
                  <a:t>→</a:t>
                </a:r>
                <a:r>
                  <a:rPr lang="en-US" altLang="ko-KR" b="0" dirty="0"/>
                  <a:t>   </a:t>
                </a:r>
                <a:r>
                  <a:rPr lang="en-US" altLang="ko-KR" dirty="0"/>
                  <a:t>8059km (</a:t>
                </a:r>
                <a:r>
                  <a:rPr lang="ko-KR" altLang="en-US" dirty="0"/>
                  <a:t>고도 </a:t>
                </a:r>
                <a:r>
                  <a:rPr lang="en-US" altLang="ko-KR" b="0" dirty="0"/>
                  <a:t>1,681</a:t>
                </a:r>
                <a:r>
                  <a:rPr lang="en-US" altLang="ko-KR" dirty="0"/>
                  <a:t>km, r=6378km)</a:t>
                </a:r>
                <a:endParaRPr lang="en-US" altLang="ko-KR" b="0" dirty="0"/>
              </a:p>
              <a:p>
                <a:endParaRPr lang="en-US" altLang="ko-KR" b="0" dirty="0"/>
              </a:p>
              <a:p>
                <a:r>
                  <a:rPr lang="en-US" altLang="ko-KR" b="0" dirty="0"/>
                  <a:t>  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3D8554-82B3-876D-C6A7-1DEC551E0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72" y="4765574"/>
                <a:ext cx="6128473" cy="1283300"/>
              </a:xfrm>
              <a:prstGeom prst="rect">
                <a:avLst/>
              </a:prstGeom>
              <a:blipFill>
                <a:blip r:embed="rId3"/>
                <a:stretch>
                  <a:fillRect l="-1095" t="-2381" r="-1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0734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를 통한 궤도 설정 및 전파</a:t>
            </a:r>
            <a:endParaRPr lang="en-US" altLang="ko-KR" dirty="0"/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궤도요소 및 중력모델의 자유로운 설정 가능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en-US" altLang="ko-KR" dirty="0" err="1">
                <a:solidFill>
                  <a:srgbClr val="1F2328"/>
                </a:solidFill>
                <a:latin typeface="-apple-system"/>
              </a:rPr>
              <a:t>Matlab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의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Aerospace tool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에 비해 정밀함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Ground Station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에 대한 </a:t>
            </a:r>
            <a:r>
              <a:rPr lang="en-US" altLang="ko-KR" dirty="0" err="1">
                <a:solidFill>
                  <a:srgbClr val="1F2328"/>
                </a:solidFill>
                <a:latin typeface="-apple-system"/>
              </a:rPr>
              <a:t>PassData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를 출력 가능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>
              <a:defRPr/>
            </a:pPr>
            <a:r>
              <a:rPr lang="en-US" altLang="ko-KR" dirty="0" err="1"/>
              <a:t>Matlab</a:t>
            </a:r>
            <a:r>
              <a:rPr lang="ko-KR" altLang="en-US" dirty="0"/>
              <a:t>을 통한 결과 분석</a:t>
            </a:r>
            <a:endParaRPr lang="en-US" altLang="ko-KR" dirty="0"/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운용개념을 바탕으로 직접 코드 작성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dirty="0" err="1">
                <a:solidFill>
                  <a:srgbClr val="1F2328"/>
                </a:solidFill>
                <a:latin typeface="-apple-system"/>
              </a:rPr>
              <a:t>FreeFlyer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의 </a:t>
            </a:r>
            <a:r>
              <a:rPr lang="en-US" altLang="ko-KR" dirty="0" err="1">
                <a:solidFill>
                  <a:srgbClr val="1F2328"/>
                </a:solidFill>
                <a:latin typeface="-apple-system"/>
              </a:rPr>
              <a:t>PassData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를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input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으로 하여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APC Decomposition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출력 가능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논문 예시 검증방법</a:t>
            </a:r>
          </a:p>
        </p:txBody>
      </p:sp>
    </p:spTree>
    <p:extLst>
      <p:ext uri="{BB962C8B-B14F-4D97-AF65-F5344CB8AC3E}">
        <p14:creationId xmlns:p14="http://schemas.microsoft.com/office/powerpoint/2010/main" val="48202358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수학적인 계산 결과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논문에서의 결과</a:t>
            </a:r>
            <a:r>
              <a:rPr lang="en-US" altLang="ko-KR" dirty="0"/>
              <a:t>(Coverage</a:t>
            </a:r>
            <a:r>
              <a:rPr lang="ko-KR" altLang="en-US" dirty="0"/>
              <a:t> </a:t>
            </a:r>
            <a:r>
              <a:rPr lang="en-US" altLang="ko-KR" dirty="0"/>
              <a:t>100%)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5937.6 </a:t>
            </a:r>
            <a:r>
              <a:rPr lang="ko-KR" altLang="en-US" dirty="0"/>
              <a:t>초</a:t>
            </a:r>
            <a:endParaRPr lang="en-US" altLang="ko-KR" dirty="0"/>
          </a:p>
          <a:p>
            <a:pPr marL="576000" lvl="3" indent="0">
              <a:buNone/>
              <a:defRPr/>
            </a:pPr>
            <a:r>
              <a:rPr lang="en-US" altLang="ko-KR" dirty="0"/>
              <a:t> </a:t>
            </a:r>
          </a:p>
          <a:p>
            <a:pPr lvl="3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30D52D28-83ED-B50F-30D3-0C082FEFFDF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defRPr/>
                </a:pPr>
                <a:r>
                  <a:rPr lang="en-US" altLang="ko-KR" dirty="0"/>
                  <a:t>BILP method </a:t>
                </a:r>
                <a:r>
                  <a:rPr lang="ko-KR" altLang="en-US" dirty="0"/>
                  <a:t>연구 결과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𝛺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nor/>
                          </m:rPr>
                          <a:rPr lang="en-US" altLang="ko-KR" dirty="0"/>
                          <m:t>)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30D52D28-83ED-B50F-30D3-0C082FEFF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69F72618-3EE8-F6D7-8B32-17EEEDDB0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91" y="1661116"/>
            <a:ext cx="3867745" cy="347187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6718F2CB-DA07-BF5A-7CDF-D7A482F1AC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5572287"/>
                  </p:ext>
                </p:extLst>
              </p:nvPr>
            </p:nvGraphicFramePr>
            <p:xfrm>
              <a:off x="4568570" y="1887237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6718F2CB-DA07-BF5A-7CDF-D7A482F1AC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5572287"/>
                  </p:ext>
                </p:extLst>
              </p:nvPr>
            </p:nvGraphicFramePr>
            <p:xfrm>
              <a:off x="4568570" y="1887237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93" t="-2000" r="-431343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951" t="-2000" r="-256790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4660" t="-2000" r="-10194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4660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D13F706-F468-97CB-9B4B-6B55D3C75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525094"/>
              </p:ext>
            </p:extLst>
          </p:nvPr>
        </p:nvGraphicFramePr>
        <p:xfrm>
          <a:off x="6869690" y="2192037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190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430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215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446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527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263.5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176.3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268.5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116.3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543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271.5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688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290.3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Times New Roman"/>
                          <a:ea typeface="+mn-ea"/>
                          <a:cs typeface="Times New Roman"/>
                        </a:rPr>
                        <a:t>698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230.3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12783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2A0B-3577-CD25-7D3B-4D0C4F6F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6F5D4B0-89AC-42F6-B4CB-1E1D850D4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논문에서의 결과</a:t>
            </a:r>
            <a:r>
              <a:rPr lang="en-US" altLang="ko-KR" dirty="0"/>
              <a:t>(Coverage</a:t>
            </a:r>
            <a:r>
              <a:rPr lang="ko-KR" altLang="en-US" dirty="0"/>
              <a:t> </a:t>
            </a:r>
            <a:r>
              <a:rPr lang="en-US" altLang="ko-KR" dirty="0"/>
              <a:t>100%)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궤도평면 </a:t>
            </a:r>
            <a:r>
              <a:rPr lang="en-US" altLang="ko-KR" dirty="0"/>
              <a:t>18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한 평면 당 </a:t>
            </a:r>
            <a:r>
              <a:rPr lang="en-US" altLang="ko-KR" dirty="0"/>
              <a:t>1</a:t>
            </a:r>
            <a:r>
              <a:rPr lang="ko-KR" altLang="en-US" dirty="0"/>
              <a:t>대 씩 배치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5937.6 </a:t>
            </a:r>
            <a:r>
              <a:rPr lang="ko-KR" altLang="en-US" dirty="0"/>
              <a:t>초</a:t>
            </a:r>
            <a:endParaRPr lang="en-US" altLang="ko-KR" dirty="0"/>
          </a:p>
          <a:p>
            <a:pPr marL="576000" lvl="3" indent="0">
              <a:buNone/>
              <a:defRPr/>
            </a:pPr>
            <a:r>
              <a:rPr lang="en-US" altLang="ko-KR" dirty="0"/>
              <a:t> </a:t>
            </a:r>
          </a:p>
          <a:p>
            <a:pPr lvl="3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90BA4F-E869-90A5-A085-8D57BDE3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02F6ED82-15D0-DD9C-1130-1B201EF63E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defRPr/>
                </a:pPr>
                <a:r>
                  <a:rPr lang="en-US" altLang="ko-KR" dirty="0"/>
                  <a:t>BILP method </a:t>
                </a:r>
                <a:r>
                  <a:rPr lang="ko-KR" altLang="en-US" dirty="0"/>
                  <a:t>연구 결과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𝛺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nor/>
                          </m:rPr>
                          <a:rPr lang="en-US" altLang="ko-KR" dirty="0"/>
                          <m:t>)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제목 3">
                <a:extLst>
                  <a:ext uri="{FF2B5EF4-FFF2-40B4-BE49-F238E27FC236}">
                    <a16:creationId xmlns:a16="http://schemas.microsoft.com/office/drawing/2014/main" id="{02F6ED82-15D0-DD9C-1130-1B201EF63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2C445FB-A14F-B214-A8A8-A25DF08184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2753199"/>
                  </p:ext>
                </p:extLst>
              </p:nvPr>
            </p:nvGraphicFramePr>
            <p:xfrm>
              <a:off x="4568570" y="1887237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2C445FB-A14F-B214-A8A8-A25DF08184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2753199"/>
                  </p:ext>
                </p:extLst>
              </p:nvPr>
            </p:nvGraphicFramePr>
            <p:xfrm>
              <a:off x="4568570" y="1887237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1343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6790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660" t="-2000" r="-10194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4660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B8FC0EE-9DC5-EF47-70E8-A8472A14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671868"/>
              </p:ext>
            </p:extLst>
          </p:nvPr>
        </p:nvGraphicFramePr>
        <p:xfrm>
          <a:off x="6869690" y="2192037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190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430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215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446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527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263.5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176.3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268.5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116.3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543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271.5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688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290.3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Times New Roman"/>
                          <a:ea typeface="+mn-ea"/>
                          <a:cs typeface="Times New Roman"/>
                        </a:rPr>
                        <a:t>698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230.3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0FB6941A-499E-C32B-5313-841797A8E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10" y="1755229"/>
            <a:ext cx="4073182" cy="33828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004776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3080-9AF1-520B-20E0-63EF866A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7E265AD-832C-DCBD-63C3-E832E519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1</a:t>
            </a:r>
            <a:r>
              <a:rPr lang="ko-KR" altLang="en-US" dirty="0"/>
              <a:t>의 해를 대입한 결과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76000" lvl="3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7ABCE3-776F-17F3-8206-03B2B0FA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6831494-E3F4-F849-8DBD-438F7A7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수학적인 계산 결과 비교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3B6534-EFD1-BC56-E9B8-5C519E705818}"/>
              </a:ext>
            </a:extLst>
          </p:cNvPr>
          <p:cNvGraphicFramePr>
            <a:graphicFrameLocks noGrp="1"/>
          </p:cNvGraphicFramePr>
          <p:nvPr/>
        </p:nvGraphicFramePr>
        <p:xfrm>
          <a:off x="574044" y="161979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4D2E0C29-9CD6-0101-5E46-0D7D59AD7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358" y="2586310"/>
            <a:ext cx="5334000" cy="4000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B8B8981-40C9-9033-A77D-E2E5E894A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973" y="2733378"/>
            <a:ext cx="4175872" cy="3639565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F2B6CFD5-3035-4708-EBD1-738CE51E7023}"/>
              </a:ext>
            </a:extLst>
          </p:cNvPr>
          <p:cNvSpPr/>
          <p:nvPr/>
        </p:nvSpPr>
        <p:spPr bwMode="auto">
          <a:xfrm>
            <a:off x="4981804" y="1002236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13227-F1D0-0ACE-EA44-F93F4303989A}"/>
              </a:ext>
            </a:extLst>
          </p:cNvPr>
          <p:cNvSpPr txBox="1"/>
          <p:nvPr/>
        </p:nvSpPr>
        <p:spPr>
          <a:xfrm>
            <a:off x="5120890" y="101717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100 %</a:t>
            </a:r>
          </a:p>
        </p:txBody>
      </p:sp>
    </p:spTree>
    <p:extLst>
      <p:ext uri="{BB962C8B-B14F-4D97-AF65-F5344CB8AC3E}">
        <p14:creationId xmlns:p14="http://schemas.microsoft.com/office/powerpoint/2010/main" val="2059130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3080-9AF1-520B-20E0-63EF866A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7E265AD-832C-DCBD-63C3-E832E519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2</a:t>
            </a:r>
            <a:r>
              <a:rPr lang="ko-KR" altLang="en-US" dirty="0"/>
              <a:t>의 해를 대입한 결과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76000" lvl="3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7ABCE3-776F-17F3-8206-03B2B0FA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6831494-E3F4-F849-8DBD-438F7A7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수학적인 계산 결과 비교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3B6534-EFD1-BC56-E9B8-5C519E705818}"/>
              </a:ext>
            </a:extLst>
          </p:cNvPr>
          <p:cNvGraphicFramePr>
            <a:graphicFrameLocks noGrp="1"/>
          </p:cNvGraphicFramePr>
          <p:nvPr/>
        </p:nvGraphicFramePr>
        <p:xfrm>
          <a:off x="574044" y="161979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[39, 73, 79, 89, 170, 184, 234, 250, 331, 341, 347, 492, 502, 542, 638, 648, 654, 663]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B8B8981-40C9-9033-A77D-E2E5E894A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973" y="2733378"/>
            <a:ext cx="4175872" cy="3639565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B484C3-7DB5-217C-C16B-59F13DBE1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569274"/>
              </p:ext>
            </p:extLst>
          </p:nvPr>
        </p:nvGraphicFramePr>
        <p:xfrm>
          <a:off x="574044" y="1619790"/>
          <a:ext cx="7612666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4052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1, 2(240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480)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n = [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39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89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114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164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215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255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265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483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493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533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584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634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659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673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709</a:t>
                      </a: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]</a:t>
                      </a:r>
                      <a:endParaRPr lang="ko-KR" altLang="en-US" sz="1200" dirty="0">
                        <a:latin typeface="Times New Rom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06F94607-EC3E-2BE6-1A22-2E5C113D0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311" y="2712665"/>
            <a:ext cx="4230630" cy="36602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177A99-ABDB-C456-4F0D-8A21239AB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2114" y="2586777"/>
            <a:ext cx="5334000" cy="4000500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D8D2B4D-309D-A146-04F8-E4C4D8E18945}"/>
              </a:ext>
            </a:extLst>
          </p:cNvPr>
          <p:cNvSpPr/>
          <p:nvPr/>
        </p:nvSpPr>
        <p:spPr bwMode="auto">
          <a:xfrm>
            <a:off x="4981804" y="1002236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1F21C2-8937-9EE7-7AE2-DA6608D3CD7D}"/>
              </a:ext>
            </a:extLst>
          </p:cNvPr>
          <p:cNvSpPr txBox="1"/>
          <p:nvPr/>
        </p:nvSpPr>
        <p:spPr>
          <a:xfrm>
            <a:off x="5120890" y="101717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100 %</a:t>
            </a:r>
          </a:p>
        </p:txBody>
      </p:sp>
    </p:spTree>
    <p:extLst>
      <p:ext uri="{BB962C8B-B14F-4D97-AF65-F5344CB8AC3E}">
        <p14:creationId xmlns:p14="http://schemas.microsoft.com/office/powerpoint/2010/main" val="414880501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실제 시뮬레이션 결과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8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94EC-467A-E376-1EDC-4B3449C8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933ECB2-3371-7109-956F-FE1DFC523A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시뮬레이션 결과에 영향을 주는 요소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Classical Elemental Orbit of Seed Satellite</a:t>
                </a:r>
              </a:p>
              <a:p>
                <a:pPr lvl="2">
                  <a:defRPr/>
                </a:pPr>
                <a:r>
                  <a:rPr lang="ko-KR" altLang="en-US" dirty="0">
                    <a:solidFill>
                      <a:srgbClr val="FF0000"/>
                    </a:solidFill>
                  </a:rPr>
                  <a:t>𝑎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= 8059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𝑘𝑚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, 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𝑎𝑙𝑡𝑖𝑡𝑢𝑑𝑒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= 1681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𝑘𝑚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, 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𝑟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= 6378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𝑘𝑚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𝑎𝑒</m:t>
                        </m:r>
                      </m:e>
                      <m:sub>
                        <m:r>
                          <a:rPr kumimoji="1"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= 12.0426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𝑘𝑚 </a:t>
                </a:r>
              </a:p>
              <a:p>
                <a:pPr lvl="2">
                  <a:defRPr/>
                </a:pPr>
                <a:r>
                  <a:rPr lang="ko-KR" altLang="en-US" dirty="0"/>
                  <a:t>𝑒 </a:t>
                </a:r>
                <a:r>
                  <a:rPr lang="en-US" altLang="ko-KR" dirty="0"/>
                  <a:t>= 0˚,   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 = 102.9˚,   </a:t>
                </a:r>
                <a:r>
                  <a:rPr lang="el-GR" altLang="ko-KR" dirty="0"/>
                  <a:t>Ω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=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0˚,   </a:t>
                </a:r>
                <a:r>
                  <a:rPr lang="ko-KR" altLang="el-GR" dirty="0"/>
                  <a:t>𝜔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=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98.3˚,   </a:t>
                </a:r>
                <a:r>
                  <a:rPr lang="ko-KR" altLang="el-GR" dirty="0"/>
                  <a:t>𝜈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=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0˚</a:t>
                </a:r>
                <a:endParaRPr lang="en-US" altLang="ko-KR" dirty="0"/>
              </a:p>
              <a:p>
                <a:pPr lvl="2">
                  <a:defRPr/>
                </a:pPr>
                <a:endParaRPr lang="el-GR" altLang="ko-KR" dirty="0"/>
              </a:p>
              <a:p>
                <a:pPr lvl="1">
                  <a:defRPr/>
                </a:pPr>
                <a:r>
                  <a:rPr lang="en-US" altLang="ko-KR" dirty="0"/>
                  <a:t>Ground Station</a:t>
                </a:r>
              </a:p>
              <a:p>
                <a:pPr lvl="2">
                  <a:defRPr/>
                </a:pPr>
                <a:r>
                  <a:rPr lang="ko-KR" altLang="en-US" dirty="0"/>
                  <a:t>𝐿𝑎𝑡𝑖𝑡𝑢𝑑𝑒 </a:t>
                </a:r>
                <a:r>
                  <a:rPr lang="en-US" altLang="ko-KR" dirty="0"/>
                  <a:t>= 34.75˚</a:t>
                </a:r>
              </a:p>
              <a:p>
                <a:pPr lvl="2">
                  <a:defRPr/>
                </a:pPr>
                <a:r>
                  <a:rPr lang="ko-KR" altLang="en-US" dirty="0"/>
                  <a:t>𝐿𝑜𝑛𝑔𝑖𝑡𝑢𝑑𝑒 </a:t>
                </a:r>
                <a:r>
                  <a:rPr lang="en-US" altLang="ko-KR" dirty="0"/>
                  <a:t>= −84.39˚</a:t>
                </a:r>
              </a:p>
              <a:p>
                <a:pPr lvl="2">
                  <a:defRPr/>
                </a:pPr>
                <a:r>
                  <a:rPr lang="ko-KR" altLang="en-US" dirty="0"/>
                  <a:t>𝑀𝑖𝑛𝑖𝑚𝑢𝑚 𝐸𝑙𝑒𝑣𝑎𝑡𝑖𝑜𝑛 </a:t>
                </a:r>
                <a:r>
                  <a:rPr lang="en-US" altLang="ko-KR" dirty="0"/>
                  <a:t>= 5˚</a:t>
                </a:r>
              </a:p>
              <a:p>
                <a:pPr lvl="2"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Time</a:t>
                </a:r>
              </a:p>
              <a:p>
                <a:pPr lvl="2">
                  <a:defRPr/>
                </a:pPr>
                <a:r>
                  <a:rPr lang="ko-KR" altLang="en-US" dirty="0">
                    <a:solidFill>
                      <a:srgbClr val="FF0000"/>
                    </a:solidFill>
                  </a:rPr>
                  <a:t>𝐸𝑝𝑜𝑐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ℎ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𝑇𝑖𝑚𝑒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= [23.12.31 18:37:00]   to  [24.01.01 18:37:00]</a:t>
                </a:r>
              </a:p>
              <a:p>
                <a:pPr lvl="2">
                  <a:defRPr/>
                </a:pPr>
                <a:r>
                  <a:rPr lang="ko-KR" altLang="en-US" dirty="0"/>
                  <a:t>𝐿 </a:t>
                </a:r>
                <a:r>
                  <a:rPr lang="en-US" altLang="ko-KR" dirty="0"/>
                  <a:t>= 720</a:t>
                </a:r>
              </a:p>
              <a:p>
                <a:pPr lvl="2">
                  <a:defRPr/>
                </a:pPr>
                <a:r>
                  <a:rPr lang="ko-KR" altLang="en-US" dirty="0"/>
                  <a:t>𝑆𝑡𝑒𝑝 𝑠𝑖𝑧𝑒 </a:t>
                </a:r>
                <a:r>
                  <a:rPr lang="en-US" altLang="ko-KR" dirty="0"/>
                  <a:t>= 120 </a:t>
                </a:r>
                <a:r>
                  <a:rPr lang="ko-KR" altLang="en-US" dirty="0"/>
                  <a:t>𝑠</a:t>
                </a:r>
              </a:p>
              <a:p>
                <a:pPr lvl="4">
                  <a:defRPr/>
                </a:pPr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pPr lvl="4"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933ECB2-3371-7109-956F-FE1DFC523A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10DB1A1-819D-700D-4842-495A9861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3D091B2-D45A-D169-8E2F-D91D7A66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시뮬레이션 진행 시 고려해야 할 요소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D6EA4C3-5A78-3EBB-9598-A2C52258B488}"/>
              </a:ext>
            </a:extLst>
          </p:cNvPr>
          <p:cNvGrpSpPr/>
          <p:nvPr/>
        </p:nvGrpSpPr>
        <p:grpSpPr>
          <a:xfrm>
            <a:off x="5809592" y="1053681"/>
            <a:ext cx="3086100" cy="587420"/>
            <a:chOff x="6082301" y="959508"/>
            <a:chExt cx="2476078" cy="58742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C07A1B7-556A-2B06-A328-85BD22603E74}"/>
                </a:ext>
              </a:extLst>
            </p:cNvPr>
            <p:cNvCxnSpPr>
              <a:cxnSpLocks/>
            </p:cNvCxnSpPr>
            <p:nvPr/>
          </p:nvCxnSpPr>
          <p:spPr>
            <a:xfrm>
              <a:off x="6267243" y="1109610"/>
              <a:ext cx="47261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02FA426-8748-B5A9-220F-1110870F1927}"/>
                </a:ext>
              </a:extLst>
            </p:cNvPr>
            <p:cNvCxnSpPr>
              <a:cxnSpLocks/>
            </p:cNvCxnSpPr>
            <p:nvPr/>
          </p:nvCxnSpPr>
          <p:spPr>
            <a:xfrm>
              <a:off x="6267243" y="1385301"/>
              <a:ext cx="47261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434D21-2A9C-FA57-A775-B363AAA4BC52}"/>
                </a:ext>
              </a:extLst>
            </p:cNvPr>
            <p:cNvSpPr txBox="1"/>
            <p:nvPr/>
          </p:nvSpPr>
          <p:spPr>
            <a:xfrm>
              <a:off x="6806296" y="978805"/>
              <a:ext cx="175208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/>
                <a:t>:  </a:t>
              </a:r>
              <a:r>
                <a:rPr lang="ko-KR" altLang="en-US" sz="1100" dirty="0"/>
                <a:t>참고문헌에서 주어진 정보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ABED054-1E83-4761-53EE-D00125095193}"/>
                </a:ext>
              </a:extLst>
            </p:cNvPr>
            <p:cNvSpPr txBox="1"/>
            <p:nvPr/>
          </p:nvSpPr>
          <p:spPr>
            <a:xfrm>
              <a:off x="6806297" y="1254496"/>
              <a:ext cx="175208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/>
                <a:t>:  </a:t>
              </a:r>
              <a:r>
                <a:rPr lang="ko-KR" altLang="en-US" sz="1100" dirty="0"/>
                <a:t>주어지지 않은 정보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직접 계산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3F68E4E-A494-ADF9-2734-7F5D3C1BA207}"/>
                </a:ext>
              </a:extLst>
            </p:cNvPr>
            <p:cNvSpPr/>
            <p:nvPr/>
          </p:nvSpPr>
          <p:spPr bwMode="auto">
            <a:xfrm>
              <a:off x="6082301" y="959508"/>
              <a:ext cx="2476078" cy="5874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979269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1</a:t>
            </a:r>
            <a:r>
              <a:rPr lang="ko-KR" altLang="en-US" dirty="0"/>
              <a:t>의 해를 대입한 결과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Epoch Time </a:t>
            </a:r>
            <a:r>
              <a:rPr lang="ko-KR" altLang="en-US" dirty="0"/>
              <a:t>검증 결과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626841C-DC0D-B6E7-7669-E0DAF730A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489830"/>
              </p:ext>
            </p:extLst>
          </p:nvPr>
        </p:nvGraphicFramePr>
        <p:xfrm>
          <a:off x="392155" y="1451048"/>
          <a:ext cx="8507366" cy="113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589">
                  <a:extLst>
                    <a:ext uri="{9D8B030D-6E8A-4147-A177-3AD203B41FA5}">
                      <a16:colId xmlns:a16="http://schemas.microsoft.com/office/drawing/2014/main" val="2575338983"/>
                    </a:ext>
                  </a:extLst>
                </a:gridCol>
                <a:gridCol w="701993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23.12.31 18:37:00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BILP Method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[18, 114, 124, 130, 139, 235, 269, 275, 285, 366, 380, 430, 446, 527, 537, 543, 688, 698]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76B3B440-28F9-2CF6-A966-A3202F0F9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762661"/>
            <a:ext cx="4314917" cy="32361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83C8FA5-7D4A-DA2D-ACC2-C1F1E8F31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94" y="2753804"/>
            <a:ext cx="4119719" cy="3236188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65318060-1080-54E8-6D42-322515078116}"/>
              </a:ext>
            </a:extLst>
          </p:cNvPr>
          <p:cNvSpPr/>
          <p:nvPr/>
        </p:nvSpPr>
        <p:spPr bwMode="auto">
          <a:xfrm>
            <a:off x="5300302" y="6103786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52771D-9360-AEB9-F5D4-69FD8DD5AC36}"/>
              </a:ext>
            </a:extLst>
          </p:cNvPr>
          <p:cNvSpPr txBox="1"/>
          <p:nvPr/>
        </p:nvSpPr>
        <p:spPr>
          <a:xfrm>
            <a:off x="5439388" y="611872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100 %</a:t>
            </a:r>
          </a:p>
        </p:txBody>
      </p:sp>
    </p:spTree>
    <p:extLst>
      <p:ext uri="{BB962C8B-B14F-4D97-AF65-F5344CB8AC3E}">
        <p14:creationId xmlns:p14="http://schemas.microsoft.com/office/powerpoint/2010/main" val="86318845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59CE66-4662-1F8C-0450-97C316D8971A}"/>
              </a:ext>
            </a:extLst>
          </p:cNvPr>
          <p:cNvSpPr/>
          <p:nvPr/>
        </p:nvSpPr>
        <p:spPr bwMode="auto">
          <a:xfrm>
            <a:off x="4571999" y="2753804"/>
            <a:ext cx="4314917" cy="324504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2</a:t>
            </a:r>
            <a:r>
              <a:rPr lang="ko-KR" altLang="en-US" dirty="0"/>
              <a:t>의 해를 대입한 결과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Epoch Time </a:t>
            </a:r>
            <a:r>
              <a:rPr lang="ko-KR" altLang="en-US" dirty="0"/>
              <a:t>검증 결과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DCF367-F017-F9C1-6132-D99435B72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398865"/>
              </p:ext>
            </p:extLst>
          </p:nvPr>
        </p:nvGraphicFramePr>
        <p:xfrm>
          <a:off x="266032" y="1451048"/>
          <a:ext cx="8688788" cy="113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190">
                  <a:extLst>
                    <a:ext uri="{9D8B030D-6E8A-4147-A177-3AD203B41FA5}">
                      <a16:colId xmlns:a16="http://schemas.microsoft.com/office/drawing/2014/main" val="2575338983"/>
                    </a:ext>
                  </a:extLst>
                </a:gridCol>
                <a:gridCol w="722166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65304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32642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37852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6250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1027494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46587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1, 2(240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480)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23.12.31 18:37:00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BILP Method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n = [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39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89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114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164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215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255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265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483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493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533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584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634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659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673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709</a:t>
                      </a: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]</a:t>
                      </a:r>
                      <a:endParaRPr lang="ko-KR" altLang="en-US" sz="1200" dirty="0">
                        <a:latin typeface="Times New Rom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63CCADB9-A564-E09A-8285-325BC0B5F07E}"/>
              </a:ext>
            </a:extLst>
          </p:cNvPr>
          <p:cNvSpPr/>
          <p:nvPr/>
        </p:nvSpPr>
        <p:spPr bwMode="auto">
          <a:xfrm>
            <a:off x="5300302" y="6103786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8B236F-747E-4674-6EFB-7CF7C3D25DBA}"/>
              </a:ext>
            </a:extLst>
          </p:cNvPr>
          <p:cNvSpPr txBox="1"/>
          <p:nvPr/>
        </p:nvSpPr>
        <p:spPr>
          <a:xfrm>
            <a:off x="5439388" y="611872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100 %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261BCC8-6538-D56E-1252-9209569A6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892" y="2769480"/>
            <a:ext cx="4320298" cy="32402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A41E9B8-AB02-A6BC-32E6-684353F41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94" y="2753803"/>
            <a:ext cx="4119719" cy="323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9224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59CE66-4662-1F8C-0450-97C316D8971A}"/>
              </a:ext>
            </a:extLst>
          </p:cNvPr>
          <p:cNvSpPr/>
          <p:nvPr/>
        </p:nvSpPr>
        <p:spPr bwMode="auto">
          <a:xfrm>
            <a:off x="4571999" y="2753804"/>
            <a:ext cx="4314917" cy="324504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2</a:t>
            </a:r>
            <a:r>
              <a:rPr lang="ko-KR" altLang="en-US" dirty="0"/>
              <a:t>의 해를 대입한 결과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Epoch Time </a:t>
            </a:r>
            <a:r>
              <a:rPr lang="ko-KR" altLang="en-US" dirty="0"/>
              <a:t>검증 결과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DCF367-F017-F9C1-6132-D99435B72DDC}"/>
              </a:ext>
            </a:extLst>
          </p:cNvPr>
          <p:cNvGraphicFramePr>
            <a:graphicFrameLocks noGrp="1"/>
          </p:cNvGraphicFramePr>
          <p:nvPr/>
        </p:nvGraphicFramePr>
        <p:xfrm>
          <a:off x="266032" y="1451048"/>
          <a:ext cx="8688788" cy="113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190">
                  <a:extLst>
                    <a:ext uri="{9D8B030D-6E8A-4147-A177-3AD203B41FA5}">
                      <a16:colId xmlns:a16="http://schemas.microsoft.com/office/drawing/2014/main" val="2575338983"/>
                    </a:ext>
                  </a:extLst>
                </a:gridCol>
                <a:gridCol w="722166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65304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32642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37852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6250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1027494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46587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1, 2(240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480)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23.12.31 18:37:00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BILP Method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n = [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39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89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114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164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215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255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265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483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493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533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584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634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659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673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709</a:t>
                      </a: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]</a:t>
                      </a:r>
                      <a:endParaRPr lang="ko-KR" altLang="en-US" sz="1200" dirty="0">
                        <a:latin typeface="Times New Rom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FCF98A42-C9CF-3FAB-7183-7C6C4D316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659" y="2833808"/>
            <a:ext cx="5445303" cy="11328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588A298-03DA-C7EB-D5C6-7396EE240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529" y="4073452"/>
            <a:ext cx="4618929" cy="1536238"/>
          </a:xfrm>
          <a:prstGeom prst="rect">
            <a:avLst/>
          </a:prstGeom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63CCADB9-A564-E09A-8285-325BC0B5F07E}"/>
              </a:ext>
            </a:extLst>
          </p:cNvPr>
          <p:cNvSpPr/>
          <p:nvPr/>
        </p:nvSpPr>
        <p:spPr bwMode="auto">
          <a:xfrm>
            <a:off x="5300302" y="583665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8B236F-747E-4674-6EFB-7CF7C3D25DBA}"/>
              </a:ext>
            </a:extLst>
          </p:cNvPr>
          <p:cNvSpPr txBox="1"/>
          <p:nvPr/>
        </p:nvSpPr>
        <p:spPr>
          <a:xfrm>
            <a:off x="5439388" y="5687212"/>
            <a:ext cx="3447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requirement 2</a:t>
            </a:r>
          </a:p>
          <a:p>
            <a:pPr lvl="1">
              <a:defRPr/>
            </a:pPr>
            <a:r>
              <a:rPr lang="en-US" altLang="ko-KR" dirty="0"/>
              <a:t>(240 ≤ n ≤ 480) = 93.3 %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5A85CF-CB6C-4F8F-9942-36DA97676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94" y="2753803"/>
            <a:ext cx="4119719" cy="323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5013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 </a:t>
            </a:r>
            <a:r>
              <a:rPr lang="en-US" altLang="ko-KR" dirty="0" err="1"/>
              <a:t>Matlab</a:t>
            </a:r>
            <a:r>
              <a:rPr lang="en-US" altLang="ko-KR" dirty="0"/>
              <a:t> Coding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19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194957" y="6317721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183848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Flow chart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</a:t>
            </a:r>
            <a:r>
              <a:rPr lang="ko-KR" altLang="en-US" dirty="0"/>
              <a:t> 중복 횟수 최소화를 이용한 배치</a:t>
            </a:r>
            <a:endParaRPr lang="en-US" altLang="ko-KR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C8A1EB9-3FE2-2789-9F42-1E9029D5F91A}"/>
              </a:ext>
            </a:extLst>
          </p:cNvPr>
          <p:cNvSpPr/>
          <p:nvPr/>
        </p:nvSpPr>
        <p:spPr bwMode="auto">
          <a:xfrm>
            <a:off x="1428108" y="1549197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F2A5818-6A47-DBC6-D4C0-33E98F5A9BA4}"/>
              </a:ext>
            </a:extLst>
          </p:cNvPr>
          <p:cNvSpPr/>
          <p:nvPr/>
        </p:nvSpPr>
        <p:spPr bwMode="auto">
          <a:xfrm>
            <a:off x="2299701" y="1549197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692A242-60FB-7C5D-ED7C-52FB7CB2DD5B}"/>
              </a:ext>
            </a:extLst>
          </p:cNvPr>
          <p:cNvSpPr/>
          <p:nvPr/>
        </p:nvSpPr>
        <p:spPr bwMode="auto">
          <a:xfrm>
            <a:off x="3171291" y="1549197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074162-92BF-2911-A2D4-842F601932A6}"/>
              </a:ext>
            </a:extLst>
          </p:cNvPr>
          <p:cNvSpPr/>
          <p:nvPr/>
        </p:nvSpPr>
        <p:spPr bwMode="auto">
          <a:xfrm>
            <a:off x="5494960" y="1549196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92677F4-C220-FF0C-CE2E-DB57A7AA97EF}"/>
              </a:ext>
            </a:extLst>
          </p:cNvPr>
          <p:cNvSpPr/>
          <p:nvPr/>
        </p:nvSpPr>
        <p:spPr bwMode="auto">
          <a:xfrm>
            <a:off x="6351143" y="1549195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C719CFB-7A84-A171-AC6F-C10FDEAF5142}"/>
              </a:ext>
            </a:extLst>
          </p:cNvPr>
          <p:cNvSpPr/>
          <p:nvPr/>
        </p:nvSpPr>
        <p:spPr bwMode="auto">
          <a:xfrm>
            <a:off x="7207320" y="1549194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A1EE7E-1DD1-FDB7-5FF9-5FDF3C624362}"/>
              </a:ext>
            </a:extLst>
          </p:cNvPr>
          <p:cNvSpPr txBox="1"/>
          <p:nvPr/>
        </p:nvSpPr>
        <p:spPr>
          <a:xfrm>
            <a:off x="1151569" y="1611062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E797E-D468-A54D-C35A-263622F25AE0}"/>
              </a:ext>
            </a:extLst>
          </p:cNvPr>
          <p:cNvSpPr txBox="1"/>
          <p:nvPr/>
        </p:nvSpPr>
        <p:spPr>
          <a:xfrm>
            <a:off x="2030883" y="1611062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9DC9F6-7A2A-09B7-CFA2-787072F99A28}"/>
              </a:ext>
            </a:extLst>
          </p:cNvPr>
          <p:cNvSpPr txBox="1"/>
          <p:nvPr/>
        </p:nvSpPr>
        <p:spPr>
          <a:xfrm>
            <a:off x="2902473" y="1611061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D5F753-4868-5697-A447-C3C00FB1E174}"/>
              </a:ext>
            </a:extLst>
          </p:cNvPr>
          <p:cNvSpPr txBox="1"/>
          <p:nvPr/>
        </p:nvSpPr>
        <p:spPr>
          <a:xfrm>
            <a:off x="5220886" y="1611060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470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6485C6-0A72-7211-70C5-959A208D2E5B}"/>
              </a:ext>
            </a:extLst>
          </p:cNvPr>
          <p:cNvSpPr txBox="1"/>
          <p:nvPr/>
        </p:nvSpPr>
        <p:spPr>
          <a:xfrm>
            <a:off x="6076315" y="1611060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471</a:t>
            </a:r>
            <a:endParaRPr lang="ko-KR" alt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2F04C9-6F35-AA29-2C34-0B1EDF64FA63}"/>
              </a:ext>
            </a:extLst>
          </p:cNvPr>
          <p:cNvSpPr txBox="1"/>
          <p:nvPr/>
        </p:nvSpPr>
        <p:spPr>
          <a:xfrm>
            <a:off x="6932492" y="1603885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472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BF270-A425-5870-C340-BAC36826BC46}"/>
              </a:ext>
            </a:extLst>
          </p:cNvPr>
          <p:cNvSpPr txBox="1"/>
          <p:nvPr/>
        </p:nvSpPr>
        <p:spPr>
          <a:xfrm>
            <a:off x="4047188" y="1603884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…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FE176C-75B3-8EBE-E1CB-6D4A96AB3E03}"/>
              </a:ext>
            </a:extLst>
          </p:cNvPr>
          <p:cNvSpPr txBox="1"/>
          <p:nvPr/>
        </p:nvSpPr>
        <p:spPr>
          <a:xfrm>
            <a:off x="-221707" y="160388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J=1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CCE518-D5C6-3090-9171-A5ED627B4679}"/>
              </a:ext>
            </a:extLst>
          </p:cNvPr>
          <p:cNvSpPr txBox="1"/>
          <p:nvPr/>
        </p:nvSpPr>
        <p:spPr>
          <a:xfrm>
            <a:off x="962131" y="1241412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n </a:t>
            </a:r>
            <a:r>
              <a:rPr lang="en-US" altLang="ko-KR" sz="1400" dirty="0"/>
              <a:t>= 12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82A35A-D344-56AB-BCE2-CB9F54670145}"/>
              </a:ext>
            </a:extLst>
          </p:cNvPr>
          <p:cNvSpPr txBox="1"/>
          <p:nvPr/>
        </p:nvSpPr>
        <p:spPr>
          <a:xfrm>
            <a:off x="1750288" y="1225392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13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275A39-E77A-60C3-5B93-478F62FB371F}"/>
              </a:ext>
            </a:extLst>
          </p:cNvPr>
          <p:cNvSpPr txBox="1"/>
          <p:nvPr/>
        </p:nvSpPr>
        <p:spPr>
          <a:xfrm>
            <a:off x="2731216" y="120247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14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A6B53C-132D-93BB-524C-BC519265681D}"/>
              </a:ext>
            </a:extLst>
          </p:cNvPr>
          <p:cNvSpPr txBox="1"/>
          <p:nvPr/>
        </p:nvSpPr>
        <p:spPr>
          <a:xfrm>
            <a:off x="5028357" y="1179544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706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85C09-228C-25CC-4AB5-4EC44B39A4F3}"/>
              </a:ext>
            </a:extLst>
          </p:cNvPr>
          <p:cNvSpPr txBox="1"/>
          <p:nvPr/>
        </p:nvSpPr>
        <p:spPr>
          <a:xfrm>
            <a:off x="5803082" y="1202472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=707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A8D8A7-3AB3-0EE0-D251-03A90EB08AAE}"/>
              </a:ext>
            </a:extLst>
          </p:cNvPr>
          <p:cNvSpPr txBox="1"/>
          <p:nvPr/>
        </p:nvSpPr>
        <p:spPr>
          <a:xfrm>
            <a:off x="6718025" y="1201454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708</a:t>
            </a:r>
            <a:endParaRPr lang="ko-KR" altLang="en-US" sz="1400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F9558E-7535-E15B-00E7-8916912F4DC8}"/>
              </a:ext>
            </a:extLst>
          </p:cNvPr>
          <p:cNvCxnSpPr/>
          <p:nvPr/>
        </p:nvCxnSpPr>
        <p:spPr>
          <a:xfrm flipH="1">
            <a:off x="1230358" y="1980709"/>
            <a:ext cx="197750" cy="1194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CBBDF74-A7F0-2A5F-DDAD-2CAAF1740D66}"/>
              </a:ext>
            </a:extLst>
          </p:cNvPr>
          <p:cNvCxnSpPr>
            <a:cxnSpLocks/>
          </p:cNvCxnSpPr>
          <p:nvPr/>
        </p:nvCxnSpPr>
        <p:spPr>
          <a:xfrm>
            <a:off x="1921748" y="1966352"/>
            <a:ext cx="6621762" cy="982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EAA023C6-2B67-A650-1C0D-8CB9D07B7842}"/>
              </a:ext>
            </a:extLst>
          </p:cNvPr>
          <p:cNvSpPr/>
          <p:nvPr/>
        </p:nvSpPr>
        <p:spPr bwMode="auto">
          <a:xfrm>
            <a:off x="1357516" y="3368400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ED9476C-A4BE-048D-723E-C456D2CB20E3}"/>
              </a:ext>
            </a:extLst>
          </p:cNvPr>
          <p:cNvSpPr/>
          <p:nvPr/>
        </p:nvSpPr>
        <p:spPr bwMode="auto">
          <a:xfrm>
            <a:off x="2264404" y="3368400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8B4EE53-3AAB-1BCE-DA07-18C0B50E3195}"/>
              </a:ext>
            </a:extLst>
          </p:cNvPr>
          <p:cNvSpPr/>
          <p:nvPr/>
        </p:nvSpPr>
        <p:spPr bwMode="auto">
          <a:xfrm>
            <a:off x="3171291" y="3354056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CE75A3F-94BF-B1FC-0476-052357509BF4}"/>
              </a:ext>
            </a:extLst>
          </p:cNvPr>
          <p:cNvSpPr/>
          <p:nvPr/>
        </p:nvSpPr>
        <p:spPr bwMode="auto">
          <a:xfrm>
            <a:off x="5458618" y="3368399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4B40506-3F6D-17ED-34E4-5E3DB6E18006}"/>
              </a:ext>
            </a:extLst>
          </p:cNvPr>
          <p:cNvSpPr/>
          <p:nvPr/>
        </p:nvSpPr>
        <p:spPr bwMode="auto">
          <a:xfrm>
            <a:off x="6315845" y="3354056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19AAA9E-7699-2172-7EC9-89D2EC8AD5F1}"/>
              </a:ext>
            </a:extLst>
          </p:cNvPr>
          <p:cNvSpPr/>
          <p:nvPr/>
        </p:nvSpPr>
        <p:spPr bwMode="auto">
          <a:xfrm>
            <a:off x="7172769" y="3368399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764B51-3CD3-716B-0FEA-AD398BDC81A5}"/>
              </a:ext>
            </a:extLst>
          </p:cNvPr>
          <p:cNvSpPr txBox="1"/>
          <p:nvPr/>
        </p:nvSpPr>
        <p:spPr>
          <a:xfrm>
            <a:off x="1117986" y="3429000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835D4F-97FA-9266-0833-1F4DC4A20F44}"/>
              </a:ext>
            </a:extLst>
          </p:cNvPr>
          <p:cNvSpPr txBox="1"/>
          <p:nvPr/>
        </p:nvSpPr>
        <p:spPr>
          <a:xfrm>
            <a:off x="2024872" y="3436178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6A4D9E-8721-B181-5EA9-03001F668767}"/>
              </a:ext>
            </a:extLst>
          </p:cNvPr>
          <p:cNvSpPr txBox="1"/>
          <p:nvPr/>
        </p:nvSpPr>
        <p:spPr>
          <a:xfrm>
            <a:off x="2949510" y="3423256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3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9DB722-5D28-4033-B007-F72D6488571C}"/>
              </a:ext>
            </a:extLst>
          </p:cNvPr>
          <p:cNvSpPr txBox="1"/>
          <p:nvPr/>
        </p:nvSpPr>
        <p:spPr>
          <a:xfrm>
            <a:off x="5220886" y="3447428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267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941BA-23D7-3D3A-3F15-BE5D46ED01CD}"/>
              </a:ext>
            </a:extLst>
          </p:cNvPr>
          <p:cNvSpPr txBox="1"/>
          <p:nvPr/>
        </p:nvSpPr>
        <p:spPr>
          <a:xfrm>
            <a:off x="6097022" y="3436178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268</a:t>
            </a:r>
            <a:endParaRPr lang="ko-KR" alt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E3F5A6-41C1-06DF-5E6D-9EE52BA0922E}"/>
              </a:ext>
            </a:extLst>
          </p:cNvPr>
          <p:cNvSpPr txBox="1"/>
          <p:nvPr/>
        </p:nvSpPr>
        <p:spPr>
          <a:xfrm>
            <a:off x="6942726" y="3435594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269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C0F65B-847F-C2E4-9A81-161987FC14C6}"/>
              </a:ext>
            </a:extLst>
          </p:cNvPr>
          <p:cNvSpPr txBox="1"/>
          <p:nvPr/>
        </p:nvSpPr>
        <p:spPr>
          <a:xfrm>
            <a:off x="916120" y="2975665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24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3CF758-C4C0-E767-540B-0877B9153023}"/>
              </a:ext>
            </a:extLst>
          </p:cNvPr>
          <p:cNvSpPr txBox="1"/>
          <p:nvPr/>
        </p:nvSpPr>
        <p:spPr>
          <a:xfrm>
            <a:off x="1744600" y="296316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25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0DB14D-E6CE-413B-F734-F456853396D0}"/>
              </a:ext>
            </a:extLst>
          </p:cNvPr>
          <p:cNvSpPr txBox="1"/>
          <p:nvPr/>
        </p:nvSpPr>
        <p:spPr>
          <a:xfrm>
            <a:off x="2750228" y="2950241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26</a:t>
            </a:r>
            <a:endParaRPr lang="ko-KR" alt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D907B6-8C51-D1E1-5E4F-E2EDB168F117}"/>
              </a:ext>
            </a:extLst>
          </p:cNvPr>
          <p:cNvSpPr txBox="1"/>
          <p:nvPr/>
        </p:nvSpPr>
        <p:spPr>
          <a:xfrm>
            <a:off x="4983638" y="2886766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706</a:t>
            </a:r>
            <a:endParaRPr lang="ko-KR" alt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FEC92F-80AF-7B47-5A52-B2330FA0B2FA}"/>
              </a:ext>
            </a:extLst>
          </p:cNvPr>
          <p:cNvSpPr txBox="1"/>
          <p:nvPr/>
        </p:nvSpPr>
        <p:spPr>
          <a:xfrm>
            <a:off x="5923715" y="2875516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707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8FA2C3-DDC8-D4F4-E76D-6969FDB91D66}"/>
              </a:ext>
            </a:extLst>
          </p:cNvPr>
          <p:cNvSpPr txBox="1"/>
          <p:nvPr/>
        </p:nvSpPr>
        <p:spPr>
          <a:xfrm>
            <a:off x="6774953" y="2864487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708</a:t>
            </a:r>
            <a:endParaRPr lang="ko-KR" altLang="en-US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11AB14-EBB0-6813-40D9-AFC36FD8EDD3}"/>
              </a:ext>
            </a:extLst>
          </p:cNvPr>
          <p:cNvSpPr txBox="1"/>
          <p:nvPr/>
        </p:nvSpPr>
        <p:spPr>
          <a:xfrm>
            <a:off x="-200514" y="3449617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J=2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448AAB-97CF-51B3-9CF3-CB4619C20927}"/>
              </a:ext>
            </a:extLst>
          </p:cNvPr>
          <p:cNvSpPr txBox="1"/>
          <p:nvPr/>
        </p:nvSpPr>
        <p:spPr>
          <a:xfrm>
            <a:off x="4044469" y="3419179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…</a:t>
            </a:r>
            <a:endParaRPr lang="ko-KR" altLang="en-US" sz="1400" dirty="0"/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E273685-5696-5CB5-2E0F-6CFEB5DE9AC3}"/>
              </a:ext>
            </a:extLst>
          </p:cNvPr>
          <p:cNvCxnSpPr/>
          <p:nvPr/>
        </p:nvCxnSpPr>
        <p:spPr>
          <a:xfrm flipH="1">
            <a:off x="1117986" y="4032673"/>
            <a:ext cx="197750" cy="1194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AF7171B-95F7-0F54-38F0-0D7184619ED2}"/>
              </a:ext>
            </a:extLst>
          </p:cNvPr>
          <p:cNvCxnSpPr>
            <a:cxnSpLocks/>
          </p:cNvCxnSpPr>
          <p:nvPr/>
        </p:nvCxnSpPr>
        <p:spPr>
          <a:xfrm>
            <a:off x="2049359" y="3969424"/>
            <a:ext cx="6494151" cy="1477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3789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7" grpId="0" animBg="1"/>
      <p:bldP spid="49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3" grpId="0" animBg="1"/>
      <p:bldP spid="64" grpId="0" animBg="1"/>
      <p:bldP spid="68" grpId="0" animBg="1"/>
      <p:bldP spid="6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257080" y="6224099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1F6E507-D043-297B-7E6F-3A13F8BE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50" y="1295704"/>
            <a:ext cx="1704975" cy="5438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E3A193-0A70-1319-CB25-CE13802EED71}"/>
              </a:ext>
            </a:extLst>
          </p:cNvPr>
          <p:cNvSpPr txBox="1"/>
          <p:nvPr/>
        </p:nvSpPr>
        <p:spPr>
          <a:xfrm>
            <a:off x="2141939" y="5635042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427</a:t>
            </a:r>
            <a:endParaRPr lang="ko-KR" alt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097C6-BB3D-6D5A-5E18-163240116DAB}"/>
              </a:ext>
            </a:extLst>
          </p:cNvPr>
          <p:cNvSpPr txBox="1"/>
          <p:nvPr/>
        </p:nvSpPr>
        <p:spPr>
          <a:xfrm>
            <a:off x="2144731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/>
              <a:t>중복 없이 </a:t>
            </a:r>
            <a:r>
              <a:rPr lang="ko-KR" altLang="en-US" sz="1800" dirty="0"/>
              <a:t>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269</a:t>
            </a:r>
            <a:endParaRPr lang="ko-KR" alt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188657-7FCB-A341-794E-21AC461159B9}"/>
              </a:ext>
            </a:extLst>
          </p:cNvPr>
          <p:cNvSpPr txBox="1"/>
          <p:nvPr/>
        </p:nvSpPr>
        <p:spPr>
          <a:xfrm>
            <a:off x="2144731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140</a:t>
            </a:r>
            <a:endParaRPr lang="ko-KR" alt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695F12-2051-7811-FB14-B8E7119F9DAC}"/>
              </a:ext>
            </a:extLst>
          </p:cNvPr>
          <p:cNvSpPr txBox="1"/>
          <p:nvPr/>
        </p:nvSpPr>
        <p:spPr>
          <a:xfrm>
            <a:off x="2083087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20</a:t>
            </a:r>
            <a:endParaRPr lang="ko-KR" alt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245723-7B48-43F6-D290-169BAD6F72B1}"/>
              </a:ext>
            </a:extLst>
          </p:cNvPr>
          <p:cNvSpPr txBox="1"/>
          <p:nvPr/>
        </p:nvSpPr>
        <p:spPr>
          <a:xfrm>
            <a:off x="2018650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</a:t>
            </a:r>
            <a:endParaRPr lang="ko-KR" altLang="en-US" sz="18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183848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Method </a:t>
            </a:r>
            <a:r>
              <a:rPr lang="ko-KR" altLang="en-US" dirty="0"/>
              <a:t>의 개념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</a:t>
            </a:r>
            <a:r>
              <a:rPr lang="ko-KR" altLang="en-US" dirty="0"/>
              <a:t> 중복 횟수 최소화를 이용한 배치</a:t>
            </a:r>
            <a:endParaRPr lang="en-US" altLang="ko-KR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B5FD131-219E-081A-BAC3-816408EE0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4CBAB0C-1930-7022-A22D-7A4E6A626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385A1D6-2086-A971-DDC5-2C84BB3542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C07D9DE-F752-2736-ADED-6350A690F3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7321CC12-41EB-285C-5D3E-8E61B1D81C32}"/>
              </a:ext>
            </a:extLst>
          </p:cNvPr>
          <p:cNvSpPr/>
          <p:nvPr/>
        </p:nvSpPr>
        <p:spPr bwMode="auto">
          <a:xfrm>
            <a:off x="2579293" y="6210641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057E68-996C-6144-6CEB-18449D2622D8}"/>
              </a:ext>
            </a:extLst>
          </p:cNvPr>
          <p:cNvSpPr txBox="1"/>
          <p:nvPr/>
        </p:nvSpPr>
        <p:spPr>
          <a:xfrm>
            <a:off x="2579293" y="6219402"/>
            <a:ext cx="4854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그 이후엔 최소한의 중복으로 배치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162B71-C38C-95C2-285E-1D64871A0B11}"/>
              </a:ext>
            </a:extLst>
          </p:cNvPr>
          <p:cNvSpPr txBox="1"/>
          <p:nvPr/>
        </p:nvSpPr>
        <p:spPr>
          <a:xfrm>
            <a:off x="2240591" y="5619711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0</a:t>
            </a:r>
            <a:endParaRPr lang="ko-KR" altLang="en-US" sz="18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FB84665-C285-60EC-8B4C-0365ECEDDE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2482" y="1428988"/>
            <a:ext cx="5334000" cy="40005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C13EBEA-7B98-459F-4E3A-30E21C38D9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239" y="1295704"/>
            <a:ext cx="1685925" cy="5448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91418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30" grpId="0" animBg="1"/>
      <p:bldP spid="31" grpId="0" animBg="1"/>
      <p:bldP spid="33" grpId="0" animBg="1"/>
      <p:bldP spid="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194957" y="6317721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183848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Flow chart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</a:t>
            </a:r>
            <a:r>
              <a:rPr lang="ko-KR" altLang="en-US" dirty="0"/>
              <a:t> 중복 횟수 최소화를 이용한 배치</a:t>
            </a:r>
            <a:endParaRPr lang="en-US" altLang="ko-KR" dirty="0"/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01832C5A-8E50-61DB-87BE-B131898D0DFD}"/>
              </a:ext>
            </a:extLst>
          </p:cNvPr>
          <p:cNvSpPr/>
          <p:nvPr/>
        </p:nvSpPr>
        <p:spPr bwMode="auto">
          <a:xfrm>
            <a:off x="1962841" y="2677146"/>
            <a:ext cx="1807772" cy="73974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/>
              <a:t>Seed Satellite</a:t>
            </a:r>
          </a:p>
          <a:p>
            <a:pPr algn="ctr"/>
            <a:r>
              <a:rPr lang="en-US" altLang="ko-KR" sz="1400" dirty="0"/>
              <a:t>Access Profile</a:t>
            </a:r>
            <a:endParaRPr lang="ko-KR" altLang="en-US" sz="1400" dirty="0"/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67F73348-3CB9-BBCB-7FCC-23BCC20DF994}"/>
              </a:ext>
            </a:extLst>
          </p:cNvPr>
          <p:cNvSpPr/>
          <p:nvPr/>
        </p:nvSpPr>
        <p:spPr bwMode="auto">
          <a:xfrm>
            <a:off x="1561669" y="5382233"/>
            <a:ext cx="2609158" cy="1020762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/>
              <a:t>Minimum</a:t>
            </a:r>
          </a:p>
          <a:p>
            <a:pPr algn="ctr"/>
            <a:r>
              <a:rPr lang="en-US" altLang="ko-KR" sz="1400" dirty="0"/>
              <a:t>sum - unique</a:t>
            </a:r>
            <a:endParaRPr lang="ko-KR" altLang="en-US" sz="1400" dirty="0"/>
          </a:p>
        </p:txBody>
      </p:sp>
      <p:sp>
        <p:nvSpPr>
          <p:cNvPr id="9" name="순서도: 데이터 8">
            <a:extLst>
              <a:ext uri="{FF2B5EF4-FFF2-40B4-BE49-F238E27FC236}">
                <a16:creationId xmlns:a16="http://schemas.microsoft.com/office/drawing/2014/main" id="{F81AB50D-856C-9A47-0BAB-822CC33A70C6}"/>
              </a:ext>
            </a:extLst>
          </p:cNvPr>
          <p:cNvSpPr/>
          <p:nvPr/>
        </p:nvSpPr>
        <p:spPr bwMode="auto">
          <a:xfrm>
            <a:off x="1674686" y="1767150"/>
            <a:ext cx="2383603" cy="691989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dirty="0"/>
              <a:t>Input :</a:t>
            </a:r>
          </a:p>
          <a:p>
            <a:pPr algn="ctr"/>
            <a:r>
              <a:rPr lang="en-US" altLang="ko-KR" sz="1200" dirty="0" err="1"/>
              <a:t>Freeflyer</a:t>
            </a:r>
            <a:r>
              <a:rPr lang="en-US" altLang="ko-KR" sz="1200" dirty="0"/>
              <a:t> </a:t>
            </a:r>
            <a:r>
              <a:rPr lang="en-US" altLang="ko-KR" sz="1200" dirty="0" err="1"/>
              <a:t>passdata</a:t>
            </a:r>
            <a:endParaRPr lang="ko-KR" altLang="en-US" sz="1200" dirty="0"/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7B776B99-E7E1-CB2C-AE2D-98DF5AF59325}"/>
              </a:ext>
            </a:extLst>
          </p:cNvPr>
          <p:cNvSpPr/>
          <p:nvPr/>
        </p:nvSpPr>
        <p:spPr bwMode="auto">
          <a:xfrm>
            <a:off x="1972875" y="3655441"/>
            <a:ext cx="1807772" cy="423395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/>
              <a:t>n_ (No. j Sat) = 0</a:t>
            </a:r>
            <a:endParaRPr lang="ko-KR" altLang="en-US" sz="1400" dirty="0"/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BBAF1F24-2BB5-D70C-3199-CF2D42EC4A0F}"/>
              </a:ext>
            </a:extLst>
          </p:cNvPr>
          <p:cNvSpPr/>
          <p:nvPr/>
        </p:nvSpPr>
        <p:spPr bwMode="auto">
          <a:xfrm>
            <a:off x="1962841" y="4307117"/>
            <a:ext cx="1807772" cy="832893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 err="1"/>
              <a:t>unique_all_cov</a:t>
            </a:r>
            <a:endParaRPr lang="en-US" altLang="ko-KR" sz="1400" dirty="0"/>
          </a:p>
          <a:p>
            <a:pPr algn="ctr"/>
            <a:r>
              <a:rPr lang="en-US" altLang="ko-KR" sz="1400" dirty="0"/>
              <a:t>&amp; </a:t>
            </a:r>
            <a:r>
              <a:rPr lang="en-US" altLang="ko-KR" sz="1400" dirty="0" err="1"/>
              <a:t>sum_all_cov</a:t>
            </a:r>
            <a:endParaRPr lang="ko-KR" altLang="en-US" sz="14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8E7E3F5-7788-983D-034B-7C98CD9EAB47}"/>
              </a:ext>
            </a:extLst>
          </p:cNvPr>
          <p:cNvCxnSpPr>
            <a:stCxn id="9" idx="4"/>
            <a:endCxn id="5" idx="0"/>
          </p:cNvCxnSpPr>
          <p:nvPr/>
        </p:nvCxnSpPr>
        <p:spPr>
          <a:xfrm>
            <a:off x="2866488" y="2459139"/>
            <a:ext cx="239" cy="2180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E8FC6F5-3515-020A-C7B4-ECF62494D647}"/>
              </a:ext>
            </a:extLst>
          </p:cNvPr>
          <p:cNvCxnSpPr/>
          <p:nvPr/>
        </p:nvCxnSpPr>
        <p:spPr>
          <a:xfrm>
            <a:off x="2866248" y="3432616"/>
            <a:ext cx="239" cy="2180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56A8721-587F-62C2-7AB1-25D475EEB40C}"/>
              </a:ext>
            </a:extLst>
          </p:cNvPr>
          <p:cNvCxnSpPr/>
          <p:nvPr/>
        </p:nvCxnSpPr>
        <p:spPr>
          <a:xfrm>
            <a:off x="2876761" y="4082115"/>
            <a:ext cx="239" cy="2180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CDDB2C6-CD36-FE76-6D28-B892CDE32015}"/>
              </a:ext>
            </a:extLst>
          </p:cNvPr>
          <p:cNvCxnSpPr/>
          <p:nvPr/>
        </p:nvCxnSpPr>
        <p:spPr>
          <a:xfrm>
            <a:off x="2876522" y="5145147"/>
            <a:ext cx="239" cy="2180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47DDF97B-6384-209A-0DC2-8A2AE9CFA3F8}"/>
              </a:ext>
            </a:extLst>
          </p:cNvPr>
          <p:cNvCxnSpPr>
            <a:cxnSpLocks/>
            <a:stCxn id="8" idx="3"/>
            <a:endCxn id="55" idx="1"/>
          </p:cNvCxnSpPr>
          <p:nvPr/>
        </p:nvCxnSpPr>
        <p:spPr>
          <a:xfrm flipV="1">
            <a:off x="4170827" y="1803842"/>
            <a:ext cx="1393002" cy="4088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EE53257-8051-DFD5-3CA9-073D52AF4926}"/>
              </a:ext>
            </a:extLst>
          </p:cNvPr>
          <p:cNvSpPr txBox="1"/>
          <p:nvPr/>
        </p:nvSpPr>
        <p:spPr>
          <a:xfrm>
            <a:off x="1194375" y="5899610"/>
            <a:ext cx="8106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1F2328"/>
                </a:solidFill>
              </a:rPr>
              <a:t>No</a:t>
            </a:r>
            <a:endParaRPr lang="ko-KR" altLang="en-US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C85C23-F23B-A0BF-93B1-2E9E1A105908}"/>
              </a:ext>
            </a:extLst>
          </p:cNvPr>
          <p:cNvSpPr txBox="1"/>
          <p:nvPr/>
        </p:nvSpPr>
        <p:spPr>
          <a:xfrm>
            <a:off x="313605" y="4807627"/>
            <a:ext cx="8933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1F2328"/>
                </a:solidFill>
              </a:rPr>
              <a:t>n = n +1</a:t>
            </a:r>
            <a:endParaRPr lang="ko-KR" altLang="en-US" sz="1200" dirty="0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1741A5F4-BD96-00F8-71BD-492BAB30F9BF}"/>
              </a:ext>
            </a:extLst>
          </p:cNvPr>
          <p:cNvCxnSpPr>
            <a:cxnSpLocks/>
            <a:stCxn id="8" idx="1"/>
            <a:endCxn id="10" idx="1"/>
          </p:cNvCxnSpPr>
          <p:nvPr/>
        </p:nvCxnSpPr>
        <p:spPr>
          <a:xfrm rot="10800000" flipH="1">
            <a:off x="1561669" y="3867140"/>
            <a:ext cx="411206" cy="2025475"/>
          </a:xfrm>
          <a:prstGeom prst="bentConnector3">
            <a:avLst>
              <a:gd name="adj1" fmla="val -1080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45FD658-9D39-17F7-3C31-1F0BBA6B004A}"/>
              </a:ext>
            </a:extLst>
          </p:cNvPr>
          <p:cNvSpPr txBox="1"/>
          <p:nvPr/>
        </p:nvSpPr>
        <p:spPr>
          <a:xfrm>
            <a:off x="4146970" y="5929315"/>
            <a:ext cx="8106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1F2328"/>
                </a:solidFill>
              </a:rPr>
              <a:t>Yes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75A82B-12DE-9A71-4B45-F6AAC0A0AF41}"/>
              </a:ext>
            </a:extLst>
          </p:cNvPr>
          <p:cNvSpPr txBox="1"/>
          <p:nvPr/>
        </p:nvSpPr>
        <p:spPr>
          <a:xfrm>
            <a:off x="4056432" y="3887253"/>
            <a:ext cx="8933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1F2328"/>
                </a:solidFill>
              </a:rPr>
              <a:t>j = j +1</a:t>
            </a:r>
            <a:endParaRPr lang="ko-KR" altLang="en-US" sz="1200" dirty="0"/>
          </a:p>
        </p:txBody>
      </p: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83625869-618B-7849-B7AA-CB929C96DF05}"/>
              </a:ext>
            </a:extLst>
          </p:cNvPr>
          <p:cNvSpPr/>
          <p:nvPr/>
        </p:nvSpPr>
        <p:spPr bwMode="auto">
          <a:xfrm>
            <a:off x="5563829" y="1433972"/>
            <a:ext cx="1807772" cy="73974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/>
              <a:t>Save No. j Sat</a:t>
            </a:r>
          </a:p>
          <a:p>
            <a:pPr algn="ctr"/>
            <a:r>
              <a:rPr lang="en-US" altLang="ko-KR" sz="1400" dirty="0"/>
              <a:t>Access Profile</a:t>
            </a:r>
            <a:endParaRPr lang="ko-KR" altLang="en-US" sz="1400" dirty="0"/>
          </a:p>
        </p:txBody>
      </p:sp>
      <p:sp>
        <p:nvSpPr>
          <p:cNvPr id="86" name="순서도: 처리 85">
            <a:extLst>
              <a:ext uri="{FF2B5EF4-FFF2-40B4-BE49-F238E27FC236}">
                <a16:creationId xmlns:a16="http://schemas.microsoft.com/office/drawing/2014/main" id="{A9EF2FFA-E468-B793-D945-0C460895CC8E}"/>
              </a:ext>
            </a:extLst>
          </p:cNvPr>
          <p:cNvSpPr/>
          <p:nvPr/>
        </p:nvSpPr>
        <p:spPr bwMode="auto">
          <a:xfrm>
            <a:off x="5570677" y="2497301"/>
            <a:ext cx="1807772" cy="73974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dirty="0"/>
              <a:t>Calculate</a:t>
            </a:r>
          </a:p>
          <a:p>
            <a:pPr algn="ctr"/>
            <a:r>
              <a:rPr lang="en-US" altLang="ko-KR" sz="1400" dirty="0"/>
              <a:t>Coverage</a:t>
            </a:r>
            <a:endParaRPr lang="ko-KR" altLang="en-US" sz="1400" dirty="0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1B3029C9-F787-48F9-AF77-A41E4E66AF56}"/>
              </a:ext>
            </a:extLst>
          </p:cNvPr>
          <p:cNvCxnSpPr>
            <a:cxnSpLocks/>
            <a:stCxn id="55" idx="2"/>
            <a:endCxn id="86" idx="0"/>
          </p:cNvCxnSpPr>
          <p:nvPr/>
        </p:nvCxnSpPr>
        <p:spPr>
          <a:xfrm>
            <a:off x="6467715" y="2173712"/>
            <a:ext cx="6848" cy="3235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순서도: 판단 88">
            <a:extLst>
              <a:ext uri="{FF2B5EF4-FFF2-40B4-BE49-F238E27FC236}">
                <a16:creationId xmlns:a16="http://schemas.microsoft.com/office/drawing/2014/main" id="{8D434036-B2A7-FB44-4EA2-43E43BBA7421}"/>
              </a:ext>
            </a:extLst>
          </p:cNvPr>
          <p:cNvSpPr/>
          <p:nvPr/>
        </p:nvSpPr>
        <p:spPr bwMode="auto">
          <a:xfrm>
            <a:off x="5499816" y="3481806"/>
            <a:ext cx="1939561" cy="73974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100" dirty="0" err="1"/>
              <a:t>Cov</a:t>
            </a:r>
            <a:r>
              <a:rPr lang="en-US" altLang="ko-KR" sz="1100" dirty="0"/>
              <a:t> = 100%</a:t>
            </a:r>
            <a:endParaRPr lang="ko-KR" altLang="en-US" sz="1100" dirty="0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F657C78-BB37-368A-24E9-6EAC862243F6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780647" y="3848228"/>
            <a:ext cx="1748934" cy="189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87F6793-B695-C579-F31A-B9E301CB421C}"/>
              </a:ext>
            </a:extLst>
          </p:cNvPr>
          <p:cNvSpPr txBox="1"/>
          <p:nvPr/>
        </p:nvSpPr>
        <p:spPr>
          <a:xfrm>
            <a:off x="5040102" y="3642822"/>
            <a:ext cx="8106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1F2328"/>
                </a:solidFill>
              </a:rPr>
              <a:t>No</a:t>
            </a:r>
            <a:endParaRPr lang="ko-KR" altLang="en-US" sz="11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17E4596-78EB-EB5B-2765-6AB9C3F6F876}"/>
              </a:ext>
            </a:extLst>
          </p:cNvPr>
          <p:cNvSpPr txBox="1"/>
          <p:nvPr/>
        </p:nvSpPr>
        <p:spPr>
          <a:xfrm>
            <a:off x="6501228" y="4697137"/>
            <a:ext cx="8106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1F2328"/>
                </a:solidFill>
              </a:rPr>
              <a:t>Yes</a:t>
            </a:r>
            <a:endParaRPr lang="ko-KR" altLang="en-US" sz="1100" dirty="0"/>
          </a:p>
        </p:txBody>
      </p:sp>
      <p:sp>
        <p:nvSpPr>
          <p:cNvPr id="109" name="순서도: 데이터 108">
            <a:extLst>
              <a:ext uri="{FF2B5EF4-FFF2-40B4-BE49-F238E27FC236}">
                <a16:creationId xmlns:a16="http://schemas.microsoft.com/office/drawing/2014/main" id="{ECECB30B-6C13-6162-7E67-6011392CDFFE}"/>
              </a:ext>
            </a:extLst>
          </p:cNvPr>
          <p:cNvSpPr/>
          <p:nvPr/>
        </p:nvSpPr>
        <p:spPr bwMode="auto">
          <a:xfrm>
            <a:off x="5164147" y="5547163"/>
            <a:ext cx="2609158" cy="770557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100" dirty="0"/>
              <a:t>Output :</a:t>
            </a:r>
          </a:p>
          <a:p>
            <a:pPr algn="ctr"/>
            <a:r>
              <a:rPr lang="en-US" altLang="ko-KR" sz="1100" dirty="0"/>
              <a:t>Coverage Timeline &amp;</a:t>
            </a:r>
          </a:p>
          <a:p>
            <a:pPr algn="ctr"/>
            <a:r>
              <a:rPr lang="en-US" altLang="ko-KR" sz="1100" dirty="0"/>
              <a:t>N set of all Satellite</a:t>
            </a:r>
            <a:endParaRPr lang="ko-KR" altLang="en-US" sz="1100" dirty="0"/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42F7754F-4724-1768-9844-FF61B59DE9F1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 flipH="1">
            <a:off x="6469597" y="3237041"/>
            <a:ext cx="4966" cy="2447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442E9684-B7DF-8460-D478-13C81EA81E36}"/>
              </a:ext>
            </a:extLst>
          </p:cNvPr>
          <p:cNvCxnSpPr>
            <a:cxnSpLocks/>
            <a:stCxn id="89" idx="2"/>
            <a:endCxn id="109" idx="1"/>
          </p:cNvCxnSpPr>
          <p:nvPr/>
        </p:nvCxnSpPr>
        <p:spPr>
          <a:xfrm flipH="1">
            <a:off x="6468726" y="4221546"/>
            <a:ext cx="871" cy="1325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44905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45B064C-C025-14D6-AFD4-42A7FA592B1A}"/>
              </a:ext>
            </a:extLst>
          </p:cNvPr>
          <p:cNvSpPr/>
          <p:nvPr/>
        </p:nvSpPr>
        <p:spPr bwMode="auto">
          <a:xfrm>
            <a:off x="1571945" y="2516882"/>
            <a:ext cx="6017575" cy="3647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1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2228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5565.87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en-US" altLang="ko-KR" dirty="0"/>
              <a:t>32</a:t>
            </a:r>
            <a:r>
              <a:rPr lang="ko-KR" altLang="en-US" dirty="0"/>
              <a:t>분 </a:t>
            </a:r>
            <a:r>
              <a:rPr lang="en-US" altLang="ko-KR" dirty="0"/>
              <a:t>45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83, 90, 175, 182, 264, 271, 359, 352, 443, 450, 535, 542, 571, 624, 631, 649, 713]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9264B35-8383-E03C-6743-B1E7B708F365}"/>
              </a:ext>
            </a:extLst>
          </p:cNvPr>
          <p:cNvGrpSpPr/>
          <p:nvPr/>
        </p:nvGrpSpPr>
        <p:grpSpPr>
          <a:xfrm>
            <a:off x="1667505" y="2516882"/>
            <a:ext cx="5801812" cy="3544869"/>
            <a:chOff x="988798" y="2136739"/>
            <a:chExt cx="6295991" cy="4064000"/>
          </a:xfrm>
        </p:grpSpPr>
        <p:graphicFrame>
          <p:nvGraphicFramePr>
            <p:cNvPr id="15" name="차트 14">
              <a:extLst>
                <a:ext uri="{FF2B5EF4-FFF2-40B4-BE49-F238E27FC236}">
                  <a16:creationId xmlns:a16="http://schemas.microsoft.com/office/drawing/2014/main" id="{5E5E0FEF-0FAA-9363-7D67-4AE71E24FBE6}"/>
                </a:ext>
              </a:extLst>
            </p:cNvPr>
            <p:cNvGraphicFramePr/>
            <p:nvPr/>
          </p:nvGraphicFramePr>
          <p:xfrm>
            <a:off x="1188789" y="2136739"/>
            <a:ext cx="6096000" cy="406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9A55E6-D7B1-2720-7821-D5A43E054D49}"/>
                </a:ext>
              </a:extLst>
            </p:cNvPr>
            <p:cNvSpPr txBox="1"/>
            <p:nvPr/>
          </p:nvSpPr>
          <p:spPr>
            <a:xfrm>
              <a:off x="988798" y="3110903"/>
              <a:ext cx="665604" cy="31756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US" altLang="ko-KR" sz="1200" dirty="0">
                  <a:solidFill>
                    <a:srgbClr val="1F2328"/>
                  </a:solidFill>
                </a:rPr>
                <a:t>500</a:t>
              </a:r>
              <a:endParaRPr lang="ko-KR" altLang="en-US" sz="12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20FB32-B61E-8E57-BF9A-16110F69A020}"/>
                </a:ext>
              </a:extLst>
            </p:cNvPr>
            <p:cNvSpPr/>
            <p:nvPr/>
          </p:nvSpPr>
          <p:spPr bwMode="auto">
            <a:xfrm>
              <a:off x="1018891" y="2659760"/>
              <a:ext cx="523903" cy="351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C17E5B9-8B8C-2FC8-A830-1D272BD0C927}"/>
                </a:ext>
              </a:extLst>
            </p:cNvPr>
            <p:cNvSpPr/>
            <p:nvPr/>
          </p:nvSpPr>
          <p:spPr bwMode="auto">
            <a:xfrm>
              <a:off x="1027336" y="3579140"/>
              <a:ext cx="523903" cy="6538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B9321E3-462B-8D82-EA88-C58E73A2BE31}"/>
              </a:ext>
            </a:extLst>
          </p:cNvPr>
          <p:cNvSpPr txBox="1"/>
          <p:nvPr/>
        </p:nvSpPr>
        <p:spPr>
          <a:xfrm>
            <a:off x="2800641" y="3258931"/>
            <a:ext cx="613360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497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F9FC0-EF54-6148-D01F-1159505E0B5F}"/>
              </a:ext>
            </a:extLst>
          </p:cNvPr>
          <p:cNvSpPr txBox="1"/>
          <p:nvPr/>
        </p:nvSpPr>
        <p:spPr>
          <a:xfrm>
            <a:off x="3478626" y="4286194"/>
            <a:ext cx="613360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19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36E86-A41D-3074-CCCC-688A3EB7F3F1}"/>
              </a:ext>
            </a:extLst>
          </p:cNvPr>
          <p:cNvSpPr txBox="1"/>
          <p:nvPr/>
        </p:nvSpPr>
        <p:spPr>
          <a:xfrm>
            <a:off x="4161971" y="4636434"/>
            <a:ext cx="613360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9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1FADC-6186-6945-0666-001B63FE32B0}"/>
              </a:ext>
            </a:extLst>
          </p:cNvPr>
          <p:cNvSpPr txBox="1"/>
          <p:nvPr/>
        </p:nvSpPr>
        <p:spPr>
          <a:xfrm>
            <a:off x="4826701" y="4867994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F9B1F-48D0-8272-9353-CB63C40FFCE1}"/>
              </a:ext>
            </a:extLst>
          </p:cNvPr>
          <p:cNvSpPr txBox="1"/>
          <p:nvPr/>
        </p:nvSpPr>
        <p:spPr>
          <a:xfrm>
            <a:off x="5502414" y="4926685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EAD9D-0FBC-0096-0702-B7727CDBD093}"/>
              </a:ext>
            </a:extLst>
          </p:cNvPr>
          <p:cNvSpPr txBox="1"/>
          <p:nvPr/>
        </p:nvSpPr>
        <p:spPr>
          <a:xfrm>
            <a:off x="6180069" y="4913433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006445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1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2228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5565.87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en-US" altLang="ko-KR" dirty="0"/>
              <a:t>32</a:t>
            </a:r>
            <a:r>
              <a:rPr lang="ko-KR" altLang="en-US" dirty="0"/>
              <a:t>분 </a:t>
            </a:r>
            <a:r>
              <a:rPr lang="en-US" altLang="ko-KR" dirty="0"/>
              <a:t>45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83, 90, 175, 182, 264, 271, 359, 352, 443, 450, 535, 542, 571, 624, 631, 649, 713]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812D8B16-1B50-025F-66E5-408631ED8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56" y="2556279"/>
            <a:ext cx="4320885" cy="324066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F096A88-1E2C-D94B-80F7-8EBB3B8FD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04909"/>
            <a:ext cx="4320885" cy="324066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698105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746758" y="5796943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실제 시뮬레이션 결과</a:t>
            </a:r>
            <a:endParaRPr lang="ko-KR" altLang="en-US" dirty="0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E5FD3B7-6880-B25E-91EA-13B0942FBEE4}"/>
              </a:ext>
            </a:extLst>
          </p:cNvPr>
          <p:cNvSpPr/>
          <p:nvPr/>
        </p:nvSpPr>
        <p:spPr bwMode="auto">
          <a:xfrm>
            <a:off x="5454412" y="6227074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B90D70-05E1-D9D6-B042-C5477906A76B}"/>
              </a:ext>
            </a:extLst>
          </p:cNvPr>
          <p:cNvSpPr txBox="1"/>
          <p:nvPr/>
        </p:nvSpPr>
        <p:spPr>
          <a:xfrm>
            <a:off x="5472522" y="624786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99.4 %</a:t>
            </a:r>
          </a:p>
        </p:txBody>
      </p:sp>
    </p:spTree>
    <p:extLst>
      <p:ext uri="{BB962C8B-B14F-4D97-AF65-F5344CB8AC3E}">
        <p14:creationId xmlns:p14="http://schemas.microsoft.com/office/powerpoint/2010/main" val="35869045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45B064C-C025-14D6-AFD4-42A7FA592B1A}"/>
              </a:ext>
            </a:extLst>
          </p:cNvPr>
          <p:cNvSpPr/>
          <p:nvPr/>
        </p:nvSpPr>
        <p:spPr bwMode="auto">
          <a:xfrm>
            <a:off x="1571945" y="2516882"/>
            <a:ext cx="6017575" cy="3647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2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5429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12865.69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시간 </a:t>
            </a:r>
            <a:r>
              <a:rPr lang="en-US" altLang="ko-KR" dirty="0"/>
              <a:t>34</a:t>
            </a:r>
            <a:r>
              <a:rPr lang="ko-KR" altLang="en-US" dirty="0"/>
              <a:t>분 </a:t>
            </a:r>
            <a:r>
              <a:rPr lang="en-US" altLang="ko-KR" dirty="0"/>
              <a:t>25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67, 108, 149, 175, 216, 257, 298, 324, 374, 365, 409, 471, 475, 510, 517, 627, 675]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9264B35-8383-E03C-6743-B1E7B708F365}"/>
              </a:ext>
            </a:extLst>
          </p:cNvPr>
          <p:cNvGrpSpPr/>
          <p:nvPr/>
        </p:nvGrpSpPr>
        <p:grpSpPr>
          <a:xfrm>
            <a:off x="1667504" y="2516883"/>
            <a:ext cx="5801808" cy="3544870"/>
            <a:chOff x="988798" y="2136739"/>
            <a:chExt cx="6295991" cy="4064000"/>
          </a:xfrm>
        </p:grpSpPr>
        <p:graphicFrame>
          <p:nvGraphicFramePr>
            <p:cNvPr id="15" name="차트 14">
              <a:extLst>
                <a:ext uri="{FF2B5EF4-FFF2-40B4-BE49-F238E27FC236}">
                  <a16:creationId xmlns:a16="http://schemas.microsoft.com/office/drawing/2014/main" id="{5E5E0FEF-0FAA-9363-7D67-4AE71E24FBE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41926753"/>
                </p:ext>
              </p:extLst>
            </p:nvPr>
          </p:nvGraphicFramePr>
          <p:xfrm>
            <a:off x="1188789" y="2136739"/>
            <a:ext cx="6096000" cy="406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9A55E6-D7B1-2720-7821-D5A43E054D49}"/>
                </a:ext>
              </a:extLst>
            </p:cNvPr>
            <p:cNvSpPr txBox="1"/>
            <p:nvPr/>
          </p:nvSpPr>
          <p:spPr>
            <a:xfrm>
              <a:off x="988798" y="3110903"/>
              <a:ext cx="665604" cy="31756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US" altLang="ko-KR" sz="1200" dirty="0">
                  <a:solidFill>
                    <a:srgbClr val="1F2328"/>
                  </a:solidFill>
                </a:rPr>
                <a:t>510</a:t>
              </a:r>
              <a:endParaRPr lang="ko-KR" altLang="en-US" sz="12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20FB32-B61E-8E57-BF9A-16110F69A020}"/>
                </a:ext>
              </a:extLst>
            </p:cNvPr>
            <p:cNvSpPr/>
            <p:nvPr/>
          </p:nvSpPr>
          <p:spPr bwMode="auto">
            <a:xfrm>
              <a:off x="1018891" y="2659760"/>
              <a:ext cx="523903" cy="351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C17E5B9-8B8C-2FC8-A830-1D272BD0C927}"/>
                </a:ext>
              </a:extLst>
            </p:cNvPr>
            <p:cNvSpPr/>
            <p:nvPr/>
          </p:nvSpPr>
          <p:spPr bwMode="auto">
            <a:xfrm>
              <a:off x="1027336" y="3579140"/>
              <a:ext cx="523903" cy="6538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B9321E3-462B-8D82-EA88-C58E73A2BE31}"/>
              </a:ext>
            </a:extLst>
          </p:cNvPr>
          <p:cNvSpPr txBox="1"/>
          <p:nvPr/>
        </p:nvSpPr>
        <p:spPr>
          <a:xfrm>
            <a:off x="2800641" y="3269205"/>
            <a:ext cx="613360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512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F9FC0-EF54-6148-D01F-1159505E0B5F}"/>
              </a:ext>
            </a:extLst>
          </p:cNvPr>
          <p:cNvSpPr txBox="1"/>
          <p:nvPr/>
        </p:nvSpPr>
        <p:spPr>
          <a:xfrm>
            <a:off x="3478626" y="4604688"/>
            <a:ext cx="613360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11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36E86-A41D-3074-CCCC-688A3EB7F3F1}"/>
              </a:ext>
            </a:extLst>
          </p:cNvPr>
          <p:cNvSpPr txBox="1"/>
          <p:nvPr/>
        </p:nvSpPr>
        <p:spPr>
          <a:xfrm>
            <a:off x="4161971" y="4862465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1FADC-6186-6945-0666-001B63FE32B0}"/>
              </a:ext>
            </a:extLst>
          </p:cNvPr>
          <p:cNvSpPr txBox="1"/>
          <p:nvPr/>
        </p:nvSpPr>
        <p:spPr>
          <a:xfrm>
            <a:off x="4826701" y="4867994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F9B1F-48D0-8272-9353-CB63C40FFCE1}"/>
              </a:ext>
            </a:extLst>
          </p:cNvPr>
          <p:cNvSpPr txBox="1"/>
          <p:nvPr/>
        </p:nvSpPr>
        <p:spPr>
          <a:xfrm>
            <a:off x="5502414" y="4926685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EAD9D-0FBC-0096-0702-B7727CDBD093}"/>
              </a:ext>
            </a:extLst>
          </p:cNvPr>
          <p:cNvSpPr txBox="1"/>
          <p:nvPr/>
        </p:nvSpPr>
        <p:spPr>
          <a:xfrm>
            <a:off x="6180069" y="4913433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7839924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2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5429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12865.69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시간 </a:t>
            </a:r>
            <a:r>
              <a:rPr lang="en-US" altLang="ko-KR" dirty="0"/>
              <a:t>34</a:t>
            </a:r>
            <a:r>
              <a:rPr lang="ko-KR" altLang="en-US" dirty="0"/>
              <a:t>분 </a:t>
            </a:r>
            <a:r>
              <a:rPr lang="en-US" altLang="ko-KR" dirty="0"/>
              <a:t>25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67, 108, 149, 175, 216, 257, 298, 324, 374, 365, 409, 471, 475, 510, 517, 627, 675]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4747F49-772F-8866-1893-DFAF19E96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06238"/>
            <a:ext cx="4346510" cy="325988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471DC14-4082-795F-0920-38B807AAC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57" y="2556280"/>
            <a:ext cx="4320885" cy="324066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698105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746758" y="5796943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실제 시뮬레이션 결과</a:t>
            </a:r>
            <a:endParaRPr lang="ko-KR" altLang="en-US" dirty="0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E5FD3B7-6880-B25E-91EA-13B0942FBEE4}"/>
              </a:ext>
            </a:extLst>
          </p:cNvPr>
          <p:cNvSpPr/>
          <p:nvPr/>
        </p:nvSpPr>
        <p:spPr bwMode="auto">
          <a:xfrm>
            <a:off x="5454412" y="6227074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B90D70-05E1-D9D6-B042-C5477906A76B}"/>
              </a:ext>
            </a:extLst>
          </p:cNvPr>
          <p:cNvSpPr txBox="1"/>
          <p:nvPr/>
        </p:nvSpPr>
        <p:spPr>
          <a:xfrm>
            <a:off x="5472522" y="624786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99.4 %</a:t>
            </a:r>
          </a:p>
        </p:txBody>
      </p:sp>
    </p:spTree>
    <p:extLst>
      <p:ext uri="{BB962C8B-B14F-4D97-AF65-F5344CB8AC3E}">
        <p14:creationId xmlns:p14="http://schemas.microsoft.com/office/powerpoint/2010/main" val="94442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45B064C-C025-14D6-AFD4-42A7FA592B1A}"/>
              </a:ext>
            </a:extLst>
          </p:cNvPr>
          <p:cNvSpPr/>
          <p:nvPr/>
        </p:nvSpPr>
        <p:spPr bwMode="auto">
          <a:xfrm>
            <a:off x="1571945" y="2516882"/>
            <a:ext cx="6017575" cy="3647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3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156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377.2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6</a:t>
            </a:r>
            <a:r>
              <a:rPr lang="ko-KR" altLang="en-US" dirty="0"/>
              <a:t>분 </a:t>
            </a:r>
            <a:r>
              <a:rPr lang="en-US" altLang="ko-KR" dirty="0"/>
              <a:t>17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81, 87, 108, 126, 149, 175, 263, 293, 300, 330, 442, 474, 479, 508, 623, 653, 690]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9264B35-8383-E03C-6743-B1E7B708F365}"/>
              </a:ext>
            </a:extLst>
          </p:cNvPr>
          <p:cNvGrpSpPr/>
          <p:nvPr/>
        </p:nvGrpSpPr>
        <p:grpSpPr>
          <a:xfrm>
            <a:off x="1695235" y="2516883"/>
            <a:ext cx="5774077" cy="3544870"/>
            <a:chOff x="1018891" y="2136739"/>
            <a:chExt cx="6265898" cy="4064000"/>
          </a:xfrm>
        </p:grpSpPr>
        <p:graphicFrame>
          <p:nvGraphicFramePr>
            <p:cNvPr id="15" name="차트 14">
              <a:extLst>
                <a:ext uri="{FF2B5EF4-FFF2-40B4-BE49-F238E27FC236}">
                  <a16:creationId xmlns:a16="http://schemas.microsoft.com/office/drawing/2014/main" id="{5E5E0FEF-0FAA-9363-7D67-4AE71E24FBE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26482472"/>
                </p:ext>
              </p:extLst>
            </p:nvPr>
          </p:nvGraphicFramePr>
          <p:xfrm>
            <a:off x="1188789" y="2136739"/>
            <a:ext cx="6096000" cy="406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9A55E6-D7B1-2720-7821-D5A43E054D49}"/>
                </a:ext>
              </a:extLst>
            </p:cNvPr>
            <p:cNvSpPr txBox="1"/>
            <p:nvPr/>
          </p:nvSpPr>
          <p:spPr>
            <a:xfrm>
              <a:off x="1022245" y="3205132"/>
              <a:ext cx="665604" cy="31756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US" altLang="ko-KR" sz="1200" dirty="0">
                  <a:solidFill>
                    <a:srgbClr val="1F2328"/>
                  </a:solidFill>
                </a:rPr>
                <a:t>530</a:t>
              </a:r>
              <a:endParaRPr lang="ko-KR" altLang="en-US" sz="12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20FB32-B61E-8E57-BF9A-16110F69A020}"/>
                </a:ext>
              </a:extLst>
            </p:cNvPr>
            <p:cNvSpPr/>
            <p:nvPr/>
          </p:nvSpPr>
          <p:spPr bwMode="auto">
            <a:xfrm>
              <a:off x="1018891" y="2659760"/>
              <a:ext cx="523903" cy="351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C17E5B9-8B8C-2FC8-A830-1D272BD0C927}"/>
                </a:ext>
              </a:extLst>
            </p:cNvPr>
            <p:cNvSpPr/>
            <p:nvPr/>
          </p:nvSpPr>
          <p:spPr bwMode="auto">
            <a:xfrm>
              <a:off x="1027336" y="3579140"/>
              <a:ext cx="523903" cy="6538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B9321E3-462B-8D82-EA88-C58E73A2BE31}"/>
              </a:ext>
            </a:extLst>
          </p:cNvPr>
          <p:cNvSpPr txBox="1"/>
          <p:nvPr/>
        </p:nvSpPr>
        <p:spPr>
          <a:xfrm>
            <a:off x="2800641" y="3330849"/>
            <a:ext cx="613360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524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F9FC0-EF54-6148-D01F-1159505E0B5F}"/>
              </a:ext>
            </a:extLst>
          </p:cNvPr>
          <p:cNvSpPr txBox="1"/>
          <p:nvPr/>
        </p:nvSpPr>
        <p:spPr>
          <a:xfrm>
            <a:off x="3478626" y="4799894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36E86-A41D-3074-CCCC-688A3EB7F3F1}"/>
              </a:ext>
            </a:extLst>
          </p:cNvPr>
          <p:cNvSpPr txBox="1"/>
          <p:nvPr/>
        </p:nvSpPr>
        <p:spPr>
          <a:xfrm>
            <a:off x="4161971" y="4811095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1FADC-6186-6945-0666-001B63FE32B0}"/>
              </a:ext>
            </a:extLst>
          </p:cNvPr>
          <p:cNvSpPr txBox="1"/>
          <p:nvPr/>
        </p:nvSpPr>
        <p:spPr>
          <a:xfrm>
            <a:off x="4826701" y="4909090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0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F9B1F-48D0-8272-9353-CB63C40FFCE1}"/>
              </a:ext>
            </a:extLst>
          </p:cNvPr>
          <p:cNvSpPr txBox="1"/>
          <p:nvPr/>
        </p:nvSpPr>
        <p:spPr>
          <a:xfrm>
            <a:off x="5502414" y="4895863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EAD9D-0FBC-0096-0702-B7727CDBD093}"/>
              </a:ext>
            </a:extLst>
          </p:cNvPr>
          <p:cNvSpPr txBox="1"/>
          <p:nvPr/>
        </p:nvSpPr>
        <p:spPr>
          <a:xfrm>
            <a:off x="6180069" y="4892885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508155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A6F938B-D7D8-84B3-91D5-4DB630C37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959" y="2475019"/>
            <a:ext cx="4388661" cy="32914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6C05952-C31F-7DC9-E896-D8C2061FE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91" y="2556280"/>
            <a:ext cx="4349318" cy="3261989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3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156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377.2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6</a:t>
            </a:r>
            <a:r>
              <a:rPr lang="ko-KR" altLang="en-US" dirty="0"/>
              <a:t>분 </a:t>
            </a:r>
            <a:r>
              <a:rPr lang="en-US" altLang="ko-KR" dirty="0"/>
              <a:t>17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81, 87, 108, 126, 149, 175, 263, 293, 300, 330, 442, 474, 479, 508, 623, 653, 690]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698105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746758" y="5796943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실제 시뮬레이션 결과</a:t>
            </a:r>
            <a:endParaRPr lang="ko-KR" altLang="en-US" dirty="0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E5FD3B7-6880-B25E-91EA-13B0942FBEE4}"/>
              </a:ext>
            </a:extLst>
          </p:cNvPr>
          <p:cNvSpPr/>
          <p:nvPr/>
        </p:nvSpPr>
        <p:spPr bwMode="auto">
          <a:xfrm>
            <a:off x="5454412" y="6227074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B90D70-05E1-D9D6-B042-C5477906A76B}"/>
              </a:ext>
            </a:extLst>
          </p:cNvPr>
          <p:cNvSpPr txBox="1"/>
          <p:nvPr/>
        </p:nvSpPr>
        <p:spPr>
          <a:xfrm>
            <a:off x="5472522" y="624786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99.3056 %</a:t>
            </a:r>
          </a:p>
        </p:txBody>
      </p:sp>
    </p:spTree>
    <p:extLst>
      <p:ext uri="{BB962C8B-B14F-4D97-AF65-F5344CB8AC3E}">
        <p14:creationId xmlns:p14="http://schemas.microsoft.com/office/powerpoint/2010/main" val="90210679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45B064C-C025-14D6-AFD4-42A7FA592B1A}"/>
              </a:ext>
            </a:extLst>
          </p:cNvPr>
          <p:cNvSpPr/>
          <p:nvPr/>
        </p:nvSpPr>
        <p:spPr bwMode="auto">
          <a:xfrm>
            <a:off x="1571945" y="2516882"/>
            <a:ext cx="6017575" cy="3647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4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212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501.56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8</a:t>
            </a:r>
            <a:r>
              <a:rPr lang="ko-KR" altLang="en-US" dirty="0"/>
              <a:t>분 </a:t>
            </a:r>
            <a:r>
              <a:rPr lang="en-US" altLang="ko-KR" dirty="0"/>
              <a:t>21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41, 93, 108, 151, 201, 309, 323, 350, 417, 460, 504, 525, 568, 612, 632, 653, 676]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9264B35-8383-E03C-6743-B1E7B708F365}"/>
              </a:ext>
            </a:extLst>
          </p:cNvPr>
          <p:cNvGrpSpPr/>
          <p:nvPr/>
        </p:nvGrpSpPr>
        <p:grpSpPr>
          <a:xfrm>
            <a:off x="1695235" y="2516883"/>
            <a:ext cx="5774077" cy="3544870"/>
            <a:chOff x="1018891" y="2136739"/>
            <a:chExt cx="6265898" cy="4064000"/>
          </a:xfrm>
        </p:grpSpPr>
        <p:graphicFrame>
          <p:nvGraphicFramePr>
            <p:cNvPr id="15" name="차트 14">
              <a:extLst>
                <a:ext uri="{FF2B5EF4-FFF2-40B4-BE49-F238E27FC236}">
                  <a16:creationId xmlns:a16="http://schemas.microsoft.com/office/drawing/2014/main" id="{5E5E0FEF-0FAA-9363-7D67-4AE71E24FBE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48420226"/>
                </p:ext>
              </p:extLst>
            </p:nvPr>
          </p:nvGraphicFramePr>
          <p:xfrm>
            <a:off x="1188789" y="2136739"/>
            <a:ext cx="6096000" cy="406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9A55E6-D7B1-2720-7821-D5A43E054D49}"/>
                </a:ext>
              </a:extLst>
            </p:cNvPr>
            <p:cNvSpPr txBox="1"/>
            <p:nvPr/>
          </p:nvSpPr>
          <p:spPr>
            <a:xfrm>
              <a:off x="1022245" y="3205132"/>
              <a:ext cx="665604" cy="31756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US" altLang="ko-KR" sz="1200" dirty="0">
                  <a:solidFill>
                    <a:srgbClr val="1F2328"/>
                  </a:solidFill>
                </a:rPr>
                <a:t>530</a:t>
              </a:r>
              <a:endParaRPr lang="ko-KR" altLang="en-US" sz="12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20FB32-B61E-8E57-BF9A-16110F69A020}"/>
                </a:ext>
              </a:extLst>
            </p:cNvPr>
            <p:cNvSpPr/>
            <p:nvPr/>
          </p:nvSpPr>
          <p:spPr bwMode="auto">
            <a:xfrm>
              <a:off x="1018891" y="2659760"/>
              <a:ext cx="523903" cy="351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C17E5B9-8B8C-2FC8-A830-1D272BD0C927}"/>
                </a:ext>
              </a:extLst>
            </p:cNvPr>
            <p:cNvSpPr/>
            <p:nvPr/>
          </p:nvSpPr>
          <p:spPr bwMode="auto">
            <a:xfrm>
              <a:off x="1027336" y="3579140"/>
              <a:ext cx="523903" cy="6538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B9321E3-462B-8D82-EA88-C58E73A2BE31}"/>
              </a:ext>
            </a:extLst>
          </p:cNvPr>
          <p:cNvSpPr txBox="1"/>
          <p:nvPr/>
        </p:nvSpPr>
        <p:spPr>
          <a:xfrm>
            <a:off x="2800641" y="3320575"/>
            <a:ext cx="613360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522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F9FC0-EF54-6148-D01F-1159505E0B5F}"/>
              </a:ext>
            </a:extLst>
          </p:cNvPr>
          <p:cNvSpPr txBox="1"/>
          <p:nvPr/>
        </p:nvSpPr>
        <p:spPr>
          <a:xfrm>
            <a:off x="3478626" y="4635510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36E86-A41D-3074-CCCC-688A3EB7F3F1}"/>
              </a:ext>
            </a:extLst>
          </p:cNvPr>
          <p:cNvSpPr txBox="1"/>
          <p:nvPr/>
        </p:nvSpPr>
        <p:spPr>
          <a:xfrm>
            <a:off x="4161971" y="4728903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1FADC-6186-6945-0666-001B63FE32B0}"/>
              </a:ext>
            </a:extLst>
          </p:cNvPr>
          <p:cNvSpPr txBox="1"/>
          <p:nvPr/>
        </p:nvSpPr>
        <p:spPr>
          <a:xfrm>
            <a:off x="4826701" y="4909090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0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F9B1F-48D0-8272-9353-CB63C40FFCE1}"/>
              </a:ext>
            </a:extLst>
          </p:cNvPr>
          <p:cNvSpPr txBox="1"/>
          <p:nvPr/>
        </p:nvSpPr>
        <p:spPr>
          <a:xfrm>
            <a:off x="5502414" y="4895863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0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EAD9D-0FBC-0096-0702-B7727CDBD093}"/>
              </a:ext>
            </a:extLst>
          </p:cNvPr>
          <p:cNvSpPr txBox="1"/>
          <p:nvPr/>
        </p:nvSpPr>
        <p:spPr>
          <a:xfrm>
            <a:off x="6180069" y="4892885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2239032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C01C565-83C3-3663-05FA-14E1A6604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557" y="2474691"/>
            <a:ext cx="4391063" cy="3293297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4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212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501.56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8</a:t>
            </a:r>
            <a:r>
              <a:rPr lang="ko-KR" altLang="en-US" dirty="0"/>
              <a:t>분 </a:t>
            </a:r>
            <a:r>
              <a:rPr lang="en-US" altLang="ko-KR" dirty="0"/>
              <a:t>21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41, 93, 108, 151, 201, 309, 323, 350, 417, 460, 504, 525, 568, 612, 632, 653, 676]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23F32F-9074-7C81-297F-30881A0FC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5" y="2556280"/>
            <a:ext cx="4420213" cy="331516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698105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746758" y="5796943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실제 시뮬레이션 결과</a:t>
            </a:r>
            <a:endParaRPr lang="ko-KR" altLang="en-US" dirty="0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E5FD3B7-6880-B25E-91EA-13B0942FBEE4}"/>
              </a:ext>
            </a:extLst>
          </p:cNvPr>
          <p:cNvSpPr/>
          <p:nvPr/>
        </p:nvSpPr>
        <p:spPr bwMode="auto">
          <a:xfrm>
            <a:off x="5454412" y="6227074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B90D70-05E1-D9D6-B042-C5477906A76B}"/>
              </a:ext>
            </a:extLst>
          </p:cNvPr>
          <p:cNvSpPr txBox="1"/>
          <p:nvPr/>
        </p:nvSpPr>
        <p:spPr>
          <a:xfrm>
            <a:off x="5472522" y="624786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99.1667 %</a:t>
            </a:r>
          </a:p>
        </p:txBody>
      </p:sp>
    </p:spTree>
    <p:extLst>
      <p:ext uri="{BB962C8B-B14F-4D97-AF65-F5344CB8AC3E}">
        <p14:creationId xmlns:p14="http://schemas.microsoft.com/office/powerpoint/2010/main" val="255477063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45B064C-C025-14D6-AFD4-42A7FA592B1A}"/>
              </a:ext>
            </a:extLst>
          </p:cNvPr>
          <p:cNvSpPr/>
          <p:nvPr/>
        </p:nvSpPr>
        <p:spPr bwMode="auto">
          <a:xfrm>
            <a:off x="1571945" y="2516882"/>
            <a:ext cx="6017575" cy="3647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5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7293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17119.93 (</a:t>
            </a:r>
            <a:r>
              <a:rPr lang="ko-KR" altLang="en-US" dirty="0"/>
              <a:t>약 </a:t>
            </a:r>
            <a:r>
              <a:rPr lang="en-US" altLang="ko-KR" dirty="0"/>
              <a:t>4</a:t>
            </a:r>
            <a:r>
              <a:rPr lang="ko-KR" altLang="en-US" dirty="0"/>
              <a:t>시간 </a:t>
            </a:r>
            <a:r>
              <a:rPr lang="en-US" altLang="ko-KR" dirty="0"/>
              <a:t>45</a:t>
            </a:r>
            <a:r>
              <a:rPr lang="ko-KR" altLang="en-US" dirty="0"/>
              <a:t>분 </a:t>
            </a:r>
            <a:r>
              <a:rPr lang="en-US" altLang="ko-KR" dirty="0"/>
              <a:t>20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77, 83, 90, 173, 180, 263, 270, 344, 354, 361, 443, 450, 533, 540, 623, 631, 713]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9264B35-8383-E03C-6743-B1E7B708F365}"/>
              </a:ext>
            </a:extLst>
          </p:cNvPr>
          <p:cNvGrpSpPr/>
          <p:nvPr/>
        </p:nvGrpSpPr>
        <p:grpSpPr>
          <a:xfrm>
            <a:off x="1695235" y="2516883"/>
            <a:ext cx="5774077" cy="3544870"/>
            <a:chOff x="1018891" y="2136739"/>
            <a:chExt cx="6265898" cy="4064000"/>
          </a:xfrm>
        </p:grpSpPr>
        <p:graphicFrame>
          <p:nvGraphicFramePr>
            <p:cNvPr id="15" name="차트 14">
              <a:extLst>
                <a:ext uri="{FF2B5EF4-FFF2-40B4-BE49-F238E27FC236}">
                  <a16:creationId xmlns:a16="http://schemas.microsoft.com/office/drawing/2014/main" id="{5E5E0FEF-0FAA-9363-7D67-4AE71E24FBE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05211665"/>
                </p:ext>
              </p:extLst>
            </p:nvPr>
          </p:nvGraphicFramePr>
          <p:xfrm>
            <a:off x="1188789" y="2136739"/>
            <a:ext cx="6096000" cy="406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9A55E6-D7B1-2720-7821-D5A43E054D49}"/>
                </a:ext>
              </a:extLst>
            </p:cNvPr>
            <p:cNvSpPr txBox="1"/>
            <p:nvPr/>
          </p:nvSpPr>
          <p:spPr>
            <a:xfrm>
              <a:off x="1022245" y="3205132"/>
              <a:ext cx="665604" cy="31756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US" altLang="ko-KR" sz="1200" dirty="0">
                  <a:solidFill>
                    <a:srgbClr val="1F2328"/>
                  </a:solidFill>
                </a:rPr>
                <a:t>500</a:t>
              </a:r>
              <a:endParaRPr lang="ko-KR" altLang="en-US" sz="12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20FB32-B61E-8E57-BF9A-16110F69A020}"/>
                </a:ext>
              </a:extLst>
            </p:cNvPr>
            <p:cNvSpPr/>
            <p:nvPr/>
          </p:nvSpPr>
          <p:spPr bwMode="auto">
            <a:xfrm>
              <a:off x="1018891" y="2659760"/>
              <a:ext cx="523903" cy="351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C17E5B9-8B8C-2FC8-A830-1D272BD0C927}"/>
                </a:ext>
              </a:extLst>
            </p:cNvPr>
            <p:cNvSpPr/>
            <p:nvPr/>
          </p:nvSpPr>
          <p:spPr bwMode="auto">
            <a:xfrm>
              <a:off x="1027336" y="3579140"/>
              <a:ext cx="523903" cy="6538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B9321E3-462B-8D82-EA88-C58E73A2BE31}"/>
              </a:ext>
            </a:extLst>
          </p:cNvPr>
          <p:cNvSpPr txBox="1"/>
          <p:nvPr/>
        </p:nvSpPr>
        <p:spPr>
          <a:xfrm>
            <a:off x="2852011" y="3258931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504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F9FC0-EF54-6148-D01F-1159505E0B5F}"/>
              </a:ext>
            </a:extLst>
          </p:cNvPr>
          <p:cNvSpPr txBox="1"/>
          <p:nvPr/>
        </p:nvSpPr>
        <p:spPr>
          <a:xfrm>
            <a:off x="3529996" y="4799894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10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36E86-A41D-3074-CCCC-688A3EB7F3F1}"/>
              </a:ext>
            </a:extLst>
          </p:cNvPr>
          <p:cNvSpPr txBox="1"/>
          <p:nvPr/>
        </p:nvSpPr>
        <p:spPr>
          <a:xfrm>
            <a:off x="4182519" y="4780273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11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1FADC-6186-6945-0666-001B63FE32B0}"/>
              </a:ext>
            </a:extLst>
          </p:cNvPr>
          <p:cNvSpPr txBox="1"/>
          <p:nvPr/>
        </p:nvSpPr>
        <p:spPr>
          <a:xfrm>
            <a:off x="4867797" y="4909090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F9B1F-48D0-8272-9353-CB63C40FFCE1}"/>
              </a:ext>
            </a:extLst>
          </p:cNvPr>
          <p:cNvSpPr txBox="1"/>
          <p:nvPr/>
        </p:nvSpPr>
        <p:spPr>
          <a:xfrm>
            <a:off x="5502414" y="4947233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0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EAD9D-0FBC-0096-0702-B7727CDBD093}"/>
              </a:ext>
            </a:extLst>
          </p:cNvPr>
          <p:cNvSpPr txBox="1"/>
          <p:nvPr/>
        </p:nvSpPr>
        <p:spPr>
          <a:xfrm>
            <a:off x="6180069" y="4954529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8460645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5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7293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17119.93 (</a:t>
            </a:r>
            <a:r>
              <a:rPr lang="ko-KR" altLang="en-US" dirty="0"/>
              <a:t>약 </a:t>
            </a:r>
            <a:r>
              <a:rPr lang="en-US" altLang="ko-KR" dirty="0"/>
              <a:t>4</a:t>
            </a:r>
            <a:r>
              <a:rPr lang="ko-KR" altLang="en-US" dirty="0"/>
              <a:t>시간 </a:t>
            </a:r>
            <a:r>
              <a:rPr lang="en-US" altLang="ko-KR" dirty="0"/>
              <a:t>45</a:t>
            </a:r>
            <a:r>
              <a:rPr lang="ko-KR" altLang="en-US" dirty="0"/>
              <a:t>분 </a:t>
            </a:r>
            <a:r>
              <a:rPr lang="en-US" altLang="ko-KR" dirty="0"/>
              <a:t>20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77, 83, 90, 173, 180, 263, 270, 344, 354, 361, 443, 450, 533, 540, 623, 631, 713]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B5FE062-E5E8-E7FA-BD92-1910E4639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556" y="2472516"/>
            <a:ext cx="4391064" cy="329329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AE08BAB-928D-893D-A76F-63AB35E81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54" y="2556279"/>
            <a:ext cx="4420214" cy="331516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698105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746758" y="5796943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실제 시뮬레이션 결과</a:t>
            </a:r>
            <a:endParaRPr lang="ko-KR" altLang="en-US" dirty="0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E5FD3B7-6880-B25E-91EA-13B0942FBEE4}"/>
              </a:ext>
            </a:extLst>
          </p:cNvPr>
          <p:cNvSpPr/>
          <p:nvPr/>
        </p:nvSpPr>
        <p:spPr bwMode="auto">
          <a:xfrm>
            <a:off x="5454412" y="6227074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B90D70-05E1-D9D6-B042-C5477906A76B}"/>
              </a:ext>
            </a:extLst>
          </p:cNvPr>
          <p:cNvSpPr txBox="1"/>
          <p:nvPr/>
        </p:nvSpPr>
        <p:spPr>
          <a:xfrm>
            <a:off x="5472522" y="624786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99.72 %</a:t>
            </a:r>
          </a:p>
        </p:txBody>
      </p:sp>
    </p:spTree>
    <p:extLst>
      <p:ext uri="{BB962C8B-B14F-4D97-AF65-F5344CB8AC3E}">
        <p14:creationId xmlns:p14="http://schemas.microsoft.com/office/powerpoint/2010/main" val="341199302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45B064C-C025-14D6-AFD4-42A7FA592B1A}"/>
              </a:ext>
            </a:extLst>
          </p:cNvPr>
          <p:cNvSpPr/>
          <p:nvPr/>
        </p:nvSpPr>
        <p:spPr bwMode="auto">
          <a:xfrm>
            <a:off x="1571945" y="2516882"/>
            <a:ext cx="6017575" cy="3647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6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4615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10877.32 (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시간 </a:t>
            </a:r>
            <a:r>
              <a:rPr lang="en-US" altLang="ko-KR" dirty="0"/>
              <a:t>1</a:t>
            </a:r>
            <a:r>
              <a:rPr lang="ko-KR" altLang="en-US" dirty="0"/>
              <a:t>분 </a:t>
            </a:r>
            <a:r>
              <a:rPr lang="en-US" altLang="ko-KR" dirty="0"/>
              <a:t>17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111, 153, 201, 310, 327, 352, 374, 418, 461, 502, 527, 543, 569, 611, 637, 653, 677]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9264B35-8383-E03C-6743-B1E7B708F365}"/>
              </a:ext>
            </a:extLst>
          </p:cNvPr>
          <p:cNvGrpSpPr/>
          <p:nvPr/>
        </p:nvGrpSpPr>
        <p:grpSpPr>
          <a:xfrm>
            <a:off x="1695235" y="2516883"/>
            <a:ext cx="5774077" cy="3544870"/>
            <a:chOff x="1018891" y="2136739"/>
            <a:chExt cx="6265898" cy="4064000"/>
          </a:xfrm>
        </p:grpSpPr>
        <p:graphicFrame>
          <p:nvGraphicFramePr>
            <p:cNvPr id="15" name="차트 14">
              <a:extLst>
                <a:ext uri="{FF2B5EF4-FFF2-40B4-BE49-F238E27FC236}">
                  <a16:creationId xmlns:a16="http://schemas.microsoft.com/office/drawing/2014/main" id="{5E5E0FEF-0FAA-9363-7D67-4AE71E24FBE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80864906"/>
                </p:ext>
              </p:extLst>
            </p:nvPr>
          </p:nvGraphicFramePr>
          <p:xfrm>
            <a:off x="1188789" y="2136739"/>
            <a:ext cx="6096000" cy="406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9A55E6-D7B1-2720-7821-D5A43E054D49}"/>
                </a:ext>
              </a:extLst>
            </p:cNvPr>
            <p:cNvSpPr txBox="1"/>
            <p:nvPr/>
          </p:nvSpPr>
          <p:spPr>
            <a:xfrm>
              <a:off x="1167184" y="3205132"/>
              <a:ext cx="520549" cy="31756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US" altLang="ko-KR" sz="1200" dirty="0">
                  <a:solidFill>
                    <a:srgbClr val="1F2328"/>
                  </a:solidFill>
                </a:rPr>
                <a:t>500</a:t>
              </a:r>
              <a:endParaRPr lang="ko-KR" altLang="en-US" sz="12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20FB32-B61E-8E57-BF9A-16110F69A020}"/>
                </a:ext>
              </a:extLst>
            </p:cNvPr>
            <p:cNvSpPr/>
            <p:nvPr/>
          </p:nvSpPr>
          <p:spPr bwMode="auto">
            <a:xfrm>
              <a:off x="1018891" y="2659760"/>
              <a:ext cx="523903" cy="351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C17E5B9-8B8C-2FC8-A830-1D272BD0C927}"/>
                </a:ext>
              </a:extLst>
            </p:cNvPr>
            <p:cNvSpPr/>
            <p:nvPr/>
          </p:nvSpPr>
          <p:spPr bwMode="auto">
            <a:xfrm>
              <a:off x="1027336" y="3579140"/>
              <a:ext cx="523903" cy="6538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B9321E3-462B-8D82-EA88-C58E73A2BE31}"/>
              </a:ext>
            </a:extLst>
          </p:cNvPr>
          <p:cNvSpPr txBox="1"/>
          <p:nvPr/>
        </p:nvSpPr>
        <p:spPr>
          <a:xfrm>
            <a:off x="2852011" y="3258931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478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F9FC0-EF54-6148-D01F-1159505E0B5F}"/>
              </a:ext>
            </a:extLst>
          </p:cNvPr>
          <p:cNvSpPr txBox="1"/>
          <p:nvPr/>
        </p:nvSpPr>
        <p:spPr>
          <a:xfrm>
            <a:off x="3529996" y="4738250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14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36E86-A41D-3074-CCCC-688A3EB7F3F1}"/>
              </a:ext>
            </a:extLst>
          </p:cNvPr>
          <p:cNvSpPr txBox="1"/>
          <p:nvPr/>
        </p:nvSpPr>
        <p:spPr>
          <a:xfrm>
            <a:off x="4182519" y="4862465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6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1FADC-6186-6945-0666-001B63FE32B0}"/>
              </a:ext>
            </a:extLst>
          </p:cNvPr>
          <p:cNvSpPr txBox="1"/>
          <p:nvPr/>
        </p:nvSpPr>
        <p:spPr>
          <a:xfrm>
            <a:off x="4867797" y="4970734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0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F9B1F-48D0-8272-9353-CB63C40FFCE1}"/>
              </a:ext>
            </a:extLst>
          </p:cNvPr>
          <p:cNvSpPr txBox="1"/>
          <p:nvPr/>
        </p:nvSpPr>
        <p:spPr>
          <a:xfrm>
            <a:off x="5502414" y="4947233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EAD9D-0FBC-0096-0702-B7727CDBD093}"/>
              </a:ext>
            </a:extLst>
          </p:cNvPr>
          <p:cNvSpPr txBox="1"/>
          <p:nvPr/>
        </p:nvSpPr>
        <p:spPr>
          <a:xfrm>
            <a:off x="6180069" y="4954529"/>
            <a:ext cx="61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1F2328"/>
                </a:solidFill>
              </a:rPr>
              <a:t>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8780500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25B4F29-4EC6-A60D-047D-C126F4D08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571" y="2495026"/>
            <a:ext cx="4402554" cy="33019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6E55124-4B9D-3F87-87FE-80CB10E4B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46" y="2556278"/>
            <a:ext cx="4349799" cy="3262349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6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4615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10877.32 (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시간 </a:t>
            </a:r>
            <a:r>
              <a:rPr lang="en-US" altLang="ko-KR" dirty="0"/>
              <a:t>1</a:t>
            </a:r>
            <a:r>
              <a:rPr lang="ko-KR" altLang="en-US" dirty="0"/>
              <a:t>분 </a:t>
            </a:r>
            <a:r>
              <a:rPr lang="en-US" altLang="ko-KR" dirty="0"/>
              <a:t>17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111, 153, 201, 310, 327, 352, 374, 418, 461, 502, 527, 543, 569, 611, 637, 653, 677]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698105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746758" y="5796943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/>
              <a:t>실제 시뮬레이션 결과</a:t>
            </a:r>
            <a:endParaRPr lang="ko-KR" altLang="en-US" dirty="0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E5FD3B7-6880-B25E-91EA-13B0942FBEE4}"/>
              </a:ext>
            </a:extLst>
          </p:cNvPr>
          <p:cNvSpPr/>
          <p:nvPr/>
        </p:nvSpPr>
        <p:spPr bwMode="auto">
          <a:xfrm>
            <a:off x="5454412" y="6227074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B90D70-05E1-D9D6-B042-C5477906A76B}"/>
              </a:ext>
            </a:extLst>
          </p:cNvPr>
          <p:cNvSpPr txBox="1"/>
          <p:nvPr/>
        </p:nvSpPr>
        <p:spPr>
          <a:xfrm>
            <a:off x="5472522" y="624786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99.3056 %</a:t>
            </a:r>
          </a:p>
        </p:txBody>
      </p:sp>
    </p:spTree>
    <p:extLst>
      <p:ext uri="{BB962C8B-B14F-4D97-AF65-F5344CB8AC3E}">
        <p14:creationId xmlns:p14="http://schemas.microsoft.com/office/powerpoint/2010/main" val="230246265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 </a:t>
            </a:r>
            <a:r>
              <a:rPr lang="en-US" altLang="ko-KR" dirty="0">
                <a:solidFill>
                  <a:srgbClr val="1F2328"/>
                </a:solidFill>
              </a:rPr>
              <a:t>Method </a:t>
            </a: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수학적 계산 결과와 시뮬레이션의 결과가 상이함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논문에서 제시하지 않은 </a:t>
            </a:r>
            <a:r>
              <a:rPr lang="en-US" altLang="ko-KR" dirty="0">
                <a:solidFill>
                  <a:srgbClr val="1F2328"/>
                </a:solidFill>
              </a:rPr>
              <a:t>Epoch Time</a:t>
            </a:r>
            <a:r>
              <a:rPr lang="ko-KR" altLang="en-US" dirty="0">
                <a:solidFill>
                  <a:srgbClr val="1F2328"/>
                </a:solidFill>
              </a:rPr>
              <a:t>을 계산하여 새로운 </a:t>
            </a:r>
            <a:r>
              <a:rPr lang="en-US" altLang="ko-KR" dirty="0">
                <a:solidFill>
                  <a:srgbClr val="1F2328"/>
                </a:solidFill>
              </a:rPr>
              <a:t>Epoch Time </a:t>
            </a:r>
            <a:r>
              <a:rPr lang="ko-KR" altLang="en-US" dirty="0">
                <a:solidFill>
                  <a:srgbClr val="1F2328"/>
                </a:solidFill>
              </a:rPr>
              <a:t>설정 완료</a:t>
            </a:r>
            <a:endParaRPr lang="en-US" altLang="ko-KR" dirty="0">
              <a:solidFill>
                <a:srgbClr val="1F2328"/>
              </a:solidFill>
            </a:endParaRPr>
          </a:p>
          <a:p>
            <a:pPr lvl="2">
              <a:defRPr/>
            </a:pPr>
            <a:r>
              <a:rPr lang="ko-KR" altLang="en-US" dirty="0">
                <a:solidFill>
                  <a:srgbClr val="1F2328"/>
                </a:solidFill>
              </a:rPr>
              <a:t> </a:t>
            </a:r>
            <a:r>
              <a:rPr lang="en-US" altLang="ko-KR" dirty="0">
                <a:solidFill>
                  <a:srgbClr val="1F2328"/>
                </a:solidFill>
              </a:rPr>
              <a:t>Example 1</a:t>
            </a:r>
            <a:r>
              <a:rPr lang="ko-KR" altLang="en-US" dirty="0">
                <a:solidFill>
                  <a:srgbClr val="1F2328"/>
                </a:solidFill>
              </a:rPr>
              <a:t>과 </a:t>
            </a:r>
            <a:r>
              <a:rPr lang="en-US" altLang="ko-KR" dirty="0">
                <a:solidFill>
                  <a:srgbClr val="1F2328"/>
                </a:solidFill>
              </a:rPr>
              <a:t>2</a:t>
            </a:r>
            <a:r>
              <a:rPr lang="ko-KR" altLang="en-US" dirty="0">
                <a:solidFill>
                  <a:srgbClr val="1F2328"/>
                </a:solidFill>
              </a:rPr>
              <a:t>의 해를 대입하여 </a:t>
            </a:r>
            <a:r>
              <a:rPr lang="en-US" altLang="ko-KR" dirty="0">
                <a:solidFill>
                  <a:srgbClr val="1F2328"/>
                </a:solidFill>
              </a:rPr>
              <a:t>Epoch Time </a:t>
            </a:r>
            <a:r>
              <a:rPr lang="ko-KR" altLang="en-US" dirty="0">
                <a:solidFill>
                  <a:srgbClr val="1F2328"/>
                </a:solidFill>
              </a:rPr>
              <a:t>검증 완료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 이론을 학습 후 알고리즘에 따라 코딩 작성 완료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/>
              <a:t>논문에서 제시한 해 이외에도 여러가지 해를 도출 완료</a:t>
            </a:r>
            <a:endParaRPr lang="en-US" altLang="ko-KR" dirty="0"/>
          </a:p>
          <a:p>
            <a:pPr lvl="2">
              <a:defRPr/>
            </a:pPr>
            <a:r>
              <a:rPr lang="ko-KR" altLang="en-US"/>
              <a:t>예상과 같이 다양한 구성의 해를 구할 수 있었음</a:t>
            </a:r>
            <a:endParaRPr lang="en-US" altLang="ko-KR" dirty="0"/>
          </a:p>
          <a:p>
            <a:pPr lvl="2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</a:rPr>
              <a:t>수학적 계산결과 및 실제 시뮬레이션 결과를 통해 </a:t>
            </a:r>
            <a:r>
              <a:rPr lang="en-US" altLang="ko-KR" b="0" i="0" dirty="0">
                <a:solidFill>
                  <a:srgbClr val="1F2328"/>
                </a:solidFill>
                <a:effectLst/>
              </a:rPr>
              <a:t>coverage 100%</a:t>
            </a:r>
            <a:r>
              <a:rPr lang="ko-KR" altLang="en-US" b="0" i="0" dirty="0">
                <a:solidFill>
                  <a:srgbClr val="1F2328"/>
                </a:solidFill>
                <a:effectLst/>
              </a:rPr>
              <a:t>에 근접하게 달성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DCD5-0B64-3C4F-2DAA-49B7AEF5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81EA79-3BDA-B5D6-7C9D-A6291033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A6AE70-F7DA-B1D4-6435-15C0EF5E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BF6F732-CA20-B7DB-EB30-79D5E6543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en-US" altLang="ko-KR" sz="1800" b="0" i="0" dirty="0">
                <a:effectLst/>
                <a:latin typeface="Menlo"/>
              </a:rPr>
              <a:t>39, 73, 79, 89, 170, 184, 234, 250, 331, 341, 347, 492, 502, 542, 638, 648, 654, 663</a:t>
            </a:r>
          </a:p>
          <a:p>
            <a:pPr lvl="1">
              <a:defRPr/>
            </a:pPr>
            <a:endParaRPr lang="en-US" altLang="ko-KR" dirty="0">
              <a:latin typeface="Menlo"/>
            </a:endParaRPr>
          </a:p>
          <a:p>
            <a:pPr lvl="1">
              <a:defRPr/>
            </a:pPr>
            <a:endParaRPr lang="en-US" altLang="ko-KR" dirty="0">
              <a:latin typeface="Menlo"/>
            </a:endParaRPr>
          </a:p>
          <a:p>
            <a:pPr lvl="1">
              <a:defRPr/>
            </a:pPr>
            <a:r>
              <a:rPr lang="en-US" altLang="ko-KR" sz="1800" b="0" i="0" dirty="0">
                <a:effectLst/>
                <a:latin typeface="Menlo"/>
              </a:rPr>
              <a:t>142 143 144 145 146 147 148 149 150 151 152 (11)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200 201 202 203 204 205 206 207 208 209 210 211 (12)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260 261 262 263 264 265 266 (7)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428 429 430 431 432 433 434 (7)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483 484 485 486 487 488 489 490 491 492 493 494 (12)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543 544 545 546 547 548 549 550 551 552 (10)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47228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98895</TotalTime>
  <Words>2702</Words>
  <Application>Microsoft Office PowerPoint</Application>
  <PresentationFormat>화면 슬라이드 쇼(4:3)</PresentationFormat>
  <Paragraphs>720</Paragraphs>
  <Slides>37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7" baseType="lpstr">
      <vt:lpstr>-apple-system</vt:lpstr>
      <vt:lpstr>Menlo</vt:lpstr>
      <vt:lpstr>Times New Roma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BILP(MILP) method를 이용한  위성군 분석 및 설계/최적화</vt:lpstr>
      <vt:lpstr>목차</vt:lpstr>
      <vt:lpstr>참고 문헌 정보</vt:lpstr>
      <vt:lpstr>BILP(MILP) 설계기법 참고 문헌</vt:lpstr>
      <vt:lpstr>BILP Method 검증 방법</vt:lpstr>
      <vt:lpstr>BILP method 논문 예시</vt:lpstr>
      <vt:lpstr>BILP method 논문 예시 검증방법</vt:lpstr>
      <vt:lpstr>BILP Method 수학적인 계산 결과</vt:lpstr>
      <vt:lpstr>BILP method 연구 결과 〖"(" Ω, M")" 〗_k</vt:lpstr>
      <vt:lpstr>BILP method 연구 결과 〖"(" Ω, M")" 〗_k</vt:lpstr>
      <vt:lpstr>수학적인 계산 결과 비교</vt:lpstr>
      <vt:lpstr>수학적인 계산 결과 비교</vt:lpstr>
      <vt:lpstr>BILP Method 실제 시뮬레이션 결과</vt:lpstr>
      <vt:lpstr>시뮬레이션 진행 시 고려해야 할 요소</vt:lpstr>
      <vt:lpstr>Epoch Time 검증 결과</vt:lpstr>
      <vt:lpstr>Epoch Time 검증 결과</vt:lpstr>
      <vt:lpstr>Epoch Time 검증 결과</vt:lpstr>
      <vt:lpstr>BILP Method Matlab Coding</vt:lpstr>
      <vt:lpstr>Timeline 중복 횟수 최소화를 이용한 배치</vt:lpstr>
      <vt:lpstr>Timeline 중복 횟수 최소화를 이용한 배치</vt:lpstr>
      <vt:lpstr>Timeline 중복 횟수 최소화를 이용한 배치</vt:lpstr>
      <vt:lpstr>새로운 해의 도출 결과</vt:lpstr>
      <vt:lpstr>새로운 해의 도출 결과</vt:lpstr>
      <vt:lpstr>새로운 해의 도출 결과</vt:lpstr>
      <vt:lpstr>새로운 해의 도출 결과</vt:lpstr>
      <vt:lpstr>새로운 해의 도출 결과</vt:lpstr>
      <vt:lpstr>새로운 해의 도출 결과</vt:lpstr>
      <vt:lpstr>새로운 해의 도출 결과</vt:lpstr>
      <vt:lpstr>새로운 해의 도출 결과</vt:lpstr>
      <vt:lpstr>새로운 해의 도출 결과</vt:lpstr>
      <vt:lpstr>새로운 해의 도출 결과</vt:lpstr>
      <vt:lpstr>새로운 해의 도출 결과</vt:lpstr>
      <vt:lpstr>새로운 해의 도출 결과</vt:lpstr>
      <vt:lpstr>결론</vt:lpstr>
      <vt:lpstr>결론</vt:lpstr>
      <vt:lpstr>경청해 주셔서 감사합니다.</vt:lpstr>
      <vt:lpstr>BILP method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4615</cp:revision>
  <dcterms:created xsi:type="dcterms:W3CDTF">2018-01-29T02:45:56Z</dcterms:created>
  <dcterms:modified xsi:type="dcterms:W3CDTF">2024-04-11T04:27:59Z</dcterms:modified>
</cp:coreProperties>
</file>