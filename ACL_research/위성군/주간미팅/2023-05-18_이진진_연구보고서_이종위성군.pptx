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229" r:id="rId2"/>
    <p:sldId id="2300" r:id="rId3"/>
    <p:sldId id="2438" r:id="rId4"/>
    <p:sldId id="2444" r:id="rId5"/>
    <p:sldId id="2445" r:id="rId6"/>
    <p:sldId id="2446" r:id="rId7"/>
    <p:sldId id="2448" r:id="rId8"/>
    <p:sldId id="2447" r:id="rId9"/>
    <p:sldId id="2443" r:id="rId10"/>
    <p:sldId id="2449" r:id="rId11"/>
    <p:sldId id="2450" r:id="rId12"/>
    <p:sldId id="2453" r:id="rId13"/>
    <p:sldId id="2451" r:id="rId14"/>
    <p:sldId id="2452" r:id="rId15"/>
    <p:sldId id="2297" r:id="rId16"/>
    <p:sldId id="2441" r:id="rId17"/>
    <p:sldId id="268" r:id="rId1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A1E"/>
    <a:srgbClr val="EDB021"/>
    <a:srgbClr val="D9541A"/>
    <a:srgbClr val="404040"/>
    <a:srgbClr val="FFFFFF"/>
    <a:srgbClr val="001E46"/>
    <a:srgbClr val="FFCCCC"/>
    <a:srgbClr val="001432"/>
    <a:srgbClr val="FF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 autoAdjust="0"/>
    <p:restoredTop sz="82161" autoAdjust="0"/>
  </p:normalViewPr>
  <p:slideViewPr>
    <p:cSldViewPr snapToGrid="0" showGuides="1">
      <p:cViewPr varScale="1">
        <p:scale>
          <a:sx n="93" d="100"/>
          <a:sy n="93" d="100"/>
        </p:scale>
        <p:origin x="226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2023-05-18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2023-05-18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/>
              <a:t>통신이나 </a:t>
            </a:r>
            <a:r>
              <a:rPr lang="ko-KR" altLang="en-US" dirty="0"/>
              <a:t>네트워크 관련 내용이 많음</a:t>
            </a:r>
            <a:endParaRPr lang="en-US" altLang="ko-KR" dirty="0"/>
          </a:p>
          <a:p>
            <a:pPr algn="l"/>
            <a:endParaRPr lang="ko-KR" altLang="en-US" b="0" i="0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논문의 파트별로</a:t>
            </a:r>
            <a:r>
              <a:rPr lang="en-US" altLang="ko-KR" dirty="0"/>
              <a:t> </a:t>
            </a:r>
            <a:r>
              <a:rPr lang="ko-KR" altLang="en-US" dirty="0"/>
              <a:t>구성된 것을 정리함</a:t>
            </a:r>
            <a:endParaRPr lang="en-US" altLang="ko-KR" dirty="0"/>
          </a:p>
          <a:p>
            <a:r>
              <a:rPr lang="en-US" altLang="ko-KR" dirty="0" err="1"/>
              <a:t>LoraWAN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광역 네트워크 기술 중 </a:t>
            </a:r>
            <a:r>
              <a:rPr lang="en-US" altLang="ko-KR" dirty="0" err="1"/>
              <a:t>LowPower</a:t>
            </a:r>
            <a:r>
              <a:rPr lang="ko-KR" altLang="en-US" dirty="0"/>
              <a:t>를 이용하여 </a:t>
            </a:r>
            <a:r>
              <a:rPr lang="en-US" altLang="ko-KR" dirty="0"/>
              <a:t>IOT </a:t>
            </a:r>
            <a:r>
              <a:rPr lang="ko-KR" altLang="en-US" dirty="0"/>
              <a:t>장치를</a:t>
            </a:r>
            <a:r>
              <a:rPr lang="en-US" altLang="ko-KR" dirty="0"/>
              <a:t> </a:t>
            </a:r>
            <a:r>
              <a:rPr lang="ko-KR" altLang="en-US" dirty="0"/>
              <a:t>연결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82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675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949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관련 연구</a:t>
            </a:r>
            <a:endParaRPr lang="en-US" altLang="ko-KR" dirty="0"/>
          </a:p>
          <a:p>
            <a:r>
              <a:rPr lang="en-US" altLang="ko-KR" dirty="0"/>
              <a:t>LEO </a:t>
            </a:r>
            <a:r>
              <a:rPr lang="ko-KR" altLang="en-US" dirty="0"/>
              <a:t>위성 배치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29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IOT </a:t>
            </a:r>
            <a:r>
              <a:rPr lang="ko-KR" altLang="en-US" dirty="0"/>
              <a:t>연결 방법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009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LEO </a:t>
            </a:r>
            <a:r>
              <a:rPr lang="ko-KR" altLang="en-US" dirty="0"/>
              <a:t>원격제어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461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8714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Lora</a:t>
            </a:r>
            <a:r>
              <a:rPr lang="ko-KR" altLang="en-US" dirty="0"/>
              <a:t> 네트워크 </a:t>
            </a:r>
            <a:r>
              <a:rPr lang="ko-KR" altLang="en-US" dirty="0" err="1"/>
              <a:t>아키텍쳐</a:t>
            </a:r>
            <a:r>
              <a:rPr lang="ko-KR" altLang="en-US" dirty="0"/>
              <a:t> 그림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게이트웨이에서 네트워크 서버와 다른 장치간 통신</a:t>
            </a:r>
            <a:endParaRPr lang="en-US" altLang="ko-KR" dirty="0"/>
          </a:p>
          <a:p>
            <a:r>
              <a:rPr lang="ko-KR" altLang="en-US" dirty="0"/>
              <a:t>데이터 수신</a:t>
            </a:r>
            <a:endParaRPr lang="en-US" altLang="ko-KR" dirty="0"/>
          </a:p>
          <a:p>
            <a:r>
              <a:rPr lang="ko-KR" altLang="en-US" dirty="0"/>
              <a:t>네트워크 서버로 전달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5877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Ls : </a:t>
            </a:r>
            <a:r>
              <a:rPr lang="ko-KR" altLang="en-US" dirty="0"/>
              <a:t>이웃 </a:t>
            </a:r>
            <a:r>
              <a:rPr lang="ko-KR" altLang="en-US" dirty="0" err="1"/>
              <a:t>위성간의</a:t>
            </a:r>
            <a:r>
              <a:rPr lang="ko-KR" altLang="en-US" dirty="0"/>
              <a:t> 통신</a:t>
            </a:r>
            <a:endParaRPr lang="en-US" altLang="ko-KR" dirty="0"/>
          </a:p>
          <a:p>
            <a:r>
              <a:rPr lang="en-US" altLang="ko-KR" dirty="0"/>
              <a:t>Lg : LEO </a:t>
            </a:r>
            <a:r>
              <a:rPr lang="ko-KR" altLang="en-US" dirty="0"/>
              <a:t>위성과 지상 </a:t>
            </a:r>
            <a:r>
              <a:rPr lang="ko-KR" altLang="en-US" dirty="0" err="1"/>
              <a:t>게이트웨이간의</a:t>
            </a:r>
            <a:r>
              <a:rPr lang="ko-KR" altLang="en-US" dirty="0"/>
              <a:t> 통신</a:t>
            </a:r>
            <a:endParaRPr lang="en-US" altLang="ko-KR" dirty="0"/>
          </a:p>
          <a:p>
            <a:r>
              <a:rPr lang="en-US" altLang="ko-KR" dirty="0" err="1"/>
              <a:t>Lv</a:t>
            </a:r>
            <a:r>
              <a:rPr lang="en-US" altLang="ko-KR" dirty="0"/>
              <a:t> : </a:t>
            </a:r>
            <a:r>
              <a:rPr lang="ko-KR" altLang="en-US" dirty="0"/>
              <a:t>위성과 보이는 영역 내의 </a:t>
            </a:r>
            <a:r>
              <a:rPr lang="en-US" altLang="ko-KR" dirty="0"/>
              <a:t>IOT </a:t>
            </a:r>
            <a:r>
              <a:rPr lang="ko-KR" altLang="en-US" dirty="0"/>
              <a:t>단말기 간의 직접 통신</a:t>
            </a:r>
            <a:endParaRPr lang="en-US" altLang="ko-KR" dirty="0"/>
          </a:p>
          <a:p>
            <a:r>
              <a:rPr lang="ko-KR" altLang="en-US" dirty="0"/>
              <a:t>따라서 위성 인식 가능 구역 내에 있는 </a:t>
            </a:r>
            <a:r>
              <a:rPr lang="en-US" altLang="ko-KR" dirty="0"/>
              <a:t>IOT </a:t>
            </a:r>
            <a:r>
              <a:rPr lang="ko-KR" altLang="en-US" dirty="0"/>
              <a:t>단말기는 다른 위성 </a:t>
            </a:r>
            <a:r>
              <a:rPr lang="en-US" altLang="ko-KR" dirty="0"/>
              <a:t>footprint </a:t>
            </a:r>
            <a:r>
              <a:rPr lang="ko-KR" altLang="en-US" dirty="0"/>
              <a:t>내의 단말기와 통신하고 데이터 교환 가능</a:t>
            </a:r>
            <a:endParaRPr lang="en-US" altLang="ko-KR" dirty="0"/>
          </a:p>
          <a:p>
            <a:r>
              <a:rPr lang="en-US" altLang="ko-KR" dirty="0"/>
              <a:t>Li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IOT </a:t>
            </a:r>
            <a:r>
              <a:rPr lang="ko-KR" altLang="en-US" dirty="0"/>
              <a:t>게이트웨이와 감지 장치 사이의 간접 통신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70154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Space Network</a:t>
            </a:r>
            <a:r>
              <a:rPr lang="ko-KR" altLang="en-US" dirty="0"/>
              <a:t>는 </a:t>
            </a:r>
            <a:r>
              <a:rPr lang="en-US" altLang="ko-KR" dirty="0"/>
              <a:t>GEO </a:t>
            </a:r>
            <a:r>
              <a:rPr lang="ko-KR" altLang="en-US" dirty="0"/>
              <a:t>확장</a:t>
            </a:r>
            <a:endParaRPr lang="en-US" altLang="ko-KR" dirty="0"/>
          </a:p>
          <a:p>
            <a:r>
              <a:rPr lang="en-US" altLang="ko-KR" dirty="0"/>
              <a:t>Terrestrial Network</a:t>
            </a:r>
            <a:r>
              <a:rPr lang="ko-KR" altLang="en-US" dirty="0"/>
              <a:t>는 마찬가지로 </a:t>
            </a:r>
            <a:r>
              <a:rPr lang="en-US" altLang="ko-KR" dirty="0"/>
              <a:t>gateway</a:t>
            </a:r>
            <a:r>
              <a:rPr lang="ko-KR" altLang="en-US" dirty="0"/>
              <a:t>와 연결 후 </a:t>
            </a:r>
            <a:r>
              <a:rPr lang="en-US" altLang="ko-KR" dirty="0"/>
              <a:t>indirect </a:t>
            </a:r>
            <a:r>
              <a:rPr lang="ko-KR" altLang="en-US" dirty="0"/>
              <a:t>통신</a:t>
            </a:r>
            <a:endParaRPr lang="en-US" altLang="ko-KR" dirty="0"/>
          </a:p>
          <a:p>
            <a:r>
              <a:rPr lang="ko-KR" altLang="en-US" dirty="0"/>
              <a:t>항공기 선박과도 연결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1963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4792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812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454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3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2023-05-18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이종위성군 성능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err="1"/>
              <a:t>Chaari</a:t>
            </a:r>
            <a:r>
              <a:rPr lang="en-US" altLang="ko-KR" b="1" dirty="0"/>
              <a:t>, Lamia et al. “Heterogeneous </a:t>
            </a:r>
            <a:r>
              <a:rPr lang="en-US" altLang="ko-KR" b="1" dirty="0" err="1"/>
              <a:t>LoRaWAN</a:t>
            </a:r>
            <a:r>
              <a:rPr lang="en-US" altLang="ko-KR" b="1" dirty="0"/>
              <a:t> &amp; LEO Satellites Networks Concepts, Architectures and Future directions.” 2019 Global Information Infrastructure and Networking Symposium (GIIS) (2019): 1-6.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69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초록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Abstract</a:t>
            </a:r>
          </a:p>
          <a:p>
            <a:pPr lvl="1"/>
            <a:r>
              <a:rPr lang="ko-KR" altLang="en-US" dirty="0"/>
              <a:t>오늘날 </a:t>
            </a:r>
            <a:r>
              <a:rPr lang="en-US" altLang="ko-KR" dirty="0"/>
              <a:t>LEO</a:t>
            </a:r>
            <a:r>
              <a:rPr lang="ko-KR" altLang="en-US" dirty="0"/>
              <a:t>는 통신 네트워크와 </a:t>
            </a:r>
            <a:r>
              <a:rPr lang="en-US" altLang="ko-KR" dirty="0"/>
              <a:t>IOT</a:t>
            </a:r>
            <a:r>
              <a:rPr lang="ko-KR" altLang="en-US" dirty="0"/>
              <a:t>에서</a:t>
            </a:r>
            <a:r>
              <a:rPr lang="en-US" altLang="ko-KR" dirty="0"/>
              <a:t> relay</a:t>
            </a:r>
            <a:r>
              <a:rPr lang="ko-KR" altLang="en-US" dirty="0"/>
              <a:t> 역할을 하는 것으로 많은 관심을 받고 있음</a:t>
            </a:r>
            <a:endParaRPr lang="en-US" altLang="ko-KR" dirty="0"/>
          </a:p>
          <a:p>
            <a:pPr lvl="1"/>
            <a:r>
              <a:rPr lang="en-US" altLang="ko-KR" dirty="0"/>
              <a:t>IOT</a:t>
            </a:r>
            <a:r>
              <a:rPr lang="ko-KR" altLang="en-US" dirty="0"/>
              <a:t>를 위한 </a:t>
            </a:r>
            <a:r>
              <a:rPr lang="en-US" altLang="ko-KR" dirty="0"/>
              <a:t>LEO </a:t>
            </a:r>
            <a:r>
              <a:rPr lang="ko-KR" altLang="en-US" dirty="0"/>
              <a:t>위성 배치 및 </a:t>
            </a:r>
            <a:r>
              <a:rPr lang="en-US" altLang="ko-KR" dirty="0" err="1"/>
              <a:t>LoRaWAN</a:t>
            </a:r>
            <a:r>
              <a:rPr lang="ko-KR" altLang="en-US" dirty="0"/>
              <a:t>과 </a:t>
            </a:r>
            <a:r>
              <a:rPr lang="en-US" altLang="ko-KR" dirty="0"/>
              <a:t>LEO </a:t>
            </a:r>
            <a:r>
              <a:rPr lang="ko-KR" altLang="en-US" dirty="0"/>
              <a:t>위성 네트워크 간의 상관관계를 다룬 논문</a:t>
            </a:r>
            <a:endParaRPr lang="en-US" altLang="ko-KR" dirty="0"/>
          </a:p>
          <a:p>
            <a:pPr lvl="1"/>
            <a:r>
              <a:rPr lang="en-US" altLang="ko-KR" dirty="0" err="1"/>
              <a:t>KeyWords</a:t>
            </a:r>
            <a:endParaRPr lang="en-US" altLang="ko-KR" dirty="0"/>
          </a:p>
          <a:p>
            <a:pPr lvl="2"/>
            <a:r>
              <a:rPr lang="en-US" altLang="ko-KR" dirty="0"/>
              <a:t>IOT : </a:t>
            </a:r>
            <a:r>
              <a:rPr lang="ko-KR" altLang="en-US" dirty="0"/>
              <a:t>전자기기</a:t>
            </a:r>
            <a:r>
              <a:rPr lang="en-US" altLang="ko-KR" dirty="0"/>
              <a:t>, </a:t>
            </a:r>
            <a:r>
              <a:rPr lang="ko-KR" altLang="en-US" dirty="0"/>
              <a:t>가전제품</a:t>
            </a:r>
            <a:r>
              <a:rPr lang="en-US" altLang="ko-KR" dirty="0"/>
              <a:t>, </a:t>
            </a:r>
            <a:r>
              <a:rPr lang="ko-KR" altLang="en-US" dirty="0"/>
              <a:t>차량 등 일상에서 볼 수 있는 물건이 인터넷에 연결되어 상호작용하고 데이터를 교환하는 네트워크</a:t>
            </a:r>
            <a:endParaRPr lang="en-US" altLang="ko-KR" dirty="0"/>
          </a:p>
          <a:p>
            <a:pPr lvl="2"/>
            <a:r>
              <a:rPr lang="en-US" altLang="ko-KR" dirty="0" err="1"/>
              <a:t>LoraWAN</a:t>
            </a:r>
            <a:r>
              <a:rPr lang="en-US" altLang="ko-KR" dirty="0"/>
              <a:t>(Long Range Wide Area Network) : </a:t>
            </a:r>
            <a:r>
              <a:rPr lang="ko-KR" altLang="en-US" dirty="0"/>
              <a:t>저전력 광역 네트워크 기술 중 하나로 </a:t>
            </a:r>
            <a:r>
              <a:rPr lang="en-US" altLang="ko-KR" dirty="0"/>
              <a:t>IOT</a:t>
            </a:r>
            <a:r>
              <a:rPr lang="ko-KR" altLang="en-US" dirty="0"/>
              <a:t> 장치를 연결하는데 사용되며 다음과 같은 특징을 가짐</a:t>
            </a:r>
            <a:endParaRPr lang="en-US" altLang="ko-KR" dirty="0"/>
          </a:p>
          <a:p>
            <a:pPr lvl="3"/>
            <a:r>
              <a:rPr lang="ko-KR" altLang="en-US" dirty="0"/>
              <a:t>먼 거리에서도 효율적인 통신을 가능하게 함 </a:t>
            </a:r>
          </a:p>
          <a:p>
            <a:pPr lvl="3"/>
            <a:r>
              <a:rPr lang="ko-KR" altLang="en-US" dirty="0"/>
              <a:t>낮은 데이터 전송속도 및 저전력 소비를 특징으로 함</a:t>
            </a:r>
          </a:p>
          <a:p>
            <a:pPr lvl="3"/>
            <a:r>
              <a:rPr lang="ko-KR" altLang="en-US" dirty="0"/>
              <a:t>배터리 수명을 연장</a:t>
            </a:r>
            <a:r>
              <a:rPr lang="en-US" altLang="ko-KR" dirty="0"/>
              <a:t>, </a:t>
            </a:r>
            <a:r>
              <a:rPr lang="ko-KR" altLang="en-US" dirty="0"/>
              <a:t>비용을 절감하면서 멀리 떨어진 장치들과 통신 가능</a:t>
            </a:r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762786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</a:p>
          <a:p>
            <a:pPr lvl="1"/>
            <a:r>
              <a:rPr lang="en-US" altLang="ko-KR" dirty="0"/>
              <a:t>250km</a:t>
            </a:r>
            <a:r>
              <a:rPr lang="ko-KR" altLang="en-US" dirty="0"/>
              <a:t>부터 </a:t>
            </a:r>
            <a:r>
              <a:rPr lang="en-US" altLang="ko-KR" dirty="0"/>
              <a:t>2000km</a:t>
            </a:r>
            <a:r>
              <a:rPr lang="ko-KR" altLang="en-US" dirty="0"/>
              <a:t>에 배치된 </a:t>
            </a:r>
            <a:r>
              <a:rPr lang="en-US" altLang="ko-KR" dirty="0"/>
              <a:t>LEO</a:t>
            </a:r>
            <a:r>
              <a:rPr lang="ko-KR" altLang="en-US" dirty="0"/>
              <a:t>는 총 위성의 </a:t>
            </a:r>
            <a:r>
              <a:rPr lang="en-US" altLang="ko-KR" dirty="0"/>
              <a:t>62.9%</a:t>
            </a:r>
            <a:r>
              <a:rPr lang="ko-KR" altLang="en-US" dirty="0"/>
              <a:t>를 차지하며 무게에 따라 다음과 같이 분류할 수 있음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LEO</a:t>
            </a:r>
            <a:r>
              <a:rPr lang="ko-KR" altLang="en-US" dirty="0"/>
              <a:t>의 수는 </a:t>
            </a:r>
            <a:r>
              <a:rPr lang="en-US" altLang="ko-KR" dirty="0"/>
              <a:t>IOT</a:t>
            </a:r>
            <a:r>
              <a:rPr lang="ko-KR" altLang="en-US" dirty="0"/>
              <a:t>와 </a:t>
            </a:r>
            <a:r>
              <a:rPr lang="en-US" altLang="ko-KR" dirty="0"/>
              <a:t>Smart Grid</a:t>
            </a:r>
            <a:r>
              <a:rPr lang="ko-KR" altLang="en-US" dirty="0"/>
              <a:t>의 사용에 따라 증가하고 있는 추세임</a:t>
            </a:r>
            <a:endParaRPr lang="en-US" altLang="ko-KR" dirty="0"/>
          </a:p>
          <a:p>
            <a:pPr lvl="2"/>
            <a:r>
              <a:rPr lang="en-US" altLang="ko-KR" dirty="0"/>
              <a:t>IOT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전자기기</a:t>
            </a:r>
            <a:r>
              <a:rPr lang="en-US" altLang="ko-KR" dirty="0"/>
              <a:t>, </a:t>
            </a:r>
            <a:r>
              <a:rPr lang="ko-KR" altLang="en-US" dirty="0"/>
              <a:t>가전제품</a:t>
            </a:r>
            <a:r>
              <a:rPr lang="en-US" altLang="ko-KR" dirty="0"/>
              <a:t>, </a:t>
            </a:r>
            <a:r>
              <a:rPr lang="ko-KR" altLang="en-US" dirty="0"/>
              <a:t>차량 등 일상에서 볼 수 있는 물건이 인터넷에</a:t>
            </a:r>
            <a:r>
              <a:rPr lang="en-US" altLang="ko-KR" dirty="0"/>
              <a:t> </a:t>
            </a:r>
            <a:r>
              <a:rPr lang="ko-KR" altLang="en-US" dirty="0"/>
              <a:t>연결되어 상호작용하고 데이터를 교환하는 네트워크</a:t>
            </a:r>
          </a:p>
          <a:p>
            <a:pPr lvl="2"/>
            <a:r>
              <a:rPr lang="en-US" altLang="ko-KR" dirty="0"/>
              <a:t>Smart Grid : </a:t>
            </a:r>
            <a:r>
              <a:rPr lang="ko-KR" altLang="en-US" dirty="0"/>
              <a:t>안전한 전기공급을 경제적이고 효율적으로 제공하는 것을</a:t>
            </a:r>
            <a:r>
              <a:rPr lang="en-US" altLang="ko-KR" dirty="0"/>
              <a:t> </a:t>
            </a:r>
            <a:r>
              <a:rPr lang="ko-KR" altLang="en-US" dirty="0"/>
              <a:t>목표로 하며 전력소비장치</a:t>
            </a:r>
            <a:r>
              <a:rPr lang="en-US" altLang="ko-KR" dirty="0"/>
              <a:t>, </a:t>
            </a:r>
            <a:r>
              <a:rPr lang="ko-KR" altLang="en-US" dirty="0"/>
              <a:t>발전기</a:t>
            </a:r>
            <a:r>
              <a:rPr lang="en-US" altLang="ko-KR" dirty="0"/>
              <a:t>, </a:t>
            </a:r>
            <a:r>
              <a:rPr lang="ko-KR" altLang="en-US" dirty="0"/>
              <a:t>배전 시스템 등에 연결된 장치의 활동과 에너지 제어를 통합하는 전기 네트워크</a:t>
            </a:r>
            <a:endParaRPr lang="en-US" altLang="ko-KR" dirty="0"/>
          </a:p>
          <a:p>
            <a:pPr lvl="1"/>
            <a:r>
              <a:rPr lang="ko-KR" altLang="en-US" dirty="0"/>
              <a:t>낮은 전파손실 및 지연과 커버리지 면에서 </a:t>
            </a:r>
            <a:r>
              <a:rPr lang="en-US" altLang="ko-KR" dirty="0"/>
              <a:t>GEO</a:t>
            </a:r>
            <a:r>
              <a:rPr lang="ko-KR" altLang="en-US" dirty="0"/>
              <a:t>에 비해 장점이 많음</a:t>
            </a:r>
            <a:endParaRPr lang="en-US" altLang="ko-KR" dirty="0"/>
          </a:p>
          <a:p>
            <a:pPr lvl="2"/>
            <a:r>
              <a:rPr lang="en-US" altLang="ko-KR" dirty="0"/>
              <a:t>Propagation loss - LEO : 1~15ms / GEO : 120~140ms</a:t>
            </a:r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B6AF10-0A46-4B02-9F12-FA013447F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27" y="1974891"/>
            <a:ext cx="683895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16373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</a:p>
          <a:p>
            <a:pPr lvl="1"/>
            <a:r>
              <a:rPr lang="ko-KR" altLang="en-US" dirty="0"/>
              <a:t>광역 통신을 위해 </a:t>
            </a:r>
            <a:r>
              <a:rPr lang="en-US" altLang="ko-KR" dirty="0"/>
              <a:t>LEO</a:t>
            </a:r>
            <a:r>
              <a:rPr lang="ko-KR" altLang="en-US" dirty="0"/>
              <a:t> 위성과 지상 </a:t>
            </a:r>
            <a:r>
              <a:rPr lang="en-US" altLang="ko-KR" dirty="0"/>
              <a:t>IOT</a:t>
            </a:r>
            <a:r>
              <a:rPr lang="ko-KR" altLang="en-US" dirty="0"/>
              <a:t>와 시스템 간의 연결이 필요함</a:t>
            </a:r>
            <a:endParaRPr lang="en-US" altLang="ko-KR" dirty="0"/>
          </a:p>
          <a:p>
            <a:pPr lvl="1"/>
            <a:r>
              <a:rPr lang="ko-KR" altLang="en-US" dirty="0"/>
              <a:t>이를 위해 궤도에 있는 위성에 서비스를 제공하기 위해 자체적으로 효과적인 위성 통신 시스템을 구축하고 구현해야 함</a:t>
            </a:r>
            <a:endParaRPr lang="en-US" altLang="ko-KR" dirty="0"/>
          </a:p>
          <a:p>
            <a:pPr lvl="1"/>
            <a:r>
              <a:rPr lang="ko-KR" altLang="en-US" dirty="0"/>
              <a:t>저전력 광역 네트워크 기술 중 하나인 </a:t>
            </a:r>
            <a:r>
              <a:rPr lang="en-US" altLang="ko-KR" dirty="0" err="1"/>
              <a:t>LoraWAN</a:t>
            </a:r>
            <a:r>
              <a:rPr lang="en-US" altLang="ko-KR" dirty="0"/>
              <a:t>(Long Range Wide Area Network)</a:t>
            </a:r>
            <a:r>
              <a:rPr lang="ko-KR" altLang="en-US" dirty="0"/>
              <a:t>을 제안</a:t>
            </a:r>
            <a:endParaRPr lang="en-US" altLang="ko-KR" dirty="0"/>
          </a:p>
          <a:p>
            <a:pPr lvl="1"/>
            <a:r>
              <a:rPr lang="ko-KR" altLang="en-US" dirty="0"/>
              <a:t>논문에서는 다음 두 가지에 초점을 맞춤</a:t>
            </a:r>
            <a:endParaRPr lang="en-US" altLang="ko-KR" dirty="0"/>
          </a:p>
          <a:p>
            <a:pPr lvl="2"/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lang="en-US" altLang="ko-KR" dirty="0"/>
              <a:t>LEO </a:t>
            </a:r>
            <a:r>
              <a:rPr lang="ko-KR" altLang="en-US" dirty="0"/>
              <a:t>위성이 </a:t>
            </a:r>
            <a:r>
              <a:rPr lang="en-US" altLang="ko-KR" dirty="0" err="1"/>
              <a:t>LoRaWAN</a:t>
            </a:r>
            <a:r>
              <a:rPr lang="en-US" altLang="ko-KR" dirty="0"/>
              <a:t> </a:t>
            </a:r>
            <a:r>
              <a:rPr lang="ko-KR" altLang="en-US" dirty="0"/>
              <a:t>네트워크를 통해 </a:t>
            </a:r>
            <a:r>
              <a:rPr lang="en-US" altLang="ko-KR" dirty="0"/>
              <a:t>IoT </a:t>
            </a:r>
            <a:r>
              <a:rPr lang="ko-KR" altLang="en-US" dirty="0"/>
              <a:t>장치를 서비스하는 방법</a:t>
            </a:r>
            <a:endParaRPr lang="en-US" altLang="ko-KR" dirty="0"/>
          </a:p>
          <a:p>
            <a:pPr lvl="2"/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LEO </a:t>
            </a:r>
            <a:r>
              <a:rPr lang="ko-KR" altLang="en-US" dirty="0"/>
              <a:t>위성에 원격 제어를 제공하기 위한 </a:t>
            </a:r>
            <a:r>
              <a:rPr lang="en-US" altLang="ko-KR" dirty="0" err="1"/>
              <a:t>LoRaWAN</a:t>
            </a:r>
            <a:r>
              <a:rPr lang="en-US" altLang="ko-KR" dirty="0"/>
              <a:t> </a:t>
            </a:r>
            <a:r>
              <a:rPr lang="ko-KR" altLang="en-US" dirty="0"/>
              <a:t>기술의 기여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726586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관련 연구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Related Works(IOT</a:t>
            </a:r>
            <a:r>
              <a:rPr lang="ko-KR" altLang="en-US" dirty="0"/>
              <a:t>를 위한 </a:t>
            </a:r>
            <a:r>
              <a:rPr lang="en-US" altLang="ko-KR" dirty="0"/>
              <a:t>LEO </a:t>
            </a:r>
            <a:r>
              <a:rPr lang="ko-KR" altLang="en-US" dirty="0"/>
              <a:t>위성의 배치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위성의</a:t>
            </a:r>
            <a:r>
              <a:rPr lang="en-US" altLang="ko-KR" dirty="0"/>
              <a:t> </a:t>
            </a:r>
            <a:r>
              <a:rPr lang="ko-KR" altLang="en-US" dirty="0"/>
              <a:t>사용이 </a:t>
            </a:r>
            <a:r>
              <a:rPr lang="en-US" altLang="ko-KR" dirty="0"/>
              <a:t>IOT </a:t>
            </a:r>
            <a:r>
              <a:rPr lang="ko-KR" altLang="en-US" dirty="0" err="1"/>
              <a:t>전지구</a:t>
            </a:r>
            <a:r>
              <a:rPr lang="ko-KR" altLang="en-US" dirty="0"/>
              <a:t> </a:t>
            </a:r>
            <a:r>
              <a:rPr lang="ko-KR" altLang="en-US" dirty="0" err="1"/>
              <a:t>커버리지를</a:t>
            </a:r>
            <a:r>
              <a:rPr lang="ko-KR" altLang="en-US" dirty="0"/>
              <a:t> 가능하게 하는 방법에 대한 연구</a:t>
            </a:r>
            <a:endParaRPr lang="en-US" altLang="ko-KR" dirty="0"/>
          </a:p>
          <a:p>
            <a:pPr lvl="2"/>
            <a:r>
              <a:rPr lang="ko-KR" altLang="en-US" dirty="0"/>
              <a:t>많은 수의 </a:t>
            </a:r>
            <a:r>
              <a:rPr lang="en-US" altLang="ko-KR" dirty="0"/>
              <a:t>IOT </a:t>
            </a:r>
            <a:r>
              <a:rPr lang="ko-KR" altLang="en-US" dirty="0"/>
              <a:t>노드 연결을 보장하기 위한 효율적인 다중 연결 체계를 제안</a:t>
            </a:r>
            <a:endParaRPr lang="en-US" altLang="ko-KR" dirty="0"/>
          </a:p>
          <a:p>
            <a:pPr lvl="1"/>
            <a:r>
              <a:rPr lang="en-US" altLang="ko-KR" dirty="0"/>
              <a:t>LEO </a:t>
            </a:r>
            <a:r>
              <a:rPr lang="ko-KR" altLang="en-US" dirty="0"/>
              <a:t>위성을 사용하여 </a:t>
            </a:r>
            <a:r>
              <a:rPr lang="en-US" altLang="ko-KR" dirty="0"/>
              <a:t>IOT </a:t>
            </a:r>
            <a:r>
              <a:rPr lang="ko-KR" altLang="en-US" dirty="0"/>
              <a:t>지상 범위를 전 세계로 확산하는 시스템에 대한 연구</a:t>
            </a:r>
            <a:endParaRPr lang="en-US" altLang="ko-KR" dirty="0"/>
          </a:p>
          <a:p>
            <a:pPr lvl="1"/>
            <a:r>
              <a:rPr lang="ko-KR" altLang="en-US" dirty="0"/>
              <a:t>배치된 </a:t>
            </a:r>
            <a:r>
              <a:rPr lang="en-US" altLang="ko-KR" dirty="0"/>
              <a:t>IOT </a:t>
            </a:r>
            <a:r>
              <a:rPr lang="ko-KR" altLang="en-US" dirty="0"/>
              <a:t>네트워크를 통해 통신기술에 기반한 데이터 수집에</a:t>
            </a:r>
            <a:r>
              <a:rPr lang="en-US" altLang="ko-KR" dirty="0"/>
              <a:t> </a:t>
            </a:r>
            <a:r>
              <a:rPr lang="ko-KR" altLang="en-US" dirty="0"/>
              <a:t>대한 연구</a:t>
            </a:r>
            <a:endParaRPr lang="en-US" altLang="ko-KR" dirty="0"/>
          </a:p>
          <a:p>
            <a:pPr lvl="2"/>
            <a:r>
              <a:rPr lang="ko-KR" altLang="en-US" dirty="0"/>
              <a:t>에너지 효율 문제를 해결하기 위해 온라인 스케줄링 알고리즘 제안</a:t>
            </a:r>
            <a:endParaRPr lang="en-US" altLang="ko-KR" dirty="0"/>
          </a:p>
          <a:p>
            <a:pPr lvl="1"/>
            <a:r>
              <a:rPr lang="ko-KR" altLang="en-US" dirty="0"/>
              <a:t>높은 고도 플랫폼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 5G </a:t>
            </a:r>
            <a:r>
              <a:rPr lang="ko-KR" altLang="en-US" dirty="0"/>
              <a:t>네트워크로의 통합에 대한 연구 </a:t>
            </a:r>
            <a:endParaRPr lang="en-US" altLang="ko-KR" dirty="0"/>
          </a:p>
          <a:p>
            <a:pPr lvl="2"/>
            <a:r>
              <a:rPr lang="en-US" altLang="ko-KR" dirty="0"/>
              <a:t>5G</a:t>
            </a:r>
            <a:r>
              <a:rPr lang="ko-KR" altLang="en-US" dirty="0"/>
              <a:t> 장비가 최소 구성으로 낮은 비트의 전송률을 가능하게 함</a:t>
            </a:r>
            <a:endParaRPr lang="en-US" altLang="ko-KR" dirty="0"/>
          </a:p>
          <a:p>
            <a:pPr lvl="2"/>
            <a:r>
              <a:rPr lang="ko-KR" altLang="en-US" dirty="0" err="1"/>
              <a:t>좁은대역</a:t>
            </a:r>
            <a:r>
              <a:rPr lang="ko-KR" altLang="en-US" dirty="0"/>
              <a:t> </a:t>
            </a:r>
            <a:r>
              <a:rPr lang="en-US" altLang="ko-KR" dirty="0"/>
              <a:t>IOT </a:t>
            </a:r>
            <a:r>
              <a:rPr lang="ko-KR" altLang="en-US" dirty="0"/>
              <a:t>서비스의 연속성 및 지상 인프라 서비스 제공 가능</a:t>
            </a:r>
            <a:endParaRPr lang="en-US" altLang="ko-KR" dirty="0"/>
          </a:p>
          <a:p>
            <a:pPr lvl="1"/>
            <a:r>
              <a:rPr lang="en-US" altLang="ko-KR" dirty="0"/>
              <a:t>Smart</a:t>
            </a:r>
            <a:r>
              <a:rPr lang="ko-KR" altLang="en-US" dirty="0"/>
              <a:t> </a:t>
            </a:r>
            <a:r>
              <a:rPr lang="en-US" altLang="ko-KR" dirty="0"/>
              <a:t>Grid</a:t>
            </a:r>
            <a:r>
              <a:rPr lang="ko-KR" altLang="en-US" dirty="0"/>
              <a:t>의 무선 서비스 및 </a:t>
            </a:r>
            <a:r>
              <a:rPr lang="en-US" altLang="ko-KR" dirty="0"/>
              <a:t>IOT </a:t>
            </a:r>
            <a:r>
              <a:rPr lang="ko-KR" altLang="en-US" dirty="0"/>
              <a:t>사용에 대한 연구</a:t>
            </a:r>
            <a:endParaRPr lang="en-US" altLang="ko-KR" dirty="0"/>
          </a:p>
          <a:p>
            <a:pPr lvl="2"/>
            <a:r>
              <a:rPr lang="ko-KR" altLang="en-US" dirty="0"/>
              <a:t>재난 관리와 같은 중요 임무는 위성 네트워크를 통한 </a:t>
            </a:r>
            <a:r>
              <a:rPr lang="en-US" altLang="ko-KR" dirty="0"/>
              <a:t>NB-LOT </a:t>
            </a:r>
            <a:r>
              <a:rPr lang="ko-KR" altLang="en-US" dirty="0"/>
              <a:t>혼합을 통해 해결 가능</a:t>
            </a:r>
            <a:endParaRPr lang="en-US" altLang="ko-KR" dirty="0"/>
          </a:p>
          <a:p>
            <a:pPr lvl="1"/>
            <a:r>
              <a:rPr lang="en-US" altLang="ko-KR" dirty="0"/>
              <a:t>LEO </a:t>
            </a:r>
            <a:r>
              <a:rPr lang="ko-KR" altLang="en-US" dirty="0"/>
              <a:t>위성군을 지원하는 </a:t>
            </a:r>
            <a:r>
              <a:rPr lang="en-US" altLang="ko-KR" dirty="0"/>
              <a:t>N23 </a:t>
            </a:r>
            <a:r>
              <a:rPr lang="ko-KR" altLang="en-US" dirty="0"/>
              <a:t>기반 시뮬레이션 </a:t>
            </a:r>
            <a:r>
              <a:rPr lang="en-US" altLang="ko-KR" dirty="0"/>
              <a:t>framework</a:t>
            </a:r>
            <a:r>
              <a:rPr lang="ko-KR" altLang="en-US" dirty="0"/>
              <a:t>에 대한 연구</a:t>
            </a:r>
            <a:endParaRPr lang="en-US" altLang="ko-KR" dirty="0"/>
          </a:p>
          <a:p>
            <a:pPr lvl="1"/>
            <a:r>
              <a:rPr lang="en-US" altLang="ko-KR" dirty="0"/>
              <a:t>IOT </a:t>
            </a:r>
            <a:r>
              <a:rPr lang="ko-KR" altLang="en-US" dirty="0"/>
              <a:t>네트워크에 대한 </a:t>
            </a:r>
            <a:r>
              <a:rPr lang="en-US" altLang="ko-KR" dirty="0"/>
              <a:t>MAC </a:t>
            </a:r>
            <a:r>
              <a:rPr lang="ko-KR" altLang="en-US" dirty="0"/>
              <a:t>프로토콜의 적합성에 대한 연구</a:t>
            </a:r>
            <a:endParaRPr lang="en-US" altLang="ko-KR" dirty="0"/>
          </a:p>
          <a:p>
            <a:pPr lvl="2"/>
            <a:r>
              <a:rPr lang="ko-KR" altLang="en-US" dirty="0"/>
              <a:t>많은 수의 프로토콜이 다른 위성 시스템 내에서 효과적으로 사용지만 </a:t>
            </a:r>
            <a:r>
              <a:rPr lang="en-US" altLang="ko-KR" dirty="0"/>
              <a:t>IOT</a:t>
            </a:r>
            <a:r>
              <a:rPr lang="ko-KR" altLang="en-US" dirty="0"/>
              <a:t>에 배치되기엔 적합하지 않음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448648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관련 연구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Related Works(</a:t>
            </a:r>
            <a:r>
              <a:rPr lang="en-US" altLang="ko-KR" dirty="0" err="1"/>
              <a:t>LoRaWAN</a:t>
            </a:r>
            <a:r>
              <a:rPr lang="en-US" altLang="ko-KR" dirty="0"/>
              <a:t> </a:t>
            </a:r>
            <a:r>
              <a:rPr lang="ko-KR" altLang="en-US" dirty="0"/>
              <a:t>기술을 통해 </a:t>
            </a:r>
            <a:r>
              <a:rPr lang="en-US" altLang="ko-KR" dirty="0"/>
              <a:t>IOT </a:t>
            </a:r>
            <a:r>
              <a:rPr lang="ko-KR" altLang="en-US" dirty="0"/>
              <a:t>장치 제공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동기화</a:t>
            </a:r>
            <a:r>
              <a:rPr lang="en-US" altLang="ko-KR" dirty="0"/>
              <a:t>, </a:t>
            </a:r>
            <a:r>
              <a:rPr lang="ko-KR" altLang="en-US" dirty="0"/>
              <a:t>게이트웨이 선택</a:t>
            </a:r>
            <a:r>
              <a:rPr lang="en-US" altLang="ko-KR" dirty="0"/>
              <a:t>, </a:t>
            </a:r>
            <a:r>
              <a:rPr lang="ko-KR" altLang="en-US" dirty="0"/>
              <a:t>자원 할당 및 교차 </a:t>
            </a:r>
            <a:r>
              <a:rPr lang="en-US" altLang="ko-KR" dirty="0"/>
              <a:t>layer</a:t>
            </a:r>
            <a:r>
              <a:rPr lang="ko-KR" altLang="en-US" dirty="0"/>
              <a:t> 최적화에 대한 연구</a:t>
            </a:r>
            <a:endParaRPr lang="en-US" altLang="ko-KR" dirty="0"/>
          </a:p>
          <a:p>
            <a:pPr lvl="1"/>
            <a:r>
              <a:rPr lang="ko-KR" altLang="en-US" dirty="0"/>
              <a:t>자가조직 위성의 지상을 보장하는 시스템에 대한 연구</a:t>
            </a:r>
            <a:endParaRPr lang="en-US" altLang="ko-KR" dirty="0"/>
          </a:p>
          <a:p>
            <a:pPr lvl="2"/>
            <a:r>
              <a:rPr lang="ko-KR" altLang="en-US" dirty="0"/>
              <a:t>우주 및 지상 네트워크에서 네트워크 정보를 인식</a:t>
            </a:r>
            <a:endParaRPr lang="en-US" altLang="ko-KR" dirty="0"/>
          </a:p>
          <a:p>
            <a:pPr lvl="1"/>
            <a:r>
              <a:rPr lang="en-US" altLang="ko-KR" dirty="0"/>
              <a:t>SDN/NFV </a:t>
            </a:r>
            <a:r>
              <a:rPr lang="ko-KR" altLang="en-US" dirty="0"/>
              <a:t>기반 네트워크</a:t>
            </a:r>
            <a:endParaRPr lang="en-US" altLang="ko-KR" dirty="0"/>
          </a:p>
          <a:p>
            <a:pPr lvl="2"/>
            <a:r>
              <a:rPr lang="ko-KR" altLang="en-US" dirty="0"/>
              <a:t>계층을 관리하고 네트워크의 복잡성을 해소</a:t>
            </a:r>
            <a:endParaRPr lang="en-US" altLang="ko-KR" dirty="0"/>
          </a:p>
          <a:p>
            <a:pPr lvl="1"/>
            <a:r>
              <a:rPr lang="ko-KR" altLang="en-US" dirty="0" err="1"/>
              <a:t>아키텍쳐</a:t>
            </a:r>
            <a:r>
              <a:rPr lang="en-US" altLang="ko-KR" dirty="0"/>
              <a:t>, </a:t>
            </a:r>
            <a:r>
              <a:rPr lang="ko-KR" altLang="en-US" dirty="0"/>
              <a:t>프로토콜</a:t>
            </a:r>
            <a:r>
              <a:rPr lang="en-US" altLang="ko-KR" dirty="0"/>
              <a:t> </a:t>
            </a:r>
            <a:r>
              <a:rPr lang="ko-KR" altLang="en-US" dirty="0"/>
              <a:t>및 이종 위성 네트워크로부터 데이터 배포를 위한 기술</a:t>
            </a:r>
            <a:endParaRPr lang="en-US" altLang="ko-KR" dirty="0"/>
          </a:p>
          <a:p>
            <a:pPr lvl="2"/>
            <a:r>
              <a:rPr lang="ko-KR" altLang="en-US" dirty="0"/>
              <a:t>이리듐 위성 배치 </a:t>
            </a:r>
            <a:r>
              <a:rPr lang="en-US" altLang="ko-KR" dirty="0"/>
              <a:t>: LoRa</a:t>
            </a:r>
            <a:r>
              <a:rPr lang="ko-KR" altLang="en-US" dirty="0"/>
              <a:t>를 데이터 수집을 위한 </a:t>
            </a:r>
            <a:r>
              <a:rPr lang="en-US" altLang="ko-KR" dirty="0"/>
              <a:t>LPWAN </a:t>
            </a:r>
            <a:r>
              <a:rPr lang="ko-KR" altLang="en-US" dirty="0"/>
              <a:t>지상 네트워크 및 </a:t>
            </a:r>
            <a:r>
              <a:rPr lang="en-US" altLang="ko-KR" dirty="0"/>
              <a:t>backhaul </a:t>
            </a:r>
            <a:r>
              <a:rPr lang="ko-KR" altLang="en-US" dirty="0"/>
              <a:t>연결</a:t>
            </a:r>
            <a:endParaRPr lang="en-US" altLang="ko-KR" dirty="0"/>
          </a:p>
          <a:p>
            <a:pPr lvl="1"/>
            <a:r>
              <a:rPr lang="en-US" altLang="ko-KR" dirty="0"/>
              <a:t>GDEP</a:t>
            </a:r>
            <a:r>
              <a:rPr lang="ko-KR" altLang="en-US" dirty="0"/>
              <a:t>라고 불리는 데이터를 인코딩 및 패키지화 하는 계획 연구</a:t>
            </a:r>
            <a:endParaRPr lang="en-US" altLang="ko-KR" dirty="0"/>
          </a:p>
          <a:p>
            <a:pPr lvl="1"/>
            <a:r>
              <a:rPr lang="en-US" altLang="ko-KR" dirty="0" err="1"/>
              <a:t>LoRaWAN</a:t>
            </a:r>
            <a:r>
              <a:rPr lang="en-US" altLang="ko-KR" dirty="0"/>
              <a:t> </a:t>
            </a:r>
            <a:r>
              <a:rPr lang="ko-KR" altLang="en-US" dirty="0"/>
              <a:t>네트워크와 위성 시스템 간의 상호 운용을 가능하게 하는 과제 연구</a:t>
            </a:r>
            <a:endParaRPr lang="en-US" altLang="ko-KR" dirty="0"/>
          </a:p>
          <a:p>
            <a:pPr lvl="2"/>
            <a:r>
              <a:rPr lang="en-US" altLang="ko-KR" dirty="0" err="1"/>
              <a:t>LoRaWAN</a:t>
            </a:r>
            <a:r>
              <a:rPr lang="en-US" altLang="ko-KR" dirty="0"/>
              <a:t> end-devices</a:t>
            </a:r>
            <a:r>
              <a:rPr lang="ko-KR" altLang="en-US" dirty="0"/>
              <a:t>가 위성에 연결하는 방법과 관련된 구성</a:t>
            </a:r>
            <a:endParaRPr lang="en-US" altLang="ko-KR" dirty="0"/>
          </a:p>
          <a:p>
            <a:pPr lvl="1"/>
            <a:r>
              <a:rPr lang="ko-KR" altLang="en-US" dirty="0"/>
              <a:t>이종 </a:t>
            </a:r>
            <a:r>
              <a:rPr lang="en-US" altLang="ko-KR" dirty="0"/>
              <a:t>IOT </a:t>
            </a:r>
            <a:r>
              <a:rPr lang="ko-KR" altLang="en-US" dirty="0"/>
              <a:t>네트워크를 위한 센서와 위성 위치에 관한 전력 조정 프로토콜 연구</a:t>
            </a:r>
            <a:endParaRPr lang="en-US" altLang="ko-KR" dirty="0"/>
          </a:p>
          <a:p>
            <a:pPr lvl="2"/>
            <a:r>
              <a:rPr lang="ko-KR" altLang="en-US" dirty="0"/>
              <a:t>새로운 </a:t>
            </a:r>
            <a:r>
              <a:rPr lang="en-US" altLang="ko-KR" dirty="0"/>
              <a:t>MAC </a:t>
            </a:r>
            <a:r>
              <a:rPr lang="ko-KR" altLang="en-US" dirty="0"/>
              <a:t>프로토콜 </a:t>
            </a:r>
            <a:r>
              <a:rPr lang="en-US" altLang="ko-KR" dirty="0"/>
              <a:t>SA-</a:t>
            </a:r>
            <a:r>
              <a:rPr lang="en-US" altLang="ko-KR" dirty="0" err="1"/>
              <a:t>LoRaWAN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205249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관련 연구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Related Works(LEO</a:t>
            </a:r>
            <a:r>
              <a:rPr lang="ko-KR" altLang="en-US" dirty="0"/>
              <a:t> 위성 간 네트워크를 위한 원격제어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데이터 링크 및 물리적 계층 문제 해결에 관한 연구</a:t>
            </a:r>
            <a:endParaRPr lang="en-US" altLang="ko-KR" dirty="0"/>
          </a:p>
          <a:p>
            <a:pPr lvl="1"/>
            <a:r>
              <a:rPr lang="ko-KR" altLang="en-US" dirty="0"/>
              <a:t>인터넷을 </a:t>
            </a:r>
            <a:r>
              <a:rPr lang="ko-KR" altLang="en-US" dirty="0" err="1"/>
              <a:t>통헌</a:t>
            </a:r>
            <a:r>
              <a:rPr lang="ko-KR" altLang="en-US" dirty="0"/>
              <a:t> 원격으로 위성 제어 가능성 연구</a:t>
            </a:r>
            <a:endParaRPr lang="en-US" altLang="ko-KR" dirty="0"/>
          </a:p>
          <a:p>
            <a:pPr lvl="2"/>
            <a:r>
              <a:rPr lang="ko-KR" altLang="en-US" dirty="0" err="1"/>
              <a:t>지상국</a:t>
            </a:r>
            <a:r>
              <a:rPr lang="ko-KR" altLang="en-US" dirty="0"/>
              <a:t> 필요 없이 </a:t>
            </a:r>
            <a:r>
              <a:rPr lang="en-US" altLang="ko-KR" dirty="0"/>
              <a:t>LEO </a:t>
            </a:r>
            <a:r>
              <a:rPr lang="ko-KR" altLang="en-US" dirty="0"/>
              <a:t>위성 내의 통신 시스템의 통합과 인터넷 게이트웨이의 배치 필요</a:t>
            </a:r>
            <a:endParaRPr lang="en-US" altLang="ko-KR" dirty="0"/>
          </a:p>
          <a:p>
            <a:pPr lvl="1"/>
            <a:r>
              <a:rPr lang="ko-KR" altLang="en-US" dirty="0"/>
              <a:t>위성과 지상 인터넷 게이트 웨이 사이의 연결을 제공하는 기술 연구</a:t>
            </a:r>
            <a:endParaRPr lang="en-US" altLang="ko-KR" dirty="0"/>
          </a:p>
          <a:p>
            <a:pPr lvl="1"/>
            <a:r>
              <a:rPr lang="en-US" altLang="ko-KR" dirty="0"/>
              <a:t>LoRa </a:t>
            </a:r>
            <a:r>
              <a:rPr lang="ko-KR" altLang="en-US" dirty="0"/>
              <a:t>변조 가능성 및 도플러 효과 연구</a:t>
            </a:r>
            <a:endParaRPr lang="en-US" altLang="ko-KR" dirty="0"/>
          </a:p>
          <a:p>
            <a:pPr lvl="2"/>
            <a:r>
              <a:rPr lang="en-US" altLang="ko-KR" dirty="0"/>
              <a:t>550km </a:t>
            </a:r>
            <a:r>
              <a:rPr lang="ko-KR" altLang="en-US" dirty="0"/>
              <a:t>이상의 궤도에서 도플러 효과에 대한 높은 면역 수준</a:t>
            </a:r>
            <a:endParaRPr lang="en-US" altLang="ko-KR" dirty="0"/>
          </a:p>
          <a:p>
            <a:pPr lvl="1"/>
            <a:r>
              <a:rPr lang="en-US" altLang="ko-KR" dirty="0"/>
              <a:t>LEO </a:t>
            </a:r>
            <a:r>
              <a:rPr lang="ko-KR" altLang="en-US" dirty="0"/>
              <a:t>위성 클러스터를 위한 위성 간 통신 기술 연구</a:t>
            </a:r>
            <a:endParaRPr lang="en-US" altLang="ko-KR" dirty="0"/>
          </a:p>
          <a:p>
            <a:pPr lvl="2"/>
            <a:r>
              <a:rPr lang="ko-KR" altLang="en-US" dirty="0"/>
              <a:t>네트워크 용량 및 데이터 속도의 한계 극복</a:t>
            </a:r>
          </a:p>
        </p:txBody>
      </p:sp>
    </p:spTree>
    <p:extLst>
      <p:ext uri="{BB962C8B-B14F-4D97-AF65-F5344CB8AC3E}">
        <p14:creationId xmlns:p14="http://schemas.microsoft.com/office/powerpoint/2010/main" val="829538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 err="1"/>
              <a:t>LoRaWAN</a:t>
            </a:r>
            <a:r>
              <a:rPr lang="ko-KR" altLang="en-US" dirty="0"/>
              <a:t>의 개념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General</a:t>
            </a:r>
            <a:r>
              <a:rPr lang="ko-KR" altLang="en-US" dirty="0"/>
              <a:t> </a:t>
            </a:r>
            <a:r>
              <a:rPr lang="en-US" altLang="ko-KR" dirty="0"/>
              <a:t>Concepts of </a:t>
            </a:r>
            <a:r>
              <a:rPr lang="en-US" altLang="ko-KR" dirty="0" err="1"/>
              <a:t>LoRaWAN</a:t>
            </a:r>
            <a:endParaRPr lang="en-US" altLang="ko-KR" dirty="0"/>
          </a:p>
          <a:p>
            <a:pPr lvl="1"/>
            <a:r>
              <a:rPr lang="en-US" altLang="ko-KR" dirty="0" err="1"/>
              <a:t>LoRaWAN</a:t>
            </a:r>
            <a:r>
              <a:rPr lang="ko-KR" altLang="en-US" dirty="0"/>
              <a:t>은</a:t>
            </a:r>
            <a:r>
              <a:rPr lang="en-US" altLang="ko-KR" dirty="0"/>
              <a:t> 2017</a:t>
            </a:r>
            <a:r>
              <a:rPr lang="ko-KR" altLang="en-US" dirty="0"/>
              <a:t>년에 발표되었으며 </a:t>
            </a:r>
            <a:r>
              <a:rPr lang="en-US" altLang="ko-KR" dirty="0"/>
              <a:t>Chirp Spread Spectrum(CSS)</a:t>
            </a:r>
            <a:r>
              <a:rPr lang="ko-KR" altLang="en-US" dirty="0"/>
              <a:t>에 대한 특허</a:t>
            </a:r>
            <a:endParaRPr lang="en-US" altLang="ko-KR" dirty="0"/>
          </a:p>
          <a:p>
            <a:pPr lvl="1"/>
            <a:r>
              <a:rPr lang="en-US" altLang="ko-KR" dirty="0"/>
              <a:t>CSS</a:t>
            </a:r>
            <a:r>
              <a:rPr lang="ko-KR" altLang="en-US" dirty="0"/>
              <a:t>는 간섭에 대한 견고성과 긴 통신거리로 인해 우주통신 및 군사 분야에서 널리 사용됨</a:t>
            </a:r>
            <a:endParaRPr lang="en-US" altLang="ko-KR" dirty="0"/>
          </a:p>
          <a:p>
            <a:pPr lvl="1"/>
            <a:r>
              <a:rPr lang="ko-KR" altLang="en-US" dirty="0"/>
              <a:t>최초의 저비용 구현으로</a:t>
            </a:r>
            <a:r>
              <a:rPr lang="en-US" altLang="ko-KR" dirty="0"/>
              <a:t>,</a:t>
            </a:r>
            <a:r>
              <a:rPr lang="ko-KR" altLang="en-US" dirty="0"/>
              <a:t> 서로 다른 데이터속도를 생성하여 효율성 향상 및 네트워크 용량 증가</a:t>
            </a:r>
            <a:endParaRPr lang="en-US" altLang="ko-KR" dirty="0"/>
          </a:p>
          <a:p>
            <a:pPr lvl="1"/>
            <a:r>
              <a:rPr lang="ko-KR" altLang="en-US" dirty="0"/>
              <a:t>여러 개의 서로 다른 확산 신호를 동일한 주파수 채널에서 동시에 전송 가능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663322-140F-A535-7274-8D07BC466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05" y="3342501"/>
            <a:ext cx="8077199" cy="98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55724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 err="1"/>
              <a:t>LoRaWAN</a:t>
            </a:r>
            <a:r>
              <a:rPr lang="ko-KR" altLang="en-US" dirty="0"/>
              <a:t>의 개념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General</a:t>
            </a:r>
            <a:r>
              <a:rPr lang="ko-KR" altLang="en-US" dirty="0"/>
              <a:t> </a:t>
            </a:r>
            <a:r>
              <a:rPr lang="en-US" altLang="ko-KR" dirty="0"/>
              <a:t>Concepts of </a:t>
            </a:r>
            <a:r>
              <a:rPr lang="en-US" altLang="ko-KR" dirty="0" err="1"/>
              <a:t>LoRaWAN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Lora </a:t>
            </a:r>
            <a:r>
              <a:rPr lang="ko-KR" altLang="en-US" dirty="0"/>
              <a:t>게이트웨이가 네트워크 서버와 </a:t>
            </a:r>
            <a:r>
              <a:rPr lang="en-US" altLang="ko-KR" dirty="0"/>
              <a:t>End-Device </a:t>
            </a:r>
            <a:r>
              <a:rPr lang="ko-KR" altLang="en-US" dirty="0"/>
              <a:t>간에 메시지를 통신함</a:t>
            </a:r>
            <a:endParaRPr lang="en-US" altLang="ko-KR" dirty="0"/>
          </a:p>
          <a:p>
            <a:pPr lvl="1"/>
            <a:r>
              <a:rPr lang="ko-KR" altLang="en-US" dirty="0"/>
              <a:t>게이트웨이는 </a:t>
            </a:r>
            <a:r>
              <a:rPr lang="en-US" altLang="ko-KR" dirty="0"/>
              <a:t>LoRa </a:t>
            </a:r>
            <a:r>
              <a:rPr lang="ko-KR" altLang="en-US" dirty="0"/>
              <a:t>노드에 의해 전송된 데이터를 수신</a:t>
            </a:r>
            <a:endParaRPr lang="en-US" altLang="ko-KR" dirty="0"/>
          </a:p>
          <a:p>
            <a:pPr lvl="1"/>
            <a:r>
              <a:rPr lang="ko-KR" altLang="en-US" dirty="0"/>
              <a:t>각 게이트웨이는 수신된 메시지를 </a:t>
            </a:r>
            <a:r>
              <a:rPr lang="en-US" altLang="ko-KR" dirty="0"/>
              <a:t>backhaul</a:t>
            </a:r>
            <a:r>
              <a:rPr lang="ko-KR" altLang="en-US" dirty="0"/>
              <a:t>을 통해 네트워크 서버로 전달</a:t>
            </a:r>
            <a:endParaRPr lang="en-US" altLang="ko-KR" dirty="0"/>
          </a:p>
          <a:p>
            <a:pPr lvl="1"/>
            <a:r>
              <a:rPr lang="ko-KR" altLang="en-US" dirty="0"/>
              <a:t>센서와 애플리케이션은 게이트웨이와 통신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E908C15-B212-A42A-53D6-014D91EB2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13" y="1459270"/>
            <a:ext cx="8071373" cy="285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39095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</a:t>
            </a:r>
            <a:r>
              <a:rPr lang="en-US" altLang="ko-KR" dirty="0"/>
              <a:t> IOT </a:t>
            </a:r>
            <a:r>
              <a:rPr lang="ko-KR" altLang="en-US" dirty="0"/>
              <a:t>시스템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Heterogeneous IOT Architecture</a:t>
            </a:r>
          </a:p>
          <a:p>
            <a:pPr lvl="1"/>
            <a:r>
              <a:rPr lang="ko-KR" altLang="en-US" dirty="0"/>
              <a:t>우주</a:t>
            </a:r>
            <a:r>
              <a:rPr lang="en-US" altLang="ko-KR" dirty="0"/>
              <a:t>, </a:t>
            </a:r>
            <a:r>
              <a:rPr lang="ko-KR" altLang="en-US" dirty="0"/>
              <a:t>지상 통합 네트워크는 초정밀 통신과 </a:t>
            </a:r>
            <a:r>
              <a:rPr lang="en-US" altLang="ko-KR" dirty="0"/>
              <a:t>IOT </a:t>
            </a:r>
            <a:r>
              <a:rPr lang="ko-KR" altLang="en-US" dirty="0"/>
              <a:t>연결을 위해 제안된 방법</a:t>
            </a:r>
            <a:endParaRPr lang="en-US" altLang="ko-KR" dirty="0"/>
          </a:p>
          <a:p>
            <a:pPr lvl="1"/>
            <a:r>
              <a:rPr lang="ko-KR" altLang="en-US" dirty="0"/>
              <a:t>각 통신 기술의 장점을 통해 광역 네트워크 </a:t>
            </a:r>
            <a:r>
              <a:rPr lang="ko-KR" altLang="en-US" dirty="0" err="1"/>
              <a:t>커버리지와</a:t>
            </a:r>
            <a:r>
              <a:rPr lang="ko-KR" altLang="en-US" dirty="0"/>
              <a:t> 높은 성능을 제공</a:t>
            </a:r>
            <a:endParaRPr lang="en-US" altLang="ko-KR" dirty="0"/>
          </a:p>
          <a:p>
            <a:pPr lvl="1"/>
            <a:r>
              <a:rPr lang="ko-KR" altLang="en-US" dirty="0"/>
              <a:t>지상파 시스템이 도달할 수 없는 영역을 지원하기 위해 </a:t>
            </a:r>
            <a:r>
              <a:rPr lang="en-US" altLang="ko-KR" dirty="0"/>
              <a:t>LEO </a:t>
            </a:r>
            <a:r>
              <a:rPr lang="ko-KR" altLang="en-US" dirty="0"/>
              <a:t>위성군이 보완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F85A33-EDBF-EBA5-CC6E-0B473AC7D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833" y="2422822"/>
            <a:ext cx="3935826" cy="397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4150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</a:t>
            </a:r>
            <a:r>
              <a:rPr lang="en-US" altLang="ko-KR" dirty="0"/>
              <a:t> IOT </a:t>
            </a:r>
            <a:r>
              <a:rPr lang="ko-KR" altLang="en-US" dirty="0"/>
              <a:t>시스템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Heterogeneous IOT Architecture</a:t>
            </a:r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5F4BDA2-7E1E-4D21-7073-2020875C0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25" y="1356188"/>
            <a:ext cx="5064677" cy="47453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34E0BF-17F6-073C-180E-1463A4594EC6}"/>
              </a:ext>
            </a:extLst>
          </p:cNvPr>
          <p:cNvSpPr txBox="1"/>
          <p:nvPr/>
        </p:nvSpPr>
        <p:spPr>
          <a:xfrm>
            <a:off x="236533" y="6044684"/>
            <a:ext cx="88458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b="1" i="0" dirty="0">
                <a:solidFill>
                  <a:srgbClr val="333333"/>
                </a:solidFill>
                <a:effectLst/>
                <a:latin typeface="HelveticaNeue Regular"/>
              </a:rPr>
              <a:t>출처 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HelveticaNeue Regular"/>
              </a:rPr>
              <a:t>: W. -C. Chien, C. -F. Lai, M. S. Hossain and G. Muhammad, "Heterogeneous Space and Terrestrial Integrated Networks for IoT: Architecture and Challenges," in </a:t>
            </a:r>
            <a:r>
              <a:rPr lang="en-US" altLang="ko-KR" sz="1100" b="1" i="1" dirty="0">
                <a:solidFill>
                  <a:srgbClr val="333333"/>
                </a:solidFill>
                <a:effectLst/>
                <a:latin typeface="HelveticaNeue Regular"/>
              </a:rPr>
              <a:t>IEEE Network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HelveticaNeue Regular"/>
              </a:rPr>
              <a:t>, vol. 33, no. 1, pp. 15-21, January/February 2019, </a:t>
            </a:r>
            <a:r>
              <a:rPr lang="en-US" altLang="ko-KR" sz="1100" b="1" i="0" dirty="0" err="1">
                <a:solidFill>
                  <a:srgbClr val="333333"/>
                </a:solidFill>
                <a:effectLst/>
                <a:latin typeface="HelveticaNeue Regular"/>
              </a:rPr>
              <a:t>doi</a:t>
            </a:r>
            <a:r>
              <a:rPr lang="en-US" altLang="ko-KR" sz="1100" b="1" i="0" dirty="0">
                <a:solidFill>
                  <a:srgbClr val="333333"/>
                </a:solidFill>
                <a:effectLst/>
                <a:latin typeface="HelveticaNeue Regular"/>
              </a:rPr>
              <a:t>: 10.1109/MNET.2018.1800182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76992926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dirty="0"/>
              <a:t>LEO</a:t>
            </a:r>
            <a:r>
              <a:rPr lang="ko-KR" altLang="en-US" dirty="0"/>
              <a:t> 위성 원격 모니터링</a:t>
            </a:r>
            <a:r>
              <a:rPr lang="en-US" altLang="ko-KR" dirty="0"/>
              <a:t>(SRM Control plane)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Architectures</a:t>
            </a:r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 </a:t>
            </a:r>
            <a:r>
              <a:rPr lang="en-US" altLang="ko-KR" dirty="0"/>
              <a:t>LEO</a:t>
            </a:r>
            <a:r>
              <a:rPr lang="ko-KR" altLang="en-US" dirty="0"/>
              <a:t> </a:t>
            </a:r>
            <a:r>
              <a:rPr lang="en-US" altLang="ko-KR" dirty="0"/>
              <a:t>Satellite</a:t>
            </a:r>
            <a:r>
              <a:rPr lang="ko-KR" altLang="en-US" dirty="0"/>
              <a:t> </a:t>
            </a:r>
            <a:r>
              <a:rPr lang="en-US" altLang="ko-KR" dirty="0"/>
              <a:t>Remote</a:t>
            </a:r>
            <a:r>
              <a:rPr lang="ko-KR" altLang="en-US" dirty="0"/>
              <a:t> </a:t>
            </a:r>
            <a:r>
              <a:rPr lang="en-US" altLang="ko-KR" dirty="0"/>
              <a:t>Monitoring</a:t>
            </a:r>
          </a:p>
          <a:p>
            <a:pPr lvl="1"/>
            <a:r>
              <a:rPr lang="ko-KR" altLang="en-US" dirty="0"/>
              <a:t>새로운</a:t>
            </a:r>
            <a:r>
              <a:rPr lang="en-US" altLang="ko-KR" dirty="0"/>
              <a:t> </a:t>
            </a:r>
            <a:r>
              <a:rPr lang="ko-KR" altLang="en-US" dirty="0"/>
              <a:t>위성 서비스와 애플리케이션 구축을 위해 위성 네트워크에 대한 높은 투자가 필요</a:t>
            </a:r>
            <a:endParaRPr lang="en-US" altLang="ko-KR" dirty="0"/>
          </a:p>
          <a:p>
            <a:pPr lvl="1"/>
            <a:r>
              <a:rPr lang="ko-KR" altLang="en-US" dirty="0"/>
              <a:t>이를 극복하기 위해 위성 원격 모니터링 </a:t>
            </a:r>
            <a:r>
              <a:rPr lang="en-US" altLang="ko-KR" dirty="0"/>
              <a:t>LEO-SRM(LEO Satellite Remote Monitoring)</a:t>
            </a:r>
            <a:r>
              <a:rPr lang="ko-KR" altLang="en-US" dirty="0"/>
              <a:t>이 필요</a:t>
            </a:r>
            <a:endParaRPr lang="en-US" altLang="ko-KR" dirty="0"/>
          </a:p>
          <a:p>
            <a:pPr lvl="1"/>
            <a:r>
              <a:rPr lang="en-US" altLang="ko-KR" dirty="0"/>
              <a:t>LEO-SRM</a:t>
            </a:r>
            <a:r>
              <a:rPr lang="ko-KR" altLang="en-US" dirty="0"/>
              <a:t>은 </a:t>
            </a:r>
            <a:r>
              <a:rPr lang="en-US" altLang="ko-KR" dirty="0"/>
              <a:t>SDN(Software Defined Networking) </a:t>
            </a:r>
            <a:r>
              <a:rPr lang="ko-KR" altLang="en-US" dirty="0"/>
              <a:t>컨트롤러의 배치를 기반으로 함</a:t>
            </a:r>
            <a:endParaRPr lang="en-US" altLang="ko-KR" dirty="0"/>
          </a:p>
          <a:p>
            <a:pPr lvl="2"/>
            <a:r>
              <a:rPr lang="en-US" altLang="ko-KR" dirty="0"/>
              <a:t>SDN </a:t>
            </a:r>
            <a:r>
              <a:rPr lang="ko-KR" altLang="en-US" dirty="0"/>
              <a:t>스위치를 통합하는 여러 </a:t>
            </a:r>
            <a:r>
              <a:rPr lang="en-US" altLang="ko-KR" dirty="0"/>
              <a:t>LEO </a:t>
            </a:r>
            <a:r>
              <a:rPr lang="ko-KR" altLang="en-US" dirty="0"/>
              <a:t>위성을 구성하고 제어하는 것이 목표</a:t>
            </a:r>
            <a:endParaRPr lang="en-US" altLang="ko-KR" dirty="0"/>
          </a:p>
          <a:p>
            <a:pPr lvl="1"/>
            <a:r>
              <a:rPr lang="ko-KR" altLang="en-US" dirty="0"/>
              <a:t>각 위성은 </a:t>
            </a:r>
            <a:r>
              <a:rPr lang="en-US" altLang="ko-KR" dirty="0"/>
              <a:t>SDN</a:t>
            </a:r>
            <a:r>
              <a:rPr lang="ko-KR" altLang="en-US" dirty="0"/>
              <a:t> 스위치 역할을 하며 모든 위성은 중앙 위성에 연결된 중앙 </a:t>
            </a:r>
            <a:r>
              <a:rPr lang="en-US" altLang="ko-KR" dirty="0"/>
              <a:t>SDN </a:t>
            </a:r>
            <a:r>
              <a:rPr lang="ko-KR" altLang="en-US" dirty="0"/>
              <a:t>컨트롤러에 의해 제어 및 감독됨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97805F6-989F-2426-D355-466D2B4D7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339" y="3562089"/>
            <a:ext cx="4597532" cy="286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82570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dirty="0"/>
              <a:t>LEO</a:t>
            </a:r>
            <a:r>
              <a:rPr lang="ko-KR" altLang="en-US" dirty="0"/>
              <a:t> 위성 원격 모니터링</a:t>
            </a:r>
            <a:r>
              <a:rPr lang="en-US" altLang="ko-KR" dirty="0"/>
              <a:t>(SRM Data</a:t>
            </a:r>
            <a:r>
              <a:rPr lang="ko-KR" altLang="en-US" dirty="0"/>
              <a:t> </a:t>
            </a:r>
            <a:r>
              <a:rPr lang="en-US" altLang="ko-KR" dirty="0"/>
              <a:t>Plane)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Architectures</a:t>
            </a:r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 </a:t>
            </a:r>
            <a:r>
              <a:rPr lang="en-US" altLang="ko-KR" dirty="0"/>
              <a:t>LEO</a:t>
            </a:r>
            <a:r>
              <a:rPr lang="ko-KR" altLang="en-US" dirty="0"/>
              <a:t> </a:t>
            </a:r>
            <a:r>
              <a:rPr lang="en-US" altLang="ko-KR" dirty="0"/>
              <a:t>Satellite</a:t>
            </a:r>
            <a:r>
              <a:rPr lang="ko-KR" altLang="en-US" dirty="0"/>
              <a:t> </a:t>
            </a:r>
            <a:r>
              <a:rPr lang="en-US" altLang="ko-KR" dirty="0"/>
              <a:t>Remote</a:t>
            </a:r>
            <a:r>
              <a:rPr lang="ko-KR" altLang="en-US" dirty="0"/>
              <a:t> </a:t>
            </a:r>
            <a:r>
              <a:rPr lang="en-US" altLang="ko-KR" dirty="0"/>
              <a:t>Monitoring</a:t>
            </a:r>
          </a:p>
          <a:p>
            <a:pPr lvl="1"/>
            <a:r>
              <a:rPr lang="ko-KR" altLang="en-US" dirty="0"/>
              <a:t>주요 개념은 </a:t>
            </a:r>
            <a:r>
              <a:rPr lang="en-US" altLang="ko-KR" dirty="0"/>
              <a:t>LEO </a:t>
            </a:r>
            <a:r>
              <a:rPr lang="ko-KR" altLang="en-US" dirty="0"/>
              <a:t>위성이 궤도에서 작업하는 동안 인터넷 연결이 가능한 것 </a:t>
            </a:r>
            <a:endParaRPr lang="en-US" altLang="ko-KR" dirty="0"/>
          </a:p>
          <a:p>
            <a:pPr lvl="1"/>
            <a:r>
              <a:rPr lang="en-US" altLang="ko-KR" dirty="0"/>
              <a:t>Data plane</a:t>
            </a:r>
            <a:r>
              <a:rPr lang="ko-KR" altLang="en-US" dirty="0"/>
              <a:t>은 인터넷 및 </a:t>
            </a:r>
            <a:r>
              <a:rPr lang="en-US" altLang="ko-KR" dirty="0" err="1"/>
              <a:t>LoRaWAN</a:t>
            </a:r>
            <a:r>
              <a:rPr lang="en-US" altLang="ko-KR" dirty="0"/>
              <a:t> </a:t>
            </a:r>
            <a:r>
              <a:rPr lang="ko-KR" altLang="en-US" dirty="0"/>
              <a:t>게이트웨이의 사용을 기반으로 함</a:t>
            </a:r>
            <a:endParaRPr lang="en-US" altLang="ko-KR" dirty="0"/>
          </a:p>
          <a:p>
            <a:pPr lvl="1"/>
            <a:r>
              <a:rPr lang="ko-KR" altLang="en-US" dirty="0"/>
              <a:t>인터넷을 통해 위성을 원격으로 감독 가능</a:t>
            </a:r>
            <a:endParaRPr lang="en-US" altLang="ko-KR" dirty="0"/>
          </a:p>
          <a:p>
            <a:pPr lvl="1"/>
            <a:r>
              <a:rPr lang="ko-KR" altLang="en-US" dirty="0"/>
              <a:t>위성에서 인터넷을 통해 원격 컨트롤러 서버로 전송하면 위성에서 수집한 데이터에 액세스 가능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DC9FBD-4EEE-34C5-A3FE-4A8D9FC64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890" y="2998536"/>
            <a:ext cx="6796860" cy="310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1935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atinLnBrk="1"/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36059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 및 보완이 필요한 부분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dirty="0"/>
              <a:t>지상파 시스템이 도달할 수 없는 영역을 지원하기 위해 </a:t>
            </a:r>
            <a:r>
              <a:rPr lang="en-US" altLang="ko-KR" dirty="0"/>
              <a:t>LEO </a:t>
            </a:r>
            <a:r>
              <a:rPr lang="ko-KR" altLang="en-US" dirty="0"/>
              <a:t>위성을 이용한 </a:t>
            </a:r>
            <a:r>
              <a:rPr lang="ko-KR" altLang="en-US" b="1" u="sng" dirty="0"/>
              <a:t>우주통신과 지상통신의 이종 </a:t>
            </a:r>
            <a:r>
              <a:rPr lang="en-US" altLang="ko-KR" b="1" u="sng" dirty="0"/>
              <a:t>IOT </a:t>
            </a:r>
            <a:r>
              <a:rPr lang="ko-KR" altLang="en-US" b="1" u="sng" dirty="0"/>
              <a:t>시스템을 구축 </a:t>
            </a:r>
            <a:r>
              <a:rPr lang="ko-KR" altLang="en-US" dirty="0"/>
              <a:t>가능</a:t>
            </a:r>
            <a:endParaRPr lang="en-US" altLang="ko-KR" dirty="0"/>
          </a:p>
          <a:p>
            <a:pPr lvl="1"/>
            <a:r>
              <a:rPr lang="en-US" altLang="ko-KR" dirty="0"/>
              <a:t>LEO</a:t>
            </a:r>
            <a:r>
              <a:rPr lang="ko-KR" altLang="en-US" dirty="0"/>
              <a:t>의 원격 모니터링을 위해 </a:t>
            </a:r>
            <a:r>
              <a:rPr lang="en-US" altLang="ko-KR" b="1" u="sng" dirty="0"/>
              <a:t>SDN </a:t>
            </a:r>
            <a:r>
              <a:rPr lang="ko-KR" altLang="en-US" b="1" u="sng" dirty="0"/>
              <a:t>컨트롤러를 중심으로 각 위성이 배치</a:t>
            </a:r>
            <a:r>
              <a:rPr lang="ko-KR" altLang="en-US" dirty="0"/>
              <a:t>된 구성</a:t>
            </a:r>
            <a:endParaRPr lang="en-US" altLang="ko-KR" dirty="0"/>
          </a:p>
          <a:p>
            <a:pPr lvl="1"/>
            <a:endParaRPr lang="en-US" altLang="ko-KR" b="1" dirty="0"/>
          </a:p>
          <a:p>
            <a:r>
              <a:rPr lang="ko-KR" altLang="en-US" dirty="0"/>
              <a:t>논문의 내용 중 보완이 필요한 부분</a:t>
            </a:r>
            <a:endParaRPr lang="en-US" altLang="ko-KR" dirty="0"/>
          </a:p>
          <a:p>
            <a:pPr lvl="1"/>
            <a:r>
              <a:rPr lang="ko-KR" altLang="en-US" dirty="0"/>
              <a:t>방법론적인 내용을 다룬 논문으로</a:t>
            </a:r>
            <a:r>
              <a:rPr lang="en-US" altLang="ko-KR" dirty="0"/>
              <a:t>, </a:t>
            </a:r>
            <a:r>
              <a:rPr lang="ko-KR" altLang="en-US" dirty="0"/>
              <a:t>실제 시뮬레이션 결과가 나와있지 않음</a:t>
            </a:r>
            <a:endParaRPr lang="en-US" altLang="ko-KR" dirty="0"/>
          </a:p>
          <a:p>
            <a:pPr lvl="2"/>
            <a:r>
              <a:rPr lang="ko-KR" altLang="en-US" dirty="0"/>
              <a:t>구체적인 시뮬레이션을 통한 통신 성능에 대한 결과</a:t>
            </a:r>
            <a:endParaRPr lang="en-US" altLang="ko-KR" dirty="0"/>
          </a:p>
          <a:p>
            <a:pPr lvl="2"/>
            <a:r>
              <a:rPr lang="ko-KR" altLang="en-US" dirty="0"/>
              <a:t>요구조건 및 위성의 궤도요소를 결정하는 변수에 대한 내용이 포함되면 좋을 것 같음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3204858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82098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81113</TotalTime>
  <Words>1253</Words>
  <Application>Microsoft Office PowerPoint</Application>
  <PresentationFormat>화면 슬라이드 쇼(4:3)</PresentationFormat>
  <Paragraphs>203</Paragraphs>
  <Slides>17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HelveticaNeue Regular</vt:lpstr>
      <vt:lpstr>맑은 고딕</vt:lpstr>
      <vt:lpstr>Arial</vt:lpstr>
      <vt:lpstr>times</vt:lpstr>
      <vt:lpstr>Wingdings</vt:lpstr>
      <vt:lpstr>Office 테마</vt:lpstr>
      <vt:lpstr>이종위성군 성능 분석 및 설계/최적화</vt:lpstr>
      <vt:lpstr>Chaari, Lamia et al. “Heterogeneous LoRaWAN &amp; LEO Satellites Networks Concepts, Architectures and Future directions.” 2019 Global Information Infrastructure and Networking Symposium (GIIS) (2019): 1-6.</vt:lpstr>
      <vt:lpstr>초록</vt:lpstr>
      <vt:lpstr>서론</vt:lpstr>
      <vt:lpstr>서론</vt:lpstr>
      <vt:lpstr>관련 연구</vt:lpstr>
      <vt:lpstr>관련 연구</vt:lpstr>
      <vt:lpstr>관련 연구</vt:lpstr>
      <vt:lpstr>LoRaWAN의 개념</vt:lpstr>
      <vt:lpstr>LoRaWAN의 개념</vt:lpstr>
      <vt:lpstr>이종 IOT 시스템</vt:lpstr>
      <vt:lpstr>이종 IOT 시스템</vt:lpstr>
      <vt:lpstr>LEO 위성 원격 모니터링(SRM Control plane)</vt:lpstr>
      <vt:lpstr>LEO 위성 원격 모니터링(SRM Data Plane)</vt:lpstr>
      <vt:lpstr>결론</vt:lpstr>
      <vt:lpstr>결론 및 보완이 필요한 부분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4523</cp:revision>
  <dcterms:created xsi:type="dcterms:W3CDTF">2018-01-29T02:45:56Z</dcterms:created>
  <dcterms:modified xsi:type="dcterms:W3CDTF">2023-05-18T06:54:20Z</dcterms:modified>
</cp:coreProperties>
</file>