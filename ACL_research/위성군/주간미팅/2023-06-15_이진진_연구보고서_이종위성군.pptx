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6"/>
  </p:notesMasterIdLst>
  <p:handoutMasterIdLst>
    <p:handoutMasterId r:id="rId47"/>
  </p:handoutMasterIdLst>
  <p:sldIdLst>
    <p:sldId id="2229" r:id="rId2"/>
    <p:sldId id="2300" r:id="rId3"/>
    <p:sldId id="2438" r:id="rId4"/>
    <p:sldId id="2455" r:id="rId5"/>
    <p:sldId id="2444" r:id="rId6"/>
    <p:sldId id="2456" r:id="rId7"/>
    <p:sldId id="2457" r:id="rId8"/>
    <p:sldId id="2446" r:id="rId9"/>
    <p:sldId id="2458" r:id="rId10"/>
    <p:sldId id="2459" r:id="rId11"/>
    <p:sldId id="2448" r:id="rId12"/>
    <p:sldId id="2460" r:id="rId13"/>
    <p:sldId id="2461" r:id="rId14"/>
    <p:sldId id="2462" r:id="rId15"/>
    <p:sldId id="2447" r:id="rId16"/>
    <p:sldId id="2463" r:id="rId17"/>
    <p:sldId id="2464" r:id="rId18"/>
    <p:sldId id="2465" r:id="rId19"/>
    <p:sldId id="2466" r:id="rId20"/>
    <p:sldId id="2467" r:id="rId21"/>
    <p:sldId id="2468" r:id="rId22"/>
    <p:sldId id="2475" r:id="rId23"/>
    <p:sldId id="2469" r:id="rId24"/>
    <p:sldId id="2476" r:id="rId25"/>
    <p:sldId id="2477" r:id="rId26"/>
    <p:sldId id="2479" r:id="rId27"/>
    <p:sldId id="2478" r:id="rId28"/>
    <p:sldId id="2472" r:id="rId29"/>
    <p:sldId id="2483" r:id="rId30"/>
    <p:sldId id="2484" r:id="rId31"/>
    <p:sldId id="2485" r:id="rId32"/>
    <p:sldId id="2486" r:id="rId33"/>
    <p:sldId id="2487" r:id="rId34"/>
    <p:sldId id="2488" r:id="rId35"/>
    <p:sldId id="2489" r:id="rId36"/>
    <p:sldId id="2492" r:id="rId37"/>
    <p:sldId id="2490" r:id="rId38"/>
    <p:sldId id="2491" r:id="rId39"/>
    <p:sldId id="2493" r:id="rId40"/>
    <p:sldId id="2494" r:id="rId41"/>
    <p:sldId id="2495" r:id="rId42"/>
    <p:sldId id="2297" r:id="rId43"/>
    <p:sldId id="2441" r:id="rId44"/>
    <p:sldId id="268" r:id="rId4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A1E"/>
    <a:srgbClr val="EDB021"/>
    <a:srgbClr val="D9541A"/>
    <a:srgbClr val="404040"/>
    <a:srgbClr val="FFFFFF"/>
    <a:srgbClr val="001E46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8A3A2F-24A6-4780-87F1-B038B229A4F4}" v="6" dt="2023-06-14T11:24:23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22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진진" userId="2c4bb6cd-31fa-4501-9704-1dfc32333b2e" providerId="ADAL" clId="{B78A3A2F-24A6-4780-87F1-B038B229A4F4}"/>
    <pc:docChg chg="custSel delSld modSld">
      <pc:chgData name="이진진" userId="2c4bb6cd-31fa-4501-9704-1dfc32333b2e" providerId="ADAL" clId="{B78A3A2F-24A6-4780-87F1-B038B229A4F4}" dt="2023-06-14T11:24:28.733" v="61" actId="27636"/>
      <pc:docMkLst>
        <pc:docMk/>
      </pc:docMkLst>
      <pc:sldChg chg="del modNotesTx">
        <pc:chgData name="이진진" userId="2c4bb6cd-31fa-4501-9704-1dfc32333b2e" providerId="ADAL" clId="{B78A3A2F-24A6-4780-87F1-B038B229A4F4}" dt="2023-06-14T11:19:59.194" v="2" actId="2696"/>
        <pc:sldMkLst>
          <pc:docMk/>
          <pc:sldMk cId="607627868" sldId="243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148163736" sldId="2444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3904486488" sldId="244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8295381" sldId="244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3412052492" sldId="244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845331008" sldId="2455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412666145" sldId="245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035611463" sldId="245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633155832" sldId="245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943723579" sldId="2459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574002915" sldId="2460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4142137124" sldId="2461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795126205" sldId="2462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21109907" sldId="2463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706119381" sldId="2464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930859256" sldId="2465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94854847" sldId="246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928437977" sldId="246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50181166" sldId="2468"/>
        </pc:sldMkLst>
      </pc:sldChg>
      <pc:sldChg chg="modSp mod">
        <pc:chgData name="이진진" userId="2c4bb6cd-31fa-4501-9704-1dfc32333b2e" providerId="ADAL" clId="{B78A3A2F-24A6-4780-87F1-B038B229A4F4}" dt="2023-06-14T11:24:23.716" v="59"/>
        <pc:sldMkLst>
          <pc:docMk/>
          <pc:sldMk cId="4276021245" sldId="2469"/>
        </pc:sldMkLst>
        <pc:spChg chg="mod">
          <ac:chgData name="이진진" userId="2c4bb6cd-31fa-4501-9704-1dfc32333b2e" providerId="ADAL" clId="{B78A3A2F-24A6-4780-87F1-B038B229A4F4}" dt="2023-06-14T11:24:23.716" v="59"/>
          <ac:spMkLst>
            <pc:docMk/>
            <pc:sldMk cId="4276021245" sldId="2469"/>
            <ac:spMk id="4" creationId="{00000000-0000-0000-0000-000000000000}"/>
          </ac:spMkLst>
        </pc:spChg>
      </pc:sldChg>
      <pc:sldChg chg="modSp mod">
        <pc:chgData name="이진진" userId="2c4bb6cd-31fa-4501-9704-1dfc32333b2e" providerId="ADAL" clId="{B78A3A2F-24A6-4780-87F1-B038B229A4F4}" dt="2023-06-14T11:24:28.733" v="61" actId="27636"/>
        <pc:sldMkLst>
          <pc:docMk/>
          <pc:sldMk cId="1668698186" sldId="2470"/>
        </pc:sldMkLst>
        <pc:spChg chg="mod">
          <ac:chgData name="이진진" userId="2c4bb6cd-31fa-4501-9704-1dfc32333b2e" providerId="ADAL" clId="{B78A3A2F-24A6-4780-87F1-B038B229A4F4}" dt="2023-06-14T11:24:28.733" v="61" actId="27636"/>
          <ac:spMkLst>
            <pc:docMk/>
            <pc:sldMk cId="1668698186" sldId="2470"/>
            <ac:spMk id="4" creationId="{00000000-0000-0000-0000-000000000000}"/>
          </ac:spMkLst>
        </pc:spChg>
      </pc:sldChg>
      <pc:sldChg chg="del">
        <pc:chgData name="이진진" userId="2c4bb6cd-31fa-4501-9704-1dfc32333b2e" providerId="ADAL" clId="{B78A3A2F-24A6-4780-87F1-B038B229A4F4}" dt="2023-06-14T11:19:32.986" v="1" actId="2696"/>
        <pc:sldMkLst>
          <pc:docMk/>
          <pc:sldMk cId="2370003660" sldId="24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2023-06-15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2022</a:t>
            </a:r>
            <a:r>
              <a:rPr lang="ko-KR" altLang="en-US" dirty="0"/>
              <a:t>년에 출간한 논문 </a:t>
            </a:r>
            <a:r>
              <a:rPr lang="en-US" altLang="ko-KR" dirty="0"/>
              <a:t>‘Design and Operations of satellite constellation for complex regional coverage’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 중 첫번째 논문으로 최적화에 대한 연구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주로 지역 커버리지 위성군에 대한 연구 내용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전지구</a:t>
            </a:r>
            <a:r>
              <a:rPr lang="ko-KR" altLang="en-US" dirty="0"/>
              <a:t> </a:t>
            </a:r>
            <a:r>
              <a:rPr lang="ko-KR" altLang="en-US" dirty="0" err="1"/>
              <a:t>커버리지와</a:t>
            </a:r>
            <a:r>
              <a:rPr lang="ko-KR" altLang="en-US" dirty="0"/>
              <a:t> 비교되는 </a:t>
            </a:r>
            <a:r>
              <a:rPr lang="ko-KR" altLang="en-US" dirty="0" err="1"/>
              <a:t>지역커버리지의</a:t>
            </a:r>
            <a:r>
              <a:rPr lang="ko-KR" altLang="en-US" dirty="0"/>
              <a:t> 특징 및 장점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 중 특히 복잡한</a:t>
            </a:r>
            <a:r>
              <a:rPr lang="en-US" altLang="ko-KR" dirty="0"/>
              <a:t>, </a:t>
            </a:r>
            <a:r>
              <a:rPr lang="ko-KR" altLang="en-US" dirty="0"/>
              <a:t>즉 주기적으로 시간</a:t>
            </a:r>
            <a:r>
              <a:rPr lang="en-US" altLang="ko-KR" dirty="0"/>
              <a:t>, </a:t>
            </a:r>
            <a:r>
              <a:rPr lang="ko-KR" altLang="en-US" dirty="0"/>
              <a:t>공간이 변화하는 요구조건을 해결하기 위한</a:t>
            </a:r>
            <a:r>
              <a:rPr lang="en-US" altLang="ko-KR" dirty="0"/>
              <a:t> </a:t>
            </a:r>
            <a:r>
              <a:rPr lang="ko-KR" altLang="en-US" dirty="0"/>
              <a:t>최적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82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  <a:endParaRPr lang="en-US" altLang="ko-KR" dirty="0"/>
          </a:p>
          <a:p>
            <a:r>
              <a:rPr lang="ko-KR" altLang="en-US" dirty="0"/>
              <a:t>문헌 예시</a:t>
            </a:r>
            <a:endParaRPr lang="en-US" altLang="ko-KR" dirty="0"/>
          </a:p>
          <a:p>
            <a:r>
              <a:rPr lang="ko-KR" altLang="en-US" dirty="0" err="1"/>
              <a:t>위성군</a:t>
            </a:r>
            <a:r>
              <a:rPr lang="ko-KR" altLang="en-US" dirty="0"/>
              <a:t> 모델 </a:t>
            </a:r>
            <a:r>
              <a:rPr lang="en-US" altLang="ko-KR" dirty="0"/>
              <a:t>– RGT, CGT</a:t>
            </a:r>
          </a:p>
          <a:p>
            <a:r>
              <a:rPr lang="en-US" altLang="ko-KR" dirty="0"/>
              <a:t>Circular convolution formulation</a:t>
            </a:r>
            <a:r>
              <a:rPr lang="ko-KR" altLang="en-US" dirty="0"/>
              <a:t>을 이끌어 내는 과정</a:t>
            </a:r>
            <a:endParaRPr lang="en-US" altLang="ko-KR" dirty="0"/>
          </a:p>
          <a:p>
            <a:r>
              <a:rPr lang="ko-KR" altLang="en-US" dirty="0"/>
              <a:t>이 내용을 두 가지 방법을 통해 분석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270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Abstract</a:t>
            </a:r>
            <a:r>
              <a:rPr lang="ko-KR" altLang="en-US" dirty="0"/>
              <a:t>에서 설명한 내용</a:t>
            </a:r>
            <a:endParaRPr lang="en-US" altLang="ko-KR" dirty="0"/>
          </a:p>
          <a:p>
            <a:r>
              <a:rPr lang="en-US" altLang="ko-KR" dirty="0"/>
              <a:t>: </a:t>
            </a:r>
            <a:r>
              <a:rPr lang="ko-KR" altLang="en-US" dirty="0"/>
              <a:t>지역 커버리지의 장점 및 고전 방법과 대비되는 새로운 방법 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675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복잡한 요구조건에 따른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배경</a:t>
            </a:r>
            <a:r>
              <a:rPr lang="en-US" altLang="ko-KR" dirty="0"/>
              <a:t>, </a:t>
            </a:r>
            <a:r>
              <a:rPr lang="ko-KR" altLang="en-US" dirty="0"/>
              <a:t>과정 등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659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앞의 내용의 요약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292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문헌 자료 </a:t>
            </a:r>
            <a:r>
              <a:rPr lang="en-US" altLang="ko-KR" dirty="0"/>
              <a:t>– </a:t>
            </a:r>
            <a:r>
              <a:rPr lang="ko-KR" altLang="en-US" dirty="0"/>
              <a:t>해당 내용이 등장하면 참고할 수 있도록 간단하게 요약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29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387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4923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RGT </a:t>
            </a:r>
            <a:r>
              <a:rPr lang="ko-KR" altLang="en-US" dirty="0"/>
              <a:t>에 대한 설명 </a:t>
            </a:r>
            <a:r>
              <a:rPr lang="en-US" altLang="ko-KR" dirty="0"/>
              <a:t>– </a:t>
            </a:r>
            <a:r>
              <a:rPr lang="ko-KR" altLang="en-US" dirty="0"/>
              <a:t>궤도가 주기적으로 반복되도록 사용</a:t>
            </a:r>
            <a:endParaRPr lang="en-US" altLang="ko-KR" dirty="0"/>
          </a:p>
          <a:p>
            <a:r>
              <a:rPr lang="en-US" altLang="ko-KR" dirty="0"/>
              <a:t>RGT</a:t>
            </a:r>
            <a:r>
              <a:rPr lang="ko-KR" altLang="en-US" dirty="0"/>
              <a:t>궤도의 </a:t>
            </a:r>
            <a:r>
              <a:rPr lang="en-US" altLang="ko-KR" dirty="0"/>
              <a:t>nodal period,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 </a:t>
            </a:r>
            <a:r>
              <a:rPr lang="ko-KR" altLang="en-US" dirty="0"/>
              <a:t>라는 개념 사용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지구의 자전에 따른 영향을 수식으로 계산 </a:t>
            </a:r>
            <a:r>
              <a:rPr lang="en-US" altLang="ko-KR" dirty="0"/>
              <a:t>-</a:t>
            </a:r>
            <a:r>
              <a:rPr lang="ko-KR" altLang="en-US" dirty="0"/>
              <a:t> 이 관계를 이용하여 </a:t>
            </a:r>
            <a:r>
              <a:rPr lang="en-US" altLang="ko-KR" dirty="0"/>
              <a:t>a </a:t>
            </a:r>
            <a:r>
              <a:rPr lang="ko-KR" altLang="en-US" dirty="0"/>
              <a:t>대신에 사용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*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period, ND</a:t>
            </a:r>
            <a:r>
              <a:rPr lang="ko-KR" altLang="en-US" dirty="0"/>
              <a:t>에서</a:t>
            </a:r>
            <a:br>
              <a:rPr lang="en-US" altLang="ko-KR" dirty="0"/>
            </a:br>
            <a:r>
              <a:rPr lang="en-US" altLang="ko-KR" dirty="0"/>
              <a:t>RGT </a:t>
            </a:r>
            <a:r>
              <a:rPr lang="ko-KR" altLang="en-US" dirty="0"/>
              <a:t>궤도에 있는 위성이 회전 수 </a:t>
            </a:r>
            <a:r>
              <a:rPr lang="en-US" altLang="ko-KR" dirty="0"/>
              <a:t>NP</a:t>
            </a:r>
            <a:r>
              <a:rPr lang="ko-KR" altLang="en-US" dirty="0"/>
              <a:t>를 만든다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009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궤도가 중첩되어 하나의 궤도를 생성하도록</a:t>
            </a:r>
            <a:endParaRPr lang="en-US" altLang="ko-KR" dirty="0"/>
          </a:p>
          <a:p>
            <a:r>
              <a:rPr lang="en-US" altLang="ko-KR" dirty="0"/>
              <a:t>9</a:t>
            </a:r>
            <a:r>
              <a:rPr lang="ko-KR" altLang="en-US" dirty="0"/>
              <a:t>개 위성의 예시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446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주로 다룬 </a:t>
            </a:r>
            <a:r>
              <a:rPr lang="ko-KR" altLang="en-US" dirty="0" err="1"/>
              <a:t>위성군</a:t>
            </a:r>
            <a:r>
              <a:rPr lang="ko-KR" altLang="en-US" dirty="0"/>
              <a:t> 모델은 앞의 두 개</a:t>
            </a:r>
            <a:endParaRPr lang="en-US" altLang="ko-KR" dirty="0"/>
          </a:p>
          <a:p>
            <a:r>
              <a:rPr lang="en-US" altLang="ko-KR" dirty="0"/>
              <a:t>Flower </a:t>
            </a:r>
            <a:r>
              <a:rPr lang="ko-KR" altLang="en-US" dirty="0"/>
              <a:t>위성군은 참고사항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902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Circular Convolution Formulation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이를 위해 시간 </a:t>
            </a:r>
            <a:r>
              <a:rPr lang="ko-KR" altLang="en-US" dirty="0" err="1"/>
              <a:t>시간</a:t>
            </a:r>
            <a:r>
              <a:rPr lang="ko-KR" altLang="en-US" dirty="0"/>
              <a:t> 이산화 활용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최종적으로 이 내용에 도달하기 위해 단계적으로 연구 진행됨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363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Access Profile</a:t>
            </a:r>
          </a:p>
          <a:p>
            <a:r>
              <a:rPr lang="en-US" altLang="ko-KR" dirty="0"/>
              <a:t>sin</a:t>
            </a:r>
            <a:r>
              <a:rPr lang="ko-KR" altLang="en-US" dirty="0"/>
              <a:t> 법칙을 이용해 수학적으로 위성의 고도를 계산하여</a:t>
            </a:r>
            <a:endParaRPr lang="en-US" altLang="ko-KR" dirty="0"/>
          </a:p>
          <a:p>
            <a:r>
              <a:rPr lang="ko-KR" altLang="en-US" dirty="0"/>
              <a:t>최소 </a:t>
            </a:r>
            <a:r>
              <a:rPr lang="ko-KR" altLang="en-US" dirty="0" err="1"/>
              <a:t>고도각</a:t>
            </a:r>
            <a:r>
              <a:rPr lang="ko-KR" altLang="en-US" dirty="0"/>
              <a:t> 입실론 </a:t>
            </a:r>
            <a:r>
              <a:rPr lang="en-US" altLang="ko-KR" dirty="0"/>
              <a:t>minimum </a:t>
            </a:r>
            <a:r>
              <a:rPr lang="ko-KR" altLang="en-US" dirty="0"/>
              <a:t>값을 구하고 해당 값 이상일 때만 출력되도록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461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주기로 </a:t>
            </a:r>
            <a:r>
              <a:rPr lang="ko-KR" altLang="en-US" dirty="0" err="1"/>
              <a:t>샘플링되어</a:t>
            </a:r>
            <a:r>
              <a:rPr lang="ko-KR" altLang="en-US" dirty="0"/>
              <a:t> 총 </a:t>
            </a:r>
            <a:r>
              <a:rPr lang="en-US" altLang="ko-KR" dirty="0"/>
              <a:t>n</a:t>
            </a:r>
            <a:r>
              <a:rPr lang="ko-KR" altLang="en-US" dirty="0"/>
              <a:t>번 길이가 </a:t>
            </a:r>
            <a:r>
              <a:rPr lang="en-US" altLang="ko-KR" dirty="0"/>
              <a:t>L</a:t>
            </a:r>
            <a:r>
              <a:rPr lang="ko-KR" altLang="en-US" dirty="0"/>
              <a:t>인 함수 생성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앞페이지 </a:t>
            </a:r>
            <a:r>
              <a:rPr lang="en-US" altLang="ko-KR" dirty="0"/>
              <a:t>n = 720)</a:t>
            </a:r>
          </a:p>
          <a:p>
            <a:endParaRPr lang="en-US" altLang="ko-KR" dirty="0"/>
          </a:p>
          <a:p>
            <a:r>
              <a:rPr lang="ko-KR" altLang="en-US" dirty="0"/>
              <a:t>해당</a:t>
            </a:r>
            <a:r>
              <a:rPr lang="en-US" altLang="ko-KR" dirty="0"/>
              <a:t> </a:t>
            </a:r>
            <a:r>
              <a:rPr lang="ko-KR" altLang="en-US" dirty="0"/>
              <a:t>값 이상일 때만 </a:t>
            </a:r>
            <a:r>
              <a:rPr lang="en-US" altLang="ko-KR" dirty="0"/>
              <a:t>1</a:t>
            </a:r>
            <a:r>
              <a:rPr lang="ko-KR" altLang="en-US" dirty="0"/>
              <a:t>로 출력되도록 </a:t>
            </a:r>
            <a:r>
              <a:rPr lang="en-US" altLang="ko-KR" dirty="0"/>
              <a:t>v </a:t>
            </a:r>
            <a:r>
              <a:rPr lang="en-US" altLang="ko-KR" dirty="0" err="1"/>
              <a:t>k,j</a:t>
            </a:r>
            <a:r>
              <a:rPr lang="en-US" altLang="ko-KR" dirty="0"/>
              <a:t> </a:t>
            </a:r>
            <a:r>
              <a:rPr lang="ko-KR" altLang="en-US" dirty="0"/>
              <a:t>함수 정의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위성들에게 궤도 정보를 전달하는 가상의 </a:t>
            </a:r>
            <a:r>
              <a:rPr lang="ko-KR" altLang="en-US" dirty="0" err="1"/>
              <a:t>시드</a:t>
            </a:r>
            <a:r>
              <a:rPr lang="ko-KR" altLang="en-US" dirty="0"/>
              <a:t> 위성 개념 </a:t>
            </a:r>
            <a:endParaRPr lang="en-US" altLang="ko-KR" dirty="0"/>
          </a:p>
          <a:p>
            <a:r>
              <a:rPr lang="ko-KR" altLang="en-US" dirty="0"/>
              <a:t>궤도 요소에 </a:t>
            </a:r>
            <a:r>
              <a:rPr lang="en-US" altLang="ko-KR" dirty="0"/>
              <a:t>semi major</a:t>
            </a:r>
            <a:r>
              <a:rPr lang="ko-KR" altLang="en-US" dirty="0"/>
              <a:t>만 다르게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356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두번째는 </a:t>
            </a:r>
            <a:r>
              <a:rPr lang="en-US" altLang="ko-KR" dirty="0"/>
              <a:t>Coverage Timeline</a:t>
            </a:r>
          </a:p>
          <a:p>
            <a:r>
              <a:rPr lang="ko-KR" altLang="en-US" dirty="0"/>
              <a:t>관심지역은 여러 위성에 대해 커버가 되기 때문에 타임라인을 만듦  </a:t>
            </a:r>
            <a:endParaRPr lang="en-US" altLang="ko-KR" dirty="0"/>
          </a:p>
          <a:p>
            <a:r>
              <a:rPr lang="ko-KR" altLang="en-US" dirty="0"/>
              <a:t>앞에서 </a:t>
            </a:r>
            <a:r>
              <a:rPr lang="en-US" altLang="ko-KR" dirty="0"/>
              <a:t>Access profile</a:t>
            </a:r>
            <a:r>
              <a:rPr lang="ko-KR" altLang="en-US" dirty="0"/>
              <a:t>이 </a:t>
            </a:r>
            <a:r>
              <a:rPr lang="en-US" altLang="ko-KR" dirty="0"/>
              <a:t>1</a:t>
            </a:r>
            <a:r>
              <a:rPr lang="ko-KR" altLang="en-US" dirty="0"/>
              <a:t>인 값들만 모아서 </a:t>
            </a:r>
            <a:r>
              <a:rPr lang="ko-KR" altLang="en-US" dirty="0" err="1"/>
              <a:t>합쳐놓은</a:t>
            </a:r>
            <a:r>
              <a:rPr lang="ko-KR" altLang="en-US" dirty="0"/>
              <a:t> 것</a:t>
            </a:r>
            <a:endParaRPr lang="en-US" altLang="ko-KR" dirty="0"/>
          </a:p>
          <a:p>
            <a:r>
              <a:rPr lang="ko-KR" altLang="en-US" dirty="0" err="1"/>
              <a:t>시드</a:t>
            </a:r>
            <a:r>
              <a:rPr lang="ko-KR" altLang="en-US" dirty="0"/>
              <a:t> 위성은 가상이므로 해당되지 않게</a:t>
            </a:r>
            <a:endParaRPr lang="en-US" altLang="ko-KR" dirty="0"/>
          </a:p>
          <a:p>
            <a:r>
              <a:rPr lang="ko-KR" altLang="en-US" dirty="0"/>
              <a:t>한번이면 </a:t>
            </a:r>
            <a:r>
              <a:rPr lang="en-US" altLang="ko-KR" dirty="0"/>
              <a:t>single </a:t>
            </a:r>
            <a:r>
              <a:rPr lang="ko-KR" altLang="en-US" dirty="0" err="1"/>
              <a:t>두번</a:t>
            </a:r>
            <a:r>
              <a:rPr lang="ko-KR" altLang="en-US" dirty="0"/>
              <a:t> 중복되면 </a:t>
            </a:r>
            <a:r>
              <a:rPr lang="en-US" altLang="ko-KR" dirty="0"/>
              <a:t>double</a:t>
            </a:r>
            <a:r>
              <a:rPr lang="ko-KR" altLang="en-US" dirty="0"/>
              <a:t>로 표시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986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이를 정의하면 위와 같은 식 </a:t>
            </a:r>
            <a:endParaRPr lang="en-US" altLang="ko-KR" dirty="0"/>
          </a:p>
          <a:p>
            <a:r>
              <a:rPr lang="en-US" altLang="ko-KR" dirty="0"/>
              <a:t>F </a:t>
            </a:r>
            <a:r>
              <a:rPr lang="ko-KR" altLang="en-US" dirty="0"/>
              <a:t>즉 중복된 보다 많으면 커버가 되는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여러 개일때는 다시 이것들을 전부 합친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423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패턴 벡터</a:t>
            </a:r>
            <a:endParaRPr lang="en-US" altLang="ko-KR" dirty="0"/>
          </a:p>
          <a:p>
            <a:r>
              <a:rPr lang="ko-KR" altLang="en-US" dirty="0" err="1"/>
              <a:t>시드</a:t>
            </a:r>
            <a:r>
              <a:rPr lang="en-US" altLang="ko-KR" dirty="0"/>
              <a:t> </a:t>
            </a:r>
            <a:r>
              <a:rPr lang="ko-KR" altLang="en-US" dirty="0"/>
              <a:t>위성과 비교하여 얼마나 시간 지연이 발생하는지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224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여기까지 하면 </a:t>
            </a:r>
            <a:r>
              <a:rPr lang="en-US" altLang="ko-KR" dirty="0" err="1"/>
              <a:t>circlular</a:t>
            </a:r>
            <a:r>
              <a:rPr lang="en-US" altLang="ko-KR" dirty="0"/>
              <a:t> </a:t>
            </a:r>
            <a:r>
              <a:rPr lang="en-US" altLang="ko-KR" dirty="0" err="1"/>
              <a:t>convoulutin</a:t>
            </a:r>
            <a:r>
              <a:rPr lang="en-US" altLang="ko-KR" dirty="0"/>
              <a:t> </a:t>
            </a:r>
            <a:r>
              <a:rPr lang="en-US" altLang="ko-KR" dirty="0" err="1"/>
              <a:t>phnomenon</a:t>
            </a:r>
            <a:r>
              <a:rPr lang="ko-KR" altLang="en-US" dirty="0"/>
              <a:t>을 이끌어낼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앞의 함수들을 종합하면 일반화 가능 행</a:t>
            </a:r>
            <a:r>
              <a:rPr lang="en-US" altLang="ko-KR" dirty="0"/>
              <a:t>, </a:t>
            </a:r>
            <a:r>
              <a:rPr lang="ko-KR" altLang="en-US" dirty="0" err="1"/>
              <a:t>렬에</a:t>
            </a:r>
            <a:r>
              <a:rPr lang="ko-KR" altLang="en-US" dirty="0"/>
              <a:t> 대해 한번 더 정리한 식이 아래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762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시드</a:t>
            </a:r>
            <a:r>
              <a:rPr lang="ko-KR" altLang="en-US" dirty="0"/>
              <a:t> 위성이 첫번째에 해당 </a:t>
            </a:r>
            <a:r>
              <a:rPr lang="en-US" altLang="ko-KR" dirty="0"/>
              <a:t>(n=0)</a:t>
            </a:r>
          </a:p>
          <a:p>
            <a:r>
              <a:rPr lang="ko-KR" altLang="en-US" dirty="0"/>
              <a:t>그로부터 반대편에 있는 두번째 위성이 커버가 되면</a:t>
            </a:r>
            <a:endParaRPr lang="en-US" altLang="ko-KR" dirty="0"/>
          </a:p>
          <a:p>
            <a:r>
              <a:rPr lang="ko-KR" altLang="en-US" dirty="0"/>
              <a:t>이를 합친 것이 </a:t>
            </a:r>
            <a:r>
              <a:rPr lang="en-US" altLang="ko-KR" dirty="0"/>
              <a:t>coverage timeline </a:t>
            </a:r>
            <a:r>
              <a:rPr lang="ko-KR" altLang="en-US" dirty="0"/>
              <a:t>으로 형성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9466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완전 대칭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marL="228600" indent="-228600">
              <a:buAutoNum type="arabicPeriod"/>
            </a:pP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준 대칭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, quasi symmetric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0208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2356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5090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0963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z : </a:t>
            </a:r>
            <a:r>
              <a:rPr lang="ko-KR" altLang="en-US" dirty="0"/>
              <a:t>위성의 </a:t>
            </a:r>
            <a:r>
              <a:rPr lang="en-US" altLang="ko-KR" dirty="0"/>
              <a:t>index</a:t>
            </a:r>
          </a:p>
          <a:p>
            <a:r>
              <a:rPr lang="en-US" altLang="ko-KR" dirty="0"/>
              <a:t>Z : </a:t>
            </a:r>
            <a:r>
              <a:rPr lang="ko-KR" altLang="en-US" dirty="0"/>
              <a:t>위성의 집합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위성의 하위 위성군의 </a:t>
            </a:r>
            <a:r>
              <a:rPr lang="en-US" altLang="ko-KR" dirty="0"/>
              <a:t>access profile</a:t>
            </a:r>
            <a:r>
              <a:rPr lang="ko-KR" altLang="en-US" dirty="0"/>
              <a:t>은 그 </a:t>
            </a:r>
            <a:r>
              <a:rPr lang="ko-KR" altLang="en-US" dirty="0" err="1"/>
              <a:t>시드</a:t>
            </a:r>
            <a:r>
              <a:rPr lang="ko-KR" altLang="en-US" dirty="0"/>
              <a:t> 위성의 궤도요소 벡터에 기반하여 계산됨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목표는 커버리지 요구조건을 만족하기 위함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9954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각 하위 위성</a:t>
            </a:r>
            <a:r>
              <a:rPr lang="en-US" altLang="ko-KR" dirty="0"/>
              <a:t>(z)</a:t>
            </a:r>
            <a:r>
              <a:rPr lang="ko-KR" altLang="en-US" dirty="0"/>
              <a:t>은 독립적인 궤도 요소를 부여할 수 있음 </a:t>
            </a:r>
            <a:endParaRPr lang="en-US" altLang="ko-KR" dirty="0"/>
          </a:p>
          <a:p>
            <a:r>
              <a:rPr lang="ko-KR" altLang="en-US" dirty="0"/>
              <a:t>마찬가지로 </a:t>
            </a:r>
            <a:r>
              <a:rPr lang="en-US" altLang="ko-KR" dirty="0"/>
              <a:t>target point(j)</a:t>
            </a:r>
            <a:r>
              <a:rPr lang="ko-KR" altLang="en-US" dirty="0"/>
              <a:t>는 각각의 독립적인 커버리지 요구조건을 부여할 수 있음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4785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0551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0732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2789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낮에는 통신을 위해 두 개의 위성으로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밤에는 대기 상태이므로 한 개의 위성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9604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(2</a:t>
            </a:r>
            <a:r>
              <a:rPr lang="ko-KR" altLang="en-US" dirty="0"/>
              <a:t>중첩 있으므로</a:t>
            </a:r>
            <a:r>
              <a:rPr lang="en-US" altLang="ko-KR" dirty="0"/>
              <a:t>) Ex1</a:t>
            </a:r>
            <a:r>
              <a:rPr lang="ko-KR" altLang="en-US" dirty="0"/>
              <a:t>보다 많은 수의 위성 필요</a:t>
            </a:r>
            <a:endParaRPr lang="en-US" altLang="ko-KR" dirty="0"/>
          </a:p>
          <a:p>
            <a:r>
              <a:rPr lang="ko-KR" altLang="en-US" dirty="0"/>
              <a:t>대칭으로 분포하므로 </a:t>
            </a:r>
            <a:r>
              <a:rPr lang="en-US" altLang="ko-KR" dirty="0"/>
              <a:t>f=2</a:t>
            </a:r>
            <a:r>
              <a:rPr lang="ko-KR" altLang="en-US" dirty="0"/>
              <a:t>를 만족하기 위해 필요하지 않은 경우에도 </a:t>
            </a:r>
            <a:r>
              <a:rPr lang="en-US" altLang="ko-KR" dirty="0"/>
              <a:t>f=2</a:t>
            </a:r>
            <a:r>
              <a:rPr lang="ko-KR" altLang="en-US" dirty="0"/>
              <a:t>가 되도록 </a:t>
            </a:r>
            <a:r>
              <a:rPr lang="en-US" altLang="ko-KR" dirty="0"/>
              <a:t>(</a:t>
            </a:r>
            <a:r>
              <a:rPr lang="ko-KR" altLang="en-US" dirty="0"/>
              <a:t>효율 떨어짐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Ex1 </a:t>
            </a:r>
            <a:r>
              <a:rPr lang="ko-KR" altLang="en-US" dirty="0"/>
              <a:t>에선 </a:t>
            </a:r>
            <a:r>
              <a:rPr lang="en-US" altLang="ko-KR" dirty="0"/>
              <a:t>4</a:t>
            </a:r>
            <a:r>
              <a:rPr lang="ko-KR" altLang="en-US" dirty="0"/>
              <a:t>대 차이</a:t>
            </a:r>
            <a:r>
              <a:rPr lang="en-US" altLang="ko-KR" dirty="0"/>
              <a:t>, ex2</a:t>
            </a:r>
            <a:r>
              <a:rPr lang="ko-KR" altLang="en-US" dirty="0"/>
              <a:t>에선 거의 </a:t>
            </a:r>
            <a:r>
              <a:rPr lang="en-US" altLang="ko-KR" dirty="0"/>
              <a:t>1.5</a:t>
            </a:r>
            <a:r>
              <a:rPr lang="ko-KR" altLang="en-US" dirty="0"/>
              <a:t>배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7867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7600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남반구에 원지점이 있는 타원궤도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4553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가지 관심 영역에 대해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r>
              <a:rPr lang="en-US" altLang="ko-KR" dirty="0"/>
              <a:t> (3x3</a:t>
            </a:r>
            <a:r>
              <a:rPr lang="ko-KR" altLang="en-US" dirty="0"/>
              <a:t>으로 각각 </a:t>
            </a:r>
            <a:r>
              <a:rPr lang="en-US" altLang="ko-KR" dirty="0"/>
              <a:t>56, 30</a:t>
            </a:r>
            <a:r>
              <a:rPr lang="ko-KR" altLang="en-US" dirty="0"/>
              <a:t>개의 목표지점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아마존 </a:t>
            </a:r>
            <a:r>
              <a:rPr lang="en-US" altLang="ko-KR" dirty="0"/>
              <a:t>: 12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나일 강 </a:t>
            </a:r>
            <a:r>
              <a:rPr lang="en-US" altLang="ko-KR" dirty="0"/>
              <a:t>: 6</a:t>
            </a:r>
            <a:r>
              <a:rPr lang="ko-KR" altLang="en-US" dirty="0"/>
              <a:t>시간 마다 </a:t>
            </a:r>
            <a:r>
              <a:rPr lang="en-US" altLang="ko-KR" dirty="0"/>
              <a:t>6</a:t>
            </a:r>
            <a:r>
              <a:rPr lang="ko-KR" altLang="en-US" dirty="0"/>
              <a:t>시간씩의 재방문 시간이 필요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Ex2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다르게 시간 변화에 이어 공간 변화 즉</a:t>
            </a:r>
            <a:r>
              <a:rPr lang="en-US" altLang="ko-KR" dirty="0"/>
              <a:t>, </a:t>
            </a:r>
            <a:r>
              <a:rPr lang="ko-KR" altLang="en-US" dirty="0"/>
              <a:t>아마존과 나일강에 대한 다른 요구조건이 적용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9889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가지 관심 영역에 대해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r>
              <a:rPr lang="en-US" altLang="ko-KR" dirty="0"/>
              <a:t> (3x3</a:t>
            </a:r>
            <a:r>
              <a:rPr lang="ko-KR" altLang="en-US" dirty="0"/>
              <a:t>으로 각각 </a:t>
            </a:r>
            <a:r>
              <a:rPr lang="en-US" altLang="ko-KR" dirty="0"/>
              <a:t>56, 30</a:t>
            </a:r>
            <a:r>
              <a:rPr lang="ko-KR" altLang="en-US" dirty="0"/>
              <a:t>개의 목표지점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아마존 </a:t>
            </a:r>
            <a:r>
              <a:rPr lang="en-US" altLang="ko-KR" dirty="0"/>
              <a:t>: 12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나일 강 </a:t>
            </a:r>
            <a:r>
              <a:rPr lang="en-US" altLang="ko-KR" dirty="0"/>
              <a:t>: 6</a:t>
            </a:r>
            <a:r>
              <a:rPr lang="ko-KR" altLang="en-US" dirty="0"/>
              <a:t>시간 마다 </a:t>
            </a:r>
            <a:r>
              <a:rPr lang="en-US" altLang="ko-KR" dirty="0"/>
              <a:t>6</a:t>
            </a:r>
            <a:r>
              <a:rPr lang="ko-KR" altLang="en-US" dirty="0"/>
              <a:t>시간씩의 재방문 시간이 필요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Ex2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다르게 시간 변화에 이어 공간 변화 즉</a:t>
            </a:r>
            <a:r>
              <a:rPr lang="en-US" altLang="ko-KR" dirty="0"/>
              <a:t>, </a:t>
            </a:r>
            <a:r>
              <a:rPr lang="ko-KR" altLang="en-US" dirty="0"/>
              <a:t>아마존과 나일강에 대한 다른 요구조건이 적용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3117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Req : </a:t>
            </a:r>
            <a:r>
              <a:rPr lang="ko-KR" altLang="en-US" dirty="0"/>
              <a:t>커버리지</a:t>
            </a:r>
            <a:r>
              <a:rPr lang="en-US" altLang="ko-KR" dirty="0"/>
              <a:t> </a:t>
            </a:r>
            <a:r>
              <a:rPr lang="ko-KR" altLang="en-US" dirty="0"/>
              <a:t>요구조건</a:t>
            </a:r>
            <a:endParaRPr lang="en-US" altLang="ko-KR" dirty="0"/>
          </a:p>
          <a:p>
            <a:r>
              <a:rPr lang="en-US" altLang="ko-KR" dirty="0"/>
              <a:t>Result </a:t>
            </a:r>
            <a:r>
              <a:rPr lang="en-US" altLang="ko-KR" dirty="0" err="1"/>
              <a:t>cov</a:t>
            </a:r>
            <a:r>
              <a:rPr lang="en-US" altLang="ko-KR" dirty="0"/>
              <a:t> : </a:t>
            </a:r>
            <a:r>
              <a:rPr lang="ko-KR" altLang="en-US" dirty="0"/>
              <a:t>실제 커버리지 성능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3851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BILP</a:t>
            </a:r>
            <a:r>
              <a:rPr lang="ko-KR" altLang="en-US" dirty="0"/>
              <a:t>는 적은 위성 수로 동일한 커버리지 요구조건 도달 가능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563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아이슬란드의 레이캬비크</a:t>
            </a:r>
            <a:r>
              <a:rPr lang="en-US" altLang="ko-KR" dirty="0"/>
              <a:t>, </a:t>
            </a:r>
            <a:r>
              <a:rPr lang="ko-KR" altLang="en-US" dirty="0"/>
              <a:t>인도의 뭄바이 </a:t>
            </a:r>
            <a:r>
              <a:rPr lang="en-US" altLang="ko-KR" dirty="0"/>
              <a:t>(</a:t>
            </a:r>
            <a:r>
              <a:rPr lang="ko-KR" altLang="en-US" dirty="0"/>
              <a:t>고도 </a:t>
            </a:r>
            <a:r>
              <a:rPr lang="en-US" altLang="ko-KR" dirty="0"/>
              <a:t>4150km, 6380km)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17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개의 하위 위성군에서 위성의 총 수를 최소화하면서 </a:t>
            </a:r>
            <a:endParaRPr lang="en-US" altLang="ko-KR" dirty="0"/>
          </a:p>
          <a:p>
            <a:r>
              <a:rPr lang="en-US" altLang="ko-KR" dirty="0"/>
              <a:t>X</a:t>
            </a:r>
            <a:r>
              <a:rPr lang="ko-KR" altLang="en-US" dirty="0"/>
              <a:t>에 대한 연속 커버리지가 달성되도록 최적화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8934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377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454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2023-06-15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Lee, Hang </a:t>
            </a:r>
            <a:r>
              <a:rPr lang="en-US" altLang="ko-KR" dirty="0" err="1"/>
              <a:t>Woon</a:t>
            </a:r>
            <a:r>
              <a:rPr lang="en-US" altLang="ko-KR" dirty="0"/>
              <a:t> &amp; Shimizu, Seiichi &amp; Yoshikawa, Shoji &amp; Ho, Koki. (2019). Satellite Constellation Pattern Optimization for Complex Regional Coverage. 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9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초록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Abstract</a:t>
            </a:r>
          </a:p>
          <a:p>
            <a:pPr lvl="1"/>
            <a:r>
              <a:rPr lang="ko-KR" altLang="en-US" b="1" u="sng" dirty="0"/>
              <a:t>지역</a:t>
            </a:r>
            <a:r>
              <a:rPr lang="en-US" altLang="ko-KR" b="1" u="sng" dirty="0"/>
              <a:t> </a:t>
            </a:r>
            <a:r>
              <a:rPr lang="ko-KR" altLang="en-US" b="1" u="sng" dirty="0"/>
              <a:t>커버리지 위성군</a:t>
            </a:r>
            <a:r>
              <a:rPr lang="ko-KR" altLang="en-US" dirty="0"/>
              <a:t>의 사용이 증가하고 있음</a:t>
            </a:r>
            <a:endParaRPr lang="en-US" altLang="ko-KR" dirty="0"/>
          </a:p>
          <a:p>
            <a:pPr lvl="1"/>
            <a:r>
              <a:rPr lang="ko-KR" altLang="en-US" dirty="0"/>
              <a:t>이에 따라 </a:t>
            </a:r>
            <a:r>
              <a:rPr lang="ko-KR" altLang="en-US" b="1" u="sng" dirty="0"/>
              <a:t>복잡한 지역 </a:t>
            </a:r>
            <a:r>
              <a:rPr lang="ko-KR" altLang="en-US" b="1" u="sng" dirty="0" err="1"/>
              <a:t>커버리지를</a:t>
            </a:r>
            <a:r>
              <a:rPr lang="ko-KR" altLang="en-US" b="1" u="sng" dirty="0"/>
              <a:t> 위한 최적의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설계 방법</a:t>
            </a:r>
            <a:r>
              <a:rPr lang="ko-KR" altLang="en-US" dirty="0"/>
              <a:t>의 필요성이 제기됨</a:t>
            </a:r>
            <a:endParaRPr lang="en-US" altLang="ko-KR" dirty="0"/>
          </a:p>
          <a:p>
            <a:pPr lvl="2"/>
            <a:r>
              <a:rPr lang="ko-KR" altLang="en-US" dirty="0"/>
              <a:t>전통적인 위성군은 종종 지속적인 </a:t>
            </a:r>
            <a:r>
              <a:rPr lang="ko-KR" altLang="en-US" dirty="0" err="1"/>
              <a:t>전지구</a:t>
            </a:r>
            <a:r>
              <a:rPr lang="ko-KR" altLang="en-US" dirty="0"/>
              <a:t>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위해 설계</a:t>
            </a:r>
            <a:endParaRPr lang="en-US" altLang="ko-KR" dirty="0"/>
          </a:p>
          <a:p>
            <a:pPr lvl="2"/>
            <a:r>
              <a:rPr lang="ko-KR" altLang="en-US" dirty="0"/>
              <a:t>지역 커버리지 위성군은 </a:t>
            </a:r>
            <a:r>
              <a:rPr lang="ko-KR" altLang="en-US" b="1" u="sng" dirty="0"/>
              <a:t>주기적으로</a:t>
            </a:r>
            <a:r>
              <a:rPr lang="en-US" altLang="ko-KR" b="1" u="sng" dirty="0"/>
              <a:t> </a:t>
            </a:r>
            <a:r>
              <a:rPr lang="ko-KR" altLang="en-US" b="1" u="sng" dirty="0"/>
              <a:t>시공간이 변화하는 요구조건</a:t>
            </a:r>
            <a:r>
              <a:rPr lang="ko-KR" altLang="en-US" dirty="0"/>
              <a:t>에 대한 차선의 해답으로 이어짐</a:t>
            </a:r>
            <a:endParaRPr lang="en-US" altLang="ko-KR" dirty="0"/>
          </a:p>
          <a:p>
            <a:pPr lvl="1"/>
            <a:r>
              <a:rPr lang="ko-KR" altLang="en-US" dirty="0"/>
              <a:t>이러한 </a:t>
            </a:r>
            <a:r>
              <a:rPr lang="ko-KR" altLang="en-US" b="1" u="sng" dirty="0"/>
              <a:t>복잡한 지역 커버리지 요구사항을 충족하는 최적의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패턴을 설계</a:t>
            </a:r>
            <a:r>
              <a:rPr lang="ko-KR" altLang="en-US" dirty="0"/>
              <a:t>하기 위한 새로운 일반적 접근 방식을 소개</a:t>
            </a:r>
            <a:endParaRPr lang="en-US" altLang="ko-KR" dirty="0"/>
          </a:p>
          <a:p>
            <a:pPr lvl="2"/>
            <a:r>
              <a:rPr lang="ko-KR" altLang="en-US" dirty="0"/>
              <a:t>이를 위해 </a:t>
            </a:r>
            <a:r>
              <a:rPr lang="en-US" altLang="ko-KR" dirty="0"/>
              <a:t>RGT</a:t>
            </a:r>
            <a:r>
              <a:rPr lang="ko-KR" altLang="en-US" dirty="0"/>
              <a:t>와 </a:t>
            </a:r>
            <a:r>
              <a:rPr lang="en-US" altLang="ko-KR" dirty="0"/>
              <a:t>CGT</a:t>
            </a:r>
            <a:r>
              <a:rPr lang="ko-KR" altLang="en-US" dirty="0"/>
              <a:t>의 원형 구조가 공식화됨</a:t>
            </a:r>
            <a:endParaRPr lang="en-US" altLang="ko-KR" dirty="0"/>
          </a:p>
          <a:p>
            <a:pPr lvl="2"/>
            <a:r>
              <a:rPr lang="ko-KR" altLang="en-US" dirty="0"/>
              <a:t>공식화된 원형 구조</a:t>
            </a:r>
            <a:r>
              <a:rPr lang="en-US" altLang="ko-KR" dirty="0"/>
              <a:t>(circular convolution)</a:t>
            </a:r>
            <a:r>
              <a:rPr lang="ko-KR" altLang="en-US" dirty="0"/>
              <a:t> 관계는 대칭 가정을 사용하여 기준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방법을 도출</a:t>
            </a:r>
            <a:endParaRPr lang="en-US" altLang="ko-KR" dirty="0"/>
          </a:p>
          <a:p>
            <a:pPr lvl="2"/>
            <a:r>
              <a:rPr lang="ko-KR" altLang="en-US" dirty="0"/>
              <a:t>그리고 최소 위성 수로 </a:t>
            </a:r>
            <a:r>
              <a:rPr lang="ko-KR" altLang="en-US" dirty="0" err="1"/>
              <a:t>위성군</a:t>
            </a:r>
            <a:r>
              <a:rPr lang="ko-KR" altLang="en-US" dirty="0"/>
              <a:t> 최적 설계를 목표로 하는 이진 정수 선형 프로그래밍 기반의 새로운 방법이 개발</a:t>
            </a:r>
            <a:endParaRPr lang="en-US" altLang="ko-KR" dirty="0"/>
          </a:p>
          <a:p>
            <a:pPr lvl="2"/>
            <a:r>
              <a:rPr lang="ko-KR" altLang="en-US" dirty="0"/>
              <a:t>이진 정수 선형 프로그래밍 방법은 기본 방법이 달성할 수 없는 일반적 문제 설정에 대한 최적 배치 패턴을 달성</a:t>
            </a:r>
            <a:endParaRPr lang="en-US" altLang="ko-KR" dirty="0"/>
          </a:p>
          <a:p>
            <a:pPr lvl="1"/>
            <a:r>
              <a:rPr lang="ko-KR" altLang="en-US" dirty="0"/>
              <a:t>새로운 접근법 가치를 입증하기 위해 다섯 가지 예시를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762786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dirty="0"/>
              <a:t>논문의 구성</a:t>
            </a:r>
            <a:endParaRPr lang="en-US" altLang="ko-KR" dirty="0"/>
          </a:p>
          <a:p>
            <a:pPr lvl="2"/>
            <a:r>
              <a:rPr lang="en-US" altLang="ko-KR" dirty="0"/>
              <a:t>1. </a:t>
            </a:r>
            <a:r>
              <a:rPr lang="ko-KR" altLang="en-US" dirty="0"/>
              <a:t>서론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연구와 관련된 주요 문헌의 요약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본 논문에서 사용된 </a:t>
            </a:r>
            <a:r>
              <a:rPr lang="ko-KR" altLang="en-US" dirty="0" err="1"/>
              <a:t>위성군</a:t>
            </a:r>
            <a:r>
              <a:rPr lang="ko-KR" altLang="en-US" dirty="0"/>
              <a:t> 모델의 개요</a:t>
            </a:r>
            <a:endParaRPr lang="en-US" altLang="ko-KR" dirty="0"/>
          </a:p>
          <a:p>
            <a:pPr lvl="2"/>
            <a:r>
              <a:rPr lang="en-US" altLang="ko-KR" dirty="0"/>
              <a:t>4. Circular Convolution Formulation</a:t>
            </a:r>
            <a:r>
              <a:rPr lang="ko-KR" altLang="en-US" dirty="0"/>
              <a:t> 정의를 포함하여 해당 접근 방식의 아이디어</a:t>
            </a:r>
            <a:endParaRPr lang="en-US" altLang="ko-KR" dirty="0"/>
          </a:p>
          <a:p>
            <a:pPr lvl="2"/>
            <a:r>
              <a:rPr lang="en-US" altLang="ko-KR" dirty="0"/>
              <a:t>5. </a:t>
            </a:r>
            <a:r>
              <a:rPr lang="ko-KR" altLang="en-US" dirty="0"/>
              <a:t>공식에 기반한 두 가지 방법 </a:t>
            </a:r>
            <a:r>
              <a:rPr lang="en-US" altLang="ko-KR" dirty="0"/>
              <a:t>1. </a:t>
            </a:r>
            <a:r>
              <a:rPr lang="ko-KR" altLang="en-US" dirty="0"/>
              <a:t>기준의 </a:t>
            </a:r>
            <a:r>
              <a:rPr lang="en-US" altLang="ko-KR" dirty="0"/>
              <a:t>quasi-symmetric </a:t>
            </a:r>
            <a:r>
              <a:rPr lang="ko-KR" altLang="en-US" dirty="0"/>
              <a:t>및 </a:t>
            </a:r>
            <a:r>
              <a:rPr lang="en-US" altLang="ko-KR" dirty="0"/>
              <a:t>2. </a:t>
            </a:r>
            <a:r>
              <a:rPr lang="ko-KR" altLang="en-US" dirty="0"/>
              <a:t>새로운 </a:t>
            </a:r>
            <a:r>
              <a:rPr lang="en-US" altLang="ko-KR" dirty="0"/>
              <a:t>BILP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2"/>
            <a:r>
              <a:rPr lang="en-US" altLang="ko-KR" dirty="0"/>
              <a:t>6. </a:t>
            </a:r>
            <a:r>
              <a:rPr lang="ko-KR" altLang="en-US" dirty="0"/>
              <a:t>다양한 예시들에 적용</a:t>
            </a:r>
            <a:endParaRPr lang="en-US" altLang="ko-KR" dirty="0"/>
          </a:p>
          <a:p>
            <a:pPr lvl="2"/>
            <a:r>
              <a:rPr lang="en-US" altLang="ko-KR" dirty="0"/>
              <a:t>7. </a:t>
            </a:r>
            <a:r>
              <a:rPr lang="ko-KR" altLang="en-US" dirty="0"/>
              <a:t>마무리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453310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b="1" u="sng" dirty="0"/>
              <a:t>지역 </a:t>
            </a:r>
            <a:r>
              <a:rPr lang="ko-KR" altLang="en-US" b="1" u="sng" dirty="0" err="1"/>
              <a:t>커버리지</a:t>
            </a:r>
            <a:r>
              <a:rPr lang="ko-KR" altLang="en-US" dirty="0" err="1"/>
              <a:t>를</a:t>
            </a:r>
            <a:r>
              <a:rPr lang="ko-KR" altLang="en-US" dirty="0"/>
              <a:t> 위한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2"/>
            <a:r>
              <a:rPr lang="ko-KR" altLang="en-US" dirty="0" err="1"/>
              <a:t>전지구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시스템이 지배하는 시장에서 유능한 솔루션으로 점점 더 화제</a:t>
            </a:r>
            <a:endParaRPr lang="en-US" altLang="ko-KR" dirty="0"/>
          </a:p>
          <a:p>
            <a:pPr lvl="2"/>
            <a:r>
              <a:rPr lang="ko-KR" altLang="en-US" dirty="0"/>
              <a:t>독립적인 것부터 기존 우주 기반 시스템을 보완하는 것까지 다양한 형태</a:t>
            </a:r>
            <a:endParaRPr lang="en-US" altLang="ko-KR" dirty="0"/>
          </a:p>
          <a:p>
            <a:pPr lvl="2"/>
            <a:r>
              <a:rPr lang="ko-KR" altLang="en-US" dirty="0" err="1"/>
              <a:t>전지구</a:t>
            </a:r>
            <a:r>
              <a:rPr lang="ko-KR" altLang="en-US" dirty="0"/>
              <a:t> 위성군과 관련된 지정학적</a:t>
            </a:r>
            <a:r>
              <a:rPr lang="en-US" altLang="ko-KR" dirty="0"/>
              <a:t>, </a:t>
            </a:r>
            <a:r>
              <a:rPr lang="ko-KR" altLang="en-US" dirty="0"/>
              <a:t>경제적</a:t>
            </a:r>
            <a:r>
              <a:rPr lang="en-US" altLang="ko-KR" dirty="0"/>
              <a:t>, </a:t>
            </a:r>
            <a:r>
              <a:rPr lang="ko-KR" altLang="en-US" dirty="0"/>
              <a:t>기술적 문제를 회피하는 수단으로 유연한 해결책을 제공</a:t>
            </a:r>
            <a:endParaRPr lang="en-US" altLang="ko-KR" dirty="0"/>
          </a:p>
          <a:p>
            <a:pPr lvl="2"/>
            <a:r>
              <a:rPr lang="ko-KR" altLang="en-US" dirty="0"/>
              <a:t>특정 영역에 대한 커버만 집중 </a:t>
            </a:r>
            <a:endParaRPr lang="en-US" altLang="ko-KR" dirty="0"/>
          </a:p>
          <a:p>
            <a:pPr lvl="3"/>
            <a:r>
              <a:rPr lang="ko-KR" altLang="en-US" dirty="0"/>
              <a:t>면적 당 동일한 성능을 위한 더 적은 위성이 필요함 </a:t>
            </a:r>
            <a:endParaRPr lang="en-US" altLang="ko-KR" dirty="0"/>
          </a:p>
          <a:p>
            <a:pPr lvl="3"/>
            <a:r>
              <a:rPr lang="ko-KR" altLang="en-US" dirty="0"/>
              <a:t>따라서 시스템의 </a:t>
            </a:r>
            <a:r>
              <a:rPr lang="en-US" altLang="ko-KR" dirty="0"/>
              <a:t>(</a:t>
            </a:r>
            <a:r>
              <a:rPr lang="ko-KR" altLang="en-US" dirty="0"/>
              <a:t>총 수명주기</a:t>
            </a:r>
            <a:r>
              <a:rPr lang="en-US" altLang="ko-KR" dirty="0"/>
              <a:t>)</a:t>
            </a:r>
            <a:r>
              <a:rPr lang="ko-KR" altLang="en-US" dirty="0"/>
              <a:t>비용이 크게 절감</a:t>
            </a:r>
            <a:endParaRPr lang="en-US" altLang="ko-KR" dirty="0"/>
          </a:p>
          <a:p>
            <a:pPr lvl="3"/>
            <a:r>
              <a:rPr lang="ko-KR" altLang="en-US" dirty="0"/>
              <a:t>장애 위험 감수</a:t>
            </a:r>
            <a:r>
              <a:rPr lang="en-US" altLang="ko-KR" dirty="0"/>
              <a:t>, </a:t>
            </a:r>
            <a:r>
              <a:rPr lang="ko-KR" altLang="en-US" dirty="0"/>
              <a:t>투자 회수 기간 단축</a:t>
            </a:r>
            <a:endParaRPr lang="en-US" altLang="ko-KR" dirty="0"/>
          </a:p>
          <a:p>
            <a:pPr lvl="3"/>
            <a:r>
              <a:rPr lang="ko-KR" altLang="en-US" dirty="0"/>
              <a:t>시장 수요 및 관리 문제로 발생하는 불확실성에 신속 대응 가능</a:t>
            </a:r>
            <a:endParaRPr lang="en-US" altLang="ko-KR" dirty="0"/>
          </a:p>
          <a:p>
            <a:pPr lvl="1"/>
            <a:r>
              <a:rPr lang="ko-KR" altLang="en-US" dirty="0"/>
              <a:t>가장 고전적 지역 커버리지 방법은 </a:t>
            </a:r>
            <a:r>
              <a:rPr lang="en-US" altLang="ko-KR" dirty="0"/>
              <a:t>GSO, GEO</a:t>
            </a:r>
          </a:p>
          <a:p>
            <a:pPr lvl="1"/>
            <a:r>
              <a:rPr lang="en-US" altLang="ko-KR" dirty="0"/>
              <a:t>NGSO</a:t>
            </a:r>
            <a:r>
              <a:rPr lang="ko-KR" altLang="en-US" dirty="0"/>
              <a:t>는 대기 시간 및 발사 비용 같은 많은 속성에 대해 더 나은 성능을 제공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4816373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dirty="0"/>
              <a:t>기존의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방법은 비교적 간단한 커버리지 기준으로 조사함</a:t>
            </a:r>
            <a:endParaRPr lang="en-US" altLang="ko-KR" dirty="0"/>
          </a:p>
          <a:p>
            <a:pPr lvl="2"/>
            <a:r>
              <a:rPr lang="en-US" altLang="ko-KR" dirty="0"/>
              <a:t>F-fold</a:t>
            </a:r>
            <a:r>
              <a:rPr lang="ko-KR" altLang="en-US" dirty="0"/>
              <a:t> 연속 커버리지 요구조건을</a:t>
            </a:r>
            <a:r>
              <a:rPr lang="en-US" altLang="ko-KR" dirty="0"/>
              <a:t> </a:t>
            </a:r>
            <a:r>
              <a:rPr lang="ko-KR" altLang="en-US" dirty="0"/>
              <a:t>충족하기</a:t>
            </a:r>
            <a:endParaRPr lang="en-US" altLang="ko-KR" dirty="0"/>
          </a:p>
          <a:p>
            <a:pPr lvl="2"/>
            <a:r>
              <a:rPr lang="ko-KR" altLang="en-US" dirty="0"/>
              <a:t>최대 재방문 시간 차이를 최소화하기 </a:t>
            </a:r>
            <a:endParaRPr lang="en-US" altLang="ko-KR" dirty="0"/>
          </a:p>
          <a:p>
            <a:pPr lvl="1"/>
            <a:r>
              <a:rPr lang="ko-KR" altLang="en-US" dirty="0"/>
              <a:t>하지만 다음과 같이 주기적으로 시공간이 변하는 복잡한 요구사항 문제는 </a:t>
            </a:r>
            <a:r>
              <a:rPr lang="ko-KR" altLang="en-US" dirty="0" err="1"/>
              <a:t>탐구되지</a:t>
            </a:r>
            <a:r>
              <a:rPr lang="ko-KR" altLang="en-US" dirty="0"/>
              <a:t> 않음</a:t>
            </a:r>
            <a:endParaRPr lang="en-US" altLang="ko-KR" dirty="0"/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낮 시간 동안의 통신 서비스 수요량 증가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/>
              <a:t>신뢰성 있는 접근을 위한 도시</a:t>
            </a:r>
            <a:r>
              <a:rPr lang="en-US" altLang="ko-KR" dirty="0"/>
              <a:t> </a:t>
            </a:r>
            <a:r>
              <a:rPr lang="ko-KR" altLang="en-US" dirty="0"/>
              <a:t>및 교외 지역에 대한 서비스 수요량 증가</a:t>
            </a:r>
            <a:endParaRPr lang="en-US" altLang="ko-KR" dirty="0"/>
          </a:p>
          <a:p>
            <a:pPr lvl="1"/>
            <a:r>
              <a:rPr lang="ko-KR" altLang="en-US" dirty="0"/>
              <a:t>이러한 복잡한 요구조건에 대한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 과정은 다음과 같음</a:t>
            </a:r>
            <a:endParaRPr lang="en-US" altLang="ko-KR" dirty="0"/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일반적인 궤도 특성 결정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 err="1"/>
              <a:t>위성군</a:t>
            </a:r>
            <a:r>
              <a:rPr lang="ko-KR" altLang="en-US" dirty="0"/>
              <a:t> 패턴 결정 </a:t>
            </a:r>
            <a:r>
              <a:rPr lang="en-US" altLang="ko-KR" dirty="0"/>
              <a:t>– </a:t>
            </a:r>
            <a:r>
              <a:rPr lang="ko-KR" altLang="en-US" dirty="0"/>
              <a:t>보통 대칭패턴 </a:t>
            </a:r>
            <a:r>
              <a:rPr lang="en-US" altLang="ko-KR" dirty="0"/>
              <a:t>(ex. </a:t>
            </a:r>
            <a:r>
              <a:rPr lang="ko-KR" altLang="en-US" dirty="0"/>
              <a:t>워커</a:t>
            </a:r>
            <a:r>
              <a:rPr lang="en-US" altLang="ko-KR" dirty="0"/>
              <a:t> </a:t>
            </a:r>
            <a:r>
              <a:rPr lang="ko-KR" altLang="en-US" dirty="0" err="1"/>
              <a:t>위성군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(3) </a:t>
            </a:r>
            <a:r>
              <a:rPr lang="ko-KR" altLang="en-US" dirty="0"/>
              <a:t>공통적인 궤도 특성 최적화 </a:t>
            </a:r>
            <a:r>
              <a:rPr lang="en-US" altLang="ko-KR" dirty="0"/>
              <a:t>(ex. </a:t>
            </a:r>
            <a:r>
              <a:rPr lang="ko-KR" altLang="en-US" dirty="0"/>
              <a:t>고도</a:t>
            </a:r>
            <a:r>
              <a:rPr lang="en-US" altLang="ko-KR" dirty="0"/>
              <a:t>, </a:t>
            </a:r>
            <a:r>
              <a:rPr lang="ko-KR" altLang="en-US" dirty="0"/>
              <a:t>궤도경사각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266614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dirty="0"/>
              <a:t>관심지역에 대해 주기적으로 시공간이 변하는 요구조건에 대한 최적화된 위성군은 어떻게 설계할까</a:t>
            </a:r>
            <a:r>
              <a:rPr lang="en-US" altLang="ko-KR" dirty="0"/>
              <a:t>? </a:t>
            </a:r>
          </a:p>
          <a:p>
            <a:pPr lvl="2"/>
            <a:r>
              <a:rPr lang="ko-KR" altLang="en-US" dirty="0"/>
              <a:t>복잡한 지역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방법을 통해 이 문제를 해결하고자 함</a:t>
            </a:r>
            <a:endParaRPr lang="en-US" altLang="ko-KR" dirty="0"/>
          </a:p>
          <a:p>
            <a:pPr lvl="2"/>
            <a:r>
              <a:rPr lang="ko-KR" altLang="en-US" dirty="0"/>
              <a:t>기존의 궤도 특성 설계 방법 및 발사</a:t>
            </a:r>
            <a:r>
              <a:rPr lang="en-US" altLang="ko-KR" dirty="0"/>
              <a:t>, </a:t>
            </a:r>
            <a:r>
              <a:rPr lang="ko-KR" altLang="en-US" dirty="0"/>
              <a:t>미션 제약 조건과 통합되어 미래의 위성군을 최적화 할 수 있음</a:t>
            </a:r>
            <a:endParaRPr lang="en-US" altLang="ko-KR" dirty="0"/>
          </a:p>
          <a:p>
            <a:pPr lvl="1"/>
            <a:r>
              <a:rPr lang="ko-KR" altLang="en-US" dirty="0"/>
              <a:t>본 논문의 </a:t>
            </a:r>
            <a:r>
              <a:rPr lang="en-US" altLang="ko-KR" dirty="0"/>
              <a:t>Contribution</a:t>
            </a:r>
          </a:p>
          <a:p>
            <a:pPr lvl="2"/>
            <a:r>
              <a:rPr lang="en-US" altLang="ko-KR" dirty="0"/>
              <a:t>1. </a:t>
            </a:r>
            <a:r>
              <a:rPr lang="ko-KR" altLang="en-US" dirty="0" err="1"/>
              <a:t>시드</a:t>
            </a:r>
            <a:r>
              <a:rPr lang="ko-KR" altLang="en-US" dirty="0"/>
              <a:t> 위성 접속 프로필</a:t>
            </a:r>
            <a:r>
              <a:rPr lang="en-US" altLang="ko-KR" dirty="0"/>
              <a:t>, </a:t>
            </a:r>
            <a:r>
              <a:rPr lang="ko-KR" altLang="en-US" dirty="0" err="1"/>
              <a:t>위성군</a:t>
            </a:r>
            <a:r>
              <a:rPr lang="ko-KR" altLang="en-US" dirty="0"/>
              <a:t> 패턴 벡터</a:t>
            </a:r>
            <a:r>
              <a:rPr lang="en-US" altLang="ko-KR" dirty="0"/>
              <a:t>,</a:t>
            </a:r>
            <a:r>
              <a:rPr lang="ko-KR" altLang="en-US" dirty="0"/>
              <a:t> 커버리지 타임라인 간의 원형 구조 현상의 발견을 공식화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시간에 대해 독립적인 </a:t>
            </a:r>
            <a:r>
              <a:rPr lang="en-US" altLang="ko-KR" dirty="0"/>
              <a:t>f-fold </a:t>
            </a:r>
            <a:r>
              <a:rPr lang="ko-KR" altLang="en-US" dirty="0"/>
              <a:t>커버리지 요구사항의 정의를 </a:t>
            </a:r>
            <a:r>
              <a:rPr lang="en-US" altLang="ko-KR" dirty="0"/>
              <a:t>n-fold</a:t>
            </a:r>
            <a:r>
              <a:rPr lang="ko-KR" altLang="en-US" dirty="0"/>
              <a:t>로 확장</a:t>
            </a:r>
            <a:endParaRPr lang="en-US" altLang="ko-KR" dirty="0"/>
          </a:p>
          <a:p>
            <a:pPr lvl="3"/>
            <a:r>
              <a:rPr lang="en-US" altLang="ko-KR" dirty="0"/>
              <a:t>f</a:t>
            </a:r>
            <a:r>
              <a:rPr lang="ko-KR" altLang="en-US" dirty="0"/>
              <a:t>는 이산 시간 순간이므로 주기적으로 시간이 변하는 커버리지 요구사항은 위성군에서 최적으로 처리될 수 있음</a:t>
            </a:r>
            <a:endParaRPr lang="en-US" altLang="ko-KR" dirty="0"/>
          </a:p>
          <a:p>
            <a:pPr lvl="3"/>
            <a:r>
              <a:rPr lang="ko-KR" altLang="en-US" dirty="0"/>
              <a:t>이 아이디어를 여러 목표지점에 적용함으로써 시공간이 변화하는 적용 범위 요구조건이 있는 경우로 더욱 확장</a:t>
            </a:r>
            <a:endParaRPr lang="en-US" altLang="ko-KR" dirty="0"/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최적의 위성 배치 패턴을 탐색</a:t>
            </a:r>
            <a:endParaRPr lang="en-US" altLang="ko-KR" dirty="0"/>
          </a:p>
          <a:p>
            <a:pPr lvl="3"/>
            <a:r>
              <a:rPr lang="ko-KR" altLang="en-US" dirty="0"/>
              <a:t>이산 정수 선형 프로그래밍</a:t>
            </a:r>
            <a:r>
              <a:rPr lang="en-US" altLang="ko-KR" dirty="0"/>
              <a:t>(BILP)</a:t>
            </a:r>
            <a:r>
              <a:rPr lang="ko-KR" altLang="en-US" dirty="0"/>
              <a:t>을 이용한 일반적인 방법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561146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Literature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</a:p>
          <a:p>
            <a:pPr lvl="1"/>
            <a:r>
              <a:rPr lang="ko-KR" altLang="en-US" dirty="0"/>
              <a:t>기존의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방법은 지구 또는 위도 경계 영역과 같이 광범위한 관심 영역에 지속적인 </a:t>
            </a:r>
            <a:r>
              <a:rPr lang="ko-KR" altLang="en-US" dirty="0" err="1"/>
              <a:t>커버리지를</a:t>
            </a:r>
            <a:r>
              <a:rPr lang="en-US" altLang="ko-KR" dirty="0"/>
              <a:t> </a:t>
            </a:r>
            <a:r>
              <a:rPr lang="ko-KR" altLang="en-US" dirty="0"/>
              <a:t>제공하면서 위성 수를 최소화하는 데 초점 맞춤</a:t>
            </a:r>
            <a:endParaRPr lang="en-US" altLang="ko-KR" dirty="0"/>
          </a:p>
          <a:p>
            <a:pPr lvl="1"/>
            <a:r>
              <a:rPr lang="ko-KR" altLang="en-US" dirty="0"/>
              <a:t>다음과 같이 고전적인 방법들은 위성이 미리 정해진 위상 규칙에 기초하여 균일하고 대칭적으로 배열되는 </a:t>
            </a:r>
            <a:r>
              <a:rPr lang="ko-KR" altLang="en-US" dirty="0" err="1"/>
              <a:t>위성군</a:t>
            </a:r>
            <a:r>
              <a:rPr lang="ko-KR" altLang="en-US" dirty="0"/>
              <a:t> 패턴에서 대칭을 나타내기 위해 기하학적 접근법 이용</a:t>
            </a:r>
            <a:endParaRPr lang="en-US" altLang="ko-KR" dirty="0"/>
          </a:p>
          <a:p>
            <a:pPr lvl="2"/>
            <a:r>
              <a:rPr lang="en-US" altLang="ko-KR" dirty="0"/>
              <a:t>Classical method (Streets of Coverage) : [9-12]</a:t>
            </a:r>
          </a:p>
          <a:p>
            <a:pPr lvl="2"/>
            <a:r>
              <a:rPr lang="en-US" altLang="ko-KR" dirty="0"/>
              <a:t>Walker and Rosette constellation : [6-8, 13]</a:t>
            </a:r>
          </a:p>
          <a:p>
            <a:pPr lvl="2"/>
            <a:r>
              <a:rPr lang="en-US" altLang="ko-KR" dirty="0"/>
              <a:t>Tetrahedron elliptical constellation : [14]</a:t>
            </a:r>
          </a:p>
          <a:p>
            <a:pPr lvl="1"/>
            <a:r>
              <a:rPr lang="ko-KR" altLang="en-US" dirty="0"/>
              <a:t>위성군의 대칭은 유한 변동성</a:t>
            </a:r>
            <a:r>
              <a:rPr lang="en-US" altLang="ko-KR" dirty="0"/>
              <a:t>[15]</a:t>
            </a:r>
            <a:r>
              <a:rPr lang="ko-KR" altLang="en-US" dirty="0"/>
              <a:t>으로 인해 완전한 설계 공간 분석 또는 해를 위한 기초를 제공</a:t>
            </a:r>
            <a:endParaRPr lang="en-US" altLang="ko-KR" dirty="0"/>
          </a:p>
          <a:p>
            <a:pPr lvl="1"/>
            <a:r>
              <a:rPr lang="ko-KR" altLang="en-US" dirty="0"/>
              <a:t>하지만 이는 일반적으로 중복을 초래하므로 경계 지역에 걸쳐 위성의 수 측면에서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설계를 생성하지 못할 수 있음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448648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 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Literature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</a:p>
          <a:p>
            <a:pPr lvl="1"/>
            <a:r>
              <a:rPr lang="ko-KR" altLang="en-US" dirty="0"/>
              <a:t>지역 커버리지 별자리의 설계를 구체적으로 다룬 선행 연구</a:t>
            </a:r>
            <a:endParaRPr lang="en-US" altLang="ko-KR" dirty="0"/>
          </a:p>
          <a:p>
            <a:pPr lvl="1"/>
            <a:r>
              <a:rPr lang="en-US" altLang="ko-KR" dirty="0"/>
              <a:t>RGT </a:t>
            </a:r>
            <a:r>
              <a:rPr lang="ko-KR" altLang="en-US" dirty="0"/>
              <a:t>특성을 활용 </a:t>
            </a:r>
            <a:r>
              <a:rPr lang="en-US" altLang="ko-KR" dirty="0"/>
              <a:t>: [16] - </a:t>
            </a:r>
            <a:r>
              <a:rPr lang="en-US" altLang="ko-KR" dirty="0" err="1"/>
              <a:t>hanson</a:t>
            </a:r>
            <a:r>
              <a:rPr lang="ko-KR" altLang="en-US" dirty="0"/>
              <a:t> </a:t>
            </a:r>
            <a:r>
              <a:rPr lang="en-US" altLang="ko-KR" dirty="0"/>
              <a:t>et</a:t>
            </a:r>
            <a:r>
              <a:rPr lang="ko-KR" altLang="en-US" dirty="0"/>
              <a:t> </a:t>
            </a:r>
            <a:r>
              <a:rPr lang="en-US" altLang="ko-KR" dirty="0"/>
              <a:t>al.</a:t>
            </a:r>
          </a:p>
          <a:p>
            <a:pPr lvl="1"/>
            <a:r>
              <a:rPr lang="en-US" altLang="ko-KR" dirty="0"/>
              <a:t>Timeline Meshing </a:t>
            </a:r>
            <a:r>
              <a:rPr lang="ko-KR" altLang="en-US" dirty="0"/>
              <a:t>방법을 사용하여 최소 가능한 기울기에서 최대 시간 간격을 최소화 하는 것과 관련한 </a:t>
            </a:r>
            <a:r>
              <a:rPr lang="ko-KR" altLang="en-US" dirty="0" err="1"/>
              <a:t>위성군</a:t>
            </a:r>
            <a:r>
              <a:rPr lang="ko-KR" altLang="en-US" dirty="0"/>
              <a:t> 설계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[17] - Ma and Hsu </a:t>
            </a:r>
          </a:p>
          <a:p>
            <a:pPr lvl="1"/>
            <a:r>
              <a:rPr lang="ko-KR" altLang="en-US" dirty="0"/>
              <a:t>간격을 최소화하거나 </a:t>
            </a:r>
            <a:r>
              <a:rPr lang="ko-KR" altLang="en-US" dirty="0" err="1"/>
              <a:t>커버리지를</a:t>
            </a:r>
            <a:r>
              <a:rPr lang="ko-KR" altLang="en-US" dirty="0"/>
              <a:t> 최대화하는 것과 관련하여 허용 가능 시간 지연을 검색함으로써 </a:t>
            </a:r>
            <a:r>
              <a:rPr lang="en-US" altLang="ko-KR" dirty="0"/>
              <a:t>RGT </a:t>
            </a:r>
            <a:r>
              <a:rPr lang="ko-KR" altLang="en-US" dirty="0"/>
              <a:t>특성을 확장 </a:t>
            </a:r>
            <a:r>
              <a:rPr lang="en-US" altLang="ko-KR" dirty="0"/>
              <a:t>: [18] - </a:t>
            </a:r>
            <a:r>
              <a:rPr lang="en-US" altLang="ko-KR" dirty="0" err="1"/>
              <a:t>Pontani</a:t>
            </a:r>
            <a:r>
              <a:rPr lang="en-US" altLang="ko-KR" dirty="0"/>
              <a:t> and </a:t>
            </a:r>
            <a:r>
              <a:rPr lang="en-US" altLang="ko-KR" dirty="0" err="1"/>
              <a:t>Teofilatto</a:t>
            </a:r>
            <a:endParaRPr lang="en-US" altLang="ko-KR" dirty="0"/>
          </a:p>
          <a:p>
            <a:pPr lvl="1"/>
            <a:r>
              <a:rPr lang="ko-KR" altLang="en-US" dirty="0"/>
              <a:t>최대 재방문 시간을 최소화하기 위해 </a:t>
            </a:r>
            <a:r>
              <a:rPr lang="en-US" altLang="ko-KR" dirty="0"/>
              <a:t>metaheuristics</a:t>
            </a:r>
            <a:r>
              <a:rPr lang="ko-KR" altLang="en-US" dirty="0"/>
              <a:t> 방법을 사용하여 위성군을 설계 </a:t>
            </a:r>
            <a:r>
              <a:rPr lang="en-US" altLang="ko-KR" dirty="0"/>
              <a:t>: [19] - Crossley and Williams</a:t>
            </a:r>
          </a:p>
          <a:p>
            <a:pPr lvl="2"/>
            <a:r>
              <a:rPr lang="ko-KR" altLang="en-US" dirty="0"/>
              <a:t>지역 </a:t>
            </a:r>
            <a:r>
              <a:rPr lang="ko-KR" altLang="en-US" dirty="0" err="1"/>
              <a:t>위성군</a:t>
            </a:r>
            <a:r>
              <a:rPr lang="ko-KR" altLang="en-US" dirty="0"/>
              <a:t> 설계 알고리즘은 단일 대상 또는 연결된 영역과 관련하여 비대칭 구성을 생성할 수 있는 능력을 보여줌 </a:t>
            </a:r>
            <a:endParaRPr lang="en-US" altLang="ko-KR" dirty="0"/>
          </a:p>
          <a:p>
            <a:pPr lvl="2"/>
            <a:r>
              <a:rPr lang="ko-KR" altLang="en-US" dirty="0"/>
              <a:t>하지만 여러 하위 분류가 있는 목표지점에 대해 시간에 따라 변하는 요구조건에 대한 </a:t>
            </a:r>
            <a:r>
              <a:rPr lang="ko-KR" altLang="en-US" dirty="0" err="1"/>
              <a:t>위성군</a:t>
            </a:r>
            <a:r>
              <a:rPr lang="ko-KR" altLang="en-US" dirty="0"/>
              <a:t> 설계에는 적용되지 않음</a:t>
            </a:r>
            <a:endParaRPr lang="en-US" altLang="ko-KR" dirty="0"/>
          </a:p>
          <a:p>
            <a:pPr lvl="1"/>
            <a:r>
              <a:rPr lang="ko-KR" altLang="en-US" dirty="0"/>
              <a:t>복잡한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</a:t>
            </a:r>
            <a:r>
              <a:rPr lang="ko-KR" altLang="en-US" dirty="0" err="1"/>
              <a:t>위성군</a:t>
            </a:r>
            <a:r>
              <a:rPr lang="ko-KR" altLang="en-US" dirty="0"/>
              <a:t> 설계의 기하학적 접근법 </a:t>
            </a:r>
            <a:r>
              <a:rPr lang="en-US" altLang="ko-KR" dirty="0"/>
              <a:t>: [20] – </a:t>
            </a:r>
            <a:r>
              <a:rPr lang="en-US" altLang="ko-KR" dirty="0" err="1"/>
              <a:t>Ulybyshev</a:t>
            </a:r>
            <a:endParaRPr lang="en-US" altLang="ko-KR" dirty="0"/>
          </a:p>
          <a:p>
            <a:pPr lvl="2"/>
            <a:r>
              <a:rPr lang="ko-KR" altLang="en-US" dirty="0"/>
              <a:t>위성 위치 및 커버리지 기능을 위한 </a:t>
            </a:r>
            <a:r>
              <a:rPr lang="en-US" altLang="ko-KR" dirty="0"/>
              <a:t>2</a:t>
            </a:r>
            <a:r>
              <a:rPr lang="ko-KR" altLang="en-US" dirty="0"/>
              <a:t>차원 공간과 결합된 지도의 사용을 보여줌</a:t>
            </a:r>
            <a:endParaRPr lang="en-US" altLang="ko-KR" dirty="0"/>
          </a:p>
          <a:p>
            <a:pPr lvl="2"/>
            <a:r>
              <a:rPr lang="ko-KR" altLang="en-US" dirty="0"/>
              <a:t>비대칭 위성군에는 이 방법 적용할 수 없음 </a:t>
            </a:r>
            <a:r>
              <a:rPr lang="en-US" altLang="ko-KR" dirty="0"/>
              <a:t>: [15.21] - </a:t>
            </a:r>
            <a:r>
              <a:rPr lang="en-US" altLang="ko-KR" dirty="0" err="1"/>
              <a:t>Lecohier</a:t>
            </a:r>
            <a:r>
              <a:rPr lang="en-US" altLang="ko-KR" dirty="0"/>
              <a:t> and Mora as well as Wertz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15583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Literature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</a:p>
          <a:p>
            <a:pPr lvl="1"/>
            <a:r>
              <a:rPr lang="ko-KR" altLang="en-US" dirty="0"/>
              <a:t>연속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</a:t>
            </a:r>
            <a:r>
              <a:rPr lang="ko-KR" altLang="en-US" dirty="0" err="1"/>
              <a:t>위성군</a:t>
            </a:r>
            <a:r>
              <a:rPr lang="ko-KR" altLang="en-US" dirty="0"/>
              <a:t> 설계에 대한 역사 조사를 발표 </a:t>
            </a:r>
            <a:r>
              <a:rPr lang="en-US" altLang="ko-KR" dirty="0"/>
              <a:t>: [22] – </a:t>
            </a:r>
            <a:r>
              <a:rPr lang="en-US" altLang="ko-KR" dirty="0" err="1"/>
              <a:t>Ulybyshev</a:t>
            </a:r>
            <a:endParaRPr lang="en-US" altLang="ko-KR" dirty="0"/>
          </a:p>
          <a:p>
            <a:pPr lvl="1"/>
            <a:r>
              <a:rPr lang="ko-KR" altLang="en-US" dirty="0"/>
              <a:t>지역</a:t>
            </a:r>
            <a:r>
              <a:rPr lang="en-US" altLang="ko-KR" dirty="0"/>
              <a:t> </a:t>
            </a:r>
            <a:r>
              <a:rPr lang="ko-KR" altLang="en-US" dirty="0"/>
              <a:t>커버리지 문제의 세 가지 측면에 대해 답하는 방법론은 없음 </a:t>
            </a:r>
            <a:endParaRPr lang="en-US" altLang="ko-KR" dirty="0"/>
          </a:p>
          <a:p>
            <a:pPr lvl="2"/>
            <a:r>
              <a:rPr lang="ko-KR" altLang="en-US" dirty="0"/>
              <a:t>다중 대상 지점</a:t>
            </a:r>
            <a:endParaRPr lang="en-US" altLang="ko-KR" dirty="0"/>
          </a:p>
          <a:p>
            <a:pPr lvl="2"/>
            <a:r>
              <a:rPr lang="ko-KR" altLang="en-US" dirty="0"/>
              <a:t>복잡한 커버리지 요구조건</a:t>
            </a:r>
            <a:endParaRPr lang="en-US" altLang="ko-KR" dirty="0"/>
          </a:p>
          <a:p>
            <a:pPr lvl="2"/>
            <a:r>
              <a:rPr lang="ko-KR" altLang="en-US" dirty="0"/>
              <a:t>다중 하위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다중 하위 </a:t>
            </a:r>
            <a:r>
              <a:rPr lang="ko-KR" altLang="en-US" dirty="0" err="1"/>
              <a:t>위성군</a:t>
            </a:r>
            <a:r>
              <a:rPr lang="en-US" altLang="ko-KR" dirty="0"/>
              <a:t>, </a:t>
            </a:r>
            <a:r>
              <a:rPr lang="ko-KR" altLang="en-US" dirty="0"/>
              <a:t>그리고 여러 대상 지점에 대해</a:t>
            </a:r>
            <a:r>
              <a:rPr lang="en-US" altLang="ko-KR" dirty="0"/>
              <a:t>)</a:t>
            </a:r>
            <a:r>
              <a:rPr lang="ko-KR" altLang="en-US" dirty="0"/>
              <a:t> 주기적으로 시공간을 변화시키는 커버리지 요구조건을 위한 </a:t>
            </a:r>
            <a:r>
              <a:rPr lang="ko-KR" altLang="en-US" dirty="0" err="1"/>
              <a:t>위성군</a:t>
            </a:r>
            <a:r>
              <a:rPr lang="ko-KR" altLang="en-US" dirty="0"/>
              <a:t> 패턴을 설계하는 방법 구성이 목표</a:t>
            </a:r>
            <a:endParaRPr lang="en-US" altLang="ko-KR" dirty="0"/>
          </a:p>
          <a:p>
            <a:pPr lvl="1"/>
            <a:r>
              <a:rPr lang="en-US" altLang="ko-KR" dirty="0"/>
              <a:t>RGT</a:t>
            </a:r>
            <a:r>
              <a:rPr lang="ko-KR" altLang="en-US" dirty="0"/>
              <a:t>와 </a:t>
            </a:r>
            <a:r>
              <a:rPr lang="en-US" altLang="ko-KR" dirty="0"/>
              <a:t>CGT</a:t>
            </a:r>
            <a:r>
              <a:rPr lang="ko-KR" altLang="en-US" dirty="0"/>
              <a:t>와 이전 연구를 일반화하는 아이디어를 바탕으로 </a:t>
            </a:r>
            <a:r>
              <a:rPr lang="en-US" altLang="ko-KR" dirty="0"/>
              <a:t>: [26]</a:t>
            </a:r>
          </a:p>
          <a:p>
            <a:pPr lvl="2"/>
            <a:r>
              <a:rPr lang="en-US" altLang="ko-KR" dirty="0"/>
              <a:t>Ex. Flower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: [23-25]</a:t>
            </a:r>
          </a:p>
          <a:p>
            <a:pPr lvl="1"/>
            <a:r>
              <a:rPr lang="ko-KR" altLang="en-US" dirty="0" err="1"/>
              <a:t>위성군</a:t>
            </a:r>
            <a:r>
              <a:rPr lang="ko-KR" altLang="en-US" dirty="0"/>
              <a:t> 패턴 설계 문제의 원형 구조 특성을 공식화하고 이를 위한 두 가지 방법</a:t>
            </a:r>
            <a:endParaRPr lang="en-US" altLang="ko-KR" dirty="0"/>
          </a:p>
          <a:p>
            <a:pPr lvl="2"/>
            <a:r>
              <a:rPr lang="ko-KR" altLang="en-US" dirty="0"/>
              <a:t>기준선 및 다소 전통적인 </a:t>
            </a:r>
            <a:r>
              <a:rPr lang="en-US" altLang="ko-KR" dirty="0"/>
              <a:t>quasi-symmetric method</a:t>
            </a:r>
          </a:p>
          <a:p>
            <a:pPr lvl="2"/>
            <a:r>
              <a:rPr lang="ko-KR" altLang="en-US" dirty="0"/>
              <a:t>더 일반적이고 새로운 </a:t>
            </a:r>
            <a:r>
              <a:rPr lang="en-US" altLang="ko-KR" dirty="0"/>
              <a:t>BILP </a:t>
            </a:r>
            <a:r>
              <a:rPr lang="ko-KR" altLang="en-US" dirty="0"/>
              <a:t>방법 도출</a:t>
            </a:r>
          </a:p>
        </p:txBody>
      </p:sp>
    </p:spTree>
    <p:extLst>
      <p:ext uri="{BB962C8B-B14F-4D97-AF65-F5344CB8AC3E}">
        <p14:creationId xmlns:p14="http://schemas.microsoft.com/office/powerpoint/2010/main" val="29437235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Repeating Ground Track Orbit</a:t>
            </a:r>
          </a:p>
          <a:p>
            <a:pPr lvl="2"/>
            <a:r>
              <a:rPr lang="ko-KR" altLang="en-US" dirty="0"/>
              <a:t>지구 표면을 지나는 하위 위성의 자취로 정의</a:t>
            </a:r>
            <a:endParaRPr lang="en-US" altLang="ko-KR" dirty="0"/>
          </a:p>
          <a:p>
            <a:pPr lvl="2"/>
            <a:r>
              <a:rPr lang="ko-KR" altLang="en-US" dirty="0"/>
              <a:t>논문에서는 위성군의 궤도가 정확하고 주기적으로 반복될 수 있도록 </a:t>
            </a:r>
            <a:r>
              <a:rPr lang="en-US" altLang="ko-KR" dirty="0"/>
              <a:t>RGT</a:t>
            </a:r>
            <a:r>
              <a:rPr lang="ko-KR" altLang="en-US" dirty="0"/>
              <a:t>를 사용함</a:t>
            </a:r>
            <a:endParaRPr lang="en-US" altLang="ko-KR" dirty="0"/>
          </a:p>
          <a:p>
            <a:pPr lvl="2"/>
            <a:r>
              <a:rPr lang="ko-KR" altLang="en-US" dirty="0"/>
              <a:t>위성 수가 적은 </a:t>
            </a:r>
            <a:r>
              <a:rPr lang="ko-KR" altLang="en-US" dirty="0" err="1"/>
              <a:t>비반복</a:t>
            </a:r>
            <a:r>
              <a:rPr lang="ko-KR" altLang="en-US" dirty="0"/>
              <a:t> 궤도보다 더 나은 지역 커버리지 성능을 보임</a:t>
            </a:r>
            <a:endParaRPr lang="en-US" altLang="ko-KR" dirty="0"/>
          </a:p>
          <a:p>
            <a:pPr lvl="2"/>
            <a:r>
              <a:rPr lang="en-US" altLang="ko-KR" dirty="0"/>
              <a:t>ECEF </a:t>
            </a:r>
            <a:r>
              <a:rPr lang="ko-KR" altLang="en-US" dirty="0"/>
              <a:t>좌표계에서 </a:t>
            </a:r>
            <a:r>
              <a:rPr lang="en-US" altLang="ko-KR" dirty="0"/>
              <a:t>RGT</a:t>
            </a:r>
            <a:r>
              <a:rPr lang="ko-KR" altLang="en-US" dirty="0"/>
              <a:t>궤도는 궤도의 </a:t>
            </a:r>
            <a:r>
              <a:rPr lang="en-US" altLang="ko-KR" dirty="0"/>
              <a:t>nodal period(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period(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altLang="ko-KR" dirty="0"/>
              <a:t>)</a:t>
            </a:r>
            <a:r>
              <a:rPr lang="ko-KR" altLang="en-US" dirty="0"/>
              <a:t>의 배수일 때 달성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dirty="0"/>
              <a:t> : </a:t>
            </a:r>
            <a:r>
              <a:rPr lang="ko-KR" altLang="en-US" dirty="0"/>
              <a:t>위성에 의한  승교선을 지나는 연속되는 두 교차 사이의 시간 간격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altLang="ko-KR" dirty="0"/>
              <a:t> : </a:t>
            </a:r>
            <a:r>
              <a:rPr lang="ko-KR" altLang="en-US" dirty="0"/>
              <a:t>본초 자오선에 의한 승교선을 지나는 연속되는 두 교차 사이의 시간 간격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1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1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 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(Period of Repetition)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𝜏 = 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(Period Ratio) </a:t>
            </a:r>
            <a:r>
              <a:rPr lang="ko-KR" altLang="en-US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Semi-major axis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𝑎</a:t>
            </a:r>
            <a:r>
              <a:rPr lang="ko-KR" altLang="en-US" dirty="0"/>
              <a:t>를 대신하여 사용</a:t>
            </a:r>
            <a:endParaRPr lang="en-US" altLang="ko-KR" dirty="0"/>
          </a:p>
          <a:p>
            <a:pPr lvl="2"/>
            <a:r>
              <a:rPr lang="ko-KR" altLang="ko-KR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𝐽</a:t>
            </a:r>
            <a:r>
              <a:rPr lang="en-US" altLang="ko-KR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섭동만을 반영하면서 </a:t>
            </a:r>
            <a:r>
              <a:rPr lang="ko-KR" altLang="en-US" dirty="0"/>
              <a:t>위성의 수명 동안 동일한 지상 궤도를 수정하고 유지하기 위한 </a:t>
            </a:r>
            <a:r>
              <a:rPr lang="en-US" altLang="ko-KR" dirty="0"/>
              <a:t>maneuver</a:t>
            </a:r>
            <a:r>
              <a:rPr lang="ko-KR" altLang="en-US" dirty="0"/>
              <a:t>를 가정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9522FC-C46B-A4F8-E9B2-CACCB1692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805" y="5300311"/>
            <a:ext cx="1201079" cy="5786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643020-098F-2F16-2F11-AED9A31B3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037" y="5300311"/>
            <a:ext cx="1374771" cy="5786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2D7CBF-9848-751B-92B8-2A76AF417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194924"/>
            <a:ext cx="2637619" cy="78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5249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Common Ground Track Orbit</a:t>
            </a:r>
          </a:p>
          <a:p>
            <a:pPr lvl="2"/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논문에서는 위성군의 모든 위성의 지상 궤도가 중첩되어 하나의 공통 지상 궤도를 생성하도록 하는 </a:t>
            </a:r>
            <a:r>
              <a:rPr lang="ko-KR" altLang="en-US" dirty="0" err="1"/>
              <a:t>위성군</a:t>
            </a:r>
            <a:r>
              <a:rPr lang="ko-KR" altLang="en-US" dirty="0"/>
              <a:t> 패턴을 고려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위의 그림은 임의의 </a:t>
            </a:r>
            <a:r>
              <a:rPr lang="en-US" altLang="ko-KR" dirty="0"/>
              <a:t>9</a:t>
            </a:r>
            <a:r>
              <a:rPr lang="ko-KR" altLang="en-US" dirty="0"/>
              <a:t>개의 위성에 대한 </a:t>
            </a:r>
            <a:r>
              <a:rPr lang="en-US" altLang="ko-KR" dirty="0"/>
              <a:t>CGT</a:t>
            </a:r>
          </a:p>
          <a:p>
            <a:pPr lvl="2"/>
            <a:r>
              <a:rPr lang="en-US" altLang="ko-KR" dirty="0"/>
              <a:t>RGT </a:t>
            </a:r>
            <a:r>
              <a:rPr lang="ko-KR" altLang="en-US" dirty="0"/>
              <a:t>궤도는 다음과 같이 표현 가능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𝑖 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altLang="ko-KR" i="1" spc="5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pc="5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spc="5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pc="5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/(</a:t>
            </a:r>
            <a:r>
              <a:rPr lang="en-US" altLang="ko-KR" i="1" spc="5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 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−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 (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Walker</a:t>
            </a:r>
            <a:r>
              <a:rPr lang="en-US" altLang="ko-KR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notation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𝑖 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altLang="ko-KR" spc="22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𝑃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𝐹)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81A527-3C90-D0C6-D1AF-45D8B0EDB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55" y="2319687"/>
            <a:ext cx="4614802" cy="26666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7400291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Flower Constellation</a:t>
            </a:r>
          </a:p>
          <a:p>
            <a:pPr lvl="2"/>
            <a:r>
              <a:rPr lang="en-US" altLang="ko-KR" dirty="0"/>
              <a:t>RGT </a:t>
            </a:r>
            <a:r>
              <a:rPr lang="ko-KR" altLang="en-US" dirty="0"/>
              <a:t>궤도를 가진 </a:t>
            </a:r>
            <a:r>
              <a:rPr lang="en-US" altLang="ko-KR" dirty="0"/>
              <a:t>GCT </a:t>
            </a:r>
            <a:r>
              <a:rPr lang="ko-KR" altLang="en-US" dirty="0"/>
              <a:t>위성군은 </a:t>
            </a:r>
            <a:r>
              <a:rPr lang="en-US" altLang="ko-KR" dirty="0"/>
              <a:t>Original Flower Constellation </a:t>
            </a:r>
            <a:r>
              <a:rPr lang="ko-KR" altLang="en-US" dirty="0"/>
              <a:t>이론에 사용되는 가정</a:t>
            </a:r>
            <a:endParaRPr lang="en-US" altLang="ko-KR" dirty="0"/>
          </a:p>
          <a:p>
            <a:pPr lvl="2"/>
            <a:r>
              <a:rPr lang="ko-KR" altLang="en-US" dirty="0"/>
              <a:t>회전하는 </a:t>
            </a:r>
            <a:r>
              <a:rPr lang="en-US" altLang="ko-KR" dirty="0"/>
              <a:t>frame</a:t>
            </a:r>
            <a:r>
              <a:rPr lang="ko-KR" altLang="en-US" dirty="0"/>
              <a:t>에 대해 동일한 궤도를 따르는 </a:t>
            </a:r>
            <a:r>
              <a:rPr lang="en-US" altLang="ko-KR" dirty="0"/>
              <a:t>N</a:t>
            </a:r>
            <a:r>
              <a:rPr lang="ko-KR" altLang="en-US" dirty="0"/>
              <a:t>개의 위성의 집합으로 정의</a:t>
            </a:r>
            <a:endParaRPr lang="en-US" altLang="ko-KR" dirty="0"/>
          </a:p>
          <a:p>
            <a:pPr lvl="2"/>
            <a:r>
              <a:rPr lang="ko-KR" altLang="en-US" dirty="0"/>
              <a:t>다음과 같은 세</a:t>
            </a:r>
            <a:r>
              <a:rPr lang="en-US" altLang="ko-KR" dirty="0"/>
              <a:t> </a:t>
            </a:r>
            <a:r>
              <a:rPr lang="ko-KR" altLang="en-US" dirty="0"/>
              <a:t>가지 조건이 필요</a:t>
            </a:r>
            <a:endParaRPr lang="en-US" altLang="ko-KR" dirty="0"/>
          </a:p>
          <a:p>
            <a:pPr lvl="3"/>
            <a:r>
              <a:rPr lang="ko-KR" altLang="en-US" dirty="0"/>
              <a:t>각 위성의 공전 주기는 회전 </a:t>
            </a:r>
            <a:r>
              <a:rPr lang="en-US" altLang="ko-KR" dirty="0"/>
              <a:t>frame </a:t>
            </a:r>
            <a:r>
              <a:rPr lang="ko-KR" altLang="en-US" dirty="0"/>
              <a:t>주기의 배수</a:t>
            </a:r>
            <a:endParaRPr lang="en-US" altLang="ko-KR" dirty="0"/>
          </a:p>
          <a:p>
            <a:pPr lvl="3"/>
            <a:r>
              <a:rPr lang="ko-KR" altLang="en-US" dirty="0" err="1"/>
              <a:t>장반경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𝑎)</a:t>
            </a:r>
            <a:r>
              <a:rPr lang="en-US" altLang="ko-KR" dirty="0"/>
              <a:t>, </a:t>
            </a:r>
            <a:r>
              <a:rPr lang="ko-KR" altLang="en-US" dirty="0" err="1"/>
              <a:t>이심율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𝑒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altLang="ko-KR" dirty="0"/>
              <a:t>), </a:t>
            </a:r>
            <a:r>
              <a:rPr lang="ko-KR" altLang="en-US" dirty="0"/>
              <a:t>기울기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𝑖</a:t>
            </a:r>
            <a:r>
              <a:rPr lang="en-US" altLang="ko-KR" dirty="0"/>
              <a:t>), </a:t>
            </a:r>
            <a:r>
              <a:rPr lang="ko-KR" altLang="en-US" dirty="0"/>
              <a:t>근지점인수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𝜔</a:t>
            </a:r>
            <a:r>
              <a:rPr lang="en-US" altLang="ko-KR" dirty="0"/>
              <a:t>)</a:t>
            </a:r>
            <a:r>
              <a:rPr lang="ko-KR" altLang="en-US" dirty="0"/>
              <a:t>는 모든 궤도에서 동일</a:t>
            </a:r>
            <a:endParaRPr lang="en-US" altLang="ko-KR" dirty="0"/>
          </a:p>
          <a:p>
            <a:pPr lvl="3"/>
            <a:r>
              <a:rPr lang="ko-KR" altLang="en-US" dirty="0"/>
              <a:t>각 위성의 </a:t>
            </a:r>
            <a:r>
              <a:rPr lang="en-US" altLang="ko-KR" dirty="0"/>
              <a:t>ascending node(</a:t>
            </a:r>
            <a:r>
              <a:rPr lang="en-US" altLang="ko-KR" sz="1600" spc="3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Ω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mean anomaly(</a:t>
            </a:r>
            <a:r>
              <a:rPr lang="en-US" altLang="ko-KR" sz="1600" i="1" spc="2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𝑀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dirty="0"/>
              <a:t>)</a:t>
            </a:r>
            <a:r>
              <a:rPr lang="ko-KR" altLang="en-US" dirty="0"/>
              <a:t>는 다음을 만족</a:t>
            </a:r>
            <a:endParaRPr lang="en-US" altLang="ko-KR" dirty="0"/>
          </a:p>
          <a:p>
            <a:pPr lvl="4"/>
            <a:r>
              <a:rPr lang="en-US" altLang="ko-KR" sz="1600" i="1" spc="1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z="1600" spc="45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sz="1600" spc="3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Ω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600" i="1" spc="4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+</a:t>
            </a:r>
            <a:r>
              <a:rPr lang="en-US" altLang="ko-KR" sz="1600" spc="-6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i="1" spc="2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z="16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sz="1600" spc="-1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600" i="1" spc="2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𝑀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600" i="1" spc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z="1600" spc="1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</a:t>
            </a:r>
            <a:r>
              <a:rPr lang="en-US" altLang="ko-KR" sz="1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tant</a:t>
            </a:r>
            <a:r>
              <a:rPr lang="en-US" altLang="ko-KR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</a:t>
            </a:r>
            <a:r>
              <a:rPr lang="en-US" altLang="ko-KR" sz="16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600" spc="35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1600" spc="2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ko-KR" sz="1600" i="1" spc="3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𝜋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ko-KR" altLang="en-US" dirty="0"/>
              <a:t>본 논문에서는 위성의 궤도를 원형 또는 임계 타원형</a:t>
            </a:r>
            <a:r>
              <a:rPr lang="en-US" altLang="ko-KR" dirty="0"/>
              <a:t>(</a:t>
            </a:r>
            <a:r>
              <a:rPr lang="ko-KR" altLang="en-US" dirty="0"/>
              <a:t>𝑖 </a:t>
            </a:r>
            <a:r>
              <a:rPr lang="en-US" altLang="ko-KR" dirty="0"/>
              <a:t>= 63.4° or 116.6°)</a:t>
            </a:r>
            <a:r>
              <a:rPr lang="ko-KR" altLang="en-US" dirty="0"/>
              <a:t>으로 제한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4213712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Circular Convolution Formulation</a:t>
            </a:r>
          </a:p>
          <a:p>
            <a:pPr lvl="1"/>
            <a:r>
              <a:rPr lang="en-US" altLang="ko-KR" dirty="0"/>
              <a:t>Circular Convolution :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주로 위성 시스템의 신호 처리와 관련된 문제를 해결하기 위한 수학적인 표현이</a:t>
            </a:r>
            <a:r>
              <a:rPr lang="ko-KR" altLang="en-US" dirty="0">
                <a:solidFill>
                  <a:srgbClr val="374151"/>
                </a:solidFill>
                <a:latin typeface="Söhne"/>
              </a:rPr>
              <a:t>며</a:t>
            </a:r>
            <a:r>
              <a:rPr lang="en-US" altLang="ko-KR" dirty="0">
                <a:solidFill>
                  <a:srgbClr val="374151"/>
                </a:solidFill>
                <a:latin typeface="Söhne"/>
              </a:rPr>
              <a:t>,</a:t>
            </a:r>
            <a:r>
              <a:rPr lang="ko-KR" alt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주기적인 신호를 다른 신호와 합성하는 연산을 말함</a:t>
            </a:r>
            <a:endParaRPr lang="en-US" altLang="ko-KR" dirty="0"/>
          </a:p>
          <a:p>
            <a:pPr lvl="1"/>
            <a:r>
              <a:rPr lang="en-US" altLang="ko-KR" dirty="0"/>
              <a:t>Circular Convolution </a:t>
            </a:r>
            <a:r>
              <a:rPr lang="ko-KR" altLang="en-US" dirty="0"/>
              <a:t>현상의 도출은 시간 이산화</a:t>
            </a:r>
            <a:r>
              <a:rPr lang="en-US" altLang="ko-KR" dirty="0"/>
              <a:t>(</a:t>
            </a:r>
            <a:r>
              <a:rPr lang="en-US" altLang="ko-K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 discretization</a:t>
            </a:r>
            <a:r>
              <a:rPr lang="en-US" altLang="ko-KR" dirty="0"/>
              <a:t>)</a:t>
            </a:r>
            <a:r>
              <a:rPr lang="ko-KR" altLang="en-US" dirty="0"/>
              <a:t>를 활용</a:t>
            </a:r>
            <a:endParaRPr lang="en-US" altLang="ko-KR" dirty="0"/>
          </a:p>
          <a:p>
            <a:pPr lvl="1"/>
            <a:r>
              <a:rPr lang="en-US" altLang="ko-KR" dirty="0"/>
              <a:t>RGT </a:t>
            </a:r>
            <a:r>
              <a:rPr lang="ko-KR" altLang="en-US" dirty="0"/>
              <a:t>반복 기간이 커버리지 요구조건의 반복기간의 정수배인 경우를 고려함</a:t>
            </a:r>
            <a:endParaRPr lang="en-US" altLang="ko-KR" dirty="0"/>
          </a:p>
          <a:p>
            <a:pPr lvl="2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</a:t>
            </a:r>
            <a:r>
              <a:rPr lang="en-US" altLang="ko-KR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-3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4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𝐿𝑡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endParaRPr lang="en-US" altLang="ko-KR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2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</a:t>
            </a:r>
            <a:r>
              <a:rPr lang="en-US" altLang="ko-KR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altLang="ko-KR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altLang="ko-KR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simulation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en-US" altLang="ko-KR" spc="-2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horizon</a:t>
            </a:r>
            <a:endParaRPr lang="en-US" altLang="ko-KR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2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the repeat period of the orbit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9512620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Access Profile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58DBF1-876C-D29A-6508-5D61373C9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05" y="1379294"/>
            <a:ext cx="1859643" cy="26123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B173F9-98F8-5243-06CD-301EC7BC1C4D}"/>
              </a:ext>
            </a:extLst>
          </p:cNvPr>
          <p:cNvSpPr txBox="1"/>
          <p:nvPr/>
        </p:nvSpPr>
        <p:spPr>
          <a:xfrm>
            <a:off x="322448" y="482965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</a:t>
            </a:r>
            <a:r>
              <a:rPr lang="en-US" altLang="ko-KR" sz="1600" i="1" spc="24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</a:t>
            </a:r>
            <a:r>
              <a:rPr lang="en-US" altLang="ko-KR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 (</a:t>
            </a:r>
            <a:r>
              <a:rPr lang="ko-KR" altLang="en-US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∵ </a:t>
            </a:r>
            <a:r>
              <a:rPr lang="en-US" altLang="ko-KR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Rotation of the Earth)</a:t>
            </a:r>
            <a:r>
              <a:rPr lang="en-US" altLang="ko-KR" sz="16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766F51-F896-EBF9-F990-B41887881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233" y="1379294"/>
            <a:ext cx="5108088" cy="39846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B168EB-3FBA-B678-7527-465B8D5CE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07" y="4204433"/>
            <a:ext cx="2838450" cy="5429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B5A6DF-A937-EBE7-E1F4-DB93C2EC3648}"/>
              </a:ext>
            </a:extLst>
          </p:cNvPr>
          <p:cNvSpPr txBox="1"/>
          <p:nvPr/>
        </p:nvSpPr>
        <p:spPr>
          <a:xfrm>
            <a:off x="3609040" y="5463322"/>
            <a:ext cx="53304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위성의 고도가 임무 제한조건에 의해 결정되는 최소 </a:t>
            </a:r>
            <a:r>
              <a:rPr lang="ko-KR" altLang="en-US" sz="1400" dirty="0" err="1"/>
              <a:t>고도각</a:t>
            </a:r>
            <a:r>
              <a:rPr lang="en-US" altLang="ko-KR" sz="1400" dirty="0"/>
              <a:t>(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</a:t>
            </a:r>
            <a:r>
              <a:rPr lang="en-US" altLang="ko-KR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</a:t>
            </a:r>
            <a:r>
              <a:rPr lang="en-US" altLang="ko-KR" sz="1400" dirty="0"/>
              <a:t>)</a:t>
            </a:r>
            <a:r>
              <a:rPr lang="ko-KR" altLang="en-US" sz="1400" dirty="0"/>
              <a:t> 이상일 때 목표 지점에서 가시적이거나 접근</a:t>
            </a:r>
            <a:r>
              <a:rPr lang="en-US" altLang="ko-KR" sz="1400" dirty="0"/>
              <a:t>(Access) 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29538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Access Profile</a:t>
            </a:r>
          </a:p>
          <a:p>
            <a:pPr lvl="1"/>
            <a:r>
              <a:rPr lang="ko-KR" altLang="en-US" dirty="0"/>
              <a:t>𝜀</a:t>
            </a:r>
            <a:r>
              <a:rPr lang="en-US" altLang="ko-KR" dirty="0"/>
              <a:t>(</a:t>
            </a:r>
            <a:r>
              <a:rPr lang="ko-KR" altLang="en-US" dirty="0"/>
              <a:t>𝑡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ko-KR" altLang="en-US" dirty="0"/>
              <a:t>마다 샘플링 되어 길이가 </a:t>
            </a:r>
            <a:r>
              <a:rPr lang="en-US" altLang="ko-KR" dirty="0"/>
              <a:t>L</a:t>
            </a:r>
            <a:r>
              <a:rPr lang="ko-KR" altLang="en-US" dirty="0"/>
              <a:t>인 이산 시간 </a:t>
            </a:r>
            <a:r>
              <a:rPr lang="ko-KR" altLang="en-US" dirty="0" err="1"/>
              <a:t>고도각</a:t>
            </a:r>
            <a:r>
              <a:rPr lang="ko-KR" altLang="en-US" dirty="0"/>
              <a:t> 함수 𝜀</a:t>
            </a:r>
            <a:r>
              <a:rPr lang="en-US" altLang="ko-KR" dirty="0"/>
              <a:t>[n]</a:t>
            </a:r>
            <a:r>
              <a:rPr lang="ko-KR" altLang="en-US" dirty="0"/>
              <a:t>을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k = </a:t>
            </a:r>
            <a:r>
              <a:rPr lang="ko-KR" altLang="en-US" dirty="0"/>
              <a:t>위성 수 </a:t>
            </a:r>
            <a:r>
              <a:rPr lang="en-US" altLang="ko-KR" dirty="0"/>
              <a:t>(k</a:t>
            </a:r>
            <a:r>
              <a:rPr lang="ko-KR" altLang="en-US" dirty="0"/>
              <a:t>번째 위성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  <a:endParaRPr lang="en-US" altLang="ko-KR" dirty="0"/>
          </a:p>
          <a:p>
            <a:pPr lvl="2"/>
            <a:r>
              <a:rPr lang="en-US" altLang="ko-KR" dirty="0"/>
              <a:t>j = </a:t>
            </a:r>
            <a:r>
              <a:rPr lang="ko-KR" altLang="en-US" dirty="0"/>
              <a:t>목표 지점의 수 </a:t>
            </a:r>
            <a:r>
              <a:rPr lang="en-US" altLang="ko-KR" dirty="0"/>
              <a:t>(j</a:t>
            </a:r>
            <a:r>
              <a:rPr lang="ko-KR" altLang="en-US" dirty="0"/>
              <a:t>번째 목표 지점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n = </a:t>
            </a:r>
            <a:r>
              <a:rPr lang="ko-KR" altLang="en-US" dirty="0"/>
              <a:t>이산 시간 </a:t>
            </a:r>
            <a:r>
              <a:rPr lang="en-US" altLang="ko-KR" dirty="0"/>
              <a:t>(</a:t>
            </a:r>
            <a:r>
              <a:rPr lang="ko-KR" altLang="en-US" dirty="0"/>
              <a:t>각각의 이산 시간 </a:t>
            </a:r>
            <a:r>
              <a:rPr lang="en-US" altLang="ko-KR" dirty="0"/>
              <a:t>:</a:t>
            </a:r>
            <a:r>
              <a:rPr lang="ko-KR" altLang="en-US" dirty="0"/>
              <a:t> 𝑛 ∈ </a:t>
            </a:r>
            <a:r>
              <a:rPr lang="en-US" altLang="ko-KR" dirty="0"/>
              <a:t>{0, …, </a:t>
            </a:r>
            <a:r>
              <a:rPr lang="ko-KR" altLang="en-US" dirty="0"/>
              <a:t>𝐿 − </a:t>
            </a:r>
            <a:r>
              <a:rPr lang="en-US" altLang="ko-KR" dirty="0"/>
              <a:t>1})</a:t>
            </a:r>
          </a:p>
          <a:p>
            <a:pPr lvl="1"/>
            <a:r>
              <a:rPr lang="ko-KR" altLang="en-US" dirty="0"/>
              <a:t>주어진 위성 대상에 대해 적어도 하나의 </a:t>
            </a:r>
            <a:r>
              <a:rPr lang="en-US" altLang="ko-KR" dirty="0"/>
              <a:t>access interval</a:t>
            </a:r>
            <a:r>
              <a:rPr lang="ko-KR" altLang="en-US" dirty="0"/>
              <a:t>이 있어야 함</a:t>
            </a:r>
            <a:endParaRPr lang="en-US" altLang="ko-KR" dirty="0"/>
          </a:p>
          <a:p>
            <a:pPr lvl="2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프로필은 </a:t>
            </a:r>
            <a:r>
              <a:rPr lang="en-US" altLang="ko-KR" dirty="0"/>
              <a:t>0</a:t>
            </a:r>
            <a:r>
              <a:rPr lang="ko-KR" altLang="en-US" dirty="0"/>
              <a:t>이 아닌 벡터여야 함</a:t>
            </a:r>
            <a:endParaRPr lang="en-US" altLang="ko-KR" dirty="0"/>
          </a:p>
          <a:p>
            <a:pPr lvl="1"/>
            <a:r>
              <a:rPr lang="ko-KR" altLang="en-US" dirty="0" err="1"/>
              <a:t>시드</a:t>
            </a:r>
            <a:r>
              <a:rPr lang="ko-KR" altLang="en-US" dirty="0"/>
              <a:t> 위성 </a:t>
            </a:r>
            <a:r>
              <a:rPr lang="en-US" altLang="ko-KR" dirty="0"/>
              <a:t>: </a:t>
            </a:r>
            <a:r>
              <a:rPr lang="ko-KR" altLang="en-US" dirty="0"/>
              <a:t>위성군에 대해 </a:t>
            </a:r>
            <a:r>
              <a:rPr lang="en-US" altLang="ko-KR" dirty="0"/>
              <a:t>reference</a:t>
            </a:r>
            <a:r>
              <a:rPr lang="ko-KR" altLang="en-US" dirty="0"/>
              <a:t> 궤도 정보를 전달하는 가상의 위성</a:t>
            </a:r>
            <a:endParaRPr lang="en-US" altLang="ko-KR" dirty="0"/>
          </a:p>
          <a:p>
            <a:pPr lvl="2"/>
            <a:r>
              <a:rPr lang="ko-KR" altLang="en-US" dirty="0" err="1"/>
              <a:t>시드</a:t>
            </a:r>
            <a:r>
              <a:rPr lang="ko-KR" altLang="en-US" dirty="0"/>
              <a:t> 위성 궤도 요소 벡터 </a:t>
            </a:r>
            <a:r>
              <a:rPr lang="en-US" altLang="ko-KR" dirty="0"/>
              <a:t>: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œ0 = [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𝜏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𝑒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𝑖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ω, </a:t>
            </a:r>
            <a:r>
              <a:rPr lang="ko-KR" altLang="el-GR" b="0" i="0" dirty="0">
                <a:solidFill>
                  <a:srgbClr val="000000"/>
                </a:solidFill>
                <a:effectLst/>
                <a:latin typeface="noto"/>
              </a:rPr>
              <a:t>𝑇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0, </a:t>
            </a:r>
            <a:r>
              <a:rPr lang="ko-KR" altLang="el-GR" b="0" i="0" dirty="0">
                <a:solidFill>
                  <a:srgbClr val="000000"/>
                </a:solidFill>
                <a:effectLst/>
                <a:latin typeface="noto"/>
              </a:rPr>
              <a:t>𝑀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0]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2"/>
            <a:r>
              <a:rPr lang="ko-KR" altLang="en-US" dirty="0"/>
              <a:t>가상의 위성이기 때문에 실제 위치는 고려되지 않음</a:t>
            </a:r>
            <a:endParaRPr lang="en-US" altLang="ko-KR" dirty="0"/>
          </a:p>
          <a:p>
            <a:pPr lvl="3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4EE408-0769-9B24-1F35-5FD57BF3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75" y="1815539"/>
            <a:ext cx="36957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990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Coverage Timeline</a:t>
            </a:r>
          </a:p>
          <a:p>
            <a:pPr lvl="1"/>
            <a:r>
              <a:rPr lang="ko-KR" altLang="en-US" dirty="0"/>
              <a:t>위성군에는 여러 위성이 있기 때문에 목표 지점에 대한 커버리지 타임라인을 만들기 위해 액세스 프로필이 서로 맞물려야 함</a:t>
            </a:r>
            <a:endParaRPr lang="en-US" altLang="ko-KR" dirty="0"/>
          </a:p>
          <a:p>
            <a:pPr lvl="1"/>
            <a:r>
              <a:rPr lang="ko-KR" altLang="en-US" dirty="0"/>
              <a:t>따라서 커버리지 타임라인 </a:t>
            </a:r>
            <a:r>
              <a:rPr lang="en-US" altLang="ko-KR" dirty="0"/>
              <a:t>b</a:t>
            </a:r>
            <a:r>
              <a:rPr lang="ko-KR" altLang="en-US" dirty="0"/>
              <a:t>는 여러 위성들과 </a:t>
            </a:r>
            <a:r>
              <a:rPr lang="en-US" altLang="ko-KR" dirty="0"/>
              <a:t>j</a:t>
            </a:r>
            <a:r>
              <a:rPr lang="ko-KR" altLang="en-US" dirty="0"/>
              <a:t>번째 목표 지점 사이의 접근 프로필임</a:t>
            </a:r>
            <a:endParaRPr lang="en-US" altLang="ko-KR" dirty="0"/>
          </a:p>
          <a:p>
            <a:pPr lvl="1"/>
            <a:r>
              <a:rPr lang="ko-KR" altLang="en-US" dirty="0"/>
              <a:t>이산 시간 순간 </a:t>
            </a:r>
            <a:r>
              <a:rPr lang="en-US" altLang="ko-KR" dirty="0"/>
              <a:t>n</a:t>
            </a:r>
            <a:r>
              <a:rPr lang="ko-KR" altLang="en-US" dirty="0"/>
              <a:t>에서 보이는 위성 수에 대한 정보를 저장함 </a:t>
            </a:r>
            <a:endParaRPr lang="en-US" altLang="ko-KR" dirty="0"/>
          </a:p>
          <a:p>
            <a:pPr lvl="1"/>
            <a:r>
              <a:rPr lang="ko-KR" altLang="en-US" dirty="0" err="1"/>
              <a:t>시드</a:t>
            </a:r>
            <a:r>
              <a:rPr lang="ko-KR" altLang="en-US" dirty="0"/>
              <a:t> 위성은 가상이기 때문에 액세스 프로필은 커버리지 타임라인에서 고려되지 않음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724DC4-AF50-25B1-1213-60BEEC55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3597442"/>
            <a:ext cx="2562864" cy="2553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D699D7-A416-5F1A-AB80-7B9689CDA394}"/>
              </a:ext>
            </a:extLst>
          </p:cNvPr>
          <p:cNvSpPr txBox="1"/>
          <p:nvPr/>
        </p:nvSpPr>
        <p:spPr>
          <a:xfrm>
            <a:off x="3446921" y="359310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Seed Satellite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93F4E52-6813-921D-D176-2B78D3D51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974" y="4421545"/>
            <a:ext cx="2009101" cy="8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1938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Coverage Requirement</a:t>
            </a:r>
          </a:p>
          <a:p>
            <a:pPr lvl="1"/>
            <a:r>
              <a:rPr lang="ko-KR" altLang="en-US" dirty="0"/>
              <a:t>커버리지 요구조건을 아래와 같이 정의할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관심 지역이 여러 개 </a:t>
            </a:r>
            <a:r>
              <a:rPr lang="ko-KR" altLang="en-US" dirty="0" err="1"/>
              <a:t>일때</a:t>
            </a:r>
            <a:r>
              <a:rPr lang="en-US" altLang="ko-KR" dirty="0"/>
              <a:t>, </a:t>
            </a:r>
            <a:r>
              <a:rPr lang="ko-KR" altLang="en-US" dirty="0"/>
              <a:t>커버리지 요구조건을 아래와 같이 정의할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4CB1BA-999B-FFC2-F172-865DC796D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61" y="1715432"/>
            <a:ext cx="4603844" cy="123759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0B63E46-752F-C20D-FF9A-5770E6420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8" y="3521344"/>
            <a:ext cx="3093980" cy="123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5925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3. Constellation Pattern Vector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k</a:t>
            </a:r>
            <a:r>
              <a:rPr lang="ko-KR" altLang="en-US" dirty="0"/>
              <a:t>번째 위성은 </a:t>
            </a:r>
            <a:r>
              <a:rPr lang="ko-KR" altLang="en-US" dirty="0" err="1"/>
              <a:t>시드</a:t>
            </a:r>
            <a:r>
              <a:rPr lang="ko-KR" altLang="en-US" dirty="0"/>
              <a:t> 위성과 비교하여 </a:t>
            </a:r>
            <a:r>
              <a:rPr lang="en-US" altLang="ko-KR" sz="18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Δ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sz="18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𝑛</a:t>
            </a:r>
            <a:r>
              <a:rPr lang="en-US" altLang="ko-KR" sz="18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/>
              <a:t>만큼 시간 지연이 발생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672F9F-8A0B-B1D2-66BA-3A5084CA2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1" y="1446797"/>
            <a:ext cx="6657975" cy="2400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8391B8-28B3-606D-1972-15455B285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70" y="4423663"/>
            <a:ext cx="2426317" cy="1329489"/>
          </a:xfrm>
          <a:prstGeom prst="rect">
            <a:avLst/>
          </a:prstGeom>
        </p:spPr>
      </p:pic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E4F3E765-7FBA-365C-B83D-86E78A4C3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5590" y="4691353"/>
          <a:ext cx="1371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5" imgW="1371600" imgH="876240" progId="Paint.Picture">
                  <p:embed/>
                </p:oleObj>
              </mc:Choice>
              <mc:Fallback>
                <p:oleObj name="비트맵 이미지" r:id="rId5" imgW="1371600" imgH="876240" progId="Paint.Picture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E4F3E765-7FBA-365C-B83D-86E78A4C3E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15590" y="4691353"/>
                        <a:ext cx="13716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92B0C31B-701F-FC19-93E2-F78076577BD3}"/>
              </a:ext>
            </a:extLst>
          </p:cNvPr>
          <p:cNvSpPr/>
          <p:nvPr/>
        </p:nvSpPr>
        <p:spPr bwMode="auto">
          <a:xfrm>
            <a:off x="3524036" y="4901715"/>
            <a:ext cx="705233" cy="349321"/>
          </a:xfrm>
          <a:prstGeom prst="rightArrow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5484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4. Circular Convolution Phenomenon</a:t>
            </a:r>
          </a:p>
          <a:p>
            <a:pPr lvl="1"/>
            <a:r>
              <a:rPr lang="ko-KR" altLang="en-US" dirty="0"/>
              <a:t>앞에서 정의한 함수들을 종합하여 다음 식과 같이 정리할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열의 인덱스 𝛼</a:t>
            </a:r>
            <a:r>
              <a:rPr lang="en-US" altLang="ko-KR" dirty="0"/>
              <a:t>, β (</a:t>
            </a:r>
            <a:r>
              <a:rPr lang="ko-KR" altLang="en-US" dirty="0"/>
              <a:t>∈ </a:t>
            </a:r>
            <a:r>
              <a:rPr lang="en-US" altLang="ko-KR" dirty="0"/>
              <a:t>{0, 1, · · · , </a:t>
            </a:r>
            <a:r>
              <a:rPr lang="ko-KR" altLang="en-US" dirty="0"/>
              <a:t>𝐿 − </a:t>
            </a:r>
            <a:r>
              <a:rPr lang="en-US" altLang="ko-KR" dirty="0"/>
              <a:t>1}) </a:t>
            </a:r>
            <a:r>
              <a:rPr lang="ko-KR" altLang="en-US" dirty="0"/>
              <a:t>에 따라 정리된 최종 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6BBA6A-27B1-630D-ED1C-B4334C00E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06" y="1829220"/>
            <a:ext cx="5466885" cy="15954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60F13E-8AAC-4AB6-8B9B-CDC34E15A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266" y="2288801"/>
            <a:ext cx="1943100" cy="676275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F38245E6-4BF6-66E0-D3C3-266C1CB6B11C}"/>
              </a:ext>
            </a:extLst>
          </p:cNvPr>
          <p:cNvSpPr/>
          <p:nvPr/>
        </p:nvSpPr>
        <p:spPr bwMode="auto">
          <a:xfrm>
            <a:off x="6408060" y="2452277"/>
            <a:ext cx="705233" cy="349321"/>
          </a:xfrm>
          <a:prstGeom prst="rightArrow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D5942EB-3122-E5BD-7C04-8EC024255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057" y="4265032"/>
            <a:ext cx="3892199" cy="51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3797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4. Circular Convolution Phenomenon</a:t>
                </a:r>
              </a:p>
              <a:p>
                <a:pPr lvl="1"/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œ = [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𝜏</a:t>
                </a:r>
                <a:r>
                  <a:rPr lang="en-US" altLang="ko-KR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 =𝑁</a:t>
                </a:r>
                <a:r>
                  <a:rPr lang="en-US" altLang="ko-KR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en-US" altLang="ko-KR" dirty="0">
                    <a:effectLst/>
                    <a:latin typeface="Lucida Sans Unicode" panose="020B0602030504020204" pitchFamily="34" charset="0"/>
                    <a:ea typeface="Lucida Sans Unicode" panose="020B0602030504020204" pitchFamily="34" charset="0"/>
                    <a:cs typeface="Times New Roman" panose="02020603050405020304" pitchFamily="18" charset="0"/>
                  </a:rPr>
                  <a:t>/</a:t>
                </a:r>
                <a:r>
                  <a:rPr lang="en-US" altLang="ko-KR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𝑁</a:t>
                </a:r>
                <a:r>
                  <a:rPr lang="en-US" altLang="ko-KR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𝑒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𝑖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ω, </a:t>
                </a:r>
                <a:r>
                  <a:rPr lang="ko-KR" altLang="el-GR" b="0" i="0" dirty="0">
                    <a:solidFill>
                      <a:srgbClr val="000000"/>
                    </a:solidFill>
                    <a:effectLst/>
                    <a:latin typeface="noto"/>
                  </a:rPr>
                  <a:t>𝑇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0, </a:t>
                </a:r>
                <a:r>
                  <a:rPr lang="ko-KR" altLang="el-GR" b="0" i="0" dirty="0">
                    <a:solidFill>
                      <a:srgbClr val="000000"/>
                    </a:solidFill>
                    <a:effectLst/>
                    <a:latin typeface="noto"/>
                  </a:rPr>
                  <a:t>𝑀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0]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pPr lvl="2"/>
                <a:r>
                  <a:rPr lang="fr-FR" altLang="ko-KR" dirty="0"/>
                  <a:t>œ1 = [4/1, 0, 50°, 0°, 350.2°, 0°]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fr-FR" altLang="ko-KR" dirty="0"/>
                  <a:t> </a:t>
                </a:r>
              </a:p>
              <a:p>
                <a:pPr lvl="2"/>
                <a:r>
                  <a:rPr lang="fr-FR" altLang="ko-KR" dirty="0"/>
                  <a:t>œ2 = [4/1, 0, 50°, 0°, 170.2°, 0°]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fr-FR" altLang="ko-KR" dirty="0"/>
                  <a:t> 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CB9ADDC-4DFB-32AE-BAD4-E9DC9627C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39" y="2958956"/>
            <a:ext cx="3140616" cy="31243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2D8CD91-909F-E558-698B-8D9FD9033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004" y="3040947"/>
            <a:ext cx="3827214" cy="3042352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1BB2516-A5D9-4013-351D-6AD6163CE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995425"/>
              </p:ext>
            </p:extLst>
          </p:nvPr>
        </p:nvGraphicFramePr>
        <p:xfrm>
          <a:off x="4171004" y="1718917"/>
          <a:ext cx="4715916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2817321279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3004374232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785986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36.7°N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137.48°E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0, 360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8116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Baseline: Quasi-Symmetric Method</a:t>
            </a:r>
          </a:p>
          <a:p>
            <a:pPr lvl="1"/>
            <a:r>
              <a:rPr lang="ko-KR" altLang="en-US" dirty="0"/>
              <a:t>공통의 닫힌 궤적을 따라 균일한 시간 간격으로 </a:t>
            </a:r>
            <a:r>
              <a:rPr lang="ko-KR" altLang="en-US" dirty="0" err="1"/>
              <a:t>위성군</a:t>
            </a:r>
            <a:r>
              <a:rPr lang="ko-KR" altLang="en-US" dirty="0"/>
              <a:t> 패턴을 설계</a:t>
            </a:r>
            <a:endParaRPr lang="en-US" altLang="ko-KR" dirty="0"/>
          </a:p>
          <a:p>
            <a:pPr lvl="1"/>
            <a:r>
              <a:rPr lang="ko-KR" altLang="en-US" dirty="0"/>
              <a:t>위성간 균일 시간간격 상수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η = </a:t>
            </a:r>
            <a:r>
              <a:rPr lang="ko-KR" altLang="en-US" dirty="0"/>
              <a:t>정수일</a:t>
            </a:r>
            <a:r>
              <a:rPr lang="en-US" altLang="ko-KR" dirty="0"/>
              <a:t> </a:t>
            </a:r>
            <a:r>
              <a:rPr lang="ko-KR" altLang="en-US" dirty="0"/>
              <a:t>때</a:t>
            </a:r>
            <a:r>
              <a:rPr lang="en-US" altLang="ko-KR" dirty="0"/>
              <a:t>                                      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η = </a:t>
            </a:r>
            <a:r>
              <a:rPr lang="ko-KR" altLang="en-US" dirty="0"/>
              <a:t>정수가 아닐</a:t>
            </a:r>
            <a:r>
              <a:rPr lang="en-US" altLang="ko-KR" dirty="0"/>
              <a:t> </a:t>
            </a:r>
            <a:r>
              <a:rPr lang="ko-KR" altLang="en-US" dirty="0"/>
              <a:t>때</a:t>
            </a:r>
            <a:r>
              <a:rPr lang="en-US" altLang="ko-KR" dirty="0"/>
              <a:t>                                     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B2D6B7-B056-89EC-2F7B-1DE13BE58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895" y="2196280"/>
            <a:ext cx="923109" cy="711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F82BA1-8085-704D-6E0F-3C0054466982}"/>
              </a:ext>
            </a:extLst>
          </p:cNvPr>
          <p:cNvSpPr txBox="1"/>
          <p:nvPr/>
        </p:nvSpPr>
        <p:spPr>
          <a:xfrm>
            <a:off x="1735015" y="2364392"/>
            <a:ext cx="7151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/>
              <a:t>(L : </a:t>
            </a:r>
            <a:r>
              <a:rPr lang="ko-KR" altLang="en-US" dirty="0" err="1"/>
              <a:t>위성군</a:t>
            </a:r>
            <a:r>
              <a:rPr lang="en-US" altLang="ko-KR" dirty="0"/>
              <a:t> </a:t>
            </a:r>
            <a:r>
              <a:rPr lang="ko-KR" altLang="en-US" dirty="0"/>
              <a:t>패턴 벡터의 길이</a:t>
            </a:r>
            <a:r>
              <a:rPr lang="en-US" altLang="ko-KR" dirty="0"/>
              <a:t>, N : </a:t>
            </a:r>
            <a:r>
              <a:rPr lang="ko-KR" altLang="en-US" dirty="0"/>
              <a:t>시간지연이 발생한 위성의 수</a:t>
            </a:r>
            <a:r>
              <a:rPr lang="en-US" altLang="ko-KR" dirty="0"/>
              <a:t>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388415A-30F9-5594-CF9F-965C4D79B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927" y="3305974"/>
            <a:ext cx="4066667" cy="1066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A62C1E0-FEA8-01AE-206A-7758CF5BE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885" y="4691946"/>
            <a:ext cx="4476190" cy="1190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7865E93-C8A4-7D8C-DF86-20A0DDF9B4F8}"/>
              </a:ext>
            </a:extLst>
          </p:cNvPr>
          <p:cNvSpPr txBox="1"/>
          <p:nvPr/>
        </p:nvSpPr>
        <p:spPr>
          <a:xfrm>
            <a:off x="3034002" y="595100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(</a:t>
            </a:r>
            <a:r>
              <a:rPr lang="en-US" altLang="ko-KR" sz="1400" dirty="0" err="1"/>
              <a:t>nint</a:t>
            </a:r>
            <a:r>
              <a:rPr lang="en-US" altLang="ko-KR" sz="1400" dirty="0"/>
              <a:t> is the nearest integer function)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1918525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Baseline: Quasi-Symmetric Method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2F082E-E08B-A0F8-A905-9BD0D384E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76" y="1726457"/>
            <a:ext cx="52292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2124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r>
              <a:rPr lang="en-US" altLang="ko-KR" dirty="0"/>
              <a:t>Quasi method</a:t>
            </a:r>
            <a:r>
              <a:rPr lang="ko-KR" altLang="en-US" dirty="0"/>
              <a:t>와 다르게 대칭을 가정하지 않으며 더 엄격하고 일반적인 방식으로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을 최적화 하기 위한 방법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9A4254-C37B-D82C-195C-C4E7620CD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132901"/>
            <a:ext cx="1371429" cy="5523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5839B18-F4A2-6784-616A-F5B161D5A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2855199"/>
            <a:ext cx="6571429" cy="1580952"/>
          </a:xfrm>
          <a:prstGeom prst="rect">
            <a:avLst/>
          </a:prstGeom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E1C85674-D4E8-8B95-02B1-17CF0903946C}"/>
              </a:ext>
            </a:extLst>
          </p:cNvPr>
          <p:cNvSpPr/>
          <p:nvPr/>
        </p:nvSpPr>
        <p:spPr bwMode="auto">
          <a:xfrm>
            <a:off x="4345969" y="4623371"/>
            <a:ext cx="513708" cy="6061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1680B24-DEF5-B500-2AC2-75899CFD4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4814" y="5567842"/>
            <a:ext cx="3180952" cy="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1162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r>
              <a:rPr lang="en-US" altLang="ko-KR" dirty="0"/>
              <a:t>f</a:t>
            </a:r>
            <a:r>
              <a:rPr lang="ko-KR" altLang="en-US" dirty="0"/>
              <a:t>를 만족시키는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를 찾을 수 있음 </a:t>
            </a:r>
            <a:endParaRPr lang="en-US" altLang="ko-KR" dirty="0"/>
          </a:p>
          <a:p>
            <a:pPr lvl="1"/>
            <a:r>
              <a:rPr lang="ko-KR" altLang="en-US" dirty="0"/>
              <a:t>하지만 이 과정에서 얻은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는 반드시 </a:t>
            </a:r>
            <a:r>
              <a:rPr lang="en-US" altLang="ko-KR" dirty="0"/>
              <a:t>binary vector</a:t>
            </a:r>
            <a:r>
              <a:rPr lang="ko-KR" altLang="en-US" dirty="0"/>
              <a:t>는 아님</a:t>
            </a:r>
            <a:endParaRPr lang="en-US" altLang="ko-KR" dirty="0"/>
          </a:p>
          <a:p>
            <a:pPr lvl="2"/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특성을 위반</a:t>
            </a:r>
            <a:endParaRPr lang="en-US" altLang="ko-KR" dirty="0"/>
          </a:p>
          <a:p>
            <a:pPr lvl="1"/>
            <a:r>
              <a:rPr lang="ko-KR" altLang="en-US" dirty="0"/>
              <a:t>따라서 네 단계를 통해 이진 정수 선형 프로그래밍</a:t>
            </a:r>
            <a:r>
              <a:rPr lang="en-US" altLang="ko-KR" dirty="0"/>
              <a:t>(BILP)</a:t>
            </a:r>
            <a:r>
              <a:rPr lang="ko-KR" altLang="en-US" dirty="0"/>
              <a:t>을 해야 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BF3FF73-57B8-8906-0E6D-BABD599D8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726" y="2967039"/>
            <a:ext cx="48101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2445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r>
              <a:rPr lang="ko-KR" altLang="en-US" dirty="0"/>
              <a:t>이진 정수 선형 프로그래밍</a:t>
            </a:r>
            <a:r>
              <a:rPr lang="en-US" altLang="ko-KR" dirty="0"/>
              <a:t>(BILP) </a:t>
            </a:r>
            <a:r>
              <a:rPr lang="ko-KR" altLang="en-US" dirty="0"/>
              <a:t>과정</a:t>
            </a:r>
            <a:endParaRPr lang="en-US" altLang="ko-KR" dirty="0"/>
          </a:p>
          <a:p>
            <a:pPr lvl="2"/>
            <a:r>
              <a:rPr lang="en-US" altLang="ko-KR" dirty="0"/>
              <a:t>1. Multiple Target Points : target point</a:t>
            </a:r>
            <a:r>
              <a:rPr lang="ko-KR" altLang="en-US" dirty="0"/>
              <a:t>를 </a:t>
            </a:r>
            <a:r>
              <a:rPr lang="en-US" altLang="ko-KR" dirty="0"/>
              <a:t>0~J</a:t>
            </a:r>
            <a:r>
              <a:rPr lang="ko-KR" altLang="en-US" dirty="0"/>
              <a:t>번째 까지 고려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2. Multiple </a:t>
            </a:r>
            <a:r>
              <a:rPr lang="en-US" altLang="ko-KR" dirty="0" err="1"/>
              <a:t>Subconstellations</a:t>
            </a:r>
            <a:r>
              <a:rPr lang="en-US" altLang="ko-KR" dirty="0"/>
              <a:t> : </a:t>
            </a:r>
            <a:r>
              <a:rPr lang="ko-KR" altLang="en-US" dirty="0"/>
              <a:t>서로 다른 </a:t>
            </a:r>
            <a:r>
              <a:rPr lang="ko-KR" altLang="en-US" dirty="0" err="1"/>
              <a:t>시드</a:t>
            </a:r>
            <a:r>
              <a:rPr lang="ko-KR" altLang="en-US" dirty="0"/>
              <a:t> 위성의</a:t>
            </a:r>
            <a:r>
              <a:rPr lang="en-US" altLang="ko-KR" dirty="0"/>
              <a:t> access profile</a:t>
            </a:r>
            <a:r>
              <a:rPr lang="ko-KR" altLang="en-US" dirty="0"/>
              <a:t>로 하위 위성군을 구성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926313-ABC0-A8F6-D439-BBB835BE1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101" y="2082783"/>
            <a:ext cx="1840190" cy="12165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F3C0A4B-02C1-FE69-B582-BAD35DC30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01" y="3858641"/>
            <a:ext cx="3021361" cy="138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96921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93133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2"/>
            <a:r>
              <a:rPr lang="en-US" altLang="ko-KR" dirty="0"/>
              <a:t>3. System of Multiple </a:t>
            </a:r>
            <a:r>
              <a:rPr lang="en-US" altLang="ko-KR" dirty="0" err="1"/>
              <a:t>Subconstellations</a:t>
            </a:r>
            <a:r>
              <a:rPr lang="en-US" altLang="ko-KR" dirty="0"/>
              <a:t> for Multiple Target Points : 1</a:t>
            </a:r>
            <a:r>
              <a:rPr lang="ko-KR" altLang="en-US" dirty="0"/>
              <a:t>과 </a:t>
            </a:r>
            <a:r>
              <a:rPr lang="en-US" altLang="ko-KR" dirty="0"/>
              <a:t>2</a:t>
            </a:r>
            <a:r>
              <a:rPr lang="ko-KR" altLang="en-US" dirty="0"/>
              <a:t>를 혼합하여 일반화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4. BILP Problem Formulation : </a:t>
            </a:r>
            <a:r>
              <a:rPr lang="ko-KR" altLang="en-US" dirty="0"/>
              <a:t>원하는 횟수 이상으로 커버하는 최소 위성 수 도출 </a:t>
            </a:r>
            <a:r>
              <a:rPr lang="en-US" altLang="ko-KR" dirty="0"/>
              <a:t> 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FEDBCD-4B98-5F21-05B7-86B828CA0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98" y="1774305"/>
            <a:ext cx="3838095" cy="145714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296013B-4829-3EF4-D9BB-59E0F5728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859" y="2131447"/>
            <a:ext cx="2457143" cy="7428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DBCBC86-B6FE-8467-2825-BEE458E5D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998" y="4417403"/>
            <a:ext cx="3323809" cy="1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2301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478A08-5053-D739-462D-EE53EB179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2717"/>
            <a:ext cx="9144000" cy="329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831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1 </a:t>
            </a:r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a </a:t>
            </a:r>
            <a:r>
              <a:rPr lang="en-US" altLang="ko-KR" b="1" u="sng" dirty="0"/>
              <a:t>single target</a:t>
            </a:r>
            <a:r>
              <a:rPr lang="en-US" altLang="ko-KR" b="0" dirty="0"/>
              <a:t> point</a:t>
            </a:r>
          </a:p>
          <a:p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/>
        </p:nvGraphicFramePr>
        <p:xfrm>
          <a:off x="657772" y="1828640"/>
          <a:ext cx="7507891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[12/1,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ED6FB6C5-E897-9DA0-324E-614A13536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83" y="2789361"/>
            <a:ext cx="6700668" cy="323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3271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1 </a:t>
            </a:r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a </a:t>
            </a:r>
            <a:r>
              <a:rPr lang="en-US" altLang="ko-KR" b="1" u="sng" dirty="0"/>
              <a:t>single target</a:t>
            </a:r>
            <a:r>
              <a:rPr lang="en-US" altLang="ko-KR" b="0" dirty="0"/>
              <a:t> point</a:t>
            </a:r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AF9A3E-B92D-365D-D1E1-A0EC7352E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10" y="1958653"/>
            <a:ext cx="3214615" cy="25557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A95EE2-3067-E498-31FF-51D337A81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89" y="4715835"/>
            <a:ext cx="7852111" cy="134324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20FFC74-EF9A-CAEF-B0CD-1467CA618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243" y="1980787"/>
            <a:ext cx="5579839" cy="24220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407062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2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b="0" dirty="0"/>
              <a:t> Coverage over a </a:t>
            </a:r>
            <a:r>
              <a:rPr lang="en-US" altLang="ko-KR" b="1" u="sng" dirty="0"/>
              <a:t>Single Target </a:t>
            </a:r>
            <a:r>
              <a:rPr lang="en-US" altLang="ko-KR" b="0" dirty="0"/>
              <a:t>Point</a:t>
            </a:r>
          </a:p>
          <a:p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290790"/>
              </p:ext>
            </p:extLst>
          </p:nvPr>
        </p:nvGraphicFramePr>
        <p:xfrm>
          <a:off x="657772" y="1828640"/>
          <a:ext cx="7507891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[12/1,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Time varying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ED6FB6C5-E897-9DA0-324E-614A13536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83" y="2789361"/>
            <a:ext cx="6700668" cy="323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7191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2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b="0" dirty="0"/>
              <a:t> Coverage over a </a:t>
            </a:r>
            <a:r>
              <a:rPr lang="en-US" altLang="ko-KR" b="1" u="sng" dirty="0"/>
              <a:t>Single Target </a:t>
            </a:r>
            <a:r>
              <a:rPr lang="en-US" altLang="ko-KR" b="0" dirty="0"/>
              <a:t>Point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AF9A3E-B92D-365D-D1E1-A0EC7352E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10" y="1958653"/>
            <a:ext cx="3214615" cy="25557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20FFC74-EF9A-CAEF-B0CD-1467CA618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243" y="1980787"/>
            <a:ext cx="5579839" cy="24220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279099F-9A8F-73EA-7094-6EAEF61B7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78" y="1968478"/>
            <a:ext cx="3110478" cy="25361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803FE94-72C8-822A-3D86-2D62F2A3E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9266" y="2017979"/>
            <a:ext cx="5497647" cy="236012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C95E563-EE3D-53CB-931C-9F6E8EAFA5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289" y="4822322"/>
            <a:ext cx="4342857" cy="12857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1C826B7-7738-3640-436D-797E45676F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892" y="1330205"/>
            <a:ext cx="2338932" cy="56562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49F1B5B-2F71-E05E-5EBC-D2E771C1BF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289" y="4727084"/>
            <a:ext cx="7828571" cy="1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0831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3 </a:t>
            </a:r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</a:t>
            </a:r>
            <a:r>
              <a:rPr lang="en-US" altLang="ko-KR" b="1" u="sng" dirty="0"/>
              <a:t>Multiple Target </a:t>
            </a:r>
            <a:r>
              <a:rPr lang="en-US" altLang="ko-KR" b="0" dirty="0"/>
              <a:t>Points</a:t>
            </a:r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726157"/>
              </p:ext>
            </p:extLst>
          </p:nvPr>
        </p:nvGraphicFramePr>
        <p:xfrm>
          <a:off x="657772" y="1828640"/>
          <a:ext cx="7507891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[5/1, 0.41, 63.435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Antarctica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718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DDA5E6E2-9C14-47F4-1EF9-86339A347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51" y="2807744"/>
            <a:ext cx="3667225" cy="345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9002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3 </a:t>
            </a:r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</a:t>
            </a:r>
            <a:r>
              <a:rPr lang="en-US" altLang="ko-KR" b="1" u="sng" dirty="0"/>
              <a:t>Multiple Target </a:t>
            </a:r>
            <a:r>
              <a:rPr lang="en-US" altLang="ko-KR" b="0" dirty="0"/>
              <a:t>Points</a:t>
            </a:r>
            <a:endParaRPr lang="en-US" altLang="ko-KR" dirty="0"/>
          </a:p>
          <a:p>
            <a:pPr lvl="1"/>
            <a:endParaRPr lang="en-US" altLang="ko-KR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FDF107-0A38-737F-6CAC-5E91C81F5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90" y="1839000"/>
            <a:ext cx="5777126" cy="28390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3A4E986-2DB4-92B2-21AC-D0DB29092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90" y="4796633"/>
            <a:ext cx="4580952" cy="1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42936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4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921852"/>
              </p:ext>
            </p:extLst>
          </p:nvPr>
        </p:nvGraphicFramePr>
        <p:xfrm>
          <a:off x="657772" y="1828640"/>
          <a:ext cx="758409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[83/6, 0, 99.2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J1 = Amazon River basin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J2 = Nile River basin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Time varying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Spatially varying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4200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123.4s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F99791C5-1B72-01F9-7959-F0B1836BD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476" y="2838987"/>
            <a:ext cx="6019048" cy="3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6481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4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  <a:p>
            <a:pPr lvl="1"/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Required satellites &amp; Computational cost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0260"/>
              </p:ext>
            </p:extLst>
          </p:nvPr>
        </p:nvGraphicFramePr>
        <p:xfrm>
          <a:off x="555030" y="2570690"/>
          <a:ext cx="4614227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5117">
                  <a:extLst>
                    <a:ext uri="{9D8B030D-6E8A-4147-A177-3AD203B41FA5}">
                      <a16:colId xmlns:a16="http://schemas.microsoft.com/office/drawing/2014/main" val="1339061750"/>
                    </a:ext>
                  </a:extLst>
                </a:gridCol>
                <a:gridCol w="1463993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Quasi-symmetric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BILP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Required Satellite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96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29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Computational cost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 486.7 s 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7.7 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400062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1FFC7CE9-2B32-9933-D9DC-DCEC649FF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30" y="3935364"/>
            <a:ext cx="5790476" cy="13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6300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4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49BBDF-68C2-123B-78C8-71DEF6366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72" y="1817077"/>
            <a:ext cx="5896855" cy="44017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051FFC-9FB6-E620-DD5E-28D2021D67DD}"/>
              </a:ext>
            </a:extLst>
          </p:cNvPr>
          <p:cNvSpPr txBox="1"/>
          <p:nvPr/>
        </p:nvSpPr>
        <p:spPr>
          <a:xfrm>
            <a:off x="99574" y="1830113"/>
            <a:ext cx="1623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Amazon River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55694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4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49BBDF-68C2-123B-78C8-71DEF6366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72" y="1817077"/>
            <a:ext cx="5896855" cy="440178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991E337-6DDA-D13A-99DA-9B3976292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436" y="1852246"/>
            <a:ext cx="6069079" cy="43666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C2D994-1F69-7204-5E45-D582BFFD79F6}"/>
              </a:ext>
            </a:extLst>
          </p:cNvPr>
          <p:cNvSpPr txBox="1"/>
          <p:nvPr/>
        </p:nvSpPr>
        <p:spPr>
          <a:xfrm>
            <a:off x="99575" y="1830113"/>
            <a:ext cx="1213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Nile River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984693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5 </a:t>
            </a:r>
          </a:p>
          <a:p>
            <a:pPr lvl="1"/>
            <a:r>
              <a:rPr lang="en-US" altLang="ko-KR" dirty="0"/>
              <a:t>A System of </a:t>
            </a:r>
            <a:r>
              <a:rPr lang="en-US" altLang="ko-KR" b="1" u="sng" dirty="0"/>
              <a:t>Multiple </a:t>
            </a:r>
            <a:r>
              <a:rPr lang="en-US" altLang="ko-KR" b="1" u="sng" dirty="0" err="1"/>
              <a:t>Subconstellations</a:t>
            </a:r>
            <a:r>
              <a:rPr lang="en-US" altLang="ko-KR" b="1" u="sng" dirty="0"/>
              <a:t> </a:t>
            </a:r>
            <a:r>
              <a:rPr lang="en-US" altLang="ko-KR" dirty="0"/>
              <a:t>over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141125"/>
              </p:ext>
            </p:extLst>
          </p:nvPr>
        </p:nvGraphicFramePr>
        <p:xfrm>
          <a:off x="657772" y="1828640"/>
          <a:ext cx="812638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1039304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œ0^(1) = [8/1, 0, 70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œ0^(2) = [6/1, 0, 47.915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, 0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l-GR" altLang="ko-KR" sz="1200" dirty="0"/>
                        <a:t>ε1</a:t>
                      </a:r>
                      <a:r>
                        <a:rPr lang="en-US" altLang="ko-KR" sz="1200" dirty="0"/>
                        <a:t> = 15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ko-KR" sz="1200" dirty="0"/>
                        <a:t>ε</a:t>
                      </a:r>
                      <a:r>
                        <a:rPr lang="en-US" altLang="ko-KR" sz="1200" dirty="0"/>
                        <a:t>2 = 10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64.14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19.07°N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21.94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72.87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717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826BF50C-4C5C-C88D-3CF1-AA3D08F10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22" y="2904682"/>
            <a:ext cx="6911325" cy="308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1118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5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BE8E532-89EE-F35B-4A83-71D8A1D49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01" y="1881924"/>
            <a:ext cx="7198797" cy="3094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9688796-4357-ECFE-1BE5-210E59B90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01" y="5086606"/>
            <a:ext cx="4238095" cy="1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8554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5 </a:t>
            </a:r>
          </a:p>
          <a:p>
            <a:pPr lvl="1"/>
            <a:r>
              <a:rPr lang="en-US" altLang="ko-KR" b="1" u="sng" dirty="0"/>
              <a:t>Time-Varying</a:t>
            </a:r>
            <a:r>
              <a:rPr lang="en-US" altLang="ko-KR" dirty="0"/>
              <a:t> and </a:t>
            </a:r>
            <a:r>
              <a:rPr lang="en-US" altLang="ko-KR" b="1" u="sng" dirty="0"/>
              <a:t>Spatially Varying </a:t>
            </a:r>
            <a:r>
              <a:rPr lang="en-US" altLang="ko-KR" dirty="0"/>
              <a:t>Coverage overs </a:t>
            </a:r>
            <a:r>
              <a:rPr lang="en-US" altLang="ko-KR" b="1" u="sng" dirty="0"/>
              <a:t>Multiple Target </a:t>
            </a:r>
            <a:r>
              <a:rPr lang="en-US" altLang="ko-KR" dirty="0"/>
              <a:t>Points</a:t>
            </a:r>
          </a:p>
          <a:p>
            <a:pPr lvl="1"/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Coverage and required, satellites &amp; Computational cost</a:t>
            </a:r>
          </a:p>
          <a:p>
            <a:pPr lvl="1"/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0401B85-B621-2022-DA14-73BB109A0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691134"/>
              </p:ext>
            </p:extLst>
          </p:nvPr>
        </p:nvGraphicFramePr>
        <p:xfrm>
          <a:off x="555030" y="2570690"/>
          <a:ext cx="4675506" cy="178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559">
                  <a:extLst>
                    <a:ext uri="{9D8B030D-6E8A-4147-A177-3AD203B41FA5}">
                      <a16:colId xmlns:a16="http://schemas.microsoft.com/office/drawing/2014/main" val="1905580505"/>
                    </a:ext>
                  </a:extLst>
                </a:gridCol>
                <a:gridCol w="1519555">
                  <a:extLst>
                    <a:ext uri="{9D8B030D-6E8A-4147-A177-3AD203B41FA5}">
                      <a16:colId xmlns:a16="http://schemas.microsoft.com/office/drawing/2014/main" val="1339061750"/>
                    </a:ext>
                  </a:extLst>
                </a:gridCol>
                <a:gridCol w="1580833">
                  <a:extLst>
                    <a:ext uri="{9D8B030D-6E8A-4147-A177-3AD203B41FA5}">
                      <a16:colId xmlns:a16="http://schemas.microsoft.com/office/drawing/2014/main" val="327496118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z = 1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z = 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Coverage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j = 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65.0%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53.7%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0899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j = 2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87.0%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37.1%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9722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Required Satellite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82215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Computational cost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5298.7s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48748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CF42498-DF99-929B-DF8D-6CBC0FEB8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296652"/>
              </p:ext>
            </p:extLst>
          </p:nvPr>
        </p:nvGraphicFramePr>
        <p:xfrm>
          <a:off x="555030" y="4539627"/>
          <a:ext cx="4675506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9555">
                  <a:extLst>
                    <a:ext uri="{9D8B030D-6E8A-4147-A177-3AD203B41FA5}">
                      <a16:colId xmlns:a16="http://schemas.microsoft.com/office/drawing/2014/main" val="1339061750"/>
                    </a:ext>
                  </a:extLst>
                </a:gridCol>
                <a:gridCol w="1580833">
                  <a:extLst>
                    <a:ext uri="{9D8B030D-6E8A-4147-A177-3AD203B41FA5}">
                      <a16:colId xmlns:a16="http://schemas.microsoft.com/office/drawing/2014/main" val="3274961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z = 1 (only)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z = 2 (only)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Required Satellite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82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002475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2"/>
            <a:r>
              <a:rPr lang="ko-KR" altLang="en-US" dirty="0"/>
              <a:t>복잡한 지역 </a:t>
            </a:r>
            <a:r>
              <a:rPr lang="ko-KR" altLang="en-US" dirty="0" err="1"/>
              <a:t>커버리지에</a:t>
            </a:r>
            <a:r>
              <a:rPr lang="ko-KR" altLang="en-US" dirty="0"/>
              <a:t> 대한 새로운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방법으로 두 가지를 소개</a:t>
            </a:r>
            <a:endParaRPr lang="en-US" altLang="ko-KR" dirty="0"/>
          </a:p>
          <a:p>
            <a:pPr lvl="3"/>
            <a:r>
              <a:rPr lang="en-US" altLang="ko-KR" dirty="0"/>
              <a:t>Baseline: Quasi-Symmetric Method</a:t>
            </a:r>
          </a:p>
          <a:p>
            <a:pPr lvl="3"/>
            <a:r>
              <a:rPr lang="en-US" altLang="ko-KR" dirty="0"/>
              <a:t>New Method: Binary Integer Linear Programming (BILP)</a:t>
            </a:r>
          </a:p>
          <a:p>
            <a:pPr lvl="2"/>
            <a:r>
              <a:rPr lang="ko-KR" altLang="en-US" dirty="0"/>
              <a:t>위의 두 방법의</a:t>
            </a:r>
            <a:r>
              <a:rPr lang="en-US" altLang="ko-KR" dirty="0"/>
              <a:t> </a:t>
            </a:r>
            <a:r>
              <a:rPr lang="ko-KR" altLang="en-US" dirty="0"/>
              <a:t>장단점을 비교하여 효율적으로 </a:t>
            </a:r>
            <a:r>
              <a:rPr lang="ko-KR" altLang="en-US" dirty="0" err="1"/>
              <a:t>위성군</a:t>
            </a:r>
            <a:r>
              <a:rPr lang="ko-KR" altLang="en-US" dirty="0"/>
              <a:t> 운용하는 방법을 연구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204858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83444</TotalTime>
  <Words>3337</Words>
  <Application>Microsoft Office PowerPoint</Application>
  <PresentationFormat>화면 슬라이드 쇼(4:3)</PresentationFormat>
  <Paragraphs>716</Paragraphs>
  <Slides>44</Slides>
  <Notes>42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8" baseType="lpstr">
      <vt:lpstr>noto</vt:lpstr>
      <vt:lpstr>Söhne</vt:lpstr>
      <vt:lpstr>맑은 고딕</vt:lpstr>
      <vt:lpstr>Arial</vt:lpstr>
      <vt:lpstr>Calibri</vt:lpstr>
      <vt:lpstr>Cambria Math</vt:lpstr>
      <vt:lpstr>Lucida Sans Unicode</vt:lpstr>
      <vt:lpstr>Microsoft Sans Serif</vt:lpstr>
      <vt:lpstr>Sitka Heading</vt:lpstr>
      <vt:lpstr>times</vt:lpstr>
      <vt:lpstr>Times New Roman</vt:lpstr>
      <vt:lpstr>Wingdings</vt:lpstr>
      <vt:lpstr>Office 테마</vt:lpstr>
      <vt:lpstr>비트맵 이미지</vt:lpstr>
      <vt:lpstr>이종위성군 성능 분석 및 설계/최적화</vt:lpstr>
      <vt:lpstr>Lee, Hang Woon &amp; Shimizu, Seiichi &amp; Yoshikawa, Shoji &amp; Ho, Koki. (2019). Satellite Constellation Pattern Optimization for Complex Regional Coverage. </vt:lpstr>
      <vt:lpstr>초록</vt:lpstr>
      <vt:lpstr>서론</vt:lpstr>
      <vt:lpstr>서론</vt:lpstr>
      <vt:lpstr>서론</vt:lpstr>
      <vt:lpstr>서론</vt:lpstr>
      <vt:lpstr>관련 연구</vt:lpstr>
      <vt:lpstr>관련 연구 </vt:lpstr>
      <vt:lpstr>관련 연구</vt:lpstr>
      <vt:lpstr>위성군 모델</vt:lpstr>
      <vt:lpstr>위성군 모델</vt:lpstr>
      <vt:lpstr>위성군 모델</vt:lpstr>
      <vt:lpstr>Circular Convolution Formulation</vt:lpstr>
      <vt:lpstr>APC decomposition</vt:lpstr>
      <vt:lpstr>APC decomposition</vt:lpstr>
      <vt:lpstr>APC decomposition</vt:lpstr>
      <vt:lpstr>APC decomposition</vt:lpstr>
      <vt:lpstr>APC decomposition</vt:lpstr>
      <vt:lpstr>Circular Convolution Formulation</vt:lpstr>
      <vt:lpstr>Circular Convolution Formulation</vt:lpstr>
      <vt:lpstr>지역 커버리지 위성군 패턴 설계 방법</vt:lpstr>
      <vt:lpstr>지역 커버리지 위성군 패턴 설계 방법</vt:lpstr>
      <vt:lpstr>지역 커버리지 위성군 패턴 설계 방법</vt:lpstr>
      <vt:lpstr>지역 커버리지 위성군 패턴 설계 방법</vt:lpstr>
      <vt:lpstr>지역 커버리지 위성군 패턴 설계 방법</vt:lpstr>
      <vt:lpstr>지역 커버리지 위성군 패턴 설계 방법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Example별 시뮬레이션 분석</vt:lpstr>
      <vt:lpstr>결론</vt:lpstr>
      <vt:lpstr>결론 및 보완이 필요한 부분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4531</cp:revision>
  <dcterms:created xsi:type="dcterms:W3CDTF">2018-01-29T02:45:56Z</dcterms:created>
  <dcterms:modified xsi:type="dcterms:W3CDTF">2023-06-15T05:56:51Z</dcterms:modified>
</cp:coreProperties>
</file>