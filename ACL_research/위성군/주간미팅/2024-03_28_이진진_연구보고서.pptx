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57"/>
  </p:notesMasterIdLst>
  <p:handoutMasterIdLst>
    <p:handoutMasterId r:id="rId58"/>
  </p:handoutMasterIdLst>
  <p:sldIdLst>
    <p:sldId id="2550" r:id="rId2"/>
    <p:sldId id="2239" r:id="rId3"/>
    <p:sldId id="2554" r:id="rId4"/>
    <p:sldId id="2565" r:id="rId5"/>
    <p:sldId id="2693" r:id="rId6"/>
    <p:sldId id="2647" r:id="rId7"/>
    <p:sldId id="2632" r:id="rId8"/>
    <p:sldId id="2646" r:id="rId9"/>
    <p:sldId id="2697" r:id="rId10"/>
    <p:sldId id="2696" r:id="rId11"/>
    <p:sldId id="2674" r:id="rId12"/>
    <p:sldId id="2677" r:id="rId13"/>
    <p:sldId id="2703" r:id="rId14"/>
    <p:sldId id="2704" r:id="rId15"/>
    <p:sldId id="2706" r:id="rId16"/>
    <p:sldId id="2701" r:id="rId17"/>
    <p:sldId id="2700" r:id="rId18"/>
    <p:sldId id="2698" r:id="rId19"/>
    <p:sldId id="2699" r:id="rId20"/>
    <p:sldId id="2717" r:id="rId21"/>
    <p:sldId id="2708" r:id="rId22"/>
    <p:sldId id="2714" r:id="rId23"/>
    <p:sldId id="2713" r:id="rId24"/>
    <p:sldId id="2711" r:id="rId25"/>
    <p:sldId id="2715" r:id="rId26"/>
    <p:sldId id="2710" r:id="rId27"/>
    <p:sldId id="2705" r:id="rId28"/>
    <p:sldId id="2725" r:id="rId29"/>
    <p:sldId id="2719" r:id="rId30"/>
    <p:sldId id="2720" r:id="rId31"/>
    <p:sldId id="2726" r:id="rId32"/>
    <p:sldId id="2722" r:id="rId33"/>
    <p:sldId id="2723" r:id="rId34"/>
    <p:sldId id="2609" r:id="rId35"/>
    <p:sldId id="2637" r:id="rId36"/>
    <p:sldId id="2724" r:id="rId37"/>
    <p:sldId id="2510" r:id="rId38"/>
    <p:sldId id="2627" r:id="rId39"/>
    <p:sldId id="2628" r:id="rId40"/>
    <p:sldId id="2629" r:id="rId41"/>
    <p:sldId id="2630" r:id="rId42"/>
    <p:sldId id="2659" r:id="rId43"/>
    <p:sldId id="2660" r:id="rId44"/>
    <p:sldId id="2662" r:id="rId45"/>
    <p:sldId id="2661" r:id="rId46"/>
    <p:sldId id="2663" r:id="rId47"/>
    <p:sldId id="2657" r:id="rId48"/>
    <p:sldId id="2653" r:id="rId49"/>
    <p:sldId id="2654" r:id="rId50"/>
    <p:sldId id="2655" r:id="rId51"/>
    <p:sldId id="2656" r:id="rId52"/>
    <p:sldId id="2636" r:id="rId53"/>
    <p:sldId id="2568" r:id="rId54"/>
    <p:sldId id="2633" r:id="rId55"/>
    <p:sldId id="2718" r:id="rId5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04040"/>
    <a:srgbClr val="FF0000"/>
    <a:srgbClr val="001E46"/>
    <a:srgbClr val="6600CC"/>
    <a:srgbClr val="CC99FF"/>
    <a:srgbClr val="000A1E"/>
    <a:srgbClr val="EDB021"/>
    <a:srgbClr val="D9541A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 autoAdjust="0"/>
    <p:restoredTop sz="82161" autoAdjust="0"/>
  </p:normalViewPr>
  <p:slideViewPr>
    <p:cSldViewPr snapToGrid="0" showGuides="1">
      <p:cViewPr varScale="1">
        <p:scale>
          <a:sx n="93" d="100"/>
          <a:sy n="93" d="100"/>
        </p:scale>
        <p:origin x="226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01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339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24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4569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259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1B926-6518-2AE3-4B91-7F374BD3B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E0F6AD-9764-C174-BFBF-B7F0406C8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06286C-F23E-A52B-B5FE-CBE7EF597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78ADB2-BF72-236C-4B8E-427A6AD2C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151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4F9F9-9510-591F-419E-C3C8CC687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5E09FF-618D-2C3C-8C3A-CE3A45EE0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D7F0E7-F5FD-F42A-C0D2-AC619FBBB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2C9569-9958-4E68-9AC6-E03FB69DCD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9619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661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072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367E-C997-3CF1-044B-D738B639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61D40-7174-EBA1-4463-E20A2E4E0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965BC-935B-574D-5E73-12B5DB495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52743-D238-A0A0-AD63-7A5BC2B4A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816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C7A2-7D54-88A6-5015-21C7D5079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890A61-BC52-0FBD-BAA6-EE9AFCFC2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07A36D-0D27-A10B-9B12-594589531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0B3241-616D-F192-644A-FFEC5E79C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8206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648A9-FDBE-29AB-A310-B9149FCC8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434ABA-2BA8-803D-D265-6B230EED3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6C0AB-AFFE-7992-F967-9A84422CB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567462-51E5-EA5F-749C-ADCB895C7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8805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648A9-FDBE-29AB-A310-B9149FCC8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434ABA-2BA8-803D-D265-6B230EED3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6C0AB-AFFE-7992-F967-9A84422CB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567462-51E5-EA5F-749C-ADCB895C7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9180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698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564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7523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7084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331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8979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34481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648A9-FDBE-29AB-A310-B9149FCC8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434ABA-2BA8-803D-D265-6B230EED3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6C0AB-AFFE-7992-F967-9A84422CB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하루에 </a:t>
            </a:r>
            <a:r>
              <a:rPr lang="en-US" altLang="ko-KR" dirty="0"/>
              <a:t>12</a:t>
            </a:r>
            <a:r>
              <a:rPr lang="ko-KR" altLang="en-US" dirty="0"/>
              <a:t>번 돈다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Input</a:t>
            </a:r>
            <a:r>
              <a:rPr lang="ko-KR" altLang="en-US" dirty="0"/>
              <a:t> 앞에 들어갈 내용</a:t>
            </a:r>
            <a:endParaRPr lang="en-US" altLang="ko-KR" dirty="0"/>
          </a:p>
          <a:p>
            <a:r>
              <a:rPr lang="ko-KR" altLang="en-US" dirty="0"/>
              <a:t>시간은 임의로 설정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567462-51E5-EA5F-749C-ADCB895C7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6684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4629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1117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2464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82339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9246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7578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73485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875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2378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1213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9555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11024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976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8542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5D50F-84FE-9BAE-100D-6E17186E8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AB212C-68C9-4AC0-0387-7A74985B7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F38BE9-8B94-4E92-491E-29AA6E517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E7BC8F-6CFB-838A-0CDF-513CA68A0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1403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C16F9-EDB5-8026-EA03-2C1D51096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377DD7-2306-DB04-F838-59E3FBF69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3ADBEF-7869-D221-60E6-37F04A160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519E8F-5144-F411-F402-311B2D644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3816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650C6-9957-3779-7AA0-3D65B89A7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E227D1-CAAF-ED26-49A2-6D6382517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A1FE63-D154-81CB-EE61-0A9BB8DE6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549F85-75D4-B782-0245-8B1C90D05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3660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74001-A8D4-8F05-8B3A-7C8991644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768827-0A81-8667-25D1-362F51341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5B7DCE-38DA-F0C6-569D-136A7B628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DDDF86-A5AF-415C-1C02-8CA776CDE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46802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D666A-25EC-7D84-E8C8-02326B8AA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3AE5EA-2A19-D799-CE4A-04B729C8D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8864B7-C633-C87C-572F-354A0EAC4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A67C52-00EC-703D-CA08-EEFCA736C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38273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AE5D7-2B5E-1DF4-7037-566C78336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EDAD64-B843-1B38-5B8C-9702A67469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955B44-B484-7E6A-43EA-391D83620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C8E047-CF7A-0805-6E2B-8E75AAF62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56761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0EEBD-DB63-61E7-F41A-CF182E2B2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17F56C-B8CF-DC2C-6F75-979A39794F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350E94-A5D6-01E0-A46E-13F46D72F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1FFA1D-0AF0-1C38-9956-468B527B2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3351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531B8-9F67-2982-8F07-BA6A4237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DC6E86-AFC6-477B-856B-F360E6480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A0A5B2-4663-7780-DABB-ACCF2997A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AE85B5-ECAB-88FB-A834-6813A73B7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50487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053A5-0CE3-B95C-546A-AC83DC659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544DA7-EC7A-DA24-F217-DE12FC384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6FE45A-0F1C-0985-BCBB-839E4C5A9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99905-E3EA-344E-CF32-C30C95A2DD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61858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6485E-8048-813F-B71D-279DBD18B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3E541C26-37CF-D299-54F2-DC32944D504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36DD4400-E809-2F21-E625-936929E03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9E3BEB02-C16A-E81A-428D-142A8966F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70209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EE193-B639-AD4F-E34F-2EE5BF661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B5E85B-F5A8-665B-E412-D1C748A4B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9FDB31-7AF4-2343-BFBD-DD637EF85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3AEB05-2B32-874B-1FE0-9C6F73CCE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66351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F59F7-5F75-9CED-8BC1-DB4731DE4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5BEF34-8EB1-D6BD-3316-2121033F8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848410-18D5-44CF-1E0C-76EEF19F5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8A8AA9-66CE-2AA2-299A-677602716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84246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E3E73-92E5-23C4-79C8-BC22ABD2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9C5A11-854F-9873-B623-2D4F4B3F5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FC8C72-EC30-3008-9F3B-0A787C1D1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47DC2C-EF5C-8CDF-04DD-DC92C66C35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79469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38C9-A80A-A541-89E7-7948C6A5A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DC2118-7D5C-AF06-8106-D03A98F81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2B08D0-B046-BC0A-BCE8-0870908F9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A4F46E-56E1-B6B5-C6FA-E1973809D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080951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33985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92436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22204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38C9-A80A-A541-89E7-7948C6A5A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DC2118-7D5C-AF06-8106-D03A98F81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2B08D0-B046-BC0A-BCE8-0870908F9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A4F46E-56E1-B6B5-C6FA-E1973809D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409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1.png"/><Relationship Id="rId4" Type="http://schemas.openxmlformats.org/officeDocument/2006/relationships/image" Target="../media/image39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emf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13" Type="http://schemas.openxmlformats.org/officeDocument/2006/relationships/image" Target="../media/image37.emf"/><Relationship Id="rId18" Type="http://schemas.openxmlformats.org/officeDocument/2006/relationships/image" Target="../media/image42.emf"/><Relationship Id="rId3" Type="http://schemas.openxmlformats.org/officeDocument/2006/relationships/image" Target="../media/image27.emf"/><Relationship Id="rId7" Type="http://schemas.openxmlformats.org/officeDocument/2006/relationships/image" Target="../media/image31.emf"/><Relationship Id="rId12" Type="http://schemas.openxmlformats.org/officeDocument/2006/relationships/image" Target="../media/image36.emf"/><Relationship Id="rId17" Type="http://schemas.openxmlformats.org/officeDocument/2006/relationships/image" Target="../media/image41.emf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40.emf"/><Relationship Id="rId20" Type="http://schemas.openxmlformats.org/officeDocument/2006/relationships/image" Target="../media/image44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emf"/><Relationship Id="rId11" Type="http://schemas.openxmlformats.org/officeDocument/2006/relationships/image" Target="../media/image35.emf"/><Relationship Id="rId5" Type="http://schemas.openxmlformats.org/officeDocument/2006/relationships/image" Target="../media/image29.emf"/><Relationship Id="rId15" Type="http://schemas.openxmlformats.org/officeDocument/2006/relationships/image" Target="../media/image39.emf"/><Relationship Id="rId10" Type="http://schemas.openxmlformats.org/officeDocument/2006/relationships/image" Target="../media/image34.emf"/><Relationship Id="rId19" Type="http://schemas.openxmlformats.org/officeDocument/2006/relationships/image" Target="../media/image43.emf"/><Relationship Id="rId4" Type="http://schemas.openxmlformats.org/officeDocument/2006/relationships/image" Target="../media/image28.emf"/><Relationship Id="rId9" Type="http://schemas.openxmlformats.org/officeDocument/2006/relationships/image" Target="../media/image33.emf"/><Relationship Id="rId14" Type="http://schemas.openxmlformats.org/officeDocument/2006/relationships/image" Target="../media/image38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45.png"/><Relationship Id="rId7" Type="http://schemas.openxmlformats.org/officeDocument/2006/relationships/image" Target="../media/image30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Relationship Id="rId9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0.emf"/><Relationship Id="rId4" Type="http://schemas.openxmlformats.org/officeDocument/2006/relationships/image" Target="../media/image59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13" Type="http://schemas.openxmlformats.org/officeDocument/2006/relationships/image" Target="../media/image390.png"/><Relationship Id="rId18" Type="http://schemas.openxmlformats.org/officeDocument/2006/relationships/image" Target="../media/image290.png"/><Relationship Id="rId26" Type="http://schemas.openxmlformats.org/officeDocument/2006/relationships/image" Target="../media/image370.png"/><Relationship Id="rId3" Type="http://schemas.openxmlformats.org/officeDocument/2006/relationships/image" Target="../media/image64.png"/><Relationship Id="rId21" Type="http://schemas.openxmlformats.org/officeDocument/2006/relationships/image" Target="../media/image320.png"/><Relationship Id="rId7" Type="http://schemas.openxmlformats.org/officeDocument/2006/relationships/image" Target="../media/image180.png"/><Relationship Id="rId12" Type="http://schemas.openxmlformats.org/officeDocument/2006/relationships/image" Target="../media/image381.png"/><Relationship Id="rId17" Type="http://schemas.openxmlformats.org/officeDocument/2006/relationships/image" Target="../media/image280.png"/><Relationship Id="rId25" Type="http://schemas.openxmlformats.org/officeDocument/2006/relationships/image" Target="../media/image360.png"/><Relationship Id="rId2" Type="http://schemas.openxmlformats.org/officeDocument/2006/relationships/notesSlide" Target="../notesSlides/notesSlide51.xml"/><Relationship Id="rId16" Type="http://schemas.openxmlformats.org/officeDocument/2006/relationships/image" Target="../media/image270.png"/><Relationship Id="rId20" Type="http://schemas.openxmlformats.org/officeDocument/2006/relationships/image" Target="../media/image3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0.png"/><Relationship Id="rId11" Type="http://schemas.openxmlformats.org/officeDocument/2006/relationships/image" Target="../media/image371.png"/><Relationship Id="rId24" Type="http://schemas.openxmlformats.org/officeDocument/2006/relationships/image" Target="../media/image350.png"/><Relationship Id="rId5" Type="http://schemas.openxmlformats.org/officeDocument/2006/relationships/image" Target="../media/image160.png"/><Relationship Id="rId15" Type="http://schemas.openxmlformats.org/officeDocument/2006/relationships/image" Target="../media/image260.png"/><Relationship Id="rId23" Type="http://schemas.openxmlformats.org/officeDocument/2006/relationships/image" Target="../media/image340.png"/><Relationship Id="rId10" Type="http://schemas.openxmlformats.org/officeDocument/2006/relationships/image" Target="../media/image361.png"/><Relationship Id="rId19" Type="http://schemas.openxmlformats.org/officeDocument/2006/relationships/image" Target="../media/image300.png"/><Relationship Id="rId4" Type="http://schemas.openxmlformats.org/officeDocument/2006/relationships/image" Target="../media/image341.png"/><Relationship Id="rId9" Type="http://schemas.openxmlformats.org/officeDocument/2006/relationships/image" Target="../media/image351.png"/><Relationship Id="rId14" Type="http://schemas.openxmlformats.org/officeDocument/2006/relationships/image" Target="../media/image250.png"/><Relationship Id="rId22" Type="http://schemas.openxmlformats.org/officeDocument/2006/relationships/image" Target="../media/image330.png"/><Relationship Id="rId27" Type="http://schemas.openxmlformats.org/officeDocument/2006/relationships/image" Target="../media/image38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png"/><Relationship Id="rId13" Type="http://schemas.openxmlformats.org/officeDocument/2006/relationships/image" Target="../media/image390.png"/><Relationship Id="rId18" Type="http://schemas.openxmlformats.org/officeDocument/2006/relationships/image" Target="../media/image490.png"/><Relationship Id="rId3" Type="http://schemas.openxmlformats.org/officeDocument/2006/relationships/image" Target="../media/image64.png"/><Relationship Id="rId21" Type="http://schemas.openxmlformats.org/officeDocument/2006/relationships/image" Target="../media/image65.png"/><Relationship Id="rId7" Type="http://schemas.openxmlformats.org/officeDocument/2006/relationships/image" Target="../media/image420.png"/><Relationship Id="rId12" Type="http://schemas.openxmlformats.org/officeDocument/2006/relationships/image" Target="../media/image381.png"/><Relationship Id="rId17" Type="http://schemas.openxmlformats.org/officeDocument/2006/relationships/image" Target="../media/image480.png"/><Relationship Id="rId2" Type="http://schemas.openxmlformats.org/officeDocument/2006/relationships/notesSlide" Target="../notesSlides/notesSlide52.xml"/><Relationship Id="rId16" Type="http://schemas.openxmlformats.org/officeDocument/2006/relationships/image" Target="../media/image470.png"/><Relationship Id="rId20" Type="http://schemas.openxmlformats.org/officeDocument/2006/relationships/image" Target="../media/image5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0.png"/><Relationship Id="rId11" Type="http://schemas.openxmlformats.org/officeDocument/2006/relationships/image" Target="../media/image440.png"/><Relationship Id="rId5" Type="http://schemas.openxmlformats.org/officeDocument/2006/relationships/image" Target="../media/image400.png"/><Relationship Id="rId15" Type="http://schemas.openxmlformats.org/officeDocument/2006/relationships/image" Target="../media/image460.png"/><Relationship Id="rId10" Type="http://schemas.openxmlformats.org/officeDocument/2006/relationships/image" Target="../media/image361.png"/><Relationship Id="rId19" Type="http://schemas.openxmlformats.org/officeDocument/2006/relationships/image" Target="../media/image500.png"/><Relationship Id="rId4" Type="http://schemas.openxmlformats.org/officeDocument/2006/relationships/image" Target="../media/image341.png"/><Relationship Id="rId9" Type="http://schemas.openxmlformats.org/officeDocument/2006/relationships/image" Target="../media/image351.png"/><Relationship Id="rId14" Type="http://schemas.openxmlformats.org/officeDocument/2006/relationships/image" Target="../media/image45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4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2024-03-28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5769"/>
            <a:ext cx="9144000" cy="2226189"/>
          </a:xfrm>
        </p:spPr>
        <p:txBody>
          <a:bodyPr/>
          <a:lstStyle/>
          <a:p>
            <a:r>
              <a:rPr lang="en-US" altLang="ko-KR" dirty="0"/>
              <a:t>BILP(MILP)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를 이용한 </a:t>
            </a:r>
            <a:br>
              <a:rPr lang="en-US" altLang="ko-KR" dirty="0"/>
            </a:br>
            <a:r>
              <a:rPr lang="ko-KR" altLang="en-US" dirty="0" err="1"/>
              <a:t>위성군</a:t>
            </a:r>
            <a:r>
              <a:rPr lang="ko-KR" altLang="en-US" dirty="0"/>
              <a:t>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2536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648643"/>
              </p:ext>
            </p:extLst>
          </p:nvPr>
        </p:nvGraphicFramePr>
        <p:xfrm>
          <a:off x="1568900" y="2036837"/>
          <a:ext cx="7318019" cy="3903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BILP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Method Coding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BILP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연구결과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결론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278487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3A039B3-2D6B-414C-B6C3-91F438CC53E3}"/>
              </a:ext>
            </a:extLst>
          </p:cNvPr>
          <p:cNvSpPr/>
          <p:nvPr/>
        </p:nvSpPr>
        <p:spPr>
          <a:xfrm>
            <a:off x="4803169" y="4845685"/>
            <a:ext cx="997305" cy="982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3282C1-EAF0-E51F-4C6E-64EF18128D36}"/>
              </a:ext>
            </a:extLst>
          </p:cNvPr>
          <p:cNvSpPr/>
          <p:nvPr/>
        </p:nvSpPr>
        <p:spPr bwMode="auto">
          <a:xfrm>
            <a:off x="2784764" y="4936176"/>
            <a:ext cx="1787236" cy="109017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  <p:graphicFrame>
        <p:nvGraphicFramePr>
          <p:cNvPr id="8" name="표 18">
            <a:extLst>
              <a:ext uri="{FF2B5EF4-FFF2-40B4-BE49-F238E27FC236}">
                <a16:creationId xmlns:a16="http://schemas.microsoft.com/office/drawing/2014/main" id="{D6D46674-B242-4C3D-53FD-1FABCE847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72526"/>
              </p:ext>
            </p:extLst>
          </p:nvPr>
        </p:nvGraphicFramePr>
        <p:xfrm>
          <a:off x="1568899" y="1071002"/>
          <a:ext cx="7318019" cy="965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참고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문헌 정보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1DED2326-5E7B-1D25-E1F7-30ACE6E47249}"/>
              </a:ext>
            </a:extLst>
          </p:cNvPr>
          <p:cNvSpPr/>
          <p:nvPr/>
        </p:nvSpPr>
        <p:spPr bwMode="auto">
          <a:xfrm>
            <a:off x="462844" y="4936176"/>
            <a:ext cx="1253880" cy="89185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60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참고 문헌 정보</a:t>
            </a:r>
          </a:p>
        </p:txBody>
      </p:sp>
    </p:spTree>
    <p:extLst>
      <p:ext uri="{BB962C8B-B14F-4D97-AF65-F5344CB8AC3E}">
        <p14:creationId xmlns:p14="http://schemas.microsoft.com/office/powerpoint/2010/main" val="116555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참고 문헌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주요 참고 문헌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</a:p>
          <a:p>
            <a:pPr lvl="1">
              <a:defRPr/>
            </a:pPr>
            <a:r>
              <a:rPr lang="en-US" altLang="ko-KR" b="1" dirty="0">
                <a:solidFill>
                  <a:srgbClr val="1F2328"/>
                </a:solidFill>
              </a:rPr>
              <a:t>Hang </a:t>
            </a:r>
            <a:r>
              <a:rPr lang="en-US" altLang="ko-KR" b="1" dirty="0" err="1">
                <a:solidFill>
                  <a:srgbClr val="1F2328"/>
                </a:solidFill>
              </a:rPr>
              <a:t>Woon</a:t>
            </a:r>
            <a:r>
              <a:rPr lang="en-US" altLang="ko-KR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b="1" dirty="0">
                <a:solidFill>
                  <a:srgbClr val="1F2328"/>
                </a:solidFill>
              </a:rPr>
              <a:t>”, 2020 Journal of Spacecraft and Rockets 57:6, 1309-1327</a:t>
            </a:r>
          </a:p>
          <a:p>
            <a:pPr lvl="2">
              <a:defRPr/>
            </a:pPr>
            <a:r>
              <a:rPr lang="en-US" altLang="ko-KR" dirty="0">
                <a:solidFill>
                  <a:srgbClr val="1F2328"/>
                </a:solidFill>
              </a:rPr>
              <a:t>BILP method</a:t>
            </a:r>
            <a:r>
              <a:rPr lang="ko-KR" altLang="en-US" dirty="0">
                <a:solidFill>
                  <a:srgbClr val="1F2328"/>
                </a:solidFill>
              </a:rPr>
              <a:t>의 전체적인 개념 및 흐름을 소개 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0">
              <a:defRPr/>
            </a:pPr>
            <a:r>
              <a:rPr lang="ko-KR" altLang="en-US" dirty="0"/>
              <a:t>추가로 참고한</a:t>
            </a:r>
            <a:r>
              <a:rPr lang="en-US" altLang="ko-KR" dirty="0"/>
              <a:t> </a:t>
            </a:r>
            <a:r>
              <a:rPr lang="ko-KR" altLang="en-US" dirty="0"/>
              <a:t>문헌</a:t>
            </a:r>
            <a:endParaRPr lang="en-US" altLang="ko-KR" dirty="0"/>
          </a:p>
          <a:p>
            <a:pPr lvl="1">
              <a:defRPr/>
            </a:pPr>
            <a:r>
              <a:rPr lang="en-US" altLang="ko-KR" b="1" i="0" dirty="0">
                <a:effectLst/>
              </a:rPr>
              <a:t>Lee, Hang </a:t>
            </a:r>
            <a:r>
              <a:rPr lang="en-US" altLang="ko-KR" b="1" i="0" dirty="0" err="1">
                <a:effectLst/>
              </a:rPr>
              <a:t>Woon</a:t>
            </a:r>
            <a:r>
              <a:rPr lang="en-US" altLang="ko-KR" b="1" i="0" dirty="0">
                <a:effectLst/>
              </a:rPr>
              <a:t> and Koki Ho. “AAS 20-498 </a:t>
            </a:r>
            <a:r>
              <a:rPr lang="en-US" altLang="ko-KR" b="1" i="0" u="sng" dirty="0">
                <a:effectLst/>
              </a:rPr>
              <a:t>BINARY INTEGER LINEAR PROGRAMMING FORMULATION FOR OPTIMAL SATELLITE CONSTELLATION RECONFIGURATION</a:t>
            </a:r>
            <a:r>
              <a:rPr lang="en-US" altLang="ko-KR" b="1" i="0" dirty="0">
                <a:effectLst/>
              </a:rPr>
              <a:t>” (2020).</a:t>
            </a:r>
          </a:p>
          <a:p>
            <a:pPr lvl="2"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를 이용한 </a:t>
            </a:r>
            <a:r>
              <a:rPr lang="ko-KR" altLang="en-US" dirty="0" err="1"/>
              <a:t>위성군</a:t>
            </a:r>
            <a:r>
              <a:rPr lang="ko-KR" altLang="en-US" dirty="0"/>
              <a:t> 배치의 </a:t>
            </a:r>
            <a:r>
              <a:rPr lang="en-US" altLang="ko-KR" dirty="0"/>
              <a:t>reconfiguration</a:t>
            </a:r>
            <a:r>
              <a:rPr lang="ko-KR" altLang="en-US" dirty="0"/>
              <a:t>에 대한 내용을 중점적으로 소개</a:t>
            </a:r>
            <a:endParaRPr lang="en-US" altLang="ko-KR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53888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BILP Method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4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(Example 1)</a:t>
            </a:r>
          </a:p>
          <a:p>
            <a:pPr lvl="1">
              <a:defRPr/>
            </a:pPr>
            <a:r>
              <a:rPr lang="en-US" altLang="ko-KR" dirty="0"/>
              <a:t>Example (1) : </a:t>
            </a:r>
            <a:r>
              <a:rPr lang="en-US" altLang="ko-KR" b="1" u="sng" dirty="0"/>
              <a:t>single-fold</a:t>
            </a:r>
            <a:r>
              <a:rPr lang="en-US" altLang="ko-KR" dirty="0"/>
              <a:t> continuous coverage over a </a:t>
            </a:r>
            <a:r>
              <a:rPr lang="en-US" altLang="ko-KR" b="1" u="sng" dirty="0"/>
              <a:t>single target point</a:t>
            </a:r>
          </a:p>
          <a:p>
            <a:pPr lvl="1">
              <a:defRPr/>
            </a:pPr>
            <a:r>
              <a:rPr lang="en-US" altLang="ko-KR" dirty="0"/>
              <a:t>Example (2) : </a:t>
            </a:r>
            <a:r>
              <a:rPr lang="en-US" altLang="ko-KR" b="1" u="sng" dirty="0"/>
              <a:t>time-varying </a:t>
            </a:r>
            <a:r>
              <a:rPr lang="en-US" altLang="ko-KR" dirty="0"/>
              <a:t>coverage over a </a:t>
            </a:r>
            <a:r>
              <a:rPr lang="en-US" altLang="ko-KR" b="1" u="sng" dirty="0"/>
              <a:t>single target point</a:t>
            </a:r>
          </a:p>
          <a:p>
            <a:pPr lvl="1">
              <a:defRPr/>
            </a:pPr>
            <a:r>
              <a:rPr lang="en-US" altLang="ko-KR" dirty="0"/>
              <a:t>Example (3) : single-fold continuous coverage over multiple target points</a:t>
            </a:r>
          </a:p>
          <a:p>
            <a:pPr lvl="1">
              <a:defRPr/>
            </a:pPr>
            <a:r>
              <a:rPr lang="en-US" altLang="ko-KR" dirty="0"/>
              <a:t>Example (4) : time-varying and spatially varying coverage over multiple target points</a:t>
            </a:r>
          </a:p>
          <a:p>
            <a:pPr lvl="1">
              <a:defRPr/>
            </a:pPr>
            <a:r>
              <a:rPr lang="en-US" altLang="ko-KR" dirty="0"/>
              <a:t>Example (5) : multiple </a:t>
            </a:r>
            <a:r>
              <a:rPr lang="en-US" altLang="ko-KR" dirty="0" err="1"/>
              <a:t>subconstellations</a:t>
            </a:r>
            <a:r>
              <a:rPr lang="en-US" altLang="ko-KR" dirty="0"/>
              <a:t> over multiple target points</a:t>
            </a:r>
          </a:p>
          <a:p>
            <a:pPr lvl="5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647800" lvl="6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논문 예시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E32768-47BD-01F8-4F6D-4DD80722DA50}"/>
              </a:ext>
            </a:extLst>
          </p:cNvPr>
          <p:cNvSpPr txBox="1"/>
          <p:nvPr/>
        </p:nvSpPr>
        <p:spPr>
          <a:xfrm>
            <a:off x="-200345" y="594872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639E0EF-BC3C-5463-FE16-A41EB37F0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997404"/>
              </p:ext>
            </p:extLst>
          </p:nvPr>
        </p:nvGraphicFramePr>
        <p:xfrm>
          <a:off x="818054" y="3279350"/>
          <a:ext cx="7507891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1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[39, 73, 79, 89, 170, 184, 234, 250, 331, 341, 347, 492, 502, 542, 638, 648, 654, 663]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3D8554-82B3-876D-C6A7-1DEC551E0349}"/>
                  </a:ext>
                </a:extLst>
              </p:cNvPr>
              <p:cNvSpPr txBox="1"/>
              <p:nvPr/>
            </p:nvSpPr>
            <p:spPr>
              <a:xfrm>
                <a:off x="889972" y="4765574"/>
                <a:ext cx="6128473" cy="12833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dirty="0"/>
                          <m:t>œ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b="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b="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US" altLang="ko-KR" b="0" dirty="0"/>
                  <a:t>   </a:t>
                </a:r>
                <a:r>
                  <a:rPr lang="ko-KR" altLang="en-US" dirty="0"/>
                  <a:t>→</a:t>
                </a:r>
                <a:r>
                  <a:rPr lang="en-US" altLang="ko-KR" b="0" dirty="0"/>
                  <a:t>   </a:t>
                </a:r>
                <a:r>
                  <a:rPr lang="en-US" altLang="ko-KR" dirty="0"/>
                  <a:t>8059km (</a:t>
                </a:r>
                <a:r>
                  <a:rPr lang="ko-KR" altLang="en-US" dirty="0"/>
                  <a:t>고도 </a:t>
                </a:r>
                <a:r>
                  <a:rPr lang="en-US" altLang="ko-KR" b="0" dirty="0"/>
                  <a:t>1,681</a:t>
                </a:r>
                <a:r>
                  <a:rPr lang="en-US" altLang="ko-KR" dirty="0"/>
                  <a:t>km, r=6378km)</a:t>
                </a:r>
                <a:endParaRPr lang="en-US" altLang="ko-KR" b="0" dirty="0"/>
              </a:p>
              <a:p>
                <a:endParaRPr lang="en-US" altLang="ko-KR" b="0" dirty="0"/>
              </a:p>
              <a:p>
                <a:r>
                  <a:rPr lang="en-US" altLang="ko-KR" b="0" dirty="0"/>
                  <a:t>  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3D8554-82B3-876D-C6A7-1DEC551E0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972" y="4765574"/>
                <a:ext cx="6128473" cy="1283300"/>
              </a:xfrm>
              <a:prstGeom prst="rect">
                <a:avLst/>
              </a:prstGeom>
              <a:blipFill>
                <a:blip r:embed="rId3"/>
                <a:stretch>
                  <a:fillRect l="-1095" t="-2381" r="-1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507344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87A62-415E-F823-95A3-2A3F9FB65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BD28B0-3C4F-F54F-2C2F-3188226C1D79}"/>
              </a:ext>
            </a:extLst>
          </p:cNvPr>
          <p:cNvSpPr/>
          <p:nvPr/>
        </p:nvSpPr>
        <p:spPr bwMode="auto">
          <a:xfrm>
            <a:off x="164387" y="6327787"/>
            <a:ext cx="353431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7D16D44-C2BF-EB8E-A37A-375184068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88691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Multiple Sub-Constellations for Multiple Target Points</a:t>
            </a:r>
          </a:p>
          <a:p>
            <a:pPr lvl="1">
              <a:defRPr/>
            </a:pPr>
            <a:r>
              <a:rPr lang="ko-KR" altLang="en-US" dirty="0"/>
              <a:t>모든 상황을 고려하였을 때 최종 </a:t>
            </a:r>
            <a:r>
              <a:rPr lang="ko-KR" altLang="en-US" dirty="0" err="1"/>
              <a:t>일반식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r>
              <a:rPr lang="ko-KR" altLang="en-US" dirty="0"/>
              <a:t>                 </a:t>
            </a: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marL="576000" lvl="3" indent="0">
              <a:buNone/>
              <a:defRPr/>
            </a:pPr>
            <a:endParaRPr lang="en-US" altLang="ko-KR" dirty="0"/>
          </a:p>
          <a:p>
            <a:pPr lvl="5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647800" lvl="6" indent="0">
              <a:buNone/>
              <a:defRPr/>
            </a:pPr>
            <a:endParaRPr lang="en-US" altLang="ko-KR" dirty="0"/>
          </a:p>
          <a:p>
            <a:pPr marL="2647800" lvl="6" indent="0">
              <a:buNone/>
              <a:defRPr/>
            </a:pPr>
            <a:endParaRPr lang="en-US" altLang="ko-KR" dirty="0"/>
          </a:p>
          <a:p>
            <a:pPr marL="2647800" lvl="6" indent="0">
              <a:buNone/>
              <a:defRPr/>
            </a:pPr>
            <a:endParaRPr lang="en-US" altLang="ko-KR" dirty="0"/>
          </a:p>
          <a:p>
            <a:pPr marL="2647800" lvl="6" indent="0">
              <a:buNone/>
              <a:defRPr/>
            </a:pPr>
            <a:endParaRPr lang="en-US" altLang="ko-KR" dirty="0"/>
          </a:p>
          <a:p>
            <a:pPr marL="2647800" lvl="6" indent="0">
              <a:buNone/>
              <a:defRPr/>
            </a:pPr>
            <a:endParaRPr lang="en-US" altLang="ko-KR" dirty="0"/>
          </a:p>
          <a:p>
            <a:pPr marL="2647800" lvl="6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B6DE6CE-C1C4-2B23-5A05-EBC7367DE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4A60E6A-B990-36C5-4933-D2E1B28B2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BILP method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개념 정리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8B510D-EE14-5505-4D88-A99939005CBB}"/>
              </a:ext>
            </a:extLst>
          </p:cNvPr>
          <p:cNvSpPr txBox="1"/>
          <p:nvPr/>
        </p:nvSpPr>
        <p:spPr>
          <a:xfrm>
            <a:off x="1582327" y="590806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1FE3F3-B72C-D9B1-61DA-338EFBDA6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33" y="1820211"/>
            <a:ext cx="4198437" cy="210256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7AEE387-8E6F-09F7-D835-C204E8C65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029" y="2234837"/>
            <a:ext cx="3695700" cy="11811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C61C077-3D8B-68FC-0024-F0680D8F1E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057" y="4184041"/>
            <a:ext cx="4855984" cy="22451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7070778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02109-57E2-AD94-9F95-A2FA750EA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537F8429-5CCB-CF0C-BE47-A1C7539EB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Example 10</a:t>
            </a:r>
            <a:r>
              <a:rPr lang="ko-KR" altLang="en-US" dirty="0"/>
              <a:t>*</a:t>
            </a:r>
            <a:r>
              <a:rPr lang="en-US" altLang="ko-KR" dirty="0"/>
              <a:t>10 </a:t>
            </a:r>
            <a:r>
              <a:rPr lang="ko-KR" altLang="en-US" dirty="0"/>
              <a:t>행렬</a:t>
            </a:r>
            <a:r>
              <a:rPr lang="en-US" altLang="ko-KR" dirty="0"/>
              <a:t>(</a:t>
            </a:r>
            <a:r>
              <a:rPr lang="en-US" altLang="ko-KR" dirty="0" err="1"/>
              <a:t>Stepsize</a:t>
            </a:r>
            <a:r>
              <a:rPr lang="en-US" altLang="ko-KR" dirty="0"/>
              <a:t> = 8640s)</a:t>
            </a:r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7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D28E5F1-910C-FDFF-937A-D7C484712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BDEDF5F-B422-D9FC-73C9-F25476408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연구 방법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CB79286-A09E-CEE1-2FF4-BED1ED2825C2}"/>
              </a:ext>
            </a:extLst>
          </p:cNvPr>
          <p:cNvSpPr/>
          <p:nvPr/>
        </p:nvSpPr>
        <p:spPr bwMode="auto">
          <a:xfrm>
            <a:off x="3881655" y="3326499"/>
            <a:ext cx="2119188" cy="16991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26152A8-7451-782C-5BA5-BBF3B1F748DF}"/>
              </a:ext>
            </a:extLst>
          </p:cNvPr>
          <p:cNvGraphicFramePr>
            <a:graphicFrameLocks noGrp="1"/>
          </p:cNvGraphicFramePr>
          <p:nvPr/>
        </p:nvGraphicFramePr>
        <p:xfrm>
          <a:off x="123773" y="1762970"/>
          <a:ext cx="6096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4997199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03908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6112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5086968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6015255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971515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68329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1538201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30668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677213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66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964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256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356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06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221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029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33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876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698699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51A6F4A-EAEB-D986-22F0-96A78DD5D8EB}"/>
              </a:ext>
            </a:extLst>
          </p:cNvPr>
          <p:cNvGraphicFramePr>
            <a:graphicFrameLocks noGrp="1"/>
          </p:cNvGraphicFramePr>
          <p:nvPr/>
        </p:nvGraphicFramePr>
        <p:xfrm>
          <a:off x="6736768" y="1762970"/>
          <a:ext cx="6096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5717329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716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297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426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526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983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124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667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517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78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339752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7B42C38-90B1-7912-A66D-03B65643F8F7}"/>
              </a:ext>
            </a:extLst>
          </p:cNvPr>
          <p:cNvGraphicFramePr>
            <a:graphicFrameLocks noGrp="1"/>
          </p:cNvGraphicFramePr>
          <p:nvPr/>
        </p:nvGraphicFramePr>
        <p:xfrm>
          <a:off x="8091534" y="1762970"/>
          <a:ext cx="6096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5717329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716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297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26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526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83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124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667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517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78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33975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B927E04-962B-7F9A-0229-BDF67301622E}"/>
              </a:ext>
            </a:extLst>
          </p:cNvPr>
          <p:cNvSpPr txBox="1"/>
          <p:nvPr/>
        </p:nvSpPr>
        <p:spPr>
          <a:xfrm>
            <a:off x="6322513" y="3429000"/>
            <a:ext cx="3750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b="0" dirty="0">
                <a:solidFill>
                  <a:schemeClr val="tx1"/>
                </a:solidFill>
              </a:rPr>
              <a:t>×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FBBC12-A2A8-A880-3465-9010E260AE8B}"/>
              </a:ext>
            </a:extLst>
          </p:cNvPr>
          <p:cNvSpPr txBox="1"/>
          <p:nvPr/>
        </p:nvSpPr>
        <p:spPr>
          <a:xfrm>
            <a:off x="7598228" y="3429000"/>
            <a:ext cx="3750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b="0" dirty="0">
                <a:solidFill>
                  <a:schemeClr val="tx1"/>
                </a:solidFill>
              </a:rPr>
              <a:t>=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B80EF6-AACC-BD30-C7AD-A4006EED05DE}"/>
                  </a:ext>
                </a:extLst>
              </p:cNvPr>
              <p:cNvSpPr txBox="1"/>
              <p:nvPr/>
            </p:nvSpPr>
            <p:spPr>
              <a:xfrm>
                <a:off x="885773" y="5668399"/>
                <a:ext cx="4572000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latinLnBrk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sz="1400" b="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400" b="0" dirty="0">
                    <a:solidFill>
                      <a:schemeClr val="tx1"/>
                    </a:solidFill>
                  </a:rPr>
                  <a:t>= 10</a:t>
                </a:r>
                <a:r>
                  <a:rPr lang="ko-KR" altLang="en-US" sz="1400" b="0" dirty="0">
                    <a:solidFill>
                      <a:schemeClr val="tx1"/>
                    </a:solidFill>
                  </a:rPr>
                  <a:t>*</a:t>
                </a:r>
                <a:r>
                  <a:rPr lang="en-US" altLang="ko-KR" sz="1400" b="0" dirty="0">
                    <a:solidFill>
                      <a:schemeClr val="tx1"/>
                    </a:solidFill>
                  </a:rPr>
                  <a:t>10 </a:t>
                </a:r>
                <a:r>
                  <a:rPr lang="ko-KR" altLang="en-US" sz="1400" b="0" dirty="0">
                    <a:solidFill>
                      <a:schemeClr val="tx1"/>
                    </a:solidFill>
                  </a:rPr>
                  <a:t>행렬 </a:t>
                </a:r>
                <a:r>
                  <a:rPr lang="en-US" altLang="ko-KR" sz="1400" b="0" dirty="0">
                    <a:solidFill>
                      <a:schemeClr val="tx1"/>
                    </a:solidFill>
                  </a:rPr>
                  <a:t>(n=9</a:t>
                </a:r>
                <a:r>
                  <a:rPr lang="ko-KR" altLang="en-US" sz="1400" b="0" dirty="0">
                    <a:solidFill>
                      <a:schemeClr val="tx1"/>
                    </a:solidFill>
                  </a:rPr>
                  <a:t>로 가정</a:t>
                </a:r>
                <a:r>
                  <a:rPr lang="en-US" altLang="ko-KR" sz="1400" b="0" dirty="0">
                    <a:solidFill>
                      <a:schemeClr val="tx1"/>
                    </a:solidFill>
                  </a:rPr>
                  <a:t>)</a:t>
                </a:r>
                <a:endParaRPr lang="ko-KR" altLang="en-US" sz="1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5DF61B-D827-10B1-62D9-078BF739B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773" y="5668399"/>
                <a:ext cx="4572000" cy="325089"/>
              </a:xfrm>
              <a:prstGeom prst="rect">
                <a:avLst/>
              </a:prstGeom>
              <a:blipFill>
                <a:blip r:embed="rId3"/>
                <a:stretch>
                  <a:fillRect t="-5660" b="-113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AC5C4C-B7E1-A479-577E-8AAA7EF7D746}"/>
                  </a:ext>
                </a:extLst>
              </p:cNvPr>
              <p:cNvSpPr txBox="1"/>
              <p:nvPr/>
            </p:nvSpPr>
            <p:spPr>
              <a:xfrm>
                <a:off x="5787506" y="5567313"/>
                <a:ext cx="2302644" cy="527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위성</m:t>
                    </m:r>
                  </m:oMath>
                </a14:m>
                <a:r>
                  <a:rPr lang="ko-KR" altLang="en-US" sz="1400" b="0" dirty="0">
                    <a:solidFill>
                      <a:schemeClr val="tx1"/>
                    </a:solidFill>
                  </a:rPr>
                  <a:t> 전파시각</a:t>
                </a:r>
                <a:r>
                  <a:rPr lang="en-US" altLang="ko-KR" sz="1400" b="0" dirty="0">
                    <a:solidFill>
                      <a:schemeClr val="tx1"/>
                    </a:solidFill>
                  </a:rPr>
                  <a:t>)</a:t>
                </a:r>
              </a:p>
              <a:p>
                <a:pPr algn="ctr" latinLnBrk="1"/>
                <a:r>
                  <a:rPr lang="en-US" altLang="ko-KR" sz="1400" b="0" dirty="0">
                    <a:solidFill>
                      <a:schemeClr val="tx1"/>
                    </a:solidFill>
                  </a:rPr>
                  <a:t>(n = 0, 8)</a:t>
                </a:r>
                <a:endParaRPr lang="ko-KR" altLang="en-US" sz="1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CCED48-3A86-9EB8-0765-6BDA3C9B7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506" y="5567313"/>
                <a:ext cx="2302644" cy="527260"/>
              </a:xfrm>
              <a:prstGeom prst="rect">
                <a:avLst/>
              </a:prstGeom>
              <a:blipFill>
                <a:blip r:embed="rId4"/>
                <a:stretch>
                  <a:fillRect t="-1149" b="-103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341229F-1390-87FE-64FE-2DE988E4A5A6}"/>
                  </a:ext>
                </a:extLst>
              </p:cNvPr>
              <p:cNvSpPr txBox="1"/>
              <p:nvPr/>
            </p:nvSpPr>
            <p:spPr>
              <a:xfrm>
                <a:off x="7640866" y="5567313"/>
                <a:ext cx="1510935" cy="5477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altLang="ko-KR" sz="1400" i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ko-KR" sz="1400" b="0" dirty="0">
                    <a:solidFill>
                      <a:schemeClr val="tx1"/>
                    </a:solidFill>
                  </a:rPr>
                  <a:t>imeline)</a:t>
                </a:r>
              </a:p>
              <a:p>
                <a:pPr algn="ctr" latinLnBrk="1"/>
                <a:r>
                  <a:rPr lang="en-US" altLang="ko-KR" sz="1400" b="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400" b="0" dirty="0">
                    <a:solidFill>
                      <a:schemeClr val="tx1"/>
                    </a:solidFill>
                  </a:rPr>
                  <a:t>위성 중복 횟수</a:t>
                </a:r>
                <a:r>
                  <a:rPr lang="en-US" altLang="ko-KR" sz="1400" b="0" dirty="0">
                    <a:solidFill>
                      <a:schemeClr val="tx1"/>
                    </a:solidFill>
                  </a:rPr>
                  <a:t>)</a:t>
                </a:r>
                <a:endParaRPr lang="ko-KR" altLang="en-US" sz="1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1DBDBA-7E82-25C3-760D-F98C1CAA5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0866" y="5567313"/>
                <a:ext cx="1510935" cy="547779"/>
              </a:xfrm>
              <a:prstGeom prst="rect">
                <a:avLst/>
              </a:prstGeom>
              <a:blipFill>
                <a:blip r:embed="rId5"/>
                <a:stretch>
                  <a:fillRect l="-403" t="-2222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직사각형 17">
            <a:extLst>
              <a:ext uri="{FF2B5EF4-FFF2-40B4-BE49-F238E27FC236}">
                <a16:creationId xmlns:a16="http://schemas.microsoft.com/office/drawing/2014/main" id="{D01BCDAD-CCAD-CBC4-2C53-2F5A746806DA}"/>
              </a:ext>
            </a:extLst>
          </p:cNvPr>
          <p:cNvSpPr/>
          <p:nvPr/>
        </p:nvSpPr>
        <p:spPr bwMode="auto">
          <a:xfrm>
            <a:off x="123773" y="1762970"/>
            <a:ext cx="6096000" cy="3740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>
              <a:noFill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89720FB-B6EB-DAAE-110F-7A4F321AFAC0}"/>
              </a:ext>
            </a:extLst>
          </p:cNvPr>
          <p:cNvCxnSpPr/>
          <p:nvPr/>
        </p:nvCxnSpPr>
        <p:spPr>
          <a:xfrm flipV="1">
            <a:off x="5774076" y="1489753"/>
            <a:ext cx="226767" cy="27321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7AB0713-F7B2-9818-22A3-C343632F7A42}"/>
              </a:ext>
            </a:extLst>
          </p:cNvPr>
          <p:cNvSpPr txBox="1"/>
          <p:nvPr/>
        </p:nvSpPr>
        <p:spPr>
          <a:xfrm>
            <a:off x="5465591" y="896251"/>
            <a:ext cx="23026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400" b="0" dirty="0">
                <a:solidFill>
                  <a:srgbClr val="FF0000"/>
                </a:solidFill>
              </a:rPr>
              <a:t>Seed Satellite</a:t>
            </a:r>
            <a:r>
              <a:rPr lang="ko-KR" altLang="en-US" sz="1400" dirty="0">
                <a:solidFill>
                  <a:srgbClr val="FF0000"/>
                </a:solidFill>
              </a:rPr>
              <a:t> 한 대의 </a:t>
            </a:r>
            <a:r>
              <a:rPr lang="en-US" altLang="ko-KR" sz="1400" dirty="0">
                <a:solidFill>
                  <a:srgbClr val="FF0000"/>
                </a:solidFill>
              </a:rPr>
              <a:t>Coverage Timeline</a:t>
            </a:r>
            <a:endParaRPr lang="ko-KR" altLang="en-US" sz="1400" b="0" dirty="0">
              <a:solidFill>
                <a:srgbClr val="FF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AC66835-77B8-2571-BE61-4C3CA6105422}"/>
              </a:ext>
            </a:extLst>
          </p:cNvPr>
          <p:cNvSpPr/>
          <p:nvPr/>
        </p:nvSpPr>
        <p:spPr bwMode="auto">
          <a:xfrm>
            <a:off x="6736768" y="1762970"/>
            <a:ext cx="609600" cy="3708400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455D917-497C-FE66-67D4-CA4CCD337890}"/>
              </a:ext>
            </a:extLst>
          </p:cNvPr>
          <p:cNvCxnSpPr/>
          <p:nvPr/>
        </p:nvCxnSpPr>
        <p:spPr>
          <a:xfrm flipV="1">
            <a:off x="7365425" y="1489752"/>
            <a:ext cx="226767" cy="27321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B7F3DC-9993-864F-5152-B35FA9891E61}"/>
              </a:ext>
            </a:extLst>
          </p:cNvPr>
          <p:cNvSpPr txBox="1"/>
          <p:nvPr/>
        </p:nvSpPr>
        <p:spPr>
          <a:xfrm>
            <a:off x="7175050" y="918384"/>
            <a:ext cx="23026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ko-KR" altLang="en-US" sz="1400" b="0" dirty="0">
                <a:solidFill>
                  <a:srgbClr val="0070C0"/>
                </a:solidFill>
              </a:rPr>
              <a:t>위성의 </a:t>
            </a:r>
            <a:r>
              <a:rPr lang="en-US" altLang="ko-KR" sz="1400" b="0" dirty="0">
                <a:solidFill>
                  <a:srgbClr val="0070C0"/>
                </a:solidFill>
              </a:rPr>
              <a:t>n </a:t>
            </a:r>
            <a:r>
              <a:rPr lang="ko-KR" altLang="en-US" sz="1400" b="0" dirty="0">
                <a:solidFill>
                  <a:srgbClr val="0070C0"/>
                </a:solidFill>
              </a:rPr>
              <a:t>조합을</a:t>
            </a:r>
            <a:endParaRPr lang="en-US" altLang="ko-KR" sz="1400" b="0" dirty="0">
              <a:solidFill>
                <a:srgbClr val="0070C0"/>
              </a:solidFill>
            </a:endParaRPr>
          </a:p>
          <a:p>
            <a:pPr algn="ctr" latinLnBrk="1"/>
            <a:r>
              <a:rPr lang="ko-KR" altLang="en-US" sz="1400" b="0" dirty="0">
                <a:solidFill>
                  <a:srgbClr val="0070C0"/>
                </a:solidFill>
              </a:rPr>
              <a:t>구하는 것이 목표</a:t>
            </a:r>
          </a:p>
        </p:txBody>
      </p:sp>
    </p:spTree>
    <p:extLst>
      <p:ext uri="{BB962C8B-B14F-4D97-AF65-F5344CB8AC3E}">
        <p14:creationId xmlns:p14="http://schemas.microsoft.com/office/powerpoint/2010/main" val="398353020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 err="1"/>
              <a:t>FreeFlyer</a:t>
            </a:r>
            <a:r>
              <a:rPr lang="ko-KR" altLang="en-US" dirty="0"/>
              <a:t>를 통한 궤도 설정 및 전파</a:t>
            </a:r>
            <a:endParaRPr lang="en-US" altLang="ko-KR" dirty="0"/>
          </a:p>
          <a:p>
            <a:pPr lvl="1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궤도요소 및 중력모델의 자유로운 설정 가능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r>
              <a:rPr lang="en-US" altLang="ko-KR" dirty="0" err="1">
                <a:solidFill>
                  <a:srgbClr val="1F2328"/>
                </a:solidFill>
                <a:latin typeface="-apple-system"/>
              </a:rPr>
              <a:t>Matlab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의 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Aerospace tool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에 비해 정확함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Ground Station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에 대한 </a:t>
            </a:r>
            <a:r>
              <a:rPr lang="en-US" altLang="ko-KR" dirty="0" err="1">
                <a:solidFill>
                  <a:srgbClr val="1F2328"/>
                </a:solidFill>
                <a:latin typeface="-apple-system"/>
              </a:rPr>
              <a:t>PassData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를 출력 가능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>
              <a:defRPr/>
            </a:pPr>
            <a:r>
              <a:rPr lang="en-US" altLang="ko-KR" dirty="0" err="1"/>
              <a:t>Matlab</a:t>
            </a:r>
            <a:r>
              <a:rPr lang="ko-KR" altLang="en-US" dirty="0"/>
              <a:t>을 통한 결과 분석</a:t>
            </a:r>
            <a:endParaRPr lang="en-US" altLang="ko-KR" dirty="0"/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운용개념을 바탕으로 직접 코드 작성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en-US" altLang="ko-KR" dirty="0" err="1">
                <a:solidFill>
                  <a:srgbClr val="1F2328"/>
                </a:solidFill>
                <a:latin typeface="-apple-system"/>
              </a:rPr>
              <a:t>PassData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를 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input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으로 하여 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APC Decomposition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을 출력 가능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647800" lvl="6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논문 예시 검증방법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828D30F-ACD3-64BC-800A-6C8688C41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85" y="928686"/>
            <a:ext cx="6179693" cy="53991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820235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BILP </a:t>
            </a:r>
            <a:r>
              <a:rPr lang="ko-KR" altLang="en-US" dirty="0"/>
              <a:t>연구결과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08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2A0F-3FA3-AE1A-106C-6909D4EC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9EE9BF-38BF-9B8A-5CB1-D8302ECD4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논문에서의 결과</a:t>
            </a:r>
            <a:r>
              <a:rPr lang="en-US" altLang="ko-KR" dirty="0"/>
              <a:t>(Coverage</a:t>
            </a:r>
            <a:r>
              <a:rPr lang="ko-KR" altLang="en-US" dirty="0"/>
              <a:t> </a:t>
            </a:r>
            <a:r>
              <a:rPr lang="en-US" altLang="ko-KR" dirty="0"/>
              <a:t>100%)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위성수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궤도평면 </a:t>
            </a:r>
            <a:r>
              <a:rPr lang="en-US" altLang="ko-KR" dirty="0"/>
              <a:t>18</a:t>
            </a:r>
            <a:r>
              <a:rPr lang="ko-KR" altLang="en-US" dirty="0"/>
              <a:t>개 </a:t>
            </a:r>
            <a:r>
              <a:rPr lang="en-US" altLang="ko-KR" dirty="0"/>
              <a:t>(</a:t>
            </a:r>
            <a:r>
              <a:rPr lang="ko-KR" altLang="en-US" dirty="0"/>
              <a:t>한 평면 당 </a:t>
            </a:r>
            <a:r>
              <a:rPr lang="en-US" altLang="ko-KR" dirty="0"/>
              <a:t>1</a:t>
            </a:r>
            <a:r>
              <a:rPr lang="ko-KR" altLang="en-US" dirty="0"/>
              <a:t>대 씩 배치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5937.6 </a:t>
            </a:r>
            <a:r>
              <a:rPr lang="ko-KR" altLang="en-US" dirty="0"/>
              <a:t>초</a:t>
            </a:r>
            <a:endParaRPr lang="en-US" altLang="ko-KR" dirty="0"/>
          </a:p>
          <a:p>
            <a:pPr marL="576000" lvl="3" indent="0">
              <a:buNone/>
              <a:defRPr/>
            </a:pPr>
            <a:r>
              <a:rPr lang="en-US" altLang="ko-KR" dirty="0"/>
              <a:t> </a:t>
            </a:r>
          </a:p>
          <a:p>
            <a:pPr lvl="3"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B173B3-46EC-935A-396A-8B60C972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제목 3">
                <a:extLst>
                  <a:ext uri="{FF2B5EF4-FFF2-40B4-BE49-F238E27FC236}">
                    <a16:creationId xmlns:a16="http://schemas.microsoft.com/office/drawing/2014/main" id="{30D52D28-83ED-B50F-30D3-0C082FEFFDF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lvl="0">
                  <a:defRPr/>
                </a:pPr>
                <a:r>
                  <a:rPr lang="en-US" altLang="ko-KR" dirty="0"/>
                  <a:t>BILP method </a:t>
                </a:r>
                <a:r>
                  <a:rPr lang="ko-KR" altLang="en-US" dirty="0"/>
                  <a:t>연구 결과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dirty="0"/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𝛺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nor/>
                          </m:rPr>
                          <a:rPr lang="en-US" altLang="ko-KR" dirty="0"/>
                          <m:t>)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제목 3">
                <a:extLst>
                  <a:ext uri="{FF2B5EF4-FFF2-40B4-BE49-F238E27FC236}">
                    <a16:creationId xmlns:a16="http://schemas.microsoft.com/office/drawing/2014/main" id="{30D52D28-83ED-B50F-30D3-0C082FEFFD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DAFA216B-0BA3-A55A-FC1C-4356F4AE1F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0418141"/>
                  </p:ext>
                </p:extLst>
              </p:nvPr>
            </p:nvGraphicFramePr>
            <p:xfrm>
              <a:off x="4398456" y="1634211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350.3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69.5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344.3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235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275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142.5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DAFA216B-0BA3-A55A-FC1C-4356F4AE1F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0418141"/>
                  </p:ext>
                </p:extLst>
              </p:nvPr>
            </p:nvGraphicFramePr>
            <p:xfrm>
              <a:off x="4398456" y="1634211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1343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6790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4660" t="-2000" r="-101942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4660" t="-2000" r="-1942" b="-9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350.3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69.5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344.3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235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275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142.5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9F736A3-F78C-BC77-7571-410A520DB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447938"/>
              </p:ext>
            </p:extLst>
          </p:nvPr>
        </p:nvGraphicFramePr>
        <p:xfrm>
          <a:off x="6699576" y="1939011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366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62.3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380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190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388.3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425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215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38.3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458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223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302.3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491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263.5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176.3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524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268.5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116.3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556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271.5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80.3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589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344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290.3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622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349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230.3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69F72618-3EE8-F6D7-8B32-17EEEDDB0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921" y="1650606"/>
            <a:ext cx="3867745" cy="34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2783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22A0B-3577-CD25-7D3B-4D0C4F6F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6F5D4B0-89AC-42F6-B4CB-1E1D850D4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논문에서의 결과</a:t>
            </a:r>
            <a:r>
              <a:rPr lang="en-US" altLang="ko-KR" dirty="0"/>
              <a:t>(Coverage</a:t>
            </a:r>
            <a:r>
              <a:rPr lang="ko-KR" altLang="en-US" dirty="0"/>
              <a:t> </a:t>
            </a:r>
            <a:r>
              <a:rPr lang="en-US" altLang="ko-KR" dirty="0"/>
              <a:t>100%)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위성수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궤도평면 </a:t>
            </a:r>
            <a:r>
              <a:rPr lang="en-US" altLang="ko-KR" dirty="0"/>
              <a:t>18</a:t>
            </a:r>
            <a:r>
              <a:rPr lang="ko-KR" altLang="en-US" dirty="0"/>
              <a:t>개 </a:t>
            </a:r>
            <a:r>
              <a:rPr lang="en-US" altLang="ko-KR" dirty="0"/>
              <a:t>(</a:t>
            </a:r>
            <a:r>
              <a:rPr lang="ko-KR" altLang="en-US" dirty="0"/>
              <a:t>한 평면 당 </a:t>
            </a:r>
            <a:r>
              <a:rPr lang="en-US" altLang="ko-KR" dirty="0"/>
              <a:t>1</a:t>
            </a:r>
            <a:r>
              <a:rPr lang="ko-KR" altLang="en-US" dirty="0"/>
              <a:t>대 씩 배치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5937.6 </a:t>
            </a:r>
            <a:r>
              <a:rPr lang="ko-KR" altLang="en-US" dirty="0"/>
              <a:t>초</a:t>
            </a:r>
            <a:endParaRPr lang="en-US" altLang="ko-KR" dirty="0"/>
          </a:p>
          <a:p>
            <a:pPr marL="576000" lvl="3" indent="0">
              <a:buNone/>
              <a:defRPr/>
            </a:pPr>
            <a:r>
              <a:rPr lang="en-US" altLang="ko-KR" dirty="0"/>
              <a:t> </a:t>
            </a:r>
          </a:p>
          <a:p>
            <a:pPr lvl="3"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90BA4F-E869-90A5-A085-8D57BDE3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제목 3">
                <a:extLst>
                  <a:ext uri="{FF2B5EF4-FFF2-40B4-BE49-F238E27FC236}">
                    <a16:creationId xmlns:a16="http://schemas.microsoft.com/office/drawing/2014/main" id="{02F6ED82-15D0-DD9C-1130-1B201EF63E6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lvl="0">
                  <a:defRPr/>
                </a:pPr>
                <a:r>
                  <a:rPr lang="en-US" altLang="ko-KR" dirty="0"/>
                  <a:t>BILP method </a:t>
                </a:r>
                <a:r>
                  <a:rPr lang="ko-KR" altLang="en-US" dirty="0"/>
                  <a:t>연구 결과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dirty="0"/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𝛺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nor/>
                          </m:rPr>
                          <a:rPr lang="en-US" altLang="ko-KR" dirty="0"/>
                          <m:t>)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제목 3">
                <a:extLst>
                  <a:ext uri="{FF2B5EF4-FFF2-40B4-BE49-F238E27FC236}">
                    <a16:creationId xmlns:a16="http://schemas.microsoft.com/office/drawing/2014/main" id="{02F6ED82-15D0-DD9C-1130-1B201EF63E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E9BD38BB-46C9-449D-52F5-01765FA23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080" y="1735519"/>
            <a:ext cx="4174800" cy="3386962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02C445FB-A14F-B214-A8A8-A25DF08184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1884017"/>
                  </p:ext>
                </p:extLst>
              </p:nvPr>
            </p:nvGraphicFramePr>
            <p:xfrm>
              <a:off x="4579080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350.3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69.5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344.3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235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275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142.5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02C445FB-A14F-B214-A8A8-A25DF08184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1884017"/>
                  </p:ext>
                </p:extLst>
              </p:nvPr>
            </p:nvGraphicFramePr>
            <p:xfrm>
              <a:off x="4579080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93" t="-2000" r="-431343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3951" t="-2000" r="-256790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4660" t="-2000" r="-101942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44660" t="-2000" r="-1942" b="-9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350.3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69.5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344.3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235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275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142.5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B8FC0EE-9DC5-EF47-70E8-A8472A14C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415585"/>
              </p:ext>
            </p:extLst>
          </p:nvPr>
        </p:nvGraphicFramePr>
        <p:xfrm>
          <a:off x="6880200" y="195030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366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62.3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380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190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388.3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430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215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38.3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446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223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302.3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527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263.5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176.3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537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268.5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116.3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543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271.5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80.3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688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344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290.3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Times New Roman"/>
                          <a:ea typeface="+mn-ea"/>
                          <a:cs typeface="Times New Roman"/>
                        </a:rPr>
                        <a:t>698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349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230.3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004776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3080-9AF1-520B-20E0-63EF866AA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E7E265AD-832C-DCBD-63C3-E832E519F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(Example 1)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2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576000" lvl="3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A7ABCE3-776F-17F3-8206-03B2B0FA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6831494-E3F4-F849-8DBD-438F7A794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논문과 실제 시뮬레이션 결과 비교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23B6534-EFD1-BC56-E9B8-5C519E705818}"/>
              </a:ext>
            </a:extLst>
          </p:cNvPr>
          <p:cNvGraphicFramePr>
            <a:graphicFrameLocks noGrp="1"/>
          </p:cNvGraphicFramePr>
          <p:nvPr/>
        </p:nvGraphicFramePr>
        <p:xfrm>
          <a:off x="574044" y="1619790"/>
          <a:ext cx="7507891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1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[39, 73, 79, 89, 170, 184, 234, 250, 331, 341, 347, 492, 502, 542, 638, 648, 654, 663]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4D2E0C29-9CD6-0101-5E46-0D7D59AD7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8358" y="2586310"/>
            <a:ext cx="5334000" cy="40005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B8B8981-40C9-9033-A77D-E2E5E894A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973" y="2733378"/>
            <a:ext cx="4175872" cy="3639565"/>
          </a:xfrm>
          <a:prstGeom prst="rect">
            <a:avLst/>
          </a:prstGeom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F2B6CFD5-3035-4708-EBD1-738CE51E7023}"/>
              </a:ext>
            </a:extLst>
          </p:cNvPr>
          <p:cNvSpPr/>
          <p:nvPr/>
        </p:nvSpPr>
        <p:spPr bwMode="auto">
          <a:xfrm>
            <a:off x="4319651" y="1002236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13227-F1D0-0ACE-EA44-F93F4303989A}"/>
              </a:ext>
            </a:extLst>
          </p:cNvPr>
          <p:cNvSpPr txBox="1"/>
          <p:nvPr/>
        </p:nvSpPr>
        <p:spPr>
          <a:xfrm>
            <a:off x="4458737" y="1017174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100 %</a:t>
            </a:r>
          </a:p>
        </p:txBody>
      </p:sp>
    </p:spTree>
    <p:extLst>
      <p:ext uri="{BB962C8B-B14F-4D97-AF65-F5344CB8AC3E}">
        <p14:creationId xmlns:p14="http://schemas.microsoft.com/office/powerpoint/2010/main" val="20591301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3080-9AF1-520B-20E0-63EF866AA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E7E265AD-832C-DCBD-63C3-E832E519F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(Example 2)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2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576000" lvl="3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A7ABCE3-776F-17F3-8206-03B2B0FA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6831494-E3F4-F849-8DBD-438F7A794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논문과 실제 시뮬레이션 결과 비교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23B6534-EFD1-BC56-E9B8-5C519E705818}"/>
              </a:ext>
            </a:extLst>
          </p:cNvPr>
          <p:cNvGraphicFramePr>
            <a:graphicFrameLocks noGrp="1"/>
          </p:cNvGraphicFramePr>
          <p:nvPr/>
        </p:nvGraphicFramePr>
        <p:xfrm>
          <a:off x="574044" y="1619790"/>
          <a:ext cx="7507891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1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[39, 73, 79, 89, 170, 184, 234, 250, 331, 341, 347, 492, 502, 542, 638, 648, 654, 663]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DB8B8981-40C9-9033-A77D-E2E5E894A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973" y="2733378"/>
            <a:ext cx="4175872" cy="3639565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6B484C3-7DB5-217C-C16B-59F13DBE1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569274"/>
              </p:ext>
            </p:extLst>
          </p:nvPr>
        </p:nvGraphicFramePr>
        <p:xfrm>
          <a:off x="574044" y="1619790"/>
          <a:ext cx="7612666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405255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1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1, 2(240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≤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≤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480)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"/>
                          <a:ea typeface="+mn-ea"/>
                          <a:cs typeface="Times New Roman"/>
                        </a:rPr>
                        <a:t>n = [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39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75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89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114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124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130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164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215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230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255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265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483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493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518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533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584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618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624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634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659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673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709</a:t>
                      </a:r>
                      <a:r>
                        <a:rPr lang="en-US" altLang="ko-KR" sz="1200" dirty="0">
                          <a:latin typeface="Times New Roma"/>
                          <a:ea typeface="+mn-ea"/>
                          <a:cs typeface="Times New Roman"/>
                        </a:rPr>
                        <a:t>]</a:t>
                      </a:r>
                      <a:endParaRPr lang="ko-KR" altLang="en-US" sz="1200" dirty="0">
                        <a:latin typeface="Times New Rom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06F94607-EC3E-2BE6-1A22-2E5C113D0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311" y="2712665"/>
            <a:ext cx="4230630" cy="366027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7177A99-ABDB-C456-4F0D-8A21239AB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52114" y="2586777"/>
            <a:ext cx="5334000" cy="4000500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623DCD94-44FA-950D-EDE6-5B66824F9348}"/>
              </a:ext>
            </a:extLst>
          </p:cNvPr>
          <p:cNvSpPr/>
          <p:nvPr/>
        </p:nvSpPr>
        <p:spPr bwMode="auto">
          <a:xfrm>
            <a:off x="4319651" y="1002236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57A23-AF12-2D28-FAC5-660DC0B46E1F}"/>
              </a:ext>
            </a:extLst>
          </p:cNvPr>
          <p:cNvSpPr txBox="1"/>
          <p:nvPr/>
        </p:nvSpPr>
        <p:spPr>
          <a:xfrm>
            <a:off x="4458737" y="1017174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100 %</a:t>
            </a:r>
          </a:p>
        </p:txBody>
      </p:sp>
    </p:spTree>
    <p:extLst>
      <p:ext uri="{BB962C8B-B14F-4D97-AF65-F5344CB8AC3E}">
        <p14:creationId xmlns:p14="http://schemas.microsoft.com/office/powerpoint/2010/main" val="414880501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BILP Method 1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35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C4A83F67-B623-B2FA-4506-0F2F9CEFA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200" y="1190038"/>
            <a:ext cx="5334000" cy="4000500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실제 시뮬레이션 결과</a:t>
            </a:r>
            <a:r>
              <a:rPr lang="en-US" altLang="ko-KR" dirty="0"/>
              <a:t>(Coverage 92%</a:t>
            </a:r>
            <a:r>
              <a:rPr lang="ko-KR" altLang="en-US" dirty="0"/>
              <a:t>로 조정</a:t>
            </a:r>
            <a:r>
              <a:rPr lang="en-US" altLang="ko-KR" dirty="0"/>
              <a:t>) 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lvl="2">
              <a:defRPr/>
            </a:pPr>
            <a:r>
              <a:rPr lang="ko-KR" altLang="en-US" dirty="0"/>
              <a:t>위성수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궤도평면 </a:t>
            </a:r>
            <a:r>
              <a:rPr lang="en-US" altLang="ko-KR" dirty="0"/>
              <a:t>18</a:t>
            </a:r>
            <a:r>
              <a:rPr lang="ko-KR" altLang="en-US" dirty="0"/>
              <a:t>개 </a:t>
            </a:r>
            <a:r>
              <a:rPr lang="en-US" altLang="ko-KR" dirty="0"/>
              <a:t>(</a:t>
            </a:r>
            <a:r>
              <a:rPr lang="ko-KR" altLang="en-US" dirty="0"/>
              <a:t>한 평면 당 </a:t>
            </a:r>
            <a:r>
              <a:rPr lang="en-US" altLang="ko-KR" dirty="0"/>
              <a:t>1</a:t>
            </a:r>
            <a:r>
              <a:rPr lang="ko-KR" altLang="en-US" dirty="0"/>
              <a:t>대 씩 배치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12.55</a:t>
            </a:r>
            <a:r>
              <a:rPr lang="ko-KR" altLang="en-US" dirty="0"/>
              <a:t>초</a:t>
            </a:r>
            <a:r>
              <a:rPr lang="en-US" altLang="ko-KR" dirty="0"/>
              <a:t> </a:t>
            </a:r>
          </a:p>
          <a:p>
            <a:pPr lvl="2">
              <a:defRPr/>
            </a:pPr>
            <a:r>
              <a:rPr lang="ko-KR" altLang="en-US" dirty="0"/>
              <a:t>시행</a:t>
            </a:r>
            <a:r>
              <a:rPr lang="en-US" altLang="ko-KR" dirty="0"/>
              <a:t> </a:t>
            </a:r>
            <a:r>
              <a:rPr lang="ko-KR" altLang="en-US" dirty="0"/>
              <a:t>횟수 </a:t>
            </a:r>
            <a:r>
              <a:rPr lang="en-US" altLang="ko-KR" dirty="0"/>
              <a:t>: 237,034</a:t>
            </a:r>
            <a:r>
              <a:rPr lang="ko-KR" altLang="en-US" dirty="0"/>
              <a:t>회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Coverage : 92.22%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Coverage </a:t>
            </a:r>
            <a:r>
              <a:rPr lang="ko-KR" altLang="en-US" dirty="0"/>
              <a:t>비율을 점차 높이며 진행 </a:t>
            </a:r>
            <a:r>
              <a:rPr lang="en-US" altLang="ko-KR" dirty="0"/>
              <a:t>(Ex 1)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272.3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161.5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272.3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161.5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AF09E4-F657-D6EB-E6CD-AA0EF25E4C5C}"/>
              </a:ext>
            </a:extLst>
          </p:cNvPr>
          <p:cNvGraphicFramePr>
            <a:graphicFrameLocks noGrp="1"/>
          </p:cNvGraphicFramePr>
          <p:nvPr/>
        </p:nvGraphicFramePr>
        <p:xfrm>
          <a:off x="6880200" y="195030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74.3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289.5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224.3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305.5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314.5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325.5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36324542-D67E-22C7-D33A-F69A381F95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80681" y="164371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272.3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161.5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36324542-D67E-22C7-D33A-F69A381F95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80681" y="164371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272.3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161.5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2250F4-87CF-BCA1-C79A-05AA6F248B84}"/>
              </a:ext>
            </a:extLst>
          </p:cNvPr>
          <p:cNvGraphicFramePr>
            <a:graphicFrameLocks noGrp="1"/>
          </p:cNvGraphicFramePr>
          <p:nvPr/>
        </p:nvGraphicFramePr>
        <p:xfrm>
          <a:off x="6879061" y="194851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74.3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289.5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224.3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305.5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314.5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325.5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D4F6874E-3F2D-EE1E-532B-2ECF2F8EA0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8703505"/>
                  </p:ext>
                </p:extLst>
              </p:nvPr>
            </p:nvGraphicFramePr>
            <p:xfrm>
              <a:off x="4680681" y="1648464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278.3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81.5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D4F6874E-3F2D-EE1E-532B-2ECF2F8EA0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8703505"/>
                  </p:ext>
                </p:extLst>
              </p:nvPr>
            </p:nvGraphicFramePr>
            <p:xfrm>
              <a:off x="4680681" y="1648464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278.3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81.5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88EFBA6-1212-EBF4-18D4-9ED8D077A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346163"/>
              </p:ext>
            </p:extLst>
          </p:nvPr>
        </p:nvGraphicFramePr>
        <p:xfrm>
          <a:off x="6880200" y="1953264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169.5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224.3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203.5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176.3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205.5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278.3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277.5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295.5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338.3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705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352.5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318845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65DC5BAD-F434-49CE-6C9D-F8CC5866B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548" y="1190038"/>
            <a:ext cx="5334000" cy="4000500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실제 시뮬레이션 결과</a:t>
            </a:r>
            <a:r>
              <a:rPr lang="en-US" altLang="ko-KR" dirty="0"/>
              <a:t>(Coverage 93%</a:t>
            </a:r>
            <a:r>
              <a:rPr lang="ko-KR" altLang="en-US" dirty="0"/>
              <a:t>로 조정</a:t>
            </a:r>
            <a:r>
              <a:rPr lang="en-US" altLang="ko-KR" dirty="0"/>
              <a:t>) 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lvl="2">
              <a:defRPr/>
            </a:pPr>
            <a:r>
              <a:rPr lang="ko-KR" altLang="en-US" dirty="0"/>
              <a:t>위성수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궤도평면 </a:t>
            </a:r>
            <a:r>
              <a:rPr lang="en-US" altLang="ko-KR" dirty="0"/>
              <a:t>18</a:t>
            </a:r>
            <a:r>
              <a:rPr lang="ko-KR" altLang="en-US" dirty="0"/>
              <a:t>개 </a:t>
            </a:r>
            <a:r>
              <a:rPr lang="en-US" altLang="ko-KR" dirty="0"/>
              <a:t>(</a:t>
            </a:r>
            <a:r>
              <a:rPr lang="ko-KR" altLang="en-US" dirty="0"/>
              <a:t>한 평면 당 </a:t>
            </a:r>
            <a:r>
              <a:rPr lang="en-US" altLang="ko-KR" dirty="0"/>
              <a:t>1</a:t>
            </a:r>
            <a:r>
              <a:rPr lang="ko-KR" altLang="en-US" dirty="0"/>
              <a:t>대 씩 배치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114.02</a:t>
            </a:r>
            <a:r>
              <a:rPr lang="ko-KR" altLang="en-US" dirty="0"/>
              <a:t>초</a:t>
            </a:r>
            <a:r>
              <a:rPr lang="en-US" altLang="ko-KR" dirty="0"/>
              <a:t> (</a:t>
            </a:r>
            <a:r>
              <a:rPr lang="ko-KR" altLang="en-US" dirty="0"/>
              <a:t>약 </a:t>
            </a:r>
            <a:r>
              <a:rPr lang="en-US" altLang="ko-KR" dirty="0"/>
              <a:t>1.9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시행</a:t>
            </a:r>
            <a:r>
              <a:rPr lang="en-US" altLang="ko-KR" dirty="0"/>
              <a:t> </a:t>
            </a:r>
            <a:r>
              <a:rPr lang="ko-KR" altLang="en-US" dirty="0"/>
              <a:t>횟수 </a:t>
            </a:r>
            <a:r>
              <a:rPr lang="en-US" altLang="ko-KR" dirty="0"/>
              <a:t>: 2,119,404</a:t>
            </a:r>
            <a:r>
              <a:rPr lang="ko-KR" altLang="en-US" dirty="0"/>
              <a:t>회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Coverage : 93.1944%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Coverage </a:t>
            </a:r>
            <a:r>
              <a:rPr lang="ko-KR" altLang="en-US" dirty="0"/>
              <a:t>비율을 점차 높이며 진행 </a:t>
            </a:r>
            <a:r>
              <a:rPr lang="en-US" altLang="ko-KR" dirty="0"/>
              <a:t>(Ex 1)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272.3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161.5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272.3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161.5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AF09E4-F657-D6EB-E6CD-AA0EF25E4C5C}"/>
              </a:ext>
            </a:extLst>
          </p:cNvPr>
          <p:cNvGraphicFramePr>
            <a:graphicFrameLocks noGrp="1"/>
          </p:cNvGraphicFramePr>
          <p:nvPr/>
        </p:nvGraphicFramePr>
        <p:xfrm>
          <a:off x="6880200" y="195030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74.3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289.5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224.3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305.5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314.5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325.5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36324542-D67E-22C7-D33A-F69A381F95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6703653"/>
                  </p:ext>
                </p:extLst>
              </p:nvPr>
            </p:nvGraphicFramePr>
            <p:xfrm>
              <a:off x="4680681" y="164371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51.5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194.3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36324542-D67E-22C7-D33A-F69A381F95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6703653"/>
                  </p:ext>
                </p:extLst>
              </p:nvPr>
            </p:nvGraphicFramePr>
            <p:xfrm>
              <a:off x="4680681" y="164371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51.5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194.3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2250F4-87CF-BCA1-C79A-05AA6F248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403348"/>
              </p:ext>
            </p:extLst>
          </p:nvPr>
        </p:nvGraphicFramePr>
        <p:xfrm>
          <a:off x="6879061" y="194851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148.5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116.3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290.3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167.5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188.5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74.3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252.5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323.5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176.3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940907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54E201C3-73A1-B918-2CB9-51E748317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200" y="1187937"/>
            <a:ext cx="5334000" cy="4000500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실제 시뮬레이션 결과</a:t>
            </a:r>
            <a:r>
              <a:rPr lang="en-US" altLang="ko-KR" dirty="0"/>
              <a:t>(Coverage 94%</a:t>
            </a:r>
            <a:r>
              <a:rPr lang="ko-KR" altLang="en-US" dirty="0"/>
              <a:t>로 조정</a:t>
            </a:r>
            <a:r>
              <a:rPr lang="en-US" altLang="ko-KR" dirty="0"/>
              <a:t>) 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lvl="2">
              <a:defRPr/>
            </a:pPr>
            <a:r>
              <a:rPr lang="ko-KR" altLang="en-US" dirty="0"/>
              <a:t>위성수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궤도평면 </a:t>
            </a:r>
            <a:r>
              <a:rPr lang="en-US" altLang="ko-KR" dirty="0"/>
              <a:t>18</a:t>
            </a:r>
            <a:r>
              <a:rPr lang="ko-KR" altLang="en-US" dirty="0"/>
              <a:t>개 </a:t>
            </a:r>
            <a:r>
              <a:rPr lang="en-US" altLang="ko-KR" dirty="0"/>
              <a:t>(</a:t>
            </a:r>
            <a:r>
              <a:rPr lang="ko-KR" altLang="en-US" dirty="0"/>
              <a:t>한 평면 당 </a:t>
            </a:r>
            <a:r>
              <a:rPr lang="en-US" altLang="ko-KR" dirty="0"/>
              <a:t>1</a:t>
            </a:r>
            <a:r>
              <a:rPr lang="ko-KR" altLang="en-US" dirty="0"/>
              <a:t>대 씩 배치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174.16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2.9</a:t>
            </a:r>
            <a:r>
              <a:rPr lang="ko-KR" altLang="en-US" dirty="0"/>
              <a:t>분</a:t>
            </a:r>
            <a:r>
              <a:rPr lang="en-US" altLang="ko-KR" dirty="0"/>
              <a:t>) </a:t>
            </a:r>
          </a:p>
          <a:p>
            <a:pPr lvl="2">
              <a:defRPr/>
            </a:pPr>
            <a:r>
              <a:rPr lang="ko-KR" altLang="en-US" dirty="0"/>
              <a:t>시행</a:t>
            </a:r>
            <a:r>
              <a:rPr lang="en-US" altLang="ko-KR" dirty="0"/>
              <a:t> </a:t>
            </a:r>
            <a:r>
              <a:rPr lang="ko-KR" altLang="en-US" dirty="0"/>
              <a:t>횟수 </a:t>
            </a:r>
            <a:r>
              <a:rPr lang="en-US" altLang="ko-KR" dirty="0"/>
              <a:t>: 3,305,700</a:t>
            </a:r>
            <a:r>
              <a:rPr lang="ko-KR" altLang="en-US" dirty="0"/>
              <a:t>회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Coverage : 94.0278%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Coverage </a:t>
            </a:r>
            <a:r>
              <a:rPr lang="ko-KR" altLang="en-US" dirty="0"/>
              <a:t>비율을 점차 높이며 진행 </a:t>
            </a:r>
            <a:r>
              <a:rPr lang="en-US" altLang="ko-KR" dirty="0"/>
              <a:t>(Ex 1)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7495690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7495690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AF09E4-F657-D6EB-E6CD-AA0EF25E4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088447"/>
              </p:ext>
            </p:extLst>
          </p:nvPr>
        </p:nvGraphicFramePr>
        <p:xfrm>
          <a:off x="6880200" y="195030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180.5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92.3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241.5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98.3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28317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실제 시뮬레이션 결과</a:t>
            </a:r>
            <a:r>
              <a:rPr lang="en-US" altLang="ko-KR" dirty="0"/>
              <a:t>(Coverage 95%</a:t>
            </a:r>
            <a:r>
              <a:rPr lang="ko-KR" altLang="en-US" dirty="0"/>
              <a:t>로 조정</a:t>
            </a:r>
            <a:r>
              <a:rPr lang="en-US" altLang="ko-KR" dirty="0"/>
              <a:t>) 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lvl="2">
              <a:defRPr/>
            </a:pPr>
            <a:r>
              <a:rPr lang="ko-KR" altLang="en-US" dirty="0"/>
              <a:t>위성수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궤도평면 </a:t>
            </a:r>
            <a:r>
              <a:rPr lang="en-US" altLang="ko-KR" dirty="0"/>
              <a:t>18</a:t>
            </a:r>
            <a:r>
              <a:rPr lang="ko-KR" altLang="en-US" dirty="0"/>
              <a:t>개 </a:t>
            </a:r>
            <a:r>
              <a:rPr lang="en-US" altLang="ko-KR" dirty="0"/>
              <a:t>(</a:t>
            </a:r>
            <a:r>
              <a:rPr lang="ko-KR" altLang="en-US" dirty="0"/>
              <a:t>한 평면 당 </a:t>
            </a:r>
            <a:r>
              <a:rPr lang="en-US" altLang="ko-KR" dirty="0"/>
              <a:t>1</a:t>
            </a:r>
            <a:r>
              <a:rPr lang="ko-KR" altLang="en-US" dirty="0"/>
              <a:t>대 씩 배치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505.76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8.43</a:t>
            </a:r>
            <a:r>
              <a:rPr lang="ko-KR" altLang="en-US" dirty="0"/>
              <a:t>분</a:t>
            </a:r>
            <a:r>
              <a:rPr lang="en-US" altLang="ko-KR" dirty="0"/>
              <a:t>) </a:t>
            </a:r>
          </a:p>
          <a:p>
            <a:pPr lvl="2">
              <a:defRPr/>
            </a:pPr>
            <a:r>
              <a:rPr lang="ko-KR" altLang="en-US" dirty="0"/>
              <a:t>시행</a:t>
            </a:r>
            <a:r>
              <a:rPr lang="en-US" altLang="ko-KR" dirty="0"/>
              <a:t> </a:t>
            </a:r>
            <a:r>
              <a:rPr lang="ko-KR" altLang="en-US" dirty="0"/>
              <a:t>횟수 </a:t>
            </a:r>
            <a:r>
              <a:rPr lang="en-US" altLang="ko-KR" dirty="0"/>
              <a:t>: 9,464,014</a:t>
            </a:r>
            <a:r>
              <a:rPr lang="ko-KR" altLang="en-US" dirty="0"/>
              <a:t>회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Coverage : 95.1389%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02A8518-D544-2BAD-3982-F86C8CAA9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200" y="1189798"/>
            <a:ext cx="5334000" cy="400050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Coverage </a:t>
            </a:r>
            <a:r>
              <a:rPr lang="ko-KR" altLang="en-US" dirty="0"/>
              <a:t>비율을 점차 높이며 진행 </a:t>
            </a:r>
            <a:r>
              <a:rPr lang="en-US" altLang="ko-KR" dirty="0"/>
              <a:t>(Ex 1)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4985544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133.5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4985544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133.5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AF09E4-F657-D6EB-E6CD-AA0EF25E4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645019"/>
              </p:ext>
            </p:extLst>
          </p:nvPr>
        </p:nvGraphicFramePr>
        <p:xfrm>
          <a:off x="6880200" y="195030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146.5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152.5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202.5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170.3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278.5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290.3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706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155164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36C45F81-2E6C-653F-E120-C58897DEE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200" y="1189798"/>
            <a:ext cx="5334000" cy="4000500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실제 시뮬레이션 결과</a:t>
            </a:r>
            <a:r>
              <a:rPr lang="en-US" altLang="ko-KR" dirty="0"/>
              <a:t>(Coverage 96%</a:t>
            </a:r>
            <a:r>
              <a:rPr lang="ko-KR" altLang="en-US" dirty="0"/>
              <a:t>로 조정</a:t>
            </a:r>
            <a:r>
              <a:rPr lang="en-US" altLang="ko-KR" dirty="0"/>
              <a:t>) 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lvl="2">
              <a:defRPr/>
            </a:pPr>
            <a:r>
              <a:rPr lang="ko-KR" altLang="en-US" dirty="0"/>
              <a:t>위성수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궤도평면 </a:t>
            </a:r>
            <a:r>
              <a:rPr lang="en-US" altLang="ko-KR" dirty="0"/>
              <a:t>18</a:t>
            </a:r>
            <a:r>
              <a:rPr lang="ko-KR" altLang="en-US" dirty="0"/>
              <a:t>개 </a:t>
            </a:r>
            <a:r>
              <a:rPr lang="en-US" altLang="ko-KR" dirty="0"/>
              <a:t>(</a:t>
            </a:r>
            <a:r>
              <a:rPr lang="ko-KR" altLang="en-US" dirty="0"/>
              <a:t>한 평면 당 </a:t>
            </a:r>
            <a:r>
              <a:rPr lang="en-US" altLang="ko-KR" dirty="0"/>
              <a:t>1</a:t>
            </a:r>
            <a:r>
              <a:rPr lang="ko-KR" altLang="en-US" dirty="0"/>
              <a:t>대 씩 배치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17389.32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4</a:t>
            </a:r>
            <a:r>
              <a:rPr lang="ko-KR" altLang="en-US" dirty="0"/>
              <a:t>시간 </a:t>
            </a:r>
            <a:r>
              <a:rPr lang="en-US" altLang="ko-KR" dirty="0"/>
              <a:t>49</a:t>
            </a:r>
            <a:r>
              <a:rPr lang="ko-KR" altLang="en-US" dirty="0"/>
              <a:t>분</a:t>
            </a:r>
            <a:r>
              <a:rPr lang="en-US" altLang="ko-KR" dirty="0"/>
              <a:t>) </a:t>
            </a:r>
          </a:p>
          <a:p>
            <a:pPr lvl="2">
              <a:defRPr/>
            </a:pPr>
            <a:r>
              <a:rPr lang="ko-KR" altLang="en-US" dirty="0"/>
              <a:t>시행</a:t>
            </a:r>
            <a:r>
              <a:rPr lang="en-US" altLang="ko-KR" dirty="0"/>
              <a:t> </a:t>
            </a:r>
            <a:r>
              <a:rPr lang="ko-KR" altLang="en-US" dirty="0"/>
              <a:t>횟수 </a:t>
            </a:r>
            <a:r>
              <a:rPr lang="en-US" altLang="ko-KR" dirty="0"/>
              <a:t>: 332,098,342</a:t>
            </a:r>
            <a:r>
              <a:rPr lang="ko-KR" altLang="en-US" dirty="0"/>
              <a:t>회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Coverage : 96.11%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Coverage </a:t>
            </a:r>
            <a:r>
              <a:rPr lang="ko-KR" altLang="en-US" dirty="0"/>
              <a:t>비율을 점차 높이며 진행 </a:t>
            </a:r>
            <a:r>
              <a:rPr lang="en-US" altLang="ko-KR" dirty="0"/>
              <a:t>(Ex 1)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4621315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43.5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133.5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173.5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176.3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4621315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43.5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133.5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173.5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176.3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AF09E4-F657-D6EB-E6CD-AA0EF25E4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812485"/>
              </p:ext>
            </p:extLst>
          </p:nvPr>
        </p:nvGraphicFramePr>
        <p:xfrm>
          <a:off x="6880200" y="195030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180.5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92.3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196.5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260.3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219.5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344.3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241.5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265.5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285.5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272.3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98.3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065250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BILP Method 2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461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3080-9AF1-520B-20E0-63EF866AA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E7E265AD-832C-DCBD-63C3-E832E519F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1 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Method 1</a:t>
            </a:r>
            <a:r>
              <a:rPr lang="ko-KR" altLang="en-US" dirty="0"/>
              <a:t>에서 얻은 결과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Method 1</a:t>
            </a:r>
            <a:r>
              <a:rPr lang="ko-KR" altLang="en-US" dirty="0"/>
              <a:t>의 결과를 바탕으로 </a:t>
            </a:r>
            <a:r>
              <a:rPr lang="en-US" altLang="ko-KR" dirty="0"/>
              <a:t>n</a:t>
            </a:r>
            <a:r>
              <a:rPr lang="ko-KR" altLang="en-US" dirty="0"/>
              <a:t>을 조정한 결과</a:t>
            </a:r>
            <a:endParaRPr lang="en-US" altLang="ko-KR" dirty="0"/>
          </a:p>
          <a:p>
            <a:pPr lvl="2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576000" lvl="3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A7ABCE3-776F-17F3-8206-03B2B0FA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6831494-E3F4-F849-8DBD-438F7A794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방법</a:t>
            </a:r>
            <a:r>
              <a:rPr lang="en-US" altLang="ko-KR" dirty="0"/>
              <a:t> 1</a:t>
            </a:r>
            <a:r>
              <a:rPr lang="ko-KR" altLang="en-US" dirty="0"/>
              <a:t>의 결과를 미세하게 조정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23B6534-EFD1-BC56-E9B8-5C519E705818}"/>
              </a:ext>
            </a:extLst>
          </p:cNvPr>
          <p:cNvGraphicFramePr>
            <a:graphicFrameLocks noGrp="1"/>
          </p:cNvGraphicFramePr>
          <p:nvPr/>
        </p:nvGraphicFramePr>
        <p:xfrm>
          <a:off x="574044" y="1619790"/>
          <a:ext cx="7507891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1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[39, 73, 79, 89, 170, 184, 234, 250, 331, 341, 347, 492, 502, 542, 638, 648, 654, 663]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191833D-F77D-81FE-D10E-D648237E4B58}"/>
              </a:ext>
            </a:extLst>
          </p:cNvPr>
          <p:cNvGraphicFramePr>
            <a:graphicFrameLocks noGrp="1"/>
          </p:cNvGraphicFramePr>
          <p:nvPr/>
        </p:nvGraphicFramePr>
        <p:xfrm>
          <a:off x="574043" y="3313897"/>
          <a:ext cx="4772025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1094042487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47914931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1248945644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763333994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933691650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4068520409"/>
                    </a:ext>
                  </a:extLst>
                </a:gridCol>
              </a:tblGrid>
              <a:tr h="227248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3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3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138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153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166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255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267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248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3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293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305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405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430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468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557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624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688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706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31883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BE58B2C-E1CD-D34A-E9F1-8A1B526B37EE}"/>
              </a:ext>
            </a:extLst>
          </p:cNvPr>
          <p:cNvGraphicFramePr>
            <a:graphicFrameLocks noGrp="1"/>
          </p:cNvGraphicFramePr>
          <p:nvPr/>
        </p:nvGraphicFramePr>
        <p:xfrm>
          <a:off x="574042" y="4691501"/>
          <a:ext cx="4772025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1094042487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47914931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1248945644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763333994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933691650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4068520409"/>
                    </a:ext>
                  </a:extLst>
                </a:gridCol>
              </a:tblGrid>
              <a:tr h="227248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3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3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138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153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169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221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257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267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248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3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294</a:t>
                      </a:r>
                      <a:endParaRPr lang="ko-KR" altLang="en-US" sz="1400" b="1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305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401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430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468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557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624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684</a:t>
                      </a:r>
                      <a:endParaRPr lang="ko-KR" altLang="en-US" sz="1400" b="1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710</a:t>
                      </a:r>
                      <a:endParaRPr lang="ko-KR" altLang="en-US" sz="1400" b="1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318836"/>
                  </a:ext>
                </a:extLst>
              </a:tr>
            </a:tbl>
          </a:graphicData>
        </a:graphic>
      </p:graphicFrame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F1DF267C-BDEB-3A53-4A5D-1AEAA3AEAD2F}"/>
              </a:ext>
            </a:extLst>
          </p:cNvPr>
          <p:cNvSpPr/>
          <p:nvPr/>
        </p:nvSpPr>
        <p:spPr bwMode="auto">
          <a:xfrm>
            <a:off x="5663029" y="3417439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32FEFC72-A5E3-7EE2-A07A-A02B39C1EF18}"/>
              </a:ext>
            </a:extLst>
          </p:cNvPr>
          <p:cNvSpPr/>
          <p:nvPr/>
        </p:nvSpPr>
        <p:spPr bwMode="auto">
          <a:xfrm>
            <a:off x="5663029" y="4798098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458E7F-0803-468D-270F-DDD027A1CBE5}"/>
              </a:ext>
            </a:extLst>
          </p:cNvPr>
          <p:cNvSpPr txBox="1"/>
          <p:nvPr/>
        </p:nvSpPr>
        <p:spPr>
          <a:xfrm>
            <a:off x="5802115" y="3432377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95.1389 %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DFB81A-BE7C-BF54-77E1-45916A0D6114}"/>
              </a:ext>
            </a:extLst>
          </p:cNvPr>
          <p:cNvSpPr txBox="1"/>
          <p:nvPr/>
        </p:nvSpPr>
        <p:spPr>
          <a:xfrm>
            <a:off x="5802114" y="4811190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98.1944 %</a:t>
            </a:r>
          </a:p>
        </p:txBody>
      </p:sp>
    </p:spTree>
    <p:extLst>
      <p:ext uri="{BB962C8B-B14F-4D97-AF65-F5344CB8AC3E}">
        <p14:creationId xmlns:p14="http://schemas.microsoft.com/office/powerpoint/2010/main" val="240826038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9A4F2482-ECBB-1DE6-6AF8-C000F4B46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200" y="1186717"/>
            <a:ext cx="5334000" cy="4000500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Coverage 95% </a:t>
            </a:r>
            <a:r>
              <a:rPr lang="ko-KR" altLang="en-US" dirty="0"/>
              <a:t>결과를 수작업으로 조정</a:t>
            </a:r>
            <a:r>
              <a:rPr lang="en-US" altLang="ko-KR" dirty="0"/>
              <a:t>(1)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방법</a:t>
            </a:r>
            <a:r>
              <a:rPr lang="en-US" altLang="ko-KR" dirty="0"/>
              <a:t> 1</a:t>
            </a:r>
            <a:r>
              <a:rPr lang="ko-KR" altLang="en-US" dirty="0"/>
              <a:t>의 결과를 미세하게 조정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1477137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128.5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133.5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1477137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128.5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133.5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AF09E4-F657-D6EB-E6CD-AA0EF25E4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74493"/>
              </p:ext>
            </p:extLst>
          </p:nvPr>
        </p:nvGraphicFramePr>
        <p:xfrm>
          <a:off x="6880200" y="195030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134.3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152.5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200.5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278.5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710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E6A5ACBF-05A3-D155-D18C-7BF8767CBAEB}"/>
              </a:ext>
            </a:extLst>
          </p:cNvPr>
          <p:cNvSpPr/>
          <p:nvPr/>
        </p:nvSpPr>
        <p:spPr bwMode="auto">
          <a:xfrm>
            <a:off x="884057" y="5282708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1356E-6592-96FD-D1DB-19637D89AFAD}"/>
              </a:ext>
            </a:extLst>
          </p:cNvPr>
          <p:cNvSpPr txBox="1"/>
          <p:nvPr/>
        </p:nvSpPr>
        <p:spPr>
          <a:xfrm>
            <a:off x="1023143" y="5297646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98.1944 %</a:t>
            </a:r>
          </a:p>
        </p:txBody>
      </p:sp>
    </p:spTree>
    <p:extLst>
      <p:ext uri="{BB962C8B-B14F-4D97-AF65-F5344CB8AC3E}">
        <p14:creationId xmlns:p14="http://schemas.microsoft.com/office/powerpoint/2010/main" val="3803551857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Coverage 95% </a:t>
            </a:r>
            <a:r>
              <a:rPr lang="ko-KR" altLang="en-US" dirty="0"/>
              <a:t>결과를 수작업으로 조정</a:t>
            </a:r>
            <a:r>
              <a:rPr lang="en-US" altLang="ko-KR" dirty="0"/>
              <a:t>(2)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F1D7C90-2FA8-0EBA-00A0-FE9DEB888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200" y="1191022"/>
            <a:ext cx="5334000" cy="400050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방법</a:t>
            </a:r>
            <a:r>
              <a:rPr lang="en-US" altLang="ko-KR" dirty="0"/>
              <a:t> 1</a:t>
            </a:r>
            <a:r>
              <a:rPr lang="ko-KR" altLang="en-US" dirty="0"/>
              <a:t>의 결과를 미세하게 조정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719347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68.5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190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119.5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719347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68.5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190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119.5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AF09E4-F657-D6EB-E6CD-AA0EF25E4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239817"/>
              </p:ext>
            </p:extLst>
          </p:nvPr>
        </p:nvGraphicFramePr>
        <p:xfrm>
          <a:off x="6880200" y="195030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136.5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260.3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160.5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332.3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241.5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246.5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110.3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E6A5ACBF-05A3-D155-D18C-7BF8767CBAEB}"/>
              </a:ext>
            </a:extLst>
          </p:cNvPr>
          <p:cNvSpPr/>
          <p:nvPr/>
        </p:nvSpPr>
        <p:spPr bwMode="auto">
          <a:xfrm>
            <a:off x="884057" y="5282708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1356E-6592-96FD-D1DB-19637D89AFAD}"/>
              </a:ext>
            </a:extLst>
          </p:cNvPr>
          <p:cNvSpPr txBox="1"/>
          <p:nvPr/>
        </p:nvSpPr>
        <p:spPr>
          <a:xfrm>
            <a:off x="1023143" y="5297646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98.33 %</a:t>
            </a:r>
          </a:p>
        </p:txBody>
      </p:sp>
    </p:spTree>
    <p:extLst>
      <p:ext uri="{BB962C8B-B14F-4D97-AF65-F5344CB8AC3E}">
        <p14:creationId xmlns:p14="http://schemas.microsoft.com/office/powerpoint/2010/main" val="227102601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7F258D06-F7CA-8A83-28ED-085ADA670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200" y="1187732"/>
            <a:ext cx="5334000" cy="4000500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Coverage 95% </a:t>
            </a:r>
            <a:r>
              <a:rPr lang="ko-KR" altLang="en-US" dirty="0"/>
              <a:t>결과를 수작업으로 조정</a:t>
            </a:r>
            <a:r>
              <a:rPr lang="en-US" altLang="ko-KR" dirty="0"/>
              <a:t>(3)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방법</a:t>
            </a:r>
            <a:r>
              <a:rPr lang="en-US" altLang="ko-KR" dirty="0"/>
              <a:t> 1</a:t>
            </a:r>
            <a:r>
              <a:rPr lang="ko-KR" altLang="en-US" dirty="0"/>
              <a:t>의 결과를 미세하게 조정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527692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527692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142.5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AF09E4-F657-D6EB-E6CD-AA0EF25E4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691512"/>
              </p:ext>
            </p:extLst>
          </p:nvPr>
        </p:nvGraphicFramePr>
        <p:xfrm>
          <a:off x="6880200" y="195030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170.3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98.3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286.5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260.3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310.5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332.3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E6A5ACBF-05A3-D155-D18C-7BF8767CBAEB}"/>
              </a:ext>
            </a:extLst>
          </p:cNvPr>
          <p:cNvSpPr/>
          <p:nvPr/>
        </p:nvSpPr>
        <p:spPr bwMode="auto">
          <a:xfrm>
            <a:off x="884057" y="5282708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1356E-6592-96FD-D1DB-19637D89AFAD}"/>
              </a:ext>
            </a:extLst>
          </p:cNvPr>
          <p:cNvSpPr txBox="1"/>
          <p:nvPr/>
        </p:nvSpPr>
        <p:spPr>
          <a:xfrm>
            <a:off x="1023143" y="5297646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98.4722 %</a:t>
            </a:r>
          </a:p>
        </p:txBody>
      </p:sp>
    </p:spTree>
    <p:extLst>
      <p:ext uri="{BB962C8B-B14F-4D97-AF65-F5344CB8AC3E}">
        <p14:creationId xmlns:p14="http://schemas.microsoft.com/office/powerpoint/2010/main" val="422761864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BILP Method 3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732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FDDA5DED-5D59-1A7B-E13C-DF6E6B16C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200" y="1191022"/>
            <a:ext cx="5334000" cy="4000500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최대한 높은 성능을 내도록 </a:t>
            </a:r>
            <a:r>
              <a:rPr lang="en-US" altLang="ko-KR" dirty="0"/>
              <a:t>n</a:t>
            </a:r>
            <a:r>
              <a:rPr lang="ko-KR" altLang="en-US" dirty="0"/>
              <a:t>을 직접 배치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n</a:t>
            </a:r>
            <a:r>
              <a:rPr lang="ko-KR" altLang="en-US" dirty="0"/>
              <a:t>의 값을 수작업으로 배치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7626326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7626326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AF09E4-F657-D6EB-E6CD-AA0EF25E4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421747"/>
              </p:ext>
            </p:extLst>
          </p:nvPr>
        </p:nvGraphicFramePr>
        <p:xfrm>
          <a:off x="6880200" y="195030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170.3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98.3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242.3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170.3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98.3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314.3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07A84250-F686-86D3-ADFD-AA0AC99FB2CA}"/>
              </a:ext>
            </a:extLst>
          </p:cNvPr>
          <p:cNvSpPr/>
          <p:nvPr/>
        </p:nvSpPr>
        <p:spPr bwMode="auto">
          <a:xfrm>
            <a:off x="884057" y="5282708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6DDEEB-1D31-AFC5-A23D-3D559424A249}"/>
              </a:ext>
            </a:extLst>
          </p:cNvPr>
          <p:cNvSpPr txBox="1"/>
          <p:nvPr/>
        </p:nvSpPr>
        <p:spPr>
          <a:xfrm>
            <a:off x="1023143" y="5297646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99.1667 %</a:t>
            </a:r>
          </a:p>
        </p:txBody>
      </p:sp>
    </p:spTree>
    <p:extLst>
      <p:ext uri="{BB962C8B-B14F-4D97-AF65-F5344CB8AC3E}">
        <p14:creationId xmlns:p14="http://schemas.microsoft.com/office/powerpoint/2010/main" val="420775136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3D8FA3B9-03D0-B297-723B-7D44ACCD7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1B9BE83-2F39-661B-9B89-07454B8B0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1C1CDF5-F9ED-17B9-E1ED-342255AC26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021D404-CEF0-621F-1B5E-EEFE4632A0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36537AD-19EF-E0F1-942E-191EFA2D7A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1C4527C-8824-8C94-B61E-40F54034CF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E22B2974-5627-9B52-3F5E-5270913894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4C662096-4415-B6D3-50A9-3115468219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DEF219FA-AAF5-4D3B-EFE3-CC17C5CD9B4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52DF541D-80F3-F84B-6A57-088ACEBE7B9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27CB0A8A-A895-BE88-08BB-49D9874384E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E68A9DC8-C108-623C-8544-72EB93A365A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D48605A4-0842-3709-2D63-129AF8C4AF8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24D378C4-D5B0-25A4-DCAB-F121390A6BF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1D3313FD-5EBF-AA26-A5BE-F3FF49AEFF1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최대한 높은 성능을 내도록 </a:t>
            </a:r>
            <a:r>
              <a:rPr lang="en-US" altLang="ko-KR" dirty="0"/>
              <a:t>n</a:t>
            </a:r>
            <a:r>
              <a:rPr lang="ko-KR" altLang="en-US" dirty="0"/>
              <a:t>을 </a:t>
            </a:r>
            <a:r>
              <a:rPr lang="en-US" altLang="ko-KR" dirty="0"/>
              <a:t>Timeline</a:t>
            </a:r>
            <a:r>
              <a:rPr lang="ko-KR" altLang="en-US" dirty="0"/>
              <a:t>에 직접 배치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n</a:t>
            </a:r>
            <a:r>
              <a:rPr lang="ko-KR" altLang="en-US" dirty="0"/>
              <a:t>의 값을 </a:t>
            </a:r>
            <a:r>
              <a:rPr lang="en-US" altLang="ko-KR" dirty="0"/>
              <a:t>Timeline</a:t>
            </a:r>
            <a:r>
              <a:rPr lang="ko-KR" altLang="en-US" dirty="0"/>
              <a:t>에 수작업으로 배치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CFC8667F-0E80-23E0-7D61-EEEC3A1AAE80}"/>
              </a:ext>
            </a:extLst>
          </p:cNvPr>
          <p:cNvGraphicFramePr>
            <a:graphicFrameLocks noGrp="1"/>
          </p:cNvGraphicFramePr>
          <p:nvPr/>
        </p:nvGraphicFramePr>
        <p:xfrm>
          <a:off x="2185987" y="5448918"/>
          <a:ext cx="4772025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1094042487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47914931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1248945644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2763333994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933691650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4068520409"/>
                    </a:ext>
                  </a:extLst>
                </a:gridCol>
              </a:tblGrid>
              <a:tr h="227248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3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3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48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144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156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248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3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168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252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264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276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288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372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384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318836"/>
                  </a:ext>
                </a:extLst>
              </a:tr>
            </a:tbl>
          </a:graphicData>
        </a:graphic>
      </p:graphicFrame>
      <p:pic>
        <p:nvPicPr>
          <p:cNvPr id="67" name="그림 66">
            <a:extLst>
              <a:ext uri="{FF2B5EF4-FFF2-40B4-BE49-F238E27FC236}">
                <a16:creationId xmlns:a16="http://schemas.microsoft.com/office/drawing/2014/main" id="{24070BC7-B092-235D-F1B6-E2EA4B4E307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B94842D4-2350-4B4A-6CD1-253BC3FFACC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E9F78145-6E7F-DFFB-46DD-80E583C9892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9149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BILP Method 4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19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EE061B59-CB99-ACB1-65DE-FF0AAD49DDF8}"/>
              </a:ext>
            </a:extLst>
          </p:cNvPr>
          <p:cNvSpPr/>
          <p:nvPr/>
        </p:nvSpPr>
        <p:spPr bwMode="auto">
          <a:xfrm>
            <a:off x="194957" y="6317721"/>
            <a:ext cx="3493465" cy="510380"/>
          </a:xfrm>
          <a:prstGeom prst="flowChartProcess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1838480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Flow chart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7134" y="6594911"/>
            <a:ext cx="981169" cy="360000"/>
          </a:xfrm>
        </p:spPr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Timeline</a:t>
            </a:r>
            <a:r>
              <a:rPr lang="ko-KR" altLang="en-US" dirty="0"/>
              <a:t> 중복 횟수 최소화를 이용한 배치</a:t>
            </a:r>
            <a:endParaRPr lang="en-US" altLang="ko-KR" dirty="0"/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01832C5A-8E50-61DB-87BE-B131898D0DFD}"/>
              </a:ext>
            </a:extLst>
          </p:cNvPr>
          <p:cNvSpPr/>
          <p:nvPr/>
        </p:nvSpPr>
        <p:spPr bwMode="auto">
          <a:xfrm>
            <a:off x="1962841" y="2677146"/>
            <a:ext cx="1807772" cy="73974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400" dirty="0"/>
              <a:t>Seed Satellite</a:t>
            </a:r>
          </a:p>
          <a:p>
            <a:pPr algn="ctr"/>
            <a:r>
              <a:rPr lang="en-US" altLang="ko-KR" sz="1400" dirty="0"/>
              <a:t>Access Profile</a:t>
            </a:r>
            <a:endParaRPr lang="ko-KR" altLang="en-US" sz="1400" dirty="0"/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67F73348-3CB9-BBCB-7FCC-23BCC20DF994}"/>
              </a:ext>
            </a:extLst>
          </p:cNvPr>
          <p:cNvSpPr/>
          <p:nvPr/>
        </p:nvSpPr>
        <p:spPr bwMode="auto">
          <a:xfrm>
            <a:off x="1561669" y="5382233"/>
            <a:ext cx="2609158" cy="1020762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400" dirty="0"/>
              <a:t>Minimum</a:t>
            </a:r>
          </a:p>
          <a:p>
            <a:pPr algn="ctr"/>
            <a:r>
              <a:rPr lang="en-US" altLang="ko-KR" sz="1400" dirty="0"/>
              <a:t>sum - unique</a:t>
            </a:r>
            <a:endParaRPr lang="ko-KR" altLang="en-US" sz="1400" dirty="0"/>
          </a:p>
        </p:txBody>
      </p:sp>
      <p:sp>
        <p:nvSpPr>
          <p:cNvPr id="9" name="순서도: 데이터 8">
            <a:extLst>
              <a:ext uri="{FF2B5EF4-FFF2-40B4-BE49-F238E27FC236}">
                <a16:creationId xmlns:a16="http://schemas.microsoft.com/office/drawing/2014/main" id="{F81AB50D-856C-9A47-0BAB-822CC33A70C6}"/>
              </a:ext>
            </a:extLst>
          </p:cNvPr>
          <p:cNvSpPr/>
          <p:nvPr/>
        </p:nvSpPr>
        <p:spPr bwMode="auto">
          <a:xfrm>
            <a:off x="1674686" y="1767150"/>
            <a:ext cx="2383603" cy="691989"/>
          </a:xfrm>
          <a:prstGeom prst="flowChartInputOutpu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dirty="0"/>
              <a:t>Input :</a:t>
            </a:r>
          </a:p>
          <a:p>
            <a:pPr algn="ctr"/>
            <a:r>
              <a:rPr lang="en-US" altLang="ko-KR" sz="1200" dirty="0" err="1"/>
              <a:t>Freeflyer</a:t>
            </a:r>
            <a:r>
              <a:rPr lang="en-US" altLang="ko-KR" sz="1200" dirty="0"/>
              <a:t> </a:t>
            </a:r>
            <a:r>
              <a:rPr lang="en-US" altLang="ko-KR" sz="1200" dirty="0" err="1"/>
              <a:t>passdata</a:t>
            </a:r>
            <a:endParaRPr lang="ko-KR" altLang="en-US" sz="1200" dirty="0"/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7B776B99-E7E1-CB2C-AE2D-98DF5AF59325}"/>
              </a:ext>
            </a:extLst>
          </p:cNvPr>
          <p:cNvSpPr/>
          <p:nvPr/>
        </p:nvSpPr>
        <p:spPr bwMode="auto">
          <a:xfrm>
            <a:off x="1972875" y="3655441"/>
            <a:ext cx="1807772" cy="423395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400" dirty="0"/>
              <a:t>n_ (No. j Sat) = 0</a:t>
            </a:r>
            <a:endParaRPr lang="ko-KR" altLang="en-US" sz="1400" dirty="0"/>
          </a:p>
        </p:txBody>
      </p:sp>
      <p:sp>
        <p:nvSpPr>
          <p:cNvPr id="11" name="순서도: 처리 10">
            <a:extLst>
              <a:ext uri="{FF2B5EF4-FFF2-40B4-BE49-F238E27FC236}">
                <a16:creationId xmlns:a16="http://schemas.microsoft.com/office/drawing/2014/main" id="{BBAF1F24-2BB5-D70C-3199-CF2D42EC4A0F}"/>
              </a:ext>
            </a:extLst>
          </p:cNvPr>
          <p:cNvSpPr/>
          <p:nvPr/>
        </p:nvSpPr>
        <p:spPr bwMode="auto">
          <a:xfrm>
            <a:off x="1962841" y="4307117"/>
            <a:ext cx="1807772" cy="832893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400" dirty="0" err="1"/>
              <a:t>unique_all_cov</a:t>
            </a:r>
            <a:endParaRPr lang="en-US" altLang="ko-KR" sz="1400" dirty="0"/>
          </a:p>
          <a:p>
            <a:pPr algn="ctr"/>
            <a:r>
              <a:rPr lang="en-US" altLang="ko-KR" sz="1400" dirty="0"/>
              <a:t>&amp; </a:t>
            </a:r>
            <a:r>
              <a:rPr lang="en-US" altLang="ko-KR" sz="1400" dirty="0" err="1"/>
              <a:t>sum_all_cov</a:t>
            </a:r>
            <a:endParaRPr lang="ko-KR" altLang="en-US" sz="1400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8E7E3F5-7788-983D-034B-7C98CD9EAB47}"/>
              </a:ext>
            </a:extLst>
          </p:cNvPr>
          <p:cNvCxnSpPr>
            <a:stCxn id="9" idx="4"/>
            <a:endCxn id="5" idx="0"/>
          </p:cNvCxnSpPr>
          <p:nvPr/>
        </p:nvCxnSpPr>
        <p:spPr>
          <a:xfrm>
            <a:off x="2866488" y="2459139"/>
            <a:ext cx="239" cy="2180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E8FC6F5-3515-020A-C7B4-ECF62494D647}"/>
              </a:ext>
            </a:extLst>
          </p:cNvPr>
          <p:cNvCxnSpPr/>
          <p:nvPr/>
        </p:nvCxnSpPr>
        <p:spPr>
          <a:xfrm>
            <a:off x="2866248" y="3432616"/>
            <a:ext cx="239" cy="2180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56A8721-587F-62C2-7AB1-25D475EEB40C}"/>
              </a:ext>
            </a:extLst>
          </p:cNvPr>
          <p:cNvCxnSpPr/>
          <p:nvPr/>
        </p:nvCxnSpPr>
        <p:spPr>
          <a:xfrm>
            <a:off x="2876761" y="4082115"/>
            <a:ext cx="239" cy="2180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ECDDB2C6-CD36-FE76-6D28-B892CDE32015}"/>
              </a:ext>
            </a:extLst>
          </p:cNvPr>
          <p:cNvCxnSpPr/>
          <p:nvPr/>
        </p:nvCxnSpPr>
        <p:spPr>
          <a:xfrm>
            <a:off x="2876522" y="5145147"/>
            <a:ext cx="239" cy="2180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47DDF97B-6384-209A-0DC2-8A2AE9CFA3F8}"/>
              </a:ext>
            </a:extLst>
          </p:cNvPr>
          <p:cNvCxnSpPr>
            <a:cxnSpLocks/>
            <a:stCxn id="8" idx="3"/>
            <a:endCxn id="55" idx="1"/>
          </p:cNvCxnSpPr>
          <p:nvPr/>
        </p:nvCxnSpPr>
        <p:spPr>
          <a:xfrm flipV="1">
            <a:off x="4170827" y="1803842"/>
            <a:ext cx="1393002" cy="408877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EE53257-8051-DFD5-3CA9-073D52AF4926}"/>
              </a:ext>
            </a:extLst>
          </p:cNvPr>
          <p:cNvSpPr txBox="1"/>
          <p:nvPr/>
        </p:nvSpPr>
        <p:spPr>
          <a:xfrm>
            <a:off x="1194375" y="5899610"/>
            <a:ext cx="8106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1F2328"/>
                </a:solidFill>
              </a:rPr>
              <a:t>No</a:t>
            </a:r>
            <a:endParaRPr lang="ko-KR" altLang="en-US" sz="11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C85C23-F23B-A0BF-93B1-2E9E1A105908}"/>
              </a:ext>
            </a:extLst>
          </p:cNvPr>
          <p:cNvSpPr txBox="1"/>
          <p:nvPr/>
        </p:nvSpPr>
        <p:spPr>
          <a:xfrm>
            <a:off x="313605" y="4807627"/>
            <a:ext cx="8933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1F2328"/>
                </a:solidFill>
              </a:rPr>
              <a:t>n = n +1</a:t>
            </a:r>
            <a:endParaRPr lang="ko-KR" altLang="en-US" sz="1200" dirty="0"/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1741A5F4-BD96-00F8-71BD-492BAB30F9BF}"/>
              </a:ext>
            </a:extLst>
          </p:cNvPr>
          <p:cNvCxnSpPr>
            <a:cxnSpLocks/>
            <a:stCxn id="8" idx="1"/>
            <a:endCxn id="10" idx="1"/>
          </p:cNvCxnSpPr>
          <p:nvPr/>
        </p:nvCxnSpPr>
        <p:spPr>
          <a:xfrm rot="10800000" flipH="1">
            <a:off x="1561669" y="3867140"/>
            <a:ext cx="411206" cy="2025475"/>
          </a:xfrm>
          <a:prstGeom prst="bentConnector3">
            <a:avLst>
              <a:gd name="adj1" fmla="val -10806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45FD658-9D39-17F7-3C31-1F0BBA6B004A}"/>
              </a:ext>
            </a:extLst>
          </p:cNvPr>
          <p:cNvSpPr txBox="1"/>
          <p:nvPr/>
        </p:nvSpPr>
        <p:spPr>
          <a:xfrm>
            <a:off x="4146970" y="5929315"/>
            <a:ext cx="8106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1F2328"/>
                </a:solidFill>
              </a:rPr>
              <a:t>Yes</a:t>
            </a:r>
            <a:endParaRPr lang="ko-KR" altLang="en-US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75A82B-12DE-9A71-4B45-F6AAC0A0AF41}"/>
              </a:ext>
            </a:extLst>
          </p:cNvPr>
          <p:cNvSpPr txBox="1"/>
          <p:nvPr/>
        </p:nvSpPr>
        <p:spPr>
          <a:xfrm>
            <a:off x="4056432" y="3887253"/>
            <a:ext cx="8933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1F2328"/>
                </a:solidFill>
              </a:rPr>
              <a:t>j = j +1</a:t>
            </a:r>
            <a:endParaRPr lang="ko-KR" altLang="en-US" sz="1200" dirty="0"/>
          </a:p>
        </p:txBody>
      </p:sp>
      <p:sp>
        <p:nvSpPr>
          <p:cNvPr id="55" name="순서도: 처리 54">
            <a:extLst>
              <a:ext uri="{FF2B5EF4-FFF2-40B4-BE49-F238E27FC236}">
                <a16:creationId xmlns:a16="http://schemas.microsoft.com/office/drawing/2014/main" id="{83625869-618B-7849-B7AA-CB929C96DF05}"/>
              </a:ext>
            </a:extLst>
          </p:cNvPr>
          <p:cNvSpPr/>
          <p:nvPr/>
        </p:nvSpPr>
        <p:spPr bwMode="auto">
          <a:xfrm>
            <a:off x="5563829" y="1433972"/>
            <a:ext cx="1807772" cy="73974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400" dirty="0"/>
              <a:t>Save No. j Sat</a:t>
            </a:r>
          </a:p>
          <a:p>
            <a:pPr algn="ctr"/>
            <a:r>
              <a:rPr lang="en-US" altLang="ko-KR" sz="1400" dirty="0"/>
              <a:t>Access Profile</a:t>
            </a:r>
            <a:endParaRPr lang="ko-KR" altLang="en-US" sz="1400" dirty="0"/>
          </a:p>
        </p:txBody>
      </p:sp>
      <p:sp>
        <p:nvSpPr>
          <p:cNvPr id="86" name="순서도: 처리 85">
            <a:extLst>
              <a:ext uri="{FF2B5EF4-FFF2-40B4-BE49-F238E27FC236}">
                <a16:creationId xmlns:a16="http://schemas.microsoft.com/office/drawing/2014/main" id="{A9EF2FFA-E468-B793-D945-0C460895CC8E}"/>
              </a:ext>
            </a:extLst>
          </p:cNvPr>
          <p:cNvSpPr/>
          <p:nvPr/>
        </p:nvSpPr>
        <p:spPr bwMode="auto">
          <a:xfrm>
            <a:off x="5570677" y="2497301"/>
            <a:ext cx="1807772" cy="73974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400" dirty="0"/>
              <a:t>Calculate</a:t>
            </a:r>
          </a:p>
          <a:p>
            <a:pPr algn="ctr"/>
            <a:r>
              <a:rPr lang="en-US" altLang="ko-KR" sz="1400" dirty="0"/>
              <a:t>Coverage</a:t>
            </a:r>
            <a:endParaRPr lang="ko-KR" altLang="en-US" sz="1400" dirty="0"/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1B3029C9-F787-48F9-AF77-A41E4E66AF56}"/>
              </a:ext>
            </a:extLst>
          </p:cNvPr>
          <p:cNvCxnSpPr>
            <a:cxnSpLocks/>
            <a:stCxn id="55" idx="2"/>
            <a:endCxn id="86" idx="0"/>
          </p:cNvCxnSpPr>
          <p:nvPr/>
        </p:nvCxnSpPr>
        <p:spPr>
          <a:xfrm>
            <a:off x="6467715" y="2173712"/>
            <a:ext cx="6848" cy="3235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순서도: 판단 88">
            <a:extLst>
              <a:ext uri="{FF2B5EF4-FFF2-40B4-BE49-F238E27FC236}">
                <a16:creationId xmlns:a16="http://schemas.microsoft.com/office/drawing/2014/main" id="{8D434036-B2A7-FB44-4EA2-43E43BBA7421}"/>
              </a:ext>
            </a:extLst>
          </p:cNvPr>
          <p:cNvSpPr/>
          <p:nvPr/>
        </p:nvSpPr>
        <p:spPr bwMode="auto">
          <a:xfrm>
            <a:off x="5499816" y="3481806"/>
            <a:ext cx="1939561" cy="739740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100" dirty="0" err="1"/>
              <a:t>Cov</a:t>
            </a:r>
            <a:r>
              <a:rPr lang="en-US" altLang="ko-KR" sz="1100" dirty="0"/>
              <a:t> = 100%</a:t>
            </a:r>
            <a:endParaRPr lang="ko-KR" altLang="en-US" sz="1100" dirty="0"/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2F657C78-BB37-368A-24E9-6EAC862243F6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3780647" y="3848228"/>
            <a:ext cx="1748934" cy="189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87F6793-B695-C579-F31A-B9E301CB421C}"/>
              </a:ext>
            </a:extLst>
          </p:cNvPr>
          <p:cNvSpPr txBox="1"/>
          <p:nvPr/>
        </p:nvSpPr>
        <p:spPr>
          <a:xfrm>
            <a:off x="5040102" y="3642822"/>
            <a:ext cx="8106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1F2328"/>
                </a:solidFill>
              </a:rPr>
              <a:t>No</a:t>
            </a:r>
            <a:endParaRPr lang="ko-KR" altLang="en-US" sz="11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17E4596-78EB-EB5B-2765-6AB9C3F6F876}"/>
              </a:ext>
            </a:extLst>
          </p:cNvPr>
          <p:cNvSpPr txBox="1"/>
          <p:nvPr/>
        </p:nvSpPr>
        <p:spPr>
          <a:xfrm>
            <a:off x="6501228" y="4697137"/>
            <a:ext cx="8106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1F2328"/>
                </a:solidFill>
              </a:rPr>
              <a:t>Yes</a:t>
            </a:r>
            <a:endParaRPr lang="ko-KR" altLang="en-US" sz="1100" dirty="0"/>
          </a:p>
        </p:txBody>
      </p:sp>
      <p:sp>
        <p:nvSpPr>
          <p:cNvPr id="109" name="순서도: 데이터 108">
            <a:extLst>
              <a:ext uri="{FF2B5EF4-FFF2-40B4-BE49-F238E27FC236}">
                <a16:creationId xmlns:a16="http://schemas.microsoft.com/office/drawing/2014/main" id="{ECECB30B-6C13-6162-7E67-6011392CDFFE}"/>
              </a:ext>
            </a:extLst>
          </p:cNvPr>
          <p:cNvSpPr/>
          <p:nvPr/>
        </p:nvSpPr>
        <p:spPr bwMode="auto">
          <a:xfrm>
            <a:off x="5164147" y="5547163"/>
            <a:ext cx="2609158" cy="770557"/>
          </a:xfrm>
          <a:prstGeom prst="flowChartInputOutpu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100" dirty="0"/>
              <a:t>Output :</a:t>
            </a:r>
          </a:p>
          <a:p>
            <a:pPr algn="ctr"/>
            <a:r>
              <a:rPr lang="en-US" altLang="ko-KR" sz="1100" dirty="0"/>
              <a:t>Coverage Timeline &amp;</a:t>
            </a:r>
          </a:p>
          <a:p>
            <a:pPr algn="ctr"/>
            <a:r>
              <a:rPr lang="en-US" altLang="ko-KR" sz="1100" dirty="0"/>
              <a:t>N set of all Satellite</a:t>
            </a:r>
            <a:endParaRPr lang="ko-KR" altLang="en-US" sz="1100" dirty="0"/>
          </a:p>
        </p:txBody>
      </p: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42F7754F-4724-1768-9844-FF61B59DE9F1}"/>
              </a:ext>
            </a:extLst>
          </p:cNvPr>
          <p:cNvCxnSpPr>
            <a:cxnSpLocks/>
            <a:stCxn id="86" idx="2"/>
            <a:endCxn id="89" idx="0"/>
          </p:cNvCxnSpPr>
          <p:nvPr/>
        </p:nvCxnSpPr>
        <p:spPr>
          <a:xfrm flipH="1">
            <a:off x="6469597" y="3237041"/>
            <a:ext cx="4966" cy="2447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442E9684-B7DF-8460-D478-13C81EA81E36}"/>
              </a:ext>
            </a:extLst>
          </p:cNvPr>
          <p:cNvCxnSpPr>
            <a:cxnSpLocks/>
            <a:stCxn id="89" idx="2"/>
            <a:endCxn id="109" idx="1"/>
          </p:cNvCxnSpPr>
          <p:nvPr/>
        </p:nvCxnSpPr>
        <p:spPr>
          <a:xfrm flipH="1">
            <a:off x="6468726" y="4221546"/>
            <a:ext cx="871" cy="1325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449055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EE061B59-CB99-ACB1-65DE-FF0AAD49DDF8}"/>
              </a:ext>
            </a:extLst>
          </p:cNvPr>
          <p:cNvSpPr/>
          <p:nvPr/>
        </p:nvSpPr>
        <p:spPr bwMode="auto">
          <a:xfrm>
            <a:off x="194957" y="6317721"/>
            <a:ext cx="3493465" cy="510380"/>
          </a:xfrm>
          <a:prstGeom prst="flowChartProcess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1838480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Flow chart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7134" y="6594911"/>
            <a:ext cx="981169" cy="360000"/>
          </a:xfrm>
        </p:spPr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Timeline</a:t>
            </a:r>
            <a:r>
              <a:rPr lang="ko-KR" altLang="en-US" dirty="0"/>
              <a:t> 중복 횟수 최소화를 이용한 배치</a:t>
            </a:r>
            <a:endParaRPr lang="en-US" altLang="ko-KR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C8A1EB9-3FE2-2789-9F42-1E9029D5F91A}"/>
              </a:ext>
            </a:extLst>
          </p:cNvPr>
          <p:cNvSpPr/>
          <p:nvPr/>
        </p:nvSpPr>
        <p:spPr bwMode="auto">
          <a:xfrm>
            <a:off x="1428108" y="1549197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F2A5818-6A47-DBC6-D4C0-33E98F5A9BA4}"/>
              </a:ext>
            </a:extLst>
          </p:cNvPr>
          <p:cNvSpPr/>
          <p:nvPr/>
        </p:nvSpPr>
        <p:spPr bwMode="auto">
          <a:xfrm>
            <a:off x="2299701" y="1549197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692A242-60FB-7C5D-ED7C-52FB7CB2DD5B}"/>
              </a:ext>
            </a:extLst>
          </p:cNvPr>
          <p:cNvSpPr/>
          <p:nvPr/>
        </p:nvSpPr>
        <p:spPr bwMode="auto">
          <a:xfrm>
            <a:off x="3171291" y="1549197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1074162-92BF-2911-A2D4-842F601932A6}"/>
              </a:ext>
            </a:extLst>
          </p:cNvPr>
          <p:cNvSpPr/>
          <p:nvPr/>
        </p:nvSpPr>
        <p:spPr bwMode="auto">
          <a:xfrm>
            <a:off x="5494960" y="1549196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92677F4-C220-FF0C-CE2E-DB57A7AA97EF}"/>
              </a:ext>
            </a:extLst>
          </p:cNvPr>
          <p:cNvSpPr/>
          <p:nvPr/>
        </p:nvSpPr>
        <p:spPr bwMode="auto">
          <a:xfrm>
            <a:off x="6351143" y="1549195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C719CFB-7A84-A171-AC6F-C10FDEAF5142}"/>
              </a:ext>
            </a:extLst>
          </p:cNvPr>
          <p:cNvSpPr/>
          <p:nvPr/>
        </p:nvSpPr>
        <p:spPr bwMode="auto">
          <a:xfrm>
            <a:off x="7207320" y="1549194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A1EE7E-1DD1-FDB7-5FF9-5FDF3C624362}"/>
              </a:ext>
            </a:extLst>
          </p:cNvPr>
          <p:cNvSpPr txBox="1"/>
          <p:nvPr/>
        </p:nvSpPr>
        <p:spPr>
          <a:xfrm>
            <a:off x="1151569" y="1611062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AE797E-D468-A54D-C35A-263622F25AE0}"/>
              </a:ext>
            </a:extLst>
          </p:cNvPr>
          <p:cNvSpPr txBox="1"/>
          <p:nvPr/>
        </p:nvSpPr>
        <p:spPr>
          <a:xfrm>
            <a:off x="2030883" y="1611062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2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9DC9F6-7A2A-09B7-CFA2-787072F99A28}"/>
              </a:ext>
            </a:extLst>
          </p:cNvPr>
          <p:cNvSpPr txBox="1"/>
          <p:nvPr/>
        </p:nvSpPr>
        <p:spPr>
          <a:xfrm>
            <a:off x="2902473" y="1611061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D5F753-4868-5697-A447-C3C00FB1E174}"/>
              </a:ext>
            </a:extLst>
          </p:cNvPr>
          <p:cNvSpPr txBox="1"/>
          <p:nvPr/>
        </p:nvSpPr>
        <p:spPr>
          <a:xfrm>
            <a:off x="5220886" y="1611060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470</a:t>
            </a:r>
            <a:endParaRPr lang="ko-KR" alt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6485C6-0A72-7211-70C5-959A208D2E5B}"/>
              </a:ext>
            </a:extLst>
          </p:cNvPr>
          <p:cNvSpPr txBox="1"/>
          <p:nvPr/>
        </p:nvSpPr>
        <p:spPr>
          <a:xfrm>
            <a:off x="6076315" y="1611060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471</a:t>
            </a:r>
            <a:endParaRPr lang="ko-KR" altLang="en-US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2F04C9-6F35-AA29-2C34-0B1EDF64FA63}"/>
              </a:ext>
            </a:extLst>
          </p:cNvPr>
          <p:cNvSpPr txBox="1"/>
          <p:nvPr/>
        </p:nvSpPr>
        <p:spPr>
          <a:xfrm>
            <a:off x="6932492" y="1603885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472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BBF270-A425-5870-C340-BAC36826BC46}"/>
              </a:ext>
            </a:extLst>
          </p:cNvPr>
          <p:cNvSpPr txBox="1"/>
          <p:nvPr/>
        </p:nvSpPr>
        <p:spPr>
          <a:xfrm>
            <a:off x="4047188" y="1603884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…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FE176C-75B3-8EBE-E1CB-6D4A96AB3E03}"/>
              </a:ext>
            </a:extLst>
          </p:cNvPr>
          <p:cNvSpPr txBox="1"/>
          <p:nvPr/>
        </p:nvSpPr>
        <p:spPr>
          <a:xfrm>
            <a:off x="-221707" y="1603883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J=1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CCE518-D5C6-3090-9171-A5ED627B4679}"/>
              </a:ext>
            </a:extLst>
          </p:cNvPr>
          <p:cNvSpPr txBox="1"/>
          <p:nvPr/>
        </p:nvSpPr>
        <p:spPr>
          <a:xfrm>
            <a:off x="962131" y="1241412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n </a:t>
            </a:r>
            <a:r>
              <a:rPr lang="en-US" altLang="ko-KR" sz="1400" dirty="0"/>
              <a:t>= 12</a:t>
            </a:r>
            <a:endParaRPr lang="ko-KR" alt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82A35A-D344-56AB-BCE2-CB9F54670145}"/>
              </a:ext>
            </a:extLst>
          </p:cNvPr>
          <p:cNvSpPr txBox="1"/>
          <p:nvPr/>
        </p:nvSpPr>
        <p:spPr>
          <a:xfrm>
            <a:off x="1750288" y="1225392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 13</a:t>
            </a:r>
            <a:endParaRPr lang="ko-KR" alt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275A39-E77A-60C3-5B93-478F62FB371F}"/>
              </a:ext>
            </a:extLst>
          </p:cNvPr>
          <p:cNvSpPr txBox="1"/>
          <p:nvPr/>
        </p:nvSpPr>
        <p:spPr>
          <a:xfrm>
            <a:off x="2731216" y="1202473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</a:t>
            </a:r>
            <a:r>
              <a:rPr lang="en-US" altLang="ko-KR" sz="1400"/>
              <a:t>= 14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A6B53C-132D-93BB-524C-BC519265681D}"/>
              </a:ext>
            </a:extLst>
          </p:cNvPr>
          <p:cNvSpPr txBox="1"/>
          <p:nvPr/>
        </p:nvSpPr>
        <p:spPr>
          <a:xfrm>
            <a:off x="5028357" y="1179544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 706</a:t>
            </a:r>
            <a:endParaRPr lang="ko-KR" alt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785C09-228C-25CC-4AB5-4EC44B39A4F3}"/>
              </a:ext>
            </a:extLst>
          </p:cNvPr>
          <p:cNvSpPr txBox="1"/>
          <p:nvPr/>
        </p:nvSpPr>
        <p:spPr>
          <a:xfrm>
            <a:off x="5803082" y="1202472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=707</a:t>
            </a:r>
            <a:endParaRPr lang="ko-KR" alt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A8D8A7-3AB3-0EE0-D251-03A90EB08AAE}"/>
              </a:ext>
            </a:extLst>
          </p:cNvPr>
          <p:cNvSpPr txBox="1"/>
          <p:nvPr/>
        </p:nvSpPr>
        <p:spPr>
          <a:xfrm>
            <a:off x="6718025" y="1201454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 708</a:t>
            </a:r>
            <a:endParaRPr lang="ko-KR" altLang="en-US" sz="1400" dirty="0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F9558E-7535-E15B-00E7-8916912F4DC8}"/>
              </a:ext>
            </a:extLst>
          </p:cNvPr>
          <p:cNvCxnSpPr/>
          <p:nvPr/>
        </p:nvCxnSpPr>
        <p:spPr>
          <a:xfrm flipH="1">
            <a:off x="1230358" y="1980709"/>
            <a:ext cx="197750" cy="11940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CBBDF74-A7F0-2A5F-DDAD-2CAAF1740D66}"/>
              </a:ext>
            </a:extLst>
          </p:cNvPr>
          <p:cNvCxnSpPr>
            <a:cxnSpLocks/>
          </p:cNvCxnSpPr>
          <p:nvPr/>
        </p:nvCxnSpPr>
        <p:spPr>
          <a:xfrm>
            <a:off x="1921748" y="1966352"/>
            <a:ext cx="6621762" cy="9828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>
            <a:extLst>
              <a:ext uri="{FF2B5EF4-FFF2-40B4-BE49-F238E27FC236}">
                <a16:creationId xmlns:a16="http://schemas.microsoft.com/office/drawing/2014/main" id="{EAA023C6-2B67-A650-1C0D-8CB9D07B7842}"/>
              </a:ext>
            </a:extLst>
          </p:cNvPr>
          <p:cNvSpPr/>
          <p:nvPr/>
        </p:nvSpPr>
        <p:spPr bwMode="auto">
          <a:xfrm>
            <a:off x="1357516" y="3368400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EED9476C-A4BE-048D-723E-C456D2CB20E3}"/>
              </a:ext>
            </a:extLst>
          </p:cNvPr>
          <p:cNvSpPr/>
          <p:nvPr/>
        </p:nvSpPr>
        <p:spPr bwMode="auto">
          <a:xfrm>
            <a:off x="2264404" y="3368400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28B4EE53-3AAB-1BCE-DA07-18C0B50E3195}"/>
              </a:ext>
            </a:extLst>
          </p:cNvPr>
          <p:cNvSpPr/>
          <p:nvPr/>
        </p:nvSpPr>
        <p:spPr bwMode="auto">
          <a:xfrm>
            <a:off x="3171291" y="3354056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CE75A3F-94BF-B1FC-0476-052357509BF4}"/>
              </a:ext>
            </a:extLst>
          </p:cNvPr>
          <p:cNvSpPr/>
          <p:nvPr/>
        </p:nvSpPr>
        <p:spPr bwMode="auto">
          <a:xfrm>
            <a:off x="5458618" y="3368399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4B40506-3F6D-17ED-34E4-5E3DB6E18006}"/>
              </a:ext>
            </a:extLst>
          </p:cNvPr>
          <p:cNvSpPr/>
          <p:nvPr/>
        </p:nvSpPr>
        <p:spPr bwMode="auto">
          <a:xfrm>
            <a:off x="6315845" y="3354056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A19AAA9E-7699-2172-7EC9-89D2EC8AD5F1}"/>
              </a:ext>
            </a:extLst>
          </p:cNvPr>
          <p:cNvSpPr/>
          <p:nvPr/>
        </p:nvSpPr>
        <p:spPr bwMode="auto">
          <a:xfrm>
            <a:off x="7172769" y="3368399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764B51-3CD3-716B-0FEA-AD398BDC81A5}"/>
              </a:ext>
            </a:extLst>
          </p:cNvPr>
          <p:cNvSpPr txBox="1"/>
          <p:nvPr/>
        </p:nvSpPr>
        <p:spPr>
          <a:xfrm>
            <a:off x="1117986" y="3429000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835D4F-97FA-9266-0833-1F4DC4A20F44}"/>
              </a:ext>
            </a:extLst>
          </p:cNvPr>
          <p:cNvSpPr txBox="1"/>
          <p:nvPr/>
        </p:nvSpPr>
        <p:spPr>
          <a:xfrm>
            <a:off x="2024872" y="3436178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2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66A4D9E-8721-B181-5EA9-03001F668767}"/>
              </a:ext>
            </a:extLst>
          </p:cNvPr>
          <p:cNvSpPr txBox="1"/>
          <p:nvPr/>
        </p:nvSpPr>
        <p:spPr>
          <a:xfrm>
            <a:off x="2949510" y="3423256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3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9DB722-5D28-4033-B007-F72D6488571C}"/>
              </a:ext>
            </a:extLst>
          </p:cNvPr>
          <p:cNvSpPr txBox="1"/>
          <p:nvPr/>
        </p:nvSpPr>
        <p:spPr>
          <a:xfrm>
            <a:off x="5220886" y="3447428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267</a:t>
            </a:r>
            <a:endParaRPr lang="ko-KR" alt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0941BA-23D7-3D3A-3F15-BE5D46ED01CD}"/>
              </a:ext>
            </a:extLst>
          </p:cNvPr>
          <p:cNvSpPr txBox="1"/>
          <p:nvPr/>
        </p:nvSpPr>
        <p:spPr>
          <a:xfrm>
            <a:off x="6097022" y="3436178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268</a:t>
            </a:r>
            <a:endParaRPr lang="ko-KR" altLang="en-US" sz="1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E3F5A6-41C1-06DF-5E6D-9EE52BA0922E}"/>
              </a:ext>
            </a:extLst>
          </p:cNvPr>
          <p:cNvSpPr txBox="1"/>
          <p:nvPr/>
        </p:nvSpPr>
        <p:spPr>
          <a:xfrm>
            <a:off x="6942726" y="3435594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269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C0F65B-847F-C2E4-9A81-161987FC14C6}"/>
              </a:ext>
            </a:extLst>
          </p:cNvPr>
          <p:cNvSpPr txBox="1"/>
          <p:nvPr/>
        </p:nvSpPr>
        <p:spPr>
          <a:xfrm>
            <a:off x="916120" y="2975665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</a:t>
            </a:r>
            <a:r>
              <a:rPr lang="en-US" altLang="ko-KR" sz="1400"/>
              <a:t>= 24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53CF758-C4C0-E767-540B-0877B9153023}"/>
              </a:ext>
            </a:extLst>
          </p:cNvPr>
          <p:cNvSpPr txBox="1"/>
          <p:nvPr/>
        </p:nvSpPr>
        <p:spPr>
          <a:xfrm>
            <a:off x="1744600" y="2963163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</a:t>
            </a:r>
            <a:r>
              <a:rPr lang="en-US" altLang="ko-KR" sz="1400"/>
              <a:t>= 25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C0DB14D-E6CE-413B-F734-F456853396D0}"/>
              </a:ext>
            </a:extLst>
          </p:cNvPr>
          <p:cNvSpPr txBox="1"/>
          <p:nvPr/>
        </p:nvSpPr>
        <p:spPr>
          <a:xfrm>
            <a:off x="2750228" y="2950241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</a:t>
            </a:r>
            <a:r>
              <a:rPr lang="en-US" altLang="ko-KR" sz="1400"/>
              <a:t>= 26</a:t>
            </a:r>
            <a:endParaRPr lang="ko-KR" altLang="en-US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D907B6-8C51-D1E1-5E4F-E2EDB168F117}"/>
              </a:ext>
            </a:extLst>
          </p:cNvPr>
          <p:cNvSpPr txBox="1"/>
          <p:nvPr/>
        </p:nvSpPr>
        <p:spPr>
          <a:xfrm>
            <a:off x="4983638" y="2886766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 706</a:t>
            </a:r>
            <a:endParaRPr lang="ko-KR" altLang="en-US" sz="1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FEC92F-80AF-7B47-5A52-B2330FA0B2FA}"/>
              </a:ext>
            </a:extLst>
          </p:cNvPr>
          <p:cNvSpPr txBox="1"/>
          <p:nvPr/>
        </p:nvSpPr>
        <p:spPr>
          <a:xfrm>
            <a:off x="5923715" y="2875516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</a:t>
            </a:r>
            <a:r>
              <a:rPr lang="en-US" altLang="ko-KR" sz="1400"/>
              <a:t>= 707</a:t>
            </a:r>
            <a:endParaRPr lang="ko-KR" altLang="en-US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48FA2C3-DDC8-D4F4-E76D-6969FDB91D66}"/>
              </a:ext>
            </a:extLst>
          </p:cNvPr>
          <p:cNvSpPr txBox="1"/>
          <p:nvPr/>
        </p:nvSpPr>
        <p:spPr>
          <a:xfrm>
            <a:off x="6774953" y="2864487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 708</a:t>
            </a:r>
            <a:endParaRPr lang="ko-KR" altLang="en-US" sz="14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511AB14-EBB0-6813-40D9-AFC36FD8EDD3}"/>
              </a:ext>
            </a:extLst>
          </p:cNvPr>
          <p:cNvSpPr txBox="1"/>
          <p:nvPr/>
        </p:nvSpPr>
        <p:spPr>
          <a:xfrm>
            <a:off x="-200514" y="3449617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J=2</a:t>
            </a:r>
            <a:endParaRPr lang="ko-KR" altLang="en-US" sz="1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448AAB-97CF-51B3-9CF3-CB4619C20927}"/>
              </a:ext>
            </a:extLst>
          </p:cNvPr>
          <p:cNvSpPr txBox="1"/>
          <p:nvPr/>
        </p:nvSpPr>
        <p:spPr>
          <a:xfrm>
            <a:off x="4044469" y="3419179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…</a:t>
            </a:r>
            <a:endParaRPr lang="ko-KR" altLang="en-US" sz="1400" dirty="0"/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EE273685-5696-5CB5-2E0F-6CFEB5DE9AC3}"/>
              </a:ext>
            </a:extLst>
          </p:cNvPr>
          <p:cNvCxnSpPr/>
          <p:nvPr/>
        </p:nvCxnSpPr>
        <p:spPr>
          <a:xfrm flipH="1">
            <a:off x="1117986" y="4032673"/>
            <a:ext cx="197750" cy="11940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AAF7171B-95F7-0F54-38F0-0D7184619ED2}"/>
              </a:ext>
            </a:extLst>
          </p:cNvPr>
          <p:cNvCxnSpPr>
            <a:cxnSpLocks/>
          </p:cNvCxnSpPr>
          <p:nvPr/>
        </p:nvCxnSpPr>
        <p:spPr>
          <a:xfrm>
            <a:off x="2049359" y="3969424"/>
            <a:ext cx="6494151" cy="14776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3789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47" grpId="0" animBg="1"/>
      <p:bldP spid="49" grpId="0" animBg="1"/>
      <p:bldP spid="50" grpId="0" animBg="1"/>
      <p:bldP spid="52" grpId="0" animBg="1"/>
      <p:bldP spid="54" grpId="0" animBg="1"/>
      <p:bldP spid="56" grpId="0" animBg="1"/>
      <p:bldP spid="58" grpId="0" animBg="1"/>
      <p:bldP spid="59" grpId="0" animBg="1"/>
      <p:bldP spid="60" grpId="0" animBg="1"/>
      <p:bldP spid="61" grpId="0" animBg="1"/>
      <p:bldP spid="63" grpId="0" animBg="1"/>
      <p:bldP spid="64" grpId="0" animBg="1"/>
      <p:bldP spid="68" grpId="0" animBg="1"/>
      <p:bldP spid="6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EE061B59-CB99-ACB1-65DE-FF0AAD49DDF8}"/>
              </a:ext>
            </a:extLst>
          </p:cNvPr>
          <p:cNvSpPr/>
          <p:nvPr/>
        </p:nvSpPr>
        <p:spPr bwMode="auto">
          <a:xfrm>
            <a:off x="257080" y="6224099"/>
            <a:ext cx="3493465" cy="510380"/>
          </a:xfrm>
          <a:prstGeom prst="flowChartProcess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C1F6E507-D043-297B-7E6F-3A13F8BE0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50" y="1295704"/>
            <a:ext cx="1704975" cy="54387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CE3A193-0A70-1319-CB25-CE13802EED71}"/>
              </a:ext>
            </a:extLst>
          </p:cNvPr>
          <p:cNvSpPr txBox="1"/>
          <p:nvPr/>
        </p:nvSpPr>
        <p:spPr>
          <a:xfrm>
            <a:off x="2141939" y="5635042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427</a:t>
            </a:r>
            <a:endParaRPr lang="ko-KR" altLang="en-US" sz="1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A097C6-BB3D-6D5A-5E18-163240116DAB}"/>
              </a:ext>
            </a:extLst>
          </p:cNvPr>
          <p:cNvSpPr txBox="1"/>
          <p:nvPr/>
        </p:nvSpPr>
        <p:spPr>
          <a:xfrm>
            <a:off x="2144731" y="56355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/>
              <a:t>중복 없이 </a:t>
            </a:r>
            <a:r>
              <a:rPr lang="ko-KR" altLang="en-US" sz="1800" dirty="0"/>
              <a:t>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269</a:t>
            </a:r>
            <a:endParaRPr lang="ko-KR" altLang="en-US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188657-7FCB-A341-794E-21AC461159B9}"/>
              </a:ext>
            </a:extLst>
          </p:cNvPr>
          <p:cNvSpPr txBox="1"/>
          <p:nvPr/>
        </p:nvSpPr>
        <p:spPr>
          <a:xfrm>
            <a:off x="2144731" y="56343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140</a:t>
            </a:r>
            <a:endParaRPr lang="ko-KR" altLang="en-US" sz="1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695F12-2051-7811-FB14-B8E7119F9DAC}"/>
              </a:ext>
            </a:extLst>
          </p:cNvPr>
          <p:cNvSpPr txBox="1"/>
          <p:nvPr/>
        </p:nvSpPr>
        <p:spPr>
          <a:xfrm>
            <a:off x="2083087" y="56343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20</a:t>
            </a:r>
            <a:endParaRPr lang="ko-KR" altLang="en-US" sz="1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245723-7B48-43F6-D290-169BAD6F72B1}"/>
              </a:ext>
            </a:extLst>
          </p:cNvPr>
          <p:cNvSpPr txBox="1"/>
          <p:nvPr/>
        </p:nvSpPr>
        <p:spPr>
          <a:xfrm>
            <a:off x="2018650" y="56355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1</a:t>
            </a:r>
            <a:endParaRPr lang="ko-KR" altLang="en-US" sz="1800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1838480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Method 4</a:t>
            </a:r>
            <a:r>
              <a:rPr lang="ko-KR" altLang="en-US" dirty="0"/>
              <a:t>의 개념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7134" y="6594911"/>
            <a:ext cx="981169" cy="360000"/>
          </a:xfrm>
        </p:spPr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Timeline</a:t>
            </a:r>
            <a:r>
              <a:rPr lang="ko-KR" altLang="en-US" dirty="0"/>
              <a:t> 중복 횟수 최소화를 이용한 배치</a:t>
            </a:r>
            <a:endParaRPr lang="en-US" altLang="ko-KR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B5FD131-219E-081A-BAC3-816408EE0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4CBAB0C-1930-7022-A22D-7A4E6A626A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5385A1D6-2086-A971-DDC5-2C84BB3542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1422613"/>
            <a:ext cx="5334000" cy="40005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C07D9DE-F752-2736-ADED-6350A690F3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1422613"/>
            <a:ext cx="5334000" cy="4000500"/>
          </a:xfrm>
          <a:prstGeom prst="rect">
            <a:avLst/>
          </a:prstGeom>
        </p:spPr>
      </p:pic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7321CC12-41EB-285C-5D3E-8E61B1D81C32}"/>
              </a:ext>
            </a:extLst>
          </p:cNvPr>
          <p:cNvSpPr/>
          <p:nvPr/>
        </p:nvSpPr>
        <p:spPr bwMode="auto">
          <a:xfrm>
            <a:off x="2579293" y="6210641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057E68-996C-6144-6CEB-18449D2622D8}"/>
              </a:ext>
            </a:extLst>
          </p:cNvPr>
          <p:cNvSpPr txBox="1"/>
          <p:nvPr/>
        </p:nvSpPr>
        <p:spPr>
          <a:xfrm>
            <a:off x="2579293" y="6219402"/>
            <a:ext cx="4854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그 이후엔 최소한의 중복으로 배치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162B71-C38C-95C2-285E-1D64871A0B11}"/>
              </a:ext>
            </a:extLst>
          </p:cNvPr>
          <p:cNvSpPr txBox="1"/>
          <p:nvPr/>
        </p:nvSpPr>
        <p:spPr>
          <a:xfrm>
            <a:off x="2014460" y="5632126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0</a:t>
            </a:r>
            <a:endParaRPr lang="ko-KR" altLang="en-US" sz="180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DFB84665-C285-60EC-8B4C-0365ECEDDE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12482" y="1428988"/>
            <a:ext cx="5334000" cy="400050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EC13EBEA-7B98-459F-4E3A-30E21C38D9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239" y="1295704"/>
            <a:ext cx="1685925" cy="5448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091418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28" grpId="0" animBg="1"/>
      <p:bldP spid="30" grpId="0" animBg="1"/>
      <p:bldP spid="31" grpId="0" animBg="1"/>
      <p:bldP spid="33" grpId="0" animBg="1"/>
      <p:bldP spid="3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알고리즘에 따라 </a:t>
            </a:r>
            <a:r>
              <a:rPr lang="en-US" altLang="ko-KR" dirty="0"/>
              <a:t>n</a:t>
            </a:r>
            <a:r>
              <a:rPr lang="ko-KR" altLang="en-US" dirty="0"/>
              <a:t>을 적절히 조절했을 때의 결과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5765EB6-2175-AC49-CBD4-759CBA0B3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200" y="1195686"/>
            <a:ext cx="5334000" cy="400050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Timeline</a:t>
            </a:r>
            <a:r>
              <a:rPr lang="ko-KR" altLang="en-US" dirty="0"/>
              <a:t> 중복 횟수 최소화를 이용한 배치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6328602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108.5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128.5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133.5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6F2C6E2-2AB9-58A5-C0D9-9B708FFB3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6328602"/>
                  </p:ext>
                </p:extLst>
              </p:nvPr>
            </p:nvGraphicFramePr>
            <p:xfrm>
              <a:off x="4680681" y="1645500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92.3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108.5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257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128.5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356.3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133.5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296.3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AF09E4-F657-D6EB-E6CD-AA0EF25E4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177084"/>
              </p:ext>
            </p:extLst>
          </p:nvPr>
        </p:nvGraphicFramePr>
        <p:xfrm>
          <a:off x="6880200" y="1950300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254.5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284.3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259.5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224.3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262.5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338.3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86.3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07A84250-F686-86D3-ADFD-AA0AC99FB2CA}"/>
              </a:ext>
            </a:extLst>
          </p:cNvPr>
          <p:cNvSpPr/>
          <p:nvPr/>
        </p:nvSpPr>
        <p:spPr bwMode="auto">
          <a:xfrm>
            <a:off x="884057" y="5282708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6DDEEB-1D31-AFC5-A23D-3D559424A249}"/>
              </a:ext>
            </a:extLst>
          </p:cNvPr>
          <p:cNvSpPr txBox="1"/>
          <p:nvPr/>
        </p:nvSpPr>
        <p:spPr>
          <a:xfrm>
            <a:off x="1023143" y="5297646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</a:t>
            </a:r>
            <a:r>
              <a:rPr lang="en-US" altLang="ko-KR"/>
              <a:t>= 100 </a:t>
            </a:r>
            <a:r>
              <a:rPr lang="en-US" altLang="ko-KR" dirty="0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1615461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246767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결론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1F2328"/>
                </a:solidFill>
              </a:rPr>
              <a:t>Method 1</a:t>
            </a: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위성의 배치</a:t>
            </a:r>
            <a:r>
              <a:rPr lang="en-US" altLang="ko-KR" dirty="0">
                <a:solidFill>
                  <a:srgbClr val="1F2328"/>
                </a:solidFill>
              </a:rPr>
              <a:t>(n)</a:t>
            </a:r>
            <a:r>
              <a:rPr lang="ko-KR" altLang="en-US" dirty="0">
                <a:solidFill>
                  <a:srgbClr val="1F2328"/>
                </a:solidFill>
              </a:rPr>
              <a:t>를 모든 </a:t>
            </a:r>
            <a:r>
              <a:rPr lang="en-US" altLang="ko-KR" dirty="0">
                <a:solidFill>
                  <a:srgbClr val="1F2328"/>
                </a:solidFill>
              </a:rPr>
              <a:t>n=720</a:t>
            </a:r>
            <a:r>
              <a:rPr lang="ko-KR" altLang="en-US" dirty="0">
                <a:solidFill>
                  <a:srgbClr val="1F2328"/>
                </a:solidFill>
              </a:rPr>
              <a:t>에 대해 </a:t>
            </a:r>
            <a:r>
              <a:rPr lang="en-US" altLang="ko-KR" dirty="0">
                <a:solidFill>
                  <a:srgbClr val="1F2328"/>
                </a:solidFill>
              </a:rPr>
              <a:t>0</a:t>
            </a:r>
            <a:r>
              <a:rPr lang="ko-KR" altLang="en-US" dirty="0">
                <a:solidFill>
                  <a:srgbClr val="1F2328"/>
                </a:solidFill>
              </a:rPr>
              <a:t>과 </a:t>
            </a:r>
            <a:r>
              <a:rPr lang="en-US" altLang="ko-KR" dirty="0">
                <a:solidFill>
                  <a:srgbClr val="1F2328"/>
                </a:solidFill>
              </a:rPr>
              <a:t>1</a:t>
            </a:r>
            <a:r>
              <a:rPr lang="ko-KR" altLang="en-US" dirty="0">
                <a:solidFill>
                  <a:srgbClr val="1F2328"/>
                </a:solidFill>
              </a:rPr>
              <a:t>의 수로 무작위로 생성</a:t>
            </a:r>
            <a:endParaRPr lang="en-US" altLang="ko-KR" dirty="0">
              <a:solidFill>
                <a:srgbClr val="1F2328"/>
              </a:solidFill>
            </a:endParaRPr>
          </a:p>
          <a:p>
            <a:pPr lvl="2">
              <a:defRPr/>
            </a:pPr>
            <a:r>
              <a:rPr lang="en-US" altLang="ko-KR" dirty="0">
                <a:solidFill>
                  <a:srgbClr val="1F2328"/>
                </a:solidFill>
              </a:rPr>
              <a:t>1 : </a:t>
            </a:r>
            <a:r>
              <a:rPr lang="ko-KR" altLang="en-US" dirty="0">
                <a:solidFill>
                  <a:srgbClr val="1F2328"/>
                </a:solidFill>
              </a:rPr>
              <a:t>위성이 존재함</a:t>
            </a:r>
            <a:r>
              <a:rPr lang="en-US" altLang="ko-KR" dirty="0">
                <a:solidFill>
                  <a:srgbClr val="1F2328"/>
                </a:solidFill>
              </a:rPr>
              <a:t>, 0 : </a:t>
            </a:r>
            <a:r>
              <a:rPr lang="ko-KR" altLang="en-US" dirty="0">
                <a:solidFill>
                  <a:srgbClr val="1F2328"/>
                </a:solidFill>
              </a:rPr>
              <a:t>위성이 존재하지 않음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지정한 </a:t>
            </a:r>
            <a:r>
              <a:rPr lang="en-US" altLang="ko-KR" dirty="0">
                <a:solidFill>
                  <a:srgbClr val="1F2328"/>
                </a:solidFill>
              </a:rPr>
              <a:t>Coverage </a:t>
            </a:r>
            <a:r>
              <a:rPr lang="ko-KR" altLang="en-US" dirty="0">
                <a:solidFill>
                  <a:srgbClr val="1F2328"/>
                </a:solidFill>
              </a:rPr>
              <a:t>비율 이상의 조건 달성 시 </a:t>
            </a:r>
            <a:r>
              <a:rPr lang="en-US" altLang="ko-KR" dirty="0">
                <a:solidFill>
                  <a:srgbClr val="1F2328"/>
                </a:solidFill>
              </a:rPr>
              <a:t>n</a:t>
            </a:r>
            <a:r>
              <a:rPr lang="ko-KR" altLang="en-US" dirty="0">
                <a:solidFill>
                  <a:srgbClr val="1F2328"/>
                </a:solidFill>
              </a:rPr>
              <a:t>의 배치가 출력됨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en-US" altLang="ko-KR" dirty="0">
                <a:solidFill>
                  <a:srgbClr val="FF0000"/>
                </a:solidFill>
              </a:rPr>
              <a:t>96% </a:t>
            </a:r>
            <a:r>
              <a:rPr lang="ko-KR" altLang="en-US" dirty="0">
                <a:solidFill>
                  <a:srgbClr val="FF0000"/>
                </a:solidFill>
              </a:rPr>
              <a:t>이상으로 설정 시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시뮬레이션 시간이 상당히 오래 걸림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FF0000"/>
                </a:solidFill>
              </a:rPr>
              <a:t>프로그래밍 확률에 따라 배치되므로 성능 및 소요 시간이 크게 달라짐</a:t>
            </a:r>
            <a:endParaRPr lang="en-US" altLang="ko-KR" dirty="0">
              <a:solidFill>
                <a:srgbClr val="1F2328"/>
              </a:solidFill>
            </a:endParaRPr>
          </a:p>
          <a:p>
            <a:pPr>
              <a:defRPr/>
            </a:pPr>
            <a:r>
              <a:rPr lang="en-US" altLang="ko-KR" dirty="0">
                <a:solidFill>
                  <a:srgbClr val="1F2328"/>
                </a:solidFill>
              </a:rPr>
              <a:t>Method 2</a:t>
            </a: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Method 1</a:t>
            </a:r>
            <a:r>
              <a:rPr lang="ko-KR" altLang="en-US" dirty="0">
                <a:solidFill>
                  <a:srgbClr val="1F2328"/>
                </a:solidFill>
              </a:rPr>
              <a:t>에서 얻은 결과의 성능 향상을 위해 수작업으로 </a:t>
            </a:r>
            <a:r>
              <a:rPr lang="en-US" altLang="ko-KR" dirty="0">
                <a:solidFill>
                  <a:srgbClr val="1F2328"/>
                </a:solidFill>
              </a:rPr>
              <a:t>n</a:t>
            </a:r>
            <a:r>
              <a:rPr lang="ko-KR" altLang="en-US" dirty="0">
                <a:solidFill>
                  <a:srgbClr val="1F2328"/>
                </a:solidFill>
              </a:rPr>
              <a:t> 값을 미세하게 조정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성능 향상은 보장되지만 </a:t>
            </a:r>
            <a:r>
              <a:rPr lang="ko-KR" altLang="en-US" dirty="0">
                <a:solidFill>
                  <a:srgbClr val="FF0000"/>
                </a:solidFill>
              </a:rPr>
              <a:t>일일이 조정해야 하는 단순 반복적 업무가 요구됨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인접하는 </a:t>
            </a:r>
            <a:r>
              <a:rPr lang="en-US" altLang="ko-KR" dirty="0">
                <a:solidFill>
                  <a:srgbClr val="FF0000"/>
                </a:solidFill>
              </a:rPr>
              <a:t>n</a:t>
            </a:r>
            <a:r>
              <a:rPr lang="ko-KR" altLang="en-US" dirty="0">
                <a:solidFill>
                  <a:srgbClr val="FF0000"/>
                </a:solidFill>
              </a:rPr>
              <a:t>값에 대한 의존성이 높기 때문에 정확하지 않을 수 있음</a:t>
            </a:r>
            <a:endParaRPr lang="en-US" altLang="ko-KR" dirty="0">
              <a:solidFill>
                <a:srgbClr val="1F2328"/>
              </a:solidFill>
            </a:endParaRPr>
          </a:p>
          <a:p>
            <a:pPr>
              <a:defRPr/>
            </a:pPr>
            <a:r>
              <a:rPr lang="en-US" altLang="ko-KR" dirty="0">
                <a:solidFill>
                  <a:srgbClr val="1F2328"/>
                </a:solidFill>
              </a:rPr>
              <a:t>Method 3</a:t>
            </a: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Coverage Timeline</a:t>
            </a:r>
            <a:r>
              <a:rPr lang="ko-KR" altLang="en-US" dirty="0">
                <a:solidFill>
                  <a:srgbClr val="1F2328"/>
                </a:solidFill>
              </a:rPr>
              <a:t>을 보며 모든 위성에 대해 </a:t>
            </a:r>
            <a:r>
              <a:rPr lang="en-US" altLang="ko-KR" dirty="0">
                <a:solidFill>
                  <a:srgbClr val="1F2328"/>
                </a:solidFill>
              </a:rPr>
              <a:t>n </a:t>
            </a:r>
            <a:r>
              <a:rPr lang="ko-KR" altLang="en-US" dirty="0">
                <a:solidFill>
                  <a:srgbClr val="1F2328"/>
                </a:solidFill>
              </a:rPr>
              <a:t>값을 수작업으로 배치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가장 높은 성능을 낼 수는 있지만 </a:t>
            </a:r>
            <a:r>
              <a:rPr lang="ko-KR" altLang="en-US" dirty="0">
                <a:solidFill>
                  <a:srgbClr val="FF0000"/>
                </a:solidFill>
              </a:rPr>
              <a:t>단순 반복적 업무가 요구됨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FF0000"/>
                </a:solidFill>
              </a:rPr>
              <a:t>기준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위성의 </a:t>
            </a:r>
            <a:r>
              <a:rPr lang="en-US" altLang="ko-KR" dirty="0">
                <a:solidFill>
                  <a:srgbClr val="FF0000"/>
                </a:solidFill>
              </a:rPr>
              <a:t>Access Profile</a:t>
            </a:r>
            <a:r>
              <a:rPr lang="ko-KR" altLang="en-US">
                <a:solidFill>
                  <a:srgbClr val="FF0000"/>
                </a:solidFill>
              </a:rPr>
              <a:t>의 분포에 </a:t>
            </a:r>
            <a:r>
              <a:rPr lang="ko-KR" altLang="en-US" dirty="0">
                <a:solidFill>
                  <a:srgbClr val="FF0000"/>
                </a:solidFill>
              </a:rPr>
              <a:t>따라 나머지 </a:t>
            </a:r>
            <a:r>
              <a:rPr lang="en-US" altLang="ko-KR" dirty="0">
                <a:solidFill>
                  <a:srgbClr val="FF0000"/>
                </a:solidFill>
              </a:rPr>
              <a:t>n</a:t>
            </a:r>
            <a:r>
              <a:rPr lang="ko-KR" altLang="en-US" dirty="0">
                <a:solidFill>
                  <a:srgbClr val="FF0000"/>
                </a:solidFill>
              </a:rPr>
              <a:t>의 배치의 난이도가 결정됨</a:t>
            </a:r>
            <a:endParaRPr lang="en-US" altLang="ko-KR" dirty="0">
              <a:solidFill>
                <a:srgbClr val="1F2328"/>
              </a:solidFill>
            </a:endParaRPr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4">
              <a:defRPr/>
            </a:pPr>
            <a:endParaRPr lang="en-US" altLang="ko-KR" b="0" i="0" dirty="0">
              <a:solidFill>
                <a:srgbClr val="1F2328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6427485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결론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1F2328"/>
                </a:solidFill>
              </a:rPr>
              <a:t>Method 4</a:t>
            </a: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이전 시행 결과의 </a:t>
            </a:r>
            <a:r>
              <a:rPr lang="en-US" altLang="ko-KR" dirty="0">
                <a:solidFill>
                  <a:srgbClr val="1F2328"/>
                </a:solidFill>
              </a:rPr>
              <a:t>Timeline</a:t>
            </a:r>
            <a:r>
              <a:rPr lang="ko-KR" altLang="en-US" dirty="0">
                <a:solidFill>
                  <a:srgbClr val="1F2328"/>
                </a:solidFill>
              </a:rPr>
              <a:t>과 최대한 겹치지 않도록 </a:t>
            </a:r>
            <a:r>
              <a:rPr lang="en-US" altLang="ko-KR" dirty="0">
                <a:solidFill>
                  <a:srgbClr val="1F2328"/>
                </a:solidFill>
              </a:rPr>
              <a:t>2</a:t>
            </a:r>
            <a:r>
              <a:rPr lang="ko-KR" altLang="en-US" dirty="0">
                <a:solidFill>
                  <a:srgbClr val="1F2328"/>
                </a:solidFill>
              </a:rPr>
              <a:t>회 이후 시행 결과를 배치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불필요한 모집단의 수를 대폭 줄일 수 있음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알고리즘에 따라 코딩 작성 필요</a:t>
            </a:r>
            <a:endParaRPr lang="en-US" altLang="ko-KR" dirty="0">
              <a:solidFill>
                <a:srgbClr val="1F2328"/>
              </a:solidFill>
            </a:endParaRPr>
          </a:p>
          <a:p>
            <a:pPr lvl="2">
              <a:defRPr/>
            </a:pPr>
            <a:r>
              <a:rPr lang="ko-KR" altLang="en-US" dirty="0">
                <a:solidFill>
                  <a:srgbClr val="1F2328"/>
                </a:solidFill>
              </a:rPr>
              <a:t>단순 반복 작업을 피할 수 있다는 장점이 있음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FF0000"/>
                </a:solidFill>
              </a:rPr>
              <a:t>이전 시행에 영향을 받기 때문에 복잡한 코딩 작성을 요구함</a:t>
            </a:r>
            <a:endParaRPr lang="en-US" altLang="ko-KR" dirty="0">
              <a:solidFill>
                <a:srgbClr val="FF0000"/>
              </a:solidFill>
            </a:endParaRPr>
          </a:p>
          <a:p>
            <a:pPr lvl="3">
              <a:defRPr/>
            </a:pPr>
            <a:endParaRPr lang="en-US" altLang="ko-KR" dirty="0"/>
          </a:p>
          <a:p>
            <a:pPr lvl="4">
              <a:defRPr/>
            </a:pPr>
            <a:endParaRPr lang="en-US" altLang="ko-KR" b="0" i="0" dirty="0">
              <a:solidFill>
                <a:srgbClr val="1F2328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8952738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1B23A-78F3-35B8-506D-D9DFB5D06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5B69527-F992-21E4-8F1F-56E527821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DC64E212-8A1E-C5D2-7849-BE68EF516F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BE3475-1035-EFEB-6399-114C8C9903FD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25911712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49052-A938-F5C9-C681-DAE0FEEC1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7CCE2FF9-CEFF-FAC3-B515-18E7E48C00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Function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관심지역 </a:t>
                </a:r>
                <a:r>
                  <a:rPr lang="en-US" altLang="ko-KR" dirty="0"/>
                  <a:t>j</a:t>
                </a:r>
                <a:r>
                  <a:rPr lang="ko-KR" altLang="en-US" dirty="0"/>
                  <a:t>에 대해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번째 위성이 </a:t>
                </a:r>
                <a:endParaRPr lang="en-US" altLang="ko-KR" dirty="0"/>
              </a:p>
              <a:p>
                <a:pPr marL="216000" lvl="1" indent="0">
                  <a:buNone/>
                  <a:defRPr/>
                </a:pPr>
                <a:r>
                  <a:rPr lang="en-US" altLang="ko-KR" dirty="0"/>
                  <a:t>               </a:t>
                </a:r>
                <a:r>
                  <a:rPr lang="ko-KR" altLang="en-US" dirty="0"/>
                  <a:t>관측될 때의 </a:t>
                </a:r>
                <a:r>
                  <a:rPr lang="en-US" altLang="ko-KR" dirty="0"/>
                  <a:t>timeline</a:t>
                </a:r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: </a:t>
                </a:r>
                <a:r>
                  <a:rPr lang="ko-KR" altLang="en-US" dirty="0"/>
                  <a:t>관심지역 </a:t>
                </a:r>
                <a:r>
                  <a:rPr lang="en-US" altLang="ko-KR" dirty="0"/>
                  <a:t>j</a:t>
                </a:r>
                <a:r>
                  <a:rPr lang="ko-KR" altLang="en-US" dirty="0"/>
                  <a:t>에 대해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번째 위성의 </a:t>
                </a:r>
                <a:endParaRPr lang="en-US" altLang="ko-KR" dirty="0"/>
              </a:p>
              <a:p>
                <a:pPr marL="216000" lvl="1" indent="0">
                  <a:buNone/>
                  <a:defRPr/>
                </a:pPr>
                <a:r>
                  <a:rPr lang="en-US" altLang="ko-KR" dirty="0"/>
                  <a:t>               </a:t>
                </a:r>
                <a:r>
                  <a:rPr lang="ko-KR" altLang="en-US" dirty="0"/>
                  <a:t>모든 상황에 해당하는 </a:t>
                </a:r>
                <a:r>
                  <a:rPr lang="en-US" altLang="ko-KR" dirty="0"/>
                  <a:t>timeline </a:t>
                </a:r>
              </a:p>
              <a:p>
                <a:pPr lvl="1"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dirty="0"/>
              </a:p>
              <a:p>
                <a:pPr marL="576000" lvl="3" indent="0">
                  <a:buNone/>
                  <a:defRPr/>
                </a:pPr>
                <a:endParaRPr lang="en-US" altLang="ko-KR" dirty="0"/>
              </a:p>
              <a:p>
                <a:pPr lvl="5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1AB1A20-982A-C0CA-8528-A23661893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843F5F-AE33-68E3-27BD-7582DCCD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BILP method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개념 정리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17CCFA-1014-A9D1-09E1-884D8E2A18FC}"/>
              </a:ext>
            </a:extLst>
          </p:cNvPr>
          <p:cNvSpPr txBox="1"/>
          <p:nvPr/>
        </p:nvSpPr>
        <p:spPr>
          <a:xfrm>
            <a:off x="1582327" y="590806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49B19E9-B932-2449-4351-D255E25A1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920" y="1330988"/>
            <a:ext cx="2039765" cy="20186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C0D3CD8-D83A-F303-E8FB-F2E87ECD59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833" y="3712839"/>
            <a:ext cx="4171085" cy="211027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29F3985-3B39-AEF2-8F26-8B4ABAB259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4698" y="4757077"/>
            <a:ext cx="2600325" cy="981075"/>
          </a:xfrm>
          <a:prstGeom prst="rect">
            <a:avLst/>
          </a:prstGeom>
        </p:spPr>
      </p:pic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DA77169C-AA05-3127-49BB-DB22A54D5057}"/>
              </a:ext>
            </a:extLst>
          </p:cNvPr>
          <p:cNvSpPr/>
          <p:nvPr/>
        </p:nvSpPr>
        <p:spPr bwMode="auto">
          <a:xfrm>
            <a:off x="2080640" y="2532819"/>
            <a:ext cx="328773" cy="608396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188CF1-0580-3A6C-B26A-8BA95AFA3BF2}"/>
              </a:ext>
            </a:extLst>
          </p:cNvPr>
          <p:cNvSpPr txBox="1"/>
          <p:nvPr/>
        </p:nvSpPr>
        <p:spPr>
          <a:xfrm>
            <a:off x="2203930" y="2659794"/>
            <a:ext cx="2997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lvl="1" indent="0">
              <a:buNone/>
              <a:defRPr/>
            </a:pPr>
            <a:r>
              <a:rPr lang="ko-KR" altLang="en-US" sz="1400" dirty="0"/>
              <a:t>전체 관측시간으로 확장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068928536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4346F-7823-55B4-2780-68010CC0B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458FDCA-78DD-0A17-5E6B-060C2A7C53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Function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관심지역 </a:t>
                </a:r>
                <a:r>
                  <a:rPr lang="en-US" altLang="ko-KR" dirty="0"/>
                  <a:t>j</a:t>
                </a:r>
                <a:r>
                  <a:rPr lang="ko-KR" altLang="en-US" dirty="0"/>
                  <a:t>에 대해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번째 위성의</a:t>
                </a:r>
                <a:endParaRPr lang="en-US" altLang="ko-KR" dirty="0"/>
              </a:p>
              <a:p>
                <a:pPr marL="216000" lvl="1" indent="0">
                  <a:buNone/>
                  <a:defRPr/>
                </a:pPr>
                <a:r>
                  <a:rPr lang="ko-KR" altLang="en-US" dirty="0"/>
                  <a:t>               모든 상황에 해당하는 </a:t>
                </a:r>
                <a:r>
                  <a:rPr lang="en-US" altLang="ko-KR" dirty="0"/>
                  <a:t>timeline</a:t>
                </a:r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Ex) L = 720</a:t>
                </a:r>
              </a:p>
              <a:p>
                <a:pPr lvl="1">
                  <a:defRPr/>
                </a:pPr>
                <a:endParaRPr lang="en-US" altLang="ko-KR" sz="700" dirty="0"/>
              </a:p>
              <a:p>
                <a:pPr marL="216000" lvl="1" indent="0">
                  <a:buNone/>
                  <a:defRPr/>
                </a:pPr>
                <a:r>
                  <a:rPr lang="en-US" altLang="ko-KR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719</m:t>
                                      </m:r>
                                    </m:e>
                                  </m:d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eqAr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eqArr>
                                <m:eqArr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      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71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</m:d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      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ko-KR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719</m:t>
                                      </m:r>
                                    </m:e>
                                  </m:d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      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ko-KR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   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      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    </m:t>
                                  </m:r>
                                </m:e>
                              </m:eqAr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                  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              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                   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719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718</m:t>
                                  </m:r>
                                </m:e>
                              </m:d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              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dirty="0"/>
              </a:p>
              <a:p>
                <a:pPr marL="576000" lvl="3" indent="0">
                  <a:buNone/>
                  <a:defRPr/>
                </a:pPr>
                <a:endParaRPr lang="en-US" altLang="ko-KR" dirty="0"/>
              </a:p>
              <a:p>
                <a:pPr lvl="5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B9A2FE-7459-65B6-2264-D2ABCFD3D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04B1479-BADD-0C29-C3F8-9C25C46C5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BILP method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개념 정리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5C26F1-92FF-CC80-C7E7-8BE54A3AC686}"/>
              </a:ext>
            </a:extLst>
          </p:cNvPr>
          <p:cNvSpPr txBox="1"/>
          <p:nvPr/>
        </p:nvSpPr>
        <p:spPr>
          <a:xfrm>
            <a:off x="1582327" y="590806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A02BA7E-F0C7-23B9-7D70-2B6CBB778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5833" y="1308106"/>
            <a:ext cx="4171085" cy="211027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782C2A6-7502-D46D-C5D5-AD6AE9ACAA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3601" y="2437302"/>
            <a:ext cx="2600325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16896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FA306-9350-F323-DF05-599E89EF5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BC7E02F0-20BC-AE1F-1552-2693213B4E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Function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r>
                  <a:rPr lang="ko-KR" altLang="en-US" dirty="0"/>
                  <a:t>                 </a:t>
                </a: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dirty="0"/>
              </a:p>
              <a:p>
                <a:pPr marL="576000" lvl="3" indent="0">
                  <a:buNone/>
                  <a:defRPr/>
                </a:pPr>
                <a:endParaRPr lang="en-US" altLang="ko-KR" dirty="0"/>
              </a:p>
              <a:p>
                <a:pPr lvl="5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  <a:p>
                <a:pPr marL="2647800" lvl="6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C0F2F5D-A9C0-FB90-05B9-6BE49F1F9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CB89F0E-E4F9-E2D3-51F2-FCB445423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BILP method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개념 정리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1B46C5-D654-C123-5FC3-EE2B38D1BA0F}"/>
              </a:ext>
            </a:extLst>
          </p:cNvPr>
          <p:cNvSpPr txBox="1"/>
          <p:nvPr/>
        </p:nvSpPr>
        <p:spPr>
          <a:xfrm>
            <a:off x="1582327" y="590806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FD49E6-15E3-0252-953D-0D118D273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580" y="1364042"/>
            <a:ext cx="6200775" cy="18954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B6CD076-1F32-733A-1BA8-329EC8741D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986" y="4250418"/>
            <a:ext cx="2438400" cy="6667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74506838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AE5D0-04FC-BC51-FDCA-65CF515CB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96C38BD4-FBBC-FC7E-3641-35770F23CF73}"/>
              </a:ext>
            </a:extLst>
          </p:cNvPr>
          <p:cNvSpPr/>
          <p:nvPr/>
        </p:nvSpPr>
        <p:spPr bwMode="auto">
          <a:xfrm>
            <a:off x="164387" y="6327787"/>
            <a:ext cx="353431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D9148507-44EE-34F2-A5AB-35D425C35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1. Multiple Target Points</a:t>
            </a:r>
          </a:p>
          <a:p>
            <a:pPr lvl="1">
              <a:defRPr/>
            </a:pPr>
            <a:r>
              <a:rPr lang="en-US" altLang="ko-KR" dirty="0"/>
              <a:t>Single target</a:t>
            </a:r>
            <a:r>
              <a:rPr lang="ko-KR" altLang="en-US" dirty="0"/>
              <a:t>이 아닌 </a:t>
            </a:r>
            <a:r>
              <a:rPr lang="en-US" altLang="ko-KR" dirty="0"/>
              <a:t>J</a:t>
            </a:r>
            <a:r>
              <a:rPr lang="ko-KR" altLang="en-US" dirty="0"/>
              <a:t>개의 관심 지역이 있을 경우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>
              <a:defRPr/>
            </a:pPr>
            <a:r>
              <a:rPr lang="en-US" altLang="ko-KR" dirty="0"/>
              <a:t>2. Multiple sub-Constellations</a:t>
            </a:r>
          </a:p>
          <a:p>
            <a:pPr lvl="1">
              <a:defRPr/>
            </a:pPr>
            <a:r>
              <a:rPr lang="ko-KR" altLang="en-US" dirty="0"/>
              <a:t>단일 궤도가 아닌 </a:t>
            </a:r>
            <a:r>
              <a:rPr lang="en-US" altLang="ko-KR" dirty="0"/>
              <a:t>Z</a:t>
            </a:r>
            <a:r>
              <a:rPr lang="ko-KR" altLang="en-US" dirty="0"/>
              <a:t>개의 다른 종류의 궤도에 위성을 배치할 경우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r>
              <a:rPr lang="ko-KR" altLang="en-US" dirty="0"/>
              <a:t>                 </a:t>
            </a: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marL="576000" lvl="3" indent="0">
              <a:buNone/>
              <a:defRPr/>
            </a:pPr>
            <a:endParaRPr lang="en-US" altLang="ko-KR" dirty="0"/>
          </a:p>
          <a:p>
            <a:pPr lvl="5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647800" lvl="6" indent="0">
              <a:buNone/>
              <a:defRPr/>
            </a:pPr>
            <a:endParaRPr lang="en-US" altLang="ko-KR" dirty="0"/>
          </a:p>
          <a:p>
            <a:pPr marL="2647800" lvl="6" indent="0">
              <a:buNone/>
              <a:defRPr/>
            </a:pPr>
            <a:endParaRPr lang="en-US" altLang="ko-KR" dirty="0"/>
          </a:p>
          <a:p>
            <a:pPr marL="2647800" lvl="6" indent="0">
              <a:buNone/>
              <a:defRPr/>
            </a:pPr>
            <a:endParaRPr lang="en-US" altLang="ko-KR" dirty="0"/>
          </a:p>
          <a:p>
            <a:pPr marL="2647800" lvl="6" indent="0">
              <a:buNone/>
              <a:defRPr/>
            </a:pPr>
            <a:endParaRPr lang="en-US" altLang="ko-KR" dirty="0"/>
          </a:p>
          <a:p>
            <a:pPr marL="2647800" lvl="6" indent="0">
              <a:buNone/>
              <a:defRPr/>
            </a:pPr>
            <a:endParaRPr lang="en-US" altLang="ko-KR" dirty="0"/>
          </a:p>
          <a:p>
            <a:pPr marL="2647800" lvl="6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EC3EC0F-D9E4-C573-F537-527CCFA64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9341EA8-1ED8-C035-36FD-41382D302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BILP method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개념 정리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6C33B4-4D1F-1B1C-053E-1C7F653DFD9C}"/>
              </a:ext>
            </a:extLst>
          </p:cNvPr>
          <p:cNvSpPr txBox="1"/>
          <p:nvPr/>
        </p:nvSpPr>
        <p:spPr>
          <a:xfrm>
            <a:off x="1582327" y="590806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0119C35-3C8E-D3AB-1B89-AFB47A1FA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1811298"/>
            <a:ext cx="1588607" cy="16070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4476898-463F-DF02-2527-34D1B7725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57" y="4692970"/>
            <a:ext cx="3727214" cy="190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48058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F9AF0-9F2A-5FD7-BD7F-5779BF548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336FAAF3-1F66-84E2-0C54-145247EC77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50819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역행렬 계산 시 문제점</a:t>
                </a: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1"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값이 정수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이진수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로 나오지 않음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수학적인 계산으로 직접 구할 수 없음</a:t>
                </a:r>
                <a:endParaRPr lang="en-US" altLang="ko-KR" dirty="0"/>
              </a:p>
              <a:p>
                <a:pPr lvl="2">
                  <a:defRPr/>
                </a:pPr>
                <a:r>
                  <a:rPr lang="en-US" altLang="ko-KR" dirty="0" err="1"/>
                  <a:t>Matlab</a:t>
                </a:r>
                <a:r>
                  <a:rPr lang="ko-KR" altLang="en-US" dirty="0"/>
                  <a:t> </a:t>
                </a:r>
                <a:r>
                  <a:rPr lang="en-US" altLang="ko-KR" dirty="0" err="1"/>
                  <a:t>Libraray</a:t>
                </a:r>
                <a:r>
                  <a:rPr lang="ko-KR" altLang="en-US" dirty="0"/>
                  <a:t>에서 최적화 프로그램을 사용하여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과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의 조합을 계산해야 함</a:t>
                </a:r>
                <a:endParaRPr lang="en-US" altLang="ko-KR" dirty="0"/>
              </a:p>
              <a:p>
                <a:pPr lvl="2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lvl="7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74C486EF-A560-4921-9BFC-FB1F7367C8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50819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270F899-F90E-8ECA-8E58-AD98F2BDD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E5CA364-D51F-1D7A-4DD1-0E2DDA498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연구 방법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512AD7A-A390-4ECB-1F03-93A5721F4899}"/>
              </a:ext>
            </a:extLst>
          </p:cNvPr>
          <p:cNvSpPr/>
          <p:nvPr/>
        </p:nvSpPr>
        <p:spPr bwMode="auto">
          <a:xfrm>
            <a:off x="3881655" y="3326499"/>
            <a:ext cx="2119188" cy="16991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1F9D34C-5F65-03EE-3211-D22BCDE78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24" y="1486671"/>
            <a:ext cx="2267165" cy="6199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60676945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F79EC-B7A7-B481-5CE0-5FCCE0BF4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EC7ABC23-9736-9A60-6AB6-2075243C1E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50819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Matlab MILP Library</a:t>
                </a:r>
              </a:p>
              <a:p>
                <a:pPr lvl="1">
                  <a:defRPr/>
                </a:pPr>
                <a:r>
                  <a:rPr lang="en-US" altLang="ko-KR" dirty="0"/>
                  <a:t>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altLang="ko-KR" dirty="0"/>
                  <a:t> : binary</a:t>
                </a:r>
              </a:p>
              <a:p>
                <a:pPr lvl="1">
                  <a:defRPr/>
                </a:pPr>
                <a:r>
                  <a:rPr lang="en-US" altLang="ko-KR" dirty="0"/>
                  <a:t>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…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≤ </a:t>
                </a:r>
                <a:r>
                  <a:rPr lang="en-US" altLang="ko-KR" dirty="0"/>
                  <a:t>10</a:t>
                </a:r>
              </a:p>
              <a:p>
                <a:pPr lvl="1">
                  <a:defRPr/>
                </a:pPr>
                <a:r>
                  <a:rPr lang="en-US" altLang="ko-KR" dirty="0"/>
                  <a:t>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≥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1</a:t>
                </a:r>
              </a:p>
              <a:p>
                <a:pPr lvl="1"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lvl="7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0ABE0DC-BF59-6E11-8C60-CC7FAC8078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50819"/>
                <a:ext cx="8629838" cy="5376968"/>
              </a:xfrm>
              <a:blipFill>
                <a:blip r:embed="rId3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561E19-D461-26E0-E53B-34881F8E1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35E21C0-3CFA-7935-64D8-11F5DD5C5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연구 방법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DCB7E5A-7D4C-ED20-66D2-00DE195F0165}"/>
              </a:ext>
            </a:extLst>
          </p:cNvPr>
          <p:cNvSpPr/>
          <p:nvPr/>
        </p:nvSpPr>
        <p:spPr bwMode="auto">
          <a:xfrm>
            <a:off x="3881655" y="3326499"/>
            <a:ext cx="2119188" cy="16991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F270BB5-E20E-C13E-1F01-5FB724850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457" y="1009707"/>
            <a:ext cx="4036947" cy="53180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55753318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34224-2132-093A-D54F-5F8E7C4B8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2024701-3E1F-46A2-644E-308673EF3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50819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Matlab MILP coding</a:t>
            </a:r>
          </a:p>
          <a:p>
            <a:pPr marL="216000" lvl="1" indent="0">
              <a:buNone/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7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76348E-9C48-03A9-0800-1B5D0760C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7AF2197-FA00-6B91-10CD-82679E58C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연구 방법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F9FF1A-F2ED-C6F9-1585-EDB8CB93A9D8}"/>
              </a:ext>
            </a:extLst>
          </p:cNvPr>
          <p:cNvSpPr/>
          <p:nvPr/>
        </p:nvSpPr>
        <p:spPr bwMode="auto">
          <a:xfrm>
            <a:off x="3881655" y="3326499"/>
            <a:ext cx="2119188" cy="16991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4227E2-8A53-4B1B-3AC0-DBC5168C6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9" y="1426197"/>
            <a:ext cx="8393663" cy="526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698219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5DB02-7865-CD2F-B55D-982206F61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37E1AD21-C66B-259E-5AD5-11F51CB4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50819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MILP method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7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758FD0-D61C-B427-594E-652BD9B5A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52E46B2-48D8-DDFB-A853-39CF55CA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연구 방법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9AD6D5E-0C3E-F1B9-7AB8-92B165685CB6}"/>
              </a:ext>
            </a:extLst>
          </p:cNvPr>
          <p:cNvSpPr/>
          <p:nvPr/>
        </p:nvSpPr>
        <p:spPr bwMode="auto">
          <a:xfrm>
            <a:off x="3881655" y="3326499"/>
            <a:ext cx="2119188" cy="16991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6DAC0F-1340-9E04-974F-6C4F542DE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38" y="1653004"/>
            <a:ext cx="4474594" cy="39725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6AE5165-D0BF-2509-929D-ACF9D7277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226" y="2932924"/>
            <a:ext cx="3987350" cy="238863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5B7CA21-6E3B-8E3E-7985-7B5A4273B8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2226" y="1736333"/>
            <a:ext cx="3934693" cy="1127829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9F09DA2D-5E51-139E-E07E-B81BD675D345}"/>
              </a:ext>
            </a:extLst>
          </p:cNvPr>
          <p:cNvSpPr/>
          <p:nvPr/>
        </p:nvSpPr>
        <p:spPr bwMode="auto">
          <a:xfrm>
            <a:off x="5095982" y="1653004"/>
            <a:ext cx="3748554" cy="397259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C13A26-F5E5-72E8-E2AA-F2F7DD1F7B88}"/>
              </a:ext>
            </a:extLst>
          </p:cNvPr>
          <p:cNvSpPr txBox="1"/>
          <p:nvPr/>
        </p:nvSpPr>
        <p:spPr>
          <a:xfrm>
            <a:off x="1285006" y="572011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dirty="0"/>
              <a:t>논문의 결과</a:t>
            </a:r>
            <a:r>
              <a:rPr lang="en-US" altLang="ko-KR" dirty="0"/>
              <a:t>(N=18)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25CED6-C24C-5D5F-9870-856092E5D50D}"/>
              </a:ext>
            </a:extLst>
          </p:cNvPr>
          <p:cNvSpPr txBox="1"/>
          <p:nvPr/>
        </p:nvSpPr>
        <p:spPr>
          <a:xfrm>
            <a:off x="4674828" y="57303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dirty="0"/>
              <a:t>실제</a:t>
            </a:r>
            <a:r>
              <a:rPr lang="en-US" altLang="ko-KR" dirty="0"/>
              <a:t> </a:t>
            </a:r>
            <a:r>
              <a:rPr lang="ko-KR" altLang="en-US" dirty="0"/>
              <a:t>시뮬레이션 결과 예시</a:t>
            </a:r>
            <a:r>
              <a:rPr lang="en-US" altLang="ko-KR" dirty="0"/>
              <a:t>(N=35)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555583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ED06F-B328-103C-C68F-648796945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697A-A875-0C02-876F-3BD624078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D744CD7-C74D-4CAC-6286-17A846EC2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초록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B1B1B6AA-BA9F-0C70-F60C-C2C023A5F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A7EE74D-A188-5CD3-6FEB-7035F9556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265" y="1219631"/>
            <a:ext cx="7041834" cy="508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810861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99383-1AB1-3637-DBE9-250CAA064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732AA03-1C19-AF96-D0B2-61AC7BA196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BILP method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연구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방법</a:t>
            </a:r>
          </a:p>
        </p:txBody>
      </p:sp>
    </p:spTree>
    <p:extLst>
      <p:ext uri="{BB962C8B-B14F-4D97-AF65-F5344CB8AC3E}">
        <p14:creationId xmlns:p14="http://schemas.microsoft.com/office/powerpoint/2010/main" val="36491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EB738-2246-8FC4-E95E-DEA9C410A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E79053C-6A1F-C2C3-351E-A4A6F34BE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344044-3A88-B542-59A4-8BEDD645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연구 방법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8585719F-AC58-9DE6-D432-3F8C6ADBA2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BILP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연구 방법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1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r>
                      <a:rPr lang="ko-KR" altLang="en-US" sz="1800" i="1" dirty="0">
                        <a:latin typeface="Cambria Math" panose="02040503050406030204" pitchFamily="18" charset="0"/>
                      </a:rPr>
                      <m:t>앞의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슬라이드와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같이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를 계단식으로 작성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 lvl="1">
                  <a:defRPr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0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과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1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로 구성된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을 무작위로 배치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 lvl="2">
                  <a:defRPr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0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은 해당 위치에 위성이 존재하지 않음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 lvl="2">
                  <a:defRPr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1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은 해당 위치에 위성이 존재함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 lvl="1">
                  <a:defRPr/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위성수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 = 1)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를 점점 늘려가며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또는 줄여가며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)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를 계산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 lvl="2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: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전체 관측시간 동안 위성의 방문 횟수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 lvl="1">
                  <a:defRPr/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종료될 때까지 시뮬레이션을 진행하여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100%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커버리지를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달성하는 최소 위성 수 및 위성의 배치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)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를 도출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 lvl="2">
                  <a:defRPr/>
                </a:pPr>
                <a:endParaRPr lang="en-US" altLang="ko-KR" dirty="0">
                  <a:solidFill>
                    <a:schemeClr val="tx1"/>
                  </a:solidFill>
                </a:endParaRPr>
              </a:p>
              <a:p>
                <a:pPr lvl="3">
                  <a:defRPr/>
                </a:pPr>
                <a:endParaRPr lang="en-US" altLang="ko-KR" b="0" i="0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9344700-95E8-1733-642A-07C4530FBA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 r="-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AA8E822C-0AD7-9AB6-60B4-6D0110F86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87" y="4033839"/>
            <a:ext cx="620077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74090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E5FF-AD9E-A75D-B849-9C6A1963B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DB79BB7-723C-C940-6F2B-285CE084F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ADF0071-BA98-5FCC-13FA-C7B76434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연구 방법의 한계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88DDD99E-41A9-333B-4BE7-D49D1C3CF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BILP</a:t>
            </a:r>
            <a:r>
              <a:rPr lang="ko-KR" altLang="en-US" dirty="0">
                <a:solidFill>
                  <a:schemeClr val="tx1"/>
                </a:solidFill>
              </a:rPr>
              <a:t> 연구 방법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의 한계</a:t>
            </a:r>
            <a:endParaRPr lang="en-US" altLang="ko-KR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altLang="ko-KR" dirty="0">
                <a:solidFill>
                  <a:schemeClr val="tx1"/>
                </a:solidFill>
              </a:rPr>
              <a:t>100% </a:t>
            </a:r>
            <a:r>
              <a:rPr lang="ko-KR" altLang="en-US" dirty="0">
                <a:solidFill>
                  <a:schemeClr val="tx1"/>
                </a:solidFill>
              </a:rPr>
              <a:t>커버리지 달성을 위해 필요한 최소 위성 수의 지표가 불명확함</a:t>
            </a:r>
            <a:endParaRPr lang="en-US" altLang="ko-KR" dirty="0">
              <a:solidFill>
                <a:schemeClr val="tx1"/>
              </a:solidFill>
            </a:endParaRPr>
          </a:p>
          <a:p>
            <a:pPr lvl="2">
              <a:defRPr/>
            </a:pPr>
            <a:r>
              <a:rPr lang="ko-KR" altLang="en-US" b="0" i="0" dirty="0">
                <a:solidFill>
                  <a:schemeClr val="tx1"/>
                </a:solidFill>
                <a:effectLst/>
              </a:rPr>
              <a:t>논문에서는 최소 </a:t>
            </a:r>
            <a:r>
              <a:rPr lang="en-US" altLang="ko-KR" b="0" i="0" dirty="0">
                <a:solidFill>
                  <a:schemeClr val="tx1"/>
                </a:solidFill>
                <a:effectLst/>
              </a:rPr>
              <a:t>18</a:t>
            </a:r>
            <a:r>
              <a:rPr lang="ko-KR" altLang="en-US" b="0" i="0" dirty="0">
                <a:solidFill>
                  <a:schemeClr val="tx1"/>
                </a:solidFill>
                <a:effectLst/>
              </a:rPr>
              <a:t>대를 이용하여 </a:t>
            </a:r>
            <a:r>
              <a:rPr lang="en-US" altLang="ko-KR" b="0" i="0" dirty="0">
                <a:solidFill>
                  <a:schemeClr val="tx1"/>
                </a:solidFill>
                <a:effectLst/>
              </a:rPr>
              <a:t>100% </a:t>
            </a:r>
            <a:r>
              <a:rPr lang="ko-KR" altLang="en-US" b="0" i="0" dirty="0" err="1">
                <a:solidFill>
                  <a:schemeClr val="tx1"/>
                </a:solidFill>
                <a:effectLst/>
              </a:rPr>
              <a:t>커버리지를</a:t>
            </a:r>
            <a:r>
              <a:rPr lang="ko-KR" altLang="en-US" b="0" i="0" dirty="0">
                <a:solidFill>
                  <a:schemeClr val="tx1"/>
                </a:solidFill>
                <a:effectLst/>
              </a:rPr>
              <a:t> 달성했기 때문에 참고 자료로서 </a:t>
            </a:r>
            <a:r>
              <a:rPr lang="en-US" altLang="ko-KR" b="0" i="0" dirty="0">
                <a:solidFill>
                  <a:schemeClr val="tx1"/>
                </a:solidFill>
                <a:effectLst/>
              </a:rPr>
              <a:t>Example 1</a:t>
            </a:r>
            <a:r>
              <a:rPr lang="ko-KR" altLang="en-US" b="0" i="0" dirty="0">
                <a:solidFill>
                  <a:schemeClr val="tx1"/>
                </a:solidFill>
                <a:effectLst/>
              </a:rPr>
              <a:t>의 검증을 위해 </a:t>
            </a:r>
            <a:r>
              <a:rPr lang="en-US" altLang="ko-KR" b="0" i="0" dirty="0">
                <a:solidFill>
                  <a:schemeClr val="tx1"/>
                </a:solidFill>
                <a:effectLst/>
              </a:rPr>
              <a:t>18</a:t>
            </a:r>
            <a:r>
              <a:rPr lang="ko-KR" altLang="en-US" b="0" i="0" dirty="0">
                <a:solidFill>
                  <a:schemeClr val="tx1"/>
                </a:solidFill>
                <a:effectLst/>
              </a:rPr>
              <a:t>대부터 순차적으로  위성 수를 조정했지만</a:t>
            </a:r>
            <a:r>
              <a:rPr lang="en-US" altLang="ko-KR" b="0" i="0" dirty="0">
                <a:solidFill>
                  <a:schemeClr val="tx1"/>
                </a:solidFill>
                <a:effectLst/>
              </a:rPr>
              <a:t>, </a:t>
            </a:r>
            <a:r>
              <a:rPr lang="ko-KR" altLang="en-US" b="0" i="0" dirty="0">
                <a:solidFill>
                  <a:schemeClr val="tx1"/>
                </a:solidFill>
                <a:effectLst/>
              </a:rPr>
              <a:t>다른 상황의 운용 개념을 적용할 때에는 지표가 될 만한 위성 수를 알기가 어려움</a:t>
            </a: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1">
              <a:defRPr/>
            </a:pPr>
            <a:r>
              <a:rPr lang="ko-KR" altLang="en-US" b="0" i="0" dirty="0">
                <a:solidFill>
                  <a:schemeClr val="tx1"/>
                </a:solidFill>
                <a:effectLst/>
              </a:rPr>
              <a:t> 설정한 위성의 수로 </a:t>
            </a:r>
            <a:r>
              <a:rPr lang="en-US" altLang="ko-KR" b="0" i="0" dirty="0">
                <a:solidFill>
                  <a:schemeClr val="tx1"/>
                </a:solidFill>
                <a:effectLst/>
              </a:rPr>
              <a:t>100% </a:t>
            </a:r>
            <a:r>
              <a:rPr lang="ko-KR" altLang="en-US" b="0" i="0" dirty="0">
                <a:solidFill>
                  <a:schemeClr val="tx1"/>
                </a:solidFill>
                <a:effectLst/>
              </a:rPr>
              <a:t>커버리지 달성이 불가능한 경우엔 시뮬레이션이 무한반복으로 </a:t>
            </a:r>
            <a:r>
              <a:rPr lang="ko-KR" altLang="en-US" b="0" i="0" dirty="0" err="1">
                <a:solidFill>
                  <a:schemeClr val="tx1"/>
                </a:solidFill>
                <a:effectLst/>
              </a:rPr>
              <a:t>돌아감</a:t>
            </a: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2">
              <a:defRPr/>
            </a:pPr>
            <a:r>
              <a:rPr lang="ko-KR" altLang="en-US" b="0" i="0" dirty="0">
                <a:solidFill>
                  <a:schemeClr val="tx1"/>
                </a:solidFill>
                <a:effectLst/>
              </a:rPr>
              <a:t>종료될 때까지 무한정 기다릴 수는 없음</a:t>
            </a: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1">
              <a:defRPr/>
            </a:pPr>
            <a:endParaRPr lang="en-US" altLang="ko-KR" b="0" i="0" dirty="0">
              <a:solidFill>
                <a:schemeClr val="tx1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6B40EDCC-9B1B-AF1E-36BF-4DCE8F989F0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3854" y="3514429"/>
              <a:ext cx="8876292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82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16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051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795401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716280">
                      <a:extLst>
                        <a:ext uri="{9D8B030D-6E8A-4147-A177-3AD203B41FA5}">
                          <a16:colId xmlns:a16="http://schemas.microsoft.com/office/drawing/2014/main" val="1094042487"/>
                        </a:ext>
                      </a:extLst>
                    </a:gridCol>
                    <a:gridCol w="805180">
                      <a:extLst>
                        <a:ext uri="{9D8B030D-6E8A-4147-A177-3AD203B41FA5}">
                          <a16:colId xmlns:a16="http://schemas.microsoft.com/office/drawing/2014/main" val="247914931"/>
                        </a:ext>
                      </a:extLst>
                    </a:gridCol>
                    <a:gridCol w="938530">
                      <a:extLst>
                        <a:ext uri="{9D8B030D-6E8A-4147-A177-3AD203B41FA5}">
                          <a16:colId xmlns:a16="http://schemas.microsoft.com/office/drawing/2014/main" val="1248945644"/>
                        </a:ext>
                      </a:extLst>
                    </a:gridCol>
                    <a:gridCol w="938530">
                      <a:extLst>
                        <a:ext uri="{9D8B030D-6E8A-4147-A177-3AD203B41FA5}">
                          <a16:colId xmlns:a16="http://schemas.microsoft.com/office/drawing/2014/main" val="2763333994"/>
                        </a:ext>
                      </a:extLst>
                    </a:gridCol>
                    <a:gridCol w="938530">
                      <a:extLst>
                        <a:ext uri="{9D8B030D-6E8A-4147-A177-3AD203B41FA5}">
                          <a16:colId xmlns:a16="http://schemas.microsoft.com/office/drawing/2014/main" val="933691650"/>
                        </a:ext>
                      </a:extLst>
                    </a:gridCol>
                    <a:gridCol w="1027430">
                      <a:extLst>
                        <a:ext uri="{9D8B030D-6E8A-4147-A177-3AD203B41FA5}">
                          <a16:colId xmlns:a16="http://schemas.microsoft.com/office/drawing/2014/main" val="4068520409"/>
                        </a:ext>
                      </a:extLst>
                    </a:gridCol>
                    <a:gridCol w="405130">
                      <a:extLst>
                        <a:ext uri="{9D8B030D-6E8A-4147-A177-3AD203B41FA5}">
                          <a16:colId xmlns:a16="http://schemas.microsoft.com/office/drawing/2014/main" val="1072889695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ko-KR" sz="1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ko-KR" sz="1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3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3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반복횟수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24,896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132,547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693,311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35,424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989,758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8,099,355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2,584,473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7,976,769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17,328,781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-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13188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D64C9F03-949E-1FE4-EFFE-BC31A23155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1263949"/>
                  </p:ext>
                </p:extLst>
              </p:nvPr>
            </p:nvGraphicFramePr>
            <p:xfrm>
              <a:off x="133854" y="3514429"/>
              <a:ext cx="8876292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82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16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051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795401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716280">
                      <a:extLst>
                        <a:ext uri="{9D8B030D-6E8A-4147-A177-3AD203B41FA5}">
                          <a16:colId xmlns:a16="http://schemas.microsoft.com/office/drawing/2014/main" val="1094042487"/>
                        </a:ext>
                      </a:extLst>
                    </a:gridCol>
                    <a:gridCol w="805180">
                      <a:extLst>
                        <a:ext uri="{9D8B030D-6E8A-4147-A177-3AD203B41FA5}">
                          <a16:colId xmlns:a16="http://schemas.microsoft.com/office/drawing/2014/main" val="247914931"/>
                        </a:ext>
                      </a:extLst>
                    </a:gridCol>
                    <a:gridCol w="938530">
                      <a:extLst>
                        <a:ext uri="{9D8B030D-6E8A-4147-A177-3AD203B41FA5}">
                          <a16:colId xmlns:a16="http://schemas.microsoft.com/office/drawing/2014/main" val="1248945644"/>
                        </a:ext>
                      </a:extLst>
                    </a:gridCol>
                    <a:gridCol w="938530">
                      <a:extLst>
                        <a:ext uri="{9D8B030D-6E8A-4147-A177-3AD203B41FA5}">
                          <a16:colId xmlns:a16="http://schemas.microsoft.com/office/drawing/2014/main" val="2763333994"/>
                        </a:ext>
                      </a:extLst>
                    </a:gridCol>
                    <a:gridCol w="938530">
                      <a:extLst>
                        <a:ext uri="{9D8B030D-6E8A-4147-A177-3AD203B41FA5}">
                          <a16:colId xmlns:a16="http://schemas.microsoft.com/office/drawing/2014/main" val="933691650"/>
                        </a:ext>
                      </a:extLst>
                    </a:gridCol>
                    <a:gridCol w="1027430">
                      <a:extLst>
                        <a:ext uri="{9D8B030D-6E8A-4147-A177-3AD203B41FA5}">
                          <a16:colId xmlns:a16="http://schemas.microsoft.com/office/drawing/2014/main" val="4068520409"/>
                        </a:ext>
                      </a:extLst>
                    </a:gridCol>
                    <a:gridCol w="405130">
                      <a:extLst>
                        <a:ext uri="{9D8B030D-6E8A-4147-A177-3AD203B41FA5}">
                          <a16:colId xmlns:a16="http://schemas.microsoft.com/office/drawing/2014/main" val="1072889695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69" t="-2000" r="-1023077" b="-1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3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반복횟수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24,896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132,547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693,311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35,424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989,758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8,099,355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2,584,473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7,976,769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17,328,781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-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131883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41803817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AD7C2-20CE-B6E9-35EB-8D4E78A43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9BFAD3B-CFD7-E2A3-FD19-5C3F27F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AD2A7E6-BB25-65D2-6B68-9C1A118ED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연구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BE769D90-0B46-A8F6-11EB-BB54D357B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BILP</a:t>
            </a:r>
            <a:r>
              <a:rPr lang="ko-KR" altLang="en-US" dirty="0">
                <a:solidFill>
                  <a:schemeClr val="tx1"/>
                </a:solidFill>
              </a:rPr>
              <a:t> 연구 방법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</a:p>
          <a:p>
            <a:pPr lvl="1">
              <a:defRPr/>
            </a:pPr>
            <a:r>
              <a:rPr lang="en-US" altLang="ko-KR" dirty="0">
                <a:solidFill>
                  <a:schemeClr val="tx1"/>
                </a:solidFill>
              </a:rPr>
              <a:t>Seed Satellite</a:t>
            </a:r>
            <a:r>
              <a:rPr lang="ko-KR" altLang="en-US" dirty="0">
                <a:solidFill>
                  <a:schemeClr val="tx1"/>
                </a:solidFill>
              </a:rPr>
              <a:t>를 기준으로 </a:t>
            </a:r>
            <a:r>
              <a:rPr lang="en-US" altLang="ko-KR" dirty="0">
                <a:solidFill>
                  <a:schemeClr val="tx1"/>
                </a:solidFill>
              </a:rPr>
              <a:t>Coverage Timeline</a:t>
            </a:r>
            <a:r>
              <a:rPr lang="ko-KR" altLang="en-US" dirty="0">
                <a:solidFill>
                  <a:schemeClr val="tx1"/>
                </a:solidFill>
              </a:rPr>
              <a:t>을 시각적으로 출력</a:t>
            </a:r>
            <a:endParaRPr lang="en-US" altLang="ko-KR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chemeClr val="tx1"/>
                </a:solidFill>
              </a:rPr>
              <a:t>이를 바탕으로 다른 위성의 </a:t>
            </a:r>
            <a:r>
              <a:rPr lang="en-US" altLang="ko-KR" dirty="0">
                <a:solidFill>
                  <a:schemeClr val="tx1"/>
                </a:solidFill>
              </a:rPr>
              <a:t>Coverage Timeline</a:t>
            </a:r>
            <a:r>
              <a:rPr lang="ko-KR" altLang="en-US" dirty="0">
                <a:solidFill>
                  <a:schemeClr val="tx1"/>
                </a:solidFill>
              </a:rPr>
              <a:t>을 조정</a:t>
            </a:r>
            <a:endParaRPr lang="en-US" altLang="ko-KR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altLang="ko-KR" dirty="0">
                <a:solidFill>
                  <a:schemeClr val="tx1"/>
                </a:solidFill>
              </a:rPr>
              <a:t>100% </a:t>
            </a:r>
            <a:r>
              <a:rPr lang="ko-KR" altLang="en-US" dirty="0">
                <a:solidFill>
                  <a:schemeClr val="tx1"/>
                </a:solidFill>
              </a:rPr>
              <a:t>커버리지가 달성 되도록 빈 곳을 수작업으로 메꿈</a:t>
            </a:r>
            <a:endParaRPr lang="en-US" altLang="ko-KR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chemeClr val="tx1"/>
                </a:solidFill>
              </a:rPr>
              <a:t>전체 </a:t>
            </a:r>
            <a:r>
              <a:rPr lang="en-US" altLang="ko-KR" dirty="0">
                <a:solidFill>
                  <a:schemeClr val="tx1"/>
                </a:solidFill>
              </a:rPr>
              <a:t>n</a:t>
            </a:r>
            <a:r>
              <a:rPr lang="ko-KR" altLang="en-US" dirty="0">
                <a:solidFill>
                  <a:schemeClr val="tx1"/>
                </a:solidFill>
              </a:rPr>
              <a:t>에 대하여 위성의 배치 및 커버리지 비율을 실시간으로 계산</a:t>
            </a:r>
            <a:endParaRPr lang="en-US" altLang="ko-KR" dirty="0">
              <a:solidFill>
                <a:schemeClr val="tx1"/>
              </a:solidFill>
            </a:endParaRPr>
          </a:p>
          <a:p>
            <a:pPr lvl="2">
              <a:defRPr/>
            </a:pPr>
            <a:endParaRPr lang="en-US" altLang="ko-KR" b="0" i="0" dirty="0">
              <a:solidFill>
                <a:schemeClr val="tx1"/>
              </a:solidFill>
              <a:effectLst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6FB4339-3BE5-6636-8772-2E9FE8020064}"/>
              </a:ext>
            </a:extLst>
          </p:cNvPr>
          <p:cNvGrpSpPr/>
          <p:nvPr/>
        </p:nvGrpSpPr>
        <p:grpSpPr>
          <a:xfrm>
            <a:off x="159269" y="2908800"/>
            <a:ext cx="8727649" cy="1416740"/>
            <a:chOff x="159269" y="4294598"/>
            <a:chExt cx="8727649" cy="1416740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4E68940-4331-E502-EE4C-E3FC458A9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269" y="4294598"/>
              <a:ext cx="4412731" cy="141674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904D7B1-A187-736C-47E5-0B42CA3C0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74187" y="4294598"/>
              <a:ext cx="4412731" cy="14167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746038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0DCD5-0B64-3C4F-2DAA-49B7AEF55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881EA79-3BDA-B5D6-7C9D-A6291033A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A6AE70-F7DA-B1D4-6435-15C0EF5E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연구 방법의 한계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8BF6F732-CA20-B7DB-EB30-79D5E6543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BILP</a:t>
            </a:r>
            <a:r>
              <a:rPr lang="ko-KR" altLang="en-US" dirty="0">
                <a:solidFill>
                  <a:schemeClr val="tx1"/>
                </a:solidFill>
              </a:rPr>
              <a:t> 연구 방법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의 한계</a:t>
            </a:r>
            <a:endParaRPr lang="en-US" altLang="ko-KR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ko-KR" altLang="en-US" b="0" i="0" dirty="0">
                <a:solidFill>
                  <a:schemeClr val="tx1"/>
                </a:solidFill>
                <a:effectLst/>
              </a:rPr>
              <a:t>프로그래밍 없이 직접 </a:t>
            </a:r>
            <a:r>
              <a:rPr lang="en-US" altLang="ko-KR" b="0" i="0" dirty="0">
                <a:solidFill>
                  <a:schemeClr val="tx1"/>
                </a:solidFill>
                <a:effectLst/>
              </a:rPr>
              <a:t>Coverage Timeline</a:t>
            </a:r>
            <a:r>
              <a:rPr lang="ko-KR" altLang="en-US" b="0" i="0" dirty="0">
                <a:solidFill>
                  <a:schemeClr val="tx1"/>
                </a:solidFill>
                <a:effectLst/>
              </a:rPr>
              <a:t>을 작성하므로 결과의 신뢰성이 부족</a:t>
            </a: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1">
              <a:defRPr/>
            </a:pPr>
            <a:r>
              <a:rPr lang="ko-KR" altLang="en-US" b="0" i="0" dirty="0">
                <a:solidFill>
                  <a:schemeClr val="tx1"/>
                </a:solidFill>
                <a:effectLst/>
              </a:rPr>
              <a:t>필요한 위성 수가 증가함에 따라 결과 도출의 복잡함이 극대화됨</a:t>
            </a: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1">
              <a:defRPr/>
            </a:pPr>
            <a:r>
              <a:rPr lang="ko-KR" altLang="en-US" b="0" i="0" dirty="0">
                <a:solidFill>
                  <a:schemeClr val="tx1"/>
                </a:solidFill>
                <a:effectLst/>
              </a:rPr>
              <a:t>시간 및 정확도 측면에서 비효율적임</a:t>
            </a:r>
            <a:endParaRPr lang="en-US" altLang="ko-KR" b="0" i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13051167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51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설계기법 </a:t>
            </a:r>
            <a:r>
              <a:rPr lang="en-US" altLang="ko-KR" dirty="0"/>
              <a:t>flowchart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1F2328"/>
                </a:solidFill>
              </a:rPr>
              <a:t>Flowchart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b="0" i="0" dirty="0">
              <a:solidFill>
                <a:srgbClr val="1F2328"/>
              </a:solidFill>
              <a:effectLst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AEDC927C-457D-EA3B-F1AF-83E4CED9C430}"/>
              </a:ext>
            </a:extLst>
          </p:cNvPr>
          <p:cNvSpPr/>
          <p:nvPr/>
        </p:nvSpPr>
        <p:spPr bwMode="auto">
          <a:xfrm>
            <a:off x="541122" y="1323552"/>
            <a:ext cx="86965" cy="498210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1FE32F2D-82E4-B1EE-B854-2ADB78E14188}"/>
              </a:ext>
            </a:extLst>
          </p:cNvPr>
          <p:cNvSpPr/>
          <p:nvPr/>
        </p:nvSpPr>
        <p:spPr bwMode="auto">
          <a:xfrm>
            <a:off x="8424987" y="1209944"/>
            <a:ext cx="86965" cy="498210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BE8836-6DB0-E8B0-0D8F-7ECD252F34C3}"/>
              </a:ext>
            </a:extLst>
          </p:cNvPr>
          <p:cNvSpPr txBox="1"/>
          <p:nvPr/>
        </p:nvSpPr>
        <p:spPr>
          <a:xfrm>
            <a:off x="-200345" y="594872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8F2494-E35E-4931-8D4F-F299EAFF2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04" y="1582221"/>
            <a:ext cx="5819483" cy="347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05691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52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</a:t>
            </a:r>
            <a:r>
              <a:rPr lang="ko-KR" altLang="en-US" dirty="0"/>
              <a:t>설계기법 </a:t>
            </a:r>
            <a:r>
              <a:rPr lang="en-US" altLang="ko-KR" dirty="0"/>
              <a:t>flowchart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1F2328"/>
                </a:solidFill>
              </a:rPr>
              <a:t>Flowchart(Single &amp; Multiple targets)</a:t>
            </a:r>
            <a:endParaRPr lang="en-US" altLang="ko-KR" b="0" i="0" dirty="0">
              <a:solidFill>
                <a:srgbClr val="1F2328"/>
              </a:solidFill>
              <a:effectLst/>
            </a:endParaRPr>
          </a:p>
          <a:p>
            <a:pPr lvl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</a:endParaRPr>
          </a:p>
        </p:txBody>
      </p:sp>
      <p:sp>
        <p:nvSpPr>
          <p:cNvPr id="3" name="평행 사변형 2">
            <a:extLst>
              <a:ext uri="{FF2B5EF4-FFF2-40B4-BE49-F238E27FC236}">
                <a16:creationId xmlns:a16="http://schemas.microsoft.com/office/drawing/2014/main" id="{C5E9F8C1-BD44-0BEC-D5AA-B0F4EC2ABEEB}"/>
              </a:ext>
            </a:extLst>
          </p:cNvPr>
          <p:cNvSpPr/>
          <p:nvPr/>
        </p:nvSpPr>
        <p:spPr bwMode="auto">
          <a:xfrm>
            <a:off x="708917" y="1379088"/>
            <a:ext cx="1575768" cy="386074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E7E152C-B3BE-4DFA-8222-A06B9EA5E663}"/>
              </a:ext>
            </a:extLst>
          </p:cNvPr>
          <p:cNvGrpSpPr/>
          <p:nvPr/>
        </p:nvGrpSpPr>
        <p:grpSpPr>
          <a:xfrm>
            <a:off x="734848" y="1337663"/>
            <a:ext cx="1469204" cy="577081"/>
            <a:chOff x="3581400" y="1046837"/>
            <a:chExt cx="1469204" cy="57708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766AF33-C1AD-85D8-E109-D9AC9AC68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58006" y="1270926"/>
              <a:ext cx="139325" cy="13179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0E9BD2B-3F78-817B-150E-F318CA3ECAFC}"/>
                    </a:ext>
                  </a:extLst>
                </p:cNvPr>
                <p:cNvSpPr txBox="1"/>
                <p:nvPr/>
              </p:nvSpPr>
              <p:spPr>
                <a:xfrm>
                  <a:off x="3581400" y="1046837"/>
                  <a:ext cx="1469204" cy="5770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Input</a:t>
                  </a:r>
                </a:p>
                <a:p>
                  <a:pPr algn="ctr"/>
                  <a14:m>
                    <m:oMath xmlns:m="http://schemas.openxmlformats.org/officeDocument/2006/math">
                      <m:r>
                        <a:rPr lang="en-US" altLang="ko-KR" sz="1050" i="1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ko-KR" sz="1050" i="1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1050" i="1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ko-KR" sz="1050" i="1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ko-KR" sz="1050" i="1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050" dirty="0"/>
                        <m:t>œ</m:t>
                      </m:r>
                    </m:oMath>
                  </a14:m>
                  <a:r>
                    <a:rPr lang="en-US" altLang="ko-KR" sz="1050" dirty="0"/>
                    <a:t>,   , (</a:t>
                  </a:r>
                  <a14:m>
                    <m:oMath xmlns:m="http://schemas.openxmlformats.org/officeDocument/2006/math">
                      <m:r>
                        <a:rPr lang="en-US" altLang="ko-KR" sz="1050" i="1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a14:m>
                  <a:r>
                    <a:rPr lang="en-US" altLang="ko-KR" sz="1050" dirty="0"/>
                    <a:t>)</a:t>
                  </a:r>
                  <a:endParaRPr lang="ko-KR" altLang="en-US" sz="1050" dirty="0"/>
                </a:p>
                <a:p>
                  <a:pPr algn="ctr"/>
                  <a:endParaRPr lang="ko-KR" altLang="en-US" sz="105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0E9BD2B-3F78-817B-150E-F318CA3ECA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1400" y="1046837"/>
                  <a:ext cx="1469204" cy="57708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B560B21-E181-E4A0-A25D-487AEC4379B5}"/>
              </a:ext>
            </a:extLst>
          </p:cNvPr>
          <p:cNvCxnSpPr>
            <a:cxnSpLocks/>
          </p:cNvCxnSpPr>
          <p:nvPr/>
        </p:nvCxnSpPr>
        <p:spPr>
          <a:xfrm>
            <a:off x="1490657" y="1775500"/>
            <a:ext cx="6" cy="253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다이아몬드 15">
            <a:extLst>
              <a:ext uri="{FF2B5EF4-FFF2-40B4-BE49-F238E27FC236}">
                <a16:creationId xmlns:a16="http://schemas.microsoft.com/office/drawing/2014/main" id="{410DAF64-2F41-486F-FD40-89431A48FA67}"/>
              </a:ext>
            </a:extLst>
          </p:cNvPr>
          <p:cNvSpPr/>
          <p:nvPr/>
        </p:nvSpPr>
        <p:spPr bwMode="auto">
          <a:xfrm>
            <a:off x="942976" y="2028825"/>
            <a:ext cx="1076324" cy="549099"/>
          </a:xfrm>
          <a:prstGeom prst="diamond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6A5936-C7BA-40ED-3192-B64CABE6BD35}"/>
                  </a:ext>
                </a:extLst>
              </p:cNvPr>
              <p:cNvSpPr txBox="1"/>
              <p:nvPr/>
            </p:nvSpPr>
            <p:spPr>
              <a:xfrm>
                <a:off x="1090313" y="2181466"/>
                <a:ext cx="786112" cy="1828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ko-KR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6A5936-C7BA-40ED-3192-B64CABE6B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313" y="2181466"/>
                <a:ext cx="786112" cy="182871"/>
              </a:xfrm>
              <a:prstGeom prst="rect">
                <a:avLst/>
              </a:prstGeom>
              <a:blipFill>
                <a:blip r:embed="rId5"/>
                <a:stretch>
                  <a:fillRect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F77E666-26AD-B916-30C5-B8943DAD6EFC}"/>
              </a:ext>
            </a:extLst>
          </p:cNvPr>
          <p:cNvCxnSpPr>
            <a:cxnSpLocks/>
          </p:cNvCxnSpPr>
          <p:nvPr/>
        </p:nvCxnSpPr>
        <p:spPr>
          <a:xfrm>
            <a:off x="1490657" y="2577924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147421B-BDB8-85FD-473F-875BDBEBC522}"/>
              </a:ext>
            </a:extLst>
          </p:cNvPr>
          <p:cNvCxnSpPr>
            <a:cxnSpLocks/>
          </p:cNvCxnSpPr>
          <p:nvPr/>
        </p:nvCxnSpPr>
        <p:spPr>
          <a:xfrm>
            <a:off x="2039522" y="2301699"/>
            <a:ext cx="2619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DD505CA-00A6-728C-DBE2-CB257FC56A8F}"/>
              </a:ext>
            </a:extLst>
          </p:cNvPr>
          <p:cNvSpPr txBox="1"/>
          <p:nvPr/>
        </p:nvSpPr>
        <p:spPr>
          <a:xfrm>
            <a:off x="1471613" y="258656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781CB6-9C1B-AE3A-C82E-F07D0F905491}"/>
              </a:ext>
            </a:extLst>
          </p:cNvPr>
          <p:cNvSpPr txBox="1"/>
          <p:nvPr/>
        </p:nvSpPr>
        <p:spPr>
          <a:xfrm>
            <a:off x="1928512" y="2072555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3A8F0E-C81E-CC71-99E3-AA0A4C6B1F13}"/>
              </a:ext>
            </a:extLst>
          </p:cNvPr>
          <p:cNvSpPr/>
          <p:nvPr/>
        </p:nvSpPr>
        <p:spPr bwMode="auto">
          <a:xfrm>
            <a:off x="2312162" y="2056856"/>
            <a:ext cx="1307338" cy="5141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EECEB8-8D06-1F3F-6B32-FDBD9128C1C0}"/>
              </a:ext>
            </a:extLst>
          </p:cNvPr>
          <p:cNvSpPr txBox="1"/>
          <p:nvPr/>
        </p:nvSpPr>
        <p:spPr>
          <a:xfrm>
            <a:off x="2241659" y="2167871"/>
            <a:ext cx="14692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1F2328"/>
                </a:solidFill>
              </a:rPr>
              <a:t>Satellite invisible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A051509-1E88-EB12-A776-B801B91FE1E2}"/>
              </a:ext>
            </a:extLst>
          </p:cNvPr>
          <p:cNvSpPr/>
          <p:nvPr/>
        </p:nvSpPr>
        <p:spPr bwMode="auto">
          <a:xfrm>
            <a:off x="708437" y="2897044"/>
            <a:ext cx="1554926" cy="5141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338C3C-B62F-A938-0588-55416DE628CD}"/>
                  </a:ext>
                </a:extLst>
              </p:cNvPr>
              <p:cNvSpPr txBox="1"/>
              <p:nvPr/>
            </p:nvSpPr>
            <p:spPr>
              <a:xfrm>
                <a:off x="541122" y="2916094"/>
                <a:ext cx="1893621" cy="4444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0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 sz="1050" dirty="0"/>
                  <a:t> </a:t>
                </a:r>
                <a:r>
                  <a:rPr lang="en-US" altLang="ko-KR" sz="1050" dirty="0"/>
                  <a:t>: </a:t>
                </a:r>
              </a:p>
              <a:p>
                <a:pPr algn="ctr"/>
                <a:r>
                  <a:rPr lang="en-US" altLang="ko-KR" sz="1050" dirty="0"/>
                  <a:t>Access profile Saved</a:t>
                </a:r>
                <a:endParaRPr lang="ko-KR" altLang="en-US" sz="105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338C3C-B62F-A938-0588-55416DE62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22" y="2916094"/>
                <a:ext cx="1893621" cy="444481"/>
              </a:xfrm>
              <a:prstGeom prst="rect">
                <a:avLst/>
              </a:prstGeom>
              <a:blipFill>
                <a:blip r:embed="rId6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2AFD061C-8B01-D6DD-700D-166F0376FE0A}"/>
              </a:ext>
            </a:extLst>
          </p:cNvPr>
          <p:cNvCxnSpPr>
            <a:cxnSpLocks/>
          </p:cNvCxnSpPr>
          <p:nvPr/>
        </p:nvCxnSpPr>
        <p:spPr>
          <a:xfrm>
            <a:off x="1490657" y="3423325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다이아몬드 31">
            <a:extLst>
              <a:ext uri="{FF2B5EF4-FFF2-40B4-BE49-F238E27FC236}">
                <a16:creationId xmlns:a16="http://schemas.microsoft.com/office/drawing/2014/main" id="{6C8DBC0A-D168-2684-29D7-6569B3290794}"/>
              </a:ext>
            </a:extLst>
          </p:cNvPr>
          <p:cNvSpPr/>
          <p:nvPr/>
        </p:nvSpPr>
        <p:spPr bwMode="auto">
          <a:xfrm>
            <a:off x="942970" y="3733921"/>
            <a:ext cx="1076324" cy="549099"/>
          </a:xfrm>
          <a:prstGeom prst="diamond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3DF665B-6D87-409F-4FA4-C88DBF6C0918}"/>
                  </a:ext>
                </a:extLst>
              </p:cNvPr>
              <p:cNvSpPr txBox="1"/>
              <p:nvPr/>
            </p:nvSpPr>
            <p:spPr>
              <a:xfrm>
                <a:off x="1099832" y="3924662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3DF665B-6D87-409F-4FA4-C88DBF6C0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832" y="3924662"/>
                <a:ext cx="786112" cy="169277"/>
              </a:xfrm>
              <a:prstGeom prst="rect">
                <a:avLst/>
              </a:prstGeom>
              <a:blipFill>
                <a:blip r:embed="rId7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1BF00F4-11F8-3AF7-61A4-00FEBAC19E06}"/>
              </a:ext>
            </a:extLst>
          </p:cNvPr>
          <p:cNvCxnSpPr>
            <a:cxnSpLocks/>
          </p:cNvCxnSpPr>
          <p:nvPr/>
        </p:nvCxnSpPr>
        <p:spPr>
          <a:xfrm>
            <a:off x="2035937" y="4014241"/>
            <a:ext cx="2619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7B600A5-CA1F-1A30-BD3E-FAFD91BF2262}"/>
              </a:ext>
            </a:extLst>
          </p:cNvPr>
          <p:cNvSpPr txBox="1"/>
          <p:nvPr/>
        </p:nvSpPr>
        <p:spPr>
          <a:xfrm>
            <a:off x="1934452" y="3785097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8E7AC68-193F-16F3-0AE0-FD6E91927ECA}"/>
              </a:ext>
            </a:extLst>
          </p:cNvPr>
          <p:cNvSpPr/>
          <p:nvPr/>
        </p:nvSpPr>
        <p:spPr bwMode="auto">
          <a:xfrm>
            <a:off x="2312162" y="3757829"/>
            <a:ext cx="1307338" cy="5141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E2B348-8064-DCB1-E57D-A6738E0BEC78}"/>
                  </a:ext>
                </a:extLst>
              </p:cNvPr>
              <p:cNvSpPr txBox="1"/>
              <p:nvPr/>
            </p:nvSpPr>
            <p:spPr>
              <a:xfrm>
                <a:off x="2312162" y="3782917"/>
                <a:ext cx="1307338" cy="4444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0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1050" dirty="0">
                    <a:solidFill>
                      <a:srgbClr val="1F2328"/>
                    </a:solidFill>
                  </a:rPr>
                  <a:t> : </a:t>
                </a:r>
              </a:p>
              <a:p>
                <a:pPr algn="ctr"/>
                <a:r>
                  <a:rPr lang="en-US" altLang="ko-KR" sz="1050" dirty="0">
                    <a:solidFill>
                      <a:srgbClr val="1F2328"/>
                    </a:solidFill>
                  </a:rPr>
                  <a:t>Seed Satellite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E2B348-8064-DCB1-E57D-A6738E0BE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162" y="3782917"/>
                <a:ext cx="1307338" cy="444481"/>
              </a:xfrm>
              <a:prstGeom prst="rect">
                <a:avLst/>
              </a:prstGeom>
              <a:blipFill>
                <a:blip r:embed="rId8"/>
                <a:stretch>
                  <a:fillRect t="-1389" b="-41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0F4DAEAD-5BC8-5AAF-C8A6-42DE45B0995C}"/>
              </a:ext>
            </a:extLst>
          </p:cNvPr>
          <p:cNvCxnSpPr>
            <a:cxnSpLocks/>
          </p:cNvCxnSpPr>
          <p:nvPr/>
        </p:nvCxnSpPr>
        <p:spPr>
          <a:xfrm>
            <a:off x="2972905" y="4269603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다이아몬드 38">
            <a:extLst>
              <a:ext uri="{FF2B5EF4-FFF2-40B4-BE49-F238E27FC236}">
                <a16:creationId xmlns:a16="http://schemas.microsoft.com/office/drawing/2014/main" id="{58D1CD20-DFE2-FB67-E010-124BE3B1EA39}"/>
              </a:ext>
            </a:extLst>
          </p:cNvPr>
          <p:cNvSpPr/>
          <p:nvPr/>
        </p:nvSpPr>
        <p:spPr bwMode="auto">
          <a:xfrm>
            <a:off x="2434743" y="4580948"/>
            <a:ext cx="1076324" cy="549099"/>
          </a:xfrm>
          <a:prstGeom prst="diamond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3B3A6A5-8B18-3EE3-8449-D25C0598EDA4}"/>
                  </a:ext>
                </a:extLst>
              </p:cNvPr>
              <p:cNvSpPr txBox="1"/>
              <p:nvPr/>
            </p:nvSpPr>
            <p:spPr>
              <a:xfrm>
                <a:off x="2591825" y="4760584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]=1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3B3A6A5-8B18-3EE3-8449-D25C0598E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825" y="4760584"/>
                <a:ext cx="786112" cy="169277"/>
              </a:xfrm>
              <a:prstGeom prst="rect">
                <a:avLst/>
              </a:prstGeom>
              <a:blipFill>
                <a:blip r:embed="rId9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C942F0F5-5F59-4EC9-EA0F-6D4DB67970D5}"/>
              </a:ext>
            </a:extLst>
          </p:cNvPr>
          <p:cNvCxnSpPr>
            <a:cxnSpLocks/>
            <a:stCxn id="39" idx="3"/>
            <a:endCxn id="37" idx="3"/>
          </p:cNvCxnSpPr>
          <p:nvPr/>
        </p:nvCxnSpPr>
        <p:spPr>
          <a:xfrm flipV="1">
            <a:off x="3511067" y="4005158"/>
            <a:ext cx="108433" cy="850340"/>
          </a:xfrm>
          <a:prstGeom prst="bentConnector3">
            <a:avLst>
              <a:gd name="adj1" fmla="val 6993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E6D2F8B3-61CF-237D-0594-EBE799999CA4}"/>
              </a:ext>
            </a:extLst>
          </p:cNvPr>
          <p:cNvSpPr txBox="1"/>
          <p:nvPr/>
        </p:nvSpPr>
        <p:spPr>
          <a:xfrm>
            <a:off x="3604278" y="3775553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24EE27B-4B35-86E8-149D-F0C78696A6C3}"/>
                  </a:ext>
                </a:extLst>
              </p:cNvPr>
              <p:cNvSpPr txBox="1"/>
              <p:nvPr/>
            </p:nvSpPr>
            <p:spPr>
              <a:xfrm>
                <a:off x="3752298" y="3794269"/>
                <a:ext cx="786112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]=0)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24EE27B-4B35-86E8-149D-F0C78696A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298" y="3794269"/>
                <a:ext cx="786112" cy="153888"/>
              </a:xfrm>
              <a:prstGeom prst="rect">
                <a:avLst/>
              </a:prstGeom>
              <a:blipFill>
                <a:blip r:embed="rId10"/>
                <a:stretch>
                  <a:fillRect b="-38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02126F68-9905-DE64-71D1-7D4DE2A6A5CE}"/>
              </a:ext>
            </a:extLst>
          </p:cNvPr>
          <p:cNvSpPr txBox="1"/>
          <p:nvPr/>
        </p:nvSpPr>
        <p:spPr>
          <a:xfrm>
            <a:off x="2956306" y="512621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22FBA164-89CB-7E2E-901C-BACA478C1071}"/>
              </a:ext>
            </a:extLst>
          </p:cNvPr>
          <p:cNvCxnSpPr>
            <a:cxnSpLocks/>
          </p:cNvCxnSpPr>
          <p:nvPr/>
        </p:nvCxnSpPr>
        <p:spPr>
          <a:xfrm>
            <a:off x="2965438" y="5141365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순서도: 처리 69">
                <a:extLst>
                  <a:ext uri="{FF2B5EF4-FFF2-40B4-BE49-F238E27FC236}">
                    <a16:creationId xmlns:a16="http://schemas.microsoft.com/office/drawing/2014/main" id="{D56F3536-99A6-CBB4-6C7D-A36AA806414C}"/>
                  </a:ext>
                </a:extLst>
              </p:cNvPr>
              <p:cNvSpPr/>
              <p:nvPr/>
            </p:nvSpPr>
            <p:spPr bwMode="auto">
              <a:xfrm>
                <a:off x="942969" y="5458801"/>
                <a:ext cx="2727445" cy="814409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1200" dirty="0"/>
                  <a:t>Coverage Timeline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ko-KR" sz="105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altLang="ko-KR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ko-KR" altLang="en-US" sz="105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ko-KR" sz="105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ko-KR" altLang="en-US" sz="1050" i="0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sz="1050" b="0" i="0" dirty="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ko-KR" sz="1050" b="0" i="0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pt-BR" altLang="ko-KR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05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=1,2, …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70" name="순서도: 처리 69">
                <a:extLst>
                  <a:ext uri="{FF2B5EF4-FFF2-40B4-BE49-F238E27FC236}">
                    <a16:creationId xmlns:a16="http://schemas.microsoft.com/office/drawing/2014/main" id="{D56F3536-99A6-CBB4-6C7D-A36AA8064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2969" y="5458801"/>
                <a:ext cx="2727445" cy="814409"/>
              </a:xfrm>
              <a:prstGeom prst="flowChartProcess">
                <a:avLst/>
              </a:prstGeom>
              <a:blipFill>
                <a:blip r:embed="rId11"/>
                <a:stretch>
                  <a:fillRect t="-30147" b="-86765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순서도: 처리 70">
                <a:extLst>
                  <a:ext uri="{FF2B5EF4-FFF2-40B4-BE49-F238E27FC236}">
                    <a16:creationId xmlns:a16="http://schemas.microsoft.com/office/drawing/2014/main" id="{ECF4ED11-577A-A4FC-E1DA-E67193FFD795}"/>
                  </a:ext>
                </a:extLst>
              </p:cNvPr>
              <p:cNvSpPr/>
              <p:nvPr/>
            </p:nvSpPr>
            <p:spPr bwMode="auto">
              <a:xfrm>
                <a:off x="665575" y="4635153"/>
                <a:ext cx="1651342" cy="423504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0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=1, 2, … , 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ko-KR" sz="1050" dirty="0"/>
                  <a:t> :</a:t>
                </a:r>
              </a:p>
              <a:p>
                <a:pPr algn="ctr"/>
                <a:r>
                  <a:rPr lang="en-US" altLang="ko-KR" sz="1050" dirty="0"/>
                  <a:t>Normal Satellite </a:t>
                </a:r>
              </a:p>
              <a:p>
                <a:pPr algn="l"/>
                <a:endParaRPr lang="ko-KR" altLang="en-US" sz="1050" dirty="0"/>
              </a:p>
            </p:txBody>
          </p:sp>
        </mc:Choice>
        <mc:Fallback xmlns="">
          <p:sp>
            <p:nvSpPr>
              <p:cNvPr id="71" name="순서도: 처리 70">
                <a:extLst>
                  <a:ext uri="{FF2B5EF4-FFF2-40B4-BE49-F238E27FC236}">
                    <a16:creationId xmlns:a16="http://schemas.microsoft.com/office/drawing/2014/main" id="{ECF4ED11-577A-A4FC-E1DA-E67193FFD7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5575" y="4635153"/>
                <a:ext cx="1651342" cy="423504"/>
              </a:xfrm>
              <a:prstGeom prst="flowChartProcess">
                <a:avLst/>
              </a:prstGeom>
              <a:blipFill>
                <a:blip r:embed="rId12"/>
                <a:stretch>
                  <a:fillRect b="-5556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3A571695-8E3B-B0B7-3D03-184E71CFD9FB}"/>
              </a:ext>
            </a:extLst>
          </p:cNvPr>
          <p:cNvCxnSpPr>
            <a:cxnSpLocks/>
            <a:stCxn id="32" idx="2"/>
            <a:endCxn id="71" idx="0"/>
          </p:cNvCxnSpPr>
          <p:nvPr/>
        </p:nvCxnSpPr>
        <p:spPr>
          <a:xfrm>
            <a:off x="1481132" y="4283020"/>
            <a:ext cx="10114" cy="352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2FCECAD1-A06C-C8E4-5DC9-279FF09D3EA4}"/>
              </a:ext>
            </a:extLst>
          </p:cNvPr>
          <p:cNvSpPr txBox="1"/>
          <p:nvPr/>
        </p:nvSpPr>
        <p:spPr>
          <a:xfrm>
            <a:off x="1469820" y="4322744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B35A5DE9-4EF1-B86F-1642-ED07C411810B}"/>
              </a:ext>
            </a:extLst>
          </p:cNvPr>
          <p:cNvCxnSpPr>
            <a:cxnSpLocks/>
          </p:cNvCxnSpPr>
          <p:nvPr/>
        </p:nvCxnSpPr>
        <p:spPr>
          <a:xfrm>
            <a:off x="1487932" y="5058657"/>
            <a:ext cx="2725" cy="373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2" name="그림 81">
            <a:extLst>
              <a:ext uri="{FF2B5EF4-FFF2-40B4-BE49-F238E27FC236}">
                <a16:creationId xmlns:a16="http://schemas.microsoft.com/office/drawing/2014/main" id="{DD1BFD4B-78FB-538C-1FF4-C6AA95A3D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784" y="5899628"/>
            <a:ext cx="139325" cy="1317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E939265-A1A3-DCCF-0F2F-B54971A1BCA3}"/>
                  </a:ext>
                </a:extLst>
              </p:cNvPr>
              <p:cNvSpPr txBox="1"/>
              <p:nvPr/>
            </p:nvSpPr>
            <p:spPr>
              <a:xfrm>
                <a:off x="3018153" y="5830364"/>
                <a:ext cx="314347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E939265-A1A3-DCCF-0F2F-B54971A1B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153" y="5830364"/>
                <a:ext cx="314347" cy="261610"/>
              </a:xfrm>
              <a:prstGeom prst="rect">
                <a:avLst/>
              </a:prstGeom>
              <a:blipFill>
                <a:blip r:embed="rId1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8F3A83EE-7407-E256-3893-E5D0803218E7}"/>
              </a:ext>
            </a:extLst>
          </p:cNvPr>
          <p:cNvGrpSpPr/>
          <p:nvPr/>
        </p:nvGrpSpPr>
        <p:grpSpPr>
          <a:xfrm>
            <a:off x="3671144" y="1674661"/>
            <a:ext cx="1653331" cy="3906397"/>
            <a:chOff x="3528269" y="1503716"/>
            <a:chExt cx="1653331" cy="4258318"/>
          </a:xfrm>
        </p:grpSpPr>
        <p:cxnSp>
          <p:nvCxnSpPr>
            <p:cNvPr id="104" name="연결선: 꺾임 103">
              <a:extLst>
                <a:ext uri="{FF2B5EF4-FFF2-40B4-BE49-F238E27FC236}">
                  <a16:creationId xmlns:a16="http://schemas.microsoft.com/office/drawing/2014/main" id="{B51ECBE8-556F-1CDC-6C85-EE6AE8E9E77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921381" y="3111415"/>
              <a:ext cx="4257507" cy="1043732"/>
            </a:xfrm>
            <a:prstGeom prst="bentConnector3">
              <a:avLst>
                <a:gd name="adj1" fmla="val -338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화살표 연결선 106">
              <a:extLst>
                <a:ext uri="{FF2B5EF4-FFF2-40B4-BE49-F238E27FC236}">
                  <a16:creationId xmlns:a16="http://schemas.microsoft.com/office/drawing/2014/main" id="{F2299729-A1E0-7DBA-F792-AB2C8C4C8838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1503716"/>
              <a:ext cx="609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E2D10448-1B45-D26E-E616-00CBB195E4ED}"/>
              </a:ext>
            </a:extLst>
          </p:cNvPr>
          <p:cNvCxnSpPr>
            <a:cxnSpLocks/>
          </p:cNvCxnSpPr>
          <p:nvPr/>
        </p:nvCxnSpPr>
        <p:spPr>
          <a:xfrm>
            <a:off x="3670414" y="5960315"/>
            <a:ext cx="3148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다이아몬드 111">
            <a:extLst>
              <a:ext uri="{FF2B5EF4-FFF2-40B4-BE49-F238E27FC236}">
                <a16:creationId xmlns:a16="http://schemas.microsoft.com/office/drawing/2014/main" id="{5CEF9EC6-1469-252D-D11A-BA83A25D1A7B}"/>
              </a:ext>
            </a:extLst>
          </p:cNvPr>
          <p:cNvSpPr/>
          <p:nvPr/>
        </p:nvSpPr>
        <p:spPr bwMode="auto">
          <a:xfrm>
            <a:off x="3993348" y="5688347"/>
            <a:ext cx="1076324" cy="549099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D6FDEBC0-7B1D-76B5-933E-F84F421010F7}"/>
              </a:ext>
            </a:extLst>
          </p:cNvPr>
          <p:cNvCxnSpPr>
            <a:cxnSpLocks/>
          </p:cNvCxnSpPr>
          <p:nvPr/>
        </p:nvCxnSpPr>
        <p:spPr>
          <a:xfrm>
            <a:off x="5069672" y="5960315"/>
            <a:ext cx="3500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다이아몬드 115">
            <a:extLst>
              <a:ext uri="{FF2B5EF4-FFF2-40B4-BE49-F238E27FC236}">
                <a16:creationId xmlns:a16="http://schemas.microsoft.com/office/drawing/2014/main" id="{10B7E944-1873-7D68-4383-14AE8FFB5712}"/>
              </a:ext>
            </a:extLst>
          </p:cNvPr>
          <p:cNvSpPr/>
          <p:nvPr/>
        </p:nvSpPr>
        <p:spPr bwMode="auto">
          <a:xfrm>
            <a:off x="5419725" y="5688347"/>
            <a:ext cx="1076324" cy="549099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7D78A9B8-92BF-55C4-5AD2-ABC55CCF5188}"/>
              </a:ext>
            </a:extLst>
          </p:cNvPr>
          <p:cNvCxnSpPr>
            <a:cxnSpLocks/>
          </p:cNvCxnSpPr>
          <p:nvPr/>
        </p:nvCxnSpPr>
        <p:spPr>
          <a:xfrm>
            <a:off x="6496049" y="5960315"/>
            <a:ext cx="3500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D9025BE-7174-A2BD-247C-ACB965E3F369}"/>
                  </a:ext>
                </a:extLst>
              </p:cNvPr>
              <p:cNvSpPr txBox="1"/>
              <p:nvPr/>
            </p:nvSpPr>
            <p:spPr>
              <a:xfrm>
                <a:off x="4155569" y="5875676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D9025BE-7174-A2BD-247C-ACB965E3F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569" y="5875676"/>
                <a:ext cx="786112" cy="169277"/>
              </a:xfrm>
              <a:prstGeom prst="rect">
                <a:avLst/>
              </a:prstGeom>
              <a:blipFill>
                <a:blip r:embed="rId14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7574C8AB-1D12-BA0C-F70A-6D4399BF06C6}"/>
                  </a:ext>
                </a:extLst>
              </p:cNvPr>
              <p:cNvSpPr txBox="1"/>
              <p:nvPr/>
            </p:nvSpPr>
            <p:spPr>
              <a:xfrm>
                <a:off x="5585068" y="5875676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7574C8AB-1D12-BA0C-F70A-6D4399BF0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068" y="5875676"/>
                <a:ext cx="786112" cy="169277"/>
              </a:xfrm>
              <a:prstGeom prst="rect">
                <a:avLst/>
              </a:prstGeom>
              <a:blipFill>
                <a:blip r:embed="rId15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TextBox 119">
            <a:extLst>
              <a:ext uri="{FF2B5EF4-FFF2-40B4-BE49-F238E27FC236}">
                <a16:creationId xmlns:a16="http://schemas.microsoft.com/office/drawing/2014/main" id="{65957841-4DF3-D164-B00E-6EC43D5F94D8}"/>
              </a:ext>
            </a:extLst>
          </p:cNvPr>
          <p:cNvSpPr txBox="1"/>
          <p:nvPr/>
        </p:nvSpPr>
        <p:spPr>
          <a:xfrm>
            <a:off x="4505325" y="6192046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9006794B-BE68-E121-42CD-FA0828D802EA}"/>
              </a:ext>
            </a:extLst>
          </p:cNvPr>
          <p:cNvCxnSpPr>
            <a:cxnSpLocks/>
          </p:cNvCxnSpPr>
          <p:nvPr/>
        </p:nvCxnSpPr>
        <p:spPr>
          <a:xfrm>
            <a:off x="4535005" y="6244543"/>
            <a:ext cx="0" cy="201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A2A4B6F-33C4-CF8F-F885-C1BA25CC9970}"/>
              </a:ext>
            </a:extLst>
          </p:cNvPr>
          <p:cNvSpPr txBox="1"/>
          <p:nvPr/>
        </p:nvSpPr>
        <p:spPr>
          <a:xfrm>
            <a:off x="5920340" y="6192046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3A967B5F-81E0-F1C3-56EF-DAB051B3A3A4}"/>
              </a:ext>
            </a:extLst>
          </p:cNvPr>
          <p:cNvCxnSpPr>
            <a:cxnSpLocks/>
          </p:cNvCxnSpPr>
          <p:nvPr/>
        </p:nvCxnSpPr>
        <p:spPr>
          <a:xfrm>
            <a:off x="5950020" y="6244543"/>
            <a:ext cx="0" cy="201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76C732E4-32D7-16D5-D372-0D5D5F50FE38}"/>
                  </a:ext>
                </a:extLst>
              </p:cNvPr>
              <p:cNvSpPr txBox="1"/>
              <p:nvPr/>
            </p:nvSpPr>
            <p:spPr>
              <a:xfrm>
                <a:off x="4050498" y="6481262"/>
                <a:ext cx="96202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rgbClr val="1F2328"/>
                    </a:solidFill>
                  </a:rPr>
                  <a:t>Satellite invisible</a:t>
                </a:r>
              </a:p>
              <a:p>
                <a:pPr algn="ctr"/>
                <a:r>
                  <a:rPr lang="en-US" altLang="ko-KR" sz="800" dirty="0">
                    <a:solidFill>
                      <a:srgbClr val="1F2328"/>
                    </a:solidFill>
                  </a:rPr>
                  <a:t>(at the </a:t>
                </a:r>
                <a14:m>
                  <m:oMath xmlns:m="http://schemas.openxmlformats.org/officeDocument/2006/math">
                    <m:r>
                      <a:rPr lang="en-US" altLang="ko-KR" sz="800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)</a:t>
                </a:r>
                <a:endParaRPr lang="ko-KR" altLang="en-US" sz="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76C732E4-32D7-16D5-D372-0D5D5F50F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498" y="6481262"/>
                <a:ext cx="962024" cy="338554"/>
              </a:xfrm>
              <a:prstGeom prst="rect">
                <a:avLst/>
              </a:prstGeom>
              <a:blipFill>
                <a:blip r:embed="rId16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TextBox 125">
            <a:extLst>
              <a:ext uri="{FF2B5EF4-FFF2-40B4-BE49-F238E27FC236}">
                <a16:creationId xmlns:a16="http://schemas.microsoft.com/office/drawing/2014/main" id="{AF4C3AF2-345B-5D27-4A31-513566DB757A}"/>
              </a:ext>
            </a:extLst>
          </p:cNvPr>
          <p:cNvSpPr txBox="1"/>
          <p:nvPr/>
        </p:nvSpPr>
        <p:spPr>
          <a:xfrm>
            <a:off x="5487587" y="6524287"/>
            <a:ext cx="962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solidFill>
                  <a:srgbClr val="1F2328"/>
                </a:solidFill>
              </a:rPr>
              <a:t>Single fold</a:t>
            </a:r>
            <a:endParaRPr lang="ko-KR" altLang="en-US" sz="8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52BA1A9-74E6-2297-8AE7-631DD16200A4}"/>
              </a:ext>
            </a:extLst>
          </p:cNvPr>
          <p:cNvSpPr txBox="1"/>
          <p:nvPr/>
        </p:nvSpPr>
        <p:spPr>
          <a:xfrm>
            <a:off x="5050914" y="575265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D5ED955-EC6E-A2FF-2DBF-5127008EE590}"/>
              </a:ext>
            </a:extLst>
          </p:cNvPr>
          <p:cNvSpPr txBox="1"/>
          <p:nvPr/>
        </p:nvSpPr>
        <p:spPr>
          <a:xfrm>
            <a:off x="6479955" y="575842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66D9E05A-9A0D-9D29-5B0F-02048F3DCDE4}"/>
                  </a:ext>
                </a:extLst>
              </p:cNvPr>
              <p:cNvSpPr txBox="1"/>
              <p:nvPr/>
            </p:nvSpPr>
            <p:spPr>
              <a:xfrm>
                <a:off x="6866770" y="5830364"/>
                <a:ext cx="98116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800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-fold</a:t>
                </a:r>
              </a:p>
              <a:p>
                <a:pPr algn="ctr"/>
                <a:r>
                  <a:rPr lang="en-US" altLang="ko-KR" sz="800" dirty="0">
                    <a:solidFill>
                      <a:srgbClr val="1F2328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800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 = 2, 3, 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)</a:t>
                </a:r>
                <a:endParaRPr lang="ko-KR" altLang="en-US" sz="800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66D9E05A-9A0D-9D29-5B0F-02048F3DC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770" y="5830364"/>
                <a:ext cx="981169" cy="338554"/>
              </a:xfrm>
              <a:prstGeom prst="rect">
                <a:avLst/>
              </a:prstGeom>
              <a:blipFill>
                <a:blip r:embed="rId17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순서도: 처리 129">
                <a:extLst>
                  <a:ext uri="{FF2B5EF4-FFF2-40B4-BE49-F238E27FC236}">
                    <a16:creationId xmlns:a16="http://schemas.microsoft.com/office/drawing/2014/main" id="{08C12F76-C4C5-F520-BE2F-95A5D9778E57}"/>
                  </a:ext>
                </a:extLst>
              </p:cNvPr>
              <p:cNvSpPr/>
              <p:nvPr/>
            </p:nvSpPr>
            <p:spPr bwMode="auto">
              <a:xfrm>
                <a:off x="5353502" y="1359717"/>
                <a:ext cx="2727445" cy="686774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1200" dirty="0"/>
                  <a:t>For all Target points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ko-KR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ko-KR" altLang="en-US" sz="105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  <m:aln/>
                            </m:rPr>
                            <a:rPr lang="en-US" altLang="ko-KR" sz="1050" b="0" i="0" dirty="0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ko-KR" altLang="en-US" sz="1050" i="0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altLang="ko-KR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sz="105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30" name="순서도: 처리 129">
                <a:extLst>
                  <a:ext uri="{FF2B5EF4-FFF2-40B4-BE49-F238E27FC236}">
                    <a16:creationId xmlns:a16="http://schemas.microsoft.com/office/drawing/2014/main" id="{08C12F76-C4C5-F520-BE2F-95A5D9778E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53502" y="1359717"/>
                <a:ext cx="2727445" cy="686774"/>
              </a:xfrm>
              <a:prstGeom prst="flowChartProcess">
                <a:avLst/>
              </a:prstGeom>
              <a:blipFill>
                <a:blip r:embed="rId18"/>
                <a:stretch>
                  <a:fillRect t="-51304" b="-105217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2" name="그림 131">
            <a:extLst>
              <a:ext uri="{FF2B5EF4-FFF2-40B4-BE49-F238E27FC236}">
                <a16:creationId xmlns:a16="http://schemas.microsoft.com/office/drawing/2014/main" id="{C14D2BF7-BD61-2F16-0CB8-377D48D17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457" y="1683143"/>
            <a:ext cx="139325" cy="131794"/>
          </a:xfrm>
          <a:prstGeom prst="rect">
            <a:avLst/>
          </a:prstGeom>
        </p:spPr>
      </p:pic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6308B0BE-0C20-A423-1907-DDA65C2A57F8}"/>
              </a:ext>
            </a:extLst>
          </p:cNvPr>
          <p:cNvSpPr/>
          <p:nvPr/>
        </p:nvSpPr>
        <p:spPr bwMode="auto">
          <a:xfrm>
            <a:off x="229041" y="1455346"/>
            <a:ext cx="319320" cy="481786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AEDC927C-457D-EA3B-F1AF-83E4CED9C430}"/>
              </a:ext>
            </a:extLst>
          </p:cNvPr>
          <p:cNvSpPr/>
          <p:nvPr/>
        </p:nvSpPr>
        <p:spPr bwMode="auto">
          <a:xfrm>
            <a:off x="541122" y="1323552"/>
            <a:ext cx="86965" cy="498210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351F465B-CA6E-C2EC-AC48-948C5DBD96D9}"/>
              </a:ext>
            </a:extLst>
          </p:cNvPr>
          <p:cNvSpPr/>
          <p:nvPr/>
        </p:nvSpPr>
        <p:spPr bwMode="auto">
          <a:xfrm rot="10800000">
            <a:off x="8434549" y="1561752"/>
            <a:ext cx="319320" cy="3275014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1FE32F2D-82E4-B1EE-B854-2ADB78E14188}"/>
              </a:ext>
            </a:extLst>
          </p:cNvPr>
          <p:cNvSpPr/>
          <p:nvPr/>
        </p:nvSpPr>
        <p:spPr bwMode="auto">
          <a:xfrm>
            <a:off x="8397180" y="1197127"/>
            <a:ext cx="86965" cy="498210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5613041E-BE58-7841-B37E-26A362B8E012}"/>
              </a:ext>
            </a:extLst>
          </p:cNvPr>
          <p:cNvSpPr/>
          <p:nvPr/>
        </p:nvSpPr>
        <p:spPr bwMode="auto">
          <a:xfrm>
            <a:off x="41298" y="3543300"/>
            <a:ext cx="446343" cy="8290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009B86F-B3C0-914B-CD0E-20BB112879D7}"/>
              </a:ext>
            </a:extLst>
          </p:cNvPr>
          <p:cNvSpPr txBox="1"/>
          <p:nvPr/>
        </p:nvSpPr>
        <p:spPr>
          <a:xfrm>
            <a:off x="-238504" y="3652930"/>
            <a:ext cx="96969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</a:rPr>
              <a:t>Single </a:t>
            </a:r>
          </a:p>
          <a:p>
            <a:pPr algn="ctr"/>
            <a:r>
              <a:rPr lang="en-US" altLang="ko-KR" sz="1050" dirty="0">
                <a:solidFill>
                  <a:srgbClr val="FF0000"/>
                </a:solidFill>
              </a:rPr>
              <a:t>Target </a:t>
            </a:r>
          </a:p>
          <a:p>
            <a:pPr algn="ctr"/>
            <a:r>
              <a:rPr lang="en-US" altLang="ko-KR" sz="1050" dirty="0">
                <a:solidFill>
                  <a:srgbClr val="FF0000"/>
                </a:solidFill>
              </a:rPr>
              <a:t>point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93DA9546-3C92-6F3F-BF0C-C25BC0FE5F95}"/>
              </a:ext>
            </a:extLst>
          </p:cNvPr>
          <p:cNvSpPr/>
          <p:nvPr/>
        </p:nvSpPr>
        <p:spPr bwMode="auto">
          <a:xfrm>
            <a:off x="8570270" y="2843160"/>
            <a:ext cx="446343" cy="8290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C57F7FD-3851-0A57-8A66-6EA19DD29067}"/>
              </a:ext>
            </a:extLst>
          </p:cNvPr>
          <p:cNvSpPr txBox="1"/>
          <p:nvPr/>
        </p:nvSpPr>
        <p:spPr>
          <a:xfrm>
            <a:off x="8290468" y="2952790"/>
            <a:ext cx="96969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0070C0"/>
                </a:solidFill>
              </a:rPr>
              <a:t>Multiple </a:t>
            </a:r>
          </a:p>
          <a:p>
            <a:pPr algn="ctr"/>
            <a:r>
              <a:rPr lang="en-US" altLang="ko-KR" sz="1050" dirty="0">
                <a:solidFill>
                  <a:srgbClr val="0070C0"/>
                </a:solidFill>
              </a:rPr>
              <a:t>Target </a:t>
            </a:r>
          </a:p>
          <a:p>
            <a:pPr algn="ctr"/>
            <a:r>
              <a:rPr lang="en-US" altLang="ko-KR" sz="1050" dirty="0">
                <a:solidFill>
                  <a:srgbClr val="0070C0"/>
                </a:solidFill>
              </a:rPr>
              <a:t>points</a:t>
            </a:r>
            <a:endParaRPr lang="ko-KR" altLang="en-US" sz="1050" dirty="0">
              <a:solidFill>
                <a:srgbClr val="0070C0"/>
              </a:solidFill>
            </a:endParaRPr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C660ED55-83CA-BA31-5AB1-FE3833E0CC78}"/>
              </a:ext>
            </a:extLst>
          </p:cNvPr>
          <p:cNvCxnSpPr>
            <a:cxnSpLocks/>
          </p:cNvCxnSpPr>
          <p:nvPr/>
        </p:nvCxnSpPr>
        <p:spPr>
          <a:xfrm>
            <a:off x="5967843" y="2046491"/>
            <a:ext cx="2725" cy="373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4878576A-4DF7-994A-F0D2-6A9C8D5149D2}"/>
              </a:ext>
            </a:extLst>
          </p:cNvPr>
          <p:cNvCxnSpPr>
            <a:cxnSpLocks/>
          </p:cNvCxnSpPr>
          <p:nvPr/>
        </p:nvCxnSpPr>
        <p:spPr>
          <a:xfrm>
            <a:off x="7501523" y="2040733"/>
            <a:ext cx="2725" cy="373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순서도: 처리 156">
                <a:extLst>
                  <a:ext uri="{FF2B5EF4-FFF2-40B4-BE49-F238E27FC236}">
                    <a16:creationId xmlns:a16="http://schemas.microsoft.com/office/drawing/2014/main" id="{6A214227-4540-EBEB-7971-73D710863F9D}"/>
                  </a:ext>
                </a:extLst>
              </p:cNvPr>
              <p:cNvSpPr/>
              <p:nvPr/>
            </p:nvSpPr>
            <p:spPr bwMode="auto">
              <a:xfrm>
                <a:off x="5191656" y="2425134"/>
                <a:ext cx="1338432" cy="850551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200" dirty="0"/>
                  <a:t>Coverage 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200" dirty="0"/>
                  <a:t> = </a:t>
                </a:r>
                <a14:m>
                  <m:oMath xmlns:m="http://schemas.openxmlformats.org/officeDocument/2006/math">
                    <m:r>
                      <a:rPr lang="en-US" altLang="ko-KR" sz="120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altLang="ko-KR" sz="1200" dirty="0"/>
                  <a:t>  </a:t>
                </a:r>
              </a:p>
            </p:txBody>
          </p:sp>
        </mc:Choice>
        <mc:Fallback xmlns="">
          <p:sp>
            <p:nvSpPr>
              <p:cNvPr id="157" name="순서도: 처리 156">
                <a:extLst>
                  <a:ext uri="{FF2B5EF4-FFF2-40B4-BE49-F238E27FC236}">
                    <a16:creationId xmlns:a16="http://schemas.microsoft.com/office/drawing/2014/main" id="{6A214227-4540-EBEB-7971-73D710863F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91656" y="2425134"/>
                <a:ext cx="1338432" cy="850551"/>
              </a:xfrm>
              <a:prstGeom prst="flowChartProcess">
                <a:avLst/>
              </a:prstGeom>
              <a:blipFill>
                <a:blip r:embed="rId19"/>
                <a:stretch>
                  <a:fillRect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3BADF9A3-7CB0-E480-4EB4-4BB6F2D76218}"/>
                  </a:ext>
                </a:extLst>
              </p:cNvPr>
              <p:cNvSpPr txBox="1"/>
              <p:nvPr/>
            </p:nvSpPr>
            <p:spPr>
              <a:xfrm>
                <a:off x="5867097" y="2708952"/>
                <a:ext cx="625622" cy="525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sz="1000" i="1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3BADF9A3-7CB0-E480-4EB4-4BB6F2D76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097" y="2708952"/>
                <a:ext cx="625622" cy="525208"/>
              </a:xfrm>
              <a:prstGeom prst="rect">
                <a:avLst/>
              </a:prstGeom>
              <a:blipFill>
                <a:blip r:embed="rId20"/>
                <a:stretch>
                  <a:fillRect l="-61165" t="-86207" r="-65049" b="-1367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" name="순서도: 처리 164">
            <a:extLst>
              <a:ext uri="{FF2B5EF4-FFF2-40B4-BE49-F238E27FC236}">
                <a16:creationId xmlns:a16="http://schemas.microsoft.com/office/drawing/2014/main" id="{34E472D3-9D69-EEC7-F4D6-47A467AA5FC5}"/>
              </a:ext>
            </a:extLst>
          </p:cNvPr>
          <p:cNvSpPr/>
          <p:nvPr/>
        </p:nvSpPr>
        <p:spPr bwMode="auto">
          <a:xfrm>
            <a:off x="6700464" y="2424392"/>
            <a:ext cx="1639845" cy="849083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200000"/>
              </a:lnSpc>
            </a:pPr>
            <a:endParaRPr lang="en-US" altLang="ko-KR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9395F199-9AC6-26C1-3450-28BA2A2BB985}"/>
                  </a:ext>
                </a:extLst>
              </p:cNvPr>
              <p:cNvSpPr txBox="1"/>
              <p:nvPr/>
            </p:nvSpPr>
            <p:spPr>
              <a:xfrm>
                <a:off x="6987377" y="2717445"/>
                <a:ext cx="1078935" cy="525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pt-BR" altLang="ko-KR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pt-BR" altLang="ko-KR" sz="1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sz="1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9395F199-9AC6-26C1-3450-28BA2A2BB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7377" y="2717445"/>
                <a:ext cx="1078935" cy="525208"/>
              </a:xfrm>
              <a:prstGeom prst="rect">
                <a:avLst/>
              </a:prstGeom>
              <a:blipFill>
                <a:blip r:embed="rId21"/>
                <a:stretch>
                  <a:fillRect l="-36723" t="-87209" r="-64972" b="-1395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B5B8EEBC-2FD9-20B0-2CAA-8382D53AC9BA}"/>
                  </a:ext>
                </a:extLst>
              </p:cNvPr>
              <p:cNvSpPr txBox="1"/>
              <p:nvPr/>
            </p:nvSpPr>
            <p:spPr>
              <a:xfrm>
                <a:off x="6626526" y="2357186"/>
                <a:ext cx="1454392" cy="7727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200000"/>
                  </a:lnSpc>
                </a:pPr>
                <a:r>
                  <a:rPr lang="en-US" altLang="ko-KR" sz="1200" dirty="0"/>
                  <a:t>      Cost :</a:t>
                </a:r>
                <a:endParaRPr lang="en-US" altLang="ko-KR" sz="1100" dirty="0"/>
              </a:p>
              <a:p>
                <a:pPr>
                  <a:lnSpc>
                    <a:spcPct val="200000"/>
                  </a:lnSpc>
                </a:pPr>
                <a:r>
                  <a:rPr lang="pt-BR" altLang="ko-KR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200" dirty="0"/>
                  <a:t> =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B5B8EEBC-2FD9-20B0-2CAA-8382D53AC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526" y="2357186"/>
                <a:ext cx="1454392" cy="772712"/>
              </a:xfrm>
              <a:prstGeom prst="rect">
                <a:avLst/>
              </a:prstGeom>
              <a:blipFill>
                <a:blip r:embed="rId2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순서도: 처리 167">
                <a:extLst>
                  <a:ext uri="{FF2B5EF4-FFF2-40B4-BE49-F238E27FC236}">
                    <a16:creationId xmlns:a16="http://schemas.microsoft.com/office/drawing/2014/main" id="{0E43260F-1A26-9884-4A8E-05BA08ED3A10}"/>
                  </a:ext>
                </a:extLst>
              </p:cNvPr>
              <p:cNvSpPr/>
              <p:nvPr/>
            </p:nvSpPr>
            <p:spPr bwMode="auto">
              <a:xfrm>
                <a:off x="5382851" y="3556732"/>
                <a:ext cx="2727445" cy="398193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≜</m:t>
                    </m:r>
                    <m:sSub>
                      <m:sSubPr>
                        <m:ctrlPr>
                          <a:rPr lang="pt-BR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200" dirty="0"/>
                  <a:t> 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168" name="순서도: 처리 167">
                <a:extLst>
                  <a:ext uri="{FF2B5EF4-FFF2-40B4-BE49-F238E27FC236}">
                    <a16:creationId xmlns:a16="http://schemas.microsoft.com/office/drawing/2014/main" id="{0E43260F-1A26-9884-4A8E-05BA08ED3A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82851" y="3556732"/>
                <a:ext cx="2727445" cy="398193"/>
              </a:xfrm>
              <a:prstGeom prst="flowChartProcess">
                <a:avLst/>
              </a:prstGeom>
              <a:blipFill>
                <a:blip r:embed="rId23"/>
                <a:stretch>
                  <a:fillRect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9" name="직선 화살표 연결선 168">
            <a:extLst>
              <a:ext uri="{FF2B5EF4-FFF2-40B4-BE49-F238E27FC236}">
                <a16:creationId xmlns:a16="http://schemas.microsoft.com/office/drawing/2014/main" id="{CF72728C-D71D-850A-8331-B49F5204C48B}"/>
              </a:ext>
            </a:extLst>
          </p:cNvPr>
          <p:cNvCxnSpPr>
            <a:cxnSpLocks/>
          </p:cNvCxnSpPr>
          <p:nvPr/>
        </p:nvCxnSpPr>
        <p:spPr>
          <a:xfrm>
            <a:off x="5966215" y="3279256"/>
            <a:ext cx="0" cy="275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D14D4DA0-DF1B-8C5B-54D2-323FC7E5942D}"/>
              </a:ext>
            </a:extLst>
          </p:cNvPr>
          <p:cNvCxnSpPr>
            <a:cxnSpLocks/>
          </p:cNvCxnSpPr>
          <p:nvPr/>
        </p:nvCxnSpPr>
        <p:spPr>
          <a:xfrm>
            <a:off x="7516570" y="3279255"/>
            <a:ext cx="0" cy="275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직선 화살표 연결선 171">
            <a:extLst>
              <a:ext uri="{FF2B5EF4-FFF2-40B4-BE49-F238E27FC236}">
                <a16:creationId xmlns:a16="http://schemas.microsoft.com/office/drawing/2014/main" id="{655F1BC2-571B-A918-E663-73A19E3F61E0}"/>
              </a:ext>
            </a:extLst>
          </p:cNvPr>
          <p:cNvCxnSpPr>
            <a:cxnSpLocks/>
          </p:cNvCxnSpPr>
          <p:nvPr/>
        </p:nvCxnSpPr>
        <p:spPr>
          <a:xfrm>
            <a:off x="6771185" y="3955747"/>
            <a:ext cx="0" cy="340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B2FB661E-1CBA-2ACD-8E7E-BF1DC422BFD8}"/>
              </a:ext>
            </a:extLst>
          </p:cNvPr>
          <p:cNvSpPr/>
          <p:nvPr/>
        </p:nvSpPr>
        <p:spPr bwMode="auto">
          <a:xfrm>
            <a:off x="5353501" y="4316773"/>
            <a:ext cx="2751197" cy="67649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4DF2DB0D-9034-3EB7-261E-F9C354B0E836}"/>
                  </a:ext>
                </a:extLst>
              </p:cNvPr>
              <p:cNvSpPr txBox="1"/>
              <p:nvPr/>
            </p:nvSpPr>
            <p:spPr>
              <a:xfrm>
                <a:off x="4971642" y="4398761"/>
                <a:ext cx="2036895" cy="438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pt-BR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altLang="ko-KR" sz="1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4DF2DB0D-9034-3EB7-261E-F9C354B0E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642" y="4398761"/>
                <a:ext cx="2036895" cy="438005"/>
              </a:xfrm>
              <a:prstGeom prst="rect">
                <a:avLst/>
              </a:prstGeom>
              <a:blipFill>
                <a:blip r:embed="rId2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4880BACA-8FC6-8575-E985-95DB17EB7496}"/>
                  </a:ext>
                </a:extLst>
              </p:cNvPr>
              <p:cNvSpPr txBox="1"/>
              <p:nvPr/>
            </p:nvSpPr>
            <p:spPr>
              <a:xfrm>
                <a:off x="6830228" y="4381660"/>
                <a:ext cx="1078935" cy="525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+      </m:t>
                      </m:r>
                      <m:nary>
                        <m:naryPr>
                          <m:chr m:val="∑"/>
                          <m:ctrlPr>
                            <a:rPr lang="pt-BR" altLang="ko-KR" sz="1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altLang="ko-KR" sz="1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4880BACA-8FC6-8575-E985-95DB17EB7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228" y="4381660"/>
                <a:ext cx="1078935" cy="525208"/>
              </a:xfrm>
              <a:prstGeom prst="rect">
                <a:avLst/>
              </a:prstGeom>
              <a:blipFill>
                <a:blip r:embed="rId25"/>
                <a:stretch>
                  <a:fillRect l="-10169" t="-87209" r="-39548" b="-1395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0A481BAA-9F64-47AB-9970-92A19B13CC0D}"/>
                  </a:ext>
                </a:extLst>
              </p:cNvPr>
              <p:cNvSpPr txBox="1"/>
              <p:nvPr/>
            </p:nvSpPr>
            <p:spPr>
              <a:xfrm>
                <a:off x="6189996" y="4502526"/>
                <a:ext cx="5386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56000" lvl="4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ko-KR" sz="12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0A481BAA-9F64-47AB-9970-92A19B13C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996" y="4502526"/>
                <a:ext cx="538658" cy="276999"/>
              </a:xfrm>
              <a:prstGeom prst="rect">
                <a:avLst/>
              </a:prstGeom>
              <a:blipFill>
                <a:blip r:embed="rId26"/>
                <a:stretch>
                  <a:fillRect r="-955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6D8249C8-E992-4B43-F94E-E509D1A00E4F}"/>
                  </a:ext>
                </a:extLst>
              </p:cNvPr>
              <p:cNvSpPr txBox="1"/>
              <p:nvPr/>
            </p:nvSpPr>
            <p:spPr>
              <a:xfrm>
                <a:off x="6342981" y="4370329"/>
                <a:ext cx="625622" cy="525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6D8249C8-E992-4B43-F94E-E509D1A00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981" y="4370329"/>
                <a:ext cx="625622" cy="525208"/>
              </a:xfrm>
              <a:prstGeom prst="rect">
                <a:avLst/>
              </a:prstGeom>
              <a:blipFill>
                <a:blip r:embed="rId27"/>
                <a:stretch>
                  <a:fillRect l="-63725" t="-87209" r="-64706" b="-1395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0912405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53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</a:t>
            </a:r>
            <a:r>
              <a:rPr lang="ko-KR" altLang="en-US" dirty="0"/>
              <a:t>설계기법 </a:t>
            </a:r>
            <a:r>
              <a:rPr lang="en-US" altLang="ko-KR" dirty="0"/>
              <a:t>flowchart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1F2328"/>
                </a:solidFill>
              </a:rPr>
              <a:t>Flowchart(single target)</a:t>
            </a:r>
            <a:endParaRPr lang="en-US" altLang="ko-KR" b="0" i="0" dirty="0">
              <a:solidFill>
                <a:srgbClr val="1F2328"/>
              </a:solidFill>
              <a:effectLst/>
            </a:endParaRPr>
          </a:p>
          <a:p>
            <a:pPr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b="0" i="0" dirty="0">
              <a:solidFill>
                <a:srgbClr val="1F2328"/>
              </a:solidFill>
              <a:effectLst/>
            </a:endParaRPr>
          </a:p>
        </p:txBody>
      </p:sp>
      <p:sp>
        <p:nvSpPr>
          <p:cNvPr id="3" name="평행 사변형 2">
            <a:extLst>
              <a:ext uri="{FF2B5EF4-FFF2-40B4-BE49-F238E27FC236}">
                <a16:creationId xmlns:a16="http://schemas.microsoft.com/office/drawing/2014/main" id="{C5E9F8C1-BD44-0BEC-D5AA-B0F4EC2ABEEB}"/>
              </a:ext>
            </a:extLst>
          </p:cNvPr>
          <p:cNvSpPr/>
          <p:nvPr/>
        </p:nvSpPr>
        <p:spPr bwMode="auto">
          <a:xfrm>
            <a:off x="708917" y="1379088"/>
            <a:ext cx="1575768" cy="386074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E7E152C-B3BE-4DFA-8222-A06B9EA5E663}"/>
              </a:ext>
            </a:extLst>
          </p:cNvPr>
          <p:cNvGrpSpPr/>
          <p:nvPr/>
        </p:nvGrpSpPr>
        <p:grpSpPr>
          <a:xfrm>
            <a:off x="734848" y="1337663"/>
            <a:ext cx="1469204" cy="577081"/>
            <a:chOff x="3581400" y="1046837"/>
            <a:chExt cx="1469204" cy="57708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766AF33-C1AD-85D8-E109-D9AC9AC68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70733" y="1276934"/>
              <a:ext cx="139325" cy="13179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0E9BD2B-3F78-817B-150E-F318CA3ECAFC}"/>
                    </a:ext>
                  </a:extLst>
                </p:cNvPr>
                <p:cNvSpPr txBox="1"/>
                <p:nvPr/>
              </p:nvSpPr>
              <p:spPr>
                <a:xfrm>
                  <a:off x="3581400" y="1046837"/>
                  <a:ext cx="1469204" cy="5770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Input</a:t>
                  </a:r>
                </a:p>
                <a:p>
                  <a:pPr algn="ctr"/>
                  <a14:m>
                    <m:oMath xmlns:m="http://schemas.openxmlformats.org/officeDocument/2006/math">
                      <m:r>
                        <a:rPr lang="en-US" altLang="ko-KR" sz="1050" b="0" i="1" smtClean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ko-KR" sz="1050" b="0" i="1" smtClean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1050" b="0" i="1" smtClean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ko-KR" sz="1050" b="0" i="1" smtClean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ko-KR" sz="1050" b="0" i="1" smtClean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050" dirty="0" smtClean="0"/>
                        <m:t>œ</m:t>
                      </m:r>
                    </m:oMath>
                  </a14:m>
                  <a:r>
                    <a:rPr lang="en-US" altLang="ko-KR" sz="1050" dirty="0"/>
                    <a:t>,   , (</a:t>
                  </a:r>
                  <a14:m>
                    <m:oMath xmlns:m="http://schemas.openxmlformats.org/officeDocument/2006/math">
                      <m:r>
                        <a:rPr lang="en-US" altLang="ko-KR" sz="1050" i="1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a14:m>
                  <a:r>
                    <a:rPr lang="en-US" altLang="ko-KR" sz="1050" dirty="0"/>
                    <a:t>)</a:t>
                  </a:r>
                  <a:endParaRPr lang="ko-KR" altLang="en-US" sz="1050" dirty="0"/>
                </a:p>
                <a:p>
                  <a:pPr algn="ctr"/>
                  <a:endParaRPr lang="ko-KR" altLang="en-US" sz="105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0E9BD2B-3F78-817B-150E-F318CA3ECA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1400" y="1046837"/>
                  <a:ext cx="1469204" cy="57708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B560B21-E181-E4A0-A25D-487AEC4379B5}"/>
              </a:ext>
            </a:extLst>
          </p:cNvPr>
          <p:cNvCxnSpPr>
            <a:cxnSpLocks/>
          </p:cNvCxnSpPr>
          <p:nvPr/>
        </p:nvCxnSpPr>
        <p:spPr>
          <a:xfrm>
            <a:off x="1490657" y="1775500"/>
            <a:ext cx="6" cy="253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다이아몬드 15">
            <a:extLst>
              <a:ext uri="{FF2B5EF4-FFF2-40B4-BE49-F238E27FC236}">
                <a16:creationId xmlns:a16="http://schemas.microsoft.com/office/drawing/2014/main" id="{410DAF64-2F41-486F-FD40-89431A48FA67}"/>
              </a:ext>
            </a:extLst>
          </p:cNvPr>
          <p:cNvSpPr/>
          <p:nvPr/>
        </p:nvSpPr>
        <p:spPr bwMode="auto">
          <a:xfrm>
            <a:off x="942976" y="2028825"/>
            <a:ext cx="1076324" cy="549099"/>
          </a:xfrm>
          <a:prstGeom prst="diamond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6A5936-C7BA-40ED-3192-B64CABE6BD35}"/>
                  </a:ext>
                </a:extLst>
              </p:cNvPr>
              <p:cNvSpPr txBox="1"/>
              <p:nvPr/>
            </p:nvSpPr>
            <p:spPr>
              <a:xfrm>
                <a:off x="1090313" y="2181466"/>
                <a:ext cx="786112" cy="1828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ko-KR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6A5936-C7BA-40ED-3192-B64CABE6B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313" y="2181466"/>
                <a:ext cx="786112" cy="182871"/>
              </a:xfrm>
              <a:prstGeom prst="rect">
                <a:avLst/>
              </a:prstGeom>
              <a:blipFill>
                <a:blip r:embed="rId5"/>
                <a:stretch>
                  <a:fillRect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F77E666-26AD-B916-30C5-B8943DAD6EFC}"/>
              </a:ext>
            </a:extLst>
          </p:cNvPr>
          <p:cNvCxnSpPr>
            <a:cxnSpLocks/>
          </p:cNvCxnSpPr>
          <p:nvPr/>
        </p:nvCxnSpPr>
        <p:spPr>
          <a:xfrm>
            <a:off x="1490657" y="2577924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147421B-BDB8-85FD-473F-875BDBEBC522}"/>
              </a:ext>
            </a:extLst>
          </p:cNvPr>
          <p:cNvCxnSpPr>
            <a:cxnSpLocks/>
          </p:cNvCxnSpPr>
          <p:nvPr/>
        </p:nvCxnSpPr>
        <p:spPr>
          <a:xfrm>
            <a:off x="2039522" y="2301699"/>
            <a:ext cx="2619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DD505CA-00A6-728C-DBE2-CB257FC56A8F}"/>
              </a:ext>
            </a:extLst>
          </p:cNvPr>
          <p:cNvSpPr txBox="1"/>
          <p:nvPr/>
        </p:nvSpPr>
        <p:spPr>
          <a:xfrm>
            <a:off x="1471613" y="258656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781CB6-9C1B-AE3A-C82E-F07D0F905491}"/>
              </a:ext>
            </a:extLst>
          </p:cNvPr>
          <p:cNvSpPr txBox="1"/>
          <p:nvPr/>
        </p:nvSpPr>
        <p:spPr>
          <a:xfrm>
            <a:off x="1928512" y="2072555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3A8F0E-C81E-CC71-99E3-AA0A4C6B1F13}"/>
              </a:ext>
            </a:extLst>
          </p:cNvPr>
          <p:cNvSpPr/>
          <p:nvPr/>
        </p:nvSpPr>
        <p:spPr bwMode="auto">
          <a:xfrm>
            <a:off x="2312162" y="2056856"/>
            <a:ext cx="1307338" cy="5141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EECEB8-8D06-1F3F-6B32-FDBD9128C1C0}"/>
              </a:ext>
            </a:extLst>
          </p:cNvPr>
          <p:cNvSpPr txBox="1"/>
          <p:nvPr/>
        </p:nvSpPr>
        <p:spPr>
          <a:xfrm>
            <a:off x="2241659" y="2167871"/>
            <a:ext cx="14692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1F2328"/>
                </a:solidFill>
              </a:rPr>
              <a:t>Satellite invisible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A051509-1E88-EB12-A776-B801B91FE1E2}"/>
              </a:ext>
            </a:extLst>
          </p:cNvPr>
          <p:cNvSpPr/>
          <p:nvPr/>
        </p:nvSpPr>
        <p:spPr bwMode="auto">
          <a:xfrm>
            <a:off x="708437" y="2897044"/>
            <a:ext cx="1554926" cy="5141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338C3C-B62F-A938-0588-55416DE628CD}"/>
                  </a:ext>
                </a:extLst>
              </p:cNvPr>
              <p:cNvSpPr txBox="1"/>
              <p:nvPr/>
            </p:nvSpPr>
            <p:spPr>
              <a:xfrm>
                <a:off x="541122" y="2916094"/>
                <a:ext cx="1893621" cy="4444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0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 sz="1050" dirty="0"/>
                  <a:t> </a:t>
                </a:r>
                <a:r>
                  <a:rPr lang="en-US" altLang="ko-KR" sz="1050" dirty="0"/>
                  <a:t>: </a:t>
                </a:r>
              </a:p>
              <a:p>
                <a:pPr algn="ctr"/>
                <a:r>
                  <a:rPr lang="en-US" altLang="ko-KR" sz="1050" dirty="0"/>
                  <a:t>Access profile Saved</a:t>
                </a:r>
                <a:endParaRPr lang="ko-KR" altLang="en-US" sz="105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338C3C-B62F-A938-0588-55416DE62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22" y="2916094"/>
                <a:ext cx="1893621" cy="444481"/>
              </a:xfrm>
              <a:prstGeom prst="rect">
                <a:avLst/>
              </a:prstGeom>
              <a:blipFill>
                <a:blip r:embed="rId6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2AFD061C-8B01-D6DD-700D-166F0376FE0A}"/>
              </a:ext>
            </a:extLst>
          </p:cNvPr>
          <p:cNvCxnSpPr>
            <a:cxnSpLocks/>
          </p:cNvCxnSpPr>
          <p:nvPr/>
        </p:nvCxnSpPr>
        <p:spPr>
          <a:xfrm>
            <a:off x="1490657" y="3423325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다이아몬드 31">
            <a:extLst>
              <a:ext uri="{FF2B5EF4-FFF2-40B4-BE49-F238E27FC236}">
                <a16:creationId xmlns:a16="http://schemas.microsoft.com/office/drawing/2014/main" id="{6C8DBC0A-D168-2684-29D7-6569B3290794}"/>
              </a:ext>
            </a:extLst>
          </p:cNvPr>
          <p:cNvSpPr/>
          <p:nvPr/>
        </p:nvSpPr>
        <p:spPr bwMode="auto">
          <a:xfrm>
            <a:off x="942970" y="3733921"/>
            <a:ext cx="1076324" cy="549099"/>
          </a:xfrm>
          <a:prstGeom prst="diamond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3DF665B-6D87-409F-4FA4-C88DBF6C0918}"/>
                  </a:ext>
                </a:extLst>
              </p:cNvPr>
              <p:cNvSpPr txBox="1"/>
              <p:nvPr/>
            </p:nvSpPr>
            <p:spPr>
              <a:xfrm>
                <a:off x="1099832" y="3924662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3DF665B-6D87-409F-4FA4-C88DBF6C0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832" y="3924662"/>
                <a:ext cx="786112" cy="169277"/>
              </a:xfrm>
              <a:prstGeom prst="rect">
                <a:avLst/>
              </a:prstGeom>
              <a:blipFill>
                <a:blip r:embed="rId7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1BF00F4-11F8-3AF7-61A4-00FEBAC19E06}"/>
              </a:ext>
            </a:extLst>
          </p:cNvPr>
          <p:cNvCxnSpPr>
            <a:cxnSpLocks/>
          </p:cNvCxnSpPr>
          <p:nvPr/>
        </p:nvCxnSpPr>
        <p:spPr>
          <a:xfrm>
            <a:off x="2035937" y="4014241"/>
            <a:ext cx="2619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7B600A5-CA1F-1A30-BD3E-FAFD91BF2262}"/>
              </a:ext>
            </a:extLst>
          </p:cNvPr>
          <p:cNvSpPr txBox="1"/>
          <p:nvPr/>
        </p:nvSpPr>
        <p:spPr>
          <a:xfrm>
            <a:off x="1934452" y="3785097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8E7AC68-193F-16F3-0AE0-FD6E91927ECA}"/>
              </a:ext>
            </a:extLst>
          </p:cNvPr>
          <p:cNvSpPr/>
          <p:nvPr/>
        </p:nvSpPr>
        <p:spPr bwMode="auto">
          <a:xfrm>
            <a:off x="2312162" y="3757829"/>
            <a:ext cx="1307338" cy="5141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E2B348-8064-DCB1-E57D-A6738E0BEC78}"/>
                  </a:ext>
                </a:extLst>
              </p:cNvPr>
              <p:cNvSpPr txBox="1"/>
              <p:nvPr/>
            </p:nvSpPr>
            <p:spPr>
              <a:xfrm>
                <a:off x="2312162" y="3782917"/>
                <a:ext cx="1307338" cy="4444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0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1050" dirty="0">
                    <a:solidFill>
                      <a:srgbClr val="1F2328"/>
                    </a:solidFill>
                  </a:rPr>
                  <a:t> : </a:t>
                </a:r>
              </a:p>
              <a:p>
                <a:pPr algn="ctr"/>
                <a:r>
                  <a:rPr lang="en-US" altLang="ko-KR" sz="1050" dirty="0">
                    <a:solidFill>
                      <a:srgbClr val="1F2328"/>
                    </a:solidFill>
                  </a:rPr>
                  <a:t>Seed Satellite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E2B348-8064-DCB1-E57D-A6738E0BE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162" y="3782917"/>
                <a:ext cx="1307338" cy="444481"/>
              </a:xfrm>
              <a:prstGeom prst="rect">
                <a:avLst/>
              </a:prstGeom>
              <a:blipFill>
                <a:blip r:embed="rId8"/>
                <a:stretch>
                  <a:fillRect t="-1389" b="-41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0F4DAEAD-5BC8-5AAF-C8A6-42DE45B0995C}"/>
              </a:ext>
            </a:extLst>
          </p:cNvPr>
          <p:cNvCxnSpPr>
            <a:cxnSpLocks/>
          </p:cNvCxnSpPr>
          <p:nvPr/>
        </p:nvCxnSpPr>
        <p:spPr>
          <a:xfrm>
            <a:off x="2972905" y="4269603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다이아몬드 38">
            <a:extLst>
              <a:ext uri="{FF2B5EF4-FFF2-40B4-BE49-F238E27FC236}">
                <a16:creationId xmlns:a16="http://schemas.microsoft.com/office/drawing/2014/main" id="{58D1CD20-DFE2-FB67-E010-124BE3B1EA39}"/>
              </a:ext>
            </a:extLst>
          </p:cNvPr>
          <p:cNvSpPr/>
          <p:nvPr/>
        </p:nvSpPr>
        <p:spPr bwMode="auto">
          <a:xfrm>
            <a:off x="2434743" y="4580948"/>
            <a:ext cx="1076324" cy="549099"/>
          </a:xfrm>
          <a:prstGeom prst="diamond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3B3A6A5-8B18-3EE3-8449-D25C0598EDA4}"/>
                  </a:ext>
                </a:extLst>
              </p:cNvPr>
              <p:cNvSpPr txBox="1"/>
              <p:nvPr/>
            </p:nvSpPr>
            <p:spPr>
              <a:xfrm>
                <a:off x="2591825" y="4760584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]=1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3B3A6A5-8B18-3EE3-8449-D25C0598E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825" y="4760584"/>
                <a:ext cx="786112" cy="169277"/>
              </a:xfrm>
              <a:prstGeom prst="rect">
                <a:avLst/>
              </a:prstGeom>
              <a:blipFill>
                <a:blip r:embed="rId9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C942F0F5-5F59-4EC9-EA0F-6D4DB67970D5}"/>
              </a:ext>
            </a:extLst>
          </p:cNvPr>
          <p:cNvCxnSpPr>
            <a:cxnSpLocks/>
            <a:stCxn id="39" idx="3"/>
            <a:endCxn id="37" idx="3"/>
          </p:cNvCxnSpPr>
          <p:nvPr/>
        </p:nvCxnSpPr>
        <p:spPr>
          <a:xfrm flipV="1">
            <a:off x="3511067" y="4005158"/>
            <a:ext cx="108433" cy="850340"/>
          </a:xfrm>
          <a:prstGeom prst="bentConnector3">
            <a:avLst>
              <a:gd name="adj1" fmla="val 6993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E6D2F8B3-61CF-237D-0594-EBE799999CA4}"/>
              </a:ext>
            </a:extLst>
          </p:cNvPr>
          <p:cNvSpPr txBox="1"/>
          <p:nvPr/>
        </p:nvSpPr>
        <p:spPr>
          <a:xfrm>
            <a:off x="3604278" y="3775553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24EE27B-4B35-86E8-149D-F0C78696A6C3}"/>
                  </a:ext>
                </a:extLst>
              </p:cNvPr>
              <p:cNvSpPr txBox="1"/>
              <p:nvPr/>
            </p:nvSpPr>
            <p:spPr>
              <a:xfrm>
                <a:off x="3752298" y="3794269"/>
                <a:ext cx="786112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]=0)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24EE27B-4B35-86E8-149D-F0C78696A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298" y="3794269"/>
                <a:ext cx="786112" cy="153888"/>
              </a:xfrm>
              <a:prstGeom prst="rect">
                <a:avLst/>
              </a:prstGeom>
              <a:blipFill>
                <a:blip r:embed="rId10"/>
                <a:stretch>
                  <a:fillRect b="-38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02126F68-9905-DE64-71D1-7D4DE2A6A5CE}"/>
              </a:ext>
            </a:extLst>
          </p:cNvPr>
          <p:cNvSpPr txBox="1"/>
          <p:nvPr/>
        </p:nvSpPr>
        <p:spPr>
          <a:xfrm>
            <a:off x="2956306" y="512621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22FBA164-89CB-7E2E-901C-BACA478C1071}"/>
              </a:ext>
            </a:extLst>
          </p:cNvPr>
          <p:cNvCxnSpPr>
            <a:cxnSpLocks/>
          </p:cNvCxnSpPr>
          <p:nvPr/>
        </p:nvCxnSpPr>
        <p:spPr>
          <a:xfrm>
            <a:off x="2965438" y="5141365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순서도: 처리 69">
                <a:extLst>
                  <a:ext uri="{FF2B5EF4-FFF2-40B4-BE49-F238E27FC236}">
                    <a16:creationId xmlns:a16="http://schemas.microsoft.com/office/drawing/2014/main" id="{D56F3536-99A6-CBB4-6C7D-A36AA806414C}"/>
                  </a:ext>
                </a:extLst>
              </p:cNvPr>
              <p:cNvSpPr/>
              <p:nvPr/>
            </p:nvSpPr>
            <p:spPr bwMode="auto">
              <a:xfrm>
                <a:off x="942969" y="5458801"/>
                <a:ext cx="2727445" cy="814409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1200" dirty="0"/>
                  <a:t>Coverage Timeline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ko-KR" sz="105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altLang="ko-KR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ko-KR" altLang="en-US" sz="105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ko-KR" sz="105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ko-KR" altLang="en-US" sz="1050" i="0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sz="1050" b="0" i="0" dirty="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ko-KR" sz="1050" b="0" i="0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pt-BR" altLang="ko-KR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05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70" name="순서도: 처리 69">
                <a:extLst>
                  <a:ext uri="{FF2B5EF4-FFF2-40B4-BE49-F238E27FC236}">
                    <a16:creationId xmlns:a16="http://schemas.microsoft.com/office/drawing/2014/main" id="{D56F3536-99A6-CBB4-6C7D-A36AA8064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2969" y="5458801"/>
                <a:ext cx="2727445" cy="814409"/>
              </a:xfrm>
              <a:prstGeom prst="flowChartProcess">
                <a:avLst/>
              </a:prstGeom>
              <a:blipFill>
                <a:blip r:embed="rId11"/>
                <a:stretch>
                  <a:fillRect t="-30147" b="-86765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순서도: 처리 70">
                <a:extLst>
                  <a:ext uri="{FF2B5EF4-FFF2-40B4-BE49-F238E27FC236}">
                    <a16:creationId xmlns:a16="http://schemas.microsoft.com/office/drawing/2014/main" id="{ECF4ED11-577A-A4FC-E1DA-E67193FFD795}"/>
                  </a:ext>
                </a:extLst>
              </p:cNvPr>
              <p:cNvSpPr/>
              <p:nvPr/>
            </p:nvSpPr>
            <p:spPr bwMode="auto">
              <a:xfrm>
                <a:off x="665575" y="4635153"/>
                <a:ext cx="1651342" cy="423504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0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=1, 2, … , 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ko-KR" sz="1050" dirty="0"/>
                  <a:t> :</a:t>
                </a:r>
              </a:p>
              <a:p>
                <a:pPr algn="ctr"/>
                <a:r>
                  <a:rPr lang="en-US" altLang="ko-KR" sz="1050" dirty="0"/>
                  <a:t>Normal Satellite </a:t>
                </a:r>
              </a:p>
              <a:p>
                <a:pPr algn="l"/>
                <a:endParaRPr lang="ko-KR" altLang="en-US" sz="1050" dirty="0"/>
              </a:p>
            </p:txBody>
          </p:sp>
        </mc:Choice>
        <mc:Fallback xmlns="">
          <p:sp>
            <p:nvSpPr>
              <p:cNvPr id="71" name="순서도: 처리 70">
                <a:extLst>
                  <a:ext uri="{FF2B5EF4-FFF2-40B4-BE49-F238E27FC236}">
                    <a16:creationId xmlns:a16="http://schemas.microsoft.com/office/drawing/2014/main" id="{ECF4ED11-577A-A4FC-E1DA-E67193FFD7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5575" y="4635153"/>
                <a:ext cx="1651342" cy="423504"/>
              </a:xfrm>
              <a:prstGeom prst="flowChartProcess">
                <a:avLst/>
              </a:prstGeom>
              <a:blipFill>
                <a:blip r:embed="rId12"/>
                <a:stretch>
                  <a:fillRect b="-5556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3A571695-8E3B-B0B7-3D03-184E71CFD9FB}"/>
              </a:ext>
            </a:extLst>
          </p:cNvPr>
          <p:cNvCxnSpPr>
            <a:cxnSpLocks/>
            <a:stCxn id="32" idx="2"/>
            <a:endCxn id="71" idx="0"/>
          </p:cNvCxnSpPr>
          <p:nvPr/>
        </p:nvCxnSpPr>
        <p:spPr>
          <a:xfrm>
            <a:off x="1481132" y="4283020"/>
            <a:ext cx="10114" cy="352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2FCECAD1-A06C-C8E4-5DC9-279FF09D3EA4}"/>
              </a:ext>
            </a:extLst>
          </p:cNvPr>
          <p:cNvSpPr txBox="1"/>
          <p:nvPr/>
        </p:nvSpPr>
        <p:spPr>
          <a:xfrm>
            <a:off x="1469820" y="4322744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B35A5DE9-4EF1-B86F-1642-ED07C411810B}"/>
              </a:ext>
            </a:extLst>
          </p:cNvPr>
          <p:cNvCxnSpPr>
            <a:cxnSpLocks/>
          </p:cNvCxnSpPr>
          <p:nvPr/>
        </p:nvCxnSpPr>
        <p:spPr>
          <a:xfrm>
            <a:off x="1487932" y="5058657"/>
            <a:ext cx="2725" cy="373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E939265-A1A3-DCCF-0F2F-B54971A1BCA3}"/>
                  </a:ext>
                </a:extLst>
              </p:cNvPr>
              <p:cNvSpPr txBox="1"/>
              <p:nvPr/>
            </p:nvSpPr>
            <p:spPr>
              <a:xfrm>
                <a:off x="2891153" y="5836714"/>
                <a:ext cx="314347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E939265-A1A3-DCCF-0F2F-B54971A1B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153" y="5836714"/>
                <a:ext cx="314347" cy="261610"/>
              </a:xfrm>
              <a:prstGeom prst="rect">
                <a:avLst/>
              </a:prstGeom>
              <a:blipFill>
                <a:blip r:embed="rId1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8F3A83EE-7407-E256-3893-E5D0803218E7}"/>
              </a:ext>
            </a:extLst>
          </p:cNvPr>
          <p:cNvGrpSpPr/>
          <p:nvPr/>
        </p:nvGrpSpPr>
        <p:grpSpPr>
          <a:xfrm>
            <a:off x="3671142" y="2009941"/>
            <a:ext cx="1653334" cy="3571119"/>
            <a:chOff x="3528267" y="1869201"/>
            <a:chExt cx="1653334" cy="3892835"/>
          </a:xfrm>
        </p:grpSpPr>
        <p:cxnSp>
          <p:nvCxnSpPr>
            <p:cNvPr id="104" name="연결선: 꺾임 103">
              <a:extLst>
                <a:ext uri="{FF2B5EF4-FFF2-40B4-BE49-F238E27FC236}">
                  <a16:creationId xmlns:a16="http://schemas.microsoft.com/office/drawing/2014/main" id="{B51ECBE8-556F-1CDC-6C85-EE6AE8E9E77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098762" y="3298707"/>
              <a:ext cx="3892834" cy="1033823"/>
            </a:xfrm>
            <a:prstGeom prst="bentConnector3">
              <a:avLst>
                <a:gd name="adj1" fmla="val 389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화살표 연결선 106">
              <a:extLst>
                <a:ext uri="{FF2B5EF4-FFF2-40B4-BE49-F238E27FC236}">
                  <a16:creationId xmlns:a16="http://schemas.microsoft.com/office/drawing/2014/main" id="{F2299729-A1E0-7DBA-F792-AB2C8C4C8838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1" y="1869201"/>
              <a:ext cx="609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E2D10448-1B45-D26E-E616-00CBB195E4ED}"/>
              </a:ext>
            </a:extLst>
          </p:cNvPr>
          <p:cNvCxnSpPr>
            <a:cxnSpLocks/>
          </p:cNvCxnSpPr>
          <p:nvPr/>
        </p:nvCxnSpPr>
        <p:spPr>
          <a:xfrm>
            <a:off x="3670414" y="5960315"/>
            <a:ext cx="3148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다이아몬드 111">
            <a:extLst>
              <a:ext uri="{FF2B5EF4-FFF2-40B4-BE49-F238E27FC236}">
                <a16:creationId xmlns:a16="http://schemas.microsoft.com/office/drawing/2014/main" id="{5CEF9EC6-1469-252D-D11A-BA83A25D1A7B}"/>
              </a:ext>
            </a:extLst>
          </p:cNvPr>
          <p:cNvSpPr/>
          <p:nvPr/>
        </p:nvSpPr>
        <p:spPr bwMode="auto">
          <a:xfrm>
            <a:off x="3993348" y="5688347"/>
            <a:ext cx="1076324" cy="549099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D6FDEBC0-7B1D-76B5-933E-F84F421010F7}"/>
              </a:ext>
            </a:extLst>
          </p:cNvPr>
          <p:cNvCxnSpPr>
            <a:cxnSpLocks/>
          </p:cNvCxnSpPr>
          <p:nvPr/>
        </p:nvCxnSpPr>
        <p:spPr>
          <a:xfrm>
            <a:off x="5069672" y="5960315"/>
            <a:ext cx="3500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다이아몬드 115">
            <a:extLst>
              <a:ext uri="{FF2B5EF4-FFF2-40B4-BE49-F238E27FC236}">
                <a16:creationId xmlns:a16="http://schemas.microsoft.com/office/drawing/2014/main" id="{10B7E944-1873-7D68-4383-14AE8FFB5712}"/>
              </a:ext>
            </a:extLst>
          </p:cNvPr>
          <p:cNvSpPr/>
          <p:nvPr/>
        </p:nvSpPr>
        <p:spPr bwMode="auto">
          <a:xfrm>
            <a:off x="5419725" y="5688347"/>
            <a:ext cx="1076324" cy="549099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7D78A9B8-92BF-55C4-5AD2-ABC55CCF5188}"/>
              </a:ext>
            </a:extLst>
          </p:cNvPr>
          <p:cNvCxnSpPr>
            <a:cxnSpLocks/>
          </p:cNvCxnSpPr>
          <p:nvPr/>
        </p:nvCxnSpPr>
        <p:spPr>
          <a:xfrm>
            <a:off x="6496049" y="5960315"/>
            <a:ext cx="3500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D9025BE-7174-A2BD-247C-ACB965E3F369}"/>
                  </a:ext>
                </a:extLst>
              </p:cNvPr>
              <p:cNvSpPr txBox="1"/>
              <p:nvPr/>
            </p:nvSpPr>
            <p:spPr>
              <a:xfrm>
                <a:off x="4155569" y="5875676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D9025BE-7174-A2BD-247C-ACB965E3F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569" y="5875676"/>
                <a:ext cx="786112" cy="169277"/>
              </a:xfrm>
              <a:prstGeom prst="rect">
                <a:avLst/>
              </a:prstGeom>
              <a:blipFill>
                <a:blip r:embed="rId14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7574C8AB-1D12-BA0C-F70A-6D4399BF06C6}"/>
                  </a:ext>
                </a:extLst>
              </p:cNvPr>
              <p:cNvSpPr txBox="1"/>
              <p:nvPr/>
            </p:nvSpPr>
            <p:spPr>
              <a:xfrm>
                <a:off x="5585068" y="5875676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7574C8AB-1D12-BA0C-F70A-6D4399BF0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068" y="5875676"/>
                <a:ext cx="786112" cy="169277"/>
              </a:xfrm>
              <a:prstGeom prst="rect">
                <a:avLst/>
              </a:prstGeom>
              <a:blipFill>
                <a:blip r:embed="rId15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TextBox 119">
            <a:extLst>
              <a:ext uri="{FF2B5EF4-FFF2-40B4-BE49-F238E27FC236}">
                <a16:creationId xmlns:a16="http://schemas.microsoft.com/office/drawing/2014/main" id="{65957841-4DF3-D164-B00E-6EC43D5F94D8}"/>
              </a:ext>
            </a:extLst>
          </p:cNvPr>
          <p:cNvSpPr txBox="1"/>
          <p:nvPr/>
        </p:nvSpPr>
        <p:spPr>
          <a:xfrm>
            <a:off x="4505325" y="6192046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9006794B-BE68-E121-42CD-FA0828D802EA}"/>
              </a:ext>
            </a:extLst>
          </p:cNvPr>
          <p:cNvCxnSpPr>
            <a:cxnSpLocks/>
          </p:cNvCxnSpPr>
          <p:nvPr/>
        </p:nvCxnSpPr>
        <p:spPr>
          <a:xfrm>
            <a:off x="4535005" y="6244543"/>
            <a:ext cx="0" cy="201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A2A4B6F-33C4-CF8F-F885-C1BA25CC9970}"/>
              </a:ext>
            </a:extLst>
          </p:cNvPr>
          <p:cNvSpPr txBox="1"/>
          <p:nvPr/>
        </p:nvSpPr>
        <p:spPr>
          <a:xfrm>
            <a:off x="5920340" y="6192046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3A967B5F-81E0-F1C3-56EF-DAB051B3A3A4}"/>
              </a:ext>
            </a:extLst>
          </p:cNvPr>
          <p:cNvCxnSpPr>
            <a:cxnSpLocks/>
          </p:cNvCxnSpPr>
          <p:nvPr/>
        </p:nvCxnSpPr>
        <p:spPr>
          <a:xfrm>
            <a:off x="5950020" y="6244543"/>
            <a:ext cx="0" cy="201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76C732E4-32D7-16D5-D372-0D5D5F50FE38}"/>
                  </a:ext>
                </a:extLst>
              </p:cNvPr>
              <p:cNvSpPr txBox="1"/>
              <p:nvPr/>
            </p:nvSpPr>
            <p:spPr>
              <a:xfrm>
                <a:off x="4050498" y="6481262"/>
                <a:ext cx="96202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rgbClr val="1F2328"/>
                    </a:solidFill>
                  </a:rPr>
                  <a:t>Satellite invisible</a:t>
                </a:r>
              </a:p>
              <a:p>
                <a:pPr algn="ctr"/>
                <a:r>
                  <a:rPr lang="en-US" altLang="ko-KR" sz="800" dirty="0">
                    <a:solidFill>
                      <a:srgbClr val="1F2328"/>
                    </a:solidFill>
                  </a:rPr>
                  <a:t>(at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800" b="0" i="0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ko-KR" sz="800" b="0" i="0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800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800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)</a:t>
                </a:r>
                <a:endParaRPr lang="ko-KR" altLang="en-US" sz="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76C732E4-32D7-16D5-D372-0D5D5F50F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498" y="6481262"/>
                <a:ext cx="962024" cy="338554"/>
              </a:xfrm>
              <a:prstGeom prst="rect">
                <a:avLst/>
              </a:prstGeom>
              <a:blipFill>
                <a:blip r:embed="rId16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TextBox 125">
            <a:extLst>
              <a:ext uri="{FF2B5EF4-FFF2-40B4-BE49-F238E27FC236}">
                <a16:creationId xmlns:a16="http://schemas.microsoft.com/office/drawing/2014/main" id="{AF4C3AF2-345B-5D27-4A31-513566DB757A}"/>
              </a:ext>
            </a:extLst>
          </p:cNvPr>
          <p:cNvSpPr txBox="1"/>
          <p:nvPr/>
        </p:nvSpPr>
        <p:spPr>
          <a:xfrm>
            <a:off x="5487587" y="6524287"/>
            <a:ext cx="962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solidFill>
                  <a:srgbClr val="1F2328"/>
                </a:solidFill>
              </a:rPr>
              <a:t>Single fold</a:t>
            </a:r>
            <a:endParaRPr lang="ko-KR" altLang="en-US" sz="8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52BA1A9-74E6-2297-8AE7-631DD16200A4}"/>
              </a:ext>
            </a:extLst>
          </p:cNvPr>
          <p:cNvSpPr txBox="1"/>
          <p:nvPr/>
        </p:nvSpPr>
        <p:spPr>
          <a:xfrm>
            <a:off x="5050914" y="575265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D5ED955-EC6E-A2FF-2DBF-5127008EE590}"/>
              </a:ext>
            </a:extLst>
          </p:cNvPr>
          <p:cNvSpPr txBox="1"/>
          <p:nvPr/>
        </p:nvSpPr>
        <p:spPr>
          <a:xfrm>
            <a:off x="6479955" y="575842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66D9E05A-9A0D-9D29-5B0F-02048F3DCDE4}"/>
                  </a:ext>
                </a:extLst>
              </p:cNvPr>
              <p:cNvSpPr txBox="1"/>
              <p:nvPr/>
            </p:nvSpPr>
            <p:spPr>
              <a:xfrm>
                <a:off x="6866770" y="5830364"/>
                <a:ext cx="98116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800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-fold</a:t>
                </a:r>
              </a:p>
              <a:p>
                <a:pPr algn="ctr"/>
                <a:r>
                  <a:rPr lang="en-US" altLang="ko-KR" sz="800" dirty="0">
                    <a:solidFill>
                      <a:srgbClr val="1F2328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800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 = 2, 3, 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)</a:t>
                </a:r>
                <a:endParaRPr lang="ko-KR" altLang="en-US" sz="800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66D9E05A-9A0D-9D29-5B0F-02048F3DC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770" y="5830364"/>
                <a:ext cx="981169" cy="338554"/>
              </a:xfrm>
              <a:prstGeom prst="rect">
                <a:avLst/>
              </a:prstGeom>
              <a:blipFill>
                <a:blip r:embed="rId17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AEDC927C-457D-EA3B-F1AF-83E4CED9C430}"/>
              </a:ext>
            </a:extLst>
          </p:cNvPr>
          <p:cNvSpPr/>
          <p:nvPr/>
        </p:nvSpPr>
        <p:spPr bwMode="auto">
          <a:xfrm>
            <a:off x="541122" y="1323552"/>
            <a:ext cx="86965" cy="498210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1FE32F2D-82E4-B1EE-B854-2ADB78E14188}"/>
              </a:ext>
            </a:extLst>
          </p:cNvPr>
          <p:cNvSpPr/>
          <p:nvPr/>
        </p:nvSpPr>
        <p:spPr bwMode="auto">
          <a:xfrm>
            <a:off x="8424987" y="1209944"/>
            <a:ext cx="86965" cy="498210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93DA9546-3C92-6F3F-BF0C-C25BC0FE5F95}"/>
              </a:ext>
            </a:extLst>
          </p:cNvPr>
          <p:cNvSpPr/>
          <p:nvPr/>
        </p:nvSpPr>
        <p:spPr bwMode="auto">
          <a:xfrm>
            <a:off x="8570270" y="2843160"/>
            <a:ext cx="446343" cy="8290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직사각형 180">
                <a:extLst>
                  <a:ext uri="{FF2B5EF4-FFF2-40B4-BE49-F238E27FC236}">
                    <a16:creationId xmlns:a16="http://schemas.microsoft.com/office/drawing/2014/main" id="{B2FB661E-1CBA-2ACD-8E7E-BF1DC422BFD8}"/>
                  </a:ext>
                </a:extLst>
              </p:cNvPr>
              <p:cNvSpPr/>
              <p:nvPr/>
            </p:nvSpPr>
            <p:spPr bwMode="auto">
              <a:xfrm>
                <a:off x="5324476" y="4201443"/>
                <a:ext cx="3043678" cy="54909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400" dirty="0"/>
                  <a:t> </a:t>
                </a:r>
                <a:r>
                  <a:rPr lang="en-US" altLang="ko-KR" sz="1400" dirty="0"/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sz="1400" dirty="0"/>
                  <a:t> ≥</a:t>
                </a:r>
                <a:r>
                  <a:rPr lang="en-US" altLang="ko-KR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81" name="직사각형 180">
                <a:extLst>
                  <a:ext uri="{FF2B5EF4-FFF2-40B4-BE49-F238E27FC236}">
                    <a16:creationId xmlns:a16="http://schemas.microsoft.com/office/drawing/2014/main" id="{B2FB661E-1CBA-2ACD-8E7E-BF1DC422BF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24476" y="4201443"/>
                <a:ext cx="3043678" cy="5490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577FBA5-43FB-7102-1770-30A2A32AD5EF}"/>
              </a:ext>
            </a:extLst>
          </p:cNvPr>
          <p:cNvCxnSpPr>
            <a:cxnSpLocks/>
          </p:cNvCxnSpPr>
          <p:nvPr/>
        </p:nvCxnSpPr>
        <p:spPr>
          <a:xfrm>
            <a:off x="6898429" y="3541251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1C024F7-8910-8396-CC4E-0ABEA3D4A79D}"/>
              </a:ext>
            </a:extLst>
          </p:cNvPr>
          <p:cNvSpPr txBox="1"/>
          <p:nvPr/>
        </p:nvSpPr>
        <p:spPr>
          <a:xfrm>
            <a:off x="6907458" y="4802028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54DCB12-9801-A67B-C240-C98B661D1C75}"/>
              </a:ext>
            </a:extLst>
          </p:cNvPr>
          <p:cNvCxnSpPr>
            <a:cxnSpLocks/>
          </p:cNvCxnSpPr>
          <p:nvPr/>
        </p:nvCxnSpPr>
        <p:spPr>
          <a:xfrm>
            <a:off x="6883065" y="3899594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평행 사변형 41">
            <a:extLst>
              <a:ext uri="{FF2B5EF4-FFF2-40B4-BE49-F238E27FC236}">
                <a16:creationId xmlns:a16="http://schemas.microsoft.com/office/drawing/2014/main" id="{96A4C43A-3516-FC53-7C53-407C63CEC881}"/>
              </a:ext>
            </a:extLst>
          </p:cNvPr>
          <p:cNvSpPr/>
          <p:nvPr/>
        </p:nvSpPr>
        <p:spPr bwMode="auto">
          <a:xfrm>
            <a:off x="6116774" y="5085085"/>
            <a:ext cx="1575768" cy="495975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697AADC-61BE-82E1-11D1-5EA011BEBFB1}"/>
                  </a:ext>
                </a:extLst>
              </p:cNvPr>
              <p:cNvSpPr txBox="1"/>
              <p:nvPr/>
            </p:nvSpPr>
            <p:spPr>
              <a:xfrm>
                <a:off x="6213591" y="5264355"/>
                <a:ext cx="1478681" cy="332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4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697AADC-61BE-82E1-11D1-5EA011BEB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591" y="5264355"/>
                <a:ext cx="1478681" cy="332335"/>
              </a:xfrm>
              <a:prstGeom prst="rect">
                <a:avLst/>
              </a:prstGeom>
              <a:blipFill>
                <a:blip r:embed="rId19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6CB07023-7018-E7B7-D3F4-BDD7AD47F641}"/>
              </a:ext>
            </a:extLst>
          </p:cNvPr>
          <p:cNvCxnSpPr>
            <a:cxnSpLocks/>
            <a:stCxn id="3" idx="2"/>
            <a:endCxn id="181" idx="3"/>
          </p:cNvCxnSpPr>
          <p:nvPr/>
        </p:nvCxnSpPr>
        <p:spPr>
          <a:xfrm>
            <a:off x="2236426" y="1572125"/>
            <a:ext cx="6131728" cy="2903868"/>
          </a:xfrm>
          <a:prstGeom prst="bentConnector3">
            <a:avLst>
              <a:gd name="adj1" fmla="val 103728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순서도: 처리 129">
                <a:extLst>
                  <a:ext uri="{FF2B5EF4-FFF2-40B4-BE49-F238E27FC236}">
                    <a16:creationId xmlns:a16="http://schemas.microsoft.com/office/drawing/2014/main" id="{08C12F76-C4C5-F520-BE2F-95A5D9778E57}"/>
                  </a:ext>
                </a:extLst>
              </p:cNvPr>
              <p:cNvSpPr/>
              <p:nvPr/>
            </p:nvSpPr>
            <p:spPr bwMode="auto">
              <a:xfrm>
                <a:off x="5332688" y="1781680"/>
                <a:ext cx="3043678" cy="2110786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1200" dirty="0"/>
                  <a:t>Coverage Timeline Expansion</a:t>
                </a:r>
              </a:p>
              <a:p>
                <a:pPr algn="ctr"/>
                <a:r>
                  <a:rPr lang="en-US" altLang="ko-KR" sz="1200" dirty="0"/>
                  <a:t>(of Seed Satellite)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pt-BR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30" name="순서도: 처리 129">
                <a:extLst>
                  <a:ext uri="{FF2B5EF4-FFF2-40B4-BE49-F238E27FC236}">
                    <a16:creationId xmlns:a16="http://schemas.microsoft.com/office/drawing/2014/main" id="{08C12F76-C4C5-F520-BE2F-95A5D9778E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2688" y="1781680"/>
                <a:ext cx="3043678" cy="2110786"/>
              </a:xfrm>
              <a:prstGeom prst="flowChartProcess">
                <a:avLst/>
              </a:prstGeom>
              <a:blipFill>
                <a:blip r:embed="rId20"/>
                <a:stretch>
                  <a:fillRect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>
            <a:extLst>
              <a:ext uri="{FF2B5EF4-FFF2-40B4-BE49-F238E27FC236}">
                <a16:creationId xmlns:a16="http://schemas.microsoft.com/office/drawing/2014/main" id="{C7D829A9-CD7A-40BE-640F-870CE7A57DE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58507" y="2411028"/>
            <a:ext cx="2936828" cy="1411645"/>
          </a:xfrm>
          <a:prstGeom prst="rect">
            <a:avLst/>
          </a:prstGeom>
        </p:spPr>
      </p:pic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BA9EACCA-1B77-4EC1-561B-6A1CA38346E6}"/>
              </a:ext>
            </a:extLst>
          </p:cNvPr>
          <p:cNvCxnSpPr>
            <a:cxnSpLocks/>
          </p:cNvCxnSpPr>
          <p:nvPr/>
        </p:nvCxnSpPr>
        <p:spPr>
          <a:xfrm>
            <a:off x="6899466" y="4760067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EE70BDBE-6885-67DA-3490-7D1E8A4DD1D4}"/>
              </a:ext>
            </a:extLst>
          </p:cNvPr>
          <p:cNvCxnSpPr>
            <a:cxnSpLocks/>
          </p:cNvCxnSpPr>
          <p:nvPr/>
        </p:nvCxnSpPr>
        <p:spPr>
          <a:xfrm flipH="1">
            <a:off x="2245951" y="1571864"/>
            <a:ext cx="2619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7941A5B4-BB45-CFC4-B1DA-AFE6D1CB1F06}"/>
              </a:ext>
            </a:extLst>
          </p:cNvPr>
          <p:cNvSpPr txBox="1"/>
          <p:nvPr/>
        </p:nvSpPr>
        <p:spPr>
          <a:xfrm>
            <a:off x="8585280" y="3030612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F947A77-C8D7-0835-556B-219E38B510E6}"/>
              </a:ext>
            </a:extLst>
          </p:cNvPr>
          <p:cNvSpPr txBox="1"/>
          <p:nvPr/>
        </p:nvSpPr>
        <p:spPr>
          <a:xfrm>
            <a:off x="6230486" y="5062812"/>
            <a:ext cx="13844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020009498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0DCD5-0B64-3C4F-2DAA-49B7AEF55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881EA79-3BDA-B5D6-7C9D-A6291033A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A6AE70-F7DA-B1D4-6435-15C0EF5E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method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8BF6F732-CA20-B7DB-EB30-79D5E6543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en-US" altLang="ko-KR" sz="1800" b="0" i="0" dirty="0">
                <a:effectLst/>
                <a:latin typeface="Menlo"/>
              </a:rPr>
              <a:t>39, 73, 79, 89, 170, 184, 234, 250, 331, 341, 347, 492, 502, 542, 638, 648, 654, 663</a:t>
            </a:r>
          </a:p>
          <a:p>
            <a:pPr lvl="1">
              <a:defRPr/>
            </a:pPr>
            <a:endParaRPr lang="en-US" altLang="ko-KR" dirty="0">
              <a:latin typeface="Menlo"/>
            </a:endParaRPr>
          </a:p>
          <a:p>
            <a:pPr lvl="1">
              <a:defRPr/>
            </a:pPr>
            <a:endParaRPr lang="en-US" altLang="ko-KR" dirty="0">
              <a:latin typeface="Menlo"/>
            </a:endParaRPr>
          </a:p>
          <a:p>
            <a:pPr lvl="1">
              <a:defRPr/>
            </a:pPr>
            <a:r>
              <a:rPr lang="en-US" altLang="ko-KR" sz="1800" b="0" i="0" dirty="0">
                <a:effectLst/>
                <a:latin typeface="Menlo"/>
              </a:rPr>
              <a:t>142 143 144 145 146 147 148 149 150 151 152 (11)</a:t>
            </a:r>
          </a:p>
          <a:p>
            <a:pPr lvl="1">
              <a:defRPr/>
            </a:pP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1">
              <a:defRPr/>
            </a:pPr>
            <a:r>
              <a:rPr lang="en-US" altLang="ko-KR" dirty="0"/>
              <a:t>200 201 202 203 204 205 206 207 208 209 210 211 (12)</a:t>
            </a:r>
          </a:p>
          <a:p>
            <a:pPr lvl="1">
              <a:defRPr/>
            </a:pP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1">
              <a:defRPr/>
            </a:pPr>
            <a:r>
              <a:rPr lang="en-US" altLang="ko-KR" dirty="0"/>
              <a:t>260 261 262 263 264 265 266 (7)</a:t>
            </a:r>
          </a:p>
          <a:p>
            <a:pPr lvl="1">
              <a:defRPr/>
            </a:pP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1">
              <a:defRPr/>
            </a:pPr>
            <a:r>
              <a:rPr lang="en-US" altLang="ko-KR" dirty="0"/>
              <a:t>428 429 430 431 432 433 434 (7)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483 484 485 486 487 488 489 490 491 492 493 494 (12)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543 544 545 546 547 548 549 550 551 552 (10)</a:t>
            </a:r>
          </a:p>
          <a:p>
            <a:pPr lvl="1">
              <a:defRPr/>
            </a:pPr>
            <a:endParaRPr lang="en-US" altLang="ko-KR" b="0" i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1472287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97531</TotalTime>
  <Words>4115</Words>
  <Application>Microsoft Office PowerPoint</Application>
  <PresentationFormat>화면 슬라이드 쇼(4:3)</PresentationFormat>
  <Paragraphs>2203</Paragraphs>
  <Slides>55</Slides>
  <Notes>53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65" baseType="lpstr">
      <vt:lpstr>-apple-system</vt:lpstr>
      <vt:lpstr>Menlo</vt:lpstr>
      <vt:lpstr>Times New Roma</vt:lpstr>
      <vt:lpstr>맑은 고딕</vt:lpstr>
      <vt:lpstr>Arial</vt:lpstr>
      <vt:lpstr>Cambria Math</vt:lpstr>
      <vt:lpstr>times</vt:lpstr>
      <vt:lpstr>Times New Roman</vt:lpstr>
      <vt:lpstr>Wingdings</vt:lpstr>
      <vt:lpstr>Office 테마</vt:lpstr>
      <vt:lpstr>BILP(MILP) method를 이용한  위성군 분석 및 설계/최적화</vt:lpstr>
      <vt:lpstr>목차</vt:lpstr>
      <vt:lpstr>참고 문헌 정보</vt:lpstr>
      <vt:lpstr>BILP(MILP) 설계기법 참고 문헌</vt:lpstr>
      <vt:lpstr>BILP Method</vt:lpstr>
      <vt:lpstr>BILP method 논문 예시</vt:lpstr>
      <vt:lpstr>BILP method 개념 정리</vt:lpstr>
      <vt:lpstr>BILP method 연구 방법</vt:lpstr>
      <vt:lpstr>BILP method 논문 예시 검증방법</vt:lpstr>
      <vt:lpstr>BILP 연구결과</vt:lpstr>
      <vt:lpstr>BILP method 연구 결과 〖"(" Ω, M")" 〗_k</vt:lpstr>
      <vt:lpstr>BILP method 연구 결과 〖"(" Ω, M")" 〗_k</vt:lpstr>
      <vt:lpstr>논문과 실제 시뮬레이션 결과 비교</vt:lpstr>
      <vt:lpstr>논문과 실제 시뮬레이션 결과 비교</vt:lpstr>
      <vt:lpstr>BILP Method 1</vt:lpstr>
      <vt:lpstr>Coverage 비율을 점차 높이며 진행 (Ex 1)</vt:lpstr>
      <vt:lpstr>Coverage 비율을 점차 높이며 진행 (Ex 1)</vt:lpstr>
      <vt:lpstr>Coverage 비율을 점차 높이며 진행 (Ex 1)</vt:lpstr>
      <vt:lpstr>Coverage 비율을 점차 높이며 진행 (Ex 1)</vt:lpstr>
      <vt:lpstr>Coverage 비율을 점차 높이며 진행 (Ex 1)</vt:lpstr>
      <vt:lpstr>BILP Method 2</vt:lpstr>
      <vt:lpstr>방법 1의 결과를 미세하게 조정</vt:lpstr>
      <vt:lpstr>방법 1의 결과를 미세하게 조정</vt:lpstr>
      <vt:lpstr>방법 1의 결과를 미세하게 조정</vt:lpstr>
      <vt:lpstr>방법 1의 결과를 미세하게 조정</vt:lpstr>
      <vt:lpstr>BILP Method 3</vt:lpstr>
      <vt:lpstr>n의 값을 수작업으로 배치</vt:lpstr>
      <vt:lpstr>n의 값을 Timeline에 수작업으로 배치</vt:lpstr>
      <vt:lpstr>BILP Method 4</vt:lpstr>
      <vt:lpstr>Timeline 중복 횟수 최소화를 이용한 배치</vt:lpstr>
      <vt:lpstr>Timeline 중복 횟수 최소화를 이용한 배치</vt:lpstr>
      <vt:lpstr>Timeline 중복 횟수 최소화를 이용한 배치</vt:lpstr>
      <vt:lpstr>Timeline 중복 횟수 최소화를 이용한 배치</vt:lpstr>
      <vt:lpstr>결론</vt:lpstr>
      <vt:lpstr>결론</vt:lpstr>
      <vt:lpstr>결론</vt:lpstr>
      <vt:lpstr>경청해 주셔서 감사합니다.</vt:lpstr>
      <vt:lpstr>BILP method 개념 정리</vt:lpstr>
      <vt:lpstr>BILP method 개념 정리</vt:lpstr>
      <vt:lpstr>BILP method 개념 정리</vt:lpstr>
      <vt:lpstr>BILP method 개념 정리</vt:lpstr>
      <vt:lpstr>BILP method 연구 방법</vt:lpstr>
      <vt:lpstr>BILP method 연구 방법</vt:lpstr>
      <vt:lpstr>BILP method 연구 방법</vt:lpstr>
      <vt:lpstr>BILP method 연구 방법</vt:lpstr>
      <vt:lpstr>초록</vt:lpstr>
      <vt:lpstr>BILP method 연구 방법</vt:lpstr>
      <vt:lpstr>BILP method 연구 방법</vt:lpstr>
      <vt:lpstr>BILP method 연구 방법의 한계</vt:lpstr>
      <vt:lpstr>BILP method 연구 방법</vt:lpstr>
      <vt:lpstr>BILP method 연구 방법의 한계</vt:lpstr>
      <vt:lpstr>BILP method 설계기법 flowchart</vt:lpstr>
      <vt:lpstr>BILP 설계기법 flowchart</vt:lpstr>
      <vt:lpstr>BILP 설계기법 flowchart</vt:lpstr>
      <vt:lpstr>BILP method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Jinjin Lee</cp:lastModifiedBy>
  <cp:revision>4612</cp:revision>
  <dcterms:created xsi:type="dcterms:W3CDTF">2018-01-29T02:45:56Z</dcterms:created>
  <dcterms:modified xsi:type="dcterms:W3CDTF">2024-03-28T04:39:52Z</dcterms:modified>
</cp:coreProperties>
</file>