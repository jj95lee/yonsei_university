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90"/>
  </p:notesMasterIdLst>
  <p:handoutMasterIdLst>
    <p:handoutMasterId r:id="rId91"/>
  </p:handoutMasterIdLst>
  <p:sldIdLst>
    <p:sldId id="2550" r:id="rId2"/>
    <p:sldId id="2836" r:id="rId3"/>
    <p:sldId id="2774" r:id="rId4"/>
    <p:sldId id="2565" r:id="rId5"/>
    <p:sldId id="2743" r:id="rId6"/>
    <p:sldId id="2347" r:id="rId7"/>
    <p:sldId id="2837" r:id="rId8"/>
    <p:sldId id="2838" r:id="rId9"/>
    <p:sldId id="2749" r:id="rId10"/>
    <p:sldId id="2745" r:id="rId11"/>
    <p:sldId id="2742" r:id="rId12"/>
    <p:sldId id="2706" r:id="rId13"/>
    <p:sldId id="2647" r:id="rId14"/>
    <p:sldId id="2753" r:id="rId15"/>
    <p:sldId id="2754" r:id="rId16"/>
    <p:sldId id="2756" r:id="rId17"/>
    <p:sldId id="2697" r:id="rId18"/>
    <p:sldId id="2760" r:id="rId19"/>
    <p:sldId id="2761" r:id="rId20"/>
    <p:sldId id="2762" r:id="rId21"/>
    <p:sldId id="2763" r:id="rId22"/>
    <p:sldId id="2765" r:id="rId23"/>
    <p:sldId id="2766" r:id="rId24"/>
    <p:sldId id="2769" r:id="rId25"/>
    <p:sldId id="2771" r:id="rId26"/>
    <p:sldId id="2772" r:id="rId27"/>
    <p:sldId id="2773" r:id="rId28"/>
    <p:sldId id="2839" r:id="rId29"/>
    <p:sldId id="2775" r:id="rId30"/>
    <p:sldId id="2776" r:id="rId31"/>
    <p:sldId id="2693" r:id="rId32"/>
    <p:sldId id="2674" r:id="rId33"/>
    <p:sldId id="2778" r:id="rId34"/>
    <p:sldId id="2780" r:id="rId35"/>
    <p:sldId id="2735" r:id="rId36"/>
    <p:sldId id="2789" r:id="rId37"/>
    <p:sldId id="2787" r:id="rId38"/>
    <p:sldId id="2790" r:id="rId39"/>
    <p:sldId id="2788" r:id="rId40"/>
    <p:sldId id="2791" r:id="rId41"/>
    <p:sldId id="2792" r:id="rId42"/>
    <p:sldId id="2793" r:id="rId43"/>
    <p:sldId id="2794" r:id="rId44"/>
    <p:sldId id="2865" r:id="rId45"/>
    <p:sldId id="2866" r:id="rId46"/>
    <p:sldId id="2867" r:id="rId47"/>
    <p:sldId id="2800" r:id="rId48"/>
    <p:sldId id="2870" r:id="rId49"/>
    <p:sldId id="2868" r:id="rId50"/>
    <p:sldId id="2871" r:id="rId51"/>
    <p:sldId id="2872" r:id="rId52"/>
    <p:sldId id="2873" r:id="rId53"/>
    <p:sldId id="2874" r:id="rId54"/>
    <p:sldId id="2784" r:id="rId55"/>
    <p:sldId id="2785" r:id="rId56"/>
    <p:sldId id="2840" r:id="rId57"/>
    <p:sldId id="2782" r:id="rId58"/>
    <p:sldId id="2875" r:id="rId59"/>
    <p:sldId id="2846" r:id="rId60"/>
    <p:sldId id="2876" r:id="rId61"/>
    <p:sldId id="2901" r:id="rId62"/>
    <p:sldId id="2900" r:id="rId63"/>
    <p:sldId id="2904" r:id="rId64"/>
    <p:sldId id="2903" r:id="rId65"/>
    <p:sldId id="2905" r:id="rId66"/>
    <p:sldId id="2906" r:id="rId67"/>
    <p:sldId id="2907" r:id="rId68"/>
    <p:sldId id="2908" r:id="rId69"/>
    <p:sldId id="2909" r:id="rId70"/>
    <p:sldId id="2850" r:id="rId71"/>
    <p:sldId id="2786" r:id="rId72"/>
    <p:sldId id="2879" r:id="rId73"/>
    <p:sldId id="2851" r:id="rId74"/>
    <p:sldId id="2880" r:id="rId75"/>
    <p:sldId id="2856" r:id="rId76"/>
    <p:sldId id="2881" r:id="rId77"/>
    <p:sldId id="2884" r:id="rId78"/>
    <p:sldId id="2724" r:id="rId79"/>
    <p:sldId id="2885" r:id="rId80"/>
    <p:sldId id="2888" r:id="rId81"/>
    <p:sldId id="2887" r:id="rId82"/>
    <p:sldId id="2889" r:id="rId83"/>
    <p:sldId id="2890" r:id="rId84"/>
    <p:sldId id="2902" r:id="rId85"/>
    <p:sldId id="2910" r:id="rId86"/>
    <p:sldId id="2609" r:id="rId87"/>
    <p:sldId id="2863" r:id="rId88"/>
    <p:sldId id="2510" r:id="rId8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9966FF"/>
    <a:srgbClr val="6600CC"/>
    <a:srgbClr val="FFFFFF"/>
    <a:srgbClr val="001E46"/>
    <a:srgbClr val="404040"/>
    <a:srgbClr val="CC99FF"/>
    <a:srgbClr val="000A1E"/>
    <a:srgbClr val="EDB021"/>
    <a:srgbClr val="D954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24" autoAdjust="0"/>
    <p:restoredTop sz="82161" autoAdjust="0"/>
  </p:normalViewPr>
  <p:slideViewPr>
    <p:cSldViewPr snapToGrid="0" showGuides="1">
      <p:cViewPr varScale="1">
        <p:scale>
          <a:sx n="91" d="100"/>
          <a:sy n="91" d="100"/>
        </p:scale>
        <p:origin x="244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handoutMaster" Target="handoutMasters/handoutMaster1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commentAuthors" Target="commentAuthor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2024-06-19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2:05.140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2:05.618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2024-06-19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01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7649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이종이라는 용어를 어떤 지표로 구분할 것인가에 따라 개념이 조금씩 달라짐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24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334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OPTISAR </a:t>
            </a:r>
            <a:r>
              <a:rPr lang="ko-KR" altLang="en-US" dirty="0"/>
              <a:t>연구의 목표 작성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하지만 프로젝트 무산됨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41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OPTISAR </a:t>
            </a:r>
            <a:r>
              <a:rPr lang="ko-KR" altLang="en-US" dirty="0"/>
              <a:t>연구의 목표 작성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하지만 프로젝트 무산됨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198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104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79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3399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063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698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2598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12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Ts,</a:t>
            </a:r>
            <a:r>
              <a:rPr lang="ko-KR" altLang="en-US" dirty="0"/>
              <a:t> </a:t>
            </a:r>
            <a:r>
              <a:rPr lang="en-US" altLang="ko-KR" dirty="0" err="1"/>
              <a:t>Tg</a:t>
            </a:r>
            <a:r>
              <a:rPr lang="ko-KR" altLang="en-US" dirty="0"/>
              <a:t>가 </a:t>
            </a:r>
            <a:r>
              <a:rPr lang="ko-KR" altLang="en-US" dirty="0" err="1"/>
              <a:t>뭔지</a:t>
            </a:r>
            <a:r>
              <a:rPr lang="ko-KR" altLang="en-US" dirty="0"/>
              <a:t>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1644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592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66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5223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13103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17459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69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5376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0147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2607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2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6711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8244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0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4093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6898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45691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367E-C997-3CF1-044B-D738B639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61D40-7174-EBA1-4463-E20A2E4E0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965BC-935B-574D-5E73-12B5DB495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52743-D238-A0A0-AD63-7A5BC2B4A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8168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367E-C997-3CF1-044B-D738B639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61D40-7174-EBA1-4463-E20A2E4E0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965BC-935B-574D-5E73-12B5DB495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52743-D238-A0A0-AD63-7A5BC2B4A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4772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2349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1782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1777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7512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2438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6429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3881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94148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94470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8401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34192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선행의 연구 사례와는 차이점을 두어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앞으로는 두 관심지역을 동시에 관측하는 것에 초점을 맞춘다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51332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3017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0432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01181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24301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1930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07769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고도를 같게 해야 하는 이유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93573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8400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53818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58018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55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380133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21171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71441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41062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41062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40862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32602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49282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2897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7189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30775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92503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00869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28249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69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220259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97033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50576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72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872558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91657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77746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35608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35999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85426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7985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058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00628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50606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53442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31545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127392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85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110249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854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image" Target="../media/image44.png"/><Relationship Id="rId7" Type="http://schemas.openxmlformats.org/officeDocument/2006/relationships/image" Target="../media/image48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Relationship Id="rId9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5" Type="http://schemas.openxmlformats.org/officeDocument/2006/relationships/image" Target="../media/image93.png"/><Relationship Id="rId4" Type="http://schemas.openxmlformats.org/officeDocument/2006/relationships/customXml" Target="../ink/ink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6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4.png"/><Relationship Id="rId4" Type="http://schemas.openxmlformats.org/officeDocument/2006/relationships/image" Target="../media/image9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8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1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10.png"/><Relationship Id="rId4" Type="http://schemas.openxmlformats.org/officeDocument/2006/relationships/image" Target="../media/image119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emf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50.png"/><Relationship Id="rId5" Type="http://schemas.openxmlformats.org/officeDocument/2006/relationships/image" Target="../media/image1240.png"/><Relationship Id="rId4" Type="http://schemas.openxmlformats.org/officeDocument/2006/relationships/image" Target="../media/image132.emf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90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1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5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4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연세대학교 천문우주학과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5</a:t>
            </a:r>
            <a:r>
              <a:rPr lang="ko-KR" altLang="en-US" dirty="0"/>
              <a:t>학기 </a:t>
            </a:r>
            <a:r>
              <a:rPr lang="ko-KR" altLang="en-US" dirty="0" err="1"/>
              <a:t>이진진</a:t>
            </a:r>
            <a:endParaRPr lang="en-US" altLang="ko-KR" dirty="0"/>
          </a:p>
          <a:p>
            <a:r>
              <a:rPr lang="en-US" altLang="ko-KR" dirty="0"/>
              <a:t>2024-06-21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769"/>
            <a:ext cx="9144000" cy="222618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ko-KR" altLang="en-US" sz="3600" dirty="0" err="1"/>
              <a:t>본심사</a:t>
            </a:r>
            <a:r>
              <a:rPr lang="ko-KR" altLang="en-US" sz="3600" dirty="0"/>
              <a:t> 발표</a:t>
            </a:r>
            <a:br>
              <a:rPr lang="en-US" altLang="ko-KR" sz="3200" dirty="0"/>
            </a:br>
            <a:br>
              <a:rPr lang="en-US" altLang="ko-KR" sz="3200" dirty="0"/>
            </a:br>
            <a:r>
              <a:rPr lang="ko-KR" altLang="en-US" sz="3200" dirty="0"/>
              <a:t>이진 선형 계획법을 이용한 한반도 관측 목표의</a:t>
            </a:r>
            <a:br>
              <a:rPr lang="en-US" altLang="ko-KR" sz="3200" dirty="0"/>
            </a:br>
            <a:r>
              <a:rPr lang="ko-KR" altLang="en-US" sz="3200" dirty="0"/>
              <a:t>이종 </a:t>
            </a:r>
            <a:r>
              <a:rPr lang="ko-KR" altLang="en-US" sz="3200" dirty="0" err="1"/>
              <a:t>위성군</a:t>
            </a:r>
            <a:r>
              <a:rPr lang="ko-KR" altLang="en-US" sz="3200" dirty="0"/>
              <a:t> 궤도 설계 및 운용 방법 연구</a:t>
            </a:r>
          </a:p>
        </p:txBody>
      </p:sp>
    </p:spTree>
    <p:extLst>
      <p:ext uri="{BB962C8B-B14F-4D97-AF65-F5344CB8AC3E}">
        <p14:creationId xmlns:p14="http://schemas.microsoft.com/office/powerpoint/2010/main" val="253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126973"/>
              </p:ext>
            </p:extLst>
          </p:nvPr>
        </p:nvGraphicFramePr>
        <p:xfrm>
          <a:off x="1568900" y="1810810"/>
          <a:ext cx="7318019" cy="4374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511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시뮬레이션 환경 설정 및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APC Decomposition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8239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준대칭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기법 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(vs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워커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-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델타 </a:t>
                      </a:r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)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511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이진 선형 계획법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(BILP)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  <a:tr h="8239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이진 선형 계획법을 적용한 이종 </a:t>
                      </a:r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운용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278487"/>
                  </a:ext>
                </a:extLst>
              </a:tr>
              <a:tr h="8239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754907"/>
                  </a:ext>
                </a:extLst>
              </a:tr>
            </a:tbl>
          </a:graphicData>
        </a:graphic>
      </p:graphicFrame>
      <p:graphicFrame>
        <p:nvGraphicFramePr>
          <p:cNvPr id="8" name="표 18">
            <a:extLst>
              <a:ext uri="{FF2B5EF4-FFF2-40B4-BE49-F238E27FC236}">
                <a16:creationId xmlns:a16="http://schemas.microsoft.com/office/drawing/2014/main" id="{D6D46674-B242-4C3D-53FD-1FABCE847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861779"/>
              </p:ext>
            </p:extLst>
          </p:nvPr>
        </p:nvGraphicFramePr>
        <p:xfrm>
          <a:off x="1568899" y="947714"/>
          <a:ext cx="7318019" cy="965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연구의 개요 및 주요 참고문헌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1DED2326-5E7B-1D25-E1F7-30ACE6E47249}"/>
              </a:ext>
            </a:extLst>
          </p:cNvPr>
          <p:cNvSpPr/>
          <p:nvPr/>
        </p:nvSpPr>
        <p:spPr bwMode="auto">
          <a:xfrm>
            <a:off x="7389162" y="4936176"/>
            <a:ext cx="1253880" cy="89185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2B036A7-121E-B175-E558-836E97862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15" y="971496"/>
            <a:ext cx="103822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347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연구의 개요</a:t>
            </a:r>
          </a:p>
        </p:txBody>
      </p:sp>
    </p:spTree>
    <p:extLst>
      <p:ext uri="{BB962C8B-B14F-4D97-AF65-F5344CB8AC3E}">
        <p14:creationId xmlns:p14="http://schemas.microsoft.com/office/powerpoint/2010/main" val="152673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배경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위성군의 탄생 배경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인공위성 개발 이후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, </a:t>
            </a:r>
            <a:r>
              <a:rPr lang="ko-KR" altLang="en-US" b="1" u="sng" dirty="0">
                <a:solidFill>
                  <a:srgbClr val="1F2328"/>
                </a:solidFill>
                <a:latin typeface="-apple-system"/>
              </a:rPr>
              <a:t>복잡한 상황 속에서 운용되는 고차원적 연구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가 진행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시간 및 공간 등 </a:t>
            </a:r>
            <a:r>
              <a:rPr lang="ko-KR" altLang="en-US" b="1" u="sng" dirty="0">
                <a:solidFill>
                  <a:srgbClr val="1F2328"/>
                </a:solidFill>
                <a:latin typeface="-apple-system"/>
              </a:rPr>
              <a:t>특정 상황에 따라 요구조건을 유동성 있게 변경해야 하는 임무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의 필요성이 제기되기 시작 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복잡한 임무 목표 달성을 위해 하나의 위성을 운용하는 것에 그치지 </a:t>
            </a:r>
            <a:r>
              <a:rPr lang="ko-KR" altLang="en-US" b="1" u="sng" dirty="0">
                <a:solidFill>
                  <a:srgbClr val="1F2328"/>
                </a:solidFill>
                <a:effectLst/>
                <a:latin typeface="-apple-system"/>
              </a:rPr>
              <a:t>않고 둘 이상의 위성체를 동시에 운용하는 위성군</a:t>
            </a: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이라는 개념이 새롭게 탄생</a:t>
            </a:r>
            <a:endParaRPr lang="en-US" altLang="ko-KR" b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0">
              <a:defRPr/>
            </a:pP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이처럼 둘 이상의 위성체를 동시에 운용하는 </a:t>
            </a:r>
            <a:r>
              <a:rPr lang="ko-KR" altLang="en-US" b="0" dirty="0" err="1">
                <a:solidFill>
                  <a:srgbClr val="1F2328"/>
                </a:solidFill>
                <a:effectLst/>
                <a:latin typeface="-apple-system"/>
              </a:rPr>
              <a:t>위성군</a:t>
            </a: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 중에</a:t>
            </a:r>
            <a:r>
              <a:rPr lang="en-US" altLang="ko-KR" b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ko-KR" altLang="en-US" b="1" u="sng" dirty="0">
                <a:solidFill>
                  <a:srgbClr val="1F2328"/>
                </a:solidFill>
                <a:effectLst/>
                <a:latin typeface="-apple-system"/>
              </a:rPr>
              <a:t>각기 다른 특성을 갖는 위성이 그룹 내에서 상호작용할 수 있도록 고안된 개념</a:t>
            </a: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이 이종 </a:t>
            </a:r>
            <a:r>
              <a:rPr lang="ko-KR" altLang="en-US" b="0" dirty="0" err="1">
                <a:solidFill>
                  <a:srgbClr val="1F2328"/>
                </a:solidFill>
                <a:effectLst/>
                <a:latin typeface="-apple-system"/>
              </a:rPr>
              <a:t>위성군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이종 위성군은 각 위성의 성격에 따라 다음과 같이 구분 가능</a:t>
            </a:r>
            <a:endParaRPr lang="en-US" altLang="ko-KR" b="0" dirty="0">
              <a:solidFill>
                <a:srgbClr val="1F2328"/>
              </a:solidFill>
              <a:effectLst/>
              <a:latin typeface="-apple-system"/>
            </a:endParaRPr>
          </a:p>
          <a:p>
            <a:pPr lvl="2">
              <a:defRPr/>
            </a:pPr>
            <a:r>
              <a:rPr lang="ko-KR" altLang="en-US" b="1" i="0" u="sng" dirty="0">
                <a:solidFill>
                  <a:srgbClr val="1F2328"/>
                </a:solidFill>
                <a:effectLst/>
                <a:latin typeface="-apple-system"/>
              </a:rPr>
              <a:t>서로 다른 종류의 탑재체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가 포함된 </a:t>
            </a:r>
            <a:r>
              <a:rPr lang="ko-KR" altLang="en-US" b="0" i="0" dirty="0" err="1">
                <a:solidFill>
                  <a:srgbClr val="1F2328"/>
                </a:solidFill>
                <a:effectLst/>
                <a:latin typeface="-apple-system"/>
              </a:rPr>
              <a:t>위성군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2">
              <a:defRPr/>
            </a:pPr>
            <a:r>
              <a:rPr lang="ko-KR" altLang="en-US" b="1" u="sng" dirty="0">
                <a:solidFill>
                  <a:srgbClr val="1F2328"/>
                </a:solidFill>
                <a:latin typeface="-apple-system"/>
              </a:rPr>
              <a:t>서로 다른 종류의 궤도 유형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을 동시에 운용하는 </a:t>
            </a:r>
            <a:r>
              <a:rPr lang="ko-KR" altLang="en-US" dirty="0" err="1">
                <a:solidFill>
                  <a:srgbClr val="1F2328"/>
                </a:solidFill>
                <a:latin typeface="-apple-system"/>
              </a:rPr>
              <a:t>위성군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2">
              <a:defRPr/>
            </a:pPr>
            <a:endParaRPr lang="en-US" altLang="ko-KR" b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253888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 위성군의 개념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지표에 따른 이종 위성군의 구분</a:t>
            </a:r>
            <a:r>
              <a:rPr lang="en-US" altLang="ko-KR" dirty="0"/>
              <a:t> </a:t>
            </a:r>
            <a:r>
              <a:rPr lang="ko-KR" altLang="en-US" dirty="0"/>
              <a:t>및 종류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16000" lvl="1" indent="0">
              <a:buNone/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27C7F053-F9AE-E4E9-BE9C-E2BBC0115478}"/>
              </a:ext>
            </a:extLst>
          </p:cNvPr>
          <p:cNvGrpSpPr/>
          <p:nvPr/>
        </p:nvGrpSpPr>
        <p:grpSpPr>
          <a:xfrm>
            <a:off x="860774" y="1635080"/>
            <a:ext cx="8026144" cy="3587839"/>
            <a:chOff x="884057" y="1612846"/>
            <a:chExt cx="8026144" cy="3587839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8861726-C0FB-571B-B3EF-EAE76E694565}"/>
                </a:ext>
              </a:extLst>
            </p:cNvPr>
            <p:cNvSpPr/>
            <p:nvPr/>
          </p:nvSpPr>
          <p:spPr bwMode="auto">
            <a:xfrm>
              <a:off x="953562" y="3544576"/>
              <a:ext cx="3319959" cy="16463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71FCA1B-B504-21FF-41D3-ED692D0B749F}"/>
                </a:ext>
              </a:extLst>
            </p:cNvPr>
            <p:cNvSpPr/>
            <p:nvPr/>
          </p:nvSpPr>
          <p:spPr bwMode="auto">
            <a:xfrm>
              <a:off x="953563" y="1911533"/>
              <a:ext cx="3319959" cy="16463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01FDBC4-A563-BD27-7075-1AB343907692}"/>
                </a:ext>
              </a:extLst>
            </p:cNvPr>
            <p:cNvSpPr/>
            <p:nvPr/>
          </p:nvSpPr>
          <p:spPr bwMode="auto">
            <a:xfrm>
              <a:off x="4271637" y="3554305"/>
              <a:ext cx="3475781" cy="16463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8863626-51C4-78D5-2317-166CC2EBB71C}"/>
                </a:ext>
              </a:extLst>
            </p:cNvPr>
            <p:cNvSpPr/>
            <p:nvPr/>
          </p:nvSpPr>
          <p:spPr bwMode="auto">
            <a:xfrm>
              <a:off x="4271638" y="1921262"/>
              <a:ext cx="3475781" cy="16463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834F5A24-0933-8FFB-18C4-12DB8F6AB7EA}"/>
                </a:ext>
              </a:extLst>
            </p:cNvPr>
            <p:cNvCxnSpPr>
              <a:cxnSpLocks/>
            </p:cNvCxnSpPr>
            <p:nvPr/>
          </p:nvCxnSpPr>
          <p:spPr>
            <a:xfrm>
              <a:off x="953563" y="3554306"/>
              <a:ext cx="680926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7DF58D54-2146-088E-91C1-ABD78F8510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5473" y="1921262"/>
              <a:ext cx="0" cy="3266088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9D48F92-6051-995E-24AA-C7F6BBA66FCC}"/>
                </a:ext>
              </a:extLst>
            </p:cNvPr>
            <p:cNvSpPr txBox="1"/>
            <p:nvPr/>
          </p:nvSpPr>
          <p:spPr>
            <a:xfrm>
              <a:off x="3656455" y="1612846"/>
              <a:ext cx="123803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solidFill>
                    <a:srgbClr val="0070C0"/>
                  </a:solidFill>
                </a:rPr>
                <a:t>운용 궤도 유형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927D276-36C0-55E9-4A0F-F78429E54BDD}"/>
                </a:ext>
              </a:extLst>
            </p:cNvPr>
            <p:cNvSpPr txBox="1"/>
            <p:nvPr/>
          </p:nvSpPr>
          <p:spPr>
            <a:xfrm>
              <a:off x="7783371" y="3415806"/>
              <a:ext cx="11268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</a:rPr>
                <a:t>Payload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차이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22893C4-BF52-D0D6-7777-4C15001CA540}"/>
                </a:ext>
              </a:extLst>
            </p:cNvPr>
            <p:cNvSpPr txBox="1"/>
            <p:nvPr/>
          </p:nvSpPr>
          <p:spPr>
            <a:xfrm>
              <a:off x="4271638" y="2057734"/>
              <a:ext cx="76581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070C0"/>
                  </a:solidFill>
                </a:rPr>
                <a:t>다양한 </a:t>
              </a:r>
              <a:endParaRPr lang="en-US" altLang="ko-KR" sz="1000" dirty="0">
                <a:solidFill>
                  <a:srgbClr val="0070C0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rgbClr val="0070C0"/>
                  </a:solidFill>
                </a:rPr>
                <a:t>궤도 유형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9A584A1-6A77-A8E2-F949-CA36E1014433}"/>
                </a:ext>
              </a:extLst>
            </p:cNvPr>
            <p:cNvSpPr txBox="1"/>
            <p:nvPr/>
          </p:nvSpPr>
          <p:spPr>
            <a:xfrm>
              <a:off x="4294072" y="2851187"/>
              <a:ext cx="6929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070C0"/>
                  </a:solidFill>
                </a:rPr>
                <a:t>궤도평면</a:t>
              </a:r>
              <a:endParaRPr lang="en-US" altLang="ko-KR" sz="1000" dirty="0">
                <a:solidFill>
                  <a:srgbClr val="0070C0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rgbClr val="0070C0"/>
                  </a:solidFill>
                </a:rPr>
                <a:t>차이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B963D3D-4AB2-E83F-3EF1-9F894CDE87D4}"/>
                </a:ext>
              </a:extLst>
            </p:cNvPr>
            <p:cNvSpPr txBox="1"/>
            <p:nvPr/>
          </p:nvSpPr>
          <p:spPr>
            <a:xfrm>
              <a:off x="4271639" y="4015513"/>
              <a:ext cx="136645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0070C0"/>
                  </a:solidFill>
                </a:rPr>
                <a:t>RAAN </a:t>
              </a:r>
              <a:r>
                <a:rPr lang="ko-KR" altLang="en-US" sz="1000" dirty="0">
                  <a:solidFill>
                    <a:srgbClr val="0070C0"/>
                  </a:solidFill>
                </a:rPr>
                <a:t>차이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3DB15F1-18E4-6DA4-E77E-369A354BA33D}"/>
                </a:ext>
              </a:extLst>
            </p:cNvPr>
            <p:cNvSpPr txBox="1"/>
            <p:nvPr/>
          </p:nvSpPr>
          <p:spPr>
            <a:xfrm>
              <a:off x="4294073" y="4737050"/>
              <a:ext cx="126183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solidFill>
                    <a:srgbClr val="0070C0"/>
                  </a:solidFill>
                </a:rPr>
                <a:t>편대비행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40CD9E7-99A2-7B5C-DEC6-AC3A5637584E}"/>
                </a:ext>
              </a:extLst>
            </p:cNvPr>
            <p:cNvSpPr txBox="1"/>
            <p:nvPr/>
          </p:nvSpPr>
          <p:spPr>
            <a:xfrm>
              <a:off x="1144965" y="3587469"/>
              <a:ext cx="118614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FF0000"/>
                  </a:solidFill>
                </a:rPr>
                <a:t>동일 </a:t>
              </a:r>
              <a:r>
                <a:rPr lang="en-US" altLang="ko-KR" sz="1050" dirty="0">
                  <a:solidFill>
                    <a:srgbClr val="FF0000"/>
                  </a:solidFill>
                </a:rPr>
                <a:t>Payload</a:t>
              </a:r>
              <a:endParaRPr lang="ko-KR" alt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6BA077C-3F46-EE78-1BA2-D852D82B69B9}"/>
                </a:ext>
              </a:extLst>
            </p:cNvPr>
            <p:cNvSpPr txBox="1"/>
            <p:nvPr/>
          </p:nvSpPr>
          <p:spPr>
            <a:xfrm>
              <a:off x="2746009" y="3583086"/>
              <a:ext cx="92621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FF0000"/>
                  </a:solidFill>
                </a:rPr>
                <a:t>성능 차이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F0E10E6-F3F5-CA67-C27E-238EB5EB2FB0}"/>
                </a:ext>
              </a:extLst>
            </p:cNvPr>
            <p:cNvSpPr txBox="1"/>
            <p:nvPr/>
          </p:nvSpPr>
          <p:spPr>
            <a:xfrm>
              <a:off x="5037453" y="3592481"/>
              <a:ext cx="112683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FF0000"/>
                  </a:solidFill>
                </a:rPr>
                <a:t>이종 </a:t>
              </a:r>
              <a:r>
                <a:rPr lang="en-US" altLang="ko-KR" sz="1050" dirty="0">
                  <a:solidFill>
                    <a:srgbClr val="FF0000"/>
                  </a:solidFill>
                </a:rPr>
                <a:t>Payload</a:t>
              </a:r>
              <a:endParaRPr lang="ko-KR" alt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31B90D-A0BC-6A07-0268-393F1BB84DD3}"/>
                </a:ext>
              </a:extLst>
            </p:cNvPr>
            <p:cNvSpPr txBox="1"/>
            <p:nvPr/>
          </p:nvSpPr>
          <p:spPr>
            <a:xfrm>
              <a:off x="6624591" y="3588634"/>
              <a:ext cx="105895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50" dirty="0">
                  <a:solidFill>
                    <a:srgbClr val="FF0000"/>
                  </a:solidFill>
                </a:rPr>
                <a:t>Multi-Satellite</a:t>
              </a:r>
              <a:endParaRPr lang="ko-KR" alt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376E85E-01AC-3BE8-A6CB-DAE87A1CBB8B}"/>
                </a:ext>
              </a:extLst>
            </p:cNvPr>
            <p:cNvSpPr txBox="1"/>
            <p:nvPr/>
          </p:nvSpPr>
          <p:spPr>
            <a:xfrm>
              <a:off x="2797381" y="2859588"/>
              <a:ext cx="859074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 err="1"/>
                <a:t>Starlink</a:t>
              </a:r>
              <a:endParaRPr lang="ko-KR" altLang="en-US" sz="1400" b="1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E60461C-6875-0FA1-D1AB-3BEBBB856284}"/>
                </a:ext>
              </a:extLst>
            </p:cNvPr>
            <p:cNvSpPr txBox="1"/>
            <p:nvPr/>
          </p:nvSpPr>
          <p:spPr>
            <a:xfrm>
              <a:off x="4954868" y="2751145"/>
              <a:ext cx="1226452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/>
                <a:t>SAR/EO </a:t>
              </a:r>
            </a:p>
            <a:p>
              <a:pPr algn="ctr"/>
              <a:r>
                <a:rPr lang="ko-KR" altLang="en-US" sz="1400" b="1" dirty="0"/>
                <a:t>초소형 위성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13EEA9D-2365-8F6A-7D8E-7FEDB23E21D2}"/>
                </a:ext>
              </a:extLst>
            </p:cNvPr>
            <p:cNvSpPr txBox="1"/>
            <p:nvPr/>
          </p:nvSpPr>
          <p:spPr>
            <a:xfrm>
              <a:off x="1511400" y="3980297"/>
              <a:ext cx="582115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/>
                <a:t>GPS</a:t>
              </a:r>
              <a:endParaRPr lang="ko-KR" altLang="en-US" sz="1400" b="1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A2EDA13-CB59-67E5-D16A-E40C7EC61641}"/>
                </a:ext>
              </a:extLst>
            </p:cNvPr>
            <p:cNvSpPr txBox="1"/>
            <p:nvPr/>
          </p:nvSpPr>
          <p:spPr>
            <a:xfrm>
              <a:off x="2738292" y="4701194"/>
              <a:ext cx="1082209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/>
                <a:t>Terra SAR</a:t>
              </a:r>
              <a:endParaRPr lang="ko-KR" altLang="en-US" sz="1400" b="1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9D99B3C-34F0-8AFC-B761-8E6908722B72}"/>
                </a:ext>
              </a:extLst>
            </p:cNvPr>
            <p:cNvSpPr txBox="1"/>
            <p:nvPr/>
          </p:nvSpPr>
          <p:spPr>
            <a:xfrm>
              <a:off x="5147493" y="4709599"/>
              <a:ext cx="97825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 err="1"/>
                <a:t>OptiSAR</a:t>
              </a:r>
              <a:endParaRPr lang="ko-KR" altLang="en-US" sz="1400" b="1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27CD476-0BB0-91B3-EBAE-69D57ADE1A1D}"/>
                </a:ext>
              </a:extLst>
            </p:cNvPr>
            <p:cNvSpPr txBox="1"/>
            <p:nvPr/>
          </p:nvSpPr>
          <p:spPr>
            <a:xfrm>
              <a:off x="6806583" y="4706690"/>
              <a:ext cx="804151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/>
                <a:t>A-train</a:t>
              </a:r>
              <a:endParaRPr lang="ko-KR" altLang="en-US" sz="1400" b="1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D1D8EFC-5AB4-65AD-9871-C58FA1E5235C}"/>
                </a:ext>
              </a:extLst>
            </p:cNvPr>
            <p:cNvSpPr txBox="1"/>
            <p:nvPr/>
          </p:nvSpPr>
          <p:spPr>
            <a:xfrm>
              <a:off x="6367566" y="1919323"/>
              <a:ext cx="144705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Heterogeneous </a:t>
              </a:r>
            </a:p>
            <a:p>
              <a:pPr algn="ctr"/>
              <a:r>
                <a:rPr lang="en-US" altLang="ko-KR" sz="10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satellite Constellation</a:t>
              </a:r>
              <a:endParaRPr lang="ko-KR" altLang="en-US" sz="10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67E1593-E88B-F630-2699-AB4AE7D9EE6C}"/>
                </a:ext>
              </a:extLst>
            </p:cNvPr>
            <p:cNvSpPr txBox="1"/>
            <p:nvPr/>
          </p:nvSpPr>
          <p:spPr>
            <a:xfrm>
              <a:off x="884057" y="4778146"/>
              <a:ext cx="144705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Homogeneous </a:t>
              </a:r>
            </a:p>
            <a:p>
              <a:pPr algn="ctr"/>
              <a:r>
                <a:rPr lang="en-US" altLang="ko-KR" sz="10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satellite Constellation</a:t>
              </a:r>
              <a:endParaRPr lang="ko-KR" alt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197D63D-641B-8566-E247-02BDFAC7FF1D}"/>
              </a:ext>
            </a:extLst>
          </p:cNvPr>
          <p:cNvSpPr txBox="1"/>
          <p:nvPr/>
        </p:nvSpPr>
        <p:spPr>
          <a:xfrm>
            <a:off x="-291546" y="6134803"/>
            <a:ext cx="8629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</a:t>
            </a:r>
            <a:r>
              <a:rPr lang="ko-KR" altLang="en-US" sz="1000" b="1" dirty="0"/>
              <a:t> 카이스트 </a:t>
            </a:r>
            <a:r>
              <a:rPr lang="en-US" altLang="ko-KR" sz="1000" b="1" dirty="0"/>
              <a:t>[HS-11] HSRC 1</a:t>
            </a:r>
            <a:r>
              <a:rPr lang="ko-KR" altLang="en-US" sz="1000" b="1" dirty="0"/>
              <a:t>단계 중간평가 자체점검 발표자료 </a:t>
            </a:r>
            <a:r>
              <a:rPr lang="en-US" altLang="ko-KR" sz="1000" b="1" dirty="0"/>
              <a:t>v00_YSU_2024.4.3</a:t>
            </a:r>
            <a:endParaRPr lang="en-US" altLang="ko-KR" sz="1000" b="1" dirty="0">
              <a:solidFill>
                <a:srgbClr val="1F23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48108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6037C075-29DA-78AF-D9D3-E8BA66A3C866}"/>
              </a:ext>
            </a:extLst>
          </p:cNvPr>
          <p:cNvSpPr/>
          <p:nvPr/>
        </p:nvSpPr>
        <p:spPr bwMode="auto">
          <a:xfrm>
            <a:off x="135286" y="6222223"/>
            <a:ext cx="3743031" cy="59728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 위성군의 해외 연구사례</a:t>
            </a:r>
            <a:r>
              <a:rPr lang="en-US" altLang="ko-KR" dirty="0"/>
              <a:t>(1)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933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 err="1"/>
              <a:t>OptiSAR</a:t>
            </a:r>
            <a:r>
              <a:rPr lang="en-US" altLang="ko-KR" dirty="0"/>
              <a:t> </a:t>
            </a:r>
            <a:r>
              <a:rPr lang="ko-KR" altLang="en-US" dirty="0"/>
              <a:t>프로젝트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/>
            <a:r>
              <a:rPr lang="en-US" altLang="ko-KR" dirty="0"/>
              <a:t>SAR-XL </a:t>
            </a:r>
            <a:r>
              <a:rPr lang="ko-KR" altLang="en-US" dirty="0"/>
              <a:t>기술을 사용하는 </a:t>
            </a:r>
            <a:r>
              <a:rPr lang="en-US" altLang="ko-KR" dirty="0"/>
              <a:t>SAR</a:t>
            </a:r>
            <a:r>
              <a:rPr lang="ko-KR" altLang="en-US" dirty="0"/>
              <a:t>위성과 </a:t>
            </a:r>
            <a:r>
              <a:rPr lang="en-US" altLang="ko-KR" dirty="0"/>
              <a:t>2</a:t>
            </a:r>
            <a:r>
              <a:rPr lang="ko-KR" altLang="en-US" dirty="0"/>
              <a:t>분 뒤에 따라오는 광학 위성으로 구성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r>
              <a:rPr lang="ko-KR" altLang="en-US" dirty="0"/>
              <a:t>궤도 정보</a:t>
            </a:r>
          </a:p>
          <a:p>
            <a:pPr lvl="1"/>
            <a:r>
              <a:rPr lang="ko-KR" altLang="en-US" dirty="0"/>
              <a:t>네 쌍의</a:t>
            </a:r>
            <a:r>
              <a:rPr lang="en-US" altLang="ko-KR" dirty="0"/>
              <a:t> </a:t>
            </a:r>
            <a:r>
              <a:rPr lang="ko-KR" altLang="en-US" dirty="0"/>
              <a:t>위성들은 궤도면 주위에 등간격으로 배치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95534C-CAEB-12D0-D171-DEB9EE1E7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518" y="1769540"/>
            <a:ext cx="2283318" cy="154879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4333172-9340-865B-E35A-39EE6B697693}"/>
              </a:ext>
            </a:extLst>
          </p:cNvPr>
          <p:cNvGraphicFramePr>
            <a:graphicFrameLocks noGrp="1"/>
          </p:cNvGraphicFramePr>
          <p:nvPr/>
        </p:nvGraphicFramePr>
        <p:xfrm>
          <a:off x="585456" y="4255294"/>
          <a:ext cx="6014217" cy="1680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446">
                  <a:extLst>
                    <a:ext uri="{9D8B030D-6E8A-4147-A177-3AD203B41FA5}">
                      <a16:colId xmlns:a16="http://schemas.microsoft.com/office/drawing/2014/main" val="1934110007"/>
                    </a:ext>
                  </a:extLst>
                </a:gridCol>
                <a:gridCol w="1748546">
                  <a:extLst>
                    <a:ext uri="{9D8B030D-6E8A-4147-A177-3AD203B41FA5}">
                      <a16:colId xmlns:a16="http://schemas.microsoft.com/office/drawing/2014/main" val="3433304667"/>
                    </a:ext>
                  </a:extLst>
                </a:gridCol>
                <a:gridCol w="1129421">
                  <a:extLst>
                    <a:ext uri="{9D8B030D-6E8A-4147-A177-3AD203B41FA5}">
                      <a16:colId xmlns:a16="http://schemas.microsoft.com/office/drawing/2014/main" val="4117600169"/>
                    </a:ext>
                  </a:extLst>
                </a:gridCol>
                <a:gridCol w="730958">
                  <a:extLst>
                    <a:ext uri="{9D8B030D-6E8A-4147-A177-3AD203B41FA5}">
                      <a16:colId xmlns:a16="http://schemas.microsoft.com/office/drawing/2014/main" val="3732205989"/>
                    </a:ext>
                  </a:extLst>
                </a:gridCol>
                <a:gridCol w="721682">
                  <a:extLst>
                    <a:ext uri="{9D8B030D-6E8A-4147-A177-3AD203B41FA5}">
                      <a16:colId xmlns:a16="http://schemas.microsoft.com/office/drawing/2014/main" val="2187101292"/>
                    </a:ext>
                  </a:extLst>
                </a:gridCol>
                <a:gridCol w="499220">
                  <a:extLst>
                    <a:ext uri="{9D8B030D-6E8A-4147-A177-3AD203B41FA5}">
                      <a16:colId xmlns:a16="http://schemas.microsoft.com/office/drawing/2014/main" val="992958570"/>
                    </a:ext>
                  </a:extLst>
                </a:gridCol>
                <a:gridCol w="489944">
                  <a:extLst>
                    <a:ext uri="{9D8B030D-6E8A-4147-A177-3AD203B41FA5}">
                      <a16:colId xmlns:a16="http://schemas.microsoft.com/office/drawing/2014/main" val="2977512495"/>
                    </a:ext>
                  </a:extLst>
                </a:gridCol>
              </a:tblGrid>
              <a:tr h="16249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Function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Inclination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</a:t>
                      </a: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of</a:t>
                      </a: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Satellite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46841"/>
                  </a:ext>
                </a:extLst>
              </a:tr>
              <a:tr h="162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Optics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Total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594251"/>
                  </a:ext>
                </a:extLst>
              </a:tr>
              <a:tr h="4176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SSO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지구 관측 임무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(LTAN 10:30)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98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16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72325"/>
                  </a:ext>
                </a:extLst>
              </a:tr>
              <a:tr h="417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MIO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중위도 지역의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높은 재방문율 허용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45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024666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6D5A17C8-ED43-B10B-F86A-3401BC530DC0}"/>
              </a:ext>
            </a:extLst>
          </p:cNvPr>
          <p:cNvGraphicFramePr>
            <a:graphicFrameLocks noGrp="1"/>
          </p:cNvGraphicFramePr>
          <p:nvPr/>
        </p:nvGraphicFramePr>
        <p:xfrm>
          <a:off x="585456" y="1739205"/>
          <a:ext cx="5275687" cy="1548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434">
                  <a:extLst>
                    <a:ext uri="{9D8B030D-6E8A-4147-A177-3AD203B41FA5}">
                      <a16:colId xmlns:a16="http://schemas.microsoft.com/office/drawing/2014/main" val="1914817558"/>
                    </a:ext>
                  </a:extLst>
                </a:gridCol>
                <a:gridCol w="2089858">
                  <a:extLst>
                    <a:ext uri="{9D8B030D-6E8A-4147-A177-3AD203B41FA5}">
                      <a16:colId xmlns:a16="http://schemas.microsoft.com/office/drawing/2014/main" val="816440905"/>
                    </a:ext>
                  </a:extLst>
                </a:gridCol>
                <a:gridCol w="2337395">
                  <a:extLst>
                    <a:ext uri="{9D8B030D-6E8A-4147-A177-3AD203B41FA5}">
                      <a16:colId xmlns:a16="http://schemas.microsoft.com/office/drawing/2014/main" val="3531733101"/>
                    </a:ext>
                  </a:extLst>
                </a:gridCol>
              </a:tblGrid>
              <a:tr h="1701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Payload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Dual mode Cam/Band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30524"/>
                  </a:ext>
                </a:extLst>
              </a:tr>
              <a:tr h="246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Optics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Multi-spectral </a:t>
                      </a:r>
                      <a:r>
                        <a:rPr lang="en-US" altLang="ko-KR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pushbroom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고해상도</a:t>
                      </a: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(0.5m GSD)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의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듀얼모드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광학 카메라 사용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463829"/>
                  </a:ext>
                </a:extLst>
              </a:tr>
              <a:tr h="2463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RGB color video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/>
                </a:tc>
                <a:extLst>
                  <a:ext uri="{0D108BD9-81ED-4DB2-BD59-A6C34878D82A}">
                    <a16:rowId xmlns:a16="http://schemas.microsoft.com/office/drawing/2014/main" val="2605333760"/>
                  </a:ext>
                </a:extLst>
              </a:tr>
              <a:tr h="24631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X-band(1m class)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SAR-XL 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기술을 이용한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듀얼밴드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사용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095560"/>
                  </a:ext>
                </a:extLst>
              </a:tr>
              <a:tr h="2463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L-band(5m class)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/>
                </a:tc>
                <a:extLst>
                  <a:ext uri="{0D108BD9-81ED-4DB2-BD59-A6C34878D82A}">
                    <a16:rowId xmlns:a16="http://schemas.microsoft.com/office/drawing/2014/main" val="4050504015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AC4FC3C2-F1AB-398E-8099-0525C3B35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554" y="3476540"/>
            <a:ext cx="1922435" cy="12879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FDFFD92-F060-7007-EF2A-A7BB12EE7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554" y="4822805"/>
            <a:ext cx="1922435" cy="15502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E07C17-75B5-F0DB-A148-7D7954BB043F}"/>
              </a:ext>
            </a:extLst>
          </p:cNvPr>
          <p:cNvSpPr txBox="1"/>
          <p:nvPr/>
        </p:nvSpPr>
        <p:spPr>
          <a:xfrm>
            <a:off x="-291546" y="6411251"/>
            <a:ext cx="862983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</a:t>
            </a:r>
            <a:r>
              <a:rPr lang="ko-KR" altLang="en-US" sz="1000" b="1" dirty="0"/>
              <a:t> </a:t>
            </a:r>
            <a:r>
              <a:rPr lang="en-US" altLang="en-US" sz="1000" b="1" dirty="0"/>
              <a:t>P. Fox, G. </a:t>
            </a:r>
            <a:r>
              <a:rPr lang="en-US" altLang="en-US" sz="1000" b="1" dirty="0" err="1"/>
              <a:t>Tyc</a:t>
            </a:r>
            <a:r>
              <a:rPr lang="en-US" altLang="en-US" sz="1000" b="1" dirty="0"/>
              <a:t>, and K. Beckett, “The UrtheCast SAR-XL multi-band, multi-aperture spaceborne SAR system,” 2017 IEEE Radar Conference (</a:t>
            </a:r>
            <a:r>
              <a:rPr lang="en-US" altLang="en-US" sz="1000" b="1" dirty="0" err="1"/>
              <a:t>RadarConf</a:t>
            </a:r>
            <a:r>
              <a:rPr lang="en-US" altLang="en-US" sz="1000" b="1" dirty="0"/>
              <a:t>), pp. 1761–1764, May 2017.</a:t>
            </a:r>
            <a:endParaRPr lang="en-US" altLang="ko-KR" sz="1000" b="1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sz="1000" b="1" dirty="0">
              <a:solidFill>
                <a:srgbClr val="1F23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6766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AD776A03-9662-706D-E07B-288E22F89723}"/>
              </a:ext>
            </a:extLst>
          </p:cNvPr>
          <p:cNvSpPr/>
          <p:nvPr/>
        </p:nvSpPr>
        <p:spPr bwMode="auto">
          <a:xfrm>
            <a:off x="135286" y="6222223"/>
            <a:ext cx="3743031" cy="59728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 위성군의 해외 연구사례</a:t>
            </a:r>
            <a:r>
              <a:rPr lang="en-US" altLang="ko-KR" dirty="0"/>
              <a:t>(2)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933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신속한 </a:t>
            </a:r>
            <a:r>
              <a:rPr lang="en-US" altLang="ko-KR" dirty="0"/>
              <a:t>SRT </a:t>
            </a:r>
            <a:r>
              <a:rPr lang="ko-KR" altLang="en-US" dirty="0"/>
              <a:t>제공을 위한 이종위성군 설계 연구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/>
            <a:r>
              <a:rPr lang="ko-KR" altLang="en-US" dirty="0"/>
              <a:t>자연재해 등 국방 및 </a:t>
            </a:r>
            <a:r>
              <a:rPr lang="ko-KR" altLang="en-US" b="1" u="sng" dirty="0"/>
              <a:t>자연안보에 신속하게 대응 </a:t>
            </a:r>
            <a:endParaRPr lang="en-US" altLang="ko-KR" b="1" u="sng" dirty="0"/>
          </a:p>
          <a:p>
            <a:pPr lvl="1"/>
            <a:r>
              <a:rPr lang="en-US" altLang="ko-KR" dirty="0"/>
              <a:t>SRT(System Response Time)</a:t>
            </a:r>
            <a:r>
              <a:rPr lang="ko-KR" altLang="en-US" dirty="0"/>
              <a:t>를 최대한 줄일 수 있는 이종위성군 설계</a:t>
            </a:r>
            <a:endParaRPr lang="en-US" altLang="ko-KR" dirty="0"/>
          </a:p>
          <a:p>
            <a:pPr lvl="1"/>
            <a:r>
              <a:rPr lang="en-US" altLang="ko-KR" b="1" u="sng" dirty="0"/>
              <a:t>SRT </a:t>
            </a:r>
            <a:r>
              <a:rPr lang="ko-KR" altLang="en-US" b="1" u="sng" dirty="0"/>
              <a:t>성능을 향상</a:t>
            </a:r>
            <a:r>
              <a:rPr lang="ko-KR" altLang="en-US" dirty="0"/>
              <a:t>시키기 위해 </a:t>
            </a:r>
            <a:r>
              <a:rPr lang="ko-KR" altLang="en-US" b="1" u="sng" dirty="0"/>
              <a:t>서로 다른 기능을 하는 두 종류의 위성</a:t>
            </a:r>
            <a:r>
              <a:rPr lang="en-US" altLang="ko-KR" dirty="0"/>
              <a:t>(Imaging</a:t>
            </a:r>
            <a:r>
              <a:rPr lang="ko-KR" altLang="en-US" dirty="0"/>
              <a:t> 위성과 </a:t>
            </a:r>
            <a:r>
              <a:rPr lang="en-US" altLang="ko-KR" dirty="0"/>
              <a:t>Relay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en-US" altLang="ko-KR" dirty="0"/>
              <a:t>Cross-Link</a:t>
            </a:r>
            <a:r>
              <a:rPr lang="ko-KR" altLang="en-US" dirty="0"/>
              <a:t>하여 운용함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07C17-75B5-F0DB-A148-7D7954BB043F}"/>
              </a:ext>
            </a:extLst>
          </p:cNvPr>
          <p:cNvSpPr txBox="1"/>
          <p:nvPr/>
        </p:nvSpPr>
        <p:spPr>
          <a:xfrm>
            <a:off x="-169751" y="6189788"/>
            <a:ext cx="90566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</a:t>
            </a:r>
            <a:r>
              <a:rPr lang="ko-KR" altLang="en-US" sz="1000" b="1" dirty="0"/>
              <a:t> </a:t>
            </a:r>
            <a:r>
              <a:rPr lang="en-US" altLang="en-US" sz="1000" b="1" dirty="0"/>
              <a:t>I. Sanad and D. G. Michelson, "A Framework for Heterogeneous Satellite Constellation Design for Rapid Response Earth Observations," 2019 IEEE Aerospace Conference, Big Sky, MT, USA, 2019, pp. 1-10, </a:t>
            </a:r>
            <a:r>
              <a:rPr lang="en-US" altLang="en-US" sz="1000" b="1" dirty="0" err="1"/>
              <a:t>doi</a:t>
            </a:r>
            <a:r>
              <a:rPr lang="en-US" altLang="en-US" sz="1000" b="1" dirty="0"/>
              <a:t>: 10.1109/AERO.2019.8741813. </a:t>
            </a:r>
            <a:endParaRPr lang="en-US" altLang="ko-KR" sz="1000" b="1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sz="1000" b="1" dirty="0">
              <a:solidFill>
                <a:srgbClr val="1F2328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2B76BE8-E57F-A672-6DF9-A864F9A4F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255310"/>
              </p:ext>
            </p:extLst>
          </p:nvPr>
        </p:nvGraphicFramePr>
        <p:xfrm>
          <a:off x="884057" y="2739099"/>
          <a:ext cx="4001288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03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  <a:gridCol w="721043">
                  <a:extLst>
                    <a:ext uri="{9D8B030D-6E8A-4147-A177-3AD203B41FA5}">
                      <a16:colId xmlns:a16="http://schemas.microsoft.com/office/drawing/2014/main" val="3647112933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Constellation type</a:t>
                      </a:r>
                      <a:endParaRPr lang="ko-KR" altLang="en-US" sz="14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Relay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189452"/>
                  </a:ext>
                </a:extLst>
              </a:tr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 Type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SSO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MIO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MEO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Orbital altitude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575km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8,000km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 of satellites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Inclination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45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76487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Swath Width(SW)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437km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1.35m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Detector pitch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</a:rPr>
                        <a:t>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0.5m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Daylight global coverage %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98.75%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 latitude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30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~34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17627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BAF7367-D881-479E-DE05-F411101E6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181531"/>
              </p:ext>
            </p:extLst>
          </p:nvPr>
        </p:nvGraphicFramePr>
        <p:xfrm>
          <a:off x="5137077" y="2739099"/>
          <a:ext cx="3122866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478">
                  <a:extLst>
                    <a:ext uri="{9D8B030D-6E8A-4147-A177-3AD203B41FA5}">
                      <a16:colId xmlns:a16="http://schemas.microsoft.com/office/drawing/2014/main" val="1881032504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19693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1.2~1.4m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0.12~0.14m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DP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90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20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212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309454"/>
                  </a:ext>
                </a:extLst>
              </a:tr>
              <a:tr h="2319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473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304945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B9FC1605-66FA-5F18-5219-7520DD6FE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077" y="4311746"/>
            <a:ext cx="2218431" cy="175069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630142-5DD7-CCDC-A737-E4E8BD943876}"/>
                  </a:ext>
                </a:extLst>
              </p:cNvPr>
              <p:cNvSpPr txBox="1"/>
              <p:nvPr/>
            </p:nvSpPr>
            <p:spPr>
              <a:xfrm>
                <a:off x="7464469" y="4555698"/>
                <a:ext cx="1590948" cy="10567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1200" b="1" dirty="0"/>
                  <a:t>  GSD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altLang="ko-KR" sz="1600" b="1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altLang="ko-KR" sz="16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𝑫𝑷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ad>
                            <m:radPr>
                              <m:degHide m:val="on"/>
                              <m:ctrlPr>
                                <a:rPr lang="en-US" altLang="ko-KR" sz="16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1600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𝒆𝒍𝒆𝒗</m:t>
                              </m:r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sz="12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630142-5DD7-CCDC-A737-E4E8BD943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469" y="4555698"/>
                <a:ext cx="1590948" cy="1056764"/>
              </a:xfrm>
              <a:prstGeom prst="rect">
                <a:avLst/>
              </a:prstGeom>
              <a:blipFill>
                <a:blip r:embed="rId4"/>
                <a:stretch>
                  <a:fillRect t="-5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326479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 위성군의 국내 연구사례</a:t>
            </a:r>
            <a:r>
              <a:rPr lang="en-US" altLang="ko-KR" dirty="0"/>
              <a:t>(1), (2)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16979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초소형 </a:t>
            </a:r>
            <a:r>
              <a:rPr lang="ko-KR" altLang="en-US" dirty="0" err="1"/>
              <a:t>위성군</a:t>
            </a:r>
            <a:r>
              <a:rPr lang="ko-KR" altLang="en-US" dirty="0"/>
              <a:t> 궤도설계와 유지 방법 연구</a:t>
            </a:r>
            <a:r>
              <a:rPr lang="en-US" altLang="ko-KR" dirty="0"/>
              <a:t>(</a:t>
            </a:r>
            <a:r>
              <a:rPr lang="ko-KR" altLang="en-US" dirty="0"/>
              <a:t>황영민</a:t>
            </a:r>
            <a:r>
              <a:rPr lang="en-US" altLang="ko-KR" dirty="0"/>
              <a:t>, 2019)</a:t>
            </a:r>
          </a:p>
          <a:p>
            <a:pPr lvl="1">
              <a:defRPr/>
            </a:pPr>
            <a:r>
              <a:rPr lang="ko-KR" altLang="en-US" b="1" u="sng" dirty="0"/>
              <a:t>한반도 및 인근의 주요 군사기지를 관심지역</a:t>
            </a:r>
            <a:r>
              <a:rPr lang="ko-KR" altLang="en-US" dirty="0"/>
              <a:t>으로 한 감시정찰 </a:t>
            </a:r>
            <a:r>
              <a:rPr lang="ko-KR" altLang="en-US" dirty="0" err="1"/>
              <a:t>위성군</a:t>
            </a:r>
            <a:r>
              <a:rPr lang="ko-KR" altLang="en-US" dirty="0"/>
              <a:t> 설계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한반도에 잠재적 위협이 될 수 있는 요소를 파악하여 </a:t>
            </a:r>
            <a:r>
              <a:rPr lang="ko-KR" altLang="en-US" b="1" u="sng" dirty="0"/>
              <a:t>국내 안보 강화에 기여</a:t>
            </a:r>
            <a:endParaRPr lang="en-US" altLang="ko-KR" b="1" u="sng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/>
              <a:t>지역 커버리지 초소형 </a:t>
            </a:r>
            <a:r>
              <a:rPr lang="ko-KR" altLang="en-US" dirty="0" err="1"/>
              <a:t>위성군</a:t>
            </a:r>
            <a:r>
              <a:rPr lang="ko-KR" altLang="en-US" dirty="0"/>
              <a:t> 연구</a:t>
            </a:r>
            <a:r>
              <a:rPr lang="en-US" altLang="ko-KR" dirty="0"/>
              <a:t>(</a:t>
            </a:r>
            <a:r>
              <a:rPr lang="ko-KR" altLang="en-US" dirty="0"/>
              <a:t>신진영</a:t>
            </a:r>
            <a:r>
              <a:rPr lang="en-US" altLang="ko-KR" dirty="0"/>
              <a:t>, 2020)</a:t>
            </a:r>
          </a:p>
          <a:p>
            <a:pPr lvl="1">
              <a:defRPr/>
            </a:pPr>
            <a:r>
              <a:rPr lang="ko-KR" altLang="en-US" b="1" u="sng" dirty="0"/>
              <a:t>좁은 </a:t>
            </a:r>
            <a:r>
              <a:rPr lang="ko-KR" altLang="en-US" b="1" u="sng" dirty="0" err="1"/>
              <a:t>커버리지와</a:t>
            </a:r>
            <a:r>
              <a:rPr lang="ko-KR" altLang="en-US" b="1" u="sng" dirty="0"/>
              <a:t> 저궤도 조건</a:t>
            </a:r>
            <a:r>
              <a:rPr lang="ko-KR" altLang="en-US" dirty="0"/>
              <a:t>을 반영한 초소형 </a:t>
            </a:r>
            <a:r>
              <a:rPr lang="ko-KR" altLang="en-US" dirty="0" err="1"/>
              <a:t>위성군</a:t>
            </a:r>
            <a:r>
              <a:rPr lang="ko-KR" altLang="en-US" dirty="0"/>
              <a:t> 궤도 설계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커버리지 및 재방문 주기 성능 지수 향상을 위해 </a:t>
            </a:r>
            <a:r>
              <a:rPr lang="ko-KR" altLang="en-US" b="1" u="sng" dirty="0"/>
              <a:t>관심지역의 위도와 궤도 경사각의 관계를 연구</a:t>
            </a:r>
            <a:endParaRPr lang="en-US" altLang="ko-KR" b="1" u="sng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연구 방법</a:t>
            </a:r>
            <a:endParaRPr lang="en-US" altLang="ko-KR" dirty="0"/>
          </a:p>
          <a:p>
            <a:pPr lvl="1">
              <a:defRPr/>
            </a:pPr>
            <a:r>
              <a:rPr lang="ko-KR" altLang="en-US" dirty="0" err="1"/>
              <a:t>위성군</a:t>
            </a:r>
            <a:r>
              <a:rPr lang="ko-KR" altLang="en-US" dirty="0"/>
              <a:t> 설계 패턴 </a:t>
            </a:r>
            <a:r>
              <a:rPr lang="en-US" altLang="ko-KR" dirty="0"/>
              <a:t>: </a:t>
            </a:r>
            <a:r>
              <a:rPr lang="ko-KR" altLang="en-US" b="1" u="sng" dirty="0"/>
              <a:t>워커</a:t>
            </a:r>
            <a:r>
              <a:rPr lang="en-US" altLang="ko-KR" b="1" u="sng" dirty="0"/>
              <a:t>-</a:t>
            </a:r>
            <a:r>
              <a:rPr lang="ko-KR" altLang="en-US" b="1" u="sng" dirty="0"/>
              <a:t>델타 </a:t>
            </a:r>
            <a:r>
              <a:rPr lang="ko-KR" altLang="en-US" b="1" u="sng" dirty="0" err="1"/>
              <a:t>위성군</a:t>
            </a:r>
            <a:r>
              <a:rPr lang="en-US" altLang="ko-KR" b="1" u="sng" dirty="0"/>
              <a:t>(T/P/F)</a:t>
            </a:r>
          </a:p>
          <a:p>
            <a:pPr lvl="1">
              <a:defRPr/>
            </a:pPr>
            <a:r>
              <a:rPr lang="ko-KR" altLang="en-US" dirty="0"/>
              <a:t>각 경우 별 </a:t>
            </a:r>
            <a:r>
              <a:rPr lang="ko-KR" altLang="en-US" b="1" u="sng" dirty="0"/>
              <a:t>평균 재방문 주기의 성능 지수를 비교</a:t>
            </a:r>
            <a:r>
              <a:rPr lang="ko-KR" altLang="en-US" dirty="0"/>
              <a:t>하여 최적의 조합을 선택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0857552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연구의 목적 및 의의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16979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이종 위성군의 연구 목표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다양한 궤도를 사용하여 </a:t>
            </a:r>
            <a:r>
              <a:rPr lang="ko-KR" altLang="en-US" b="1" u="sng" dirty="0"/>
              <a:t>이종 위성군을 운용하였을 때 얼마나 더 높은 성능을 내는 지 </a:t>
            </a:r>
            <a:r>
              <a:rPr lang="en-US" altLang="ko-KR" b="1" u="sng" dirty="0" err="1"/>
              <a:t>FoM</a:t>
            </a:r>
            <a:r>
              <a:rPr lang="ko-KR" altLang="en-US" dirty="0"/>
              <a:t>을 세우고 각각의 지표를 기준으로 </a:t>
            </a:r>
            <a:r>
              <a:rPr lang="ko-KR" altLang="en-US" b="1" u="sng" dirty="0" err="1"/>
              <a:t>상황별</a:t>
            </a:r>
            <a:r>
              <a:rPr lang="ko-KR" altLang="en-US" b="1" u="sng" dirty="0"/>
              <a:t> 최적 결과를 도출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 대표적인 두 가지의 설계 방법을 비교하여 </a:t>
            </a:r>
            <a:r>
              <a:rPr lang="ko-KR" altLang="en-US" b="1" u="sng" dirty="0"/>
              <a:t>기술 및 비용면에서 더 효율적인 </a:t>
            </a:r>
            <a:r>
              <a:rPr lang="ko-KR" altLang="en-US" b="1" u="sng" dirty="0" err="1"/>
              <a:t>위성군</a:t>
            </a:r>
            <a:r>
              <a:rPr lang="ko-KR" altLang="en-US" b="1" u="sng" dirty="0"/>
              <a:t> 설계 방법을 선택</a:t>
            </a:r>
            <a:r>
              <a:rPr lang="ko-KR" altLang="en-US" dirty="0"/>
              <a:t>하는 것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Quasi-symmetric Method(</a:t>
            </a:r>
            <a:r>
              <a:rPr lang="ko-KR" altLang="en-US" dirty="0" err="1"/>
              <a:t>준대칭</a:t>
            </a:r>
            <a:r>
              <a:rPr lang="ko-KR" altLang="en-US" dirty="0"/>
              <a:t> 기법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en-US" altLang="ko-KR" dirty="0"/>
              <a:t>BILP Method(</a:t>
            </a:r>
            <a:r>
              <a:rPr lang="ko-KR" altLang="en-US" dirty="0"/>
              <a:t>이진 선형 계획법</a:t>
            </a:r>
            <a:r>
              <a:rPr lang="en-US" altLang="ko-KR" dirty="0"/>
              <a:t>)</a:t>
            </a:r>
          </a:p>
          <a:p>
            <a:pPr lvl="2"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/>
              <a:t>연구의</a:t>
            </a:r>
            <a:r>
              <a:rPr lang="en-US" altLang="ko-KR" dirty="0"/>
              <a:t> </a:t>
            </a:r>
            <a:r>
              <a:rPr lang="ko-KR" altLang="en-US" dirty="0"/>
              <a:t>의의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기존에 널리 쓰이던 </a:t>
            </a:r>
            <a:r>
              <a:rPr lang="ko-KR" altLang="en-US" b="1" u="sng" dirty="0" err="1"/>
              <a:t>준대칭</a:t>
            </a:r>
            <a:r>
              <a:rPr lang="ko-KR" altLang="en-US" b="1" u="sng" dirty="0"/>
              <a:t> 기법의 한계를 지적</a:t>
            </a:r>
            <a:r>
              <a:rPr lang="ko-KR" altLang="en-US" dirty="0"/>
              <a:t>하고 </a:t>
            </a:r>
            <a:r>
              <a:rPr lang="ko-KR" altLang="en-US" dirty="0" err="1"/>
              <a:t>위성군</a:t>
            </a:r>
            <a:r>
              <a:rPr lang="ko-KR" altLang="en-US" dirty="0"/>
              <a:t> 사용자의 </a:t>
            </a:r>
            <a:r>
              <a:rPr lang="ko-KR" altLang="en-US" b="1" u="sng" dirty="0"/>
              <a:t>구체적인 요구사항을 고려하여 최적의 설계 방법을 제안</a:t>
            </a:r>
            <a:endParaRPr lang="en-US" altLang="ko-KR" b="1" u="sng" dirty="0"/>
          </a:p>
          <a:p>
            <a:pPr lvl="1">
              <a:defRPr/>
            </a:pPr>
            <a:r>
              <a:rPr lang="ko-KR" altLang="en-US" dirty="0"/>
              <a:t>국내에서도 적용할 수 있는 </a:t>
            </a:r>
            <a:r>
              <a:rPr lang="ko-KR" altLang="en-US" b="1" u="sng" dirty="0"/>
              <a:t>두 곳 이상의 관심지역</a:t>
            </a:r>
            <a:r>
              <a:rPr lang="ko-KR" altLang="en-US" dirty="0"/>
              <a:t>의 좌표를 정밀하게 설정하고 </a:t>
            </a:r>
            <a:r>
              <a:rPr lang="ko-KR" altLang="en-US" b="1" u="sng" dirty="0"/>
              <a:t>이진 선형 계획법이 갖는 강점을 실험 결과로서 재확인</a:t>
            </a:r>
            <a:r>
              <a:rPr lang="ko-KR" altLang="en-US" dirty="0"/>
              <a:t> 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향후 국내 인공위성 운용 분야에서 활용될 </a:t>
            </a:r>
            <a:r>
              <a:rPr lang="ko-KR" altLang="en-US" b="1" u="sng" dirty="0"/>
              <a:t>이종 </a:t>
            </a:r>
            <a:r>
              <a:rPr lang="ko-KR" altLang="en-US" b="1" u="sng" dirty="0" err="1"/>
              <a:t>위성군</a:t>
            </a:r>
            <a:r>
              <a:rPr lang="ko-KR" altLang="en-US" b="1" u="sng" dirty="0"/>
              <a:t> 체계의 발전에 기여</a:t>
            </a:r>
            <a:r>
              <a:rPr lang="ko-KR" altLang="en-US" dirty="0"/>
              <a:t>할 것으로 기대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406634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주요 참고 문헌 정보</a:t>
            </a:r>
          </a:p>
        </p:txBody>
      </p:sp>
    </p:spTree>
    <p:extLst>
      <p:ext uri="{BB962C8B-B14F-4D97-AF65-F5344CB8AC3E}">
        <p14:creationId xmlns:p14="http://schemas.microsoft.com/office/powerpoint/2010/main" val="3313992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이진 선형 계획법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주요 참고 문헌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</a:p>
          <a:p>
            <a:pPr lvl="1">
              <a:defRPr/>
            </a:pPr>
            <a:r>
              <a:rPr lang="en-US" altLang="ko-KR" b="1" dirty="0">
                <a:solidFill>
                  <a:srgbClr val="1F2328"/>
                </a:solidFill>
              </a:rPr>
              <a:t>Hang </a:t>
            </a:r>
            <a:r>
              <a:rPr lang="en-US" altLang="ko-KR" b="1" dirty="0" err="1">
                <a:solidFill>
                  <a:srgbClr val="1F2328"/>
                </a:solidFill>
              </a:rPr>
              <a:t>Woon</a:t>
            </a:r>
            <a:r>
              <a:rPr lang="en-US" altLang="ko-KR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b="1" dirty="0">
                <a:solidFill>
                  <a:srgbClr val="1F2328"/>
                </a:solidFill>
              </a:rPr>
              <a:t>”, 2020 Journal of Spacecraft and Rockets 57:6, 1309-1327</a:t>
            </a:r>
          </a:p>
          <a:p>
            <a:pPr lvl="2">
              <a:defRPr/>
            </a:pPr>
            <a:r>
              <a:rPr lang="ko-KR" altLang="en-US" dirty="0">
                <a:solidFill>
                  <a:srgbClr val="1F2328"/>
                </a:solidFill>
              </a:rPr>
              <a:t>이진 선형 계획법의 전체적인 개념 및 흐름을 소개 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en-US" altLang="ko-KR" b="1" i="0" dirty="0">
                <a:effectLst/>
              </a:rPr>
              <a:t>Lee, Hang </a:t>
            </a:r>
            <a:r>
              <a:rPr lang="en-US" altLang="ko-KR" b="1" i="0" dirty="0" err="1">
                <a:effectLst/>
              </a:rPr>
              <a:t>Woon</a:t>
            </a:r>
            <a:r>
              <a:rPr lang="en-US" altLang="ko-KR" b="1" i="0" dirty="0">
                <a:effectLst/>
              </a:rPr>
              <a:t> and Koki Ho. “AAS 20-498 </a:t>
            </a:r>
            <a:r>
              <a:rPr lang="en-US" altLang="ko-KR" b="1" i="0" u="sng" dirty="0">
                <a:effectLst/>
              </a:rPr>
              <a:t>BINARY INTEGER LINEAR PROGRAMMING FORMULATION FOR OPTIMAL SATELLITE CONSTELLATION RECONFIGURATION</a:t>
            </a:r>
            <a:r>
              <a:rPr lang="en-US" altLang="ko-KR" b="1" i="0" dirty="0">
                <a:effectLst/>
              </a:rPr>
              <a:t>” (2020).</a:t>
            </a:r>
          </a:p>
          <a:p>
            <a:pPr lvl="2">
              <a:defRPr/>
            </a:pPr>
            <a:r>
              <a:rPr lang="ko-KR" altLang="en-US" dirty="0">
                <a:solidFill>
                  <a:srgbClr val="1F2328"/>
                </a:solidFill>
              </a:rPr>
              <a:t>이진 선형 계획법을</a:t>
            </a:r>
            <a:r>
              <a:rPr lang="ko-KR" altLang="en-US" dirty="0"/>
              <a:t> 이용한 </a:t>
            </a:r>
            <a:r>
              <a:rPr lang="ko-KR" altLang="en-US" dirty="0" err="1"/>
              <a:t>위성군</a:t>
            </a:r>
            <a:r>
              <a:rPr lang="ko-KR" altLang="en-US" dirty="0"/>
              <a:t> 배치의 재구성에 대한 내용을 중점적으로 소개</a:t>
            </a:r>
            <a:endParaRPr lang="en-US" altLang="ko-KR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620686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시뮬레이션 환경 설정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35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초기 조건 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lee(2020)</a:t>
            </a:r>
            <a:r>
              <a:rPr lang="ko-KR" altLang="en-US" dirty="0"/>
              <a:t>에서 도출한 결과와 </a:t>
            </a:r>
            <a:r>
              <a:rPr lang="ko-KR" altLang="en-US" b="1" u="sng" dirty="0"/>
              <a:t>실제 연구 결과의 비교를 위해 동일한 값</a:t>
            </a:r>
            <a:r>
              <a:rPr lang="ko-KR" altLang="en-US" dirty="0"/>
              <a:t>으로 설정</a:t>
            </a: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>
              <a:defRPr/>
            </a:pPr>
            <a:r>
              <a:rPr lang="en-US" altLang="ko-KR" dirty="0"/>
              <a:t>1. </a:t>
            </a:r>
            <a:r>
              <a:rPr lang="ko-KR" altLang="en-US" dirty="0"/>
              <a:t>시간 정보 설정</a:t>
            </a:r>
            <a:endParaRPr lang="en-US" altLang="ko-KR" dirty="0"/>
          </a:p>
          <a:p>
            <a:pPr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>
              <a:defRPr/>
            </a:pPr>
            <a:endParaRPr lang="en-US" altLang="ko-KR" sz="1000" dirty="0">
              <a:solidFill>
                <a:srgbClr val="1F2328"/>
              </a:solidFill>
              <a:latin typeface="-apple-system"/>
            </a:endParaRPr>
          </a:p>
          <a:p>
            <a:pPr>
              <a:defRPr/>
            </a:pPr>
            <a:r>
              <a:rPr lang="en-US" altLang="ko-KR" dirty="0"/>
              <a:t>2. </a:t>
            </a:r>
            <a:r>
              <a:rPr lang="ko-KR" altLang="en-US" dirty="0"/>
              <a:t>관심지역 정보 설정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000" dirty="0"/>
          </a:p>
          <a:p>
            <a:pPr>
              <a:defRPr/>
            </a:pPr>
            <a:r>
              <a:rPr lang="en-US" altLang="ko-KR" dirty="0"/>
              <a:t>3. </a:t>
            </a:r>
            <a:r>
              <a:rPr lang="ko-KR" altLang="en-US" dirty="0"/>
              <a:t>기준 위성의 궤도 요소 정보 설정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시뮬레이션 환경 설정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FCE9AD6D-B228-35B7-723D-E9EE5422D2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3051175"/>
                  </p:ext>
                </p:extLst>
              </p:nvPr>
            </p:nvGraphicFramePr>
            <p:xfrm>
              <a:off x="756462" y="2521525"/>
              <a:ext cx="6202252" cy="548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0563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193692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Epoch Time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전파 시간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TimeStep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𝑳</m:t>
                                </m:r>
                              </m:oMath>
                            </m:oMathPara>
                          </a14:m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193692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24.01.01 00:00:00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 day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120 s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720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FCE9AD6D-B228-35B7-723D-E9EE5422D2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3051175"/>
                  </p:ext>
                </p:extLst>
              </p:nvPr>
            </p:nvGraphicFramePr>
            <p:xfrm>
              <a:off x="756462" y="2521525"/>
              <a:ext cx="6202252" cy="548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0563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Epoch Time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전파 시간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TimeStep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181" t="-2174" r="-787" b="-1152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24.01.01 00:00:00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 day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120 s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720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233CCEF4-8055-9743-D2F8-6084F5C071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2749671"/>
                  </p:ext>
                </p:extLst>
              </p:nvPr>
            </p:nvGraphicFramePr>
            <p:xfrm>
              <a:off x="756462" y="3792296"/>
              <a:ext cx="6903755" cy="548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4761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1734761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1734761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1699472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228272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위도</a:t>
                          </a: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/>
                                </a:rPr>
                                <m:t>∅</m:t>
                              </m:r>
                            </m:oMath>
                          </a14:m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)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경도</a:t>
                          </a: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𝜆</m:t>
                              </m:r>
                            </m:oMath>
                          </a14:m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)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최소 </a:t>
                          </a:r>
                          <a:r>
                            <a:rPr lang="ko-KR" altLang="en-US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고도각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커버리지 요구 횟수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228272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34.75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84.39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W</a:t>
                          </a:r>
                          <a:endParaRPr lang="en-US" altLang="ko-KR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233CCEF4-8055-9743-D2F8-6084F5C071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2749671"/>
                  </p:ext>
                </p:extLst>
              </p:nvPr>
            </p:nvGraphicFramePr>
            <p:xfrm>
              <a:off x="756462" y="3792296"/>
              <a:ext cx="6903755" cy="548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4761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1734761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1734761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1699472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1" t="-2174" r="-298246" b="-1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04" t="-2174" r="-199296" b="-1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최소 </a:t>
                          </a:r>
                          <a:r>
                            <a:rPr lang="ko-KR" altLang="en-US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고도각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커버리지 요구 횟수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34.75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84.39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W</a:t>
                          </a:r>
                          <a:endParaRPr lang="en-US" altLang="ko-KR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24CE3F4B-4F16-6DC3-8E6D-E0B2CF9A8C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2437308"/>
                  </p:ext>
                </p:extLst>
              </p:nvPr>
            </p:nvGraphicFramePr>
            <p:xfrm>
              <a:off x="756462" y="5096378"/>
              <a:ext cx="4418315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0641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828993">
                      <a:extLst>
                        <a:ext uri="{9D8B030D-6E8A-4147-A177-3AD203B41FA5}">
                          <a16:colId xmlns:a16="http://schemas.microsoft.com/office/drawing/2014/main" val="3768649921"/>
                        </a:ext>
                      </a:extLst>
                    </a:gridCol>
                    <a:gridCol w="580641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86117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580641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580641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580641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altLang="ko-KR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𝛺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8059km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102.9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24CE3F4B-4F16-6DC3-8E6D-E0B2CF9A8C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2437308"/>
                  </p:ext>
                </p:extLst>
              </p:nvPr>
            </p:nvGraphicFramePr>
            <p:xfrm>
              <a:off x="756462" y="5096378"/>
              <a:ext cx="4418315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0641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828993">
                      <a:extLst>
                        <a:ext uri="{9D8B030D-6E8A-4147-A177-3AD203B41FA5}">
                          <a16:colId xmlns:a16="http://schemas.microsoft.com/office/drawing/2014/main" val="3768649921"/>
                        </a:ext>
                      </a:extLst>
                    </a:gridCol>
                    <a:gridCol w="580641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86117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580641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580641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580641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53" t="-3704" r="-66526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0588" t="-3704" r="-364706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41667" t="-3704" r="-41666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2857" t="-3704" r="-25714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63158" t="-3704" r="-203158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57292" t="-3704" r="-101042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4211" t="-3704" r="-2105" b="-1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8059km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102.9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4507344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Repeating Ground Track </a:t>
                </a:r>
                <a:r>
                  <a:rPr lang="ko-KR" altLang="en-US" dirty="0"/>
                  <a:t>궤도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b="1" u="sng" dirty="0"/>
                  <a:t>모든 설계기법에 대해 기본적으로 가정</a:t>
                </a:r>
                <a:r>
                  <a:rPr lang="ko-KR" altLang="en-US" dirty="0"/>
                  <a:t>한 궤도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일반 궤도에 비해 </a:t>
                </a:r>
                <a:r>
                  <a:rPr lang="ko-KR" altLang="en-US" b="1" u="sng" dirty="0"/>
                  <a:t>높은 커버리지 성능</a:t>
                </a:r>
                <a:r>
                  <a:rPr lang="ko-KR" altLang="en-US" dirty="0"/>
                  <a:t>을 보임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위성이 특정 횟수의 공전을 마치면 </a:t>
                </a:r>
                <a:r>
                  <a:rPr lang="ko-KR" altLang="en-US" b="1" u="sng" dirty="0"/>
                  <a:t>궤도 전파 초기의 위치로 돌아오는 특징</a:t>
                </a:r>
                <a:endParaRPr lang="en-US" altLang="ko-KR" b="1" u="sng" dirty="0"/>
              </a:p>
              <a:p>
                <a:pPr lvl="2">
                  <a:defRPr/>
                </a:pPr>
                <a:r>
                  <a:rPr lang="ko-KR" altLang="en-US" dirty="0"/>
                  <a:t>주어진 전파 시간 동안 위성의 공전 횟수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2">
                  <a:defRPr/>
                </a:pPr>
                <a:r>
                  <a:rPr lang="ko-KR" altLang="en-US" dirty="0"/>
                  <a:t>초기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위치로 돌아오는 데 걸리는 시간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	</a:t>
                </a:r>
              </a:p>
              <a:p>
                <a:pPr lvl="2">
                  <a:defRPr/>
                </a:pPr>
                <a:r>
                  <a:rPr lang="en-US" altLang="ko-KR" dirty="0"/>
                  <a:t>ex)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dirty="0"/>
                  <a:t>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= 12/1 : </a:t>
                </a:r>
                <a:r>
                  <a:rPr lang="ko-KR" altLang="en-US" dirty="0"/>
                  <a:t>하루에</a:t>
                </a:r>
                <a:r>
                  <a:rPr lang="en-US" altLang="ko-KR" dirty="0"/>
                  <a:t> 12</a:t>
                </a:r>
                <a:r>
                  <a:rPr lang="ko-KR" altLang="en-US" dirty="0"/>
                  <a:t>번 공전 후 초기 위치로 돌아오는 </a:t>
                </a:r>
                <a:r>
                  <a:rPr lang="en-US" altLang="ko-KR" dirty="0"/>
                  <a:t>RGT </a:t>
                </a:r>
                <a:r>
                  <a:rPr lang="ko-KR" altLang="en-US" dirty="0"/>
                  <a:t>궤도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RGT </a:t>
                </a:r>
                <a:r>
                  <a:rPr lang="ko-KR" altLang="en-US" dirty="0"/>
                  <a:t>궤도의 특성을 이용하여 </a:t>
                </a:r>
                <a:r>
                  <a:rPr lang="ko-KR" altLang="en-US" b="1" u="sng" dirty="0"/>
                  <a:t>궤도 </a:t>
                </a:r>
                <a:r>
                  <a:rPr lang="ko-KR" altLang="en-US" b="1" u="sng" dirty="0" err="1"/>
                  <a:t>장반경</a:t>
                </a:r>
                <a:r>
                  <a:rPr lang="en-US" altLang="ko-KR" b="1" u="sng" dirty="0"/>
                  <a:t>(</a:t>
                </a:r>
                <a14:m>
                  <m:oMath xmlns:m="http://schemas.openxmlformats.org/officeDocument/2006/math">
                    <m:r>
                      <a:rPr lang="en-US" altLang="ko-KR" b="1" i="1" u="sng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b="1" i="1" u="sng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ko-KR" altLang="en-US" b="1" u="sng" dirty="0"/>
                  <a:t>값을 역으로 계산 가능</a:t>
                </a:r>
                <a:r>
                  <a:rPr lang="en-US" altLang="ko-KR" b="1" u="sng" dirty="0"/>
                  <a:t>	</a:t>
                </a:r>
                <a:r>
                  <a:rPr lang="en-US" altLang="ko-KR" dirty="0"/>
                  <a:t>	</a:t>
                </a:r>
              </a:p>
              <a:p>
                <a:pPr lvl="1"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지상</a:t>
            </a:r>
            <a:r>
              <a:rPr lang="en-US" altLang="ko-KR" dirty="0"/>
              <a:t> </a:t>
            </a:r>
            <a:r>
              <a:rPr lang="ko-KR" altLang="en-US" dirty="0"/>
              <a:t>궤적 반복 궤도</a:t>
            </a:r>
            <a:r>
              <a:rPr lang="en-US" altLang="ko-KR" dirty="0"/>
              <a:t>(RGT)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928001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Repeating Ground Track </a:t>
            </a:r>
            <a:r>
              <a:rPr lang="ko-KR" altLang="en-US" dirty="0"/>
              <a:t>궤도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r>
              <a:rPr lang="en-US" altLang="ko-KR" dirty="0"/>
              <a:t>						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지상</a:t>
            </a:r>
            <a:r>
              <a:rPr lang="en-US" altLang="ko-KR" dirty="0"/>
              <a:t> </a:t>
            </a:r>
            <a:r>
              <a:rPr lang="ko-KR" altLang="en-US" dirty="0"/>
              <a:t>궤적 반복 궤도</a:t>
            </a:r>
            <a:r>
              <a:rPr lang="en-US" altLang="ko-KR" dirty="0"/>
              <a:t>(RGT)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43D68F2-6A74-785E-5A28-D383B403F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8" y="1491288"/>
            <a:ext cx="4338887" cy="38271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7E30D1-0E60-345D-535A-ACEC0FD2C961}"/>
              </a:ext>
            </a:extLst>
          </p:cNvPr>
          <p:cNvSpPr txBox="1"/>
          <p:nvPr/>
        </p:nvSpPr>
        <p:spPr>
          <a:xfrm>
            <a:off x="-169751" y="5999821"/>
            <a:ext cx="90566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Sharon D. </a:t>
            </a:r>
            <a:r>
              <a:rPr lang="en-US" altLang="ko-KR" sz="1000" b="1" dirty="0" err="1">
                <a:solidFill>
                  <a:srgbClr val="1F2328"/>
                </a:solidFill>
              </a:rPr>
              <a:t>Vtipil</a:t>
            </a:r>
            <a:r>
              <a:rPr lang="en-US" altLang="ko-KR" sz="1000" b="1" dirty="0">
                <a:solidFill>
                  <a:srgbClr val="1F2328"/>
                </a:solidFill>
              </a:rPr>
              <a:t> and Brett Newman, “Determining an Earth Observation Repeat Ground Track Orbit for an Optimization Methodology”, Journal of Spacecraft and Rockets 2012 49:1, 157-164</a:t>
            </a:r>
          </a:p>
          <a:p>
            <a:pPr lvl="1">
              <a:defRPr/>
            </a:pPr>
            <a:endParaRPr lang="en-US" altLang="ko-KR" sz="1000" b="1" dirty="0">
              <a:solidFill>
                <a:srgbClr val="1F2328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98CE78-2D8E-A51B-C6B8-E3EFC21D2E60}"/>
              </a:ext>
            </a:extLst>
          </p:cNvPr>
          <p:cNvGrpSpPr/>
          <p:nvPr/>
        </p:nvGrpSpPr>
        <p:grpSpPr>
          <a:xfrm>
            <a:off x="5281631" y="1213890"/>
            <a:ext cx="2233700" cy="1889438"/>
            <a:chOff x="5281631" y="1491288"/>
            <a:chExt cx="2233700" cy="188943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8836E22-A358-B0E7-1280-31176CDC8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81631" y="1491288"/>
              <a:ext cx="2233700" cy="188943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46FFEC9-44F0-4328-F611-F7721EA89897}"/>
                </a:ext>
              </a:extLst>
            </p:cNvPr>
            <p:cNvSpPr/>
            <p:nvPr/>
          </p:nvSpPr>
          <p:spPr bwMode="auto">
            <a:xfrm>
              <a:off x="6796088" y="2813441"/>
              <a:ext cx="183329" cy="195209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2EE5E74-ECF3-B5C5-DB3B-69B0B7755495}"/>
                </a:ext>
              </a:extLst>
            </p:cNvPr>
            <p:cNvSpPr/>
            <p:nvPr/>
          </p:nvSpPr>
          <p:spPr bwMode="auto">
            <a:xfrm>
              <a:off x="5919789" y="1910086"/>
              <a:ext cx="183329" cy="195209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3E7D780-8785-210A-85C1-E2364794A28B}"/>
                </a:ext>
              </a:extLst>
            </p:cNvPr>
            <p:cNvSpPr/>
            <p:nvPr/>
          </p:nvSpPr>
          <p:spPr bwMode="auto">
            <a:xfrm>
              <a:off x="6242609" y="1890385"/>
              <a:ext cx="201054" cy="214910"/>
            </a:xfrm>
            <a:prstGeom prst="rect">
              <a:avLst/>
            </a:prstGeom>
            <a:noFill/>
            <a:ln w="9525">
              <a:solidFill>
                <a:srgbClr val="33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DE6A41D-63F1-87C3-3879-E5D9447B4769}"/>
                </a:ext>
              </a:extLst>
            </p:cNvPr>
            <p:cNvSpPr/>
            <p:nvPr/>
          </p:nvSpPr>
          <p:spPr bwMode="auto">
            <a:xfrm>
              <a:off x="7116111" y="2793740"/>
              <a:ext cx="201054" cy="214910"/>
            </a:xfrm>
            <a:prstGeom prst="rect">
              <a:avLst/>
            </a:prstGeom>
            <a:noFill/>
            <a:ln w="9525">
              <a:solidFill>
                <a:srgbClr val="33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6415A70-C401-69B1-74B1-B9877BB902B2}"/>
                </a:ext>
              </a:extLst>
            </p:cNvPr>
            <p:cNvSpPr/>
            <p:nvPr/>
          </p:nvSpPr>
          <p:spPr bwMode="auto">
            <a:xfrm>
              <a:off x="6343136" y="2355374"/>
              <a:ext cx="201054" cy="214910"/>
            </a:xfrm>
            <a:prstGeom prst="rect">
              <a:avLst/>
            </a:prstGeom>
            <a:noFill/>
            <a:ln w="9525">
              <a:solidFill>
                <a:srgbClr val="99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2F60612-8FF6-9A7E-89E8-7175EAC52A60}"/>
                </a:ext>
              </a:extLst>
            </p:cNvPr>
            <p:cNvSpPr/>
            <p:nvPr/>
          </p:nvSpPr>
          <p:spPr bwMode="auto">
            <a:xfrm>
              <a:off x="7176574" y="3066349"/>
              <a:ext cx="201054" cy="214910"/>
            </a:xfrm>
            <a:prstGeom prst="rect">
              <a:avLst/>
            </a:prstGeom>
            <a:noFill/>
            <a:ln w="9525">
              <a:solidFill>
                <a:srgbClr val="99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431AF93-18C4-E383-11F1-7D96EDAAD775}"/>
              </a:ext>
            </a:extLst>
          </p:cNvPr>
          <p:cNvGrpSpPr/>
          <p:nvPr/>
        </p:nvGrpSpPr>
        <p:grpSpPr>
          <a:xfrm>
            <a:off x="5281631" y="3273245"/>
            <a:ext cx="3668961" cy="2039942"/>
            <a:chOff x="5281631" y="3550643"/>
            <a:chExt cx="3668961" cy="203994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253A1C7-7483-ED5A-E0C9-9ECC0D965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81631" y="3550643"/>
              <a:ext cx="3668961" cy="20399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95446D7-2B16-6B5F-AE9F-5F515880AF11}"/>
                </a:ext>
              </a:extLst>
            </p:cNvPr>
            <p:cNvSpPr/>
            <p:nvPr/>
          </p:nvSpPr>
          <p:spPr bwMode="auto">
            <a:xfrm>
              <a:off x="6844355" y="4441351"/>
              <a:ext cx="201054" cy="214910"/>
            </a:xfrm>
            <a:prstGeom prst="rect">
              <a:avLst/>
            </a:prstGeom>
            <a:noFill/>
            <a:ln w="9525">
              <a:solidFill>
                <a:srgbClr val="99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406609E-175F-A337-EDA9-BB9CDC1D36E6}"/>
                </a:ext>
              </a:extLst>
            </p:cNvPr>
            <p:cNvSpPr/>
            <p:nvPr/>
          </p:nvSpPr>
          <p:spPr bwMode="auto">
            <a:xfrm>
              <a:off x="6375045" y="3864775"/>
              <a:ext cx="183329" cy="195209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A94532-7B7A-1368-4B38-A8963E98B435}"/>
                </a:ext>
              </a:extLst>
            </p:cNvPr>
            <p:cNvSpPr/>
            <p:nvPr/>
          </p:nvSpPr>
          <p:spPr bwMode="auto">
            <a:xfrm>
              <a:off x="5382563" y="5046403"/>
              <a:ext cx="201054" cy="214910"/>
            </a:xfrm>
            <a:prstGeom prst="rect">
              <a:avLst/>
            </a:prstGeom>
            <a:noFill/>
            <a:ln w="9525">
              <a:solidFill>
                <a:srgbClr val="33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내용 개체 틀 1">
                <a:extLst>
                  <a:ext uri="{FF2B5EF4-FFF2-40B4-BE49-F238E27FC236}">
                    <a16:creationId xmlns:a16="http://schemas.microsoft.com/office/drawing/2014/main" id="{9D9ED97D-4159-2559-96AC-3AEA3F9D98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2287" y="5440429"/>
                <a:ext cx="4331987" cy="10101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25000" lnSpcReduction="20000"/>
              </a:bodyPr>
              <a:lstStyle>
                <a:lvl1pPr marL="228600" indent="-36000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400" b="1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1pPr>
                <a:lvl2pPr marL="540000" indent="-324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b="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2pPr>
                <a:lvl3pPr marL="720000" indent="-288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16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3pPr>
                <a:lvl4pPr marL="90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4pPr>
                <a:lvl5pPr marL="108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en-US" altLang="ko-KR" sz="6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ko-KR" altLang="en-US" sz="6200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sz="6200" dirty="0"/>
                  <a:t> </a:t>
                </a:r>
                <a:r>
                  <a:rPr lang="ko-KR" altLang="en-US" sz="6200" dirty="0"/>
                  <a:t>제외한 나머지는 모두 상수</a:t>
                </a:r>
                <a:endParaRPr lang="en-US" altLang="ko-KR" sz="6200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216000" lvl="1" indent="0">
                  <a:buFont typeface="Wingdings" panose="05000000000000000000" pitchFamily="2" charset="2"/>
                  <a:buNone/>
                  <a:defRPr/>
                </a:pPr>
                <a:r>
                  <a:rPr lang="en-US" altLang="ko-KR" dirty="0"/>
                  <a:t>						</a:t>
                </a:r>
              </a:p>
            </p:txBody>
          </p:sp>
        </mc:Choice>
        <mc:Fallback xmlns="">
          <p:sp>
            <p:nvSpPr>
              <p:cNvPr id="21" name="내용 개체 틀 1">
                <a:extLst>
                  <a:ext uri="{FF2B5EF4-FFF2-40B4-BE49-F238E27FC236}">
                    <a16:creationId xmlns:a16="http://schemas.microsoft.com/office/drawing/2014/main" id="{9D9ED97D-4159-2559-96AC-3AEA3F9D9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287" y="5440429"/>
                <a:ext cx="4331987" cy="1010167"/>
              </a:xfrm>
              <a:prstGeom prst="rect">
                <a:avLst/>
              </a:prstGeom>
              <a:blipFill>
                <a:blip r:embed="rId6"/>
                <a:stretch>
                  <a:fillRect t="-72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354631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APC Decomposition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4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APC Decomposition</a:t>
            </a:r>
            <a:r>
              <a:rPr lang="ko-KR" altLang="en-US" dirty="0"/>
              <a:t>의 개념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두 설계 기법의 기초가 되는 사전 작업</a:t>
            </a:r>
            <a:endParaRPr lang="en-US" altLang="ko-KR" dirty="0"/>
          </a:p>
          <a:p>
            <a:pPr lvl="1">
              <a:defRPr/>
            </a:pPr>
            <a:r>
              <a:rPr lang="ko-KR" altLang="en-US" b="1" u="sng" dirty="0"/>
              <a:t>기준이 되는 위성</a:t>
            </a:r>
            <a:r>
              <a:rPr lang="en-US" altLang="ko-KR" b="1" u="sng" dirty="0"/>
              <a:t>(Seed Satellite) </a:t>
            </a:r>
            <a:r>
              <a:rPr lang="ko-KR" altLang="en-US" b="1" u="sng" dirty="0"/>
              <a:t>하나만을 운용하였을 때의 정보</a:t>
            </a:r>
            <a:r>
              <a:rPr lang="ko-KR" altLang="en-US" dirty="0"/>
              <a:t>를 이용하여 여러 대의 위성을 운용하였을 때의 결과를 수학적으로 계산하는 과정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다음의 세 단계로 구성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A</a:t>
            </a:r>
            <a:r>
              <a:rPr lang="en-US" altLang="ko-KR" dirty="0"/>
              <a:t>ccess Profile</a:t>
            </a:r>
          </a:p>
          <a:p>
            <a:pPr lvl="2">
              <a:defRPr/>
            </a:pPr>
            <a:r>
              <a:rPr lang="en-US" altLang="ko-KR" dirty="0"/>
              <a:t> Constellation </a:t>
            </a:r>
            <a:r>
              <a:rPr lang="en-US" altLang="ko-KR" dirty="0">
                <a:solidFill>
                  <a:srgbClr val="FF0000"/>
                </a:solidFill>
              </a:rPr>
              <a:t>P</a:t>
            </a:r>
            <a:r>
              <a:rPr lang="en-US" altLang="ko-KR" dirty="0"/>
              <a:t>attern Vector</a:t>
            </a:r>
          </a:p>
          <a:p>
            <a:pPr lvl="2">
              <a:defRPr/>
            </a:pPr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overage Timeline</a:t>
            </a:r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202358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97439449-60C0-86AB-9D33-5F2F0505EBC5}"/>
              </a:ext>
            </a:extLst>
          </p:cNvPr>
          <p:cNvSpPr/>
          <p:nvPr/>
        </p:nvSpPr>
        <p:spPr bwMode="auto">
          <a:xfrm>
            <a:off x="257082" y="6266143"/>
            <a:ext cx="3482711" cy="530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APC Decomposition</a:t>
            </a:r>
            <a:r>
              <a:rPr lang="ko-KR" altLang="en-US" dirty="0"/>
              <a:t>의 예시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r>
              <a:rPr lang="ko-KR" altLang="en-US" dirty="0"/>
              <a:t>의 간단한 예시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64F11BA-A421-115C-4BD7-B5C3F8DF6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79" y="1434359"/>
            <a:ext cx="6094713" cy="282709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B622B02A-7CB5-3850-57FB-C99765EAF2B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6779" y="4413481"/>
              <a:ext cx="4543315" cy="1308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9045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243074929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𝛺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400" b="0" i="0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æ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400" b="0" i="0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æ</m:t>
                                    </m:r>
                                  </m:e>
                                  <m:sub>
                                    <m:r>
                                      <a:rPr lang="en-US" altLang="ko-KR" sz="1400" b="0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9484660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400" b="0" i="0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æ</m:t>
                                    </m:r>
                                  </m:e>
                                  <m:sub>
                                    <m:r>
                                      <a:rPr lang="en-US" altLang="ko-KR" sz="1400" b="1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449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B622B02A-7CB5-3850-57FB-C99765EAF2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2450683"/>
                  </p:ext>
                </p:extLst>
              </p:nvPr>
            </p:nvGraphicFramePr>
            <p:xfrm>
              <a:off x="706779" y="4413481"/>
              <a:ext cx="4543315" cy="1308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9045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243074929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887" t="-1852" r="-505660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852" r="-400935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852" r="-300935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0000" t="-1852" r="-200935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4717" t="-1852" r="-102830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9065" t="-1852" r="-1869" b="-3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35" t="-101852" r="-600000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35" t="-201852" r="-6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9484660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35" t="-301852" r="-600000" b="-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4496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내용 개체 틀 1">
                <a:extLst>
                  <a:ext uri="{FF2B5EF4-FFF2-40B4-BE49-F238E27FC236}">
                    <a16:creationId xmlns:a16="http://schemas.microsoft.com/office/drawing/2014/main" id="{595C3B0D-66C6-9DB3-0B06-7887BA96A1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90271" y="4343974"/>
                <a:ext cx="4161263" cy="18297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36000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400" b="1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1pPr>
                <a:lvl2pPr marL="540000" indent="-324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b="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2pPr>
                <a:lvl3pPr marL="720000" indent="-288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16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3pPr>
                <a:lvl4pPr marL="90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4pPr>
                <a:lvl5pPr marL="108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>
                  <a:lnSpc>
                    <a:spcPct val="120000"/>
                  </a:lnSpc>
                  <a:defRPr/>
                </a:pP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첫번째 위성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>
                            <a:solidFill>
                              <a:schemeClr val="tx1"/>
                            </a:solidFill>
                          </a:rPr>
                          <m:t>æ</m:t>
                        </m:r>
                      </m:e>
                      <m:sub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b="0" i="1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 dirty="0"/>
                  <a:t> Seed Satellite</a:t>
                </a:r>
                <a:r>
                  <a:rPr lang="ko-KR" altLang="en-US" dirty="0"/>
                  <a:t>와 궤도요소가 일치하므로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lvl="2">
                  <a:lnSpc>
                    <a:spcPct val="120000"/>
                  </a:lnSpc>
                  <a:defRPr/>
                </a:pPr>
                <a:r>
                  <a:rPr lang="ko-KR" altLang="en-US" dirty="0"/>
                  <a:t>두번째 위성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>
                            <a:solidFill>
                              <a:schemeClr val="tx1"/>
                            </a:solidFill>
                          </a:rPr>
                          <m:t>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b="0" i="1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아래의 식에 의해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𝟑𝟔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dirty="0"/>
              </a:p>
              <a:p>
                <a:pPr marL="432000" lvl="2" indent="0">
                  <a:lnSpc>
                    <a:spcPct val="120000"/>
                  </a:lnSpc>
                  <a:buNone/>
                  <a:defRPr/>
                </a:pPr>
                <a:r>
                  <a:rPr lang="en-US" altLang="ko-KR" dirty="0">
                    <a:solidFill>
                      <a:srgbClr val="836967"/>
                    </a:solidFill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d>
                      <m:d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ko-KR" dirty="0"/>
                  <a:t> 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 (N : </a:t>
                </a:r>
                <a:r>
                  <a:rPr lang="ko-KR" altLang="en-US" dirty="0"/>
                  <a:t>총 위성 수</a:t>
                </a:r>
                <a:r>
                  <a:rPr lang="en-US" altLang="ko-KR" dirty="0"/>
                  <a:t>)</a:t>
                </a:r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 marL="216000" lvl="1" indent="0">
                  <a:buFont typeface="Wingdings" panose="05000000000000000000" pitchFamily="2" charset="2"/>
                  <a:buNone/>
                  <a:defRPr/>
                </a:pPr>
                <a:r>
                  <a:rPr lang="en-US" altLang="ko-KR" sz="1600" dirty="0"/>
                  <a:t>						</a:t>
                </a:r>
              </a:p>
            </p:txBody>
          </p:sp>
        </mc:Choice>
        <mc:Fallback xmlns="">
          <p:sp>
            <p:nvSpPr>
              <p:cNvPr id="11" name="내용 개체 틀 1">
                <a:extLst>
                  <a:ext uri="{FF2B5EF4-FFF2-40B4-BE49-F238E27FC236}">
                    <a16:creationId xmlns:a16="http://schemas.microsoft.com/office/drawing/2014/main" id="{595C3B0D-66C6-9DB3-0B06-7887BA96A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271" y="4343974"/>
                <a:ext cx="4161263" cy="18297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59AE682-CF5D-8D97-5292-0E79DF552B5C}"/>
              </a:ext>
            </a:extLst>
          </p:cNvPr>
          <p:cNvSpPr txBox="1"/>
          <p:nvPr/>
        </p:nvSpPr>
        <p:spPr>
          <a:xfrm>
            <a:off x="-200345" y="620439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18363744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</a:t>
            </a:r>
            <a:r>
              <a:rPr lang="en-US" altLang="ko-KR" dirty="0"/>
              <a:t>(vs </a:t>
            </a: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en-US" altLang="ko-KR" dirty="0"/>
              <a:t>)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202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기법의 흐름도</a:t>
            </a: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기법의 설계 개념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내용 개체 틀 1">
                <a:extLst>
                  <a:ext uri="{FF2B5EF4-FFF2-40B4-BE49-F238E27FC236}">
                    <a16:creationId xmlns:a16="http://schemas.microsoft.com/office/drawing/2014/main" id="{A4F4D79B-6642-AD92-0D33-7E29AFA3E3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9335" y="1342606"/>
                <a:ext cx="5022441" cy="51651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36000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400" b="1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1pPr>
                <a:lvl2pPr marL="540000" indent="-324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b="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2pPr>
                <a:lvl3pPr marL="720000" indent="-288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16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3pPr>
                <a:lvl4pPr marL="90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4pPr>
                <a:lvl5pPr marL="108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>
                  <a:defRPr/>
                </a:pP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① 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Seed Satellite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의 </a:t>
                </a:r>
                <a:r>
                  <a:rPr lang="ko-KR" altLang="en-US" b="1" u="sng" dirty="0">
                    <a:solidFill>
                      <a:schemeClr val="tx1"/>
                    </a:solidFill>
                    <a:cs typeface="Times New Roman"/>
                  </a:rPr>
                  <a:t>시간</a:t>
                </a:r>
                <a:r>
                  <a:rPr lang="en-US" altLang="ko-KR" b="1" u="sng" dirty="0">
                    <a:solidFill>
                      <a:schemeClr val="tx1"/>
                    </a:solidFill>
                    <a:cs typeface="Times New Roman"/>
                  </a:rPr>
                  <a:t>, </a:t>
                </a:r>
                <a:r>
                  <a:rPr lang="ko-KR" altLang="en-US" b="1" u="sng" dirty="0">
                    <a:cs typeface="Times New Roman"/>
                  </a:rPr>
                  <a:t>관심지역</a:t>
                </a:r>
                <a:r>
                  <a:rPr lang="en-US" altLang="ko-KR" b="1" u="sng" dirty="0">
                    <a:solidFill>
                      <a:schemeClr val="tx1"/>
                    </a:solidFill>
                    <a:cs typeface="Times New Roman"/>
                  </a:rPr>
                  <a:t> </a:t>
                </a:r>
                <a:r>
                  <a:rPr lang="ko-KR" altLang="en-US" b="1" u="sng" dirty="0">
                    <a:solidFill>
                      <a:schemeClr val="tx1"/>
                    </a:solidFill>
                    <a:cs typeface="Times New Roman"/>
                  </a:rPr>
                  <a:t>및</a:t>
                </a:r>
                <a:endParaRPr lang="en-US" altLang="ko-KR" b="1" u="sng" dirty="0">
                  <a:solidFill>
                    <a:schemeClr val="tx1"/>
                  </a:solidFill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b="1" dirty="0">
                    <a:cs typeface="Times New Roman"/>
                  </a:rPr>
                  <a:t>         </a:t>
                </a:r>
                <a:r>
                  <a:rPr lang="en-US" altLang="ko-KR" b="1" u="sng" dirty="0">
                    <a:solidFill>
                      <a:schemeClr val="tx1"/>
                    </a:solidFill>
                    <a:cs typeface="Times New Roman"/>
                  </a:rPr>
                  <a:t> </a:t>
                </a:r>
                <a:r>
                  <a:rPr lang="ko-KR" altLang="en-US" b="1" u="sng" dirty="0">
                    <a:solidFill>
                      <a:schemeClr val="tx1"/>
                    </a:solidFill>
                    <a:cs typeface="Times New Roman"/>
                  </a:rPr>
                  <a:t>궤도요소 정보를 입력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한다</a:t>
                </a:r>
                <a:r>
                  <a:rPr lang="en-US" altLang="ko-KR" dirty="0">
                    <a:cs typeface="Times New Roman"/>
                  </a:rPr>
                  <a:t>.</a:t>
                </a:r>
              </a:p>
              <a:p>
                <a:pPr marL="432000" lvl="2" indent="0">
                  <a:buNone/>
                  <a:defRPr/>
                </a:pPr>
                <a:endParaRPr lang="en-US" altLang="ko-KR" sz="500" dirty="0">
                  <a:solidFill>
                    <a:schemeClr val="tx1"/>
                  </a:solidFill>
                  <a:cs typeface="Times New Roman"/>
                </a:endParaRPr>
              </a:p>
              <a:p>
                <a:pPr lvl="2">
                  <a:defRPr/>
                </a:pP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② 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N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은 위성의 수에 해당하며 첫 번째 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n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을</a:t>
                </a:r>
                <a:endParaRPr lang="en-US" altLang="ko-KR" dirty="0">
                  <a:solidFill>
                    <a:schemeClr val="tx1"/>
                  </a:solidFill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         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0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으로 시작하여 </a:t>
                </a:r>
                <a:r>
                  <a:rPr lang="en-US" altLang="ko-KR" b="1" u="sng" dirty="0">
                    <a:solidFill>
                      <a:schemeClr val="tx1"/>
                    </a:solidFill>
                    <a:cs typeface="Times New Roman"/>
                  </a:rPr>
                  <a:t>N</a:t>
                </a:r>
                <a:r>
                  <a:rPr lang="ko-KR" altLang="en-US" b="1" u="sng" dirty="0">
                    <a:solidFill>
                      <a:schemeClr val="tx1"/>
                    </a:solidFill>
                    <a:cs typeface="Times New Roman"/>
                  </a:rPr>
                  <a:t>이 </a:t>
                </a:r>
                <a:r>
                  <a:rPr lang="ko-KR" altLang="en-US" b="1" u="sng" dirty="0">
                    <a:cs typeface="Times New Roman"/>
                  </a:rPr>
                  <a:t>최대 </a:t>
                </a:r>
                <a:r>
                  <a:rPr lang="en-US" altLang="ko-KR" b="1" u="sng" dirty="0">
                    <a:cs typeface="Times New Roman"/>
                  </a:rPr>
                  <a:t>L</a:t>
                </a:r>
                <a:r>
                  <a:rPr lang="ko-KR" altLang="en-US" b="1" u="sng" dirty="0">
                    <a:cs typeface="Times New Roman"/>
                  </a:rPr>
                  <a:t>이 될 때</a:t>
                </a:r>
                <a:endParaRPr lang="en-US" altLang="ko-KR" b="1" u="sng" dirty="0"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b="1" dirty="0">
                    <a:cs typeface="Times New Roman"/>
                  </a:rPr>
                  <a:t>           </a:t>
                </a:r>
                <a:r>
                  <a:rPr lang="ko-KR" altLang="en-US" b="1" u="sng" dirty="0">
                    <a:cs typeface="Times New Roman"/>
                  </a:rPr>
                  <a:t>까지 반복</a:t>
                </a:r>
                <a:r>
                  <a:rPr lang="ko-KR" altLang="en-US" dirty="0">
                    <a:cs typeface="Times New Roman"/>
                  </a:rPr>
                  <a:t>한다</a:t>
                </a:r>
                <a:r>
                  <a:rPr lang="en-US" altLang="ko-KR" dirty="0">
                    <a:cs typeface="Times New Roman"/>
                  </a:rPr>
                  <a:t>.</a:t>
                </a:r>
              </a:p>
              <a:p>
                <a:pPr marL="432000" lvl="2" indent="0">
                  <a:buNone/>
                  <a:defRPr/>
                </a:pPr>
                <a:endParaRPr lang="en-US" altLang="ko-KR" sz="500" dirty="0">
                  <a:cs typeface="Times New Roman"/>
                </a:endParaRPr>
              </a:p>
              <a:p>
                <a:pPr lvl="2">
                  <a:defRPr/>
                </a:pPr>
                <a:r>
                  <a:rPr lang="ko-KR" altLang="en-US" dirty="0">
                    <a:cs typeface="Times New Roman"/>
                  </a:rPr>
                  <a:t>③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ko-KR" altLang="en-US" i="1">
                        <a:latin typeface="Cambria Math" panose="02040503050406030204" pitchFamily="18" charset="0"/>
                      </a:rPr>
                      <m:t>으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로 정의하며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, </a:t>
                </a:r>
                <a:r>
                  <a:rPr lang="en-US" altLang="ko-KR" dirty="0" err="1">
                    <a:solidFill>
                      <a:schemeClr val="tx1"/>
                    </a:solidFill>
                    <a:cs typeface="Times New Roman"/>
                  </a:rPr>
                  <a:t>nint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는 가장 </a:t>
                </a:r>
                <a:endParaRPr lang="en-US" altLang="ko-KR" dirty="0">
                  <a:solidFill>
                    <a:schemeClr val="tx1"/>
                  </a:solidFill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         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가까운 정수를 뜻하는 함수다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.</a:t>
                </a: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</a:t>
                </a:r>
                <a:r>
                  <a:rPr lang="en-US" altLang="ko-KR" i="1" dirty="0">
                    <a:latin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값에 따라 </a:t>
                </a:r>
                <a:r>
                  <a:rPr lang="ko-KR" altLang="en-US" b="1" u="sng" dirty="0">
                    <a:solidFill>
                      <a:schemeClr val="tx1"/>
                    </a:solidFill>
                    <a:cs typeface="Times New Roman"/>
                  </a:rPr>
                  <a:t>균등하게 </a:t>
                </a:r>
                <a:r>
                  <a:rPr lang="en-US" altLang="ko-KR" b="1" u="sng" dirty="0">
                    <a:cs typeface="Times New Roman"/>
                  </a:rPr>
                  <a:t>Constellation</a:t>
                </a:r>
              </a:p>
              <a:p>
                <a:pPr marL="432000" lvl="2" indent="0">
                  <a:buNone/>
                  <a:defRPr/>
                </a:pPr>
                <a:r>
                  <a:rPr lang="en-US" altLang="ko-KR" b="1" dirty="0">
                    <a:cs typeface="Times New Roman"/>
                  </a:rPr>
                  <a:t>           </a:t>
                </a:r>
                <a:r>
                  <a:rPr lang="en-US" altLang="ko-KR" b="1" u="sng" dirty="0">
                    <a:cs typeface="Times New Roman"/>
                  </a:rPr>
                  <a:t>Pattern Vector</a:t>
                </a:r>
                <a:r>
                  <a:rPr lang="ko-KR" altLang="en-US" b="1" u="sng" dirty="0">
                    <a:cs typeface="Times New Roman"/>
                  </a:rPr>
                  <a:t>를 생성</a:t>
                </a:r>
                <a:r>
                  <a:rPr lang="ko-KR" altLang="en-US" dirty="0">
                    <a:cs typeface="Times New Roman"/>
                  </a:rPr>
                  <a:t>한다</a:t>
                </a:r>
                <a:r>
                  <a:rPr lang="en-US" altLang="ko-KR" dirty="0">
                    <a:cs typeface="Times New Roman"/>
                  </a:rPr>
                  <a:t>.</a:t>
                </a:r>
              </a:p>
              <a:p>
                <a:pPr marL="432000" lvl="2" indent="0">
                  <a:buNone/>
                  <a:defRPr/>
                </a:pPr>
                <a:endParaRPr lang="en-US" altLang="ko-KR" sz="500" dirty="0">
                  <a:cs typeface="Times New Roman"/>
                </a:endParaRPr>
              </a:p>
              <a:p>
                <a:pPr lvl="2">
                  <a:defRPr/>
                </a:pPr>
                <a:r>
                  <a:rPr lang="ko-KR" altLang="en-US" dirty="0">
                    <a:cs typeface="Times New Roman"/>
                  </a:rPr>
                  <a:t>④ 모든 관측시간에 대해 최소 커버리지 </a:t>
                </a:r>
                <a:endParaRPr lang="en-US" altLang="ko-KR" dirty="0"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         </a:t>
                </a:r>
                <a:r>
                  <a:rPr lang="ko-KR" altLang="en-US" dirty="0">
                    <a:cs typeface="Times New Roman"/>
                  </a:rPr>
                  <a:t>요구횟수를 달성할 때까지 </a:t>
                </a:r>
                <a:r>
                  <a:rPr lang="ko-KR" altLang="en-US" b="1" u="sng" dirty="0">
                    <a:cs typeface="Times New Roman"/>
                  </a:rPr>
                  <a:t>위성의  </a:t>
                </a:r>
                <a:endParaRPr lang="en-US" altLang="ko-KR" b="1" u="sng" dirty="0"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b="1" dirty="0">
                    <a:cs typeface="Times New Roman"/>
                  </a:rPr>
                  <a:t>          </a:t>
                </a:r>
                <a:r>
                  <a:rPr lang="en-US" altLang="ko-KR" b="1" u="sng" dirty="0">
                    <a:cs typeface="Times New Roman"/>
                  </a:rPr>
                  <a:t>Timeline</a:t>
                </a:r>
                <a:r>
                  <a:rPr lang="ko-KR" altLang="en-US" b="1" u="sng" dirty="0">
                    <a:cs typeface="Times New Roman"/>
                  </a:rPr>
                  <a:t>을 반복 누적</a:t>
                </a:r>
                <a:r>
                  <a:rPr lang="ko-KR" altLang="en-US" dirty="0">
                    <a:cs typeface="Times New Roman"/>
                  </a:rPr>
                  <a:t>하다가 달성 시</a:t>
                </a:r>
                <a:r>
                  <a:rPr lang="en-US" altLang="ko-KR" dirty="0">
                    <a:cs typeface="Times New Roman"/>
                  </a:rPr>
                  <a:t>,         </a:t>
                </a: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        </a:t>
                </a:r>
                <a:r>
                  <a:rPr lang="en-US" altLang="ko-KR" b="1" dirty="0">
                    <a:cs typeface="Times New Roman"/>
                  </a:rPr>
                  <a:t> </a:t>
                </a:r>
                <a:r>
                  <a:rPr lang="ko-KR" altLang="en-US" b="1" u="sng" dirty="0">
                    <a:cs typeface="Times New Roman"/>
                  </a:rPr>
                  <a:t>전체 관측 시간 동안의 </a:t>
                </a:r>
                <a:r>
                  <a:rPr lang="en-US" altLang="ko-KR" b="1" u="sng" dirty="0">
                    <a:cs typeface="Times New Roman"/>
                  </a:rPr>
                  <a:t>Coverage</a:t>
                </a:r>
              </a:p>
              <a:p>
                <a:pPr marL="432000" lvl="2" indent="0">
                  <a:buNone/>
                  <a:defRPr/>
                </a:pPr>
                <a:r>
                  <a:rPr lang="en-US" altLang="ko-KR" b="1" dirty="0">
                    <a:cs typeface="Times New Roman"/>
                  </a:rPr>
                  <a:t>          </a:t>
                </a:r>
                <a:r>
                  <a:rPr lang="en-US" altLang="ko-KR" b="1" u="sng" dirty="0">
                    <a:cs typeface="Times New Roman"/>
                  </a:rPr>
                  <a:t>Timeline</a:t>
                </a:r>
                <a:r>
                  <a:rPr lang="ko-KR" altLang="en-US" b="1" u="sng" dirty="0">
                    <a:cs typeface="Times New Roman"/>
                  </a:rPr>
                  <a:t>을 출력</a:t>
                </a:r>
                <a:r>
                  <a:rPr lang="ko-KR" altLang="en-US" dirty="0">
                    <a:cs typeface="Times New Roman"/>
                  </a:rPr>
                  <a:t>한다</a:t>
                </a:r>
                <a:r>
                  <a:rPr lang="en-US" altLang="ko-KR" dirty="0">
                    <a:cs typeface="Times New Roman"/>
                  </a:rPr>
                  <a:t>. </a:t>
                </a:r>
                <a:r>
                  <a:rPr lang="ko-KR" altLang="en-US" dirty="0">
                    <a:cs typeface="Times New Roman"/>
                  </a:rPr>
                  <a:t>달성 불가 시</a:t>
                </a:r>
                <a:r>
                  <a:rPr lang="en-US" altLang="ko-KR" dirty="0">
                    <a:cs typeface="Times New Roman"/>
                  </a:rPr>
                  <a:t>, </a:t>
                </a: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         </a:t>
                </a:r>
                <a:r>
                  <a:rPr lang="ko-KR" altLang="en-US" b="1" u="sng" dirty="0">
                    <a:cs typeface="Times New Roman"/>
                  </a:rPr>
                  <a:t>위성 수를 추가</a:t>
                </a:r>
                <a:r>
                  <a:rPr lang="ko-KR" altLang="en-US" dirty="0">
                    <a:cs typeface="Times New Roman"/>
                  </a:rPr>
                  <a:t>하여 반복한다</a:t>
                </a:r>
                <a:r>
                  <a:rPr lang="en-US" altLang="ko-KR" dirty="0">
                    <a:cs typeface="Times New Roman"/>
                  </a:rPr>
                  <a:t>.</a:t>
                </a:r>
                <a:endParaRPr lang="en-US" altLang="ko-KR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 marL="216000" lvl="1" indent="0">
                  <a:buFont typeface="Wingdings" panose="05000000000000000000" pitchFamily="2" charset="2"/>
                  <a:buNone/>
                  <a:defRPr/>
                </a:pPr>
                <a:r>
                  <a:rPr lang="en-US" altLang="ko-KR" sz="1600" dirty="0"/>
                  <a:t>						</a:t>
                </a:r>
              </a:p>
            </p:txBody>
          </p:sp>
        </mc:Choice>
        <mc:Fallback xmlns="">
          <p:sp>
            <p:nvSpPr>
              <p:cNvPr id="12" name="내용 개체 틀 1">
                <a:extLst>
                  <a:ext uri="{FF2B5EF4-FFF2-40B4-BE49-F238E27FC236}">
                    <a16:creationId xmlns:a16="http://schemas.microsoft.com/office/drawing/2014/main" id="{A4F4D79B-6642-AD92-0D33-7E29AFA3E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335" y="1342606"/>
                <a:ext cx="5022441" cy="5165181"/>
              </a:xfrm>
              <a:prstGeom prst="rect">
                <a:avLst/>
              </a:prstGeom>
              <a:blipFill>
                <a:blip r:embed="rId3"/>
                <a:stretch>
                  <a:fillRect t="-472" b="-12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그룹 21">
            <a:extLst>
              <a:ext uri="{FF2B5EF4-FFF2-40B4-BE49-F238E27FC236}">
                <a16:creationId xmlns:a16="http://schemas.microsoft.com/office/drawing/2014/main" id="{37EEB853-5D9A-EEF4-4952-8BCD0913E0DD}"/>
              </a:ext>
            </a:extLst>
          </p:cNvPr>
          <p:cNvGrpSpPr/>
          <p:nvPr/>
        </p:nvGrpSpPr>
        <p:grpSpPr>
          <a:xfrm>
            <a:off x="257080" y="1522606"/>
            <a:ext cx="4586170" cy="3443439"/>
            <a:chOff x="686697" y="1508277"/>
            <a:chExt cx="4586170" cy="344343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FDB58B8-8876-21A3-E0C2-8242C9BC4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0495" y="1522606"/>
              <a:ext cx="4522372" cy="34291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C55184E-6DB8-23E5-0EA4-E7B8C3E4B3B5}"/>
                </a:ext>
              </a:extLst>
            </p:cNvPr>
            <p:cNvSpPr txBox="1"/>
            <p:nvPr/>
          </p:nvSpPr>
          <p:spPr>
            <a:xfrm>
              <a:off x="686697" y="2054831"/>
              <a:ext cx="400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63DCE4A-BF67-288C-BA71-1A3140CA6322}"/>
                </a:ext>
              </a:extLst>
            </p:cNvPr>
            <p:cNvSpPr/>
            <p:nvPr/>
          </p:nvSpPr>
          <p:spPr bwMode="auto">
            <a:xfrm>
              <a:off x="781317" y="2403615"/>
              <a:ext cx="2033802" cy="100483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B1ABB50-8430-61E9-A94D-57F2D41E6EDD}"/>
                </a:ext>
              </a:extLst>
            </p:cNvPr>
            <p:cNvSpPr txBox="1"/>
            <p:nvPr/>
          </p:nvSpPr>
          <p:spPr>
            <a:xfrm>
              <a:off x="1498318" y="1508277"/>
              <a:ext cx="400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1DCA4EB-9AEF-5636-3509-533BD8D4300F}"/>
                </a:ext>
              </a:extLst>
            </p:cNvPr>
            <p:cNvSpPr/>
            <p:nvPr/>
          </p:nvSpPr>
          <p:spPr bwMode="auto">
            <a:xfrm>
              <a:off x="1873388" y="1611611"/>
              <a:ext cx="2209766" cy="56161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8E9A8C-0BE0-2406-D908-F08D6AA6B6CC}"/>
                </a:ext>
              </a:extLst>
            </p:cNvPr>
            <p:cNvSpPr txBox="1"/>
            <p:nvPr/>
          </p:nvSpPr>
          <p:spPr>
            <a:xfrm>
              <a:off x="2897206" y="2638949"/>
              <a:ext cx="400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2908550-D485-8246-D2D6-7CC37FC99B94}"/>
                </a:ext>
              </a:extLst>
            </p:cNvPr>
            <p:cNvSpPr/>
            <p:nvPr/>
          </p:nvSpPr>
          <p:spPr bwMode="auto">
            <a:xfrm>
              <a:off x="2988904" y="2979260"/>
              <a:ext cx="1166468" cy="63996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CFCE270-E235-CCBE-4E71-91A2D36B9173}"/>
                </a:ext>
              </a:extLst>
            </p:cNvPr>
            <p:cNvSpPr/>
            <p:nvPr/>
          </p:nvSpPr>
          <p:spPr bwMode="auto">
            <a:xfrm>
              <a:off x="2037665" y="4213146"/>
              <a:ext cx="3204190" cy="68665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4CE346-6011-0613-D49D-5783B23B458C}"/>
                </a:ext>
              </a:extLst>
            </p:cNvPr>
            <p:cNvSpPr txBox="1"/>
            <p:nvPr/>
          </p:nvSpPr>
          <p:spPr>
            <a:xfrm>
              <a:off x="1692827" y="4136694"/>
              <a:ext cx="400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④</a:t>
              </a: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E369D9-7E37-8EA6-3E74-C6A5DFF8BB08}"/>
              </a:ext>
            </a:extLst>
          </p:cNvPr>
          <p:cNvSpPr/>
          <p:nvPr/>
        </p:nvSpPr>
        <p:spPr bwMode="auto">
          <a:xfrm>
            <a:off x="41328" y="6296965"/>
            <a:ext cx="3482711" cy="530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572C4C-879D-5FC7-027D-B3C86678CA77}"/>
              </a:ext>
            </a:extLst>
          </p:cNvPr>
          <p:cNvSpPr txBox="1"/>
          <p:nvPr/>
        </p:nvSpPr>
        <p:spPr>
          <a:xfrm>
            <a:off x="-416099" y="6472702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117711327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n</a:t>
                </a:r>
                <a:r>
                  <a:rPr lang="ko-KR" altLang="en-US" dirty="0"/>
                  <a:t>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배열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흐름도를 바탕으로 </a:t>
                </a:r>
                <a:r>
                  <a:rPr lang="en-US" altLang="ko-KR" dirty="0"/>
                  <a:t>N=1,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dirty="0"/>
                  <a:t>을 입력 값으로 하여 </a:t>
                </a:r>
                <a:r>
                  <a:rPr lang="ko-KR" altLang="en-US" dirty="0" err="1"/>
                  <a:t>위성군</a:t>
                </a:r>
                <a:r>
                  <a:rPr lang="ko-KR" altLang="en-US" dirty="0"/>
                  <a:t> 설계 시작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아래의 식에 따라 </a:t>
                </a:r>
                <a:r>
                  <a:rPr lang="en-US" altLang="ko-KR" b="1" u="sng" dirty="0"/>
                  <a:t>n</a:t>
                </a:r>
                <a:r>
                  <a:rPr lang="ko-KR" altLang="en-US" b="1" u="sng" dirty="0"/>
                  <a:t>의 배열 및 총 위성 수 도출 가능</a:t>
                </a:r>
                <a:endParaRPr lang="en-US" altLang="ko-KR" b="1" u="sng" dirty="0"/>
              </a:p>
              <a:p>
                <a:pPr marL="216000" lvl="1" indent="0">
                  <a:buNone/>
                  <a:defRPr/>
                </a:pPr>
                <a:endParaRPr lang="en-US" altLang="ko-KR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r>
                  <a:rPr lang="en-US" altLang="ko-KR" b="0" dirty="0">
                    <a:solidFill>
                      <a:schemeClr val="tx1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720</m:t>
                        </m:r>
                      </m:num>
                      <m:den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</m:oMath>
                </a14:m>
                <a:r>
                  <a:rPr lang="en-US" altLang="ko-KR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≈32.73</m:t>
                    </m:r>
                  </m:oMath>
                </a14:m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sz="900" dirty="0"/>
              </a:p>
              <a:p>
                <a:pPr marL="216000" lvl="1" indent="0">
                  <a:buNone/>
                  <a:defRPr/>
                </a:pPr>
                <a:r>
                  <a:rPr lang="en-US" altLang="ko-KR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𝑛𝑖𝑛𝑡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[32.73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dirty="0">
                  <a:solidFill>
                    <a:schemeClr val="tx1"/>
                  </a:solidFill>
                </a:endParaRPr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dirty="0"/>
              </a:p>
              <a:p>
                <a:pPr marL="648000" lvl="3" indent="0">
                  <a:buNone/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 설계 방법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188310"/>
                  </p:ext>
                </p:extLst>
              </p:nvPr>
            </p:nvGraphicFramePr>
            <p:xfrm>
              <a:off x="884057" y="3590477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188310"/>
                  </p:ext>
                </p:extLst>
              </p:nvPr>
            </p:nvGraphicFramePr>
            <p:xfrm>
              <a:off x="884057" y="3590477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5" t="-1818" r="-100666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943" t="-1818" r="-89717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2857" t="-1818" r="-805714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818" r="-69811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3810" t="-1818" r="-604762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9057" t="-1818" r="-49905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4762" t="-1818" r="-40381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8113" t="-1818" r="-30000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05714" t="-1818" r="-20285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97170" t="-1818" r="-10094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6667" t="-1818" r="-1905" b="-11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7216217"/>
                  </p:ext>
                </p:extLst>
              </p:nvPr>
            </p:nvGraphicFramePr>
            <p:xfrm>
              <a:off x="884057" y="4369832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458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589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622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7216217"/>
                  </p:ext>
                </p:extLst>
              </p:nvPr>
            </p:nvGraphicFramePr>
            <p:xfrm>
              <a:off x="884057" y="4369832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05" t="-1818" r="-100666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943" t="-1818" r="-89717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857" t="-1818" r="-805714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000" t="-1818" r="-69811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3810" t="-1818" r="-604762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99057" t="-1818" r="-49905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4762" t="-1818" r="-40381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8113" t="-1818" r="-30000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05714" t="-1818" r="-20285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97170" t="-1818" r="-10094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6667" t="-1818" r="-1905" b="-11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458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589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622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08193563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ko-KR" altLang="en-US" dirty="0"/>
                  <a:t>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배치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n</a:t>
                </a:r>
                <a:r>
                  <a:rPr lang="ko-KR" altLang="en-US" dirty="0"/>
                  <a:t>의 범위</a:t>
                </a:r>
                <a:r>
                  <a:rPr lang="en-US" altLang="ko-KR" dirty="0"/>
                  <a:t> : 0</a:t>
                </a:r>
                <a:r>
                  <a:rPr lang="ko-KR" altLang="en-US" dirty="0"/>
                  <a:t>이상 </a:t>
                </a:r>
                <a:r>
                  <a:rPr lang="en-US" altLang="ko-KR" dirty="0"/>
                  <a:t>720 </a:t>
                </a:r>
                <a:r>
                  <a:rPr lang="ko-KR" altLang="en-US" dirty="0"/>
                  <a:t>미만의 정수 </a:t>
                </a:r>
                <a:r>
                  <a:rPr lang="en-US" altLang="ko-KR" dirty="0"/>
                  <a:t>(720</a:t>
                </a:r>
                <a:r>
                  <a:rPr lang="ko-KR" altLang="en-US" dirty="0"/>
                  <a:t>개</a:t>
                </a:r>
                <a:r>
                  <a:rPr lang="en-US" altLang="ko-KR" dirty="0"/>
                  <a:t>)</a:t>
                </a:r>
              </a:p>
              <a:p>
                <a:pPr lvl="1">
                  <a:defRPr/>
                </a:pPr>
                <a:r>
                  <a:rPr lang="ko-KR" altLang="en-US" dirty="0"/>
                  <a:t>𝛺의 범위 </a:t>
                </a:r>
                <a:r>
                  <a:rPr lang="en-US" altLang="ko-KR" dirty="0"/>
                  <a:t>: 0</a:t>
                </a:r>
                <a:r>
                  <a:rPr lang="ko-KR" altLang="en-US" dirty="0"/>
                  <a:t>이상 </a:t>
                </a:r>
                <a:r>
                  <a:rPr lang="en-US" altLang="ko-KR" dirty="0"/>
                  <a:t>360 </a:t>
                </a:r>
                <a:r>
                  <a:rPr lang="ko-KR" altLang="en-US" dirty="0"/>
                  <a:t>미만의 유리수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𝛺의 배치를 </a:t>
                </a:r>
                <a:r>
                  <a:rPr lang="ko-KR" altLang="en-US" b="1" u="sng" dirty="0"/>
                  <a:t>아래의 식에 따라 계산 가능  </a:t>
                </a:r>
                <a:endParaRPr lang="en-US" altLang="ko-KR" b="1" u="sng" dirty="0"/>
              </a:p>
              <a:p>
                <a:pPr lvl="1">
                  <a:defRPr/>
                </a:pPr>
                <a:endParaRPr lang="en-US" altLang="ko-KR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r>
                  <a:rPr lang="en-US" altLang="ko-KR" b="0" dirty="0">
                    <a:solidFill>
                      <a:schemeClr val="tx1"/>
                    </a:solidFill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𝛺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altLang="ko-KR" i="0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 설계 방법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4057" y="3343827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114.5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147.5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6211808"/>
                  </p:ext>
                </p:extLst>
              </p:nvPr>
            </p:nvGraphicFramePr>
            <p:xfrm>
              <a:off x="884057" y="3343827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5" t="-1852" r="-100666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943" t="-1852" r="-89717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2857" t="-1852" r="-805714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852" r="-69811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3810" t="-1852" r="-604762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9057" t="-1852" r="-4990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4762" t="-1852" r="-40381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8113" t="-1852" r="-3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05714" t="-1852" r="-2028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97170" t="-1852" r="-10094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6667" t="-1852" r="-1905" b="-1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114.5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147.5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4057" y="4123182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212.5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245.5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278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327.5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343.5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3586923"/>
                  </p:ext>
                </p:extLst>
              </p:nvPr>
            </p:nvGraphicFramePr>
            <p:xfrm>
              <a:off x="884057" y="4123182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05" t="-1852" r="-100666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943" t="-1852" r="-89717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857" t="-1852" r="-805714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000" t="-1852" r="-69811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3810" t="-1852" r="-604762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99057" t="-1852" r="-4990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4762" t="-1852" r="-40381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8113" t="-1852" r="-3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05714" t="-1852" r="-2028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97170" t="-1852" r="-10094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6667" t="-1852" r="-1905" b="-1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212.5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245.5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278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327.5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343.5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7597155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dirty="0"/>
                  <a:t>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배치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b="1" u="sng" dirty="0"/>
                  <a:t>RGT </a:t>
                </a:r>
                <a:r>
                  <a:rPr lang="ko-KR" altLang="en-US" b="1" u="sng" dirty="0"/>
                  <a:t>궤도의 특성</a:t>
                </a:r>
                <a:r>
                  <a:rPr lang="ko-KR" altLang="en-US" dirty="0"/>
                  <a:t>을 이용하여 𝑀의 배치를 </a:t>
                </a:r>
                <a:r>
                  <a:rPr lang="ko-KR" altLang="en-US" b="1" u="sng" dirty="0"/>
                  <a:t>아래의 식에 따라 계산 가능</a:t>
                </a:r>
                <a:endParaRPr lang="en-US" altLang="ko-KR" b="1" u="sng" dirty="0"/>
              </a:p>
              <a:p>
                <a:pPr lvl="1">
                  <a:defRPr/>
                </a:pPr>
                <a:endParaRPr lang="en-US" altLang="ko-KR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r>
                  <a:rPr lang="en-US" altLang="ko-KR" b="0" dirty="0">
                    <a:solidFill>
                      <a:schemeClr val="tx1"/>
                    </a:solidFill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ko-KR" altLang="en-US" dirty="0"/>
                              <m:t>𝛺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ko-KR" altLang="en-US" dirty="0"/>
                              <m:t>𝛺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𝑚𝑜𝑑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sz="900" dirty="0"/>
              </a:p>
              <a:p>
                <a:pPr marL="216000" lvl="1" indent="0">
                  <a:buNone/>
                  <a:defRPr/>
                </a:pPr>
                <a:r>
                  <a:rPr lang="en-US" altLang="ko-KR" dirty="0"/>
                  <a:t>           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ko-KR" altLang="en-US" dirty="0"/>
                              <m:t>𝛺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−0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+1</m:t>
                    </m:r>
                    <m:d>
                      <m:d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98.3</m:t>
                        </m:r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˚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dirty="0"/>
                  <a:t>  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ko-KR" sz="1400" dirty="0"/>
                  <a:t> 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marL="216000" lvl="1" indent="0">
                  <a:buNone/>
                  <a:defRPr/>
                </a:pPr>
                <a:endParaRPr lang="en-US" altLang="ko-KR" sz="900" dirty="0"/>
              </a:p>
              <a:p>
                <a:pPr marL="216000" lvl="1" indent="0">
                  <a:buNone/>
                  <a:defRPr/>
                </a:pPr>
                <a:r>
                  <a:rPr lang="en-US" altLang="ko-KR" dirty="0">
                    <a:ea typeface="Cambria Math" panose="02040503050406030204" pitchFamily="18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=98.3−12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ko-KR" altLang="en-US" dirty="0"/>
                          <m:t>𝛺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 설계 방법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4057" y="3684071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3535252"/>
                  </p:ext>
                </p:extLst>
              </p:nvPr>
            </p:nvGraphicFramePr>
            <p:xfrm>
              <a:off x="884057" y="3684071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5" t="-1852" r="-100666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943" t="-1852" r="-89717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2857" t="-1852" r="-805714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852" r="-69811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3810" t="-1852" r="-604762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9057" t="-1852" r="-4990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4762" t="-1852" r="-40381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8113" t="-1852" r="-3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05714" t="-1852" r="-2028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97170" t="-1852" r="-10094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6667" t="-1852" r="-1905" b="-1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4057" y="4463426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7963708"/>
                  </p:ext>
                </p:extLst>
              </p:nvPr>
            </p:nvGraphicFramePr>
            <p:xfrm>
              <a:off x="884057" y="4463426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05" t="-1852" r="-100666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943" t="-1852" r="-89717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857" t="-1852" r="-805714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000" t="-1852" r="-69811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3810" t="-1852" r="-604762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99057" t="-1852" r="-4990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4762" t="-1852" r="-40381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8113" t="-1852" r="-3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05714" t="-1852" r="-2028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97170" t="-1852" r="-10094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6667" t="-1852" r="-1905" b="-1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40808267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설계 개념</a:t>
            </a:r>
            <a:r>
              <a:rPr lang="en-US" altLang="ko-KR" dirty="0"/>
              <a:t>(T:P:F=18:3:1)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T, P, F 3</a:t>
            </a:r>
            <a:r>
              <a:rPr lang="ko-KR" altLang="en-US" dirty="0"/>
              <a:t>가지의 </a:t>
            </a:r>
            <a:r>
              <a:rPr lang="en-US" altLang="ko-KR" dirty="0"/>
              <a:t>parameter</a:t>
            </a:r>
            <a:r>
              <a:rPr lang="ko-KR" altLang="en-US" dirty="0"/>
              <a:t>로 비교적 간단히 </a:t>
            </a:r>
            <a:r>
              <a:rPr lang="ko-KR" altLang="en-US" dirty="0" err="1"/>
              <a:t>위성군</a:t>
            </a:r>
            <a:r>
              <a:rPr lang="ko-KR" altLang="en-US" dirty="0"/>
              <a:t> 설계를 할 수 있음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대표적인 </a:t>
            </a:r>
            <a:r>
              <a:rPr lang="ko-KR" altLang="en-US" dirty="0" err="1"/>
              <a:t>위성군</a:t>
            </a:r>
            <a:r>
              <a:rPr lang="ko-KR" altLang="en-US" dirty="0"/>
              <a:t> 설계 패턴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T : </a:t>
            </a:r>
            <a:r>
              <a:rPr lang="ko-KR" altLang="en-US" dirty="0"/>
              <a:t>총 위성의 수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P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궤도 평면의 수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F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인접 궤도 간의 </a:t>
            </a:r>
            <a:r>
              <a:rPr lang="ko-KR" altLang="en-US" dirty="0" err="1"/>
              <a:t>위상차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  <p:pic>
        <p:nvPicPr>
          <p:cNvPr id="7" name="그림 6" descr="라인, 도표, 원, 그래프이(가) 표시된 사진&#10;&#10;자동 생성된 설명">
            <a:extLst>
              <a:ext uri="{FF2B5EF4-FFF2-40B4-BE49-F238E27FC236}">
                <a16:creationId xmlns:a16="http://schemas.microsoft.com/office/drawing/2014/main" id="{B5CF4B00-E22D-B8F6-25AC-05B39AF8B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97" y="1426668"/>
            <a:ext cx="7819333" cy="2479998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4FA00F-7DAF-C7AB-8C92-F0D22C6AAA1F}"/>
              </a:ext>
            </a:extLst>
          </p:cNvPr>
          <p:cNvSpPr txBox="1"/>
          <p:nvPr/>
        </p:nvSpPr>
        <p:spPr>
          <a:xfrm>
            <a:off x="-165872" y="6116666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(</a:t>
            </a:r>
            <a:r>
              <a:rPr lang="ko-KR" altLang="en-US" sz="1000" b="1" dirty="0">
                <a:solidFill>
                  <a:srgbClr val="1F2328"/>
                </a:solidFill>
              </a:rPr>
              <a:t>초소형 </a:t>
            </a:r>
            <a:r>
              <a:rPr lang="ko-KR" altLang="en-US" sz="1000" b="1" dirty="0" err="1">
                <a:solidFill>
                  <a:srgbClr val="1F2328"/>
                </a:solidFill>
              </a:rPr>
              <a:t>위성군</a:t>
            </a:r>
            <a:r>
              <a:rPr lang="ko-KR" altLang="en-US" sz="1000" b="1" dirty="0">
                <a:solidFill>
                  <a:srgbClr val="1F2328"/>
                </a:solidFill>
              </a:rPr>
              <a:t> 궤도설계와 궤도유지 방법 연구</a:t>
            </a:r>
            <a:r>
              <a:rPr lang="en-US" altLang="ko-KR" sz="1000" b="1" dirty="0">
                <a:solidFill>
                  <a:srgbClr val="1F2328"/>
                </a:solidFill>
              </a:rPr>
              <a:t>, 2020 </a:t>
            </a:r>
            <a:r>
              <a:rPr lang="ko-KR" altLang="en-US" sz="1000" b="1" dirty="0">
                <a:solidFill>
                  <a:srgbClr val="1F2328"/>
                </a:solidFill>
              </a:rPr>
              <a:t>황영민</a:t>
            </a:r>
            <a:r>
              <a:rPr lang="en-US" altLang="ko-KR" sz="1000" b="1" dirty="0">
                <a:solidFill>
                  <a:srgbClr val="1F2328"/>
                </a:solidFill>
              </a:rPr>
              <a:t>)</a:t>
            </a:r>
          </a:p>
          <a:p>
            <a:pPr lvl="1">
              <a:defRPr/>
            </a:pPr>
            <a:endParaRPr lang="en-US" altLang="ko-KR" sz="1000" b="1" dirty="0">
              <a:solidFill>
                <a:srgbClr val="1F2328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9DCF12-DF50-B9DB-0435-A2458245B05A}"/>
                  </a:ext>
                </a:extLst>
              </p:cNvPr>
              <p:cNvSpPr txBox="1"/>
              <p:nvPr/>
            </p:nvSpPr>
            <p:spPr>
              <a:xfrm>
                <a:off x="3950459" y="4685711"/>
                <a:ext cx="4656082" cy="1002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e>
                        <m:sub>
                          <m: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360</m:t>
                          </m:r>
                        </m:num>
                        <m:den>
                          <m:r>
                            <a:rPr lang="en-US" altLang="ko-K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altLang="ko-KR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altLang="ko-KR" dirty="0">
                  <a:solidFill>
                    <a:schemeClr val="tx1"/>
                  </a:solidFill>
                </a:endParaRP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  </a:t>
                </a:r>
                <a:r>
                  <a:rPr lang="en-US" altLang="ko-KR" sz="160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ko-KR" sz="1600" dirty="0"/>
                  <a:t>T=P</a:t>
                </a:r>
                <a:r>
                  <a:rPr lang="ko-KR" altLang="en-US" sz="1600" dirty="0">
                    <a:solidFill>
                      <a:schemeClr val="tx1"/>
                    </a:solidFill>
                  </a:rPr>
                  <a:t>일 경우</a:t>
                </a:r>
                <a:r>
                  <a:rPr lang="en-US" altLang="ko-KR" sz="16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9DCF12-DF50-B9DB-0435-A2458245B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459" y="4685711"/>
                <a:ext cx="4656082" cy="1002647"/>
              </a:xfrm>
              <a:prstGeom prst="rect">
                <a:avLst/>
              </a:prstGeom>
              <a:blipFill>
                <a:blip r:embed="rId4"/>
                <a:stretch>
                  <a:fillRect b="-6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7A929974-5E5C-FB29-D436-4B6BF06A5C48}"/>
              </a:ext>
            </a:extLst>
          </p:cNvPr>
          <p:cNvSpPr/>
          <p:nvPr/>
        </p:nvSpPr>
        <p:spPr bwMode="auto">
          <a:xfrm>
            <a:off x="4257808" y="4685711"/>
            <a:ext cx="4035341" cy="10026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45362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F </a:t>
            </a:r>
            <a:r>
              <a:rPr lang="ko-KR" altLang="en-US" dirty="0"/>
              <a:t>값에 따른 </a:t>
            </a:r>
            <a:r>
              <a:rPr lang="en-US" altLang="ko-KR" dirty="0"/>
              <a:t>Coverage </a:t>
            </a:r>
            <a:r>
              <a:rPr lang="ko-KR" altLang="en-US" dirty="0"/>
              <a:t>변화</a:t>
            </a:r>
            <a:r>
              <a:rPr lang="en-US" altLang="ko-KR" dirty="0"/>
              <a:t>(T, P=22)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C58821-43EC-C563-C782-942947C2E79B}"/>
              </a:ext>
            </a:extLst>
          </p:cNvPr>
          <p:cNvSpPr/>
          <p:nvPr/>
        </p:nvSpPr>
        <p:spPr bwMode="auto">
          <a:xfrm>
            <a:off x="41328" y="6296965"/>
            <a:ext cx="3482711" cy="530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C66B75D0-00F3-5090-4F52-244B5B5981E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5740" y="1574016"/>
              <a:ext cx="1667252" cy="36523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2255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41.67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84.31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66.94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99.72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89.03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94.31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92.92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62.50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86.94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C66B75D0-00F3-5090-4F52-244B5B5981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5610072"/>
                  </p:ext>
                </p:extLst>
              </p:nvPr>
            </p:nvGraphicFramePr>
            <p:xfrm>
              <a:off x="745740" y="1574016"/>
              <a:ext cx="1667252" cy="36523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2255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816" t="-2041" r="-995" b="-11448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41.67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84.31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66.94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99.72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89.03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94.31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92.92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62.50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86.94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5F18DDDF-6DBE-4025-D2B9-F168B7806AC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47881" y="1574016"/>
              <a:ext cx="1667252" cy="36523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2255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75.00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80.69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86.61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94.72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95.83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89.17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95.42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98.19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98.61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68.33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21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66.25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5F18DDDF-6DBE-4025-D2B9-F168B7806A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9234987"/>
                  </p:ext>
                </p:extLst>
              </p:nvPr>
            </p:nvGraphicFramePr>
            <p:xfrm>
              <a:off x="2647881" y="1574016"/>
              <a:ext cx="1667252" cy="36523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2255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816" t="-2041" r="-995" b="-11448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75.00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80.69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86.61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94.72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95.83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89.17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95.42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98.19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98.61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68.33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21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66.25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1464023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en-US" altLang="ko-KR" dirty="0"/>
              <a:t>(T:P:F=22:22:10) vs</a:t>
            </a:r>
            <a:r>
              <a:rPr lang="ko-KR" altLang="en-US" dirty="0"/>
              <a:t> </a:t>
            </a:r>
            <a:r>
              <a:rPr lang="ko-KR" altLang="en-US" dirty="0" err="1"/>
              <a:t>준대칭</a:t>
            </a:r>
            <a:r>
              <a:rPr lang="ko-KR" altLang="en-US" dirty="0"/>
              <a:t> 기법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E8ABE2-35F9-E007-D988-753A1EBF644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842" y="1574016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16.36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32.73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49.09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81.82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114.55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130.91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163.64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E8ABE2-35F9-E007-D988-753A1EBF64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2599307"/>
                  </p:ext>
                </p:extLst>
              </p:nvPr>
            </p:nvGraphicFramePr>
            <p:xfrm>
              <a:off x="192842" y="1574016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273" t="-1429" r="-89091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8958" t="-1429" r="-2083" b="-78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16.36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32.73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49.09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81.82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114.55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130.91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163.64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A240AD06-6B75-9534-5595-BE2172862A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85907" y="1574016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212.73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229.09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245.45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261.82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278.18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294.55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310.91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327.27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343.64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A240AD06-6B75-9534-5595-BE2172862A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7419720"/>
                  </p:ext>
                </p:extLst>
              </p:nvPr>
            </p:nvGraphicFramePr>
            <p:xfrm>
              <a:off x="2285907" y="1574016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273" t="-1429" r="-89091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8958" t="-1429" r="-2083" b="-78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212.73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229.09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245.45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261.82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278.18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294.55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310.91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327.27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343.64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E8B49A37-B0BF-EDCC-A666-15D7B186927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88642" y="1567950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114.5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E8B49A37-B0BF-EDCC-A666-15D7B18692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4762413"/>
                  </p:ext>
                </p:extLst>
              </p:nvPr>
            </p:nvGraphicFramePr>
            <p:xfrm>
              <a:off x="4688642" y="1567950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5315" t="-1429" r="-88288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51579" t="-1429" r="-3158" b="-78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114.5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E389C0CE-89F7-5679-DC8C-13E7BC9B88F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81707" y="1567950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343.5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E389C0CE-89F7-5679-DC8C-13E7BC9B88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3849709"/>
                  </p:ext>
                </p:extLst>
              </p:nvPr>
            </p:nvGraphicFramePr>
            <p:xfrm>
              <a:off x="6781707" y="1567950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17273" t="-1429" r="-89091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8958" t="-1429" r="-2083" b="-78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343.5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C1FC08-6D60-3789-F6E5-536CB43BE6C8}"/>
                  </a:ext>
                </a:extLst>
              </p:cNvPr>
              <p:cNvSpPr txBox="1"/>
              <p:nvPr/>
            </p:nvSpPr>
            <p:spPr>
              <a:xfrm>
                <a:off x="257080" y="5459967"/>
                <a:ext cx="6123172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𝛺</m:t>
                        </m:r>
                      </m:e>
                      <m:sub>
                        <m:r>
                          <a:rPr lang="en-US" altLang="ko-KR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: </a:t>
                </a:r>
                <a:r>
                  <a:rPr lang="ko-KR" altLang="en-US" sz="1400" dirty="0">
                    <a:solidFill>
                      <a:schemeClr val="tx1"/>
                    </a:solidFill>
                    <a:cs typeface="Times New Roman"/>
                  </a:rPr>
                  <a:t>오차율 </a:t>
                </a:r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1% </a:t>
                </a:r>
                <a:r>
                  <a:rPr lang="ko-KR" altLang="en-US" sz="1400" dirty="0">
                    <a:solidFill>
                      <a:schemeClr val="tx1"/>
                    </a:solidFill>
                    <a:cs typeface="Times New Roman"/>
                  </a:rPr>
                  <a:t>미만 </a:t>
                </a:r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(</a:t>
                </a:r>
                <a:r>
                  <a:rPr lang="ko-KR" altLang="en-US" sz="1400" dirty="0">
                    <a:solidFill>
                      <a:schemeClr val="tx1"/>
                    </a:solidFill>
                    <a:cs typeface="Times New Roman"/>
                  </a:rPr>
                  <a:t>총 위성의 수 </a:t>
                </a:r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= L</a:t>
                </a:r>
                <a:r>
                  <a:rPr lang="ko-KR" altLang="en-US" sz="1400" dirty="0">
                    <a:solidFill>
                      <a:schemeClr val="tx1"/>
                    </a:solidFill>
                    <a:cs typeface="Times New Roman"/>
                  </a:rPr>
                  <a:t>의 약수 일 때</a:t>
                </a:r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,</a:t>
                </a:r>
                <a:r>
                  <a:rPr lang="ko-KR" altLang="en-US" sz="1400" dirty="0">
                    <a:solidFill>
                      <a:schemeClr val="tx1"/>
                    </a:solidFill>
                    <a:cs typeface="Times New Roman"/>
                  </a:rPr>
                  <a:t> 완벽히 일치</a:t>
                </a:r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)</a:t>
                </a:r>
              </a:p>
              <a:p>
                <a:endParaRPr lang="en-US" altLang="ko-KR" sz="1400" dirty="0">
                  <a:solidFill>
                    <a:schemeClr val="tx1"/>
                  </a:solidFill>
                  <a:cs typeface="Times New Roman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ko-KR" alt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ko-KR" altLang="en-US" sz="14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완벽히 일치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C1FC08-6D60-3789-F6E5-536CB43BE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80" y="5459967"/>
                <a:ext cx="6123172" cy="738664"/>
              </a:xfrm>
              <a:prstGeom prst="rect">
                <a:avLst/>
              </a:prstGeom>
              <a:blipFill>
                <a:blip r:embed="rId7"/>
                <a:stretch>
                  <a:fillRect l="-100" t="-1653" b="-74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4370274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</a:t>
                </a:r>
                <a:r>
                  <a:rPr lang="ko-KR" altLang="en-US" dirty="0" err="1"/>
                  <a:t>위성군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vs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준대칭</a:t>
                </a:r>
                <a:r>
                  <a:rPr lang="ko-KR" altLang="en-US" dirty="0"/>
                  <a:t> 기법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WD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QS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en-US" altLang="ko-KR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ko-KR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ko-KR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</m:e>
                    </m:d>
                    <m:r>
                      <a:rPr lang="en-US" altLang="ko-KR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=0(</m:t>
                    </m:r>
                    <m:r>
                      <a:rPr lang="en-US" altLang="ko-KR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d>
                      <m:dPr>
                        <m:ctrlPr>
                          <a:rPr lang="en-US" altLang="ko-KR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altLang="ko-KR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8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ko-KR" sz="1800" dirty="0">
                    <a:solidFill>
                      <a:schemeClr val="tx1"/>
                    </a:solidFill>
                  </a:rPr>
                  <a:t> 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(ex.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=12)</a:t>
                </a:r>
              </a:p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d>
                      <m:dPr>
                        <m:ctrlPr>
                          <a:rPr lang="en-US" altLang="ko-KR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  <m:r>
                              <a:rPr lang="en-US" altLang="ko-KR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e>
                              <m:sub>
                                <m:r>
                                  <a:rPr lang="en-US" altLang="ko-KR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ko-KR" b="1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→ </a:t>
                </a:r>
                <a:r>
                  <a:rPr lang="ko-KR" altLang="en-US" b="1" dirty="0"/>
                  <a:t>정수배</a:t>
                </a:r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>
                  <a:defRPr/>
                </a:pPr>
                <a:endParaRPr lang="en-US" altLang="ko-KR" sz="1200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</p:spTree>
    <p:extLst>
      <p:ext uri="{BB962C8B-B14F-4D97-AF65-F5344CB8AC3E}">
        <p14:creationId xmlns:p14="http://schemas.microsoft.com/office/powerpoint/2010/main" val="156948168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en-US" altLang="ko-KR" dirty="0"/>
              <a:t>(T:P:F=20:20:8) vs</a:t>
            </a:r>
            <a:r>
              <a:rPr lang="ko-KR" altLang="en-US" dirty="0"/>
              <a:t> </a:t>
            </a:r>
            <a:r>
              <a:rPr lang="ko-KR" altLang="en-US" dirty="0" err="1"/>
              <a:t>준대칭</a:t>
            </a:r>
            <a:r>
              <a:rPr lang="ko-KR" altLang="en-US" dirty="0"/>
              <a:t> 기법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E8ABE2-35F9-E007-D988-753A1EBF644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842" y="1574016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E8ABE2-35F9-E007-D988-753A1EBF64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4072001"/>
                  </p:ext>
                </p:extLst>
              </p:nvPr>
            </p:nvGraphicFramePr>
            <p:xfrm>
              <a:off x="192842" y="1574016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273" t="-1429" r="-89091" b="-71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8958" t="-1429" r="-2083" b="-71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A240AD06-6B75-9534-5595-BE2172862A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85907" y="1574016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252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288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A240AD06-6B75-9534-5595-BE2172862A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3014617"/>
                  </p:ext>
                </p:extLst>
              </p:nvPr>
            </p:nvGraphicFramePr>
            <p:xfrm>
              <a:off x="2285907" y="1574016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273" t="-1429" r="-89091" b="-71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8958" t="-1429" r="-2083" b="-71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252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288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E8B49A37-B0BF-EDCC-A666-15D7B186927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88642" y="1567950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E8B49A37-B0BF-EDCC-A666-15D7B18692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3459377"/>
                  </p:ext>
                </p:extLst>
              </p:nvPr>
            </p:nvGraphicFramePr>
            <p:xfrm>
              <a:off x="4688642" y="1567950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5315" t="-1429" r="-88288" b="-71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51579" t="-1429" r="-3158" b="-71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E389C0CE-89F7-5679-DC8C-13E7BC9B88F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81707" y="1567950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252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288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E389C0CE-89F7-5679-DC8C-13E7BC9B88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5837414"/>
                  </p:ext>
                </p:extLst>
              </p:nvPr>
            </p:nvGraphicFramePr>
            <p:xfrm>
              <a:off x="6781707" y="1567950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17273" t="-1429" r="-89091" b="-71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8958" t="-1429" r="-2083" b="-71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252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288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7377901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en-US" altLang="ko-KR" dirty="0"/>
              <a:t>(T:P:F=20:20:8) vs</a:t>
            </a:r>
            <a:r>
              <a:rPr lang="ko-KR" altLang="en-US" dirty="0"/>
              <a:t> </a:t>
            </a:r>
            <a:r>
              <a:rPr lang="ko-KR" altLang="en-US" dirty="0" err="1"/>
              <a:t>준대칭</a:t>
            </a:r>
            <a:r>
              <a:rPr lang="ko-KR" altLang="en-US" dirty="0"/>
              <a:t> 기법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  <p:pic>
        <p:nvPicPr>
          <p:cNvPr id="3" name="그림 2" descr="행성, 지구, 원, 대기권 밖이(가) 표시된 사진&#10;&#10;자동 생성된 설명">
            <a:extLst>
              <a:ext uri="{FF2B5EF4-FFF2-40B4-BE49-F238E27FC236}">
                <a16:creationId xmlns:a16="http://schemas.microsoft.com/office/drawing/2014/main" id="{C10458EE-9DD2-97AD-735F-F7B33AB68F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057" y="1484205"/>
            <a:ext cx="2426335" cy="2132965"/>
          </a:xfrm>
          <a:prstGeom prst="rect">
            <a:avLst/>
          </a:prstGeom>
          <a:noFill/>
        </p:spPr>
      </p:pic>
      <p:pic>
        <p:nvPicPr>
          <p:cNvPr id="5" name="그림 4" descr="텍스트, 스크린샷, 직사각형, 라인이(가) 표시된 사진&#10;&#10;자동 생성된 설명">
            <a:extLst>
              <a:ext uri="{FF2B5EF4-FFF2-40B4-BE49-F238E27FC236}">
                <a16:creationId xmlns:a16="http://schemas.microsoft.com/office/drawing/2014/main" id="{97C764E0-B7FB-3BC3-D9EB-45D6163B9C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109" y="1294974"/>
            <a:ext cx="3357245" cy="2511425"/>
          </a:xfrm>
          <a:prstGeom prst="rect">
            <a:avLst/>
          </a:prstGeom>
          <a:noFill/>
        </p:spPr>
      </p:pic>
      <p:pic>
        <p:nvPicPr>
          <p:cNvPr id="9" name="그림 8" descr="스크린샷, 원, 행성, 대기권 밖이(가) 표시된 사진&#10;&#10;자동 생성된 설명">
            <a:extLst>
              <a:ext uri="{FF2B5EF4-FFF2-40B4-BE49-F238E27FC236}">
                <a16:creationId xmlns:a16="http://schemas.microsoft.com/office/drawing/2014/main" id="{CFB8EDC3-58A6-FDD1-F0A5-3EB9C1068F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056" y="4031830"/>
            <a:ext cx="2426335" cy="2132965"/>
          </a:xfrm>
          <a:prstGeom prst="rect">
            <a:avLst/>
          </a:prstGeom>
          <a:noFill/>
        </p:spPr>
      </p:pic>
      <p:pic>
        <p:nvPicPr>
          <p:cNvPr id="10" name="그림 9" descr="텍스트, 스크린샷, 직사각형, 라인이(가) 표시된 사진&#10;&#10;자동 생성된 설명">
            <a:extLst>
              <a:ext uri="{FF2B5EF4-FFF2-40B4-BE49-F238E27FC236}">
                <a16:creationId xmlns:a16="http://schemas.microsoft.com/office/drawing/2014/main" id="{08844703-32CE-AA0D-99B6-17E929C803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108" y="3895764"/>
            <a:ext cx="3357245" cy="2511425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982E63-F4A0-BF60-4769-95E86AAF1639}"/>
              </a:ext>
            </a:extLst>
          </p:cNvPr>
          <p:cNvSpPr txBox="1"/>
          <p:nvPr/>
        </p:nvSpPr>
        <p:spPr>
          <a:xfrm>
            <a:off x="6750353" y="2396797"/>
            <a:ext cx="21365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/>
                </a:solidFill>
              </a:rPr>
              <a:t>워커</a:t>
            </a:r>
            <a:r>
              <a:rPr lang="en-US" altLang="ko-KR" sz="1400" dirty="0">
                <a:solidFill>
                  <a:schemeClr val="tx1"/>
                </a:solidFill>
              </a:rPr>
              <a:t>-</a:t>
            </a:r>
            <a:r>
              <a:rPr lang="ko-KR" altLang="en-US" sz="1400" dirty="0">
                <a:solidFill>
                  <a:schemeClr val="tx1"/>
                </a:solidFill>
              </a:rPr>
              <a:t>델타 </a:t>
            </a:r>
            <a:r>
              <a:rPr lang="ko-KR" altLang="en-US" sz="1400" dirty="0" err="1">
                <a:solidFill>
                  <a:schemeClr val="tx1"/>
                </a:solidFill>
              </a:rPr>
              <a:t>위성군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E3A83B-8522-A8C0-8B6D-3A231CE4950E}"/>
              </a:ext>
            </a:extLst>
          </p:cNvPr>
          <p:cNvSpPr txBox="1"/>
          <p:nvPr/>
        </p:nvSpPr>
        <p:spPr>
          <a:xfrm>
            <a:off x="6833070" y="4944423"/>
            <a:ext cx="21365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 err="1">
                <a:solidFill>
                  <a:schemeClr val="tx1"/>
                </a:solidFill>
              </a:rPr>
              <a:t>준대칭</a:t>
            </a:r>
            <a:r>
              <a:rPr lang="ko-KR" altLang="en-US" sz="1400" dirty="0">
                <a:solidFill>
                  <a:schemeClr val="tx1"/>
                </a:solidFill>
              </a:rPr>
              <a:t> 기법</a:t>
            </a:r>
          </a:p>
        </p:txBody>
      </p:sp>
    </p:spTree>
    <p:extLst>
      <p:ext uri="{BB962C8B-B14F-4D97-AF65-F5344CB8AC3E}">
        <p14:creationId xmlns:p14="http://schemas.microsoft.com/office/powerpoint/2010/main" val="217125414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기법의 한계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궤도 평면 수가 총 위성 수와 같다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항상 최대의 평면을 구성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워커 델타 위성군만큼 간단히 설계할 수 없음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워커 델타 위성군에 비해 가지는 이점이 없음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새로운 방법의 </a:t>
            </a:r>
            <a:r>
              <a:rPr lang="ko-KR" altLang="en-US" dirty="0" err="1"/>
              <a:t>위성군</a:t>
            </a:r>
            <a:r>
              <a:rPr lang="ko-KR" altLang="en-US" dirty="0"/>
              <a:t> 최적화 설계 방법의 필요성이 제기됨</a:t>
            </a: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8F56C37-AB25-4DCD-6E45-ACFEA1197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829" y="3125632"/>
            <a:ext cx="3364341" cy="291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613565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이진 선형 계획법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4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2A0F-3FA3-AE1A-106C-6909D4EC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9EE9BF-38BF-9B8A-5CB1-D8302ECD4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Method(Binary Integer Linear Programming)</a:t>
            </a:r>
          </a:p>
          <a:p>
            <a:pPr lvl="1">
              <a:defRPr/>
            </a:pPr>
            <a:r>
              <a:rPr lang="en-US" altLang="ko-KR" dirty="0"/>
              <a:t> </a:t>
            </a:r>
            <a:r>
              <a:rPr lang="ko-KR" altLang="en-US" dirty="0"/>
              <a:t>최적화 프로그래밍을 거쳐 최적의 동선에 위성을 배치</a:t>
            </a:r>
            <a:endParaRPr lang="en-US" altLang="ko-KR" dirty="0"/>
          </a:p>
          <a:p>
            <a:pPr lvl="1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기법에 비해 적은 위성으로도 커버리지 성능 최적화 가능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비대칭으로 위성을 배치하는 새로운 설계 방법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이진 선형 계획법의 흐름도</a:t>
            </a:r>
            <a:r>
              <a:rPr lang="en-US" altLang="ko-KR" dirty="0"/>
              <a:t> </a:t>
            </a:r>
          </a:p>
          <a:p>
            <a:pPr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B173B3-46EC-935A-396A-8B60C972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0D52D28-83ED-B50F-30D3-0C082FEF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이진 선형 계획법</a:t>
            </a:r>
            <a:r>
              <a:rPr lang="en-US" altLang="ko-KR" dirty="0"/>
              <a:t>(BILP)</a:t>
            </a:r>
            <a:r>
              <a:rPr lang="ko-KR" altLang="en-US" dirty="0"/>
              <a:t> 설계 개념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3F404-8D62-7265-E374-B64F2C372E29}"/>
              </a:ext>
            </a:extLst>
          </p:cNvPr>
          <p:cNvSpPr txBox="1"/>
          <p:nvPr/>
        </p:nvSpPr>
        <p:spPr>
          <a:xfrm>
            <a:off x="-200345" y="6033660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pic>
        <p:nvPicPr>
          <p:cNvPr id="3" name="그림 2" descr="텍스트, 스크린샷, 폰트, 도표이(가) 표시된 사진&#10;&#10;자동 생성된 설명">
            <a:extLst>
              <a:ext uri="{FF2B5EF4-FFF2-40B4-BE49-F238E27FC236}">
                <a16:creationId xmlns:a16="http://schemas.microsoft.com/office/drawing/2014/main" id="{8B9EC1AB-7E90-BD50-D671-4DA6D36ABC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61" y="2962388"/>
            <a:ext cx="4700568" cy="28172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그림 6" descr="텍스트, 도표, 라인, 평면도이(가) 표시된 사진&#10;&#10;자동 생성된 설명">
            <a:extLst>
              <a:ext uri="{FF2B5EF4-FFF2-40B4-BE49-F238E27FC236}">
                <a16:creationId xmlns:a16="http://schemas.microsoft.com/office/drawing/2014/main" id="{7D1B4E69-F05D-788D-1DBB-DEA3E7E94F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771" y="2446826"/>
            <a:ext cx="3975911" cy="27006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556C5A1-EF5D-BAB1-4B0F-99A15F045904}"/>
              </a:ext>
            </a:extLst>
          </p:cNvPr>
          <p:cNvCxnSpPr>
            <a:cxnSpLocks/>
          </p:cNvCxnSpPr>
          <p:nvPr/>
        </p:nvCxnSpPr>
        <p:spPr>
          <a:xfrm flipV="1">
            <a:off x="3478924" y="3797236"/>
            <a:ext cx="1608083" cy="8641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E2AEF5-A764-54DD-23C8-85B68EF48B82}"/>
              </a:ext>
            </a:extLst>
          </p:cNvPr>
          <p:cNvSpPr/>
          <p:nvPr/>
        </p:nvSpPr>
        <p:spPr bwMode="auto">
          <a:xfrm>
            <a:off x="1271752" y="4666593"/>
            <a:ext cx="2217682" cy="2627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12783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2A0F-3FA3-AE1A-106C-6909D4EC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9EE9BF-38BF-9B8A-5CB1-D8302ECD43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이진 선형 계획법의 이해를 위한 간단한 그림</a:t>
                </a: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 </a:t>
                </a:r>
                <a:r>
                  <a:rPr lang="ko-KR" altLang="en-US" dirty="0"/>
                  <a:t>모든 위성</a:t>
                </a:r>
                <a:r>
                  <a:rPr lang="en-US" altLang="ko-KR" dirty="0"/>
                  <a:t>(1 ~ N)</a:t>
                </a:r>
                <a:r>
                  <a:rPr lang="ko-KR" altLang="en-US" dirty="0"/>
                  <a:t>과 모든 </a:t>
                </a:r>
                <a:r>
                  <a:rPr lang="en-US" altLang="ko-KR" dirty="0"/>
                  <a:t>n(0 ~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을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대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로 대응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즉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모든 상황을 가정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관심지역으로부터 위성이 관측되면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그렇지 않다면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으로 이진수로 나타냄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모든 조합을 전부 확인하는 과정의 비효율성을 피하기 위해 선택 가능한 </a:t>
                </a:r>
                <a:r>
                  <a:rPr lang="en-US" altLang="ko-KR" dirty="0"/>
                  <a:t>n</a:t>
                </a:r>
                <a:r>
                  <a:rPr lang="ko-KR" altLang="en-US" dirty="0"/>
                  <a:t>의 배열만을 추려가며 무작위로 선택하는 프로그램을 구현함</a:t>
                </a:r>
                <a:endParaRPr lang="en-US" altLang="ko-KR" dirty="0"/>
              </a:p>
              <a:p>
                <a:pPr lvl="3"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9EE9BF-38BF-9B8A-5CB1-D8302ECD43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B173B3-46EC-935A-396A-8B60C972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0D52D28-83ED-B50F-30D3-0C082FEF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이진 선형 계획법 설계 개념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3F404-8D62-7265-E374-B64F2C372E29}"/>
              </a:ext>
            </a:extLst>
          </p:cNvPr>
          <p:cNvSpPr txBox="1"/>
          <p:nvPr/>
        </p:nvSpPr>
        <p:spPr>
          <a:xfrm>
            <a:off x="-200345" y="6033660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pic>
        <p:nvPicPr>
          <p:cNvPr id="7" name="그림 6" descr="도표, 라인, 텍스트, 원이(가) 표시된 사진&#10;&#10;자동 생성된 설명">
            <a:extLst>
              <a:ext uri="{FF2B5EF4-FFF2-40B4-BE49-F238E27FC236}">
                <a16:creationId xmlns:a16="http://schemas.microsoft.com/office/drawing/2014/main" id="{95D18C9E-E8E1-06F7-55F3-4C95CBBC73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85" y="1549954"/>
            <a:ext cx="6398714" cy="25905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76839059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EE061B59-CB99-ACB1-65DE-FF0AAD49DDF8}"/>
              </a:ext>
            </a:extLst>
          </p:cNvPr>
          <p:cNvSpPr/>
          <p:nvPr/>
        </p:nvSpPr>
        <p:spPr bwMode="auto">
          <a:xfrm>
            <a:off x="257080" y="6224099"/>
            <a:ext cx="3493465" cy="510380"/>
          </a:xfrm>
          <a:prstGeom prst="flowChartProcess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C1F6E507-D043-297B-7E6F-3A13F8BE0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50" y="1295704"/>
            <a:ext cx="1704975" cy="54387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CE3A193-0A70-1319-CB25-CE13802EED71}"/>
              </a:ext>
            </a:extLst>
          </p:cNvPr>
          <p:cNvSpPr txBox="1"/>
          <p:nvPr/>
        </p:nvSpPr>
        <p:spPr>
          <a:xfrm>
            <a:off x="2141939" y="5635042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427</a:t>
            </a:r>
            <a:endParaRPr lang="ko-KR" altLang="en-US" sz="1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A097C6-BB3D-6D5A-5E18-163240116DAB}"/>
              </a:ext>
            </a:extLst>
          </p:cNvPr>
          <p:cNvSpPr txBox="1"/>
          <p:nvPr/>
        </p:nvSpPr>
        <p:spPr>
          <a:xfrm>
            <a:off x="2144731" y="56355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/>
              <a:t>중복 없이 </a:t>
            </a:r>
            <a:r>
              <a:rPr lang="ko-KR" altLang="en-US" sz="1800" dirty="0"/>
              <a:t>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269</a:t>
            </a:r>
            <a:endParaRPr lang="ko-KR" altLang="en-US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188657-7FCB-A341-794E-21AC461159B9}"/>
              </a:ext>
            </a:extLst>
          </p:cNvPr>
          <p:cNvSpPr txBox="1"/>
          <p:nvPr/>
        </p:nvSpPr>
        <p:spPr>
          <a:xfrm>
            <a:off x="2144731" y="56343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140</a:t>
            </a:r>
            <a:endParaRPr lang="ko-KR" altLang="en-US" sz="1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695F12-2051-7811-FB14-B8E7119F9DAC}"/>
              </a:ext>
            </a:extLst>
          </p:cNvPr>
          <p:cNvSpPr txBox="1"/>
          <p:nvPr/>
        </p:nvSpPr>
        <p:spPr>
          <a:xfrm>
            <a:off x="2083087" y="56343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20</a:t>
            </a:r>
            <a:endParaRPr lang="ko-KR" altLang="en-US" sz="1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245723-7B48-43F6-D290-169BAD6F72B1}"/>
              </a:ext>
            </a:extLst>
          </p:cNvPr>
          <p:cNvSpPr txBox="1"/>
          <p:nvPr/>
        </p:nvSpPr>
        <p:spPr>
          <a:xfrm>
            <a:off x="2018650" y="56355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1</a:t>
            </a:r>
            <a:endParaRPr lang="ko-KR" altLang="en-US" sz="1800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26934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Timeline </a:t>
            </a:r>
            <a:r>
              <a:rPr lang="ko-KR" altLang="en-US" dirty="0"/>
              <a:t>중복 횟수 최소화를 이용한 배치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7134" y="6594911"/>
            <a:ext cx="981169" cy="360000"/>
          </a:xfrm>
        </p:spPr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 설계 개념</a:t>
            </a:r>
            <a:endParaRPr lang="en-US" altLang="ko-KR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B5FD131-219E-081A-BAC3-816408EE0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4CBAB0C-1930-7022-A22D-7A4E6A626A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5385A1D6-2086-A971-DDC5-2C84BB3542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1422613"/>
            <a:ext cx="5334000" cy="40005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C07D9DE-F752-2736-ADED-6350A690F3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1422613"/>
            <a:ext cx="5334000" cy="4000500"/>
          </a:xfrm>
          <a:prstGeom prst="rect">
            <a:avLst/>
          </a:prstGeom>
        </p:spPr>
      </p:pic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7321CC12-41EB-285C-5D3E-8E61B1D81C32}"/>
              </a:ext>
            </a:extLst>
          </p:cNvPr>
          <p:cNvSpPr/>
          <p:nvPr/>
        </p:nvSpPr>
        <p:spPr bwMode="auto">
          <a:xfrm>
            <a:off x="2579293" y="6210641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057E68-996C-6144-6CEB-18449D2622D8}"/>
              </a:ext>
            </a:extLst>
          </p:cNvPr>
          <p:cNvSpPr txBox="1"/>
          <p:nvPr/>
        </p:nvSpPr>
        <p:spPr>
          <a:xfrm>
            <a:off x="2579293" y="6219402"/>
            <a:ext cx="4854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그 이후엔 최소한의 중복으로 배치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162B71-C38C-95C2-285E-1D64871A0B11}"/>
              </a:ext>
            </a:extLst>
          </p:cNvPr>
          <p:cNvSpPr txBox="1"/>
          <p:nvPr/>
        </p:nvSpPr>
        <p:spPr>
          <a:xfrm>
            <a:off x="2240591" y="5619711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0</a:t>
            </a:r>
            <a:endParaRPr lang="ko-KR" altLang="en-US" sz="18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DFB84665-C285-60EC-8B4C-0365ECEDDE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12482" y="1428988"/>
            <a:ext cx="5334000" cy="40005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EC13EBEA-7B98-459F-4E3A-30E21C38D9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239" y="1295704"/>
            <a:ext cx="1685925" cy="5448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26905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28" grpId="0" animBg="1"/>
      <p:bldP spid="30" grpId="0" animBg="1"/>
      <p:bldP spid="31" grpId="0" animBg="1"/>
      <p:bldP spid="33" grpId="0" animBg="1"/>
      <p:bldP spid="3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B92C33A-9A56-101D-11F4-82516FF12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12" y="2382519"/>
            <a:ext cx="4413651" cy="3310239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 </a:t>
            </a:r>
            <a:r>
              <a:rPr lang="en-US" altLang="ko-KR" dirty="0"/>
              <a:t>1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2228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5565.87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1</a:t>
            </a:r>
            <a:r>
              <a:rPr lang="ko-KR" altLang="en-US" dirty="0"/>
              <a:t>시간 </a:t>
            </a:r>
            <a:r>
              <a:rPr lang="en-US" altLang="ko-KR" dirty="0"/>
              <a:t>32</a:t>
            </a:r>
            <a:r>
              <a:rPr lang="ko-KR" altLang="en-US" dirty="0"/>
              <a:t>분 </a:t>
            </a:r>
            <a:r>
              <a:rPr lang="en-US" altLang="ko-KR" dirty="0"/>
              <a:t>45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44, 109, 156, 195, 205, 290, 318, 356, 367, 451, 458, 464, 500, 530, 612, 623, 655]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계획법의 결과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2B24B-59DA-DE8C-605C-97E7BF80EEDC}"/>
              </a:ext>
            </a:extLst>
          </p:cNvPr>
          <p:cNvSpPr txBox="1"/>
          <p:nvPr/>
        </p:nvSpPr>
        <p:spPr>
          <a:xfrm>
            <a:off x="1485454" y="5796943"/>
            <a:ext cx="225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수학적인 계산 결과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2E10-524D-EF3A-C6A0-124AB3DEEA31}"/>
              </a:ext>
            </a:extLst>
          </p:cNvPr>
          <p:cNvSpPr txBox="1"/>
          <p:nvPr/>
        </p:nvSpPr>
        <p:spPr>
          <a:xfrm>
            <a:off x="5651065" y="5788074"/>
            <a:ext cx="2649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실제 시뮬레이션 결과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E6F5B7-5153-D09F-319C-83AC37971D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046" y="2382520"/>
            <a:ext cx="4337872" cy="32445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8690450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결과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의 궤도요소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𝛺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sz="200" dirty="0"/>
              </a:p>
              <a:p>
                <a:pPr marL="432000" lvl="2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  <a:blipFill>
                <a:blip r:embed="rId3"/>
                <a:stretch>
                  <a:fillRect l="-892" t="-9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계획법의 결과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109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156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195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205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290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318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149580"/>
                  </p:ext>
                </p:extLst>
              </p:nvPr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109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156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195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205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290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318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0EEDF8D-FA6B-B8C5-2E82-ECE868E5B67A}"/>
              </a:ext>
            </a:extLst>
          </p:cNvPr>
          <p:cNvGraphicFramePr>
            <a:graphicFrameLocks noGrp="1"/>
          </p:cNvGraphicFramePr>
          <p:nvPr/>
        </p:nvGraphicFramePr>
        <p:xfrm>
          <a:off x="2983159" y="1923072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367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183.5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56.3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451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225.5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272.3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458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229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230.3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464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232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194.3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500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250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338.3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530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265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158.3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612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306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26.3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623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311.5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320.3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655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327.5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128.3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66039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E55431BA-7081-02F8-3496-FCB7E8B57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61" y="2365719"/>
            <a:ext cx="4466662" cy="3349996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 </a:t>
            </a:r>
            <a:r>
              <a:rPr lang="en-US" altLang="ko-KR" dirty="0"/>
              <a:t>2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1736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4324.69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1</a:t>
            </a:r>
            <a:r>
              <a:rPr lang="ko-KR" altLang="en-US" dirty="0"/>
              <a:t>시간 </a:t>
            </a:r>
            <a:r>
              <a:rPr lang="en-US" altLang="ko-KR" dirty="0"/>
              <a:t>12</a:t>
            </a:r>
            <a:r>
              <a:rPr lang="ko-KR" altLang="en-US" dirty="0"/>
              <a:t>분 </a:t>
            </a:r>
            <a:r>
              <a:rPr lang="en-US" altLang="ko-KR" dirty="0"/>
              <a:t>4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38, 64, 88, 111, 150, 161, 245, 251, 259, 354, 420, 451, 462, 574, 612, 623, 709]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DC74830-E772-FEDB-B9F1-A0C8CF4486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949" y="2382518"/>
            <a:ext cx="4326714" cy="3235175"/>
          </a:xfrm>
          <a:prstGeom prst="rect">
            <a:avLst/>
          </a:prstGeom>
          <a:noFill/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계획법의 결과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2B24B-59DA-DE8C-605C-97E7BF80EEDC}"/>
              </a:ext>
            </a:extLst>
          </p:cNvPr>
          <p:cNvSpPr txBox="1"/>
          <p:nvPr/>
        </p:nvSpPr>
        <p:spPr>
          <a:xfrm>
            <a:off x="1485454" y="5796943"/>
            <a:ext cx="225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수학적인 계산 결과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2E10-524D-EF3A-C6A0-124AB3DEEA31}"/>
              </a:ext>
            </a:extLst>
          </p:cNvPr>
          <p:cNvSpPr txBox="1"/>
          <p:nvPr/>
        </p:nvSpPr>
        <p:spPr>
          <a:xfrm>
            <a:off x="5651065" y="5788074"/>
            <a:ext cx="2649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실제 시뮬레이션 결과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8681723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결과 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의 궤도요소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𝛺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sz="200" dirty="0"/>
              </a:p>
              <a:p>
                <a:pPr marL="432000" lvl="2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  <a:blipFill>
                <a:blip r:embed="rId3"/>
                <a:stretch>
                  <a:fillRect l="-892" t="-9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계획법의 결과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230.3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290.3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150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80.5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251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125.5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6511370"/>
                  </p:ext>
                </p:extLst>
              </p:nvPr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230.3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290.3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150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80.5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251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125.5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0EEDF8D-FA6B-B8C5-2E82-ECE868E5B67A}"/>
              </a:ext>
            </a:extLst>
          </p:cNvPr>
          <p:cNvGraphicFramePr>
            <a:graphicFrameLocks noGrp="1"/>
          </p:cNvGraphicFramePr>
          <p:nvPr/>
        </p:nvGraphicFramePr>
        <p:xfrm>
          <a:off x="2983159" y="1923072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259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129.5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344.3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354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177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134.3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420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210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98.3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451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225.5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272.3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462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231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206.3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574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287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254.3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612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306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26.3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623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311.5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320.3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709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354.5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164.3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3398643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 </a:t>
            </a:r>
            <a:r>
              <a:rPr lang="en-US" altLang="ko-KR" dirty="0"/>
              <a:t>3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212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501.56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8</a:t>
            </a:r>
            <a:r>
              <a:rPr lang="ko-KR" altLang="en-US" dirty="0"/>
              <a:t>분 </a:t>
            </a:r>
            <a:r>
              <a:rPr lang="en-US" altLang="ko-KR" dirty="0"/>
              <a:t>21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49, 65, 76, 161, 172, 199, 210, 306, 323, 372, 465, 502, 531, 626, 637, 675, 703]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714786-C548-1466-7360-8E94236B5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87" y="2362756"/>
            <a:ext cx="4440002" cy="333000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DC74830-E772-FEDB-B9F1-A0C8CF4486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949" y="2382518"/>
            <a:ext cx="4326714" cy="3235175"/>
          </a:xfrm>
          <a:prstGeom prst="rect">
            <a:avLst/>
          </a:prstGeom>
          <a:noFill/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계획법의 결과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2B24B-59DA-DE8C-605C-97E7BF80EEDC}"/>
              </a:ext>
            </a:extLst>
          </p:cNvPr>
          <p:cNvSpPr txBox="1"/>
          <p:nvPr/>
        </p:nvSpPr>
        <p:spPr>
          <a:xfrm>
            <a:off x="1485454" y="5796943"/>
            <a:ext cx="225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수학적인 계산 결과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2E10-524D-EF3A-C6A0-124AB3DEEA31}"/>
              </a:ext>
            </a:extLst>
          </p:cNvPr>
          <p:cNvSpPr txBox="1"/>
          <p:nvPr/>
        </p:nvSpPr>
        <p:spPr>
          <a:xfrm>
            <a:off x="5651065" y="5788074"/>
            <a:ext cx="2649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실제 시뮬레이션 결과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2977211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결과 </a:t>
                </a:r>
                <a:r>
                  <a:rPr lang="en-US" altLang="ko-KR" dirty="0"/>
                  <a:t>3</a:t>
                </a:r>
                <a:r>
                  <a:rPr lang="ko-KR" altLang="en-US" dirty="0"/>
                  <a:t>의 궤도요소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𝛺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sz="200" dirty="0"/>
              </a:p>
              <a:p>
                <a:pPr marL="432000" lvl="2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  <a:blipFill>
                <a:blip r:embed="rId3"/>
                <a:stretch>
                  <a:fillRect l="-892" t="-9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계획법의 결과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68.3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199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99.5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210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306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9689652"/>
                  </p:ext>
                </p:extLst>
              </p:nvPr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68.3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199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99.5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210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306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0EEDF8D-FA6B-B8C5-2E82-ECE868E5B67A}"/>
              </a:ext>
            </a:extLst>
          </p:cNvPr>
          <p:cNvGraphicFramePr>
            <a:graphicFrameLocks noGrp="1"/>
          </p:cNvGraphicFramePr>
          <p:nvPr/>
        </p:nvGraphicFramePr>
        <p:xfrm>
          <a:off x="2983159" y="1923072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161.5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320.3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372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186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26.3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465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232.5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188.3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502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251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326.3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531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265.5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152.3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626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313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302.3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637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318.5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236.3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675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337.5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8.3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703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351.5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200.3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2167333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이진 선형 계획법을 적용한 </a:t>
            </a:r>
            <a:br>
              <a:rPr lang="en-US" altLang="ko-KR" dirty="0"/>
            </a:br>
            <a:r>
              <a:rPr lang="ko-KR" altLang="en-US" dirty="0"/>
              <a:t>이종위성군 설계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51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고도와 경사각이 서로 다른 궤도를 동시에 운용하는 </a:t>
                </a:r>
                <a:r>
                  <a:rPr lang="ko-KR" altLang="en-US" dirty="0" err="1"/>
                  <a:t>위성군</a:t>
                </a: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두 개의 관심지역 </a:t>
                </a:r>
                <a:r>
                  <a:rPr lang="en-US" altLang="ko-KR" dirty="0"/>
                  <a:t>ex.{(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=64.14</m:t>
                    </m:r>
                  </m:oMath>
                </a14:m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=21.94</m:t>
                    </m:r>
                  </m:oMath>
                </a14:m>
                <a:r>
                  <a:rPr lang="ko-KR" altLang="en-US" dirty="0"/>
                  <a:t>˚</a:t>
                </a:r>
                <a:r>
                  <a:rPr lang="en-US" altLang="ko-KR" dirty="0"/>
                  <a:t>W), 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19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07</m:t>
                    </m:r>
                  </m:oMath>
                </a14:m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=72.87</m:t>
                    </m:r>
                  </m:oMath>
                </a14:m>
                <a:r>
                  <a:rPr lang="ko-KR" altLang="en-US" dirty="0"/>
                  <a:t>˚</a:t>
                </a:r>
                <a:r>
                  <a:rPr lang="en-US" altLang="ko-KR" dirty="0"/>
                  <a:t>E)}</a:t>
                </a:r>
              </a:p>
              <a:p>
                <a:pPr lvl="1">
                  <a:defRPr/>
                </a:pPr>
                <a:r>
                  <a:rPr lang="ko-KR" altLang="en-US" dirty="0"/>
                  <a:t>두 개의 궤도 유형 </a:t>
                </a:r>
                <a:r>
                  <a:rPr lang="en-US" altLang="ko-KR" dirty="0"/>
                  <a:t>ex.{[8/1, 0, 70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], [6/1, 0, 47.915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]}</a:t>
                </a:r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sz="200" dirty="0"/>
              </a:p>
              <a:p>
                <a:pPr marL="432000" lvl="2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  <a:blipFill>
                <a:blip r:embed="rId3"/>
                <a:stretch>
                  <a:fillRect l="-892" t="-9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214" y="71055"/>
            <a:ext cx="6947337" cy="68771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sz="2400" dirty="0"/>
              <a:t>이진 선형 계획법을 적용한 이종 </a:t>
            </a:r>
            <a:r>
              <a:rPr lang="ko-KR" altLang="en-US" sz="2400" dirty="0" err="1"/>
              <a:t>위성군</a:t>
            </a:r>
            <a:r>
              <a:rPr lang="ko-KR" altLang="en-US" sz="2400" dirty="0"/>
              <a:t> 설계 개념</a:t>
            </a:r>
          </a:p>
        </p:txBody>
      </p:sp>
      <p:pic>
        <p:nvPicPr>
          <p:cNvPr id="5" name="그림 4" descr="원, 예술이(가) 표시된 사진&#10;&#10;자동 생성된 설명">
            <a:extLst>
              <a:ext uri="{FF2B5EF4-FFF2-40B4-BE49-F238E27FC236}">
                <a16:creationId xmlns:a16="http://schemas.microsoft.com/office/drawing/2014/main" id="{8B4B7C4C-57C9-2A1A-8FE8-01E8715773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611" y="1604188"/>
            <a:ext cx="6327277" cy="29785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135715-F075-B675-6494-A42B7632C2DB}"/>
              </a:ext>
            </a:extLst>
          </p:cNvPr>
          <p:cNvSpPr txBox="1"/>
          <p:nvPr/>
        </p:nvSpPr>
        <p:spPr>
          <a:xfrm>
            <a:off x="-288506" y="5975117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2572132430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3356BA0-1498-3BA8-0C46-33E836C6B286}"/>
              </a:ext>
            </a:extLst>
          </p:cNvPr>
          <p:cNvSpPr/>
          <p:nvPr/>
        </p:nvSpPr>
        <p:spPr bwMode="auto">
          <a:xfrm>
            <a:off x="257081" y="6426945"/>
            <a:ext cx="3463581" cy="360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8" name="제목 3">
            <a:extLst>
              <a:ext uri="{FF2B5EF4-FFF2-40B4-BE49-F238E27FC236}">
                <a16:creationId xmlns:a16="http://schemas.microsoft.com/office/drawing/2014/main" id="{E2254941-4BD1-BDB2-726B-CAE789A2E8DA}"/>
              </a:ext>
            </a:extLst>
          </p:cNvPr>
          <p:cNvSpPr txBox="1">
            <a:spLocks/>
          </p:cNvSpPr>
          <p:nvPr/>
        </p:nvSpPr>
        <p:spPr>
          <a:xfrm>
            <a:off x="725214" y="71055"/>
            <a:ext cx="6947337" cy="687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pPr>
              <a:defRPr/>
            </a:pPr>
            <a:r>
              <a:rPr lang="ko-KR" altLang="en-US" sz="2400"/>
              <a:t>이진 선형 계획법을 적용한 이종 위성군 설계 개념</a:t>
            </a:r>
            <a:endParaRPr lang="ko-KR" altLang="en-US" sz="2400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고도와 경사각이 서로 다른 궤도를 동시에 운용하는 </a:t>
            </a:r>
            <a:r>
              <a:rPr lang="ko-KR" altLang="en-US" dirty="0" err="1"/>
              <a:t>위성군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42</a:t>
            </a:fld>
            <a:endParaRPr lang="en-US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FBE3A72-8726-7376-D692-D00774524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4" y="1394326"/>
            <a:ext cx="7080787" cy="32959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35FA46-D2EE-122E-4C78-7503F427692D}"/>
              </a:ext>
            </a:extLst>
          </p:cNvPr>
          <p:cNvSpPr txBox="1"/>
          <p:nvPr/>
        </p:nvSpPr>
        <p:spPr>
          <a:xfrm>
            <a:off x="-435647" y="6385017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DB4A899-38B9-5528-1982-0B20DB9A1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02" y="4771192"/>
            <a:ext cx="3153760" cy="11631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C3A861-DD03-7E68-B050-8974CBA26591}"/>
              </a:ext>
            </a:extLst>
          </p:cNvPr>
          <p:cNvSpPr txBox="1"/>
          <p:nvPr/>
        </p:nvSpPr>
        <p:spPr>
          <a:xfrm>
            <a:off x="4030482" y="5035736"/>
            <a:ext cx="47874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두 지역을 동시에 커버하기 위한 최소 위성 수 </a:t>
            </a:r>
            <a:r>
              <a:rPr lang="en-US" altLang="ko-KR" sz="1400" dirty="0"/>
              <a:t>9 + 8 = 17?</a:t>
            </a:r>
          </a:p>
          <a:p>
            <a:endParaRPr lang="en-US" altLang="ko-KR" sz="1400" dirty="0"/>
          </a:p>
          <a:p>
            <a:r>
              <a:rPr lang="ko-KR" altLang="en-US" sz="1400" dirty="0"/>
              <a:t>       이종 </a:t>
            </a:r>
            <a:r>
              <a:rPr lang="ko-KR" altLang="en-US" sz="1400" dirty="0" err="1"/>
              <a:t>위성군</a:t>
            </a:r>
            <a:r>
              <a:rPr lang="ko-KR" altLang="en-US" sz="1400" dirty="0"/>
              <a:t> 운용으로 </a:t>
            </a:r>
            <a:r>
              <a:rPr lang="en-US" altLang="ko-KR" sz="1400" dirty="0"/>
              <a:t>17 </a:t>
            </a:r>
            <a:r>
              <a:rPr lang="ko-KR" altLang="en-US" sz="1400" dirty="0"/>
              <a:t>→ </a:t>
            </a:r>
            <a:r>
              <a:rPr lang="en-US" altLang="ko-KR" sz="1400" dirty="0"/>
              <a:t>10</a:t>
            </a:r>
            <a:r>
              <a:rPr lang="ko-KR" altLang="en-US" sz="1400" dirty="0"/>
              <a:t>대까지 감소 가능</a:t>
            </a:r>
            <a:endParaRPr lang="ko-KR" alt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514C1F-943A-7B6D-D615-FB3132A76638}"/>
              </a:ext>
            </a:extLst>
          </p:cNvPr>
          <p:cNvSpPr txBox="1"/>
          <p:nvPr/>
        </p:nvSpPr>
        <p:spPr>
          <a:xfrm>
            <a:off x="-249949" y="5944316"/>
            <a:ext cx="4787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연속 </a:t>
            </a:r>
            <a:r>
              <a:rPr lang="ko-KR" altLang="en-US" sz="1400" dirty="0" err="1"/>
              <a:t>커버리지를</a:t>
            </a:r>
            <a:r>
              <a:rPr lang="ko-KR" altLang="en-US" sz="1400" dirty="0"/>
              <a:t> 위해 필요한 최소 위성 수</a:t>
            </a:r>
            <a:endParaRPr lang="en-US" altLang="ko-KR" sz="1400" dirty="0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97B44424-FB16-41C8-AD9B-1E8AE0B9E642}"/>
              </a:ext>
            </a:extLst>
          </p:cNvPr>
          <p:cNvSpPr/>
          <p:nvPr/>
        </p:nvSpPr>
        <p:spPr bwMode="auto">
          <a:xfrm>
            <a:off x="4124218" y="5539283"/>
            <a:ext cx="320703" cy="16345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0763375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3">
            <a:extLst>
              <a:ext uri="{FF2B5EF4-FFF2-40B4-BE49-F238E27FC236}">
                <a16:creationId xmlns:a16="http://schemas.microsoft.com/office/drawing/2014/main" id="{E2254941-4BD1-BDB2-726B-CAE789A2E8DA}"/>
              </a:ext>
            </a:extLst>
          </p:cNvPr>
          <p:cNvSpPr txBox="1">
            <a:spLocks/>
          </p:cNvSpPr>
          <p:nvPr/>
        </p:nvSpPr>
        <p:spPr>
          <a:xfrm>
            <a:off x="725214" y="71055"/>
            <a:ext cx="6947337" cy="687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pPr>
              <a:defRPr/>
            </a:pPr>
            <a:r>
              <a:rPr lang="ko-KR" altLang="en-US" sz="2400"/>
              <a:t>이진 선형 계획법을 적용한 이종 위성군 설계 개념</a:t>
            </a:r>
            <a:endParaRPr lang="ko-KR" altLang="en-US" sz="2400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계획법이 적용된 이종 위성군의 흐름도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43</a:t>
            </a:fld>
            <a:endParaRPr lang="en-US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FDA24C-4D6E-486B-C957-05FB8FA8C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14" y="1484135"/>
            <a:ext cx="6810375" cy="46482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CAA79D6-C776-D1B1-459F-A31BF2B78AED}"/>
              </a:ext>
            </a:extLst>
          </p:cNvPr>
          <p:cNvSpPr/>
          <p:nvPr/>
        </p:nvSpPr>
        <p:spPr bwMode="auto">
          <a:xfrm>
            <a:off x="2575034" y="2701158"/>
            <a:ext cx="1019504" cy="62011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0E49A49-B8AB-19D9-9A62-03D0790A00E5}"/>
              </a:ext>
            </a:extLst>
          </p:cNvPr>
          <p:cNvSpPr/>
          <p:nvPr/>
        </p:nvSpPr>
        <p:spPr bwMode="auto">
          <a:xfrm>
            <a:off x="2359572" y="4228236"/>
            <a:ext cx="1413642" cy="5119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B752965-A24A-67CF-F977-92F936489175}"/>
              </a:ext>
            </a:extLst>
          </p:cNvPr>
          <p:cNvSpPr/>
          <p:nvPr/>
        </p:nvSpPr>
        <p:spPr bwMode="auto">
          <a:xfrm>
            <a:off x="2307022" y="5230769"/>
            <a:ext cx="1539766" cy="5119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7B741E3-4E68-4F1F-AC17-056F594F42A9}"/>
              </a:ext>
            </a:extLst>
          </p:cNvPr>
          <p:cNvSpPr/>
          <p:nvPr/>
        </p:nvSpPr>
        <p:spPr bwMode="auto">
          <a:xfrm>
            <a:off x="5612524" y="3471040"/>
            <a:ext cx="1261242" cy="5119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23802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한반도 인근 지역의 주요 관심지역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한반도 및 인근</a:t>
            </a:r>
            <a:r>
              <a:rPr lang="ko-KR" altLang="en-US" dirty="0"/>
              <a:t>지역에 대한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시뮬레이션 세팅</a:t>
            </a:r>
            <a:endParaRPr lang="ko-KR" alt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E2E8FCE-2340-257C-78A4-76925375509E}"/>
              </a:ext>
            </a:extLst>
          </p:cNvPr>
          <p:cNvGrpSpPr/>
          <p:nvPr/>
        </p:nvGrpSpPr>
        <p:grpSpPr>
          <a:xfrm>
            <a:off x="52918" y="4730490"/>
            <a:ext cx="2589522" cy="816740"/>
            <a:chOff x="90320" y="1797742"/>
            <a:chExt cx="2589522" cy="816740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938DA437-A4F5-9414-412C-0A60ECBA822A}"/>
                </a:ext>
              </a:extLst>
            </p:cNvPr>
            <p:cNvCxnSpPr>
              <a:cxnSpLocks/>
            </p:cNvCxnSpPr>
            <p:nvPr/>
          </p:nvCxnSpPr>
          <p:spPr>
            <a:xfrm>
              <a:off x="90320" y="1797742"/>
              <a:ext cx="454210" cy="43363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66133B4-6CF9-F43E-47BA-F959363DD1DD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23137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2E80F4B0-CD51-1240-0686-024C08B56B6A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23137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648793CB-9587-A633-85A5-68DCC2448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07" y="1747258"/>
            <a:ext cx="3517114" cy="362166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5C832BC-C449-3CD2-5276-B57571E9C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685" y="1693872"/>
            <a:ext cx="4703544" cy="37663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9BFBC9-A07D-FAC1-3D9E-B405A5AF66E7}"/>
              </a:ext>
            </a:extLst>
          </p:cNvPr>
          <p:cNvSpPr txBox="1"/>
          <p:nvPr/>
        </p:nvSpPr>
        <p:spPr>
          <a:xfrm>
            <a:off x="-200345" y="6033660"/>
            <a:ext cx="90566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</a:t>
            </a:r>
            <a:r>
              <a:rPr lang="ko-KR" altLang="en-US" sz="1000" b="1" dirty="0">
                <a:solidFill>
                  <a:srgbClr val="1F2328"/>
                </a:solidFill>
              </a:rPr>
              <a:t>지역 커버리지 초소형 </a:t>
            </a:r>
            <a:r>
              <a:rPr lang="ko-KR" altLang="en-US" sz="1000" b="1" dirty="0" err="1">
                <a:solidFill>
                  <a:srgbClr val="1F2328"/>
                </a:solidFill>
              </a:rPr>
              <a:t>위성군</a:t>
            </a:r>
            <a:r>
              <a:rPr lang="ko-KR" altLang="en-US" sz="1000" b="1" dirty="0">
                <a:solidFill>
                  <a:srgbClr val="1F2328"/>
                </a:solidFill>
              </a:rPr>
              <a:t> 궤도설계와 </a:t>
            </a:r>
            <a:r>
              <a:rPr lang="ko-KR" altLang="en-US" sz="1000" b="1" dirty="0" err="1">
                <a:solidFill>
                  <a:srgbClr val="1F2328"/>
                </a:solidFill>
              </a:rPr>
              <a:t>위성군</a:t>
            </a:r>
            <a:r>
              <a:rPr lang="ko-KR" altLang="en-US" sz="1000" b="1" dirty="0">
                <a:solidFill>
                  <a:srgbClr val="1F2328"/>
                </a:solidFill>
              </a:rPr>
              <a:t> 궤도 전개 연구</a:t>
            </a:r>
            <a:r>
              <a:rPr lang="en-US" altLang="ko-KR" sz="1000" b="1" dirty="0">
                <a:solidFill>
                  <a:srgbClr val="1F2328"/>
                </a:solidFill>
              </a:rPr>
              <a:t>, 2020, </a:t>
            </a:r>
            <a:r>
              <a:rPr lang="ko-KR" altLang="en-US" sz="1000" b="1" dirty="0">
                <a:solidFill>
                  <a:srgbClr val="1F2328"/>
                </a:solidFill>
              </a:rPr>
              <a:t>신진영</a:t>
            </a:r>
            <a:r>
              <a:rPr lang="en-US" altLang="ko-KR" sz="1000" b="1" dirty="0">
                <a:solidFill>
                  <a:srgbClr val="1F2328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09118271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관심지역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서울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𝜙 </a:t>
                </a:r>
                <a:r>
                  <a:rPr lang="en-US" altLang="ko-KR" dirty="0"/>
                  <a:t>= 37.57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:r>
                  <a:rPr lang="el-GR" altLang="ko-KR" dirty="0"/>
                  <a:t>λ</a:t>
                </a:r>
                <a:r>
                  <a:rPr lang="en-US" altLang="ko-KR" dirty="0"/>
                  <a:t> = 127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E)</a:t>
                </a:r>
              </a:p>
              <a:p>
                <a:pPr lvl="1">
                  <a:defRPr/>
                </a:pPr>
                <a:r>
                  <a:rPr lang="ko-KR" altLang="en-US" dirty="0" err="1"/>
                  <a:t>동창리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𝜙 </a:t>
                </a:r>
                <a:r>
                  <a:rPr lang="en-US" altLang="ko-KR" dirty="0"/>
                  <a:t>= 39.7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:r>
                  <a:rPr lang="el-GR" altLang="ko-KR" dirty="0"/>
                  <a:t>λ</a:t>
                </a:r>
                <a:r>
                  <a:rPr lang="en-US" altLang="ko-KR" dirty="0"/>
                  <a:t> = 124.7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E)</a:t>
                </a:r>
              </a:p>
              <a:p>
                <a:pPr lvl="1">
                  <a:defRPr/>
                </a:pPr>
                <a:endParaRPr lang="en-US" altLang="ko-KR" sz="1000" dirty="0"/>
              </a:p>
              <a:p>
                <a:pPr>
                  <a:defRPr/>
                </a:pPr>
                <a:r>
                  <a:rPr lang="ko-KR" altLang="en-US" dirty="0"/>
                  <a:t>고도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892km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=7270.14</m:t>
                    </m:r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km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14/1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>
                  <a:defRPr/>
                </a:pPr>
                <a:endParaRPr lang="en-US" altLang="ko-KR" sz="1000" dirty="0"/>
              </a:p>
              <a:p>
                <a:pPr>
                  <a:defRPr/>
                </a:pPr>
                <a:r>
                  <a:rPr lang="ko-KR" altLang="en-US" dirty="0"/>
                  <a:t>궤도 경사각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Orbit 1 : 59</a:t>
                </a:r>
                <a:r>
                  <a:rPr lang="ko-KR" altLang="en-US" dirty="0"/>
                  <a:t>˚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Orbit 2 : 62</a:t>
                </a:r>
                <a:r>
                  <a:rPr lang="ko-KR" altLang="en-US" dirty="0"/>
                  <a:t>˚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한반도 및 인근</a:t>
            </a:r>
            <a:r>
              <a:rPr lang="ko-KR" altLang="en-US" dirty="0"/>
              <a:t>지역에 대한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시뮬레이션 세팅</a:t>
            </a:r>
            <a:endParaRPr lang="ko-KR" altLang="en-US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B2BC103-702B-6AFB-4D58-5B9B68891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105890"/>
              </p:ext>
            </p:extLst>
          </p:nvPr>
        </p:nvGraphicFramePr>
        <p:xfrm>
          <a:off x="63428" y="4711310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250753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67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127.0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39.70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124.7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567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Orbit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5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Orbit 2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066936"/>
                  </a:ext>
                </a:extLst>
              </a:tr>
            </a:tbl>
          </a:graphicData>
        </a:graphic>
      </p:graphicFrame>
      <p:grpSp>
        <p:nvGrpSpPr>
          <p:cNvPr id="23" name="그룹 22">
            <a:extLst>
              <a:ext uri="{FF2B5EF4-FFF2-40B4-BE49-F238E27FC236}">
                <a16:creationId xmlns:a16="http://schemas.microsoft.com/office/drawing/2014/main" id="{3E2E8FCE-2340-257C-78A4-76925375509E}"/>
              </a:ext>
            </a:extLst>
          </p:cNvPr>
          <p:cNvGrpSpPr/>
          <p:nvPr/>
        </p:nvGrpSpPr>
        <p:grpSpPr>
          <a:xfrm>
            <a:off x="52918" y="4730490"/>
            <a:ext cx="2589522" cy="816740"/>
            <a:chOff x="90320" y="1797742"/>
            <a:chExt cx="2589522" cy="816740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938DA437-A4F5-9414-412C-0A60ECBA822A}"/>
                </a:ext>
              </a:extLst>
            </p:cNvPr>
            <p:cNvCxnSpPr>
              <a:cxnSpLocks/>
            </p:cNvCxnSpPr>
            <p:nvPr/>
          </p:nvCxnSpPr>
          <p:spPr>
            <a:xfrm>
              <a:off x="90320" y="1797742"/>
              <a:ext cx="454210" cy="43363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66133B4-6CF9-F43E-47BA-F959363DD1DD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23137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2E80F4B0-CD51-1240-0686-024C08B56B6A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23137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20435046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 선정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600" dirty="0"/>
          </a:p>
          <a:p>
            <a:pPr lvl="1">
              <a:defRPr/>
            </a:pPr>
            <a:r>
              <a:rPr lang="ko-KR" altLang="en-US" dirty="0"/>
              <a:t>두 관심지역에 대해 </a:t>
            </a:r>
            <a:r>
              <a:rPr lang="ko-KR" altLang="en-US" b="1" u="sng" dirty="0"/>
              <a:t>각각의 지역을 가장 오래 지나는 궤도 경사각</a:t>
            </a:r>
            <a:r>
              <a:rPr lang="ko-KR" altLang="en-US" dirty="0"/>
              <a:t>을 선택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그와 동시에 </a:t>
            </a:r>
            <a:r>
              <a:rPr lang="ko-KR" altLang="en-US" b="1" u="sng" dirty="0"/>
              <a:t>두 지역에서의 위성 접근 시간 차이가 큰 궤도 경사각</a:t>
            </a:r>
            <a:r>
              <a:rPr lang="ko-KR" altLang="en-US" dirty="0"/>
              <a:t>을 선택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서울 </a:t>
            </a:r>
            <a:r>
              <a:rPr lang="en-US" altLang="ko-KR" dirty="0"/>
              <a:t>: 59</a:t>
            </a:r>
            <a:r>
              <a:rPr lang="ko-KR" altLang="en-US" dirty="0"/>
              <a:t>˚</a:t>
            </a:r>
            <a:endParaRPr lang="en-US" altLang="ko-KR" dirty="0"/>
          </a:p>
          <a:p>
            <a:pPr lvl="2">
              <a:defRPr/>
            </a:pPr>
            <a:r>
              <a:rPr lang="ko-KR" altLang="en-US" dirty="0" err="1"/>
              <a:t>동창리</a:t>
            </a:r>
            <a:r>
              <a:rPr lang="ko-KR" altLang="en-US" dirty="0"/>
              <a:t> </a:t>
            </a:r>
            <a:r>
              <a:rPr lang="en-US" altLang="ko-KR" dirty="0"/>
              <a:t>: 62</a:t>
            </a:r>
            <a:r>
              <a:rPr lang="ko-KR" altLang="en-US" dirty="0"/>
              <a:t>˚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10C14B-6A83-7921-7AFF-ED51EA459219}"/>
              </a:ext>
            </a:extLst>
          </p:cNvPr>
          <p:cNvSpPr/>
          <p:nvPr/>
        </p:nvSpPr>
        <p:spPr bwMode="auto">
          <a:xfrm>
            <a:off x="5675584" y="2262614"/>
            <a:ext cx="262759" cy="9010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733384-BB26-83D5-3F3C-B385C793631B}"/>
              </a:ext>
            </a:extLst>
          </p:cNvPr>
          <p:cNvSpPr/>
          <p:nvPr/>
        </p:nvSpPr>
        <p:spPr bwMode="auto">
          <a:xfrm>
            <a:off x="7400332" y="2559529"/>
            <a:ext cx="262759" cy="901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8B314-EE0B-4054-F2A7-3349D13E8789}"/>
              </a:ext>
            </a:extLst>
          </p:cNvPr>
          <p:cNvSpPr txBox="1"/>
          <p:nvPr/>
        </p:nvSpPr>
        <p:spPr>
          <a:xfrm>
            <a:off x="4127479" y="3228156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1"/>
                </a:solidFill>
              </a:rPr>
              <a:t>Orbit1(59</a:t>
            </a:r>
            <a:r>
              <a:rPr lang="ko-KR" altLang="en-US" sz="1400" dirty="0">
                <a:solidFill>
                  <a:schemeClr val="accent1"/>
                </a:solidFill>
              </a:rPr>
              <a:t>˚</a:t>
            </a:r>
            <a:r>
              <a:rPr lang="en-US" altLang="ko-KR" sz="14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0BFB24-8859-464C-9700-7688EF8E6BC8}"/>
              </a:ext>
            </a:extLst>
          </p:cNvPr>
          <p:cNvSpPr txBox="1"/>
          <p:nvPr/>
        </p:nvSpPr>
        <p:spPr>
          <a:xfrm>
            <a:off x="5806963" y="3496115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2"/>
                </a:solidFill>
              </a:rPr>
              <a:t>Orbit2(65</a:t>
            </a:r>
            <a:r>
              <a:rPr lang="ko-KR" altLang="en-US" sz="1400" dirty="0">
                <a:solidFill>
                  <a:schemeClr val="accent2"/>
                </a:solidFill>
              </a:rPr>
              <a:t>˚</a:t>
            </a:r>
            <a:r>
              <a:rPr lang="en-US" altLang="ko-KR" sz="1400" dirty="0">
                <a:solidFill>
                  <a:schemeClr val="accent2"/>
                </a:solidFill>
              </a:rPr>
              <a:t>)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16B1003-C2C6-CE3F-25E4-6B141DFA39CE}"/>
              </a:ext>
            </a:extLst>
          </p:cNvPr>
          <p:cNvGrpSpPr/>
          <p:nvPr/>
        </p:nvGrpSpPr>
        <p:grpSpPr>
          <a:xfrm>
            <a:off x="-491817" y="1530911"/>
            <a:ext cx="9635817" cy="2408808"/>
            <a:chOff x="-491817" y="2224596"/>
            <a:chExt cx="9635817" cy="240880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3F712E8-57D1-8580-AB70-4986D45B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224596"/>
              <a:ext cx="9144000" cy="240880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21B8C8C-B71A-95B7-EF61-C38EF3DAFC8B}"/>
                </a:ext>
              </a:extLst>
            </p:cNvPr>
            <p:cNvSpPr/>
            <p:nvPr/>
          </p:nvSpPr>
          <p:spPr bwMode="auto">
            <a:xfrm>
              <a:off x="1021460" y="3292970"/>
              <a:ext cx="262759" cy="1037291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2647B09-653D-569B-87A4-E960E124FE1B}"/>
                </a:ext>
              </a:extLst>
            </p:cNvPr>
            <p:cNvSpPr/>
            <p:nvPr/>
          </p:nvSpPr>
          <p:spPr bwMode="auto">
            <a:xfrm>
              <a:off x="7128112" y="2327156"/>
              <a:ext cx="262759" cy="9010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DE7D09-D49C-1999-DA0A-5BF4A6B96E95}"/>
                </a:ext>
              </a:extLst>
            </p:cNvPr>
            <p:cNvSpPr txBox="1"/>
            <p:nvPr/>
          </p:nvSpPr>
          <p:spPr>
            <a:xfrm>
              <a:off x="-491817" y="2689774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1"/>
                  </a:solidFill>
                </a:rPr>
                <a:t>Orbit1(42</a:t>
              </a:r>
              <a:r>
                <a:rPr lang="ko-KR" altLang="en-US" sz="1400" dirty="0">
                  <a:solidFill>
                    <a:schemeClr val="accent1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1"/>
                  </a:solidFill>
                </a:rPr>
                <a:t>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59303D-3663-CD3C-3A35-2FC68FC43A67}"/>
                </a:ext>
              </a:extLst>
            </p:cNvPr>
            <p:cNvSpPr txBox="1"/>
            <p:nvPr/>
          </p:nvSpPr>
          <p:spPr>
            <a:xfrm>
              <a:off x="5675584" y="3371182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2"/>
                  </a:solidFill>
                </a:rPr>
                <a:t>Orbit2(56</a:t>
              </a:r>
              <a:r>
                <a:rPr lang="ko-KR" altLang="en-US" sz="1400" dirty="0">
                  <a:solidFill>
                    <a:schemeClr val="accent2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2"/>
                  </a:solidFill>
                </a:rPr>
                <a:t>)</a:t>
              </a:r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61C45CDB-94A2-DEED-FB94-4E82B35B9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87096"/>
            <a:ext cx="9144000" cy="24544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DCB9A0D6-BB8C-5E87-88A4-F50BB114972C}"/>
              </a:ext>
            </a:extLst>
          </p:cNvPr>
          <p:cNvSpPr/>
          <p:nvPr/>
        </p:nvSpPr>
        <p:spPr bwMode="auto">
          <a:xfrm>
            <a:off x="5632063" y="1571492"/>
            <a:ext cx="262759" cy="44824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F625E5-08B2-5757-21C6-ECA1D291E52A}"/>
              </a:ext>
            </a:extLst>
          </p:cNvPr>
          <p:cNvSpPr txBox="1"/>
          <p:nvPr/>
        </p:nvSpPr>
        <p:spPr>
          <a:xfrm>
            <a:off x="3936009" y="2222796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1"/>
                </a:solidFill>
              </a:rPr>
              <a:t>Orbit1(59</a:t>
            </a:r>
            <a:r>
              <a:rPr lang="ko-KR" altLang="en-US" sz="1400" dirty="0">
                <a:solidFill>
                  <a:schemeClr val="accent1"/>
                </a:solidFill>
              </a:rPr>
              <a:t>˚</a:t>
            </a:r>
            <a:r>
              <a:rPr lang="en-US" altLang="ko-KR" sz="14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A76574E-3334-1800-DA88-7A0AC7BF9EC1}"/>
              </a:ext>
            </a:extLst>
          </p:cNvPr>
          <p:cNvSpPr/>
          <p:nvPr/>
        </p:nvSpPr>
        <p:spPr bwMode="auto">
          <a:xfrm>
            <a:off x="6491498" y="1756464"/>
            <a:ext cx="262759" cy="653074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82385E-689D-B88B-E744-5C88C7BC1669}"/>
              </a:ext>
            </a:extLst>
          </p:cNvPr>
          <p:cNvSpPr txBox="1"/>
          <p:nvPr/>
        </p:nvSpPr>
        <p:spPr>
          <a:xfrm>
            <a:off x="5101784" y="2529904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2"/>
                </a:solidFill>
              </a:rPr>
              <a:t>Orbit2(62</a:t>
            </a:r>
            <a:r>
              <a:rPr lang="ko-KR" altLang="en-US" sz="1400" dirty="0">
                <a:solidFill>
                  <a:schemeClr val="accent2"/>
                </a:solidFill>
              </a:rPr>
              <a:t>˚</a:t>
            </a:r>
            <a:r>
              <a:rPr lang="en-US" altLang="ko-KR" sz="1400" dirty="0">
                <a:solidFill>
                  <a:schemeClr val="accent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91407303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 선정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600" dirty="0"/>
          </a:p>
          <a:p>
            <a:pPr lvl="1">
              <a:defRPr/>
            </a:pPr>
            <a:r>
              <a:rPr lang="ko-KR" altLang="en-US" dirty="0"/>
              <a:t>두 관심지역에 대해 각각의 지역을 가장 오래 지나는 궤도 경사각을 선택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서울 </a:t>
            </a:r>
            <a:r>
              <a:rPr lang="en-US" altLang="ko-KR" dirty="0"/>
              <a:t>: 59</a:t>
            </a:r>
            <a:r>
              <a:rPr lang="ko-KR" altLang="en-US" dirty="0"/>
              <a:t>˚</a:t>
            </a:r>
            <a:endParaRPr lang="en-US" altLang="ko-KR" dirty="0"/>
          </a:p>
          <a:p>
            <a:pPr lvl="2">
              <a:defRPr/>
            </a:pPr>
            <a:r>
              <a:rPr lang="ko-KR" altLang="en-US" dirty="0" err="1"/>
              <a:t>동창리</a:t>
            </a:r>
            <a:r>
              <a:rPr lang="ko-KR" altLang="en-US" dirty="0"/>
              <a:t> </a:t>
            </a:r>
            <a:r>
              <a:rPr lang="en-US" altLang="ko-KR" dirty="0"/>
              <a:t>: 62</a:t>
            </a:r>
            <a:r>
              <a:rPr lang="ko-KR" altLang="en-US" dirty="0"/>
              <a:t>˚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10C14B-6A83-7921-7AFF-ED51EA459219}"/>
              </a:ext>
            </a:extLst>
          </p:cNvPr>
          <p:cNvSpPr/>
          <p:nvPr/>
        </p:nvSpPr>
        <p:spPr bwMode="auto">
          <a:xfrm>
            <a:off x="5675584" y="2262614"/>
            <a:ext cx="262759" cy="9010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733384-BB26-83D5-3F3C-B385C793631B}"/>
              </a:ext>
            </a:extLst>
          </p:cNvPr>
          <p:cNvSpPr/>
          <p:nvPr/>
        </p:nvSpPr>
        <p:spPr bwMode="auto">
          <a:xfrm>
            <a:off x="7400332" y="2559529"/>
            <a:ext cx="262759" cy="901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8B314-EE0B-4054-F2A7-3349D13E8789}"/>
              </a:ext>
            </a:extLst>
          </p:cNvPr>
          <p:cNvSpPr txBox="1"/>
          <p:nvPr/>
        </p:nvSpPr>
        <p:spPr>
          <a:xfrm>
            <a:off x="4127479" y="3228156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1"/>
                </a:solidFill>
              </a:rPr>
              <a:t>Orbit1(59</a:t>
            </a:r>
            <a:r>
              <a:rPr lang="ko-KR" altLang="en-US" sz="1400" dirty="0">
                <a:solidFill>
                  <a:schemeClr val="accent1"/>
                </a:solidFill>
              </a:rPr>
              <a:t>˚</a:t>
            </a:r>
            <a:r>
              <a:rPr lang="en-US" altLang="ko-KR" sz="14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0BFB24-8859-464C-9700-7688EF8E6BC8}"/>
              </a:ext>
            </a:extLst>
          </p:cNvPr>
          <p:cNvSpPr txBox="1"/>
          <p:nvPr/>
        </p:nvSpPr>
        <p:spPr>
          <a:xfrm>
            <a:off x="5806963" y="3496115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2"/>
                </a:solidFill>
              </a:rPr>
              <a:t>Orbit2(65</a:t>
            </a:r>
            <a:r>
              <a:rPr lang="ko-KR" altLang="en-US" sz="1400" dirty="0">
                <a:solidFill>
                  <a:schemeClr val="accent2"/>
                </a:solidFill>
              </a:rPr>
              <a:t>˚</a:t>
            </a:r>
            <a:r>
              <a:rPr lang="en-US" altLang="ko-KR" sz="140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F625E5-08B2-5757-21C6-ECA1D291E52A}"/>
              </a:ext>
            </a:extLst>
          </p:cNvPr>
          <p:cNvSpPr txBox="1"/>
          <p:nvPr/>
        </p:nvSpPr>
        <p:spPr>
          <a:xfrm>
            <a:off x="3936009" y="2222796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1"/>
                </a:solidFill>
              </a:rPr>
              <a:t>Orbit1(59</a:t>
            </a:r>
            <a:r>
              <a:rPr lang="ko-KR" altLang="en-US" sz="1400" dirty="0">
                <a:solidFill>
                  <a:schemeClr val="accent1"/>
                </a:solidFill>
              </a:rPr>
              <a:t>˚</a:t>
            </a:r>
            <a:r>
              <a:rPr lang="en-US" altLang="ko-KR" sz="14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A76574E-3334-1800-DA88-7A0AC7BF9EC1}"/>
              </a:ext>
            </a:extLst>
          </p:cNvPr>
          <p:cNvSpPr/>
          <p:nvPr/>
        </p:nvSpPr>
        <p:spPr bwMode="auto">
          <a:xfrm>
            <a:off x="6491498" y="1756464"/>
            <a:ext cx="262759" cy="653074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82385E-689D-B88B-E744-5C88C7BC1669}"/>
              </a:ext>
            </a:extLst>
          </p:cNvPr>
          <p:cNvSpPr txBox="1"/>
          <p:nvPr/>
        </p:nvSpPr>
        <p:spPr>
          <a:xfrm>
            <a:off x="5101784" y="2529904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2"/>
                </a:solidFill>
              </a:rPr>
              <a:t>Orbit2(62</a:t>
            </a:r>
            <a:r>
              <a:rPr lang="ko-KR" altLang="en-US" sz="1400" dirty="0">
                <a:solidFill>
                  <a:schemeClr val="accent2"/>
                </a:solidFill>
              </a:rPr>
              <a:t>˚</a:t>
            </a:r>
            <a:r>
              <a:rPr lang="en-US" altLang="ko-KR" sz="1400" dirty="0">
                <a:solidFill>
                  <a:schemeClr val="accent2"/>
                </a:solidFill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011D393-09E4-3357-C21B-0F254A6ED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4460"/>
            <a:ext cx="9144000" cy="4586003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4DBF0368-2B56-A04E-DB80-BE3A2588F98B}"/>
              </a:ext>
            </a:extLst>
          </p:cNvPr>
          <p:cNvSpPr/>
          <p:nvPr/>
        </p:nvSpPr>
        <p:spPr bwMode="auto">
          <a:xfrm>
            <a:off x="5938343" y="2837681"/>
            <a:ext cx="651643" cy="33327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697ED9-024E-286B-9657-1031F06FA139}"/>
              </a:ext>
            </a:extLst>
          </p:cNvPr>
          <p:cNvSpPr txBox="1"/>
          <p:nvPr/>
        </p:nvSpPr>
        <p:spPr>
          <a:xfrm>
            <a:off x="5910525" y="622360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대체로 일정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F305CB1-4295-97E0-CF3D-6329F7952C18}"/>
              </a:ext>
            </a:extLst>
          </p:cNvPr>
          <p:cNvSpPr/>
          <p:nvPr/>
        </p:nvSpPr>
        <p:spPr bwMode="auto">
          <a:xfrm>
            <a:off x="5342966" y="2841751"/>
            <a:ext cx="563847" cy="333278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>
              <a:solidFill>
                <a:srgbClr val="0070C0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CAE01ABE-644D-EF2F-C17D-3D2F3C316B99}"/>
              </a:ext>
            </a:extLst>
          </p:cNvPr>
          <p:cNvCxnSpPr/>
          <p:nvPr/>
        </p:nvCxnSpPr>
        <p:spPr>
          <a:xfrm>
            <a:off x="5192110" y="2837681"/>
            <a:ext cx="0" cy="3467973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AC0DEAD-A31A-B608-1839-882E8FE23F1D}"/>
              </a:ext>
            </a:extLst>
          </p:cNvPr>
          <p:cNvSpPr txBox="1"/>
          <p:nvPr/>
        </p:nvSpPr>
        <p:spPr>
          <a:xfrm>
            <a:off x="5258885" y="6217326"/>
            <a:ext cx="651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0070C0"/>
                </a:solidFill>
              </a:rPr>
              <a:t>증가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EBD8C685-F5CC-5C96-23AF-63D1FFDAA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65174"/>
            <a:ext cx="9144000" cy="238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181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위성 접근 시간과 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운용의 효율성 관계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600" dirty="0"/>
          </a:p>
          <a:p>
            <a:pPr lvl="1">
              <a:defRPr/>
            </a:pP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운용의 요구조건</a:t>
            </a:r>
            <a:r>
              <a:rPr lang="en-US" altLang="ko-KR" dirty="0"/>
              <a:t>(ex. </a:t>
            </a:r>
            <a:r>
              <a:rPr lang="ko-KR" altLang="en-US" dirty="0"/>
              <a:t>서울</a:t>
            </a:r>
            <a:r>
              <a:rPr lang="en-US" altLang="ko-KR" dirty="0"/>
              <a:t>, </a:t>
            </a:r>
            <a:r>
              <a:rPr lang="ko-KR" altLang="en-US" dirty="0" err="1"/>
              <a:t>동창리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en-US" altLang="ko-KR" dirty="0"/>
              <a:t>Target A, B</a:t>
            </a:r>
            <a:r>
              <a:rPr lang="ko-KR" altLang="en-US" dirty="0"/>
              <a:t>에 대해 </a:t>
            </a:r>
            <a:r>
              <a:rPr lang="en-US" altLang="ko-KR" dirty="0"/>
              <a:t>Total Duration</a:t>
            </a:r>
            <a:r>
              <a:rPr lang="ko-KR" altLang="en-US" dirty="0"/>
              <a:t>은 아래 조건을 모두 만족해야 한다</a:t>
            </a:r>
            <a:endParaRPr lang="en-US" altLang="ko-KR" dirty="0"/>
          </a:p>
          <a:p>
            <a:pPr marL="648000" lvl="3" indent="0">
              <a:buNone/>
              <a:defRPr/>
            </a:pPr>
            <a:r>
              <a:rPr lang="en-US" altLang="ko-KR" b="1" dirty="0"/>
              <a:t>     TD(Orbit1_A) &gt; TD(Orbit1_B)  &amp;  TD(Orbit2_A) &lt; TD(Orbit2_B)    </a:t>
            </a:r>
            <a:r>
              <a:rPr lang="ko-KR" altLang="en-US" b="1" dirty="0">
                <a:solidFill>
                  <a:srgbClr val="FF0000"/>
                </a:solidFill>
              </a:rPr>
              <a:t>→  ○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648000" lvl="3" indent="0">
              <a:buNone/>
              <a:defRPr/>
            </a:pPr>
            <a:r>
              <a:rPr lang="en-US" altLang="ko-KR" dirty="0"/>
              <a:t>     TD(Orbit1_A) &gt; TD(Orbit2_A)  &amp;  TD(Orbit1_A) &lt; TD(Orbit2_A)</a:t>
            </a:r>
          </a:p>
          <a:p>
            <a:pPr marL="648000" lvl="3" indent="0">
              <a:buNone/>
              <a:defRPr/>
            </a:pPr>
            <a:r>
              <a:rPr lang="en-US" altLang="ko-KR" dirty="0"/>
              <a:t>     </a:t>
            </a:r>
            <a:r>
              <a:rPr lang="en-US" altLang="ko-KR" b="1" dirty="0"/>
              <a:t>TD(Orbit1_A) &gt; TD(Orbit2_A)  &amp;  TD(Orbit1_B) &lt; TD(Orbit2_B)    </a:t>
            </a:r>
            <a:r>
              <a:rPr lang="ko-KR" altLang="en-US" b="1" dirty="0">
                <a:solidFill>
                  <a:srgbClr val="FF0000"/>
                </a:solidFill>
              </a:rPr>
              <a:t>→  </a:t>
            </a:r>
            <a:r>
              <a:rPr lang="en-US" altLang="ko-KR" b="1" dirty="0">
                <a:solidFill>
                  <a:srgbClr val="FF0000"/>
                </a:solidFill>
              </a:rPr>
              <a:t>×</a:t>
            </a:r>
          </a:p>
          <a:p>
            <a:pPr marL="648000" lvl="3" indent="0">
              <a:buNone/>
              <a:defRPr/>
            </a:pPr>
            <a:r>
              <a:rPr lang="en-US" altLang="ko-KR" dirty="0"/>
              <a:t>     TD(Orbit1_A) &lt; TD(Orbit2_A)  &amp;  TD(Orbit1_B) &gt; TD(Orbit2_B)</a:t>
            </a:r>
          </a:p>
          <a:p>
            <a:pPr lvl="2">
              <a:defRPr/>
            </a:pPr>
            <a:r>
              <a:rPr lang="ko-KR" altLang="en-US" dirty="0"/>
              <a:t>같은 궤도에서 두 지역을 지나는 </a:t>
            </a:r>
            <a:r>
              <a:rPr lang="en-US" altLang="ko-KR" dirty="0"/>
              <a:t>TD </a:t>
            </a:r>
            <a:r>
              <a:rPr lang="ko-KR" altLang="en-US" dirty="0"/>
              <a:t>차이가 클수록 높은 효율을 낸다</a:t>
            </a:r>
            <a:r>
              <a:rPr lang="en-US" altLang="ko-KR" dirty="0"/>
              <a:t>      </a:t>
            </a:r>
          </a:p>
          <a:p>
            <a:pPr marL="648000" lvl="3" indent="0">
              <a:buNone/>
              <a:defRPr/>
            </a:pPr>
            <a:endParaRPr lang="en-US" altLang="ko-KR" dirty="0"/>
          </a:p>
          <a:p>
            <a:pPr marL="828000" lvl="4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10C14B-6A83-7921-7AFF-ED51EA459219}"/>
              </a:ext>
            </a:extLst>
          </p:cNvPr>
          <p:cNvSpPr/>
          <p:nvPr/>
        </p:nvSpPr>
        <p:spPr bwMode="auto">
          <a:xfrm>
            <a:off x="5675584" y="2262614"/>
            <a:ext cx="262759" cy="9010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733384-BB26-83D5-3F3C-B385C793631B}"/>
              </a:ext>
            </a:extLst>
          </p:cNvPr>
          <p:cNvSpPr/>
          <p:nvPr/>
        </p:nvSpPr>
        <p:spPr bwMode="auto">
          <a:xfrm>
            <a:off x="7400332" y="2559529"/>
            <a:ext cx="262759" cy="901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8B314-EE0B-4054-F2A7-3349D13E8789}"/>
              </a:ext>
            </a:extLst>
          </p:cNvPr>
          <p:cNvSpPr txBox="1"/>
          <p:nvPr/>
        </p:nvSpPr>
        <p:spPr>
          <a:xfrm>
            <a:off x="4127479" y="3228156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1"/>
                </a:solidFill>
              </a:rPr>
              <a:t>Orbit1(59</a:t>
            </a:r>
            <a:r>
              <a:rPr lang="ko-KR" altLang="en-US" sz="1400" dirty="0">
                <a:solidFill>
                  <a:schemeClr val="accent1"/>
                </a:solidFill>
              </a:rPr>
              <a:t>˚</a:t>
            </a:r>
            <a:r>
              <a:rPr lang="en-US" altLang="ko-KR" sz="14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0BFB24-8859-464C-9700-7688EF8E6BC8}"/>
              </a:ext>
            </a:extLst>
          </p:cNvPr>
          <p:cNvSpPr txBox="1"/>
          <p:nvPr/>
        </p:nvSpPr>
        <p:spPr>
          <a:xfrm>
            <a:off x="5806963" y="3496115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2"/>
                </a:solidFill>
              </a:rPr>
              <a:t>Orbit2(65</a:t>
            </a:r>
            <a:r>
              <a:rPr lang="ko-KR" altLang="en-US" sz="1400" dirty="0">
                <a:solidFill>
                  <a:schemeClr val="accent2"/>
                </a:solidFill>
              </a:rPr>
              <a:t>˚</a:t>
            </a:r>
            <a:r>
              <a:rPr lang="en-US" altLang="ko-KR" sz="1400" dirty="0">
                <a:solidFill>
                  <a:schemeClr val="accent2"/>
                </a:solidFill>
              </a:rPr>
              <a:t>)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16B1003-C2C6-CE3F-25E4-6B141DFA39CE}"/>
              </a:ext>
            </a:extLst>
          </p:cNvPr>
          <p:cNvGrpSpPr/>
          <p:nvPr/>
        </p:nvGrpSpPr>
        <p:grpSpPr>
          <a:xfrm>
            <a:off x="-491817" y="1530911"/>
            <a:ext cx="9635817" cy="2408808"/>
            <a:chOff x="-491817" y="2224596"/>
            <a:chExt cx="9635817" cy="240880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3F712E8-57D1-8580-AB70-4986D45B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224596"/>
              <a:ext cx="9144000" cy="240880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21B8C8C-B71A-95B7-EF61-C38EF3DAFC8B}"/>
                </a:ext>
              </a:extLst>
            </p:cNvPr>
            <p:cNvSpPr/>
            <p:nvPr/>
          </p:nvSpPr>
          <p:spPr bwMode="auto">
            <a:xfrm>
              <a:off x="1021460" y="3292970"/>
              <a:ext cx="262759" cy="1037291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2647B09-653D-569B-87A4-E960E124FE1B}"/>
                </a:ext>
              </a:extLst>
            </p:cNvPr>
            <p:cNvSpPr/>
            <p:nvPr/>
          </p:nvSpPr>
          <p:spPr bwMode="auto">
            <a:xfrm>
              <a:off x="7128112" y="2327156"/>
              <a:ext cx="262759" cy="9010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DE7D09-D49C-1999-DA0A-5BF4A6B96E95}"/>
                </a:ext>
              </a:extLst>
            </p:cNvPr>
            <p:cNvSpPr txBox="1"/>
            <p:nvPr/>
          </p:nvSpPr>
          <p:spPr>
            <a:xfrm>
              <a:off x="-491817" y="2689774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1"/>
                  </a:solidFill>
                </a:rPr>
                <a:t>Orbit1(42</a:t>
              </a:r>
              <a:r>
                <a:rPr lang="ko-KR" altLang="en-US" sz="1400" dirty="0">
                  <a:solidFill>
                    <a:schemeClr val="accent1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1"/>
                  </a:solidFill>
                </a:rPr>
                <a:t>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59303D-3663-CD3C-3A35-2FC68FC43A67}"/>
                </a:ext>
              </a:extLst>
            </p:cNvPr>
            <p:cNvSpPr txBox="1"/>
            <p:nvPr/>
          </p:nvSpPr>
          <p:spPr>
            <a:xfrm>
              <a:off x="5675584" y="3371182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2"/>
                  </a:solidFill>
                </a:rPr>
                <a:t>Orbit2(56</a:t>
              </a:r>
              <a:r>
                <a:rPr lang="ko-KR" altLang="en-US" sz="1400" dirty="0">
                  <a:solidFill>
                    <a:schemeClr val="accent2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2"/>
                  </a:solidFill>
                </a:rPr>
                <a:t>)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B379E57-CE10-F0F5-F4F7-EC83952EAE1D}"/>
              </a:ext>
            </a:extLst>
          </p:cNvPr>
          <p:cNvSpPr txBox="1"/>
          <p:nvPr/>
        </p:nvSpPr>
        <p:spPr>
          <a:xfrm>
            <a:off x="-1073752" y="4658233"/>
            <a:ext cx="34266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3200" dirty="0"/>
              <a:t>{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997B26-F5E7-1EAF-269D-22334724D966}"/>
              </a:ext>
            </a:extLst>
          </p:cNvPr>
          <p:cNvSpPr txBox="1"/>
          <p:nvPr/>
        </p:nvSpPr>
        <p:spPr>
          <a:xfrm>
            <a:off x="-1068498" y="5221085"/>
            <a:ext cx="34266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3200" dirty="0"/>
              <a:t>{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42A50201-ACB5-04A7-D55E-DB6C9AA58AF1}"/>
                  </a:ext>
                </a:extLst>
              </p14:cNvPr>
              <p14:cNvContentPartPr/>
              <p14:nvPr/>
            </p14:nvContentPartPr>
            <p14:xfrm>
              <a:off x="1103139" y="5580674"/>
              <a:ext cx="360" cy="36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42A50201-ACB5-04A7-D55E-DB6C9AA58A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4139" y="55716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AC7AB3ED-1F4B-091B-CFB7-574265541D5A}"/>
                  </a:ext>
                </a:extLst>
              </p14:cNvPr>
              <p14:cNvContentPartPr/>
              <p14:nvPr/>
            </p14:nvContentPartPr>
            <p14:xfrm>
              <a:off x="1082259" y="5601554"/>
              <a:ext cx="360" cy="36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AC7AB3ED-1F4B-091B-CFB7-574265541D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3259" y="559255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22" name="그림 21">
            <a:extLst>
              <a:ext uri="{FF2B5EF4-FFF2-40B4-BE49-F238E27FC236}">
                <a16:creationId xmlns:a16="http://schemas.microsoft.com/office/drawing/2014/main" id="{61C45CDB-94A2-DEED-FB94-4E82B35B93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487096"/>
            <a:ext cx="9144000" cy="24544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B0939FB1-A58F-F5BC-BE1D-CF72BA546670}"/>
              </a:ext>
            </a:extLst>
          </p:cNvPr>
          <p:cNvSpPr/>
          <p:nvPr/>
        </p:nvSpPr>
        <p:spPr bwMode="auto">
          <a:xfrm>
            <a:off x="5632063" y="1571492"/>
            <a:ext cx="262759" cy="44824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BD49A6-5C09-9E4C-A6E7-C7F3B4A9853F}"/>
              </a:ext>
            </a:extLst>
          </p:cNvPr>
          <p:cNvSpPr txBox="1"/>
          <p:nvPr/>
        </p:nvSpPr>
        <p:spPr>
          <a:xfrm>
            <a:off x="3936009" y="2222796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1"/>
                </a:solidFill>
              </a:rPr>
              <a:t>Orbit1(59</a:t>
            </a:r>
            <a:r>
              <a:rPr lang="ko-KR" altLang="en-US" sz="1400" dirty="0">
                <a:solidFill>
                  <a:schemeClr val="accent1"/>
                </a:solidFill>
              </a:rPr>
              <a:t>˚</a:t>
            </a:r>
            <a:r>
              <a:rPr lang="en-US" altLang="ko-KR" sz="14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87F563A-0F0C-7B97-A663-FBE604D169D6}"/>
              </a:ext>
            </a:extLst>
          </p:cNvPr>
          <p:cNvSpPr/>
          <p:nvPr/>
        </p:nvSpPr>
        <p:spPr bwMode="auto">
          <a:xfrm>
            <a:off x="6491498" y="1756464"/>
            <a:ext cx="262759" cy="653074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247D46-6262-9418-7FF3-8F4727501A26}"/>
              </a:ext>
            </a:extLst>
          </p:cNvPr>
          <p:cNvSpPr txBox="1"/>
          <p:nvPr/>
        </p:nvSpPr>
        <p:spPr>
          <a:xfrm>
            <a:off x="5101784" y="2529904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2"/>
                </a:solidFill>
              </a:rPr>
              <a:t>Orbit2(62</a:t>
            </a:r>
            <a:r>
              <a:rPr lang="ko-KR" altLang="en-US" sz="1400" dirty="0">
                <a:solidFill>
                  <a:schemeClr val="accent2"/>
                </a:solidFill>
              </a:rPr>
              <a:t>˚</a:t>
            </a:r>
            <a:r>
              <a:rPr lang="en-US" altLang="ko-KR" sz="1400" dirty="0">
                <a:solidFill>
                  <a:schemeClr val="accent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06825858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88691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위성 접근 시간과 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운용의 효율성 관계</a:t>
            </a:r>
            <a:endParaRPr lang="en-US" altLang="ko-KR" sz="600" dirty="0"/>
          </a:p>
          <a:p>
            <a:pPr lvl="1">
              <a:defRPr/>
            </a:pP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운용의 좋은 예 </a:t>
            </a:r>
            <a:r>
              <a:rPr lang="en-US" altLang="ko-KR" dirty="0"/>
              <a:t>(</a:t>
            </a:r>
            <a:r>
              <a:rPr lang="ko-KR" altLang="en-US" dirty="0"/>
              <a:t>효율이 높음</a:t>
            </a:r>
            <a:r>
              <a:rPr lang="en-US" altLang="ko-KR" dirty="0"/>
              <a:t>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b="1" u="sng" dirty="0"/>
              <a:t>교차 조건</a:t>
            </a:r>
            <a:r>
              <a:rPr lang="ko-KR" altLang="en-US" dirty="0"/>
              <a:t>과 </a:t>
            </a:r>
            <a:r>
              <a:rPr lang="ko-KR" altLang="en-US" b="1" u="sng" dirty="0"/>
              <a:t>수직 균형 조건</a:t>
            </a:r>
            <a:r>
              <a:rPr lang="ko-KR" altLang="en-US" dirty="0"/>
              <a:t>을 모두 만족할 때 </a:t>
            </a:r>
            <a:endParaRPr lang="en-US" altLang="ko-KR" dirty="0"/>
          </a:p>
          <a:p>
            <a:pPr marL="216000" lvl="1" indent="0">
              <a:buNone/>
              <a:defRPr/>
            </a:pPr>
            <a:r>
              <a:rPr lang="en-US" altLang="ko-KR" dirty="0"/>
              <a:t>     (</a:t>
            </a:r>
            <a:r>
              <a:rPr lang="ko-KR" altLang="en-US" dirty="0"/>
              <a:t>두 지역에 대해 각 궤도의 </a:t>
            </a:r>
            <a:r>
              <a:rPr lang="ko-KR" altLang="en-US" b="1" u="sng" dirty="0"/>
              <a:t>우세함이 반대</a:t>
            </a:r>
            <a:r>
              <a:rPr lang="ko-KR" altLang="en-US" dirty="0"/>
              <a:t>이며</a:t>
            </a:r>
            <a:r>
              <a:rPr lang="en-US" altLang="ko-KR" dirty="0"/>
              <a:t>, </a:t>
            </a:r>
            <a:r>
              <a:rPr lang="ko-KR" altLang="en-US" b="1" u="sng" dirty="0"/>
              <a:t>두 궤도의 성능이 균형을 이룰 때</a:t>
            </a:r>
            <a:r>
              <a:rPr lang="en-US" altLang="ko-KR" dirty="0"/>
              <a:t>)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위성 접근 시간 차가 클 수록 효율이 높음</a:t>
            </a:r>
            <a:endParaRPr lang="en-US" altLang="ko-KR" dirty="0"/>
          </a:p>
          <a:p>
            <a:pPr marL="828000" lvl="4" indent="0">
              <a:buNone/>
              <a:defRPr/>
            </a:pPr>
            <a:endParaRPr lang="en-US" altLang="ko-KR" dirty="0"/>
          </a:p>
          <a:p>
            <a:pPr marL="2262600" lvl="5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1EC880D2-1755-18A2-25CE-2B24D58F3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1820589"/>
            <a:ext cx="3552825" cy="283845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1D84AFF-AAD9-437E-E9EC-E13C98FA1607}"/>
              </a:ext>
            </a:extLst>
          </p:cNvPr>
          <p:cNvSpPr txBox="1"/>
          <p:nvPr/>
        </p:nvSpPr>
        <p:spPr>
          <a:xfrm>
            <a:off x="1244010" y="4365530"/>
            <a:ext cx="58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Orbit1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E718EF-00A6-94EB-C5CE-3C71B45F59D0}"/>
              </a:ext>
            </a:extLst>
          </p:cNvPr>
          <p:cNvSpPr txBox="1"/>
          <p:nvPr/>
        </p:nvSpPr>
        <p:spPr>
          <a:xfrm>
            <a:off x="3533553" y="4385993"/>
            <a:ext cx="58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Orbit2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992061121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위성 접근 시간과 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운용의 효율성 관계</a:t>
            </a:r>
            <a:endParaRPr lang="en-US" altLang="ko-KR" sz="600" dirty="0"/>
          </a:p>
          <a:p>
            <a:pPr lvl="1">
              <a:defRPr/>
            </a:pP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운용의 좋지 않은 예 </a:t>
            </a:r>
            <a:r>
              <a:rPr lang="en-US" altLang="ko-KR" dirty="0"/>
              <a:t>(</a:t>
            </a:r>
            <a:r>
              <a:rPr lang="ko-KR" altLang="en-US" dirty="0"/>
              <a:t>효율이 낮음</a:t>
            </a:r>
            <a:r>
              <a:rPr lang="en-US" altLang="ko-KR" dirty="0"/>
              <a:t>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b="1" u="sng" dirty="0"/>
              <a:t>교차 조건</a:t>
            </a:r>
            <a:r>
              <a:rPr lang="ko-KR" altLang="en-US" dirty="0"/>
              <a:t>과 </a:t>
            </a:r>
            <a:r>
              <a:rPr lang="ko-KR" altLang="en-US" b="1" u="sng" dirty="0"/>
              <a:t>수직 균형 조건</a:t>
            </a:r>
            <a:r>
              <a:rPr lang="ko-KR" altLang="en-US" dirty="0"/>
              <a:t>을 모두 만족할 때 </a:t>
            </a:r>
            <a:endParaRPr lang="en-US" altLang="ko-KR" dirty="0"/>
          </a:p>
          <a:p>
            <a:pPr marL="216000" lvl="1" indent="0">
              <a:buNone/>
              <a:defRPr/>
            </a:pPr>
            <a:r>
              <a:rPr lang="en-US" altLang="ko-KR" dirty="0"/>
              <a:t>     (</a:t>
            </a:r>
            <a:r>
              <a:rPr lang="ko-KR" altLang="en-US" dirty="0"/>
              <a:t>두 지역에 대해 각 궤도의 </a:t>
            </a:r>
            <a:r>
              <a:rPr lang="ko-KR" altLang="en-US" b="1" u="sng" dirty="0"/>
              <a:t>우세함이 반대</a:t>
            </a:r>
            <a:r>
              <a:rPr lang="ko-KR" altLang="en-US" dirty="0"/>
              <a:t>이며</a:t>
            </a:r>
            <a:r>
              <a:rPr lang="en-US" altLang="ko-KR" dirty="0"/>
              <a:t>, </a:t>
            </a:r>
            <a:r>
              <a:rPr lang="ko-KR" altLang="en-US" b="1" u="sng" dirty="0"/>
              <a:t>두 궤도의 성능이 균형을 이룰 때</a:t>
            </a:r>
            <a:r>
              <a:rPr lang="en-US" altLang="ko-KR" dirty="0"/>
              <a:t>)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위성 접근 시간 차가 작을수록 효율이 낮음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1EC880D2-1755-18A2-25CE-2B24D58F3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1820589"/>
            <a:ext cx="3552825" cy="28384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7265605-2192-E01B-3156-6D04F6251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23" y="1820589"/>
            <a:ext cx="3552825" cy="2819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99CA3A-AB78-3D78-089D-05D6A470F4ED}"/>
              </a:ext>
            </a:extLst>
          </p:cNvPr>
          <p:cNvSpPr txBox="1"/>
          <p:nvPr/>
        </p:nvSpPr>
        <p:spPr>
          <a:xfrm>
            <a:off x="1244010" y="4259200"/>
            <a:ext cx="58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Orbit1</a:t>
            </a:r>
            <a:endParaRPr lang="ko-KR" alt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23BAC4-7FAD-9121-6B3B-9DA330A205EE}"/>
              </a:ext>
            </a:extLst>
          </p:cNvPr>
          <p:cNvSpPr txBox="1"/>
          <p:nvPr/>
        </p:nvSpPr>
        <p:spPr>
          <a:xfrm>
            <a:off x="3533553" y="4279663"/>
            <a:ext cx="58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Orbit2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641294535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위성 접근 시간과 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운용의 효율성 관계</a:t>
            </a:r>
            <a:endParaRPr lang="en-US" altLang="ko-KR" sz="600" dirty="0"/>
          </a:p>
          <a:p>
            <a:pPr lvl="1">
              <a:defRPr/>
            </a:pP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운용이 불가능한 예 </a:t>
            </a:r>
            <a:r>
              <a:rPr lang="en-US" altLang="ko-KR" dirty="0"/>
              <a:t>(</a:t>
            </a:r>
            <a:r>
              <a:rPr lang="ko-KR" altLang="en-US" dirty="0"/>
              <a:t>단일 궤도가 더욱 효율적</a:t>
            </a:r>
            <a:r>
              <a:rPr lang="en-US" altLang="ko-KR" dirty="0"/>
              <a:t>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b="1" u="sng" dirty="0"/>
              <a:t>교차 조건</a:t>
            </a:r>
            <a:r>
              <a:rPr lang="ko-KR" altLang="en-US" dirty="0"/>
              <a:t>은 만족하지만 </a:t>
            </a:r>
            <a:r>
              <a:rPr lang="ko-KR" altLang="en-US" b="1" u="sng" dirty="0"/>
              <a:t>수직 균형 조건</a:t>
            </a:r>
            <a:r>
              <a:rPr lang="ko-KR" altLang="en-US" dirty="0"/>
              <a:t>을 만족하지 않을 때 </a:t>
            </a:r>
            <a:endParaRPr lang="en-US" altLang="ko-KR" dirty="0"/>
          </a:p>
          <a:p>
            <a:pPr marL="216000" lvl="1" indent="0">
              <a:buNone/>
              <a:defRPr/>
            </a:pPr>
            <a:r>
              <a:rPr lang="ko-KR" altLang="en-US" dirty="0"/>
              <a:t>     </a:t>
            </a:r>
            <a:r>
              <a:rPr lang="en-US" altLang="ko-KR" dirty="0"/>
              <a:t>(</a:t>
            </a:r>
            <a:r>
              <a:rPr lang="ko-KR" altLang="en-US" dirty="0"/>
              <a:t>각 궤도의 </a:t>
            </a:r>
            <a:r>
              <a:rPr lang="ko-KR" altLang="en-US" b="1" u="sng" dirty="0"/>
              <a:t>우세함이 반대</a:t>
            </a:r>
            <a:r>
              <a:rPr lang="ko-KR" altLang="en-US" dirty="0"/>
              <a:t>이지만</a:t>
            </a:r>
            <a:r>
              <a:rPr lang="en-US" altLang="ko-KR" dirty="0"/>
              <a:t>, </a:t>
            </a:r>
            <a:r>
              <a:rPr lang="ko-KR" altLang="en-US" dirty="0"/>
              <a:t>두 지역에서 모두 한 </a:t>
            </a:r>
            <a:r>
              <a:rPr lang="ko-KR" altLang="en-US" b="1" u="sng" dirty="0"/>
              <a:t>궤도의 성능만이 높을 때</a:t>
            </a:r>
            <a:r>
              <a:rPr lang="en-US" altLang="ko-KR" dirty="0"/>
              <a:t>)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성능이 높은 궤도로 단일 궤도만을 이용하는 것이 더 효율적임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1EC880D2-1755-18A2-25CE-2B24D58F3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1820589"/>
            <a:ext cx="3552825" cy="28384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7265605-2192-E01B-3156-6D04F6251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23" y="1820589"/>
            <a:ext cx="3552825" cy="2819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842A421-FC07-1ADE-D5AC-D36C87EB10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422" y="1819481"/>
            <a:ext cx="3524250" cy="2819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7880C3-6AA3-C430-1654-C204250F4B3B}"/>
              </a:ext>
            </a:extLst>
          </p:cNvPr>
          <p:cNvSpPr txBox="1"/>
          <p:nvPr/>
        </p:nvSpPr>
        <p:spPr>
          <a:xfrm>
            <a:off x="1244010" y="4333631"/>
            <a:ext cx="58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Orbit1</a:t>
            </a:r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DC408C-E9AE-3254-4F05-1360D38349D8}"/>
              </a:ext>
            </a:extLst>
          </p:cNvPr>
          <p:cNvSpPr txBox="1"/>
          <p:nvPr/>
        </p:nvSpPr>
        <p:spPr>
          <a:xfrm>
            <a:off x="3533553" y="4354094"/>
            <a:ext cx="58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Orbit2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862238715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위성 접근 시간과 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운용의 효율성 관계</a:t>
            </a:r>
            <a:endParaRPr lang="en-US" altLang="ko-KR" sz="600" dirty="0"/>
          </a:p>
          <a:p>
            <a:pPr lvl="1">
              <a:defRPr/>
            </a:pP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운용이 불가능한 예 </a:t>
            </a:r>
            <a:r>
              <a:rPr lang="en-US" altLang="ko-KR" dirty="0"/>
              <a:t>(</a:t>
            </a:r>
            <a:r>
              <a:rPr lang="ko-KR" altLang="en-US" dirty="0"/>
              <a:t>단일 궤도가 더욱 효율적</a:t>
            </a:r>
            <a:r>
              <a:rPr lang="en-US" altLang="ko-KR" dirty="0"/>
              <a:t>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b="1" u="sng" dirty="0"/>
              <a:t>수직 균형 조건</a:t>
            </a:r>
            <a:r>
              <a:rPr lang="ko-KR" altLang="en-US" dirty="0"/>
              <a:t>은 만족하지만 </a:t>
            </a:r>
            <a:r>
              <a:rPr lang="ko-KR" altLang="en-US" b="1" u="sng" dirty="0"/>
              <a:t>교차 조건</a:t>
            </a:r>
            <a:r>
              <a:rPr lang="ko-KR" altLang="en-US" dirty="0"/>
              <a:t>을 만족하지 않을 때 </a:t>
            </a:r>
            <a:endParaRPr lang="en-US" altLang="ko-KR" dirty="0"/>
          </a:p>
          <a:p>
            <a:pPr marL="216000" lvl="1" indent="0">
              <a:buNone/>
              <a:defRPr/>
            </a:pPr>
            <a:r>
              <a:rPr lang="en-US" altLang="ko-KR" dirty="0"/>
              <a:t>     (</a:t>
            </a:r>
            <a:r>
              <a:rPr lang="ko-KR" altLang="en-US" b="1" u="sng" dirty="0"/>
              <a:t>두 궤도의 성능이 균형을 이루지만</a:t>
            </a:r>
            <a:r>
              <a:rPr lang="en-US" altLang="ko-KR" dirty="0"/>
              <a:t>, </a:t>
            </a:r>
            <a:r>
              <a:rPr lang="ko-KR" altLang="en-US" dirty="0"/>
              <a:t>각 궤도의 </a:t>
            </a:r>
            <a:r>
              <a:rPr lang="ko-KR" altLang="en-US" b="1" u="sng" dirty="0"/>
              <a:t>우세함이 없을 때</a:t>
            </a:r>
            <a:r>
              <a:rPr lang="en-US" altLang="ko-KR" dirty="0"/>
              <a:t>)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성능이 높은 지역을 겨냥한 단일 궤도만을 이용하는 것이 효율적임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1EC880D2-1755-18A2-25CE-2B24D58F3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1820589"/>
            <a:ext cx="3552825" cy="28384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7265605-2192-E01B-3156-6D04F6251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23" y="1820589"/>
            <a:ext cx="3552825" cy="2819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842A421-FC07-1ADE-D5AC-D36C87EB10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422" y="1819481"/>
            <a:ext cx="3524250" cy="28194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F4F26A1-D8EC-1DE4-52FA-F5EA58BA31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208" y="1808848"/>
            <a:ext cx="3533775" cy="28384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44D0CD-D659-E75A-1288-6075C3C03622}"/>
              </a:ext>
            </a:extLst>
          </p:cNvPr>
          <p:cNvSpPr txBox="1"/>
          <p:nvPr/>
        </p:nvSpPr>
        <p:spPr>
          <a:xfrm>
            <a:off x="1244010" y="4280466"/>
            <a:ext cx="58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Orbit1</a:t>
            </a:r>
            <a:endParaRPr lang="ko-KR" alt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F7F3BB-2B16-2EFE-9BFF-0E634318FCA3}"/>
              </a:ext>
            </a:extLst>
          </p:cNvPr>
          <p:cNvSpPr txBox="1"/>
          <p:nvPr/>
        </p:nvSpPr>
        <p:spPr>
          <a:xfrm>
            <a:off x="3533553" y="4300929"/>
            <a:ext cx="58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Orbit2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077391845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관심지역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서울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𝜙 </a:t>
                </a:r>
                <a:r>
                  <a:rPr lang="en-US" altLang="ko-KR" dirty="0"/>
                  <a:t>= 37.57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:r>
                  <a:rPr lang="el-GR" altLang="ko-KR" dirty="0"/>
                  <a:t>λ</a:t>
                </a:r>
                <a:r>
                  <a:rPr lang="en-US" altLang="ko-KR" dirty="0"/>
                  <a:t> = 127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E)</a:t>
                </a:r>
              </a:p>
              <a:p>
                <a:pPr lvl="1">
                  <a:defRPr/>
                </a:pPr>
                <a:r>
                  <a:rPr lang="ko-KR" altLang="en-US" dirty="0">
                    <a:solidFill>
                      <a:srgbClr val="FF0000"/>
                    </a:solidFill>
                  </a:rPr>
                  <a:t>블라디보스토크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(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𝜙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= 43.1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˚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N, </a:t>
                </a:r>
                <a:r>
                  <a:rPr lang="el-GR" altLang="ko-KR" dirty="0">
                    <a:solidFill>
                      <a:srgbClr val="FF0000"/>
                    </a:solidFill>
                  </a:rPr>
                  <a:t>λ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 = 131.9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˚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E)</a:t>
                </a:r>
              </a:p>
              <a:p>
                <a:pPr lvl="1">
                  <a:defRPr/>
                </a:pPr>
                <a:endParaRPr lang="en-US" altLang="ko-KR" sz="1000" dirty="0">
                  <a:solidFill>
                    <a:srgbClr val="FF0000"/>
                  </a:solidFill>
                </a:endParaRPr>
              </a:p>
              <a:p>
                <a:pPr>
                  <a:defRPr/>
                </a:pPr>
                <a:r>
                  <a:rPr lang="ko-KR" altLang="en-US" dirty="0"/>
                  <a:t>고도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892km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=7270.14</m:t>
                    </m:r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km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14/1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>
                  <a:defRPr/>
                </a:pPr>
                <a:endParaRPr lang="en-US" altLang="ko-KR" sz="1000" dirty="0"/>
              </a:p>
              <a:p>
                <a:pPr>
                  <a:defRPr/>
                </a:pPr>
                <a:r>
                  <a:rPr lang="ko-KR" altLang="en-US" dirty="0"/>
                  <a:t>궤도 경사각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Orbit 1 : 59</a:t>
                </a:r>
                <a:r>
                  <a:rPr lang="ko-KR" altLang="en-US" dirty="0"/>
                  <a:t>˚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Orbit 2 : 65</a:t>
                </a:r>
                <a:r>
                  <a:rPr lang="ko-KR" altLang="en-US" dirty="0"/>
                  <a:t>˚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새로운 제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2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의 관심지역 설정</a:t>
            </a:r>
            <a:endParaRPr lang="ko-KR" altLang="en-US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B2BC103-702B-6AFB-4D58-5B9B68891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454654"/>
              </p:ext>
            </p:extLst>
          </p:nvPr>
        </p:nvGraphicFramePr>
        <p:xfrm>
          <a:off x="63428" y="4711310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250753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67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567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Orbit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5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Orbit 2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066936"/>
                  </a:ext>
                </a:extLst>
              </a:tr>
            </a:tbl>
          </a:graphicData>
        </a:graphic>
      </p:graphicFrame>
      <p:grpSp>
        <p:nvGrpSpPr>
          <p:cNvPr id="23" name="그룹 22">
            <a:extLst>
              <a:ext uri="{FF2B5EF4-FFF2-40B4-BE49-F238E27FC236}">
                <a16:creationId xmlns:a16="http://schemas.microsoft.com/office/drawing/2014/main" id="{3E2E8FCE-2340-257C-78A4-76925375509E}"/>
              </a:ext>
            </a:extLst>
          </p:cNvPr>
          <p:cNvGrpSpPr/>
          <p:nvPr/>
        </p:nvGrpSpPr>
        <p:grpSpPr>
          <a:xfrm>
            <a:off x="52918" y="4730490"/>
            <a:ext cx="2589522" cy="816740"/>
            <a:chOff x="90320" y="1797742"/>
            <a:chExt cx="2589522" cy="816740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938DA437-A4F5-9414-412C-0A60ECBA822A}"/>
                </a:ext>
              </a:extLst>
            </p:cNvPr>
            <p:cNvCxnSpPr>
              <a:cxnSpLocks/>
            </p:cNvCxnSpPr>
            <p:nvPr/>
          </p:nvCxnSpPr>
          <p:spPr>
            <a:xfrm>
              <a:off x="90320" y="1797742"/>
              <a:ext cx="454210" cy="43363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66133B4-6CF9-F43E-47BA-F959363DD1DD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23137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2E80F4B0-CD51-1240-0686-024C08B56B6A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23137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31040484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91ED31C-FD78-B7B3-6822-5BB5D86EB383}"/>
              </a:ext>
            </a:extLst>
          </p:cNvPr>
          <p:cNvSpPr/>
          <p:nvPr/>
        </p:nvSpPr>
        <p:spPr bwMode="auto">
          <a:xfrm>
            <a:off x="257082" y="6327787"/>
            <a:ext cx="3547320" cy="360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경사각에 따른 관심 지역의 위성 접근 시간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고도 </a:t>
            </a:r>
            <a:r>
              <a:rPr lang="en-US" altLang="ko-KR" dirty="0"/>
              <a:t>: 892km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궤도 경사각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Orbit 1 : 59</a:t>
            </a:r>
            <a:r>
              <a:rPr lang="ko-KR" altLang="en-US" dirty="0"/>
              <a:t>˚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Orbit 2 : 65</a:t>
            </a:r>
            <a:r>
              <a:rPr lang="ko-KR" altLang="en-US" dirty="0"/>
              <a:t>˚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FC02214-EEAB-69CF-833A-D13FC0D62A1E}"/>
              </a:ext>
            </a:extLst>
          </p:cNvPr>
          <p:cNvGrpSpPr/>
          <p:nvPr/>
        </p:nvGrpSpPr>
        <p:grpSpPr>
          <a:xfrm>
            <a:off x="0" y="1519778"/>
            <a:ext cx="9144000" cy="2390511"/>
            <a:chOff x="0" y="2233744"/>
            <a:chExt cx="9144000" cy="2390511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7FE0B53-542C-987C-2BF4-5032BBA38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233744"/>
              <a:ext cx="9144000" cy="239051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510C14B-6A83-7921-7AFF-ED51EA459219}"/>
                </a:ext>
              </a:extLst>
            </p:cNvPr>
            <p:cNvSpPr/>
            <p:nvPr/>
          </p:nvSpPr>
          <p:spPr bwMode="auto">
            <a:xfrm>
              <a:off x="5675583" y="2276276"/>
              <a:ext cx="262759" cy="9010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7733384-BB26-83D5-3F3C-B385C793631B}"/>
                </a:ext>
              </a:extLst>
            </p:cNvPr>
            <p:cNvSpPr/>
            <p:nvPr/>
          </p:nvSpPr>
          <p:spPr bwMode="auto">
            <a:xfrm>
              <a:off x="7410719" y="2570162"/>
              <a:ext cx="262759" cy="9010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0B8B314-EE0B-4054-F2A7-3349D13E8789}"/>
                </a:ext>
              </a:extLst>
            </p:cNvPr>
            <p:cNvSpPr txBox="1"/>
            <p:nvPr/>
          </p:nvSpPr>
          <p:spPr>
            <a:xfrm>
              <a:off x="4127479" y="3249422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1"/>
                  </a:solidFill>
                </a:rPr>
                <a:t>Orbit1(59</a:t>
              </a:r>
              <a:r>
                <a:rPr lang="ko-KR" altLang="en-US" sz="1400" dirty="0">
                  <a:solidFill>
                    <a:schemeClr val="accent1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1"/>
                  </a:solidFill>
                </a:rPr>
                <a:t>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0BFB24-8859-464C-9700-7688EF8E6BC8}"/>
                </a:ext>
              </a:extLst>
            </p:cNvPr>
            <p:cNvSpPr txBox="1"/>
            <p:nvPr/>
          </p:nvSpPr>
          <p:spPr>
            <a:xfrm>
              <a:off x="5806963" y="3506748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2"/>
                  </a:solidFill>
                </a:rPr>
                <a:t>Orbit2(65</a:t>
              </a:r>
              <a:r>
                <a:rPr lang="ko-KR" altLang="en-US" sz="1400" dirty="0">
                  <a:solidFill>
                    <a:schemeClr val="accent2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2"/>
                  </a:solidFill>
                </a:rPr>
                <a:t>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4CD47539-A64A-F8A5-0841-B967D1C515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6566919"/>
                  </p:ext>
                </p:extLst>
              </p:nvPr>
            </p:nvGraphicFramePr>
            <p:xfrm>
              <a:off x="2269639" y="3146182"/>
              <a:ext cx="1985190" cy="35696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45253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altLang="ko-KR" sz="12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48376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2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서</m:t>
                              </m:r>
                            </m:oMath>
                          </a14:m>
                          <a:r>
                            <a:rPr lang="ko-KR" altLang="en-US" sz="1200" dirty="0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2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r>
                            <a:rPr lang="ko-KR" altLang="en-US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r>
                            <a:rPr lang="ko-KR" altLang="en-US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4CD47539-A64A-F8A5-0841-B967D1C515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6566919"/>
                  </p:ext>
                </p:extLst>
              </p:nvPr>
            </p:nvGraphicFramePr>
            <p:xfrm>
              <a:off x="2269639" y="3146182"/>
              <a:ext cx="1985190" cy="35696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74320"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50" t="-1099" r="-311250" b="-552747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77813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5854" t="-100000" r="-102439" b="-109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2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r>
                            <a:rPr lang="ko-KR" altLang="en-US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r>
                            <a:rPr lang="ko-KR" altLang="en-US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649DC688-8A2A-6AC6-BE22-160E3C66D5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586896"/>
                  </p:ext>
                </p:extLst>
              </p:nvPr>
            </p:nvGraphicFramePr>
            <p:xfrm>
              <a:off x="4325257" y="3146182"/>
              <a:ext cx="1985190" cy="35696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22593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altLang="ko-KR" sz="12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22593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2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서</m:t>
                              </m:r>
                            </m:oMath>
                          </a14:m>
                          <a:r>
                            <a:rPr lang="ko-KR" altLang="en-US" sz="1200" dirty="0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2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r>
                            <a:rPr lang="ko-KR" altLang="en-US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53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54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649DC688-8A2A-6AC6-BE22-160E3C66D5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586896"/>
                  </p:ext>
                </p:extLst>
              </p:nvPr>
            </p:nvGraphicFramePr>
            <p:xfrm>
              <a:off x="4325257" y="3146182"/>
              <a:ext cx="1985190" cy="35696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74320"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35" t="-1099" r="-306173" b="-552747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77813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667" t="-100000" r="-101626" b="-109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2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r>
                            <a:rPr lang="ko-KR" altLang="en-US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53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54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F634978F-DF05-D79F-ED6A-97BF965D86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1991625"/>
                  </p:ext>
                </p:extLst>
              </p:nvPr>
            </p:nvGraphicFramePr>
            <p:xfrm>
              <a:off x="6380875" y="3146183"/>
              <a:ext cx="1985190" cy="35696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40351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altLang="ko-KR" sz="12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43411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2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서</m:t>
                              </m:r>
                            </m:oMath>
                          </a14:m>
                          <a:r>
                            <a:rPr lang="ko-KR" altLang="en-US" sz="1200" dirty="0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2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r>
                            <a:rPr lang="ko-KR" altLang="en-US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F634978F-DF05-D79F-ED6A-97BF965D86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1991625"/>
                  </p:ext>
                </p:extLst>
              </p:nvPr>
            </p:nvGraphicFramePr>
            <p:xfrm>
              <a:off x="6380875" y="3146183"/>
              <a:ext cx="1985190" cy="35696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74320"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235" t="-1099" r="-306173" b="-552747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77813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6667" t="-100000" r="-101626" b="-109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2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r>
                            <a:rPr lang="ko-KR" altLang="en-US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24441139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연속관측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을 위한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다중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ko-KR" altLang="en-US" dirty="0"/>
              <a:t>관심지역의 </a:t>
            </a:r>
            <a:r>
              <a:rPr lang="ko-KR" altLang="en-US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단일 궤도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운용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40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˚→ 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(Seoul, Vladivostok) 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991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19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210090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570146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39  76  114  152  189  227  265  303  341  379  417  455  493  531  568  606  644  682]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B888A40-5A40-E3BF-1761-FC84D5B436FE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 </a:t>
            </a:r>
            <a:r>
              <a:rPr lang="en-US" altLang="ko-KR" sz="1400" dirty="0"/>
              <a:t>Coverage : 100%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73694-273D-533D-A09C-85990B619F72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 </a:t>
            </a:r>
            <a:r>
              <a:rPr lang="en-US" altLang="ko-KR" sz="1400" dirty="0"/>
              <a:t>Coverage : 100%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E7FA716-4489-74D8-8A51-4C8ABCF27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34" y="3067556"/>
            <a:ext cx="76200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361194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19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383112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570146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39  76  114  152  189  227  265  303  341  379  417  455  493  531  568  606  644  682]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A95233-690E-C9AA-803B-A21EAC4985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4624425"/>
                  </p:ext>
                </p:extLst>
              </p:nvPr>
            </p:nvGraphicFramePr>
            <p:xfrm>
              <a:off x="4709711" y="3197930"/>
              <a:ext cx="4280057" cy="30344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44360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341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170.5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133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379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189.5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417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208.5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455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227.5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493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246.5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149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531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265.5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243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568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284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344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606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303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644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172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682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341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65349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A95233-690E-C9AA-803B-A21EAC4985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4624425"/>
                  </p:ext>
                </p:extLst>
              </p:nvPr>
            </p:nvGraphicFramePr>
            <p:xfrm>
              <a:off x="4709711" y="3197930"/>
              <a:ext cx="4280057" cy="30344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44360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370" r="-650602" b="-593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370" r="-550602" b="-593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1370" r="-450602" b="-593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143" t="-1370" r="-167143" b="-593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341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170.5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133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379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189.5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417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208.5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455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227.5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493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246.5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149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531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265.5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243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568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284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344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606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303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644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172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682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341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65349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5F128779-8890-7A5B-3B8E-E9E4856BEA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3057223"/>
                  </p:ext>
                </p:extLst>
              </p:nvPr>
            </p:nvGraphicFramePr>
            <p:xfrm>
              <a:off x="109934" y="3197931"/>
              <a:ext cx="4280057" cy="27753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44360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188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114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282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152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189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94.5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117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113.5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132.5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305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303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151.5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5F128779-8890-7A5B-3B8E-E9E4856BEA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3057223"/>
                  </p:ext>
                </p:extLst>
              </p:nvPr>
            </p:nvGraphicFramePr>
            <p:xfrm>
              <a:off x="109934" y="3197931"/>
              <a:ext cx="4280057" cy="27753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44360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205" t="-1370" r="-650602" b="-534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205" t="-1370" r="-550602" b="-534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1205" t="-1370" r="-450602" b="-534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7857" t="-1370" r="-167143" b="-534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188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114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282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152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189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94.5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117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113.5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132.5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305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303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151.5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직사각형 9">
            <a:extLst>
              <a:ext uri="{FF2B5EF4-FFF2-40B4-BE49-F238E27FC236}">
                <a16:creationId xmlns:a16="http://schemas.microsoft.com/office/drawing/2014/main" id="{5733D546-BD81-4DD5-8DF3-50F91C7E2B47}"/>
              </a:ext>
            </a:extLst>
          </p:cNvPr>
          <p:cNvSpPr/>
          <p:nvPr/>
        </p:nvSpPr>
        <p:spPr bwMode="auto">
          <a:xfrm>
            <a:off x="257082" y="6242594"/>
            <a:ext cx="3747359" cy="57064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6565B-15A4-5BCC-BB01-EBE3593D8287}"/>
              </a:ext>
            </a:extLst>
          </p:cNvPr>
          <p:cNvSpPr txBox="1"/>
          <p:nvPr/>
        </p:nvSpPr>
        <p:spPr>
          <a:xfrm>
            <a:off x="2348640" y="6380010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589199735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 </a:t>
            </a:r>
            <a:r>
              <a:rPr lang="en-US" altLang="ko-KR" dirty="0"/>
              <a:t>(18</a:t>
            </a:r>
            <a:r>
              <a:rPr lang="ko-KR" altLang="en-US" dirty="0"/>
              <a:t>대 운용 시 요구조건 달성 불가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157036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808158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40  80  120  160  200  240  280  320  360  400  440  480  520  560  600  640  680]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B888A40-5A40-E3BF-1761-FC84D5B436FE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 </a:t>
            </a:r>
            <a:r>
              <a:rPr lang="en-US" altLang="ko-KR" sz="1400" dirty="0"/>
              <a:t>Coverage : 90%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73694-273D-533D-A09C-85990B619F72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 </a:t>
            </a:r>
            <a:r>
              <a:rPr lang="en-US" altLang="ko-KR" sz="1400" dirty="0"/>
              <a:t>Coverage : 82.5%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E7FA716-4489-74D8-8A51-4C8ABCF27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34" y="3067556"/>
            <a:ext cx="7620000" cy="27813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98160FB-DEA2-6502-134A-D3EFA89FA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68" y="3066689"/>
            <a:ext cx="74676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497727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65E41096-B464-6777-EEB4-DFA50C0391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5598722"/>
                  </p:ext>
                </p:extLst>
              </p:nvPr>
            </p:nvGraphicFramePr>
            <p:xfrm>
              <a:off x="120447" y="3197931"/>
              <a:ext cx="4280057" cy="27753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44360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200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200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65E41096-B464-6777-EEB4-DFA50C0391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5598722"/>
                  </p:ext>
                </p:extLst>
              </p:nvPr>
            </p:nvGraphicFramePr>
            <p:xfrm>
              <a:off x="120447" y="3197931"/>
              <a:ext cx="4280057" cy="27753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44360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370" r="-650602" b="-534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370" r="-550602" b="-534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1370" r="-450602" b="-534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7143" t="-1370" r="-167143" b="-534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200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200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9121E69A-BB75-4AA7-8E76-EC2A6BE469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7638617"/>
                  </p:ext>
                </p:extLst>
              </p:nvPr>
            </p:nvGraphicFramePr>
            <p:xfrm>
              <a:off x="4699200" y="3197931"/>
              <a:ext cx="4280057" cy="27753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44360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400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200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560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600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300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200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9121E69A-BB75-4AA7-8E76-EC2A6BE469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7638617"/>
                  </p:ext>
                </p:extLst>
              </p:nvPr>
            </p:nvGraphicFramePr>
            <p:xfrm>
              <a:off x="4699200" y="3197931"/>
              <a:ext cx="4280057" cy="27753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44360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370" r="-651807" b="-534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370" r="-551807" b="-534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370" r="-451807" b="-534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7143" t="-1370" r="-167857" b="-534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400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200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560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600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300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200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340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 </a:t>
            </a:r>
            <a:r>
              <a:rPr lang="en-US" altLang="ko-KR" dirty="0"/>
              <a:t>(18</a:t>
            </a:r>
            <a:r>
              <a:rPr lang="ko-KR" altLang="en-US" dirty="0"/>
              <a:t>대 운용 시 요구조건 달성 불가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53587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808158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40  80  120  160  200  240  280  320  360  400  440  480  520  560  600  640  680]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E9A4D7-AB5D-8802-E574-31F2E2CEA2AD}"/>
              </a:ext>
            </a:extLst>
          </p:cNvPr>
          <p:cNvSpPr/>
          <p:nvPr/>
        </p:nvSpPr>
        <p:spPr bwMode="auto">
          <a:xfrm>
            <a:off x="257082" y="6242594"/>
            <a:ext cx="3747359" cy="57064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2E3C4E-5B1F-D340-C2A8-40239FF839F2}"/>
              </a:ext>
            </a:extLst>
          </p:cNvPr>
          <p:cNvSpPr txBox="1"/>
          <p:nvPr/>
        </p:nvSpPr>
        <p:spPr>
          <a:xfrm>
            <a:off x="2579869" y="6211847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01743810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(18</a:t>
            </a:r>
            <a:r>
              <a:rPr lang="ko-KR" altLang="en-US" dirty="0">
                <a:solidFill>
                  <a:srgbClr val="FF0000"/>
                </a:solidFill>
              </a:rPr>
              <a:t>대 운용 시 요구조건 달성 가능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/>
              <a:t>(</a:t>
            </a:r>
            <a:r>
              <a:rPr lang="ko-KR" altLang="en-US" dirty="0"/>
              <a:t>궤도 평면 수 </a:t>
            </a:r>
            <a:r>
              <a:rPr lang="en-US" altLang="ko-KR" dirty="0"/>
              <a:t>: 18, 9)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78D25B31-381D-420E-4122-FBEBE70CB7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6087244"/>
                  </p:ext>
                </p:extLst>
              </p:nvPr>
            </p:nvGraphicFramePr>
            <p:xfrm>
              <a:off x="149850" y="3111040"/>
              <a:ext cx="2754232" cy="3109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9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389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892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3892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359446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359445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359446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148797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18:18:0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18:18:2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18:18:3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18:18:4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18:18:5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18:18:6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3091350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18:18:7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79367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18:18:8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37947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78D25B31-381D-420E-4122-FBEBE70CB7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6087244"/>
                  </p:ext>
                </p:extLst>
              </p:nvPr>
            </p:nvGraphicFramePr>
            <p:xfrm>
              <a:off x="149850" y="3111040"/>
              <a:ext cx="2754232" cy="3109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9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389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892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3892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359446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359445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359446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259080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1594" t="-2326" r="-580" b="-11046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18:18:0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18:18:2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18:18:3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18:18:4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18:18:5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18:18:6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309135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18:18:7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79367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18:18:8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3794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6AA8BFCF-E062-8E72-9DD5-E44D21167A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8541701"/>
                  </p:ext>
                </p:extLst>
              </p:nvPr>
            </p:nvGraphicFramePr>
            <p:xfrm>
              <a:off x="6127173" y="3110278"/>
              <a:ext cx="2844734" cy="31106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928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6893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937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43740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39128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391279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391280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259628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259628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628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18:9:0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18:9:1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18:9:2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18:9:3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18:9:4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18:9:5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18:9:6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3091350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18:9:7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793671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18:9:8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37947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6AA8BFCF-E062-8E72-9DD5-E44D21167A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8541701"/>
                  </p:ext>
                </p:extLst>
              </p:nvPr>
            </p:nvGraphicFramePr>
            <p:xfrm>
              <a:off x="6127173" y="3110278"/>
              <a:ext cx="2844734" cy="31106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928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6893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937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43740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39128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391279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391280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259628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486" t="-2326" r="-541" b="-11046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259628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628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18:9:0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18:9:1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18:9:2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18:9:3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18:9:4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18:9:5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18:9:6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309135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18:9:7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79367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18:9:8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3794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27BB6486-9F52-B026-5C8A-77915662E4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3689002"/>
                  </p:ext>
                </p:extLst>
              </p:nvPr>
            </p:nvGraphicFramePr>
            <p:xfrm>
              <a:off x="3096065" y="3113726"/>
              <a:ext cx="2869145" cy="3109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898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462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4621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4621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367177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367176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367177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148797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18:18:9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18:18:10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18:18:11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18:18:12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18:18:13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18:18:14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18:18:15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3091350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18:18:16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79367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18:18:17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37947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27BB6486-9F52-B026-5C8A-77915662E4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3689002"/>
                  </p:ext>
                </p:extLst>
              </p:nvPr>
            </p:nvGraphicFramePr>
            <p:xfrm>
              <a:off x="3096065" y="3113726"/>
              <a:ext cx="2869145" cy="3109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898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462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4621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4621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367177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367176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367177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259080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4375" t="-2326" r="-568" b="-11046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18:18:9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18:18:10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18:18:11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18:18:12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18:18:13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18:18:14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18:18:15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309135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18:18:16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79367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18:18:17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37947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36720648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(18</a:t>
            </a:r>
            <a:r>
              <a:rPr lang="ko-KR" altLang="en-US" dirty="0">
                <a:solidFill>
                  <a:srgbClr val="FF0000"/>
                </a:solidFill>
              </a:rPr>
              <a:t>대 운용 시 요구조건 달성 가능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/>
              <a:t>(</a:t>
            </a:r>
            <a:r>
              <a:rPr lang="ko-KR" altLang="en-US" dirty="0"/>
              <a:t>궤도 평면 수 </a:t>
            </a:r>
            <a:r>
              <a:rPr lang="en-US" altLang="ko-KR" dirty="0"/>
              <a:t>: 6, 3, 2)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869276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EBC93D9-05E1-17BE-5606-D1D144539E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9206921"/>
                  </p:ext>
                </p:extLst>
              </p:nvPr>
            </p:nvGraphicFramePr>
            <p:xfrm>
              <a:off x="3079454" y="3110670"/>
              <a:ext cx="2985091" cy="1645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15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397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407223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148797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2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18:3:0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18:3:1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18:3:2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EBC93D9-05E1-17BE-5606-D1D144539E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9206921"/>
                  </p:ext>
                </p:extLst>
              </p:nvPr>
            </p:nvGraphicFramePr>
            <p:xfrm>
              <a:off x="3079454" y="3110670"/>
              <a:ext cx="2985091" cy="1645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15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397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407223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274320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897" t="-2222" r="-513" b="-51777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18:3:0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18:3:1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18:3:2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5222E5BF-C148-B633-CCDF-94B018946A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566947"/>
                  </p:ext>
                </p:extLst>
              </p:nvPr>
            </p:nvGraphicFramePr>
            <p:xfrm>
              <a:off x="6099134" y="3110670"/>
              <a:ext cx="2985091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1505">
                      <a:extLst>
                        <a:ext uri="{9D8B030D-6E8A-4147-A177-3AD203B41FA5}">
                          <a16:colId xmlns:a16="http://schemas.microsoft.com/office/drawing/2014/main" val="4133197705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1358599067"/>
                        </a:ext>
                      </a:extLst>
                    </a:gridCol>
                    <a:gridCol w="383971">
                      <a:extLst>
                        <a:ext uri="{9D8B030D-6E8A-4147-A177-3AD203B41FA5}">
                          <a16:colId xmlns:a16="http://schemas.microsoft.com/office/drawing/2014/main" val="753851379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3102141069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3739752185"/>
                        </a:ext>
                      </a:extLst>
                    </a:gridCol>
                    <a:gridCol w="407223">
                      <a:extLst>
                        <a:ext uri="{9D8B030D-6E8A-4147-A177-3AD203B41FA5}">
                          <a16:colId xmlns:a16="http://schemas.microsoft.com/office/drawing/2014/main" val="4068059700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3547229432"/>
                        </a:ext>
                      </a:extLst>
                    </a:gridCol>
                  </a:tblGrid>
                  <a:tr h="148797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2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3409503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6283936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5961339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:2:0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9986638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:2:1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135317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5222E5BF-C148-B633-CCDF-94B018946A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566947"/>
                  </p:ext>
                </p:extLst>
              </p:nvPr>
            </p:nvGraphicFramePr>
            <p:xfrm>
              <a:off x="6099134" y="3110670"/>
              <a:ext cx="2985091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1505">
                      <a:extLst>
                        <a:ext uri="{9D8B030D-6E8A-4147-A177-3AD203B41FA5}">
                          <a16:colId xmlns:a16="http://schemas.microsoft.com/office/drawing/2014/main" val="4133197705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1358599067"/>
                        </a:ext>
                      </a:extLst>
                    </a:gridCol>
                    <a:gridCol w="383971">
                      <a:extLst>
                        <a:ext uri="{9D8B030D-6E8A-4147-A177-3AD203B41FA5}">
                          <a16:colId xmlns:a16="http://schemas.microsoft.com/office/drawing/2014/main" val="753851379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3102141069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3739752185"/>
                        </a:ext>
                      </a:extLst>
                    </a:gridCol>
                    <a:gridCol w="407223">
                      <a:extLst>
                        <a:ext uri="{9D8B030D-6E8A-4147-A177-3AD203B41FA5}">
                          <a16:colId xmlns:a16="http://schemas.microsoft.com/office/drawing/2014/main" val="4068059700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3547229432"/>
                        </a:ext>
                      </a:extLst>
                    </a:gridCol>
                  </a:tblGrid>
                  <a:tr h="274320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154" t="-2222" r="-513" b="-41777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3409503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6283936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596133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:2:0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998663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:2:1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13531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78D25B31-381D-420E-4122-FBEBE70CB7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9960177"/>
                  </p:ext>
                </p:extLst>
              </p:nvPr>
            </p:nvGraphicFramePr>
            <p:xfrm>
              <a:off x="59775" y="3110670"/>
              <a:ext cx="2985091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15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397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407223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148797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2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18:6:0</a:t>
                          </a:r>
                          <a:endParaRPr lang="ko-KR" altLang="en-US" sz="12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:6:1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18:6:2</a:t>
                          </a:r>
                          <a:endParaRPr lang="ko-KR" altLang="en-US" sz="12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:6:3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78D25B31-381D-420E-4122-FBEBE70CB7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9960177"/>
                  </p:ext>
                </p:extLst>
              </p:nvPr>
            </p:nvGraphicFramePr>
            <p:xfrm>
              <a:off x="59775" y="3110670"/>
              <a:ext cx="2985091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15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397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407223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274320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6154" t="-2222" r="-513" b="-81777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18:6:0</a:t>
                          </a:r>
                          <a:endParaRPr lang="ko-KR" altLang="en-US" sz="12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:6:1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18:6:2</a:t>
                          </a:r>
                          <a:endParaRPr lang="ko-KR" altLang="en-US" sz="12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:6:3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78490812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7155587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7155587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(T:P:F=18:18:2)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017854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5646601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5646601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EB3AE20-02C2-3554-B6B6-583B94E6F729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52402951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709404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709404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(T:P:F=18:18:6)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880060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2952695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2952695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F6FC1F6-1F27-DB66-A6AB-B7B2AA43DF83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227555085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4608227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4608227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(T:P:F=18:18:7)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744996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45~50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9527316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9527316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4BDB3AD-3647-0417-A9A9-F2544A003A81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968992116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091221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091221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(T:P:F=18:18:15)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45~50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9270474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9270474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530DE6F-5057-2C9F-0D6B-78968447BA5C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326072410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2731485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2731485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(T:P:F=18:9:1)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45~50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9187986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9187986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CCE08E4-2D23-1A8C-2B21-70C6BC31A88C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426839170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0582339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0582339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(T:P:F=18:6:0)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45~50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5074840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5074840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BA063B2-5C74-7439-474F-CA19D5A66FFB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937997192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0645240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0645240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(T:P:F=18:6:2)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674408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7574352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7574352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3375466-17C2-0389-619B-F4F06231ECAD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513052683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연속관측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을 위한 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다중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ko-KR" altLang="en-US" dirty="0"/>
              <a:t>관심지역의 </a:t>
            </a:r>
            <a:r>
              <a:rPr lang="ko-KR" altLang="en-US" dirty="0">
                <a:solidFill>
                  <a:srgbClr val="C00000"/>
                </a:solidFill>
              </a:rPr>
              <a:t>다중</a:t>
            </a:r>
            <a:r>
              <a:rPr lang="ko-KR" altLang="en-US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궤도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운용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(Seoul, Vladivostok) 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02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) – ex.(10:8)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(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경사각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: 59, 65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sz="2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13602"/>
              </p:ext>
            </p:extLst>
          </p:nvPr>
        </p:nvGraphicFramePr>
        <p:xfrm>
          <a:off x="69300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498218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[26  156  177  25  274  507  522  566  593  712]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푸른색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129  192  336  368  483  651  676]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주황색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39844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678F5A-2DB4-8DA7-5450-BDBF19F5D9E6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 </a:t>
            </a:r>
            <a:r>
              <a:rPr lang="en-US" altLang="ko-KR" sz="1400" dirty="0"/>
              <a:t>Coverage : 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442DE0-5DFB-5C7E-45CD-79941AC161A3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 </a:t>
            </a:r>
            <a:r>
              <a:rPr lang="en-US" altLang="ko-KR" sz="1400" dirty="0"/>
              <a:t>Coverage : 100%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1C5CEB-2EBA-1C3A-871A-FCD9E2B54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00" y="3254810"/>
            <a:ext cx="6867951" cy="267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796813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5DD7028-857A-E3D8-E164-6DC2128DA3A9}"/>
              </a:ext>
            </a:extLst>
          </p:cNvPr>
          <p:cNvSpPr/>
          <p:nvPr/>
        </p:nvSpPr>
        <p:spPr bwMode="auto">
          <a:xfrm>
            <a:off x="257082" y="6242594"/>
            <a:ext cx="3417728" cy="57064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) – ex.(10:8)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(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경사각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: 59, 65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sz="2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403631"/>
              </p:ext>
            </p:extLst>
          </p:nvPr>
        </p:nvGraphicFramePr>
        <p:xfrm>
          <a:off x="69300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498218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[26  156  177  25  274  507  522  566  593  712]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푸른색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129  192  336  368  483  651  676]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주황색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39844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B05A7755-9E6D-A9F2-5E56-65817D02D1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708346"/>
                  </p:ext>
                </p:extLst>
              </p:nvPr>
            </p:nvGraphicFramePr>
            <p:xfrm>
              <a:off x="321845" y="3322654"/>
              <a:ext cx="4345042" cy="33467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1711782491"/>
                        </a:ext>
                      </a:extLst>
                    </a:gridCol>
                    <a:gridCol w="911543">
                      <a:extLst>
                        <a:ext uri="{9D8B030D-6E8A-4147-A177-3AD203B41FA5}">
                          <a16:colId xmlns:a16="http://schemas.microsoft.com/office/drawing/2014/main" val="2183961559"/>
                        </a:ext>
                      </a:extLst>
                    </a:gridCol>
                    <a:gridCol w="278820">
                      <a:extLst>
                        <a:ext uri="{9D8B030D-6E8A-4147-A177-3AD203B41FA5}">
                          <a16:colId xmlns:a16="http://schemas.microsoft.com/office/drawing/2014/main" val="1341645925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3786653943"/>
                        </a:ext>
                      </a:extLst>
                    </a:gridCol>
                    <a:gridCol w="333692">
                      <a:extLst>
                        <a:ext uri="{9D8B030D-6E8A-4147-A177-3AD203B41FA5}">
                          <a16:colId xmlns:a16="http://schemas.microsoft.com/office/drawing/2014/main" val="568242421"/>
                        </a:ext>
                      </a:extLst>
                    </a:gridCol>
                  </a:tblGrid>
                  <a:tr h="40453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178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156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348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177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88.5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201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253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126.5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274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137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507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253.5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522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261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566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283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358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593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296.5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169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712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356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530514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B05A7755-9E6D-A9F2-5E56-65817D02D1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708346"/>
                  </p:ext>
                </p:extLst>
              </p:nvPr>
            </p:nvGraphicFramePr>
            <p:xfrm>
              <a:off x="321845" y="3322654"/>
              <a:ext cx="4345042" cy="33467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1711782491"/>
                        </a:ext>
                      </a:extLst>
                    </a:gridCol>
                    <a:gridCol w="911543">
                      <a:extLst>
                        <a:ext uri="{9D8B030D-6E8A-4147-A177-3AD203B41FA5}">
                          <a16:colId xmlns:a16="http://schemas.microsoft.com/office/drawing/2014/main" val="2183961559"/>
                        </a:ext>
                      </a:extLst>
                    </a:gridCol>
                    <a:gridCol w="278820">
                      <a:extLst>
                        <a:ext uri="{9D8B030D-6E8A-4147-A177-3AD203B41FA5}">
                          <a16:colId xmlns:a16="http://schemas.microsoft.com/office/drawing/2014/main" val="1341645925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3786653943"/>
                        </a:ext>
                      </a:extLst>
                    </a:gridCol>
                    <a:gridCol w="333692">
                      <a:extLst>
                        <a:ext uri="{9D8B030D-6E8A-4147-A177-3AD203B41FA5}">
                          <a16:colId xmlns:a16="http://schemas.microsoft.com/office/drawing/2014/main" val="56824242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048" t="-1333" r="-403810" b="-64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9048" t="-1333" r="-303810" b="-64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5333" t="-1333" r="-112667" b="-64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178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156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348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177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88.5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201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253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126.5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274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137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507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253.5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522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261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566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283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358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593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296.5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169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712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356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530514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0882D2F2-BD74-DACF-3E3D-2FC478A410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2533764"/>
                  </p:ext>
                </p:extLst>
              </p:nvPr>
            </p:nvGraphicFramePr>
            <p:xfrm>
              <a:off x="4810799" y="3315952"/>
              <a:ext cx="4024604" cy="2768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1943494669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911543">
                      <a:extLst>
                        <a:ext uri="{9D8B030D-6E8A-4147-A177-3AD203B41FA5}">
                          <a16:colId xmlns:a16="http://schemas.microsoft.com/office/drawing/2014/main" val="132545396"/>
                        </a:ext>
                      </a:extLst>
                    </a:gridCol>
                    <a:gridCol w="244756">
                      <a:extLst>
                        <a:ext uri="{9D8B030D-6E8A-4147-A177-3AD203B41FA5}">
                          <a16:colId xmlns:a16="http://schemas.microsoft.com/office/drawing/2014/main" val="3751940218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4148388260"/>
                        </a:ext>
                      </a:extLst>
                    </a:gridCol>
                    <a:gridCol w="333692">
                      <a:extLst>
                        <a:ext uri="{9D8B030D-6E8A-4147-A177-3AD203B41FA5}">
                          <a16:colId xmlns:a16="http://schemas.microsoft.com/office/drawing/2014/main" val="3343169303"/>
                        </a:ext>
                      </a:extLst>
                    </a:gridCol>
                  </a:tblGrid>
                  <a:tr h="40453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64.5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177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192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336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168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168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368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483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241.5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219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651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325.5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676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338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0882D2F2-BD74-DACF-3E3D-2FC478A410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2533764"/>
                  </p:ext>
                </p:extLst>
              </p:nvPr>
            </p:nvGraphicFramePr>
            <p:xfrm>
              <a:off x="4810799" y="3315952"/>
              <a:ext cx="4024604" cy="2768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1943494669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911543">
                      <a:extLst>
                        <a:ext uri="{9D8B030D-6E8A-4147-A177-3AD203B41FA5}">
                          <a16:colId xmlns:a16="http://schemas.microsoft.com/office/drawing/2014/main" val="132545396"/>
                        </a:ext>
                      </a:extLst>
                    </a:gridCol>
                    <a:gridCol w="244756">
                      <a:extLst>
                        <a:ext uri="{9D8B030D-6E8A-4147-A177-3AD203B41FA5}">
                          <a16:colId xmlns:a16="http://schemas.microsoft.com/office/drawing/2014/main" val="3751940218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4148388260"/>
                        </a:ext>
                      </a:extLst>
                    </a:gridCol>
                    <a:gridCol w="333692">
                      <a:extLst>
                        <a:ext uri="{9D8B030D-6E8A-4147-A177-3AD203B41FA5}">
                          <a16:colId xmlns:a16="http://schemas.microsoft.com/office/drawing/2014/main" val="334316930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1111" t="-1333" r="-446667" b="-5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4382" t="-1333" r="-351685" b="-5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4000" t="-1333" r="-108667" b="-5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64.5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177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192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336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168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168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368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483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241.5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219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651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325.5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676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338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3A369EC-9AF7-FCBF-E1A9-1567F03BFCE5}"/>
              </a:ext>
            </a:extLst>
          </p:cNvPr>
          <p:cNvSpPr txBox="1"/>
          <p:nvPr/>
        </p:nvSpPr>
        <p:spPr>
          <a:xfrm>
            <a:off x="4705504" y="6279657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175638782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C00000"/>
                </a:solidFill>
              </a:rPr>
              <a:t>재방문 주기</a:t>
            </a:r>
            <a:r>
              <a:rPr lang="en-US" altLang="ko-KR" dirty="0">
                <a:solidFill>
                  <a:srgbClr val="C00000"/>
                </a:solidFill>
              </a:rPr>
              <a:t>(30</a:t>
            </a:r>
            <a:r>
              <a:rPr lang="ko-KR" altLang="en-US" dirty="0">
                <a:solidFill>
                  <a:srgbClr val="C00000"/>
                </a:solidFill>
              </a:rPr>
              <a:t>분 이내</a:t>
            </a:r>
            <a:r>
              <a:rPr lang="en-US" altLang="ko-KR" dirty="0">
                <a:solidFill>
                  <a:srgbClr val="C00000"/>
                </a:solidFill>
              </a:rPr>
              <a:t>)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r>
              <a:rPr lang="ko-KR" altLang="en-US" dirty="0"/>
              <a:t>적용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13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97ABA2-CFA5-3E18-F51F-68C31362C728}"/>
              </a:ext>
            </a:extLst>
          </p:cNvPr>
          <p:cNvSpPr/>
          <p:nvPr/>
        </p:nvSpPr>
        <p:spPr bwMode="auto">
          <a:xfrm>
            <a:off x="257082" y="6242594"/>
            <a:ext cx="3747359" cy="57064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8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267929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570146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90  180  270  360  450  540  630]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B888A40-5A40-E3BF-1761-FC84D5B436FE}"/>
              </a:ext>
            </a:extLst>
          </p:cNvPr>
          <p:cNvSpPr txBox="1"/>
          <p:nvPr/>
        </p:nvSpPr>
        <p:spPr>
          <a:xfrm>
            <a:off x="-881351" y="6112631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최대 재방문 주기</a:t>
            </a:r>
            <a:endParaRPr lang="en-US" altLang="ko-KR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73694-273D-533D-A09C-85990B619F72}"/>
              </a:ext>
            </a:extLst>
          </p:cNvPr>
          <p:cNvSpPr txBox="1"/>
          <p:nvPr/>
        </p:nvSpPr>
        <p:spPr>
          <a:xfrm>
            <a:off x="5129807" y="5825298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위성 </a:t>
            </a:r>
            <a:r>
              <a:rPr lang="en-US" altLang="ko-KR" sz="1400" dirty="0"/>
              <a:t>8</a:t>
            </a:r>
            <a:r>
              <a:rPr lang="ko-KR" altLang="en-US" sz="1400" dirty="0"/>
              <a:t>대 운용 시 결과 </a:t>
            </a:r>
            <a:r>
              <a:rPr lang="en-US" altLang="ko-KR" sz="1400" dirty="0"/>
              <a:t>(ex. </a:t>
            </a:r>
            <a:r>
              <a:rPr lang="ko-KR" altLang="en-US" sz="1400" dirty="0"/>
              <a:t>서울</a:t>
            </a:r>
            <a:r>
              <a:rPr lang="en-US" altLang="ko-KR" sz="14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E0688ADF-4F7C-EF51-93C8-09B1ED2C889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946" y="3152030"/>
              <a:ext cx="1995170" cy="28835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130">
                      <a:extLst>
                        <a:ext uri="{9D8B030D-6E8A-4147-A177-3AD203B41FA5}">
                          <a16:colId xmlns:a16="http://schemas.microsoft.com/office/drawing/2014/main" val="3667591347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148797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수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100" b="1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최</m:t>
                              </m:r>
                            </m:oMath>
                          </a14:m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대 재방문주기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(min)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en-US" altLang="ko-KR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보스토크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676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684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94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84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54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856980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9516753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1867137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493120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80892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E0688ADF-4F7C-EF51-93C8-09B1ED2C88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4087199"/>
                  </p:ext>
                </p:extLst>
              </p:nvPr>
            </p:nvGraphicFramePr>
            <p:xfrm>
              <a:off x="152946" y="3152030"/>
              <a:ext cx="1995170" cy="28835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2130">
                      <a:extLst>
                        <a:ext uri="{9D8B030D-6E8A-4147-A177-3AD203B41FA5}">
                          <a16:colId xmlns:a16="http://schemas.microsoft.com/office/drawing/2014/main" val="3667591347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3152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262255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수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515" t="-2326" r="-830" b="-101860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672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en-US" altLang="ko-KR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보스토크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676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684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94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84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54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856980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951675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186713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49312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80892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5AE242DF-B570-EF8F-E569-BE0DE1F33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157" y="3611653"/>
            <a:ext cx="2879473" cy="21832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288F0CE2-5D70-D7C8-5A69-1800D4AD4C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9455403"/>
                  </p:ext>
                </p:extLst>
              </p:nvPr>
            </p:nvGraphicFramePr>
            <p:xfrm>
              <a:off x="2277814" y="3379012"/>
              <a:ext cx="3829341" cy="2651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1943494669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716280">
                      <a:extLst>
                        <a:ext uri="{9D8B030D-6E8A-4147-A177-3AD203B41FA5}">
                          <a16:colId xmlns:a16="http://schemas.microsoft.com/office/drawing/2014/main" val="132545396"/>
                        </a:ext>
                      </a:extLst>
                    </a:gridCol>
                    <a:gridCol w="244756">
                      <a:extLst>
                        <a:ext uri="{9D8B030D-6E8A-4147-A177-3AD203B41FA5}">
                          <a16:colId xmlns:a16="http://schemas.microsoft.com/office/drawing/2014/main" val="3751940218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4148388260"/>
                        </a:ext>
                      </a:extLst>
                    </a:gridCol>
                    <a:gridCol w="333692">
                      <a:extLst>
                        <a:ext uri="{9D8B030D-6E8A-4147-A177-3AD203B41FA5}">
                          <a16:colId xmlns:a16="http://schemas.microsoft.com/office/drawing/2014/main" val="3343169303"/>
                        </a:ext>
                      </a:extLst>
                    </a:gridCol>
                  </a:tblGrid>
                  <a:tr h="439822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6643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6643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6643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6643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270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135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135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6643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360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6643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450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225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225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6643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540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270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270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6643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630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315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315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288F0CE2-5D70-D7C8-5A69-1800D4AD4C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9455403"/>
                  </p:ext>
                </p:extLst>
              </p:nvPr>
            </p:nvGraphicFramePr>
            <p:xfrm>
              <a:off x="2277814" y="3379012"/>
              <a:ext cx="3829341" cy="2651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1943494669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716280">
                      <a:extLst>
                        <a:ext uri="{9D8B030D-6E8A-4147-A177-3AD203B41FA5}">
                          <a16:colId xmlns:a16="http://schemas.microsoft.com/office/drawing/2014/main" val="132545396"/>
                        </a:ext>
                      </a:extLst>
                    </a:gridCol>
                    <a:gridCol w="244756">
                      <a:extLst>
                        <a:ext uri="{9D8B030D-6E8A-4147-A177-3AD203B41FA5}">
                          <a16:colId xmlns:a16="http://schemas.microsoft.com/office/drawing/2014/main" val="3751940218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4148388260"/>
                        </a:ext>
                      </a:extLst>
                    </a:gridCol>
                    <a:gridCol w="333692">
                      <a:extLst>
                        <a:ext uri="{9D8B030D-6E8A-4147-A177-3AD203B41FA5}">
                          <a16:colId xmlns:a16="http://schemas.microsoft.com/office/drawing/2014/main" val="334316930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1111" t="-1333" r="-411111" b="-49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4382" t="-1333" r="-315730" b="-49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7458" t="-1333" r="-138136" b="-49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270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135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135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360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450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225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225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540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270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270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630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315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315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8D61951-D2EF-3236-9F50-CE35F5AF0EDC}"/>
              </a:ext>
            </a:extLst>
          </p:cNvPr>
          <p:cNvSpPr txBox="1"/>
          <p:nvPr/>
        </p:nvSpPr>
        <p:spPr>
          <a:xfrm>
            <a:off x="2124228" y="6084900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086401733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</a:t>
            </a:r>
            <a:r>
              <a:rPr lang="en-US" altLang="ko-KR" dirty="0"/>
              <a:t> (</a:t>
            </a:r>
            <a:r>
              <a:rPr lang="ko-KR" altLang="en-US" dirty="0"/>
              <a:t>궤도 평면 수 </a:t>
            </a:r>
            <a:r>
              <a:rPr lang="en-US" altLang="ko-KR" dirty="0"/>
              <a:t>: 6, 3, 2)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563398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1AF2AE9-8D44-AB28-E2FD-B3F71F4A4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635952"/>
              </p:ext>
            </p:extLst>
          </p:nvPr>
        </p:nvGraphicFramePr>
        <p:xfrm>
          <a:off x="3079454" y="3110670"/>
          <a:ext cx="2985091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6:3:0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6:3:1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6:3:2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A822DDD-B878-A0E2-317E-7668BF54C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866122"/>
              </p:ext>
            </p:extLst>
          </p:nvPr>
        </p:nvGraphicFramePr>
        <p:xfrm>
          <a:off x="6099134" y="3110670"/>
          <a:ext cx="298509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4133197705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1358599067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75385137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3102141069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3739752185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4068059700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3547229432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409503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83936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61339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6:2:0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98663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6:2:1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353174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179C958-32A4-D751-15C4-34017F69E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835384"/>
              </p:ext>
            </p:extLst>
          </p:nvPr>
        </p:nvGraphicFramePr>
        <p:xfrm>
          <a:off x="59775" y="3110670"/>
          <a:ext cx="2985091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6:6:1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6:6:3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63760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6:6:4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331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6:6:5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56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2335487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</a:t>
            </a:r>
            <a:r>
              <a:rPr lang="en-US" altLang="ko-KR" dirty="0"/>
              <a:t> 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055721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45~50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8A527FAA-A2A0-9AD0-9B6C-2636F4E2FF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045749"/>
                  </p:ext>
                </p:extLst>
              </p:nvPr>
            </p:nvGraphicFramePr>
            <p:xfrm>
              <a:off x="100090" y="3309206"/>
              <a:ext cx="2905911" cy="210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1372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3721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73476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390346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20224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45391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8A527FAA-A2A0-9AD0-9B6C-2636F4E2FF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045749"/>
                  </p:ext>
                </p:extLst>
              </p:nvPr>
            </p:nvGraphicFramePr>
            <p:xfrm>
              <a:off x="100090" y="3309206"/>
              <a:ext cx="2905911" cy="210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1372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3721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73476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390346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20224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6087" t="-1333" r="-471014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9412" t="-1333" r="-377941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0860" t="-1333" r="-176344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3F3AB8-92AF-B07C-0090-59C3830E3035}"/>
              </a:ext>
            </a:extLst>
          </p:cNvPr>
          <p:cNvSpPr/>
          <p:nvPr/>
        </p:nvSpPr>
        <p:spPr bwMode="auto">
          <a:xfrm>
            <a:off x="257082" y="6242594"/>
            <a:ext cx="3747359" cy="57064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85A49B52-2AF5-A7CC-4EFB-7ED2C5B0EF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0193402"/>
                  </p:ext>
                </p:extLst>
              </p:nvPr>
            </p:nvGraphicFramePr>
            <p:xfrm>
              <a:off x="3053562" y="3319858"/>
              <a:ext cx="2947935" cy="210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154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83480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404625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31938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45391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85A49B52-2AF5-A7CC-4EFB-7ED2C5B0EF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0193402"/>
                  </p:ext>
                </p:extLst>
              </p:nvPr>
            </p:nvGraphicFramePr>
            <p:xfrm>
              <a:off x="3053562" y="3319858"/>
              <a:ext cx="2947935" cy="210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154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83480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404625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31938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0000" t="-1333" r="-477143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6901" t="-1333" r="-370423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1935" t="-1333" r="-182796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EC17C8C-7048-0596-8BC6-3382F6C6A7C5}"/>
              </a:ext>
            </a:extLst>
          </p:cNvPr>
          <p:cNvSpPr txBox="1"/>
          <p:nvPr/>
        </p:nvSpPr>
        <p:spPr>
          <a:xfrm>
            <a:off x="291150" y="5512230"/>
            <a:ext cx="1669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6:6:3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9B31E681-3185-5DF4-68D8-0E36654B9F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9694750"/>
                  </p:ext>
                </p:extLst>
              </p:nvPr>
            </p:nvGraphicFramePr>
            <p:xfrm>
              <a:off x="6049058" y="3311686"/>
              <a:ext cx="2947935" cy="210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154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83480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404625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31938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45391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9B31E681-3185-5DF4-68D8-0E36654B9F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9694750"/>
                  </p:ext>
                </p:extLst>
              </p:nvPr>
            </p:nvGraphicFramePr>
            <p:xfrm>
              <a:off x="6049058" y="3311686"/>
              <a:ext cx="2947935" cy="210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154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83480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404625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31938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6901" t="-1333" r="-469014" b="-37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0000" t="-1333" r="-375714" b="-37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8298" t="-1333" r="-179787" b="-37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3BA7139-4EAA-3254-B4D1-AB9D6BAA9257}"/>
              </a:ext>
            </a:extLst>
          </p:cNvPr>
          <p:cNvSpPr txBox="1"/>
          <p:nvPr/>
        </p:nvSpPr>
        <p:spPr>
          <a:xfrm>
            <a:off x="2409232" y="6200917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AB5099-3BDD-E80D-821C-2EFE28068ED0}"/>
              </a:ext>
            </a:extLst>
          </p:cNvPr>
          <p:cNvSpPr txBox="1"/>
          <p:nvPr/>
        </p:nvSpPr>
        <p:spPr>
          <a:xfrm>
            <a:off x="3287647" y="5511277"/>
            <a:ext cx="1669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6:2:0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AE91A2-CD73-6BAE-A6B5-272667371610}"/>
              </a:ext>
            </a:extLst>
          </p:cNvPr>
          <p:cNvSpPr txBox="1"/>
          <p:nvPr/>
        </p:nvSpPr>
        <p:spPr>
          <a:xfrm>
            <a:off x="6202879" y="5512229"/>
            <a:ext cx="1669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6:2:1</a:t>
            </a:r>
          </a:p>
        </p:txBody>
      </p:sp>
    </p:spTree>
    <p:extLst>
      <p:ext uri="{BB962C8B-B14F-4D97-AF65-F5344CB8AC3E}">
        <p14:creationId xmlns:p14="http://schemas.microsoft.com/office/powerpoint/2010/main" val="4162200153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) – ex.(3:3)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(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경사각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: 59, 65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sz="2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687202"/>
              </p:ext>
            </p:extLst>
          </p:nvPr>
        </p:nvGraphicFramePr>
        <p:xfrm>
          <a:off x="69300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498218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[15  421  487]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푸른색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297  701]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주황색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39844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678F5A-2DB4-8DA7-5450-BDBF19F5D9E6}"/>
              </a:ext>
            </a:extLst>
          </p:cNvPr>
          <p:cNvSpPr txBox="1"/>
          <p:nvPr/>
        </p:nvSpPr>
        <p:spPr>
          <a:xfrm>
            <a:off x="564471" y="5870989"/>
            <a:ext cx="35752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(</a:t>
            </a:r>
            <a:r>
              <a:rPr lang="ko-KR" altLang="en-US" sz="1400" dirty="0"/>
              <a:t>서울</a:t>
            </a:r>
            <a:r>
              <a:rPr lang="en-US" altLang="ko-KR" sz="1400" dirty="0"/>
              <a:t>)</a:t>
            </a:r>
            <a:r>
              <a:rPr lang="ko-KR" altLang="en-US" sz="1400" dirty="0"/>
              <a:t> 최대 재방문 주기</a:t>
            </a:r>
            <a:r>
              <a:rPr lang="en-US" altLang="ko-KR" sz="1400" dirty="0"/>
              <a:t> : 30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442DE0-5DFB-5C7E-45CD-79941AC161A3}"/>
              </a:ext>
            </a:extLst>
          </p:cNvPr>
          <p:cNvSpPr txBox="1"/>
          <p:nvPr/>
        </p:nvSpPr>
        <p:spPr>
          <a:xfrm>
            <a:off x="3835469" y="5887274"/>
            <a:ext cx="4472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(</a:t>
            </a:r>
            <a:r>
              <a:rPr lang="ko-KR" altLang="en-US" sz="1400" dirty="0"/>
              <a:t>블라디보스토크</a:t>
            </a:r>
            <a:r>
              <a:rPr lang="en-US" altLang="ko-KR" sz="1400" dirty="0"/>
              <a:t>)</a:t>
            </a:r>
            <a:r>
              <a:rPr lang="ko-KR" altLang="en-US" sz="1400" dirty="0"/>
              <a:t> 최대 재방문 주기</a:t>
            </a:r>
            <a:r>
              <a:rPr lang="en-US" altLang="ko-KR" sz="1400" dirty="0"/>
              <a:t> : 30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1C5CEB-2EBA-1C3A-871A-FCD9E2B54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00" y="3254810"/>
            <a:ext cx="6867951" cy="26745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96CA3D5-7A37-057F-0E46-38E6B2BAC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625" y="3283045"/>
            <a:ext cx="7215141" cy="260422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4B89B2F-60A5-2490-72BE-417E68A90A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625" y="3279339"/>
            <a:ext cx="7146116" cy="2595356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4D45EA14-EB62-6245-CE70-44183478410D}"/>
              </a:ext>
            </a:extLst>
          </p:cNvPr>
          <p:cNvSpPr/>
          <p:nvPr/>
        </p:nvSpPr>
        <p:spPr bwMode="auto">
          <a:xfrm>
            <a:off x="257082" y="6242594"/>
            <a:ext cx="3747359" cy="57064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8831494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EEB82F0-6B50-A8EB-CDAA-8192FFD51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784" y="1812123"/>
            <a:ext cx="3471352" cy="3881547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세 관측기법의 성능 결과 및 포함 관계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이진 선형 계획법</a:t>
            </a:r>
            <a:r>
              <a:rPr lang="en-US" altLang="ko-KR" dirty="0">
                <a:solidFill>
                  <a:srgbClr val="1F2328"/>
                </a:solidFill>
              </a:rPr>
              <a:t> vs </a:t>
            </a:r>
            <a:r>
              <a:rPr lang="ko-KR" altLang="en-US" dirty="0">
                <a:solidFill>
                  <a:srgbClr val="1F2328"/>
                </a:solidFill>
              </a:rPr>
              <a:t>준대칭기법 </a:t>
            </a:r>
            <a:r>
              <a:rPr lang="en-US" altLang="ko-KR" dirty="0">
                <a:solidFill>
                  <a:srgbClr val="1F2328"/>
                </a:solidFill>
              </a:rPr>
              <a:t>vs </a:t>
            </a:r>
            <a:r>
              <a:rPr lang="ko-KR" altLang="en-US" dirty="0">
                <a:solidFill>
                  <a:srgbClr val="1F2328"/>
                </a:solidFill>
              </a:rPr>
              <a:t>워커</a:t>
            </a:r>
            <a:r>
              <a:rPr lang="en-US" altLang="ko-KR" dirty="0">
                <a:solidFill>
                  <a:srgbClr val="1F2328"/>
                </a:solidFill>
              </a:rPr>
              <a:t>-</a:t>
            </a:r>
            <a:r>
              <a:rPr lang="ko-KR" altLang="en-US" dirty="0">
                <a:solidFill>
                  <a:srgbClr val="1F2328"/>
                </a:solidFill>
              </a:rPr>
              <a:t>델타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endParaRPr lang="en-US" altLang="ko-KR" dirty="0">
              <a:solidFill>
                <a:srgbClr val="1F2328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415A71-7F2D-8D6C-C54A-084CDC564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99" y="2366385"/>
            <a:ext cx="4770085" cy="277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27387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EEB82F0-6B50-A8EB-CDAA-8192FFD51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784" y="1812123"/>
            <a:ext cx="3471352" cy="3881547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세 관측기법의 성능 결과 및 포함 관계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이진 선형 계획법</a:t>
            </a:r>
            <a:r>
              <a:rPr lang="en-US" altLang="ko-KR" dirty="0">
                <a:solidFill>
                  <a:srgbClr val="1F2328"/>
                </a:solidFill>
              </a:rPr>
              <a:t> vs </a:t>
            </a:r>
            <a:r>
              <a:rPr lang="ko-KR" altLang="en-US" dirty="0">
                <a:solidFill>
                  <a:srgbClr val="1F2328"/>
                </a:solidFill>
              </a:rPr>
              <a:t>준대칭기법 </a:t>
            </a:r>
            <a:r>
              <a:rPr lang="en-US" altLang="ko-KR" dirty="0">
                <a:solidFill>
                  <a:srgbClr val="1F2328"/>
                </a:solidFill>
              </a:rPr>
              <a:t>vs </a:t>
            </a:r>
            <a:r>
              <a:rPr lang="ko-KR" altLang="en-US" dirty="0">
                <a:solidFill>
                  <a:srgbClr val="1F2328"/>
                </a:solidFill>
              </a:rPr>
              <a:t>워커</a:t>
            </a:r>
            <a:r>
              <a:rPr lang="en-US" altLang="ko-KR" dirty="0">
                <a:solidFill>
                  <a:srgbClr val="1F2328"/>
                </a:solidFill>
              </a:rPr>
              <a:t>-</a:t>
            </a:r>
            <a:r>
              <a:rPr lang="ko-KR" altLang="en-US" dirty="0">
                <a:solidFill>
                  <a:srgbClr val="1F2328"/>
                </a:solidFill>
              </a:rPr>
              <a:t>델타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endParaRPr lang="en-US" altLang="ko-KR" dirty="0">
              <a:solidFill>
                <a:srgbClr val="1F2328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27FACE8-2044-F362-3E10-8A82B5486AA4}"/>
              </a:ext>
            </a:extLst>
          </p:cNvPr>
          <p:cNvCxnSpPr/>
          <p:nvPr/>
        </p:nvCxnSpPr>
        <p:spPr>
          <a:xfrm flipH="1">
            <a:off x="4645570" y="2638097"/>
            <a:ext cx="152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C84105B-979F-7052-35B5-BD0B418864B8}"/>
              </a:ext>
            </a:extLst>
          </p:cNvPr>
          <p:cNvSpPr txBox="1"/>
          <p:nvPr/>
        </p:nvSpPr>
        <p:spPr>
          <a:xfrm>
            <a:off x="2406868" y="2474451"/>
            <a:ext cx="21966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accent2"/>
                </a:solidFill>
                <a:latin typeface="Times New Roman"/>
                <a:ea typeface="+mn-ea"/>
                <a:cs typeface="Times New Roman"/>
              </a:rPr>
              <a:t>위성 수 ≠ 궤도 평면 수</a:t>
            </a:r>
            <a:endParaRPr lang="ko-KR" altLang="en-US" sz="16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C6926E-9EC9-A79F-93BF-E4B846E53E4D}"/>
                  </a:ext>
                </a:extLst>
              </p:cNvPr>
              <p:cNvSpPr txBox="1"/>
              <p:nvPr/>
            </p:nvSpPr>
            <p:spPr>
              <a:xfrm>
                <a:off x="1444655" y="3199859"/>
                <a:ext cx="3812129" cy="46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60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ko-KR" sz="160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60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ko-KR" sz="160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ko-KR" sz="1600" dirty="0">
                    <a:solidFill>
                      <a:schemeClr val="accent6"/>
                    </a:solidFill>
                  </a:rPr>
                  <a:t> </a:t>
                </a:r>
                <a:r>
                  <a:rPr lang="ko-KR" altLang="en-US" sz="1600" dirty="0">
                    <a:solidFill>
                      <a:schemeClr val="accent6"/>
                    </a:solidFill>
                  </a:rPr>
                  <a:t>→ </a:t>
                </a:r>
                <a:r>
                  <a:rPr lang="en-US" altLang="ko-KR" sz="1600" dirty="0">
                    <a:solidFill>
                      <a:schemeClr val="accent6"/>
                    </a:solidFill>
                  </a:rPr>
                  <a:t>Integer (</a:t>
                </a:r>
                <a:r>
                  <a:rPr lang="ko-KR" altLang="en-US" sz="1600" dirty="0">
                    <a:solidFill>
                      <a:schemeClr val="accent6"/>
                    </a:solidFill>
                  </a:rPr>
                  <a:t>단</a:t>
                </a:r>
                <a:r>
                  <a:rPr lang="en-US" altLang="ko-KR" sz="1600" dirty="0">
                    <a:solidFill>
                      <a:schemeClr val="accent6"/>
                    </a:solidFill>
                  </a:rPr>
                  <a:t>, P | L )</a:t>
                </a:r>
                <a:endParaRPr lang="en-US" altLang="ko-KR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C6926E-9EC9-A79F-93BF-E4B846E53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655" y="3199859"/>
                <a:ext cx="3812129" cy="460832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F80ACB1-CA8D-D678-3655-34E9B5E63010}"/>
              </a:ext>
            </a:extLst>
          </p:cNvPr>
          <p:cNvCxnSpPr>
            <a:cxnSpLocks/>
          </p:cNvCxnSpPr>
          <p:nvPr/>
        </p:nvCxnSpPr>
        <p:spPr>
          <a:xfrm flipH="1">
            <a:off x="5165832" y="3429000"/>
            <a:ext cx="1834058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21C426C-4282-3D94-A11B-DE728F77719E}"/>
              </a:ext>
            </a:extLst>
          </p:cNvPr>
          <p:cNvCxnSpPr/>
          <p:nvPr/>
        </p:nvCxnSpPr>
        <p:spPr>
          <a:xfrm flipH="1">
            <a:off x="4878409" y="5041352"/>
            <a:ext cx="1524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B77F746-CF57-A054-3A9D-BD35DF0E68DE}"/>
              </a:ext>
            </a:extLst>
          </p:cNvPr>
          <p:cNvSpPr txBox="1"/>
          <p:nvPr/>
        </p:nvSpPr>
        <p:spPr>
          <a:xfrm>
            <a:off x="2133600" y="4814600"/>
            <a:ext cx="29008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1"/>
                </a:solidFill>
                <a:latin typeface="Times New Roman"/>
                <a:ea typeface="+mn-ea"/>
                <a:cs typeface="Times New Roman"/>
              </a:rPr>
              <a:t>그 외 무수히 많은 경우의 </a:t>
            </a:r>
            <a:endParaRPr lang="en-US" altLang="ko-KR" sz="1600" dirty="0">
              <a:solidFill>
                <a:schemeClr val="accent1"/>
              </a:solidFill>
              <a:latin typeface="Times New Roman"/>
              <a:ea typeface="+mn-ea"/>
              <a:cs typeface="Times New Roman"/>
            </a:endParaRPr>
          </a:p>
          <a:p>
            <a:pPr algn="ctr"/>
            <a:r>
              <a:rPr lang="en-US" altLang="ko-KR" sz="1600" dirty="0">
                <a:solidFill>
                  <a:schemeClr val="accent1"/>
                </a:solidFill>
                <a:latin typeface="Times New Roman"/>
                <a:ea typeface="+mn-ea"/>
                <a:cs typeface="Times New Roman"/>
              </a:rPr>
              <a:t>n</a:t>
            </a:r>
            <a:r>
              <a:rPr lang="ko-KR" altLang="en-US" sz="1600" dirty="0">
                <a:solidFill>
                  <a:schemeClr val="accent1"/>
                </a:solidFill>
                <a:latin typeface="Times New Roman"/>
                <a:ea typeface="+mn-ea"/>
                <a:cs typeface="Times New Roman"/>
              </a:rPr>
              <a:t> 조합에 따른 궤도요소 형성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CA97B3E-CC71-33FF-07A7-943D52CCDE09}"/>
              </a:ext>
            </a:extLst>
          </p:cNvPr>
          <p:cNvCxnSpPr>
            <a:cxnSpLocks/>
          </p:cNvCxnSpPr>
          <p:nvPr/>
        </p:nvCxnSpPr>
        <p:spPr>
          <a:xfrm flipH="1">
            <a:off x="5034456" y="3660691"/>
            <a:ext cx="1450425" cy="595999"/>
          </a:xfrm>
          <a:prstGeom prst="line">
            <a:avLst/>
          </a:prstGeom>
          <a:ln>
            <a:solidFill>
              <a:srgbClr val="9966F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258F04B-B195-F890-CAF1-5BCFAD24BD9F}"/>
                  </a:ext>
                </a:extLst>
              </p:cNvPr>
              <p:cNvSpPr txBox="1"/>
              <p:nvPr/>
            </p:nvSpPr>
            <p:spPr>
              <a:xfrm>
                <a:off x="1333491" y="4035893"/>
                <a:ext cx="3812129" cy="46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i="1" smtClean="0">
                            <a:solidFill>
                              <a:srgbClr val="9966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600" i="1" smtClean="0">
                                <a:solidFill>
                                  <a:srgbClr val="99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i="1" smtClean="0">
                                <a:solidFill>
                                  <a:srgbClr val="9966F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ko-KR" sz="1600" i="1" smtClean="0">
                                <a:solidFill>
                                  <a:srgbClr val="9966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600" i="1" smtClean="0">
                                    <a:solidFill>
                                      <a:srgbClr val="9966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 smtClean="0">
                                    <a:solidFill>
                                      <a:srgbClr val="9966FF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ko-KR" sz="1600" i="1" smtClean="0">
                                    <a:solidFill>
                                      <a:srgbClr val="9966FF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600" b="0" i="1" smtClean="0">
                                <a:solidFill>
                                  <a:srgbClr val="9966FF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ko-KR" sz="1600" dirty="0">
                    <a:solidFill>
                      <a:srgbClr val="9966FF"/>
                    </a:solidFill>
                  </a:rPr>
                  <a:t> </a:t>
                </a:r>
                <a:r>
                  <a:rPr lang="ko-KR" altLang="en-US" sz="1600" dirty="0">
                    <a:solidFill>
                      <a:srgbClr val="9966FF"/>
                    </a:solidFill>
                  </a:rPr>
                  <a:t>→ </a:t>
                </a:r>
                <a:r>
                  <a:rPr lang="en-US" altLang="ko-KR" sz="1600" dirty="0">
                    <a:solidFill>
                      <a:srgbClr val="9966FF"/>
                    </a:solidFill>
                  </a:rPr>
                  <a:t>Integer (</a:t>
                </a:r>
                <a:r>
                  <a:rPr lang="ko-KR" altLang="en-US" sz="1600" dirty="0">
                    <a:solidFill>
                      <a:srgbClr val="9966FF"/>
                    </a:solidFill>
                  </a:rPr>
                  <a:t>단</a:t>
                </a:r>
                <a:r>
                  <a:rPr lang="en-US" altLang="ko-KR" sz="1600" dirty="0">
                    <a:solidFill>
                      <a:srgbClr val="9966FF"/>
                    </a:solidFill>
                  </a:rPr>
                  <a:t>, P | L )</a:t>
                </a:r>
                <a:endParaRPr lang="en-US" altLang="ko-KR" dirty="0">
                  <a:solidFill>
                    <a:srgbClr val="9966FF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258F04B-B195-F890-CAF1-5BCFAD24B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491" y="4035893"/>
                <a:ext cx="3812129" cy="460832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71874C64-3284-EB5E-37C3-D6A3B404101B}"/>
              </a:ext>
            </a:extLst>
          </p:cNvPr>
          <p:cNvCxnSpPr>
            <a:cxnSpLocks/>
          </p:cNvCxnSpPr>
          <p:nvPr/>
        </p:nvCxnSpPr>
        <p:spPr>
          <a:xfrm flipH="1">
            <a:off x="4533376" y="4228519"/>
            <a:ext cx="121264" cy="75580"/>
          </a:xfrm>
          <a:prstGeom prst="line">
            <a:avLst/>
          </a:prstGeom>
          <a:ln w="28575">
            <a:solidFill>
              <a:srgbClr val="9966F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18766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3B039F1F-B273-B73E-9FEE-77302D015AEE}"/>
              </a:ext>
            </a:extLst>
          </p:cNvPr>
          <p:cNvSpPr/>
          <p:nvPr/>
        </p:nvSpPr>
        <p:spPr bwMode="auto">
          <a:xfrm>
            <a:off x="367862" y="6370254"/>
            <a:ext cx="3216166" cy="41669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0D7F4E2-220A-A982-4830-369282305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71" y="3327147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0123C8E-7C68-3F95-0283-D11258112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378" y="3312763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(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경사각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: 59, 65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sz="2400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시간에 따라 다른 재방문 주기</a:t>
            </a:r>
            <a:r>
              <a:rPr lang="en-US" altLang="ko-KR" dirty="0">
                <a:solidFill>
                  <a:srgbClr val="1F2328"/>
                </a:solidFill>
              </a:rPr>
              <a:t>(</a:t>
            </a:r>
            <a:r>
              <a:rPr lang="ko-KR" altLang="en-US" dirty="0">
                <a:solidFill>
                  <a:srgbClr val="1F2328"/>
                </a:solidFill>
              </a:rPr>
              <a:t>이진 선형 계획법</a:t>
            </a:r>
            <a:r>
              <a:rPr lang="en-US" altLang="ko-KR" dirty="0">
                <a:solidFill>
                  <a:srgbClr val="1F2328"/>
                </a:solidFill>
              </a:rPr>
              <a:t>)</a:t>
            </a: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240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n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480 </a:t>
            </a:r>
            <a:r>
              <a:rPr lang="ko-KR" altLang="en-US" dirty="0">
                <a:solidFill>
                  <a:srgbClr val="1F2328"/>
                </a:solidFill>
              </a:rPr>
              <a:t>구간의 재방문 주기 </a:t>
            </a:r>
            <a:r>
              <a:rPr lang="en-US" altLang="ko-KR" dirty="0">
                <a:solidFill>
                  <a:srgbClr val="1F2328"/>
                </a:solidFill>
              </a:rPr>
              <a:t>15</a:t>
            </a:r>
            <a:r>
              <a:rPr lang="ko-KR" altLang="en-US" dirty="0">
                <a:solidFill>
                  <a:srgbClr val="1F2328"/>
                </a:solidFill>
              </a:rPr>
              <a:t>분 적용</a:t>
            </a:r>
            <a:endParaRPr lang="en-US" altLang="ko-KR" dirty="0">
              <a:solidFill>
                <a:srgbClr val="1F2328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E6C86-6DF6-971D-5188-2BD0AB99B258}"/>
              </a:ext>
            </a:extLst>
          </p:cNvPr>
          <p:cNvSpPr txBox="1"/>
          <p:nvPr/>
        </p:nvSpPr>
        <p:spPr>
          <a:xfrm>
            <a:off x="514166" y="5838353"/>
            <a:ext cx="35752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(</a:t>
            </a:r>
            <a:r>
              <a:rPr lang="ko-KR" altLang="en-US" sz="1400" dirty="0"/>
              <a:t>서울</a:t>
            </a:r>
            <a:r>
              <a:rPr lang="en-US" altLang="ko-KR" sz="1400" dirty="0"/>
              <a:t>)</a:t>
            </a:r>
            <a:r>
              <a:rPr lang="ko-KR" altLang="en-US" sz="1400" dirty="0"/>
              <a:t> 최대 재방문 주기</a:t>
            </a:r>
            <a:r>
              <a:rPr lang="en-US" altLang="ko-KR" sz="1400" dirty="0"/>
              <a:t> : 14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BDA939-4BF0-9302-07FA-A36A4FEB8D11}"/>
              </a:ext>
            </a:extLst>
          </p:cNvPr>
          <p:cNvSpPr txBox="1"/>
          <p:nvPr/>
        </p:nvSpPr>
        <p:spPr>
          <a:xfrm>
            <a:off x="3566052" y="5841706"/>
            <a:ext cx="4472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(</a:t>
            </a:r>
            <a:r>
              <a:rPr lang="ko-KR" altLang="en-US" sz="1400" dirty="0"/>
              <a:t>블라디보스토크</a:t>
            </a:r>
            <a:r>
              <a:rPr lang="en-US" altLang="ko-KR" sz="1400" dirty="0"/>
              <a:t>)</a:t>
            </a:r>
            <a:r>
              <a:rPr lang="ko-KR" altLang="en-US" sz="1400" dirty="0"/>
              <a:t> 최대 재방문 주기</a:t>
            </a:r>
            <a:r>
              <a:rPr lang="en-US" altLang="ko-KR" sz="1400" dirty="0"/>
              <a:t> : 14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879AD3B-83A7-2198-841C-B1F635982ACA}"/>
              </a:ext>
            </a:extLst>
          </p:cNvPr>
          <p:cNvGrpSpPr/>
          <p:nvPr/>
        </p:nvGrpSpPr>
        <p:grpSpPr>
          <a:xfrm>
            <a:off x="1938326" y="6228590"/>
            <a:ext cx="5267348" cy="738664"/>
            <a:chOff x="1810401" y="5732741"/>
            <a:chExt cx="5267348" cy="7386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3E4753D-4E51-77D2-D1F0-D99B81C19BD3}"/>
                    </a:ext>
                  </a:extLst>
                </p:cNvPr>
                <p:cNvSpPr txBox="1"/>
                <p:nvPr/>
              </p:nvSpPr>
              <p:spPr>
                <a:xfrm>
                  <a:off x="3776505" y="5732741"/>
                  <a:ext cx="3301244" cy="738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2"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𝑂𝑟𝑏𝑖𝑡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ko-KR" sz="1400" dirty="0"/>
                    <a:t> = [0  474  537]     </a:t>
                  </a:r>
                </a:p>
                <a:p>
                  <a:pPr lvl="2"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𝑂𝑟𝑏𝑖𝑡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ko-KR" sz="1400" dirty="0"/>
                    <a:t> = [10  185  600]</a:t>
                  </a:r>
                </a:p>
                <a:p>
                  <a:pPr lvl="2" algn="ctr">
                    <a:defRPr/>
                  </a:pPr>
                  <a:endParaRPr lang="en-US" altLang="ko-KR" sz="1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3E4753D-4E51-77D2-D1F0-D99B81C19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6505" y="5732741"/>
                  <a:ext cx="3301244" cy="738664"/>
                </a:xfrm>
                <a:prstGeom prst="rect">
                  <a:avLst/>
                </a:prstGeom>
                <a:blipFill>
                  <a:blip r:embed="rId5"/>
                  <a:stretch>
                    <a:fillRect t="-165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984CFD75-3F51-2FE7-6E35-1AA37F86A199}"/>
                    </a:ext>
                  </a:extLst>
                </p:cNvPr>
                <p:cNvSpPr txBox="1"/>
                <p:nvPr/>
              </p:nvSpPr>
              <p:spPr>
                <a:xfrm>
                  <a:off x="1810401" y="5823952"/>
                  <a:ext cx="3301244" cy="3763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2">
                    <a:defRPr/>
                  </a:pPr>
                  <a14:m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총</m:t>
                      </m:r>
                    </m:oMath>
                  </a14:m>
                  <a:r>
                    <a:rPr lang="en-US" altLang="ko-KR" dirty="0"/>
                    <a:t> 6</a:t>
                  </a:r>
                  <a:r>
                    <a:rPr lang="ko-KR" altLang="en-US" dirty="0"/>
                    <a:t>대 위성 필요</a:t>
                  </a:r>
                  <a:endParaRPr lang="en-US" altLang="ko-KR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984CFD75-3F51-2FE7-6E35-1AA37F86A1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0401" y="5823952"/>
                  <a:ext cx="3301244" cy="376385"/>
                </a:xfrm>
                <a:prstGeom prst="rect">
                  <a:avLst/>
                </a:prstGeom>
                <a:blipFill>
                  <a:blip r:embed="rId6"/>
                  <a:stretch>
                    <a:fillRect t="-8197" b="-262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화살표: 오른쪽 4">
              <a:extLst>
                <a:ext uri="{FF2B5EF4-FFF2-40B4-BE49-F238E27FC236}">
                  <a16:creationId xmlns:a16="http://schemas.microsoft.com/office/drawing/2014/main" id="{6D9D6DFF-6E8C-542B-BB04-214B080B1B95}"/>
                </a:ext>
              </a:extLst>
            </p:cNvPr>
            <p:cNvSpPr/>
            <p:nvPr/>
          </p:nvSpPr>
          <p:spPr bwMode="auto">
            <a:xfrm>
              <a:off x="2129311" y="5848929"/>
              <a:ext cx="491535" cy="351408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208F599-88A5-F7DA-7817-C00C9B98E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521922"/>
              </p:ext>
            </p:extLst>
          </p:nvPr>
        </p:nvGraphicFramePr>
        <p:xfrm>
          <a:off x="69300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498218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[15  421  487]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푸른색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297  701]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주황색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39844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1A3E134A-3D40-23E0-3735-5D84BF99B072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1F741599-4821-66C4-8982-26F7990C88D7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90F4E404-1C2D-F0BD-B5A5-9D0F87FD7D81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B53717E7-6DDA-B98D-B346-754FA52421AE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3136312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8871403-C62B-5095-2BA8-760F8A200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182297"/>
              </p:ext>
            </p:extLst>
          </p:nvPr>
        </p:nvGraphicFramePr>
        <p:xfrm>
          <a:off x="6099134" y="2983074"/>
          <a:ext cx="298509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4133197705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1358599067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75385137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3102141069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3739752185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4068059700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3547229432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409503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83936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61339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6:2:0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98663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6:2:1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353174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7460CF99-2F97-F994-1C3C-E58FB8B65ED0}"/>
              </a:ext>
            </a:extLst>
          </p:cNvPr>
          <p:cNvSpPr/>
          <p:nvPr/>
        </p:nvSpPr>
        <p:spPr bwMode="auto">
          <a:xfrm>
            <a:off x="367862" y="6370254"/>
            <a:ext cx="3216166" cy="41669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시간에 따라 다른 재방문 주기</a:t>
            </a:r>
            <a:r>
              <a:rPr lang="en-US" altLang="ko-KR" dirty="0">
                <a:solidFill>
                  <a:srgbClr val="1F2328"/>
                </a:solidFill>
              </a:rPr>
              <a:t>(</a:t>
            </a:r>
            <a:r>
              <a:rPr lang="ko-KR" altLang="en-US" dirty="0">
                <a:solidFill>
                  <a:srgbClr val="1F2328"/>
                </a:solidFill>
              </a:rPr>
              <a:t>워커</a:t>
            </a:r>
            <a:r>
              <a:rPr lang="en-US" altLang="ko-KR" dirty="0">
                <a:solidFill>
                  <a:srgbClr val="1F2328"/>
                </a:solidFill>
              </a:rPr>
              <a:t>-</a:t>
            </a:r>
            <a:r>
              <a:rPr lang="ko-KR" altLang="en-US" dirty="0">
                <a:solidFill>
                  <a:srgbClr val="1F2328"/>
                </a:solidFill>
              </a:rPr>
              <a:t>델타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r>
              <a:rPr lang="en-US" altLang="ko-KR" dirty="0">
                <a:solidFill>
                  <a:srgbClr val="1F2328"/>
                </a:solidFill>
              </a:rPr>
              <a:t>)</a:t>
            </a: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240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n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480 </a:t>
            </a:r>
            <a:r>
              <a:rPr lang="ko-KR" altLang="en-US" dirty="0">
                <a:solidFill>
                  <a:srgbClr val="1F2328"/>
                </a:solidFill>
              </a:rPr>
              <a:t>구간의 재방문 주기 </a:t>
            </a:r>
            <a:r>
              <a:rPr lang="en-US" altLang="ko-KR" dirty="0">
                <a:solidFill>
                  <a:srgbClr val="1F2328"/>
                </a:solidFill>
              </a:rPr>
              <a:t>15</a:t>
            </a:r>
            <a:r>
              <a:rPr lang="ko-KR" altLang="en-US" dirty="0">
                <a:solidFill>
                  <a:srgbClr val="1F2328"/>
                </a:solidFill>
              </a:rPr>
              <a:t>분 적용</a:t>
            </a:r>
            <a:endParaRPr lang="en-US" altLang="ko-KR" dirty="0">
              <a:solidFill>
                <a:srgbClr val="1F2328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24D12DD-8C4E-D43F-A0C7-4C12E635E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141293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684499D5-2428-B1B7-2183-264866CBDF62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1C4744D-1002-91AD-5AB9-29C3E39D4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09FF4A4-28C9-6623-3913-3C30F5586CE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C8B0E82-0258-B49D-BD31-58482BB31F21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2926A12-A52D-8718-C6F0-BB6C58970D42}"/>
                  </a:ext>
                </a:extLst>
              </p:cNvPr>
              <p:cNvSpPr txBox="1"/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총</m:t>
                    </m:r>
                  </m:oMath>
                </a14:m>
                <a:r>
                  <a:rPr lang="en-US" altLang="ko-KR" dirty="0"/>
                  <a:t> 6</a:t>
                </a:r>
                <a:r>
                  <a:rPr lang="ko-KR" altLang="en-US" dirty="0"/>
                  <a:t>대 위성으로 요구조건 달성 불가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2926A12-A52D-8718-C6F0-BB6C58970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blipFill>
                <a:blip r:embed="rId6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42DD9074-255C-477E-5243-EEBCA9E9418E}"/>
              </a:ext>
            </a:extLst>
          </p:cNvPr>
          <p:cNvSpPr/>
          <p:nvPr/>
        </p:nvSpPr>
        <p:spPr bwMode="auto">
          <a:xfrm>
            <a:off x="2257236" y="6344778"/>
            <a:ext cx="491535" cy="35140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4C891D7-5156-F2E9-D5FC-C58E10ADAE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834266"/>
              </p:ext>
            </p:extLst>
          </p:nvPr>
        </p:nvGraphicFramePr>
        <p:xfrm>
          <a:off x="3079454" y="2983074"/>
          <a:ext cx="2985091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6:3:0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6:3:1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6:3:2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8C10D82-489D-31C5-8713-5045F1BDA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113851"/>
              </p:ext>
            </p:extLst>
          </p:nvPr>
        </p:nvGraphicFramePr>
        <p:xfrm>
          <a:off x="59775" y="2983074"/>
          <a:ext cx="2985091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6:6:1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6:6:3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63760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6:6:4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331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6:6:5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56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344657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9B7651C5-4C10-2BEC-2B91-08303349DB0B}"/>
              </a:ext>
            </a:extLst>
          </p:cNvPr>
          <p:cNvSpPr/>
          <p:nvPr/>
        </p:nvSpPr>
        <p:spPr bwMode="auto">
          <a:xfrm>
            <a:off x="367862" y="6370254"/>
            <a:ext cx="3216166" cy="41669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시간에 따라 다른 재방문 주기</a:t>
            </a:r>
            <a:r>
              <a:rPr lang="en-US" altLang="ko-KR" dirty="0">
                <a:solidFill>
                  <a:srgbClr val="1F2328"/>
                </a:solidFill>
              </a:rPr>
              <a:t>(</a:t>
            </a:r>
            <a:r>
              <a:rPr lang="ko-KR" altLang="en-US" dirty="0">
                <a:solidFill>
                  <a:srgbClr val="1F2328"/>
                </a:solidFill>
              </a:rPr>
              <a:t>워커</a:t>
            </a:r>
            <a:r>
              <a:rPr lang="en-US" altLang="ko-KR" dirty="0">
                <a:solidFill>
                  <a:srgbClr val="1F2328"/>
                </a:solidFill>
              </a:rPr>
              <a:t>-</a:t>
            </a:r>
            <a:r>
              <a:rPr lang="ko-KR" altLang="en-US" dirty="0">
                <a:solidFill>
                  <a:srgbClr val="1F2328"/>
                </a:solidFill>
              </a:rPr>
              <a:t>델타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r>
              <a:rPr lang="en-US" altLang="ko-KR" dirty="0">
                <a:solidFill>
                  <a:srgbClr val="1F2328"/>
                </a:solidFill>
              </a:rPr>
              <a:t>)</a:t>
            </a: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240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n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480 </a:t>
            </a:r>
            <a:r>
              <a:rPr lang="ko-KR" altLang="en-US" dirty="0">
                <a:solidFill>
                  <a:srgbClr val="1F2328"/>
                </a:solidFill>
              </a:rPr>
              <a:t>구간의 재방문 주기 </a:t>
            </a:r>
            <a:r>
              <a:rPr lang="en-US" altLang="ko-KR" dirty="0">
                <a:solidFill>
                  <a:srgbClr val="1F2328"/>
                </a:solidFill>
              </a:rPr>
              <a:t>15</a:t>
            </a:r>
            <a:r>
              <a:rPr lang="ko-KR" altLang="en-US" dirty="0">
                <a:solidFill>
                  <a:srgbClr val="1F2328"/>
                </a:solidFill>
              </a:rPr>
              <a:t>분 적용</a:t>
            </a:r>
            <a:endParaRPr lang="en-US" altLang="ko-KR" dirty="0">
              <a:solidFill>
                <a:srgbClr val="1F2328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24D12DD-8C4E-D43F-A0C7-4C12E635E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55148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684499D5-2428-B1B7-2183-264866CBDF62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1C4744D-1002-91AD-5AB9-29C3E39D4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09FF4A4-28C9-6623-3913-3C30F5586CE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C8B0E82-0258-B49D-BD31-58482BB31F21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B6321C-C895-6E04-2A9C-B5E3ACBEE590}"/>
                  </a:ext>
                </a:extLst>
              </p:cNvPr>
              <p:cNvSpPr txBox="1"/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총</m:t>
                    </m:r>
                  </m:oMath>
                </a14:m>
                <a:r>
                  <a:rPr lang="en-US" altLang="ko-KR" dirty="0"/>
                  <a:t> 7</a:t>
                </a:r>
                <a:r>
                  <a:rPr lang="ko-KR" altLang="en-US" dirty="0"/>
                  <a:t>대 위성으로 요구조건 달성 불가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B6321C-C895-6E04-2A9C-B5E3ACBEE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blipFill>
                <a:blip r:embed="rId4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5BF02A45-2D94-396F-CC00-0D136E2F2AC2}"/>
              </a:ext>
            </a:extLst>
          </p:cNvPr>
          <p:cNvSpPr/>
          <p:nvPr/>
        </p:nvSpPr>
        <p:spPr bwMode="auto">
          <a:xfrm>
            <a:off x="2257236" y="6344778"/>
            <a:ext cx="491535" cy="35140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FFDE572-280E-A5C6-AD5E-8975D787E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917253"/>
              </p:ext>
            </p:extLst>
          </p:nvPr>
        </p:nvGraphicFramePr>
        <p:xfrm>
          <a:off x="59775" y="2983074"/>
          <a:ext cx="298509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7:7:3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63760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7:7:4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331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7:7:5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5619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7:7:6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289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7052014"/>
      </p:ext>
    </p:extLst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82F7499-D7C3-2D78-68B2-C84B207CD1F7}"/>
              </a:ext>
            </a:extLst>
          </p:cNvPr>
          <p:cNvSpPr/>
          <p:nvPr/>
        </p:nvSpPr>
        <p:spPr bwMode="auto">
          <a:xfrm>
            <a:off x="367862" y="6370254"/>
            <a:ext cx="3216166" cy="41669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시간에 따라 다른 재방문 주기</a:t>
            </a:r>
            <a:r>
              <a:rPr lang="en-US" altLang="ko-KR" dirty="0">
                <a:solidFill>
                  <a:srgbClr val="1F2328"/>
                </a:solidFill>
              </a:rPr>
              <a:t>(</a:t>
            </a:r>
            <a:r>
              <a:rPr lang="ko-KR" altLang="en-US" dirty="0">
                <a:solidFill>
                  <a:srgbClr val="1F2328"/>
                </a:solidFill>
              </a:rPr>
              <a:t>워커</a:t>
            </a:r>
            <a:r>
              <a:rPr lang="en-US" altLang="ko-KR" dirty="0">
                <a:solidFill>
                  <a:srgbClr val="1F2328"/>
                </a:solidFill>
              </a:rPr>
              <a:t>-</a:t>
            </a:r>
            <a:r>
              <a:rPr lang="ko-KR" altLang="en-US" dirty="0">
                <a:solidFill>
                  <a:srgbClr val="1F2328"/>
                </a:solidFill>
              </a:rPr>
              <a:t>델타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r>
              <a:rPr lang="en-US" altLang="ko-KR" dirty="0">
                <a:solidFill>
                  <a:srgbClr val="1F2328"/>
                </a:solidFill>
              </a:rPr>
              <a:t>)</a:t>
            </a: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240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n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480 </a:t>
            </a:r>
            <a:r>
              <a:rPr lang="ko-KR" altLang="en-US" dirty="0">
                <a:solidFill>
                  <a:srgbClr val="1F2328"/>
                </a:solidFill>
              </a:rPr>
              <a:t>구간의 재방문 주기 </a:t>
            </a:r>
            <a:r>
              <a:rPr lang="en-US" altLang="ko-KR" dirty="0">
                <a:solidFill>
                  <a:srgbClr val="1F2328"/>
                </a:solidFill>
              </a:rPr>
              <a:t>15</a:t>
            </a:r>
            <a:r>
              <a:rPr lang="ko-KR" altLang="en-US" dirty="0">
                <a:solidFill>
                  <a:srgbClr val="1F2328"/>
                </a:solidFill>
              </a:rPr>
              <a:t>분 적용</a:t>
            </a:r>
            <a:endParaRPr lang="en-US" altLang="ko-KR" dirty="0">
              <a:solidFill>
                <a:srgbClr val="1F2328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24D12DD-8C4E-D43F-A0C7-4C12E635E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576449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684499D5-2428-B1B7-2183-264866CBDF62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1C4744D-1002-91AD-5AB9-29C3E39D4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09FF4A4-28C9-6623-3913-3C30F5586CE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C8B0E82-0258-B49D-BD31-58482BB31F21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EB35CF-2B1A-1A93-BB22-5F5622F1530B}"/>
                  </a:ext>
                </a:extLst>
              </p:cNvPr>
              <p:cNvSpPr txBox="1"/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총</m:t>
                    </m:r>
                  </m:oMath>
                </a14:m>
                <a:r>
                  <a:rPr lang="en-US" altLang="ko-KR" dirty="0"/>
                  <a:t> 8</a:t>
                </a:r>
                <a:r>
                  <a:rPr lang="ko-KR" altLang="en-US" dirty="0"/>
                  <a:t>대 위성으로 요구조건 달성 불가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EB35CF-2B1A-1A93-BB22-5F5622F15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blipFill>
                <a:blip r:embed="rId6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3EC47BBC-88E2-4DEB-FC6F-7BB4D9EF15B7}"/>
              </a:ext>
            </a:extLst>
          </p:cNvPr>
          <p:cNvSpPr/>
          <p:nvPr/>
        </p:nvSpPr>
        <p:spPr bwMode="auto">
          <a:xfrm>
            <a:off x="2257236" y="6344778"/>
            <a:ext cx="491535" cy="35140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13454A9-FD42-B569-1B94-C80B54E82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842723"/>
              </p:ext>
            </p:extLst>
          </p:nvPr>
        </p:nvGraphicFramePr>
        <p:xfrm>
          <a:off x="59775" y="2983074"/>
          <a:ext cx="2985091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8:8:3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63760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8:8:4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331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8:8:5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5619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8:8:6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289057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8:8:7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999448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7394423-10DD-9430-436A-C2523B205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467716"/>
              </p:ext>
            </p:extLst>
          </p:nvPr>
        </p:nvGraphicFramePr>
        <p:xfrm>
          <a:off x="3079454" y="2983074"/>
          <a:ext cx="2985091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8:4:0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8:4:1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8:4:2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8:4:3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064792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F52A9EA-C76E-7EA6-B5B9-0506F151C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86653"/>
              </p:ext>
            </p:extLst>
          </p:nvPr>
        </p:nvGraphicFramePr>
        <p:xfrm>
          <a:off x="6099134" y="2983074"/>
          <a:ext cx="298509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4133197705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1358599067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75385137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3102141069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3739752185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4068059700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3547229432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409503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83936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61339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8:2:0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98663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8:2:1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353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2307763"/>
      </p:ext>
    </p:extLst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82F7499-D7C3-2D78-68B2-C84B207CD1F7}"/>
              </a:ext>
            </a:extLst>
          </p:cNvPr>
          <p:cNvSpPr/>
          <p:nvPr/>
        </p:nvSpPr>
        <p:spPr bwMode="auto">
          <a:xfrm>
            <a:off x="367862" y="6370254"/>
            <a:ext cx="3216166" cy="41669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시간에 따라 다른 재방문 주기</a:t>
            </a:r>
            <a:r>
              <a:rPr lang="en-US" altLang="ko-KR" dirty="0">
                <a:solidFill>
                  <a:srgbClr val="1F2328"/>
                </a:solidFill>
              </a:rPr>
              <a:t>(</a:t>
            </a:r>
            <a:r>
              <a:rPr lang="ko-KR" altLang="en-US" dirty="0">
                <a:solidFill>
                  <a:srgbClr val="1F2328"/>
                </a:solidFill>
              </a:rPr>
              <a:t>워커</a:t>
            </a:r>
            <a:r>
              <a:rPr lang="en-US" altLang="ko-KR" dirty="0">
                <a:solidFill>
                  <a:srgbClr val="1F2328"/>
                </a:solidFill>
              </a:rPr>
              <a:t>-</a:t>
            </a:r>
            <a:r>
              <a:rPr lang="ko-KR" altLang="en-US" dirty="0">
                <a:solidFill>
                  <a:srgbClr val="1F2328"/>
                </a:solidFill>
              </a:rPr>
              <a:t>델타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r>
              <a:rPr lang="en-US" altLang="ko-KR" dirty="0">
                <a:solidFill>
                  <a:srgbClr val="1F2328"/>
                </a:solidFill>
              </a:rPr>
              <a:t>)</a:t>
            </a: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240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n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480 </a:t>
            </a:r>
            <a:r>
              <a:rPr lang="ko-KR" altLang="en-US" dirty="0">
                <a:solidFill>
                  <a:srgbClr val="1F2328"/>
                </a:solidFill>
              </a:rPr>
              <a:t>구간의 재방문 주기 </a:t>
            </a:r>
            <a:r>
              <a:rPr lang="en-US" altLang="ko-KR" dirty="0">
                <a:solidFill>
                  <a:srgbClr val="1F2328"/>
                </a:solidFill>
              </a:rPr>
              <a:t>15</a:t>
            </a:r>
            <a:r>
              <a:rPr lang="ko-KR" altLang="en-US" dirty="0">
                <a:solidFill>
                  <a:srgbClr val="1F2328"/>
                </a:solidFill>
              </a:rPr>
              <a:t>분 적용</a:t>
            </a:r>
            <a:endParaRPr lang="en-US" altLang="ko-KR" dirty="0">
              <a:solidFill>
                <a:srgbClr val="1F2328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24D12DD-8C4E-D43F-A0C7-4C12E635E756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684499D5-2428-B1B7-2183-264866CBDF62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1C4744D-1002-91AD-5AB9-29C3E39D4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09FF4A4-28C9-6623-3913-3C30F5586CE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C8B0E82-0258-B49D-BD31-58482BB31F21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EB35CF-2B1A-1A93-BB22-5F5622F1530B}"/>
                  </a:ext>
                </a:extLst>
              </p:cNvPr>
              <p:cNvSpPr txBox="1"/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총</m:t>
                    </m:r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9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대 위성으로 요구조건 달성 가능</a:t>
                </a:r>
                <a:endParaRPr lang="en-US" altLang="ko-KR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EB35CF-2B1A-1A93-BB22-5F5622F15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blipFill>
                <a:blip r:embed="rId3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3EC47BBC-88E2-4DEB-FC6F-7BB4D9EF15B7}"/>
              </a:ext>
            </a:extLst>
          </p:cNvPr>
          <p:cNvSpPr/>
          <p:nvPr/>
        </p:nvSpPr>
        <p:spPr bwMode="auto">
          <a:xfrm>
            <a:off x="2257236" y="6344778"/>
            <a:ext cx="491535" cy="35140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13454A9-FD42-B569-1B94-C80B54E82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812067"/>
              </p:ext>
            </p:extLst>
          </p:nvPr>
        </p:nvGraphicFramePr>
        <p:xfrm>
          <a:off x="59775" y="2983074"/>
          <a:ext cx="298509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9:9:3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63760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9:9:4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331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9:9:5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5619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9:9:6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289057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9:9:7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99944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9:9:8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306633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7394423-10DD-9430-436A-C2523B205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462255"/>
              </p:ext>
            </p:extLst>
          </p:nvPr>
        </p:nvGraphicFramePr>
        <p:xfrm>
          <a:off x="3079454" y="2983074"/>
          <a:ext cx="2985091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9:3:0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9:3:1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9:3:2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917EECB-1DD4-2B84-325A-429A85A54E62}"/>
              </a:ext>
            </a:extLst>
          </p:cNvPr>
          <p:cNvSpPr txBox="1"/>
          <p:nvPr/>
        </p:nvSpPr>
        <p:spPr>
          <a:xfrm>
            <a:off x="5460236" y="5843184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r>
              <a:rPr lang="en-US" altLang="ko-KR" sz="1400" dirty="0"/>
              <a:t>(9:9:6)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22707B-F85D-D34E-66EA-CD0E78F8F3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8426734"/>
                  </p:ext>
                </p:extLst>
              </p:nvPr>
            </p:nvGraphicFramePr>
            <p:xfrm>
              <a:off x="6126845" y="3003234"/>
              <a:ext cx="2947935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154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83480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404625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31938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23969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6475332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6832834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44694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22707B-F85D-D34E-66EA-CD0E78F8F3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8426734"/>
                  </p:ext>
                </p:extLst>
              </p:nvPr>
            </p:nvGraphicFramePr>
            <p:xfrm>
              <a:off x="6126845" y="3003234"/>
              <a:ext cx="2947935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154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83480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404625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31938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6901" t="-2222" r="-469014" b="-9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0000" t="-2222" r="-375714" b="-9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8298" t="-2222" r="-179787" b="-9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647533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683283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4469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78768266"/>
      </p:ext>
    </p:extLst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3F3AB8-92AF-B07C-0090-59C3830E3035}"/>
              </a:ext>
            </a:extLst>
          </p:cNvPr>
          <p:cNvSpPr/>
          <p:nvPr/>
        </p:nvSpPr>
        <p:spPr bwMode="auto">
          <a:xfrm>
            <a:off x="257082" y="6242594"/>
            <a:ext cx="3747359" cy="57064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BA7139-4EAA-3254-B4D1-AB9D6BAA9257}"/>
              </a:ext>
            </a:extLst>
          </p:cNvPr>
          <p:cNvSpPr txBox="1"/>
          <p:nvPr/>
        </p:nvSpPr>
        <p:spPr>
          <a:xfrm>
            <a:off x="2409232" y="6200917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9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</a:t>
            </a:r>
            <a:r>
              <a:rPr lang="en-US" altLang="ko-KR" dirty="0"/>
              <a:t> (</a:t>
            </a:r>
            <a:r>
              <a:rPr lang="ko-KR" altLang="en-US" dirty="0">
                <a:solidFill>
                  <a:srgbClr val="1F2328"/>
                </a:solidFill>
              </a:rPr>
              <a:t>재방문 주기 </a:t>
            </a:r>
            <a:r>
              <a:rPr lang="en-US" altLang="ko-KR" dirty="0">
                <a:solidFill>
                  <a:srgbClr val="1F2328"/>
                </a:solidFill>
              </a:rPr>
              <a:t>15</a:t>
            </a:r>
            <a:r>
              <a:rPr lang="ko-KR" altLang="en-US" dirty="0">
                <a:solidFill>
                  <a:srgbClr val="1F2328"/>
                </a:solidFill>
              </a:rPr>
              <a:t>분 적용</a:t>
            </a:r>
            <a:r>
              <a:rPr lang="en-US" altLang="ko-KR" dirty="0">
                <a:solidFill>
                  <a:srgbClr val="1F2328"/>
                </a:solidFill>
              </a:rPr>
              <a:t>) (T:P:F=9:9:6)</a:t>
            </a:r>
          </a:p>
          <a:p>
            <a:pPr lvl="1">
              <a:defRPr/>
            </a:pPr>
            <a:r>
              <a:rPr lang="en-US" altLang="ko-KR" dirty="0"/>
              <a:t>)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015089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85A49B52-2AF5-A7CC-4EFB-7ED2C5B0EF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6653768"/>
                  </p:ext>
                </p:extLst>
              </p:nvPr>
            </p:nvGraphicFramePr>
            <p:xfrm>
              <a:off x="2915336" y="3075307"/>
              <a:ext cx="3290835" cy="292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154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9115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83480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404625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31938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45391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6475332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6832834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44694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85A49B52-2AF5-A7CC-4EFB-7ED2C5B0EF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6653768"/>
                  </p:ext>
                </p:extLst>
              </p:nvPr>
            </p:nvGraphicFramePr>
            <p:xfrm>
              <a:off x="2915336" y="3075307"/>
              <a:ext cx="3290835" cy="292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154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9115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83480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404625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31938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6901" t="-1333" r="-549296" b="-55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000" t="-1333" r="-457143" b="-55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9333" t="-1333" r="-113333" b="-55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647533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683283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4469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5894217"/>
      </p:ext>
    </p:extLst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246767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이진 선형 계획법과 다른 설계기법의 성능 비교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/>
              <a:t>비대칭성을 이용한 최적화 설계 기법인 </a:t>
            </a:r>
            <a:r>
              <a:rPr lang="ko-KR" altLang="en-US" b="1" u="sng" dirty="0"/>
              <a:t>이진 선형 계획법</a:t>
            </a:r>
            <a:r>
              <a:rPr lang="ko-KR" altLang="en-US" dirty="0"/>
              <a:t>이 탄생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위성군에 비해 </a:t>
            </a:r>
            <a:r>
              <a:rPr lang="ko-KR" altLang="en-US" b="1" u="sng" dirty="0"/>
              <a:t>궤도 평면 수가 많지만</a:t>
            </a:r>
            <a:r>
              <a:rPr lang="en-US" altLang="ko-KR" b="1" u="sng" dirty="0"/>
              <a:t>, </a:t>
            </a:r>
            <a:r>
              <a:rPr lang="ko-KR" altLang="en-US" b="1" u="sng" dirty="0"/>
              <a:t>위성 수를 줄일 수 있음</a:t>
            </a:r>
            <a:endParaRPr lang="en-US" altLang="ko-KR" b="1" u="sng" dirty="0"/>
          </a:p>
          <a:p>
            <a:pPr lvl="1">
              <a:defRPr/>
            </a:pPr>
            <a:r>
              <a:rPr lang="ko-KR" altLang="en-US" dirty="0"/>
              <a:t>고도 및 궤도 경사각 등 다양한 궤도를 동시에 운용하는 </a:t>
            </a:r>
            <a:r>
              <a:rPr lang="ko-KR" altLang="en-US" b="1" u="sng" dirty="0"/>
              <a:t>이종 위성군에 적용</a:t>
            </a:r>
            <a:endParaRPr lang="en-US" altLang="ko-KR" b="1" u="sng" dirty="0"/>
          </a:p>
          <a:p>
            <a:pPr lvl="1">
              <a:defRPr/>
            </a:pPr>
            <a:r>
              <a:rPr lang="ko-KR" altLang="en-US" b="1" u="sng" dirty="0"/>
              <a:t>동시에 두 지역의 관측</a:t>
            </a:r>
            <a:r>
              <a:rPr lang="ko-KR" altLang="en-US" dirty="0"/>
              <a:t>을 목표로 하는 임무에서</a:t>
            </a:r>
            <a:r>
              <a:rPr lang="en-US" altLang="ko-KR" dirty="0"/>
              <a:t>, </a:t>
            </a:r>
            <a:r>
              <a:rPr lang="ko-KR" altLang="en-US" dirty="0"/>
              <a:t>단일 궤도에 비해 </a:t>
            </a:r>
            <a:r>
              <a:rPr lang="ko-KR" altLang="en-US" b="1" u="sng" dirty="0"/>
              <a:t>이종 위성군을 운용하는 것의 성능이 뛰어난</a:t>
            </a:r>
            <a:r>
              <a:rPr lang="ko-KR" altLang="en-US" dirty="0"/>
              <a:t> 것을 검증함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 이진 선형 계획법의 </a:t>
            </a:r>
            <a:r>
              <a:rPr lang="ko-KR" altLang="en-US" b="1" u="sng" dirty="0"/>
              <a:t>성능이 비슷한 경우</a:t>
            </a:r>
            <a:r>
              <a:rPr lang="ko-KR" altLang="en-US" dirty="0"/>
              <a:t>가 있음</a:t>
            </a:r>
            <a:endParaRPr lang="en-US" altLang="ko-KR" dirty="0"/>
          </a:p>
          <a:p>
            <a:pPr lvl="1">
              <a:defRPr/>
            </a:pPr>
            <a:r>
              <a:rPr lang="ko-KR" altLang="en-US" b="1" u="sng" dirty="0"/>
              <a:t>특정 시간에 따라 재방문 주기 </a:t>
            </a:r>
            <a:r>
              <a:rPr lang="ko-KR" altLang="en-US" dirty="0"/>
              <a:t>또는 커버리지 요구 횟수 의 변화가 있는 상황 등에서 이진 선형 계획법이 갖는 이점 확인 가능  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97618971"/>
      </p:ext>
    </p:extLst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1B23A-78F3-35B8-506D-D9DFB5D0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5B69527-F992-21E4-8F1F-56E527821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DC64E212-8A1E-C5D2-7849-BE68EF516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BE3475-1035-EFEB-6399-114C8C9903FD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259117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133944</TotalTime>
  <Words>9836</Words>
  <Application>Microsoft Office PowerPoint</Application>
  <PresentationFormat>화면 슬라이드 쇼(4:3)</PresentationFormat>
  <Paragraphs>4426</Paragraphs>
  <Slides>88</Slides>
  <Notes>86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88</vt:i4>
      </vt:variant>
    </vt:vector>
  </HeadingPairs>
  <TitlesOfParts>
    <vt:vector size="96" baseType="lpstr">
      <vt:lpstr>-apple-system</vt:lpstr>
      <vt:lpstr>맑은 고딕</vt:lpstr>
      <vt:lpstr>Arial</vt:lpstr>
      <vt:lpstr>Cambria Math</vt:lpstr>
      <vt:lpstr>times</vt:lpstr>
      <vt:lpstr>Times New Roman</vt:lpstr>
      <vt:lpstr>Wingdings</vt:lpstr>
      <vt:lpstr>Office 테마</vt:lpstr>
      <vt:lpstr>본심사 발표  이진 선형 계획법을 이용한 한반도 관측 목표의 이종 위성군 궤도 설계 및 운용 방법 연구</vt:lpstr>
      <vt:lpstr>목차</vt:lpstr>
      <vt:lpstr>연구의 개요</vt:lpstr>
      <vt:lpstr>연구 배경</vt:lpstr>
      <vt:lpstr>이종 위성군의 개념</vt:lpstr>
      <vt:lpstr>이종 위성군의 해외 연구사례(1)</vt:lpstr>
      <vt:lpstr>이종 위성군의 해외 연구사례(2)</vt:lpstr>
      <vt:lpstr>이종 위성군의 국내 연구사례(1), (2)</vt:lpstr>
      <vt:lpstr>연구의 목적 및 의의</vt:lpstr>
      <vt:lpstr>주요 참고 문헌 정보</vt:lpstr>
      <vt:lpstr>이진 선형 계획법 참고 문헌</vt:lpstr>
      <vt:lpstr>시뮬레이션 환경 설정</vt:lpstr>
      <vt:lpstr>시뮬레이션 환경 설정</vt:lpstr>
      <vt:lpstr>지상 궤적 반복 궤도(RGT)</vt:lpstr>
      <vt:lpstr>지상 궤적 반복 궤도(RGT)</vt:lpstr>
      <vt:lpstr>APC Decomposition</vt:lpstr>
      <vt:lpstr>APC Decomposition</vt:lpstr>
      <vt:lpstr>APC Decomposition의 간단한 예시</vt:lpstr>
      <vt:lpstr>준대칭 기법(vs 워커-델타 위성군)</vt:lpstr>
      <vt:lpstr>준대칭 기법의 설계 개념</vt:lpstr>
      <vt:lpstr>준대칭 기법 설계 방법</vt:lpstr>
      <vt:lpstr>준대칭 기법 설계 방법</vt:lpstr>
      <vt:lpstr>준대칭 기법 설계 방법</vt:lpstr>
      <vt:lpstr>워커-델타 위성군과의 비교</vt:lpstr>
      <vt:lpstr>워커-델타 위성군과의 비교</vt:lpstr>
      <vt:lpstr>워커-델타 위성군과의 비교</vt:lpstr>
      <vt:lpstr>워커-델타 위성군과의 비교</vt:lpstr>
      <vt:lpstr>워커-델타 위성군과의 비교</vt:lpstr>
      <vt:lpstr>워커-델타 위성군과의 비교</vt:lpstr>
      <vt:lpstr>워커-델타 위성군과의 비교</vt:lpstr>
      <vt:lpstr>이진 선형 계획법</vt:lpstr>
      <vt:lpstr>이진 선형 계획법(BILP) 설계 개념</vt:lpstr>
      <vt:lpstr>이진 선형 계획법 설계 개념</vt:lpstr>
      <vt:lpstr>이진 선형 계획법 설계 개념</vt:lpstr>
      <vt:lpstr>이진 선형 계획법의 결과 검증</vt:lpstr>
      <vt:lpstr>이진 선형 계획법의 결과 검증</vt:lpstr>
      <vt:lpstr>이진 선형 계획법의 결과 검증</vt:lpstr>
      <vt:lpstr>이진 선형 계획법의 결과 검증</vt:lpstr>
      <vt:lpstr>이진 선형 계획법의 결과 검증</vt:lpstr>
      <vt:lpstr>이진 선형 계획법의 결과 검증</vt:lpstr>
      <vt:lpstr>이진 선형 계획법을 적용한  이종위성군 설계</vt:lpstr>
      <vt:lpstr>이진 선형 계획법을 적용한 이종 위성군 설계 개념</vt:lpstr>
      <vt:lpstr>PowerPoint 프레젠테이션</vt:lpstr>
      <vt:lpstr>PowerPoint 프레젠테이션</vt:lpstr>
      <vt:lpstr>한반도 및 인근지역에 대한 시뮬레이션 세팅</vt:lpstr>
      <vt:lpstr>한반도 및 인근지역에 대한 시뮬레이션 세팅</vt:lpstr>
      <vt:lpstr>고도 및 궤도 경사각 선정 기준</vt:lpstr>
      <vt:lpstr>고도 및 궤도 경사각 선정 기준</vt:lpstr>
      <vt:lpstr>고도 및 궤도 경사각 선정 기준</vt:lpstr>
      <vt:lpstr>고도 및 궤도 경사각 선정 기준</vt:lpstr>
      <vt:lpstr>고도 및 궤도 경사각 선정 기준</vt:lpstr>
      <vt:lpstr>고도 및 궤도 경사각 선정 기준</vt:lpstr>
      <vt:lpstr>고도 및 궤도 경사각 선정 기준</vt:lpstr>
      <vt:lpstr>새로운 제2의 관심지역 설정</vt:lpstr>
      <vt:lpstr>고도 및 궤도 경사각 선정 기준</vt:lpstr>
      <vt:lpstr>연속관측을 위한 다중 관심지역의 단일 궤도 운용 40˚, 45 ˚, 50 ˚→ (Seoul, Vladivostok) 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연속관측을 위한  다중 관심지역의 다중 궤도 운용 Orbit 1, 2 → (Seoul, Vladivostok) </vt:lpstr>
      <vt:lpstr>Orbit 1, 2 (경사각 : 59, 65˚) → Seoul, Vladivostok</vt:lpstr>
      <vt:lpstr>Orbit 1, 2 (경사각 : 59, 65˚) → Seoul, Vladivostok</vt:lpstr>
      <vt:lpstr>재방문 주기(30분 이내) 적용</vt:lpstr>
      <vt:lpstr>Inc(40˚, 45 ˚, 50 ˚) → Seoul, Vladivostok</vt:lpstr>
      <vt:lpstr>Inc(40˚, 45 ˚, 50 ˚) → Seoul, Vladivostok</vt:lpstr>
      <vt:lpstr>Inc(40˚, 45 ˚, 50 ˚) → Seoul, Vladivostok</vt:lpstr>
      <vt:lpstr>Orbit 1, 2 (경사각 : 59, 65˚) → Seoul, Vladivostok</vt:lpstr>
      <vt:lpstr>세 관측기법의 성능 결과 및 포함 관계</vt:lpstr>
      <vt:lpstr>세 관측기법의 성능 결과 및 포함 관계</vt:lpstr>
      <vt:lpstr>Orbit 1, 2 (경사각 : 59, 65˚)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결론</vt:lpstr>
      <vt:lpstr>결론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Jinjin Lee</cp:lastModifiedBy>
  <cp:revision>4711</cp:revision>
  <dcterms:created xsi:type="dcterms:W3CDTF">2018-01-29T02:45:56Z</dcterms:created>
  <dcterms:modified xsi:type="dcterms:W3CDTF">2024-06-20T15:49:39Z</dcterms:modified>
</cp:coreProperties>
</file>