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50" r:id="rId2"/>
    <p:sldId id="2239" r:id="rId3"/>
    <p:sldId id="2554" r:id="rId4"/>
    <p:sldId id="2565" r:id="rId5"/>
    <p:sldId id="2594" r:id="rId6"/>
    <p:sldId id="2587" r:id="rId7"/>
    <p:sldId id="2598" r:id="rId8"/>
    <p:sldId id="2608" r:id="rId9"/>
    <p:sldId id="2599" r:id="rId10"/>
    <p:sldId id="2601" r:id="rId11"/>
    <p:sldId id="2605" r:id="rId12"/>
    <p:sldId id="2609" r:id="rId13"/>
    <p:sldId id="2600" r:id="rId14"/>
    <p:sldId id="2606" r:id="rId15"/>
    <p:sldId id="2568" r:id="rId16"/>
    <p:sldId id="2602" r:id="rId17"/>
    <p:sldId id="2603" r:id="rId18"/>
    <p:sldId id="2604" r:id="rId19"/>
    <p:sldId id="2607" r:id="rId20"/>
    <p:sldId id="2584" r:id="rId21"/>
    <p:sldId id="2509" r:id="rId22"/>
    <p:sldId id="2510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E46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16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2023-11-01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204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911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77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383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510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902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813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654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786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953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4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84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429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318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919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044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0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0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0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emf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2023-11-01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335842"/>
              </p:ext>
            </p:extLst>
          </p:nvPr>
        </p:nvGraphicFramePr>
        <p:xfrm>
          <a:off x="1495601" y="1029970"/>
          <a:ext cx="7318019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 진행 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결과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5034337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기존의</a:t>
            </a:r>
            <a:r>
              <a:rPr lang="en-US" altLang="ko-KR" dirty="0"/>
              <a:t> </a:t>
            </a:r>
            <a:r>
              <a:rPr lang="ko-KR" altLang="en-US" dirty="0"/>
              <a:t>논문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논문</a:t>
            </a:r>
            <a:endParaRPr lang="en-US" altLang="ko-KR" dirty="0"/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Binary Integer Linear Programming Formulation for Optimal Satellite Constellation Reconfiguration</a:t>
            </a:r>
            <a:r>
              <a:rPr lang="en-US" altLang="ko-KR" b="1" dirty="0">
                <a:solidFill>
                  <a:srgbClr val="1F2328"/>
                </a:solidFill>
              </a:rPr>
              <a:t>”, 2020 AAS/AIAA Astrodynamics Specialist Conference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Quasi-symmetric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의 결과를 비교하는 내용을 중점적으로 다룬 기존의 논문에 비해 더욱 자세한 </a:t>
            </a: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 설계기법의 과정을 수학적으로 제시한 논문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Regional Constellation Reconfiguration Problem: Integer Linear Programming Formulation and </a:t>
            </a:r>
            <a:r>
              <a:rPr lang="en-US" altLang="ko-KR" b="1" u="sng" dirty="0" err="1">
                <a:solidFill>
                  <a:srgbClr val="1F2328"/>
                </a:solidFill>
              </a:rPr>
              <a:t>Lagrangian</a:t>
            </a:r>
            <a:r>
              <a:rPr lang="en-US" altLang="ko-KR" b="1" u="sng" dirty="0">
                <a:solidFill>
                  <a:srgbClr val="1F2328"/>
                </a:solidFill>
              </a:rPr>
              <a:t> Heuristic Method</a:t>
            </a:r>
            <a:r>
              <a:rPr lang="en-US" altLang="ko-KR" b="1" dirty="0">
                <a:solidFill>
                  <a:srgbClr val="1F2328"/>
                </a:solidFill>
              </a:rPr>
              <a:t>”, 2023 Journal of Spacecraft and Rockets 0 0:0, 1-18</a:t>
            </a:r>
          </a:p>
          <a:p>
            <a:pPr lvl="2">
              <a:defRPr/>
            </a:pPr>
            <a:r>
              <a:rPr lang="ko-KR" altLang="en-US" dirty="0"/>
              <a:t>위의 논문에 </a:t>
            </a:r>
            <a:r>
              <a:rPr lang="en-US" altLang="ko-KR" dirty="0" err="1"/>
              <a:t>Lagrangian</a:t>
            </a:r>
            <a:r>
              <a:rPr lang="en-US" altLang="ko-KR" dirty="0"/>
              <a:t> Heuristic Method</a:t>
            </a:r>
            <a:r>
              <a:rPr lang="ko-KR" altLang="en-US" dirty="0"/>
              <a:t>에 관한 내용을 추가한 논문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진행 상황</a:t>
            </a:r>
          </a:p>
        </p:txBody>
      </p:sp>
    </p:spTree>
    <p:extLst>
      <p:ext uri="{BB962C8B-B14F-4D97-AF65-F5344CB8AC3E}">
        <p14:creationId xmlns:p14="http://schemas.microsoft.com/office/powerpoint/2010/main" val="9237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1D9182DA-BA80-B800-0824-4E20FD9D2E56}"/>
              </a:ext>
            </a:extLst>
          </p:cNvPr>
          <p:cNvSpPr/>
          <p:nvPr/>
        </p:nvSpPr>
        <p:spPr bwMode="auto">
          <a:xfrm>
            <a:off x="698863" y="1063911"/>
            <a:ext cx="1766929" cy="503434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Matlab</a:t>
            </a:r>
            <a:r>
              <a:rPr lang="en-US" altLang="ko-KR" dirty="0"/>
              <a:t> Library</a:t>
            </a:r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417D4-9095-4938-3865-2AFBB92ED5B4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3F4853-F2DB-84BA-5523-1510CE2A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7" y="1501115"/>
            <a:ext cx="6678309" cy="4686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6B49DD-F537-E4CB-4730-64F2F1B3516F}"/>
              </a:ext>
            </a:extLst>
          </p:cNvPr>
          <p:cNvSpPr/>
          <p:nvPr/>
        </p:nvSpPr>
        <p:spPr bwMode="auto">
          <a:xfrm>
            <a:off x="2547991" y="4777483"/>
            <a:ext cx="1345915" cy="101268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190955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Matlab</a:t>
            </a:r>
            <a:r>
              <a:rPr lang="en-US" altLang="ko-KR" dirty="0"/>
              <a:t> coding</a:t>
            </a:r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903BD1-7CAE-569A-8888-6625153DC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63" y="1432498"/>
            <a:ext cx="7401273" cy="492452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417D4-9095-4938-3865-2AFBB92ED5B4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066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Matlab</a:t>
            </a:r>
            <a:r>
              <a:rPr lang="en-US" altLang="ko-KR" dirty="0"/>
              <a:t> coding</a:t>
            </a:r>
          </a:p>
          <a:p>
            <a:pPr lvl="2">
              <a:defRPr/>
            </a:pPr>
            <a:endParaRPr lang="en-US" altLang="ko-KR" dirty="0"/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2417D4-9095-4938-3865-2AFBB92ED5B4}"/>
              </a:ext>
            </a:extLst>
          </p:cNvPr>
          <p:cNvSpPr txBox="1"/>
          <p:nvPr/>
        </p:nvSpPr>
        <p:spPr>
          <a:xfrm>
            <a:off x="1582327" y="59080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2B7234-B028-3C70-6BC1-8E53534B0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1" y="1432498"/>
            <a:ext cx="7402715" cy="445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302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err="1"/>
              <a:t>Matlab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939407-1C50-8E38-3D80-4A9351029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53" y="1448657"/>
            <a:ext cx="6292141" cy="49348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704970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029892-7B9B-3966-9166-4BB52FA5C910}"/>
              </a:ext>
            </a:extLst>
          </p:cNvPr>
          <p:cNvSpPr/>
          <p:nvPr/>
        </p:nvSpPr>
        <p:spPr bwMode="auto">
          <a:xfrm>
            <a:off x="257082" y="6364368"/>
            <a:ext cx="3587554" cy="32341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개요</a:t>
            </a:r>
            <a:r>
              <a:rPr lang="en-US" altLang="ko-KR" dirty="0"/>
              <a:t>(APC Composition)</a:t>
            </a:r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858156-6D03-63C1-F896-9878B7D66671}"/>
              </a:ext>
            </a:extLst>
          </p:cNvPr>
          <p:cNvSpPr/>
          <p:nvPr/>
        </p:nvSpPr>
        <p:spPr bwMode="auto">
          <a:xfrm>
            <a:off x="550718" y="3283527"/>
            <a:ext cx="333339" cy="883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F669BD7-5F7D-0C03-C4B6-B7B4B2D05552}"/>
              </a:ext>
            </a:extLst>
          </p:cNvPr>
          <p:cNvGrpSpPr/>
          <p:nvPr/>
        </p:nvGrpSpPr>
        <p:grpSpPr>
          <a:xfrm>
            <a:off x="713703" y="1392425"/>
            <a:ext cx="3858297" cy="4976926"/>
            <a:chOff x="578621" y="1382034"/>
            <a:chExt cx="3858297" cy="49769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2DDC3B7-415F-6FCD-4D1B-3F0A9B2C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439" y="1485901"/>
              <a:ext cx="3644179" cy="2811414"/>
            </a:xfrm>
            <a:prstGeom prst="rect">
              <a:avLst/>
            </a:prstGeom>
            <a:ln>
              <a:noFill/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2A2C498-CC8D-0538-05B1-060C35CB7F0D}"/>
                </a:ext>
              </a:extLst>
            </p:cNvPr>
            <p:cNvSpPr/>
            <p:nvPr/>
          </p:nvSpPr>
          <p:spPr bwMode="auto">
            <a:xfrm>
              <a:off x="578621" y="1382034"/>
              <a:ext cx="3858297" cy="49769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69D6DA8-E288-9925-54CA-38F5798DA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494" y="3474767"/>
              <a:ext cx="3432018" cy="281141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82C6E1A-A53C-0C31-5387-BC880CB6DAA8}"/>
              </a:ext>
            </a:extLst>
          </p:cNvPr>
          <p:cNvSpPr txBox="1"/>
          <p:nvPr/>
        </p:nvSpPr>
        <p:spPr>
          <a:xfrm>
            <a:off x="-387383" y="6416323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AFBFAA5-C586-3184-1134-9D9234288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67" y="3532908"/>
            <a:ext cx="3857625" cy="101558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0E16883-BC1A-ABD8-D0CC-C3E619241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869" y="4454193"/>
            <a:ext cx="3891240" cy="9906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08F9191-5D73-E8BE-50FF-E7C499EF4A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247" y="5391468"/>
            <a:ext cx="3970867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889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개요</a:t>
            </a:r>
            <a:r>
              <a:rPr lang="en-US" altLang="ko-KR" dirty="0"/>
              <a:t>(APC Composition)</a:t>
            </a:r>
          </a:p>
          <a:p>
            <a:pPr marL="396000" lvl="2" indent="0">
              <a:buNone/>
              <a:defRPr/>
            </a:pPr>
            <a:endParaRPr lang="en-US" altLang="ko-KR" dirty="0"/>
          </a:p>
          <a:p>
            <a:pPr lvl="4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90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858156-6D03-63C1-F896-9878B7D66671}"/>
              </a:ext>
            </a:extLst>
          </p:cNvPr>
          <p:cNvSpPr/>
          <p:nvPr/>
        </p:nvSpPr>
        <p:spPr bwMode="auto">
          <a:xfrm>
            <a:off x="550718" y="3283527"/>
            <a:ext cx="333339" cy="883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28A97B-27A5-43C1-4BB7-A42DE22E4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474" y="2089150"/>
            <a:ext cx="4317731" cy="32301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F01646-4DD0-D20F-2BDA-BB7F56D9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21" y="1877291"/>
            <a:ext cx="3629025" cy="3695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B919B8-4BE9-FDBC-97A4-903DBC8F5A1E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6853399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49409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</a:p>
          <a:p>
            <a:pPr lvl="1">
              <a:defRPr/>
            </a:pPr>
            <a:r>
              <a:rPr lang="en-US" altLang="ko-KR" dirty="0"/>
              <a:t>Example (1) : </a:t>
            </a:r>
            <a:r>
              <a:rPr lang="en-US" altLang="ko-KR" b="1" u="sng" dirty="0"/>
              <a:t>single-fold</a:t>
            </a:r>
            <a:r>
              <a:rPr lang="en-US" altLang="ko-KR" dirty="0"/>
              <a:t> continuous coverage over a </a:t>
            </a:r>
            <a:r>
              <a:rPr lang="en-US" altLang="ko-KR" b="1" u="sng" dirty="0"/>
              <a:t>single target point</a:t>
            </a:r>
          </a:p>
          <a:p>
            <a:pPr lvl="1">
              <a:defRPr/>
            </a:pPr>
            <a:r>
              <a:rPr lang="en-US" altLang="ko-KR" dirty="0"/>
              <a:t>Example (2) : time-varying coverage over a single target point</a:t>
            </a:r>
          </a:p>
          <a:p>
            <a:pPr lvl="1">
              <a:defRPr/>
            </a:pPr>
            <a:r>
              <a:rPr lang="en-US" altLang="ko-KR" dirty="0"/>
              <a:t>Example (3) : single-fold continuous coverage over multiple target points</a:t>
            </a:r>
          </a:p>
          <a:p>
            <a:pPr lvl="1">
              <a:defRPr/>
            </a:pPr>
            <a:r>
              <a:rPr lang="en-US" altLang="ko-KR" dirty="0"/>
              <a:t>Example (4) : time-varying and spatially varying coverage over multiple target points</a:t>
            </a:r>
          </a:p>
          <a:p>
            <a:pPr lvl="1">
              <a:defRPr/>
            </a:pPr>
            <a:r>
              <a:rPr lang="en-US" altLang="ko-KR" dirty="0"/>
              <a:t>Example (5) :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over multiple target points</a:t>
            </a:r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5BFAC8-7499-021E-3403-3A739C9E6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287754"/>
              </p:ext>
            </p:extLst>
          </p:nvPr>
        </p:nvGraphicFramePr>
        <p:xfrm>
          <a:off x="818054" y="3279350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[0, 33, 65, 98, 131, 164, 196, 229, 262, 295, 327, 360, 393, 425, 458, 491, 524, 556, 589, 622, 655, 687]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97557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진행상황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F97256D-5BFF-AB9C-032B-50D323FE2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9" y="1683328"/>
            <a:ext cx="3760059" cy="28574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5AE306-4F22-95FC-D5B4-3FAE98828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872" y="1758624"/>
            <a:ext cx="4215245" cy="2736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B9047A-FD0E-FF72-014B-48C68EF1C2BE}"/>
              </a:ext>
            </a:extLst>
          </p:cNvPr>
          <p:cNvSpPr txBox="1"/>
          <p:nvPr/>
        </p:nvSpPr>
        <p:spPr>
          <a:xfrm>
            <a:off x="1348398" y="4649695"/>
            <a:ext cx="2272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Quasi-symmetric method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DB8274-8D29-0B64-FA3E-BBF93B8BCA98}"/>
              </a:ext>
            </a:extLst>
          </p:cNvPr>
          <p:cNvSpPr txBox="1"/>
          <p:nvPr/>
        </p:nvSpPr>
        <p:spPr>
          <a:xfrm>
            <a:off x="6093107" y="4649482"/>
            <a:ext cx="2272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BILP method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3099681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</a:t>
            </a:r>
            <a:r>
              <a:rPr lang="en-US" altLang="ko-KR" dirty="0"/>
              <a:t>flowchart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Flowchart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C5E9F8C1-BD44-0BEC-D5AA-B0F4EC2ABEEB}"/>
              </a:ext>
            </a:extLst>
          </p:cNvPr>
          <p:cNvSpPr/>
          <p:nvPr/>
        </p:nvSpPr>
        <p:spPr bwMode="auto">
          <a:xfrm>
            <a:off x="708917" y="1379088"/>
            <a:ext cx="1575768" cy="386074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152C-B3BE-4DFA-8222-A06B9EA5E663}"/>
              </a:ext>
            </a:extLst>
          </p:cNvPr>
          <p:cNvGrpSpPr/>
          <p:nvPr/>
        </p:nvGrpSpPr>
        <p:grpSpPr>
          <a:xfrm>
            <a:off x="811048" y="1337663"/>
            <a:ext cx="1469204" cy="577081"/>
            <a:chOff x="3657600" y="1046837"/>
            <a:chExt cx="1469204" cy="577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/>
                <p:nvPr/>
              </p:nvSpPr>
              <p:spPr>
                <a:xfrm>
                  <a:off x="3657600" y="1046837"/>
                  <a:ext cx="1469204" cy="5770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Input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,   ,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altLang="ko-KR" sz="1050" dirty="0">
                      <a:solidFill>
                        <a:srgbClr val="1F2328"/>
                      </a:solidFill>
                    </a:rPr>
                    <a:t> ,</a:t>
                  </a:r>
                  <a:r>
                    <a:rPr lang="ko-KR" altLang="en-US" sz="1050" dirty="0">
                      <a:solidFill>
                        <a:srgbClr val="1F2328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050" b="0" i="1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ko-KR" sz="1050" b="0" i="0" smtClean="0">
                          <a:solidFill>
                            <a:srgbClr val="1F232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sz="1050" dirty="0"/>
                        <m:t>œ</m:t>
                      </m:r>
                    </m:oMath>
                  </a14:m>
                  <a:endParaRPr lang="ko-KR" altLang="en-US" sz="1050" dirty="0"/>
                </a:p>
                <a:p>
                  <a:pPr algn="ctr"/>
                  <a:endParaRPr lang="ko-KR" altLang="en-US" sz="105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E9BD2B-3F78-817B-150E-F318CA3EC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1046837"/>
                  <a:ext cx="1469204" cy="5770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66AF33-C1AD-85D8-E109-D9AC9AC6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2627" y="1270927"/>
              <a:ext cx="139325" cy="131794"/>
            </a:xfrm>
            <a:prstGeom prst="rect">
              <a:avLst/>
            </a:prstGeom>
          </p:spPr>
        </p:pic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B560B21-E181-E4A0-A25D-487AEC4379B5}"/>
              </a:ext>
            </a:extLst>
          </p:cNvPr>
          <p:cNvCxnSpPr>
            <a:cxnSpLocks/>
          </p:cNvCxnSpPr>
          <p:nvPr/>
        </p:nvCxnSpPr>
        <p:spPr>
          <a:xfrm>
            <a:off x="1490657" y="1775500"/>
            <a:ext cx="6" cy="25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410DAF64-2F41-486F-FD40-89431A48FA67}"/>
              </a:ext>
            </a:extLst>
          </p:cNvPr>
          <p:cNvSpPr/>
          <p:nvPr/>
        </p:nvSpPr>
        <p:spPr bwMode="auto">
          <a:xfrm>
            <a:off x="942976" y="2028825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/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6A5936-C7BA-40ED-3192-B64CABE6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13" y="2181466"/>
                <a:ext cx="786112" cy="182871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F77E666-26AD-B916-30C5-B8943DAD6EFC}"/>
              </a:ext>
            </a:extLst>
          </p:cNvPr>
          <p:cNvCxnSpPr>
            <a:cxnSpLocks/>
          </p:cNvCxnSpPr>
          <p:nvPr/>
        </p:nvCxnSpPr>
        <p:spPr>
          <a:xfrm>
            <a:off x="1490657" y="2577924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7421B-BDB8-85FD-473F-875BDBEBC522}"/>
              </a:ext>
            </a:extLst>
          </p:cNvPr>
          <p:cNvCxnSpPr>
            <a:cxnSpLocks/>
          </p:cNvCxnSpPr>
          <p:nvPr/>
        </p:nvCxnSpPr>
        <p:spPr>
          <a:xfrm>
            <a:off x="2039522" y="2301699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D505CA-00A6-728C-DBE2-CB257FC56A8F}"/>
              </a:ext>
            </a:extLst>
          </p:cNvPr>
          <p:cNvSpPr txBox="1"/>
          <p:nvPr/>
        </p:nvSpPr>
        <p:spPr>
          <a:xfrm>
            <a:off x="1471613" y="258656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1CB6-9C1B-AE3A-C82E-F07D0F905491}"/>
              </a:ext>
            </a:extLst>
          </p:cNvPr>
          <p:cNvSpPr txBox="1"/>
          <p:nvPr/>
        </p:nvSpPr>
        <p:spPr>
          <a:xfrm>
            <a:off x="1928512" y="2072555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A8F0E-C81E-CC71-99E3-AA0A4C6B1F13}"/>
              </a:ext>
            </a:extLst>
          </p:cNvPr>
          <p:cNvSpPr/>
          <p:nvPr/>
        </p:nvSpPr>
        <p:spPr bwMode="auto">
          <a:xfrm>
            <a:off x="2312162" y="2056856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EECEB8-8D06-1F3F-6B32-FDBD9128C1C0}"/>
              </a:ext>
            </a:extLst>
          </p:cNvPr>
          <p:cNvSpPr txBox="1"/>
          <p:nvPr/>
        </p:nvSpPr>
        <p:spPr>
          <a:xfrm>
            <a:off x="2241659" y="2167871"/>
            <a:ext cx="1469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1F2328"/>
                </a:solidFill>
              </a:rPr>
              <a:t>Satellite invisible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051509-1E88-EB12-A776-B801B91FE1E2}"/>
              </a:ext>
            </a:extLst>
          </p:cNvPr>
          <p:cNvSpPr/>
          <p:nvPr/>
        </p:nvSpPr>
        <p:spPr bwMode="auto">
          <a:xfrm>
            <a:off x="708437" y="2897044"/>
            <a:ext cx="1554926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/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050" dirty="0"/>
                  <a:t> </a:t>
                </a:r>
                <a:r>
                  <a:rPr lang="en-US" altLang="ko-KR" sz="1050" dirty="0"/>
                  <a:t>: </a:t>
                </a:r>
              </a:p>
              <a:p>
                <a:pPr algn="ctr"/>
                <a:r>
                  <a:rPr lang="en-US" altLang="ko-KR" sz="1050" dirty="0"/>
                  <a:t>Access profile Saved</a:t>
                </a:r>
                <a:endParaRPr lang="ko-KR" alt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38C3C-B62F-A938-0588-55416DE6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2" y="2916094"/>
                <a:ext cx="1893621" cy="444481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AFD061C-8B01-D6DD-700D-166F0376FE0A}"/>
              </a:ext>
            </a:extLst>
          </p:cNvPr>
          <p:cNvCxnSpPr>
            <a:cxnSpLocks/>
          </p:cNvCxnSpPr>
          <p:nvPr/>
        </p:nvCxnSpPr>
        <p:spPr>
          <a:xfrm>
            <a:off x="1490657" y="342332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다이아몬드 31">
            <a:extLst>
              <a:ext uri="{FF2B5EF4-FFF2-40B4-BE49-F238E27FC236}">
                <a16:creationId xmlns:a16="http://schemas.microsoft.com/office/drawing/2014/main" id="{6C8DBC0A-D168-2684-29D7-6569B3290794}"/>
              </a:ext>
            </a:extLst>
          </p:cNvPr>
          <p:cNvSpPr/>
          <p:nvPr/>
        </p:nvSpPr>
        <p:spPr bwMode="auto">
          <a:xfrm>
            <a:off x="942970" y="3733921"/>
            <a:ext cx="1076324" cy="549099"/>
          </a:xfrm>
          <a:prstGeom prst="diamond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/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DF665B-6D87-409F-4FA4-C88DBF6C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832" y="3924662"/>
                <a:ext cx="786112" cy="169277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1BF00F4-11F8-3AF7-61A4-00FEBAC19E06}"/>
              </a:ext>
            </a:extLst>
          </p:cNvPr>
          <p:cNvCxnSpPr>
            <a:cxnSpLocks/>
          </p:cNvCxnSpPr>
          <p:nvPr/>
        </p:nvCxnSpPr>
        <p:spPr>
          <a:xfrm>
            <a:off x="2035937" y="4014241"/>
            <a:ext cx="2619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7B600A5-CA1F-1A30-BD3E-FAFD91BF2262}"/>
              </a:ext>
            </a:extLst>
          </p:cNvPr>
          <p:cNvSpPr txBox="1"/>
          <p:nvPr/>
        </p:nvSpPr>
        <p:spPr>
          <a:xfrm>
            <a:off x="1934452" y="3785097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8E7AC68-193F-16F3-0AE0-FD6E91927ECA}"/>
              </a:ext>
            </a:extLst>
          </p:cNvPr>
          <p:cNvSpPr/>
          <p:nvPr/>
        </p:nvSpPr>
        <p:spPr bwMode="auto">
          <a:xfrm>
            <a:off x="2312162" y="3757829"/>
            <a:ext cx="1307338" cy="5141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/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050" dirty="0">
                    <a:solidFill>
                      <a:srgbClr val="1F2328"/>
                    </a:solidFill>
                  </a:rPr>
                  <a:t> : </a:t>
                </a:r>
              </a:p>
              <a:p>
                <a:pPr algn="ctr"/>
                <a:r>
                  <a:rPr lang="en-US" altLang="ko-KR" sz="1050" dirty="0">
                    <a:solidFill>
                      <a:srgbClr val="1F2328"/>
                    </a:solidFill>
                  </a:rPr>
                  <a:t>Seed Satellite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2B348-8064-DCB1-E57D-A6738E0BE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62" y="3782917"/>
                <a:ext cx="1307338" cy="444481"/>
              </a:xfrm>
              <a:prstGeom prst="rect">
                <a:avLst/>
              </a:prstGeom>
              <a:blipFill>
                <a:blip r:embed="rId8"/>
                <a:stretch>
                  <a:fillRect t="-1389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4DAEAD-5BC8-5AAF-C8A6-42DE45B0995C}"/>
              </a:ext>
            </a:extLst>
          </p:cNvPr>
          <p:cNvCxnSpPr>
            <a:cxnSpLocks/>
          </p:cNvCxnSpPr>
          <p:nvPr/>
        </p:nvCxnSpPr>
        <p:spPr>
          <a:xfrm>
            <a:off x="2972905" y="4269603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58D1CD20-DFE2-FB67-E010-124BE3B1EA39}"/>
              </a:ext>
            </a:extLst>
          </p:cNvPr>
          <p:cNvSpPr/>
          <p:nvPr/>
        </p:nvSpPr>
        <p:spPr bwMode="auto">
          <a:xfrm>
            <a:off x="2434743" y="4580948"/>
            <a:ext cx="1076324" cy="549099"/>
          </a:xfrm>
          <a:prstGeom prst="diamond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/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3B3A6A5-8B18-3EE3-8449-D25C0598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25" y="4760584"/>
                <a:ext cx="786112" cy="169277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C942F0F5-5F59-4EC9-EA0F-6D4DB67970D5}"/>
              </a:ext>
            </a:extLst>
          </p:cNvPr>
          <p:cNvCxnSpPr>
            <a:cxnSpLocks/>
            <a:stCxn id="39" idx="3"/>
            <a:endCxn id="37" idx="3"/>
          </p:cNvCxnSpPr>
          <p:nvPr/>
        </p:nvCxnSpPr>
        <p:spPr>
          <a:xfrm flipV="1">
            <a:off x="3511067" y="4005158"/>
            <a:ext cx="108433" cy="850340"/>
          </a:xfrm>
          <a:prstGeom prst="bentConnector3">
            <a:avLst>
              <a:gd name="adj1" fmla="val 699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6D2F8B3-61CF-237D-0594-EBE799999CA4}"/>
              </a:ext>
            </a:extLst>
          </p:cNvPr>
          <p:cNvSpPr txBox="1"/>
          <p:nvPr/>
        </p:nvSpPr>
        <p:spPr>
          <a:xfrm>
            <a:off x="3604278" y="3775553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/>
              <p:nvPr/>
            </p:nvSpPr>
            <p:spPr>
              <a:xfrm>
                <a:off x="3670415" y="3794603"/>
                <a:ext cx="78611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4EE27B-4B35-86E8-149D-F0C78696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15" y="3794603"/>
                <a:ext cx="786112" cy="153888"/>
              </a:xfrm>
              <a:prstGeom prst="rect">
                <a:avLst/>
              </a:prstGeom>
              <a:blipFill>
                <a:blip r:embed="rId10"/>
                <a:stretch>
                  <a:fillRect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2126F68-9905-DE64-71D1-7D4DE2A6A5CE}"/>
              </a:ext>
            </a:extLst>
          </p:cNvPr>
          <p:cNvSpPr txBox="1"/>
          <p:nvPr/>
        </p:nvSpPr>
        <p:spPr>
          <a:xfrm>
            <a:off x="2956306" y="512621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2FBA164-89CB-7E2E-901C-BACA478C1071}"/>
              </a:ext>
            </a:extLst>
          </p:cNvPr>
          <p:cNvCxnSpPr>
            <a:cxnSpLocks/>
          </p:cNvCxnSpPr>
          <p:nvPr/>
        </p:nvCxnSpPr>
        <p:spPr>
          <a:xfrm>
            <a:off x="2965438" y="5141365"/>
            <a:ext cx="0" cy="300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/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Coverage Timeline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0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=1,2, …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70" name="순서도: 처리 69">
                <a:extLst>
                  <a:ext uri="{FF2B5EF4-FFF2-40B4-BE49-F238E27FC236}">
                    <a16:creationId xmlns:a16="http://schemas.microsoft.com/office/drawing/2014/main" id="{D56F3536-99A6-CBB4-6C7D-A36AA8064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969" y="5458801"/>
                <a:ext cx="2727445" cy="814409"/>
              </a:xfrm>
              <a:prstGeom prst="flowChartProcess">
                <a:avLst/>
              </a:prstGeom>
              <a:blipFill>
                <a:blip r:embed="rId11"/>
                <a:stretch>
                  <a:fillRect t="-30147" b="-8676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/>
              <p:nvPr/>
            </p:nvSpPr>
            <p:spPr bwMode="auto">
              <a:xfrm>
                <a:off x="703675" y="4635153"/>
                <a:ext cx="1554926" cy="42350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0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=1, 2, … , 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50" dirty="0"/>
                  <a:t> :</a:t>
                </a:r>
              </a:p>
              <a:p>
                <a:pPr algn="ctr"/>
                <a:r>
                  <a:rPr lang="en-US" altLang="ko-KR" sz="1050" dirty="0"/>
                  <a:t>Normal Satellite </a:t>
                </a:r>
              </a:p>
              <a:p>
                <a:pPr algn="l"/>
                <a:endParaRPr lang="ko-KR" altLang="en-US" sz="1050" dirty="0"/>
              </a:p>
            </p:txBody>
          </p:sp>
        </mc:Choice>
        <mc:Fallback xmlns="">
          <p:sp>
            <p:nvSpPr>
              <p:cNvPr id="71" name="순서도: 처리 70">
                <a:extLst>
                  <a:ext uri="{FF2B5EF4-FFF2-40B4-BE49-F238E27FC236}">
                    <a16:creationId xmlns:a16="http://schemas.microsoft.com/office/drawing/2014/main" id="{ECF4ED11-577A-A4FC-E1DA-E67193FFD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675" y="4635153"/>
                <a:ext cx="1554926" cy="423504"/>
              </a:xfrm>
              <a:prstGeom prst="flowChartProcess">
                <a:avLst/>
              </a:prstGeom>
              <a:blipFill>
                <a:blip r:embed="rId12"/>
                <a:stretch>
                  <a:fillRect b="-5556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A571695-8E3B-B0B7-3D03-184E71CFD9FB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481138" y="4296103"/>
            <a:ext cx="0" cy="33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FCECAD1-A06C-C8E4-5DC9-279FF09D3EA4}"/>
              </a:ext>
            </a:extLst>
          </p:cNvPr>
          <p:cNvSpPr txBox="1"/>
          <p:nvPr/>
        </p:nvSpPr>
        <p:spPr>
          <a:xfrm>
            <a:off x="1469820" y="4322744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35A5DE9-4EF1-B86F-1642-ED07C411810B}"/>
              </a:ext>
            </a:extLst>
          </p:cNvPr>
          <p:cNvCxnSpPr>
            <a:cxnSpLocks/>
          </p:cNvCxnSpPr>
          <p:nvPr/>
        </p:nvCxnSpPr>
        <p:spPr>
          <a:xfrm>
            <a:off x="1487932" y="5058657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그림 81">
            <a:extLst>
              <a:ext uri="{FF2B5EF4-FFF2-40B4-BE49-F238E27FC236}">
                <a16:creationId xmlns:a16="http://schemas.microsoft.com/office/drawing/2014/main" id="{DD1BFD4B-78FB-538C-1FF4-C6AA95A3D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734" y="5899628"/>
            <a:ext cx="139325" cy="131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/>
              <p:nvPr/>
            </p:nvSpPr>
            <p:spPr>
              <a:xfrm>
                <a:off x="2996625" y="5832055"/>
                <a:ext cx="31434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939265-A1A3-DCCF-0F2F-B54971A1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625" y="5832055"/>
                <a:ext cx="314347" cy="261610"/>
              </a:xfrm>
              <a:prstGeom prst="rect">
                <a:avLst/>
              </a:prstGeom>
              <a:blipFill>
                <a:blip r:embed="rId1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F3A83EE-7407-E256-3893-E5D0803218E7}"/>
              </a:ext>
            </a:extLst>
          </p:cNvPr>
          <p:cNvGrpSpPr/>
          <p:nvPr/>
        </p:nvGrpSpPr>
        <p:grpSpPr>
          <a:xfrm>
            <a:off x="3671144" y="1674661"/>
            <a:ext cx="1653331" cy="3906397"/>
            <a:chOff x="3528269" y="1503716"/>
            <a:chExt cx="1653331" cy="4258318"/>
          </a:xfrm>
        </p:grpSpPr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B51ECBE8-556F-1CDC-6C85-EE6AE8E9E77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21381" y="3111415"/>
              <a:ext cx="4257507" cy="1043732"/>
            </a:xfrm>
            <a:prstGeom prst="bentConnector3">
              <a:avLst>
                <a:gd name="adj1" fmla="val -33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F2299729-A1E0-7DBA-F792-AB2C8C4C8838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1503716"/>
              <a:ext cx="609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2D10448-1B45-D26E-E616-00CBB195E4ED}"/>
              </a:ext>
            </a:extLst>
          </p:cNvPr>
          <p:cNvCxnSpPr>
            <a:cxnSpLocks/>
          </p:cNvCxnSpPr>
          <p:nvPr/>
        </p:nvCxnSpPr>
        <p:spPr>
          <a:xfrm>
            <a:off x="3670414" y="5960315"/>
            <a:ext cx="314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다이아몬드 111">
            <a:extLst>
              <a:ext uri="{FF2B5EF4-FFF2-40B4-BE49-F238E27FC236}">
                <a16:creationId xmlns:a16="http://schemas.microsoft.com/office/drawing/2014/main" id="{5CEF9EC6-1469-252D-D11A-BA83A25D1A7B}"/>
              </a:ext>
            </a:extLst>
          </p:cNvPr>
          <p:cNvSpPr/>
          <p:nvPr/>
        </p:nvSpPr>
        <p:spPr bwMode="auto">
          <a:xfrm>
            <a:off x="3993348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D6FDEBC0-7B1D-76B5-933E-F84F421010F7}"/>
              </a:ext>
            </a:extLst>
          </p:cNvPr>
          <p:cNvCxnSpPr>
            <a:cxnSpLocks/>
          </p:cNvCxnSpPr>
          <p:nvPr/>
        </p:nvCxnSpPr>
        <p:spPr>
          <a:xfrm>
            <a:off x="5069672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다이아몬드 115">
            <a:extLst>
              <a:ext uri="{FF2B5EF4-FFF2-40B4-BE49-F238E27FC236}">
                <a16:creationId xmlns:a16="http://schemas.microsoft.com/office/drawing/2014/main" id="{10B7E944-1873-7D68-4383-14AE8FFB5712}"/>
              </a:ext>
            </a:extLst>
          </p:cNvPr>
          <p:cNvSpPr/>
          <p:nvPr/>
        </p:nvSpPr>
        <p:spPr bwMode="auto">
          <a:xfrm>
            <a:off x="5419725" y="5688347"/>
            <a:ext cx="1076324" cy="54909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7D78A9B8-92BF-55C4-5AD2-ABC55CCF5188}"/>
              </a:ext>
            </a:extLst>
          </p:cNvPr>
          <p:cNvCxnSpPr>
            <a:cxnSpLocks/>
          </p:cNvCxnSpPr>
          <p:nvPr/>
        </p:nvCxnSpPr>
        <p:spPr>
          <a:xfrm>
            <a:off x="6496049" y="5960315"/>
            <a:ext cx="35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/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D9025BE-7174-A2BD-247C-ACB965E3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69" y="5875676"/>
                <a:ext cx="786112" cy="169277"/>
              </a:xfrm>
              <a:prstGeom prst="rect">
                <a:avLst/>
              </a:prstGeom>
              <a:blipFill>
                <a:blip r:embed="rId14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/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574C8AB-1D12-BA0C-F70A-6D4399BF0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8" y="5875676"/>
                <a:ext cx="786112" cy="169277"/>
              </a:xfrm>
              <a:prstGeom prst="rect">
                <a:avLst/>
              </a:prstGeom>
              <a:blipFill>
                <a:blip r:embed="rId15"/>
                <a:stretch>
                  <a:fillRect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5957841-4DF3-D164-B00E-6EC43D5F94D8}"/>
              </a:ext>
            </a:extLst>
          </p:cNvPr>
          <p:cNvSpPr txBox="1"/>
          <p:nvPr/>
        </p:nvSpPr>
        <p:spPr>
          <a:xfrm>
            <a:off x="4505325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006794B-BE68-E121-42CD-FA0828D802EA}"/>
              </a:ext>
            </a:extLst>
          </p:cNvPr>
          <p:cNvCxnSpPr>
            <a:cxnSpLocks/>
          </p:cNvCxnSpPr>
          <p:nvPr/>
        </p:nvCxnSpPr>
        <p:spPr>
          <a:xfrm>
            <a:off x="4535005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A2A4B6F-33C4-CF8F-F885-C1BA25CC9970}"/>
              </a:ext>
            </a:extLst>
          </p:cNvPr>
          <p:cNvSpPr txBox="1"/>
          <p:nvPr/>
        </p:nvSpPr>
        <p:spPr>
          <a:xfrm>
            <a:off x="5920340" y="6192046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Yes</a:t>
            </a:r>
            <a:endParaRPr lang="ko-KR" altLang="en-US" sz="8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3A967B5F-81E0-F1C3-56EF-DAB051B3A3A4}"/>
              </a:ext>
            </a:extLst>
          </p:cNvPr>
          <p:cNvCxnSpPr>
            <a:cxnSpLocks/>
          </p:cNvCxnSpPr>
          <p:nvPr/>
        </p:nvCxnSpPr>
        <p:spPr>
          <a:xfrm>
            <a:off x="5950020" y="6244543"/>
            <a:ext cx="0" cy="201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/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Satellite invisible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(at the 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6C732E4-32D7-16D5-D372-0D5D5F50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98" y="6481262"/>
                <a:ext cx="962024" cy="338554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AF4C3AF2-345B-5D27-4A31-513566DB757A}"/>
              </a:ext>
            </a:extLst>
          </p:cNvPr>
          <p:cNvSpPr txBox="1"/>
          <p:nvPr/>
        </p:nvSpPr>
        <p:spPr>
          <a:xfrm>
            <a:off x="5487587" y="6524287"/>
            <a:ext cx="962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1F2328"/>
                </a:solidFill>
              </a:rPr>
              <a:t>Single fold</a:t>
            </a:r>
            <a:endParaRPr lang="ko-KR" altLang="en-US" sz="8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52BA1A9-74E6-2297-8AE7-631DD16200A4}"/>
              </a:ext>
            </a:extLst>
          </p:cNvPr>
          <p:cNvSpPr txBox="1"/>
          <p:nvPr/>
        </p:nvSpPr>
        <p:spPr>
          <a:xfrm>
            <a:off x="5050914" y="575265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5ED955-EC6E-A2FF-2DBF-5127008EE590}"/>
              </a:ext>
            </a:extLst>
          </p:cNvPr>
          <p:cNvSpPr txBox="1"/>
          <p:nvPr/>
        </p:nvSpPr>
        <p:spPr>
          <a:xfrm>
            <a:off x="6479955" y="5758429"/>
            <a:ext cx="381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1F2328"/>
                </a:solidFill>
              </a:rPr>
              <a:t>No</a:t>
            </a:r>
            <a:endParaRPr lang="ko-KR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/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-fold</a:t>
                </a:r>
              </a:p>
              <a:p>
                <a:pPr algn="ctr"/>
                <a:r>
                  <a:rPr lang="en-US" altLang="ko-KR" sz="800" dirty="0">
                    <a:solidFill>
                      <a:srgbClr val="1F2328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800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 = 2, 3,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800" dirty="0">
                    <a:solidFill>
                      <a:srgbClr val="1F2328"/>
                    </a:solidFill>
                  </a:rPr>
                  <a:t>)</a:t>
                </a:r>
                <a:endParaRPr lang="ko-KR" altLang="en-US" sz="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6D9E05A-9A0D-9D29-5B0F-02048F3DC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770" y="5830364"/>
                <a:ext cx="981169" cy="338554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/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1200" dirty="0"/>
                  <a:t>For all Target points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ko-KR" altLang="en-US" sz="105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ko-KR" sz="105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ko-KR" altLang="en-US" sz="1050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altLang="ko-K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0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30" name="순서도: 처리 129">
                <a:extLst>
                  <a:ext uri="{FF2B5EF4-FFF2-40B4-BE49-F238E27FC236}">
                    <a16:creationId xmlns:a16="http://schemas.microsoft.com/office/drawing/2014/main" id="{08C12F76-C4C5-F520-BE2F-95A5D9778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3502" y="1359717"/>
                <a:ext cx="2727445" cy="686774"/>
              </a:xfrm>
              <a:prstGeom prst="flowChartProcess">
                <a:avLst/>
              </a:prstGeom>
              <a:blipFill>
                <a:blip r:embed="rId18"/>
                <a:stretch>
                  <a:fillRect t="-51304" b="-10521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" name="그림 131">
            <a:extLst>
              <a:ext uri="{FF2B5EF4-FFF2-40B4-BE49-F238E27FC236}">
                <a16:creationId xmlns:a16="http://schemas.microsoft.com/office/drawing/2014/main" id="{C14D2BF7-BD61-2F16-0CB8-377D48D17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57" y="1683143"/>
            <a:ext cx="139325" cy="131794"/>
          </a:xfrm>
          <a:prstGeom prst="rect">
            <a:avLst/>
          </a:prstGeom>
        </p:spPr>
      </p:pic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308B0BE-0C20-A423-1907-DDA65C2A57F8}"/>
              </a:ext>
            </a:extLst>
          </p:cNvPr>
          <p:cNvSpPr/>
          <p:nvPr/>
        </p:nvSpPr>
        <p:spPr bwMode="auto">
          <a:xfrm>
            <a:off x="229041" y="1455346"/>
            <a:ext cx="319320" cy="48178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EDC927C-457D-EA3B-F1AF-83E4CED9C430}"/>
              </a:ext>
            </a:extLst>
          </p:cNvPr>
          <p:cNvSpPr/>
          <p:nvPr/>
        </p:nvSpPr>
        <p:spPr bwMode="auto">
          <a:xfrm>
            <a:off x="541122" y="1323552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51F465B-CA6E-C2EC-AC48-948C5DBD96D9}"/>
              </a:ext>
            </a:extLst>
          </p:cNvPr>
          <p:cNvSpPr/>
          <p:nvPr/>
        </p:nvSpPr>
        <p:spPr bwMode="auto">
          <a:xfrm rot="10800000">
            <a:off x="8434549" y="1561752"/>
            <a:ext cx="319320" cy="327501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FE32F2D-82E4-B1EE-B854-2ADB78E14188}"/>
              </a:ext>
            </a:extLst>
          </p:cNvPr>
          <p:cNvSpPr/>
          <p:nvPr/>
        </p:nvSpPr>
        <p:spPr bwMode="auto">
          <a:xfrm>
            <a:off x="8397180" y="1197127"/>
            <a:ext cx="86965" cy="498210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613041E-BE58-7841-B37E-26A362B8E012}"/>
              </a:ext>
            </a:extLst>
          </p:cNvPr>
          <p:cNvSpPr/>
          <p:nvPr/>
        </p:nvSpPr>
        <p:spPr bwMode="auto">
          <a:xfrm>
            <a:off x="41298" y="354330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09B86F-B3C0-914B-CD0E-20BB112879D7}"/>
              </a:ext>
            </a:extLst>
          </p:cNvPr>
          <p:cNvSpPr txBox="1"/>
          <p:nvPr/>
        </p:nvSpPr>
        <p:spPr>
          <a:xfrm>
            <a:off x="-238504" y="365293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Single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point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3DA9546-3C92-6F3F-BF0C-C25BC0FE5F95}"/>
              </a:ext>
            </a:extLst>
          </p:cNvPr>
          <p:cNvSpPr/>
          <p:nvPr/>
        </p:nvSpPr>
        <p:spPr bwMode="auto">
          <a:xfrm>
            <a:off x="8570270" y="2843160"/>
            <a:ext cx="446343" cy="829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57F7FD-3851-0A57-8A66-6EA19DD29067}"/>
              </a:ext>
            </a:extLst>
          </p:cNvPr>
          <p:cNvSpPr txBox="1"/>
          <p:nvPr/>
        </p:nvSpPr>
        <p:spPr>
          <a:xfrm>
            <a:off x="8290468" y="2952790"/>
            <a:ext cx="9696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Multiple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Target </a:t>
            </a:r>
          </a:p>
          <a:p>
            <a:pPr algn="ctr"/>
            <a:r>
              <a:rPr lang="en-US" altLang="ko-KR" sz="1050" dirty="0">
                <a:solidFill>
                  <a:srgbClr val="0070C0"/>
                </a:solidFill>
              </a:rPr>
              <a:t>points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C660ED55-83CA-BA31-5AB1-FE3833E0CC78}"/>
              </a:ext>
            </a:extLst>
          </p:cNvPr>
          <p:cNvCxnSpPr>
            <a:cxnSpLocks/>
          </p:cNvCxnSpPr>
          <p:nvPr/>
        </p:nvCxnSpPr>
        <p:spPr>
          <a:xfrm>
            <a:off x="5967843" y="2046491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878576A-4DF7-994A-F0D2-6A9C8D5149D2}"/>
              </a:ext>
            </a:extLst>
          </p:cNvPr>
          <p:cNvCxnSpPr>
            <a:cxnSpLocks/>
          </p:cNvCxnSpPr>
          <p:nvPr/>
        </p:nvCxnSpPr>
        <p:spPr>
          <a:xfrm>
            <a:off x="7501523" y="2040733"/>
            <a:ext cx="2725" cy="373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/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dirty="0"/>
                  <a:t>Coverage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/>
                  <a:t> =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1200" dirty="0"/>
                  <a:t>  </a:t>
                </a:r>
              </a:p>
            </p:txBody>
          </p:sp>
        </mc:Choice>
        <mc:Fallback xmlns="">
          <p:sp>
            <p:nvSpPr>
              <p:cNvPr id="157" name="순서도: 처리 156">
                <a:extLst>
                  <a:ext uri="{FF2B5EF4-FFF2-40B4-BE49-F238E27FC236}">
                    <a16:creationId xmlns:a16="http://schemas.microsoft.com/office/drawing/2014/main" id="{6A214227-4540-EBEB-7971-73D710863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1656" y="2425134"/>
                <a:ext cx="1338432" cy="850551"/>
              </a:xfrm>
              <a:prstGeom prst="flowChartProcess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/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BADF9A3-7CB0-E480-4EB4-4BB6F2D76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097" y="2708952"/>
                <a:ext cx="625622" cy="525208"/>
              </a:xfrm>
              <a:prstGeom prst="rect">
                <a:avLst/>
              </a:prstGeom>
              <a:blipFill>
                <a:blip r:embed="rId20"/>
                <a:stretch>
                  <a:fillRect l="-61165" t="-86207" r="-65049" b="-1367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4E472D3-9D69-EEC7-F4D6-47A467AA5FC5}"/>
              </a:ext>
            </a:extLst>
          </p:cNvPr>
          <p:cNvSpPr/>
          <p:nvPr/>
        </p:nvSpPr>
        <p:spPr bwMode="auto">
          <a:xfrm>
            <a:off x="6700464" y="2424392"/>
            <a:ext cx="1639845" cy="849083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200000"/>
              </a:lnSpc>
            </a:pP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/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pt-BR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9395F199-9AC6-26C1-3450-28BA2A2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377" y="2717445"/>
                <a:ext cx="1078935" cy="525208"/>
              </a:xfrm>
              <a:prstGeom prst="rect">
                <a:avLst/>
              </a:prstGeom>
              <a:blipFill>
                <a:blip r:embed="rId21"/>
                <a:stretch>
                  <a:fillRect l="-36723" t="-87209" r="-64972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/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altLang="ko-KR" sz="1200" dirty="0"/>
                  <a:t>      Cost :</a:t>
                </a:r>
                <a:endParaRPr lang="en-US" altLang="ko-KR" sz="1100" dirty="0"/>
              </a:p>
              <a:p>
                <a:pPr>
                  <a:lnSpc>
                    <a:spcPct val="200000"/>
                  </a:lnSpc>
                </a:pPr>
                <a:r>
                  <a:rPr lang="pt-BR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=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5B8EEBC-2FD9-20B0-2CAA-8382D53AC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26" y="2357186"/>
                <a:ext cx="1454392" cy="772712"/>
              </a:xfrm>
              <a:prstGeom prst="rect">
                <a:avLst/>
              </a:prstGeom>
              <a:blipFill>
                <a:blip r:embed="rId2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/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/>
                  <a:t> 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68" name="순서도: 처리 167">
                <a:extLst>
                  <a:ext uri="{FF2B5EF4-FFF2-40B4-BE49-F238E27FC236}">
                    <a16:creationId xmlns:a16="http://schemas.microsoft.com/office/drawing/2014/main" id="{0E43260F-1A26-9884-4A8E-05BA08ED3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851" y="3556732"/>
                <a:ext cx="2727445" cy="398193"/>
              </a:xfrm>
              <a:prstGeom prst="flowChartProcess">
                <a:avLst/>
              </a:prstGeom>
              <a:blipFill>
                <a:blip r:embed="rId2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CF72728C-D71D-850A-8331-B49F5204C48B}"/>
              </a:ext>
            </a:extLst>
          </p:cNvPr>
          <p:cNvCxnSpPr>
            <a:cxnSpLocks/>
          </p:cNvCxnSpPr>
          <p:nvPr/>
        </p:nvCxnSpPr>
        <p:spPr>
          <a:xfrm>
            <a:off x="5966215" y="3279256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D14D4DA0-DF1B-8C5B-54D2-323FC7E5942D}"/>
              </a:ext>
            </a:extLst>
          </p:cNvPr>
          <p:cNvCxnSpPr>
            <a:cxnSpLocks/>
          </p:cNvCxnSpPr>
          <p:nvPr/>
        </p:nvCxnSpPr>
        <p:spPr>
          <a:xfrm>
            <a:off x="7516570" y="3279255"/>
            <a:ext cx="0" cy="275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655F1BC2-571B-A918-E663-73A19E3F61E0}"/>
              </a:ext>
            </a:extLst>
          </p:cNvPr>
          <p:cNvCxnSpPr>
            <a:cxnSpLocks/>
          </p:cNvCxnSpPr>
          <p:nvPr/>
        </p:nvCxnSpPr>
        <p:spPr>
          <a:xfrm>
            <a:off x="6771185" y="3955747"/>
            <a:ext cx="0" cy="340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B2FB661E-1CBA-2ACD-8E7E-BF1DC422BFD8}"/>
              </a:ext>
            </a:extLst>
          </p:cNvPr>
          <p:cNvSpPr/>
          <p:nvPr/>
        </p:nvSpPr>
        <p:spPr bwMode="auto">
          <a:xfrm>
            <a:off x="5353501" y="4316773"/>
            <a:ext cx="2751197" cy="6764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/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ko-KR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DF2DB0D-9034-3EB7-261E-F9C354B0E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642" y="4398761"/>
                <a:ext cx="2036895" cy="438005"/>
              </a:xfrm>
              <a:prstGeom prst="rect">
                <a:avLst/>
              </a:prstGeom>
              <a:blipFill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/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      </m:t>
                      </m:r>
                      <m:nary>
                        <m:naryPr>
                          <m:chr m:val="∑"/>
                          <m:ctrlPr>
                            <a:rPr lang="pt-BR" altLang="ko-KR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4880BACA-8FC6-8575-E985-95DB17EB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228" y="4381660"/>
                <a:ext cx="1078935" cy="525208"/>
              </a:xfrm>
              <a:prstGeom prst="rect">
                <a:avLst/>
              </a:prstGeom>
              <a:blipFill>
                <a:blip r:embed="rId25"/>
                <a:stretch>
                  <a:fillRect l="-10169" t="-87209" r="-39548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/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56000" lvl="4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A481BAA-9F64-47AB-9970-92A19B13C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996" y="4502526"/>
                <a:ext cx="538658" cy="276999"/>
              </a:xfrm>
              <a:prstGeom prst="rect">
                <a:avLst/>
              </a:prstGeom>
              <a:blipFill>
                <a:blip r:embed="rId26"/>
                <a:stretch>
                  <a:fillRect r="-955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/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sz="1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6D8249C8-E992-4B43-F94E-E509D1A00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981" y="4370329"/>
                <a:ext cx="625622" cy="525208"/>
              </a:xfrm>
              <a:prstGeom prst="rect">
                <a:avLst/>
              </a:prstGeom>
              <a:blipFill>
                <a:blip r:embed="rId27"/>
                <a:stretch>
                  <a:fillRect l="-63725" t="-87209" r="-64706" b="-1395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87304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 APC Decomposition </a:t>
            </a:r>
            <a:r>
              <a:rPr lang="ko-KR" altLang="en-US" dirty="0"/>
              <a:t>검증 과정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1.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</a:p>
          <a:p>
            <a:pPr lvl="6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105000" lvl="7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0803EF-3B42-7B4E-BE36-A69338865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960850"/>
            <a:ext cx="5229225" cy="1419225"/>
          </a:xfrm>
          <a:prstGeom prst="rect">
            <a:avLst/>
          </a:prstGeom>
          <a:ln>
            <a:noFill/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D0A944D-6FE1-8D8F-10E8-0E1853953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62" y="3549992"/>
            <a:ext cx="6174893" cy="15906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D317EA-AC94-F125-CEC2-ABDFD7DC6AD8}"/>
              </a:ext>
            </a:extLst>
          </p:cNvPr>
          <p:cNvSpPr txBox="1"/>
          <p:nvPr/>
        </p:nvSpPr>
        <p:spPr>
          <a:xfrm>
            <a:off x="6283903" y="2485796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논문의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3D27B-6092-39D1-3F28-9CEC60FACECF}"/>
              </a:ext>
            </a:extLst>
          </p:cNvPr>
          <p:cNvSpPr txBox="1"/>
          <p:nvPr/>
        </p:nvSpPr>
        <p:spPr>
          <a:xfrm>
            <a:off x="6283903" y="4057024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Coding</a:t>
            </a:r>
            <a:r>
              <a:rPr lang="ko-KR" altLang="en-US" sz="1600" dirty="0"/>
              <a:t>으로 얻은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8317309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58A458C-C38D-1A49-33A9-573BF5E69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35" y="3496417"/>
            <a:ext cx="6160509" cy="1751821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 APC Decomposition </a:t>
            </a:r>
            <a:r>
              <a:rPr lang="ko-KR" altLang="en-US" dirty="0"/>
              <a:t>검증 과정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2. Constellation </a:t>
            </a:r>
            <a:r>
              <a:rPr lang="en-US" altLang="ko-KR" b="1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 vector</a:t>
            </a:r>
          </a:p>
          <a:p>
            <a:pPr lvl="6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105000" lvl="7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0803EF-3B42-7B4E-BE36-A69338865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960850"/>
            <a:ext cx="5229225" cy="1419225"/>
          </a:xfrm>
          <a:prstGeom prst="rect">
            <a:avLst/>
          </a:prstGeom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48ADD4-44F2-504F-1E3A-80718EEE4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15" y="1999816"/>
            <a:ext cx="5286375" cy="13906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9FAF602-DB1E-63EE-4EBD-425ED334AACF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8231E-14AC-A370-26B0-42662227BEC9}"/>
              </a:ext>
            </a:extLst>
          </p:cNvPr>
          <p:cNvSpPr txBox="1"/>
          <p:nvPr/>
        </p:nvSpPr>
        <p:spPr>
          <a:xfrm>
            <a:off x="6283903" y="2485796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논문의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5D509-0E8E-D33F-A785-53E28B2E13B9}"/>
              </a:ext>
            </a:extLst>
          </p:cNvPr>
          <p:cNvSpPr txBox="1"/>
          <p:nvPr/>
        </p:nvSpPr>
        <p:spPr>
          <a:xfrm>
            <a:off x="6283903" y="4057024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Coding</a:t>
            </a:r>
            <a:r>
              <a:rPr lang="ko-KR" altLang="en-US" sz="1600" dirty="0"/>
              <a:t>으로 얻은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641652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 APC Decomposition </a:t>
            </a:r>
            <a:r>
              <a:rPr lang="ko-KR" altLang="en-US" dirty="0"/>
              <a:t>검증 과정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3.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/>
              <a:t>22</a:t>
            </a:r>
            <a:r>
              <a:rPr lang="ko-KR" altLang="en-US" dirty="0"/>
              <a:t>대의 위성으로도 </a:t>
            </a:r>
            <a:r>
              <a:rPr lang="en-US" altLang="ko-KR" dirty="0"/>
              <a:t>Coverage 100% </a:t>
            </a:r>
            <a:r>
              <a:rPr lang="ko-KR" altLang="en-US" dirty="0"/>
              <a:t>달성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0803EF-3B42-7B4E-BE36-A69338865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960850"/>
            <a:ext cx="5229225" cy="1419225"/>
          </a:xfrm>
          <a:prstGeom prst="rect">
            <a:avLst/>
          </a:prstGeom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48ADD4-44F2-504F-1E3A-80718EEE4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15" y="1999816"/>
            <a:ext cx="5286375" cy="13906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9FAF602-DB1E-63EE-4EBD-425ED334AACF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8231E-14AC-A370-26B0-42662227BEC9}"/>
              </a:ext>
            </a:extLst>
          </p:cNvPr>
          <p:cNvSpPr txBox="1"/>
          <p:nvPr/>
        </p:nvSpPr>
        <p:spPr>
          <a:xfrm>
            <a:off x="6283903" y="2485796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논문의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5D509-0E8E-D33F-A785-53E28B2E13B9}"/>
              </a:ext>
            </a:extLst>
          </p:cNvPr>
          <p:cNvSpPr txBox="1"/>
          <p:nvPr/>
        </p:nvSpPr>
        <p:spPr>
          <a:xfrm>
            <a:off x="6283903" y="4057024"/>
            <a:ext cx="4670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Coding</a:t>
            </a:r>
            <a:r>
              <a:rPr lang="ko-KR" altLang="en-US" sz="1600" dirty="0"/>
              <a:t>으로 얻은 </a:t>
            </a:r>
            <a:r>
              <a:rPr lang="en-US" altLang="ko-KR" sz="1600" dirty="0"/>
              <a:t>figure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80C524-2F42-2D77-AD06-5D0A24484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62" y="1968643"/>
            <a:ext cx="5153025" cy="15716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C134F5A-7B8E-19EF-3381-12DAB1116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25" y="3540267"/>
            <a:ext cx="6139728" cy="166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2278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 예시</a:t>
            </a:r>
            <a:r>
              <a:rPr lang="en-US" altLang="ko-KR" dirty="0"/>
              <a:t>(Example</a:t>
            </a:r>
            <a:r>
              <a:rPr lang="ko-KR" altLang="en-US" dirty="0"/>
              <a:t> </a:t>
            </a:r>
            <a:r>
              <a:rPr lang="en-US" altLang="ko-KR" dirty="0"/>
              <a:t>1) APC Composition </a:t>
            </a:r>
            <a:r>
              <a:rPr lang="ko-KR" altLang="en-US" dirty="0"/>
              <a:t>검증 과정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3.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en-US" altLang="ko-KR" dirty="0"/>
              <a:t>21</a:t>
            </a:r>
            <a:r>
              <a:rPr lang="ko-KR" altLang="en-US" dirty="0"/>
              <a:t>대의 위성으로는 </a:t>
            </a:r>
            <a:r>
              <a:rPr lang="en-US" altLang="ko-KR" dirty="0"/>
              <a:t>Coverage 100% </a:t>
            </a:r>
            <a:r>
              <a:rPr lang="ko-KR" altLang="en-US" dirty="0"/>
              <a:t>달성 불가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7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1F8B0-AA17-6627-8213-9C2A007AABC4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FAF602-DB1E-63EE-4EBD-425ED334AACF}"/>
              </a:ext>
            </a:extLst>
          </p:cNvPr>
          <p:cNvSpPr/>
          <p:nvPr/>
        </p:nvSpPr>
        <p:spPr bwMode="auto">
          <a:xfrm>
            <a:off x="3881655" y="3326499"/>
            <a:ext cx="2119188" cy="1699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8231E-14AC-A370-26B0-42662227BEC9}"/>
              </a:ext>
            </a:extLst>
          </p:cNvPr>
          <p:cNvSpPr txBox="1"/>
          <p:nvPr/>
        </p:nvSpPr>
        <p:spPr>
          <a:xfrm>
            <a:off x="6283903" y="2361104"/>
            <a:ext cx="16218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 21</a:t>
            </a:r>
            <a:r>
              <a:rPr lang="ko-KR" altLang="en-US" sz="1600" dirty="0"/>
              <a:t>인 경우</a:t>
            </a:r>
            <a:endParaRPr lang="en-US" altLang="ko-KR" sz="1600" dirty="0"/>
          </a:p>
          <a:p>
            <a:pPr algn="ctr"/>
            <a:r>
              <a:rPr lang="en-US" altLang="ko-KR" sz="1600" dirty="0" err="1"/>
              <a:t>Cov</a:t>
            </a:r>
            <a:r>
              <a:rPr lang="en-US" altLang="ko-KR" sz="1600" dirty="0"/>
              <a:t> 98.056%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5D509-0E8E-D33F-A785-53E28B2E13B9}"/>
              </a:ext>
            </a:extLst>
          </p:cNvPr>
          <p:cNvSpPr txBox="1"/>
          <p:nvPr/>
        </p:nvSpPr>
        <p:spPr>
          <a:xfrm>
            <a:off x="6283903" y="3994678"/>
            <a:ext cx="16218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 22</a:t>
            </a:r>
            <a:r>
              <a:rPr lang="ko-KR" altLang="en-US" sz="1600" dirty="0"/>
              <a:t>인 경우</a:t>
            </a:r>
            <a:endParaRPr lang="en-US" altLang="ko-KR" sz="1600" dirty="0"/>
          </a:p>
          <a:p>
            <a:pPr algn="ctr"/>
            <a:r>
              <a:rPr lang="en-US" altLang="ko-KR" sz="1600" dirty="0" err="1"/>
              <a:t>Cov</a:t>
            </a:r>
            <a:r>
              <a:rPr lang="en-US" altLang="ko-KR" sz="1600" dirty="0"/>
              <a:t> 100%</a:t>
            </a:r>
            <a:endParaRPr lang="ko-KR" altLang="en-US" sz="16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C134F5A-7B8E-19EF-3381-12DAB111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25" y="3540267"/>
            <a:ext cx="6139728" cy="16611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E6F00F-5E89-ED2A-7979-D5E1A1162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29" y="1981942"/>
            <a:ext cx="610976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458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결론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33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논문의 이론을 바탕으로 </a:t>
            </a:r>
            <a:r>
              <a:rPr lang="en-US" altLang="ko-KR" dirty="0"/>
              <a:t>Example</a:t>
            </a:r>
            <a:r>
              <a:rPr lang="ko-KR" altLang="en-US" dirty="0"/>
              <a:t>을 검증하기 위해 직접 코딩 작성</a:t>
            </a:r>
            <a:endParaRPr lang="en-US" altLang="ko-KR" dirty="0"/>
          </a:p>
          <a:p>
            <a:pPr lvl="1"/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en-US" altLang="ko-KR" dirty="0"/>
              <a:t>APC </a:t>
            </a:r>
            <a:r>
              <a:rPr lang="ko-KR" altLang="en-US" dirty="0"/>
              <a:t>과정 검증 완료</a:t>
            </a:r>
            <a:endParaRPr lang="en-US" altLang="ko-KR" dirty="0"/>
          </a:p>
          <a:p>
            <a:pPr lvl="1"/>
            <a:r>
              <a:rPr lang="ko-KR" altLang="en-US" dirty="0"/>
              <a:t>직접</a:t>
            </a:r>
            <a:r>
              <a:rPr lang="en-US" altLang="ko-KR" dirty="0"/>
              <a:t> </a:t>
            </a:r>
            <a:r>
              <a:rPr lang="ko-KR" altLang="en-US" dirty="0"/>
              <a:t>작성한 </a:t>
            </a:r>
            <a:r>
              <a:rPr lang="en-US" altLang="ko-KR" dirty="0"/>
              <a:t>flowchart</a:t>
            </a:r>
            <a:r>
              <a:rPr lang="ko-KR" altLang="en-US" dirty="0"/>
              <a:t>를 참고하여 </a:t>
            </a:r>
            <a:r>
              <a:rPr lang="en-US" altLang="ko-KR" dirty="0"/>
              <a:t>BILP method</a:t>
            </a:r>
            <a:r>
              <a:rPr lang="ko-KR" altLang="en-US" dirty="0"/>
              <a:t>를 이용한 최적화 방법 적용 예정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89972</TotalTime>
  <Words>1019</Words>
  <Application>Microsoft Office PowerPoint</Application>
  <PresentationFormat>화면 슬라이드 쇼(4:3)</PresentationFormat>
  <Paragraphs>233</Paragraphs>
  <Slides>22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연구 진행 상황</vt:lpstr>
      <vt:lpstr>연구 진행상황</vt:lpstr>
      <vt:lpstr>연구 진행상황</vt:lpstr>
      <vt:lpstr>연구 진행상황</vt:lpstr>
      <vt:lpstr>연구 진행상황</vt:lpstr>
      <vt:lpstr>연구 진행상황</vt:lpstr>
      <vt:lpstr>연구 진행상황</vt:lpstr>
      <vt:lpstr>연구 결과</vt:lpstr>
      <vt:lpstr>연구 진행상황</vt:lpstr>
      <vt:lpstr>연구 진행상황</vt:lpstr>
      <vt:lpstr>BILP(MILP) 설계기법 flowchart</vt:lpstr>
      <vt:lpstr>연구 결과</vt:lpstr>
      <vt:lpstr>연구 결과</vt:lpstr>
      <vt:lpstr>연구 결과</vt:lpstr>
      <vt:lpstr>연구 결과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4569</cp:revision>
  <dcterms:created xsi:type="dcterms:W3CDTF">2018-01-29T02:45:56Z</dcterms:created>
  <dcterms:modified xsi:type="dcterms:W3CDTF">2023-11-01T03:52:03Z</dcterms:modified>
</cp:coreProperties>
</file>