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229" r:id="rId2"/>
    <p:sldId id="2300" r:id="rId3"/>
    <p:sldId id="2438" r:id="rId4"/>
    <p:sldId id="2372" r:id="rId5"/>
    <p:sldId id="2439" r:id="rId6"/>
    <p:sldId id="2440" r:id="rId7"/>
    <p:sldId id="2407" r:id="rId8"/>
    <p:sldId id="2442" r:id="rId9"/>
    <p:sldId id="2297" r:id="rId10"/>
    <p:sldId id="2441" r:id="rId11"/>
    <p:sldId id="268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1E"/>
    <a:srgbClr val="EDB021"/>
    <a:srgbClr val="D9541A"/>
    <a:srgbClr val="404040"/>
    <a:srgbClr val="FFFFFF"/>
    <a:srgbClr val="001E46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81" d="100"/>
          <a:sy n="81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1,2</a:t>
            </a:r>
            <a:r>
              <a:rPr lang="ko-KR" altLang="en-US" dirty="0"/>
              <a:t>는 커버리지 성능 최대화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은 비용 최소화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이종위성군을 정의하는 여러 요소 중 위성의 고도와 궤도 경사각을 주로 다룸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알고리즘의 구체적 과정보다는 여러 </a:t>
            </a:r>
            <a:r>
              <a:rPr lang="en-US" altLang="ko-KR" dirty="0"/>
              <a:t>formulation</a:t>
            </a:r>
            <a:r>
              <a:rPr lang="ko-KR" altLang="en-US" dirty="0"/>
              <a:t>이 있다는 소개</a:t>
            </a:r>
            <a:endParaRPr lang="en-US" altLang="ko-KR" dirty="0"/>
          </a:p>
          <a:p>
            <a:r>
              <a:rPr lang="ko-KR" altLang="en-US" dirty="0"/>
              <a:t>두가지 </a:t>
            </a:r>
            <a:r>
              <a:rPr lang="en-US" altLang="ko-KR" dirty="0"/>
              <a:t>– </a:t>
            </a:r>
            <a:r>
              <a:rPr lang="ko-KR" altLang="en-US" dirty="0"/>
              <a:t>하이브리드</a:t>
            </a:r>
            <a:r>
              <a:rPr lang="en-US" altLang="ko-KR" dirty="0"/>
              <a:t>, </a:t>
            </a:r>
            <a:r>
              <a:rPr lang="ko-KR" altLang="en-US" dirty="0"/>
              <a:t>이종 평면</a:t>
            </a:r>
            <a:endParaRPr lang="en-US" altLang="ko-KR" dirty="0"/>
          </a:p>
          <a:p>
            <a:r>
              <a:rPr lang="en-US" altLang="ko-KR" dirty="0"/>
              <a:t>TAT-C ML </a:t>
            </a:r>
            <a:r>
              <a:rPr lang="ko-KR" altLang="en-US" dirty="0"/>
              <a:t>개발을 위해 사용</a:t>
            </a:r>
            <a:r>
              <a:rPr lang="en-US" altLang="ko-KR" dirty="0"/>
              <a:t>. </a:t>
            </a:r>
            <a:r>
              <a:rPr lang="ko-KR" altLang="en-US" dirty="0"/>
              <a:t>사용된 소프트웨어는 나와있지 않음</a:t>
            </a:r>
            <a:endParaRPr lang="en-US" altLang="ko-KR" dirty="0"/>
          </a:p>
          <a:p>
            <a:r>
              <a:rPr lang="ko-KR" altLang="en-US" dirty="0"/>
              <a:t>기능평가횟수와 </a:t>
            </a:r>
            <a:r>
              <a:rPr lang="ko-KR" altLang="en-US" dirty="0" err="1"/>
              <a:t>하이퍼볼륨의</a:t>
            </a:r>
            <a:r>
              <a:rPr lang="ko-KR" altLang="en-US" dirty="0"/>
              <a:t> 진화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그림은 </a:t>
            </a:r>
            <a:r>
              <a:rPr lang="en-US" altLang="ko-KR" dirty="0"/>
              <a:t>m</a:t>
            </a:r>
            <a:r>
              <a:rPr lang="ko-KR" altLang="en-US" dirty="0"/>
              <a:t>이 </a:t>
            </a:r>
            <a:r>
              <a:rPr lang="en-US" altLang="ko-KR" dirty="0"/>
              <a:t>2</a:t>
            </a:r>
            <a:r>
              <a:rPr lang="ko-KR" altLang="en-US" dirty="0" err="1"/>
              <a:t>일때를</a:t>
            </a:r>
            <a:r>
              <a:rPr lang="ko-KR" altLang="en-US" dirty="0"/>
              <a:t> 예시</a:t>
            </a:r>
            <a:endParaRPr lang="en-US" altLang="ko-KR" dirty="0"/>
          </a:p>
          <a:p>
            <a:r>
              <a:rPr lang="ko-KR" altLang="en-US" dirty="0"/>
              <a:t>고도 경사각</a:t>
            </a:r>
            <a:r>
              <a:rPr lang="en-US" altLang="ko-KR" dirty="0"/>
              <a:t>, </a:t>
            </a:r>
            <a:r>
              <a:rPr lang="ko-KR" altLang="en-US" dirty="0" err="1"/>
              <a:t>워커델타</a:t>
            </a:r>
            <a:r>
              <a:rPr lang="ko-KR" altLang="en-US" dirty="0"/>
              <a:t> 위성군의 요소 </a:t>
            </a:r>
            <a:r>
              <a:rPr lang="en-US" altLang="ko-KR" dirty="0"/>
              <a:t>-&gt; </a:t>
            </a:r>
            <a:r>
              <a:rPr lang="ko-KR" altLang="en-US" dirty="0"/>
              <a:t>대칭</a:t>
            </a:r>
            <a:endParaRPr lang="en-US" altLang="ko-KR" dirty="0"/>
          </a:p>
          <a:p>
            <a:r>
              <a:rPr lang="ko-KR" altLang="en-US" dirty="0"/>
              <a:t>하나의 염색체 안의 요소 </a:t>
            </a:r>
            <a:r>
              <a:rPr lang="en-US" altLang="ko-KR" dirty="0"/>
              <a:t>– 5</a:t>
            </a:r>
            <a:r>
              <a:rPr lang="ko-KR" altLang="en-US" dirty="0"/>
              <a:t>개의 </a:t>
            </a:r>
            <a:r>
              <a:rPr lang="ko-KR" altLang="en-US" dirty="0" err="1"/>
              <a:t>튜플</a:t>
            </a:r>
            <a:endParaRPr lang="en-US" altLang="ko-KR" dirty="0"/>
          </a:p>
          <a:p>
            <a:r>
              <a:rPr lang="ko-KR" altLang="en-US" dirty="0"/>
              <a:t>논문에선 매개변수 </a:t>
            </a:r>
            <a:r>
              <a:rPr lang="en-US" altLang="ko-KR" dirty="0"/>
              <a:t>0.5</a:t>
            </a:r>
            <a:r>
              <a:rPr lang="ko-KR" altLang="en-US" dirty="0"/>
              <a:t>기준으로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6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</a:t>
            </a:r>
            <a:r>
              <a:rPr lang="ko-KR" altLang="en-US" dirty="0"/>
              <a:t>의 배수가 되는 것 중 </a:t>
            </a:r>
            <a:r>
              <a:rPr lang="en-US" altLang="ko-KR" dirty="0"/>
              <a:t>n</a:t>
            </a:r>
            <a:r>
              <a:rPr lang="ko-KR" altLang="en-US" dirty="0"/>
              <a:t>을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573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ISS 51.64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2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ISS 51.64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04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45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2023-05-11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Buzzi, Pau Garcia and Daniel Selva. “Evolutionary formulations for design of heterogeneous Earth observing constellations.” 2020 IEEE Aerospace Conference (2020): 1-10.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  <a:endParaRPr lang="en-US" altLang="ko-KR" dirty="0"/>
          </a:p>
          <a:p>
            <a:pPr lvl="1"/>
            <a:r>
              <a:rPr lang="ko-KR" altLang="en-US" dirty="0"/>
              <a:t>전체 비용을 최소화하면서 커버리지 성능을 최대화하기 위해 다음 목표를 달성</a:t>
            </a:r>
            <a:endParaRPr lang="en-US" altLang="ko-KR" dirty="0"/>
          </a:p>
          <a:p>
            <a:pPr lvl="2"/>
            <a:r>
              <a:rPr lang="ko-KR" altLang="en-US" dirty="0"/>
              <a:t>모든 관심 지점에 대한 평균 재방문 시간 및 시스템 응답 대기 시간을 최소화</a:t>
            </a:r>
            <a:endParaRPr lang="en-US" altLang="ko-KR" dirty="0"/>
          </a:p>
          <a:p>
            <a:pPr lvl="2"/>
            <a:r>
              <a:rPr lang="ko-KR" altLang="en-US" dirty="0"/>
              <a:t>위성군에서 관측된 관심영역의 수와 실제 관심영역의 수 비율을 최대화</a:t>
            </a:r>
            <a:endParaRPr lang="en-US" altLang="ko-KR" dirty="0"/>
          </a:p>
          <a:p>
            <a:pPr lvl="2"/>
            <a:r>
              <a:rPr lang="ko-KR" altLang="en-US" dirty="0"/>
              <a:t>라이프사이클을 최소화</a:t>
            </a:r>
            <a:r>
              <a:rPr lang="en-US" altLang="ko-KR" dirty="0"/>
              <a:t>(</a:t>
            </a:r>
            <a:r>
              <a:rPr lang="ko-KR" altLang="en-US" dirty="0"/>
              <a:t>발사</a:t>
            </a:r>
            <a:r>
              <a:rPr lang="en-US" altLang="ko-KR" dirty="0"/>
              <a:t>, </a:t>
            </a:r>
            <a:r>
              <a:rPr lang="ko-KR" altLang="en-US" dirty="0"/>
              <a:t>프로그램</a:t>
            </a:r>
            <a:r>
              <a:rPr lang="en-US" altLang="ko-KR" dirty="0"/>
              <a:t>, </a:t>
            </a:r>
            <a:r>
              <a:rPr lang="ko-KR" altLang="en-US" dirty="0"/>
              <a:t>계산</a:t>
            </a:r>
            <a:r>
              <a:rPr lang="en-US" altLang="ko-KR" dirty="0"/>
              <a:t>, </a:t>
            </a:r>
            <a:r>
              <a:rPr lang="ko-KR" altLang="en-US" dirty="0"/>
              <a:t>하드웨어</a:t>
            </a:r>
            <a:r>
              <a:rPr lang="en-US" altLang="ko-KR" dirty="0"/>
              <a:t>, </a:t>
            </a:r>
            <a:r>
              <a:rPr lang="ko-KR" altLang="en-US" dirty="0"/>
              <a:t>반복 비용 등</a:t>
            </a:r>
            <a:r>
              <a:rPr lang="en-US" altLang="ko-KR" dirty="0"/>
              <a:t>)</a:t>
            </a:r>
          </a:p>
          <a:p>
            <a:pPr marL="216000" lvl="1" indent="0">
              <a:buNone/>
            </a:pPr>
            <a:endParaRPr lang="ko-KR" altLang="en-US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값의 고도와 궤도 경사각을 가진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pPr lvl="1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논문에서는 알고리즘의 세부 사항보다는 다양한 진화 </a:t>
            </a:r>
            <a:r>
              <a:rPr lang="en-US" altLang="ko-KR" dirty="0"/>
              <a:t>formulation(</a:t>
            </a:r>
            <a:r>
              <a:rPr lang="ko-KR" altLang="en-US" dirty="0"/>
              <a:t>염색체 및 연산자</a:t>
            </a:r>
            <a:r>
              <a:rPr lang="en-US" altLang="ko-KR" dirty="0"/>
              <a:t>)</a:t>
            </a:r>
            <a:r>
              <a:rPr lang="ko-KR" altLang="en-US" dirty="0"/>
              <a:t>에 대한</a:t>
            </a:r>
            <a:r>
              <a:rPr lang="en-US" altLang="ko-KR" dirty="0"/>
              <a:t> </a:t>
            </a:r>
            <a:r>
              <a:rPr lang="ko-KR" altLang="en-US" dirty="0"/>
              <a:t>설명에 초점을 둠</a:t>
            </a:r>
            <a:endParaRPr lang="en-US" altLang="ko-KR" dirty="0"/>
          </a:p>
          <a:p>
            <a:pPr lvl="1"/>
            <a:r>
              <a:rPr lang="ko-KR" altLang="en-US" dirty="0"/>
              <a:t>두 가지 유전 알고리즘 </a:t>
            </a:r>
            <a:r>
              <a:rPr lang="en-US" altLang="ko-KR" dirty="0"/>
              <a:t>Formulation</a:t>
            </a:r>
            <a:r>
              <a:rPr lang="ko-KR" altLang="en-US" dirty="0"/>
              <a:t>을 이용</a:t>
            </a:r>
            <a:r>
              <a:rPr lang="en-US" altLang="ko-KR" dirty="0"/>
              <a:t>(The Hybrid Walker, Heterogeneous planes)</a:t>
            </a:r>
          </a:p>
          <a:p>
            <a:pPr lvl="1"/>
            <a:r>
              <a:rPr lang="ko-KR" altLang="en-US" dirty="0"/>
              <a:t>위의 두 가지 </a:t>
            </a:r>
            <a:r>
              <a:rPr lang="en-US" altLang="ko-KR" dirty="0"/>
              <a:t>Formulation</a:t>
            </a:r>
            <a:r>
              <a:rPr lang="ko-KR" altLang="en-US" dirty="0"/>
              <a:t>은</a:t>
            </a:r>
            <a:r>
              <a:rPr lang="en-US" altLang="ko-KR" dirty="0"/>
              <a:t> </a:t>
            </a:r>
            <a:r>
              <a:rPr lang="en-US" altLang="ko-KR" dirty="0" err="1"/>
              <a:t>Tradespace</a:t>
            </a:r>
            <a:r>
              <a:rPr lang="ko-KR" altLang="en-US" dirty="0"/>
              <a:t> </a:t>
            </a:r>
            <a:r>
              <a:rPr lang="en-US" altLang="ko-KR" dirty="0"/>
              <a:t>Analysis Tool for Constellations using Machine Learning(TAT-C ML)</a:t>
            </a:r>
            <a:r>
              <a:rPr lang="ko-KR" altLang="en-US" dirty="0"/>
              <a:t> 도구 개발을 위해 사용</a:t>
            </a:r>
            <a:endParaRPr lang="en-US" altLang="ko-KR" dirty="0"/>
          </a:p>
          <a:p>
            <a:pPr lvl="1"/>
            <a:r>
              <a:rPr lang="en-US" altLang="ko-KR" dirty="0"/>
              <a:t>NFE(Number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function</a:t>
            </a:r>
            <a:r>
              <a:rPr lang="ko-KR" altLang="en-US" dirty="0"/>
              <a:t> </a:t>
            </a:r>
            <a:r>
              <a:rPr lang="en-US" altLang="ko-KR" dirty="0"/>
              <a:t>evaluation)</a:t>
            </a:r>
            <a:r>
              <a:rPr lang="ko-KR" altLang="en-US" dirty="0"/>
              <a:t>와 </a:t>
            </a:r>
            <a:r>
              <a:rPr lang="en-US" altLang="ko-KR" dirty="0"/>
              <a:t>Hypervolume</a:t>
            </a:r>
            <a:r>
              <a:rPr lang="ko-KR" altLang="en-US" dirty="0"/>
              <a:t>의 진화를 살펴봄으로써 성능을 평가할 수 있음  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및 분석방법</a:t>
            </a:r>
          </a:p>
        </p:txBody>
      </p:sp>
    </p:spTree>
    <p:extLst>
      <p:ext uri="{BB962C8B-B14F-4D97-AF65-F5344CB8AC3E}">
        <p14:creationId xmlns:p14="http://schemas.microsoft.com/office/powerpoint/2010/main" val="41539538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The Hybrid Walker</a:t>
            </a:r>
          </a:p>
          <a:p>
            <a:pPr lvl="1"/>
            <a:r>
              <a:rPr lang="ko-KR" altLang="en-US" dirty="0"/>
              <a:t>서로 다른 고도 및 궤도 경사각의 워커 위성군을 하이브리드 아키텍처로 결합</a:t>
            </a:r>
            <a:endParaRPr lang="en-US" altLang="ko-KR" dirty="0"/>
          </a:p>
          <a:p>
            <a:pPr lvl="1"/>
            <a:r>
              <a:rPr lang="ko-KR" altLang="en-US" dirty="0"/>
              <a:t>대칭 기하학을 유지하면서 고도와 궤도경사각을 조정하여 위성 배치 가능</a:t>
            </a:r>
            <a:endParaRPr lang="en-US" altLang="ko-KR" dirty="0"/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개</a:t>
            </a:r>
            <a:r>
              <a:rPr lang="en-US" altLang="ko-KR" dirty="0"/>
              <a:t>(a, </a:t>
            </a:r>
            <a:r>
              <a:rPr lang="en-US" altLang="ko-KR" dirty="0" err="1"/>
              <a:t>i</a:t>
            </a:r>
            <a:r>
              <a:rPr lang="en-US" altLang="ko-KR" dirty="0"/>
              <a:t>, t, p, f)</a:t>
            </a:r>
            <a:r>
              <a:rPr lang="ko-KR" altLang="en-US" dirty="0"/>
              <a:t>의 </a:t>
            </a:r>
            <a:r>
              <a:rPr lang="ko-KR" altLang="en-US" dirty="0" err="1"/>
              <a:t>튜플을</a:t>
            </a:r>
            <a:r>
              <a:rPr lang="ko-KR" altLang="en-US" dirty="0"/>
              <a:t> 포함하는 고정 길이 염색체가 사용</a:t>
            </a:r>
            <a:endParaRPr lang="en-US" altLang="ko-KR" dirty="0"/>
          </a:p>
          <a:p>
            <a:pPr lvl="1"/>
            <a:r>
              <a:rPr lang="ko-KR" altLang="en-US" dirty="0"/>
              <a:t>궤도 평면 및 위상 매개변수는 </a:t>
            </a:r>
            <a:r>
              <a:rPr lang="en-US" altLang="ko-KR" dirty="0"/>
              <a:t>0~1</a:t>
            </a:r>
            <a:r>
              <a:rPr lang="ko-KR" altLang="en-US" dirty="0"/>
              <a:t>의 값을 사용하는 변수로 정의되고 이후에 실제 값으로 변환됨</a:t>
            </a:r>
            <a:endParaRPr lang="en-US" altLang="ko-KR" dirty="0"/>
          </a:p>
          <a:p>
            <a:pPr lvl="1"/>
            <a:r>
              <a:rPr lang="ko-KR" altLang="en-US" dirty="0"/>
              <a:t>각 부모 염색체의 두 교차점</a:t>
            </a:r>
            <a:r>
              <a:rPr lang="en-US" altLang="ko-KR" dirty="0"/>
              <a:t>(two-point)</a:t>
            </a:r>
            <a:r>
              <a:rPr lang="ko-KR" altLang="en-US" dirty="0"/>
              <a:t>에 의해 </a:t>
            </a:r>
            <a:r>
              <a:rPr lang="en-US" altLang="ko-KR" dirty="0"/>
              <a:t>crossover</a:t>
            </a:r>
            <a:r>
              <a:rPr lang="ko-KR" altLang="en-US" dirty="0"/>
              <a:t>된 후 </a:t>
            </a:r>
            <a:r>
              <a:rPr lang="en-US" altLang="ko-KR" dirty="0"/>
              <a:t>mutation</a:t>
            </a:r>
            <a:r>
              <a:rPr lang="ko-KR" altLang="en-US" dirty="0"/>
              <a:t>됨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유전 알고리즘 </a:t>
            </a:r>
            <a:r>
              <a:rPr lang="en-US" altLang="ko-KR" dirty="0"/>
              <a:t>Formulation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DD2DCCF-2358-94F4-6ECA-ED01ED004A7E}"/>
              </a:ext>
            </a:extLst>
          </p:cNvPr>
          <p:cNvGrpSpPr/>
          <p:nvPr/>
        </p:nvGrpSpPr>
        <p:grpSpPr>
          <a:xfrm>
            <a:off x="2357949" y="3429000"/>
            <a:ext cx="3757679" cy="2822317"/>
            <a:chOff x="153496" y="1578218"/>
            <a:chExt cx="4303776" cy="323247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8D4D4E-6743-256A-0944-F96F7ED12B10}"/>
                </a:ext>
              </a:extLst>
            </p:cNvPr>
            <p:cNvSpPr txBox="1"/>
            <p:nvPr/>
          </p:nvSpPr>
          <p:spPr>
            <a:xfrm>
              <a:off x="346180" y="1578218"/>
              <a:ext cx="1592015" cy="291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>
                  <a:solidFill>
                    <a:srgbClr val="FF0000"/>
                  </a:solidFill>
                </a:rPr>
                <a:t>Two-point crossover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C8147D-AE6A-E1DE-F1F2-6FDB33C47E6D}"/>
                </a:ext>
              </a:extLst>
            </p:cNvPr>
            <p:cNvSpPr txBox="1"/>
            <p:nvPr/>
          </p:nvSpPr>
          <p:spPr>
            <a:xfrm>
              <a:off x="2720449" y="1592854"/>
              <a:ext cx="1592015" cy="291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>
                  <a:solidFill>
                    <a:srgbClr val="FF0000"/>
                  </a:solidFill>
                </a:rPr>
                <a:t>Two-point crossover</a:t>
              </a:r>
              <a:endParaRPr lang="ko-KR" altLang="en-US" sz="800" dirty="0">
                <a:solidFill>
                  <a:srgbClr val="FF0000"/>
                </a:solidFill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B98FB71-7D07-7DB1-6771-D175B5FE4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510" y="3298453"/>
              <a:ext cx="4234282" cy="1512244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4348A04-F258-C3BC-4052-D9AD7BE52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496" y="1808893"/>
              <a:ext cx="4303776" cy="2218032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9835098-6FA4-7E28-215B-CEC3E3800CEF}"/>
                </a:ext>
              </a:extLst>
            </p:cNvPr>
            <p:cNvSpPr/>
            <p:nvPr/>
          </p:nvSpPr>
          <p:spPr bwMode="auto">
            <a:xfrm>
              <a:off x="639547" y="3589019"/>
              <a:ext cx="412013" cy="113538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BFA565-5203-CD64-F811-7160959C1498}"/>
              </a:ext>
            </a:extLst>
          </p:cNvPr>
          <p:cNvSpPr/>
          <p:nvPr/>
        </p:nvSpPr>
        <p:spPr bwMode="auto">
          <a:xfrm>
            <a:off x="4099389" y="3522132"/>
            <a:ext cx="246579" cy="23592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E3CE4C-2CB5-BD04-34FE-23128D25ED08}"/>
              </a:ext>
            </a:extLst>
          </p:cNvPr>
          <p:cNvSpPr txBox="1"/>
          <p:nvPr/>
        </p:nvSpPr>
        <p:spPr>
          <a:xfrm>
            <a:off x="6089016" y="4467313"/>
            <a:ext cx="1390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Crossover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FAAE9-EF45-011C-0E40-5C526F1671BE}"/>
              </a:ext>
            </a:extLst>
          </p:cNvPr>
          <p:cNvSpPr txBox="1"/>
          <p:nvPr/>
        </p:nvSpPr>
        <p:spPr>
          <a:xfrm>
            <a:off x="6115628" y="5488887"/>
            <a:ext cx="1390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Mutation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1264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Heterogeneous planes</a:t>
            </a:r>
          </a:p>
          <a:p>
            <a:pPr lvl="1"/>
            <a:r>
              <a:rPr lang="ko-KR" altLang="en-US" dirty="0"/>
              <a:t>서로 다른 고도 및 궤도 경사각에서 여러 평면을 결합하기 위한 방법</a:t>
            </a:r>
            <a:endParaRPr lang="en-US" altLang="ko-KR" dirty="0"/>
          </a:p>
          <a:p>
            <a:pPr lvl="1"/>
            <a:r>
              <a:rPr lang="ko-KR" altLang="en-US" dirty="0"/>
              <a:t>총 위성 수 </a:t>
            </a:r>
            <a:r>
              <a:rPr lang="en-US" altLang="ko-KR" dirty="0"/>
              <a:t>n</a:t>
            </a:r>
            <a:r>
              <a:rPr lang="ko-KR" altLang="en-US" dirty="0"/>
              <a:t>과 궤도 평면 수 </a:t>
            </a:r>
            <a:r>
              <a:rPr lang="en-US" altLang="ko-KR" dirty="0"/>
              <a:t>p</a:t>
            </a:r>
            <a:r>
              <a:rPr lang="ko-KR" altLang="en-US" dirty="0"/>
              <a:t>를 포함하는 가변 길이 염색체를 이용</a:t>
            </a:r>
            <a:endParaRPr lang="en-US" altLang="ko-KR" dirty="0"/>
          </a:p>
          <a:p>
            <a:pPr lvl="2"/>
            <a:r>
              <a:rPr lang="en-US" altLang="ko-KR" dirty="0"/>
              <a:t>P</a:t>
            </a:r>
            <a:r>
              <a:rPr lang="ko-KR" altLang="en-US" dirty="0"/>
              <a:t>가 가변적이기 때문에 염색체의 길이는 구조에 따라 달라짐</a:t>
            </a:r>
            <a:endParaRPr lang="en-US" altLang="ko-KR" dirty="0"/>
          </a:p>
          <a:p>
            <a:pPr lvl="1"/>
            <a:r>
              <a:rPr lang="en-US" altLang="ko-KR" dirty="0"/>
              <a:t>Mean Anomaly </a:t>
            </a:r>
            <a:r>
              <a:rPr lang="ko-KR" altLang="en-US" dirty="0"/>
              <a:t>및 </a:t>
            </a:r>
            <a:r>
              <a:rPr lang="en-US" altLang="ko-KR" dirty="0"/>
              <a:t>RAAN</a:t>
            </a:r>
            <a:r>
              <a:rPr lang="ko-KR" altLang="en-US" dirty="0"/>
              <a:t>에서 균일한 간격을 갖는 것으로 가정</a:t>
            </a:r>
            <a:endParaRPr lang="en-US" altLang="ko-KR" dirty="0"/>
          </a:p>
          <a:p>
            <a:pPr lvl="1"/>
            <a:r>
              <a:rPr lang="ko-KR" altLang="en-US" dirty="0"/>
              <a:t>두 부모 염색체의 길이가 다를 수 있기 때문에 </a:t>
            </a:r>
            <a:r>
              <a:rPr lang="en-US" altLang="ko-KR" dirty="0"/>
              <a:t>two-point crossover </a:t>
            </a:r>
            <a:r>
              <a:rPr lang="ko-KR" altLang="en-US" dirty="0"/>
              <a:t>불가능</a:t>
            </a:r>
            <a:endParaRPr lang="en-US" altLang="ko-KR" dirty="0"/>
          </a:p>
          <a:p>
            <a:pPr lvl="1"/>
            <a:r>
              <a:rPr lang="ko-KR" altLang="en-US" dirty="0"/>
              <a:t>대신 </a:t>
            </a:r>
            <a:r>
              <a:rPr lang="en-US" altLang="ko-KR" dirty="0"/>
              <a:t>cut and splice </a:t>
            </a:r>
            <a:r>
              <a:rPr lang="ko-KR" altLang="en-US" dirty="0"/>
              <a:t>및 </a:t>
            </a:r>
            <a:r>
              <a:rPr lang="en-US" altLang="ko-KR" dirty="0"/>
              <a:t>pairing operator</a:t>
            </a:r>
            <a:r>
              <a:rPr lang="ko-KR" altLang="en-US" dirty="0"/>
              <a:t>가 사용</a:t>
            </a:r>
            <a:endParaRPr lang="en-US" altLang="ko-KR" dirty="0"/>
          </a:p>
          <a:p>
            <a:pPr lvl="1"/>
            <a:r>
              <a:rPr lang="en-US" altLang="ko-KR" dirty="0"/>
              <a:t>Pairing</a:t>
            </a:r>
            <a:r>
              <a:rPr lang="ko-KR" altLang="en-US" dirty="0"/>
              <a:t>은 각 평면을 다른 모체의 평면과 가장 적은 평면으로 쌍을 이루고 평면의 고도 및 경사각을 동등한 확률로 선택 → 아직 존재하지 않는 조합 생성 가능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유전 알고리즘 </a:t>
            </a:r>
            <a:r>
              <a:rPr lang="en-US" altLang="ko-KR" dirty="0"/>
              <a:t>Formulation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DF1118-6194-C287-1EB3-31D0921F6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47744"/>
            <a:ext cx="2649643" cy="19547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1B572DB-5933-4C8C-1849-40EA0411F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873" y="4047744"/>
            <a:ext cx="3530659" cy="19547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BB358C-CA2E-EA1E-C71D-EC41C789DA41}"/>
              </a:ext>
            </a:extLst>
          </p:cNvPr>
          <p:cNvSpPr txBox="1"/>
          <p:nvPr/>
        </p:nvSpPr>
        <p:spPr>
          <a:xfrm>
            <a:off x="1389660" y="6008327"/>
            <a:ext cx="19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Cut and Splice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7EAC1-52ED-AB9C-525D-9965121E3F77}"/>
              </a:ext>
            </a:extLst>
          </p:cNvPr>
          <p:cNvSpPr txBox="1"/>
          <p:nvPr/>
        </p:nvSpPr>
        <p:spPr>
          <a:xfrm>
            <a:off x="5543228" y="5996436"/>
            <a:ext cx="19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Pairing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4030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세팅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논문에서 적용한 설정 값</a:t>
                </a:r>
                <a:endParaRPr lang="en-US" altLang="ko-KR" dirty="0"/>
              </a:p>
              <a:p>
                <a:endParaRPr lang="en-US" altLang="ko-KR" b="1" dirty="0"/>
              </a:p>
              <a:p>
                <a:endParaRPr lang="en-US" altLang="ko-KR" dirty="0"/>
              </a:p>
              <a:p>
                <a:endParaRPr lang="en-US" altLang="ko-KR" b="1" dirty="0"/>
              </a:p>
              <a:p>
                <a:endParaRPr lang="en-US" altLang="ko-KR" dirty="0"/>
              </a:p>
              <a:p>
                <a:endParaRPr lang="en-US" altLang="ko-KR" b="1" dirty="0"/>
              </a:p>
              <a:p>
                <a:endParaRPr lang="en-US" altLang="ko-KR" dirty="0"/>
              </a:p>
              <a:p>
                <a:endParaRPr lang="en-US" altLang="ko-KR" b="1" dirty="0"/>
              </a:p>
              <a:p>
                <a:pPr lvl="1"/>
                <a:r>
                  <a:rPr lang="en-US" altLang="ko-KR" sz="1800" dirty="0"/>
                  <a:t>Formulation 1) </a:t>
                </a:r>
                <a:r>
                  <a:rPr lang="en-US" altLang="ko-KR" sz="1800" dirty="0" err="1"/>
                  <a:t>Corssover</a:t>
                </a:r>
                <a:r>
                  <a:rPr lang="en-US" altLang="ko-KR" sz="180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800" dirty="0"/>
                  <a:t> = 0.9</a:t>
                </a:r>
              </a:p>
              <a:p>
                <a:pPr lvl="1"/>
                <a:r>
                  <a:rPr lang="en-US" altLang="ko-KR" dirty="0"/>
                  <a:t>Formulation 2) Cut </a:t>
                </a:r>
                <a:r>
                  <a:rPr lang="en-US" altLang="ko-KR" sz="1800" dirty="0"/>
                  <a:t>and splice or pairing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800" dirty="0"/>
                  <a:t> = 0.9</a:t>
                </a:r>
              </a:p>
              <a:p>
                <a:pPr lvl="1"/>
                <a:r>
                  <a:rPr lang="en-US" altLang="ko-KR" sz="1800" dirty="0"/>
                  <a:t>Mutation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800" dirty="0"/>
                  <a:t> = 0.9</a:t>
                </a:r>
              </a:p>
              <a:p>
                <a:pPr lvl="1"/>
                <a:r>
                  <a:rPr lang="en-US" altLang="ko-KR" sz="1800" dirty="0"/>
                  <a:t>NFE = 1000</a:t>
                </a:r>
              </a:p>
              <a:p>
                <a:pPr lvl="1"/>
                <a:endParaRPr lang="en-US" altLang="ko-KR" sz="1800" b="1" dirty="0"/>
              </a:p>
              <a:p>
                <a:pPr lvl="1"/>
                <a:endParaRPr lang="en-US" altLang="ko-KR" b="1" dirty="0"/>
              </a:p>
              <a:p>
                <a:pPr marL="216000" lvl="1" indent="0">
                  <a:buNone/>
                </a:pPr>
                <a:endParaRPr lang="en-US" altLang="ko-KR" b="1" dirty="0"/>
              </a:p>
              <a:p>
                <a:pPr marL="216000" lvl="1" indent="0">
                  <a:buNone/>
                </a:pPr>
                <a:endParaRPr lang="en-US" altLang="ko-KR" b="1" dirty="0"/>
              </a:p>
              <a:p>
                <a:pPr marL="216000" lvl="1" indent="0">
                  <a:buNone/>
                </a:pPr>
                <a:endParaRPr lang="en-US" altLang="ko-KR" b="1" dirty="0"/>
              </a:p>
              <a:p>
                <a:pPr lvl="1"/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735A82D1-C8AA-80E1-5C43-5D94E702B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75" y="1507398"/>
            <a:ext cx="3993763" cy="31339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8C97EB-381D-100D-0690-7D1BF1CBE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37" y="1486850"/>
            <a:ext cx="3755490" cy="148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028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결과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9DC190-FC6A-D480-7E4E-78D3D3F0D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38" y="1725947"/>
            <a:ext cx="3793407" cy="25711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9B257FA-55B0-46EF-3B8E-D64E335EC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850" y="1725947"/>
            <a:ext cx="3421531" cy="25711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A87BC9-7513-97B2-B121-6A8527B1152D}"/>
              </a:ext>
            </a:extLst>
          </p:cNvPr>
          <p:cNvSpPr/>
          <p:nvPr/>
        </p:nvSpPr>
        <p:spPr bwMode="auto">
          <a:xfrm>
            <a:off x="4768850" y="4271717"/>
            <a:ext cx="3714750" cy="38283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980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/>
              <a:t>최적성능 및 최소비용을 위해 알고리즘 </a:t>
            </a:r>
            <a:r>
              <a:rPr lang="en-US" altLang="ko-KR" dirty="0"/>
              <a:t>formulation</a:t>
            </a:r>
            <a:r>
              <a:rPr lang="ko-KR" altLang="en-US" dirty="0"/>
              <a:t>을 사용</a:t>
            </a:r>
            <a:endParaRPr lang="en-US" altLang="ko-KR" dirty="0"/>
          </a:p>
          <a:p>
            <a:pPr lvl="1"/>
            <a:r>
              <a:rPr lang="ko-KR" altLang="en-US" dirty="0"/>
              <a:t>두 가지 유전 알고리즘의 </a:t>
            </a:r>
            <a:r>
              <a:rPr lang="en-US" altLang="ko-KR" dirty="0"/>
              <a:t>formulation</a:t>
            </a:r>
            <a:r>
              <a:rPr lang="ko-KR" altLang="en-US" dirty="0"/>
              <a:t>을 이용하여 고도 및 궤도 경사각을 조합할 수 있음</a:t>
            </a:r>
            <a:endParaRPr lang="en-US" altLang="ko-KR" dirty="0"/>
          </a:p>
          <a:p>
            <a:pPr lvl="1"/>
            <a:r>
              <a:rPr lang="ko-KR" altLang="en-US" dirty="0"/>
              <a:t>기능 평가 횟수 당 </a:t>
            </a:r>
            <a:r>
              <a:rPr lang="en-US" altLang="ko-KR" dirty="0" err="1"/>
              <a:t>Hypervloume</a:t>
            </a:r>
            <a:r>
              <a:rPr lang="ko-KR" altLang="en-US" dirty="0"/>
              <a:t>을 분석하여 위성군의 성능을 알아볼 수 있음</a:t>
            </a:r>
            <a:endParaRPr lang="en-US" altLang="ko-KR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논문의 내용 중 보완이 필요한 부분</a:t>
            </a:r>
            <a:endParaRPr lang="en-US" altLang="ko-KR" dirty="0"/>
          </a:p>
          <a:p>
            <a:pPr lvl="1"/>
            <a:r>
              <a:rPr lang="ko-KR" altLang="en-US" sz="1800" dirty="0"/>
              <a:t>시뮬레이션에 사용된 소프트웨어 정보</a:t>
            </a:r>
            <a:endParaRPr lang="en-US" altLang="ko-KR" sz="1800" dirty="0"/>
          </a:p>
          <a:p>
            <a:pPr lvl="1"/>
            <a:r>
              <a:rPr lang="ko-KR" altLang="en-US" sz="1800" dirty="0"/>
              <a:t>입력변수의 설정 기준</a:t>
            </a:r>
            <a:endParaRPr lang="en-US" altLang="ko-KR" sz="1800" dirty="0"/>
          </a:p>
          <a:p>
            <a:pPr lvl="1"/>
            <a:r>
              <a:rPr lang="en-US" altLang="ko-KR" sz="1800" dirty="0"/>
              <a:t>NFE </a:t>
            </a:r>
            <a:r>
              <a:rPr lang="ko-KR" altLang="en-US" sz="1800" dirty="0"/>
              <a:t>및 </a:t>
            </a:r>
            <a:r>
              <a:rPr lang="en-US" altLang="ko-KR" sz="1800" dirty="0"/>
              <a:t>Hypervolume</a:t>
            </a:r>
            <a:r>
              <a:rPr lang="ko-KR" altLang="en-US" sz="1800" dirty="0"/>
              <a:t>에 대한 설명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204858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80885</TotalTime>
  <Words>580</Words>
  <Application>Microsoft Office PowerPoint</Application>
  <PresentationFormat>화면 슬라이드 쇼(4:3)</PresentationFormat>
  <Paragraphs>114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Cambria Math</vt:lpstr>
      <vt:lpstr>times</vt:lpstr>
      <vt:lpstr>Wingdings</vt:lpstr>
      <vt:lpstr>Office 테마</vt:lpstr>
      <vt:lpstr>이종위성군 성능 분석 및 설계/최적화</vt:lpstr>
      <vt:lpstr>Buzzi, Pau Garcia and Daniel Selva. “Evolutionary formulations for design of heterogeneous Earth observing constellations.” 2020 IEEE Aerospace Conference (2020): 1-10.</vt:lpstr>
      <vt:lpstr>연구목표 및 이종위성군의 정의</vt:lpstr>
      <vt:lpstr>연구 및 분석방법</vt:lpstr>
      <vt:lpstr>유전 알고리즘 Formulation</vt:lpstr>
      <vt:lpstr>유전 알고리즘 Formulation</vt:lpstr>
      <vt:lpstr>시뮬레이션 세팅</vt:lpstr>
      <vt:lpstr>시뮬레이션 결과</vt:lpstr>
      <vt:lpstr>결론</vt:lpstr>
      <vt:lpstr>결론 및 보완이 필요한 부분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4520</cp:revision>
  <dcterms:created xsi:type="dcterms:W3CDTF">2018-01-29T02:45:56Z</dcterms:created>
  <dcterms:modified xsi:type="dcterms:W3CDTF">2023-05-11T05:57:32Z</dcterms:modified>
</cp:coreProperties>
</file>