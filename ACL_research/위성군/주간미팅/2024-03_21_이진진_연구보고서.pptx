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52"/>
  </p:notesMasterIdLst>
  <p:handoutMasterIdLst>
    <p:handoutMasterId r:id="rId53"/>
  </p:handoutMasterIdLst>
  <p:sldIdLst>
    <p:sldId id="2550" r:id="rId2"/>
    <p:sldId id="2239" r:id="rId3"/>
    <p:sldId id="2554" r:id="rId4"/>
    <p:sldId id="2565" r:id="rId5"/>
    <p:sldId id="2693" r:id="rId6"/>
    <p:sldId id="2632" r:id="rId7"/>
    <p:sldId id="2646" r:id="rId8"/>
    <p:sldId id="2647" r:id="rId9"/>
    <p:sldId id="2697" r:id="rId10"/>
    <p:sldId id="2696" r:id="rId11"/>
    <p:sldId id="2674" r:id="rId12"/>
    <p:sldId id="2677" r:id="rId13"/>
    <p:sldId id="2703" r:id="rId14"/>
    <p:sldId id="2704" r:id="rId15"/>
    <p:sldId id="2706" r:id="rId16"/>
    <p:sldId id="2701" r:id="rId17"/>
    <p:sldId id="2700" r:id="rId18"/>
    <p:sldId id="2698" r:id="rId19"/>
    <p:sldId id="2699" r:id="rId20"/>
    <p:sldId id="2717" r:id="rId21"/>
    <p:sldId id="2708" r:id="rId22"/>
    <p:sldId id="2714" r:id="rId23"/>
    <p:sldId id="2713" r:id="rId24"/>
    <p:sldId id="2711" r:id="rId25"/>
    <p:sldId id="2715" r:id="rId26"/>
    <p:sldId id="2710" r:id="rId27"/>
    <p:sldId id="2705" r:id="rId28"/>
    <p:sldId id="2716" r:id="rId29"/>
    <p:sldId id="2609" r:id="rId30"/>
    <p:sldId id="2637" r:id="rId31"/>
    <p:sldId id="2510" r:id="rId32"/>
    <p:sldId id="2627" r:id="rId33"/>
    <p:sldId id="2628" r:id="rId34"/>
    <p:sldId id="2629" r:id="rId35"/>
    <p:sldId id="2630" r:id="rId36"/>
    <p:sldId id="2659" r:id="rId37"/>
    <p:sldId id="2660" r:id="rId38"/>
    <p:sldId id="2662" r:id="rId39"/>
    <p:sldId id="2661" r:id="rId40"/>
    <p:sldId id="2663" r:id="rId41"/>
    <p:sldId id="2657" r:id="rId42"/>
    <p:sldId id="2653" r:id="rId43"/>
    <p:sldId id="2654" r:id="rId44"/>
    <p:sldId id="2655" r:id="rId45"/>
    <p:sldId id="2656" r:id="rId46"/>
    <p:sldId id="2636" r:id="rId47"/>
    <p:sldId id="2568" r:id="rId48"/>
    <p:sldId id="2633" r:id="rId49"/>
    <p:sldId id="2718" r:id="rId50"/>
    <p:sldId id="2719" r:id="rId5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1E46"/>
    <a:srgbClr val="6600CC"/>
    <a:srgbClr val="FFFFFF"/>
    <a:srgbClr val="CC99FF"/>
    <a:srgbClr val="000A1E"/>
    <a:srgbClr val="EDB021"/>
    <a:srgbClr val="D9541A"/>
    <a:srgbClr val="40404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1" d="100"/>
          <a:sy n="91" d="100"/>
        </p:scale>
        <p:origin x="10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569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B926-6518-2AE3-4B91-7F374BD3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E0F6AD-9764-C174-BFBF-B7F0406C8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06286C-F23E-A52B-B5FE-CBE7EF597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78ADB2-BF72-236C-4B8E-427A6AD2C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151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F9F9-9510-591F-419E-C3C8CC68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5E09FF-618D-2C3C-8C3A-CE3A45EE0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D7F0E7-F5FD-F42A-C0D2-AC619FBBB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C9569-9958-4E68-9AC6-E03FB69DC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61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66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72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C7A2-7D54-88A6-5015-21C7D507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890A61-BC52-0FBD-BAA6-EE9AFCFC2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07A36D-0D27-A10B-9B12-594589531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B3241-616D-F192-644A-FFEC5E79C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820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80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918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56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752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708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33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897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448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하루에 </a:t>
            </a:r>
            <a:r>
              <a:rPr lang="en-US" altLang="ko-KR" dirty="0"/>
              <a:t>12</a:t>
            </a:r>
            <a:r>
              <a:rPr lang="ko-KR" altLang="en-US" dirty="0"/>
              <a:t>번 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Input</a:t>
            </a:r>
            <a:r>
              <a:rPr lang="ko-KR" altLang="en-US" dirty="0"/>
              <a:t> 앞에 들어갈 내용</a:t>
            </a:r>
            <a:endParaRPr lang="en-US" altLang="ko-KR" dirty="0"/>
          </a:p>
          <a:p>
            <a:r>
              <a:rPr lang="ko-KR" altLang="en-US" dirty="0"/>
              <a:t>시간은 임의로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684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462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1117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246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2339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9246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757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976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5D50F-84FE-9BAE-100D-6E17186E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AB212C-68C9-4AC0-0387-7A74985B7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F38BE9-8B94-4E92-491E-29AA6E517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7BC8F-6CFB-838A-0CDF-513CA68A0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403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16F9-EDB5-8026-EA03-2C1D5109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377DD7-2306-DB04-F838-59E3FBF69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3ADBEF-7869-D221-60E6-37F04A160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19E8F-5144-F411-F402-311B2D644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816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50C6-9957-3779-7AA0-3D65B89A7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E227D1-CAAF-ED26-49A2-6D6382517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A1FE63-D154-81CB-EE61-0A9BB8DE6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49F85-75D4-B782-0245-8B1C90D05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3660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74001-A8D4-8F05-8B3A-7C899164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768827-0A81-8667-25D1-362F51341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B7DCE-38DA-F0C6-569D-136A7B628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DDF86-A5AF-415C-1C02-8CA776CDE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4680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D666A-25EC-7D84-E8C8-02326B8A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3AE5EA-2A19-D799-CE4A-04B729C8D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8864B7-C633-C87C-572F-354A0EAC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67C52-00EC-703D-CA08-EEFCA736C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827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E5D7-2B5E-1DF4-7037-566C7833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EDAD64-B843-1B38-5B8C-9702A6746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955B44-B484-7E6A-43EA-391D83620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C8E047-CF7A-0805-6E2B-8E75AAF62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5676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EEBD-DB63-61E7-F41A-CF182E2B2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17F56C-B8CF-DC2C-6F75-979A39794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350E94-A5D6-01E0-A46E-13F46D72F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1FFA1D-0AF0-1C38-9956-468B527B2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3351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31B8-9F67-2982-8F07-BA6A4237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C6E86-AFC6-477B-856B-F360E6480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A0A5B2-4663-7780-DABB-ACCF2997A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85B5-ECAB-88FB-A834-6813A73B7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048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053A5-0CE3-B95C-546A-AC83DC65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44DA7-EC7A-DA24-F217-DE12FC384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6FE45A-0F1C-0985-BCBB-839E4C5A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99905-E3EA-344E-CF32-C30C95A2D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185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485E-8048-813F-B71D-279DBD18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E541C26-37CF-D299-54F2-DC32944D504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36DD4400-E809-2F21-E625-936929E03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9E3BEB02-C16A-E81A-428D-142A8966F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0209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E193-B639-AD4F-E34F-2EE5BF66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B5E85B-F5A8-665B-E412-D1C748A4B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FDB31-7AF4-2343-BFBD-DD637EF85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3AEB05-2B32-874B-1FE0-9C6F73CCE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6635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59F7-5F75-9CED-8BC1-DB4731DE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5BEF34-8EB1-D6BD-3316-2121033F8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48410-18D5-44CF-1E0C-76EEF19F5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8A8AA9-66CE-2AA2-299A-677602716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8424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3E73-92E5-23C4-79C8-BC22ABD2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9C5A11-854F-9873-B623-2D4F4B3F5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FC8C72-EC30-3008-9F3B-0A787C1D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7DC2C-EF5C-8CDF-04DD-DC92C66C3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7946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8C9-A80A-A541-89E7-7948C6A5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C2118-7D5C-AF06-8106-D03A98F81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2B08D0-B046-BC0A-BCE8-0870908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4F46E-56E1-B6B5-C6FA-E1973809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8095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3398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9243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0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8C9-A80A-A541-89E7-7948C6A5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C2118-7D5C-AF06-8106-D03A98F81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2B08D0-B046-BC0A-BCE8-0870908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4F46E-56E1-B6B5-C6FA-E1973809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097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8C9-A80A-A541-89E7-7948C6A5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C2118-7D5C-AF06-8106-D03A98F81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2B08D0-B046-BC0A-BCE8-0870908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4F46E-56E1-B6B5-C6FA-E1973809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546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1.png"/><Relationship Id="rId4" Type="http://schemas.openxmlformats.org/officeDocument/2006/relationships/image" Target="../media/image39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image" Target="../media/image37.emf"/><Relationship Id="rId18" Type="http://schemas.openxmlformats.org/officeDocument/2006/relationships/image" Target="../media/image4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12" Type="http://schemas.openxmlformats.org/officeDocument/2006/relationships/image" Target="../media/image36.emf"/><Relationship Id="rId17" Type="http://schemas.openxmlformats.org/officeDocument/2006/relationships/image" Target="../media/image41.emf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0.emf"/><Relationship Id="rId20" Type="http://schemas.openxmlformats.org/officeDocument/2006/relationships/image" Target="../media/image4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emf"/><Relationship Id="rId11" Type="http://schemas.openxmlformats.org/officeDocument/2006/relationships/image" Target="../media/image35.emf"/><Relationship Id="rId5" Type="http://schemas.openxmlformats.org/officeDocument/2006/relationships/image" Target="../media/image29.emf"/><Relationship Id="rId15" Type="http://schemas.openxmlformats.org/officeDocument/2006/relationships/image" Target="../media/image39.emf"/><Relationship Id="rId10" Type="http://schemas.openxmlformats.org/officeDocument/2006/relationships/image" Target="../media/image34.emf"/><Relationship Id="rId19" Type="http://schemas.openxmlformats.org/officeDocument/2006/relationships/image" Target="../media/image43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Relationship Id="rId14" Type="http://schemas.openxmlformats.org/officeDocument/2006/relationships/image" Target="../media/image38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390.png"/><Relationship Id="rId18" Type="http://schemas.openxmlformats.org/officeDocument/2006/relationships/image" Target="../media/image290.png"/><Relationship Id="rId26" Type="http://schemas.openxmlformats.org/officeDocument/2006/relationships/image" Target="../media/image370.png"/><Relationship Id="rId3" Type="http://schemas.openxmlformats.org/officeDocument/2006/relationships/image" Target="../media/image60.png"/><Relationship Id="rId21" Type="http://schemas.openxmlformats.org/officeDocument/2006/relationships/image" Target="../media/image320.png"/><Relationship Id="rId7" Type="http://schemas.openxmlformats.org/officeDocument/2006/relationships/image" Target="../media/image180.png"/><Relationship Id="rId12" Type="http://schemas.openxmlformats.org/officeDocument/2006/relationships/image" Target="../media/image381.png"/><Relationship Id="rId17" Type="http://schemas.openxmlformats.org/officeDocument/2006/relationships/image" Target="../media/image280.png"/><Relationship Id="rId25" Type="http://schemas.openxmlformats.org/officeDocument/2006/relationships/image" Target="../media/image360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270.png"/><Relationship Id="rId20" Type="http://schemas.openxmlformats.org/officeDocument/2006/relationships/image" Target="../media/image3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0.png"/><Relationship Id="rId11" Type="http://schemas.openxmlformats.org/officeDocument/2006/relationships/image" Target="../media/image371.png"/><Relationship Id="rId24" Type="http://schemas.openxmlformats.org/officeDocument/2006/relationships/image" Target="../media/image350.png"/><Relationship Id="rId5" Type="http://schemas.openxmlformats.org/officeDocument/2006/relationships/image" Target="../media/image160.png"/><Relationship Id="rId15" Type="http://schemas.openxmlformats.org/officeDocument/2006/relationships/image" Target="../media/image260.png"/><Relationship Id="rId23" Type="http://schemas.openxmlformats.org/officeDocument/2006/relationships/image" Target="../media/image340.png"/><Relationship Id="rId10" Type="http://schemas.openxmlformats.org/officeDocument/2006/relationships/image" Target="../media/image361.png"/><Relationship Id="rId19" Type="http://schemas.openxmlformats.org/officeDocument/2006/relationships/image" Target="../media/image300.png"/><Relationship Id="rId4" Type="http://schemas.openxmlformats.org/officeDocument/2006/relationships/image" Target="../media/image341.png"/><Relationship Id="rId9" Type="http://schemas.openxmlformats.org/officeDocument/2006/relationships/image" Target="../media/image351.png"/><Relationship Id="rId14" Type="http://schemas.openxmlformats.org/officeDocument/2006/relationships/image" Target="../media/image250.png"/><Relationship Id="rId22" Type="http://schemas.openxmlformats.org/officeDocument/2006/relationships/image" Target="../media/image330.png"/><Relationship Id="rId27" Type="http://schemas.openxmlformats.org/officeDocument/2006/relationships/image" Target="../media/image38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image" Target="../media/image390.png"/><Relationship Id="rId18" Type="http://schemas.openxmlformats.org/officeDocument/2006/relationships/image" Target="../media/image490.png"/><Relationship Id="rId3" Type="http://schemas.openxmlformats.org/officeDocument/2006/relationships/image" Target="../media/image60.png"/><Relationship Id="rId21" Type="http://schemas.openxmlformats.org/officeDocument/2006/relationships/image" Target="../media/image61.png"/><Relationship Id="rId7" Type="http://schemas.openxmlformats.org/officeDocument/2006/relationships/image" Target="../media/image420.png"/><Relationship Id="rId12" Type="http://schemas.openxmlformats.org/officeDocument/2006/relationships/image" Target="../media/image381.png"/><Relationship Id="rId17" Type="http://schemas.openxmlformats.org/officeDocument/2006/relationships/image" Target="../media/image480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470.png"/><Relationship Id="rId20" Type="http://schemas.openxmlformats.org/officeDocument/2006/relationships/image" Target="../media/image5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0.png"/><Relationship Id="rId11" Type="http://schemas.openxmlformats.org/officeDocument/2006/relationships/image" Target="../media/image440.png"/><Relationship Id="rId5" Type="http://schemas.openxmlformats.org/officeDocument/2006/relationships/image" Target="../media/image400.png"/><Relationship Id="rId15" Type="http://schemas.openxmlformats.org/officeDocument/2006/relationships/image" Target="../media/image460.png"/><Relationship Id="rId10" Type="http://schemas.openxmlformats.org/officeDocument/2006/relationships/image" Target="../media/image361.png"/><Relationship Id="rId19" Type="http://schemas.openxmlformats.org/officeDocument/2006/relationships/image" Target="../media/image500.png"/><Relationship Id="rId4" Type="http://schemas.openxmlformats.org/officeDocument/2006/relationships/image" Target="../media/image341.png"/><Relationship Id="rId9" Type="http://schemas.openxmlformats.org/officeDocument/2006/relationships/image" Target="../media/image351.png"/><Relationship Id="rId14" Type="http://schemas.openxmlformats.org/officeDocument/2006/relationships/image" Target="../media/image45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72.emf"/><Relationship Id="rId18" Type="http://schemas.openxmlformats.org/officeDocument/2006/relationships/image" Target="../media/image77.emf"/><Relationship Id="rId3" Type="http://schemas.openxmlformats.org/officeDocument/2006/relationships/image" Target="../media/image62.emf"/><Relationship Id="rId21" Type="http://schemas.openxmlformats.org/officeDocument/2006/relationships/image" Target="../media/image80.emf"/><Relationship Id="rId7" Type="http://schemas.openxmlformats.org/officeDocument/2006/relationships/image" Target="../media/image66.emf"/><Relationship Id="rId12" Type="http://schemas.openxmlformats.org/officeDocument/2006/relationships/image" Target="../media/image71.emf"/><Relationship Id="rId17" Type="http://schemas.openxmlformats.org/officeDocument/2006/relationships/image" Target="../media/image76.emf"/><Relationship Id="rId25" Type="http://schemas.openxmlformats.org/officeDocument/2006/relationships/image" Target="../media/image84.emf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75.emf"/><Relationship Id="rId20" Type="http://schemas.openxmlformats.org/officeDocument/2006/relationships/image" Target="../media/image79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emf"/><Relationship Id="rId11" Type="http://schemas.openxmlformats.org/officeDocument/2006/relationships/image" Target="../media/image70.emf"/><Relationship Id="rId24" Type="http://schemas.openxmlformats.org/officeDocument/2006/relationships/image" Target="../media/image83.emf"/><Relationship Id="rId5" Type="http://schemas.openxmlformats.org/officeDocument/2006/relationships/image" Target="../media/image64.emf"/><Relationship Id="rId15" Type="http://schemas.openxmlformats.org/officeDocument/2006/relationships/image" Target="../media/image74.emf"/><Relationship Id="rId23" Type="http://schemas.openxmlformats.org/officeDocument/2006/relationships/image" Target="../media/image82.emf"/><Relationship Id="rId10" Type="http://schemas.openxmlformats.org/officeDocument/2006/relationships/image" Target="../media/image69.emf"/><Relationship Id="rId19" Type="http://schemas.openxmlformats.org/officeDocument/2006/relationships/image" Target="../media/image78.emf"/><Relationship Id="rId4" Type="http://schemas.openxmlformats.org/officeDocument/2006/relationships/image" Target="../media/image63.emf"/><Relationship Id="rId9" Type="http://schemas.openxmlformats.org/officeDocument/2006/relationships/image" Target="../media/image68.emf"/><Relationship Id="rId14" Type="http://schemas.openxmlformats.org/officeDocument/2006/relationships/image" Target="../media/image73.emf"/><Relationship Id="rId22" Type="http://schemas.openxmlformats.org/officeDocument/2006/relationships/image" Target="../media/image8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2024-03-21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648643"/>
              </p:ext>
            </p:extLst>
          </p:nvPr>
        </p:nvGraphicFramePr>
        <p:xfrm>
          <a:off x="1568900" y="2036837"/>
          <a:ext cx="7318019" cy="390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Method Coding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연구결과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803169" y="4845685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2784764" y="4936176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2526"/>
              </p:ext>
            </p:extLst>
          </p:nvPr>
        </p:nvGraphicFramePr>
        <p:xfrm>
          <a:off x="1568899" y="1071002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462844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A62-415E-F823-95A3-2A3F9FB6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BD28B0-3C4F-F54F-2C2F-3188226C1D79}"/>
              </a:ext>
            </a:extLst>
          </p:cNvPr>
          <p:cNvSpPr/>
          <p:nvPr/>
        </p:nvSpPr>
        <p:spPr bwMode="auto">
          <a:xfrm>
            <a:off x="164387" y="6327787"/>
            <a:ext cx="353431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7D16D44-C2BF-EB8E-A37A-375184068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88691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Multiple Sub-Constellations for Multiple Target Points</a:t>
            </a:r>
          </a:p>
          <a:p>
            <a:pPr lvl="1">
              <a:defRPr/>
            </a:pPr>
            <a:r>
              <a:rPr lang="ko-KR" altLang="en-US" dirty="0"/>
              <a:t>모든 상황을 고려하였을 때 최종 </a:t>
            </a:r>
            <a:r>
              <a:rPr lang="ko-KR" altLang="en-US" dirty="0" err="1"/>
              <a:t>일반식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ko-KR" altLang="en-US" dirty="0"/>
              <a:t>                 </a:t>
            </a: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marL="576000" lvl="3" indent="0">
              <a:buNone/>
              <a:defRPr/>
            </a:pPr>
            <a:endParaRPr lang="en-US" altLang="ko-KR" dirty="0"/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6DE6CE-C1C4-2B23-5A05-EBC7367D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4A60E6A-B990-36C5-4933-D2E1B28B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B510D-EE14-5505-4D88-A99939005CBB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1FE3F3-B72C-D9B1-61DA-338EFBDA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33" y="1820211"/>
            <a:ext cx="4198437" cy="21025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AEE387-8E6F-09F7-D835-C204E8C65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029" y="2234837"/>
            <a:ext cx="3695700" cy="1181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61C077-3D8B-68FC-0024-F0680D8F1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184041"/>
            <a:ext cx="4855984" cy="22451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07077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2109-57E2-AD94-9F95-A2FA750E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537F8429-5CCB-CF0C-BE47-A1C7539E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10</a:t>
            </a:r>
            <a:r>
              <a:rPr lang="ko-KR" altLang="en-US" dirty="0"/>
              <a:t>*</a:t>
            </a:r>
            <a:r>
              <a:rPr lang="en-US" altLang="ko-KR" dirty="0"/>
              <a:t>10 </a:t>
            </a:r>
            <a:r>
              <a:rPr lang="ko-KR" altLang="en-US" dirty="0"/>
              <a:t>행렬</a:t>
            </a:r>
            <a:r>
              <a:rPr lang="en-US" altLang="ko-KR" dirty="0"/>
              <a:t>(</a:t>
            </a:r>
            <a:r>
              <a:rPr lang="en-US" altLang="ko-KR" dirty="0" err="1"/>
              <a:t>Stepsize</a:t>
            </a:r>
            <a:r>
              <a:rPr lang="en-US" altLang="ko-KR" dirty="0"/>
              <a:t> = 8640s)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28E5F1-910C-FDFF-937A-D7C4847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BDEDF5F-B422-D9FC-73C9-F2547640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B79286-A09E-CEE1-2FF4-BED1ED2825C2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6152A8-7451-782C-5BA5-BBF3B1F748DF}"/>
              </a:ext>
            </a:extLst>
          </p:cNvPr>
          <p:cNvGraphicFramePr>
            <a:graphicFrameLocks noGrp="1"/>
          </p:cNvGraphicFramePr>
          <p:nvPr/>
        </p:nvGraphicFramePr>
        <p:xfrm>
          <a:off x="123773" y="1762970"/>
          <a:ext cx="609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4997199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0390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6112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08696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601525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71515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68329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53820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30668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77213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964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25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5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06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22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02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87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9869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51A6F4A-EAEB-D986-22F0-96A78DD5D8EB}"/>
              </a:ext>
            </a:extLst>
          </p:cNvPr>
          <p:cNvGraphicFramePr>
            <a:graphicFrameLocks noGrp="1"/>
          </p:cNvGraphicFramePr>
          <p:nvPr/>
        </p:nvGraphicFramePr>
        <p:xfrm>
          <a:off x="6736768" y="1762970"/>
          <a:ext cx="609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571732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16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9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42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26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98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12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66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51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7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33975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7B42C38-90B1-7912-A66D-03B65643F8F7}"/>
              </a:ext>
            </a:extLst>
          </p:cNvPr>
          <p:cNvGraphicFramePr>
            <a:graphicFrameLocks noGrp="1"/>
          </p:cNvGraphicFramePr>
          <p:nvPr/>
        </p:nvGraphicFramePr>
        <p:xfrm>
          <a:off x="8091534" y="1762970"/>
          <a:ext cx="609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571732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16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9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2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526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8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12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66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51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7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3397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927E04-962B-7F9A-0229-BDF67301622E}"/>
              </a:ext>
            </a:extLst>
          </p:cNvPr>
          <p:cNvSpPr txBox="1"/>
          <p:nvPr/>
        </p:nvSpPr>
        <p:spPr>
          <a:xfrm>
            <a:off x="6322513" y="3429000"/>
            <a:ext cx="375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0" dirty="0">
                <a:solidFill>
                  <a:schemeClr val="tx1"/>
                </a:solidFill>
              </a:rPr>
              <a:t>×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FBBC12-A2A8-A880-3465-9010E260AE8B}"/>
              </a:ext>
            </a:extLst>
          </p:cNvPr>
          <p:cNvSpPr txBox="1"/>
          <p:nvPr/>
        </p:nvSpPr>
        <p:spPr>
          <a:xfrm>
            <a:off x="7598228" y="3429000"/>
            <a:ext cx="375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0" dirty="0">
                <a:solidFill>
                  <a:schemeClr val="tx1"/>
                </a:solidFill>
              </a:rPr>
              <a:t>=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B80EF6-AACC-BD30-C7AD-A4006EED05DE}"/>
                  </a:ext>
                </a:extLst>
              </p:cNvPr>
              <p:cNvSpPr txBox="1"/>
              <p:nvPr/>
            </p:nvSpPr>
            <p:spPr>
              <a:xfrm>
                <a:off x="885773" y="5668399"/>
                <a:ext cx="4572000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1400" b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= 10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*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10 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행렬 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(n=9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로 가정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)</a:t>
                </a:r>
                <a:endParaRPr lang="ko-KR" altLang="en-US" sz="1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5DF61B-D827-10B1-62D9-078BF739B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73" y="5668399"/>
                <a:ext cx="4572000" cy="325089"/>
              </a:xfrm>
              <a:prstGeom prst="rect">
                <a:avLst/>
              </a:prstGeom>
              <a:blipFill>
                <a:blip r:embed="rId3"/>
                <a:stretch>
                  <a:fillRect t="-5660" b="-1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AC5C4C-B7E1-A479-577E-8AAA7EF7D746}"/>
                  </a:ext>
                </a:extLst>
              </p:cNvPr>
              <p:cNvSpPr txBox="1"/>
              <p:nvPr/>
            </p:nvSpPr>
            <p:spPr>
              <a:xfrm>
                <a:off x="5787506" y="5567313"/>
                <a:ext cx="2302644" cy="527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위성</m:t>
                    </m:r>
                  </m:oMath>
                </a14:m>
                <a:r>
                  <a:rPr lang="ko-KR" altLang="en-US" sz="1400" b="0" dirty="0">
                    <a:solidFill>
                      <a:schemeClr val="tx1"/>
                    </a:solidFill>
                  </a:rPr>
                  <a:t> 전파시각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 latinLnBrk="1"/>
                <a:r>
                  <a:rPr lang="en-US" altLang="ko-KR" sz="1400" b="0" dirty="0">
                    <a:solidFill>
                      <a:schemeClr val="tx1"/>
                    </a:solidFill>
                  </a:rPr>
                  <a:t>(n = 0, 8)</a:t>
                </a:r>
                <a:endParaRPr lang="ko-KR" altLang="en-US" sz="1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CCED48-3A86-9EB8-0765-6BDA3C9B7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506" y="5567313"/>
                <a:ext cx="2302644" cy="527260"/>
              </a:xfrm>
              <a:prstGeom prst="rect">
                <a:avLst/>
              </a:prstGeom>
              <a:blipFill>
                <a:blip r:embed="rId4"/>
                <a:stretch>
                  <a:fillRect t="-1149" b="-103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41229F-1390-87FE-64FE-2DE988E4A5A6}"/>
                  </a:ext>
                </a:extLst>
              </p:cNvPr>
              <p:cNvSpPr txBox="1"/>
              <p:nvPr/>
            </p:nvSpPr>
            <p:spPr>
              <a:xfrm>
                <a:off x="7640866" y="5567313"/>
                <a:ext cx="1510935" cy="547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ko-KR" sz="140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400" b="0" dirty="0">
                    <a:solidFill>
                      <a:schemeClr val="tx1"/>
                    </a:solidFill>
                  </a:rPr>
                  <a:t>imeline)</a:t>
                </a:r>
              </a:p>
              <a:p>
                <a:pPr algn="ctr" latinLnBrk="1"/>
                <a:r>
                  <a:rPr lang="en-US" altLang="ko-KR" sz="1400" b="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위성 중복 횟수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)</a:t>
                </a:r>
                <a:endParaRPr lang="ko-KR" altLang="en-US" sz="1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DBDBA-7E82-25C3-760D-F98C1CAA5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866" y="5567313"/>
                <a:ext cx="1510935" cy="547779"/>
              </a:xfrm>
              <a:prstGeom prst="rect">
                <a:avLst/>
              </a:prstGeom>
              <a:blipFill>
                <a:blip r:embed="rId5"/>
                <a:stretch>
                  <a:fillRect l="-403" t="-2222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1BCDAD-CCAD-CBC4-2C53-2F5A746806DA}"/>
              </a:ext>
            </a:extLst>
          </p:cNvPr>
          <p:cNvSpPr/>
          <p:nvPr/>
        </p:nvSpPr>
        <p:spPr bwMode="auto">
          <a:xfrm>
            <a:off x="123773" y="1762970"/>
            <a:ext cx="6096000" cy="374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noFill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89720FB-B6EB-DAAE-110F-7A4F321AFAC0}"/>
              </a:ext>
            </a:extLst>
          </p:cNvPr>
          <p:cNvCxnSpPr/>
          <p:nvPr/>
        </p:nvCxnSpPr>
        <p:spPr>
          <a:xfrm flipV="1">
            <a:off x="5774076" y="1489753"/>
            <a:ext cx="226767" cy="2732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AB0713-F7B2-9818-22A3-C343632F7A42}"/>
              </a:ext>
            </a:extLst>
          </p:cNvPr>
          <p:cNvSpPr txBox="1"/>
          <p:nvPr/>
        </p:nvSpPr>
        <p:spPr>
          <a:xfrm>
            <a:off x="5465591" y="896251"/>
            <a:ext cx="2302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400" b="0" dirty="0">
                <a:solidFill>
                  <a:srgbClr val="FF0000"/>
                </a:solidFill>
              </a:rPr>
              <a:t>Seed Satellite</a:t>
            </a:r>
            <a:r>
              <a:rPr lang="ko-KR" altLang="en-US" sz="1400" dirty="0">
                <a:solidFill>
                  <a:srgbClr val="FF0000"/>
                </a:solidFill>
              </a:rPr>
              <a:t> 한 대의 </a:t>
            </a:r>
            <a:r>
              <a:rPr lang="en-US" altLang="ko-KR" sz="1400" dirty="0">
                <a:solidFill>
                  <a:srgbClr val="FF0000"/>
                </a:solidFill>
              </a:rPr>
              <a:t>Coverage Timeline</a:t>
            </a:r>
            <a:endParaRPr lang="ko-KR" altLang="en-US" sz="1400" b="0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C66835-77B8-2571-BE61-4C3CA6105422}"/>
              </a:ext>
            </a:extLst>
          </p:cNvPr>
          <p:cNvSpPr/>
          <p:nvPr/>
        </p:nvSpPr>
        <p:spPr bwMode="auto">
          <a:xfrm>
            <a:off x="6736768" y="1762970"/>
            <a:ext cx="609600" cy="3708400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55D917-497C-FE66-67D4-CA4CCD337890}"/>
              </a:ext>
            </a:extLst>
          </p:cNvPr>
          <p:cNvCxnSpPr/>
          <p:nvPr/>
        </p:nvCxnSpPr>
        <p:spPr>
          <a:xfrm flipV="1">
            <a:off x="7365425" y="1489752"/>
            <a:ext cx="226767" cy="27321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B7F3DC-9993-864F-5152-B35FA9891E61}"/>
              </a:ext>
            </a:extLst>
          </p:cNvPr>
          <p:cNvSpPr txBox="1"/>
          <p:nvPr/>
        </p:nvSpPr>
        <p:spPr>
          <a:xfrm>
            <a:off x="7175050" y="918384"/>
            <a:ext cx="2302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400" b="0" dirty="0">
                <a:solidFill>
                  <a:srgbClr val="0070C0"/>
                </a:solidFill>
              </a:rPr>
              <a:t>위성의 </a:t>
            </a:r>
            <a:r>
              <a:rPr lang="en-US" altLang="ko-KR" sz="1400" b="0" dirty="0">
                <a:solidFill>
                  <a:srgbClr val="0070C0"/>
                </a:solidFill>
              </a:rPr>
              <a:t>n </a:t>
            </a:r>
            <a:r>
              <a:rPr lang="ko-KR" altLang="en-US" sz="1400" b="0" dirty="0">
                <a:solidFill>
                  <a:srgbClr val="0070C0"/>
                </a:solidFill>
              </a:rPr>
              <a:t>조합을</a:t>
            </a:r>
            <a:endParaRPr lang="en-US" altLang="ko-KR" sz="1400" b="0" dirty="0">
              <a:solidFill>
                <a:srgbClr val="0070C0"/>
              </a:solidFill>
            </a:endParaRPr>
          </a:p>
          <a:p>
            <a:pPr algn="ctr" latinLnBrk="1"/>
            <a:r>
              <a:rPr lang="ko-KR" altLang="en-US" sz="1400" b="0" dirty="0">
                <a:solidFill>
                  <a:srgbClr val="0070C0"/>
                </a:solidFill>
              </a:rPr>
              <a:t>구하는 것이 목표</a:t>
            </a:r>
          </a:p>
        </p:txBody>
      </p:sp>
    </p:spTree>
    <p:extLst>
      <p:ext uri="{BB962C8B-B14F-4D97-AF65-F5344CB8AC3E}">
        <p14:creationId xmlns:p14="http://schemas.microsoft.com/office/powerpoint/2010/main" val="398353020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1)</a:t>
            </a:r>
          </a:p>
          <a:p>
            <a:pPr lvl="1">
              <a:defRPr/>
            </a:pPr>
            <a:r>
              <a:rPr lang="en-US" altLang="ko-KR" dirty="0"/>
              <a:t>Example (1) : </a:t>
            </a:r>
            <a:r>
              <a:rPr lang="en-US" altLang="ko-KR" b="1" u="sng" dirty="0"/>
              <a:t>single-fold</a:t>
            </a:r>
            <a:r>
              <a:rPr lang="en-US" altLang="ko-KR" dirty="0"/>
              <a:t> continuous coverage over a </a:t>
            </a:r>
            <a:r>
              <a:rPr lang="en-US" altLang="ko-KR" b="1" u="sng" dirty="0"/>
              <a:t>single target point</a:t>
            </a:r>
          </a:p>
          <a:p>
            <a:pPr lvl="1">
              <a:defRPr/>
            </a:pPr>
            <a:r>
              <a:rPr lang="en-US" altLang="ko-KR" dirty="0"/>
              <a:t>Example (2) : </a:t>
            </a:r>
            <a:r>
              <a:rPr lang="en-US" altLang="ko-KR" b="1" u="sng" dirty="0"/>
              <a:t>time-varying </a:t>
            </a:r>
            <a:r>
              <a:rPr lang="en-US" altLang="ko-KR" dirty="0"/>
              <a:t>coverage over a </a:t>
            </a:r>
            <a:r>
              <a:rPr lang="en-US" altLang="ko-KR" b="1" u="sng" dirty="0"/>
              <a:t>single target point</a:t>
            </a:r>
          </a:p>
          <a:p>
            <a:pPr lvl="1">
              <a:defRPr/>
            </a:pPr>
            <a:r>
              <a:rPr lang="en-US" altLang="ko-KR" dirty="0"/>
              <a:t>Example (3) : single-fold continuous coverage over multiple target points</a:t>
            </a:r>
          </a:p>
          <a:p>
            <a:pPr lvl="1">
              <a:defRPr/>
            </a:pPr>
            <a:r>
              <a:rPr lang="en-US" altLang="ko-KR" dirty="0"/>
              <a:t>Example (4) : time-varying and spatially varying coverage over multiple target points</a:t>
            </a:r>
          </a:p>
          <a:p>
            <a:pPr lvl="1">
              <a:defRPr/>
            </a:pPr>
            <a:r>
              <a:rPr lang="en-US" altLang="ko-KR" dirty="0"/>
              <a:t>Example (5) :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over multiple target points</a:t>
            </a:r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논문 예시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32768-47BD-01F8-4F6D-4DD80722DA50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639E0EF-BC3C-5463-FE16-A41EB37F0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97404"/>
              </p:ext>
            </p:extLst>
          </p:nvPr>
        </p:nvGraphicFramePr>
        <p:xfrm>
          <a:off x="818054" y="327935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3D8554-82B3-876D-C6A7-1DEC551E0349}"/>
                  </a:ext>
                </a:extLst>
              </p:cNvPr>
              <p:cNvSpPr txBox="1"/>
              <p:nvPr/>
            </p:nvSpPr>
            <p:spPr>
              <a:xfrm>
                <a:off x="889972" y="4765574"/>
                <a:ext cx="6128473" cy="1283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œ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ko-KR" b="0" dirty="0"/>
                  <a:t>   </a:t>
                </a:r>
                <a:r>
                  <a:rPr lang="ko-KR" altLang="en-US" dirty="0"/>
                  <a:t>→</a:t>
                </a:r>
                <a:r>
                  <a:rPr lang="en-US" altLang="ko-KR" b="0" dirty="0"/>
                  <a:t>   </a:t>
                </a:r>
                <a:r>
                  <a:rPr lang="en-US" altLang="ko-KR" dirty="0"/>
                  <a:t>8059km (</a:t>
                </a:r>
                <a:r>
                  <a:rPr lang="ko-KR" altLang="en-US" dirty="0"/>
                  <a:t>고도 </a:t>
                </a:r>
                <a:r>
                  <a:rPr lang="en-US" altLang="ko-KR" b="0" dirty="0"/>
                  <a:t>1,681</a:t>
                </a:r>
                <a:r>
                  <a:rPr lang="en-US" altLang="ko-KR" dirty="0"/>
                  <a:t>km, r=6378km)</a:t>
                </a:r>
                <a:endParaRPr lang="en-US" altLang="ko-KR" b="0" dirty="0"/>
              </a:p>
              <a:p>
                <a:endParaRPr lang="en-US" altLang="ko-KR" b="0" dirty="0"/>
              </a:p>
              <a:p>
                <a:r>
                  <a:rPr lang="en-US" altLang="ko-KR" b="0" dirty="0"/>
                  <a:t> 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3D8554-82B3-876D-C6A7-1DEC551E0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72" y="4765574"/>
                <a:ext cx="6128473" cy="1283300"/>
              </a:xfrm>
              <a:prstGeom prst="rect">
                <a:avLst/>
              </a:prstGeom>
              <a:blipFill>
                <a:blip r:embed="rId3"/>
                <a:stretch>
                  <a:fillRect l="-1095" t="-2381" r="-1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를 통한 궤도 설정 및 전파</a:t>
            </a:r>
            <a:endParaRPr lang="en-US" altLang="ko-KR" dirty="0"/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궤도요소 및 중력모델의 자유로운 설정 가능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Matlab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Aerospace tool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 비해 정확함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Ground Station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 대한 </a:t>
            </a: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PassData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를 출력 가능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>
              <a:defRPr/>
            </a:pPr>
            <a:r>
              <a:rPr lang="en-US" altLang="ko-KR" dirty="0" err="1"/>
              <a:t>Matlab</a:t>
            </a:r>
            <a:r>
              <a:rPr lang="ko-KR" altLang="en-US" dirty="0"/>
              <a:t>을 통한 결과 분석</a:t>
            </a: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운용개념을 바탕으로 직접 코드 작성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PassData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를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input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으로 하여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APC Decomposition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출력 가능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논문 예시 검증방법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28D30F-ACD3-64BC-800A-6C8688C4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85" y="928686"/>
            <a:ext cx="6179693" cy="5399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20235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</a:t>
            </a:r>
            <a:r>
              <a:rPr lang="ko-KR" altLang="en-US" dirty="0"/>
              <a:t>연구결과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8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논문에서의 결과</a:t>
            </a:r>
            <a:r>
              <a:rPr lang="en-US" altLang="ko-KR" dirty="0"/>
              <a:t>(Coverage</a:t>
            </a:r>
            <a:r>
              <a:rPr lang="ko-KR" altLang="en-US" dirty="0"/>
              <a:t> </a:t>
            </a:r>
            <a:r>
              <a:rPr lang="en-US" altLang="ko-KR" dirty="0"/>
              <a:t>100%)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5937.6 </a:t>
            </a:r>
            <a:r>
              <a:rPr lang="ko-KR" altLang="en-US" dirty="0"/>
              <a:t>초</a:t>
            </a:r>
            <a:endParaRPr lang="en-US" altLang="ko-KR" dirty="0"/>
          </a:p>
          <a:p>
            <a:pPr marL="576000" lvl="3" indent="0">
              <a:buNone/>
              <a:defRPr/>
            </a:pPr>
            <a:r>
              <a:rPr lang="en-US" altLang="ko-KR" dirty="0"/>
              <a:t> </a:t>
            </a:r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30D52D28-83ED-B50F-30D3-0C082FEFFD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BILP method </a:t>
                </a:r>
                <a:r>
                  <a:rPr lang="ko-KR" altLang="en-US" dirty="0"/>
                  <a:t>연구 결과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30D52D28-83ED-B50F-30D3-0C082FEFF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DAFA216B-0BA3-A55A-FC1C-4356F4AE1F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0418141"/>
                  </p:ext>
                </p:extLst>
              </p:nvPr>
            </p:nvGraphicFramePr>
            <p:xfrm>
              <a:off x="4398456" y="1634211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DAFA216B-0BA3-A55A-FC1C-4356F4AE1F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0418141"/>
                  </p:ext>
                </p:extLst>
              </p:nvPr>
            </p:nvGraphicFramePr>
            <p:xfrm>
              <a:off x="4398456" y="1634211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1343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6790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660" t="-2000" r="-10194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4660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9F736A3-F78C-BC77-7571-410A520DB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47938"/>
              </p:ext>
            </p:extLst>
          </p:nvPr>
        </p:nvGraphicFramePr>
        <p:xfrm>
          <a:off x="6699576" y="1939011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190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425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215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491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263.5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176.3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524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268.5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116.3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556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271.5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589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290.3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230.3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69F72618-3EE8-F6D7-8B32-17EEEDDB0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21" y="1650606"/>
            <a:ext cx="3867745" cy="34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2783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2A0B-3577-CD25-7D3B-4D0C4F6F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6F5D4B0-89AC-42F6-B4CB-1E1D850D4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논문에서의 결과</a:t>
            </a:r>
            <a:r>
              <a:rPr lang="en-US" altLang="ko-KR" dirty="0"/>
              <a:t>(Coverage</a:t>
            </a:r>
            <a:r>
              <a:rPr lang="ko-KR" altLang="en-US" dirty="0"/>
              <a:t> </a:t>
            </a:r>
            <a:r>
              <a:rPr lang="en-US" altLang="ko-KR" dirty="0"/>
              <a:t>100%)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5937.6 </a:t>
            </a:r>
            <a:r>
              <a:rPr lang="ko-KR" altLang="en-US" dirty="0"/>
              <a:t>초</a:t>
            </a:r>
            <a:endParaRPr lang="en-US" altLang="ko-KR" dirty="0"/>
          </a:p>
          <a:p>
            <a:pPr marL="576000" lvl="3" indent="0">
              <a:buNone/>
              <a:defRPr/>
            </a:pPr>
            <a:r>
              <a:rPr lang="en-US" altLang="ko-KR" dirty="0"/>
              <a:t> </a:t>
            </a:r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90BA4F-E869-90A5-A085-8D57BDE3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02F6ED82-15D0-DD9C-1130-1B201EF63E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BILP method </a:t>
                </a:r>
                <a:r>
                  <a:rPr lang="ko-KR" altLang="en-US" dirty="0"/>
                  <a:t>연구 결과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02F6ED82-15D0-DD9C-1130-1B201EF63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E9BD38BB-46C9-449D-52F5-01765FA23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80" y="1735519"/>
            <a:ext cx="4174800" cy="338696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884017"/>
                  </p:ext>
                </p:extLst>
              </p:nvPr>
            </p:nvGraphicFramePr>
            <p:xfrm>
              <a:off x="4579080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884017"/>
                  </p:ext>
                </p:extLst>
              </p:nvPr>
            </p:nvGraphicFramePr>
            <p:xfrm>
              <a:off x="4579080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93" t="-2000" r="-431343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951" t="-2000" r="-256790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4660" t="-2000" r="-10194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4660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8FC0EE-9DC5-EF47-70E8-A8472A14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415585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190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215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446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527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263.5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176.3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268.5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116.3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543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271.5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688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290.3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Times New Roman"/>
                          <a:ea typeface="+mn-ea"/>
                          <a:cs typeface="Times New Roman"/>
                        </a:rPr>
                        <a:t>698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230.3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0477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1)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논문과 실제 시뮬레이션 결과 비교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4D2E0C29-9CD6-0101-5E46-0D7D59AD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358" y="2586310"/>
            <a:ext cx="5334000" cy="4000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8B8981-40C9-9033-A77D-E2E5E894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973" y="2733378"/>
            <a:ext cx="4175872" cy="3639565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F2B6CFD5-3035-4708-EBD1-738CE51E7023}"/>
              </a:ext>
            </a:extLst>
          </p:cNvPr>
          <p:cNvSpPr/>
          <p:nvPr/>
        </p:nvSpPr>
        <p:spPr bwMode="auto">
          <a:xfrm>
            <a:off x="4319651" y="100223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13227-F1D0-0ACE-EA44-F93F4303989A}"/>
              </a:ext>
            </a:extLst>
          </p:cNvPr>
          <p:cNvSpPr txBox="1"/>
          <p:nvPr/>
        </p:nvSpPr>
        <p:spPr>
          <a:xfrm>
            <a:off x="4458737" y="101717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20591301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논문과 실제 시뮬레이션 결과 비교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B8B8981-40C9-9033-A77D-E2E5E894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973" y="2733378"/>
            <a:ext cx="4175872" cy="363956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B484C3-7DB5-217C-C16B-59F13DBE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69274"/>
              </p:ext>
            </p:extLst>
          </p:nvPr>
        </p:nvGraphicFramePr>
        <p:xfrm>
          <a:off x="574044" y="1619790"/>
          <a:ext cx="7612666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39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89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114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164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215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255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265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483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493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533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584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634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659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673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709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6F94607-EC3E-2BE6-1A22-2E5C113D0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311" y="2712665"/>
            <a:ext cx="4230630" cy="36602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177A99-ABDB-C456-4F0D-8A21239AB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2114" y="2586777"/>
            <a:ext cx="5334000" cy="4000500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23DCD94-44FA-950D-EDE6-5B66824F9348}"/>
              </a:ext>
            </a:extLst>
          </p:cNvPr>
          <p:cNvSpPr/>
          <p:nvPr/>
        </p:nvSpPr>
        <p:spPr bwMode="auto">
          <a:xfrm>
            <a:off x="4319651" y="100223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57A23-AF12-2D28-FAC5-660DC0B46E1F}"/>
              </a:ext>
            </a:extLst>
          </p:cNvPr>
          <p:cNvSpPr txBox="1"/>
          <p:nvPr/>
        </p:nvSpPr>
        <p:spPr>
          <a:xfrm>
            <a:off x="4458737" y="101717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41488050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1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4A83F67-B623-B2FA-4506-0F2F9CEF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90038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92%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12.55</a:t>
            </a:r>
            <a:r>
              <a:rPr lang="ko-KR" altLang="en-US" dirty="0"/>
              <a:t>초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237,034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92.22%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/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2250F4-87CF-BCA1-C79A-05AA6F248B84}"/>
              </a:ext>
            </a:extLst>
          </p:cNvPr>
          <p:cNvGraphicFramePr>
            <a:graphicFrameLocks noGrp="1"/>
          </p:cNvGraphicFramePr>
          <p:nvPr/>
        </p:nvGraphicFramePr>
        <p:xfrm>
          <a:off x="6879061" y="194851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4F6874E-3F2D-EE1E-532B-2ECF2F8EA0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703505"/>
                  </p:ext>
                </p:extLst>
              </p:nvPr>
            </p:nvGraphicFramePr>
            <p:xfrm>
              <a:off x="4680681" y="1648464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4F6874E-3F2D-EE1E-532B-2ECF2F8EA0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703505"/>
                  </p:ext>
                </p:extLst>
              </p:nvPr>
            </p:nvGraphicFramePr>
            <p:xfrm>
              <a:off x="4680681" y="1648464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88EFBA6-1212-EBF4-18D4-9ED8D077A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346163"/>
              </p:ext>
            </p:extLst>
          </p:nvPr>
        </p:nvGraphicFramePr>
        <p:xfrm>
          <a:off x="6880200" y="1953264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203.5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18845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5DC5BAD-F434-49CE-6C9D-F8CC5866B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548" y="1190038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93%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114.02</a:t>
            </a:r>
            <a:r>
              <a:rPr lang="ko-KR" altLang="en-US" dirty="0"/>
              <a:t>초</a:t>
            </a:r>
            <a:r>
              <a:rPr lang="en-US" altLang="ko-KR" dirty="0"/>
              <a:t> (</a:t>
            </a:r>
            <a:r>
              <a:rPr lang="ko-KR" altLang="en-US" dirty="0"/>
              <a:t>약 </a:t>
            </a:r>
            <a:r>
              <a:rPr lang="en-US" altLang="ko-KR" dirty="0"/>
              <a:t>1.9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2,119,404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93.1944%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/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703653"/>
                  </p:ext>
                </p:extLst>
              </p:nvPr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703653"/>
                  </p:ext>
                </p:extLst>
              </p:nvPr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2250F4-87CF-BCA1-C79A-05AA6F248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403348"/>
              </p:ext>
            </p:extLst>
          </p:nvPr>
        </p:nvGraphicFramePr>
        <p:xfrm>
          <a:off x="6879061" y="194851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116.3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323.5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0907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4E201C3-73A1-B918-2CB9-51E748317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7937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94%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174.16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2.9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3,305,700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94.0278%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7495690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7495690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88447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28317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95%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505.76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8.43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9,464,014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95.1389%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02A8518-D544-2BAD-3982-F86C8CAA9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9798"/>
            <a:ext cx="5334000" cy="40005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985544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985544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45019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55164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6C45F81-2E6C-653F-E120-C58897DE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9798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96%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17389.32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4</a:t>
            </a:r>
            <a:r>
              <a:rPr lang="ko-KR" altLang="en-US" dirty="0"/>
              <a:t>시간 </a:t>
            </a:r>
            <a:r>
              <a:rPr lang="en-US" altLang="ko-KR" dirty="0"/>
              <a:t>49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332,098,342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96.11%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591183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591183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ko-K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749503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6525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2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46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1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Method 1</a:t>
            </a:r>
            <a:r>
              <a:rPr lang="ko-KR" altLang="en-US" dirty="0"/>
              <a:t>에서 얻은 결과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Method 1</a:t>
            </a:r>
            <a:r>
              <a:rPr lang="ko-KR" altLang="en-US" dirty="0"/>
              <a:t>의 결과를 바탕으로 </a:t>
            </a:r>
            <a:r>
              <a:rPr lang="en-US" altLang="ko-KR" dirty="0"/>
              <a:t>n</a:t>
            </a:r>
            <a:r>
              <a:rPr lang="ko-KR" altLang="en-US" dirty="0"/>
              <a:t>을 조정한 결과</a:t>
            </a: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91833D-F77D-81FE-D10E-D648237E4B58}"/>
              </a:ext>
            </a:extLst>
          </p:cNvPr>
          <p:cNvGraphicFramePr>
            <a:graphicFrameLocks noGrp="1"/>
          </p:cNvGraphicFramePr>
          <p:nvPr/>
        </p:nvGraphicFramePr>
        <p:xfrm>
          <a:off x="574043" y="3313897"/>
          <a:ext cx="477202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094042487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4791493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24894564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76333399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933691650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4068520409"/>
                    </a:ext>
                  </a:extLst>
                </a:gridCol>
              </a:tblGrid>
              <a:tr h="227248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3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48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293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305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405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557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706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31883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BE58B2C-E1CD-D34A-E9F1-8A1B526B37EE}"/>
              </a:ext>
            </a:extLst>
          </p:cNvPr>
          <p:cNvGraphicFramePr>
            <a:graphicFrameLocks noGrp="1"/>
          </p:cNvGraphicFramePr>
          <p:nvPr/>
        </p:nvGraphicFramePr>
        <p:xfrm>
          <a:off x="574042" y="4691501"/>
          <a:ext cx="477202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094042487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4791493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24894564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76333399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933691650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4068520409"/>
                    </a:ext>
                  </a:extLst>
                </a:gridCol>
              </a:tblGrid>
              <a:tr h="227248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3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169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257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48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294</a:t>
                      </a:r>
                      <a:endParaRPr lang="ko-KR" altLang="en-US" sz="14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305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401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557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684</a:t>
                      </a:r>
                      <a:endParaRPr lang="ko-KR" altLang="en-US" sz="14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710</a:t>
                      </a:r>
                      <a:endParaRPr lang="ko-KR" altLang="en-US" sz="14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318836"/>
                  </a:ext>
                </a:extLst>
              </a:tr>
            </a:tbl>
          </a:graphicData>
        </a:graphic>
      </p:graphicFrame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1DF267C-BDEB-3A53-4A5D-1AEAA3AEAD2F}"/>
              </a:ext>
            </a:extLst>
          </p:cNvPr>
          <p:cNvSpPr/>
          <p:nvPr/>
        </p:nvSpPr>
        <p:spPr bwMode="auto">
          <a:xfrm>
            <a:off x="5663029" y="3417439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2FEFC72-A5E3-7EE2-A07A-A02B39C1EF18}"/>
              </a:ext>
            </a:extLst>
          </p:cNvPr>
          <p:cNvSpPr/>
          <p:nvPr/>
        </p:nvSpPr>
        <p:spPr bwMode="auto">
          <a:xfrm>
            <a:off x="5663029" y="479809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58E7F-0803-468D-270F-DDD027A1CBE5}"/>
              </a:ext>
            </a:extLst>
          </p:cNvPr>
          <p:cNvSpPr txBox="1"/>
          <p:nvPr/>
        </p:nvSpPr>
        <p:spPr>
          <a:xfrm>
            <a:off x="5802115" y="3432377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95.1389 %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DFB81A-BE7C-BF54-77E1-45916A0D6114}"/>
              </a:ext>
            </a:extLst>
          </p:cNvPr>
          <p:cNvSpPr txBox="1"/>
          <p:nvPr/>
        </p:nvSpPr>
        <p:spPr>
          <a:xfrm>
            <a:off x="5802114" y="4811190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98.1944 %</a:t>
            </a:r>
          </a:p>
        </p:txBody>
      </p:sp>
    </p:spTree>
    <p:extLst>
      <p:ext uri="{BB962C8B-B14F-4D97-AF65-F5344CB8AC3E}">
        <p14:creationId xmlns:p14="http://schemas.microsoft.com/office/powerpoint/2010/main" val="240826038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A4F2482-ECBB-1DE6-6AF8-C000F4B46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6717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Coverage 95% </a:t>
            </a:r>
            <a:r>
              <a:rPr lang="ko-KR" altLang="en-US" dirty="0"/>
              <a:t>결과를 수작업으로 조정</a:t>
            </a:r>
            <a:r>
              <a:rPr lang="en-US" altLang="ko-KR" dirty="0"/>
              <a:t>(1)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47713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47713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74493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6A5ACBF-05A3-D155-D18C-7BF8767CBAEB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1356E-6592-96FD-D1DB-19637D89AFAD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98.1944 %</a:t>
            </a:r>
          </a:p>
        </p:txBody>
      </p:sp>
    </p:spTree>
    <p:extLst>
      <p:ext uri="{BB962C8B-B14F-4D97-AF65-F5344CB8AC3E}">
        <p14:creationId xmlns:p14="http://schemas.microsoft.com/office/powerpoint/2010/main" val="380355185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Coverage 95% </a:t>
            </a:r>
            <a:r>
              <a:rPr lang="ko-KR" altLang="en-US" dirty="0"/>
              <a:t>결과를 수작업으로 조정</a:t>
            </a:r>
            <a:r>
              <a:rPr lang="en-US" altLang="ko-KR" dirty="0"/>
              <a:t>(2)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1D7C90-2FA8-0EBA-00A0-FE9DEB888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91022"/>
            <a:ext cx="5334000" cy="40005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1934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1934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239817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110.3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6A5ACBF-05A3-D155-D18C-7BF8767CBAEB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1356E-6592-96FD-D1DB-19637D89AFAD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98.33 %</a:t>
            </a:r>
          </a:p>
        </p:txBody>
      </p:sp>
    </p:spTree>
    <p:extLst>
      <p:ext uri="{BB962C8B-B14F-4D97-AF65-F5344CB8AC3E}">
        <p14:creationId xmlns:p14="http://schemas.microsoft.com/office/powerpoint/2010/main" val="227102601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F258D06-F7CA-8A83-28ED-085ADA67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7732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Coverage 95% </a:t>
            </a:r>
            <a:r>
              <a:rPr lang="ko-KR" altLang="en-US" dirty="0"/>
              <a:t>결과를 수작업으로 조정</a:t>
            </a:r>
            <a:r>
              <a:rPr lang="en-US" altLang="ko-KR" dirty="0"/>
              <a:t>(3)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27692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27692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91512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6A5ACBF-05A3-D155-D18C-7BF8767CBAEB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1356E-6592-96FD-D1DB-19637D89AFAD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98.4722 %</a:t>
            </a:r>
          </a:p>
        </p:txBody>
      </p:sp>
    </p:spTree>
    <p:extLst>
      <p:ext uri="{BB962C8B-B14F-4D97-AF65-F5344CB8AC3E}">
        <p14:creationId xmlns:p14="http://schemas.microsoft.com/office/powerpoint/2010/main" val="422761864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3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73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DDA5DED-5D59-1A7B-E13C-DF6E6B16C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91022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최대한 높은 성능을 내도록 </a:t>
            </a:r>
            <a:r>
              <a:rPr lang="en-US" altLang="ko-KR" dirty="0"/>
              <a:t>n</a:t>
            </a:r>
            <a:r>
              <a:rPr lang="ko-KR" altLang="en-US" dirty="0"/>
              <a:t>을 직접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n</a:t>
            </a:r>
            <a:r>
              <a:rPr lang="ko-KR" altLang="en-US" dirty="0"/>
              <a:t>의 값을 수작업으로 배치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626326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626326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421747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7A84250-F686-86D3-ADFD-AA0AC99FB2CA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DDEEB-1D31-AFC5-A23D-3D559424A249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99.1667 %</a:t>
            </a:r>
          </a:p>
        </p:txBody>
      </p:sp>
    </p:spTree>
    <p:extLst>
      <p:ext uri="{BB962C8B-B14F-4D97-AF65-F5344CB8AC3E}">
        <p14:creationId xmlns:p14="http://schemas.microsoft.com/office/powerpoint/2010/main" val="420775136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D8FA3B9-03D0-B297-723B-7D44ACCD7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B9BE83-2F39-661B-9B89-07454B8B0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C1CDF5-F9ED-17B9-E1ED-342255AC2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021D404-CEF0-621F-1B5E-EEFE4632A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36537AD-19EF-E0F1-942E-191EFA2D7A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1C4527C-8824-8C94-B61E-40F54034CF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22B2974-5627-9B52-3F5E-5270913894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C662096-4415-B6D3-50A9-3115468219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EF219FA-AAF5-4D3B-EFE3-CC17C5CD9B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52DF541D-80F3-F84B-6A57-088ACEBE7B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7CB0A8A-A895-BE88-08BB-49D9874384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68A9DC8-C108-623C-8544-72EB93A365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48605A4-0842-3709-2D63-129AF8C4AF8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4D378C4-D5B0-25A4-DCAB-F121390A6B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D3313FD-5EBF-AA26-A5BE-F3FF49AEFF1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최대한 높은 성능을 내도록 </a:t>
            </a:r>
            <a:r>
              <a:rPr lang="en-US" altLang="ko-KR" dirty="0"/>
              <a:t>n</a:t>
            </a:r>
            <a:r>
              <a:rPr lang="ko-KR" altLang="en-US" dirty="0"/>
              <a:t>을 </a:t>
            </a:r>
            <a:r>
              <a:rPr lang="en-US" altLang="ko-KR" dirty="0"/>
              <a:t>Timeline</a:t>
            </a:r>
            <a:r>
              <a:rPr lang="ko-KR" altLang="en-US" dirty="0"/>
              <a:t>에 직접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n</a:t>
            </a:r>
            <a:r>
              <a:rPr lang="ko-KR" altLang="en-US" dirty="0"/>
              <a:t>의 값을 </a:t>
            </a:r>
            <a:r>
              <a:rPr lang="en-US" altLang="ko-KR" dirty="0"/>
              <a:t>Timeline</a:t>
            </a:r>
            <a:r>
              <a:rPr lang="ko-KR" altLang="en-US" dirty="0"/>
              <a:t>에 수작업으로 배치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FC8667F-0E80-23E0-7D61-EEEC3A1AA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97531"/>
              </p:ext>
            </p:extLst>
          </p:nvPr>
        </p:nvGraphicFramePr>
        <p:xfrm>
          <a:off x="2185987" y="5448918"/>
          <a:ext cx="477202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094042487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4791493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24894564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76333399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933691650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4068520409"/>
                    </a:ext>
                  </a:extLst>
                </a:gridCol>
              </a:tblGrid>
              <a:tr h="227248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3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48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252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276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372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318836"/>
                  </a:ext>
                </a:extLst>
              </a:tr>
            </a:tbl>
          </a:graphicData>
        </a:graphic>
      </p:graphicFrame>
      <p:pic>
        <p:nvPicPr>
          <p:cNvPr id="67" name="그림 66">
            <a:extLst>
              <a:ext uri="{FF2B5EF4-FFF2-40B4-BE49-F238E27FC236}">
                <a16:creationId xmlns:a16="http://schemas.microsoft.com/office/drawing/2014/main" id="{24070BC7-B092-235D-F1B6-E2EA4B4E30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B94842D4-2350-4B4A-6CD1-253BC3FFACC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E9F78145-6E7F-DFFB-46DD-80E583C9892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29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1</a:t>
            </a: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위성의 배치</a:t>
            </a:r>
            <a:r>
              <a:rPr lang="en-US" altLang="ko-KR" dirty="0">
                <a:solidFill>
                  <a:srgbClr val="1F2328"/>
                </a:solidFill>
              </a:rPr>
              <a:t>(n)</a:t>
            </a:r>
            <a:r>
              <a:rPr lang="ko-KR" altLang="en-US" dirty="0">
                <a:solidFill>
                  <a:srgbClr val="1F2328"/>
                </a:solidFill>
              </a:rPr>
              <a:t>를 모든 </a:t>
            </a:r>
            <a:r>
              <a:rPr lang="en-US" altLang="ko-KR" dirty="0">
                <a:solidFill>
                  <a:srgbClr val="1F2328"/>
                </a:solidFill>
              </a:rPr>
              <a:t>n=720</a:t>
            </a:r>
            <a:r>
              <a:rPr lang="ko-KR" altLang="en-US" dirty="0">
                <a:solidFill>
                  <a:srgbClr val="1F2328"/>
                </a:solidFill>
              </a:rPr>
              <a:t>에 대해 </a:t>
            </a:r>
            <a:r>
              <a:rPr lang="en-US" altLang="ko-KR" dirty="0">
                <a:solidFill>
                  <a:srgbClr val="1F2328"/>
                </a:solidFill>
              </a:rPr>
              <a:t>0</a:t>
            </a:r>
            <a:r>
              <a:rPr lang="ko-KR" altLang="en-US" dirty="0">
                <a:solidFill>
                  <a:srgbClr val="1F2328"/>
                </a:solidFill>
              </a:rPr>
              <a:t>과 </a:t>
            </a:r>
            <a:r>
              <a:rPr lang="en-US" altLang="ko-KR" dirty="0">
                <a:solidFill>
                  <a:srgbClr val="1F2328"/>
                </a:solidFill>
              </a:rPr>
              <a:t>1</a:t>
            </a:r>
            <a:r>
              <a:rPr lang="ko-KR" altLang="en-US" dirty="0">
                <a:solidFill>
                  <a:srgbClr val="1F2328"/>
                </a:solidFill>
              </a:rPr>
              <a:t>의 수로 무작위로 생성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1 : </a:t>
            </a:r>
            <a:r>
              <a:rPr lang="ko-KR" altLang="en-US" dirty="0">
                <a:solidFill>
                  <a:srgbClr val="1F2328"/>
                </a:solidFill>
              </a:rPr>
              <a:t>위성이 존재함</a:t>
            </a:r>
            <a:r>
              <a:rPr lang="en-US" altLang="ko-KR" dirty="0">
                <a:solidFill>
                  <a:srgbClr val="1F2328"/>
                </a:solidFill>
              </a:rPr>
              <a:t>, 0 : </a:t>
            </a:r>
            <a:r>
              <a:rPr lang="ko-KR" altLang="en-US" dirty="0">
                <a:solidFill>
                  <a:srgbClr val="1F2328"/>
                </a:solidFill>
              </a:rPr>
              <a:t>위성이 존재하지 않음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지정한 </a:t>
            </a:r>
            <a:r>
              <a:rPr lang="en-US" altLang="ko-KR" dirty="0">
                <a:solidFill>
                  <a:srgbClr val="1F2328"/>
                </a:solidFill>
              </a:rPr>
              <a:t>Coverage </a:t>
            </a:r>
            <a:r>
              <a:rPr lang="ko-KR" altLang="en-US" dirty="0">
                <a:solidFill>
                  <a:srgbClr val="1F2328"/>
                </a:solidFill>
              </a:rPr>
              <a:t>비율 이상의 조건 달성 시 </a:t>
            </a:r>
            <a:r>
              <a:rPr lang="en-US" altLang="ko-KR" dirty="0">
                <a:solidFill>
                  <a:srgbClr val="1F2328"/>
                </a:solidFill>
              </a:rPr>
              <a:t>n</a:t>
            </a:r>
            <a:r>
              <a:rPr lang="ko-KR" altLang="en-US" dirty="0">
                <a:solidFill>
                  <a:srgbClr val="1F2328"/>
                </a:solidFill>
              </a:rPr>
              <a:t>의 배치가 출력됨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FF0000"/>
                </a:solidFill>
              </a:rPr>
              <a:t>96% </a:t>
            </a:r>
            <a:r>
              <a:rPr lang="ko-KR" altLang="en-US" dirty="0">
                <a:solidFill>
                  <a:srgbClr val="FF0000"/>
                </a:solidFill>
              </a:rPr>
              <a:t>이상으로 설정 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시뮬레이션 시간이 상당히 오래 걸림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프로그래밍 확률에 따라 배치되므로 성능 및 소요 시간이 크게 달라짐</a:t>
            </a:r>
            <a:endParaRPr lang="en-US" altLang="ko-KR" dirty="0">
              <a:solidFill>
                <a:srgbClr val="1F2328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2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1</a:t>
            </a:r>
            <a:r>
              <a:rPr lang="ko-KR" altLang="en-US" dirty="0">
                <a:solidFill>
                  <a:srgbClr val="1F2328"/>
                </a:solidFill>
              </a:rPr>
              <a:t>에서 얻은 결과의 성능 향상을 위해 수작업으로 </a:t>
            </a:r>
            <a:r>
              <a:rPr lang="en-US" altLang="ko-KR" dirty="0">
                <a:solidFill>
                  <a:srgbClr val="1F2328"/>
                </a:solidFill>
              </a:rPr>
              <a:t>n</a:t>
            </a:r>
            <a:r>
              <a:rPr lang="ko-KR" altLang="en-US" dirty="0">
                <a:solidFill>
                  <a:srgbClr val="1F2328"/>
                </a:solidFill>
              </a:rPr>
              <a:t> 값을 미세하게 조정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성능 향상은 보장되지만 </a:t>
            </a:r>
            <a:r>
              <a:rPr lang="ko-KR" altLang="en-US" dirty="0">
                <a:solidFill>
                  <a:srgbClr val="FF0000"/>
                </a:solidFill>
              </a:rPr>
              <a:t>일일이 조정해야 하는 단순 반복적 업무가 요구됨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인접하는 </a:t>
            </a:r>
            <a:r>
              <a:rPr lang="en-US" altLang="ko-KR" dirty="0">
                <a:solidFill>
                  <a:srgbClr val="FF0000"/>
                </a:solidFill>
              </a:rPr>
              <a:t>n</a:t>
            </a:r>
            <a:r>
              <a:rPr lang="ko-KR" altLang="en-US" dirty="0">
                <a:solidFill>
                  <a:srgbClr val="FF0000"/>
                </a:solidFill>
              </a:rPr>
              <a:t>값에 대한 의존성이 높기 때문에 정확하지 않을 수 있음</a:t>
            </a:r>
            <a:endParaRPr lang="en-US" altLang="ko-KR" dirty="0">
              <a:solidFill>
                <a:srgbClr val="1F2328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3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Coverage Timeline</a:t>
            </a:r>
            <a:r>
              <a:rPr lang="ko-KR" altLang="en-US" dirty="0">
                <a:solidFill>
                  <a:srgbClr val="1F2328"/>
                </a:solidFill>
              </a:rPr>
              <a:t>을 보며 모든 위성에 대해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값을 수작업으로 배치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가장 높은 성능을 낼 수는 있지만 </a:t>
            </a:r>
            <a:r>
              <a:rPr lang="ko-KR" altLang="en-US" dirty="0">
                <a:solidFill>
                  <a:srgbClr val="FF0000"/>
                </a:solidFill>
              </a:rPr>
              <a:t>단순 반복적 업무가 요구됨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기준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위성의 </a:t>
            </a:r>
            <a:r>
              <a:rPr lang="en-US" altLang="ko-KR" dirty="0">
                <a:solidFill>
                  <a:srgbClr val="FF0000"/>
                </a:solidFill>
              </a:rPr>
              <a:t>Access Profile</a:t>
            </a:r>
            <a:r>
              <a:rPr lang="ko-KR" altLang="en-US">
                <a:solidFill>
                  <a:srgbClr val="FF0000"/>
                </a:solidFill>
              </a:rPr>
              <a:t>의 분포에 </a:t>
            </a:r>
            <a:r>
              <a:rPr lang="ko-KR" altLang="en-US" dirty="0">
                <a:solidFill>
                  <a:srgbClr val="FF0000"/>
                </a:solidFill>
              </a:rPr>
              <a:t>따라 나머지 </a:t>
            </a:r>
            <a:r>
              <a:rPr lang="en-US" altLang="ko-KR" dirty="0">
                <a:solidFill>
                  <a:srgbClr val="FF0000"/>
                </a:solidFill>
              </a:rPr>
              <a:t>n</a:t>
            </a:r>
            <a:r>
              <a:rPr lang="ko-KR" altLang="en-US" dirty="0">
                <a:solidFill>
                  <a:srgbClr val="FF0000"/>
                </a:solidFill>
              </a:rPr>
              <a:t>의 배치의 난이도가 결정됨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642748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9052-A938-F5C9-C681-DAE0FEEC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7CCE2FF9-CEFF-FAC3-B515-18E7E48C00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Function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관심지역 </a:t>
                </a:r>
                <a:r>
                  <a:rPr lang="en-US" altLang="ko-KR" dirty="0"/>
                  <a:t>j</a:t>
                </a:r>
                <a:r>
                  <a:rPr lang="ko-KR" altLang="en-US" dirty="0"/>
                  <a:t>에 대해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번째 위성이 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  </a:t>
                </a:r>
                <a:r>
                  <a:rPr lang="ko-KR" altLang="en-US" dirty="0"/>
                  <a:t>관측될 때의 </a:t>
                </a:r>
                <a:r>
                  <a:rPr lang="en-US" altLang="ko-KR" dirty="0"/>
                  <a:t>timeline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관심지역 </a:t>
                </a:r>
                <a:r>
                  <a:rPr lang="en-US" altLang="ko-KR" dirty="0"/>
                  <a:t>j</a:t>
                </a:r>
                <a:r>
                  <a:rPr lang="ko-KR" altLang="en-US" dirty="0"/>
                  <a:t>에 대해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번째 위성의 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  </a:t>
                </a:r>
                <a:r>
                  <a:rPr lang="ko-KR" altLang="en-US" dirty="0"/>
                  <a:t>모든 상황에 해당하는 </a:t>
                </a:r>
                <a:r>
                  <a:rPr lang="en-US" altLang="ko-KR" dirty="0"/>
                  <a:t>timeline 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  <a:p>
                <a:pPr marL="576000" lvl="3" indent="0">
                  <a:buNone/>
                  <a:defRPr/>
                </a:pPr>
                <a:endParaRPr lang="en-US" altLang="ko-KR" dirty="0"/>
              </a:p>
              <a:p>
                <a:pPr lvl="5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1AB1A20-982A-C0CA-8528-A2366189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843F5F-AE33-68E3-27BD-7582DCCD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17CCFA-1014-A9D1-09E1-884D8E2A18FC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9B19E9-B932-2449-4351-D255E25A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920" y="1330988"/>
            <a:ext cx="2039765" cy="20186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C0D3CD8-D83A-F303-E8FB-F2E87ECD5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833" y="3712839"/>
            <a:ext cx="4171085" cy="21102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29F3985-3B39-AEF2-8F26-8B4ABAB25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698" y="4757077"/>
            <a:ext cx="2600325" cy="981075"/>
          </a:xfrm>
          <a:prstGeom prst="rect">
            <a:avLst/>
          </a:prstGeom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DA77169C-AA05-3127-49BB-DB22A54D5057}"/>
              </a:ext>
            </a:extLst>
          </p:cNvPr>
          <p:cNvSpPr/>
          <p:nvPr/>
        </p:nvSpPr>
        <p:spPr bwMode="auto">
          <a:xfrm>
            <a:off x="2080640" y="2532819"/>
            <a:ext cx="328773" cy="60839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188CF1-0580-3A6C-B26A-8BA95AFA3BF2}"/>
              </a:ext>
            </a:extLst>
          </p:cNvPr>
          <p:cNvSpPr txBox="1"/>
          <p:nvPr/>
        </p:nvSpPr>
        <p:spPr>
          <a:xfrm>
            <a:off x="2203930" y="2659794"/>
            <a:ext cx="2997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lvl="1" indent="0">
              <a:buNone/>
              <a:defRPr/>
            </a:pPr>
            <a:r>
              <a:rPr lang="ko-KR" altLang="en-US" sz="1400" dirty="0"/>
              <a:t>전체 관측시간으로 확장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6892853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346F-7823-55B4-2780-68010CC0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458FDCA-78DD-0A17-5E6B-060C2A7C5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Function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관심지역 </a:t>
                </a:r>
                <a:r>
                  <a:rPr lang="en-US" altLang="ko-KR" dirty="0"/>
                  <a:t>j</a:t>
                </a:r>
                <a:r>
                  <a:rPr lang="ko-KR" altLang="en-US" dirty="0"/>
                  <a:t>에 대해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번째 위성의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ko-KR" altLang="en-US" dirty="0"/>
                  <a:t>               모든 상황에 해당하는 </a:t>
                </a:r>
                <a:r>
                  <a:rPr lang="en-US" altLang="ko-KR" dirty="0"/>
                  <a:t>timeline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Ex) L = 720</a:t>
                </a:r>
              </a:p>
              <a:p>
                <a:pPr lvl="1">
                  <a:defRPr/>
                </a:pPr>
                <a:endParaRPr lang="en-US" altLang="ko-KR" sz="7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719</m:t>
                                      </m:r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eqAr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71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719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719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718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       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  <a:p>
                <a:pPr marL="576000" lvl="3" indent="0">
                  <a:buNone/>
                  <a:defRPr/>
                </a:pPr>
                <a:endParaRPr lang="en-US" altLang="ko-KR" dirty="0"/>
              </a:p>
              <a:p>
                <a:pPr lvl="5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B9A2FE-7459-65B6-2264-D2ABCFD3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4B1479-BADD-0C29-C3F8-9C25C46C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5C26F1-92FF-CC80-C7E7-8BE54A3AC686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A02BA7E-F0C7-23B9-7D70-2B6CBB778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833" y="1308106"/>
            <a:ext cx="4171085" cy="21102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82C2A6-7502-D46D-C5D5-AD6AE9ACA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601" y="2437302"/>
            <a:ext cx="26003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1689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A306-9350-F323-DF05-599E89EF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BC7E02F0-20BC-AE1F-1552-2693213B4E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Function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ko-KR" altLang="en-US" dirty="0"/>
                  <a:t>                 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  <a:p>
                <a:pPr marL="576000" lvl="3" indent="0">
                  <a:buNone/>
                  <a:defRPr/>
                </a:pPr>
                <a:endParaRPr lang="en-US" altLang="ko-KR" dirty="0"/>
              </a:p>
              <a:p>
                <a:pPr lvl="5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C0F2F5D-A9C0-FB90-05B9-6BE49F1F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CB89F0E-E4F9-E2D3-51F2-FCB44542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B46C5-D654-C123-5FC3-EE2B38D1BA0F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FD49E6-15E3-0252-953D-0D118D273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580" y="1364042"/>
            <a:ext cx="6200775" cy="18954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6CD076-1F32-733A-1BA8-329EC8741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86" y="4250418"/>
            <a:ext cx="2438400" cy="666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450683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E5D0-04FC-BC51-FDCA-65CF515C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C38BD4-FBBC-FC7E-3641-35770F23CF73}"/>
              </a:ext>
            </a:extLst>
          </p:cNvPr>
          <p:cNvSpPr/>
          <p:nvPr/>
        </p:nvSpPr>
        <p:spPr bwMode="auto">
          <a:xfrm>
            <a:off x="164387" y="6327787"/>
            <a:ext cx="353431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D9148507-44EE-34F2-A5AB-35D425C3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1. Multiple Target Points</a:t>
            </a:r>
          </a:p>
          <a:p>
            <a:pPr lvl="1">
              <a:defRPr/>
            </a:pPr>
            <a:r>
              <a:rPr lang="en-US" altLang="ko-KR" dirty="0"/>
              <a:t>Single target</a:t>
            </a:r>
            <a:r>
              <a:rPr lang="ko-KR" altLang="en-US" dirty="0"/>
              <a:t>이 아닌 </a:t>
            </a:r>
            <a:r>
              <a:rPr lang="en-US" altLang="ko-KR" dirty="0"/>
              <a:t>J</a:t>
            </a:r>
            <a:r>
              <a:rPr lang="ko-KR" altLang="en-US" dirty="0"/>
              <a:t>개의 관심 지역이 있을 경우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2. Multiple sub-Constellations</a:t>
            </a:r>
          </a:p>
          <a:p>
            <a:pPr lvl="1">
              <a:defRPr/>
            </a:pPr>
            <a:r>
              <a:rPr lang="ko-KR" altLang="en-US" dirty="0"/>
              <a:t>단일 궤도가 아닌 </a:t>
            </a:r>
            <a:r>
              <a:rPr lang="en-US" altLang="ko-KR" dirty="0"/>
              <a:t>Z</a:t>
            </a:r>
            <a:r>
              <a:rPr lang="ko-KR" altLang="en-US" dirty="0"/>
              <a:t>개의 다른 종류의 궤도에 위성을 배치할 경우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ko-KR" altLang="en-US" dirty="0"/>
              <a:t>                 </a:t>
            </a: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marL="576000" lvl="3" indent="0">
              <a:buNone/>
              <a:defRPr/>
            </a:pPr>
            <a:endParaRPr lang="en-US" altLang="ko-KR" dirty="0"/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EC3EC0F-D9E4-C573-F537-527CCFA6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341EA8-1ED8-C035-36FD-41382D30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6C33B4-4D1F-1B1C-053E-1C7F653DFD9C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119C35-3C8E-D3AB-1B89-AFB47A1F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11298"/>
            <a:ext cx="1588607" cy="16070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476898-463F-DF02-2527-34D1B772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4692970"/>
            <a:ext cx="3727214" cy="190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805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9AF0-9F2A-5FD7-BD7F-5779BF54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336FAAF3-1F66-84E2-0C54-145247EC7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역행렬 계산 시 문제점</a:t>
                </a: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값이 정수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이진수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로 나오지 않음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수학적인 계산으로 직접 구할 수 없음</a:t>
                </a:r>
                <a:endParaRPr lang="en-US" altLang="ko-KR" dirty="0"/>
              </a:p>
              <a:p>
                <a:pPr lvl="2">
                  <a:defRPr/>
                </a:pPr>
                <a:r>
                  <a:rPr lang="en-US" altLang="ko-KR" dirty="0" err="1"/>
                  <a:t>Matlab</a:t>
                </a:r>
                <a:r>
                  <a:rPr lang="ko-KR" altLang="en-US" dirty="0"/>
                  <a:t> </a:t>
                </a:r>
                <a:r>
                  <a:rPr lang="en-US" altLang="ko-KR" dirty="0" err="1"/>
                  <a:t>Libraray</a:t>
                </a:r>
                <a:r>
                  <a:rPr lang="ko-KR" altLang="en-US" dirty="0"/>
                  <a:t>에서 최적화 프로그램을 사용하여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조합을 계산해야 함</a:t>
                </a:r>
                <a:endParaRPr lang="en-US" altLang="ko-KR" dirty="0"/>
              </a:p>
              <a:p>
                <a:pPr lvl="2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7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74C486EF-A560-4921-9BFC-FB1F7367C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270F899-F90E-8ECA-8E58-AD98F2BD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E5CA364-D51F-1D7A-4DD1-0E2DDA49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12AD7A-A390-4ECB-1F03-93A5721F4899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1F9D34C-5F65-03EE-3211-D22BCDE78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24" y="1486671"/>
            <a:ext cx="2267165" cy="6199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067694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79EC-B7A7-B481-5CE0-5FCCE0BF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EC7ABC23-9736-9A60-6AB6-2075243C1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Matlab MILP Library</a:t>
                </a:r>
              </a:p>
              <a:p>
                <a:pPr lvl="1">
                  <a:defRPr/>
                </a:pPr>
                <a:r>
                  <a:rPr lang="en-US" altLang="ko-KR" dirty="0"/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ko-KR" dirty="0"/>
                  <a:t> : binary</a:t>
                </a:r>
              </a:p>
              <a:p>
                <a:pPr lvl="1">
                  <a:defRPr/>
                </a:pPr>
                <a:r>
                  <a:rPr lang="en-US" altLang="ko-KR" dirty="0"/>
                  <a:t>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…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≤ </a:t>
                </a:r>
                <a:r>
                  <a:rPr lang="en-US" altLang="ko-KR" dirty="0"/>
                  <a:t>10</a:t>
                </a:r>
              </a:p>
              <a:p>
                <a:pPr lvl="1">
                  <a:defRPr/>
                </a:pPr>
                <a:r>
                  <a:rPr lang="en-US" altLang="ko-KR" dirty="0"/>
                  <a:t>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≥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7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0ABE0DC-BF59-6E11-8C60-CC7FAC807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561E19-D461-26E0-E53B-34881F8E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35E21C0-3CFA-7935-64D8-11F5DD5C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CB7E5A-7D4C-ED20-66D2-00DE195F0165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270BB5-E20E-C13E-1F01-5FB724850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457" y="1009707"/>
            <a:ext cx="4036947" cy="5318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575331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4224-2132-093A-D54F-5F8E7C4B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2024701-3E1F-46A2-644E-308673EF3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5081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Matlab MILP coding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76348E-9C48-03A9-0800-1B5D0760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7AF2197-FA00-6B91-10CD-82679E58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F9FF1A-F2ED-C6F9-1585-EDB8CB93A9D8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4227E2-8A53-4B1B-3AC0-DBC5168C6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9" y="1426197"/>
            <a:ext cx="8393663" cy="526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9821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DB02-7865-CD2F-B55D-982206F6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37E1AD21-C66B-259E-5AD5-11F51CB4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5081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MILP method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758FD0-D61C-B427-594E-652BD9B5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52E46B2-48D8-DDFB-A853-39CF55CA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AD6D5E-0C3E-F1B9-7AB8-92B165685CB6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6DAC0F-1340-9E04-974F-6C4F542DE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38" y="1653004"/>
            <a:ext cx="4474594" cy="397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AE5165-D0BF-2509-929D-ACF9D7277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226" y="2932924"/>
            <a:ext cx="3987350" cy="238863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5B7CA21-6E3B-8E3E-7985-7B5A4273B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226" y="1736333"/>
            <a:ext cx="3934693" cy="112782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09DA2D-5E51-139E-E07E-B81BD675D345}"/>
              </a:ext>
            </a:extLst>
          </p:cNvPr>
          <p:cNvSpPr/>
          <p:nvPr/>
        </p:nvSpPr>
        <p:spPr bwMode="auto">
          <a:xfrm>
            <a:off x="5095982" y="1653004"/>
            <a:ext cx="3748554" cy="39725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13A26-F5E5-72E8-E2AA-F2F7DD1F7B88}"/>
              </a:ext>
            </a:extLst>
          </p:cNvPr>
          <p:cNvSpPr txBox="1"/>
          <p:nvPr/>
        </p:nvSpPr>
        <p:spPr>
          <a:xfrm>
            <a:off x="1285006" y="57201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dirty="0"/>
              <a:t>논문의 결과</a:t>
            </a:r>
            <a:r>
              <a:rPr lang="en-US" altLang="ko-KR" dirty="0"/>
              <a:t>(N=18)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5CED6-C24C-5D5F-9870-856092E5D50D}"/>
              </a:ext>
            </a:extLst>
          </p:cNvPr>
          <p:cNvSpPr txBox="1"/>
          <p:nvPr/>
        </p:nvSpPr>
        <p:spPr>
          <a:xfrm>
            <a:off x="4674828" y="57303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dirty="0"/>
              <a:t>실제</a:t>
            </a:r>
            <a:r>
              <a:rPr lang="en-US" altLang="ko-KR" dirty="0"/>
              <a:t> </a:t>
            </a:r>
            <a:r>
              <a:rPr lang="ko-KR" altLang="en-US" dirty="0"/>
              <a:t>시뮬레이션 결과 예시</a:t>
            </a:r>
            <a:r>
              <a:rPr lang="en-US" altLang="ko-KR" dirty="0"/>
              <a:t>(N=35)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55558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D06F-B328-103C-C68F-64879694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697A-A875-0C02-876F-3BD62407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D744CD7-C74D-4CAC-6286-17A846EC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초록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B1B1B6AA-BA9F-0C70-F60C-C2C023A5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7EE74D-A188-5CD3-6FEB-7035F955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265" y="1219631"/>
            <a:ext cx="7041834" cy="508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1086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99383-1AB1-3637-DBE9-250CAA06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732AA03-1C19-AF96-D0B2-61AC7BA196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방법</a:t>
            </a:r>
          </a:p>
        </p:txBody>
      </p:sp>
    </p:spTree>
    <p:extLst>
      <p:ext uri="{BB962C8B-B14F-4D97-AF65-F5344CB8AC3E}">
        <p14:creationId xmlns:p14="http://schemas.microsoft.com/office/powerpoint/2010/main" val="36491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B738-2246-8FC4-E95E-DEA9C410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79053C-6A1F-C2C3-351E-A4A6F34B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344044-3A88-B542-59A4-8BEDD645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8585719F-AC58-9DE6-D432-3F8C6ADBA2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BILP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연구 방법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앞의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슬라이드와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같이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를 계단식으로 작성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과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로 구성된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을 무작위로 배치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은 해당 위치에 위성이 존재하지 않음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은 해당 위치에 위성이 존재함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위성수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= 1)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점점 늘려가며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또는 줄여가며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를 계산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: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전체 관측시간 동안 위성의 방문 횟수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종료될 때까지 시뮬레이션을 진행하여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100%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커버리지를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달성하는 최소 위성 수 및 위성의 배치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도출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3">
                  <a:defRPr/>
                </a:pPr>
                <a:endParaRPr lang="en-US" altLang="ko-KR" b="0" i="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9344700-95E8-1733-642A-07C4530FB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 r="-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AA8E822C-0AD7-9AB6-60B4-6D0110F86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87" y="4033839"/>
            <a:ext cx="62007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409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E5FF-AD9E-A75D-B849-9C6A1963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B79BB7-723C-C940-6F2B-285CE084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ADF0071-BA98-5FCC-13FA-C7B76434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방법의 한계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8DDD99E-41A9-333B-4BE7-D49D1C3CF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BILP</a:t>
            </a:r>
            <a:r>
              <a:rPr lang="ko-KR" altLang="en-US" dirty="0">
                <a:solidFill>
                  <a:schemeClr val="tx1"/>
                </a:solidFill>
              </a:rPr>
              <a:t> 연구 방법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의 한계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chemeClr val="tx1"/>
                </a:solidFill>
              </a:rPr>
              <a:t>100% </a:t>
            </a:r>
            <a:r>
              <a:rPr lang="ko-KR" altLang="en-US" dirty="0">
                <a:solidFill>
                  <a:schemeClr val="tx1"/>
                </a:solidFill>
              </a:rPr>
              <a:t>커버리지 달성을 위해 필요한 최소 위성 수의 지표가 불명확함</a:t>
            </a:r>
            <a:endParaRPr lang="en-US" altLang="ko-KR" dirty="0">
              <a:solidFill>
                <a:schemeClr val="tx1"/>
              </a:solidFill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논문에서는 최소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18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대를 이용하여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100% </a:t>
            </a:r>
            <a:r>
              <a:rPr lang="ko-KR" altLang="en-US" b="0" i="0" dirty="0" err="1">
                <a:solidFill>
                  <a:schemeClr val="tx1"/>
                </a:solidFill>
                <a:effectLst/>
              </a:rPr>
              <a:t>커버리지를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 달성했기 때문에 참고 자료로서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Example 1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의 검증을 위해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18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대부터 순차적으로  위성 수를 조정했지만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다른 상황의 운용 개념을 적용할 때에는 지표가 될 만한 위성 수를 알기가 어려움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 설정한 위성의 수로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100% 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커버리지 달성이 불가능한 경우엔 시뮬레이션이 무한반복으로 </a:t>
            </a:r>
            <a:r>
              <a:rPr lang="ko-KR" altLang="en-US" b="0" i="0" dirty="0" err="1">
                <a:solidFill>
                  <a:schemeClr val="tx1"/>
                </a:solidFill>
                <a:effectLst/>
              </a:rPr>
              <a:t>돌아감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종료될 때까지 무한정 기다릴 수는 없음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6B40EDCC-9B1B-AF1E-36BF-4DCE8F989F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854" y="3514429"/>
              <a:ext cx="8876292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82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795401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1094042487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47914931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124894564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276333399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933691650"/>
                        </a:ext>
                      </a:extLst>
                    </a:gridCol>
                    <a:gridCol w="1027430">
                      <a:extLst>
                        <a:ext uri="{9D8B030D-6E8A-4147-A177-3AD203B41FA5}">
                          <a16:colId xmlns:a16="http://schemas.microsoft.com/office/drawing/2014/main" val="4068520409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72889695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3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3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반복횟수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24,896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132,547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693,311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35,424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989,758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8,099,355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2,584,473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7,976,769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17,328,781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-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13188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64C9F03-949E-1FE4-EFFE-BC31A23155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1263949"/>
                  </p:ext>
                </p:extLst>
              </p:nvPr>
            </p:nvGraphicFramePr>
            <p:xfrm>
              <a:off x="133854" y="3514429"/>
              <a:ext cx="8876292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82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795401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1094042487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47914931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124894564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276333399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933691650"/>
                        </a:ext>
                      </a:extLst>
                    </a:gridCol>
                    <a:gridCol w="1027430">
                      <a:extLst>
                        <a:ext uri="{9D8B030D-6E8A-4147-A177-3AD203B41FA5}">
                          <a16:colId xmlns:a16="http://schemas.microsoft.com/office/drawing/2014/main" val="4068520409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7288969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9" t="-2000" r="-1023077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3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반복횟수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24,896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132,547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693,311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35,424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989,758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8,099,355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2,584,473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7,976,769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17,328,781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-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13188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4180381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D7C2-20CE-B6E9-35EB-8D4E78A4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BFAD3B-CFD7-E2A3-FD19-5C3F27F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AD2A7E6-BB25-65D2-6B68-9C1A118E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BE769D90-0B46-A8F6-11EB-BB54D357B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BILP</a:t>
            </a:r>
            <a:r>
              <a:rPr lang="ko-KR" altLang="en-US" dirty="0">
                <a:solidFill>
                  <a:schemeClr val="tx1"/>
                </a:solidFill>
              </a:rPr>
              <a:t> 연구 방법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pPr lvl="1">
              <a:defRPr/>
            </a:pPr>
            <a:r>
              <a:rPr lang="en-US" altLang="ko-KR" dirty="0">
                <a:solidFill>
                  <a:schemeClr val="tx1"/>
                </a:solidFill>
              </a:rPr>
              <a:t>Seed Satellite</a:t>
            </a:r>
            <a:r>
              <a:rPr lang="ko-KR" altLang="en-US" dirty="0">
                <a:solidFill>
                  <a:schemeClr val="tx1"/>
                </a:solidFill>
              </a:rPr>
              <a:t>를 기준으로 </a:t>
            </a:r>
            <a:r>
              <a:rPr lang="en-US" altLang="ko-KR" dirty="0">
                <a:solidFill>
                  <a:schemeClr val="tx1"/>
                </a:solidFill>
              </a:rPr>
              <a:t>Coverage Timeline</a:t>
            </a:r>
            <a:r>
              <a:rPr lang="ko-KR" altLang="en-US" dirty="0">
                <a:solidFill>
                  <a:schemeClr val="tx1"/>
                </a:solidFill>
              </a:rPr>
              <a:t>을 시각적으로 출력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chemeClr val="tx1"/>
                </a:solidFill>
              </a:rPr>
              <a:t>이를 바탕으로 다른 위성의 </a:t>
            </a:r>
            <a:r>
              <a:rPr lang="en-US" altLang="ko-KR" dirty="0">
                <a:solidFill>
                  <a:schemeClr val="tx1"/>
                </a:solidFill>
              </a:rPr>
              <a:t>Coverage Timeline</a:t>
            </a:r>
            <a:r>
              <a:rPr lang="ko-KR" altLang="en-US" dirty="0">
                <a:solidFill>
                  <a:schemeClr val="tx1"/>
                </a:solidFill>
              </a:rPr>
              <a:t>을 조정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chemeClr val="tx1"/>
                </a:solidFill>
              </a:rPr>
              <a:t>100% </a:t>
            </a:r>
            <a:r>
              <a:rPr lang="ko-KR" altLang="en-US" dirty="0">
                <a:solidFill>
                  <a:schemeClr val="tx1"/>
                </a:solidFill>
              </a:rPr>
              <a:t>커버리지가 달성 되도록 빈 곳을 수작업으로 메꿈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chemeClr val="tx1"/>
                </a:solidFill>
              </a:rPr>
              <a:t>전체 </a:t>
            </a:r>
            <a:r>
              <a:rPr lang="en-US" altLang="ko-KR" dirty="0">
                <a:solidFill>
                  <a:schemeClr val="tx1"/>
                </a:solidFill>
              </a:rPr>
              <a:t>n</a:t>
            </a:r>
            <a:r>
              <a:rPr lang="ko-KR" altLang="en-US" dirty="0">
                <a:solidFill>
                  <a:schemeClr val="tx1"/>
                </a:solidFill>
              </a:rPr>
              <a:t>에 대하여 위성의 배치 및 커버리지 비율을 실시간으로 계산</a:t>
            </a:r>
            <a:endParaRPr lang="en-US" altLang="ko-KR" dirty="0">
              <a:solidFill>
                <a:schemeClr val="tx1"/>
              </a:solidFill>
            </a:endParaRPr>
          </a:p>
          <a:p>
            <a:pPr lvl="2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6FB4339-3BE5-6636-8772-2E9FE8020064}"/>
              </a:ext>
            </a:extLst>
          </p:cNvPr>
          <p:cNvGrpSpPr/>
          <p:nvPr/>
        </p:nvGrpSpPr>
        <p:grpSpPr>
          <a:xfrm>
            <a:off x="159269" y="2908800"/>
            <a:ext cx="8727649" cy="1416740"/>
            <a:chOff x="159269" y="4294598"/>
            <a:chExt cx="8727649" cy="141674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4E68940-4331-E502-EE4C-E3FC458A9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269" y="4294598"/>
              <a:ext cx="4412731" cy="141674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904D7B1-A187-736C-47E5-0B42CA3C0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4187" y="4294598"/>
              <a:ext cx="4412731" cy="14167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74603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CD5-0B64-3C4F-2DAA-49B7AEF5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81EA79-3BDA-B5D6-7C9D-A629103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A6AE70-F7DA-B1D4-6435-15C0EF5E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방법의 한계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BF6F732-CA20-B7DB-EB30-79D5E654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BILP</a:t>
            </a:r>
            <a:r>
              <a:rPr lang="ko-KR" altLang="en-US" dirty="0">
                <a:solidFill>
                  <a:schemeClr val="tx1"/>
                </a:solidFill>
              </a:rPr>
              <a:t> 연구 방법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의 한계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프로그래밍 없이 직접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Coverage Timeline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을 작성하므로 결과의 신뢰성이 부족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필요한 위성 수가 증가함에 따라 결과 도출의 복잡함이 극대화됨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시간 및 정확도 측면에서 비효율적임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305116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424987" y="1209944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E8836-6DB0-E8B0-0D8F-7ECD252F34C3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8F2494-E35E-4931-8D4F-F299EAFF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04" y="1582221"/>
            <a:ext cx="5819483" cy="347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0569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Flowchart(Single &amp; Multiple targets)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C5E9F8C1-BD44-0BEC-D5AA-B0F4EC2ABEEB}"/>
              </a:ext>
            </a:extLst>
          </p:cNvPr>
          <p:cNvSpPr/>
          <p:nvPr/>
        </p:nvSpPr>
        <p:spPr bwMode="auto">
          <a:xfrm>
            <a:off x="708917" y="1379088"/>
            <a:ext cx="1575768" cy="386074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152C-B3BE-4DFA-8222-A06B9EA5E663}"/>
              </a:ext>
            </a:extLst>
          </p:cNvPr>
          <p:cNvGrpSpPr/>
          <p:nvPr/>
        </p:nvGrpSpPr>
        <p:grpSpPr>
          <a:xfrm>
            <a:off x="734848" y="1337663"/>
            <a:ext cx="1469204" cy="577081"/>
            <a:chOff x="3581400" y="1046837"/>
            <a:chExt cx="1469204" cy="57708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766AF33-C1AD-85D8-E109-D9AC9AC6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58006" y="1270926"/>
              <a:ext cx="139325" cy="1317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/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Input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050" dirty="0"/>
                        <m:t>œ</m:t>
                      </m:r>
                    </m:oMath>
                  </a14:m>
                  <a:r>
                    <a:rPr lang="en-US" altLang="ko-KR" sz="1050" dirty="0"/>
                    <a:t>,   , (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altLang="ko-KR" sz="1050" dirty="0"/>
                    <a:t>)</a:t>
                  </a:r>
                  <a:endParaRPr lang="ko-KR" altLang="en-US" sz="1050" dirty="0"/>
                </a:p>
                <a:p>
                  <a:pPr algn="ctr"/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B560B21-E181-E4A0-A25D-487AEC4379B5}"/>
              </a:ext>
            </a:extLst>
          </p:cNvPr>
          <p:cNvCxnSpPr>
            <a:cxnSpLocks/>
          </p:cNvCxnSpPr>
          <p:nvPr/>
        </p:nvCxnSpPr>
        <p:spPr>
          <a:xfrm>
            <a:off x="1490657" y="1775500"/>
            <a:ext cx="6" cy="25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410DAF64-2F41-486F-FD40-89431A48FA67}"/>
              </a:ext>
            </a:extLst>
          </p:cNvPr>
          <p:cNvSpPr/>
          <p:nvPr/>
        </p:nvSpPr>
        <p:spPr bwMode="auto">
          <a:xfrm>
            <a:off x="942976" y="2028825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/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F77E666-26AD-B916-30C5-B8943DAD6EFC}"/>
              </a:ext>
            </a:extLst>
          </p:cNvPr>
          <p:cNvCxnSpPr>
            <a:cxnSpLocks/>
          </p:cNvCxnSpPr>
          <p:nvPr/>
        </p:nvCxnSpPr>
        <p:spPr>
          <a:xfrm>
            <a:off x="1490657" y="257792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7421B-BDB8-85FD-473F-875BDBEBC522}"/>
              </a:ext>
            </a:extLst>
          </p:cNvPr>
          <p:cNvCxnSpPr>
            <a:cxnSpLocks/>
          </p:cNvCxnSpPr>
          <p:nvPr/>
        </p:nvCxnSpPr>
        <p:spPr>
          <a:xfrm>
            <a:off x="2039522" y="2301699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D505CA-00A6-728C-DBE2-CB257FC56A8F}"/>
              </a:ext>
            </a:extLst>
          </p:cNvPr>
          <p:cNvSpPr txBox="1"/>
          <p:nvPr/>
        </p:nvSpPr>
        <p:spPr>
          <a:xfrm>
            <a:off x="1471613" y="258656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81CB6-9C1B-AE3A-C82E-F07D0F905491}"/>
              </a:ext>
            </a:extLst>
          </p:cNvPr>
          <p:cNvSpPr txBox="1"/>
          <p:nvPr/>
        </p:nvSpPr>
        <p:spPr>
          <a:xfrm>
            <a:off x="1928512" y="2072555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A8F0E-C81E-CC71-99E3-AA0A4C6B1F13}"/>
              </a:ext>
            </a:extLst>
          </p:cNvPr>
          <p:cNvSpPr/>
          <p:nvPr/>
        </p:nvSpPr>
        <p:spPr bwMode="auto">
          <a:xfrm>
            <a:off x="2312162" y="2056856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EECEB8-8D06-1F3F-6B32-FDBD9128C1C0}"/>
              </a:ext>
            </a:extLst>
          </p:cNvPr>
          <p:cNvSpPr txBox="1"/>
          <p:nvPr/>
        </p:nvSpPr>
        <p:spPr>
          <a:xfrm>
            <a:off x="2241659" y="2167871"/>
            <a:ext cx="1469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1F2328"/>
                </a:solidFill>
              </a:rPr>
              <a:t>Satellite invisible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051509-1E88-EB12-A776-B801B91FE1E2}"/>
              </a:ext>
            </a:extLst>
          </p:cNvPr>
          <p:cNvSpPr/>
          <p:nvPr/>
        </p:nvSpPr>
        <p:spPr bwMode="auto">
          <a:xfrm>
            <a:off x="708437" y="2897044"/>
            <a:ext cx="1554926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/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050" dirty="0"/>
                  <a:t> </a:t>
                </a:r>
                <a:r>
                  <a:rPr lang="en-US" altLang="ko-KR" sz="1050" dirty="0"/>
                  <a:t>: </a:t>
                </a:r>
              </a:p>
              <a:p>
                <a:pPr algn="ctr"/>
                <a:r>
                  <a:rPr lang="en-US" altLang="ko-KR" sz="1050" dirty="0"/>
                  <a:t>Access profile Saved</a:t>
                </a:r>
                <a:endParaRPr lang="ko-KR" alt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blipFill>
                <a:blip r:embed="rId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AFD061C-8B01-D6DD-700D-166F0376FE0A}"/>
              </a:ext>
            </a:extLst>
          </p:cNvPr>
          <p:cNvCxnSpPr>
            <a:cxnSpLocks/>
          </p:cNvCxnSpPr>
          <p:nvPr/>
        </p:nvCxnSpPr>
        <p:spPr>
          <a:xfrm>
            <a:off x="1490657" y="342332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6C8DBC0A-D168-2684-29D7-6569B3290794}"/>
              </a:ext>
            </a:extLst>
          </p:cNvPr>
          <p:cNvSpPr/>
          <p:nvPr/>
        </p:nvSpPr>
        <p:spPr bwMode="auto">
          <a:xfrm>
            <a:off x="942970" y="3733921"/>
            <a:ext cx="1076324" cy="549099"/>
          </a:xfrm>
          <a:prstGeom prst="diamond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/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1BF00F4-11F8-3AF7-61A4-00FEBAC19E06}"/>
              </a:ext>
            </a:extLst>
          </p:cNvPr>
          <p:cNvCxnSpPr>
            <a:cxnSpLocks/>
          </p:cNvCxnSpPr>
          <p:nvPr/>
        </p:nvCxnSpPr>
        <p:spPr>
          <a:xfrm>
            <a:off x="2035937" y="4014241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7B600A5-CA1F-1A30-BD3E-FAFD91BF2262}"/>
              </a:ext>
            </a:extLst>
          </p:cNvPr>
          <p:cNvSpPr txBox="1"/>
          <p:nvPr/>
        </p:nvSpPr>
        <p:spPr>
          <a:xfrm>
            <a:off x="1934452" y="3785097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E7AC68-193F-16F3-0AE0-FD6E91927ECA}"/>
              </a:ext>
            </a:extLst>
          </p:cNvPr>
          <p:cNvSpPr/>
          <p:nvPr/>
        </p:nvSpPr>
        <p:spPr bwMode="auto">
          <a:xfrm>
            <a:off x="2312162" y="3757829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/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050" dirty="0">
                    <a:solidFill>
                      <a:srgbClr val="1F2328"/>
                    </a:solidFill>
                  </a:rPr>
                  <a:t> : </a:t>
                </a:r>
              </a:p>
              <a:p>
                <a:pPr algn="ctr"/>
                <a:r>
                  <a:rPr lang="en-US" altLang="ko-KR" sz="1050" dirty="0">
                    <a:solidFill>
                      <a:srgbClr val="1F2328"/>
                    </a:solidFill>
                  </a:rPr>
                  <a:t>Seed Satellite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blipFill>
                <a:blip r:embed="rId8"/>
                <a:stretch>
                  <a:fillRect t="-1389"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4DAEAD-5BC8-5AAF-C8A6-42DE45B0995C}"/>
              </a:ext>
            </a:extLst>
          </p:cNvPr>
          <p:cNvCxnSpPr>
            <a:cxnSpLocks/>
          </p:cNvCxnSpPr>
          <p:nvPr/>
        </p:nvCxnSpPr>
        <p:spPr>
          <a:xfrm>
            <a:off x="2972905" y="4269603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58D1CD20-DFE2-FB67-E010-124BE3B1EA39}"/>
              </a:ext>
            </a:extLst>
          </p:cNvPr>
          <p:cNvSpPr/>
          <p:nvPr/>
        </p:nvSpPr>
        <p:spPr bwMode="auto">
          <a:xfrm>
            <a:off x="2434743" y="4580948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/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]=1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blipFill>
                <a:blip r:embed="rId9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C942F0F5-5F59-4EC9-EA0F-6D4DB67970D5}"/>
              </a:ext>
            </a:extLst>
          </p:cNvPr>
          <p:cNvCxnSpPr>
            <a:cxnSpLocks/>
            <a:stCxn id="39" idx="3"/>
            <a:endCxn id="37" idx="3"/>
          </p:cNvCxnSpPr>
          <p:nvPr/>
        </p:nvCxnSpPr>
        <p:spPr>
          <a:xfrm flipV="1">
            <a:off x="3511067" y="4005158"/>
            <a:ext cx="108433" cy="850340"/>
          </a:xfrm>
          <a:prstGeom prst="bentConnector3">
            <a:avLst>
              <a:gd name="adj1" fmla="val 699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6D2F8B3-61CF-237D-0594-EBE799999CA4}"/>
              </a:ext>
            </a:extLst>
          </p:cNvPr>
          <p:cNvSpPr txBox="1"/>
          <p:nvPr/>
        </p:nvSpPr>
        <p:spPr>
          <a:xfrm>
            <a:off x="3604278" y="3775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/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]=0)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blipFill>
                <a:blip r:embed="rId10"/>
                <a:stretch>
                  <a:fillRect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2126F68-9905-DE64-71D1-7D4DE2A6A5CE}"/>
              </a:ext>
            </a:extLst>
          </p:cNvPr>
          <p:cNvSpPr txBox="1"/>
          <p:nvPr/>
        </p:nvSpPr>
        <p:spPr>
          <a:xfrm>
            <a:off x="2956306" y="512621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2FBA164-89CB-7E2E-901C-BACA478C1071}"/>
              </a:ext>
            </a:extLst>
          </p:cNvPr>
          <p:cNvCxnSpPr>
            <a:cxnSpLocks/>
          </p:cNvCxnSpPr>
          <p:nvPr/>
        </p:nvCxnSpPr>
        <p:spPr>
          <a:xfrm>
            <a:off x="2965438" y="514136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/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=1,2, …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blipFill>
                <a:blip r:embed="rId11"/>
                <a:stretch>
                  <a:fillRect t="-30147" b="-8676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/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=1, 2, … , 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ko-KR" sz="1050" dirty="0"/>
                  <a:t> :</a:t>
                </a:r>
              </a:p>
              <a:p>
                <a:pPr algn="ctr"/>
                <a:r>
                  <a:rPr lang="en-US" altLang="ko-KR" sz="1050" dirty="0"/>
                  <a:t>Normal Satellite </a:t>
                </a:r>
              </a:p>
              <a:p>
                <a:pPr algn="l"/>
                <a:endParaRPr lang="ko-KR" altLang="en-US" sz="1050" dirty="0"/>
              </a:p>
            </p:txBody>
          </p:sp>
        </mc:Choice>
        <mc:Fallback xmlns="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blipFill>
                <a:blip r:embed="rId12"/>
                <a:stretch>
                  <a:fillRect b="-555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A571695-8E3B-B0B7-3D03-184E71CFD9FB}"/>
              </a:ext>
            </a:extLst>
          </p:cNvPr>
          <p:cNvCxnSpPr>
            <a:cxnSpLocks/>
            <a:stCxn id="32" idx="2"/>
            <a:endCxn id="71" idx="0"/>
          </p:cNvCxnSpPr>
          <p:nvPr/>
        </p:nvCxnSpPr>
        <p:spPr>
          <a:xfrm>
            <a:off x="1481132" y="4283020"/>
            <a:ext cx="10114" cy="35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FCECAD1-A06C-C8E4-5DC9-279FF09D3EA4}"/>
              </a:ext>
            </a:extLst>
          </p:cNvPr>
          <p:cNvSpPr txBox="1"/>
          <p:nvPr/>
        </p:nvSpPr>
        <p:spPr>
          <a:xfrm>
            <a:off x="1469820" y="4322744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35A5DE9-4EF1-B86F-1642-ED07C411810B}"/>
              </a:ext>
            </a:extLst>
          </p:cNvPr>
          <p:cNvCxnSpPr>
            <a:cxnSpLocks/>
          </p:cNvCxnSpPr>
          <p:nvPr/>
        </p:nvCxnSpPr>
        <p:spPr>
          <a:xfrm>
            <a:off x="1487932" y="5058657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그림 81">
            <a:extLst>
              <a:ext uri="{FF2B5EF4-FFF2-40B4-BE49-F238E27FC236}">
                <a16:creationId xmlns:a16="http://schemas.microsoft.com/office/drawing/2014/main" id="{DD1BFD4B-78FB-538C-1FF4-C6AA95A3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784" y="5899628"/>
            <a:ext cx="139325" cy="131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/>
              <p:nvPr/>
            </p:nvSpPr>
            <p:spPr>
              <a:xfrm>
                <a:off x="3018153" y="5830364"/>
                <a:ext cx="31434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153" y="5830364"/>
                <a:ext cx="314347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F3A83EE-7407-E256-3893-E5D0803218E7}"/>
              </a:ext>
            </a:extLst>
          </p:cNvPr>
          <p:cNvGrpSpPr/>
          <p:nvPr/>
        </p:nvGrpSpPr>
        <p:grpSpPr>
          <a:xfrm>
            <a:off x="3671144" y="1674661"/>
            <a:ext cx="1653331" cy="3906397"/>
            <a:chOff x="3528269" y="1503716"/>
            <a:chExt cx="1653331" cy="4258318"/>
          </a:xfrm>
        </p:grpSpPr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B51ECBE8-556F-1CDC-6C85-EE6AE8E9E77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21381" y="3111415"/>
              <a:ext cx="4257507" cy="1043732"/>
            </a:xfrm>
            <a:prstGeom prst="bentConnector3">
              <a:avLst>
                <a:gd name="adj1" fmla="val -338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F2299729-A1E0-7DBA-F792-AB2C8C4C883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1503716"/>
              <a:ext cx="609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2D10448-1B45-D26E-E616-00CBB195E4ED}"/>
              </a:ext>
            </a:extLst>
          </p:cNvPr>
          <p:cNvCxnSpPr>
            <a:cxnSpLocks/>
          </p:cNvCxnSpPr>
          <p:nvPr/>
        </p:nvCxnSpPr>
        <p:spPr>
          <a:xfrm>
            <a:off x="3670414" y="5960315"/>
            <a:ext cx="314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다이아몬드 111">
            <a:extLst>
              <a:ext uri="{FF2B5EF4-FFF2-40B4-BE49-F238E27FC236}">
                <a16:creationId xmlns:a16="http://schemas.microsoft.com/office/drawing/2014/main" id="{5CEF9EC6-1469-252D-D11A-BA83A25D1A7B}"/>
              </a:ext>
            </a:extLst>
          </p:cNvPr>
          <p:cNvSpPr/>
          <p:nvPr/>
        </p:nvSpPr>
        <p:spPr bwMode="auto">
          <a:xfrm>
            <a:off x="3993348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6FDEBC0-7B1D-76B5-933E-F84F421010F7}"/>
              </a:ext>
            </a:extLst>
          </p:cNvPr>
          <p:cNvCxnSpPr>
            <a:cxnSpLocks/>
          </p:cNvCxnSpPr>
          <p:nvPr/>
        </p:nvCxnSpPr>
        <p:spPr>
          <a:xfrm>
            <a:off x="5069672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다이아몬드 115">
            <a:extLst>
              <a:ext uri="{FF2B5EF4-FFF2-40B4-BE49-F238E27FC236}">
                <a16:creationId xmlns:a16="http://schemas.microsoft.com/office/drawing/2014/main" id="{10B7E944-1873-7D68-4383-14AE8FFB5712}"/>
              </a:ext>
            </a:extLst>
          </p:cNvPr>
          <p:cNvSpPr/>
          <p:nvPr/>
        </p:nvSpPr>
        <p:spPr bwMode="auto">
          <a:xfrm>
            <a:off x="5419725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7D78A9B8-92BF-55C4-5AD2-ABC55CCF5188}"/>
              </a:ext>
            </a:extLst>
          </p:cNvPr>
          <p:cNvCxnSpPr>
            <a:cxnSpLocks/>
          </p:cNvCxnSpPr>
          <p:nvPr/>
        </p:nvCxnSpPr>
        <p:spPr>
          <a:xfrm>
            <a:off x="6496049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/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blipFill>
                <a:blip r:embed="rId14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/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blipFill>
                <a:blip r:embed="rId15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5957841-4DF3-D164-B00E-6EC43D5F94D8}"/>
              </a:ext>
            </a:extLst>
          </p:cNvPr>
          <p:cNvSpPr txBox="1"/>
          <p:nvPr/>
        </p:nvSpPr>
        <p:spPr>
          <a:xfrm>
            <a:off x="4505325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9006794B-BE68-E121-42CD-FA0828D802EA}"/>
              </a:ext>
            </a:extLst>
          </p:cNvPr>
          <p:cNvCxnSpPr>
            <a:cxnSpLocks/>
          </p:cNvCxnSpPr>
          <p:nvPr/>
        </p:nvCxnSpPr>
        <p:spPr>
          <a:xfrm>
            <a:off x="4535005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A2A4B6F-33C4-CF8F-F885-C1BA25CC9970}"/>
              </a:ext>
            </a:extLst>
          </p:cNvPr>
          <p:cNvSpPr txBox="1"/>
          <p:nvPr/>
        </p:nvSpPr>
        <p:spPr>
          <a:xfrm>
            <a:off x="5920340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A967B5F-81E0-F1C3-56EF-DAB051B3A3A4}"/>
              </a:ext>
            </a:extLst>
          </p:cNvPr>
          <p:cNvCxnSpPr>
            <a:cxnSpLocks/>
          </p:cNvCxnSpPr>
          <p:nvPr/>
        </p:nvCxnSpPr>
        <p:spPr>
          <a:xfrm>
            <a:off x="5950020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/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Satellite invisible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(at the 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AF4C3AF2-345B-5D27-4A31-513566DB757A}"/>
              </a:ext>
            </a:extLst>
          </p:cNvPr>
          <p:cNvSpPr txBox="1"/>
          <p:nvPr/>
        </p:nvSpPr>
        <p:spPr>
          <a:xfrm>
            <a:off x="5487587" y="6524287"/>
            <a:ext cx="962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rgbClr val="1F2328"/>
                </a:solidFill>
              </a:rPr>
              <a:t>Single fold</a:t>
            </a:r>
            <a:endParaRPr lang="ko-KR" altLang="en-US" sz="8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52BA1A9-74E6-2297-8AE7-631DD16200A4}"/>
              </a:ext>
            </a:extLst>
          </p:cNvPr>
          <p:cNvSpPr txBox="1"/>
          <p:nvPr/>
        </p:nvSpPr>
        <p:spPr>
          <a:xfrm>
            <a:off x="5050914" y="575265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5ED955-EC6E-A2FF-2DBF-5127008EE590}"/>
              </a:ext>
            </a:extLst>
          </p:cNvPr>
          <p:cNvSpPr txBox="1"/>
          <p:nvPr/>
        </p:nvSpPr>
        <p:spPr>
          <a:xfrm>
            <a:off x="6479955" y="575842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/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-fold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 = 2, 3,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blipFill>
                <a:blip r:embed="rId1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/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For all Target points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blipFill>
                <a:blip r:embed="rId18"/>
                <a:stretch>
                  <a:fillRect t="-51304" b="-105217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" name="그림 131">
            <a:extLst>
              <a:ext uri="{FF2B5EF4-FFF2-40B4-BE49-F238E27FC236}">
                <a16:creationId xmlns:a16="http://schemas.microsoft.com/office/drawing/2014/main" id="{C14D2BF7-BD61-2F16-0CB8-377D48D17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457" y="1683143"/>
            <a:ext cx="139325" cy="131794"/>
          </a:xfrm>
          <a:prstGeom prst="rect">
            <a:avLst/>
          </a:prstGeom>
        </p:spPr>
      </p:pic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308B0BE-0C20-A423-1907-DDA65C2A57F8}"/>
              </a:ext>
            </a:extLst>
          </p:cNvPr>
          <p:cNvSpPr/>
          <p:nvPr/>
        </p:nvSpPr>
        <p:spPr bwMode="auto">
          <a:xfrm>
            <a:off x="229041" y="1455346"/>
            <a:ext cx="319320" cy="481786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51F465B-CA6E-C2EC-AC48-948C5DBD96D9}"/>
              </a:ext>
            </a:extLst>
          </p:cNvPr>
          <p:cNvSpPr/>
          <p:nvPr/>
        </p:nvSpPr>
        <p:spPr bwMode="auto">
          <a:xfrm rot="10800000">
            <a:off x="8434549" y="1561752"/>
            <a:ext cx="319320" cy="327501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397180" y="1197127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613041E-BE58-7841-B37E-26A362B8E012}"/>
              </a:ext>
            </a:extLst>
          </p:cNvPr>
          <p:cNvSpPr/>
          <p:nvPr/>
        </p:nvSpPr>
        <p:spPr bwMode="auto">
          <a:xfrm>
            <a:off x="41298" y="354330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09B86F-B3C0-914B-CD0E-20BB112879D7}"/>
              </a:ext>
            </a:extLst>
          </p:cNvPr>
          <p:cNvSpPr txBox="1"/>
          <p:nvPr/>
        </p:nvSpPr>
        <p:spPr>
          <a:xfrm>
            <a:off x="-238504" y="365293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Single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point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3DA9546-3C92-6F3F-BF0C-C25BC0FE5F95}"/>
              </a:ext>
            </a:extLst>
          </p:cNvPr>
          <p:cNvSpPr/>
          <p:nvPr/>
        </p:nvSpPr>
        <p:spPr bwMode="auto">
          <a:xfrm>
            <a:off x="8570270" y="284316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C57F7FD-3851-0A57-8A66-6EA19DD29067}"/>
              </a:ext>
            </a:extLst>
          </p:cNvPr>
          <p:cNvSpPr txBox="1"/>
          <p:nvPr/>
        </p:nvSpPr>
        <p:spPr>
          <a:xfrm>
            <a:off x="8290468" y="295279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Multiple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points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C660ED55-83CA-BA31-5AB1-FE3833E0CC78}"/>
              </a:ext>
            </a:extLst>
          </p:cNvPr>
          <p:cNvCxnSpPr>
            <a:cxnSpLocks/>
          </p:cNvCxnSpPr>
          <p:nvPr/>
        </p:nvCxnSpPr>
        <p:spPr>
          <a:xfrm>
            <a:off x="5967843" y="2046491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4878576A-4DF7-994A-F0D2-6A9C8D5149D2}"/>
              </a:ext>
            </a:extLst>
          </p:cNvPr>
          <p:cNvCxnSpPr>
            <a:cxnSpLocks/>
          </p:cNvCxnSpPr>
          <p:nvPr/>
        </p:nvCxnSpPr>
        <p:spPr>
          <a:xfrm>
            <a:off x="7501523" y="2040733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/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dirty="0"/>
                  <a:t>Coverage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ko-KR" sz="1200" dirty="0"/>
                  <a:t>  </a:t>
                </a:r>
              </a:p>
            </p:txBody>
          </p:sp>
        </mc:Choice>
        <mc:Fallback xmlns="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/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sz="1000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blipFill>
                <a:blip r:embed="rId20"/>
                <a:stretch>
                  <a:fillRect l="-61165" t="-86207" r="-65049" b="-1367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순서도: 처리 164">
            <a:extLst>
              <a:ext uri="{FF2B5EF4-FFF2-40B4-BE49-F238E27FC236}">
                <a16:creationId xmlns:a16="http://schemas.microsoft.com/office/drawing/2014/main" id="{34E472D3-9D69-EEC7-F4D6-47A467AA5FC5}"/>
              </a:ext>
            </a:extLst>
          </p:cNvPr>
          <p:cNvSpPr/>
          <p:nvPr/>
        </p:nvSpPr>
        <p:spPr bwMode="auto">
          <a:xfrm>
            <a:off x="6700464" y="2424392"/>
            <a:ext cx="1639845" cy="849083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200000"/>
              </a:lnSpc>
            </a:pP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/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pt-BR" altLang="ko-KR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blipFill>
                <a:blip r:embed="rId21"/>
                <a:stretch>
                  <a:fillRect l="-36723" t="-87209" r="-64972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/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altLang="ko-KR" sz="1200" dirty="0"/>
                  <a:t>      Cost :</a:t>
                </a:r>
                <a:endParaRPr lang="en-US" altLang="ko-KR" sz="1100" dirty="0"/>
              </a:p>
              <a:p>
                <a:pPr>
                  <a:lnSpc>
                    <a:spcPct val="200000"/>
                  </a:lnSpc>
                </a:pPr>
                <a:r>
                  <a:rPr lang="pt-BR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=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blipFill>
                <a:blip r:embed="rId2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/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CF72728C-D71D-850A-8331-B49F5204C48B}"/>
              </a:ext>
            </a:extLst>
          </p:cNvPr>
          <p:cNvCxnSpPr>
            <a:cxnSpLocks/>
          </p:cNvCxnSpPr>
          <p:nvPr/>
        </p:nvCxnSpPr>
        <p:spPr>
          <a:xfrm>
            <a:off x="5966215" y="3279256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D14D4DA0-DF1B-8C5B-54D2-323FC7E5942D}"/>
              </a:ext>
            </a:extLst>
          </p:cNvPr>
          <p:cNvCxnSpPr>
            <a:cxnSpLocks/>
          </p:cNvCxnSpPr>
          <p:nvPr/>
        </p:nvCxnSpPr>
        <p:spPr>
          <a:xfrm>
            <a:off x="7516570" y="3279255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655F1BC2-571B-A918-E663-73A19E3F61E0}"/>
              </a:ext>
            </a:extLst>
          </p:cNvPr>
          <p:cNvCxnSpPr>
            <a:cxnSpLocks/>
          </p:cNvCxnSpPr>
          <p:nvPr/>
        </p:nvCxnSpPr>
        <p:spPr>
          <a:xfrm>
            <a:off x="6771185" y="3955747"/>
            <a:ext cx="0" cy="340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B2FB661E-1CBA-2ACD-8E7E-BF1DC422BFD8}"/>
              </a:ext>
            </a:extLst>
          </p:cNvPr>
          <p:cNvSpPr/>
          <p:nvPr/>
        </p:nvSpPr>
        <p:spPr bwMode="auto">
          <a:xfrm>
            <a:off x="5353501" y="4316773"/>
            <a:ext cx="2751197" cy="6764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/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ko-KR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blipFill>
                <a:blip r:embed="rId2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/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+      </m:t>
                      </m:r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blipFill>
                <a:blip r:embed="rId25"/>
                <a:stretch>
                  <a:fillRect l="-10169" t="-87209" r="-39548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/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56000" lvl="4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blipFill>
                <a:blip r:embed="rId26"/>
                <a:stretch>
                  <a:fillRect r="-955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/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blipFill>
                <a:blip r:embed="rId27"/>
                <a:stretch>
                  <a:fillRect l="-63725" t="-87209" r="-64706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91240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Flowchart(single target)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C5E9F8C1-BD44-0BEC-D5AA-B0F4EC2ABEEB}"/>
              </a:ext>
            </a:extLst>
          </p:cNvPr>
          <p:cNvSpPr/>
          <p:nvPr/>
        </p:nvSpPr>
        <p:spPr bwMode="auto">
          <a:xfrm>
            <a:off x="708917" y="1379088"/>
            <a:ext cx="1575768" cy="386074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152C-B3BE-4DFA-8222-A06B9EA5E663}"/>
              </a:ext>
            </a:extLst>
          </p:cNvPr>
          <p:cNvGrpSpPr/>
          <p:nvPr/>
        </p:nvGrpSpPr>
        <p:grpSpPr>
          <a:xfrm>
            <a:off x="734848" y="1337663"/>
            <a:ext cx="1469204" cy="577081"/>
            <a:chOff x="3581400" y="1046837"/>
            <a:chExt cx="1469204" cy="57708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766AF33-C1AD-85D8-E109-D9AC9AC6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0733" y="1276934"/>
              <a:ext cx="139325" cy="1317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/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Input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050" dirty="0" smtClean="0"/>
                        <m:t>œ</m:t>
                      </m:r>
                    </m:oMath>
                  </a14:m>
                  <a:r>
                    <a:rPr lang="en-US" altLang="ko-KR" sz="1050" dirty="0"/>
                    <a:t>,   , (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altLang="ko-KR" sz="1050" dirty="0"/>
                    <a:t>)</a:t>
                  </a:r>
                  <a:endParaRPr lang="ko-KR" altLang="en-US" sz="1050" dirty="0"/>
                </a:p>
                <a:p>
                  <a:pPr algn="ctr"/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B560B21-E181-E4A0-A25D-487AEC4379B5}"/>
              </a:ext>
            </a:extLst>
          </p:cNvPr>
          <p:cNvCxnSpPr>
            <a:cxnSpLocks/>
          </p:cNvCxnSpPr>
          <p:nvPr/>
        </p:nvCxnSpPr>
        <p:spPr>
          <a:xfrm>
            <a:off x="1490657" y="1775500"/>
            <a:ext cx="6" cy="25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410DAF64-2F41-486F-FD40-89431A48FA67}"/>
              </a:ext>
            </a:extLst>
          </p:cNvPr>
          <p:cNvSpPr/>
          <p:nvPr/>
        </p:nvSpPr>
        <p:spPr bwMode="auto">
          <a:xfrm>
            <a:off x="942976" y="2028825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/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F77E666-26AD-B916-30C5-B8943DAD6EFC}"/>
              </a:ext>
            </a:extLst>
          </p:cNvPr>
          <p:cNvCxnSpPr>
            <a:cxnSpLocks/>
          </p:cNvCxnSpPr>
          <p:nvPr/>
        </p:nvCxnSpPr>
        <p:spPr>
          <a:xfrm>
            <a:off x="1490657" y="257792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7421B-BDB8-85FD-473F-875BDBEBC522}"/>
              </a:ext>
            </a:extLst>
          </p:cNvPr>
          <p:cNvCxnSpPr>
            <a:cxnSpLocks/>
          </p:cNvCxnSpPr>
          <p:nvPr/>
        </p:nvCxnSpPr>
        <p:spPr>
          <a:xfrm>
            <a:off x="2039522" y="2301699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D505CA-00A6-728C-DBE2-CB257FC56A8F}"/>
              </a:ext>
            </a:extLst>
          </p:cNvPr>
          <p:cNvSpPr txBox="1"/>
          <p:nvPr/>
        </p:nvSpPr>
        <p:spPr>
          <a:xfrm>
            <a:off x="1471613" y="258656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81CB6-9C1B-AE3A-C82E-F07D0F905491}"/>
              </a:ext>
            </a:extLst>
          </p:cNvPr>
          <p:cNvSpPr txBox="1"/>
          <p:nvPr/>
        </p:nvSpPr>
        <p:spPr>
          <a:xfrm>
            <a:off x="1928512" y="2072555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A8F0E-C81E-CC71-99E3-AA0A4C6B1F13}"/>
              </a:ext>
            </a:extLst>
          </p:cNvPr>
          <p:cNvSpPr/>
          <p:nvPr/>
        </p:nvSpPr>
        <p:spPr bwMode="auto">
          <a:xfrm>
            <a:off x="2312162" y="2056856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EECEB8-8D06-1F3F-6B32-FDBD9128C1C0}"/>
              </a:ext>
            </a:extLst>
          </p:cNvPr>
          <p:cNvSpPr txBox="1"/>
          <p:nvPr/>
        </p:nvSpPr>
        <p:spPr>
          <a:xfrm>
            <a:off x="2241659" y="2167871"/>
            <a:ext cx="1469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1F2328"/>
                </a:solidFill>
              </a:rPr>
              <a:t>Satellite invisible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051509-1E88-EB12-A776-B801B91FE1E2}"/>
              </a:ext>
            </a:extLst>
          </p:cNvPr>
          <p:cNvSpPr/>
          <p:nvPr/>
        </p:nvSpPr>
        <p:spPr bwMode="auto">
          <a:xfrm>
            <a:off x="708437" y="2897044"/>
            <a:ext cx="1554926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/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050" dirty="0"/>
                  <a:t> </a:t>
                </a:r>
                <a:r>
                  <a:rPr lang="en-US" altLang="ko-KR" sz="1050" dirty="0"/>
                  <a:t>: </a:t>
                </a:r>
              </a:p>
              <a:p>
                <a:pPr algn="ctr"/>
                <a:r>
                  <a:rPr lang="en-US" altLang="ko-KR" sz="1050" dirty="0"/>
                  <a:t>Access profile Saved</a:t>
                </a:r>
                <a:endParaRPr lang="ko-KR" alt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blipFill>
                <a:blip r:embed="rId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AFD061C-8B01-D6DD-700D-166F0376FE0A}"/>
              </a:ext>
            </a:extLst>
          </p:cNvPr>
          <p:cNvCxnSpPr>
            <a:cxnSpLocks/>
          </p:cNvCxnSpPr>
          <p:nvPr/>
        </p:nvCxnSpPr>
        <p:spPr>
          <a:xfrm>
            <a:off x="1490657" y="342332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6C8DBC0A-D168-2684-29D7-6569B3290794}"/>
              </a:ext>
            </a:extLst>
          </p:cNvPr>
          <p:cNvSpPr/>
          <p:nvPr/>
        </p:nvSpPr>
        <p:spPr bwMode="auto">
          <a:xfrm>
            <a:off x="942970" y="3733921"/>
            <a:ext cx="1076324" cy="549099"/>
          </a:xfrm>
          <a:prstGeom prst="diamond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/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1BF00F4-11F8-3AF7-61A4-00FEBAC19E06}"/>
              </a:ext>
            </a:extLst>
          </p:cNvPr>
          <p:cNvCxnSpPr>
            <a:cxnSpLocks/>
          </p:cNvCxnSpPr>
          <p:nvPr/>
        </p:nvCxnSpPr>
        <p:spPr>
          <a:xfrm>
            <a:off x="2035937" y="4014241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7B600A5-CA1F-1A30-BD3E-FAFD91BF2262}"/>
              </a:ext>
            </a:extLst>
          </p:cNvPr>
          <p:cNvSpPr txBox="1"/>
          <p:nvPr/>
        </p:nvSpPr>
        <p:spPr>
          <a:xfrm>
            <a:off x="1934452" y="3785097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E7AC68-193F-16F3-0AE0-FD6E91927ECA}"/>
              </a:ext>
            </a:extLst>
          </p:cNvPr>
          <p:cNvSpPr/>
          <p:nvPr/>
        </p:nvSpPr>
        <p:spPr bwMode="auto">
          <a:xfrm>
            <a:off x="2312162" y="3757829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/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050" dirty="0">
                    <a:solidFill>
                      <a:srgbClr val="1F2328"/>
                    </a:solidFill>
                  </a:rPr>
                  <a:t> : </a:t>
                </a:r>
              </a:p>
              <a:p>
                <a:pPr algn="ctr"/>
                <a:r>
                  <a:rPr lang="en-US" altLang="ko-KR" sz="1050" dirty="0">
                    <a:solidFill>
                      <a:srgbClr val="1F2328"/>
                    </a:solidFill>
                  </a:rPr>
                  <a:t>Seed Satellite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blipFill>
                <a:blip r:embed="rId8"/>
                <a:stretch>
                  <a:fillRect t="-1389"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4DAEAD-5BC8-5AAF-C8A6-42DE45B0995C}"/>
              </a:ext>
            </a:extLst>
          </p:cNvPr>
          <p:cNvCxnSpPr>
            <a:cxnSpLocks/>
          </p:cNvCxnSpPr>
          <p:nvPr/>
        </p:nvCxnSpPr>
        <p:spPr>
          <a:xfrm>
            <a:off x="2972905" y="4269603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58D1CD20-DFE2-FB67-E010-124BE3B1EA39}"/>
              </a:ext>
            </a:extLst>
          </p:cNvPr>
          <p:cNvSpPr/>
          <p:nvPr/>
        </p:nvSpPr>
        <p:spPr bwMode="auto">
          <a:xfrm>
            <a:off x="2434743" y="4580948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/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]=1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blipFill>
                <a:blip r:embed="rId9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C942F0F5-5F59-4EC9-EA0F-6D4DB67970D5}"/>
              </a:ext>
            </a:extLst>
          </p:cNvPr>
          <p:cNvCxnSpPr>
            <a:cxnSpLocks/>
            <a:stCxn id="39" idx="3"/>
            <a:endCxn id="37" idx="3"/>
          </p:cNvCxnSpPr>
          <p:nvPr/>
        </p:nvCxnSpPr>
        <p:spPr>
          <a:xfrm flipV="1">
            <a:off x="3511067" y="4005158"/>
            <a:ext cx="108433" cy="850340"/>
          </a:xfrm>
          <a:prstGeom prst="bentConnector3">
            <a:avLst>
              <a:gd name="adj1" fmla="val 699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6D2F8B3-61CF-237D-0594-EBE799999CA4}"/>
              </a:ext>
            </a:extLst>
          </p:cNvPr>
          <p:cNvSpPr txBox="1"/>
          <p:nvPr/>
        </p:nvSpPr>
        <p:spPr>
          <a:xfrm>
            <a:off x="3604278" y="3775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/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]=0)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blipFill>
                <a:blip r:embed="rId10"/>
                <a:stretch>
                  <a:fillRect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2126F68-9905-DE64-71D1-7D4DE2A6A5CE}"/>
              </a:ext>
            </a:extLst>
          </p:cNvPr>
          <p:cNvSpPr txBox="1"/>
          <p:nvPr/>
        </p:nvSpPr>
        <p:spPr>
          <a:xfrm>
            <a:off x="2956306" y="512621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2FBA164-89CB-7E2E-901C-BACA478C1071}"/>
              </a:ext>
            </a:extLst>
          </p:cNvPr>
          <p:cNvCxnSpPr>
            <a:cxnSpLocks/>
          </p:cNvCxnSpPr>
          <p:nvPr/>
        </p:nvCxnSpPr>
        <p:spPr>
          <a:xfrm>
            <a:off x="2965438" y="514136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/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blipFill>
                <a:blip r:embed="rId11"/>
                <a:stretch>
                  <a:fillRect t="-30147" b="-8676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/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=1, 2, … , 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ko-KR" sz="1050" dirty="0"/>
                  <a:t> :</a:t>
                </a:r>
              </a:p>
              <a:p>
                <a:pPr algn="ctr"/>
                <a:r>
                  <a:rPr lang="en-US" altLang="ko-KR" sz="1050" dirty="0"/>
                  <a:t>Normal Satellite </a:t>
                </a:r>
              </a:p>
              <a:p>
                <a:pPr algn="l"/>
                <a:endParaRPr lang="ko-KR" altLang="en-US" sz="1050" dirty="0"/>
              </a:p>
            </p:txBody>
          </p:sp>
        </mc:Choice>
        <mc:Fallback xmlns="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blipFill>
                <a:blip r:embed="rId12"/>
                <a:stretch>
                  <a:fillRect b="-555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A571695-8E3B-B0B7-3D03-184E71CFD9FB}"/>
              </a:ext>
            </a:extLst>
          </p:cNvPr>
          <p:cNvCxnSpPr>
            <a:cxnSpLocks/>
            <a:stCxn id="32" idx="2"/>
            <a:endCxn id="71" idx="0"/>
          </p:cNvCxnSpPr>
          <p:nvPr/>
        </p:nvCxnSpPr>
        <p:spPr>
          <a:xfrm>
            <a:off x="1481132" y="4283020"/>
            <a:ext cx="10114" cy="35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FCECAD1-A06C-C8E4-5DC9-279FF09D3EA4}"/>
              </a:ext>
            </a:extLst>
          </p:cNvPr>
          <p:cNvSpPr txBox="1"/>
          <p:nvPr/>
        </p:nvSpPr>
        <p:spPr>
          <a:xfrm>
            <a:off x="1469820" y="4322744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35A5DE9-4EF1-B86F-1642-ED07C411810B}"/>
              </a:ext>
            </a:extLst>
          </p:cNvPr>
          <p:cNvCxnSpPr>
            <a:cxnSpLocks/>
          </p:cNvCxnSpPr>
          <p:nvPr/>
        </p:nvCxnSpPr>
        <p:spPr>
          <a:xfrm>
            <a:off x="1487932" y="5058657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/>
              <p:nvPr/>
            </p:nvSpPr>
            <p:spPr>
              <a:xfrm>
                <a:off x="2891153" y="5836714"/>
                <a:ext cx="31434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153" y="5836714"/>
                <a:ext cx="314347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F3A83EE-7407-E256-3893-E5D0803218E7}"/>
              </a:ext>
            </a:extLst>
          </p:cNvPr>
          <p:cNvGrpSpPr/>
          <p:nvPr/>
        </p:nvGrpSpPr>
        <p:grpSpPr>
          <a:xfrm>
            <a:off x="3671142" y="2009941"/>
            <a:ext cx="1653334" cy="3571119"/>
            <a:chOff x="3528267" y="1869201"/>
            <a:chExt cx="1653334" cy="3892835"/>
          </a:xfrm>
        </p:grpSpPr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B51ECBE8-556F-1CDC-6C85-EE6AE8E9E77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98762" y="3298707"/>
              <a:ext cx="3892834" cy="1033823"/>
            </a:xfrm>
            <a:prstGeom prst="bentConnector3">
              <a:avLst>
                <a:gd name="adj1" fmla="val 38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F2299729-A1E0-7DBA-F792-AB2C8C4C883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1" y="1869201"/>
              <a:ext cx="609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2D10448-1B45-D26E-E616-00CBB195E4ED}"/>
              </a:ext>
            </a:extLst>
          </p:cNvPr>
          <p:cNvCxnSpPr>
            <a:cxnSpLocks/>
          </p:cNvCxnSpPr>
          <p:nvPr/>
        </p:nvCxnSpPr>
        <p:spPr>
          <a:xfrm>
            <a:off x="3670414" y="5960315"/>
            <a:ext cx="314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다이아몬드 111">
            <a:extLst>
              <a:ext uri="{FF2B5EF4-FFF2-40B4-BE49-F238E27FC236}">
                <a16:creationId xmlns:a16="http://schemas.microsoft.com/office/drawing/2014/main" id="{5CEF9EC6-1469-252D-D11A-BA83A25D1A7B}"/>
              </a:ext>
            </a:extLst>
          </p:cNvPr>
          <p:cNvSpPr/>
          <p:nvPr/>
        </p:nvSpPr>
        <p:spPr bwMode="auto">
          <a:xfrm>
            <a:off x="3993348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6FDEBC0-7B1D-76B5-933E-F84F421010F7}"/>
              </a:ext>
            </a:extLst>
          </p:cNvPr>
          <p:cNvCxnSpPr>
            <a:cxnSpLocks/>
          </p:cNvCxnSpPr>
          <p:nvPr/>
        </p:nvCxnSpPr>
        <p:spPr>
          <a:xfrm>
            <a:off x="5069672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다이아몬드 115">
            <a:extLst>
              <a:ext uri="{FF2B5EF4-FFF2-40B4-BE49-F238E27FC236}">
                <a16:creationId xmlns:a16="http://schemas.microsoft.com/office/drawing/2014/main" id="{10B7E944-1873-7D68-4383-14AE8FFB5712}"/>
              </a:ext>
            </a:extLst>
          </p:cNvPr>
          <p:cNvSpPr/>
          <p:nvPr/>
        </p:nvSpPr>
        <p:spPr bwMode="auto">
          <a:xfrm>
            <a:off x="5419725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7D78A9B8-92BF-55C4-5AD2-ABC55CCF5188}"/>
              </a:ext>
            </a:extLst>
          </p:cNvPr>
          <p:cNvCxnSpPr>
            <a:cxnSpLocks/>
          </p:cNvCxnSpPr>
          <p:nvPr/>
        </p:nvCxnSpPr>
        <p:spPr>
          <a:xfrm>
            <a:off x="6496049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/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blipFill>
                <a:blip r:embed="rId14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/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blipFill>
                <a:blip r:embed="rId15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5957841-4DF3-D164-B00E-6EC43D5F94D8}"/>
              </a:ext>
            </a:extLst>
          </p:cNvPr>
          <p:cNvSpPr txBox="1"/>
          <p:nvPr/>
        </p:nvSpPr>
        <p:spPr>
          <a:xfrm>
            <a:off x="4505325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9006794B-BE68-E121-42CD-FA0828D802EA}"/>
              </a:ext>
            </a:extLst>
          </p:cNvPr>
          <p:cNvCxnSpPr>
            <a:cxnSpLocks/>
          </p:cNvCxnSpPr>
          <p:nvPr/>
        </p:nvCxnSpPr>
        <p:spPr>
          <a:xfrm>
            <a:off x="4535005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A2A4B6F-33C4-CF8F-F885-C1BA25CC9970}"/>
              </a:ext>
            </a:extLst>
          </p:cNvPr>
          <p:cNvSpPr txBox="1"/>
          <p:nvPr/>
        </p:nvSpPr>
        <p:spPr>
          <a:xfrm>
            <a:off x="5920340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A967B5F-81E0-F1C3-56EF-DAB051B3A3A4}"/>
              </a:ext>
            </a:extLst>
          </p:cNvPr>
          <p:cNvCxnSpPr>
            <a:cxnSpLocks/>
          </p:cNvCxnSpPr>
          <p:nvPr/>
        </p:nvCxnSpPr>
        <p:spPr>
          <a:xfrm>
            <a:off x="5950020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/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Satellite invisible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800" b="0" i="0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ko-KR" sz="800" b="0" i="0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AF4C3AF2-345B-5D27-4A31-513566DB757A}"/>
              </a:ext>
            </a:extLst>
          </p:cNvPr>
          <p:cNvSpPr txBox="1"/>
          <p:nvPr/>
        </p:nvSpPr>
        <p:spPr>
          <a:xfrm>
            <a:off x="5487587" y="6524287"/>
            <a:ext cx="962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rgbClr val="1F2328"/>
                </a:solidFill>
              </a:rPr>
              <a:t>Single fold</a:t>
            </a:r>
            <a:endParaRPr lang="ko-KR" altLang="en-US" sz="8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52BA1A9-74E6-2297-8AE7-631DD16200A4}"/>
              </a:ext>
            </a:extLst>
          </p:cNvPr>
          <p:cNvSpPr txBox="1"/>
          <p:nvPr/>
        </p:nvSpPr>
        <p:spPr>
          <a:xfrm>
            <a:off x="5050914" y="575265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5ED955-EC6E-A2FF-2DBF-5127008EE590}"/>
              </a:ext>
            </a:extLst>
          </p:cNvPr>
          <p:cNvSpPr txBox="1"/>
          <p:nvPr/>
        </p:nvSpPr>
        <p:spPr>
          <a:xfrm>
            <a:off x="6479955" y="575842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/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-fold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 = 2, 3,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blipFill>
                <a:blip r:embed="rId1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424987" y="1209944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3DA9546-3C92-6F3F-BF0C-C25BC0FE5F95}"/>
              </a:ext>
            </a:extLst>
          </p:cNvPr>
          <p:cNvSpPr/>
          <p:nvPr/>
        </p:nvSpPr>
        <p:spPr bwMode="auto">
          <a:xfrm>
            <a:off x="8570270" y="284316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B2FB661E-1CBA-2ACD-8E7E-BF1DC422BFD8}"/>
                  </a:ext>
                </a:extLst>
              </p:cNvPr>
              <p:cNvSpPr/>
              <p:nvPr/>
            </p:nvSpPr>
            <p:spPr bwMode="auto">
              <a:xfrm>
                <a:off x="5324476" y="4201443"/>
                <a:ext cx="3043678" cy="5490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/>
                  <a:t> ≥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B2FB661E-1CBA-2ACD-8E7E-BF1DC422B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4476" y="4201443"/>
                <a:ext cx="3043678" cy="549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577FBA5-43FB-7102-1770-30A2A32AD5EF}"/>
              </a:ext>
            </a:extLst>
          </p:cNvPr>
          <p:cNvCxnSpPr>
            <a:cxnSpLocks/>
          </p:cNvCxnSpPr>
          <p:nvPr/>
        </p:nvCxnSpPr>
        <p:spPr>
          <a:xfrm>
            <a:off x="6898429" y="3541251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C024F7-8910-8396-CC4E-0ABEA3D4A79D}"/>
              </a:ext>
            </a:extLst>
          </p:cNvPr>
          <p:cNvSpPr txBox="1"/>
          <p:nvPr/>
        </p:nvSpPr>
        <p:spPr>
          <a:xfrm>
            <a:off x="6907458" y="4802028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4DCB12-9801-A67B-C240-C98B661D1C75}"/>
              </a:ext>
            </a:extLst>
          </p:cNvPr>
          <p:cNvCxnSpPr>
            <a:cxnSpLocks/>
          </p:cNvCxnSpPr>
          <p:nvPr/>
        </p:nvCxnSpPr>
        <p:spPr>
          <a:xfrm>
            <a:off x="6883065" y="389959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평행 사변형 41">
            <a:extLst>
              <a:ext uri="{FF2B5EF4-FFF2-40B4-BE49-F238E27FC236}">
                <a16:creationId xmlns:a16="http://schemas.microsoft.com/office/drawing/2014/main" id="{96A4C43A-3516-FC53-7C53-407C63CEC881}"/>
              </a:ext>
            </a:extLst>
          </p:cNvPr>
          <p:cNvSpPr/>
          <p:nvPr/>
        </p:nvSpPr>
        <p:spPr bwMode="auto">
          <a:xfrm>
            <a:off x="6116774" y="5085085"/>
            <a:ext cx="1575768" cy="495975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97AADC-61BE-82E1-11D1-5EA011BEBFB1}"/>
                  </a:ext>
                </a:extLst>
              </p:cNvPr>
              <p:cNvSpPr txBox="1"/>
              <p:nvPr/>
            </p:nvSpPr>
            <p:spPr>
              <a:xfrm>
                <a:off x="6213591" y="5264355"/>
                <a:ext cx="1478681" cy="332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97AADC-61BE-82E1-11D1-5EA011BEB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591" y="5264355"/>
                <a:ext cx="1478681" cy="332335"/>
              </a:xfrm>
              <a:prstGeom prst="rect">
                <a:avLst/>
              </a:prstGeom>
              <a:blipFill>
                <a:blip r:embed="rId1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6CB07023-7018-E7B7-D3F4-BDD7AD47F641}"/>
              </a:ext>
            </a:extLst>
          </p:cNvPr>
          <p:cNvCxnSpPr>
            <a:cxnSpLocks/>
            <a:stCxn id="3" idx="2"/>
            <a:endCxn id="181" idx="3"/>
          </p:cNvCxnSpPr>
          <p:nvPr/>
        </p:nvCxnSpPr>
        <p:spPr>
          <a:xfrm>
            <a:off x="2236426" y="1572125"/>
            <a:ext cx="6131728" cy="2903868"/>
          </a:xfrm>
          <a:prstGeom prst="bentConnector3">
            <a:avLst>
              <a:gd name="adj1" fmla="val 10372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/>
              <p:nvPr/>
            </p:nvSpPr>
            <p:spPr bwMode="auto">
              <a:xfrm>
                <a:off x="5332688" y="1781680"/>
                <a:ext cx="3043678" cy="2110786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Expansion</a:t>
                </a:r>
              </a:p>
              <a:p>
                <a:pPr algn="ctr"/>
                <a:r>
                  <a:rPr lang="en-US" altLang="ko-KR" sz="1200" dirty="0"/>
                  <a:t>(of Seed Satellite)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2688" y="1781680"/>
                <a:ext cx="3043678" cy="2110786"/>
              </a:xfrm>
              <a:prstGeom prst="flowChartProcess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C7D829A9-CD7A-40BE-640F-870CE7A57DE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58507" y="2411028"/>
            <a:ext cx="2936828" cy="1411645"/>
          </a:xfrm>
          <a:prstGeom prst="rect">
            <a:avLst/>
          </a:prstGeom>
        </p:spPr>
      </p:pic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BA9EACCA-1B77-4EC1-561B-6A1CA38346E6}"/>
              </a:ext>
            </a:extLst>
          </p:cNvPr>
          <p:cNvCxnSpPr>
            <a:cxnSpLocks/>
          </p:cNvCxnSpPr>
          <p:nvPr/>
        </p:nvCxnSpPr>
        <p:spPr>
          <a:xfrm>
            <a:off x="6899466" y="4760067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E70BDBE-6885-67DA-3490-7D1E8A4DD1D4}"/>
              </a:ext>
            </a:extLst>
          </p:cNvPr>
          <p:cNvCxnSpPr>
            <a:cxnSpLocks/>
          </p:cNvCxnSpPr>
          <p:nvPr/>
        </p:nvCxnSpPr>
        <p:spPr>
          <a:xfrm flipH="1">
            <a:off x="2245951" y="1571864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941A5B4-BB45-CFC4-B1DA-AFE6D1CB1F06}"/>
              </a:ext>
            </a:extLst>
          </p:cNvPr>
          <p:cNvSpPr txBox="1"/>
          <p:nvPr/>
        </p:nvSpPr>
        <p:spPr>
          <a:xfrm>
            <a:off x="8585280" y="3030612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F947A77-C8D7-0835-556B-219E38B510E6}"/>
              </a:ext>
            </a:extLst>
          </p:cNvPr>
          <p:cNvSpPr txBox="1"/>
          <p:nvPr/>
        </p:nvSpPr>
        <p:spPr>
          <a:xfrm>
            <a:off x="6230486" y="5062812"/>
            <a:ext cx="1384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2000949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CD5-0B64-3C4F-2DAA-49B7AEF5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81EA79-3BDA-B5D6-7C9D-A629103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A6AE70-F7DA-B1D4-6435-15C0EF5E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BF6F732-CA20-B7DB-EB30-79D5E654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39, 73, 79, 89, 170, 184, 234, 250, 331, 341, 347, 492, 502, 542, 638, 648, 654, 663</a:t>
            </a: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142 143 144 145 146 147 148 149 150 151 152 (11)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200 201 202 203 204 205 206 207 208 209 210 211 (12)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260 261 262 263 264 265 266 (7)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428 429 430 431 432 433 434 (7)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483 484 485 486 487 488 489 490 491 492 493 494 (12)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543 544 545 546 547 548 549 550 551 552 (10)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472287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CD5-0B64-3C4F-2DAA-49B7AEF5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81EA79-3BDA-B5D6-7C9D-A629103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A6AE70-F7DA-B1D4-6435-15C0EF5E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BF6F732-CA20-B7DB-EB30-79D5E654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8136E1-047A-8A68-A45B-CD0CE4070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F8D26F9-3DC1-F658-1484-3DD60E4E1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B96436-DDF1-1AE5-D2AB-4026C17F9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A64D94B-48FB-66DB-8A2C-EC59D5E36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232CF87-BD5D-FAD5-DB54-4BDA5879C2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5BAC16-1628-1DCC-AC6E-368C84CBF0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2C3034B-EB5D-1F47-423F-9EE987EA04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5A93EB6-8D67-AC02-0E55-5518953FB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51E8336-F5EC-9DFB-25EC-0C67F832BC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8900169-3786-1983-B3D6-BFAE2BB9EF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99C5A70-15CB-4F69-5C45-3E3CBD1450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221DB05-CECF-19E2-D3BE-AEBD85F484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74AA09A-C1EB-0644-09B7-FE1A1C3E216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0F2CBA0E-001D-7413-5FC1-9A3893338CC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6DA8D8C-66F6-89E9-F98A-0081821EA57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64D9FDA-4DF5-D7E8-C1D6-AEA5D06BE85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DCA397-D9B6-29D4-C5F2-F05EBEE6B1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66572B9-1DDB-3F2F-9960-D331A92218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DBAA9D1-56D8-FA3B-0900-317BAE082A3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C7DE0EF-E944-E9F3-5DE4-418E9C4392E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6296A391-59D8-7B38-80BB-A8B32212091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842727B9-A18C-9FC1-8C25-CA0F2D073D9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9C504F9F-5A70-3691-ED17-CE22FF37348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2F7F6C2-00EF-0C0C-938D-F3D0CF2119A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70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98009</TotalTime>
  <Words>3718</Words>
  <Application>Microsoft Office PowerPoint</Application>
  <PresentationFormat>화면 슬라이드 쇼(4:3)</PresentationFormat>
  <Paragraphs>1988</Paragraphs>
  <Slides>50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-apple-system</vt:lpstr>
      <vt:lpstr>Menlo</vt:lpstr>
      <vt:lpstr>Times New Roma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BILP Method</vt:lpstr>
      <vt:lpstr>BILP method 개념 정리</vt:lpstr>
      <vt:lpstr>BILP method 연구 방법</vt:lpstr>
      <vt:lpstr>BILP method 논문 예시</vt:lpstr>
      <vt:lpstr>BILP method 논문 예시 검증방법</vt:lpstr>
      <vt:lpstr>BILP 연구결과</vt:lpstr>
      <vt:lpstr>BILP method 연구 결과 〖"(" Ω, M")" 〗_k</vt:lpstr>
      <vt:lpstr>BILP method 연구 결과 〖"(" Ω, M")" 〗_k</vt:lpstr>
      <vt:lpstr>논문과 실제 시뮬레이션 결과 비교</vt:lpstr>
      <vt:lpstr>논문과 실제 시뮬레이션 결과 비교</vt:lpstr>
      <vt:lpstr>BILP Method 1</vt:lpstr>
      <vt:lpstr>Coverage 비율을 점차 높이며 진행 (Ex 1)</vt:lpstr>
      <vt:lpstr>Coverage 비율을 점차 높이며 진행 (Ex 1)</vt:lpstr>
      <vt:lpstr>Coverage 비율을 점차 높이며 진행 (Ex 1)</vt:lpstr>
      <vt:lpstr>Coverage 비율을 점차 높이며 진행 (Ex 1)</vt:lpstr>
      <vt:lpstr>Coverage 비율을 점차 높이며 진행 (Ex 1)</vt:lpstr>
      <vt:lpstr>BILP Method 2</vt:lpstr>
      <vt:lpstr>방법 1의 결과를 미세하게 조정</vt:lpstr>
      <vt:lpstr>방법 1의 결과를 미세하게 조정</vt:lpstr>
      <vt:lpstr>방법 1의 결과를 미세하게 조정</vt:lpstr>
      <vt:lpstr>방법 1의 결과를 미세하게 조정</vt:lpstr>
      <vt:lpstr>BILP Method 3</vt:lpstr>
      <vt:lpstr>n의 값을 수작업으로 배치</vt:lpstr>
      <vt:lpstr>n의 값을 Timeline에 수작업으로 배치</vt:lpstr>
      <vt:lpstr>결론</vt:lpstr>
      <vt:lpstr>결론</vt:lpstr>
      <vt:lpstr>경청해 주셔서 감사합니다.</vt:lpstr>
      <vt:lpstr>BILP method 개념 정리</vt:lpstr>
      <vt:lpstr>BILP method 개념 정리</vt:lpstr>
      <vt:lpstr>BILP method 개념 정리</vt:lpstr>
      <vt:lpstr>BILP method 개념 정리</vt:lpstr>
      <vt:lpstr>BILP method 연구 방법</vt:lpstr>
      <vt:lpstr>BILP method 연구 방법</vt:lpstr>
      <vt:lpstr>BILP method 연구 방법</vt:lpstr>
      <vt:lpstr>BILP method 연구 방법</vt:lpstr>
      <vt:lpstr>초록</vt:lpstr>
      <vt:lpstr>BILP method 연구 방법</vt:lpstr>
      <vt:lpstr>BILP method 연구 방법</vt:lpstr>
      <vt:lpstr>BILP method 연구 방법의 한계</vt:lpstr>
      <vt:lpstr>BILP method 연구 방법</vt:lpstr>
      <vt:lpstr>BILP method 연구 방법의 한계</vt:lpstr>
      <vt:lpstr>BILP method 설계기법 flowchart</vt:lpstr>
      <vt:lpstr>BILP 설계기법 flowchart</vt:lpstr>
      <vt:lpstr>BILP 설계기법 flowchart</vt:lpstr>
      <vt:lpstr>BILP method</vt:lpstr>
      <vt:lpstr>BILP method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4609</cp:revision>
  <dcterms:created xsi:type="dcterms:W3CDTF">2018-01-29T02:45:56Z</dcterms:created>
  <dcterms:modified xsi:type="dcterms:W3CDTF">2024-04-09T15:50:38Z</dcterms:modified>
</cp:coreProperties>
</file>