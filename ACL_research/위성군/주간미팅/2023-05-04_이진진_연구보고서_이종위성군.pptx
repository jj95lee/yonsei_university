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229" r:id="rId2"/>
    <p:sldId id="2239" r:id="rId3"/>
    <p:sldId id="257" r:id="rId4"/>
    <p:sldId id="2308" r:id="rId5"/>
    <p:sldId id="259" r:id="rId6"/>
    <p:sldId id="2304" r:id="rId7"/>
    <p:sldId id="2305" r:id="rId8"/>
    <p:sldId id="2306" r:id="rId9"/>
    <p:sldId id="2307" r:id="rId10"/>
    <p:sldId id="2309" r:id="rId11"/>
    <p:sldId id="2299" r:id="rId12"/>
    <p:sldId id="2300" r:id="rId13"/>
    <p:sldId id="2301" r:id="rId14"/>
    <p:sldId id="2297" r:id="rId15"/>
    <p:sldId id="2298" r:id="rId16"/>
    <p:sldId id="268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A1E"/>
    <a:srgbClr val="EDB021"/>
    <a:srgbClr val="D9541A"/>
    <a:srgbClr val="404040"/>
    <a:srgbClr val="FFFFFF"/>
    <a:srgbClr val="001E46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연구 목표 및 계획 리마인드</a:t>
            </a:r>
            <a:r>
              <a:rPr lang="en-US" altLang="ko-KR" dirty="0"/>
              <a:t>, </a:t>
            </a:r>
            <a:r>
              <a:rPr lang="ko-KR" altLang="en-US" dirty="0"/>
              <a:t>전체 계획 중 현재 위치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우주임무 수행의 확장성 및 운용 자유도에 따라 이종위성군의 연구가 주목받고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883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따라서 연구 목표는 운용개념에 기반하여 성능을 최적화하는 궤도를 설계하고</a:t>
            </a:r>
            <a:r>
              <a:rPr lang="en-US" altLang="ko-KR" dirty="0"/>
              <a:t>,</a:t>
            </a:r>
            <a:r>
              <a:rPr lang="ko-KR" altLang="en-US" dirty="0"/>
              <a:t> 그 궤도에 위성을 배치하여 성능을 검증하는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14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임무 달성을 위해 연구실 분류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(</a:t>
            </a:r>
            <a:r>
              <a:rPr lang="ko-KR" altLang="en-US" dirty="0"/>
              <a:t>제안서 </a:t>
            </a:r>
            <a:r>
              <a:rPr lang="ko-KR" altLang="en-US" dirty="0" err="1"/>
              <a:t>공모문</a:t>
            </a:r>
            <a:r>
              <a:rPr lang="ko-KR" altLang="en-US" dirty="0"/>
              <a:t> 자료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설계 및 운용기술 연구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 err="1"/>
              <a:t>온보드</a:t>
            </a:r>
            <a:r>
              <a:rPr lang="ko-KR" altLang="en-US" dirty="0"/>
              <a:t> 감시정찰 기술 연구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우주 통신 연구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검증 및 기반기술 연구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총 </a:t>
            </a:r>
            <a:r>
              <a:rPr lang="en-US" altLang="ko-KR" dirty="0"/>
              <a:t>4</a:t>
            </a:r>
            <a:r>
              <a:rPr lang="ko-KR" altLang="en-US" dirty="0"/>
              <a:t>개의 연구실이 있고 제</a:t>
            </a:r>
            <a:r>
              <a:rPr lang="en-US" altLang="ko-KR" dirty="0"/>
              <a:t>1</a:t>
            </a:r>
            <a:r>
              <a:rPr lang="ko-KR" altLang="en-US" dirty="0"/>
              <a:t>연구실 소속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901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 연구실 별 과제 목록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123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연구계획 리마인드</a:t>
            </a:r>
            <a:r>
              <a:rPr lang="en-US" altLang="ko-KR" dirty="0"/>
              <a:t>, </a:t>
            </a:r>
            <a:r>
              <a:rPr lang="ko-KR" altLang="en-US" dirty="0"/>
              <a:t>계획상 현재 위치 발표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3814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전체적인 연구 계획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2</a:t>
            </a:r>
            <a:r>
              <a:rPr lang="ko-KR" altLang="en-US" dirty="0"/>
              <a:t>단계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018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 연구에서는 모듈 </a:t>
            </a:r>
            <a:r>
              <a:rPr lang="en-US" altLang="ko-KR" dirty="0"/>
              <a:t>A</a:t>
            </a:r>
            <a:r>
              <a:rPr lang="ko-KR" altLang="en-US" dirty="0"/>
              <a:t>에 집중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513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우리가 속한 </a:t>
            </a:r>
            <a:r>
              <a:rPr lang="en-US" altLang="ko-KR" dirty="0"/>
              <a:t>1</a:t>
            </a:r>
            <a:r>
              <a:rPr lang="ko-KR" altLang="en-US" dirty="0"/>
              <a:t>연구실의 목표 달성을 위해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첫번째 과제인 </a:t>
            </a:r>
            <a:r>
              <a:rPr lang="en-US" altLang="ko-KR" dirty="0"/>
              <a:t>HS-11</a:t>
            </a:r>
            <a:r>
              <a:rPr lang="ko-KR" altLang="en-US" dirty="0"/>
              <a:t> 목표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052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66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2023-05-04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67422"/>
              </p:ext>
            </p:extLst>
          </p:nvPr>
        </p:nvGraphicFramePr>
        <p:xfrm>
          <a:off x="1454505" y="1029970"/>
          <a:ext cx="7318019" cy="293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이종위성군 연구</a:t>
                      </a:r>
                      <a:endParaRPr lang="en-US" altLang="ko-KR" sz="2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현재 진행상황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향후 연구 계획</a:t>
                      </a:r>
                    </a:p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3927475"/>
            <a:ext cx="1787236" cy="19327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이종위성군 연구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이종위성군의 연구 필요성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연구 필요성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다수의 초소형위성을 사용하는 </a:t>
            </a:r>
            <a:r>
              <a:rPr lang="ko-KR" altLang="en-US" dirty="0" err="1"/>
              <a:t>위성군</a:t>
            </a:r>
            <a:r>
              <a:rPr lang="ko-KR" altLang="en-US" dirty="0"/>
              <a:t> 시스템은 </a:t>
            </a:r>
            <a:r>
              <a:rPr lang="ko-KR" altLang="en-US" b="1" u="sng" dirty="0"/>
              <a:t>개발 기간</a:t>
            </a:r>
            <a:r>
              <a:rPr lang="en-US" altLang="ko-KR" b="1" u="sng" dirty="0"/>
              <a:t>/</a:t>
            </a:r>
            <a:r>
              <a:rPr lang="ko-KR" altLang="en-US" b="1" u="sng" dirty="0"/>
              <a:t>비용 대비 운용 </a:t>
            </a:r>
            <a:r>
              <a:rPr lang="ko-KR" altLang="en-US" b="1" u="sng" dirty="0" err="1"/>
              <a:t>효율</a:t>
            </a:r>
            <a:r>
              <a:rPr lang="ko-KR" altLang="en-US" dirty="0" err="1"/>
              <a:t>뿐만</a:t>
            </a:r>
            <a:r>
              <a:rPr lang="ko-KR" altLang="en-US" dirty="0"/>
              <a:t> 아니라 </a:t>
            </a:r>
            <a:r>
              <a:rPr lang="ko-KR" altLang="en-US" b="1" u="sng" dirty="0"/>
              <a:t>우주 임무 수행의 확장성 측면에서 주목</a:t>
            </a:r>
            <a:r>
              <a:rPr lang="ko-KR" altLang="en-US" dirty="0"/>
              <a:t>받고 있음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/>
              <a:t>특히 이종위성군은 동일 위성으로 이루어진 위성군에 비하여 </a:t>
            </a:r>
            <a:r>
              <a:rPr lang="ko-KR" altLang="en-US" sz="1800" b="1" u="sng" dirty="0"/>
              <a:t>운용 자유도가 높으며</a:t>
            </a:r>
            <a:r>
              <a:rPr lang="en-US" altLang="ko-KR" sz="1800" dirty="0"/>
              <a:t>, </a:t>
            </a:r>
            <a:r>
              <a:rPr lang="ko-KR" altLang="en-US" sz="1800" dirty="0"/>
              <a:t>이를 고려한 운용 개념 도출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최적화가 필요함</a:t>
            </a:r>
            <a:endParaRPr lang="en-US" altLang="ko-KR" sz="1800" dirty="0"/>
          </a:p>
          <a:p>
            <a:pPr lvl="1">
              <a:defRPr/>
            </a:pPr>
            <a:r>
              <a:rPr lang="ko-KR" altLang="en-US" dirty="0"/>
              <a:t>본 과제에서는 요구도 분석을 활용해 이종위성군의 </a:t>
            </a:r>
            <a:r>
              <a:rPr lang="ko-KR" altLang="en-US" b="1" u="sng" dirty="0"/>
              <a:t>운용개념을 도출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체계적으로 </a:t>
            </a:r>
            <a:r>
              <a:rPr lang="ko-KR" altLang="en-US" b="1" u="sng" dirty="0"/>
              <a:t>위성군을 설계</a:t>
            </a:r>
            <a:r>
              <a:rPr lang="en-US" altLang="ko-KR" b="1" u="sng" dirty="0"/>
              <a:t>/</a:t>
            </a:r>
            <a:r>
              <a:rPr lang="ko-KR" altLang="en-US" b="1" u="sng" dirty="0"/>
              <a:t>최적화</a:t>
            </a:r>
            <a:r>
              <a:rPr lang="ko-KR" altLang="en-US" dirty="0"/>
              <a:t>할 수 있는 툴을 개발하고자 함</a:t>
            </a:r>
            <a:endParaRPr lang="ko-KR" altLang="en-US" sz="1800" dirty="0"/>
          </a:p>
          <a:p>
            <a:pPr marL="777150" lvl="2" indent="-285750">
              <a:defRPr/>
            </a:pPr>
            <a:endParaRPr lang="ko-KR" altLang="en-US" dirty="0"/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285173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이종위성군의 연구 배경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연구배경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 err="1"/>
              <a:t>위성군</a:t>
            </a:r>
            <a:r>
              <a:rPr lang="en-US" altLang="ko-KR" sz="1800" dirty="0"/>
              <a:t>(satellite</a:t>
            </a:r>
            <a:r>
              <a:rPr lang="ko-KR" altLang="en-US" sz="1800" dirty="0"/>
              <a:t> </a:t>
            </a:r>
            <a:r>
              <a:rPr lang="en-US" altLang="ko-KR" sz="1800" dirty="0"/>
              <a:t>Constellation)</a:t>
            </a:r>
            <a:r>
              <a:rPr lang="ko-KR" altLang="en-US" sz="1800" dirty="0"/>
              <a:t>은 동일목적으로 운용되는 위성의 집합으로</a:t>
            </a:r>
            <a:r>
              <a:rPr lang="en-US" altLang="ko-KR" sz="1800" dirty="0"/>
              <a:t>, </a:t>
            </a:r>
            <a:r>
              <a:rPr lang="ko-KR" altLang="en-US" sz="1800" dirty="0"/>
              <a:t>초소형위성 산업이 발전함에 따라 주목받고 있는 개념</a:t>
            </a:r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en-US" altLang="ko-KR" dirty="0"/>
              <a:t>(Heterogeneous Constellation)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운용하면 동일한 시간동안 표적에 대해 다양한 정보를 획득할 수 있어 보다 효율적인 임무수행이 가능</a:t>
            </a:r>
            <a:endParaRPr lang="en-US" altLang="ko-KR" dirty="0"/>
          </a:p>
          <a:p>
            <a:pPr lvl="2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임무에서는 궤도평면 당 </a:t>
            </a:r>
            <a:r>
              <a:rPr lang="en-US" altLang="ko-KR" dirty="0"/>
              <a:t>SAR </a:t>
            </a:r>
            <a:r>
              <a:rPr lang="ko-KR" altLang="en-US" dirty="0"/>
              <a:t>위성 </a:t>
            </a:r>
            <a:r>
              <a:rPr lang="en-US" altLang="ko-KR" dirty="0"/>
              <a:t>4</a:t>
            </a:r>
            <a:r>
              <a:rPr lang="ko-KR" altLang="en-US" dirty="0"/>
              <a:t>기와 </a:t>
            </a:r>
            <a:r>
              <a:rPr lang="en-US" altLang="ko-KR" dirty="0"/>
              <a:t>EO</a:t>
            </a:r>
            <a:r>
              <a:rPr lang="ko-KR" altLang="en-US" dirty="0"/>
              <a:t>위성 </a:t>
            </a:r>
            <a:r>
              <a:rPr lang="en-US" altLang="ko-KR" dirty="0"/>
              <a:t>4</a:t>
            </a:r>
            <a:r>
              <a:rPr lang="ko-KR" altLang="en-US" dirty="0"/>
              <a:t>기를 배치하여 극궤도와 경사궤도에서 운용함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과제의 궁극적인 목적은 감시정찰</a:t>
            </a:r>
            <a:r>
              <a:rPr lang="en-US" altLang="ko-KR" dirty="0"/>
              <a:t>/</a:t>
            </a:r>
            <a:r>
              <a:rPr lang="ko-KR" altLang="en-US" dirty="0"/>
              <a:t>재난 모니터링 임무를 수행하는 이종 위성군의 </a:t>
            </a:r>
            <a:r>
              <a:rPr lang="ko-KR" altLang="en-US" b="1" u="sng" dirty="0"/>
              <a:t>운용성능을 최적화하는 궤도를 설계</a:t>
            </a:r>
            <a:r>
              <a:rPr lang="ko-KR" altLang="en-US" dirty="0"/>
              <a:t>하고</a:t>
            </a:r>
            <a:r>
              <a:rPr lang="ko-KR" altLang="en-US" b="1" u="sng" dirty="0"/>
              <a:t> 최적궤도에 위성들을 배치</a:t>
            </a:r>
            <a:r>
              <a:rPr lang="ko-KR" altLang="en-US" dirty="0"/>
              <a:t>하여 위성군의 성능을 검증</a:t>
            </a:r>
          </a:p>
          <a:p>
            <a:pPr marL="777150" lvl="2" indent="-285750">
              <a:defRPr/>
            </a:pPr>
            <a:endParaRPr lang="ko-KR" altLang="en-US" dirty="0"/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특화연구센터 조직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1400" lvl="2" indent="0">
              <a:buNone/>
              <a:defRPr/>
            </a:pPr>
            <a:endParaRPr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F278EE-C7EF-4499-105D-2E9C3BE54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295" y="959629"/>
            <a:ext cx="6637410" cy="54092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076946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FBBFD0-FDD9-91B7-39B6-51BDE5112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10" y="941254"/>
            <a:ext cx="5435425" cy="5398408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연구실별 과제 목록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1400" lvl="2" indent="0">
              <a:buNone/>
              <a:defRPr/>
            </a:pPr>
            <a:endParaRPr lang="ko-KR" altLang="en-US" sz="18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39EDBA-20B2-D66B-0D1B-1DEE4CED6114}"/>
              </a:ext>
            </a:extLst>
          </p:cNvPr>
          <p:cNvSpPr/>
          <p:nvPr/>
        </p:nvSpPr>
        <p:spPr bwMode="auto">
          <a:xfrm>
            <a:off x="2594758" y="1158256"/>
            <a:ext cx="3954484" cy="27313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03089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현재 진행 상황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44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연구계획</a:t>
            </a:r>
            <a:endParaRPr lang="ko-KR" altLang="en-US" sz="1800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C2DFEDB3-DF7D-F737-D34B-EBD90CB5A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21" y="1769905"/>
            <a:ext cx="7777957" cy="390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641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단계별 연구</a:t>
            </a:r>
            <a:endParaRPr lang="ko-KR" altLang="en-US" sz="1800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5928B61-63DA-9164-CD40-7F39B9E79B63}"/>
              </a:ext>
            </a:extLst>
          </p:cNvPr>
          <p:cNvGrpSpPr/>
          <p:nvPr/>
        </p:nvGrpSpPr>
        <p:grpSpPr>
          <a:xfrm>
            <a:off x="78036" y="1722678"/>
            <a:ext cx="8274850" cy="4032137"/>
            <a:chOff x="-487040" y="1613044"/>
            <a:chExt cx="8274850" cy="403213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EF86924-2B6B-7A86-5602-FDEEA2125DA4}"/>
                </a:ext>
              </a:extLst>
            </p:cNvPr>
            <p:cNvSpPr/>
            <p:nvPr/>
          </p:nvSpPr>
          <p:spPr bwMode="auto">
            <a:xfrm>
              <a:off x="1869897" y="1613044"/>
              <a:ext cx="5106256" cy="554804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C08920-28AC-5C20-7D58-E078AA7EB079}"/>
                </a:ext>
              </a:extLst>
            </p:cNvPr>
            <p:cNvSpPr txBox="1"/>
            <p:nvPr/>
          </p:nvSpPr>
          <p:spPr>
            <a:xfrm>
              <a:off x="2077948" y="1705780"/>
              <a:ext cx="46901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800" b="1" dirty="0"/>
                <a:t>이종위성군 성능 분석 및 설계</a:t>
              </a:r>
              <a:r>
                <a:rPr lang="en-US" altLang="ko-KR" b="1" dirty="0"/>
                <a:t>/</a:t>
              </a:r>
              <a:r>
                <a:rPr lang="ko-KR" altLang="en-US" b="1" dirty="0"/>
                <a:t>최적화 연구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B12A4AA-0CE5-F63C-9AAD-BA58BE406BD8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4423025" y="2167848"/>
              <a:ext cx="0" cy="5627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BA3D84D0-90A0-FCAC-BC02-9F046F8A7398}"/>
                </a:ext>
              </a:extLst>
            </p:cNvPr>
            <p:cNvCxnSpPr/>
            <p:nvPr/>
          </p:nvCxnSpPr>
          <p:spPr>
            <a:xfrm>
              <a:off x="2077948" y="2434978"/>
              <a:ext cx="4690153" cy="0"/>
            </a:xfrm>
            <a:prstGeom prst="line">
              <a:avLst/>
            </a:prstGeom>
            <a:ln>
              <a:solidFill>
                <a:srgbClr val="000A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03760BC-2E37-DB82-26F7-88F5D1262258}"/>
                </a:ext>
              </a:extLst>
            </p:cNvPr>
            <p:cNvCxnSpPr/>
            <p:nvPr/>
          </p:nvCxnSpPr>
          <p:spPr>
            <a:xfrm>
              <a:off x="2077948" y="2434978"/>
              <a:ext cx="0" cy="295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7F27DFA-1762-6901-2BEF-3012740EB418}"/>
                </a:ext>
              </a:extLst>
            </p:cNvPr>
            <p:cNvCxnSpPr/>
            <p:nvPr/>
          </p:nvCxnSpPr>
          <p:spPr>
            <a:xfrm>
              <a:off x="6768101" y="2434977"/>
              <a:ext cx="0" cy="295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5A1FD7CD-4E2C-C1C6-E01A-3A0BF3AB392E}"/>
                </a:ext>
              </a:extLst>
            </p:cNvPr>
            <p:cNvSpPr/>
            <p:nvPr/>
          </p:nvSpPr>
          <p:spPr bwMode="auto">
            <a:xfrm>
              <a:off x="1058238" y="2689261"/>
              <a:ext cx="2039420" cy="73973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4C60823-E0EC-2A5F-D30D-8C69ADBF4D22}"/>
                </a:ext>
              </a:extLst>
            </p:cNvPr>
            <p:cNvSpPr/>
            <p:nvPr/>
          </p:nvSpPr>
          <p:spPr bwMode="auto">
            <a:xfrm>
              <a:off x="3503487" y="2716199"/>
              <a:ext cx="1839073" cy="73973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C5D564C-3A67-2895-5305-E1B8B5852B79}"/>
                </a:ext>
              </a:extLst>
            </p:cNvPr>
            <p:cNvSpPr/>
            <p:nvPr/>
          </p:nvSpPr>
          <p:spPr bwMode="auto">
            <a:xfrm>
              <a:off x="5748388" y="2726473"/>
              <a:ext cx="2039421" cy="73973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38A0C6-B26F-2095-6D22-2175A40622F3}"/>
                </a:ext>
              </a:extLst>
            </p:cNvPr>
            <p:cNvSpPr txBox="1"/>
            <p:nvPr/>
          </p:nvSpPr>
          <p:spPr>
            <a:xfrm>
              <a:off x="1073649" y="2920630"/>
              <a:ext cx="203942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/>
                <a:t>이종위성군 운용 개념 연구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CD4255-D4C2-CD27-0CB3-6BE9B3081BB4}"/>
                </a:ext>
              </a:extLst>
            </p:cNvPr>
            <p:cNvSpPr txBox="1"/>
            <p:nvPr/>
          </p:nvSpPr>
          <p:spPr>
            <a:xfrm>
              <a:off x="3403313" y="2868261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b="1" dirty="0" err="1"/>
                <a:t>위성군</a:t>
              </a:r>
              <a:r>
                <a:rPr lang="ko-KR" altLang="en-US" sz="1200" b="1" dirty="0"/>
                <a:t> 최적 배치를 위한 발사</a:t>
              </a:r>
              <a:r>
                <a:rPr lang="en-US" altLang="ko-KR" sz="1200" b="1" dirty="0"/>
                <a:t>/</a:t>
              </a:r>
              <a:r>
                <a:rPr lang="ko-KR" altLang="en-US" sz="1200" b="1" dirty="0"/>
                <a:t>전개 전략 연구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EAE9A8-9DF9-99B4-86A7-9042A1C57D0C}"/>
                </a:ext>
              </a:extLst>
            </p:cNvPr>
            <p:cNvSpPr txBox="1"/>
            <p:nvPr/>
          </p:nvSpPr>
          <p:spPr>
            <a:xfrm>
              <a:off x="5748389" y="2855235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200" b="1" dirty="0"/>
                <a:t>이종위성군 설계 및 최적화 연구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01A605E-4D0B-E112-6028-159FB602671D}"/>
                </a:ext>
              </a:extLst>
            </p:cNvPr>
            <p:cNvSpPr/>
            <p:nvPr/>
          </p:nvSpPr>
          <p:spPr bwMode="auto">
            <a:xfrm>
              <a:off x="1058238" y="3547083"/>
              <a:ext cx="2039419" cy="20728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3E2B58A-4C4E-E81D-1CC9-78EE82C9F11A}"/>
                </a:ext>
              </a:extLst>
            </p:cNvPr>
            <p:cNvSpPr/>
            <p:nvPr/>
          </p:nvSpPr>
          <p:spPr bwMode="auto">
            <a:xfrm>
              <a:off x="3503487" y="3572299"/>
              <a:ext cx="4284322" cy="20728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0C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CD05168-C872-B254-9ED3-9E667AC80320}"/>
                </a:ext>
              </a:extLst>
            </p:cNvPr>
            <p:cNvSpPr txBox="1"/>
            <p:nvPr/>
          </p:nvSpPr>
          <p:spPr>
            <a:xfrm>
              <a:off x="1037688" y="3720494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highlight>
                    <a:srgbClr val="FFFF00"/>
                  </a:highlight>
                </a:rPr>
                <a:t>시스템 요구 분석</a:t>
              </a:r>
              <a:r>
                <a:rPr lang="en-US" altLang="ko-KR" sz="1200" dirty="0">
                  <a:highlight>
                    <a:srgbClr val="FFFF00"/>
                  </a:highlight>
                </a:rPr>
                <a:t>/</a:t>
              </a:r>
              <a:r>
                <a:rPr lang="ko-KR" altLang="en-US" sz="1200" dirty="0">
                  <a:highlight>
                    <a:srgbClr val="FFFF00"/>
                  </a:highlight>
                </a:rPr>
                <a:t>아키텍처 </a:t>
              </a:r>
              <a:r>
                <a:rPr lang="en-US" altLang="ko-KR" sz="1200" dirty="0">
                  <a:highlight>
                    <a:srgbClr val="FFFF00"/>
                  </a:highlight>
                </a:rPr>
                <a:t>trade-off </a:t>
              </a:r>
              <a:r>
                <a:rPr lang="ko-KR" altLang="en-US" sz="1200" dirty="0">
                  <a:highlight>
                    <a:srgbClr val="FFFF00"/>
                  </a:highlight>
                </a:rPr>
                <a:t>스터디 수행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533ED3-8B8B-6345-C8AF-B43879A54A68}"/>
                </a:ext>
              </a:extLst>
            </p:cNvPr>
            <p:cNvSpPr txBox="1"/>
            <p:nvPr/>
          </p:nvSpPr>
          <p:spPr>
            <a:xfrm>
              <a:off x="1037688" y="4368954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이종위성군의 </a:t>
              </a:r>
              <a:r>
                <a:rPr lang="en-US" altLang="ko-KR" sz="1200" dirty="0" err="1"/>
                <a:t>ConOps</a:t>
              </a:r>
              <a:r>
                <a:rPr lang="en-US" altLang="ko-KR" sz="1200" dirty="0"/>
                <a:t> </a:t>
              </a:r>
              <a:r>
                <a:rPr lang="ko-KR" altLang="en-US" sz="1200" dirty="0"/>
                <a:t>및 성능 평가 지표 도출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E12E090-1FB5-533B-BCC9-0815F606265E}"/>
                </a:ext>
              </a:extLst>
            </p:cNvPr>
            <p:cNvSpPr txBox="1"/>
            <p:nvPr/>
          </p:nvSpPr>
          <p:spPr>
            <a:xfrm>
              <a:off x="1058238" y="5017414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시스템 운용 성능 분석 툴 개발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911786-618D-24DC-ADEF-F16C9FDC4255}"/>
                </a:ext>
              </a:extLst>
            </p:cNvPr>
            <p:cNvSpPr txBox="1"/>
            <p:nvPr/>
          </p:nvSpPr>
          <p:spPr>
            <a:xfrm>
              <a:off x="3522319" y="3729058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 err="1"/>
                <a:t>위성군</a:t>
              </a:r>
              <a:r>
                <a:rPr lang="ko-KR" altLang="en-US" sz="1200" dirty="0"/>
                <a:t> 발사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전개 전략 </a:t>
              </a:r>
              <a:endParaRPr lang="en-US" altLang="ko-KR" sz="1200" dirty="0"/>
            </a:p>
            <a:p>
              <a:r>
                <a:rPr lang="ko-KR" altLang="en-US" sz="1200" dirty="0"/>
                <a:t>옵션 도출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54D6F41-2CAA-FC59-8972-43212820066B}"/>
                </a:ext>
              </a:extLst>
            </p:cNvPr>
            <p:cNvSpPr txBox="1"/>
            <p:nvPr/>
          </p:nvSpPr>
          <p:spPr>
            <a:xfrm>
              <a:off x="3523057" y="4376414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최적 </a:t>
              </a:r>
              <a:r>
                <a:rPr lang="ko-KR" altLang="en-US" sz="1200" dirty="0" err="1"/>
                <a:t>위성군</a:t>
              </a:r>
              <a:r>
                <a:rPr lang="ko-KR" altLang="en-US" sz="1200" dirty="0"/>
                <a:t> 발사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전개 문제 정식화 및 </a:t>
              </a:r>
              <a:r>
                <a:rPr lang="ko-KR" altLang="en-US" sz="1200" dirty="0" err="1"/>
                <a:t>밥법론</a:t>
              </a:r>
              <a:r>
                <a:rPr lang="ko-KR" altLang="en-US" sz="1200" dirty="0"/>
                <a:t> 연구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7420262-45DC-B829-DA97-B770DBFA0B65}"/>
                </a:ext>
              </a:extLst>
            </p:cNvPr>
            <p:cNvSpPr txBox="1"/>
            <p:nvPr/>
          </p:nvSpPr>
          <p:spPr>
            <a:xfrm>
              <a:off x="3508621" y="5017414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시스템 운용 성능 분석 툴 개발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3C99F0A-7C4B-EE8F-763E-44E987638E88}"/>
                </a:ext>
              </a:extLst>
            </p:cNvPr>
            <p:cNvSpPr txBox="1"/>
            <p:nvPr/>
          </p:nvSpPr>
          <p:spPr>
            <a:xfrm>
              <a:off x="5742389" y="3721234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이종위성군 설계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최적화 문제 정식화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89595B-7A38-6395-0880-D4B498D744F4}"/>
                </a:ext>
              </a:extLst>
            </p:cNvPr>
            <p:cNvSpPr txBox="1"/>
            <p:nvPr/>
          </p:nvSpPr>
          <p:spPr>
            <a:xfrm>
              <a:off x="5747093" y="4396061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이종위성군 설계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최적화 툴 개발 및 검증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F0143F2-648F-3EB6-D1C3-EED65AFCB955}"/>
                </a:ext>
              </a:extLst>
            </p:cNvPr>
            <p:cNvSpPr txBox="1"/>
            <p:nvPr/>
          </p:nvSpPr>
          <p:spPr>
            <a:xfrm>
              <a:off x="5741536" y="5020561"/>
              <a:ext cx="203942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이종위성군 설계 최적화 사례 연구 수행</a:t>
              </a: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B0961DD-F952-E690-9DFC-FB19657216C1}"/>
                </a:ext>
              </a:extLst>
            </p:cNvPr>
            <p:cNvSpPr/>
            <p:nvPr/>
          </p:nvSpPr>
          <p:spPr bwMode="auto">
            <a:xfrm>
              <a:off x="873430" y="2502466"/>
              <a:ext cx="400438" cy="4004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2A67427D-5824-537B-24A8-479635B9091F}"/>
                </a:ext>
              </a:extLst>
            </p:cNvPr>
            <p:cNvSpPr/>
            <p:nvPr/>
          </p:nvSpPr>
          <p:spPr bwMode="auto">
            <a:xfrm>
              <a:off x="3305710" y="2531133"/>
              <a:ext cx="400438" cy="4004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B0B31AB-AD35-BBEC-716C-E4A6A069DF9F}"/>
                </a:ext>
              </a:extLst>
            </p:cNvPr>
            <p:cNvSpPr/>
            <p:nvPr/>
          </p:nvSpPr>
          <p:spPr bwMode="auto">
            <a:xfrm>
              <a:off x="5543159" y="2541112"/>
              <a:ext cx="400438" cy="4004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4340978-B274-CEAE-B904-9729184C9424}"/>
                </a:ext>
              </a:extLst>
            </p:cNvPr>
            <p:cNvSpPr txBox="1"/>
            <p:nvPr/>
          </p:nvSpPr>
          <p:spPr>
            <a:xfrm>
              <a:off x="896418" y="2523633"/>
              <a:ext cx="3441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dirty="0"/>
                <a:t>A</a:t>
              </a:r>
              <a:endParaRPr lang="ko-KR" altLang="en-US" sz="18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A0CB68-AE1B-60E3-1C2D-01D51DB76BC4}"/>
                </a:ext>
              </a:extLst>
            </p:cNvPr>
            <p:cNvSpPr txBox="1"/>
            <p:nvPr/>
          </p:nvSpPr>
          <p:spPr>
            <a:xfrm>
              <a:off x="3341416" y="2541807"/>
              <a:ext cx="3441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dirty="0"/>
                <a:t>B</a:t>
              </a:r>
              <a:endParaRPr lang="ko-KR" altLang="en-US" sz="18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EDBF15A-A375-7A7C-175A-D502E436E5F0}"/>
                </a:ext>
              </a:extLst>
            </p:cNvPr>
            <p:cNvSpPr txBox="1"/>
            <p:nvPr/>
          </p:nvSpPr>
          <p:spPr>
            <a:xfrm>
              <a:off x="5578865" y="2542484"/>
              <a:ext cx="3441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dirty="0"/>
                <a:t>C</a:t>
              </a:r>
              <a:endParaRPr lang="ko-KR" altLang="en-US" sz="18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E6A4A68-B2D6-5A80-D523-5BB6ED2DF48F}"/>
                </a:ext>
              </a:extLst>
            </p:cNvPr>
            <p:cNvSpPr txBox="1"/>
            <p:nvPr/>
          </p:nvSpPr>
          <p:spPr>
            <a:xfrm>
              <a:off x="-487040" y="2828296"/>
              <a:ext cx="7465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b="1" dirty="0"/>
                <a:t>Work </a:t>
              </a:r>
            </a:p>
            <a:p>
              <a:pPr algn="ctr"/>
              <a:r>
                <a:rPr lang="en-US" altLang="ko-KR" sz="1200" b="1" dirty="0"/>
                <a:t>Module</a:t>
              </a:r>
              <a:endParaRPr lang="ko-KR" altLang="en-US" sz="1200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7E1C0E0-C1CB-86C6-A30B-DEFF5E28C4DB}"/>
                </a:ext>
              </a:extLst>
            </p:cNvPr>
            <p:cNvSpPr txBox="1"/>
            <p:nvPr/>
          </p:nvSpPr>
          <p:spPr>
            <a:xfrm>
              <a:off x="308448" y="3755885"/>
              <a:ext cx="74658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/>
                <a:t>1</a:t>
              </a:r>
              <a:r>
                <a:rPr lang="ko-KR" altLang="en-US" sz="1100" dirty="0"/>
                <a:t>차년도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0CBD659-41A8-0001-1EF6-3EADD052CB16}"/>
              </a:ext>
            </a:extLst>
          </p:cNvPr>
          <p:cNvSpPr txBox="1"/>
          <p:nvPr/>
        </p:nvSpPr>
        <p:spPr>
          <a:xfrm>
            <a:off x="845901" y="4534467"/>
            <a:ext cx="7465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2</a:t>
            </a:r>
            <a:r>
              <a:rPr lang="ko-KR" altLang="en-US" sz="1100" dirty="0"/>
              <a:t>차년도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4B9C86-0929-A700-78E6-4BFE8D6D6A76}"/>
              </a:ext>
            </a:extLst>
          </p:cNvPr>
          <p:cNvSpPr txBox="1"/>
          <p:nvPr/>
        </p:nvSpPr>
        <p:spPr>
          <a:xfrm>
            <a:off x="852978" y="5203415"/>
            <a:ext cx="7465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3</a:t>
            </a:r>
            <a:r>
              <a:rPr lang="ko-KR" altLang="en-US" sz="1100" dirty="0"/>
              <a:t>차년도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21FFE7-99B9-C7F9-7CFE-C0C5265524BE}"/>
              </a:ext>
            </a:extLst>
          </p:cNvPr>
          <p:cNvSpPr txBox="1"/>
          <p:nvPr/>
        </p:nvSpPr>
        <p:spPr>
          <a:xfrm>
            <a:off x="159152" y="4418623"/>
            <a:ext cx="507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/>
              <a:t>Key</a:t>
            </a:r>
          </a:p>
          <a:p>
            <a:pPr algn="ctr"/>
            <a:r>
              <a:rPr lang="en-US" altLang="ko-KR" sz="1200" b="1" dirty="0"/>
              <a:t>Task</a:t>
            </a:r>
            <a:endParaRPr lang="ko-KR" altLang="en-US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1180D7-3D65-5E53-9D72-6FCBFE27C40B}"/>
              </a:ext>
            </a:extLst>
          </p:cNvPr>
          <p:cNvSpPr txBox="1"/>
          <p:nvPr/>
        </p:nvSpPr>
        <p:spPr>
          <a:xfrm>
            <a:off x="1369028" y="5777187"/>
            <a:ext cx="16721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단계</a:t>
            </a:r>
            <a:r>
              <a:rPr lang="en-US" altLang="ko-KR" sz="1100" dirty="0">
                <a:solidFill>
                  <a:srgbClr val="FF0000"/>
                </a:solidFill>
              </a:rPr>
              <a:t>(2022~2025)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2D8820-9F51-C4D1-F74F-1CC566752E1D}"/>
              </a:ext>
            </a:extLst>
          </p:cNvPr>
          <p:cNvSpPr txBox="1"/>
          <p:nvPr/>
        </p:nvSpPr>
        <p:spPr>
          <a:xfrm>
            <a:off x="3990753" y="5803345"/>
            <a:ext cx="1362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rgbClr val="0070C0"/>
                </a:solidFill>
              </a:rPr>
              <a:t>2</a:t>
            </a:r>
            <a:r>
              <a:rPr lang="ko-KR" altLang="en-US" sz="1100" dirty="0">
                <a:solidFill>
                  <a:srgbClr val="0070C0"/>
                </a:solidFill>
              </a:rPr>
              <a:t>단계</a:t>
            </a:r>
            <a:r>
              <a:rPr lang="en-US" altLang="ko-KR" sz="1100" dirty="0">
                <a:solidFill>
                  <a:srgbClr val="0070C0"/>
                </a:solidFill>
              </a:rPr>
              <a:t>(2025~2028)</a:t>
            </a:r>
            <a:endParaRPr lang="ko-KR" altLang="en-US" sz="11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81863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연구목표</a:t>
            </a:r>
            <a:endParaRPr lang="en-US" altLang="ko-KR" dirty="0"/>
          </a:p>
          <a:p>
            <a:pPr lvl="1">
              <a:defRPr/>
            </a:pPr>
            <a:r>
              <a:rPr lang="ko-KR" altLang="en-US" sz="1800" dirty="0"/>
              <a:t>제 </a:t>
            </a:r>
            <a:r>
              <a:rPr lang="en-US" altLang="ko-KR" sz="1800" dirty="0"/>
              <a:t>1</a:t>
            </a:r>
            <a:r>
              <a:rPr lang="ko-KR" altLang="en-US" sz="1800" dirty="0"/>
              <a:t>연구실 목표</a:t>
            </a:r>
            <a:endParaRPr lang="en-US" altLang="ko-KR" sz="1800" dirty="0"/>
          </a:p>
          <a:p>
            <a:pPr lvl="2">
              <a:defRPr/>
            </a:pPr>
            <a:r>
              <a:rPr lang="ko-KR" altLang="en-US" b="1" u="sng" dirty="0"/>
              <a:t>감시</a:t>
            </a:r>
            <a:r>
              <a:rPr lang="en-US" altLang="ko-KR" b="1" u="sng" dirty="0"/>
              <a:t>/</a:t>
            </a:r>
            <a:r>
              <a:rPr lang="ko-KR" altLang="en-US" b="1" u="sng" dirty="0"/>
              <a:t>정찰 임무 수행</a:t>
            </a:r>
            <a:r>
              <a:rPr lang="ko-KR" altLang="en-US" dirty="0"/>
              <a:t>을 위한 다종의 </a:t>
            </a:r>
            <a:r>
              <a:rPr lang="ko-KR" altLang="en-US" b="1" u="sng" dirty="0"/>
              <a:t>초소형위성을 기반</a:t>
            </a:r>
            <a:r>
              <a:rPr lang="ko-KR" altLang="en-US" dirty="0"/>
              <a:t>으로 한 </a:t>
            </a:r>
            <a:r>
              <a:rPr lang="ko-KR" altLang="en-US" b="1" u="sng" dirty="0"/>
              <a:t>이종 위성군의 설계 및 운용 기술 연구</a:t>
            </a:r>
            <a:endParaRPr lang="en-US" altLang="ko-KR" b="1" u="sng" dirty="0"/>
          </a:p>
          <a:p>
            <a:pPr lvl="1">
              <a:defRPr/>
            </a:pPr>
            <a:r>
              <a:rPr lang="en-US" altLang="ko-KR" dirty="0"/>
              <a:t>HS-11</a:t>
            </a:r>
            <a:r>
              <a:rPr lang="ko-KR" altLang="en-US" dirty="0"/>
              <a:t>과제 목표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다양한 위성 시스템과 궤도를 갖는 이종 위성군의 </a:t>
            </a:r>
            <a:r>
              <a:rPr lang="ko-KR" altLang="en-US" b="1" u="sng" dirty="0"/>
              <a:t>운용개념 도출</a:t>
            </a:r>
            <a:endParaRPr lang="en-US" altLang="ko-KR" b="1" u="sng" dirty="0"/>
          </a:p>
          <a:p>
            <a:pPr lvl="2">
              <a:defRPr/>
            </a:pPr>
            <a:r>
              <a:rPr lang="ko-KR" altLang="en-US" dirty="0"/>
              <a:t>이종 위성군의 </a:t>
            </a:r>
            <a:r>
              <a:rPr lang="ko-KR" altLang="en-US" b="1" u="sng" dirty="0"/>
              <a:t>시스템 설계 최적화</a:t>
            </a:r>
            <a:r>
              <a:rPr lang="ko-KR" altLang="en-US" dirty="0"/>
              <a:t> 툴 연구</a:t>
            </a:r>
            <a:r>
              <a:rPr lang="en-US" altLang="ko-KR" dirty="0"/>
              <a:t>/</a:t>
            </a:r>
            <a:r>
              <a:rPr lang="ko-KR" altLang="en-US" dirty="0"/>
              <a:t>개발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649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 err="1"/>
              <a:t>연차별</a:t>
            </a:r>
            <a:r>
              <a:rPr lang="ko-KR" altLang="en-US" dirty="0"/>
              <a:t> 연구목표</a:t>
            </a:r>
            <a:r>
              <a:rPr lang="en-US" altLang="ko-KR" dirty="0"/>
              <a:t>/</a:t>
            </a:r>
            <a:r>
              <a:rPr lang="ko-KR" altLang="en-US" dirty="0"/>
              <a:t>내용</a:t>
            </a:r>
            <a:endParaRPr lang="en-US" altLang="ko-KR" dirty="0"/>
          </a:p>
          <a:p>
            <a:pPr marL="777150" lvl="2" indent="-285750">
              <a:defRPr/>
            </a:pP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  <p:graphicFrame>
        <p:nvGraphicFramePr>
          <p:cNvPr id="3" name="표 4">
            <a:extLst>
              <a:ext uri="{FF2B5EF4-FFF2-40B4-BE49-F238E27FC236}">
                <a16:creationId xmlns:a16="http://schemas.microsoft.com/office/drawing/2014/main" id="{62DFE668-791D-08E5-6E8E-ACB8C30AD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133521"/>
              </p:ext>
            </p:extLst>
          </p:nvPr>
        </p:nvGraphicFramePr>
        <p:xfrm>
          <a:off x="575995" y="1711535"/>
          <a:ext cx="799201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975">
                  <a:extLst>
                    <a:ext uri="{9D8B030D-6E8A-4147-A177-3AD203B41FA5}">
                      <a16:colId xmlns:a16="http://schemas.microsoft.com/office/drawing/2014/main" val="2117873229"/>
                    </a:ext>
                  </a:extLst>
                </a:gridCol>
                <a:gridCol w="3278486">
                  <a:extLst>
                    <a:ext uri="{9D8B030D-6E8A-4147-A177-3AD203B41FA5}">
                      <a16:colId xmlns:a16="http://schemas.microsoft.com/office/drawing/2014/main" val="2969328276"/>
                    </a:ext>
                  </a:extLst>
                </a:gridCol>
                <a:gridCol w="3596549">
                  <a:extLst>
                    <a:ext uri="{9D8B030D-6E8A-4147-A177-3AD203B41FA5}">
                      <a16:colId xmlns:a16="http://schemas.microsoft.com/office/drawing/2014/main" val="1259281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년도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연구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연구내용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24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차년도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100" dirty="0"/>
                        <a:t>(~23.10)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이종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시스템 요구조건 및 아키텍처 도출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strike="sngStrike" dirty="0"/>
                        <a:t>감시정찰</a:t>
                      </a:r>
                      <a:r>
                        <a:rPr lang="en-US" altLang="ko-KR" sz="1100" strike="sngStrike" dirty="0"/>
                        <a:t>/</a:t>
                      </a:r>
                      <a:r>
                        <a:rPr lang="ko-KR" altLang="en-US" sz="1100" strike="sngStrike" dirty="0"/>
                        <a:t>재난 모니터링 </a:t>
                      </a:r>
                      <a:r>
                        <a:rPr lang="ko-KR" altLang="en-US" sz="1100" strike="sngStrike" dirty="0" err="1"/>
                        <a:t>위성군</a:t>
                      </a:r>
                      <a:r>
                        <a:rPr lang="ko-KR" altLang="en-US" sz="1100" strike="sngStrike" dirty="0"/>
                        <a:t> 임무 </a:t>
                      </a:r>
                      <a:r>
                        <a:rPr lang="ko-KR" altLang="en-US" sz="1100" u="sng" strike="sngStrike" dirty="0"/>
                        <a:t>선행기술 연구</a:t>
                      </a:r>
                      <a:endParaRPr lang="en-US" altLang="ko-KR" sz="1100" u="sng" strike="sngStrike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u="sng" dirty="0">
                          <a:highlight>
                            <a:srgbClr val="FFFF00"/>
                          </a:highlight>
                        </a:rPr>
                        <a:t>수요자 의견 수렴</a:t>
                      </a:r>
                      <a:r>
                        <a:rPr lang="ko-KR" altLang="en-US" sz="1100" dirty="0">
                          <a:highlight>
                            <a:srgbClr val="FFFF00"/>
                          </a:highlight>
                        </a:rPr>
                        <a:t>을 통한 시스템 요구조건 도출</a:t>
                      </a:r>
                      <a:endParaRPr lang="en-US" altLang="ko-KR" sz="1100" dirty="0">
                        <a:highlight>
                          <a:srgbClr val="FFFF00"/>
                        </a:highlight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요구조건을 충족시키기 위한 </a:t>
                      </a:r>
                      <a:r>
                        <a:rPr lang="ko-KR" altLang="en-US" sz="1100" u="sng" dirty="0"/>
                        <a:t>아키텍처 옵션 도출 </a:t>
                      </a:r>
                      <a:r>
                        <a:rPr lang="ko-KR" altLang="en-US" sz="1100" dirty="0"/>
                        <a:t>및 트레이드 스터디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9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차년도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이종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운용 개념 및 성능 평가지표 도출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감시정찰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재난 모니터링 목표지역 설정 및 임무 구현을 위한 </a:t>
                      </a:r>
                      <a:r>
                        <a:rPr lang="en-US" altLang="ko-KR" sz="1100" u="sng" dirty="0" err="1"/>
                        <a:t>ConOps</a:t>
                      </a:r>
                      <a:r>
                        <a:rPr lang="en-US" altLang="ko-KR" sz="1100" u="sng" dirty="0"/>
                        <a:t> </a:t>
                      </a:r>
                      <a:r>
                        <a:rPr lang="ko-KR" altLang="en-US" sz="1100" u="sng" dirty="0"/>
                        <a:t>도출</a:t>
                      </a:r>
                      <a:endParaRPr lang="en-US" altLang="ko-KR" sz="1100" u="sng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시스템 레벨의 </a:t>
                      </a:r>
                      <a:r>
                        <a:rPr lang="ko-KR" altLang="en-US" sz="1100" u="sng" dirty="0"/>
                        <a:t>성능 평가지표 도출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41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차년도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이종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시스템 운용 성능 분석 툴 개발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정해진 성능 평가지표에 따라 </a:t>
                      </a:r>
                      <a:r>
                        <a:rPr lang="ko-KR" altLang="en-US" sz="1100" dirty="0" err="1"/>
                        <a:t>위성군</a:t>
                      </a:r>
                      <a:r>
                        <a:rPr lang="ko-KR" altLang="en-US" sz="1100" dirty="0"/>
                        <a:t> 시스템의 운용 성능을 산정할 수 있는 </a:t>
                      </a:r>
                      <a:r>
                        <a:rPr lang="ko-KR" altLang="en-US" sz="1100" u="sng" dirty="0"/>
                        <a:t>소프트웨어 툴 개발</a:t>
                      </a:r>
                      <a:endParaRPr lang="en-US" altLang="ko-KR" sz="1100" u="sng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/>
                        <a:t>다양한 임무상황 적용을 통한 분석 </a:t>
                      </a:r>
                      <a:r>
                        <a:rPr lang="ko-KR" altLang="en-US" sz="1100" u="sng" dirty="0"/>
                        <a:t>툴 검증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277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이종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</a:rPr>
                        <a:t>위성군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</a:rPr>
                        <a:t> 운용개념과 시스템 요구조건 정의 및 운용성능 분석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11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81370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257081" y="1050263"/>
            <a:ext cx="8629838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dirty="0"/>
              <a:t>연구 추진 계획</a:t>
            </a:r>
            <a:endParaRPr lang="ko-KR" altLang="en-US" sz="1800" dirty="0"/>
          </a:p>
          <a:p>
            <a:pPr marL="491400" lvl="2" indent="0">
              <a:buNone/>
              <a:defRPr/>
            </a:pPr>
            <a:endParaRPr lang="ko-KR" altLang="en-US" sz="1800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24893CF-91B9-4A94-656A-EAD2FBEDF141}"/>
              </a:ext>
            </a:extLst>
          </p:cNvPr>
          <p:cNvGrpSpPr/>
          <p:nvPr/>
        </p:nvGrpSpPr>
        <p:grpSpPr>
          <a:xfrm>
            <a:off x="7746824" y="4753057"/>
            <a:ext cx="1037498" cy="1525826"/>
            <a:chOff x="7433125" y="1055205"/>
            <a:chExt cx="1453794" cy="213806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5D78AC3-4859-3D00-80A5-D6A8A9150666}"/>
                </a:ext>
              </a:extLst>
            </p:cNvPr>
            <p:cNvSpPr/>
            <p:nvPr/>
          </p:nvSpPr>
          <p:spPr bwMode="auto">
            <a:xfrm>
              <a:off x="7433125" y="1055205"/>
              <a:ext cx="1453794" cy="6107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 u="sng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5B79B8A-E3E2-E1C1-4211-B29C025F9D35}"/>
                </a:ext>
              </a:extLst>
            </p:cNvPr>
            <p:cNvSpPr/>
            <p:nvPr/>
          </p:nvSpPr>
          <p:spPr bwMode="auto">
            <a:xfrm>
              <a:off x="7433125" y="1843212"/>
              <a:ext cx="1453794" cy="6107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 u="sng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E933104-0E0E-BF5C-6CF4-C0C0D1C42302}"/>
                </a:ext>
              </a:extLst>
            </p:cNvPr>
            <p:cNvSpPr/>
            <p:nvPr/>
          </p:nvSpPr>
          <p:spPr bwMode="auto">
            <a:xfrm>
              <a:off x="7433125" y="2582504"/>
              <a:ext cx="1453794" cy="6107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 u="sng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D276E6-D6EC-4C57-18B7-EDB7FE384A1E}"/>
                </a:ext>
              </a:extLst>
            </p:cNvPr>
            <p:cNvSpPr txBox="1"/>
            <p:nvPr/>
          </p:nvSpPr>
          <p:spPr>
            <a:xfrm>
              <a:off x="7488776" y="1201753"/>
              <a:ext cx="1342491" cy="366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/>
                <a:t>Co Work</a:t>
              </a:r>
              <a:endParaRPr lang="ko-KR" altLang="en-US" sz="11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8BA1457-DB5F-6F0C-BC8E-3C7FD4ED85B6}"/>
                </a:ext>
              </a:extLst>
            </p:cNvPr>
            <p:cNvSpPr txBox="1"/>
            <p:nvPr/>
          </p:nvSpPr>
          <p:spPr>
            <a:xfrm>
              <a:off x="7488776" y="1977097"/>
              <a:ext cx="1342491" cy="366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/>
                <a:t>KAIST</a:t>
              </a:r>
              <a:endParaRPr lang="ko-KR" altLang="en-US" sz="11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31E3675-8FF9-5D0C-8DD9-72E43875B1C5}"/>
                </a:ext>
              </a:extLst>
            </p:cNvPr>
            <p:cNvSpPr txBox="1"/>
            <p:nvPr/>
          </p:nvSpPr>
          <p:spPr>
            <a:xfrm>
              <a:off x="7488774" y="2733997"/>
              <a:ext cx="1342491" cy="3665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/>
                <a:t>연세대학교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70A6AE-3263-57F2-6C58-1E677B16C423}"/>
              </a:ext>
            </a:extLst>
          </p:cNvPr>
          <p:cNvSpPr/>
          <p:nvPr/>
        </p:nvSpPr>
        <p:spPr bwMode="auto">
          <a:xfrm>
            <a:off x="3135783" y="1276350"/>
            <a:ext cx="1963337" cy="290319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9B36EC-E2EA-9557-1070-0171EF1A7C00}"/>
              </a:ext>
            </a:extLst>
          </p:cNvPr>
          <p:cNvSpPr/>
          <p:nvPr/>
        </p:nvSpPr>
        <p:spPr bwMode="auto">
          <a:xfrm>
            <a:off x="3135782" y="4211103"/>
            <a:ext cx="2573875" cy="559161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solidFill>
                <a:srgbClr val="0070C0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9A1379F-4811-9138-2A9F-48E498137362}"/>
              </a:ext>
            </a:extLst>
          </p:cNvPr>
          <p:cNvGrpSpPr/>
          <p:nvPr/>
        </p:nvGrpSpPr>
        <p:grpSpPr>
          <a:xfrm>
            <a:off x="3137258" y="1345369"/>
            <a:ext cx="2609287" cy="4933514"/>
            <a:chOff x="3131294" y="1050263"/>
            <a:chExt cx="2609287" cy="493351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64C983D-CC95-898B-C7D7-A95C93BA0EC4}"/>
                </a:ext>
              </a:extLst>
            </p:cNvPr>
            <p:cNvSpPr/>
            <p:nvPr/>
          </p:nvSpPr>
          <p:spPr bwMode="auto">
            <a:xfrm>
              <a:off x="3845103" y="1050263"/>
              <a:ext cx="1153617" cy="4846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424B542-4124-5824-0AF4-B3E7C562D4A5}"/>
                </a:ext>
              </a:extLst>
            </p:cNvPr>
            <p:cNvSpPr/>
            <p:nvPr/>
          </p:nvSpPr>
          <p:spPr bwMode="auto">
            <a:xfrm>
              <a:off x="3836798" y="1628479"/>
              <a:ext cx="1153617" cy="4846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E1F11FA-3623-8E1B-11AE-29EAE0D7A1CE}"/>
                </a:ext>
              </a:extLst>
            </p:cNvPr>
            <p:cNvSpPr/>
            <p:nvPr/>
          </p:nvSpPr>
          <p:spPr bwMode="auto">
            <a:xfrm>
              <a:off x="3836797" y="2207909"/>
              <a:ext cx="1153617" cy="48465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2453E33-B366-7C9D-6E81-99B75CB94EC5}"/>
                </a:ext>
              </a:extLst>
            </p:cNvPr>
            <p:cNvSpPr/>
            <p:nvPr/>
          </p:nvSpPr>
          <p:spPr bwMode="auto">
            <a:xfrm>
              <a:off x="3218209" y="2792911"/>
              <a:ext cx="1168663" cy="490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E3BE2D2-96AB-89F3-ABEF-B2387C899CA0}"/>
                </a:ext>
              </a:extLst>
            </p:cNvPr>
            <p:cNvSpPr/>
            <p:nvPr/>
          </p:nvSpPr>
          <p:spPr bwMode="auto">
            <a:xfrm>
              <a:off x="3218209" y="3364207"/>
              <a:ext cx="1168663" cy="490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353782C-D91B-B645-E541-A962E707BCE0}"/>
                </a:ext>
              </a:extLst>
            </p:cNvPr>
            <p:cNvSpPr/>
            <p:nvPr/>
          </p:nvSpPr>
          <p:spPr bwMode="auto">
            <a:xfrm>
              <a:off x="3223089" y="3938642"/>
              <a:ext cx="1168663" cy="490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14CCAE6-DD19-FCA7-FEC8-ACF95F86CC2D}"/>
                </a:ext>
              </a:extLst>
            </p:cNvPr>
            <p:cNvSpPr/>
            <p:nvPr/>
          </p:nvSpPr>
          <p:spPr bwMode="auto">
            <a:xfrm>
              <a:off x="4469260" y="3957332"/>
              <a:ext cx="1167814" cy="4906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EA9F70C-41F4-17FB-E28A-85EB4FAD3EDC}"/>
                </a:ext>
              </a:extLst>
            </p:cNvPr>
            <p:cNvSpPr/>
            <p:nvPr/>
          </p:nvSpPr>
          <p:spPr bwMode="auto">
            <a:xfrm>
              <a:off x="3212817" y="5645918"/>
              <a:ext cx="2434499" cy="3378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FC4B2-C240-412E-B0F9-D354E375A32F}"/>
                </a:ext>
              </a:extLst>
            </p:cNvPr>
            <p:cNvSpPr txBox="1"/>
            <p:nvPr/>
          </p:nvSpPr>
          <p:spPr>
            <a:xfrm>
              <a:off x="3900752" y="1172414"/>
              <a:ext cx="134249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100" dirty="0"/>
                <a:t>선행기술 연구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8BBAE7-7E85-2956-30E2-4686953594CF}"/>
                </a:ext>
              </a:extLst>
            </p:cNvPr>
            <p:cNvSpPr txBox="1"/>
            <p:nvPr/>
          </p:nvSpPr>
          <p:spPr>
            <a:xfrm>
              <a:off x="3750665" y="1655798"/>
              <a:ext cx="134249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/>
                <a:t>Stakeholder</a:t>
              </a:r>
            </a:p>
            <a:p>
              <a:pPr algn="ctr"/>
              <a:r>
                <a:rPr lang="en-US" altLang="ko-KR" sz="1100" dirty="0"/>
                <a:t>Analysis</a:t>
              </a:r>
              <a:endParaRPr lang="ko-KR" altLang="en-US" sz="11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E7B982E-DA3E-B341-AF44-FAA69120FF1B}"/>
                </a:ext>
              </a:extLst>
            </p:cNvPr>
            <p:cNvSpPr txBox="1"/>
            <p:nvPr/>
          </p:nvSpPr>
          <p:spPr>
            <a:xfrm>
              <a:off x="3773152" y="2235045"/>
              <a:ext cx="134249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/>
                <a:t>Requirement</a:t>
              </a:r>
            </a:p>
            <a:p>
              <a:pPr algn="ctr"/>
              <a:r>
                <a:rPr lang="en-US" altLang="ko-KR" sz="1100" dirty="0"/>
                <a:t>Definition</a:t>
              </a:r>
              <a:endParaRPr lang="ko-KR" altLang="en-US" sz="11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C481D1A-1DAC-52AB-AE5F-AD996EC9D519}"/>
                </a:ext>
              </a:extLst>
            </p:cNvPr>
            <p:cNvSpPr txBox="1"/>
            <p:nvPr/>
          </p:nvSpPr>
          <p:spPr>
            <a:xfrm>
              <a:off x="3150367" y="2849281"/>
              <a:ext cx="134249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/>
                <a:t>운용 </a:t>
              </a:r>
              <a:r>
                <a:rPr lang="ko-KR" altLang="en-US" sz="1100" dirty="0" err="1"/>
                <a:t>아키텍쳐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옵션 도출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3185AA-BE78-963E-044E-2265C1116DB0}"/>
                </a:ext>
              </a:extLst>
            </p:cNvPr>
            <p:cNvSpPr txBox="1"/>
            <p:nvPr/>
          </p:nvSpPr>
          <p:spPr>
            <a:xfrm>
              <a:off x="3131294" y="3399254"/>
              <a:ext cx="134249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/>
                <a:t>Trade-off</a:t>
              </a:r>
            </a:p>
            <a:p>
              <a:pPr algn="ctr"/>
              <a:r>
                <a:rPr lang="en-US" altLang="ko-KR" sz="1100" dirty="0"/>
                <a:t>Study</a:t>
              </a:r>
              <a:endParaRPr lang="ko-KR" altLang="en-US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01EC2CF-4807-31C9-0042-5AC18F1F929F}"/>
                </a:ext>
              </a:extLst>
            </p:cNvPr>
            <p:cNvSpPr txBox="1"/>
            <p:nvPr/>
          </p:nvSpPr>
          <p:spPr>
            <a:xfrm>
              <a:off x="3158478" y="3982374"/>
              <a:ext cx="134249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 err="1"/>
                <a:t>ConOps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옵션 도출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379EFA-B75B-679E-5564-E853454686B4}"/>
                </a:ext>
              </a:extLst>
            </p:cNvPr>
            <p:cNvSpPr txBox="1"/>
            <p:nvPr/>
          </p:nvSpPr>
          <p:spPr>
            <a:xfrm>
              <a:off x="4386045" y="4004328"/>
              <a:ext cx="134249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/>
                <a:t>시스템 성능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평가지표 도출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EB9DBE-80F2-67F6-6603-612D54A2C23E}"/>
                </a:ext>
              </a:extLst>
            </p:cNvPr>
            <p:cNvSpPr txBox="1"/>
            <p:nvPr/>
          </p:nvSpPr>
          <p:spPr>
            <a:xfrm>
              <a:off x="3163753" y="5684042"/>
              <a:ext cx="251631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 err="1"/>
                <a:t>ConOps</a:t>
              </a:r>
              <a:r>
                <a:rPr lang="ko-KR" altLang="en-US" sz="1100" dirty="0"/>
                <a:t> 평가</a:t>
              </a:r>
              <a:r>
                <a:rPr lang="en-US" altLang="ko-KR" sz="1100" dirty="0"/>
                <a:t>, Trade Study</a:t>
              </a:r>
              <a:endParaRPr lang="ko-KR" altLang="en-US" sz="1100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6357E4D-8A8C-E585-0E1D-AA9A2D220F0A}"/>
                </a:ext>
              </a:extLst>
            </p:cNvPr>
            <p:cNvSpPr/>
            <p:nvPr/>
          </p:nvSpPr>
          <p:spPr bwMode="auto">
            <a:xfrm>
              <a:off x="4479503" y="4522800"/>
              <a:ext cx="1167814" cy="4906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29F906F-00DF-E4FA-992E-4B0B6E1C09F7}"/>
                </a:ext>
              </a:extLst>
            </p:cNvPr>
            <p:cNvSpPr/>
            <p:nvPr/>
          </p:nvSpPr>
          <p:spPr bwMode="auto">
            <a:xfrm>
              <a:off x="4469680" y="5079186"/>
              <a:ext cx="1167814" cy="4906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1F9B7E-0B37-F846-CC49-CEAF04F29E07}"/>
                </a:ext>
              </a:extLst>
            </p:cNvPr>
            <p:cNvSpPr txBox="1"/>
            <p:nvPr/>
          </p:nvSpPr>
          <p:spPr>
            <a:xfrm>
              <a:off x="4381752" y="4666394"/>
              <a:ext cx="134249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/>
                <a:t>SW </a:t>
              </a:r>
              <a:r>
                <a:rPr lang="ko-KR" altLang="en-US" sz="1100" dirty="0"/>
                <a:t>툴</a:t>
              </a:r>
              <a:r>
                <a:rPr lang="en-US" altLang="ko-KR" sz="1100" dirty="0"/>
                <a:t> </a:t>
              </a:r>
              <a:r>
                <a:rPr lang="ko-KR" altLang="en-US" sz="1100" dirty="0"/>
                <a:t>개발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A7C0684-FC64-7D68-6566-8AA55886BB72}"/>
                </a:ext>
              </a:extLst>
            </p:cNvPr>
            <p:cNvSpPr txBox="1"/>
            <p:nvPr/>
          </p:nvSpPr>
          <p:spPr>
            <a:xfrm>
              <a:off x="4398090" y="5215872"/>
              <a:ext cx="134249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/>
                <a:t>툴 검증 </a:t>
              </a:r>
              <a:r>
                <a:rPr lang="en-US" altLang="ko-KR" sz="1100" dirty="0"/>
                <a:t>Study</a:t>
              </a:r>
              <a:endParaRPr lang="ko-KR" altLang="en-US" sz="1100" dirty="0"/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26B90C9-E0B2-CAE3-04C5-130C164DD506}"/>
              </a:ext>
            </a:extLst>
          </p:cNvPr>
          <p:cNvSpPr/>
          <p:nvPr/>
        </p:nvSpPr>
        <p:spPr bwMode="auto">
          <a:xfrm>
            <a:off x="3130042" y="4800837"/>
            <a:ext cx="2573875" cy="1526950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9FF875-7144-E198-9679-119F695B8B9A}"/>
              </a:ext>
            </a:extLst>
          </p:cNvPr>
          <p:cNvSpPr txBox="1"/>
          <p:nvPr/>
        </p:nvSpPr>
        <p:spPr>
          <a:xfrm>
            <a:off x="3036161" y="931561"/>
            <a:ext cx="84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차년도</a:t>
            </a:r>
            <a:endParaRPr lang="ko-KR" alt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DD2F3C-1D3B-7BA3-3E44-B078425BA280}"/>
              </a:ext>
            </a:extLst>
          </p:cNvPr>
          <p:cNvSpPr txBox="1"/>
          <p:nvPr/>
        </p:nvSpPr>
        <p:spPr>
          <a:xfrm>
            <a:off x="5157122" y="3881445"/>
            <a:ext cx="84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2</a:t>
            </a:r>
            <a:r>
              <a:rPr lang="ko-KR" altLang="en-US" sz="1400" dirty="0">
                <a:solidFill>
                  <a:srgbClr val="0070C0"/>
                </a:solidFill>
              </a:rPr>
              <a:t>차년도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3B4A77-8CFE-249F-3467-5A261B06AC14}"/>
              </a:ext>
            </a:extLst>
          </p:cNvPr>
          <p:cNvSpPr txBox="1"/>
          <p:nvPr/>
        </p:nvSpPr>
        <p:spPr>
          <a:xfrm>
            <a:off x="2331900" y="4810613"/>
            <a:ext cx="843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3</a:t>
            </a:r>
            <a:r>
              <a:rPr lang="ko-KR" altLang="en-US" sz="1400" dirty="0">
                <a:solidFill>
                  <a:srgbClr val="00B050"/>
                </a:solidFill>
              </a:rPr>
              <a:t>차년도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0B4E81-990B-5074-642B-B1AB378DDF68}"/>
              </a:ext>
            </a:extLst>
          </p:cNvPr>
          <p:cNvSpPr txBox="1"/>
          <p:nvPr/>
        </p:nvSpPr>
        <p:spPr>
          <a:xfrm>
            <a:off x="5063053" y="1258434"/>
            <a:ext cx="294606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strike="sngStrike" dirty="0"/>
              <a:t>SAR/EO </a:t>
            </a:r>
            <a:r>
              <a:rPr lang="ko-KR" altLang="en-US" sz="1100" strike="sngStrike" dirty="0"/>
              <a:t>초소형 위성 </a:t>
            </a:r>
            <a:r>
              <a:rPr lang="en-US" altLang="ko-KR" sz="1100" strike="sngStrike" dirty="0"/>
              <a:t>Specification Study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strike="sngStrike" dirty="0"/>
              <a:t>운용사례 분석</a:t>
            </a:r>
            <a:endParaRPr lang="en-US" altLang="ko-KR" sz="1100" strike="sngStrike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strike="sngStrike" dirty="0"/>
              <a:t>Literature Study</a:t>
            </a:r>
            <a:endParaRPr lang="ko-KR" altLang="en-US" sz="1100" strike="sngStrike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E2CD50D-3FB0-5706-9F36-8E76FC253FF1}"/>
              </a:ext>
            </a:extLst>
          </p:cNvPr>
          <p:cNvSpPr txBox="1"/>
          <p:nvPr/>
        </p:nvSpPr>
        <p:spPr>
          <a:xfrm>
            <a:off x="5063053" y="1866772"/>
            <a:ext cx="294606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1" dirty="0"/>
              <a:t>Interview </a:t>
            </a:r>
            <a:r>
              <a:rPr lang="ko-KR" altLang="en-US" sz="1100" b="1" dirty="0"/>
              <a:t>방식 결정 </a:t>
            </a:r>
            <a:r>
              <a:rPr lang="en-US" altLang="ko-KR" sz="1100" b="1" dirty="0"/>
              <a:t>(Question List)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1" dirty="0"/>
              <a:t>Interviewee </a:t>
            </a:r>
            <a:r>
              <a:rPr lang="ko-KR" altLang="en-US" sz="1100" b="1" dirty="0"/>
              <a:t>선정</a:t>
            </a:r>
            <a:endParaRPr lang="en-US" altLang="ko-KR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1" dirty="0"/>
              <a:t>Interview</a:t>
            </a:r>
            <a:endParaRPr lang="ko-KR" altLang="en-US" sz="11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CABE79-D141-38BD-D74B-4A50489F331E}"/>
              </a:ext>
            </a:extLst>
          </p:cNvPr>
          <p:cNvSpPr txBox="1"/>
          <p:nvPr/>
        </p:nvSpPr>
        <p:spPr>
          <a:xfrm>
            <a:off x="5063053" y="2468435"/>
            <a:ext cx="294606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감시정찰 목표 지역 설정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임무 수행 능력 정의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기타 요구조건 정의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8748A0-465D-BBB4-20A8-62ED0D8EC48C}"/>
              </a:ext>
            </a:extLst>
          </p:cNvPr>
          <p:cNvSpPr txBox="1"/>
          <p:nvPr/>
        </p:nvSpPr>
        <p:spPr>
          <a:xfrm>
            <a:off x="1052202" y="3429000"/>
            <a:ext cx="217685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단순화된 형태의 초기 설계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err="1"/>
              <a:t>아키텍쳐</a:t>
            </a:r>
            <a:r>
              <a:rPr lang="ko-KR" altLang="en-US" sz="1100" dirty="0"/>
              <a:t> 간 장단점 분석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Design Iteration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38F8A4-C776-004A-BAD2-9CC5BF62ADED}"/>
              </a:ext>
            </a:extLst>
          </p:cNvPr>
          <p:cNvSpPr txBox="1"/>
          <p:nvPr/>
        </p:nvSpPr>
        <p:spPr>
          <a:xfrm>
            <a:off x="1036486" y="4343493"/>
            <a:ext cx="21768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구체적인 시스템 성능 분석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8090BE-AD0F-1A91-14F3-2FF63601E560}"/>
              </a:ext>
            </a:extLst>
          </p:cNvPr>
          <p:cNvSpPr txBox="1"/>
          <p:nvPr/>
        </p:nvSpPr>
        <p:spPr>
          <a:xfrm>
            <a:off x="5801668" y="4961737"/>
            <a:ext cx="29460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산출물</a:t>
            </a:r>
            <a:r>
              <a:rPr lang="en-US" altLang="ko-KR" sz="1100" dirty="0"/>
              <a:t>1. SW</a:t>
            </a:r>
            <a:r>
              <a:rPr lang="ko-KR" altLang="en-US" sz="1100" dirty="0"/>
              <a:t>툴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90930E-FFF8-99BF-3A57-8E9473C99ACC}"/>
              </a:ext>
            </a:extLst>
          </p:cNvPr>
          <p:cNvSpPr txBox="1"/>
          <p:nvPr/>
        </p:nvSpPr>
        <p:spPr>
          <a:xfrm>
            <a:off x="5801668" y="5988673"/>
            <a:ext cx="16162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산출물</a:t>
            </a:r>
            <a:r>
              <a:rPr lang="en-US" altLang="ko-KR" sz="1100" dirty="0"/>
              <a:t>2. DRM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4379533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848F7DF-623B-A9E0-B2B2-F20BEA0DB0E8}"/>
              </a:ext>
            </a:extLst>
          </p:cNvPr>
          <p:cNvSpPr/>
          <p:nvPr/>
        </p:nvSpPr>
        <p:spPr bwMode="auto">
          <a:xfrm>
            <a:off x="257082" y="6327787"/>
            <a:ext cx="3368620" cy="459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E9C4A-7699-57D3-082F-17BC419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929314"/>
          </a:xfrm>
        </p:spPr>
        <p:txBody>
          <a:bodyPr/>
          <a:lstStyle/>
          <a:p>
            <a:r>
              <a:rPr lang="ko-KR" altLang="en-US" dirty="0"/>
              <a:t>향후 연구계획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선행기술 연구 다음 단계인 </a:t>
            </a:r>
            <a:r>
              <a:rPr lang="en-US" altLang="ko-KR" dirty="0"/>
              <a:t>‘</a:t>
            </a:r>
            <a:r>
              <a:rPr lang="ko-KR" altLang="en-US" dirty="0"/>
              <a:t>수요자 의견 수렴을 통한 시스템 요구조건 도출</a:t>
            </a:r>
            <a:r>
              <a:rPr lang="en-US" altLang="ko-KR" dirty="0"/>
              <a:t>’ </a:t>
            </a:r>
            <a:r>
              <a:rPr lang="ko-KR" altLang="en-US" dirty="0"/>
              <a:t>연구 시작을 위해 필요한 자료 수집</a:t>
            </a:r>
            <a:endParaRPr lang="en-US" altLang="ko-KR" dirty="0"/>
          </a:p>
          <a:p>
            <a:pPr lvl="2"/>
            <a:r>
              <a:rPr lang="ko-KR" altLang="en-US" dirty="0"/>
              <a:t>인터뷰 방식 결정 및 질문리스트 작성</a:t>
            </a:r>
            <a:endParaRPr lang="en-US" altLang="ko-KR" dirty="0"/>
          </a:p>
          <a:p>
            <a:pPr lvl="2"/>
            <a:r>
              <a:rPr lang="ko-KR" altLang="en-US" dirty="0"/>
              <a:t>인터뷰 대상자 선정</a:t>
            </a:r>
            <a:endParaRPr lang="en-US" altLang="ko-KR" dirty="0"/>
          </a:p>
          <a:p>
            <a:pPr lvl="2"/>
            <a:r>
              <a:rPr lang="ko-KR" altLang="en-US" dirty="0"/>
              <a:t>인터뷰 진행</a:t>
            </a:r>
            <a:endParaRPr lang="en-US" altLang="ko-KR" dirty="0"/>
          </a:p>
          <a:p>
            <a:pPr lvl="1"/>
            <a:r>
              <a:rPr lang="ko-KR" altLang="en-US" dirty="0"/>
              <a:t>부족한 부분에 한하여 선행기술 연구 추가로 조사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36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80668</TotalTime>
  <Words>753</Words>
  <Application>Microsoft Office PowerPoint</Application>
  <PresentationFormat>화면 슬라이드 쇼(4:3)</PresentationFormat>
  <Paragraphs>181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times</vt:lpstr>
      <vt:lpstr>Times New Roman</vt:lpstr>
      <vt:lpstr>Wingdings</vt:lpstr>
      <vt:lpstr>Office 테마</vt:lpstr>
      <vt:lpstr>이종위성군 성능 분석 및 설계/최적화</vt:lpstr>
      <vt:lpstr>목차</vt:lpstr>
      <vt:lpstr>이종위성군 연구</vt:lpstr>
      <vt:lpstr>이종위성군의 연구 필요성</vt:lpstr>
      <vt:lpstr>이종위성군의 연구 배경</vt:lpstr>
      <vt:lpstr>특화연구센터 조직</vt:lpstr>
      <vt:lpstr>연구실별 과제 목록</vt:lpstr>
      <vt:lpstr>현재 진행 상황</vt:lpstr>
      <vt:lpstr>이종위성군</vt:lpstr>
      <vt:lpstr>이종위성군</vt:lpstr>
      <vt:lpstr>이종위성군</vt:lpstr>
      <vt:lpstr>이종위성군</vt:lpstr>
      <vt:lpstr>이종위성군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4519</cp:revision>
  <dcterms:created xsi:type="dcterms:W3CDTF">2018-01-29T02:45:56Z</dcterms:created>
  <dcterms:modified xsi:type="dcterms:W3CDTF">2023-05-04T05:56:36Z</dcterms:modified>
</cp:coreProperties>
</file>