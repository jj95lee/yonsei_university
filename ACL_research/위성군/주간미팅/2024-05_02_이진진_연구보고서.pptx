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aveSubsetFonts="1">
  <p:sldMasterIdLst>
    <p:sldMasterId id="2147483660" r:id="rId1"/>
  </p:sldMasterIdLst>
  <p:notesMasterIdLst>
    <p:notesMasterId r:id="rId20"/>
  </p:notesMasterIdLst>
  <p:handoutMasterIdLst>
    <p:handoutMasterId r:id="rId21"/>
  </p:handoutMasterIdLst>
  <p:sldIdLst>
    <p:sldId id="2550" r:id="rId2"/>
    <p:sldId id="2239" r:id="rId3"/>
    <p:sldId id="2554" r:id="rId4"/>
    <p:sldId id="2565" r:id="rId5"/>
    <p:sldId id="2706" r:id="rId6"/>
    <p:sldId id="2647" r:id="rId7"/>
    <p:sldId id="2726" r:id="rId8"/>
    <p:sldId id="2727" r:id="rId9"/>
    <p:sldId id="2730" r:id="rId10"/>
    <p:sldId id="2729" r:id="rId11"/>
    <p:sldId id="2728" r:id="rId12"/>
    <p:sldId id="2731" r:id="rId13"/>
    <p:sldId id="2733" r:id="rId14"/>
    <p:sldId id="2734" r:id="rId15"/>
    <p:sldId id="2732" r:id="rId16"/>
    <p:sldId id="2609" r:id="rId17"/>
    <p:sldId id="2724" r:id="rId18"/>
    <p:sldId id="2510" r:id="rId19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김극남" initials="김" lastIdx="0" clrIdx="0">
    <p:extLst>
      <p:ext uri="{19B8F6BF-5375-455C-9EA6-DF929625EA0E}">
        <p15:presenceInfo xmlns:p15="http://schemas.microsoft.com/office/powerpoint/2012/main" userId="김극남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1E46"/>
    <a:srgbClr val="FFFFFF"/>
    <a:srgbClr val="404040"/>
    <a:srgbClr val="FF0000"/>
    <a:srgbClr val="6600CC"/>
    <a:srgbClr val="CC99FF"/>
    <a:srgbClr val="000A1E"/>
    <a:srgbClr val="EDB021"/>
    <a:srgbClr val="D9541A"/>
    <a:srgbClr val="FFCC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E9639D4-E3E2-4D34-9284-5A2195B3D0D7}" styleName="밝은 스타일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793D81CF-94F2-401A-BA57-92F5A7B2D0C5}" styleName="보통 스타일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231" autoAdjust="0"/>
    <p:restoredTop sz="82161" autoAdjust="0"/>
  </p:normalViewPr>
  <p:slideViewPr>
    <p:cSldViewPr snapToGrid="0" showGuides="1">
      <p:cViewPr varScale="1">
        <p:scale>
          <a:sx n="93" d="100"/>
          <a:sy n="93" d="100"/>
        </p:scale>
        <p:origin x="2262" y="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 snapToGrid="0">
      <p:cViewPr varScale="1">
        <p:scale>
          <a:sx n="65" d="100"/>
          <a:sy n="65" d="100"/>
        </p:scale>
        <p:origin x="2299" y="3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commentAuthors" Target="commentAuthor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1E49D1F-15B2-4B9C-8076-11C3A082C32A}" type="datetimeFigureOut">
              <a:rPr lang="ko-KR" altLang="en-US" smtClean="0"/>
              <a:t>2024-05-02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3A8452A-AED7-4144-8B8B-DADFF71C57C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28991862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6DDD8DE-5D7B-4A4B-9949-78C9C314FE9D}" type="datetimeFigureOut">
              <a:rPr lang="ko-KR" altLang="en-US" smtClean="0"/>
              <a:t>2024-05-02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D463564-01E7-4F87-AE00-59478FEE8A8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50012581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예비심사에서는 가장 간단한 </a:t>
            </a:r>
            <a:r>
              <a:rPr lang="en-US" altLang="ko-KR" dirty="0"/>
              <a:t>Example 1</a:t>
            </a:r>
            <a:r>
              <a:rPr lang="ko-KR" altLang="en-US" dirty="0"/>
              <a:t>의 이론을 주로 활용하여 </a:t>
            </a:r>
            <a:r>
              <a:rPr lang="en-US" altLang="ko-KR" dirty="0"/>
              <a:t>BILP</a:t>
            </a:r>
            <a:r>
              <a:rPr lang="ko-KR" altLang="en-US" dirty="0"/>
              <a:t>의 구현 및 검증까지 보여드렸습니다 </a:t>
            </a:r>
            <a:br>
              <a:rPr lang="en-US" altLang="ko-KR" dirty="0"/>
            </a:br>
            <a:br>
              <a:rPr lang="en-US" altLang="ko-KR" dirty="0"/>
            </a:br>
            <a:r>
              <a:rPr lang="ko-KR" altLang="en-US" dirty="0"/>
              <a:t>하지만 최종 목표는 이종 </a:t>
            </a:r>
            <a:r>
              <a:rPr lang="ko-KR" altLang="en-US" dirty="0" err="1"/>
              <a:t>위성군</a:t>
            </a:r>
            <a:r>
              <a:rPr lang="ko-KR" altLang="en-US" dirty="0"/>
              <a:t> 설계이기 때문에</a:t>
            </a:r>
            <a:r>
              <a:rPr lang="en-US" altLang="ko-KR" dirty="0"/>
              <a:t>, example 3, 4</a:t>
            </a:r>
            <a:r>
              <a:rPr lang="ko-KR" altLang="en-US" dirty="0"/>
              <a:t>는 건너뛰고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다양한 궤도 유형을 가지는 </a:t>
            </a:r>
            <a:r>
              <a:rPr lang="ko-KR" altLang="en-US" dirty="0" err="1"/>
              <a:t>위성군</a:t>
            </a:r>
            <a:r>
              <a:rPr lang="ko-KR" altLang="en-US" dirty="0"/>
              <a:t> 설계인 </a:t>
            </a:r>
            <a:r>
              <a:rPr lang="en-US" altLang="ko-KR" dirty="0"/>
              <a:t>example 5</a:t>
            </a:r>
            <a:r>
              <a:rPr lang="ko-KR" altLang="en-US" dirty="0"/>
              <a:t>를 최우선으로 구현해보고자 하였습니다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Example 3 ,4</a:t>
            </a:r>
            <a:r>
              <a:rPr lang="ko-KR" altLang="en-US" dirty="0"/>
              <a:t>는 관심지역이 점 타겟이 아닌 영역이기 때문에</a:t>
            </a:r>
            <a:r>
              <a:rPr lang="en-US" altLang="ko-KR" dirty="0"/>
              <a:t>, </a:t>
            </a:r>
            <a:r>
              <a:rPr lang="ko-KR" altLang="en-US" dirty="0"/>
              <a:t> 추후에 필요하다면 참고하겠습니다</a:t>
            </a:r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7301863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/>
            </a:pPr>
            <a:endParaRPr lang="ko-KR" altLang="en-US" dirty="0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ED463564-01E7-4F87-AE00-59478FEE8A8F}" type="slidenum">
              <a:rPr lang="en-US" altLang="en-US"/>
              <a:pPr lvl="0">
                <a:defRPr/>
              </a:pPr>
              <a:t>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3633993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1002471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2A8E88-307B-9E87-16B3-0577C22A5B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>
            <a:extLst>
              <a:ext uri="{FF2B5EF4-FFF2-40B4-BE49-F238E27FC236}">
                <a16:creationId xmlns:a16="http://schemas.microsoft.com/office/drawing/2014/main" id="{A0F59D5A-5813-6897-EAA2-770D8D03263B}"/>
              </a:ext>
            </a:extLst>
          </p:cNvPr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3" name="슬라이드 노트 개체 틀 4">
            <a:extLst>
              <a:ext uri="{FF2B5EF4-FFF2-40B4-BE49-F238E27FC236}">
                <a16:creationId xmlns:a16="http://schemas.microsoft.com/office/drawing/2014/main" id="{2B8A9F4C-CF34-872C-CE28-EC229E6A5C0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/>
              <a:t>이번 주에는 자료조사와 코딩하는데 시간을 좀 많이 들여서 </a:t>
            </a:r>
            <a:r>
              <a:rPr lang="ko-KR" altLang="en-US" dirty="0" err="1"/>
              <a:t>보여드릴게</a:t>
            </a:r>
            <a:r>
              <a:rPr lang="ko-KR" altLang="en-US" dirty="0"/>
              <a:t> 많지는 않습니다</a:t>
            </a:r>
          </a:p>
        </p:txBody>
      </p:sp>
      <p:sp>
        <p:nvSpPr>
          <p:cNvPr id="4" name="슬라이드 번호 개체 틀 6">
            <a:extLst>
              <a:ext uri="{FF2B5EF4-FFF2-40B4-BE49-F238E27FC236}">
                <a16:creationId xmlns:a16="http://schemas.microsoft.com/office/drawing/2014/main" id="{4BFCFEA9-7DD9-4607-7F66-5D014E603C0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ED463564-01E7-4F87-AE00-59478FEE8A8F}" type="slidenum">
              <a:rPr lang="en-US" altLang="en-US"/>
              <a:pPr lvl="0">
                <a:defRPr/>
              </a:pPr>
              <a:t>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9496986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DB1483-C0F2-2464-A862-AA44B2C2D1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F58B8B9-FE33-B81F-3079-D62329389E9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69A42E4-15BD-7035-AA22-DB8E2F4299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참고문헌에 제시된 두 관심지역 및 초기 조건을 동일하게 설정하였고 제 코딩과 비교해보았습니다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위는 저궤도 아래는 </a:t>
            </a:r>
            <a:r>
              <a:rPr lang="ko-KR" altLang="en-US" dirty="0" err="1"/>
              <a:t>고궤도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B14A7EA-A3F7-4629-8D81-19DAE75BF66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852598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DB1483-C0F2-2464-A862-AA44B2C2D1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F58B8B9-FE33-B81F-3079-D62329389E9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69A42E4-15BD-7035-AA22-DB8E2F4299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같은 해를 대입하여 코드 실행을 했을 때 당연히 같은 결과가 나오는 걸 확인할 수 있었고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B14A7EA-A3F7-4629-8D81-19DAE75BF66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9183893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DB1483-C0F2-2464-A862-AA44B2C2D1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F58B8B9-FE33-B81F-3079-D62329389E9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69A42E4-15BD-7035-AA22-DB8E2F4299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두번째 관심지역인 인도도 마찬가지였습니다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B14A7EA-A3F7-4629-8D81-19DAE75BF66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8478870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DB1483-C0F2-2464-A862-AA44B2C2D1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F58B8B9-FE33-B81F-3079-D62329389E9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69A42E4-15BD-7035-AA22-DB8E2F4299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왜 두 가지의 궤도 유형을 운용해야 하는지 말씀드리면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첫번째 관심지역의 </a:t>
            </a:r>
            <a:r>
              <a:rPr lang="en-US" altLang="ko-KR" dirty="0"/>
              <a:t>100% </a:t>
            </a:r>
            <a:r>
              <a:rPr lang="ko-KR" altLang="en-US" dirty="0"/>
              <a:t>커버를 목표로 한 단일 위성 궤도로는 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저궤도가 </a:t>
            </a:r>
            <a:r>
              <a:rPr lang="en-US" altLang="ko-KR" dirty="0"/>
              <a:t>9</a:t>
            </a:r>
            <a:r>
              <a:rPr lang="ko-KR" altLang="en-US" dirty="0"/>
              <a:t>대</a:t>
            </a:r>
            <a:r>
              <a:rPr lang="en-US" altLang="ko-KR" dirty="0"/>
              <a:t>, </a:t>
            </a:r>
            <a:r>
              <a:rPr lang="ko-KR" altLang="en-US" dirty="0"/>
              <a:t>고궤도가 </a:t>
            </a:r>
            <a:r>
              <a:rPr lang="en-US" altLang="ko-KR" dirty="0"/>
              <a:t>11</a:t>
            </a:r>
            <a:r>
              <a:rPr lang="ko-KR" altLang="en-US" dirty="0"/>
              <a:t>대였습니다 </a:t>
            </a:r>
            <a:endParaRPr lang="en-US" altLang="ko-KR" dirty="0"/>
          </a:p>
          <a:p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B14A7EA-A3F7-4629-8D81-19DAE75BF66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0764266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DB1483-C0F2-2464-A862-AA44B2C2D1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F58B8B9-FE33-B81F-3079-D62329389E9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69A42E4-15BD-7035-AA22-DB8E2F4299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반대로 두번째 지역인 인도는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저궤도가 </a:t>
            </a:r>
            <a:r>
              <a:rPr lang="en-US" altLang="ko-KR" dirty="0"/>
              <a:t>11</a:t>
            </a:r>
            <a:r>
              <a:rPr lang="ko-KR" altLang="en-US" dirty="0"/>
              <a:t>대</a:t>
            </a:r>
            <a:r>
              <a:rPr lang="en-US" altLang="ko-KR" dirty="0"/>
              <a:t>, </a:t>
            </a:r>
            <a:r>
              <a:rPr lang="ko-KR" altLang="en-US" dirty="0"/>
              <a:t>고궤도가 </a:t>
            </a:r>
            <a:r>
              <a:rPr lang="en-US" altLang="ko-KR" dirty="0"/>
              <a:t>8</a:t>
            </a:r>
            <a:r>
              <a:rPr lang="ko-KR" altLang="en-US" dirty="0"/>
              <a:t>대로 저궤도에 더 많은 위성 배치가 필요했습니다</a:t>
            </a:r>
            <a:endParaRPr lang="en-US" altLang="ko-KR" dirty="0"/>
          </a:p>
          <a:p>
            <a:endParaRPr lang="en-US" altLang="ko-KR" dirty="0"/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dirty="0"/>
              <a:t>하지만 앞의 결과에서 저궤도와 고궤도에서 각각 </a:t>
            </a:r>
            <a:r>
              <a:rPr lang="en-US" altLang="ko-KR" dirty="0"/>
              <a:t>4</a:t>
            </a:r>
            <a:r>
              <a:rPr lang="ko-KR" altLang="en-US" dirty="0"/>
              <a:t>대와 </a:t>
            </a:r>
            <a:r>
              <a:rPr lang="en-US" altLang="ko-KR" dirty="0"/>
              <a:t>6</a:t>
            </a:r>
            <a:r>
              <a:rPr lang="ko-KR" altLang="en-US" dirty="0"/>
              <a:t>대</a:t>
            </a:r>
            <a:r>
              <a:rPr lang="en-US" altLang="ko-KR" dirty="0"/>
              <a:t> </a:t>
            </a:r>
            <a:r>
              <a:rPr lang="ko-KR" altLang="en-US" dirty="0"/>
              <a:t>즉 총 </a:t>
            </a:r>
            <a:r>
              <a:rPr lang="en-US" altLang="ko-KR" dirty="0"/>
              <a:t>10</a:t>
            </a:r>
            <a:r>
              <a:rPr lang="ko-KR" altLang="en-US" dirty="0"/>
              <a:t>대로 운용했을 때</a:t>
            </a:r>
            <a:endParaRPr lang="en-US" altLang="ko-KR" dirty="0"/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dirty="0"/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dirty="0"/>
              <a:t>100% </a:t>
            </a:r>
            <a:r>
              <a:rPr lang="ko-KR" altLang="en-US" dirty="0"/>
              <a:t>커버를 달성했기 때문에 두 궤도를 사용하면 </a:t>
            </a:r>
            <a:endParaRPr lang="en-US" altLang="ko-KR" dirty="0"/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dirty="0"/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dirty="0"/>
              <a:t>두 지역을 동시에 탐지할 수 있을 뿐만 아니라 위성 수를 줄일 수 있습니다</a:t>
            </a:r>
          </a:p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B14A7EA-A3F7-4629-8D81-19DAE75BF66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9584287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2A8E88-307B-9E87-16B3-0577C22A5B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>
            <a:extLst>
              <a:ext uri="{FF2B5EF4-FFF2-40B4-BE49-F238E27FC236}">
                <a16:creationId xmlns:a16="http://schemas.microsoft.com/office/drawing/2014/main" id="{A0F59D5A-5813-6897-EAA2-770D8D03263B}"/>
              </a:ext>
            </a:extLst>
          </p:cNvPr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3" name="슬라이드 노트 개체 틀 4">
            <a:extLst>
              <a:ext uri="{FF2B5EF4-FFF2-40B4-BE49-F238E27FC236}">
                <a16:creationId xmlns:a16="http://schemas.microsoft.com/office/drawing/2014/main" id="{2B8A9F4C-CF34-872C-CE28-EC229E6A5C0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dirty="0"/>
              <a:t>이것을 우리나라에서도 실용성 있게 사용하기 위해 </a:t>
            </a:r>
            <a:endParaRPr lang="en-US" altLang="ko-KR" dirty="0"/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dirty="0"/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dirty="0"/>
              <a:t>국내와 인근 지역에 </a:t>
            </a:r>
            <a:r>
              <a:rPr lang="ko-KR" altLang="en-US" dirty="0" err="1"/>
              <a:t>지상국</a:t>
            </a:r>
            <a:r>
              <a:rPr lang="ko-KR" altLang="en-US" dirty="0"/>
              <a:t> 설정하는 것을 고려해보았는데요</a:t>
            </a:r>
          </a:p>
          <a:p>
            <a:pPr>
              <a:defRPr/>
            </a:pPr>
            <a:endParaRPr lang="ko-KR" altLang="en-US" dirty="0"/>
          </a:p>
        </p:txBody>
      </p:sp>
      <p:sp>
        <p:nvSpPr>
          <p:cNvPr id="4" name="슬라이드 번호 개체 틀 6">
            <a:extLst>
              <a:ext uri="{FF2B5EF4-FFF2-40B4-BE49-F238E27FC236}">
                <a16:creationId xmlns:a16="http://schemas.microsoft.com/office/drawing/2014/main" id="{4BFCFEA9-7DD9-4607-7F66-5D014E603C0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ED463564-01E7-4F87-AE00-59478FEE8A8F}" type="slidenum">
              <a:rPr lang="en-US" altLang="en-US"/>
              <a:pPr lvl="0">
                <a:defRPr/>
              </a:pPr>
              <a:t>10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1260854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DB1483-C0F2-2464-A862-AA44B2C2D1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F58B8B9-FE33-B81F-3079-D62329389E9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69A42E4-15BD-7035-AA22-DB8E2F4299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첫 번째 지역은 서울로 정하였고</a:t>
            </a:r>
            <a:r>
              <a:rPr lang="en-US" altLang="ko-KR" dirty="0"/>
              <a:t>, </a:t>
            </a:r>
            <a:r>
              <a:rPr lang="ko-KR" altLang="en-US" dirty="0"/>
              <a:t>관심 지역의 위치만 바꿨고 나머지 초기 조건은 모두 참고문헌의 예시와 동일합니다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이 때 두 궤도를 사용해서 </a:t>
            </a:r>
            <a:r>
              <a:rPr lang="en-US" altLang="ko-KR" dirty="0"/>
              <a:t>100% </a:t>
            </a:r>
            <a:r>
              <a:rPr lang="ko-KR" altLang="en-US" dirty="0"/>
              <a:t>달성하는데 필요한 위성은 저궤도 </a:t>
            </a:r>
            <a:r>
              <a:rPr lang="en-US" altLang="ko-KR" dirty="0"/>
              <a:t>4</a:t>
            </a:r>
            <a:r>
              <a:rPr lang="ko-KR" altLang="en-US" dirty="0"/>
              <a:t>대</a:t>
            </a:r>
            <a:r>
              <a:rPr lang="en-US" altLang="ko-KR" dirty="0"/>
              <a:t>, </a:t>
            </a:r>
            <a:r>
              <a:rPr lang="ko-KR" altLang="en-US" dirty="0" err="1"/>
              <a:t>고궤도</a:t>
            </a:r>
            <a:r>
              <a:rPr lang="ko-KR" altLang="en-US" dirty="0"/>
              <a:t> </a:t>
            </a:r>
            <a:r>
              <a:rPr lang="en-US" altLang="ko-KR" dirty="0"/>
              <a:t>5</a:t>
            </a:r>
            <a:r>
              <a:rPr lang="ko-KR" altLang="en-US" dirty="0"/>
              <a:t>대로 총 </a:t>
            </a:r>
            <a:r>
              <a:rPr lang="en-US" altLang="ko-KR" dirty="0"/>
              <a:t>9</a:t>
            </a:r>
            <a:r>
              <a:rPr lang="ko-KR" altLang="en-US" dirty="0"/>
              <a:t>대입니다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참고문헌에서의 다른 관심지역에 비해 필요 위성이 </a:t>
            </a:r>
            <a:r>
              <a:rPr lang="en-US" altLang="ko-KR" dirty="0"/>
              <a:t>1</a:t>
            </a:r>
            <a:r>
              <a:rPr lang="ko-KR" altLang="en-US" dirty="0"/>
              <a:t>대가 적습니다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B14A7EA-A3F7-4629-8D81-19DAE75BF66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0448341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DB1483-C0F2-2464-A862-AA44B2C2D1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F58B8B9-FE33-B81F-3079-D62329389E9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69A42E4-15BD-7035-AA22-DB8E2F4299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그리고 신진영 석사논문을 참고하여 주변 지역을 관심지역으로 설정하려고 했으나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참고문헌에서 제시한 궤도 자체가 그렇게 낮은 고도가 아니어서 이정도 가까운 거리는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크게 결과가 다르지 않아 무의미하다고 판단했습니다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B14A7EA-A3F7-4629-8D81-19DAE75BF66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3048072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DB1483-C0F2-2464-A862-AA44B2C2D1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F58B8B9-FE33-B81F-3079-D62329389E9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69A42E4-15BD-7035-AA22-DB8E2F4299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따라서 지금까지 연구해온 </a:t>
            </a:r>
            <a:r>
              <a:rPr lang="en-US" altLang="ko-KR" dirty="0"/>
              <a:t>example 1~2</a:t>
            </a:r>
            <a:r>
              <a:rPr lang="ko-KR" altLang="en-US" dirty="0"/>
              <a:t>에서의 지점을 관심지역으로 설정했는데요 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서울과의 상대 거리를 보면 그림과 같고 예시로 한 지점을 가져왔을 뿐</a:t>
            </a:r>
            <a:endParaRPr lang="en-US" altLang="ko-KR" dirty="0"/>
          </a:p>
          <a:p>
            <a:r>
              <a:rPr lang="ko-KR" altLang="en-US" dirty="0"/>
              <a:t> </a:t>
            </a:r>
            <a:endParaRPr lang="en-US" altLang="ko-KR" dirty="0"/>
          </a:p>
          <a:p>
            <a:r>
              <a:rPr lang="ko-KR" altLang="en-US" dirty="0"/>
              <a:t>관심지역은 언제든 재설정할 수 있습니다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B14A7EA-A3F7-4629-8D81-19DAE75BF66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6366128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DB1483-C0F2-2464-A862-AA44B2C2D1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F58B8B9-FE33-B81F-3079-D62329389E9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69A42E4-15BD-7035-AA22-DB8E2F4299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이 때의 필요 위성 수는 참고문헌에서 제시한 것과 동일하게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저궤도 </a:t>
            </a:r>
            <a:r>
              <a:rPr lang="en-US" altLang="ko-KR" dirty="0"/>
              <a:t>4</a:t>
            </a:r>
            <a:r>
              <a:rPr lang="ko-KR" altLang="en-US" dirty="0"/>
              <a:t>대</a:t>
            </a:r>
            <a:r>
              <a:rPr lang="en-US" altLang="ko-KR" dirty="0"/>
              <a:t>, </a:t>
            </a:r>
            <a:r>
              <a:rPr lang="ko-KR" altLang="en-US" dirty="0" err="1"/>
              <a:t>고궤도</a:t>
            </a:r>
            <a:r>
              <a:rPr lang="ko-KR" altLang="en-US" dirty="0"/>
              <a:t> </a:t>
            </a:r>
            <a:r>
              <a:rPr lang="en-US" altLang="ko-KR" dirty="0"/>
              <a:t>6</a:t>
            </a:r>
            <a:r>
              <a:rPr lang="ko-KR" altLang="en-US" dirty="0"/>
              <a:t>대로 나왔으며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한 가지의 유의할 점은 두 관심지역에 대해서 아직은 같은 해를 구한 것이 아닙니다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각 지점마다 얼만큼의 위성이 최소로 필요한지 구한 뒤에 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두 지점을 동시에 관측하는 궤도 두 개의 해를 </a:t>
            </a:r>
            <a:r>
              <a:rPr lang="ko-KR" altLang="en-US" dirty="0" err="1"/>
              <a:t>구하는것은</a:t>
            </a:r>
            <a:r>
              <a:rPr lang="ko-KR" altLang="en-US" dirty="0"/>
              <a:t> 오늘부터 진행해보려 합니다 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B14A7EA-A3F7-4629-8D81-19DAE75BF66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9210920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A0B0C8-0B3A-D73B-1777-FAF6FB2B2E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>
            <a:extLst>
              <a:ext uri="{FF2B5EF4-FFF2-40B4-BE49-F238E27FC236}">
                <a16:creationId xmlns:a16="http://schemas.microsoft.com/office/drawing/2014/main" id="{BAD05CD7-0003-C1FB-2FBD-5085964DDB42}"/>
              </a:ext>
            </a:extLst>
          </p:cNvPr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3" name="슬라이드 노트 개체 틀 4">
            <a:extLst>
              <a:ext uri="{FF2B5EF4-FFF2-40B4-BE49-F238E27FC236}">
                <a16:creationId xmlns:a16="http://schemas.microsoft.com/office/drawing/2014/main" id="{1BE25AAC-7418-0B90-FEFA-939FF2147C8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/>
            </a:pPr>
            <a:endParaRPr lang="ko-KR" altLang="en-US" dirty="0"/>
          </a:p>
        </p:txBody>
      </p:sp>
      <p:sp>
        <p:nvSpPr>
          <p:cNvPr id="4" name="슬라이드 번호 개체 틀 6">
            <a:extLst>
              <a:ext uri="{FF2B5EF4-FFF2-40B4-BE49-F238E27FC236}">
                <a16:creationId xmlns:a16="http://schemas.microsoft.com/office/drawing/2014/main" id="{2A924142-F058-90AA-5175-31A5D651824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ED463564-01E7-4F87-AE00-59478FEE8A8F}" type="slidenum">
              <a:rPr lang="en-US" altLang="en-US"/>
              <a:pPr lvl="0">
                <a:defRPr/>
              </a:pPr>
              <a:t>15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0110249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9C0DB3-43CF-31B6-CC92-F4A9A9B364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59AE82D-90D9-5A26-5D69-505A8D1E1EF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533E491-BA0F-A3E4-1E2D-95F13D164A4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4C84836-4D7A-954E-873D-C94DD587BEF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16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9585426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jpe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jpeg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1143000" y="4419136"/>
            <a:ext cx="6858000" cy="1339783"/>
          </a:xfrm>
        </p:spPr>
        <p:txBody>
          <a:bodyPr anchor="ctr">
            <a:normAutofit/>
          </a:bodyPr>
          <a:lstStyle>
            <a:lvl1pPr marL="0" indent="0" algn="ctr">
              <a:buNone/>
              <a:defRPr sz="1800" b="1">
                <a:latin typeface="times" panose="02020603050405020304" pitchFamily="18" charset="0"/>
                <a:cs typeface="times" panose="02020603050405020304" pitchFamily="18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dirty="0"/>
              <a:t>이름</a:t>
            </a:r>
            <a:endParaRPr lang="en-US" altLang="ko-KR" dirty="0"/>
          </a:p>
          <a:p>
            <a:r>
              <a:rPr lang="ko-KR" altLang="en-US" dirty="0"/>
              <a:t>소속</a:t>
            </a:r>
            <a:endParaRPr lang="en-US" altLang="ko-KR" dirty="0"/>
          </a:p>
          <a:p>
            <a:r>
              <a:rPr lang="ko-KR" altLang="en-US" dirty="0"/>
              <a:t>발표장소</a:t>
            </a:r>
            <a:r>
              <a:rPr lang="en-US" altLang="ko-KR" dirty="0"/>
              <a:t>/</a:t>
            </a:r>
            <a:r>
              <a:rPr lang="ko-KR" altLang="en-US" dirty="0"/>
              <a:t>발표일</a:t>
            </a:r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88B88FB9-8488-4F3A-9179-85AF22A058C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0" y="1935331"/>
            <a:ext cx="9144000" cy="2226189"/>
          </a:xfrm>
        </p:spPr>
        <p:txBody>
          <a:bodyPr anchor="ctr">
            <a:normAutofit/>
          </a:bodyPr>
          <a:lstStyle>
            <a:lvl1pPr algn="ctr">
              <a:defRPr sz="4000" b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" panose="02020603050405020304" pitchFamily="18" charset="0"/>
                <a:ea typeface="+mj-ea"/>
                <a:cs typeface="times" panose="02020603050405020304" pitchFamily="18" charset="0"/>
              </a:defRPr>
            </a:lvl1pPr>
          </a:lstStyle>
          <a:p>
            <a:r>
              <a:rPr lang="ko-KR" altLang="en-US" dirty="0"/>
              <a:t>발표제목</a:t>
            </a:r>
            <a:br>
              <a:rPr lang="en-US" altLang="ko-KR" dirty="0"/>
            </a:br>
            <a:r>
              <a:rPr lang="en-US" altLang="ko-KR" dirty="0"/>
              <a:t>(</a:t>
            </a:r>
            <a:r>
              <a:rPr lang="ko-KR" altLang="en-US" dirty="0"/>
              <a:t>국</a:t>
            </a:r>
            <a:r>
              <a:rPr lang="en-US" altLang="ko-KR" dirty="0"/>
              <a:t>/</a:t>
            </a:r>
            <a:r>
              <a:rPr lang="ko-KR" altLang="en-US" dirty="0"/>
              <a:t>영문</a:t>
            </a:r>
            <a:r>
              <a:rPr lang="en-US" altLang="ko-KR" dirty="0"/>
              <a:t>, Times, 40 pts)</a:t>
            </a:r>
            <a:endParaRPr lang="en-US" dirty="0"/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80F818A9-523E-49E6-8353-F8A3A0FF3B05}"/>
              </a:ext>
            </a:extLst>
          </p:cNvPr>
          <p:cNvGrpSpPr/>
          <p:nvPr userDrawn="1"/>
        </p:nvGrpSpPr>
        <p:grpSpPr>
          <a:xfrm>
            <a:off x="3097294" y="6017853"/>
            <a:ext cx="3389530" cy="720000"/>
            <a:chOff x="3167632" y="6062339"/>
            <a:chExt cx="3389530" cy="720000"/>
          </a:xfrm>
        </p:grpSpPr>
        <p:pic>
          <p:nvPicPr>
            <p:cNvPr id="4" name="그림 3" descr="그리기, 플레이트, 음식, 방이(가) 표시된 사진&#10;&#10;자동 생성된 설명">
              <a:extLst>
                <a:ext uri="{FF2B5EF4-FFF2-40B4-BE49-F238E27FC236}">
                  <a16:creationId xmlns:a16="http://schemas.microsoft.com/office/drawing/2014/main" id="{E63BAE71-441C-4804-B8BC-2FBAFD2A509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167632" y="6062339"/>
              <a:ext cx="720000" cy="720000"/>
            </a:xfrm>
            <a:prstGeom prst="rect">
              <a:avLst/>
            </a:prstGeom>
          </p:spPr>
        </p:pic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215EB456-78DB-470E-AB3C-3A934AB3135F}"/>
                </a:ext>
              </a:extLst>
            </p:cNvPr>
            <p:cNvSpPr/>
            <p:nvPr userDrawn="1"/>
          </p:nvSpPr>
          <p:spPr>
            <a:xfrm>
              <a:off x="3846292" y="6114563"/>
              <a:ext cx="2710870" cy="615553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ko-KR" altLang="en-US" sz="2000" b="1" spc="100" baseline="0" dirty="0">
                  <a:solidFill>
                    <a:schemeClr val="accent5">
                      <a:lumMod val="75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" panose="02020603050405020304" pitchFamily="18" charset="0"/>
                  <a:cs typeface="times" panose="02020603050405020304" pitchFamily="18" charset="0"/>
                </a:rPr>
                <a:t>우주비행제어연구실</a:t>
              </a:r>
              <a:endParaRPr lang="en-US" altLang="ko-KR" sz="2000" b="1" spc="100" baseline="0" dirty="0"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" panose="02020603050405020304" pitchFamily="18" charset="0"/>
                <a:cs typeface="times" panose="02020603050405020304" pitchFamily="18" charset="0"/>
              </a:endParaRPr>
            </a:p>
            <a:p>
              <a:r>
                <a:rPr lang="en-US" altLang="ko-KR" sz="1400" b="1" dirty="0">
                  <a:solidFill>
                    <a:schemeClr val="accent5">
                      <a:lumMod val="75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" panose="02020603050405020304" pitchFamily="18" charset="0"/>
                  <a:cs typeface="times" panose="02020603050405020304" pitchFamily="18" charset="0"/>
                </a:rPr>
                <a:t>Astrodynamics and Control Lab.</a:t>
              </a:r>
            </a:p>
          </p:txBody>
        </p:sp>
      </p:grpSp>
      <p:pic>
        <p:nvPicPr>
          <p:cNvPr id="15" name="그림 14">
            <a:extLst>
              <a:ext uri="{FF2B5EF4-FFF2-40B4-BE49-F238E27FC236}">
                <a16:creationId xmlns:a16="http://schemas.microsoft.com/office/drawing/2014/main" id="{B0D7EE89-F264-41E4-AEC5-73770F7D8FD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b="50000"/>
          <a:stretch/>
        </p:blipFill>
        <p:spPr>
          <a:xfrm>
            <a:off x="7031115" y="4108252"/>
            <a:ext cx="2133955" cy="2761589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FD783890-A54B-4809-84F6-B7736A2B63C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/>
          <a:srcRect t="5510" b="52178"/>
          <a:stretch/>
        </p:blipFill>
        <p:spPr>
          <a:xfrm flipH="1">
            <a:off x="-21070" y="4419136"/>
            <a:ext cx="2212357" cy="2438864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EA08DBB2-FE6A-40A8-BAA8-F4DFAEEBA3FF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70565" y="89661"/>
            <a:ext cx="720000" cy="720000"/>
          </a:xfrm>
          <a:prstGeom prst="rect">
            <a:avLst/>
          </a:prstGeom>
        </p:spPr>
      </p:pic>
      <p:pic>
        <p:nvPicPr>
          <p:cNvPr id="12" name="Picture 8">
            <a:extLst>
              <a:ext uri="{FF2B5EF4-FFF2-40B4-BE49-F238E27FC236}">
                <a16:creationId xmlns:a16="http://schemas.microsoft.com/office/drawing/2014/main" id="{6A115575-BE6D-40AD-B231-D68D8B4912A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6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38645" y="89661"/>
            <a:ext cx="720000" cy="72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6179185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4. 본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9" name="직선 연결선 48">
            <a:extLst>
              <a:ext uri="{FF2B5EF4-FFF2-40B4-BE49-F238E27FC236}">
                <a16:creationId xmlns:a16="http://schemas.microsoft.com/office/drawing/2014/main" id="{DD644064-7FF7-4F6F-ADA3-1626B4D81BCB}"/>
              </a:ext>
            </a:extLst>
          </p:cNvPr>
          <p:cNvCxnSpPr>
            <a:cxnSpLocks/>
          </p:cNvCxnSpPr>
          <p:nvPr userDrawn="1"/>
        </p:nvCxnSpPr>
        <p:spPr>
          <a:xfrm>
            <a:off x="619125" y="876300"/>
            <a:ext cx="7575550" cy="0"/>
          </a:xfrm>
          <a:prstGeom prst="line">
            <a:avLst/>
          </a:prstGeom>
          <a:ln w="28575"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itle 1">
            <a:extLst>
              <a:ext uri="{FF2B5EF4-FFF2-40B4-BE49-F238E27FC236}">
                <a16:creationId xmlns:a16="http://schemas.microsoft.com/office/drawing/2014/main" id="{9EEAC6FF-2CB2-4248-942E-A23DF1B6BE2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84057" y="71055"/>
            <a:ext cx="6705464" cy="687714"/>
          </a:xfrm>
        </p:spPr>
        <p:txBody>
          <a:bodyPr>
            <a:normAutofit/>
          </a:bodyPr>
          <a:lstStyle>
            <a:lvl1pPr algn="ctr">
              <a:defRPr sz="2800" b="1">
                <a:solidFill>
                  <a:schemeClr val="tx1"/>
                </a:solidFill>
                <a:latin typeface="times" panose="02020603050405020304" pitchFamily="18" charset="0"/>
                <a:ea typeface="+mj-ea"/>
                <a:cs typeface="times" panose="02020603050405020304" pitchFamily="18" charset="0"/>
              </a:defRPr>
            </a:lvl1pPr>
          </a:lstStyle>
          <a:p>
            <a:r>
              <a:rPr lang="ko-KR" altLang="en-US" dirty="0"/>
              <a:t>마스터 제목 스타일 편집 </a:t>
            </a:r>
            <a:r>
              <a:rPr lang="en-US" altLang="ko-KR" dirty="0"/>
              <a:t>(28 pts)</a:t>
            </a:r>
            <a:endParaRPr lang="en-US" dirty="0"/>
          </a:p>
        </p:txBody>
      </p:sp>
      <p:pic>
        <p:nvPicPr>
          <p:cNvPr id="19" name="그림 18">
            <a:extLst>
              <a:ext uri="{FF2B5EF4-FFF2-40B4-BE49-F238E27FC236}">
                <a16:creationId xmlns:a16="http://schemas.microsoft.com/office/drawing/2014/main" id="{ABD5D053-347B-45C0-B24B-C511B6215BC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3646" r="9900"/>
          <a:stretch/>
        </p:blipFill>
        <p:spPr>
          <a:xfrm>
            <a:off x="7554954" y="1"/>
            <a:ext cx="1589045" cy="1029956"/>
          </a:xfrm>
          <a:prstGeom prst="rect">
            <a:avLst/>
          </a:prstGeom>
        </p:spPr>
      </p:pic>
      <p:sp>
        <p:nvSpPr>
          <p:cNvPr id="26" name="직사각형 25">
            <a:extLst>
              <a:ext uri="{FF2B5EF4-FFF2-40B4-BE49-F238E27FC236}">
                <a16:creationId xmlns:a16="http://schemas.microsoft.com/office/drawing/2014/main" id="{CDF2725A-2EAD-4828-8A48-CF4B69244C83}"/>
              </a:ext>
            </a:extLst>
          </p:cNvPr>
          <p:cNvSpPr/>
          <p:nvPr userDrawn="1"/>
        </p:nvSpPr>
        <p:spPr>
          <a:xfrm>
            <a:off x="260193" y="6331061"/>
            <a:ext cx="343363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800" b="1" dirty="0"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" panose="02020603050405020304" pitchFamily="18" charset="0"/>
                <a:cs typeface="times" panose="02020603050405020304" pitchFamily="18" charset="0"/>
              </a:rPr>
              <a:t>Astrodynamics and Control Lab.</a:t>
            </a:r>
          </a:p>
        </p:txBody>
      </p:sp>
      <p:sp>
        <p:nvSpPr>
          <p:cNvPr id="27" name="슬라이드 번호 개체 틀 4">
            <a:extLst>
              <a:ext uri="{FF2B5EF4-FFF2-40B4-BE49-F238E27FC236}">
                <a16:creationId xmlns:a16="http://schemas.microsoft.com/office/drawing/2014/main" id="{116EEB02-C842-4201-B314-07D2C2222D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905750" y="6327787"/>
            <a:ext cx="981169" cy="360000"/>
          </a:xfrm>
          <a:prstGeom prst="rect">
            <a:avLst/>
          </a:prstGeom>
        </p:spPr>
        <p:txBody>
          <a:bodyPr anchor="ctr"/>
          <a:lstStyle>
            <a:lvl1pPr algn="r">
              <a:defRPr sz="1400" b="1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defRPr>
            </a:lvl1pPr>
          </a:lstStyle>
          <a:p>
            <a:fld id="{397DD3AE-C24E-49FC-B527-05061A0348E6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823B068E-A8D6-4389-87D7-7224E5B251E9}"/>
              </a:ext>
            </a:extLst>
          </p:cNvPr>
          <p:cNvGrpSpPr/>
          <p:nvPr userDrawn="1"/>
        </p:nvGrpSpPr>
        <p:grpSpPr>
          <a:xfrm>
            <a:off x="695141" y="1187583"/>
            <a:ext cx="698862" cy="4535814"/>
            <a:chOff x="695141" y="1187583"/>
            <a:chExt cx="698862" cy="4535814"/>
          </a:xfrm>
        </p:grpSpPr>
        <p:sp>
          <p:nvSpPr>
            <p:cNvPr id="12" name="타원 11">
              <a:extLst>
                <a:ext uri="{FF2B5EF4-FFF2-40B4-BE49-F238E27FC236}">
                  <a16:creationId xmlns:a16="http://schemas.microsoft.com/office/drawing/2014/main" id="{FB63AC01-59A1-4839-880A-52A4371FE19E}"/>
                </a:ext>
              </a:extLst>
            </p:cNvPr>
            <p:cNvSpPr/>
            <p:nvPr/>
          </p:nvSpPr>
          <p:spPr>
            <a:xfrm>
              <a:off x="701313" y="1187583"/>
              <a:ext cx="692690" cy="687714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b="1" dirty="0">
                  <a:solidFill>
                    <a:schemeClr val="tx1"/>
                  </a:solidFill>
                  <a:latin typeface="times" panose="02020603050405020304" pitchFamily="18" charset="0"/>
                  <a:cs typeface="times" panose="02020603050405020304" pitchFamily="18" charset="0"/>
                </a:rPr>
                <a:t>I</a:t>
              </a:r>
              <a:endParaRPr lang="ko-KR" altLang="en-US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endParaRPr>
            </a:p>
          </p:txBody>
        </p:sp>
        <p:sp>
          <p:nvSpPr>
            <p:cNvPr id="13" name="타원 12">
              <a:extLst>
                <a:ext uri="{FF2B5EF4-FFF2-40B4-BE49-F238E27FC236}">
                  <a16:creationId xmlns:a16="http://schemas.microsoft.com/office/drawing/2014/main" id="{E40572AD-6701-4266-9752-13DC1E63AA2C}"/>
                </a:ext>
              </a:extLst>
            </p:cNvPr>
            <p:cNvSpPr/>
            <p:nvPr/>
          </p:nvSpPr>
          <p:spPr>
            <a:xfrm>
              <a:off x="695141" y="2149608"/>
              <a:ext cx="692690" cy="687714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b="1" dirty="0">
                  <a:solidFill>
                    <a:schemeClr val="tx1"/>
                  </a:solidFill>
                  <a:latin typeface="times" panose="02020603050405020304" pitchFamily="18" charset="0"/>
                  <a:cs typeface="times" panose="02020603050405020304" pitchFamily="18" charset="0"/>
                </a:rPr>
                <a:t>II</a:t>
              </a:r>
              <a:endParaRPr lang="ko-KR" altLang="en-US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endParaRPr>
            </a:p>
          </p:txBody>
        </p:sp>
        <p:sp>
          <p:nvSpPr>
            <p:cNvPr id="15" name="타원 14">
              <a:extLst>
                <a:ext uri="{FF2B5EF4-FFF2-40B4-BE49-F238E27FC236}">
                  <a16:creationId xmlns:a16="http://schemas.microsoft.com/office/drawing/2014/main" id="{262E28C8-6768-42E9-BCF0-6BF7AA2C69D1}"/>
                </a:ext>
              </a:extLst>
            </p:cNvPr>
            <p:cNvSpPr/>
            <p:nvPr/>
          </p:nvSpPr>
          <p:spPr>
            <a:xfrm>
              <a:off x="695141" y="3111633"/>
              <a:ext cx="692690" cy="687714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b="1" dirty="0">
                  <a:solidFill>
                    <a:schemeClr val="tx1"/>
                  </a:solidFill>
                  <a:latin typeface="times" panose="02020603050405020304" pitchFamily="18" charset="0"/>
                  <a:cs typeface="times" panose="02020603050405020304" pitchFamily="18" charset="0"/>
                </a:rPr>
                <a:t>III</a:t>
              </a:r>
              <a:endParaRPr lang="ko-KR" altLang="en-US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endParaRPr>
            </a:p>
          </p:txBody>
        </p:sp>
        <p:sp>
          <p:nvSpPr>
            <p:cNvPr id="16" name="타원 15">
              <a:extLst>
                <a:ext uri="{FF2B5EF4-FFF2-40B4-BE49-F238E27FC236}">
                  <a16:creationId xmlns:a16="http://schemas.microsoft.com/office/drawing/2014/main" id="{51C8E578-E54B-4F6C-8319-D77A1971F286}"/>
                </a:ext>
              </a:extLst>
            </p:cNvPr>
            <p:cNvSpPr/>
            <p:nvPr/>
          </p:nvSpPr>
          <p:spPr>
            <a:xfrm>
              <a:off x="695141" y="4073658"/>
              <a:ext cx="692690" cy="687714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b="1" dirty="0">
                  <a:solidFill>
                    <a:schemeClr val="tx1"/>
                  </a:solidFill>
                  <a:latin typeface="times" panose="02020603050405020304" pitchFamily="18" charset="0"/>
                  <a:cs typeface="times" panose="02020603050405020304" pitchFamily="18" charset="0"/>
                </a:rPr>
                <a:t>IV</a:t>
              </a:r>
              <a:endParaRPr lang="ko-KR" altLang="en-US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endParaRPr>
            </a:p>
          </p:txBody>
        </p:sp>
        <p:sp>
          <p:nvSpPr>
            <p:cNvPr id="17" name="타원 16">
              <a:extLst>
                <a:ext uri="{FF2B5EF4-FFF2-40B4-BE49-F238E27FC236}">
                  <a16:creationId xmlns:a16="http://schemas.microsoft.com/office/drawing/2014/main" id="{0F52A207-95C0-475F-A6D7-1FCB68CF92B4}"/>
                </a:ext>
              </a:extLst>
            </p:cNvPr>
            <p:cNvSpPr/>
            <p:nvPr/>
          </p:nvSpPr>
          <p:spPr>
            <a:xfrm>
              <a:off x="695141" y="5035683"/>
              <a:ext cx="692690" cy="687714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b="1" dirty="0">
                  <a:solidFill>
                    <a:schemeClr val="tx1"/>
                  </a:solidFill>
                  <a:latin typeface="times" panose="02020603050405020304" pitchFamily="18" charset="0"/>
                  <a:cs typeface="times" panose="02020603050405020304" pitchFamily="18" charset="0"/>
                </a:rPr>
                <a:t>V</a:t>
              </a:r>
              <a:endParaRPr lang="ko-KR" altLang="en-US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endParaRPr>
            </a:p>
          </p:txBody>
        </p:sp>
      </p:grpSp>
      <p:graphicFrame>
        <p:nvGraphicFramePr>
          <p:cNvPr id="18" name="표 18">
            <a:extLst>
              <a:ext uri="{FF2B5EF4-FFF2-40B4-BE49-F238E27FC236}">
                <a16:creationId xmlns:a16="http://schemas.microsoft.com/office/drawing/2014/main" id="{5B07531E-AAB8-40A5-B3D0-4F0F6D12E2F0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295206933"/>
              </p:ext>
            </p:extLst>
          </p:nvPr>
        </p:nvGraphicFramePr>
        <p:xfrm>
          <a:off x="1454505" y="1029970"/>
          <a:ext cx="7318019" cy="48291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8019">
                  <a:extLst>
                    <a:ext uri="{9D8B030D-6E8A-4147-A177-3AD203B41FA5}">
                      <a16:colId xmlns:a16="http://schemas.microsoft.com/office/drawing/2014/main" val="2719041385"/>
                    </a:ext>
                  </a:extLst>
                </a:gridCol>
              </a:tblGrid>
              <a:tr h="965835">
                <a:tc>
                  <a:txBody>
                    <a:bodyPr/>
                    <a:lstStyle/>
                    <a:p>
                      <a:pPr latinLnBrk="1"/>
                      <a:endParaRPr lang="ko-KR" altLang="en-US" sz="2000" b="1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77413000"/>
                  </a:ext>
                </a:extLst>
              </a:tr>
              <a:tr h="965835">
                <a:tc>
                  <a:txBody>
                    <a:bodyPr/>
                    <a:lstStyle/>
                    <a:p>
                      <a:pPr latinLnBrk="1"/>
                      <a:endParaRPr lang="ko-KR" altLang="en-US" sz="2000" b="1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04167346"/>
                  </a:ext>
                </a:extLst>
              </a:tr>
              <a:tr h="965835">
                <a:tc>
                  <a:txBody>
                    <a:bodyPr/>
                    <a:lstStyle/>
                    <a:p>
                      <a:pPr latinLnBrk="1"/>
                      <a:endParaRPr lang="ko-KR" altLang="en-US" sz="2000" b="1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45247919"/>
                  </a:ext>
                </a:extLst>
              </a:tr>
              <a:tr h="965835">
                <a:tc>
                  <a:txBody>
                    <a:bodyPr/>
                    <a:lstStyle/>
                    <a:p>
                      <a:pPr latinLnBrk="1"/>
                      <a:endParaRPr lang="ko-KR" altLang="en-US" sz="2000" b="1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81284267"/>
                  </a:ext>
                </a:extLst>
              </a:tr>
              <a:tr h="965835">
                <a:tc>
                  <a:txBody>
                    <a:bodyPr/>
                    <a:lstStyle/>
                    <a:p>
                      <a:pPr latinLnBrk="1"/>
                      <a:endParaRPr lang="ko-KR" altLang="en-US" sz="2000" b="1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35405283"/>
                  </a:ext>
                </a:extLst>
              </a:tr>
            </a:tbl>
          </a:graphicData>
        </a:graphic>
      </p:graphicFrame>
      <p:pic>
        <p:nvPicPr>
          <p:cNvPr id="23" name="그림 22" descr="그리기, 플레이트, 음식, 방이(가) 표시된 사진&#10;&#10;자동 생성된 설명">
            <a:extLst>
              <a:ext uri="{FF2B5EF4-FFF2-40B4-BE49-F238E27FC236}">
                <a16:creationId xmlns:a16="http://schemas.microsoft.com/office/drawing/2014/main" id="{FEF37F4A-64D8-493C-A65A-762B21FB975F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2423" y="100133"/>
            <a:ext cx="720000" cy="720000"/>
          </a:xfrm>
          <a:prstGeom prst="rect">
            <a:avLst/>
          </a:prstGeom>
        </p:spPr>
      </p:pic>
      <p:cxnSp>
        <p:nvCxnSpPr>
          <p:cNvPr id="24" name="직선 연결선 23">
            <a:extLst>
              <a:ext uri="{FF2B5EF4-FFF2-40B4-BE49-F238E27FC236}">
                <a16:creationId xmlns:a16="http://schemas.microsoft.com/office/drawing/2014/main" id="{6567B15C-EDC8-4FDB-86E3-588E3F4B38B8}"/>
              </a:ext>
            </a:extLst>
          </p:cNvPr>
          <p:cNvCxnSpPr>
            <a:cxnSpLocks/>
          </p:cNvCxnSpPr>
          <p:nvPr userDrawn="1"/>
        </p:nvCxnSpPr>
        <p:spPr>
          <a:xfrm>
            <a:off x="781050" y="803275"/>
            <a:ext cx="6732270" cy="0"/>
          </a:xfrm>
          <a:prstGeom prst="line">
            <a:avLst/>
          </a:prstGeom>
          <a:ln w="28575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764869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. 본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직사각형 23">
            <a:extLst>
              <a:ext uri="{FF2B5EF4-FFF2-40B4-BE49-F238E27FC236}">
                <a16:creationId xmlns:a16="http://schemas.microsoft.com/office/drawing/2014/main" id="{B04D5D09-A2FC-4C8B-A3FF-CD7464225194}"/>
              </a:ext>
            </a:extLst>
          </p:cNvPr>
          <p:cNvSpPr/>
          <p:nvPr userDrawn="1"/>
        </p:nvSpPr>
        <p:spPr>
          <a:xfrm>
            <a:off x="260193" y="6331061"/>
            <a:ext cx="343363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800" b="1" dirty="0"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" panose="02020603050405020304" pitchFamily="18" charset="0"/>
                <a:cs typeface="times" panose="02020603050405020304" pitchFamily="18" charset="0"/>
              </a:rPr>
              <a:t>Astrodynamics and Control Lab.</a:t>
            </a:r>
          </a:p>
        </p:txBody>
      </p:sp>
      <p:sp>
        <p:nvSpPr>
          <p:cNvPr id="25" name="슬라이드 번호 개체 틀 4">
            <a:extLst>
              <a:ext uri="{FF2B5EF4-FFF2-40B4-BE49-F238E27FC236}">
                <a16:creationId xmlns:a16="http://schemas.microsoft.com/office/drawing/2014/main" id="{631309A5-660A-4E14-8195-3A25152345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905750" y="6327787"/>
            <a:ext cx="981169" cy="360000"/>
          </a:xfrm>
          <a:prstGeom prst="rect">
            <a:avLst/>
          </a:prstGeom>
        </p:spPr>
        <p:txBody>
          <a:bodyPr anchor="ctr"/>
          <a:lstStyle>
            <a:lvl1pPr algn="r">
              <a:defRPr sz="1400" b="1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defRPr>
            </a:lvl1pPr>
          </a:lstStyle>
          <a:p>
            <a:fld id="{397DD3AE-C24E-49FC-B527-05061A0348E6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sp>
        <p:nvSpPr>
          <p:cNvPr id="27" name="Content Placeholder 2">
            <a:extLst>
              <a:ext uri="{FF2B5EF4-FFF2-40B4-BE49-F238E27FC236}">
                <a16:creationId xmlns:a16="http://schemas.microsoft.com/office/drawing/2014/main" id="{7540F519-A5D5-4C17-A8B9-7371A3A841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Autofit/>
          </a:bodyPr>
          <a:lstStyle>
            <a:lvl1pPr marL="228600" indent="-360000">
              <a:lnSpc>
                <a:spcPct val="100000"/>
              </a:lnSpc>
              <a:buFont typeface="Wingdings" panose="05000000000000000000" pitchFamily="2" charset="2"/>
              <a:buChar char="v"/>
              <a:defRPr sz="2400" b="1">
                <a:latin typeface="times" panose="02020603050405020304" pitchFamily="18" charset="0"/>
                <a:cs typeface="times" panose="02020603050405020304" pitchFamily="18" charset="0"/>
              </a:defRPr>
            </a:lvl1pPr>
            <a:lvl2pPr marL="540000" indent="-324000">
              <a:lnSpc>
                <a:spcPct val="100000"/>
              </a:lnSpc>
              <a:buFont typeface="Wingdings" panose="05000000000000000000" pitchFamily="2" charset="2"/>
              <a:buChar char="u"/>
              <a:defRPr sz="1800" b="0">
                <a:latin typeface="times" panose="02020603050405020304" pitchFamily="18" charset="0"/>
                <a:cs typeface="times" panose="02020603050405020304" pitchFamily="18" charset="0"/>
              </a:defRPr>
            </a:lvl2pPr>
            <a:lvl3pPr marL="720000" indent="-288000">
              <a:lnSpc>
                <a:spcPct val="100000"/>
              </a:lnSpc>
              <a:buFont typeface="Wingdings" panose="05000000000000000000" pitchFamily="2" charset="2"/>
              <a:buChar char="Ø"/>
              <a:defRPr sz="1600">
                <a:latin typeface="times" panose="02020603050405020304" pitchFamily="18" charset="0"/>
                <a:cs typeface="times" panose="02020603050405020304" pitchFamily="18" charset="0"/>
              </a:defRPr>
            </a:lvl3pPr>
            <a:lvl4pPr marL="900000" indent="-252000">
              <a:lnSpc>
                <a:spcPct val="100000"/>
              </a:lnSpc>
              <a:buFont typeface="Wingdings" panose="05000000000000000000" pitchFamily="2" charset="2"/>
              <a:buChar char="ü"/>
              <a:defRPr sz="1400">
                <a:latin typeface="times" panose="02020603050405020304" pitchFamily="18" charset="0"/>
                <a:cs typeface="times" panose="02020603050405020304" pitchFamily="18" charset="0"/>
              </a:defRPr>
            </a:lvl4pPr>
            <a:lvl5pPr marL="1080000" indent="-252000">
              <a:lnSpc>
                <a:spcPct val="100000"/>
              </a:lnSpc>
              <a:defRPr sz="1400">
                <a:latin typeface="times" panose="02020603050405020304" pitchFamily="18" charset="0"/>
                <a:cs typeface="times" panose="02020603050405020304" pitchFamily="18" charset="0"/>
              </a:defRPr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  <a:endParaRPr lang="en-US" dirty="0"/>
          </a:p>
        </p:txBody>
      </p:sp>
      <p:sp>
        <p:nvSpPr>
          <p:cNvPr id="30" name="Title 1">
            <a:extLst>
              <a:ext uri="{FF2B5EF4-FFF2-40B4-BE49-F238E27FC236}">
                <a16:creationId xmlns:a16="http://schemas.microsoft.com/office/drawing/2014/main" id="{78361285-D5CA-4434-A351-5343035FD01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84057" y="71055"/>
            <a:ext cx="6705464" cy="687714"/>
          </a:xfrm>
        </p:spPr>
        <p:txBody>
          <a:bodyPr>
            <a:normAutofit/>
          </a:bodyPr>
          <a:lstStyle>
            <a:lvl1pPr algn="ctr">
              <a:defRPr sz="2800" b="1">
                <a:solidFill>
                  <a:schemeClr val="tx1"/>
                </a:solidFill>
                <a:latin typeface="times" panose="02020603050405020304" pitchFamily="18" charset="0"/>
                <a:ea typeface="+mj-ea"/>
                <a:cs typeface="times" panose="02020603050405020304" pitchFamily="18" charset="0"/>
              </a:defRPr>
            </a:lvl1pPr>
          </a:lstStyle>
          <a:p>
            <a:r>
              <a:rPr lang="ko-KR" altLang="en-US" dirty="0"/>
              <a:t>마스터 제목 스타일 편집 </a:t>
            </a:r>
            <a:r>
              <a:rPr lang="en-US" altLang="ko-KR" dirty="0"/>
              <a:t>(28 pts)</a:t>
            </a:r>
            <a:endParaRPr lang="en-US" dirty="0"/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15C7FC81-20F4-4FC2-B40D-A9FF1F52076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3646" r="9900"/>
          <a:stretch/>
        </p:blipFill>
        <p:spPr>
          <a:xfrm>
            <a:off x="7554954" y="1"/>
            <a:ext cx="1589045" cy="1029956"/>
          </a:xfrm>
          <a:prstGeom prst="rect">
            <a:avLst/>
          </a:prstGeom>
        </p:spPr>
      </p:pic>
      <p:cxnSp>
        <p:nvCxnSpPr>
          <p:cNvPr id="14" name="직선 연결선 13">
            <a:extLst>
              <a:ext uri="{FF2B5EF4-FFF2-40B4-BE49-F238E27FC236}">
                <a16:creationId xmlns:a16="http://schemas.microsoft.com/office/drawing/2014/main" id="{4D14EEDE-3F58-409A-8C98-F099C099E03A}"/>
              </a:ext>
            </a:extLst>
          </p:cNvPr>
          <p:cNvCxnSpPr>
            <a:cxnSpLocks/>
          </p:cNvCxnSpPr>
          <p:nvPr userDrawn="1"/>
        </p:nvCxnSpPr>
        <p:spPr>
          <a:xfrm>
            <a:off x="619125" y="876300"/>
            <a:ext cx="7575550" cy="0"/>
          </a:xfrm>
          <a:prstGeom prst="line">
            <a:avLst/>
          </a:prstGeom>
          <a:ln w="28575"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" name="그림 14" descr="그리기, 플레이트, 음식, 방이(가) 표시된 사진&#10;&#10;자동 생성된 설명">
            <a:extLst>
              <a:ext uri="{FF2B5EF4-FFF2-40B4-BE49-F238E27FC236}">
                <a16:creationId xmlns:a16="http://schemas.microsoft.com/office/drawing/2014/main" id="{D6923843-3AE5-4E5F-BACA-DFA2C5600B2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2423" y="100133"/>
            <a:ext cx="720000" cy="720000"/>
          </a:xfrm>
          <a:prstGeom prst="rect">
            <a:avLst/>
          </a:prstGeom>
        </p:spPr>
      </p:pic>
      <p:cxnSp>
        <p:nvCxnSpPr>
          <p:cNvPr id="16" name="직선 연결선 15">
            <a:extLst>
              <a:ext uri="{FF2B5EF4-FFF2-40B4-BE49-F238E27FC236}">
                <a16:creationId xmlns:a16="http://schemas.microsoft.com/office/drawing/2014/main" id="{04926874-7DA7-4D84-BD23-06EAC42705A1}"/>
              </a:ext>
            </a:extLst>
          </p:cNvPr>
          <p:cNvCxnSpPr>
            <a:cxnSpLocks/>
          </p:cNvCxnSpPr>
          <p:nvPr userDrawn="1"/>
        </p:nvCxnSpPr>
        <p:spPr>
          <a:xfrm>
            <a:off x="781050" y="803275"/>
            <a:ext cx="6732270" cy="0"/>
          </a:xfrm>
          <a:prstGeom prst="line">
            <a:avLst/>
          </a:prstGeom>
          <a:ln w="28575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028288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88B88FB9-8488-4F3A-9179-85AF22A058C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0" y="1820660"/>
            <a:ext cx="9144000" cy="3180446"/>
          </a:xfrm>
        </p:spPr>
        <p:txBody>
          <a:bodyPr anchor="ctr">
            <a:normAutofit/>
          </a:bodyPr>
          <a:lstStyle>
            <a:lvl1pPr algn="ctr">
              <a:defRPr sz="4000" b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" panose="02020603050405020304" pitchFamily="18" charset="0"/>
                <a:ea typeface="+mj-ea"/>
                <a:cs typeface="times" panose="02020603050405020304" pitchFamily="18" charset="0"/>
              </a:defRPr>
            </a:lvl1pPr>
          </a:lstStyle>
          <a:p>
            <a:r>
              <a:rPr lang="ko-KR" altLang="en-US" dirty="0"/>
              <a:t>질의응답</a:t>
            </a:r>
            <a:br>
              <a:rPr lang="en-US" altLang="ko-KR" dirty="0"/>
            </a:br>
            <a:r>
              <a:rPr lang="en-US" altLang="ko-KR" dirty="0"/>
              <a:t>(</a:t>
            </a:r>
            <a:r>
              <a:rPr lang="ko-KR" altLang="en-US" dirty="0"/>
              <a:t>국</a:t>
            </a:r>
            <a:r>
              <a:rPr lang="en-US" altLang="ko-KR" dirty="0"/>
              <a:t>/</a:t>
            </a:r>
            <a:r>
              <a:rPr lang="ko-KR" altLang="en-US" dirty="0"/>
              <a:t>영문</a:t>
            </a:r>
            <a:r>
              <a:rPr lang="en-US" altLang="ko-KR" dirty="0"/>
              <a:t>, Times, 40 pts)</a:t>
            </a:r>
            <a:endParaRPr lang="en-US" dirty="0"/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4FBB211E-0AA6-4FE2-9E18-B081DCF3E19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143000" y="4543424"/>
            <a:ext cx="6858000" cy="1339783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 b="1">
                <a:latin typeface="times" panose="02020603050405020304" pitchFamily="18" charset="0"/>
                <a:cs typeface="times" panose="02020603050405020304" pitchFamily="18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dirty="0"/>
              <a:t>이름</a:t>
            </a:r>
            <a:endParaRPr lang="en-US" altLang="ko-KR" dirty="0"/>
          </a:p>
          <a:p>
            <a:r>
              <a:rPr lang="ko-KR" altLang="en-US" dirty="0"/>
              <a:t>소속</a:t>
            </a:r>
            <a:endParaRPr lang="en-US" altLang="ko-KR" dirty="0"/>
          </a:p>
          <a:p>
            <a:r>
              <a:rPr lang="ko-KR" altLang="en-US" dirty="0"/>
              <a:t>연락처</a:t>
            </a:r>
            <a:endParaRPr lang="en-US" dirty="0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22319A21-8E7C-4790-9643-94CC1925297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70565" y="6048339"/>
            <a:ext cx="720000" cy="720000"/>
          </a:xfrm>
          <a:prstGeom prst="rect">
            <a:avLst/>
          </a:prstGeom>
        </p:spPr>
      </p:pic>
      <p:pic>
        <p:nvPicPr>
          <p:cNvPr id="14" name="Picture 8">
            <a:extLst>
              <a:ext uri="{FF2B5EF4-FFF2-40B4-BE49-F238E27FC236}">
                <a16:creationId xmlns:a16="http://schemas.microsoft.com/office/drawing/2014/main" id="{46F0A41C-6A01-44CA-A626-55476509C76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38645" y="6048339"/>
            <a:ext cx="720000" cy="72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25" name="그룹 24">
            <a:extLst>
              <a:ext uri="{FF2B5EF4-FFF2-40B4-BE49-F238E27FC236}">
                <a16:creationId xmlns:a16="http://schemas.microsoft.com/office/drawing/2014/main" id="{6E63BBB4-44C3-4C69-9162-763FE81E6FBD}"/>
              </a:ext>
            </a:extLst>
          </p:cNvPr>
          <p:cNvGrpSpPr/>
          <p:nvPr userDrawn="1"/>
        </p:nvGrpSpPr>
        <p:grpSpPr>
          <a:xfrm>
            <a:off x="122423" y="99901"/>
            <a:ext cx="3389530" cy="720000"/>
            <a:chOff x="3167632" y="6062339"/>
            <a:chExt cx="3389530" cy="720000"/>
          </a:xfrm>
        </p:grpSpPr>
        <p:pic>
          <p:nvPicPr>
            <p:cNvPr id="26" name="그림 25" descr="그리기, 플레이트, 음식, 방이(가) 표시된 사진&#10;&#10;자동 생성된 설명">
              <a:extLst>
                <a:ext uri="{FF2B5EF4-FFF2-40B4-BE49-F238E27FC236}">
                  <a16:creationId xmlns:a16="http://schemas.microsoft.com/office/drawing/2014/main" id="{58F4BD04-EF90-4931-B1B3-0FDABC5889ED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167632" y="6062339"/>
              <a:ext cx="720000" cy="720000"/>
            </a:xfrm>
            <a:prstGeom prst="rect">
              <a:avLst/>
            </a:prstGeom>
          </p:spPr>
        </p:pic>
        <p:sp>
          <p:nvSpPr>
            <p:cNvPr id="27" name="직사각형 26">
              <a:extLst>
                <a:ext uri="{FF2B5EF4-FFF2-40B4-BE49-F238E27FC236}">
                  <a16:creationId xmlns:a16="http://schemas.microsoft.com/office/drawing/2014/main" id="{727BC293-2715-43CE-819C-216F1B960AEE}"/>
                </a:ext>
              </a:extLst>
            </p:cNvPr>
            <p:cNvSpPr/>
            <p:nvPr userDrawn="1"/>
          </p:nvSpPr>
          <p:spPr>
            <a:xfrm>
              <a:off x="3846292" y="6114563"/>
              <a:ext cx="2710870" cy="615553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ko-KR" altLang="en-US" sz="2000" b="1" spc="100" baseline="0" dirty="0">
                  <a:solidFill>
                    <a:schemeClr val="accent5">
                      <a:lumMod val="75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" panose="02020603050405020304" pitchFamily="18" charset="0"/>
                  <a:cs typeface="times" panose="02020603050405020304" pitchFamily="18" charset="0"/>
                </a:rPr>
                <a:t>우주비행제어연구실</a:t>
              </a:r>
              <a:endParaRPr lang="en-US" altLang="ko-KR" sz="2000" b="1" spc="100" baseline="0" dirty="0"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" panose="02020603050405020304" pitchFamily="18" charset="0"/>
                <a:cs typeface="times" panose="02020603050405020304" pitchFamily="18" charset="0"/>
              </a:endParaRPr>
            </a:p>
            <a:p>
              <a:r>
                <a:rPr lang="en-US" altLang="ko-KR" sz="1400" b="1" dirty="0">
                  <a:solidFill>
                    <a:schemeClr val="accent5">
                      <a:lumMod val="75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" panose="02020603050405020304" pitchFamily="18" charset="0"/>
                  <a:cs typeface="times" panose="02020603050405020304" pitchFamily="18" charset="0"/>
                </a:rPr>
                <a:t>Astrodynamics and Control Lab.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0457699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88B88FB9-8488-4F3A-9179-85AF22A058C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0" y="1820660"/>
            <a:ext cx="9144000" cy="3180446"/>
          </a:xfrm>
        </p:spPr>
        <p:txBody>
          <a:bodyPr anchor="ctr">
            <a:normAutofit/>
          </a:bodyPr>
          <a:lstStyle>
            <a:lvl1pPr algn="ctr">
              <a:defRPr sz="4000" b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" panose="02020603050405020304" pitchFamily="18" charset="0"/>
                <a:ea typeface="+mj-ea"/>
                <a:cs typeface="times" panose="02020603050405020304" pitchFamily="18" charset="0"/>
              </a:defRPr>
            </a:lvl1pPr>
          </a:lstStyle>
          <a:p>
            <a:r>
              <a:rPr lang="ko-KR" altLang="en-US" dirty="0"/>
              <a:t>간지</a:t>
            </a:r>
            <a:br>
              <a:rPr lang="en-US" altLang="ko-KR" dirty="0"/>
            </a:br>
            <a:r>
              <a:rPr lang="en-US" altLang="ko-KR" dirty="0"/>
              <a:t>(</a:t>
            </a:r>
            <a:r>
              <a:rPr lang="ko-KR" altLang="en-US" dirty="0"/>
              <a:t>국</a:t>
            </a:r>
            <a:r>
              <a:rPr lang="en-US" altLang="ko-KR" dirty="0"/>
              <a:t>/</a:t>
            </a:r>
            <a:r>
              <a:rPr lang="ko-KR" altLang="en-US" dirty="0"/>
              <a:t>영문</a:t>
            </a:r>
            <a:r>
              <a:rPr lang="en-US" altLang="ko-KR" dirty="0"/>
              <a:t>, Times, 40 pts)</a:t>
            </a:r>
            <a:endParaRPr lang="en-US" dirty="0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E0F02479-4D4E-48F6-A414-FD2BEFAB596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70565" y="6048339"/>
            <a:ext cx="720000" cy="720000"/>
          </a:xfrm>
          <a:prstGeom prst="rect">
            <a:avLst/>
          </a:prstGeom>
        </p:spPr>
      </p:pic>
      <p:pic>
        <p:nvPicPr>
          <p:cNvPr id="10" name="Picture 8">
            <a:extLst>
              <a:ext uri="{FF2B5EF4-FFF2-40B4-BE49-F238E27FC236}">
                <a16:creationId xmlns:a16="http://schemas.microsoft.com/office/drawing/2014/main" id="{93518514-EB1D-4173-98C0-35F88CF32D6B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38645" y="6048339"/>
            <a:ext cx="720000" cy="72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1" name="그룹 10">
            <a:extLst>
              <a:ext uri="{FF2B5EF4-FFF2-40B4-BE49-F238E27FC236}">
                <a16:creationId xmlns:a16="http://schemas.microsoft.com/office/drawing/2014/main" id="{6A8B2090-A0C2-4296-B39A-3CF2073B64CD}"/>
              </a:ext>
            </a:extLst>
          </p:cNvPr>
          <p:cNvGrpSpPr/>
          <p:nvPr userDrawn="1"/>
        </p:nvGrpSpPr>
        <p:grpSpPr>
          <a:xfrm>
            <a:off x="122423" y="99901"/>
            <a:ext cx="3389530" cy="720000"/>
            <a:chOff x="3167632" y="6062339"/>
            <a:chExt cx="3389530" cy="720000"/>
          </a:xfrm>
        </p:grpSpPr>
        <p:pic>
          <p:nvPicPr>
            <p:cNvPr id="12" name="그림 11" descr="그리기, 플레이트, 음식, 방이(가) 표시된 사진&#10;&#10;자동 생성된 설명">
              <a:extLst>
                <a:ext uri="{FF2B5EF4-FFF2-40B4-BE49-F238E27FC236}">
                  <a16:creationId xmlns:a16="http://schemas.microsoft.com/office/drawing/2014/main" id="{D4A8645E-E578-4994-ACFB-E636079E422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167632" y="6062339"/>
              <a:ext cx="720000" cy="720000"/>
            </a:xfrm>
            <a:prstGeom prst="rect">
              <a:avLst/>
            </a:prstGeom>
          </p:spPr>
        </p:pic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869595E0-FFC1-42B0-845F-81DEAB14A06B}"/>
                </a:ext>
              </a:extLst>
            </p:cNvPr>
            <p:cNvSpPr/>
            <p:nvPr userDrawn="1"/>
          </p:nvSpPr>
          <p:spPr>
            <a:xfrm>
              <a:off x="3846292" y="6114563"/>
              <a:ext cx="2710870" cy="615553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ko-KR" altLang="en-US" sz="2000" b="1" spc="100" baseline="0" dirty="0">
                  <a:solidFill>
                    <a:schemeClr val="accent5">
                      <a:lumMod val="75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" panose="02020603050405020304" pitchFamily="18" charset="0"/>
                  <a:cs typeface="times" panose="02020603050405020304" pitchFamily="18" charset="0"/>
                </a:rPr>
                <a:t>우주비행제어연구실</a:t>
              </a:r>
              <a:endParaRPr lang="en-US" altLang="ko-KR" sz="2000" b="1" spc="100" baseline="0" dirty="0"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" panose="02020603050405020304" pitchFamily="18" charset="0"/>
                <a:cs typeface="times" panose="02020603050405020304" pitchFamily="18" charset="0"/>
              </a:endParaRPr>
            </a:p>
            <a:p>
              <a:r>
                <a:rPr lang="en-US" altLang="ko-KR" sz="1400" b="1" dirty="0">
                  <a:solidFill>
                    <a:schemeClr val="accent5">
                      <a:lumMod val="75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" panose="02020603050405020304" pitchFamily="18" charset="0"/>
                  <a:cs typeface="times" panose="02020603050405020304" pitchFamily="18" charset="0"/>
                </a:rPr>
                <a:t>Astrodynamics and Control Lab.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0286937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946300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4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EB3741-4917-4953-934B-4EF1C3CF7792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8" name="날짜 개체 틀 7"/>
          <p:cNvSpPr>
            <a:spLocks noGrp="1"/>
          </p:cNvSpPr>
          <p:nvPr>
            <p:ph type="dt" sz="half" idx="2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9" name="바닥글 개체 틀 8"/>
          <p:cNvSpPr>
            <a:spLocks noGrp="1"/>
          </p:cNvSpPr>
          <p:nvPr>
            <p:ph type="ftr" sz="quarter" idx="3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426940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0" r:id="rId1"/>
    <p:sldLayoutId id="2147483677" r:id="rId2"/>
    <p:sldLayoutId id="2147483662" r:id="rId3"/>
    <p:sldLayoutId id="2147483679" r:id="rId4"/>
    <p:sldLayoutId id="2147483678" r:id="rId5"/>
    <p:sldLayoutId id="2147483667" r:id="rId6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emf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3.emf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emf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5.emf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emf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8.emf"/><Relationship Id="rId4" Type="http://schemas.openxmlformats.org/officeDocument/2006/relationships/image" Target="../media/image17.emf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emf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4.emf"/><Relationship Id="rId4" Type="http://schemas.openxmlformats.org/officeDocument/2006/relationships/image" Target="../media/image23.emf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부제목 1">
            <a:extLst>
              <a:ext uri="{FF2B5EF4-FFF2-40B4-BE49-F238E27FC236}">
                <a16:creationId xmlns:a16="http://schemas.microsoft.com/office/drawing/2014/main" id="{007FD355-926D-4297-AA2A-AA0058A0703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 altLang="en-US" dirty="0"/>
              <a:t>이진진</a:t>
            </a:r>
            <a:endParaRPr lang="en-US" altLang="ko-KR" dirty="0"/>
          </a:p>
          <a:p>
            <a:r>
              <a:rPr lang="ko-KR" altLang="en-US" dirty="0"/>
              <a:t>석사과정 </a:t>
            </a:r>
            <a:r>
              <a:rPr lang="en-US" altLang="ko-KR" dirty="0"/>
              <a:t>4</a:t>
            </a:r>
            <a:r>
              <a:rPr lang="ko-KR" altLang="en-US" dirty="0"/>
              <a:t>학기</a:t>
            </a:r>
            <a:endParaRPr lang="en-US" altLang="ko-KR" dirty="0"/>
          </a:p>
          <a:p>
            <a:r>
              <a:rPr lang="en-US" altLang="ko-KR" dirty="0"/>
              <a:t>2024-05-02</a:t>
            </a: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9F47A90A-3F95-4B77-93ED-98D7503684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325769"/>
            <a:ext cx="9144000" cy="2226189"/>
          </a:xfrm>
        </p:spPr>
        <p:txBody>
          <a:bodyPr/>
          <a:lstStyle/>
          <a:p>
            <a:r>
              <a:rPr lang="en-US" altLang="ko-KR" dirty="0"/>
              <a:t>BILP(MILP)</a:t>
            </a:r>
            <a:r>
              <a:rPr lang="ko-KR" altLang="en-US" dirty="0"/>
              <a:t> </a:t>
            </a:r>
            <a:r>
              <a:rPr lang="en-US" altLang="ko-KR" dirty="0"/>
              <a:t>method</a:t>
            </a:r>
            <a:r>
              <a:rPr lang="ko-KR" altLang="en-US" dirty="0"/>
              <a:t>를 이용한 </a:t>
            </a:r>
            <a:br>
              <a:rPr lang="en-US" altLang="ko-KR" dirty="0"/>
            </a:br>
            <a:r>
              <a:rPr lang="ko-KR" altLang="en-US" dirty="0" err="1"/>
              <a:t>위성군</a:t>
            </a:r>
            <a:r>
              <a:rPr lang="ko-KR" altLang="en-US" dirty="0"/>
              <a:t> 분석 및 설계</a:t>
            </a:r>
            <a:r>
              <a:rPr lang="en-US" altLang="ko-KR" dirty="0"/>
              <a:t>/</a:t>
            </a:r>
            <a:r>
              <a:rPr lang="ko-KR" altLang="en-US" dirty="0"/>
              <a:t>최적화</a:t>
            </a:r>
          </a:p>
        </p:txBody>
      </p:sp>
    </p:spTree>
    <p:extLst>
      <p:ext uri="{BB962C8B-B14F-4D97-AF65-F5344CB8AC3E}">
        <p14:creationId xmlns:p14="http://schemas.microsoft.com/office/powerpoint/2010/main" val="2536030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BACEF4E-3B7E-4CE7-9B6C-3BDC77E046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5828" y="71055"/>
            <a:ext cx="7197892" cy="687714"/>
          </a:xfrm>
        </p:spPr>
        <p:txBody>
          <a:bodyPr/>
          <a:lstStyle/>
          <a:p>
            <a:r>
              <a:rPr lang="ko-KR" altLang="en-US" dirty="0"/>
              <a:t>목차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A4B61DD4-0D6A-42E5-9AD2-E3C0BD7CDA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905750" y="6388843"/>
            <a:ext cx="981169" cy="360000"/>
          </a:xfrm>
        </p:spPr>
        <p:txBody>
          <a:bodyPr/>
          <a:lstStyle/>
          <a:p>
            <a:fld id="{397DD3AE-C24E-49FC-B527-05061A0348E6}" type="slidenum">
              <a:rPr lang="ko-KR" altLang="en-US" smtClean="0"/>
              <a:pPr/>
              <a:t>1</a:t>
            </a:fld>
            <a:endParaRPr lang="ko-KR" altLang="en-US" dirty="0"/>
          </a:p>
        </p:txBody>
      </p:sp>
      <p:graphicFrame>
        <p:nvGraphicFramePr>
          <p:cNvPr id="11" name="표 18">
            <a:extLst>
              <a:ext uri="{FF2B5EF4-FFF2-40B4-BE49-F238E27FC236}">
                <a16:creationId xmlns:a16="http://schemas.microsoft.com/office/drawing/2014/main" id="{1E7CEB30-BE78-4962-AA69-2D4B76A554B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51215861"/>
              </p:ext>
            </p:extLst>
          </p:nvPr>
        </p:nvGraphicFramePr>
        <p:xfrm>
          <a:off x="1568900" y="1984287"/>
          <a:ext cx="7318019" cy="389455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8019">
                  <a:extLst>
                    <a:ext uri="{9D8B030D-6E8A-4147-A177-3AD203B41FA5}">
                      <a16:colId xmlns:a16="http://schemas.microsoft.com/office/drawing/2014/main" val="2719041385"/>
                    </a:ext>
                  </a:extLst>
                </a:gridCol>
              </a:tblGrid>
              <a:tr h="98043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2000" b="1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2000" b="1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Example</a:t>
                      </a:r>
                      <a:r>
                        <a:rPr lang="ko-KR" altLang="en-US" sz="2000" b="1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 </a:t>
                      </a:r>
                      <a:r>
                        <a:rPr lang="en-US" altLang="ko-KR" sz="2000" b="1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5</a:t>
                      </a:r>
                      <a:r>
                        <a:rPr lang="ko-KR" altLang="en-US" sz="2000" b="1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 검증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2000" b="1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77413000"/>
                  </a:ext>
                </a:extLst>
              </a:tr>
              <a:tr h="94143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2000" b="1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Example 5 </a:t>
                      </a:r>
                      <a:r>
                        <a:rPr lang="ko-KR" altLang="en-US" sz="2000" b="1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국내 및 인근지역 </a:t>
                      </a:r>
                      <a:r>
                        <a:rPr lang="ko-KR" altLang="en-US" sz="2000" b="1" dirty="0" err="1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지상국</a:t>
                      </a:r>
                      <a:r>
                        <a:rPr lang="ko-KR" altLang="en-US" sz="2000" b="1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 설정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81284267"/>
                  </a:ext>
                </a:extLst>
              </a:tr>
              <a:tr h="98043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2000" b="1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2000" b="1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결론</a:t>
                      </a:r>
                      <a:endParaRPr lang="en-US" altLang="ko-KR" sz="2000" b="1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2000" b="1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35405283"/>
                  </a:ext>
                </a:extLst>
              </a:tr>
              <a:tr h="94143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2000" b="1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61278487"/>
                  </a:ext>
                </a:extLst>
              </a:tr>
            </a:tbl>
          </a:graphicData>
        </a:graphic>
      </p:graphicFrame>
      <p:sp>
        <p:nvSpPr>
          <p:cNvPr id="6" name="직사각형 5">
            <a:extLst>
              <a:ext uri="{FF2B5EF4-FFF2-40B4-BE49-F238E27FC236}">
                <a16:creationId xmlns:a16="http://schemas.microsoft.com/office/drawing/2014/main" id="{13A039B3-2D6B-414C-B6C3-91F438CC53E3}"/>
              </a:ext>
            </a:extLst>
          </p:cNvPr>
          <p:cNvSpPr/>
          <p:nvPr/>
        </p:nvSpPr>
        <p:spPr>
          <a:xfrm>
            <a:off x="4803169" y="4845685"/>
            <a:ext cx="997305" cy="98234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2D3282C1-EAF0-E51F-4C6E-64EF18128D36}"/>
              </a:ext>
            </a:extLst>
          </p:cNvPr>
          <p:cNvSpPr/>
          <p:nvPr/>
        </p:nvSpPr>
        <p:spPr bwMode="auto">
          <a:xfrm>
            <a:off x="2784764" y="4936176"/>
            <a:ext cx="1787236" cy="1090176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l"/>
            <a:endParaRPr lang="ko-KR" altLang="en-US" dirty="0"/>
          </a:p>
        </p:txBody>
      </p:sp>
      <p:graphicFrame>
        <p:nvGraphicFramePr>
          <p:cNvPr id="8" name="표 18">
            <a:extLst>
              <a:ext uri="{FF2B5EF4-FFF2-40B4-BE49-F238E27FC236}">
                <a16:creationId xmlns:a16="http://schemas.microsoft.com/office/drawing/2014/main" id="{D6D46674-B242-4C3D-53FD-1FABCE847C0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2672526"/>
              </p:ext>
            </p:extLst>
          </p:nvPr>
        </p:nvGraphicFramePr>
        <p:xfrm>
          <a:off x="1568899" y="1071002"/>
          <a:ext cx="7318019" cy="96583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8019">
                  <a:extLst>
                    <a:ext uri="{9D8B030D-6E8A-4147-A177-3AD203B41FA5}">
                      <a16:colId xmlns:a16="http://schemas.microsoft.com/office/drawing/2014/main" val="2719041385"/>
                    </a:ext>
                  </a:extLst>
                </a:gridCol>
              </a:tblGrid>
              <a:tr h="96583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2000" b="1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참고</a:t>
                      </a:r>
                      <a:r>
                        <a:rPr lang="en-US" altLang="ko-KR" sz="2000" b="1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 </a:t>
                      </a:r>
                      <a:r>
                        <a:rPr lang="ko-KR" altLang="en-US" sz="2000" b="1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문헌 정보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77413000"/>
                  </a:ext>
                </a:extLst>
              </a:tr>
            </a:tbl>
          </a:graphicData>
        </a:graphic>
      </p:graphicFrame>
      <p:sp>
        <p:nvSpPr>
          <p:cNvPr id="4" name="직사각형 3">
            <a:extLst>
              <a:ext uri="{FF2B5EF4-FFF2-40B4-BE49-F238E27FC236}">
                <a16:creationId xmlns:a16="http://schemas.microsoft.com/office/drawing/2014/main" id="{1DED2326-5E7B-1D25-E1F7-30ACE6E47249}"/>
              </a:ext>
            </a:extLst>
          </p:cNvPr>
          <p:cNvSpPr/>
          <p:nvPr/>
        </p:nvSpPr>
        <p:spPr bwMode="auto">
          <a:xfrm>
            <a:off x="7389162" y="4936176"/>
            <a:ext cx="1253880" cy="891854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l"/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4943597F-20FC-AB20-7C58-A95BCFD4A0A0}"/>
              </a:ext>
            </a:extLst>
          </p:cNvPr>
          <p:cNvSpPr/>
          <p:nvPr/>
        </p:nvSpPr>
        <p:spPr bwMode="auto">
          <a:xfrm>
            <a:off x="369870" y="4936176"/>
            <a:ext cx="1346854" cy="942669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l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216077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pPr marL="0" marR="0" lvl="0" indent="0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40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참고 문헌 정보</a:t>
            </a:r>
          </a:p>
        </p:txBody>
      </p:sp>
    </p:spTree>
    <p:extLst>
      <p:ext uri="{BB962C8B-B14F-4D97-AF65-F5344CB8AC3E}">
        <p14:creationId xmlns:p14="http://schemas.microsoft.com/office/powerpoint/2010/main" val="11655582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3</a:t>
            </a:fld>
            <a:endParaRPr lang="en-US" altLang="en-US" dirty="0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dirty="0"/>
              <a:t>BILP(MILP) </a:t>
            </a:r>
            <a:r>
              <a:rPr lang="ko-KR" altLang="en-US" dirty="0"/>
              <a:t>설계기법 참고 문헌</a:t>
            </a:r>
          </a:p>
        </p:txBody>
      </p:sp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AA33FD4D-E8EB-E5CA-49D5-D206DAC5F9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pPr lvl="0">
              <a:defRPr/>
            </a:pPr>
            <a:r>
              <a:rPr lang="ko-KR" altLang="en-US" dirty="0"/>
              <a:t>주요 참고 문헌</a:t>
            </a:r>
            <a:r>
              <a:rPr lang="en-US" altLang="ko-KR" b="0" i="0" dirty="0">
                <a:solidFill>
                  <a:srgbClr val="1F2328"/>
                </a:solidFill>
                <a:effectLst/>
                <a:latin typeface="-apple-system"/>
              </a:rPr>
              <a:t> </a:t>
            </a:r>
          </a:p>
          <a:p>
            <a:pPr lvl="1">
              <a:defRPr/>
            </a:pPr>
            <a:r>
              <a:rPr lang="en-US" altLang="ko-KR" b="1" dirty="0">
                <a:solidFill>
                  <a:srgbClr val="1F2328"/>
                </a:solidFill>
              </a:rPr>
              <a:t>Hang </a:t>
            </a:r>
            <a:r>
              <a:rPr lang="en-US" altLang="ko-KR" b="1" dirty="0" err="1">
                <a:solidFill>
                  <a:srgbClr val="1F2328"/>
                </a:solidFill>
              </a:rPr>
              <a:t>Woon</a:t>
            </a:r>
            <a:r>
              <a:rPr lang="en-US" altLang="ko-KR" b="1" dirty="0">
                <a:solidFill>
                  <a:srgbClr val="1F2328"/>
                </a:solidFill>
              </a:rPr>
              <a:t> Lee, Seiichi Shimizu, Shoji Yoshikawa, and Koki Ho, “</a:t>
            </a:r>
            <a:r>
              <a:rPr lang="en-US" altLang="ko-KR" b="1" u="sng" dirty="0">
                <a:solidFill>
                  <a:srgbClr val="1F2328"/>
                </a:solidFill>
              </a:rPr>
              <a:t>Satellite Constellation Pattern Optimization for Complex Regional Coverage</a:t>
            </a:r>
            <a:r>
              <a:rPr lang="en-US" altLang="ko-KR" b="1" dirty="0">
                <a:solidFill>
                  <a:srgbClr val="1F2328"/>
                </a:solidFill>
              </a:rPr>
              <a:t>”, 2020 Journal of Spacecraft and Rockets 57:6, 1309-1327</a:t>
            </a:r>
          </a:p>
          <a:p>
            <a:pPr lvl="2">
              <a:defRPr/>
            </a:pPr>
            <a:r>
              <a:rPr lang="en-US" altLang="ko-KR" dirty="0">
                <a:solidFill>
                  <a:srgbClr val="1F2328"/>
                </a:solidFill>
              </a:rPr>
              <a:t>BILP method</a:t>
            </a:r>
            <a:r>
              <a:rPr lang="ko-KR" altLang="en-US" dirty="0">
                <a:solidFill>
                  <a:srgbClr val="1F2328"/>
                </a:solidFill>
              </a:rPr>
              <a:t>의 전체적인 개념 및 흐름을 소개 </a:t>
            </a:r>
            <a:endParaRPr lang="en-US" altLang="ko-KR" dirty="0">
              <a:solidFill>
                <a:srgbClr val="1F2328"/>
              </a:solidFill>
            </a:endParaRPr>
          </a:p>
          <a:p>
            <a:pPr lvl="1">
              <a:defRPr/>
            </a:pPr>
            <a:endParaRPr lang="en-US" altLang="ko-KR" dirty="0">
              <a:solidFill>
                <a:srgbClr val="1F2328"/>
              </a:solidFill>
              <a:latin typeface="-apple-system"/>
            </a:endParaRPr>
          </a:p>
          <a:p>
            <a:pPr lvl="0">
              <a:defRPr/>
            </a:pPr>
            <a:r>
              <a:rPr lang="ko-KR" altLang="en-US" dirty="0"/>
              <a:t>추가로 참고한</a:t>
            </a:r>
            <a:r>
              <a:rPr lang="en-US" altLang="ko-KR" dirty="0"/>
              <a:t> </a:t>
            </a:r>
            <a:r>
              <a:rPr lang="ko-KR" altLang="en-US" dirty="0"/>
              <a:t>문헌</a:t>
            </a:r>
            <a:endParaRPr lang="en-US" altLang="ko-KR" dirty="0"/>
          </a:p>
          <a:p>
            <a:pPr lvl="1">
              <a:defRPr/>
            </a:pPr>
            <a:r>
              <a:rPr lang="en-US" altLang="ko-KR" b="1" i="0" dirty="0">
                <a:effectLst/>
              </a:rPr>
              <a:t>Lee, Hang </a:t>
            </a:r>
            <a:r>
              <a:rPr lang="en-US" altLang="ko-KR" b="1" i="0" dirty="0" err="1">
                <a:effectLst/>
              </a:rPr>
              <a:t>Woon</a:t>
            </a:r>
            <a:r>
              <a:rPr lang="en-US" altLang="ko-KR" b="1" i="0" dirty="0">
                <a:effectLst/>
              </a:rPr>
              <a:t> and Koki Ho. “AAS 20-498 </a:t>
            </a:r>
            <a:r>
              <a:rPr lang="en-US" altLang="ko-KR" b="1" i="0" u="sng" dirty="0">
                <a:effectLst/>
              </a:rPr>
              <a:t>BINARY INTEGER LINEAR PROGRAMMING FORMULATION FOR OPTIMAL SATELLITE CONSTELLATION RECONFIGURATION</a:t>
            </a:r>
            <a:r>
              <a:rPr lang="en-US" altLang="ko-KR" b="1" i="0" dirty="0">
                <a:effectLst/>
              </a:rPr>
              <a:t>” (2020).</a:t>
            </a:r>
          </a:p>
          <a:p>
            <a:pPr lvl="2">
              <a:defRPr/>
            </a:pPr>
            <a:r>
              <a:rPr lang="en-US" altLang="ko-KR" dirty="0"/>
              <a:t>BILP</a:t>
            </a:r>
            <a:r>
              <a:rPr lang="ko-KR" altLang="en-US" dirty="0"/>
              <a:t> </a:t>
            </a:r>
            <a:r>
              <a:rPr lang="en-US" altLang="ko-KR" dirty="0"/>
              <a:t>method</a:t>
            </a:r>
            <a:r>
              <a:rPr lang="ko-KR" altLang="en-US" dirty="0"/>
              <a:t>를 이용한 </a:t>
            </a:r>
            <a:r>
              <a:rPr lang="ko-KR" altLang="en-US" dirty="0" err="1"/>
              <a:t>위성군</a:t>
            </a:r>
            <a:r>
              <a:rPr lang="ko-KR" altLang="en-US" dirty="0"/>
              <a:t> 배치의 </a:t>
            </a:r>
            <a:r>
              <a:rPr lang="en-US" altLang="ko-KR" dirty="0"/>
              <a:t>reconfiguration</a:t>
            </a:r>
            <a:r>
              <a:rPr lang="ko-KR" altLang="en-US" dirty="0"/>
              <a:t>에 대한 내용을 중점적으로 소개</a:t>
            </a:r>
            <a:endParaRPr lang="en-US" altLang="ko-KR" i="0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25388808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013449-E00A-9418-0D24-B39365CD06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E4F5CFCB-22D4-F8EB-81A4-3D1389305E3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pPr marL="0" marR="0" lvl="0" indent="0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40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Example 5 </a:t>
            </a:r>
            <a:r>
              <a:rPr lang="ko-KR" altLang="en-US" sz="40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검증</a:t>
            </a:r>
          </a:p>
        </p:txBody>
      </p:sp>
    </p:spTree>
    <p:extLst>
      <p:ext uri="{BB962C8B-B14F-4D97-AF65-F5344CB8AC3E}">
        <p14:creationId xmlns:p14="http://schemas.microsoft.com/office/powerpoint/2010/main" val="4383570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63632D-F2DF-BCC3-73E2-B34BFF010C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97B05997-7547-9ABD-F35B-5962EF7BDD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altLang="ko-KR" dirty="0"/>
              <a:t>BILP method (Example 5)</a:t>
            </a:r>
          </a:p>
          <a:p>
            <a:pPr lvl="1">
              <a:defRPr/>
            </a:pPr>
            <a:r>
              <a:rPr lang="en-US" altLang="ko-KR" dirty="0"/>
              <a:t>Target 1 : Iceland</a:t>
            </a:r>
          </a:p>
          <a:p>
            <a:pPr lvl="1">
              <a:defRPr/>
            </a:pPr>
            <a:endParaRPr lang="en-US" altLang="ko-KR" dirty="0">
              <a:solidFill>
                <a:srgbClr val="1F2328"/>
              </a:solidFill>
              <a:latin typeface="-apple-system"/>
            </a:endParaRPr>
          </a:p>
          <a:p>
            <a:pPr lvl="1">
              <a:defRPr/>
            </a:pPr>
            <a:endParaRPr lang="en-US" altLang="ko-KR" b="0" i="0" dirty="0">
              <a:solidFill>
                <a:srgbClr val="1F2328"/>
              </a:solidFill>
              <a:effectLst/>
              <a:latin typeface="-apple-system"/>
            </a:endParaRPr>
          </a:p>
          <a:p>
            <a:pPr lvl="1">
              <a:defRPr/>
            </a:pPr>
            <a:endParaRPr lang="en-US" altLang="ko-KR" dirty="0">
              <a:solidFill>
                <a:srgbClr val="1F2328"/>
              </a:solidFill>
              <a:latin typeface="-apple-system"/>
            </a:endParaRPr>
          </a:p>
          <a:p>
            <a:pPr lvl="1">
              <a:defRPr/>
            </a:pPr>
            <a:endParaRPr lang="en-US" altLang="ko-KR" b="0" i="0" dirty="0">
              <a:solidFill>
                <a:srgbClr val="1F2328"/>
              </a:solidFill>
              <a:effectLst/>
              <a:latin typeface="-apple-system"/>
            </a:endParaRPr>
          </a:p>
          <a:p>
            <a:pPr lvl="1">
              <a:defRPr/>
            </a:pPr>
            <a:endParaRPr lang="en-US" altLang="ko-KR" dirty="0">
              <a:solidFill>
                <a:srgbClr val="1F2328"/>
              </a:solidFill>
              <a:latin typeface="-apple-system"/>
            </a:endParaRPr>
          </a:p>
          <a:p>
            <a:pPr lvl="1">
              <a:defRPr/>
            </a:pPr>
            <a:r>
              <a:rPr lang="en-US" altLang="ko-KR" dirty="0"/>
              <a:t>Target 2 : India</a:t>
            </a:r>
          </a:p>
          <a:p>
            <a:pPr marL="2647800" lvl="6" indent="0">
              <a:buNone/>
              <a:defRPr/>
            </a:pPr>
            <a:endParaRPr lang="en-US" altLang="ko-KR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7E768EBD-FBEE-9DE6-4A81-EF1BBB1BB4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5</a:t>
            </a:fld>
            <a:endParaRPr lang="en-US" altLang="en-US" dirty="0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351277D2-289D-32E3-E4FE-72BB42C647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dirty="0"/>
              <a:t>BILP method </a:t>
            </a:r>
            <a:r>
              <a:rPr lang="ko-KR" altLang="en-US" dirty="0"/>
              <a:t>참고문헌 예시</a:t>
            </a:r>
          </a:p>
        </p:txBody>
      </p:sp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44C6BEAC-F017-11C7-A996-3251772F78D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62120481"/>
              </p:ext>
            </p:extLst>
          </p:nvPr>
        </p:nvGraphicFramePr>
        <p:xfrm>
          <a:off x="100830" y="1778562"/>
          <a:ext cx="8942340" cy="1503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768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54380">
                  <a:extLst>
                    <a:ext uri="{9D8B030D-6E8A-4147-A177-3AD203B41FA5}">
                      <a16:colId xmlns:a16="http://schemas.microsoft.com/office/drawing/2014/main" val="2911612099"/>
                    </a:ext>
                  </a:extLst>
                </a:gridCol>
                <a:gridCol w="938339">
                  <a:extLst>
                    <a:ext uri="{9D8B030D-6E8A-4147-A177-3AD203B41FA5}">
                      <a16:colId xmlns:a16="http://schemas.microsoft.com/office/drawing/2014/main" val="2059915843"/>
                    </a:ext>
                  </a:extLst>
                </a:gridCol>
                <a:gridCol w="906589">
                  <a:extLst>
                    <a:ext uri="{9D8B030D-6E8A-4147-A177-3AD203B41FA5}">
                      <a16:colId xmlns:a16="http://schemas.microsoft.com/office/drawing/2014/main" val="611402567"/>
                    </a:ext>
                  </a:extLst>
                </a:gridCol>
                <a:gridCol w="1300480">
                  <a:extLst>
                    <a:ext uri="{9D8B030D-6E8A-4147-A177-3AD203B41FA5}">
                      <a16:colId xmlns:a16="http://schemas.microsoft.com/office/drawing/2014/main" val="3785796257"/>
                    </a:ext>
                  </a:extLst>
                </a:gridCol>
                <a:gridCol w="449580">
                  <a:extLst>
                    <a:ext uri="{9D8B030D-6E8A-4147-A177-3AD203B41FA5}">
                      <a16:colId xmlns:a16="http://schemas.microsoft.com/office/drawing/2014/main" val="2884593093"/>
                    </a:ext>
                  </a:extLst>
                </a:gridCol>
                <a:gridCol w="998791">
                  <a:extLst>
                    <a:ext uri="{9D8B030D-6E8A-4147-A177-3AD203B41FA5}">
                      <a16:colId xmlns:a16="http://schemas.microsoft.com/office/drawing/2014/main" val="1036709000"/>
                    </a:ext>
                  </a:extLst>
                </a:gridCol>
                <a:gridCol w="1017351">
                  <a:extLst>
                    <a:ext uri="{9D8B030D-6E8A-4147-A177-3AD203B41FA5}">
                      <a16:colId xmlns:a16="http://schemas.microsoft.com/office/drawing/2014/main" val="14929076"/>
                    </a:ext>
                  </a:extLst>
                </a:gridCol>
              </a:tblGrid>
              <a:tr h="0">
                <a:tc rowSpan="2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 err="1"/>
                        <a:t>AoI</a:t>
                      </a:r>
                      <a:r>
                        <a:rPr lang="en-US" altLang="ko-KR" sz="1400" dirty="0"/>
                        <a:t> &amp; Time </a:t>
                      </a:r>
                    </a:p>
                    <a:p>
                      <a:pPr algn="ctr" latinLnBrk="1">
                        <a:defRPr/>
                      </a:pPr>
                      <a:endParaRPr lang="en-US" altLang="ko-KR" sz="1400" dirty="0"/>
                    </a:p>
                    <a:p>
                      <a:pPr algn="ctr" latinLnBrk="1">
                        <a:defRPr/>
                      </a:pPr>
                      <a:r>
                        <a:rPr lang="en-US" altLang="ko-KR" sz="1400" dirty="0"/>
                        <a:t>Seed Satellite OE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1400" dirty="0"/>
                        <a:t>𝜀</a:t>
                      </a:r>
                      <a:r>
                        <a:rPr lang="en-US" altLang="ko-KR" sz="1400" dirty="0"/>
                        <a:t>(min)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/>
                        <a:t>Target </a:t>
                      </a:r>
                      <a:r>
                        <a:rPr lang="ko-KR" altLang="en-US" sz="1400" dirty="0"/>
                        <a:t>𝜙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/>
                        <a:t>Target </a:t>
                      </a: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λ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Coverage Req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L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Time Step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Epoch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10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64.14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N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/>
                        <a:t>21.94°W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1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717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120s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ysClr val="windowText" lastClr="00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24.01.01</a:t>
                      </a:r>
                    </a:p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ysClr val="windowText" lastClr="00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00:00:00</a:t>
                      </a:r>
                      <a:endParaRPr lang="ko-KR" altLang="en-US" sz="1200" dirty="0">
                        <a:solidFill>
                          <a:sysClr val="windowText" lastClr="000000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/>
                        <a:t>[</a:t>
                      </a:r>
                      <a:r>
                        <a:rPr lang="en-US" altLang="ko-KR" sz="1200" b="0" dirty="0"/>
                        <a:t>10527.34km</a:t>
                      </a:r>
                      <a:r>
                        <a:rPr lang="en-US" altLang="ko-KR" sz="1200" dirty="0"/>
                        <a:t>, 0, 70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, 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, 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, 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]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7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pt-BR" altLang="ko-KR" sz="1200" dirty="0">
                          <a:latin typeface="Times New Roman"/>
                          <a:ea typeface="+mn-ea"/>
                          <a:cs typeface="Times New Roman"/>
                        </a:rPr>
                        <a:t>n = [65, 144, 285, 36]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791282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/>
                        <a:t>[</a:t>
                      </a:r>
                      <a:r>
                        <a:rPr lang="en-US" altLang="ko-KR" sz="1200" b="0" dirty="0"/>
                        <a:t>12758.44km</a:t>
                      </a:r>
                      <a:r>
                        <a:rPr lang="en-US" altLang="ko-KR" sz="1200" dirty="0"/>
                        <a:t>, 0, 47.915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, 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, 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, 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]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solidFill>
                      <a:schemeClr val="bg1"/>
                    </a:solidFill>
                  </a:tcPr>
                </a:tc>
                <a:tc gridSpan="7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altLang="ko-KR" sz="1200" dirty="0">
                          <a:latin typeface="Times New Roman"/>
                          <a:ea typeface="+mn-ea"/>
                          <a:cs typeface="Times New Roman"/>
                        </a:rPr>
                        <a:t>n = [208, 428, 523, 608, 634, 702]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69066936"/>
                  </a:ext>
                </a:extLst>
              </a:tr>
            </a:tbl>
          </a:graphicData>
        </a:graphic>
      </p:graphicFrame>
      <p:grpSp>
        <p:nvGrpSpPr>
          <p:cNvPr id="27" name="그룹 26">
            <a:extLst>
              <a:ext uri="{FF2B5EF4-FFF2-40B4-BE49-F238E27FC236}">
                <a16:creationId xmlns:a16="http://schemas.microsoft.com/office/drawing/2014/main" id="{5B38C6C2-1147-3394-FE90-FD2AB3183643}"/>
              </a:ext>
            </a:extLst>
          </p:cNvPr>
          <p:cNvGrpSpPr/>
          <p:nvPr/>
        </p:nvGrpSpPr>
        <p:grpSpPr>
          <a:xfrm>
            <a:off x="100830" y="1808252"/>
            <a:ext cx="2579012" cy="722150"/>
            <a:chOff x="100830" y="1808252"/>
            <a:chExt cx="2579012" cy="722150"/>
          </a:xfrm>
        </p:grpSpPr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3E9126ED-5B8D-3999-B929-CC2C558CA33B}"/>
                </a:ext>
              </a:extLst>
            </p:cNvPr>
            <p:cNvCxnSpPr>
              <a:cxnSpLocks/>
            </p:cNvCxnSpPr>
            <p:nvPr/>
          </p:nvCxnSpPr>
          <p:spPr>
            <a:xfrm>
              <a:off x="100830" y="1808252"/>
              <a:ext cx="443700" cy="339047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2CE1C36C-B309-344F-5EB8-41B564C3574E}"/>
                </a:ext>
              </a:extLst>
            </p:cNvPr>
            <p:cNvCxnSpPr>
              <a:cxnSpLocks/>
            </p:cNvCxnSpPr>
            <p:nvPr/>
          </p:nvCxnSpPr>
          <p:spPr>
            <a:xfrm>
              <a:off x="544530" y="2147299"/>
              <a:ext cx="1691612" cy="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C6E87280-80D2-31AE-F945-F30F405CE714}"/>
                </a:ext>
              </a:extLst>
            </p:cNvPr>
            <p:cNvCxnSpPr>
              <a:cxnSpLocks/>
            </p:cNvCxnSpPr>
            <p:nvPr/>
          </p:nvCxnSpPr>
          <p:spPr>
            <a:xfrm>
              <a:off x="2236142" y="2147299"/>
              <a:ext cx="443700" cy="383103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28" name="표 27">
            <a:extLst>
              <a:ext uri="{FF2B5EF4-FFF2-40B4-BE49-F238E27FC236}">
                <a16:creationId xmlns:a16="http://schemas.microsoft.com/office/drawing/2014/main" id="{F3EAEB5D-4149-A013-5352-DADE0BE71CF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6480406"/>
              </p:ext>
            </p:extLst>
          </p:nvPr>
        </p:nvGraphicFramePr>
        <p:xfrm>
          <a:off x="100830" y="3821407"/>
          <a:ext cx="8942340" cy="1503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768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54380">
                  <a:extLst>
                    <a:ext uri="{9D8B030D-6E8A-4147-A177-3AD203B41FA5}">
                      <a16:colId xmlns:a16="http://schemas.microsoft.com/office/drawing/2014/main" val="2911612099"/>
                    </a:ext>
                  </a:extLst>
                </a:gridCol>
                <a:gridCol w="938339">
                  <a:extLst>
                    <a:ext uri="{9D8B030D-6E8A-4147-A177-3AD203B41FA5}">
                      <a16:colId xmlns:a16="http://schemas.microsoft.com/office/drawing/2014/main" val="2059915843"/>
                    </a:ext>
                  </a:extLst>
                </a:gridCol>
                <a:gridCol w="906589">
                  <a:extLst>
                    <a:ext uri="{9D8B030D-6E8A-4147-A177-3AD203B41FA5}">
                      <a16:colId xmlns:a16="http://schemas.microsoft.com/office/drawing/2014/main" val="611402567"/>
                    </a:ext>
                  </a:extLst>
                </a:gridCol>
                <a:gridCol w="1300480">
                  <a:extLst>
                    <a:ext uri="{9D8B030D-6E8A-4147-A177-3AD203B41FA5}">
                      <a16:colId xmlns:a16="http://schemas.microsoft.com/office/drawing/2014/main" val="3785796257"/>
                    </a:ext>
                  </a:extLst>
                </a:gridCol>
                <a:gridCol w="449580">
                  <a:extLst>
                    <a:ext uri="{9D8B030D-6E8A-4147-A177-3AD203B41FA5}">
                      <a16:colId xmlns:a16="http://schemas.microsoft.com/office/drawing/2014/main" val="2884593093"/>
                    </a:ext>
                  </a:extLst>
                </a:gridCol>
                <a:gridCol w="998791">
                  <a:extLst>
                    <a:ext uri="{9D8B030D-6E8A-4147-A177-3AD203B41FA5}">
                      <a16:colId xmlns:a16="http://schemas.microsoft.com/office/drawing/2014/main" val="1036709000"/>
                    </a:ext>
                  </a:extLst>
                </a:gridCol>
                <a:gridCol w="1017351">
                  <a:extLst>
                    <a:ext uri="{9D8B030D-6E8A-4147-A177-3AD203B41FA5}">
                      <a16:colId xmlns:a16="http://schemas.microsoft.com/office/drawing/2014/main" val="14929076"/>
                    </a:ext>
                  </a:extLst>
                </a:gridCol>
              </a:tblGrid>
              <a:tr h="0">
                <a:tc rowSpan="2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 err="1"/>
                        <a:t>AoI</a:t>
                      </a:r>
                      <a:r>
                        <a:rPr lang="en-US" altLang="ko-KR" sz="1400" dirty="0"/>
                        <a:t> &amp; Time </a:t>
                      </a:r>
                    </a:p>
                    <a:p>
                      <a:pPr algn="ctr" latinLnBrk="1">
                        <a:defRPr/>
                      </a:pPr>
                      <a:endParaRPr lang="en-US" altLang="ko-KR" sz="1400" dirty="0"/>
                    </a:p>
                    <a:p>
                      <a:pPr algn="ctr" latinLnBrk="1">
                        <a:defRPr/>
                      </a:pPr>
                      <a:r>
                        <a:rPr lang="en-US" altLang="ko-KR" sz="1400" dirty="0"/>
                        <a:t>Seed Satellite OE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1400" dirty="0"/>
                        <a:t>𝜀</a:t>
                      </a:r>
                      <a:r>
                        <a:rPr lang="en-US" altLang="ko-KR" sz="1400" dirty="0"/>
                        <a:t>(min)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/>
                        <a:t>Target </a:t>
                      </a:r>
                      <a:r>
                        <a:rPr lang="ko-KR" altLang="en-US" sz="1400" dirty="0"/>
                        <a:t>𝜙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/>
                        <a:t>Target </a:t>
                      </a: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λ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Coverage Req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L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Time Step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Epoch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15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19.07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N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/>
                        <a:t>72.87°E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1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717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120s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ysClr val="windowText" lastClr="00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24.01.01</a:t>
                      </a:r>
                    </a:p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ysClr val="windowText" lastClr="00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00:00:00</a:t>
                      </a:r>
                      <a:endParaRPr lang="ko-KR" altLang="en-US" sz="1200" dirty="0">
                        <a:solidFill>
                          <a:sysClr val="windowText" lastClr="000000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/>
                        <a:t>[</a:t>
                      </a:r>
                      <a:r>
                        <a:rPr lang="en-US" altLang="ko-KR" sz="1200" b="0" dirty="0"/>
                        <a:t>10527.34km</a:t>
                      </a:r>
                      <a:r>
                        <a:rPr lang="en-US" altLang="ko-KR" sz="1200" dirty="0"/>
                        <a:t>, 0, 70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, 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, 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, 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]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7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pt-BR" altLang="ko-KR" sz="1200" dirty="0">
                          <a:latin typeface="Times New Roman"/>
                          <a:ea typeface="+mn-ea"/>
                          <a:cs typeface="Times New Roman"/>
                        </a:rPr>
                        <a:t>n = [65, 144, 285, 36]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791282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/>
                        <a:t>[</a:t>
                      </a:r>
                      <a:r>
                        <a:rPr lang="en-US" altLang="ko-KR" sz="1200" b="0" dirty="0"/>
                        <a:t>12758.44km</a:t>
                      </a:r>
                      <a:r>
                        <a:rPr lang="en-US" altLang="ko-KR" sz="1200" dirty="0"/>
                        <a:t>, 0, 47.915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, 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, 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, 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]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solidFill>
                      <a:schemeClr val="bg1"/>
                    </a:solidFill>
                  </a:tcPr>
                </a:tc>
                <a:tc gridSpan="7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altLang="ko-KR" sz="1200" dirty="0">
                          <a:latin typeface="Times New Roman"/>
                          <a:ea typeface="+mn-ea"/>
                          <a:cs typeface="Times New Roman"/>
                        </a:rPr>
                        <a:t>n = [208, 428, 523, 608, 634, 702]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69066936"/>
                  </a:ext>
                </a:extLst>
              </a:tr>
            </a:tbl>
          </a:graphicData>
        </a:graphic>
      </p:graphicFrame>
      <p:grpSp>
        <p:nvGrpSpPr>
          <p:cNvPr id="29" name="그룹 28">
            <a:extLst>
              <a:ext uri="{FF2B5EF4-FFF2-40B4-BE49-F238E27FC236}">
                <a16:creationId xmlns:a16="http://schemas.microsoft.com/office/drawing/2014/main" id="{5161C457-3133-6EBE-6607-25D9D7C7A8C3}"/>
              </a:ext>
            </a:extLst>
          </p:cNvPr>
          <p:cNvGrpSpPr/>
          <p:nvPr/>
        </p:nvGrpSpPr>
        <p:grpSpPr>
          <a:xfrm>
            <a:off x="100830" y="3851097"/>
            <a:ext cx="2579012" cy="722150"/>
            <a:chOff x="100830" y="1808252"/>
            <a:chExt cx="2579012" cy="722150"/>
          </a:xfrm>
        </p:grpSpPr>
        <p:cxnSp>
          <p:nvCxnSpPr>
            <p:cNvPr id="30" name="직선 연결선 29">
              <a:extLst>
                <a:ext uri="{FF2B5EF4-FFF2-40B4-BE49-F238E27FC236}">
                  <a16:creationId xmlns:a16="http://schemas.microsoft.com/office/drawing/2014/main" id="{2A2E0D5A-EE7E-D544-2474-69BBE2A33B73}"/>
                </a:ext>
              </a:extLst>
            </p:cNvPr>
            <p:cNvCxnSpPr>
              <a:cxnSpLocks/>
            </p:cNvCxnSpPr>
            <p:nvPr/>
          </p:nvCxnSpPr>
          <p:spPr>
            <a:xfrm>
              <a:off x="100830" y="1808252"/>
              <a:ext cx="443700" cy="339047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D2414B05-3FBD-94DE-58BB-877D73190AC7}"/>
                </a:ext>
              </a:extLst>
            </p:cNvPr>
            <p:cNvCxnSpPr>
              <a:cxnSpLocks/>
            </p:cNvCxnSpPr>
            <p:nvPr/>
          </p:nvCxnSpPr>
          <p:spPr>
            <a:xfrm>
              <a:off x="544530" y="2147299"/>
              <a:ext cx="1691612" cy="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>
              <a:extLst>
                <a:ext uri="{FF2B5EF4-FFF2-40B4-BE49-F238E27FC236}">
                  <a16:creationId xmlns:a16="http://schemas.microsoft.com/office/drawing/2014/main" id="{5CA61DB7-013A-5D39-87FD-7DD6335A5EF3}"/>
                </a:ext>
              </a:extLst>
            </p:cNvPr>
            <p:cNvCxnSpPr>
              <a:cxnSpLocks/>
            </p:cNvCxnSpPr>
            <p:nvPr/>
          </p:nvCxnSpPr>
          <p:spPr>
            <a:xfrm>
              <a:off x="2236142" y="2147299"/>
              <a:ext cx="443700" cy="383103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3" name="TextBox 32">
            <a:extLst>
              <a:ext uri="{FF2B5EF4-FFF2-40B4-BE49-F238E27FC236}">
                <a16:creationId xmlns:a16="http://schemas.microsoft.com/office/drawing/2014/main" id="{308034B1-CD07-14EC-D128-CE98FE6DBA5F}"/>
              </a:ext>
            </a:extLst>
          </p:cNvPr>
          <p:cNvSpPr txBox="1"/>
          <p:nvPr/>
        </p:nvSpPr>
        <p:spPr>
          <a:xfrm>
            <a:off x="-200345" y="6102838"/>
            <a:ext cx="905667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defRPr/>
            </a:pPr>
            <a:r>
              <a:rPr lang="ko-KR" altLang="en-US" sz="1000" b="1" dirty="0">
                <a:solidFill>
                  <a:srgbClr val="1F2328"/>
                </a:solidFill>
              </a:rPr>
              <a:t>출처 </a:t>
            </a:r>
            <a:r>
              <a:rPr lang="en-US" altLang="ko-KR" sz="1000" b="1" dirty="0">
                <a:solidFill>
                  <a:srgbClr val="1F2328"/>
                </a:solidFill>
              </a:rPr>
              <a:t>: Hang </a:t>
            </a:r>
            <a:r>
              <a:rPr lang="en-US" altLang="ko-KR" sz="1000" b="1" dirty="0" err="1">
                <a:solidFill>
                  <a:srgbClr val="1F2328"/>
                </a:solidFill>
              </a:rPr>
              <a:t>Woon</a:t>
            </a:r>
            <a:r>
              <a:rPr lang="en-US" altLang="ko-KR" sz="1000" b="1" dirty="0">
                <a:solidFill>
                  <a:srgbClr val="1F2328"/>
                </a:solidFill>
              </a:rPr>
              <a:t> Lee, Seiichi Shimizu, Shoji Yoshikawa, and Koki Ho, “</a:t>
            </a:r>
            <a:r>
              <a:rPr lang="en-US" altLang="ko-KR" sz="1000" b="1" u="sng" dirty="0">
                <a:solidFill>
                  <a:srgbClr val="1F2328"/>
                </a:solidFill>
              </a:rPr>
              <a:t>Satellite Constellation Pattern Optimization for Complex Regional Coverage</a:t>
            </a:r>
            <a:r>
              <a:rPr lang="en-US" altLang="ko-KR" sz="1000" b="1" dirty="0">
                <a:solidFill>
                  <a:srgbClr val="1F2328"/>
                </a:solidFill>
              </a:rPr>
              <a:t>”, 2020 Journal of Spacecraft and Rockets 57:6, 1309-1327</a:t>
            </a:r>
          </a:p>
        </p:txBody>
      </p:sp>
    </p:spTree>
    <p:extLst>
      <p:ext uri="{BB962C8B-B14F-4D97-AF65-F5344CB8AC3E}">
        <p14:creationId xmlns:p14="http://schemas.microsoft.com/office/powerpoint/2010/main" val="3245073448"/>
      </p:ext>
    </p:extLst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63632D-F2DF-BCC3-73E2-B34BFF010C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97B05997-7547-9ABD-F35B-5962EF7BDD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altLang="ko-KR" dirty="0"/>
              <a:t>BILP method (Example 5)</a:t>
            </a:r>
          </a:p>
          <a:p>
            <a:pPr lvl="1">
              <a:defRPr/>
            </a:pPr>
            <a:r>
              <a:rPr lang="en-US" altLang="ko-KR" dirty="0"/>
              <a:t>Target 1 : Iceland</a:t>
            </a:r>
          </a:p>
          <a:p>
            <a:pPr lvl="1">
              <a:defRPr/>
            </a:pPr>
            <a:endParaRPr lang="en-US" altLang="ko-KR" dirty="0"/>
          </a:p>
          <a:p>
            <a:pPr lvl="1">
              <a:defRPr/>
            </a:pPr>
            <a:endParaRPr lang="en-US" altLang="ko-KR" dirty="0"/>
          </a:p>
          <a:p>
            <a:pPr lvl="1">
              <a:defRPr/>
            </a:pPr>
            <a:endParaRPr lang="en-US" altLang="ko-KR" dirty="0"/>
          </a:p>
          <a:p>
            <a:pPr lvl="1">
              <a:defRPr/>
            </a:pPr>
            <a:endParaRPr lang="en-US" altLang="ko-KR" dirty="0"/>
          </a:p>
          <a:p>
            <a:pPr lvl="1">
              <a:defRPr/>
            </a:pPr>
            <a:endParaRPr lang="en-US" altLang="ko-KR" dirty="0"/>
          </a:p>
          <a:p>
            <a:pPr lvl="1">
              <a:defRPr/>
            </a:pPr>
            <a:endParaRPr lang="en-US" altLang="ko-KR" dirty="0"/>
          </a:p>
          <a:p>
            <a:pPr lvl="1">
              <a:defRPr/>
            </a:pPr>
            <a:endParaRPr lang="en-US" altLang="ko-KR" dirty="0"/>
          </a:p>
          <a:p>
            <a:pPr lvl="1">
              <a:defRPr/>
            </a:pPr>
            <a:endParaRPr lang="en-US" altLang="ko-KR" dirty="0"/>
          </a:p>
          <a:p>
            <a:pPr lvl="1">
              <a:defRPr/>
            </a:pPr>
            <a:endParaRPr lang="en-US" altLang="ko-KR" dirty="0"/>
          </a:p>
          <a:p>
            <a:pPr lvl="1">
              <a:defRPr/>
            </a:pPr>
            <a:endParaRPr lang="en-US" altLang="ko-KR" dirty="0"/>
          </a:p>
          <a:p>
            <a:pPr lvl="1">
              <a:defRPr/>
            </a:pPr>
            <a:r>
              <a:rPr lang="ko-KR" altLang="en-US" dirty="0"/>
              <a:t>총 위성 수</a:t>
            </a:r>
            <a:r>
              <a:rPr lang="en-US" altLang="ko-KR" dirty="0"/>
              <a:t>(10</a:t>
            </a:r>
            <a:r>
              <a:rPr lang="ko-KR" altLang="en-US" dirty="0"/>
              <a:t>대</a:t>
            </a:r>
            <a:r>
              <a:rPr lang="en-US" altLang="ko-KR" dirty="0"/>
              <a:t>)</a:t>
            </a:r>
          </a:p>
          <a:p>
            <a:pPr lvl="2">
              <a:defRPr/>
            </a:pPr>
            <a:r>
              <a:rPr lang="ko-KR" altLang="en-US" dirty="0"/>
              <a:t>저궤도</a:t>
            </a:r>
            <a:r>
              <a:rPr lang="en-US" altLang="ko-KR" dirty="0"/>
              <a:t>(4149.2km) : 4</a:t>
            </a:r>
            <a:r>
              <a:rPr lang="ko-KR" altLang="en-US" dirty="0"/>
              <a:t>대</a:t>
            </a:r>
            <a:endParaRPr lang="en-US" altLang="ko-KR" dirty="0"/>
          </a:p>
          <a:p>
            <a:pPr lvl="2">
              <a:defRPr/>
            </a:pPr>
            <a:r>
              <a:rPr lang="ko-KR" altLang="en-US" dirty="0" err="1"/>
              <a:t>고궤도</a:t>
            </a:r>
            <a:r>
              <a:rPr lang="en-US" altLang="ko-KR" dirty="0"/>
              <a:t>(6380.3km) : 6</a:t>
            </a:r>
            <a:r>
              <a:rPr lang="ko-KR" altLang="en-US" dirty="0"/>
              <a:t>대</a:t>
            </a:r>
            <a:endParaRPr lang="en-US" altLang="ko-KR" dirty="0"/>
          </a:p>
          <a:p>
            <a:pPr marL="3105000" lvl="7" indent="0">
              <a:buNone/>
              <a:defRPr/>
            </a:pPr>
            <a:endParaRPr lang="en-US" altLang="ko-KR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7E768EBD-FBEE-9DE6-4A81-EF1BBB1BB4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6</a:t>
            </a:fld>
            <a:endParaRPr lang="en-US" altLang="en-US" dirty="0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351277D2-289D-32E3-E4FE-72BB42C647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dirty="0"/>
              <a:t>BILP method </a:t>
            </a:r>
            <a:r>
              <a:rPr lang="ko-KR" altLang="en-US" dirty="0"/>
              <a:t>참고문헌 예시 검증</a:t>
            </a: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A2E5BB80-F552-5826-E2F7-843C216956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25406" y="1615755"/>
            <a:ext cx="4150773" cy="311308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B5634780-EAE4-3DC6-3EBF-F7A7995CA96B}"/>
              </a:ext>
            </a:extLst>
          </p:cNvPr>
          <p:cNvSpPr txBox="1"/>
          <p:nvPr/>
        </p:nvSpPr>
        <p:spPr>
          <a:xfrm>
            <a:off x="4938815" y="4614524"/>
            <a:ext cx="292395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2">
              <a:defRPr/>
            </a:pPr>
            <a:r>
              <a:rPr lang="en-US" altLang="ko-KR" sz="1400" dirty="0" err="1"/>
              <a:t>Matlab</a:t>
            </a:r>
            <a:r>
              <a:rPr lang="ko-KR" altLang="en-US" sz="1400" dirty="0"/>
              <a:t>의 결과</a:t>
            </a:r>
            <a:endParaRPr lang="en-US" altLang="ko-KR" sz="14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959F3D7-B73A-26AA-DD2D-DD27BE0EC2BA}"/>
              </a:ext>
            </a:extLst>
          </p:cNvPr>
          <p:cNvSpPr txBox="1"/>
          <p:nvPr/>
        </p:nvSpPr>
        <p:spPr>
          <a:xfrm>
            <a:off x="884057" y="4665037"/>
            <a:ext cx="292395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2">
              <a:defRPr/>
            </a:pPr>
            <a:r>
              <a:rPr lang="ko-KR" altLang="en-US" sz="1400" dirty="0"/>
              <a:t>참고문헌의 결과</a:t>
            </a:r>
            <a:endParaRPr lang="en-US" altLang="ko-KR" sz="1400" dirty="0"/>
          </a:p>
        </p:txBody>
      </p:sp>
      <p:pic>
        <p:nvPicPr>
          <p:cNvPr id="19" name="그림 18">
            <a:extLst>
              <a:ext uri="{FF2B5EF4-FFF2-40B4-BE49-F238E27FC236}">
                <a16:creationId xmlns:a16="http://schemas.microsoft.com/office/drawing/2014/main" id="{75A58A6C-9E57-41A4-C858-FF43A106FC1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7618" y="1627932"/>
            <a:ext cx="3670403" cy="3026472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300B1618-BA6A-71E1-4CCA-65D9EC628435}"/>
              </a:ext>
            </a:extLst>
          </p:cNvPr>
          <p:cNvSpPr txBox="1"/>
          <p:nvPr/>
        </p:nvSpPr>
        <p:spPr>
          <a:xfrm>
            <a:off x="-200345" y="6102838"/>
            <a:ext cx="905667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defRPr/>
            </a:pPr>
            <a:r>
              <a:rPr lang="ko-KR" altLang="en-US" sz="1000" b="1" dirty="0">
                <a:solidFill>
                  <a:srgbClr val="1F2328"/>
                </a:solidFill>
              </a:rPr>
              <a:t>출처 </a:t>
            </a:r>
            <a:r>
              <a:rPr lang="en-US" altLang="ko-KR" sz="1000" b="1" dirty="0">
                <a:solidFill>
                  <a:srgbClr val="1F2328"/>
                </a:solidFill>
              </a:rPr>
              <a:t>: Hang </a:t>
            </a:r>
            <a:r>
              <a:rPr lang="en-US" altLang="ko-KR" sz="1000" b="1" dirty="0" err="1">
                <a:solidFill>
                  <a:srgbClr val="1F2328"/>
                </a:solidFill>
              </a:rPr>
              <a:t>Woon</a:t>
            </a:r>
            <a:r>
              <a:rPr lang="en-US" altLang="ko-KR" sz="1000" b="1" dirty="0">
                <a:solidFill>
                  <a:srgbClr val="1F2328"/>
                </a:solidFill>
              </a:rPr>
              <a:t> Lee, Seiichi Shimizu, Shoji Yoshikawa, and Koki Ho, “</a:t>
            </a:r>
            <a:r>
              <a:rPr lang="en-US" altLang="ko-KR" sz="1000" b="1" u="sng" dirty="0">
                <a:solidFill>
                  <a:srgbClr val="1F2328"/>
                </a:solidFill>
              </a:rPr>
              <a:t>Satellite Constellation Pattern Optimization for Complex Regional Coverage</a:t>
            </a:r>
            <a:r>
              <a:rPr lang="en-US" altLang="ko-KR" sz="1000" b="1" dirty="0">
                <a:solidFill>
                  <a:srgbClr val="1F2328"/>
                </a:solidFill>
              </a:rPr>
              <a:t>”, 2020 Journal of Spacecraft and Rockets 57:6, 1309-1327</a:t>
            </a:r>
          </a:p>
        </p:txBody>
      </p:sp>
    </p:spTree>
    <p:extLst>
      <p:ext uri="{BB962C8B-B14F-4D97-AF65-F5344CB8AC3E}">
        <p14:creationId xmlns:p14="http://schemas.microsoft.com/office/powerpoint/2010/main" val="426921432"/>
      </p:ext>
    </p:extLst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63632D-F2DF-BCC3-73E2-B34BFF010C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97B05997-7547-9ABD-F35B-5962EF7BDD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altLang="ko-KR" dirty="0"/>
              <a:t>BILP method (Example 5)</a:t>
            </a:r>
          </a:p>
          <a:p>
            <a:pPr lvl="1">
              <a:defRPr/>
            </a:pPr>
            <a:r>
              <a:rPr lang="en-US" altLang="ko-KR" dirty="0"/>
              <a:t>Target 2 : India</a:t>
            </a:r>
          </a:p>
          <a:p>
            <a:pPr lvl="1">
              <a:defRPr/>
            </a:pPr>
            <a:endParaRPr lang="en-US" altLang="ko-KR" dirty="0"/>
          </a:p>
          <a:p>
            <a:pPr lvl="1">
              <a:defRPr/>
            </a:pPr>
            <a:endParaRPr lang="en-US" altLang="ko-KR" dirty="0"/>
          </a:p>
          <a:p>
            <a:pPr lvl="1">
              <a:defRPr/>
            </a:pPr>
            <a:endParaRPr lang="en-US" altLang="ko-KR" dirty="0"/>
          </a:p>
          <a:p>
            <a:pPr lvl="1">
              <a:defRPr/>
            </a:pPr>
            <a:endParaRPr lang="en-US" altLang="ko-KR" dirty="0"/>
          </a:p>
          <a:p>
            <a:pPr lvl="1">
              <a:defRPr/>
            </a:pPr>
            <a:endParaRPr lang="en-US" altLang="ko-KR" dirty="0"/>
          </a:p>
          <a:p>
            <a:pPr lvl="1">
              <a:defRPr/>
            </a:pPr>
            <a:endParaRPr lang="en-US" altLang="ko-KR" dirty="0"/>
          </a:p>
          <a:p>
            <a:pPr lvl="1">
              <a:defRPr/>
            </a:pPr>
            <a:endParaRPr lang="en-US" altLang="ko-KR" dirty="0"/>
          </a:p>
          <a:p>
            <a:pPr lvl="1">
              <a:defRPr/>
            </a:pPr>
            <a:endParaRPr lang="en-US" altLang="ko-KR" dirty="0"/>
          </a:p>
          <a:p>
            <a:pPr lvl="1">
              <a:defRPr/>
            </a:pPr>
            <a:endParaRPr lang="en-US" altLang="ko-KR" dirty="0"/>
          </a:p>
          <a:p>
            <a:pPr lvl="1">
              <a:defRPr/>
            </a:pPr>
            <a:endParaRPr lang="en-US" altLang="ko-KR" dirty="0"/>
          </a:p>
          <a:p>
            <a:pPr lvl="1">
              <a:defRPr/>
            </a:pPr>
            <a:r>
              <a:rPr lang="ko-KR" altLang="en-US" dirty="0"/>
              <a:t>총 위성 수</a:t>
            </a:r>
            <a:r>
              <a:rPr lang="en-US" altLang="ko-KR" dirty="0"/>
              <a:t>(10</a:t>
            </a:r>
            <a:r>
              <a:rPr lang="ko-KR" altLang="en-US" dirty="0"/>
              <a:t>대</a:t>
            </a:r>
            <a:r>
              <a:rPr lang="en-US" altLang="ko-KR" dirty="0"/>
              <a:t>)</a:t>
            </a:r>
          </a:p>
          <a:p>
            <a:pPr lvl="2">
              <a:defRPr/>
            </a:pPr>
            <a:r>
              <a:rPr lang="ko-KR" altLang="en-US" dirty="0"/>
              <a:t>저궤도</a:t>
            </a:r>
            <a:r>
              <a:rPr lang="en-US" altLang="ko-KR" dirty="0"/>
              <a:t>(4149.2km) : 4</a:t>
            </a:r>
            <a:r>
              <a:rPr lang="ko-KR" altLang="en-US" dirty="0"/>
              <a:t>대</a:t>
            </a:r>
            <a:endParaRPr lang="en-US" altLang="ko-KR" dirty="0"/>
          </a:p>
          <a:p>
            <a:pPr lvl="2">
              <a:defRPr/>
            </a:pPr>
            <a:r>
              <a:rPr lang="ko-KR" altLang="en-US" dirty="0" err="1"/>
              <a:t>고궤도</a:t>
            </a:r>
            <a:r>
              <a:rPr lang="en-US" altLang="ko-KR" dirty="0"/>
              <a:t>(6380.3km) : 6</a:t>
            </a:r>
            <a:r>
              <a:rPr lang="ko-KR" altLang="en-US" dirty="0"/>
              <a:t>대</a:t>
            </a:r>
            <a:endParaRPr lang="en-US" altLang="ko-KR" dirty="0"/>
          </a:p>
          <a:p>
            <a:pPr lvl="1">
              <a:defRPr/>
            </a:pPr>
            <a:endParaRPr lang="en-US" altLang="ko-KR" dirty="0"/>
          </a:p>
          <a:p>
            <a:pPr lvl="5">
              <a:defRPr/>
            </a:pPr>
            <a:endParaRPr lang="en-US" altLang="ko-KR" b="0" i="0" dirty="0">
              <a:solidFill>
                <a:srgbClr val="1F2328"/>
              </a:solidFill>
              <a:effectLst/>
              <a:latin typeface="-apple-system"/>
            </a:endParaRPr>
          </a:p>
          <a:p>
            <a:pPr marL="2647800" lvl="6" indent="0">
              <a:buNone/>
              <a:defRPr/>
            </a:pPr>
            <a:endParaRPr lang="en-US" altLang="ko-KR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7E768EBD-FBEE-9DE6-4A81-EF1BBB1BB4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7</a:t>
            </a:fld>
            <a:endParaRPr lang="en-US" altLang="en-US" dirty="0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351277D2-289D-32E3-E4FE-72BB42C647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dirty="0"/>
              <a:t>BILP method </a:t>
            </a:r>
            <a:r>
              <a:rPr lang="ko-KR" altLang="en-US" dirty="0"/>
              <a:t>참고문헌 예시 검증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DBE814D4-9BDB-37BA-23B8-A97E1DFA90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800" y="1717389"/>
            <a:ext cx="3586124" cy="2911853"/>
          </a:xfrm>
          <a:prstGeom prst="rect">
            <a:avLst/>
          </a:prstGeom>
        </p:spPr>
      </p:pic>
      <p:grpSp>
        <p:nvGrpSpPr>
          <p:cNvPr id="19" name="그룹 18">
            <a:extLst>
              <a:ext uri="{FF2B5EF4-FFF2-40B4-BE49-F238E27FC236}">
                <a16:creationId xmlns:a16="http://schemas.microsoft.com/office/drawing/2014/main" id="{28BA5352-C212-AB74-5072-59036A77438C}"/>
              </a:ext>
            </a:extLst>
          </p:cNvPr>
          <p:cNvGrpSpPr/>
          <p:nvPr/>
        </p:nvGrpSpPr>
        <p:grpSpPr>
          <a:xfrm>
            <a:off x="4304140" y="1598578"/>
            <a:ext cx="4214597" cy="3151523"/>
            <a:chOff x="4282130" y="1918652"/>
            <a:chExt cx="4214597" cy="3151523"/>
          </a:xfrm>
        </p:grpSpPr>
        <p:pic>
          <p:nvPicPr>
            <p:cNvPr id="14" name="그림 13">
              <a:extLst>
                <a:ext uri="{FF2B5EF4-FFF2-40B4-BE49-F238E27FC236}">
                  <a16:creationId xmlns:a16="http://schemas.microsoft.com/office/drawing/2014/main" id="{0E38094B-C437-3D1B-B76A-A8594719CFA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282130" y="1918652"/>
              <a:ext cx="4214597" cy="3151523"/>
            </a:xfrm>
            <a:prstGeom prst="rect">
              <a:avLst/>
            </a:prstGeom>
          </p:spPr>
        </p:pic>
        <p:pic>
          <p:nvPicPr>
            <p:cNvPr id="18" name="그림 17">
              <a:extLst>
                <a:ext uri="{FF2B5EF4-FFF2-40B4-BE49-F238E27FC236}">
                  <a16:creationId xmlns:a16="http://schemas.microsoft.com/office/drawing/2014/main" id="{6E4566C7-0044-4CAF-5023-F4D456113DF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644784" y="1995906"/>
              <a:ext cx="3461526" cy="973325"/>
            </a:xfrm>
            <a:prstGeom prst="rect">
              <a:avLst/>
            </a:prstGeom>
          </p:spPr>
        </p:pic>
      </p:grpSp>
      <p:sp>
        <p:nvSpPr>
          <p:cNvPr id="20" name="TextBox 19">
            <a:extLst>
              <a:ext uri="{FF2B5EF4-FFF2-40B4-BE49-F238E27FC236}">
                <a16:creationId xmlns:a16="http://schemas.microsoft.com/office/drawing/2014/main" id="{3F7B6AC1-1695-042A-8B95-F06A6FF929A6}"/>
              </a:ext>
            </a:extLst>
          </p:cNvPr>
          <p:cNvSpPr txBox="1"/>
          <p:nvPr/>
        </p:nvSpPr>
        <p:spPr>
          <a:xfrm>
            <a:off x="884057" y="4665037"/>
            <a:ext cx="292395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2">
              <a:defRPr/>
            </a:pPr>
            <a:r>
              <a:rPr lang="ko-KR" altLang="en-US" sz="1400" dirty="0"/>
              <a:t>참고문헌의 결과</a:t>
            </a:r>
            <a:endParaRPr lang="en-US" altLang="ko-KR" sz="14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3DC1BE4-7D3C-4959-7468-FD85FE04AA29}"/>
              </a:ext>
            </a:extLst>
          </p:cNvPr>
          <p:cNvSpPr txBox="1"/>
          <p:nvPr/>
        </p:nvSpPr>
        <p:spPr>
          <a:xfrm>
            <a:off x="4938815" y="4614524"/>
            <a:ext cx="292395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2">
              <a:defRPr/>
            </a:pPr>
            <a:r>
              <a:rPr lang="en-US" altLang="ko-KR" sz="1400" dirty="0" err="1"/>
              <a:t>Matlab</a:t>
            </a:r>
            <a:r>
              <a:rPr lang="ko-KR" altLang="en-US" sz="1400" dirty="0"/>
              <a:t>의 결과</a:t>
            </a:r>
            <a:endParaRPr lang="en-US" altLang="ko-KR" sz="1400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DB3DB36-F431-0B71-B348-970647186665}"/>
              </a:ext>
            </a:extLst>
          </p:cNvPr>
          <p:cNvSpPr txBox="1"/>
          <p:nvPr/>
        </p:nvSpPr>
        <p:spPr>
          <a:xfrm>
            <a:off x="-200345" y="6102838"/>
            <a:ext cx="905667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defRPr/>
            </a:pPr>
            <a:r>
              <a:rPr lang="ko-KR" altLang="en-US" sz="1000" b="1" dirty="0">
                <a:solidFill>
                  <a:srgbClr val="1F2328"/>
                </a:solidFill>
              </a:rPr>
              <a:t>출처 </a:t>
            </a:r>
            <a:r>
              <a:rPr lang="en-US" altLang="ko-KR" sz="1000" b="1" dirty="0">
                <a:solidFill>
                  <a:srgbClr val="1F2328"/>
                </a:solidFill>
              </a:rPr>
              <a:t>: Hang </a:t>
            </a:r>
            <a:r>
              <a:rPr lang="en-US" altLang="ko-KR" sz="1000" b="1" dirty="0" err="1">
                <a:solidFill>
                  <a:srgbClr val="1F2328"/>
                </a:solidFill>
              </a:rPr>
              <a:t>Woon</a:t>
            </a:r>
            <a:r>
              <a:rPr lang="en-US" altLang="ko-KR" sz="1000" b="1" dirty="0">
                <a:solidFill>
                  <a:srgbClr val="1F2328"/>
                </a:solidFill>
              </a:rPr>
              <a:t> Lee, Seiichi Shimizu, Shoji Yoshikawa, and Koki Ho, “</a:t>
            </a:r>
            <a:r>
              <a:rPr lang="en-US" altLang="ko-KR" sz="1000" b="1" u="sng" dirty="0">
                <a:solidFill>
                  <a:srgbClr val="1F2328"/>
                </a:solidFill>
              </a:rPr>
              <a:t>Satellite Constellation Pattern Optimization for Complex Regional Coverage</a:t>
            </a:r>
            <a:r>
              <a:rPr lang="en-US" altLang="ko-KR" sz="1000" b="1" dirty="0">
                <a:solidFill>
                  <a:srgbClr val="1F2328"/>
                </a:solidFill>
              </a:rPr>
              <a:t>”, 2020 Journal of Spacecraft and Rockets 57:6, 1309-1327</a:t>
            </a:r>
          </a:p>
        </p:txBody>
      </p:sp>
    </p:spTree>
    <p:extLst>
      <p:ext uri="{BB962C8B-B14F-4D97-AF65-F5344CB8AC3E}">
        <p14:creationId xmlns:p14="http://schemas.microsoft.com/office/powerpoint/2010/main" val="3751194199"/>
      </p:ext>
    </p:extLst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63632D-F2DF-BCC3-73E2-B34BFF010C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97B05997-7547-9ABD-F35B-5962EF7BDD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altLang="ko-KR" dirty="0"/>
              <a:t>BILP method (Example 5)</a:t>
            </a:r>
          </a:p>
          <a:p>
            <a:pPr lvl="1">
              <a:defRPr/>
            </a:pPr>
            <a:r>
              <a:rPr lang="en-US" altLang="ko-KR" dirty="0"/>
              <a:t>Target 1 : Iceland</a:t>
            </a:r>
          </a:p>
          <a:p>
            <a:pPr lvl="1">
              <a:defRPr/>
            </a:pPr>
            <a:endParaRPr lang="en-US" altLang="ko-KR" dirty="0"/>
          </a:p>
          <a:p>
            <a:pPr lvl="1">
              <a:defRPr/>
            </a:pPr>
            <a:endParaRPr lang="en-US" altLang="ko-KR" dirty="0"/>
          </a:p>
          <a:p>
            <a:pPr lvl="1">
              <a:defRPr/>
            </a:pPr>
            <a:endParaRPr lang="en-US" altLang="ko-KR" dirty="0"/>
          </a:p>
          <a:p>
            <a:pPr lvl="1">
              <a:defRPr/>
            </a:pPr>
            <a:endParaRPr lang="en-US" altLang="ko-KR" dirty="0"/>
          </a:p>
          <a:p>
            <a:pPr lvl="1">
              <a:defRPr/>
            </a:pPr>
            <a:endParaRPr lang="en-US" altLang="ko-KR" dirty="0"/>
          </a:p>
          <a:p>
            <a:pPr lvl="1">
              <a:defRPr/>
            </a:pPr>
            <a:endParaRPr lang="en-US" altLang="ko-KR" dirty="0"/>
          </a:p>
          <a:p>
            <a:pPr lvl="1">
              <a:defRPr/>
            </a:pPr>
            <a:endParaRPr lang="en-US" altLang="ko-KR" dirty="0"/>
          </a:p>
          <a:p>
            <a:pPr lvl="1">
              <a:defRPr/>
            </a:pPr>
            <a:endParaRPr lang="en-US" altLang="ko-KR" dirty="0"/>
          </a:p>
          <a:p>
            <a:pPr lvl="1">
              <a:defRPr/>
            </a:pPr>
            <a:endParaRPr lang="en-US" altLang="ko-KR" dirty="0"/>
          </a:p>
          <a:p>
            <a:pPr lvl="1">
              <a:defRPr/>
            </a:pPr>
            <a:endParaRPr lang="en-US" altLang="ko-KR" dirty="0"/>
          </a:p>
          <a:p>
            <a:pPr lvl="1">
              <a:defRPr/>
            </a:pPr>
            <a:r>
              <a:rPr lang="ko-KR" altLang="en-US" dirty="0"/>
              <a:t>하나의 궤도만을 운용했을 때 필요한 최소 위성 수</a:t>
            </a:r>
            <a:endParaRPr lang="en-US" altLang="ko-KR" dirty="0"/>
          </a:p>
          <a:p>
            <a:pPr lvl="2">
              <a:defRPr/>
            </a:pPr>
            <a:r>
              <a:rPr lang="ko-KR" altLang="en-US" dirty="0"/>
              <a:t>저궤도</a:t>
            </a:r>
            <a:r>
              <a:rPr lang="en-US" altLang="ko-KR" dirty="0"/>
              <a:t>(4149.2km) : 9</a:t>
            </a:r>
            <a:r>
              <a:rPr lang="ko-KR" altLang="en-US" dirty="0"/>
              <a:t>대</a:t>
            </a:r>
            <a:endParaRPr lang="en-US" altLang="ko-KR" dirty="0"/>
          </a:p>
          <a:p>
            <a:pPr lvl="2">
              <a:defRPr/>
            </a:pPr>
            <a:r>
              <a:rPr lang="ko-KR" altLang="en-US" dirty="0" err="1"/>
              <a:t>고궤도</a:t>
            </a:r>
            <a:r>
              <a:rPr lang="en-US" altLang="ko-KR" dirty="0"/>
              <a:t>(6380.3km) : 11</a:t>
            </a:r>
            <a:r>
              <a:rPr lang="ko-KR" altLang="en-US" dirty="0"/>
              <a:t>대</a:t>
            </a:r>
            <a:endParaRPr lang="en-US" altLang="ko-KR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7E768EBD-FBEE-9DE6-4A81-EF1BBB1BB4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8</a:t>
            </a:fld>
            <a:endParaRPr lang="en-US" altLang="en-US" dirty="0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351277D2-289D-32E3-E4FE-72BB42C647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dirty="0"/>
              <a:t>BILP method </a:t>
            </a:r>
            <a:r>
              <a:rPr lang="ko-KR" altLang="en-US" dirty="0"/>
              <a:t>참고문헌 예시 검증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B674CF3-FFB7-20D5-5179-2C40543E9830}"/>
              </a:ext>
            </a:extLst>
          </p:cNvPr>
          <p:cNvSpPr txBox="1"/>
          <p:nvPr/>
        </p:nvSpPr>
        <p:spPr>
          <a:xfrm>
            <a:off x="884057" y="4665037"/>
            <a:ext cx="292395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2">
              <a:defRPr/>
            </a:pPr>
            <a:r>
              <a:rPr lang="ko-KR" altLang="en-US" sz="1400" dirty="0"/>
              <a:t>저궤도만 운용</a:t>
            </a:r>
            <a:endParaRPr lang="en-US" altLang="ko-KR" sz="14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5634780-EAE4-3DC6-3EBF-F7A7995CA96B}"/>
              </a:ext>
            </a:extLst>
          </p:cNvPr>
          <p:cNvSpPr txBox="1"/>
          <p:nvPr/>
        </p:nvSpPr>
        <p:spPr>
          <a:xfrm>
            <a:off x="4938815" y="4614524"/>
            <a:ext cx="292395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2">
              <a:defRPr/>
            </a:pPr>
            <a:r>
              <a:rPr lang="ko-KR" altLang="en-US" sz="1400" dirty="0"/>
              <a:t>고궤도만 운용</a:t>
            </a:r>
            <a:endParaRPr lang="en-US" altLang="ko-KR" sz="1400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6772AFA5-AE03-1FB8-C194-5C986AA572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517" y="1634427"/>
            <a:ext cx="4254853" cy="3191141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B9078E87-45F0-062B-54FA-B551BBE1DE4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32245" y="1636918"/>
            <a:ext cx="4240098" cy="31800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7258410"/>
      </p:ext>
    </p:extLst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63632D-F2DF-BCC3-73E2-B34BFF010C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>
            <a:extLst>
              <a:ext uri="{FF2B5EF4-FFF2-40B4-BE49-F238E27FC236}">
                <a16:creationId xmlns:a16="http://schemas.microsoft.com/office/drawing/2014/main" id="{8E035386-B713-3B67-07F8-8854D47DFB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14773" y="1630714"/>
            <a:ext cx="4254854" cy="3191141"/>
          </a:xfrm>
          <a:prstGeom prst="rect">
            <a:avLst/>
          </a:prstGeom>
        </p:spPr>
      </p:pic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97B05997-7547-9ABD-F35B-5962EF7BDD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altLang="ko-KR" dirty="0"/>
              <a:t>BILP method (Example 5)</a:t>
            </a:r>
          </a:p>
          <a:p>
            <a:pPr lvl="1">
              <a:defRPr/>
            </a:pPr>
            <a:r>
              <a:rPr lang="en-US" altLang="ko-KR" dirty="0"/>
              <a:t>Target 2 : India</a:t>
            </a:r>
          </a:p>
          <a:p>
            <a:pPr lvl="1">
              <a:defRPr/>
            </a:pPr>
            <a:endParaRPr lang="en-US" altLang="ko-KR" dirty="0"/>
          </a:p>
          <a:p>
            <a:pPr lvl="1">
              <a:defRPr/>
            </a:pPr>
            <a:endParaRPr lang="en-US" altLang="ko-KR" dirty="0"/>
          </a:p>
          <a:p>
            <a:pPr lvl="1">
              <a:defRPr/>
            </a:pPr>
            <a:endParaRPr lang="en-US" altLang="ko-KR" dirty="0"/>
          </a:p>
          <a:p>
            <a:pPr lvl="1">
              <a:defRPr/>
            </a:pPr>
            <a:endParaRPr lang="en-US" altLang="ko-KR" dirty="0"/>
          </a:p>
          <a:p>
            <a:pPr lvl="1">
              <a:defRPr/>
            </a:pPr>
            <a:endParaRPr lang="en-US" altLang="ko-KR" dirty="0"/>
          </a:p>
          <a:p>
            <a:pPr lvl="1">
              <a:defRPr/>
            </a:pPr>
            <a:endParaRPr lang="en-US" altLang="ko-KR" dirty="0"/>
          </a:p>
          <a:p>
            <a:pPr lvl="1">
              <a:defRPr/>
            </a:pPr>
            <a:endParaRPr lang="en-US" altLang="ko-KR" dirty="0"/>
          </a:p>
          <a:p>
            <a:pPr lvl="1">
              <a:defRPr/>
            </a:pPr>
            <a:endParaRPr lang="en-US" altLang="ko-KR" dirty="0"/>
          </a:p>
          <a:p>
            <a:pPr lvl="1">
              <a:defRPr/>
            </a:pPr>
            <a:endParaRPr lang="en-US" altLang="ko-KR" dirty="0"/>
          </a:p>
          <a:p>
            <a:pPr lvl="1">
              <a:defRPr/>
            </a:pPr>
            <a:endParaRPr lang="en-US" altLang="ko-KR" dirty="0"/>
          </a:p>
          <a:p>
            <a:pPr lvl="1">
              <a:defRPr/>
            </a:pPr>
            <a:r>
              <a:rPr lang="ko-KR" altLang="en-US" dirty="0"/>
              <a:t>하나의 궤도만을 운용했을 때 필요한 최소 위성 수</a:t>
            </a:r>
            <a:endParaRPr lang="en-US" altLang="ko-KR" dirty="0"/>
          </a:p>
          <a:p>
            <a:pPr lvl="2">
              <a:defRPr/>
            </a:pPr>
            <a:r>
              <a:rPr lang="ko-KR" altLang="en-US" dirty="0"/>
              <a:t>저궤도</a:t>
            </a:r>
            <a:r>
              <a:rPr lang="en-US" altLang="ko-KR" dirty="0"/>
              <a:t>(4149.2km) : 11</a:t>
            </a:r>
            <a:r>
              <a:rPr lang="ko-KR" altLang="en-US" dirty="0"/>
              <a:t>대</a:t>
            </a:r>
            <a:endParaRPr lang="en-US" altLang="ko-KR" dirty="0"/>
          </a:p>
          <a:p>
            <a:pPr lvl="2">
              <a:defRPr/>
            </a:pPr>
            <a:r>
              <a:rPr lang="ko-KR" altLang="en-US" dirty="0" err="1"/>
              <a:t>고궤도</a:t>
            </a:r>
            <a:r>
              <a:rPr lang="en-US" altLang="ko-KR" dirty="0"/>
              <a:t>(6380.3km) : 8</a:t>
            </a:r>
            <a:r>
              <a:rPr lang="ko-KR" altLang="en-US" dirty="0"/>
              <a:t>대</a:t>
            </a:r>
            <a:endParaRPr lang="en-US" altLang="ko-KR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94CC8543-4B4E-AC72-5643-A25EFCA0187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4517" y="1630714"/>
            <a:ext cx="4254855" cy="3191141"/>
          </a:xfrm>
          <a:prstGeom prst="rect">
            <a:avLst/>
          </a:prstGeom>
        </p:spPr>
      </p:pic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7E768EBD-FBEE-9DE6-4A81-EF1BBB1BB4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9</a:t>
            </a:fld>
            <a:endParaRPr lang="en-US" altLang="en-US" dirty="0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351277D2-289D-32E3-E4FE-72BB42C647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dirty="0"/>
              <a:t>BILP method </a:t>
            </a:r>
            <a:r>
              <a:rPr lang="ko-KR" altLang="en-US" dirty="0"/>
              <a:t>참고문헌 예시 검증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B674CF3-FFB7-20D5-5179-2C40543E9830}"/>
              </a:ext>
            </a:extLst>
          </p:cNvPr>
          <p:cNvSpPr txBox="1"/>
          <p:nvPr/>
        </p:nvSpPr>
        <p:spPr>
          <a:xfrm>
            <a:off x="884057" y="4665037"/>
            <a:ext cx="292395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2">
              <a:defRPr/>
            </a:pPr>
            <a:r>
              <a:rPr lang="ko-KR" altLang="en-US" sz="1400" dirty="0"/>
              <a:t>저궤도만 운용</a:t>
            </a:r>
            <a:endParaRPr lang="en-US" altLang="ko-KR" sz="14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5634780-EAE4-3DC6-3EBF-F7A7995CA96B}"/>
              </a:ext>
            </a:extLst>
          </p:cNvPr>
          <p:cNvSpPr txBox="1"/>
          <p:nvPr/>
        </p:nvSpPr>
        <p:spPr>
          <a:xfrm>
            <a:off x="4938815" y="4614524"/>
            <a:ext cx="292395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2">
              <a:defRPr/>
            </a:pPr>
            <a:r>
              <a:rPr lang="ko-KR" altLang="en-US" sz="1400" dirty="0"/>
              <a:t>고궤도만 운용</a:t>
            </a:r>
            <a:endParaRPr lang="en-US" altLang="ko-KR" sz="1400" dirty="0"/>
          </a:p>
        </p:txBody>
      </p:sp>
    </p:spTree>
    <p:extLst>
      <p:ext uri="{BB962C8B-B14F-4D97-AF65-F5344CB8AC3E}">
        <p14:creationId xmlns:p14="http://schemas.microsoft.com/office/powerpoint/2010/main" val="2836536467"/>
      </p:ext>
    </p:extLst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013449-E00A-9418-0D24-B39365CD06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E4F5CFCB-22D4-F8EB-81A4-3D1389305E3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pPr marL="0" marR="0" lvl="0" indent="0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40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Example 5 </a:t>
            </a:r>
            <a:r>
              <a:rPr lang="ko-KR" altLang="en-US" sz="40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국내 및 </a:t>
            </a:r>
            <a:br>
              <a:rPr lang="en-US" altLang="ko-KR" sz="40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</a:br>
            <a:r>
              <a:rPr lang="ko-KR" altLang="en-US" sz="40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인근지역 </a:t>
            </a:r>
            <a:r>
              <a:rPr lang="ko-KR" altLang="en-US" sz="4000" b="1" dirty="0" err="1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지상국</a:t>
            </a:r>
            <a:r>
              <a:rPr lang="ko-KR" altLang="en-US" sz="40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 설정</a:t>
            </a:r>
          </a:p>
        </p:txBody>
      </p:sp>
    </p:spTree>
    <p:extLst>
      <p:ext uri="{BB962C8B-B14F-4D97-AF65-F5344CB8AC3E}">
        <p14:creationId xmlns:p14="http://schemas.microsoft.com/office/powerpoint/2010/main" val="11765000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63632D-F2DF-BCC3-73E2-B34BFF010C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97B05997-7547-9ABD-F35B-5962EF7BDD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altLang="ko-KR" dirty="0"/>
              <a:t>BILP method (Example 5)</a:t>
            </a:r>
          </a:p>
          <a:p>
            <a:pPr lvl="1">
              <a:defRPr/>
            </a:pPr>
            <a:r>
              <a:rPr lang="en-US" altLang="ko-KR" dirty="0"/>
              <a:t>Target 1 : </a:t>
            </a:r>
            <a:r>
              <a:rPr lang="ko-KR" altLang="en-US" dirty="0"/>
              <a:t>서울</a:t>
            </a:r>
            <a:endParaRPr lang="en-US" altLang="ko-KR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7E768EBD-FBEE-9DE6-4A81-EF1BBB1BB4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11</a:t>
            </a:fld>
            <a:endParaRPr lang="en-US" altLang="en-US" dirty="0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351277D2-289D-32E3-E4FE-72BB42C647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 dirty="0"/>
              <a:t>국내 </a:t>
            </a:r>
            <a:r>
              <a:rPr lang="ko-KR" altLang="en-US" dirty="0" err="1"/>
              <a:t>지상국</a:t>
            </a:r>
            <a:r>
              <a:rPr lang="ko-KR" altLang="en-US" dirty="0"/>
              <a:t> 설정</a:t>
            </a:r>
          </a:p>
        </p:txBody>
      </p:sp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44C6BEAC-F017-11C7-A996-3251772F78D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80259362"/>
              </p:ext>
            </p:extLst>
          </p:nvPr>
        </p:nvGraphicFramePr>
        <p:xfrm>
          <a:off x="100830" y="1778562"/>
          <a:ext cx="8942340" cy="1503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768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54380">
                  <a:extLst>
                    <a:ext uri="{9D8B030D-6E8A-4147-A177-3AD203B41FA5}">
                      <a16:colId xmlns:a16="http://schemas.microsoft.com/office/drawing/2014/main" val="2911612099"/>
                    </a:ext>
                  </a:extLst>
                </a:gridCol>
                <a:gridCol w="938339">
                  <a:extLst>
                    <a:ext uri="{9D8B030D-6E8A-4147-A177-3AD203B41FA5}">
                      <a16:colId xmlns:a16="http://schemas.microsoft.com/office/drawing/2014/main" val="2059915843"/>
                    </a:ext>
                  </a:extLst>
                </a:gridCol>
                <a:gridCol w="906589">
                  <a:extLst>
                    <a:ext uri="{9D8B030D-6E8A-4147-A177-3AD203B41FA5}">
                      <a16:colId xmlns:a16="http://schemas.microsoft.com/office/drawing/2014/main" val="611402567"/>
                    </a:ext>
                  </a:extLst>
                </a:gridCol>
                <a:gridCol w="1300480">
                  <a:extLst>
                    <a:ext uri="{9D8B030D-6E8A-4147-A177-3AD203B41FA5}">
                      <a16:colId xmlns:a16="http://schemas.microsoft.com/office/drawing/2014/main" val="3785796257"/>
                    </a:ext>
                  </a:extLst>
                </a:gridCol>
                <a:gridCol w="449580">
                  <a:extLst>
                    <a:ext uri="{9D8B030D-6E8A-4147-A177-3AD203B41FA5}">
                      <a16:colId xmlns:a16="http://schemas.microsoft.com/office/drawing/2014/main" val="2884593093"/>
                    </a:ext>
                  </a:extLst>
                </a:gridCol>
                <a:gridCol w="998791">
                  <a:extLst>
                    <a:ext uri="{9D8B030D-6E8A-4147-A177-3AD203B41FA5}">
                      <a16:colId xmlns:a16="http://schemas.microsoft.com/office/drawing/2014/main" val="1036709000"/>
                    </a:ext>
                  </a:extLst>
                </a:gridCol>
                <a:gridCol w="1017351">
                  <a:extLst>
                    <a:ext uri="{9D8B030D-6E8A-4147-A177-3AD203B41FA5}">
                      <a16:colId xmlns:a16="http://schemas.microsoft.com/office/drawing/2014/main" val="14929076"/>
                    </a:ext>
                  </a:extLst>
                </a:gridCol>
              </a:tblGrid>
              <a:tr h="0">
                <a:tc rowSpan="2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 err="1"/>
                        <a:t>AoI</a:t>
                      </a:r>
                      <a:r>
                        <a:rPr lang="en-US" altLang="ko-KR" sz="1400" dirty="0"/>
                        <a:t> &amp; Time </a:t>
                      </a:r>
                    </a:p>
                    <a:p>
                      <a:pPr algn="ctr" latinLnBrk="1">
                        <a:defRPr/>
                      </a:pPr>
                      <a:endParaRPr lang="en-US" altLang="ko-KR" sz="1400" dirty="0"/>
                    </a:p>
                    <a:p>
                      <a:pPr algn="ctr" latinLnBrk="1">
                        <a:defRPr/>
                      </a:pPr>
                      <a:r>
                        <a:rPr lang="en-US" altLang="ko-KR" sz="1400" dirty="0"/>
                        <a:t>Seed Satellite OE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1400" dirty="0"/>
                        <a:t>𝜀</a:t>
                      </a:r>
                      <a:r>
                        <a:rPr lang="en-US" altLang="ko-KR" sz="1400" dirty="0"/>
                        <a:t>(min)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/>
                        <a:t>Target </a:t>
                      </a:r>
                      <a:r>
                        <a:rPr lang="ko-KR" altLang="en-US" sz="1400" dirty="0"/>
                        <a:t>𝜙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/>
                        <a:t>Target </a:t>
                      </a: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λ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Coverage Req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L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Time Step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Epoch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10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37.57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N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127</a:t>
                      </a:r>
                      <a:r>
                        <a:rPr lang="en-US" altLang="ko-KR" sz="1200" dirty="0"/>
                        <a:t>°E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1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720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120s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ysClr val="windowText" lastClr="00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24.01.01</a:t>
                      </a:r>
                    </a:p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ysClr val="windowText" lastClr="00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00:00:00</a:t>
                      </a:r>
                      <a:endParaRPr lang="ko-KR" altLang="en-US" sz="1200" dirty="0">
                        <a:solidFill>
                          <a:sysClr val="windowText" lastClr="000000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/>
                        <a:t>[</a:t>
                      </a:r>
                      <a:r>
                        <a:rPr lang="en-US" altLang="ko-KR" sz="1200" b="0" dirty="0"/>
                        <a:t>10527.34km</a:t>
                      </a:r>
                      <a:r>
                        <a:rPr lang="en-US" altLang="ko-KR" sz="1200" dirty="0"/>
                        <a:t>, 0, 70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, 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, 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, 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]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7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n = [0  134  62  214]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791282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/>
                        <a:t>[</a:t>
                      </a:r>
                      <a:r>
                        <a:rPr lang="en-US" altLang="ko-KR" sz="1200" b="0" dirty="0"/>
                        <a:t>12758.44km</a:t>
                      </a:r>
                      <a:r>
                        <a:rPr lang="en-US" altLang="ko-KR" sz="1200" dirty="0"/>
                        <a:t>, 0, 47.915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, 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, 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, 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]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solidFill>
                      <a:schemeClr val="bg1"/>
                    </a:solidFill>
                  </a:tcPr>
                </a:tc>
                <a:tc gridSpan="7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n  = [512  297  600  679  209] 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69066936"/>
                  </a:ext>
                </a:extLst>
              </a:tr>
            </a:tbl>
          </a:graphicData>
        </a:graphic>
      </p:graphicFrame>
      <p:grpSp>
        <p:nvGrpSpPr>
          <p:cNvPr id="27" name="그룹 26">
            <a:extLst>
              <a:ext uri="{FF2B5EF4-FFF2-40B4-BE49-F238E27FC236}">
                <a16:creationId xmlns:a16="http://schemas.microsoft.com/office/drawing/2014/main" id="{5B38C6C2-1147-3394-FE90-FD2AB3183643}"/>
              </a:ext>
            </a:extLst>
          </p:cNvPr>
          <p:cNvGrpSpPr/>
          <p:nvPr/>
        </p:nvGrpSpPr>
        <p:grpSpPr>
          <a:xfrm>
            <a:off x="100830" y="1808252"/>
            <a:ext cx="2579012" cy="722150"/>
            <a:chOff x="100830" y="1808252"/>
            <a:chExt cx="2579012" cy="722150"/>
          </a:xfrm>
        </p:grpSpPr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3E9126ED-5B8D-3999-B929-CC2C558CA33B}"/>
                </a:ext>
              </a:extLst>
            </p:cNvPr>
            <p:cNvCxnSpPr>
              <a:cxnSpLocks/>
            </p:cNvCxnSpPr>
            <p:nvPr/>
          </p:nvCxnSpPr>
          <p:spPr>
            <a:xfrm>
              <a:off x="100830" y="1808252"/>
              <a:ext cx="443700" cy="339047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2CE1C36C-B309-344F-5EB8-41B564C3574E}"/>
                </a:ext>
              </a:extLst>
            </p:cNvPr>
            <p:cNvCxnSpPr>
              <a:cxnSpLocks/>
            </p:cNvCxnSpPr>
            <p:nvPr/>
          </p:nvCxnSpPr>
          <p:spPr>
            <a:xfrm>
              <a:off x="544530" y="2147299"/>
              <a:ext cx="1691612" cy="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C6E87280-80D2-31AE-F945-F30F405CE714}"/>
                </a:ext>
              </a:extLst>
            </p:cNvPr>
            <p:cNvCxnSpPr>
              <a:cxnSpLocks/>
            </p:cNvCxnSpPr>
            <p:nvPr/>
          </p:nvCxnSpPr>
          <p:spPr>
            <a:xfrm>
              <a:off x="2236142" y="2147299"/>
              <a:ext cx="443700" cy="383103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9" name="그룹 28">
            <a:extLst>
              <a:ext uri="{FF2B5EF4-FFF2-40B4-BE49-F238E27FC236}">
                <a16:creationId xmlns:a16="http://schemas.microsoft.com/office/drawing/2014/main" id="{5161C457-3133-6EBE-6607-25D9D7C7A8C3}"/>
              </a:ext>
            </a:extLst>
          </p:cNvPr>
          <p:cNvGrpSpPr/>
          <p:nvPr/>
        </p:nvGrpSpPr>
        <p:grpSpPr>
          <a:xfrm>
            <a:off x="100830" y="3851097"/>
            <a:ext cx="2579012" cy="722150"/>
            <a:chOff x="100830" y="1808252"/>
            <a:chExt cx="2579012" cy="722150"/>
          </a:xfrm>
        </p:grpSpPr>
        <p:cxnSp>
          <p:nvCxnSpPr>
            <p:cNvPr id="30" name="직선 연결선 29">
              <a:extLst>
                <a:ext uri="{FF2B5EF4-FFF2-40B4-BE49-F238E27FC236}">
                  <a16:creationId xmlns:a16="http://schemas.microsoft.com/office/drawing/2014/main" id="{2A2E0D5A-EE7E-D544-2474-69BBE2A33B73}"/>
                </a:ext>
              </a:extLst>
            </p:cNvPr>
            <p:cNvCxnSpPr>
              <a:cxnSpLocks/>
            </p:cNvCxnSpPr>
            <p:nvPr/>
          </p:nvCxnSpPr>
          <p:spPr>
            <a:xfrm>
              <a:off x="100830" y="1808252"/>
              <a:ext cx="443700" cy="339047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D2414B05-3FBD-94DE-58BB-877D73190AC7}"/>
                </a:ext>
              </a:extLst>
            </p:cNvPr>
            <p:cNvCxnSpPr>
              <a:cxnSpLocks/>
            </p:cNvCxnSpPr>
            <p:nvPr/>
          </p:nvCxnSpPr>
          <p:spPr>
            <a:xfrm>
              <a:off x="544530" y="2147299"/>
              <a:ext cx="1691612" cy="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>
              <a:extLst>
                <a:ext uri="{FF2B5EF4-FFF2-40B4-BE49-F238E27FC236}">
                  <a16:creationId xmlns:a16="http://schemas.microsoft.com/office/drawing/2014/main" id="{5CA61DB7-013A-5D39-87FD-7DD6335A5EF3}"/>
                </a:ext>
              </a:extLst>
            </p:cNvPr>
            <p:cNvCxnSpPr>
              <a:cxnSpLocks/>
            </p:cNvCxnSpPr>
            <p:nvPr/>
          </p:nvCxnSpPr>
          <p:spPr>
            <a:xfrm>
              <a:off x="2236142" y="2147299"/>
              <a:ext cx="443700" cy="383103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3" name="그림 2">
            <a:extLst>
              <a:ext uri="{FF2B5EF4-FFF2-40B4-BE49-F238E27FC236}">
                <a16:creationId xmlns:a16="http://schemas.microsoft.com/office/drawing/2014/main" id="{86F6D679-A035-5284-C0ED-3AD5A88BFB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429001"/>
            <a:ext cx="3224371" cy="2418278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41FF0ED8-6773-F5F3-3005-B28F19A752A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72454" y="3429000"/>
            <a:ext cx="3239789" cy="2429842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4AE27C08-B852-A6B0-989D-D8BDE100A88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14065" y="3406867"/>
            <a:ext cx="3224371" cy="2418278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6F8BDA07-BEC2-7DB9-3067-36AE9D85FA6D}"/>
              </a:ext>
            </a:extLst>
          </p:cNvPr>
          <p:cNvSpPr txBox="1"/>
          <p:nvPr/>
        </p:nvSpPr>
        <p:spPr>
          <a:xfrm>
            <a:off x="28913" y="5701519"/>
            <a:ext cx="262010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2">
              <a:defRPr/>
            </a:pPr>
            <a:r>
              <a:rPr lang="ko-KR" altLang="en-US" sz="1400" dirty="0"/>
              <a:t>저궤도 운용</a:t>
            </a:r>
            <a:r>
              <a:rPr lang="en-US" altLang="ko-KR" sz="1400" dirty="0"/>
              <a:t>(4</a:t>
            </a:r>
            <a:r>
              <a:rPr lang="ko-KR" altLang="en-US" sz="1400" dirty="0"/>
              <a:t>대</a:t>
            </a:r>
            <a:r>
              <a:rPr lang="en-US" altLang="ko-KR" sz="1400" dirty="0"/>
              <a:t>)</a:t>
            </a:r>
          </a:p>
          <a:p>
            <a:pPr lvl="2">
              <a:defRPr/>
            </a:pPr>
            <a:r>
              <a:rPr lang="en-US" altLang="ko-KR" sz="1400" dirty="0"/>
              <a:t>Coverage : 66%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273DB7A-FCE4-9C7D-3812-7C8365EE3589}"/>
              </a:ext>
            </a:extLst>
          </p:cNvPr>
          <p:cNvSpPr txBox="1"/>
          <p:nvPr/>
        </p:nvSpPr>
        <p:spPr>
          <a:xfrm>
            <a:off x="3044373" y="5701519"/>
            <a:ext cx="262010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2">
              <a:defRPr/>
            </a:pPr>
            <a:r>
              <a:rPr lang="ko-KR" altLang="en-US" sz="1400" dirty="0" err="1"/>
              <a:t>고궤도</a:t>
            </a:r>
            <a:r>
              <a:rPr lang="ko-KR" altLang="en-US" sz="1400" dirty="0"/>
              <a:t> 운용</a:t>
            </a:r>
            <a:r>
              <a:rPr lang="en-US" altLang="ko-KR" sz="1400" dirty="0"/>
              <a:t>(5</a:t>
            </a:r>
            <a:r>
              <a:rPr lang="ko-KR" altLang="en-US" sz="1400" dirty="0"/>
              <a:t>대</a:t>
            </a:r>
            <a:r>
              <a:rPr lang="en-US" altLang="ko-KR" sz="1400" dirty="0"/>
              <a:t>)</a:t>
            </a:r>
          </a:p>
          <a:p>
            <a:pPr lvl="2">
              <a:defRPr/>
            </a:pPr>
            <a:r>
              <a:rPr lang="en-US" altLang="ko-KR" sz="1400" dirty="0"/>
              <a:t>Coverage : 84%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A43379E-4F6B-883B-1090-F8F0C5489049}"/>
              </a:ext>
            </a:extLst>
          </p:cNvPr>
          <p:cNvSpPr txBox="1"/>
          <p:nvPr/>
        </p:nvSpPr>
        <p:spPr>
          <a:xfrm>
            <a:off x="5890740" y="5689403"/>
            <a:ext cx="290238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2">
              <a:defRPr/>
            </a:pPr>
            <a:r>
              <a:rPr lang="ko-KR" altLang="en-US" sz="1400" dirty="0"/>
              <a:t>혼합하여 운용</a:t>
            </a:r>
            <a:r>
              <a:rPr lang="en-US" altLang="ko-KR" sz="1400" dirty="0"/>
              <a:t>(9</a:t>
            </a:r>
            <a:r>
              <a:rPr lang="ko-KR" altLang="en-US" sz="1400" dirty="0"/>
              <a:t>대</a:t>
            </a:r>
            <a:r>
              <a:rPr lang="en-US" altLang="ko-KR" sz="1400" dirty="0"/>
              <a:t>)</a:t>
            </a:r>
          </a:p>
          <a:p>
            <a:pPr lvl="2">
              <a:defRPr/>
            </a:pPr>
            <a:r>
              <a:rPr lang="en-US" altLang="ko-KR" sz="1400" dirty="0"/>
              <a:t>Coverage : 100%</a:t>
            </a:r>
          </a:p>
        </p:txBody>
      </p:sp>
    </p:spTree>
    <p:extLst>
      <p:ext uri="{BB962C8B-B14F-4D97-AF65-F5344CB8AC3E}">
        <p14:creationId xmlns:p14="http://schemas.microsoft.com/office/powerpoint/2010/main" val="3215966454"/>
      </p:ext>
    </p:extLst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63632D-F2DF-BCC3-73E2-B34BFF010C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97B05997-7547-9ABD-F35B-5962EF7BDD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altLang="ko-KR" dirty="0"/>
              <a:t>BILP method (Example 5)</a:t>
            </a:r>
          </a:p>
          <a:p>
            <a:pPr lvl="1">
              <a:defRPr/>
            </a:pPr>
            <a:r>
              <a:rPr lang="en-US" altLang="ko-KR" dirty="0"/>
              <a:t>Target 2 </a:t>
            </a:r>
            <a:r>
              <a:rPr lang="ko-KR" altLang="en-US" dirty="0"/>
              <a:t>선정</a:t>
            </a:r>
            <a:endParaRPr lang="en-US" altLang="ko-KR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7E768EBD-FBEE-9DE6-4A81-EF1BBB1BB4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12</a:t>
            </a:fld>
            <a:endParaRPr lang="en-US" altLang="en-US" dirty="0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351277D2-289D-32E3-E4FE-72BB42C647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 dirty="0"/>
              <a:t>인근지역 </a:t>
            </a:r>
            <a:r>
              <a:rPr lang="ko-KR" altLang="en-US" dirty="0" err="1"/>
              <a:t>지상국</a:t>
            </a:r>
            <a:r>
              <a:rPr lang="ko-KR" altLang="en-US" dirty="0"/>
              <a:t> 설정</a:t>
            </a:r>
          </a:p>
        </p:txBody>
      </p:sp>
      <p:grpSp>
        <p:nvGrpSpPr>
          <p:cNvPr id="27" name="그룹 26">
            <a:extLst>
              <a:ext uri="{FF2B5EF4-FFF2-40B4-BE49-F238E27FC236}">
                <a16:creationId xmlns:a16="http://schemas.microsoft.com/office/drawing/2014/main" id="{5B38C6C2-1147-3394-FE90-FD2AB3183643}"/>
              </a:ext>
            </a:extLst>
          </p:cNvPr>
          <p:cNvGrpSpPr/>
          <p:nvPr/>
        </p:nvGrpSpPr>
        <p:grpSpPr>
          <a:xfrm>
            <a:off x="100830" y="1808252"/>
            <a:ext cx="2579012" cy="722150"/>
            <a:chOff x="100830" y="1808252"/>
            <a:chExt cx="2579012" cy="722150"/>
          </a:xfrm>
        </p:grpSpPr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3E9126ED-5B8D-3999-B929-CC2C558CA33B}"/>
                </a:ext>
              </a:extLst>
            </p:cNvPr>
            <p:cNvCxnSpPr>
              <a:cxnSpLocks/>
            </p:cNvCxnSpPr>
            <p:nvPr/>
          </p:nvCxnSpPr>
          <p:spPr>
            <a:xfrm>
              <a:off x="100830" y="1808252"/>
              <a:ext cx="443700" cy="339047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2CE1C36C-B309-344F-5EB8-41B564C3574E}"/>
                </a:ext>
              </a:extLst>
            </p:cNvPr>
            <p:cNvCxnSpPr>
              <a:cxnSpLocks/>
            </p:cNvCxnSpPr>
            <p:nvPr/>
          </p:nvCxnSpPr>
          <p:spPr>
            <a:xfrm>
              <a:off x="544530" y="2147299"/>
              <a:ext cx="1691612" cy="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C6E87280-80D2-31AE-F945-F30F405CE714}"/>
                </a:ext>
              </a:extLst>
            </p:cNvPr>
            <p:cNvCxnSpPr>
              <a:cxnSpLocks/>
            </p:cNvCxnSpPr>
            <p:nvPr/>
          </p:nvCxnSpPr>
          <p:spPr>
            <a:xfrm>
              <a:off x="2236142" y="2147299"/>
              <a:ext cx="443700" cy="383103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9" name="그룹 28">
            <a:extLst>
              <a:ext uri="{FF2B5EF4-FFF2-40B4-BE49-F238E27FC236}">
                <a16:creationId xmlns:a16="http://schemas.microsoft.com/office/drawing/2014/main" id="{5161C457-3133-6EBE-6607-25D9D7C7A8C3}"/>
              </a:ext>
            </a:extLst>
          </p:cNvPr>
          <p:cNvGrpSpPr/>
          <p:nvPr/>
        </p:nvGrpSpPr>
        <p:grpSpPr>
          <a:xfrm>
            <a:off x="100830" y="3851097"/>
            <a:ext cx="2579012" cy="722150"/>
            <a:chOff x="100830" y="1808252"/>
            <a:chExt cx="2579012" cy="722150"/>
          </a:xfrm>
        </p:grpSpPr>
        <p:cxnSp>
          <p:nvCxnSpPr>
            <p:cNvPr id="30" name="직선 연결선 29">
              <a:extLst>
                <a:ext uri="{FF2B5EF4-FFF2-40B4-BE49-F238E27FC236}">
                  <a16:creationId xmlns:a16="http://schemas.microsoft.com/office/drawing/2014/main" id="{2A2E0D5A-EE7E-D544-2474-69BBE2A33B73}"/>
                </a:ext>
              </a:extLst>
            </p:cNvPr>
            <p:cNvCxnSpPr>
              <a:cxnSpLocks/>
            </p:cNvCxnSpPr>
            <p:nvPr/>
          </p:nvCxnSpPr>
          <p:spPr>
            <a:xfrm>
              <a:off x="100830" y="1808252"/>
              <a:ext cx="443700" cy="339047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D2414B05-3FBD-94DE-58BB-877D73190AC7}"/>
                </a:ext>
              </a:extLst>
            </p:cNvPr>
            <p:cNvCxnSpPr>
              <a:cxnSpLocks/>
            </p:cNvCxnSpPr>
            <p:nvPr/>
          </p:nvCxnSpPr>
          <p:spPr>
            <a:xfrm>
              <a:off x="544530" y="2147299"/>
              <a:ext cx="1691612" cy="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>
              <a:extLst>
                <a:ext uri="{FF2B5EF4-FFF2-40B4-BE49-F238E27FC236}">
                  <a16:creationId xmlns:a16="http://schemas.microsoft.com/office/drawing/2014/main" id="{5CA61DB7-013A-5D39-87FD-7DD6335A5EF3}"/>
                </a:ext>
              </a:extLst>
            </p:cNvPr>
            <p:cNvCxnSpPr>
              <a:cxnSpLocks/>
            </p:cNvCxnSpPr>
            <p:nvPr/>
          </p:nvCxnSpPr>
          <p:spPr>
            <a:xfrm>
              <a:off x="2236142" y="2147299"/>
              <a:ext cx="443700" cy="383103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0" name="그림 9">
            <a:extLst>
              <a:ext uri="{FF2B5EF4-FFF2-40B4-BE49-F238E27FC236}">
                <a16:creationId xmlns:a16="http://schemas.microsoft.com/office/drawing/2014/main" id="{E77FB777-02CA-052D-5353-FC22A561EA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3890" y="1682793"/>
            <a:ext cx="3728989" cy="4398790"/>
          </a:xfrm>
          <a:prstGeom prst="rect">
            <a:avLst/>
          </a:prstGeom>
        </p:spPr>
      </p:pic>
      <p:pic>
        <p:nvPicPr>
          <p:cNvPr id="17" name="그림 16">
            <a:extLst>
              <a:ext uri="{FF2B5EF4-FFF2-40B4-BE49-F238E27FC236}">
                <a16:creationId xmlns:a16="http://schemas.microsoft.com/office/drawing/2014/main" id="{C7C5E302-849A-F296-5DCE-222849308EF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55022" y="1682793"/>
            <a:ext cx="4389755" cy="3782015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AAFB686D-EC01-ABAC-2FAB-A8BDB41C599B}"/>
              </a:ext>
            </a:extLst>
          </p:cNvPr>
          <p:cNvSpPr txBox="1"/>
          <p:nvPr/>
        </p:nvSpPr>
        <p:spPr>
          <a:xfrm>
            <a:off x="-200345" y="6205578"/>
            <a:ext cx="905667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defRPr/>
            </a:pPr>
            <a:r>
              <a:rPr lang="ko-KR" altLang="en-US" sz="1000" b="1" dirty="0">
                <a:solidFill>
                  <a:srgbClr val="1F2328"/>
                </a:solidFill>
              </a:rPr>
              <a:t>출처 </a:t>
            </a:r>
            <a:r>
              <a:rPr lang="en-US" altLang="ko-KR" sz="1000" b="1" dirty="0">
                <a:solidFill>
                  <a:srgbClr val="1F2328"/>
                </a:solidFill>
              </a:rPr>
              <a:t>: </a:t>
            </a:r>
            <a:r>
              <a:rPr lang="ko-KR" altLang="en-US" sz="1000" b="1" dirty="0">
                <a:solidFill>
                  <a:srgbClr val="1F2328"/>
                </a:solidFill>
              </a:rPr>
              <a:t>신진영</a:t>
            </a:r>
            <a:r>
              <a:rPr lang="en-US" altLang="ko-KR" sz="1000" b="1" dirty="0">
                <a:solidFill>
                  <a:srgbClr val="1F2328"/>
                </a:solidFill>
              </a:rPr>
              <a:t>, </a:t>
            </a:r>
            <a:r>
              <a:rPr lang="ko-KR" altLang="en-US" sz="1000" b="1" dirty="0">
                <a:solidFill>
                  <a:srgbClr val="1F2328"/>
                </a:solidFill>
              </a:rPr>
              <a:t>지역 커버리지 초소형 </a:t>
            </a:r>
            <a:r>
              <a:rPr lang="ko-KR" altLang="en-US" sz="1000" b="1" dirty="0" err="1">
                <a:solidFill>
                  <a:srgbClr val="1F2328"/>
                </a:solidFill>
              </a:rPr>
              <a:t>위성군</a:t>
            </a:r>
            <a:r>
              <a:rPr lang="ko-KR" altLang="en-US" sz="1000" b="1" dirty="0">
                <a:solidFill>
                  <a:srgbClr val="1F2328"/>
                </a:solidFill>
              </a:rPr>
              <a:t> 궤도설계와 </a:t>
            </a:r>
            <a:r>
              <a:rPr lang="ko-KR" altLang="en-US" sz="1000" b="1" dirty="0" err="1">
                <a:solidFill>
                  <a:srgbClr val="1F2328"/>
                </a:solidFill>
              </a:rPr>
              <a:t>위성군</a:t>
            </a:r>
            <a:r>
              <a:rPr lang="ko-KR" altLang="en-US" sz="1000" b="1" dirty="0">
                <a:solidFill>
                  <a:srgbClr val="1F2328"/>
                </a:solidFill>
              </a:rPr>
              <a:t> 궤도 전개 연구</a:t>
            </a:r>
            <a:r>
              <a:rPr lang="en-US" altLang="ko-KR" sz="1000" b="1" dirty="0">
                <a:solidFill>
                  <a:srgbClr val="1F2328"/>
                </a:solidFill>
              </a:rPr>
              <a:t>, 2020</a:t>
            </a:r>
          </a:p>
        </p:txBody>
      </p:sp>
    </p:spTree>
    <p:extLst>
      <p:ext uri="{BB962C8B-B14F-4D97-AF65-F5344CB8AC3E}">
        <p14:creationId xmlns:p14="http://schemas.microsoft.com/office/powerpoint/2010/main" val="2602754652"/>
      </p:ext>
    </p:extLst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63632D-F2DF-BCC3-73E2-B34BFF010C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97B05997-7547-9ABD-F35B-5962EF7BDD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altLang="ko-KR" dirty="0"/>
              <a:t>BILP method (Example 5)</a:t>
            </a:r>
          </a:p>
          <a:p>
            <a:pPr lvl="1">
              <a:defRPr/>
            </a:pPr>
            <a:r>
              <a:rPr lang="en-US" altLang="ko-KR" dirty="0"/>
              <a:t>Target 2 </a:t>
            </a:r>
            <a:r>
              <a:rPr lang="ko-KR" altLang="en-US" dirty="0"/>
              <a:t>선정 </a:t>
            </a:r>
            <a:r>
              <a:rPr lang="en-US" altLang="ko-KR" dirty="0"/>
              <a:t>: example 1~2</a:t>
            </a:r>
            <a:r>
              <a:rPr lang="ko-KR" altLang="en-US" dirty="0"/>
              <a:t>의 관심지역 </a:t>
            </a:r>
            <a:r>
              <a:rPr lang="en-US" altLang="ko-KR" dirty="0"/>
              <a:t>(</a:t>
            </a:r>
            <a:r>
              <a:rPr lang="en-US" altLang="ko-KR" sz="1800" dirty="0">
                <a:latin typeface="Times New Roman"/>
                <a:ea typeface="+mn-ea"/>
                <a:cs typeface="Times New Roman"/>
              </a:rPr>
              <a:t>34.75</a:t>
            </a:r>
            <a:r>
              <a:rPr lang="ko-KR" altLang="en-US" sz="1800" dirty="0">
                <a:latin typeface="Times New Roman"/>
                <a:ea typeface="+mn-ea"/>
                <a:cs typeface="Times New Roman"/>
              </a:rPr>
              <a:t>˚</a:t>
            </a:r>
            <a:r>
              <a:rPr lang="en-US" altLang="ko-KR" sz="1800" dirty="0">
                <a:latin typeface="Times New Roman"/>
                <a:ea typeface="+mn-ea"/>
                <a:cs typeface="Times New Roman"/>
              </a:rPr>
              <a:t>N, </a:t>
            </a:r>
            <a:r>
              <a:rPr lang="en-US" altLang="ko-KR" sz="1800" dirty="0"/>
              <a:t>84.39°W</a:t>
            </a:r>
            <a:r>
              <a:rPr lang="en-US" altLang="ko-KR" dirty="0"/>
              <a:t>)</a:t>
            </a: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7E768EBD-FBEE-9DE6-4A81-EF1BBB1BB4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13</a:t>
            </a:fld>
            <a:endParaRPr lang="en-US" altLang="en-US" dirty="0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351277D2-289D-32E3-E4FE-72BB42C647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 dirty="0"/>
              <a:t>인근지역 </a:t>
            </a:r>
            <a:r>
              <a:rPr lang="ko-KR" altLang="en-US" dirty="0" err="1"/>
              <a:t>지상국</a:t>
            </a:r>
            <a:r>
              <a:rPr lang="ko-KR" altLang="en-US" dirty="0"/>
              <a:t> 설정</a:t>
            </a:r>
          </a:p>
        </p:txBody>
      </p:sp>
      <p:grpSp>
        <p:nvGrpSpPr>
          <p:cNvPr id="27" name="그룹 26">
            <a:extLst>
              <a:ext uri="{FF2B5EF4-FFF2-40B4-BE49-F238E27FC236}">
                <a16:creationId xmlns:a16="http://schemas.microsoft.com/office/drawing/2014/main" id="{5B38C6C2-1147-3394-FE90-FD2AB3183643}"/>
              </a:ext>
            </a:extLst>
          </p:cNvPr>
          <p:cNvGrpSpPr/>
          <p:nvPr/>
        </p:nvGrpSpPr>
        <p:grpSpPr>
          <a:xfrm>
            <a:off x="100830" y="1808252"/>
            <a:ext cx="2579012" cy="722150"/>
            <a:chOff x="100830" y="1808252"/>
            <a:chExt cx="2579012" cy="722150"/>
          </a:xfrm>
        </p:grpSpPr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3E9126ED-5B8D-3999-B929-CC2C558CA33B}"/>
                </a:ext>
              </a:extLst>
            </p:cNvPr>
            <p:cNvCxnSpPr>
              <a:cxnSpLocks/>
            </p:cNvCxnSpPr>
            <p:nvPr/>
          </p:nvCxnSpPr>
          <p:spPr>
            <a:xfrm>
              <a:off x="100830" y="1808252"/>
              <a:ext cx="443700" cy="339047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2CE1C36C-B309-344F-5EB8-41B564C3574E}"/>
                </a:ext>
              </a:extLst>
            </p:cNvPr>
            <p:cNvCxnSpPr>
              <a:cxnSpLocks/>
            </p:cNvCxnSpPr>
            <p:nvPr/>
          </p:nvCxnSpPr>
          <p:spPr>
            <a:xfrm>
              <a:off x="544530" y="2147299"/>
              <a:ext cx="1691612" cy="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C6E87280-80D2-31AE-F945-F30F405CE714}"/>
                </a:ext>
              </a:extLst>
            </p:cNvPr>
            <p:cNvCxnSpPr>
              <a:cxnSpLocks/>
            </p:cNvCxnSpPr>
            <p:nvPr/>
          </p:nvCxnSpPr>
          <p:spPr>
            <a:xfrm>
              <a:off x="2236142" y="2147299"/>
              <a:ext cx="443700" cy="383103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9" name="그룹 28">
            <a:extLst>
              <a:ext uri="{FF2B5EF4-FFF2-40B4-BE49-F238E27FC236}">
                <a16:creationId xmlns:a16="http://schemas.microsoft.com/office/drawing/2014/main" id="{5161C457-3133-6EBE-6607-25D9D7C7A8C3}"/>
              </a:ext>
            </a:extLst>
          </p:cNvPr>
          <p:cNvGrpSpPr/>
          <p:nvPr/>
        </p:nvGrpSpPr>
        <p:grpSpPr>
          <a:xfrm>
            <a:off x="100830" y="3851097"/>
            <a:ext cx="2579012" cy="722150"/>
            <a:chOff x="100830" y="1808252"/>
            <a:chExt cx="2579012" cy="722150"/>
          </a:xfrm>
        </p:grpSpPr>
        <p:cxnSp>
          <p:nvCxnSpPr>
            <p:cNvPr id="30" name="직선 연결선 29">
              <a:extLst>
                <a:ext uri="{FF2B5EF4-FFF2-40B4-BE49-F238E27FC236}">
                  <a16:creationId xmlns:a16="http://schemas.microsoft.com/office/drawing/2014/main" id="{2A2E0D5A-EE7E-D544-2474-69BBE2A33B73}"/>
                </a:ext>
              </a:extLst>
            </p:cNvPr>
            <p:cNvCxnSpPr>
              <a:cxnSpLocks/>
            </p:cNvCxnSpPr>
            <p:nvPr/>
          </p:nvCxnSpPr>
          <p:spPr>
            <a:xfrm>
              <a:off x="100830" y="1808252"/>
              <a:ext cx="443700" cy="339047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D2414B05-3FBD-94DE-58BB-877D73190AC7}"/>
                </a:ext>
              </a:extLst>
            </p:cNvPr>
            <p:cNvCxnSpPr>
              <a:cxnSpLocks/>
            </p:cNvCxnSpPr>
            <p:nvPr/>
          </p:nvCxnSpPr>
          <p:spPr>
            <a:xfrm>
              <a:off x="544530" y="2147299"/>
              <a:ext cx="1691612" cy="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>
              <a:extLst>
                <a:ext uri="{FF2B5EF4-FFF2-40B4-BE49-F238E27FC236}">
                  <a16:creationId xmlns:a16="http://schemas.microsoft.com/office/drawing/2014/main" id="{5CA61DB7-013A-5D39-87FD-7DD6335A5EF3}"/>
                </a:ext>
              </a:extLst>
            </p:cNvPr>
            <p:cNvCxnSpPr>
              <a:cxnSpLocks/>
            </p:cNvCxnSpPr>
            <p:nvPr/>
          </p:nvCxnSpPr>
          <p:spPr>
            <a:xfrm>
              <a:off x="2236142" y="2147299"/>
              <a:ext cx="443700" cy="383103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8" name="TextBox 17">
            <a:extLst>
              <a:ext uri="{FF2B5EF4-FFF2-40B4-BE49-F238E27FC236}">
                <a16:creationId xmlns:a16="http://schemas.microsoft.com/office/drawing/2014/main" id="{AAFB686D-EC01-ABAC-2FAB-A8BDB41C599B}"/>
              </a:ext>
            </a:extLst>
          </p:cNvPr>
          <p:cNvSpPr txBox="1"/>
          <p:nvPr/>
        </p:nvSpPr>
        <p:spPr>
          <a:xfrm>
            <a:off x="-200345" y="6205578"/>
            <a:ext cx="905667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defRPr/>
            </a:pPr>
            <a:r>
              <a:rPr lang="ko-KR" altLang="en-US" sz="1000" b="1" dirty="0">
                <a:solidFill>
                  <a:srgbClr val="1F2328"/>
                </a:solidFill>
              </a:rPr>
              <a:t>출처 </a:t>
            </a:r>
            <a:r>
              <a:rPr lang="en-US" altLang="ko-KR" sz="1000" b="1" dirty="0">
                <a:solidFill>
                  <a:srgbClr val="1F2328"/>
                </a:solidFill>
              </a:rPr>
              <a:t>: </a:t>
            </a:r>
            <a:r>
              <a:rPr lang="ko-KR" altLang="en-US" sz="1000" b="1" dirty="0">
                <a:solidFill>
                  <a:srgbClr val="1F2328"/>
                </a:solidFill>
              </a:rPr>
              <a:t>신진영</a:t>
            </a:r>
            <a:r>
              <a:rPr lang="en-US" altLang="ko-KR" sz="1000" b="1" dirty="0">
                <a:solidFill>
                  <a:srgbClr val="1F2328"/>
                </a:solidFill>
              </a:rPr>
              <a:t>, </a:t>
            </a:r>
            <a:r>
              <a:rPr lang="ko-KR" altLang="en-US" sz="1000" b="1" dirty="0">
                <a:solidFill>
                  <a:srgbClr val="1F2328"/>
                </a:solidFill>
              </a:rPr>
              <a:t>지역 커버리지 초소형 </a:t>
            </a:r>
            <a:r>
              <a:rPr lang="ko-KR" altLang="en-US" sz="1000" b="1" dirty="0" err="1">
                <a:solidFill>
                  <a:srgbClr val="1F2328"/>
                </a:solidFill>
              </a:rPr>
              <a:t>위성군</a:t>
            </a:r>
            <a:r>
              <a:rPr lang="ko-KR" altLang="en-US" sz="1000" b="1" dirty="0">
                <a:solidFill>
                  <a:srgbClr val="1F2328"/>
                </a:solidFill>
              </a:rPr>
              <a:t> 궤도설계와 </a:t>
            </a:r>
            <a:r>
              <a:rPr lang="ko-KR" altLang="en-US" sz="1000" b="1" dirty="0" err="1">
                <a:solidFill>
                  <a:srgbClr val="1F2328"/>
                </a:solidFill>
              </a:rPr>
              <a:t>위성군</a:t>
            </a:r>
            <a:r>
              <a:rPr lang="ko-KR" altLang="en-US" sz="1000" b="1" dirty="0">
                <a:solidFill>
                  <a:srgbClr val="1F2328"/>
                </a:solidFill>
              </a:rPr>
              <a:t> 궤도 전개 연구</a:t>
            </a:r>
            <a:r>
              <a:rPr lang="en-US" altLang="ko-KR" sz="1000" b="1" dirty="0">
                <a:solidFill>
                  <a:srgbClr val="1F2328"/>
                </a:solidFill>
              </a:rPr>
              <a:t>, 2020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E6793C49-69F0-ABC0-01DB-AA7EA10A16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4057" y="1808252"/>
            <a:ext cx="5024292" cy="37427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2495415"/>
      </p:ext>
    </p:extLst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63632D-F2DF-BCC3-73E2-B34BFF010C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그림 18">
            <a:extLst>
              <a:ext uri="{FF2B5EF4-FFF2-40B4-BE49-F238E27FC236}">
                <a16:creationId xmlns:a16="http://schemas.microsoft.com/office/drawing/2014/main" id="{013022C4-242E-F411-2017-F0CAE23A17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3900" y="3419519"/>
            <a:ext cx="3239789" cy="2429842"/>
          </a:xfrm>
          <a:prstGeom prst="rect">
            <a:avLst/>
          </a:prstGeom>
        </p:spPr>
      </p:pic>
      <p:pic>
        <p:nvPicPr>
          <p:cNvPr id="17" name="그림 16">
            <a:extLst>
              <a:ext uri="{FF2B5EF4-FFF2-40B4-BE49-F238E27FC236}">
                <a16:creationId xmlns:a16="http://schemas.microsoft.com/office/drawing/2014/main" id="{5AF653BB-2D31-7505-E354-52F7B0ACCEC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71364" y="3429000"/>
            <a:ext cx="3239789" cy="2429842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38990FCE-066C-FC86-9B55-73DA8C8AADE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14065" y="3406866"/>
            <a:ext cx="3224370" cy="2418278"/>
          </a:xfrm>
          <a:prstGeom prst="rect">
            <a:avLst/>
          </a:prstGeom>
        </p:spPr>
      </p:pic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97B05997-7547-9ABD-F35B-5962EF7BDD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altLang="ko-KR" dirty="0"/>
              <a:t>BILP method (Example 5)</a:t>
            </a:r>
          </a:p>
          <a:p>
            <a:pPr lvl="1">
              <a:defRPr/>
            </a:pPr>
            <a:r>
              <a:rPr lang="en-US" altLang="ko-KR" dirty="0"/>
              <a:t>Target 2 : Exam1~2</a:t>
            </a:r>
            <a:r>
              <a:rPr lang="ko-KR" altLang="en-US" dirty="0"/>
              <a:t>의 관심지역</a:t>
            </a:r>
            <a:endParaRPr lang="en-US" altLang="ko-KR" dirty="0">
              <a:solidFill>
                <a:srgbClr val="1F2328"/>
              </a:solidFill>
              <a:latin typeface="-apple-system"/>
            </a:endParaRP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7E768EBD-FBEE-9DE6-4A81-EF1BBB1BB4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14</a:t>
            </a:fld>
            <a:endParaRPr lang="en-US" altLang="en-US" dirty="0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351277D2-289D-32E3-E4FE-72BB42C647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 dirty="0"/>
              <a:t>국내 </a:t>
            </a:r>
            <a:r>
              <a:rPr lang="ko-KR" altLang="en-US" dirty="0" err="1"/>
              <a:t>지상국</a:t>
            </a:r>
            <a:r>
              <a:rPr lang="ko-KR" altLang="en-US" dirty="0"/>
              <a:t> 설정</a:t>
            </a:r>
          </a:p>
        </p:txBody>
      </p:sp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44C6BEAC-F017-11C7-A996-3251772F78D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08452775"/>
              </p:ext>
            </p:extLst>
          </p:nvPr>
        </p:nvGraphicFramePr>
        <p:xfrm>
          <a:off x="100830" y="1778562"/>
          <a:ext cx="8942340" cy="1503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768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54380">
                  <a:extLst>
                    <a:ext uri="{9D8B030D-6E8A-4147-A177-3AD203B41FA5}">
                      <a16:colId xmlns:a16="http://schemas.microsoft.com/office/drawing/2014/main" val="2911612099"/>
                    </a:ext>
                  </a:extLst>
                </a:gridCol>
                <a:gridCol w="938339">
                  <a:extLst>
                    <a:ext uri="{9D8B030D-6E8A-4147-A177-3AD203B41FA5}">
                      <a16:colId xmlns:a16="http://schemas.microsoft.com/office/drawing/2014/main" val="2059915843"/>
                    </a:ext>
                  </a:extLst>
                </a:gridCol>
                <a:gridCol w="906589">
                  <a:extLst>
                    <a:ext uri="{9D8B030D-6E8A-4147-A177-3AD203B41FA5}">
                      <a16:colId xmlns:a16="http://schemas.microsoft.com/office/drawing/2014/main" val="611402567"/>
                    </a:ext>
                  </a:extLst>
                </a:gridCol>
                <a:gridCol w="1300480">
                  <a:extLst>
                    <a:ext uri="{9D8B030D-6E8A-4147-A177-3AD203B41FA5}">
                      <a16:colId xmlns:a16="http://schemas.microsoft.com/office/drawing/2014/main" val="3785796257"/>
                    </a:ext>
                  </a:extLst>
                </a:gridCol>
                <a:gridCol w="449580">
                  <a:extLst>
                    <a:ext uri="{9D8B030D-6E8A-4147-A177-3AD203B41FA5}">
                      <a16:colId xmlns:a16="http://schemas.microsoft.com/office/drawing/2014/main" val="2884593093"/>
                    </a:ext>
                  </a:extLst>
                </a:gridCol>
                <a:gridCol w="998791">
                  <a:extLst>
                    <a:ext uri="{9D8B030D-6E8A-4147-A177-3AD203B41FA5}">
                      <a16:colId xmlns:a16="http://schemas.microsoft.com/office/drawing/2014/main" val="1036709000"/>
                    </a:ext>
                  </a:extLst>
                </a:gridCol>
                <a:gridCol w="1017351">
                  <a:extLst>
                    <a:ext uri="{9D8B030D-6E8A-4147-A177-3AD203B41FA5}">
                      <a16:colId xmlns:a16="http://schemas.microsoft.com/office/drawing/2014/main" val="14929076"/>
                    </a:ext>
                  </a:extLst>
                </a:gridCol>
              </a:tblGrid>
              <a:tr h="0">
                <a:tc rowSpan="2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 err="1"/>
                        <a:t>AoI</a:t>
                      </a:r>
                      <a:r>
                        <a:rPr lang="en-US" altLang="ko-KR" sz="1400" dirty="0"/>
                        <a:t> &amp; Time </a:t>
                      </a:r>
                    </a:p>
                    <a:p>
                      <a:pPr algn="ctr" latinLnBrk="1">
                        <a:defRPr/>
                      </a:pPr>
                      <a:endParaRPr lang="en-US" altLang="ko-KR" sz="1400" dirty="0"/>
                    </a:p>
                    <a:p>
                      <a:pPr algn="ctr" latinLnBrk="1">
                        <a:defRPr/>
                      </a:pPr>
                      <a:r>
                        <a:rPr lang="en-US" altLang="ko-KR" sz="1400" dirty="0"/>
                        <a:t>Seed Satellite OE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1400" dirty="0"/>
                        <a:t>𝜀</a:t>
                      </a:r>
                      <a:r>
                        <a:rPr lang="en-US" altLang="ko-KR" sz="1400" dirty="0"/>
                        <a:t>(min)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/>
                        <a:t>Target </a:t>
                      </a:r>
                      <a:r>
                        <a:rPr lang="ko-KR" altLang="en-US" sz="1400" dirty="0"/>
                        <a:t>𝜙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/>
                        <a:t>Target </a:t>
                      </a: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λ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Coverage Req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L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Time Step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Epoch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10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34.75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N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/>
                        <a:t>84.39°W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1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717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120s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ysClr val="windowText" lastClr="00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24.01.01</a:t>
                      </a:r>
                    </a:p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ysClr val="windowText" lastClr="00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00:00:00</a:t>
                      </a:r>
                      <a:endParaRPr lang="ko-KR" altLang="en-US" sz="1200" dirty="0">
                        <a:solidFill>
                          <a:sysClr val="windowText" lastClr="000000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/>
                        <a:t>[</a:t>
                      </a:r>
                      <a:r>
                        <a:rPr lang="en-US" altLang="ko-KR" sz="1200" b="0" dirty="0"/>
                        <a:t>10527.34km</a:t>
                      </a:r>
                      <a:r>
                        <a:rPr lang="en-US" altLang="ko-KR" sz="1200" dirty="0"/>
                        <a:t>, 0, 70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, 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, 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, 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]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7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n = [0  56  646  700]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791282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/>
                        <a:t>[</a:t>
                      </a:r>
                      <a:r>
                        <a:rPr lang="en-US" altLang="ko-KR" sz="1200" b="0" dirty="0"/>
                        <a:t>12758.44km</a:t>
                      </a:r>
                      <a:r>
                        <a:rPr lang="en-US" altLang="ko-KR" sz="1200" dirty="0"/>
                        <a:t>, 0, 47.915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, 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, 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, 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]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solidFill>
                      <a:schemeClr val="bg1"/>
                    </a:solidFill>
                  </a:tcPr>
                </a:tc>
                <a:tc gridSpan="7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n  = [13  281  318 379  487  681] 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69066936"/>
                  </a:ext>
                </a:extLst>
              </a:tr>
            </a:tbl>
          </a:graphicData>
        </a:graphic>
      </p:graphicFrame>
      <p:grpSp>
        <p:nvGrpSpPr>
          <p:cNvPr id="27" name="그룹 26">
            <a:extLst>
              <a:ext uri="{FF2B5EF4-FFF2-40B4-BE49-F238E27FC236}">
                <a16:creationId xmlns:a16="http://schemas.microsoft.com/office/drawing/2014/main" id="{5B38C6C2-1147-3394-FE90-FD2AB3183643}"/>
              </a:ext>
            </a:extLst>
          </p:cNvPr>
          <p:cNvGrpSpPr/>
          <p:nvPr/>
        </p:nvGrpSpPr>
        <p:grpSpPr>
          <a:xfrm>
            <a:off x="100830" y="1808252"/>
            <a:ext cx="2579012" cy="722150"/>
            <a:chOff x="100830" y="1808252"/>
            <a:chExt cx="2579012" cy="722150"/>
          </a:xfrm>
        </p:grpSpPr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3E9126ED-5B8D-3999-B929-CC2C558CA33B}"/>
                </a:ext>
              </a:extLst>
            </p:cNvPr>
            <p:cNvCxnSpPr>
              <a:cxnSpLocks/>
            </p:cNvCxnSpPr>
            <p:nvPr/>
          </p:nvCxnSpPr>
          <p:spPr>
            <a:xfrm>
              <a:off x="100830" y="1808252"/>
              <a:ext cx="443700" cy="339047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2CE1C36C-B309-344F-5EB8-41B564C3574E}"/>
                </a:ext>
              </a:extLst>
            </p:cNvPr>
            <p:cNvCxnSpPr>
              <a:cxnSpLocks/>
            </p:cNvCxnSpPr>
            <p:nvPr/>
          </p:nvCxnSpPr>
          <p:spPr>
            <a:xfrm>
              <a:off x="544530" y="2147299"/>
              <a:ext cx="1691612" cy="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C6E87280-80D2-31AE-F945-F30F405CE714}"/>
                </a:ext>
              </a:extLst>
            </p:cNvPr>
            <p:cNvCxnSpPr>
              <a:cxnSpLocks/>
            </p:cNvCxnSpPr>
            <p:nvPr/>
          </p:nvCxnSpPr>
          <p:spPr>
            <a:xfrm>
              <a:off x="2236142" y="2147299"/>
              <a:ext cx="443700" cy="383103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9" name="그룹 28">
            <a:extLst>
              <a:ext uri="{FF2B5EF4-FFF2-40B4-BE49-F238E27FC236}">
                <a16:creationId xmlns:a16="http://schemas.microsoft.com/office/drawing/2014/main" id="{5161C457-3133-6EBE-6607-25D9D7C7A8C3}"/>
              </a:ext>
            </a:extLst>
          </p:cNvPr>
          <p:cNvGrpSpPr/>
          <p:nvPr/>
        </p:nvGrpSpPr>
        <p:grpSpPr>
          <a:xfrm>
            <a:off x="100830" y="3851097"/>
            <a:ext cx="2579012" cy="722150"/>
            <a:chOff x="100830" y="1808252"/>
            <a:chExt cx="2579012" cy="722150"/>
          </a:xfrm>
        </p:grpSpPr>
        <p:cxnSp>
          <p:nvCxnSpPr>
            <p:cNvPr id="30" name="직선 연결선 29">
              <a:extLst>
                <a:ext uri="{FF2B5EF4-FFF2-40B4-BE49-F238E27FC236}">
                  <a16:creationId xmlns:a16="http://schemas.microsoft.com/office/drawing/2014/main" id="{2A2E0D5A-EE7E-D544-2474-69BBE2A33B73}"/>
                </a:ext>
              </a:extLst>
            </p:cNvPr>
            <p:cNvCxnSpPr>
              <a:cxnSpLocks/>
            </p:cNvCxnSpPr>
            <p:nvPr/>
          </p:nvCxnSpPr>
          <p:spPr>
            <a:xfrm>
              <a:off x="100830" y="1808252"/>
              <a:ext cx="443700" cy="339047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D2414B05-3FBD-94DE-58BB-877D73190AC7}"/>
                </a:ext>
              </a:extLst>
            </p:cNvPr>
            <p:cNvCxnSpPr>
              <a:cxnSpLocks/>
            </p:cNvCxnSpPr>
            <p:nvPr/>
          </p:nvCxnSpPr>
          <p:spPr>
            <a:xfrm>
              <a:off x="544530" y="2147299"/>
              <a:ext cx="1691612" cy="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>
              <a:extLst>
                <a:ext uri="{FF2B5EF4-FFF2-40B4-BE49-F238E27FC236}">
                  <a16:creationId xmlns:a16="http://schemas.microsoft.com/office/drawing/2014/main" id="{5CA61DB7-013A-5D39-87FD-7DD6335A5EF3}"/>
                </a:ext>
              </a:extLst>
            </p:cNvPr>
            <p:cNvCxnSpPr>
              <a:cxnSpLocks/>
            </p:cNvCxnSpPr>
            <p:nvPr/>
          </p:nvCxnSpPr>
          <p:spPr>
            <a:xfrm>
              <a:off x="2236142" y="2147299"/>
              <a:ext cx="443700" cy="383103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0" name="TextBox 19">
            <a:extLst>
              <a:ext uri="{FF2B5EF4-FFF2-40B4-BE49-F238E27FC236}">
                <a16:creationId xmlns:a16="http://schemas.microsoft.com/office/drawing/2014/main" id="{43575146-280F-AFB0-442C-587C3F58295A}"/>
              </a:ext>
            </a:extLst>
          </p:cNvPr>
          <p:cNvSpPr txBox="1"/>
          <p:nvPr/>
        </p:nvSpPr>
        <p:spPr>
          <a:xfrm>
            <a:off x="28913" y="5701519"/>
            <a:ext cx="262010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2">
              <a:defRPr/>
            </a:pPr>
            <a:r>
              <a:rPr lang="ko-KR" altLang="en-US" sz="1400" dirty="0"/>
              <a:t>저궤도 운용</a:t>
            </a:r>
            <a:r>
              <a:rPr lang="en-US" altLang="ko-KR" sz="1400" dirty="0"/>
              <a:t>(4</a:t>
            </a:r>
            <a:r>
              <a:rPr lang="ko-KR" altLang="en-US" sz="1400" dirty="0"/>
              <a:t>대</a:t>
            </a:r>
            <a:r>
              <a:rPr lang="en-US" altLang="ko-KR" sz="1400" dirty="0"/>
              <a:t>)</a:t>
            </a:r>
          </a:p>
          <a:p>
            <a:pPr lvl="2">
              <a:defRPr/>
            </a:pPr>
            <a:r>
              <a:rPr lang="en-US" altLang="ko-KR" sz="1400" dirty="0"/>
              <a:t>Coverage : 61.1%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041686A-5804-B97A-09C2-6E98CA6DFF50}"/>
              </a:ext>
            </a:extLst>
          </p:cNvPr>
          <p:cNvSpPr txBox="1"/>
          <p:nvPr/>
        </p:nvSpPr>
        <p:spPr>
          <a:xfrm>
            <a:off x="3044373" y="5701519"/>
            <a:ext cx="262010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2">
              <a:defRPr/>
            </a:pPr>
            <a:r>
              <a:rPr lang="ko-KR" altLang="en-US" sz="1400" dirty="0" err="1"/>
              <a:t>고궤도</a:t>
            </a:r>
            <a:r>
              <a:rPr lang="ko-KR" altLang="en-US" sz="1400" dirty="0"/>
              <a:t> 운용</a:t>
            </a:r>
            <a:r>
              <a:rPr lang="en-US" altLang="ko-KR" sz="1400" dirty="0"/>
              <a:t>(6</a:t>
            </a:r>
            <a:r>
              <a:rPr lang="ko-KR" altLang="en-US" sz="1400" dirty="0"/>
              <a:t>대</a:t>
            </a:r>
            <a:r>
              <a:rPr lang="en-US" altLang="ko-KR" sz="1400" dirty="0"/>
              <a:t>)</a:t>
            </a:r>
          </a:p>
          <a:p>
            <a:pPr lvl="2">
              <a:defRPr/>
            </a:pPr>
            <a:r>
              <a:rPr lang="en-US" altLang="ko-KR" sz="1400" dirty="0"/>
              <a:t>Coverage : 80%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4EA31C0-DB77-7DB5-7719-3F73F9940DD9}"/>
              </a:ext>
            </a:extLst>
          </p:cNvPr>
          <p:cNvSpPr txBox="1"/>
          <p:nvPr/>
        </p:nvSpPr>
        <p:spPr>
          <a:xfrm>
            <a:off x="5890740" y="5689403"/>
            <a:ext cx="290238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2">
              <a:defRPr/>
            </a:pPr>
            <a:r>
              <a:rPr lang="ko-KR" altLang="en-US" sz="1400" dirty="0"/>
              <a:t>혼합하여 운용</a:t>
            </a:r>
            <a:r>
              <a:rPr lang="en-US" altLang="ko-KR" sz="1400" dirty="0"/>
              <a:t>(10</a:t>
            </a:r>
            <a:r>
              <a:rPr lang="ko-KR" altLang="en-US" sz="1400" dirty="0"/>
              <a:t>대</a:t>
            </a:r>
            <a:r>
              <a:rPr lang="en-US" altLang="ko-KR" sz="1400" dirty="0"/>
              <a:t>)</a:t>
            </a:r>
          </a:p>
          <a:p>
            <a:pPr lvl="2">
              <a:defRPr/>
            </a:pPr>
            <a:r>
              <a:rPr lang="en-US" altLang="ko-KR" sz="1400" dirty="0"/>
              <a:t>Coverage : 100%</a:t>
            </a:r>
          </a:p>
        </p:txBody>
      </p:sp>
    </p:spTree>
    <p:extLst>
      <p:ext uri="{BB962C8B-B14F-4D97-AF65-F5344CB8AC3E}">
        <p14:creationId xmlns:p14="http://schemas.microsoft.com/office/powerpoint/2010/main" val="2165584735"/>
      </p:ext>
    </p:extLst>
  </p:cSld>
  <p:clrMapOvr>
    <a:masterClrMapping/>
  </p:clrMapOvr>
  <p:transition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FE9EC4-DC98-F4CC-8695-BC29A01485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B4C2239D-C0E7-20BB-A97E-0B91FFCD15F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pPr marL="0" marR="0" lvl="0" indent="0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40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결론</a:t>
            </a:r>
          </a:p>
        </p:txBody>
      </p:sp>
    </p:spTree>
    <p:extLst>
      <p:ext uri="{BB962C8B-B14F-4D97-AF65-F5344CB8AC3E}">
        <p14:creationId xmlns:p14="http://schemas.microsoft.com/office/powerpoint/2010/main" val="24676754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8EAB37-ADF6-CC2E-7B2B-DFADDA13A3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0322B85-BD57-6CEA-9FC3-0AFC612724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16</a:t>
            </a:fld>
            <a:endParaRPr lang="en-US" altLang="en-US" dirty="0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05CFD35E-4261-BFD3-F8A1-9D625D8878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>
              <a:defRPr/>
            </a:pPr>
            <a:r>
              <a:rPr lang="ko-KR" altLang="en-US" dirty="0"/>
              <a:t>결론</a:t>
            </a:r>
          </a:p>
        </p:txBody>
      </p:sp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C2028C06-A0E8-D77F-2DDE-4D41EF330B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altLang="ko-KR" dirty="0">
                <a:solidFill>
                  <a:srgbClr val="1F2328"/>
                </a:solidFill>
              </a:rPr>
              <a:t>BILP</a:t>
            </a:r>
            <a:r>
              <a:rPr lang="ko-KR" altLang="en-US" dirty="0">
                <a:solidFill>
                  <a:srgbClr val="1F2328"/>
                </a:solidFill>
              </a:rPr>
              <a:t> </a:t>
            </a:r>
            <a:r>
              <a:rPr lang="en-US" altLang="ko-KR" dirty="0">
                <a:solidFill>
                  <a:srgbClr val="1F2328"/>
                </a:solidFill>
              </a:rPr>
              <a:t>Method</a:t>
            </a:r>
            <a:r>
              <a:rPr lang="ko-KR" altLang="en-US" dirty="0">
                <a:solidFill>
                  <a:srgbClr val="1F2328"/>
                </a:solidFill>
              </a:rPr>
              <a:t>를 이용한 이종 </a:t>
            </a:r>
            <a:r>
              <a:rPr lang="ko-KR" altLang="en-US" dirty="0" err="1">
                <a:solidFill>
                  <a:srgbClr val="1F2328"/>
                </a:solidFill>
              </a:rPr>
              <a:t>위성군</a:t>
            </a:r>
            <a:r>
              <a:rPr lang="ko-KR" altLang="en-US" dirty="0">
                <a:solidFill>
                  <a:srgbClr val="1F2328"/>
                </a:solidFill>
              </a:rPr>
              <a:t> 설계</a:t>
            </a:r>
            <a:r>
              <a:rPr lang="en-US" altLang="ko-KR" dirty="0">
                <a:solidFill>
                  <a:srgbClr val="1F2328"/>
                </a:solidFill>
              </a:rPr>
              <a:t> </a:t>
            </a:r>
          </a:p>
          <a:p>
            <a:pPr lvl="1">
              <a:defRPr/>
            </a:pPr>
            <a:r>
              <a:rPr lang="ko-KR" altLang="en-US" b="0" i="0" dirty="0">
                <a:solidFill>
                  <a:srgbClr val="1F2328"/>
                </a:solidFill>
                <a:effectLst/>
              </a:rPr>
              <a:t>두 가지 유형의 궤도를 동시에 운용하는 이종 </a:t>
            </a:r>
            <a:r>
              <a:rPr lang="ko-KR" altLang="en-US" b="0" i="0" dirty="0" err="1">
                <a:solidFill>
                  <a:srgbClr val="1F2328"/>
                </a:solidFill>
                <a:effectLst/>
              </a:rPr>
              <a:t>위성군</a:t>
            </a:r>
            <a:r>
              <a:rPr lang="ko-KR" altLang="en-US" b="0" i="0" dirty="0">
                <a:solidFill>
                  <a:srgbClr val="1F2328"/>
                </a:solidFill>
                <a:effectLst/>
              </a:rPr>
              <a:t> 설계 진행 중</a:t>
            </a:r>
            <a:endParaRPr lang="en-US" altLang="ko-KR" b="0" i="0" dirty="0">
              <a:solidFill>
                <a:srgbClr val="1F2328"/>
              </a:solidFill>
              <a:effectLst/>
            </a:endParaRPr>
          </a:p>
          <a:p>
            <a:pPr lvl="2">
              <a:defRPr/>
            </a:pPr>
            <a:r>
              <a:rPr lang="ko-KR" altLang="en-US" b="0" i="0" dirty="0">
                <a:solidFill>
                  <a:srgbClr val="1F2328"/>
                </a:solidFill>
                <a:effectLst/>
              </a:rPr>
              <a:t>관심지역이 두 곳 이상일 경우 </a:t>
            </a:r>
            <a:r>
              <a:rPr lang="ko-KR" altLang="en-US" b="1" i="0" u="sng" dirty="0">
                <a:solidFill>
                  <a:srgbClr val="1F2328"/>
                </a:solidFill>
                <a:effectLst/>
              </a:rPr>
              <a:t>두 지점의 커버를 모두 만족</a:t>
            </a:r>
            <a:r>
              <a:rPr lang="ko-KR" altLang="en-US" b="0" i="0" dirty="0">
                <a:solidFill>
                  <a:srgbClr val="1F2328"/>
                </a:solidFill>
                <a:effectLst/>
              </a:rPr>
              <a:t>할 수 있음</a:t>
            </a:r>
            <a:endParaRPr lang="en-US" altLang="ko-KR" b="0" i="0" dirty="0">
              <a:solidFill>
                <a:srgbClr val="1F2328"/>
              </a:solidFill>
              <a:effectLst/>
            </a:endParaRPr>
          </a:p>
          <a:p>
            <a:pPr lvl="2">
              <a:defRPr/>
            </a:pPr>
            <a:r>
              <a:rPr lang="ko-KR" altLang="en-US" b="0" i="0" dirty="0">
                <a:solidFill>
                  <a:srgbClr val="1F2328"/>
                </a:solidFill>
                <a:effectLst/>
              </a:rPr>
              <a:t>필요한 </a:t>
            </a:r>
            <a:r>
              <a:rPr lang="ko-KR" altLang="en-US" b="1" i="0" u="sng" dirty="0">
                <a:solidFill>
                  <a:srgbClr val="1F2328"/>
                </a:solidFill>
              </a:rPr>
              <a:t>총 위성 수를 줄일 수 있음</a:t>
            </a:r>
            <a:endParaRPr lang="en-US" altLang="ko-KR" b="1" i="0" u="sng" dirty="0">
              <a:solidFill>
                <a:srgbClr val="1F2328"/>
              </a:solidFill>
            </a:endParaRPr>
          </a:p>
          <a:p>
            <a:pPr lvl="1">
              <a:defRPr/>
            </a:pPr>
            <a:r>
              <a:rPr lang="ko-KR" altLang="en-US" b="0" i="0" dirty="0">
                <a:solidFill>
                  <a:srgbClr val="1F2328"/>
                </a:solidFill>
                <a:effectLst/>
              </a:rPr>
              <a:t>국내에서의 실용성을 위해 첫 번째 관심 지역을 서울로 지정</a:t>
            </a:r>
            <a:endParaRPr lang="en-US" altLang="ko-KR" b="0" i="0" dirty="0">
              <a:solidFill>
                <a:srgbClr val="1F2328"/>
              </a:solidFill>
              <a:effectLst/>
            </a:endParaRPr>
          </a:p>
          <a:p>
            <a:pPr lvl="1">
              <a:defRPr/>
            </a:pPr>
            <a:r>
              <a:rPr lang="ko-KR" altLang="en-US" b="0" i="0" dirty="0">
                <a:solidFill>
                  <a:srgbClr val="1F2328"/>
                </a:solidFill>
                <a:effectLst/>
              </a:rPr>
              <a:t>비교적 먼 거리의 임의의 지점을 두 번째 관심지역으로 설정 함</a:t>
            </a:r>
            <a:endParaRPr lang="en-US" altLang="ko-KR" dirty="0">
              <a:solidFill>
                <a:srgbClr val="1F2328"/>
              </a:solidFill>
            </a:endParaRPr>
          </a:p>
          <a:p>
            <a:pPr lvl="2">
              <a:defRPr/>
            </a:pPr>
            <a:r>
              <a:rPr lang="ko-KR" altLang="en-US" b="0" i="0" dirty="0">
                <a:solidFill>
                  <a:srgbClr val="1F2328"/>
                </a:solidFill>
                <a:effectLst/>
              </a:rPr>
              <a:t>서울과 동시에 관측했을 때 관측 의의가 있는 지점을 찾는 것이 필요</a:t>
            </a:r>
            <a:endParaRPr lang="en-US" altLang="ko-KR" b="0" i="0" dirty="0">
              <a:solidFill>
                <a:srgbClr val="1F2328"/>
              </a:solidFill>
              <a:effectLst/>
            </a:endParaRPr>
          </a:p>
          <a:p>
            <a:pPr lvl="1">
              <a:defRPr/>
            </a:pPr>
            <a:r>
              <a:rPr lang="ko-KR" altLang="en-US" b="0" i="0" dirty="0">
                <a:solidFill>
                  <a:srgbClr val="1F2328"/>
                </a:solidFill>
                <a:effectLst/>
              </a:rPr>
              <a:t>위성군에서 주로 사용하는 재방문 주기 개념 도입 예정</a:t>
            </a:r>
            <a:endParaRPr lang="en-US" altLang="ko-KR" b="0" i="0" dirty="0">
              <a:solidFill>
                <a:srgbClr val="1F2328"/>
              </a:solidFill>
              <a:effectLst/>
            </a:endParaRPr>
          </a:p>
          <a:p>
            <a:pPr lvl="1">
              <a:defRPr/>
            </a:pPr>
            <a:endParaRPr lang="en-US" altLang="ko-KR" b="0" i="0" dirty="0">
              <a:solidFill>
                <a:srgbClr val="1F2328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1789527387"/>
      </p:ext>
    </p:extLst>
  </p:cSld>
  <p:clrMapOvr>
    <a:masterClrMapping/>
  </p:clrMapOvr>
  <p:transition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F1B23A-78F3-35B8-506D-D9DFB5D067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25B69527-F992-21E4-8F1F-56E5278215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567740"/>
            <a:ext cx="9144000" cy="3180446"/>
          </a:xfrm>
        </p:spPr>
        <p:txBody>
          <a:bodyPr/>
          <a:lstStyle/>
          <a:p>
            <a:r>
              <a:rPr lang="ko-KR" altLang="en-US" dirty="0"/>
              <a:t>경청해 주셔서 감사합니다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2" name="부제목 1">
            <a:extLst>
              <a:ext uri="{FF2B5EF4-FFF2-40B4-BE49-F238E27FC236}">
                <a16:creationId xmlns:a16="http://schemas.microsoft.com/office/drawing/2014/main" id="{DC64E212-8A1E-C5D2-7849-BE68EF516FF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4757433"/>
            <a:ext cx="6858000" cy="1339783"/>
          </a:xfrm>
        </p:spPr>
        <p:txBody>
          <a:bodyPr/>
          <a:lstStyle/>
          <a:p>
            <a:r>
              <a:rPr lang="ko-KR" altLang="en-US" dirty="0"/>
              <a:t>발표자</a:t>
            </a:r>
            <a:r>
              <a:rPr lang="en-US" altLang="ko-KR" dirty="0"/>
              <a:t>: </a:t>
            </a:r>
            <a:r>
              <a:rPr lang="ko-KR" altLang="en-US" dirty="0"/>
              <a:t>이진진</a:t>
            </a:r>
            <a:endParaRPr lang="en-US" altLang="ko-KR" dirty="0"/>
          </a:p>
          <a:p>
            <a:r>
              <a:rPr lang="ko-KR" altLang="en-US" dirty="0"/>
              <a:t>이메일</a:t>
            </a:r>
            <a:r>
              <a:rPr lang="en-US" altLang="ko-KR" dirty="0"/>
              <a:t>: jj95lee@yonsei.acl.kr</a:t>
            </a:r>
            <a:endParaRPr lang="ko-KR" altLang="en-US" dirty="0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CABE3475-1035-EFEB-6399-114C8C9903FD}"/>
              </a:ext>
            </a:extLst>
          </p:cNvPr>
          <p:cNvSpPr/>
          <p:nvPr/>
        </p:nvSpPr>
        <p:spPr>
          <a:xfrm>
            <a:off x="0" y="3604912"/>
            <a:ext cx="914400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ko-KR" altLang="en-US" sz="3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" panose="02020603050405020304" pitchFamily="18" charset="0"/>
                <a:cs typeface="times" panose="02020603050405020304" pitchFamily="18" charset="0"/>
              </a:rPr>
              <a:t>질의응답</a:t>
            </a:r>
          </a:p>
        </p:txBody>
      </p:sp>
    </p:spTree>
    <p:extLst>
      <p:ext uri="{BB962C8B-B14F-4D97-AF65-F5344CB8AC3E}">
        <p14:creationId xmlns:p14="http://schemas.microsoft.com/office/powerpoint/2010/main" val="25911712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solidFill>
          <a:srgbClr val="FFFFFF"/>
        </a:solidFill>
        <a:ln>
          <a:noFill/>
        </a:ln>
        <a:extLst>
          <a:ext uri="{91240B29-F687-4F45-9708-019B960494DF}">
            <a14:hiddenLine xmlns:a14="http://schemas.microsoft.com/office/drawing/2010/main" w="9525">
              <a:solidFill>
                <a:srgbClr val="000000"/>
              </a:solidFill>
              <a:miter lim="800000"/>
              <a:headEnd/>
              <a:tailEnd/>
            </a14:hiddenLine>
          </a:ext>
        </a:extLst>
      </a:spPr>
      <a:bodyPr vert="horz" wrap="square" lIns="91440" tIns="45720" rIns="91440" bIns="45720" numCol="1" rtlCol="0" anchor="t" anchorCtr="0" compatLnSpc="1">
        <a:prstTxWarp prst="textNoShape">
          <a:avLst/>
        </a:prstTxWarp>
      </a:bodyPr>
      <a:lstStyle>
        <a:defPPr algn="l">
          <a:defRPr/>
        </a:defPPr>
      </a:lst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107182</TotalTime>
  <Words>1403</Words>
  <Application>Microsoft Office PowerPoint</Application>
  <PresentationFormat>화면 슬라이드 쇼(4:3)</PresentationFormat>
  <Paragraphs>315</Paragraphs>
  <Slides>18</Slides>
  <Notes>16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18</vt:i4>
      </vt:variant>
    </vt:vector>
  </HeadingPairs>
  <TitlesOfParts>
    <vt:vector size="25" baseType="lpstr">
      <vt:lpstr>-apple-system</vt:lpstr>
      <vt:lpstr>맑은 고딕</vt:lpstr>
      <vt:lpstr>Arial</vt:lpstr>
      <vt:lpstr>times</vt:lpstr>
      <vt:lpstr>Times New Roman</vt:lpstr>
      <vt:lpstr>Wingdings</vt:lpstr>
      <vt:lpstr>Office 테마</vt:lpstr>
      <vt:lpstr>BILP(MILP) method를 이용한  위성군 분석 및 설계/최적화</vt:lpstr>
      <vt:lpstr>목차</vt:lpstr>
      <vt:lpstr>참고 문헌 정보</vt:lpstr>
      <vt:lpstr>BILP(MILP) 설계기법 참고 문헌</vt:lpstr>
      <vt:lpstr>Example 5 검증</vt:lpstr>
      <vt:lpstr>BILP method 참고문헌 예시</vt:lpstr>
      <vt:lpstr>BILP method 참고문헌 예시 검증</vt:lpstr>
      <vt:lpstr>BILP method 참고문헌 예시 검증</vt:lpstr>
      <vt:lpstr>BILP method 참고문헌 예시 검증</vt:lpstr>
      <vt:lpstr>BILP method 참고문헌 예시 검증</vt:lpstr>
      <vt:lpstr>Example 5 국내 및  인근지역 지상국 설정</vt:lpstr>
      <vt:lpstr>국내 지상국 설정</vt:lpstr>
      <vt:lpstr>인근지역 지상국 설정</vt:lpstr>
      <vt:lpstr>인근지역 지상국 설정</vt:lpstr>
      <vt:lpstr>국내 지상국 설정</vt:lpstr>
      <vt:lpstr>결론</vt:lpstr>
      <vt:lpstr>결론</vt:lpstr>
      <vt:lpstr>경청해 주셔서 감사합니다.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KimGeuk-Nam</dc:creator>
  <cp:lastModifiedBy>Jinjin Lee</cp:lastModifiedBy>
  <cp:revision>4620</cp:revision>
  <dcterms:created xsi:type="dcterms:W3CDTF">2018-01-29T02:45:56Z</dcterms:created>
  <dcterms:modified xsi:type="dcterms:W3CDTF">2024-05-02T05:25:13Z</dcterms:modified>
</cp:coreProperties>
</file>