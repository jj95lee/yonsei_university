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550" r:id="rId2"/>
    <p:sldId id="2239" r:id="rId3"/>
    <p:sldId id="2554" r:id="rId4"/>
    <p:sldId id="2553" r:id="rId5"/>
    <p:sldId id="2555" r:id="rId6"/>
    <p:sldId id="2556" r:id="rId7"/>
    <p:sldId id="2557" r:id="rId8"/>
    <p:sldId id="2558" r:id="rId9"/>
    <p:sldId id="2559" r:id="rId10"/>
    <p:sldId id="2560" r:id="rId11"/>
    <p:sldId id="2561" r:id="rId12"/>
    <p:sldId id="2562" r:id="rId13"/>
    <p:sldId id="2564" r:id="rId14"/>
    <p:sldId id="2563" r:id="rId15"/>
    <p:sldId id="2565" r:id="rId16"/>
    <p:sldId id="2510" r:id="rId1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1E46"/>
    <a:srgbClr val="CC99FF"/>
    <a:srgbClr val="000A1E"/>
    <a:srgbClr val="EDB021"/>
    <a:srgbClr val="D9541A"/>
    <a:srgbClr val="404040"/>
    <a:srgbClr val="FFCCCC"/>
    <a:srgbClr val="001432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31" autoAdjust="0"/>
    <p:restoredTop sz="82161" autoAdjust="0"/>
  </p:normalViewPr>
  <p:slideViewPr>
    <p:cSldViewPr snapToGrid="0" showGuides="1">
      <p:cViewPr varScale="1">
        <p:scale>
          <a:sx n="79" d="100"/>
          <a:sy n="79" d="100"/>
        </p:scale>
        <p:origin x="96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2023-08-02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2023-08-02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01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339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165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7793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627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617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2180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075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466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66497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96956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9018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7137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24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3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2023-08-02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5769"/>
            <a:ext cx="9144000" cy="2226189"/>
          </a:xfrm>
        </p:spPr>
        <p:txBody>
          <a:bodyPr/>
          <a:lstStyle/>
          <a:p>
            <a:r>
              <a:rPr lang="ko-KR" altLang="en-US" dirty="0"/>
              <a:t>이종위성군 성능 분석 및 설계</a:t>
            </a:r>
            <a:r>
              <a:rPr lang="en-US" altLang="ko-KR" dirty="0"/>
              <a:t>/</a:t>
            </a:r>
            <a:r>
              <a:rPr lang="ko-KR" altLang="en-US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25360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EF4E-3B7E-4CE7-9B6C-3BDC77E0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B61DD4-0D6A-42E5-9AD2-E3C0BD7C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1E7CEB30-BE78-4962-AA69-2D4B76A5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274799"/>
              </p:ext>
            </p:extLst>
          </p:nvPr>
        </p:nvGraphicFramePr>
        <p:xfrm>
          <a:off x="1454505" y="1029970"/>
          <a:ext cx="7318019" cy="2897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7/28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카이스트 회의 내용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연구 진행 상황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결론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3A039B3-2D6B-414C-B6C3-91F438CC53E3}"/>
              </a:ext>
            </a:extLst>
          </p:cNvPr>
          <p:cNvSpPr/>
          <p:nvPr/>
        </p:nvSpPr>
        <p:spPr>
          <a:xfrm>
            <a:off x="457200" y="4876799"/>
            <a:ext cx="997305" cy="982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3282C1-EAF0-E51F-4C6E-64EF18128D36}"/>
              </a:ext>
            </a:extLst>
          </p:cNvPr>
          <p:cNvSpPr/>
          <p:nvPr/>
        </p:nvSpPr>
        <p:spPr bwMode="auto">
          <a:xfrm>
            <a:off x="560887" y="3927475"/>
            <a:ext cx="1787236" cy="193270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60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7/28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카이스트 회의 내용</a:t>
            </a:r>
          </a:p>
        </p:txBody>
      </p:sp>
    </p:spTree>
    <p:extLst>
      <p:ext uri="{BB962C8B-B14F-4D97-AF65-F5344CB8AC3E}">
        <p14:creationId xmlns:p14="http://schemas.microsoft.com/office/powerpoint/2010/main" val="116555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해외 사례 조사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 err="1"/>
              <a:t>OptiSAR</a:t>
            </a:r>
            <a:r>
              <a:rPr lang="en-US" altLang="ko-KR" dirty="0"/>
              <a:t> : SAR 8</a:t>
            </a:r>
            <a:r>
              <a:rPr lang="ko-KR" altLang="en-US" dirty="0"/>
              <a:t>기</a:t>
            </a:r>
            <a:r>
              <a:rPr lang="en-US" altLang="ko-KR" dirty="0"/>
              <a:t>, EO 8</a:t>
            </a:r>
            <a:r>
              <a:rPr lang="ko-KR" altLang="en-US" dirty="0"/>
              <a:t>기를 운용</a:t>
            </a:r>
            <a:r>
              <a:rPr lang="ko-KR" altLang="en-US" sz="1800" dirty="0"/>
              <a:t> </a:t>
            </a:r>
            <a:endParaRPr lang="en-US" altLang="ko-KR" sz="1800" dirty="0"/>
          </a:p>
          <a:p>
            <a:pPr lvl="1"/>
            <a:r>
              <a:rPr lang="en-US" altLang="ko-KR" dirty="0"/>
              <a:t>SAR</a:t>
            </a:r>
            <a:r>
              <a:rPr lang="ko-KR" altLang="en-US" dirty="0"/>
              <a:t>가 선두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Optical Sat</a:t>
            </a:r>
            <a:r>
              <a:rPr lang="ko-KR" altLang="en-US" dirty="0"/>
              <a:t>이 뒤를 따르는 편대비행</a:t>
            </a:r>
            <a:endParaRPr lang="en-US" altLang="ko-KR" dirty="0"/>
          </a:p>
          <a:p>
            <a:pPr lvl="1"/>
            <a:r>
              <a:rPr lang="ko-KR" altLang="en-US" dirty="0"/>
              <a:t>해양 감시</a:t>
            </a:r>
            <a:r>
              <a:rPr lang="en-US" altLang="ko-KR" dirty="0"/>
              <a:t>, </a:t>
            </a:r>
            <a:r>
              <a:rPr lang="ko-KR" altLang="en-US" dirty="0"/>
              <a:t>위장</a:t>
            </a:r>
            <a:r>
              <a:rPr lang="en-US" altLang="ko-KR" dirty="0"/>
              <a:t>(Decoy) </a:t>
            </a:r>
            <a:r>
              <a:rPr lang="ko-KR" altLang="en-US" dirty="0"/>
              <a:t>탐지 등</a:t>
            </a:r>
            <a:endParaRPr lang="en-US" altLang="ko-KR" dirty="0"/>
          </a:p>
          <a:p>
            <a:pPr lvl="1"/>
            <a:r>
              <a:rPr lang="en-US" altLang="ko-KR" dirty="0"/>
              <a:t>UrtheCast </a:t>
            </a:r>
            <a:r>
              <a:rPr lang="ko-KR" altLang="en-US" dirty="0"/>
              <a:t>기업의 파산으로 프로젝트 무산</a:t>
            </a:r>
            <a:endParaRPr lang="en-US" altLang="ko-KR" dirty="0"/>
          </a:p>
          <a:p>
            <a:pPr lvl="2"/>
            <a:r>
              <a:rPr lang="en-US" altLang="ko-KR" dirty="0"/>
              <a:t>Earth </a:t>
            </a:r>
            <a:r>
              <a:rPr lang="en-US" altLang="ko-KR" dirty="0" err="1"/>
              <a:t>Dailu</a:t>
            </a:r>
            <a:r>
              <a:rPr lang="en-US" altLang="ko-KR" dirty="0"/>
              <a:t> Analytics</a:t>
            </a:r>
            <a:r>
              <a:rPr lang="ko-KR" altLang="en-US" dirty="0"/>
              <a:t>라는 회사가 이어 받았으나 위성군의 개념이 다름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 err="1"/>
              <a:t>TanDEM</a:t>
            </a:r>
            <a:r>
              <a:rPr lang="en-US" altLang="ko-KR" dirty="0"/>
              <a:t>-X : </a:t>
            </a:r>
            <a:r>
              <a:rPr lang="en-US" altLang="ko-KR" dirty="0" err="1"/>
              <a:t>TerraSAR</a:t>
            </a:r>
            <a:r>
              <a:rPr lang="en-US" altLang="ko-KR" dirty="0"/>
              <a:t>-X</a:t>
            </a:r>
            <a:r>
              <a:rPr lang="ko-KR" altLang="en-US" dirty="0"/>
              <a:t>와 </a:t>
            </a:r>
            <a:r>
              <a:rPr lang="en-US" altLang="ko-KR" dirty="0" err="1"/>
              <a:t>TanDEM</a:t>
            </a:r>
            <a:r>
              <a:rPr lang="en-US" altLang="ko-KR" dirty="0"/>
              <a:t>-X</a:t>
            </a:r>
            <a:r>
              <a:rPr lang="ko-KR" altLang="en-US" dirty="0"/>
              <a:t>의 편대비행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A-train, Blackjack </a:t>
            </a:r>
            <a:r>
              <a:rPr lang="ko-KR" altLang="en-US" dirty="0"/>
              <a:t>등이 있음</a:t>
            </a:r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C1A646E-E019-390A-B604-B2C94FA000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13427"/>
              </p:ext>
            </p:extLst>
          </p:nvPr>
        </p:nvGraphicFramePr>
        <p:xfrm>
          <a:off x="423720" y="3525926"/>
          <a:ext cx="7869613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8443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TerraSAR</a:t>
                      </a:r>
                      <a:r>
                        <a:rPr lang="en-US" altLang="ko-KR" sz="1400" dirty="0"/>
                        <a:t>-X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TanDEM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-X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phase synchronization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을 이루기 위한 추가적인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X-band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안테나</a:t>
                      </a:r>
                      <a:endParaRPr lang="en-US" altLang="ko-KR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정확한 궤도결정을 위한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dual-frequency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GPS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receiver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 err="1">
                          <a:solidFill>
                            <a:schemeClr val="bg1"/>
                          </a:solidFill>
                        </a:rPr>
                        <a:t>TanDEM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-X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정밀한 편대 형태 유지를 위한 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cold gas propulsion 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시스템 추가</a:t>
                      </a:r>
                      <a:endParaRPr lang="en-US" altLang="ko-KR" sz="1200" dirty="0">
                        <a:latin typeface="Times New Roman"/>
                        <a:ea typeface="+mn-ea"/>
                        <a:cs typeface="Times New Roman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ko-KR" sz="1200" dirty="0" err="1">
                          <a:latin typeface="Times New Roman"/>
                          <a:ea typeface="+mn-ea"/>
                          <a:cs typeface="Times New Roman"/>
                        </a:rPr>
                        <a:t>TerraSAR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-X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로부터 현재 상태 및 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GPS 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위치 정보를 받기 위한 추가적인 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S-band 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수신기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24129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국내 사례 조사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60371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KAIST</a:t>
            </a:r>
            <a:r>
              <a:rPr lang="ko-KR" altLang="en-US" dirty="0"/>
              <a:t>에서 두 건의 전문가 인터뷰 수행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기술적인 관점 </a:t>
            </a:r>
            <a:r>
              <a:rPr lang="en-US" altLang="ko-KR" dirty="0"/>
              <a:t>: ADD </a:t>
            </a:r>
            <a:r>
              <a:rPr lang="ko-KR" altLang="en-US" dirty="0"/>
              <a:t>연구진 </a:t>
            </a:r>
            <a:r>
              <a:rPr lang="en-US" altLang="ko-KR" dirty="0"/>
              <a:t>2</a:t>
            </a:r>
            <a:r>
              <a:rPr lang="ko-KR" altLang="en-US" dirty="0"/>
              <a:t>인 인터뷰 수행</a:t>
            </a:r>
            <a:r>
              <a:rPr lang="en-US" altLang="ko-KR" dirty="0"/>
              <a:t>(4/26)</a:t>
            </a:r>
          </a:p>
          <a:p>
            <a:pPr lvl="1">
              <a:defRPr/>
            </a:pPr>
            <a:r>
              <a:rPr lang="ko-KR" altLang="en-US" dirty="0"/>
              <a:t>사업적인 관점 </a:t>
            </a:r>
            <a:r>
              <a:rPr lang="en-US" altLang="ko-KR" dirty="0"/>
              <a:t>: </a:t>
            </a:r>
            <a:r>
              <a:rPr lang="ko-KR" altLang="en-US" dirty="0" err="1"/>
              <a:t>방사청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인 </a:t>
            </a:r>
            <a:r>
              <a:rPr lang="en-US" altLang="ko-KR" dirty="0"/>
              <a:t>&amp; ADD 1</a:t>
            </a:r>
            <a:r>
              <a:rPr lang="ko-KR" altLang="en-US" dirty="0"/>
              <a:t>인 인터뷰 수행</a:t>
            </a:r>
            <a:r>
              <a:rPr lang="en-US" altLang="ko-KR" dirty="0"/>
              <a:t>(6/23)</a:t>
            </a:r>
          </a:p>
          <a:p>
            <a:pPr>
              <a:defRPr/>
            </a:pPr>
            <a:r>
              <a:rPr lang="en-US" altLang="ko-KR" dirty="0"/>
              <a:t>425</a:t>
            </a:r>
            <a:r>
              <a:rPr lang="ko-KR" altLang="en-US" dirty="0"/>
              <a:t>사업 </a:t>
            </a:r>
            <a:r>
              <a:rPr lang="en-US" altLang="ko-KR" dirty="0"/>
              <a:t>&amp; </a:t>
            </a:r>
            <a:r>
              <a:rPr lang="ko-KR" altLang="en-US" dirty="0"/>
              <a:t>초소형 위성 체계 사업 관련 정보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SAR</a:t>
            </a:r>
            <a:r>
              <a:rPr lang="ko-KR" altLang="en-US" dirty="0"/>
              <a:t>위성이 </a:t>
            </a:r>
            <a:r>
              <a:rPr lang="en-US" altLang="ko-KR" dirty="0"/>
              <a:t>EO</a:t>
            </a:r>
            <a:r>
              <a:rPr lang="ko-KR" altLang="en-US" dirty="0"/>
              <a:t>위성의 </a:t>
            </a:r>
            <a:r>
              <a:rPr lang="en-US" altLang="ko-KR" dirty="0"/>
              <a:t>4~10</a:t>
            </a:r>
            <a:r>
              <a:rPr lang="ko-KR" altLang="en-US" dirty="0"/>
              <a:t>배 정도 많이 제작</a:t>
            </a:r>
            <a:r>
              <a:rPr lang="en-US" altLang="ko-KR" dirty="0"/>
              <a:t>, </a:t>
            </a:r>
            <a:r>
              <a:rPr lang="ko-KR" altLang="en-US" dirty="0"/>
              <a:t>궤도 투입되어 운용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SAR</a:t>
            </a:r>
            <a:r>
              <a:rPr lang="ko-KR" altLang="en-US" dirty="0"/>
              <a:t>가 더 자주 방문하며 영상을 찍고</a:t>
            </a:r>
            <a:r>
              <a:rPr lang="en-US" altLang="ko-KR" dirty="0"/>
              <a:t>, </a:t>
            </a:r>
            <a:r>
              <a:rPr lang="ko-KR" altLang="en-US" dirty="0"/>
              <a:t>필요 시 임무 하달을 통해 </a:t>
            </a:r>
            <a:r>
              <a:rPr lang="en-US" altLang="ko-KR" dirty="0"/>
              <a:t>EO</a:t>
            </a:r>
            <a:r>
              <a:rPr lang="ko-KR" altLang="en-US" dirty="0"/>
              <a:t>로 재촬영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SAR - primal / EO - Support</a:t>
            </a:r>
          </a:p>
          <a:p>
            <a:pPr lvl="1">
              <a:defRPr/>
            </a:pPr>
            <a:r>
              <a:rPr lang="ko-KR" altLang="en-US" dirty="0"/>
              <a:t>영상</a:t>
            </a:r>
            <a:r>
              <a:rPr lang="en-US" altLang="ko-KR" dirty="0"/>
              <a:t> </a:t>
            </a:r>
            <a:r>
              <a:rPr lang="ko-KR" altLang="en-US" dirty="0"/>
              <a:t>퀄리티는 </a:t>
            </a:r>
            <a:r>
              <a:rPr lang="en-US" altLang="ko-KR" dirty="0"/>
              <a:t>EO </a:t>
            </a:r>
            <a:r>
              <a:rPr lang="ko-KR" altLang="en-US" dirty="0"/>
              <a:t>위성이 더 좋지만 태양이 있는 맑은 환경에서만 운용 가능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따라서 궤도는 </a:t>
            </a:r>
            <a:r>
              <a:rPr lang="en-US" altLang="ko-KR" dirty="0"/>
              <a:t>SSO(550~600km)</a:t>
            </a:r>
            <a:r>
              <a:rPr lang="ko-KR" altLang="en-US" dirty="0"/>
              <a:t>를 이용 </a:t>
            </a:r>
            <a:r>
              <a:rPr lang="en-US" altLang="ko-KR" dirty="0"/>
              <a:t>(LEO </a:t>
            </a:r>
            <a:r>
              <a:rPr lang="ko-KR" altLang="en-US" dirty="0"/>
              <a:t>대비 재방문 주기가 긺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SAR</a:t>
            </a:r>
            <a:r>
              <a:rPr lang="ko-KR" altLang="en-US" dirty="0"/>
              <a:t>의 경우</a:t>
            </a:r>
            <a:r>
              <a:rPr lang="en-US" altLang="ko-KR" dirty="0"/>
              <a:t>, </a:t>
            </a:r>
            <a:r>
              <a:rPr lang="ko-KR" altLang="en-US" dirty="0"/>
              <a:t>영상 정보를 얻기 위해 판독관 인력이 필요하며 품질이 낮음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재방문 주기를 낮추기 위해 </a:t>
            </a:r>
            <a:r>
              <a:rPr lang="en-US" altLang="ko-KR" dirty="0"/>
              <a:t>LEO(</a:t>
            </a:r>
            <a:r>
              <a:rPr lang="ko-KR" altLang="en-US" dirty="0"/>
              <a:t>경사궤도</a:t>
            </a:r>
            <a:r>
              <a:rPr lang="en-US" altLang="ko-KR" dirty="0"/>
              <a:t>)</a:t>
            </a:r>
            <a:r>
              <a:rPr lang="ko-KR" altLang="en-US" dirty="0"/>
              <a:t>를 사용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전파문제로 에너지가 많이 필요하다는 특징을 가짐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향후 위성이 추가 투입되는 내용은 고려되지 않고 있음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고장 대응을 위해 약 </a:t>
            </a:r>
            <a:r>
              <a:rPr lang="en-US" altLang="ko-KR" dirty="0"/>
              <a:t>10%</a:t>
            </a:r>
            <a:r>
              <a:rPr lang="ko-KR" altLang="en-US" dirty="0"/>
              <a:t>정도의 예비 위성이 미리 궤도에 올라가 있음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본 과제에서도 유지 보수 시나리오는 우선순위가 낮은 연구 주제로 보고 있음</a:t>
            </a:r>
            <a:endParaRPr lang="en-US" altLang="ko-KR" dirty="0"/>
          </a:p>
          <a:p>
            <a:pPr lvl="1">
              <a:defRPr/>
            </a:pPr>
            <a:r>
              <a:rPr lang="en-US" altLang="ko-KR" dirty="0" err="1"/>
              <a:t>ConOps</a:t>
            </a:r>
            <a:r>
              <a:rPr lang="en-US" altLang="ko-KR" dirty="0"/>
              <a:t> </a:t>
            </a:r>
            <a:r>
              <a:rPr lang="ko-KR" altLang="en-US" dirty="0"/>
              <a:t>요약 </a:t>
            </a:r>
            <a:r>
              <a:rPr lang="en-US" altLang="ko-KR" dirty="0"/>
              <a:t>: </a:t>
            </a:r>
            <a:r>
              <a:rPr lang="ko-KR" altLang="en-US" dirty="0"/>
              <a:t>두 사업 모두 </a:t>
            </a:r>
            <a:r>
              <a:rPr lang="en-US" altLang="ko-KR" dirty="0"/>
              <a:t>SAR - primal / EO - Support </a:t>
            </a:r>
            <a:r>
              <a:rPr lang="ko-KR" altLang="en-US" dirty="0"/>
              <a:t>개념이 사용됨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1020403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국내 사례 조사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60371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SAR &amp; EO </a:t>
            </a:r>
            <a:r>
              <a:rPr lang="ko-KR" altLang="en-US" dirty="0"/>
              <a:t>협업 관련 정보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SAR</a:t>
            </a:r>
            <a:r>
              <a:rPr lang="ko-KR" altLang="en-US" dirty="0"/>
              <a:t>와 </a:t>
            </a:r>
            <a:r>
              <a:rPr lang="en-US" altLang="ko-KR" dirty="0"/>
              <a:t>EO</a:t>
            </a:r>
            <a:r>
              <a:rPr lang="ko-KR" altLang="en-US" dirty="0"/>
              <a:t>간 협업 운용을 위한 개념이 시스템 설계 단계에서 고려되어 있지는 않음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현실적으로 </a:t>
            </a:r>
            <a:r>
              <a:rPr lang="en-US" altLang="ko-KR" dirty="0"/>
              <a:t>SAR </a:t>
            </a:r>
            <a:r>
              <a:rPr lang="ko-KR" altLang="en-US" dirty="0"/>
              <a:t>단독으로 얻는 사진 품질이 낮기 때문에 </a:t>
            </a:r>
            <a:r>
              <a:rPr lang="en-US" altLang="ko-KR" dirty="0"/>
              <a:t>SAR</a:t>
            </a:r>
            <a:r>
              <a:rPr lang="ko-KR" altLang="en-US" dirty="0"/>
              <a:t>자료를 바탕으로 </a:t>
            </a:r>
            <a:r>
              <a:rPr lang="en-US" altLang="ko-KR" dirty="0"/>
              <a:t>EO</a:t>
            </a:r>
            <a:r>
              <a:rPr lang="ko-KR" altLang="en-US" dirty="0"/>
              <a:t>위성에 추가 촬영 임무를 할당하는 경우가 있을 수는 있음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SAR &amp; EO </a:t>
            </a:r>
            <a:r>
              <a:rPr lang="ko-KR" altLang="en-US" dirty="0"/>
              <a:t>두 자료의 비교 분석을 위해서는 촬영한 시간 간격이 적어야 함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한편</a:t>
            </a:r>
            <a:r>
              <a:rPr lang="en-US" altLang="ko-KR" dirty="0"/>
              <a:t>, </a:t>
            </a:r>
            <a:r>
              <a:rPr lang="ko-KR" altLang="en-US" dirty="0"/>
              <a:t>영상 정합을 위해서는 기하학적인 조건을 고려하는 것도 중요함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정사영상 </a:t>
            </a:r>
            <a:r>
              <a:rPr lang="en-US" altLang="ko-KR" dirty="0"/>
              <a:t>vs </a:t>
            </a:r>
            <a:r>
              <a:rPr lang="ko-KR" altLang="en-US" dirty="0"/>
              <a:t>비틀어진 영상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후 보정을 통해서도 해결 가능하지만 근본적인 데이터 품질도 중요</a:t>
            </a:r>
            <a:endParaRPr lang="en-US" altLang="ko-KR" dirty="0"/>
          </a:p>
          <a:p>
            <a:pPr marL="756000" lvl="4" indent="0">
              <a:buNone/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25006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C4001427-D152-87DF-042F-B694D646EF0F}"/>
              </a:ext>
            </a:extLst>
          </p:cNvPr>
          <p:cNvSpPr/>
          <p:nvPr/>
        </p:nvSpPr>
        <p:spPr bwMode="auto">
          <a:xfrm>
            <a:off x="894330" y="4777475"/>
            <a:ext cx="3319959" cy="16463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86AC88E-A641-1C77-F43E-C65AB09756DF}"/>
              </a:ext>
            </a:extLst>
          </p:cNvPr>
          <p:cNvSpPr/>
          <p:nvPr/>
        </p:nvSpPr>
        <p:spPr bwMode="auto">
          <a:xfrm>
            <a:off x="894331" y="3144432"/>
            <a:ext cx="3319959" cy="16463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6ECE661-FE5E-82AC-5B3B-4950788F1BC7}"/>
              </a:ext>
            </a:extLst>
          </p:cNvPr>
          <p:cNvSpPr/>
          <p:nvPr/>
        </p:nvSpPr>
        <p:spPr bwMode="auto">
          <a:xfrm>
            <a:off x="4212405" y="4787204"/>
            <a:ext cx="3475781" cy="16463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B6B962C-EF51-AB4E-3AEB-8703BB5A2909}"/>
              </a:ext>
            </a:extLst>
          </p:cNvPr>
          <p:cNvSpPr/>
          <p:nvPr/>
        </p:nvSpPr>
        <p:spPr bwMode="auto">
          <a:xfrm>
            <a:off x="4212406" y="3154161"/>
            <a:ext cx="3475781" cy="16463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국내 사례 조사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60371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과제 방향성 관련 조언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현재 진행중인 사업에서는 적극적인 협업이 고려되지 않으므로 </a:t>
            </a:r>
            <a:r>
              <a:rPr lang="en-US" altLang="ko-KR" dirty="0"/>
              <a:t>Academic</a:t>
            </a:r>
            <a:r>
              <a:rPr lang="ko-KR" altLang="en-US" dirty="0"/>
              <a:t>한 관점에서의 접근이 필요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실제 사업의 </a:t>
            </a:r>
            <a:r>
              <a:rPr lang="en-US" altLang="ko-KR" dirty="0" err="1"/>
              <a:t>ConOps</a:t>
            </a:r>
            <a:r>
              <a:rPr lang="ko-KR" altLang="en-US" dirty="0"/>
              <a:t>를 비교 대상으로 삼고</a:t>
            </a:r>
            <a:r>
              <a:rPr lang="en-US" altLang="ko-KR" dirty="0"/>
              <a:t>, </a:t>
            </a:r>
            <a:r>
              <a:rPr lang="ko-KR" altLang="en-US" dirty="0"/>
              <a:t>새로운 </a:t>
            </a:r>
            <a:r>
              <a:rPr lang="en-US" altLang="ko-KR" dirty="0" err="1"/>
              <a:t>ConOps</a:t>
            </a:r>
            <a:r>
              <a:rPr lang="ko-KR" altLang="en-US" dirty="0"/>
              <a:t>를 제안할 예정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＇</a:t>
            </a:r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en-US" altLang="ko-KR" dirty="0"/>
              <a:t>’ </a:t>
            </a:r>
            <a:r>
              <a:rPr lang="ko-KR" altLang="en-US" dirty="0"/>
              <a:t>용어의 정의 필요</a:t>
            </a:r>
            <a:endParaRPr lang="en-US" altLang="ko-KR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B6F5410-096E-E0CC-3A7E-33DF2572BB20}"/>
              </a:ext>
            </a:extLst>
          </p:cNvPr>
          <p:cNvCxnSpPr>
            <a:cxnSpLocks/>
          </p:cNvCxnSpPr>
          <p:nvPr/>
        </p:nvCxnSpPr>
        <p:spPr>
          <a:xfrm>
            <a:off x="894331" y="4787205"/>
            <a:ext cx="6809260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73208F8-AB09-83BA-D028-4AC9C7D1E0C0}"/>
              </a:ext>
            </a:extLst>
          </p:cNvPr>
          <p:cNvCxnSpPr>
            <a:cxnSpLocks/>
          </p:cNvCxnSpPr>
          <p:nvPr/>
        </p:nvCxnSpPr>
        <p:spPr>
          <a:xfrm flipV="1">
            <a:off x="4216241" y="3154161"/>
            <a:ext cx="0" cy="3266088"/>
          </a:xfrm>
          <a:prstGeom prst="straightConnector1">
            <a:avLst/>
          </a:prstGeom>
          <a:ln w="28575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6C0F436-3CA8-7FB8-28A5-D5E8112BAE25}"/>
              </a:ext>
            </a:extLst>
          </p:cNvPr>
          <p:cNvSpPr txBox="1"/>
          <p:nvPr/>
        </p:nvSpPr>
        <p:spPr>
          <a:xfrm>
            <a:off x="3597223" y="2845745"/>
            <a:ext cx="12380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0070C0"/>
                </a:solidFill>
              </a:rPr>
              <a:t>운용 궤도 유형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FE3127-4886-A6BF-2C1C-8228045B6FA5}"/>
              </a:ext>
            </a:extLst>
          </p:cNvPr>
          <p:cNvSpPr txBox="1"/>
          <p:nvPr/>
        </p:nvSpPr>
        <p:spPr>
          <a:xfrm>
            <a:off x="7724139" y="4648705"/>
            <a:ext cx="112683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Payload </a:t>
            </a:r>
            <a:r>
              <a:rPr lang="ko-KR" altLang="en-US" sz="1200" b="1" dirty="0">
                <a:solidFill>
                  <a:srgbClr val="FF0000"/>
                </a:solidFill>
              </a:rPr>
              <a:t>차이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0B3E10-65C4-A6E8-E5A6-00DC8162DE29}"/>
              </a:ext>
            </a:extLst>
          </p:cNvPr>
          <p:cNvSpPr txBox="1"/>
          <p:nvPr/>
        </p:nvSpPr>
        <p:spPr>
          <a:xfrm>
            <a:off x="4212406" y="3290633"/>
            <a:ext cx="7658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</a:rPr>
              <a:t>다양한 </a:t>
            </a:r>
            <a:endParaRPr lang="en-US" altLang="ko-KR" sz="1000" dirty="0">
              <a:solidFill>
                <a:srgbClr val="0070C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0070C0"/>
                </a:solidFill>
              </a:rPr>
              <a:t>궤도 유형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DF19DA-8FBA-F5A4-A865-9B84ABD90FB6}"/>
              </a:ext>
            </a:extLst>
          </p:cNvPr>
          <p:cNvSpPr txBox="1"/>
          <p:nvPr/>
        </p:nvSpPr>
        <p:spPr>
          <a:xfrm>
            <a:off x="4234840" y="4084086"/>
            <a:ext cx="692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</a:rPr>
              <a:t>궤도평면</a:t>
            </a:r>
            <a:endParaRPr lang="en-US" altLang="ko-KR" sz="1000" dirty="0">
              <a:solidFill>
                <a:srgbClr val="0070C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0070C0"/>
                </a:solidFill>
              </a:rPr>
              <a:t>차이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FEABB3-8442-7F80-EF21-07BA06E4D382}"/>
              </a:ext>
            </a:extLst>
          </p:cNvPr>
          <p:cNvSpPr txBox="1"/>
          <p:nvPr/>
        </p:nvSpPr>
        <p:spPr>
          <a:xfrm>
            <a:off x="4212407" y="5248412"/>
            <a:ext cx="13664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0070C0"/>
                </a:solidFill>
              </a:rPr>
              <a:t>RAAN </a:t>
            </a:r>
            <a:r>
              <a:rPr lang="ko-KR" altLang="en-US" sz="1000" dirty="0">
                <a:solidFill>
                  <a:srgbClr val="0070C0"/>
                </a:solidFill>
              </a:rPr>
              <a:t>차이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6B2F0C-D0BB-1A33-0E00-F3953EFE77CF}"/>
              </a:ext>
            </a:extLst>
          </p:cNvPr>
          <p:cNvSpPr txBox="1"/>
          <p:nvPr/>
        </p:nvSpPr>
        <p:spPr>
          <a:xfrm>
            <a:off x="4234841" y="5969949"/>
            <a:ext cx="12618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rgbClr val="0070C0"/>
                </a:solidFill>
              </a:rPr>
              <a:t>편대비행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B451A5-CE27-55B0-8CBF-B97EC2182EE7}"/>
              </a:ext>
            </a:extLst>
          </p:cNvPr>
          <p:cNvSpPr txBox="1"/>
          <p:nvPr/>
        </p:nvSpPr>
        <p:spPr>
          <a:xfrm>
            <a:off x="1085733" y="4820368"/>
            <a:ext cx="118614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동일 </a:t>
            </a:r>
            <a:r>
              <a:rPr lang="en-US" altLang="ko-KR" sz="1050" dirty="0">
                <a:solidFill>
                  <a:srgbClr val="FF0000"/>
                </a:solidFill>
              </a:rPr>
              <a:t>Payload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970D6E-7365-C381-A46F-F73459E706C2}"/>
              </a:ext>
            </a:extLst>
          </p:cNvPr>
          <p:cNvSpPr txBox="1"/>
          <p:nvPr/>
        </p:nvSpPr>
        <p:spPr>
          <a:xfrm>
            <a:off x="2686777" y="4815985"/>
            <a:ext cx="9262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성능 차이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5C8CA1-C894-14FD-353E-EF9D53111591}"/>
              </a:ext>
            </a:extLst>
          </p:cNvPr>
          <p:cNvSpPr txBox="1"/>
          <p:nvPr/>
        </p:nvSpPr>
        <p:spPr>
          <a:xfrm>
            <a:off x="4978221" y="4825380"/>
            <a:ext cx="112683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이종 </a:t>
            </a:r>
            <a:r>
              <a:rPr lang="en-US" altLang="ko-KR" sz="1050" dirty="0">
                <a:solidFill>
                  <a:srgbClr val="FF0000"/>
                </a:solidFill>
              </a:rPr>
              <a:t>Payload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06952B-ABD8-BB9C-F375-5C6CAA5C7AAD}"/>
              </a:ext>
            </a:extLst>
          </p:cNvPr>
          <p:cNvSpPr txBox="1"/>
          <p:nvPr/>
        </p:nvSpPr>
        <p:spPr>
          <a:xfrm>
            <a:off x="6565359" y="4821533"/>
            <a:ext cx="105895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</a:rPr>
              <a:t>Multi-Satellite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D0589E-6337-CFD4-F859-E8597CEB8D2C}"/>
              </a:ext>
            </a:extLst>
          </p:cNvPr>
          <p:cNvSpPr txBox="1"/>
          <p:nvPr/>
        </p:nvSpPr>
        <p:spPr>
          <a:xfrm>
            <a:off x="2738149" y="4092487"/>
            <a:ext cx="85907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 err="1"/>
              <a:t>Starlink</a:t>
            </a:r>
            <a:endParaRPr lang="ko-KR" altLang="en-US" sz="1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21E374-06C3-19D5-5FA2-33AF536EA9AD}"/>
              </a:ext>
            </a:extLst>
          </p:cNvPr>
          <p:cNvSpPr txBox="1"/>
          <p:nvPr/>
        </p:nvSpPr>
        <p:spPr>
          <a:xfrm>
            <a:off x="4895636" y="3984044"/>
            <a:ext cx="122645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/>
              <a:t>SAR/EO </a:t>
            </a:r>
          </a:p>
          <a:p>
            <a:pPr algn="ctr"/>
            <a:r>
              <a:rPr lang="ko-KR" altLang="en-US" sz="1400" b="1" dirty="0"/>
              <a:t>초소형 위성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CAF149-22DC-85E7-7953-CBD1BC99DE40}"/>
              </a:ext>
            </a:extLst>
          </p:cNvPr>
          <p:cNvSpPr txBox="1"/>
          <p:nvPr/>
        </p:nvSpPr>
        <p:spPr>
          <a:xfrm>
            <a:off x="1452168" y="5213196"/>
            <a:ext cx="58211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/>
              <a:t>GPS</a:t>
            </a:r>
            <a:endParaRPr lang="ko-KR" altLang="en-US" sz="14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A9D04C-F627-5728-BFF7-AD10C87C1C83}"/>
              </a:ext>
            </a:extLst>
          </p:cNvPr>
          <p:cNvSpPr txBox="1"/>
          <p:nvPr/>
        </p:nvSpPr>
        <p:spPr>
          <a:xfrm>
            <a:off x="2679060" y="5934093"/>
            <a:ext cx="1082209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/>
              <a:t>Terra SAR</a:t>
            </a:r>
            <a:endParaRPr lang="ko-KR" altLang="en-US" sz="14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DA7EBA-362D-069B-BB2F-8DB3A3546296}"/>
              </a:ext>
            </a:extLst>
          </p:cNvPr>
          <p:cNvSpPr txBox="1"/>
          <p:nvPr/>
        </p:nvSpPr>
        <p:spPr>
          <a:xfrm>
            <a:off x="5088261" y="5942498"/>
            <a:ext cx="97825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 err="1"/>
              <a:t>OptiSAR</a:t>
            </a:r>
            <a:endParaRPr lang="ko-KR" altLang="en-US" sz="14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D8B548-39C0-3AA8-559B-BE3C225AA4F2}"/>
              </a:ext>
            </a:extLst>
          </p:cNvPr>
          <p:cNvSpPr txBox="1"/>
          <p:nvPr/>
        </p:nvSpPr>
        <p:spPr>
          <a:xfrm>
            <a:off x="6747351" y="5939589"/>
            <a:ext cx="80415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/>
              <a:t>A-train</a:t>
            </a:r>
            <a:endParaRPr lang="ko-KR" altLang="en-US" sz="14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7B66237-8090-8C51-00A2-489F208D1FCC}"/>
              </a:ext>
            </a:extLst>
          </p:cNvPr>
          <p:cNvSpPr txBox="1"/>
          <p:nvPr/>
        </p:nvSpPr>
        <p:spPr>
          <a:xfrm>
            <a:off x="6308334" y="3152222"/>
            <a:ext cx="14470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Heterogeneous </a:t>
            </a:r>
          </a:p>
          <a:p>
            <a:pPr algn="ctr"/>
            <a:r>
              <a:rPr lang="en-US" altLang="ko-KR" sz="1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satellite Constellation</a:t>
            </a:r>
            <a:endParaRPr lang="ko-KR" altLang="en-US" sz="1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F0BF09C-3132-DD03-651F-C0DE97F203C1}"/>
              </a:ext>
            </a:extLst>
          </p:cNvPr>
          <p:cNvSpPr txBox="1"/>
          <p:nvPr/>
        </p:nvSpPr>
        <p:spPr>
          <a:xfrm>
            <a:off x="824825" y="6011045"/>
            <a:ext cx="14470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Homogeneous </a:t>
            </a:r>
          </a:p>
          <a:p>
            <a:pPr algn="ctr"/>
            <a:r>
              <a:rPr lang="en-US" altLang="ko-KR" sz="1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satellite Constellation</a:t>
            </a:r>
            <a:endParaRPr lang="ko-KR" altLang="en-US" sz="1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13411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추진 계획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9910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Figure of Merit </a:t>
            </a:r>
            <a:r>
              <a:rPr lang="ko-KR" altLang="en-US" dirty="0"/>
              <a:t>제안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기존 </a:t>
            </a:r>
            <a:r>
              <a:rPr lang="en-US" altLang="ko-KR" dirty="0"/>
              <a:t>Observation </a:t>
            </a:r>
            <a:r>
              <a:rPr lang="ko-KR" altLang="en-US" dirty="0"/>
              <a:t>위성에 사용되는 </a:t>
            </a:r>
            <a:r>
              <a:rPr lang="en-US" altLang="ko-KR" dirty="0" err="1"/>
              <a:t>FoM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Percent Coverage</a:t>
            </a:r>
          </a:p>
          <a:p>
            <a:pPr lvl="2">
              <a:defRPr/>
            </a:pPr>
            <a:r>
              <a:rPr lang="en-US" altLang="ko-KR" dirty="0"/>
              <a:t>Maximum Coverage Gap</a:t>
            </a:r>
          </a:p>
          <a:p>
            <a:pPr lvl="3">
              <a:defRPr/>
            </a:pPr>
            <a:r>
              <a:rPr lang="en-US" altLang="ko-KR" dirty="0"/>
              <a:t>Revisit time, response time</a:t>
            </a:r>
          </a:p>
          <a:p>
            <a:pPr lvl="2">
              <a:defRPr/>
            </a:pPr>
            <a:r>
              <a:rPr lang="en-US" altLang="ko-KR" dirty="0"/>
              <a:t>Mean Coverage Gap</a:t>
            </a:r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Heterogeneity</a:t>
            </a:r>
            <a:r>
              <a:rPr lang="ko-KR" altLang="en-US" dirty="0"/>
              <a:t>를 고려한 </a:t>
            </a:r>
            <a:r>
              <a:rPr lang="en-US" altLang="ko-KR" dirty="0" err="1"/>
              <a:t>FoM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Maximum cross revisit time</a:t>
            </a:r>
          </a:p>
          <a:p>
            <a:pPr lvl="2">
              <a:defRPr/>
            </a:pPr>
            <a:r>
              <a:rPr lang="en-US" altLang="ko-KR" dirty="0"/>
              <a:t>Mean cross revisit time</a:t>
            </a:r>
          </a:p>
          <a:p>
            <a:pPr lvl="2">
              <a:defRPr/>
            </a:pPr>
            <a:r>
              <a:rPr lang="en-US" altLang="ko-KR" dirty="0"/>
              <a:t>Percent fold coverage</a:t>
            </a:r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관측대상을 한반도 외의 장소도 포함하여 선정하고</a:t>
            </a:r>
            <a:r>
              <a:rPr lang="en-US" altLang="ko-KR" dirty="0"/>
              <a:t>, </a:t>
            </a:r>
            <a:r>
              <a:rPr lang="ko-KR" altLang="en-US" dirty="0"/>
              <a:t>각 관측지의 </a:t>
            </a:r>
            <a:r>
              <a:rPr lang="en-US" altLang="ko-KR" dirty="0"/>
              <a:t>Coverage </a:t>
            </a:r>
            <a:r>
              <a:rPr lang="ko-KR" altLang="en-US" dirty="0"/>
              <a:t>관련 정보를 </a:t>
            </a:r>
            <a:r>
              <a:rPr lang="en-US" altLang="ko-KR" dirty="0" err="1"/>
              <a:t>FoM</a:t>
            </a:r>
            <a:r>
              <a:rPr lang="ko-KR" altLang="en-US" dirty="0"/>
              <a:t>으로 사용 가능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9103625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추진 계획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9910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 err="1"/>
              <a:t>ConOps</a:t>
            </a:r>
            <a:r>
              <a:rPr lang="en-US" altLang="ko-KR" dirty="0"/>
              <a:t> </a:t>
            </a:r>
            <a:r>
              <a:rPr lang="ko-KR" altLang="en-US" dirty="0"/>
              <a:t>제안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Sar</a:t>
            </a:r>
            <a:r>
              <a:rPr lang="ko-KR" altLang="en-US" dirty="0"/>
              <a:t>와 </a:t>
            </a:r>
            <a:r>
              <a:rPr lang="en-US" altLang="ko-KR" dirty="0"/>
              <a:t>EO </a:t>
            </a:r>
            <a:r>
              <a:rPr lang="ko-KR" altLang="en-US" dirty="0"/>
              <a:t>위성이 운용되는 궤도를 다양하게 변화시키는 형태로 제안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0">
              <a:defRPr/>
            </a:pPr>
            <a:r>
              <a:rPr lang="ko-KR" altLang="en-US" dirty="0"/>
              <a:t>연구 추진계획</a:t>
            </a:r>
            <a:r>
              <a:rPr lang="en-US" altLang="ko-KR" dirty="0"/>
              <a:t>(</a:t>
            </a:r>
            <a:r>
              <a:rPr lang="ko-KR" altLang="en-US" dirty="0"/>
              <a:t>제안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 err="1"/>
              <a:t>ConOps</a:t>
            </a:r>
            <a:r>
              <a:rPr lang="en-US" altLang="ko-KR" dirty="0"/>
              <a:t> </a:t>
            </a:r>
            <a:r>
              <a:rPr lang="ko-KR" altLang="en-US" dirty="0"/>
              <a:t>후보들에 대한 </a:t>
            </a:r>
            <a:r>
              <a:rPr lang="en-US" altLang="ko-KR" dirty="0"/>
              <a:t>Simulation</a:t>
            </a:r>
            <a:r>
              <a:rPr lang="ko-KR" altLang="en-US" dirty="0"/>
              <a:t>을 통한 </a:t>
            </a:r>
            <a:r>
              <a:rPr lang="en-US" altLang="ko-KR" dirty="0" err="1"/>
              <a:t>FoM</a:t>
            </a:r>
            <a:r>
              <a:rPr lang="en-US" altLang="ko-KR" dirty="0"/>
              <a:t> Trade-Study</a:t>
            </a:r>
          </a:p>
          <a:p>
            <a:pPr lvl="2">
              <a:defRPr/>
            </a:pPr>
            <a:r>
              <a:rPr lang="ko-KR" altLang="en-US" dirty="0"/>
              <a:t>타 과제에서 </a:t>
            </a:r>
            <a:r>
              <a:rPr lang="en-US" altLang="ko-KR" dirty="0"/>
              <a:t>Reference</a:t>
            </a:r>
            <a:r>
              <a:rPr lang="ko-KR" altLang="en-US" dirty="0"/>
              <a:t>로 사용할 </a:t>
            </a:r>
            <a:r>
              <a:rPr lang="en-US" altLang="ko-KR" dirty="0" err="1"/>
              <a:t>ConOps</a:t>
            </a:r>
            <a:r>
              <a:rPr lang="en-US" altLang="ko-KR" dirty="0"/>
              <a:t> </a:t>
            </a:r>
            <a:r>
              <a:rPr lang="ko-KR" altLang="en-US" dirty="0"/>
              <a:t>제공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이후 각 </a:t>
            </a:r>
            <a:r>
              <a:rPr lang="en-US" altLang="ko-KR" dirty="0" err="1"/>
              <a:t>ConOps</a:t>
            </a:r>
            <a:r>
              <a:rPr lang="en-US" altLang="ko-KR" dirty="0"/>
              <a:t> Class</a:t>
            </a:r>
            <a:r>
              <a:rPr lang="ko-KR" altLang="en-US" dirty="0"/>
              <a:t>내에서 위성 수</a:t>
            </a:r>
            <a:r>
              <a:rPr lang="en-US" altLang="ko-KR" dirty="0"/>
              <a:t>, </a:t>
            </a:r>
            <a:r>
              <a:rPr lang="ko-KR" altLang="en-US" dirty="0"/>
              <a:t>궤도 </a:t>
            </a:r>
            <a:r>
              <a:rPr lang="en-US" altLang="ko-KR" dirty="0"/>
              <a:t>parameter </a:t>
            </a:r>
            <a:r>
              <a:rPr lang="ko-KR" altLang="en-US" dirty="0"/>
              <a:t>최적화 등 수행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marL="432000" lvl="2" indent="0">
              <a:buNone/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DC9DE54-54FB-439D-AE6E-ABF90D150A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587765"/>
              </p:ext>
            </p:extLst>
          </p:nvPr>
        </p:nvGraphicFramePr>
        <p:xfrm>
          <a:off x="884057" y="1862756"/>
          <a:ext cx="4999986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713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1530850">
                  <a:extLst>
                    <a:ext uri="{9D8B030D-6E8A-4147-A177-3AD203B41FA5}">
                      <a16:colId xmlns:a16="http://schemas.microsoft.com/office/drawing/2014/main" val="2817321279"/>
                    </a:ext>
                  </a:extLst>
                </a:gridCol>
                <a:gridCol w="1331806">
                  <a:extLst>
                    <a:ext uri="{9D8B030D-6E8A-4147-A177-3AD203B41FA5}">
                      <a16:colId xmlns:a16="http://schemas.microsoft.com/office/drawing/2014/main" val="30043742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>
                          <a:latin typeface="Times New Roman"/>
                          <a:ea typeface="+mn-ea"/>
                          <a:cs typeface="Times New Roman"/>
                        </a:rPr>
                        <a:t>ConOps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EO Orbit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SSO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SSO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SAR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와 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1:1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편대비행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SAR Orbit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LEO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SSO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(dawn-dusk)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잔여 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SAR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는 </a:t>
                      </a:r>
                      <a:endParaRPr lang="en-US" altLang="ko-KR" sz="1200" dirty="0">
                        <a:latin typeface="Times New Roman"/>
                        <a:ea typeface="+mn-ea"/>
                        <a:cs typeface="Times New Roman"/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SSO or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LEO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278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초소형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SAR 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운용 가능시간</a:t>
                      </a:r>
                      <a:endParaRPr lang="en-US" altLang="ko-KR" sz="1200" dirty="0">
                        <a:latin typeface="Times New Roman"/>
                        <a:ea typeface="+mn-ea"/>
                        <a:cs typeface="Times New Roman"/>
                      </a:endParaRPr>
                    </a:p>
                    <a:p>
                      <a:pPr algn="ctr" latinLnBrk="1">
                        <a:defRPr/>
                      </a:pP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최대화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에너지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cross revisit 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time 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최소화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683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368692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추진 계획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9910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Simulator(</a:t>
            </a:r>
            <a:r>
              <a:rPr lang="ko-KR" altLang="en-US" dirty="0"/>
              <a:t>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Input parameter</a:t>
            </a:r>
          </a:p>
          <a:p>
            <a:pPr lvl="2">
              <a:defRPr/>
            </a:pPr>
            <a:r>
              <a:rPr lang="ko-KR" altLang="en-US" dirty="0"/>
              <a:t>위성 수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Payload Coverage </a:t>
            </a:r>
            <a:r>
              <a:rPr lang="ko-KR" altLang="en-US" dirty="0"/>
              <a:t>범위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궤도 정보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Payload </a:t>
            </a:r>
            <a:r>
              <a:rPr lang="ko-KR" altLang="en-US" dirty="0"/>
              <a:t>전력 관련 </a:t>
            </a:r>
            <a:r>
              <a:rPr lang="en-US" altLang="ko-KR" dirty="0"/>
              <a:t>parameter</a:t>
            </a:r>
          </a:p>
          <a:p>
            <a:pPr lvl="2"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Output parameter</a:t>
            </a:r>
          </a:p>
          <a:p>
            <a:pPr lvl="2">
              <a:defRPr/>
            </a:pPr>
            <a:r>
              <a:rPr lang="en-US" altLang="ko-KR" dirty="0"/>
              <a:t>Figure of Merit </a:t>
            </a:r>
            <a:r>
              <a:rPr lang="ko-KR" altLang="en-US" dirty="0"/>
              <a:t>값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Requirement</a:t>
            </a:r>
          </a:p>
          <a:p>
            <a:pPr lvl="2">
              <a:defRPr/>
            </a:pPr>
            <a:r>
              <a:rPr lang="en-US" altLang="ko-KR" dirty="0"/>
              <a:t>Payload</a:t>
            </a:r>
            <a:r>
              <a:rPr lang="ko-KR" altLang="en-US" dirty="0"/>
              <a:t>전력 사용과 태양광 충전 모델링이 필요</a:t>
            </a:r>
            <a:endParaRPr lang="en-US" altLang="ko-KR" dirty="0"/>
          </a:p>
          <a:p>
            <a:pPr lvl="2">
              <a:defRPr/>
            </a:pPr>
            <a:r>
              <a:rPr lang="en-US" altLang="ko-KR" dirty="0" err="1"/>
              <a:t>FoM</a:t>
            </a:r>
            <a:r>
              <a:rPr lang="ko-KR" altLang="en-US" dirty="0"/>
              <a:t>요소가 추가될 수 있는 가능성을 고려하여 개발 필요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marL="432000" lvl="2" indent="0">
              <a:buNone/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150504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연구 진행 상황</a:t>
            </a:r>
          </a:p>
        </p:txBody>
      </p:sp>
    </p:spTree>
    <p:extLst>
      <p:ext uri="{BB962C8B-B14F-4D97-AF65-F5344CB8AC3E}">
        <p14:creationId xmlns:p14="http://schemas.microsoft.com/office/powerpoint/2010/main" val="347317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정부 연구과제 조사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215260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425 </a:t>
            </a:r>
            <a:r>
              <a:rPr lang="ko-KR" altLang="en-US" dirty="0"/>
              <a:t>사업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운용 개념 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대한민국 국방부가 군 최초로 진행하는 위성 사업으로</a:t>
            </a:r>
            <a:r>
              <a:rPr lang="en-US" altLang="ko-KR" dirty="0"/>
              <a:t>, </a:t>
            </a:r>
            <a:r>
              <a:rPr lang="ko-KR" altLang="en-US" dirty="0"/>
              <a:t>한반도 주변을 감시하는 위성을 운용하여 북한 위협을 실시간 탐지하고 선제 타격하는 군 대응 시스템 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SAR</a:t>
            </a:r>
            <a:r>
              <a:rPr lang="ko-KR" altLang="en-US" dirty="0"/>
              <a:t>위성 </a:t>
            </a:r>
            <a:r>
              <a:rPr lang="en-US" altLang="ko-KR" dirty="0"/>
              <a:t>: 4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광학위성 </a:t>
            </a:r>
            <a:r>
              <a:rPr lang="en-US" altLang="ko-KR" dirty="0"/>
              <a:t>: 1</a:t>
            </a:r>
            <a:r>
              <a:rPr lang="ko-KR" altLang="en-US" dirty="0"/>
              <a:t>대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운용 목적 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기본으로 군용으로 사용하지만 산불</a:t>
            </a:r>
            <a:r>
              <a:rPr lang="en-US" altLang="ko-KR" dirty="0"/>
              <a:t>,</a:t>
            </a:r>
            <a:r>
              <a:rPr lang="ko-KR" altLang="en-US" dirty="0"/>
              <a:t> 중국어선 등의 촬영을 위한 별도 수집계획도 있음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상위 의사결정기구에서 수집계획을 수립하면 그에 따른 임무를 수행 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운용 궤도 및 해상도 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고도 </a:t>
            </a:r>
            <a:r>
              <a:rPr lang="en-US" altLang="ko-KR" dirty="0"/>
              <a:t>500~600km</a:t>
            </a:r>
            <a:r>
              <a:rPr lang="ko-KR" altLang="en-US" dirty="0"/>
              <a:t>의 </a:t>
            </a:r>
            <a:r>
              <a:rPr lang="en-US" altLang="ko-KR" dirty="0"/>
              <a:t>SSO </a:t>
            </a:r>
            <a:r>
              <a:rPr lang="ko-KR" altLang="en-US" dirty="0"/>
              <a:t>및 </a:t>
            </a:r>
            <a:r>
              <a:rPr lang="en-US" altLang="ko-KR" dirty="0"/>
              <a:t>LEO </a:t>
            </a:r>
            <a:r>
              <a:rPr lang="ko-KR" altLang="en-US" dirty="0"/>
              <a:t>사용 </a:t>
            </a:r>
            <a:r>
              <a:rPr lang="en-US" altLang="ko-KR" dirty="0"/>
              <a:t>&amp; </a:t>
            </a:r>
            <a:r>
              <a:rPr lang="ko-KR" altLang="en-US" dirty="0"/>
              <a:t>해상도 </a:t>
            </a:r>
            <a:r>
              <a:rPr lang="en-US" altLang="ko-KR" dirty="0"/>
              <a:t>30cm</a:t>
            </a:r>
            <a:r>
              <a:rPr lang="ko-KR" altLang="en-US" dirty="0"/>
              <a:t>가량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425</a:t>
            </a:r>
            <a:r>
              <a:rPr lang="ko-KR" altLang="en-US" dirty="0"/>
              <a:t>등 </a:t>
            </a:r>
            <a:r>
              <a:rPr lang="ko-KR" altLang="en-US" dirty="0" err="1"/>
              <a:t>중형급</a:t>
            </a:r>
            <a:r>
              <a:rPr lang="ko-KR" altLang="en-US" dirty="0"/>
              <a:t> 위성은 궤도상 </a:t>
            </a:r>
            <a:r>
              <a:rPr lang="en-US" altLang="ko-KR" dirty="0"/>
              <a:t>Maneuver</a:t>
            </a:r>
            <a:r>
              <a:rPr lang="ko-KR" altLang="en-US" dirty="0"/>
              <a:t>가 가능하지만</a:t>
            </a:r>
            <a:r>
              <a:rPr lang="en-US" altLang="ko-KR" dirty="0"/>
              <a:t>, </a:t>
            </a:r>
            <a:r>
              <a:rPr lang="ko-KR" altLang="en-US" dirty="0"/>
              <a:t>초소형 위성은 사실상 불가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해상도 및 재방문 주기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재방문 주기를 줄이기 위해서 </a:t>
            </a:r>
            <a:r>
              <a:rPr lang="en-US" altLang="ko-KR" dirty="0"/>
              <a:t>ISL</a:t>
            </a:r>
            <a:r>
              <a:rPr lang="ko-KR" altLang="en-US" dirty="0"/>
              <a:t>을 통해 명령을 빠르게 올려 보내는 것이 중요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재방문 주기 정의 관점에서 사람의 </a:t>
            </a:r>
            <a:r>
              <a:rPr lang="en-US" altLang="ko-KR" dirty="0"/>
              <a:t>Delay, Imaging processing time</a:t>
            </a:r>
            <a:r>
              <a:rPr lang="ko-KR" altLang="en-US" dirty="0"/>
              <a:t>등 여러 요소들이 중요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촬영한 영상을 받는 과정에서의 </a:t>
            </a:r>
            <a:r>
              <a:rPr lang="en-US" altLang="ko-KR" dirty="0"/>
              <a:t>Delay</a:t>
            </a:r>
            <a:r>
              <a:rPr lang="ko-KR" altLang="en-US" dirty="0"/>
              <a:t>를 줄이려면 실질적으로 정지궤도 통신 위성을 경유하는 방법이 있지만 초소형 위성에서는 현실적으로 어려움</a:t>
            </a:r>
            <a:endParaRPr lang="en-US" altLang="ko-KR" dirty="0"/>
          </a:p>
          <a:p>
            <a:pPr lvl="2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230831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정부 연구과제 조사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215260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425 </a:t>
            </a:r>
            <a:r>
              <a:rPr lang="ko-KR" altLang="en-US" dirty="0"/>
              <a:t>사업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신뢰도 문제 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위성의 크기가 작아질수록 신뢰도는 단일 위성의 신뢰도가 아닌 </a:t>
            </a:r>
            <a:r>
              <a:rPr lang="ko-KR" altLang="en-US" dirty="0" err="1"/>
              <a:t>위성군</a:t>
            </a:r>
            <a:r>
              <a:rPr lang="ko-KR" altLang="en-US" dirty="0"/>
              <a:t> 전체의 신뢰도 개념으로 받아들임</a:t>
            </a:r>
            <a:r>
              <a:rPr lang="en-US" altLang="ko-KR" dirty="0"/>
              <a:t>(40</a:t>
            </a:r>
            <a:r>
              <a:rPr lang="ko-KR" altLang="en-US" dirty="0"/>
              <a:t>대의 초소형 위성이 있다면 </a:t>
            </a:r>
            <a:r>
              <a:rPr lang="en-US" altLang="ko-KR" dirty="0"/>
              <a:t>10%</a:t>
            </a:r>
            <a:r>
              <a:rPr lang="ko-KR" altLang="en-US" dirty="0"/>
              <a:t>정도가 운용불가 상태가 되더라도 시스템은 임무 수행 가능</a:t>
            </a:r>
            <a:r>
              <a:rPr lang="en-US" altLang="ko-KR" dirty="0"/>
              <a:t>) </a:t>
            </a:r>
          </a:p>
          <a:p>
            <a:pPr lvl="1">
              <a:defRPr/>
            </a:pPr>
            <a:r>
              <a:rPr lang="ko-KR" altLang="en-US" dirty="0"/>
              <a:t>위성의 데이터 사이즈 및 수명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결국 데이터를 얼마나 오랫동안 들고 있을 것인지에 따라 설계적으로 결정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모든 </a:t>
            </a:r>
            <a:r>
              <a:rPr lang="en-US" altLang="ko-KR" dirty="0"/>
              <a:t>Pass</a:t>
            </a:r>
            <a:r>
              <a:rPr lang="ko-KR" altLang="en-US" dirty="0"/>
              <a:t>에 데이터를 내려 보낼 것인지</a:t>
            </a:r>
            <a:r>
              <a:rPr lang="en-US" altLang="ko-KR" dirty="0"/>
              <a:t>, 2~3</a:t>
            </a:r>
            <a:r>
              <a:rPr lang="ko-KR" altLang="en-US" dirty="0"/>
              <a:t>번의 </a:t>
            </a:r>
            <a:r>
              <a:rPr lang="en-US" altLang="ko-KR" dirty="0"/>
              <a:t>Pass</a:t>
            </a:r>
            <a:r>
              <a:rPr lang="ko-KR" altLang="en-US" dirty="0"/>
              <a:t>당 한번 씩 내려 보낼 것인지 등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(</a:t>
            </a:r>
            <a:r>
              <a:rPr lang="ko-KR" altLang="en-US" dirty="0"/>
              <a:t>특히 위성의 수명이</a:t>
            </a:r>
            <a:r>
              <a:rPr lang="en-US" altLang="ko-KR" dirty="0"/>
              <a:t>)</a:t>
            </a:r>
            <a:r>
              <a:rPr lang="ko-KR" altLang="en-US" dirty="0"/>
              <a:t>위성 크기에 따라 큰 연관이 있음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추가 발사를 통해 자연적으로 운용 위성의 개수가 많아질 경우</a:t>
            </a:r>
            <a:r>
              <a:rPr lang="en-US" altLang="ko-KR" dirty="0"/>
              <a:t>, </a:t>
            </a:r>
            <a:r>
              <a:rPr lang="ko-KR" altLang="en-US" dirty="0"/>
              <a:t>재방문 주기가 그만큼 줄어들기 때문에 위성 수명이 길수록 유리함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운용 자동화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현재 운용 자동화는 적극적으로 고려되고 있지는 않음</a:t>
            </a:r>
            <a:endParaRPr lang="en-US" altLang="ko-KR" dirty="0"/>
          </a:p>
          <a:p>
            <a:pPr lvl="3">
              <a:defRPr/>
            </a:pPr>
            <a:r>
              <a:rPr lang="ko-KR" altLang="en-US" dirty="0"/>
              <a:t>초소형 위성 체계 사업 스케일에서는 불가능할 것으로 보임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모든 </a:t>
            </a:r>
            <a:r>
              <a:rPr lang="en-US" altLang="ko-KR" dirty="0"/>
              <a:t>pass</a:t>
            </a:r>
            <a:r>
              <a:rPr lang="ko-KR" altLang="en-US" dirty="0"/>
              <a:t>를 사람이 직접 모니터링 하는 방식을 사용함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위성 제어</a:t>
            </a:r>
            <a:r>
              <a:rPr lang="en-US" altLang="ko-KR" dirty="0"/>
              <a:t>, </a:t>
            </a:r>
            <a:r>
              <a:rPr lang="ko-KR" altLang="en-US" dirty="0"/>
              <a:t>임무 명령은 </a:t>
            </a:r>
            <a:r>
              <a:rPr lang="en-US" altLang="ko-KR" dirty="0"/>
              <a:t>ISL</a:t>
            </a:r>
            <a:r>
              <a:rPr lang="ko-KR" altLang="en-US" dirty="0"/>
              <a:t>의 존재여부에 따라 결정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0012844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정부 연구과제 조사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425 </a:t>
            </a:r>
            <a:r>
              <a:rPr lang="ko-KR" altLang="en-US" dirty="0"/>
              <a:t>사업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위성의 </a:t>
            </a:r>
            <a:r>
              <a:rPr lang="en-US" altLang="ko-KR" dirty="0"/>
              <a:t>Setup </a:t>
            </a:r>
            <a:r>
              <a:rPr lang="ko-KR" altLang="en-US" dirty="0"/>
              <a:t>관련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저렴한 발사체를 활용하여 여러 위성을 동시에 발사하게 될 것으로 예상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Commissioning, LEOP, IOT </a:t>
            </a:r>
            <a:r>
              <a:rPr lang="ko-KR" altLang="en-US" dirty="0"/>
              <a:t>등은 여러 위성이 동시에 진행할 수 밖에 없음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위성이 자체적으로 태양지향을 안정적으로 할 수 있도록 하는 것 고려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Pass frequency</a:t>
            </a:r>
          </a:p>
          <a:p>
            <a:pPr lvl="2">
              <a:defRPr/>
            </a:pPr>
            <a:r>
              <a:rPr lang="en-US" altLang="ko-KR" dirty="0"/>
              <a:t>Up-link :</a:t>
            </a:r>
            <a:r>
              <a:rPr lang="ko-KR" altLang="en-US" dirty="0"/>
              <a:t> </a:t>
            </a:r>
            <a:r>
              <a:rPr lang="en-US" altLang="ko-KR" dirty="0"/>
              <a:t>S-band</a:t>
            </a:r>
            <a:r>
              <a:rPr lang="ko-KR" altLang="en-US" dirty="0"/>
              <a:t>를 이용하며</a:t>
            </a:r>
            <a:r>
              <a:rPr lang="en-US" altLang="ko-KR" dirty="0"/>
              <a:t>, </a:t>
            </a:r>
            <a:r>
              <a:rPr lang="ko-KR" altLang="en-US" dirty="0"/>
              <a:t>지상국에서 위성으로 곧바로 송신 가능</a:t>
            </a:r>
            <a:r>
              <a:rPr lang="en-US" altLang="ko-KR" dirty="0"/>
              <a:t> </a:t>
            </a:r>
          </a:p>
          <a:p>
            <a:pPr lvl="2">
              <a:defRPr/>
            </a:pPr>
            <a:r>
              <a:rPr lang="en-US" altLang="ko-KR" dirty="0"/>
              <a:t>Down link : X-band(</a:t>
            </a:r>
            <a:r>
              <a:rPr lang="ko-KR" altLang="en-US" dirty="0"/>
              <a:t>기후의 영향 덜 받음</a:t>
            </a:r>
            <a:r>
              <a:rPr lang="en-US" altLang="ko-KR" dirty="0"/>
              <a:t>)</a:t>
            </a:r>
            <a:r>
              <a:rPr lang="ko-KR" altLang="en-US" dirty="0"/>
              <a:t>를 이용하며 </a:t>
            </a:r>
            <a:r>
              <a:rPr lang="ko-KR" altLang="en-US" dirty="0" err="1"/>
              <a:t>지상국</a:t>
            </a:r>
            <a:r>
              <a:rPr lang="en-US" altLang="ko-KR" dirty="0"/>
              <a:t>-</a:t>
            </a:r>
            <a:r>
              <a:rPr lang="ko-KR" altLang="en-US" dirty="0"/>
              <a:t>위성 송신도 가능하지만</a:t>
            </a:r>
            <a:r>
              <a:rPr lang="en-US" altLang="ko-KR" dirty="0"/>
              <a:t> </a:t>
            </a:r>
            <a:r>
              <a:rPr lang="ko-KR" altLang="en-US" dirty="0"/>
              <a:t>용량이 클 경우 </a:t>
            </a:r>
            <a:r>
              <a:rPr lang="en-US" altLang="ko-KR" dirty="0"/>
              <a:t>LEO </a:t>
            </a:r>
            <a:r>
              <a:rPr lang="ko-KR" altLang="en-US" dirty="0"/>
              <a:t>→ 중개위성 → </a:t>
            </a:r>
            <a:r>
              <a:rPr lang="en-US" altLang="ko-KR" dirty="0"/>
              <a:t>GEO </a:t>
            </a:r>
            <a:r>
              <a:rPr lang="ko-KR" altLang="en-US" dirty="0"/>
              <a:t>→ 지상국과 같은 과정도 가능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레이저 통신은 기후영향에 민감하기 때문에 실제 활용은 어려움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위성간 통신에는 기후 영향이 적은 레이저 통신 활용이 가능할 것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0394611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MILP </a:t>
            </a:r>
            <a:r>
              <a:rPr lang="ko-KR" altLang="en-US" dirty="0"/>
              <a:t>설계 기법 코딩 진행상황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MILP</a:t>
            </a:r>
            <a:r>
              <a:rPr lang="ko-KR" altLang="en-US" dirty="0"/>
              <a:t> </a:t>
            </a:r>
            <a:r>
              <a:rPr lang="en-US" altLang="ko-KR" dirty="0"/>
              <a:t>method </a:t>
            </a:r>
            <a:r>
              <a:rPr lang="ko-KR" altLang="en-US" dirty="0"/>
              <a:t>구현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Julia </a:t>
            </a:r>
            <a:r>
              <a:rPr lang="ko-KR" altLang="en-US" dirty="0"/>
              <a:t>프로그래밍 언어에서 작성된 데이터를 </a:t>
            </a:r>
            <a:r>
              <a:rPr lang="en-US" altLang="ko-KR" dirty="0" err="1"/>
              <a:t>Matlab</a:t>
            </a:r>
            <a:r>
              <a:rPr lang="en-US" altLang="ko-KR" dirty="0"/>
              <a:t> </a:t>
            </a:r>
            <a:r>
              <a:rPr lang="ko-KR" altLang="en-US" dirty="0"/>
              <a:t>환경으로 변환 중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150966B-79D1-C1D7-5C32-81C236D67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1795988"/>
            <a:ext cx="7305659" cy="4509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8880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940854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86392</TotalTime>
  <Words>1091</Words>
  <Application>Microsoft Office PowerPoint</Application>
  <PresentationFormat>화면 슬라이드 쇼(4:3)</PresentationFormat>
  <Paragraphs>239</Paragraphs>
  <Slides>16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times</vt:lpstr>
      <vt:lpstr>맑은 고딕</vt:lpstr>
      <vt:lpstr>Arial</vt:lpstr>
      <vt:lpstr>Times New Roman</vt:lpstr>
      <vt:lpstr>Wingdings</vt:lpstr>
      <vt:lpstr>Office 테마</vt:lpstr>
      <vt:lpstr>이종위성군 성능 분석 및 설계/최적화</vt:lpstr>
      <vt:lpstr>목차</vt:lpstr>
      <vt:lpstr>7/28 카이스트 회의 내용</vt:lpstr>
      <vt:lpstr>해외 사례 조사</vt:lpstr>
      <vt:lpstr>국내 사례 조사</vt:lpstr>
      <vt:lpstr>국내 사례 조사</vt:lpstr>
      <vt:lpstr>국내 사례 조사</vt:lpstr>
      <vt:lpstr>연구 추진 계획</vt:lpstr>
      <vt:lpstr>연구 추진 계획</vt:lpstr>
      <vt:lpstr>연구 추진 계획</vt:lpstr>
      <vt:lpstr>연구 진행 상황</vt:lpstr>
      <vt:lpstr>정부 연구과제 조사</vt:lpstr>
      <vt:lpstr>정부 연구과제 조사</vt:lpstr>
      <vt:lpstr>정부 연구과제 조사</vt:lpstr>
      <vt:lpstr>MILP 설계 기법 코딩 진행상황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4554</cp:revision>
  <dcterms:created xsi:type="dcterms:W3CDTF">2018-01-29T02:45:56Z</dcterms:created>
  <dcterms:modified xsi:type="dcterms:W3CDTF">2023-08-02T05:14:14Z</dcterms:modified>
</cp:coreProperties>
</file>