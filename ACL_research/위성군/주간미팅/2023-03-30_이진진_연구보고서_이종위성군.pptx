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14"/>
  </p:notesMasterIdLst>
  <p:handoutMasterIdLst>
    <p:handoutMasterId r:id="rId15"/>
  </p:handoutMasterIdLst>
  <p:sldIdLst>
    <p:sldId id="2229" r:id="rId2"/>
    <p:sldId id="2239" r:id="rId3"/>
    <p:sldId id="257" r:id="rId4"/>
    <p:sldId id="259" r:id="rId5"/>
    <p:sldId id="2299" r:id="rId6"/>
    <p:sldId id="2300" r:id="rId7"/>
    <p:sldId id="2301" r:id="rId8"/>
    <p:sldId id="2303" r:id="rId9"/>
    <p:sldId id="2302" r:id="rId10"/>
    <p:sldId id="2297" r:id="rId11"/>
    <p:sldId id="2298" r:id="rId12"/>
    <p:sldId id="268" r:id="rId1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극남" initials="김" lastIdx="0" clrIdx="0">
    <p:extLst>
      <p:ext uri="{19B8F6BF-5375-455C-9EA6-DF929625EA0E}">
        <p15:presenceInfo xmlns:p15="http://schemas.microsoft.com/office/powerpoint/2012/main" userId="김극남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B021"/>
    <a:srgbClr val="D9541A"/>
    <a:srgbClr val="404040"/>
    <a:srgbClr val="FFFFFF"/>
    <a:srgbClr val="001E46"/>
    <a:srgbClr val="000A1E"/>
    <a:srgbClr val="FFCCCC"/>
    <a:srgbClr val="001432"/>
    <a:srgbClr val="FFCCFF"/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31" autoAdjust="0"/>
    <p:restoredTop sz="82161" autoAdjust="0"/>
  </p:normalViewPr>
  <p:slideViewPr>
    <p:cSldViewPr snapToGrid="0" showGuides="1">
      <p:cViewPr>
        <p:scale>
          <a:sx n="100" d="100"/>
          <a:sy n="100" d="100"/>
        </p:scale>
        <p:origin x="798" y="-14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299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E49D1F-15B2-4B9C-8076-11C3A082C32A}" type="datetimeFigureOut">
              <a:rPr lang="ko-KR" altLang="en-US" smtClean="0"/>
              <a:t>2023-03-30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A8452A-AED7-4144-8B8B-DADFF71C57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899186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DDD8DE-5D7B-4A4B-9949-78C9C314FE9D}" type="datetimeFigureOut">
              <a:rPr lang="ko-KR" altLang="en-US" smtClean="0"/>
              <a:t>2023-03-30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463564-01E7-4F87-AE00-59478FEE8A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0125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09343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16635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4419136"/>
            <a:ext cx="6858000" cy="1339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발표장소</a:t>
            </a:r>
            <a:r>
              <a:rPr lang="en-US" altLang="ko-KR" dirty="0"/>
              <a:t>/</a:t>
            </a:r>
            <a:r>
              <a:rPr lang="ko-KR" altLang="en-US" dirty="0"/>
              <a:t>발표일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935331"/>
            <a:ext cx="9144000" cy="2226189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발표제목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80F818A9-523E-49E6-8353-F8A3A0FF3B05}"/>
              </a:ext>
            </a:extLst>
          </p:cNvPr>
          <p:cNvGrpSpPr/>
          <p:nvPr userDrawn="1"/>
        </p:nvGrpSpPr>
        <p:grpSpPr>
          <a:xfrm>
            <a:off x="3097294" y="6017853"/>
            <a:ext cx="3389530" cy="720000"/>
            <a:chOff x="3167632" y="6062339"/>
            <a:chExt cx="3389530" cy="720000"/>
          </a:xfrm>
        </p:grpSpPr>
        <p:pic>
          <p:nvPicPr>
            <p:cNvPr id="4" name="그림 3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E63BAE71-441C-4804-B8BC-2FBAFD2A509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15EB456-78DB-470E-AB3C-3A934AB3135F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B0D7EE89-F264-41E4-AEC5-73770F7D8F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50000"/>
          <a:stretch/>
        </p:blipFill>
        <p:spPr>
          <a:xfrm>
            <a:off x="7031115" y="4108252"/>
            <a:ext cx="2133955" cy="276158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D783890-A54B-4809-84F6-B7736A2B63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5510" b="52178"/>
          <a:stretch/>
        </p:blipFill>
        <p:spPr>
          <a:xfrm flipH="1">
            <a:off x="-21070" y="4419136"/>
            <a:ext cx="2212357" cy="243886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A08DBB2-FE6A-40A8-BAA8-F4DFAEEBA3F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89661"/>
            <a:ext cx="720000" cy="720000"/>
          </a:xfrm>
          <a:prstGeom prst="rect">
            <a:avLst/>
          </a:prstGeom>
        </p:spPr>
      </p:pic>
      <p:pic>
        <p:nvPicPr>
          <p:cNvPr id="12" name="Picture 8">
            <a:extLst>
              <a:ext uri="{FF2B5EF4-FFF2-40B4-BE49-F238E27FC236}">
                <a16:creationId xmlns:a16="http://schemas.microsoft.com/office/drawing/2014/main" id="{6A115575-BE6D-40AD-B231-D68D8B4912A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89661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7918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DD644064-7FF7-4F6F-ADA3-1626B4D81BCB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9EEAC6FF-2CB2-4248-942E-A23DF1B6BE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ABD5D053-347B-45C0-B24B-C511B6215B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CDF2725A-2EAD-4828-8A48-CF4B69244C83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7" name="슬라이드 번호 개체 틀 4">
            <a:extLst>
              <a:ext uri="{FF2B5EF4-FFF2-40B4-BE49-F238E27FC236}">
                <a16:creationId xmlns:a16="http://schemas.microsoft.com/office/drawing/2014/main" id="{116EEB02-C842-4201-B314-07D2C2222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23B068E-A8D6-4389-87D7-7224E5B251E9}"/>
              </a:ext>
            </a:extLst>
          </p:cNvPr>
          <p:cNvGrpSpPr/>
          <p:nvPr userDrawn="1"/>
        </p:nvGrpSpPr>
        <p:grpSpPr>
          <a:xfrm>
            <a:off x="695141" y="1187583"/>
            <a:ext cx="698862" cy="4535814"/>
            <a:chOff x="695141" y="1187583"/>
            <a:chExt cx="698862" cy="4535814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FB63AC01-59A1-4839-880A-52A4371FE19E}"/>
                </a:ext>
              </a:extLst>
            </p:cNvPr>
            <p:cNvSpPr/>
            <p:nvPr/>
          </p:nvSpPr>
          <p:spPr>
            <a:xfrm>
              <a:off x="701313" y="11875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E40572AD-6701-4266-9752-13DC1E63AA2C}"/>
                </a:ext>
              </a:extLst>
            </p:cNvPr>
            <p:cNvSpPr/>
            <p:nvPr/>
          </p:nvSpPr>
          <p:spPr>
            <a:xfrm>
              <a:off x="695141" y="214960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62E28C8-6768-42E9-BCF0-6BF7AA2C69D1}"/>
                </a:ext>
              </a:extLst>
            </p:cNvPr>
            <p:cNvSpPr/>
            <p:nvPr/>
          </p:nvSpPr>
          <p:spPr>
            <a:xfrm>
              <a:off x="695141" y="311163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51C8E578-E54B-4F6C-8319-D77A1971F286}"/>
                </a:ext>
              </a:extLst>
            </p:cNvPr>
            <p:cNvSpPr/>
            <p:nvPr/>
          </p:nvSpPr>
          <p:spPr>
            <a:xfrm>
              <a:off x="695141" y="407365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0F52A207-95C0-475F-A6D7-1FCB68CF92B4}"/>
                </a:ext>
              </a:extLst>
            </p:cNvPr>
            <p:cNvSpPr/>
            <p:nvPr/>
          </p:nvSpPr>
          <p:spPr>
            <a:xfrm>
              <a:off x="695141" y="50356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graphicFrame>
        <p:nvGraphicFramePr>
          <p:cNvPr id="18" name="표 18">
            <a:extLst>
              <a:ext uri="{FF2B5EF4-FFF2-40B4-BE49-F238E27FC236}">
                <a16:creationId xmlns:a16="http://schemas.microsoft.com/office/drawing/2014/main" id="{5B07531E-AAB8-40A5-B3D0-4F0F6D12E2F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5206933"/>
              </p:ext>
            </p:extLst>
          </p:nvPr>
        </p:nvGraphicFramePr>
        <p:xfrm>
          <a:off x="1454505" y="1029970"/>
          <a:ext cx="7318019" cy="4829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167346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247919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284267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405283"/>
                  </a:ext>
                </a:extLst>
              </a:tr>
            </a:tbl>
          </a:graphicData>
        </a:graphic>
      </p:graphicFrame>
      <p:pic>
        <p:nvPicPr>
          <p:cNvPr id="23" name="그림 22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FEF37F4A-64D8-493C-A65A-762B21FB97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6567B15C-EDC8-4FDB-86E3-588E3F4B38B8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6486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B04D5D09-A2FC-4C8B-A3FF-CD7464225194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5" name="슬라이드 번호 개체 틀 4">
            <a:extLst>
              <a:ext uri="{FF2B5EF4-FFF2-40B4-BE49-F238E27FC236}">
                <a16:creationId xmlns:a16="http://schemas.microsoft.com/office/drawing/2014/main" id="{631309A5-660A-4E14-8195-3A2515234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7540F519-A5D5-4C17-A8B9-7371A3A84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Autofit/>
          </a:bodyPr>
          <a:lstStyle>
            <a:lvl1pPr marL="228600" indent="-360000">
              <a:lnSpc>
                <a:spcPct val="100000"/>
              </a:lnSpc>
              <a:buFont typeface="Wingdings" panose="05000000000000000000" pitchFamily="2" charset="2"/>
              <a:buChar char="v"/>
              <a:defRPr sz="24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540000" indent="-324000">
              <a:lnSpc>
                <a:spcPct val="100000"/>
              </a:lnSpc>
              <a:buFont typeface="Wingdings" panose="05000000000000000000" pitchFamily="2" charset="2"/>
              <a:buChar char="u"/>
              <a:defRPr sz="1800" b="0">
                <a:latin typeface="times" panose="02020603050405020304" pitchFamily="18" charset="0"/>
                <a:cs typeface="times" panose="02020603050405020304" pitchFamily="18" charset="0"/>
              </a:defRPr>
            </a:lvl2pPr>
            <a:lvl3pPr marL="720000" indent="-288000">
              <a:lnSpc>
                <a:spcPct val="100000"/>
              </a:lnSpc>
              <a:buFont typeface="Wingdings" panose="05000000000000000000" pitchFamily="2" charset="2"/>
              <a:buChar char="Ø"/>
              <a:defRPr sz="1600">
                <a:latin typeface="times" panose="02020603050405020304" pitchFamily="18" charset="0"/>
                <a:cs typeface="times" panose="02020603050405020304" pitchFamily="18" charset="0"/>
              </a:defRPr>
            </a:lvl3pPr>
            <a:lvl4pPr marL="900000" indent="-252000">
              <a:lnSpc>
                <a:spcPct val="100000"/>
              </a:lnSpc>
              <a:buFont typeface="Wingdings" panose="05000000000000000000" pitchFamily="2" charset="2"/>
              <a:buChar char="ü"/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4pPr>
            <a:lvl5pPr marL="1080000" indent="-252000">
              <a:lnSpc>
                <a:spcPct val="100000"/>
              </a:lnSpc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78361285-D5CA-4434-A351-5343035FD0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5C7FC81-20F4-4FC2-B40D-A9FF1F5207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D14EEDE-3F58-409A-8C98-F099C099E03A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D6923843-3AE5-4E5F-BACA-DFA2C5600B2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4926874-7DA7-4D84-BD23-06EAC42705A1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828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질의응답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FBB211E-0AA6-4FE2-9E18-B081DCF3E19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4543424"/>
            <a:ext cx="6858000" cy="1339783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연락처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2319A21-8E7C-4790-9643-94CC192529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4" name="Picture 8">
            <a:extLst>
              <a:ext uri="{FF2B5EF4-FFF2-40B4-BE49-F238E27FC236}">
                <a16:creationId xmlns:a16="http://schemas.microsoft.com/office/drawing/2014/main" id="{46F0A41C-6A01-44CA-A626-55476509C7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6E63BBB4-44C3-4C69-9162-763FE81E6FB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26" name="그림 25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58F4BD04-EF90-4931-B1B3-0FDABC5889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727BC293-2715-43CE-819C-216F1B960AEE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5769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간지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0F02479-4D4E-48F6-A414-FD2BEFAB59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93518514-EB1D-4173-98C0-35F88CF32D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6A8B2090-A0C2-4296-B39A-3CF2073B64C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12" name="그림 11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D4A8645E-E578-4994-ACFB-E636079E42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69595E0-FFC1-42B0-845F-81DEAB14A06B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8693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4630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B3741-4917-4953-934B-4EF1C3CF779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694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7" r:id="rId2"/>
    <p:sldLayoutId id="2147483662" r:id="rId3"/>
    <p:sldLayoutId id="2147483679" r:id="rId4"/>
    <p:sldLayoutId id="2147483678" r:id="rId5"/>
    <p:sldLayoutId id="2147483667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package" Target="../embeddings/Microsoft_Word_Document.docx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>
            <a:extLst>
              <a:ext uri="{FF2B5EF4-FFF2-40B4-BE49-F238E27FC236}">
                <a16:creationId xmlns:a16="http://schemas.microsoft.com/office/drawing/2014/main" id="{007FD355-926D-4297-AA2A-AA0058A070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이진진</a:t>
            </a:r>
            <a:endParaRPr lang="en-US" altLang="ko-KR" dirty="0"/>
          </a:p>
          <a:p>
            <a:r>
              <a:rPr lang="ko-KR" altLang="en-US" dirty="0"/>
              <a:t>석사과정 </a:t>
            </a:r>
            <a:r>
              <a:rPr lang="en-US" altLang="ko-KR" dirty="0"/>
              <a:t>3</a:t>
            </a:r>
            <a:r>
              <a:rPr lang="ko-KR" altLang="en-US" dirty="0"/>
              <a:t>학기</a:t>
            </a:r>
            <a:endParaRPr lang="en-US" altLang="ko-KR" dirty="0"/>
          </a:p>
          <a:p>
            <a:r>
              <a:rPr lang="en-US" altLang="ko-KR" dirty="0"/>
              <a:t>2023-03-30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F47A90A-3F95-4B77-93ED-98D7503684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이종위성군 성능 분석 및 설계</a:t>
            </a:r>
            <a:r>
              <a:rPr lang="en-US" altLang="ko-KR" dirty="0"/>
              <a:t>/</a:t>
            </a:r>
            <a:r>
              <a:rPr lang="ko-KR" altLang="en-US" dirty="0"/>
              <a:t>최적화</a:t>
            </a:r>
          </a:p>
        </p:txBody>
      </p:sp>
    </p:spTree>
    <p:extLst>
      <p:ext uri="{BB962C8B-B14F-4D97-AF65-F5344CB8AC3E}">
        <p14:creationId xmlns:p14="http://schemas.microsoft.com/office/powerpoint/2010/main" val="1894757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ACEF4E-3B7E-4CE7-9B6C-3BDC77E04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828" y="71055"/>
            <a:ext cx="7197892" cy="687714"/>
          </a:xfrm>
        </p:spPr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4B61DD4-0D6A-42E5-9AD2-E3C0BD7CD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88843"/>
            <a:ext cx="981169" cy="360000"/>
          </a:xfrm>
        </p:spPr>
        <p:txBody>
          <a:bodyPr/>
          <a:lstStyle/>
          <a:p>
            <a:fld id="{397DD3AE-C24E-49FC-B527-05061A0348E6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graphicFrame>
        <p:nvGraphicFramePr>
          <p:cNvPr id="11" name="표 18">
            <a:extLst>
              <a:ext uri="{FF2B5EF4-FFF2-40B4-BE49-F238E27FC236}">
                <a16:creationId xmlns:a16="http://schemas.microsoft.com/office/drawing/2014/main" id="{1E7CEB30-BE78-4962-AA69-2D4B76A55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8193107"/>
              </p:ext>
            </p:extLst>
          </p:nvPr>
        </p:nvGraphicFramePr>
        <p:xfrm>
          <a:off x="1454505" y="1029970"/>
          <a:ext cx="7318019" cy="2897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b="1" dirty="0">
                          <a:solidFill>
                            <a:schemeClr val="tx1"/>
                          </a:solidFill>
                        </a:rPr>
                        <a:t>이종위성군 회의</a:t>
                      </a:r>
                      <a:r>
                        <a:rPr lang="en-US" altLang="ko-KR" sz="2000" b="1" dirty="0">
                          <a:solidFill>
                            <a:schemeClr val="tx1"/>
                          </a:solidFill>
                        </a:rPr>
                        <a:t>(23.03.20)</a:t>
                      </a:r>
                      <a:r>
                        <a:rPr lang="ko-KR" altLang="en-US" sz="2000" b="1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결론 및 향후 연구 계획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284267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405283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13A039B3-2D6B-414C-B6C3-91F438CC53E3}"/>
              </a:ext>
            </a:extLst>
          </p:cNvPr>
          <p:cNvSpPr/>
          <p:nvPr/>
        </p:nvSpPr>
        <p:spPr>
          <a:xfrm>
            <a:off x="457200" y="4876799"/>
            <a:ext cx="997305" cy="9823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D3282C1-EAF0-E51F-4C6E-64EF18128D36}"/>
              </a:ext>
            </a:extLst>
          </p:cNvPr>
          <p:cNvSpPr/>
          <p:nvPr/>
        </p:nvSpPr>
        <p:spPr bwMode="auto">
          <a:xfrm>
            <a:off x="457200" y="3044536"/>
            <a:ext cx="1787236" cy="1932709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607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sz="4000" b="1" dirty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이종위성군 회의 내용</a:t>
            </a:r>
            <a:endParaRPr lang="ko-KR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629838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ko-KR" altLang="en-US" dirty="0"/>
              <a:t>연구배경</a:t>
            </a:r>
            <a:endParaRPr lang="en-US" altLang="ko-KR" dirty="0"/>
          </a:p>
          <a:p>
            <a:pPr lvl="1">
              <a:defRPr/>
            </a:pPr>
            <a:r>
              <a:rPr lang="ko-KR" altLang="en-US" sz="1800" dirty="0" err="1"/>
              <a:t>위성군</a:t>
            </a:r>
            <a:r>
              <a:rPr lang="en-US" altLang="ko-KR" sz="1800" dirty="0"/>
              <a:t>(satellite</a:t>
            </a:r>
            <a:r>
              <a:rPr lang="ko-KR" altLang="en-US" sz="1800" dirty="0"/>
              <a:t> </a:t>
            </a:r>
            <a:r>
              <a:rPr lang="en-US" altLang="ko-KR" sz="1800" dirty="0"/>
              <a:t>Constellation)</a:t>
            </a:r>
            <a:r>
              <a:rPr lang="ko-KR" altLang="en-US" sz="1800" dirty="0"/>
              <a:t>은 동일목적으로 운용되는 위성의 집합으로</a:t>
            </a:r>
            <a:r>
              <a:rPr lang="en-US" altLang="ko-KR" sz="1800" dirty="0"/>
              <a:t>, </a:t>
            </a:r>
            <a:r>
              <a:rPr lang="ko-KR" altLang="en-US" sz="1800" dirty="0"/>
              <a:t>초소형위성 산업이 발전함에 따라 주목받고 있는 개념</a:t>
            </a:r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lvl="1">
              <a:defRPr/>
            </a:pPr>
            <a:r>
              <a:rPr lang="ko-KR" altLang="en-US" dirty="0"/>
              <a:t>이종 </a:t>
            </a:r>
            <a:r>
              <a:rPr lang="ko-KR" altLang="en-US" dirty="0" err="1"/>
              <a:t>위성군</a:t>
            </a:r>
            <a:r>
              <a:rPr lang="en-US" altLang="ko-KR" dirty="0"/>
              <a:t>(Heterogeneous Constellation)</a:t>
            </a:r>
            <a:r>
              <a:rPr lang="ko-KR" altLang="en-US" dirty="0"/>
              <a:t>을</a:t>
            </a:r>
            <a:r>
              <a:rPr lang="en-US" altLang="ko-KR" dirty="0"/>
              <a:t> </a:t>
            </a:r>
            <a:r>
              <a:rPr lang="ko-KR" altLang="en-US" dirty="0"/>
              <a:t>운용하면 동일한 시간동안 표적에 대해 다양한 정보를 획득할 수 있어 보다 효율적인 임무수행이 가능</a:t>
            </a:r>
            <a:endParaRPr lang="en-US" altLang="ko-KR" dirty="0"/>
          </a:p>
          <a:p>
            <a:pPr lvl="2">
              <a:defRPr/>
            </a:pPr>
            <a:r>
              <a:rPr lang="en-US" altLang="ko-KR" dirty="0" err="1"/>
              <a:t>OptiSAR</a:t>
            </a:r>
            <a:r>
              <a:rPr lang="en-US" altLang="ko-KR" dirty="0"/>
              <a:t> </a:t>
            </a:r>
            <a:r>
              <a:rPr lang="ko-KR" altLang="en-US" dirty="0"/>
              <a:t>임무에서는 궤도평면 당 </a:t>
            </a:r>
            <a:r>
              <a:rPr lang="en-US" altLang="ko-KR" dirty="0"/>
              <a:t>SAR </a:t>
            </a:r>
            <a:r>
              <a:rPr lang="ko-KR" altLang="en-US" dirty="0"/>
              <a:t>위성 </a:t>
            </a:r>
            <a:r>
              <a:rPr lang="en-US" altLang="ko-KR" dirty="0"/>
              <a:t>4</a:t>
            </a:r>
            <a:r>
              <a:rPr lang="ko-KR" altLang="en-US" dirty="0"/>
              <a:t>기와 </a:t>
            </a:r>
            <a:r>
              <a:rPr lang="en-US" altLang="ko-KR" dirty="0"/>
              <a:t>EO</a:t>
            </a:r>
            <a:r>
              <a:rPr lang="ko-KR" altLang="en-US" dirty="0"/>
              <a:t>위성 </a:t>
            </a:r>
            <a:r>
              <a:rPr lang="en-US" altLang="ko-KR" dirty="0"/>
              <a:t>4</a:t>
            </a:r>
            <a:r>
              <a:rPr lang="ko-KR" altLang="en-US" dirty="0"/>
              <a:t>기를 배치하여 극궤도와 경사궤도에서 운용함</a:t>
            </a: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1">
              <a:defRPr/>
            </a:pPr>
            <a:r>
              <a:rPr lang="ko-KR" altLang="en-US" dirty="0"/>
              <a:t>본 과제의 궁극적인 목적은 감시정찰</a:t>
            </a:r>
            <a:r>
              <a:rPr lang="en-US" altLang="ko-KR" dirty="0"/>
              <a:t>/</a:t>
            </a:r>
            <a:r>
              <a:rPr lang="ko-KR" altLang="en-US" dirty="0"/>
              <a:t>재난 모니터링 임무를 수행하는 이종 위성군의 운용성능을 최적화하는 궤도를 설계하고 최적궤도에 위성들을 배치하여 위성군의 성능을 검증</a:t>
            </a:r>
          </a:p>
          <a:p>
            <a:pPr marL="777150" lvl="2" indent="-285750">
              <a:defRPr/>
            </a:pPr>
            <a:endParaRPr lang="ko-KR" altLang="en-US" dirty="0"/>
          </a:p>
          <a:p>
            <a:pPr marL="777150" lvl="2" indent="-285750">
              <a:defRPr/>
            </a:pPr>
            <a:endParaRPr lang="ko-KR" altLang="en-US" sz="1800" dirty="0"/>
          </a:p>
          <a:p>
            <a:pPr marL="491400" lvl="2" indent="0">
              <a:buNone/>
              <a:defRPr/>
            </a:pPr>
            <a:endParaRPr lang="ko-KR" altLang="en-US" sz="1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629838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ko-KR" altLang="en-US" dirty="0"/>
              <a:t>연구목표</a:t>
            </a:r>
            <a:endParaRPr lang="en-US" altLang="ko-KR" dirty="0"/>
          </a:p>
          <a:p>
            <a:pPr lvl="1">
              <a:defRPr/>
            </a:pPr>
            <a:r>
              <a:rPr lang="ko-KR" altLang="en-US" sz="1800" dirty="0"/>
              <a:t>연구실 목표</a:t>
            </a:r>
            <a:endParaRPr lang="en-US" altLang="ko-KR" sz="1800" dirty="0"/>
          </a:p>
          <a:p>
            <a:pPr lvl="2">
              <a:defRPr/>
            </a:pPr>
            <a:r>
              <a:rPr lang="ko-KR" altLang="en-US" dirty="0"/>
              <a:t>감시</a:t>
            </a:r>
            <a:r>
              <a:rPr lang="en-US" altLang="ko-KR" dirty="0"/>
              <a:t>/</a:t>
            </a:r>
            <a:r>
              <a:rPr lang="ko-KR" altLang="en-US" dirty="0"/>
              <a:t>정찰 임무 수행을 위한 다종의 초소형위성을 기반으로 한 이종 위성군의 설계 및 운용 기술 연구</a:t>
            </a:r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lvl="1">
              <a:defRPr/>
            </a:pPr>
            <a:r>
              <a:rPr lang="en-US" altLang="ko-KR" dirty="0"/>
              <a:t>HS-11</a:t>
            </a:r>
            <a:r>
              <a:rPr lang="ko-KR" altLang="en-US" dirty="0"/>
              <a:t>과제 목표 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다양한 위성 시스템과 궤도를 갖는 이종 위성군의 운용개념 도출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이종 위성군의 시스템 설계 최적화 툴 연구</a:t>
            </a:r>
            <a:r>
              <a:rPr lang="en-US" altLang="ko-KR" dirty="0"/>
              <a:t>/</a:t>
            </a:r>
            <a:r>
              <a:rPr lang="ko-KR" altLang="en-US" dirty="0"/>
              <a:t>개발</a:t>
            </a:r>
          </a:p>
          <a:p>
            <a:pPr marL="777150" lvl="2" indent="-285750">
              <a:defRPr/>
            </a:pPr>
            <a:endParaRPr lang="ko-KR" altLang="en-US" sz="1800" dirty="0"/>
          </a:p>
          <a:p>
            <a:pPr marL="491400" lvl="2" indent="0">
              <a:buNone/>
              <a:defRPr/>
            </a:pP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064982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629838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ko-KR" altLang="en-US" dirty="0" err="1"/>
              <a:t>연차별</a:t>
            </a:r>
            <a:r>
              <a:rPr lang="ko-KR" altLang="en-US" dirty="0"/>
              <a:t> 연구목표</a:t>
            </a:r>
            <a:r>
              <a:rPr lang="en-US" altLang="ko-KR" dirty="0"/>
              <a:t>/</a:t>
            </a:r>
            <a:r>
              <a:rPr lang="ko-KR" altLang="en-US" dirty="0"/>
              <a:t>내용</a:t>
            </a:r>
            <a:endParaRPr lang="en-US" altLang="ko-KR" dirty="0"/>
          </a:p>
          <a:p>
            <a:pPr marL="777150" lvl="2" indent="-285750">
              <a:defRPr/>
            </a:pPr>
            <a:endParaRPr lang="ko-KR" altLang="en-US" sz="1800" dirty="0"/>
          </a:p>
          <a:p>
            <a:pPr marL="491400" lvl="2" indent="0">
              <a:buNone/>
              <a:defRPr/>
            </a:pPr>
            <a:endParaRPr lang="ko-KR" altLang="en-US" sz="1800" dirty="0"/>
          </a:p>
        </p:txBody>
      </p:sp>
      <p:graphicFrame>
        <p:nvGraphicFramePr>
          <p:cNvPr id="3" name="표 4">
            <a:extLst>
              <a:ext uri="{FF2B5EF4-FFF2-40B4-BE49-F238E27FC236}">
                <a16:creationId xmlns:a16="http://schemas.microsoft.com/office/drawing/2014/main" id="{62DFE668-791D-08E5-6E8E-ACB8C30ADA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5654484"/>
              </p:ext>
            </p:extLst>
          </p:nvPr>
        </p:nvGraphicFramePr>
        <p:xfrm>
          <a:off x="725963" y="1834825"/>
          <a:ext cx="7992010" cy="269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6975">
                  <a:extLst>
                    <a:ext uri="{9D8B030D-6E8A-4147-A177-3AD203B41FA5}">
                      <a16:colId xmlns:a16="http://schemas.microsoft.com/office/drawing/2014/main" val="2117873229"/>
                    </a:ext>
                  </a:extLst>
                </a:gridCol>
                <a:gridCol w="3278486">
                  <a:extLst>
                    <a:ext uri="{9D8B030D-6E8A-4147-A177-3AD203B41FA5}">
                      <a16:colId xmlns:a16="http://schemas.microsoft.com/office/drawing/2014/main" val="2969328276"/>
                    </a:ext>
                  </a:extLst>
                </a:gridCol>
                <a:gridCol w="3596549">
                  <a:extLst>
                    <a:ext uri="{9D8B030D-6E8A-4147-A177-3AD203B41FA5}">
                      <a16:colId xmlns:a16="http://schemas.microsoft.com/office/drawing/2014/main" val="12592813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년도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연구 목표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연구내용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2243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r>
                        <a:rPr lang="ko-KR" altLang="en-US" sz="1400" dirty="0"/>
                        <a:t>차년도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en-US" altLang="ko-KR" sz="1100" dirty="0"/>
                        <a:t>(~23.10)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이종 </a:t>
                      </a:r>
                      <a:r>
                        <a:rPr lang="ko-KR" altLang="en-US" sz="1100" dirty="0" err="1"/>
                        <a:t>위성군</a:t>
                      </a:r>
                      <a:r>
                        <a:rPr lang="ko-KR" altLang="en-US" sz="1100" dirty="0"/>
                        <a:t> 시스템 요구조건 및 아키텍처 도출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/>
                        <a:t>감시정찰</a:t>
                      </a:r>
                      <a:r>
                        <a:rPr lang="en-US" altLang="ko-KR" sz="1100" dirty="0"/>
                        <a:t>/</a:t>
                      </a:r>
                      <a:r>
                        <a:rPr lang="ko-KR" altLang="en-US" sz="1100" dirty="0"/>
                        <a:t>재난 모니터링 </a:t>
                      </a:r>
                      <a:r>
                        <a:rPr lang="ko-KR" altLang="en-US" sz="1100" dirty="0" err="1"/>
                        <a:t>위성군</a:t>
                      </a:r>
                      <a:r>
                        <a:rPr lang="ko-KR" altLang="en-US" sz="1100" dirty="0"/>
                        <a:t> 임무 </a:t>
                      </a:r>
                      <a:r>
                        <a:rPr lang="ko-KR" altLang="en-US" sz="1100" u="sng" dirty="0"/>
                        <a:t>선행기술 연구</a:t>
                      </a:r>
                      <a:endParaRPr lang="en-US" altLang="ko-KR" sz="1100" u="sng" dirty="0"/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u="sng" dirty="0"/>
                        <a:t>수요자 의견 수렴</a:t>
                      </a:r>
                      <a:r>
                        <a:rPr lang="ko-KR" altLang="en-US" sz="1100" dirty="0"/>
                        <a:t>을 통한 시스템 요구조건 도출</a:t>
                      </a:r>
                      <a:endParaRPr lang="en-US" altLang="ko-KR" sz="1100" dirty="0"/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/>
                        <a:t>요구조건을 충족시키기 위한 </a:t>
                      </a:r>
                      <a:r>
                        <a:rPr lang="ko-KR" altLang="en-US" sz="1100" u="sng" dirty="0"/>
                        <a:t>아키텍처 옵션 도출 </a:t>
                      </a:r>
                      <a:r>
                        <a:rPr lang="ko-KR" altLang="en-US" sz="1100" dirty="0"/>
                        <a:t>및 트레이드 스터디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792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</a:t>
                      </a:r>
                      <a:r>
                        <a:rPr lang="ko-KR" altLang="en-US" sz="1400" dirty="0"/>
                        <a:t>차년도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이종 </a:t>
                      </a:r>
                      <a:r>
                        <a:rPr lang="ko-KR" altLang="en-US" sz="1100" dirty="0" err="1"/>
                        <a:t>위성군</a:t>
                      </a:r>
                      <a:r>
                        <a:rPr lang="ko-KR" altLang="en-US" sz="1100" dirty="0"/>
                        <a:t> 운용 개념 및 성능 평가지표 도출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/>
                        <a:t>감시정찰</a:t>
                      </a:r>
                      <a:r>
                        <a:rPr lang="en-US" altLang="ko-KR" sz="1100" dirty="0"/>
                        <a:t>/</a:t>
                      </a:r>
                      <a:r>
                        <a:rPr lang="ko-KR" altLang="en-US" sz="1100" dirty="0"/>
                        <a:t>재난 모니터링 목표지역 설정 및 임무 구현을 위한 </a:t>
                      </a:r>
                      <a:r>
                        <a:rPr lang="en-US" altLang="ko-KR" sz="1100" u="sng" dirty="0" err="1"/>
                        <a:t>ConOps</a:t>
                      </a:r>
                      <a:r>
                        <a:rPr lang="en-US" altLang="ko-KR" sz="1100" u="sng" dirty="0"/>
                        <a:t> </a:t>
                      </a:r>
                      <a:r>
                        <a:rPr lang="ko-KR" altLang="en-US" sz="1100" u="sng" dirty="0"/>
                        <a:t>도출</a:t>
                      </a:r>
                      <a:endParaRPr lang="en-US" altLang="ko-KR" sz="1100" u="sng" dirty="0"/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/>
                        <a:t>시스템 레벨의 </a:t>
                      </a:r>
                      <a:r>
                        <a:rPr lang="ko-KR" altLang="en-US" sz="1100" u="sng" dirty="0"/>
                        <a:t>성능 평가지표 도출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4418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</a:t>
                      </a:r>
                      <a:r>
                        <a:rPr lang="ko-KR" altLang="en-US" sz="1400" dirty="0"/>
                        <a:t>차년도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이종 </a:t>
                      </a:r>
                      <a:r>
                        <a:rPr lang="ko-KR" altLang="en-US" sz="1100" dirty="0" err="1"/>
                        <a:t>위성군</a:t>
                      </a:r>
                      <a:r>
                        <a:rPr lang="ko-KR" altLang="en-US" sz="1100" dirty="0"/>
                        <a:t> 시스템 운용 성능 분석 툴 개발</a:t>
                      </a:r>
                      <a:r>
                        <a:rPr lang="en-US" altLang="ko-KR" sz="1100" dirty="0"/>
                        <a:t>/</a:t>
                      </a:r>
                      <a:r>
                        <a:rPr lang="ko-KR" altLang="en-US" sz="1100" dirty="0"/>
                        <a:t>검증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/>
                        <a:t>정해진 성능 평가지표에 따라 </a:t>
                      </a:r>
                      <a:r>
                        <a:rPr lang="ko-KR" altLang="en-US" sz="1100" dirty="0" err="1"/>
                        <a:t>위성군</a:t>
                      </a:r>
                      <a:r>
                        <a:rPr lang="ko-KR" altLang="en-US" sz="1100" dirty="0"/>
                        <a:t> 시스템의 운용 성능을 산정할 수 있는 </a:t>
                      </a:r>
                      <a:r>
                        <a:rPr lang="ko-KR" altLang="en-US" sz="1100" u="sng" dirty="0"/>
                        <a:t>소프트웨어 툴 개발</a:t>
                      </a:r>
                      <a:endParaRPr lang="en-US" altLang="ko-KR" sz="1100" u="sng" dirty="0"/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/>
                        <a:t>다양한 임무상황 적용을 통한 분석 </a:t>
                      </a:r>
                      <a:r>
                        <a:rPr lang="ko-KR" altLang="en-US" sz="1100" u="sng" dirty="0"/>
                        <a:t>툴 검증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32775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단계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rgbClr val="FF0000"/>
                          </a:solidFill>
                        </a:rPr>
                        <a:t>이종 </a:t>
                      </a:r>
                      <a:r>
                        <a:rPr lang="ko-KR" altLang="en-US" sz="1100" dirty="0" err="1">
                          <a:solidFill>
                            <a:srgbClr val="FF0000"/>
                          </a:solidFill>
                        </a:rPr>
                        <a:t>위성군</a:t>
                      </a:r>
                      <a:r>
                        <a:rPr lang="ko-KR" altLang="en-US" sz="1100" dirty="0">
                          <a:solidFill>
                            <a:srgbClr val="FF0000"/>
                          </a:solidFill>
                        </a:rPr>
                        <a:t> 운용개념과 시스템 요구조건 정의 및 운용성능 분석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71103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7813700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629838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ko-KR" altLang="en-US" dirty="0"/>
              <a:t>연구 추진 계획</a:t>
            </a:r>
            <a:endParaRPr lang="ko-KR" altLang="en-US" sz="1800" dirty="0"/>
          </a:p>
          <a:p>
            <a:pPr marL="491400" lvl="2" indent="0">
              <a:buNone/>
              <a:defRPr/>
            </a:pPr>
            <a:endParaRPr lang="ko-KR" altLang="en-US" sz="18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64C983D-CC95-898B-C7D7-A95C93BA0EC4}"/>
              </a:ext>
            </a:extLst>
          </p:cNvPr>
          <p:cNvSpPr/>
          <p:nvPr/>
        </p:nvSpPr>
        <p:spPr bwMode="auto">
          <a:xfrm>
            <a:off x="3845103" y="1050263"/>
            <a:ext cx="1453794" cy="6107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424B542-4124-5824-0AF4-B3E7C562D4A5}"/>
              </a:ext>
            </a:extLst>
          </p:cNvPr>
          <p:cNvSpPr/>
          <p:nvPr/>
        </p:nvSpPr>
        <p:spPr bwMode="auto">
          <a:xfrm>
            <a:off x="3845103" y="1838270"/>
            <a:ext cx="1453794" cy="6107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E1F11FA-3623-8E1B-11AE-29EAE0D7A1CE}"/>
              </a:ext>
            </a:extLst>
          </p:cNvPr>
          <p:cNvSpPr/>
          <p:nvPr/>
        </p:nvSpPr>
        <p:spPr bwMode="auto">
          <a:xfrm>
            <a:off x="3845103" y="2626277"/>
            <a:ext cx="1453794" cy="6107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2453E33-B366-7C9D-6E81-99B75CB94EC5}"/>
              </a:ext>
            </a:extLst>
          </p:cNvPr>
          <p:cNvSpPr/>
          <p:nvPr/>
        </p:nvSpPr>
        <p:spPr bwMode="auto">
          <a:xfrm>
            <a:off x="3015466" y="3414284"/>
            <a:ext cx="1453794" cy="6107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3BE2D2-96AB-89F3-ABEF-B2387C899CA0}"/>
              </a:ext>
            </a:extLst>
          </p:cNvPr>
          <p:cNvSpPr/>
          <p:nvPr/>
        </p:nvSpPr>
        <p:spPr bwMode="auto">
          <a:xfrm>
            <a:off x="3015466" y="4202291"/>
            <a:ext cx="1453794" cy="6107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353782C-D91B-B645-E541-A962E707BCE0}"/>
              </a:ext>
            </a:extLst>
          </p:cNvPr>
          <p:cNvSpPr/>
          <p:nvPr/>
        </p:nvSpPr>
        <p:spPr bwMode="auto">
          <a:xfrm>
            <a:off x="3015466" y="4990298"/>
            <a:ext cx="1453794" cy="6107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14CCAE6-DD19-FCA7-FEC8-ACF95F86CC2D}"/>
              </a:ext>
            </a:extLst>
          </p:cNvPr>
          <p:cNvSpPr/>
          <p:nvPr/>
        </p:nvSpPr>
        <p:spPr bwMode="auto">
          <a:xfrm>
            <a:off x="4788613" y="3410451"/>
            <a:ext cx="1453794" cy="6107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D49B9AD-9735-7755-B053-647757549048}"/>
              </a:ext>
            </a:extLst>
          </p:cNvPr>
          <p:cNvSpPr/>
          <p:nvPr/>
        </p:nvSpPr>
        <p:spPr bwMode="auto">
          <a:xfrm>
            <a:off x="4788613" y="4202291"/>
            <a:ext cx="1453794" cy="6107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41B84A4-694A-0472-FE99-A639A0D2DC76}"/>
              </a:ext>
            </a:extLst>
          </p:cNvPr>
          <p:cNvSpPr/>
          <p:nvPr/>
        </p:nvSpPr>
        <p:spPr bwMode="auto">
          <a:xfrm>
            <a:off x="4788613" y="4990946"/>
            <a:ext cx="1453794" cy="6107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EA9F70C-41F4-17FB-E28A-85EB4FAD3EDC}"/>
              </a:ext>
            </a:extLst>
          </p:cNvPr>
          <p:cNvSpPr/>
          <p:nvPr/>
        </p:nvSpPr>
        <p:spPr bwMode="auto">
          <a:xfrm>
            <a:off x="3015465" y="5778306"/>
            <a:ext cx="3226941" cy="44783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F2FC4B2-C240-412E-B0F9-D354E375A32F}"/>
              </a:ext>
            </a:extLst>
          </p:cNvPr>
          <p:cNvSpPr txBox="1"/>
          <p:nvPr/>
        </p:nvSpPr>
        <p:spPr>
          <a:xfrm>
            <a:off x="3900754" y="1201756"/>
            <a:ext cx="13424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/>
              <a:t>선행기술 연구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8BBAE7-7E85-2956-30E2-4686953594CF}"/>
              </a:ext>
            </a:extLst>
          </p:cNvPr>
          <p:cNvSpPr txBox="1"/>
          <p:nvPr/>
        </p:nvSpPr>
        <p:spPr>
          <a:xfrm>
            <a:off x="3956406" y="1882042"/>
            <a:ext cx="13424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Stakeholder</a:t>
            </a:r>
          </a:p>
          <a:p>
            <a:pPr algn="ctr"/>
            <a:r>
              <a:rPr lang="en-US" altLang="ko-KR" sz="1400" dirty="0"/>
              <a:t>Analysis</a:t>
            </a:r>
            <a:endParaRPr lang="ko-KR" altLang="en-US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7B982E-DA3E-B341-AF44-FAA69120FF1B}"/>
              </a:ext>
            </a:extLst>
          </p:cNvPr>
          <p:cNvSpPr txBox="1"/>
          <p:nvPr/>
        </p:nvSpPr>
        <p:spPr>
          <a:xfrm>
            <a:off x="3925585" y="2670049"/>
            <a:ext cx="13424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Requirement</a:t>
            </a:r>
          </a:p>
          <a:p>
            <a:pPr algn="ctr"/>
            <a:r>
              <a:rPr lang="en-US" altLang="ko-KR" sz="1400" dirty="0"/>
              <a:t>Definition</a:t>
            </a:r>
            <a:endParaRPr lang="ko-KR" altLang="en-US" sz="1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C481D1A-1DAC-52AB-AE5F-AD996EC9D519}"/>
              </a:ext>
            </a:extLst>
          </p:cNvPr>
          <p:cNvSpPr txBox="1"/>
          <p:nvPr/>
        </p:nvSpPr>
        <p:spPr>
          <a:xfrm>
            <a:off x="3071117" y="3469530"/>
            <a:ext cx="13424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/>
              <a:t>운용 </a:t>
            </a:r>
            <a:r>
              <a:rPr lang="ko-KR" altLang="en-US" sz="1400" dirty="0" err="1"/>
              <a:t>아키텍쳐</a:t>
            </a:r>
            <a:endParaRPr lang="en-US" altLang="ko-KR" sz="1400" dirty="0"/>
          </a:p>
          <a:p>
            <a:pPr algn="ctr"/>
            <a:r>
              <a:rPr lang="ko-KR" altLang="en-US" sz="1400" dirty="0"/>
              <a:t>옵션 도출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D3185AA-BE78-963E-044E-2265C1116DB0}"/>
              </a:ext>
            </a:extLst>
          </p:cNvPr>
          <p:cNvSpPr txBox="1"/>
          <p:nvPr/>
        </p:nvSpPr>
        <p:spPr>
          <a:xfrm>
            <a:off x="3071116" y="4246063"/>
            <a:ext cx="13424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Trade-off</a:t>
            </a:r>
          </a:p>
          <a:p>
            <a:pPr algn="ctr"/>
            <a:r>
              <a:rPr lang="en-US" altLang="ko-KR" sz="1400" dirty="0"/>
              <a:t>Study</a:t>
            </a:r>
            <a:endParaRPr lang="ko-KR" altLang="en-US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01EC2CF-4807-31C9-0042-5AC18F1F929F}"/>
              </a:ext>
            </a:extLst>
          </p:cNvPr>
          <p:cNvSpPr txBox="1"/>
          <p:nvPr/>
        </p:nvSpPr>
        <p:spPr>
          <a:xfrm>
            <a:off x="3126769" y="5034071"/>
            <a:ext cx="13424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 err="1"/>
              <a:t>ConOps</a:t>
            </a:r>
            <a:endParaRPr lang="en-US" altLang="ko-KR" sz="1400" dirty="0"/>
          </a:p>
          <a:p>
            <a:pPr algn="ctr"/>
            <a:r>
              <a:rPr lang="ko-KR" altLang="en-US" sz="1400" dirty="0"/>
              <a:t>옵션 도출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9379EFA-B75B-679E-5564-E853454686B4}"/>
              </a:ext>
            </a:extLst>
          </p:cNvPr>
          <p:cNvSpPr txBox="1"/>
          <p:nvPr/>
        </p:nvSpPr>
        <p:spPr>
          <a:xfrm>
            <a:off x="4844264" y="3444919"/>
            <a:ext cx="13424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/>
              <a:t>시스템 성능</a:t>
            </a:r>
            <a:endParaRPr lang="en-US" altLang="ko-KR" sz="1400" dirty="0"/>
          </a:p>
          <a:p>
            <a:pPr algn="ctr"/>
            <a:r>
              <a:rPr lang="ko-KR" altLang="en-US" sz="1400" dirty="0"/>
              <a:t>평가지표 도출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F1F9B7E-0B37-F846-CC49-CEAF04F29E07}"/>
              </a:ext>
            </a:extLst>
          </p:cNvPr>
          <p:cNvSpPr txBox="1"/>
          <p:nvPr/>
        </p:nvSpPr>
        <p:spPr>
          <a:xfrm>
            <a:off x="4844263" y="4350029"/>
            <a:ext cx="13424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SW </a:t>
            </a:r>
            <a:r>
              <a:rPr lang="ko-KR" altLang="en-US" sz="1400" dirty="0"/>
              <a:t>툴</a:t>
            </a:r>
            <a:r>
              <a:rPr lang="en-US" altLang="ko-KR" sz="1400" dirty="0"/>
              <a:t> </a:t>
            </a:r>
            <a:r>
              <a:rPr lang="ko-KR" altLang="en-US" sz="1400" dirty="0"/>
              <a:t>개발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A7C0684-FC64-7D68-6566-8AA55886BB72}"/>
              </a:ext>
            </a:extLst>
          </p:cNvPr>
          <p:cNvSpPr txBox="1"/>
          <p:nvPr/>
        </p:nvSpPr>
        <p:spPr>
          <a:xfrm>
            <a:off x="4844262" y="5112063"/>
            <a:ext cx="13424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/>
              <a:t>툴 검증 </a:t>
            </a:r>
            <a:r>
              <a:rPr lang="en-US" altLang="ko-KR" sz="1400" dirty="0"/>
              <a:t>Study</a:t>
            </a:r>
            <a:endParaRPr lang="ko-KR" altLang="en-US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7EB9DBE-80F2-67F6-6603-612D54A2C23E}"/>
              </a:ext>
            </a:extLst>
          </p:cNvPr>
          <p:cNvSpPr txBox="1"/>
          <p:nvPr/>
        </p:nvSpPr>
        <p:spPr>
          <a:xfrm>
            <a:off x="3313842" y="5837036"/>
            <a:ext cx="25163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 err="1"/>
              <a:t>ConOps</a:t>
            </a:r>
            <a:r>
              <a:rPr lang="ko-KR" altLang="en-US" sz="1400" dirty="0"/>
              <a:t> 평가</a:t>
            </a:r>
            <a:r>
              <a:rPr lang="en-US" altLang="ko-KR" sz="1400" dirty="0"/>
              <a:t>, Trade Study</a:t>
            </a:r>
            <a:endParaRPr lang="ko-KR" altLang="en-US" sz="1400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5D78AC3-4859-3D00-80A5-D6A8A9150666}"/>
              </a:ext>
            </a:extLst>
          </p:cNvPr>
          <p:cNvSpPr/>
          <p:nvPr/>
        </p:nvSpPr>
        <p:spPr bwMode="auto">
          <a:xfrm>
            <a:off x="7433125" y="1055205"/>
            <a:ext cx="1453794" cy="6107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5B79B8A-E3E2-E1C1-4211-B29C025F9D35}"/>
              </a:ext>
            </a:extLst>
          </p:cNvPr>
          <p:cNvSpPr/>
          <p:nvPr/>
        </p:nvSpPr>
        <p:spPr bwMode="auto">
          <a:xfrm>
            <a:off x="7433125" y="1843212"/>
            <a:ext cx="1453794" cy="6107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E933104-0E0E-BF5C-6CF4-C0C0D1C42302}"/>
              </a:ext>
            </a:extLst>
          </p:cNvPr>
          <p:cNvSpPr/>
          <p:nvPr/>
        </p:nvSpPr>
        <p:spPr bwMode="auto">
          <a:xfrm>
            <a:off x="7433125" y="2582504"/>
            <a:ext cx="1453794" cy="6107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FD276E6-D6EC-4C57-18B7-EDB7FE384A1E}"/>
              </a:ext>
            </a:extLst>
          </p:cNvPr>
          <p:cNvSpPr txBox="1"/>
          <p:nvPr/>
        </p:nvSpPr>
        <p:spPr>
          <a:xfrm>
            <a:off x="7488776" y="1201755"/>
            <a:ext cx="13424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Co Work</a:t>
            </a:r>
            <a:endParaRPr lang="ko-KR" altLang="en-US" sz="14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8BA1457-DB5F-6F0C-BC8E-3C7FD4ED85B6}"/>
              </a:ext>
            </a:extLst>
          </p:cNvPr>
          <p:cNvSpPr txBox="1"/>
          <p:nvPr/>
        </p:nvSpPr>
        <p:spPr>
          <a:xfrm>
            <a:off x="7488775" y="1977098"/>
            <a:ext cx="13424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KAIST</a:t>
            </a:r>
            <a:endParaRPr lang="ko-KR" altLang="en-US" sz="1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31E3675-8FF9-5D0C-8DD9-72E43875B1C5}"/>
              </a:ext>
            </a:extLst>
          </p:cNvPr>
          <p:cNvSpPr txBox="1"/>
          <p:nvPr/>
        </p:nvSpPr>
        <p:spPr>
          <a:xfrm>
            <a:off x="7488774" y="2733997"/>
            <a:ext cx="13424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/>
              <a:t>연세대학교</a:t>
            </a:r>
          </a:p>
        </p:txBody>
      </p:sp>
    </p:spTree>
    <p:extLst>
      <p:ext uri="{BB962C8B-B14F-4D97-AF65-F5344CB8AC3E}">
        <p14:creationId xmlns:p14="http://schemas.microsoft.com/office/powerpoint/2010/main" val="2643795331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629838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ko-KR" altLang="en-US" dirty="0"/>
              <a:t>회의 요약</a:t>
            </a:r>
            <a:endParaRPr lang="ko-KR" altLang="en-US" sz="1800" dirty="0"/>
          </a:p>
          <a:p>
            <a:pPr marL="491400" lvl="2" indent="0">
              <a:buNone/>
              <a:defRPr/>
            </a:pPr>
            <a:endParaRPr lang="ko-KR" altLang="en-US" sz="1800" dirty="0"/>
          </a:p>
        </p:txBody>
      </p:sp>
      <p:graphicFrame>
        <p:nvGraphicFramePr>
          <p:cNvPr id="3" name="개체 2">
            <a:extLst>
              <a:ext uri="{FF2B5EF4-FFF2-40B4-BE49-F238E27FC236}">
                <a16:creationId xmlns:a16="http://schemas.microsoft.com/office/drawing/2014/main" id="{F633EF9A-D634-640D-82F6-305CF5F9DB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1574339"/>
              </p:ext>
            </p:extLst>
          </p:nvPr>
        </p:nvGraphicFramePr>
        <p:xfrm>
          <a:off x="2673136" y="1078275"/>
          <a:ext cx="3492157" cy="5249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731988" imgH="8617629" progId="Word.Document.12">
                  <p:embed/>
                </p:oleObj>
              </mc:Choice>
              <mc:Fallback>
                <p:oleObj name="Document" r:id="rId2" imgW="5731988" imgH="861762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673136" y="1078275"/>
                        <a:ext cx="3492157" cy="52495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9808353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629838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ko-KR" altLang="en-US" dirty="0"/>
              <a:t>관련 논문</a:t>
            </a:r>
            <a:endParaRPr lang="en-US" altLang="ko-KR" dirty="0"/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lvl="1">
              <a:defRPr/>
            </a:pPr>
            <a:r>
              <a:rPr lang="en-US" altLang="ko-KR" sz="1600" dirty="0"/>
              <a:t>A Framework for Heterogeneous Satellite Constellation Design for Rapid Response Earth Observations, 2019, Ibrahim</a:t>
            </a:r>
            <a:r>
              <a:rPr lang="ko-KR" altLang="en-US" sz="1600" dirty="0"/>
              <a:t> </a:t>
            </a:r>
            <a:r>
              <a:rPr lang="en-US" altLang="ko-KR" sz="1600" dirty="0"/>
              <a:t>Sanad</a:t>
            </a:r>
          </a:p>
          <a:p>
            <a:pPr lvl="2">
              <a:defRPr/>
            </a:pPr>
            <a:r>
              <a:rPr lang="ko-KR" altLang="en-US" sz="1400" dirty="0"/>
              <a:t>자연재해 등 국방 및 자연안보와 관련된 문제에 대한 신속 대응하기 위한 이종위성군 설계</a:t>
            </a:r>
            <a:endParaRPr lang="en-US" altLang="ko-KR" sz="1400" dirty="0"/>
          </a:p>
          <a:p>
            <a:pPr lvl="1">
              <a:defRPr/>
            </a:pPr>
            <a:endParaRPr lang="en-US" altLang="ko-KR" sz="1600" dirty="0"/>
          </a:p>
          <a:p>
            <a:pPr lvl="1">
              <a:defRPr/>
            </a:pPr>
            <a:r>
              <a:rPr lang="en-US" altLang="ko-KR" sz="1600" dirty="0"/>
              <a:t>Model-based heterogeneous optimal space constellation design, 2018, Katherine Mott</a:t>
            </a:r>
          </a:p>
          <a:p>
            <a:pPr lvl="2">
              <a:defRPr/>
            </a:pPr>
            <a:r>
              <a:rPr lang="ko-KR" altLang="en-US" sz="1400" dirty="0"/>
              <a:t>이종 </a:t>
            </a:r>
            <a:r>
              <a:rPr lang="ko-KR" altLang="en-US" sz="1400" dirty="0" err="1"/>
              <a:t>위성군</a:t>
            </a:r>
            <a:r>
              <a:rPr lang="ko-KR" altLang="en-US" sz="1400" dirty="0"/>
              <a:t> 설계를 위한 새로운 요구조건을 바탕의 새로운 </a:t>
            </a:r>
            <a:r>
              <a:rPr lang="ko-KR" altLang="en-US" sz="1400" dirty="0" err="1"/>
              <a:t>모듈식</a:t>
            </a:r>
            <a:r>
              <a:rPr lang="ko-KR" altLang="en-US" sz="1400" dirty="0"/>
              <a:t> 툴 개발</a:t>
            </a:r>
            <a:endParaRPr lang="en-US" altLang="ko-KR" sz="1400" dirty="0"/>
          </a:p>
          <a:p>
            <a:pPr lvl="2">
              <a:defRPr/>
            </a:pPr>
            <a:endParaRPr lang="en-US" altLang="ko-KR" sz="1600" dirty="0"/>
          </a:p>
          <a:p>
            <a:pPr lvl="1">
              <a:defRPr/>
            </a:pPr>
            <a:r>
              <a:rPr lang="en-US" altLang="ko-KR" sz="1600" dirty="0"/>
              <a:t>Research on the Configuration Design Method of Heterogeneous Constellation Reconstruction under the Multiple Objective and Multiple Constraint, 2017, Shuang Zhao</a:t>
            </a:r>
          </a:p>
          <a:p>
            <a:pPr marL="777150" lvl="2" indent="-285750">
              <a:defRPr/>
            </a:pPr>
            <a:r>
              <a:rPr lang="ko-KR" altLang="en-US" sz="1400" dirty="0"/>
              <a:t>다중 요구조건에 기초한 이종 위성군의 설계 방법을 제안</a:t>
            </a:r>
            <a:endParaRPr lang="en-US" altLang="ko-KR" sz="1400" dirty="0"/>
          </a:p>
          <a:p>
            <a:pPr marL="777150" lvl="2" indent="-285750">
              <a:defRPr/>
            </a:pPr>
            <a:r>
              <a:rPr lang="ko-KR" altLang="en-US" sz="1400" dirty="0"/>
              <a:t>기존 설계 설계 방법의 장단점을 비교하여 최적화 알고리즘을 선택한 새로운 설계 방법 재구성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865933211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latinLnBrk="1"/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결론</a:t>
            </a:r>
          </a:p>
        </p:txBody>
      </p:sp>
    </p:spTree>
    <p:extLst>
      <p:ext uri="{BB962C8B-B14F-4D97-AF65-F5344CB8AC3E}">
        <p14:creationId xmlns:p14="http://schemas.microsoft.com/office/powerpoint/2010/main" val="3605977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848F7DF-623B-A9E0-B2B2-F20BEA0DB0E8}"/>
              </a:ext>
            </a:extLst>
          </p:cNvPr>
          <p:cNvSpPr/>
          <p:nvPr/>
        </p:nvSpPr>
        <p:spPr bwMode="auto">
          <a:xfrm>
            <a:off x="257082" y="6327787"/>
            <a:ext cx="3368620" cy="45915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0DD9C0-DD24-B471-4429-5F9EE07BC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0E9C4A-7699-57D3-082F-17BC419529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929314"/>
          </a:xfrm>
        </p:spPr>
        <p:txBody>
          <a:bodyPr/>
          <a:lstStyle/>
          <a:p>
            <a:r>
              <a:rPr lang="ko-KR" altLang="en-US" dirty="0"/>
              <a:t>연구목적 및 향후계획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/>
              <a:t>본 연구와 가장 방향성이 같은 이종 </a:t>
            </a:r>
            <a:r>
              <a:rPr lang="ko-KR" altLang="en-US" dirty="0" err="1"/>
              <a:t>위성군</a:t>
            </a:r>
            <a:r>
              <a:rPr lang="ko-KR" altLang="en-US" dirty="0"/>
              <a:t> 선행 기술 추가로 조사</a:t>
            </a:r>
            <a:endParaRPr lang="en-US" altLang="ko-KR" dirty="0"/>
          </a:p>
          <a:p>
            <a:pPr lvl="1"/>
            <a:r>
              <a:rPr lang="ko-KR" altLang="en-US" dirty="0"/>
              <a:t>논문 조사를 통해 다양한 툴 개발에 대한 내용 파악</a:t>
            </a:r>
            <a:endParaRPr lang="en-US" altLang="ko-KR" dirty="0"/>
          </a:p>
          <a:p>
            <a:pPr lvl="1"/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  <a:p>
            <a:pPr marL="432000" lvl="2" indent="0">
              <a:buNone/>
            </a:pP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E5EFF92-3009-8CBE-C346-E45226287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결론</a:t>
            </a:r>
          </a:p>
        </p:txBody>
      </p:sp>
      <p:sp>
        <p:nvSpPr>
          <p:cNvPr id="15" name="AutoShape 3">
            <a:extLst>
              <a:ext uri="{FF2B5EF4-FFF2-40B4-BE49-F238E27FC236}">
                <a16:creationId xmlns:a16="http://schemas.microsoft.com/office/drawing/2014/main" id="{392AED4D-7E6E-732E-4E9C-37FB110DB5C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0" y="4999038"/>
            <a:ext cx="9144000" cy="185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33645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9133EF-F552-4618-8A24-449D405ACA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567740"/>
            <a:ext cx="9144000" cy="3180446"/>
          </a:xfrm>
        </p:spPr>
        <p:txBody>
          <a:bodyPr/>
          <a:lstStyle/>
          <a:p>
            <a:r>
              <a:rPr lang="ko-KR" altLang="en-US" dirty="0"/>
              <a:t>경청해 주셔서 감사합니다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부제목 1">
            <a:extLst>
              <a:ext uri="{FF2B5EF4-FFF2-40B4-BE49-F238E27FC236}">
                <a16:creationId xmlns:a16="http://schemas.microsoft.com/office/drawing/2014/main" id="{BC56ECCA-CBEB-4852-BDCB-4A64F14D9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4757433"/>
            <a:ext cx="6858000" cy="1339783"/>
          </a:xfrm>
        </p:spPr>
        <p:txBody>
          <a:bodyPr/>
          <a:lstStyle/>
          <a:p>
            <a:r>
              <a:rPr lang="ko-KR" altLang="en-US" dirty="0"/>
              <a:t>발표자</a:t>
            </a:r>
            <a:r>
              <a:rPr lang="en-US" altLang="ko-KR" dirty="0"/>
              <a:t>: </a:t>
            </a:r>
            <a:r>
              <a:rPr lang="ko-KR" altLang="en-US" dirty="0"/>
              <a:t>이진진</a:t>
            </a:r>
            <a:endParaRPr lang="en-US" altLang="ko-KR" dirty="0"/>
          </a:p>
          <a:p>
            <a:r>
              <a:rPr lang="ko-KR" altLang="en-US" dirty="0"/>
              <a:t>이메일</a:t>
            </a:r>
            <a:r>
              <a:rPr lang="en-US" altLang="ko-KR" dirty="0"/>
              <a:t>: jj95lee@yonsei.acl.kr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2F92A04-5E08-4877-A7E9-FFBBA1547131}"/>
              </a:ext>
            </a:extLst>
          </p:cNvPr>
          <p:cNvSpPr/>
          <p:nvPr/>
        </p:nvSpPr>
        <p:spPr>
          <a:xfrm>
            <a:off x="0" y="3604912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질의응답</a:t>
            </a:r>
          </a:p>
        </p:txBody>
      </p:sp>
    </p:spTree>
    <p:extLst>
      <p:ext uri="{BB962C8B-B14F-4D97-AF65-F5344CB8AC3E}">
        <p14:creationId xmlns:p14="http://schemas.microsoft.com/office/powerpoint/2010/main" val="38209856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rgbClr val="FFFFFF"/>
        </a:solidFill>
        <a:ln>
          <a:noFill/>
        </a:ln>
        <a:extLs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80461</TotalTime>
  <Words>455</Words>
  <Application>Microsoft Office PowerPoint</Application>
  <PresentationFormat>화면 슬라이드 쇼(4:3)</PresentationFormat>
  <Paragraphs>105</Paragraphs>
  <Slides>12</Slides>
  <Notes>3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9" baseType="lpstr">
      <vt:lpstr>맑은 고딕</vt:lpstr>
      <vt:lpstr>Arial</vt:lpstr>
      <vt:lpstr>times</vt:lpstr>
      <vt:lpstr>Times New Roman</vt:lpstr>
      <vt:lpstr>Wingdings</vt:lpstr>
      <vt:lpstr>Office 테마</vt:lpstr>
      <vt:lpstr>Microsoft Word 문서</vt:lpstr>
      <vt:lpstr>이종위성군 성능 분석 및 설계/최적화</vt:lpstr>
      <vt:lpstr>목차</vt:lpstr>
      <vt:lpstr>이종위성군 회의 내용</vt:lpstr>
      <vt:lpstr>이종위성군</vt:lpstr>
      <vt:lpstr>이종위성군</vt:lpstr>
      <vt:lpstr>이종위성군</vt:lpstr>
      <vt:lpstr>이종위성군</vt:lpstr>
      <vt:lpstr>이종위성군</vt:lpstr>
      <vt:lpstr>이종위성군</vt:lpstr>
      <vt:lpstr>결론</vt:lpstr>
      <vt:lpstr>결론</vt:lpstr>
      <vt:lpstr>경청해 주셔서 감사합니다.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KimGeuk-Nam</dc:creator>
  <cp:lastModifiedBy>이진진</cp:lastModifiedBy>
  <cp:revision>4517</cp:revision>
  <dcterms:created xsi:type="dcterms:W3CDTF">2018-01-29T02:45:56Z</dcterms:created>
  <dcterms:modified xsi:type="dcterms:W3CDTF">2023-03-30T05:59:19Z</dcterms:modified>
</cp:coreProperties>
</file>