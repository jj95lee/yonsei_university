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58"/>
  </p:notesMasterIdLst>
  <p:handoutMasterIdLst>
    <p:handoutMasterId r:id="rId59"/>
  </p:handoutMasterIdLst>
  <p:sldIdLst>
    <p:sldId id="2550" r:id="rId2"/>
    <p:sldId id="2553" r:id="rId3"/>
    <p:sldId id="2356" r:id="rId4"/>
    <p:sldId id="2551" r:id="rId5"/>
    <p:sldId id="2552" r:id="rId6"/>
    <p:sldId id="2359" r:id="rId7"/>
    <p:sldId id="2372" r:id="rId8"/>
    <p:sldId id="2405" r:id="rId9"/>
    <p:sldId id="2374" r:id="rId10"/>
    <p:sldId id="2378" r:id="rId11"/>
    <p:sldId id="2377" r:id="rId12"/>
    <p:sldId id="2383" r:id="rId13"/>
    <p:sldId id="2385" r:id="rId14"/>
    <p:sldId id="2407" r:id="rId15"/>
    <p:sldId id="2365" r:id="rId16"/>
    <p:sldId id="2337" r:id="rId17"/>
    <p:sldId id="2366" r:id="rId18"/>
    <p:sldId id="2368" r:id="rId19"/>
    <p:sldId id="2426" r:id="rId20"/>
    <p:sldId id="2369" r:id="rId21"/>
    <p:sldId id="2427" r:id="rId22"/>
    <p:sldId id="2370" r:id="rId23"/>
    <p:sldId id="2371" r:id="rId24"/>
    <p:sldId id="2439" r:id="rId25"/>
    <p:sldId id="2232" r:id="rId26"/>
    <p:sldId id="2406" r:id="rId27"/>
    <p:sldId id="2347" r:id="rId28"/>
    <p:sldId id="2349" r:id="rId29"/>
    <p:sldId id="2352" r:id="rId30"/>
    <p:sldId id="2386" r:id="rId31"/>
    <p:sldId id="2408" r:id="rId32"/>
    <p:sldId id="2373" r:id="rId33"/>
    <p:sldId id="2409" r:id="rId34"/>
    <p:sldId id="2411" r:id="rId35"/>
    <p:sldId id="2412" r:id="rId36"/>
    <p:sldId id="2413" r:id="rId37"/>
    <p:sldId id="2418" r:id="rId38"/>
    <p:sldId id="2419" r:id="rId39"/>
    <p:sldId id="2421" r:id="rId40"/>
    <p:sldId id="2423" r:id="rId41"/>
    <p:sldId id="2535" r:id="rId42"/>
    <p:sldId id="2544" r:id="rId43"/>
    <p:sldId id="2545" r:id="rId44"/>
    <p:sldId id="2546" r:id="rId45"/>
    <p:sldId id="2547" r:id="rId46"/>
    <p:sldId id="2536" r:id="rId47"/>
    <p:sldId id="2538" r:id="rId48"/>
    <p:sldId id="2537" r:id="rId49"/>
    <p:sldId id="2539" r:id="rId50"/>
    <p:sldId id="2541" r:id="rId51"/>
    <p:sldId id="2542" r:id="rId52"/>
    <p:sldId id="2549" r:id="rId53"/>
    <p:sldId id="2508" r:id="rId54"/>
    <p:sldId id="2509" r:id="rId55"/>
    <p:sldId id="2510" r:id="rId56"/>
    <p:sldId id="2548" r:id="rId57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000A1E"/>
    <a:srgbClr val="EDB021"/>
    <a:srgbClr val="D9541A"/>
    <a:srgbClr val="404040"/>
    <a:srgbClr val="FFFFFF"/>
    <a:srgbClr val="001E46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A3A2F-24A6-4780-87F1-B038B229A4F4}" v="6" dt="2023-06-14T11:24:23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31" autoAdjust="0"/>
    <p:restoredTop sz="82161" autoAdjust="0"/>
  </p:normalViewPr>
  <p:slideViewPr>
    <p:cSldViewPr snapToGrid="0" showGuides="1">
      <p:cViewPr varScale="1">
        <p:scale>
          <a:sx n="83" d="100"/>
          <a:sy n="83" d="100"/>
        </p:scale>
        <p:origin x="1266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notesMaster" Target="notesMasters/notesMaster1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commentAuthors" Target="commentAuthors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진진" userId="2c4bb6cd-31fa-4501-9704-1dfc32333b2e" providerId="ADAL" clId="{B78A3A2F-24A6-4780-87F1-B038B229A4F4}"/>
    <pc:docChg chg="custSel delSld modSld">
      <pc:chgData name="이진진" userId="2c4bb6cd-31fa-4501-9704-1dfc32333b2e" providerId="ADAL" clId="{B78A3A2F-24A6-4780-87F1-B038B229A4F4}" dt="2023-06-14T11:24:28.733" v="61" actId="27636"/>
      <pc:docMkLst>
        <pc:docMk/>
      </pc:docMkLst>
      <pc:sldChg chg="del modNotesTx">
        <pc:chgData name="이진진" userId="2c4bb6cd-31fa-4501-9704-1dfc32333b2e" providerId="ADAL" clId="{B78A3A2F-24A6-4780-87F1-B038B229A4F4}" dt="2023-06-14T11:19:59.194" v="2" actId="2696"/>
        <pc:sldMkLst>
          <pc:docMk/>
          <pc:sldMk cId="607627868" sldId="243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148163736" sldId="2444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3904486488" sldId="244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8295381" sldId="244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3412052492" sldId="244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845331008" sldId="2455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412666145" sldId="245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035611463" sldId="245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633155832" sldId="245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943723579" sldId="2459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574002915" sldId="2460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4142137124" sldId="2461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795126205" sldId="2462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21109907" sldId="2463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706119381" sldId="2464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930859256" sldId="2465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94854847" sldId="246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928437977" sldId="246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50181166" sldId="2468"/>
        </pc:sldMkLst>
      </pc:sldChg>
      <pc:sldChg chg="modSp mod">
        <pc:chgData name="이진진" userId="2c4bb6cd-31fa-4501-9704-1dfc32333b2e" providerId="ADAL" clId="{B78A3A2F-24A6-4780-87F1-B038B229A4F4}" dt="2023-06-14T11:24:23.716" v="59"/>
        <pc:sldMkLst>
          <pc:docMk/>
          <pc:sldMk cId="4276021245" sldId="2469"/>
        </pc:sldMkLst>
        <pc:spChg chg="mod">
          <ac:chgData name="이진진" userId="2c4bb6cd-31fa-4501-9704-1dfc32333b2e" providerId="ADAL" clId="{B78A3A2F-24A6-4780-87F1-B038B229A4F4}" dt="2023-06-14T11:24:23.716" v="59"/>
          <ac:spMkLst>
            <pc:docMk/>
            <pc:sldMk cId="4276021245" sldId="2469"/>
            <ac:spMk id="4" creationId="{00000000-0000-0000-0000-000000000000}"/>
          </ac:spMkLst>
        </pc:spChg>
      </pc:sldChg>
      <pc:sldChg chg="modSp mod">
        <pc:chgData name="이진진" userId="2c4bb6cd-31fa-4501-9704-1dfc32333b2e" providerId="ADAL" clId="{B78A3A2F-24A6-4780-87F1-B038B229A4F4}" dt="2023-06-14T11:24:28.733" v="61" actId="27636"/>
        <pc:sldMkLst>
          <pc:docMk/>
          <pc:sldMk cId="1668698186" sldId="2470"/>
        </pc:sldMkLst>
        <pc:spChg chg="mod">
          <ac:chgData name="이진진" userId="2c4bb6cd-31fa-4501-9704-1dfc32333b2e" providerId="ADAL" clId="{B78A3A2F-24A6-4780-87F1-B038B229A4F4}" dt="2023-06-14T11:24:28.733" v="61" actId="27636"/>
          <ac:spMkLst>
            <pc:docMk/>
            <pc:sldMk cId="1668698186" sldId="2470"/>
            <ac:spMk id="4" creationId="{00000000-0000-0000-0000-000000000000}"/>
          </ac:spMkLst>
        </pc:spChg>
      </pc:sldChg>
      <pc:sldChg chg="del">
        <pc:chgData name="이진진" userId="2c4bb6cd-31fa-4501-9704-1dfc32333b2e" providerId="ADAL" clId="{B78A3A2F-24A6-4780-87F1-B038B229A4F4}" dt="2023-06-14T11:19:32.986" v="1" actId="2696"/>
        <pc:sldMkLst>
          <pc:docMk/>
          <pc:sldMk cId="2370003660" sldId="24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2023-07-20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21657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65029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l"/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82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28248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4766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13156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369667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80919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45626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7222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5130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9138324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92404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006601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39530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777379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778743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9063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8976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362000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488741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064151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46510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61955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4996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b="0" i="0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44800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87335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442741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87761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95661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6997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422280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74942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865182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429684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424837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z : </a:t>
            </a:r>
            <a:r>
              <a:rPr lang="ko-KR" altLang="en-US" dirty="0"/>
              <a:t>위성의 </a:t>
            </a:r>
            <a:r>
              <a:rPr lang="en-US" altLang="ko-KR" dirty="0"/>
              <a:t>index</a:t>
            </a:r>
          </a:p>
          <a:p>
            <a:r>
              <a:rPr lang="en-US" altLang="ko-KR" dirty="0"/>
              <a:t>Z : </a:t>
            </a:r>
            <a:r>
              <a:rPr lang="ko-KR" altLang="en-US" dirty="0"/>
              <a:t>위성의 집합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위성의 하위 위성군의 </a:t>
            </a:r>
            <a:r>
              <a:rPr lang="en-US" altLang="ko-KR" dirty="0"/>
              <a:t>access profile</a:t>
            </a:r>
            <a:r>
              <a:rPr lang="ko-KR" altLang="en-US" dirty="0"/>
              <a:t>은 그 </a:t>
            </a:r>
            <a:r>
              <a:rPr lang="ko-KR" altLang="en-US" dirty="0" err="1"/>
              <a:t>시드</a:t>
            </a:r>
            <a:r>
              <a:rPr lang="ko-KR" altLang="en-US" dirty="0"/>
              <a:t> 위성의 궤도요소 벡터에 기반하여 계산됨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목표는 커버리지 요구조건을 만족하기 위함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992660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각 하위 위성</a:t>
            </a:r>
            <a:r>
              <a:rPr lang="en-US" altLang="ko-KR" dirty="0"/>
              <a:t>(z)</a:t>
            </a:r>
            <a:r>
              <a:rPr lang="ko-KR" altLang="en-US" dirty="0"/>
              <a:t>은 독립적인 궤도 요소를 부여할 수 있음 </a:t>
            </a:r>
            <a:endParaRPr lang="en-US" altLang="ko-KR" dirty="0"/>
          </a:p>
          <a:p>
            <a:r>
              <a:rPr lang="ko-KR" altLang="en-US" dirty="0"/>
              <a:t>마찬가지로 </a:t>
            </a:r>
            <a:r>
              <a:rPr lang="en-US" altLang="ko-KR" dirty="0"/>
              <a:t>target point(j)</a:t>
            </a:r>
            <a:r>
              <a:rPr lang="ko-KR" altLang="en-US" dirty="0"/>
              <a:t>는 각각의 독립적인 커버리지 요구조건을 부여할 수 있음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564701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285370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685437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456379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422925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57180154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143077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462196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000121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84495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837692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RGT </a:t>
            </a:r>
            <a:r>
              <a:rPr lang="ko-KR" altLang="en-US" dirty="0"/>
              <a:t>에 대한 설명 </a:t>
            </a:r>
            <a:r>
              <a:rPr lang="en-US" altLang="ko-KR" dirty="0"/>
              <a:t>– </a:t>
            </a:r>
            <a:r>
              <a:rPr lang="ko-KR" altLang="en-US" dirty="0"/>
              <a:t>궤도가 주기적으로 반복되도록 사용</a:t>
            </a:r>
            <a:endParaRPr lang="en-US" altLang="ko-KR" dirty="0"/>
          </a:p>
          <a:p>
            <a:r>
              <a:rPr lang="en-US" altLang="ko-KR" dirty="0"/>
              <a:t>RGT</a:t>
            </a:r>
            <a:r>
              <a:rPr lang="ko-KR" altLang="en-US" dirty="0"/>
              <a:t>궤도의 </a:t>
            </a:r>
            <a:r>
              <a:rPr lang="en-US" altLang="ko-KR" dirty="0"/>
              <a:t>nodal period,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 </a:t>
            </a:r>
            <a:r>
              <a:rPr lang="ko-KR" altLang="en-US" dirty="0"/>
              <a:t>라는 개념 사용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지구의 자전에 따른 영향을 수식으로 계산 </a:t>
            </a:r>
            <a:r>
              <a:rPr lang="en-US" altLang="ko-KR" dirty="0"/>
              <a:t>-</a:t>
            </a:r>
            <a:r>
              <a:rPr lang="ko-KR" altLang="en-US" dirty="0"/>
              <a:t> 이 관계를 이용하여 </a:t>
            </a:r>
            <a:r>
              <a:rPr lang="en-US" altLang="ko-KR" dirty="0"/>
              <a:t>a </a:t>
            </a:r>
            <a:r>
              <a:rPr lang="ko-KR" altLang="en-US" dirty="0"/>
              <a:t>대신에 사용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*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period, ND</a:t>
            </a:r>
            <a:r>
              <a:rPr lang="ko-KR" altLang="en-US" dirty="0"/>
              <a:t>에서</a:t>
            </a:r>
            <a:br>
              <a:rPr lang="en-US" altLang="ko-KR" dirty="0"/>
            </a:br>
            <a:r>
              <a:rPr lang="en-US" altLang="ko-KR" dirty="0"/>
              <a:t>RGT </a:t>
            </a:r>
            <a:r>
              <a:rPr lang="ko-KR" altLang="en-US" dirty="0"/>
              <a:t>궤도에 있는 위성이 회전 수 </a:t>
            </a:r>
            <a:r>
              <a:rPr lang="en-US" altLang="ko-KR" dirty="0"/>
              <a:t>NP</a:t>
            </a:r>
            <a:r>
              <a:rPr lang="ko-KR" altLang="en-US" dirty="0"/>
              <a:t>를 만든다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8650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 err="1"/>
              <a:t>이진진</a:t>
            </a:r>
            <a:r>
              <a:rPr lang="en-US" altLang="ko-KR" dirty="0"/>
              <a:t>, </a:t>
            </a:r>
            <a:r>
              <a:rPr lang="ko-KR" altLang="en-US" dirty="0"/>
              <a:t>전수빈</a:t>
            </a:r>
            <a:r>
              <a:rPr lang="en-US" altLang="ko-KR" dirty="0"/>
              <a:t>, </a:t>
            </a:r>
            <a:r>
              <a:rPr lang="ko-KR" altLang="en-US" dirty="0"/>
              <a:t>박상영</a:t>
            </a:r>
            <a:r>
              <a:rPr lang="en-US" altLang="ko-KR" dirty="0"/>
              <a:t>(</a:t>
            </a:r>
            <a:r>
              <a:rPr lang="ko-KR" altLang="en-US" dirty="0"/>
              <a:t>연구책임자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연세대학교</a:t>
            </a:r>
            <a:r>
              <a:rPr lang="en-US" altLang="ko-KR" dirty="0"/>
              <a:t>, </a:t>
            </a:r>
            <a:r>
              <a:rPr lang="ko-KR" altLang="en-US" dirty="0"/>
              <a:t>천문우주학과</a:t>
            </a:r>
            <a:endParaRPr lang="en-US" altLang="ko-KR" dirty="0"/>
          </a:p>
          <a:p>
            <a:r>
              <a:rPr lang="en-US" altLang="ko-KR" dirty="0"/>
              <a:t>2023-07-28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ko-KR" altLang="en-US" dirty="0"/>
              <a:t>이종위성군 선행연구자료 분석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F74BC7-104B-9843-9FB4-9A44E2BB85E0}"/>
              </a:ext>
            </a:extLst>
          </p:cNvPr>
          <p:cNvSpPr txBox="1"/>
          <p:nvPr/>
        </p:nvSpPr>
        <p:spPr>
          <a:xfrm>
            <a:off x="2002971" y="2793753"/>
            <a:ext cx="5497285" cy="4758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 fontAlgn="base" latinLnBrk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lang="ko-KR" altLang="en-US" sz="1800" b="1" kern="0" spc="0" dirty="0">
                <a:solidFill>
                  <a:srgbClr val="000000"/>
                </a:solidFill>
                <a:effectLst/>
                <a:ea typeface="휴먼명조" panose="02010504000101010101" pitchFamily="2" charset="-127"/>
              </a:rPr>
              <a:t>이종 </a:t>
            </a:r>
            <a:r>
              <a:rPr lang="ko-KR" altLang="en-US" sz="1800" b="1" kern="0" spc="0" dirty="0" err="1">
                <a:solidFill>
                  <a:srgbClr val="000000"/>
                </a:solidFill>
                <a:effectLst/>
                <a:ea typeface="휴먼명조" panose="02010504000101010101" pitchFamily="2" charset="-127"/>
              </a:rPr>
              <a:t>위성군</a:t>
            </a:r>
            <a:r>
              <a:rPr lang="ko-KR" altLang="en-US" sz="1800" b="1" kern="0" spc="0" dirty="0">
                <a:solidFill>
                  <a:srgbClr val="000000"/>
                </a:solidFill>
                <a:effectLst/>
                <a:ea typeface="휴먼명조" panose="02010504000101010101" pitchFamily="2" charset="-127"/>
              </a:rPr>
              <a:t> 설계 및 운용기술 연구실 </a:t>
            </a:r>
            <a:r>
              <a:rPr lang="en-US" altLang="ko-KR" sz="1800" b="1" kern="0" spc="0" dirty="0">
                <a:solidFill>
                  <a:srgbClr val="000000"/>
                </a:solidFill>
                <a:effectLst/>
                <a:ea typeface="휴먼명조" panose="02010504000101010101" pitchFamily="2" charset="-127"/>
              </a:rPr>
              <a:t>(HS-11)</a:t>
            </a:r>
            <a:endParaRPr lang="ko-KR" altLang="en-US" sz="1200" kern="0" spc="0" dirty="0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목표 및 자료조사에 참고한 논문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1"/>
            <a:r>
              <a:rPr lang="ko-KR" altLang="en-US" sz="1800" dirty="0"/>
              <a:t>선행연구 목표</a:t>
            </a:r>
            <a:r>
              <a:rPr lang="en-US" altLang="ko-KR" sz="1800" dirty="0"/>
              <a:t> : </a:t>
            </a:r>
            <a:r>
              <a:rPr lang="ko-KR" altLang="en-US" sz="1800" dirty="0"/>
              <a:t>이종위성군 성능 분석 및 설계</a:t>
            </a:r>
            <a:r>
              <a:rPr lang="en-US" altLang="ko-KR" sz="1800" dirty="0"/>
              <a:t>/</a:t>
            </a:r>
            <a:r>
              <a:rPr lang="ko-KR" altLang="en-US" sz="1800" dirty="0"/>
              <a:t>최적화를 위한 자료수집 </a:t>
            </a:r>
            <a:endParaRPr lang="en-US" altLang="ko-KR" sz="1800" dirty="0"/>
          </a:p>
          <a:p>
            <a:pPr lvl="1"/>
            <a:r>
              <a:rPr lang="ko-KR" altLang="en-US" dirty="0"/>
              <a:t>논문 선정 기준 </a:t>
            </a:r>
            <a:r>
              <a:rPr lang="en-US" altLang="ko-KR" dirty="0"/>
              <a:t>: </a:t>
            </a:r>
            <a:r>
              <a:rPr lang="ko-KR" altLang="en-US" sz="1800" dirty="0"/>
              <a:t>한반도를 관심지역으로 설정한 본 프로젝트의 연구 방향에 가장 적합하며 의미 있을 것으로 판단되는 논문을 아래와 같이 선별함</a:t>
            </a:r>
            <a:endParaRPr lang="en-US" altLang="ko-KR" sz="1800" dirty="0"/>
          </a:p>
          <a:p>
            <a:pPr lvl="2"/>
            <a:r>
              <a:rPr lang="en-US" altLang="ko-KR" dirty="0"/>
              <a:t>(1) 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ko-KR" dirty="0" err="1"/>
              <a:t>doi</a:t>
            </a:r>
            <a:r>
              <a:rPr lang="en-US" altLang="ko-KR" dirty="0"/>
              <a:t>: 10.1109/AERO.2019.8741813. </a:t>
            </a:r>
          </a:p>
          <a:p>
            <a:pPr lvl="2"/>
            <a:r>
              <a:rPr lang="en-US" altLang="ko-KR" dirty="0"/>
              <a:t>(2) S. Zhao, Y. Xu, H. Dai; Research on the configuration design method of heterogeneous constellation reconstruction under the multiple objective and multiple constraint. AIP Conference Proceedings 8 May 2017; 1839 (1): 020083.</a:t>
            </a:r>
          </a:p>
          <a:p>
            <a:pPr lvl="2"/>
            <a:r>
              <a:rPr lang="en-US" altLang="ko-KR" dirty="0"/>
              <a:t>(3) P. Fox, G. </a:t>
            </a:r>
            <a:r>
              <a:rPr lang="en-US" altLang="ko-KR" dirty="0" err="1"/>
              <a:t>Tyc</a:t>
            </a:r>
            <a:r>
              <a:rPr lang="en-US" altLang="ko-KR" dirty="0"/>
              <a:t>, and K. Beckett, “The UrtheCast SAR-XL multi-band, multi-aperture spaceborne SAR system,” 2017 IEEE Radar Conference (</a:t>
            </a:r>
            <a:r>
              <a:rPr lang="en-US" altLang="ko-KR" dirty="0" err="1"/>
              <a:t>RadarConf</a:t>
            </a:r>
            <a:r>
              <a:rPr lang="en-US" altLang="ko-KR" dirty="0"/>
              <a:t>), pp. 1761–1764, May 2017.</a:t>
            </a:r>
          </a:p>
          <a:p>
            <a:pPr lvl="2"/>
            <a:r>
              <a:rPr lang="en-US" altLang="ko-KR" dirty="0"/>
              <a:t>(4) L. Liu, Z. Dong, H. </a:t>
            </a:r>
            <a:r>
              <a:rPr lang="en-US" altLang="ko-KR" dirty="0" err="1"/>
              <a:t>Su</a:t>
            </a:r>
            <a:r>
              <a:rPr lang="en-US" altLang="ko-KR" dirty="0"/>
              <a:t>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</a:t>
            </a:r>
            <a:r>
              <a:rPr lang="en-US" altLang="ko-KR" dirty="0" err="1"/>
              <a:t>doi</a:t>
            </a:r>
            <a:r>
              <a:rPr lang="en-US" altLang="ko-KR" dirty="0"/>
              <a:t>: 10.1109/IAEAC50856.2021.9390990.</a:t>
            </a:r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241292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 목표 및 자료조사에 참고한 논문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이종위성군 우주 감시정찰 기술 </a:t>
            </a:r>
            <a:endParaRPr lang="en-US" altLang="ko-KR" dirty="0"/>
          </a:p>
          <a:p>
            <a:pPr lvl="2"/>
            <a:r>
              <a:rPr lang="en-US" altLang="ko-KR" dirty="0"/>
              <a:t>(5) Hang </a:t>
            </a:r>
            <a:r>
              <a:rPr lang="en-US" altLang="ko-KR" dirty="0" err="1"/>
              <a:t>Woon</a:t>
            </a:r>
            <a:r>
              <a:rPr lang="en-US" altLang="ko-KR" dirty="0"/>
              <a:t> Lee, Seiichi Shimizu, Shoji Yoshikawa, Koki Ho, "Satellite Constellation Pattern Optimization for Complex Regional Coverage“ 2020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35645488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(1) </a:t>
            </a:r>
            <a:r>
              <a:rPr lang="en-US" altLang="ko-KR" dirty="0"/>
              <a:t>I. Sanad and D. G. Michelson, "A Framework for Heterogeneous Satellite Constellation Design for Rapid Response Earth Observations," 2019 IEEE Aerospace Conference, Big Sky, MT, USA, 2019, pp. 1-10, </a:t>
            </a:r>
            <a:r>
              <a:rPr lang="en-US" altLang="ko-KR" dirty="0" err="1"/>
              <a:t>doi</a:t>
            </a:r>
            <a:r>
              <a:rPr lang="en-US" altLang="ko-KR" dirty="0"/>
              <a:t>: 10.1109/AERO.2019.8741813. 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939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 및 이종위성군의 정의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</a:t>
            </a:r>
          </a:p>
          <a:p>
            <a:pPr lvl="1"/>
            <a:r>
              <a:rPr lang="ko-KR" altLang="en-US" dirty="0"/>
              <a:t>자연재해 등 국방 및 자연안보에 신속하게 대응 </a:t>
            </a:r>
            <a:endParaRPr lang="en-US" altLang="ko-KR" dirty="0"/>
          </a:p>
          <a:p>
            <a:pPr lvl="1"/>
            <a:r>
              <a:rPr lang="en-US" altLang="ko-KR" dirty="0"/>
              <a:t>SRT(System Response Time)</a:t>
            </a:r>
            <a:r>
              <a:rPr lang="ko-KR" altLang="en-US" dirty="0"/>
              <a:t>를 최대한 줄일 수 있는 이종위성군 설계</a:t>
            </a:r>
            <a:endParaRPr lang="en-US" altLang="ko-KR" dirty="0"/>
          </a:p>
          <a:p>
            <a:pPr marL="216000" lvl="1" indent="0">
              <a:buNone/>
            </a:pPr>
            <a:endParaRPr lang="ko-KR" altLang="en-US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성능을 향상시키기 위해 서로 다른 기능을 하는 두 종류의 위성</a:t>
            </a:r>
            <a:r>
              <a:rPr lang="en-US" altLang="ko-KR" dirty="0"/>
              <a:t>(Imaging</a:t>
            </a:r>
            <a:r>
              <a:rPr lang="ko-KR" altLang="en-US" dirty="0"/>
              <a:t> 위성과 </a:t>
            </a:r>
            <a:r>
              <a:rPr lang="en-US" altLang="ko-KR" dirty="0"/>
              <a:t>Relay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en-US" altLang="ko-KR" dirty="0"/>
              <a:t>Cross-Link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r>
              <a:rPr lang="ko-KR" altLang="en-US" dirty="0"/>
              <a:t>이 중</a:t>
            </a:r>
            <a:r>
              <a:rPr lang="en-US" altLang="ko-KR" dirty="0"/>
              <a:t>, Imaging</a:t>
            </a:r>
            <a:r>
              <a:rPr lang="ko-KR" altLang="en-US" dirty="0"/>
              <a:t> 위성에 대해서는 고도가 다른 두 궤도에 각각 배치함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9153322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SRT</a:t>
            </a:r>
            <a:r>
              <a:rPr lang="ko-KR" altLang="en-US" dirty="0"/>
              <a:t>의 정의 및 구성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SRT</a:t>
            </a:r>
            <a:r>
              <a:rPr lang="ko-KR" altLang="en-US" dirty="0"/>
              <a:t>의 구성</a:t>
            </a:r>
            <a:endParaRPr lang="en-US" altLang="ko-KR" dirty="0"/>
          </a:p>
          <a:p>
            <a:pPr lvl="1"/>
            <a:r>
              <a:rPr lang="en-US" altLang="ko-KR" dirty="0"/>
              <a:t>SRT(</a:t>
            </a:r>
            <a:r>
              <a:rPr lang="ko-KR" altLang="en-US" dirty="0"/>
              <a:t>시스템 처리 시간</a:t>
            </a:r>
            <a:r>
              <a:rPr lang="en-US" altLang="ko-KR" dirty="0"/>
              <a:t>)</a:t>
            </a:r>
            <a:r>
              <a:rPr lang="ko-KR" altLang="en-US" dirty="0"/>
              <a:t>은 시스템 요청 제출 시점부터 생성된 이미지를 사용할 수 있을 때까지의 시간 간격을 정의하며 다음의 </a:t>
            </a:r>
            <a:r>
              <a:rPr lang="en-US" altLang="ko-KR" dirty="0"/>
              <a:t>7</a:t>
            </a:r>
            <a:r>
              <a:rPr lang="ko-KR" altLang="en-US" dirty="0"/>
              <a:t>가지 </a:t>
            </a:r>
            <a:r>
              <a:rPr lang="en-US" altLang="ko-KR" dirty="0"/>
              <a:t>delay</a:t>
            </a:r>
            <a:r>
              <a:rPr lang="ko-KR" altLang="en-US" dirty="0"/>
              <a:t>로 구성</a:t>
            </a:r>
            <a:endParaRPr lang="en-US" altLang="ko-KR" dirty="0"/>
          </a:p>
          <a:p>
            <a:pPr lvl="1"/>
            <a:r>
              <a:rPr lang="en-US" altLang="ko-KR" dirty="0"/>
              <a:t>Imaging </a:t>
            </a:r>
            <a:r>
              <a:rPr lang="ko-KR" altLang="en-US" dirty="0"/>
              <a:t>위성과 </a:t>
            </a:r>
            <a:r>
              <a:rPr lang="en-US" altLang="ko-KR" dirty="0"/>
              <a:t>Relay</a:t>
            </a:r>
            <a:r>
              <a:rPr lang="ko-KR" altLang="en-US" dirty="0"/>
              <a:t> 위성 사이에 양방향 </a:t>
            </a:r>
            <a:r>
              <a:rPr lang="en-US" altLang="ko-KR" dirty="0"/>
              <a:t>ISL</a:t>
            </a:r>
            <a:r>
              <a:rPr lang="ko-KR" altLang="en-US" dirty="0"/>
              <a:t>을 이용하여 </a:t>
            </a:r>
            <a:r>
              <a:rPr lang="en-US" altLang="ko-KR" dirty="0"/>
              <a:t>T2</a:t>
            </a:r>
            <a:r>
              <a:rPr lang="ko-KR" altLang="en-US" dirty="0"/>
              <a:t>와 </a:t>
            </a:r>
            <a:r>
              <a:rPr lang="en-US" altLang="ko-KR" dirty="0"/>
              <a:t>T6</a:t>
            </a:r>
            <a:r>
              <a:rPr lang="ko-KR" altLang="en-US" dirty="0"/>
              <a:t>을 줄임으로써 </a:t>
            </a:r>
            <a:r>
              <a:rPr lang="en-US" altLang="ko-KR" dirty="0"/>
              <a:t>SRT</a:t>
            </a:r>
            <a:r>
              <a:rPr lang="ko-KR" altLang="en-US" dirty="0"/>
              <a:t>를 크게 줄일 수 있음</a:t>
            </a:r>
          </a:p>
          <a:p>
            <a:pPr lvl="1"/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AAF35A6-D401-E0F9-E0C2-89502E430E5D}"/>
              </a:ext>
            </a:extLst>
          </p:cNvPr>
          <p:cNvGraphicFramePr>
            <a:graphicFrameLocks noGrp="1"/>
          </p:cNvGraphicFramePr>
          <p:nvPr/>
        </p:nvGraphicFramePr>
        <p:xfrm>
          <a:off x="486122" y="2605142"/>
          <a:ext cx="8171756" cy="350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459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444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367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7118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Time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Definition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Value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9497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Preparation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(T1)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지상국에서부터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위성까지 명령을 전달하기 전에 명령을 수집하는데 걸리는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요청 및 처리 지연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,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시스템 프로그래밍 및 명령 컴파일이 포함됨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지상국이 접속할 때 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지상국에서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위성으로 수집된 명령을 전달하는데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이미지 획들을 위해 명령을 수신한 후 대상의 접속 시간을 구성하는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필요한 운용 모드로 탑재체를 스위칭 하는 데 필요한 시간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.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784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Intrinsic Response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(T4)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관심 지역에 대한 커버리지 요청과 커버리지가 달성되는 시간 간격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위성군의 재방문 시간에 완전히 의존함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위성이 타겟의 이미지를 수집하는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 대한 수신 지상국을 구성하는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Imaging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위성과 수신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사이이 접속할 때까지의 시간 지연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Dynamic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244070">
                <a:tc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생성된 데이터를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Downlink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하는 데 필요한 시간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. 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Fixed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56444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연구방법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(1) </a:t>
            </a:r>
            <a:r>
              <a:rPr lang="ko-KR" altLang="en-US" dirty="0"/>
              <a:t>임무목적과 제한조건을 설정</a:t>
            </a:r>
            <a:endParaRPr lang="en-US" altLang="ko-KR" dirty="0"/>
          </a:p>
          <a:p>
            <a:pPr lvl="1"/>
            <a:r>
              <a:rPr lang="en-US" altLang="ko-KR" dirty="0"/>
              <a:t>(2) EO </a:t>
            </a:r>
            <a:r>
              <a:rPr lang="ko-KR" altLang="en-US" dirty="0"/>
              <a:t>탑재체의 성능 결정</a:t>
            </a:r>
            <a:endParaRPr lang="en-US" altLang="ko-KR" dirty="0"/>
          </a:p>
          <a:p>
            <a:pPr lvl="1"/>
            <a:r>
              <a:rPr lang="en-US" altLang="ko-KR" dirty="0"/>
              <a:t>(3) </a:t>
            </a:r>
            <a:r>
              <a:rPr lang="ko-KR" altLang="en-US" dirty="0"/>
              <a:t>궤도역학에 기반한</a:t>
            </a:r>
            <a:r>
              <a:rPr lang="en-US" altLang="ko-KR" dirty="0"/>
              <a:t> STK </a:t>
            </a:r>
            <a:r>
              <a:rPr lang="ko-KR" altLang="en-US" dirty="0"/>
              <a:t>소프트웨어 시뮬레이션</a:t>
            </a:r>
            <a:endParaRPr lang="en-US" altLang="ko-KR" dirty="0"/>
          </a:p>
          <a:p>
            <a:pPr lvl="1"/>
            <a:r>
              <a:rPr lang="en-US" altLang="ko-KR" dirty="0"/>
              <a:t>(4) </a:t>
            </a:r>
            <a:r>
              <a:rPr lang="ko-KR" altLang="en-US" dirty="0"/>
              <a:t>궤도정보 및 </a:t>
            </a:r>
            <a:r>
              <a:rPr lang="ko-KR" altLang="en-US" dirty="0" err="1"/>
              <a:t>위성군</a:t>
            </a:r>
            <a:r>
              <a:rPr lang="ko-KR" altLang="en-US" dirty="0"/>
              <a:t> 운용 개념 결정</a:t>
            </a:r>
            <a:endParaRPr lang="en-US" altLang="ko-KR" dirty="0"/>
          </a:p>
          <a:p>
            <a:pPr lvl="1"/>
            <a:r>
              <a:rPr lang="en-US" altLang="ko-KR" dirty="0"/>
              <a:t>(5)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  <a:endParaRPr lang="en-US" altLang="ko-KR" dirty="0"/>
          </a:p>
          <a:p>
            <a:pPr lvl="1"/>
            <a:r>
              <a:rPr lang="en-US" altLang="ko-KR" dirty="0"/>
              <a:t>(6) </a:t>
            </a:r>
            <a:r>
              <a:rPr lang="ko-KR" altLang="en-US" dirty="0"/>
              <a:t>최적의 결과를 내는 성능지수 도출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단계별 연구방법</a:t>
            </a: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CBABF09C-C3AA-875F-66EE-3594CC1F60B1}"/>
              </a:ext>
            </a:extLst>
          </p:cNvPr>
          <p:cNvGrpSpPr/>
          <p:nvPr/>
        </p:nvGrpSpPr>
        <p:grpSpPr>
          <a:xfrm>
            <a:off x="287902" y="1547104"/>
            <a:ext cx="5887955" cy="2121437"/>
            <a:chOff x="279751" y="1524723"/>
            <a:chExt cx="5360761" cy="1931488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778E0DC1-8279-79E8-6701-7CD127EC41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85627" y="1524723"/>
              <a:ext cx="5054885" cy="193148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02B189E-DC46-E69E-EFBD-9F3E0758E038}"/>
                </a:ext>
              </a:extLst>
            </p:cNvPr>
            <p:cNvSpPr txBox="1"/>
            <p:nvPr/>
          </p:nvSpPr>
          <p:spPr>
            <a:xfrm>
              <a:off x="279751" y="1568615"/>
              <a:ext cx="4459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(1)</a:t>
              </a:r>
              <a:endParaRPr lang="ko-KR" altLang="en-US" sz="1200" b="1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D8C917C6-EFA8-9B1E-5BA4-C18D134BDC5C}"/>
                </a:ext>
              </a:extLst>
            </p:cNvPr>
            <p:cNvSpPr txBox="1"/>
            <p:nvPr/>
          </p:nvSpPr>
          <p:spPr>
            <a:xfrm>
              <a:off x="1494176" y="2285386"/>
              <a:ext cx="445927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(2)</a:t>
              </a:r>
              <a:endParaRPr lang="ko-KR" altLang="en-US" sz="1200" b="1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6FD4704-FE8B-0C1E-7B1D-108D26E6DE3F}"/>
                </a:ext>
              </a:extLst>
            </p:cNvPr>
            <p:cNvSpPr txBox="1"/>
            <p:nvPr/>
          </p:nvSpPr>
          <p:spPr>
            <a:xfrm>
              <a:off x="2074409" y="2884779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(4)</a:t>
              </a:r>
              <a:endParaRPr lang="ko-KR" altLang="en-US" sz="1200" b="1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A21EED1-5953-B105-63ED-2DB925C778C5}"/>
                </a:ext>
              </a:extLst>
            </p:cNvPr>
            <p:cNvSpPr txBox="1"/>
            <p:nvPr/>
          </p:nvSpPr>
          <p:spPr>
            <a:xfrm>
              <a:off x="1885947" y="1540926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(5)</a:t>
              </a:r>
              <a:endParaRPr lang="ko-KR" altLang="en-US" sz="1200" b="1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748C22-1B23-770B-607E-8C4B3C0EBCA1}"/>
                </a:ext>
              </a:extLst>
            </p:cNvPr>
            <p:cNvSpPr txBox="1"/>
            <p:nvPr/>
          </p:nvSpPr>
          <p:spPr>
            <a:xfrm>
              <a:off x="3720920" y="1569601"/>
              <a:ext cx="445927" cy="2521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b="1" dirty="0"/>
                <a:t>(6)</a:t>
              </a:r>
              <a:endParaRPr lang="ko-KR" altLang="en-US" sz="1200" b="1" dirty="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ACEE1002-5A46-31F7-41C2-6DF0883DCFBF}"/>
              </a:ext>
            </a:extLst>
          </p:cNvPr>
          <p:cNvSpPr txBox="1"/>
          <p:nvPr/>
        </p:nvSpPr>
        <p:spPr>
          <a:xfrm>
            <a:off x="4151171" y="3032901"/>
            <a:ext cx="48978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b="1" dirty="0"/>
              <a:t>(3)</a:t>
            </a:r>
            <a:endParaRPr lang="ko-KR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4153953825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(1) Mission Objectives and</a:t>
            </a:r>
            <a:r>
              <a:rPr lang="ko-KR" altLang="en-US" dirty="0"/>
              <a:t> </a:t>
            </a:r>
            <a:r>
              <a:rPr lang="en-US" altLang="ko-KR" dirty="0"/>
              <a:t>Constraints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en-US" altLang="ko-KR" dirty="0"/>
              <a:t>(2) Remote Sensing Sensor</a:t>
            </a:r>
          </a:p>
          <a:p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dirty="0"/>
              <a:t>임무 목적 및 제한조건과 </a:t>
            </a:r>
            <a:r>
              <a:rPr lang="ko-KR" altLang="en-US" dirty="0" err="1"/>
              <a:t>탑재체</a:t>
            </a:r>
            <a:r>
              <a:rPr lang="ko-KR" altLang="en-US" dirty="0"/>
              <a:t> 성능 결정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F103E3-69C3-6850-2071-B6FE1CA0FA5C}"/>
              </a:ext>
            </a:extLst>
          </p:cNvPr>
          <p:cNvGraphicFramePr>
            <a:graphicFrameLocks noGrp="1"/>
          </p:cNvGraphicFramePr>
          <p:nvPr/>
        </p:nvGraphicFramePr>
        <p:xfrm>
          <a:off x="750760" y="1424372"/>
          <a:ext cx="6125211" cy="277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4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7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63583">
                  <a:extLst>
                    <a:ext uri="{9D8B030D-6E8A-4147-A177-3AD203B41FA5}">
                      <a16:colId xmlns:a16="http://schemas.microsoft.com/office/drawing/2014/main" val="1211919237"/>
                    </a:ext>
                  </a:extLst>
                </a:gridCol>
              </a:tblGrid>
              <a:tr h="2679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Step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191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Mission</a:t>
                      </a:r>
                      <a:r>
                        <a:rPr lang="ko-KR" altLang="en-US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Objectives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Global Coverage 100%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커버를 달성하는 광학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 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위성군을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 Uplink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(T2)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특정 공간 해상도를 달성하는데 필요한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파라미터 지정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Commanding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SRT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줄이기 위한 최상의 적도 평면 상의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위성군을 설계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Pre-collection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(T3-2nd)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신호 송수신을 위한 지상국의 위치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191">
                <a:tc rowSpan="5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Constraints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SSO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200~1,200km (Imaging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배치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(T5-1st)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MEO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8,000km (Relay </a:t>
                      </a: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배치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Post collection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(T5-2nd)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평면 당 위성의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2~6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241191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Data Downlink Delay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(T6)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지상국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 이상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just" latinLnBrk="1"/>
                      <a:r>
                        <a:rPr lang="en-US" altLang="ko-KR" sz="12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Downlink Time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(T7)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Detector Pitch(DP)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7699734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1FBA166-D59A-D7DA-31F3-D3A18048B8C3}"/>
              </a:ext>
            </a:extLst>
          </p:cNvPr>
          <p:cNvGraphicFramePr>
            <a:graphicFrameLocks noGrp="1"/>
          </p:cNvGraphicFramePr>
          <p:nvPr/>
        </p:nvGraphicFramePr>
        <p:xfrm>
          <a:off x="750760" y="4903574"/>
          <a:ext cx="3122866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0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20478">
                  <a:extLst>
                    <a:ext uri="{9D8B030D-6E8A-4147-A177-3AD203B41FA5}">
                      <a16:colId xmlns:a16="http://schemas.microsoft.com/office/drawing/2014/main" val="1881032504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04095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196933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5m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1.2~1.4m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0.12~0.14m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DP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</a:t>
                      </a:r>
                      <a:r>
                        <a:rPr lang="el-GR" altLang="ko-KR" sz="1200" dirty="0"/>
                        <a:t>μ</a:t>
                      </a:r>
                      <a:r>
                        <a:rPr lang="en-US" altLang="ko-KR" sz="1200" dirty="0"/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1908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20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212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23190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40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473 km (@600km altitude)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A043772B-BCE6-0E42-B27D-5A2B8EB756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1546" y="4903574"/>
            <a:ext cx="2218431" cy="1750690"/>
          </a:xfrm>
          <a:prstGeom prst="rect">
            <a:avLst/>
          </a:prstGeom>
          <a:ln>
            <a:solidFill>
              <a:schemeClr val="tx1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DB69AD-3490-DAAC-3FBB-D72669CDDDA8}"/>
                  </a:ext>
                </a:extLst>
              </p:cNvPr>
              <p:cNvSpPr txBox="1"/>
              <p:nvPr/>
            </p:nvSpPr>
            <p:spPr>
              <a:xfrm>
                <a:off x="6513784" y="5454176"/>
                <a:ext cx="2229328" cy="603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dirty="0"/>
                  <a:t>GSD </a:t>
                </a:r>
                <a14:m>
                  <m:oMath xmlns:m="http://schemas.openxmlformats.org/officeDocument/2006/math">
                    <m:r>
                      <a:rPr lang="en-US" altLang="ko-KR" sz="240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𝐷𝑃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num>
                      <m:den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ad>
                          <m:radPr>
                            <m:degHide m:val="on"/>
                            <m:ctrlPr>
                              <a:rPr lang="en-US" altLang="ko-KR" sz="240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US" altLang="ko-KR" sz="24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𝑒𝑙𝑒𝑣</m:t>
                            </m:r>
                            <m:r>
                              <a:rPr lang="en-US" altLang="ko-KR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rad>
                      </m:den>
                    </m:f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CDB69AD-3490-DAAC-3FBB-D72669CDD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3784" y="5454176"/>
                <a:ext cx="2229328" cy="603370"/>
              </a:xfrm>
              <a:prstGeom prst="rect">
                <a:avLst/>
              </a:prstGeom>
              <a:blipFill>
                <a:blip r:embed="rId4"/>
                <a:stretch>
                  <a:fillRect l="-657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599740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/>
              <a:t>(3) Orbital</a:t>
            </a:r>
            <a:r>
              <a:rPr lang="ko-KR" altLang="en-US" dirty="0"/>
              <a:t> </a:t>
            </a:r>
            <a:r>
              <a:rPr lang="en-US" altLang="ko-KR" dirty="0"/>
              <a:t>Mechanics and simulation method</a:t>
            </a:r>
          </a:p>
          <a:p>
            <a:pPr lvl="1"/>
            <a:r>
              <a:rPr lang="en-US" altLang="ko-KR" dirty="0"/>
              <a:t>STK</a:t>
            </a:r>
            <a:r>
              <a:rPr lang="ko-KR" altLang="en-US" dirty="0"/>
              <a:t> 소프트웨어 및 그에 포함된 </a:t>
            </a:r>
            <a:r>
              <a:rPr lang="en-US" altLang="ko-KR" dirty="0"/>
              <a:t>Coverage, STK Analyzer </a:t>
            </a:r>
            <a:r>
              <a:rPr lang="ko-KR" altLang="en-US" dirty="0"/>
              <a:t>등의 모듈을 사용하여 분석</a:t>
            </a:r>
            <a:endParaRPr lang="en-US" altLang="ko-KR" dirty="0"/>
          </a:p>
          <a:p>
            <a:pPr lvl="1"/>
            <a:r>
              <a:rPr lang="ko-KR" altLang="en-US" dirty="0"/>
              <a:t>또는 </a:t>
            </a:r>
            <a:r>
              <a:rPr lang="en-US" altLang="ko-KR" dirty="0"/>
              <a:t>STK</a:t>
            </a:r>
            <a:r>
              <a:rPr lang="ko-KR" altLang="en-US" dirty="0"/>
              <a:t>와 다른 소프트웨어인 </a:t>
            </a:r>
            <a:r>
              <a:rPr lang="en-US" altLang="ko-KR" dirty="0"/>
              <a:t>AWB(Analysis Workbench)</a:t>
            </a:r>
            <a:r>
              <a:rPr lang="ko-KR" altLang="en-US" dirty="0"/>
              <a:t>를 사용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en-US" altLang="ko-KR" dirty="0"/>
              <a:t>(4) Orbit types and Constellation Concept</a:t>
            </a:r>
          </a:p>
          <a:p>
            <a:pPr lvl="1"/>
            <a:r>
              <a:rPr lang="en-US" altLang="ko-KR" dirty="0"/>
              <a:t>SSO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1"/>
            <a:r>
              <a:rPr lang="en-US" altLang="ko-KR" dirty="0"/>
              <a:t>MIO </a:t>
            </a:r>
            <a:r>
              <a:rPr lang="ko-KR" altLang="en-US" dirty="0"/>
              <a:t>궤도에 </a:t>
            </a:r>
            <a:r>
              <a:rPr lang="en-US" altLang="ko-KR" dirty="0"/>
              <a:t>Imaging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  <a:endParaRPr lang="en-US" altLang="ko-KR" dirty="0"/>
          </a:p>
          <a:p>
            <a:pPr lvl="2"/>
            <a:r>
              <a:rPr lang="ko-KR" altLang="en-US" dirty="0"/>
              <a:t>중위도 지역 커버 목적</a:t>
            </a:r>
            <a:endParaRPr lang="en-US" altLang="ko-KR" dirty="0"/>
          </a:p>
          <a:p>
            <a:pPr lvl="1"/>
            <a:r>
              <a:rPr lang="en-US" altLang="ko-KR" dirty="0"/>
              <a:t>MEO</a:t>
            </a:r>
            <a:r>
              <a:rPr lang="ko-KR" altLang="en-US" dirty="0"/>
              <a:t>궤도에 </a:t>
            </a:r>
            <a:r>
              <a:rPr lang="en-US" altLang="ko-KR" dirty="0"/>
              <a:t>Relay </a:t>
            </a:r>
            <a:r>
              <a:rPr lang="ko-KR" altLang="en-US" dirty="0" err="1"/>
              <a:t>위성군</a:t>
            </a:r>
            <a:r>
              <a:rPr lang="ko-KR" altLang="en-US" dirty="0"/>
              <a:t> 배치</a:t>
            </a:r>
          </a:p>
          <a:p>
            <a:pPr lvl="2"/>
            <a:r>
              <a:rPr lang="en-US" altLang="ko-KR" dirty="0"/>
              <a:t>Imaging </a:t>
            </a:r>
            <a:r>
              <a:rPr lang="ko-KR" altLang="en-US" dirty="0"/>
              <a:t>위성군과의 </a:t>
            </a:r>
            <a:r>
              <a:rPr lang="en-US" altLang="ko-KR" dirty="0"/>
              <a:t>ISL</a:t>
            </a:r>
            <a:r>
              <a:rPr lang="ko-KR" altLang="en-US" dirty="0"/>
              <a:t> 통신 목적</a:t>
            </a:r>
          </a:p>
          <a:p>
            <a:pPr lvl="1"/>
            <a:r>
              <a:rPr lang="ko-KR" altLang="en-US" dirty="0"/>
              <a:t>이종 위성군을 이용한 </a:t>
            </a:r>
            <a:r>
              <a:rPr lang="en-US" altLang="ko-KR" dirty="0"/>
              <a:t>SRT</a:t>
            </a:r>
            <a:r>
              <a:rPr lang="ko-KR" altLang="en-US" dirty="0"/>
              <a:t> 성능분석</a:t>
            </a:r>
          </a:p>
          <a:p>
            <a:pPr lvl="2"/>
            <a:r>
              <a:rPr lang="ko-KR" altLang="en-US" dirty="0"/>
              <a:t>이종위성군 </a:t>
            </a:r>
            <a:r>
              <a:rPr lang="en-US" altLang="ko-KR" dirty="0"/>
              <a:t>vs Imaging</a:t>
            </a:r>
            <a:r>
              <a:rPr lang="ko-KR" altLang="en-US" dirty="0"/>
              <a:t> 위성군을 비교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사용된 </a:t>
            </a:r>
            <a:r>
              <a:rPr lang="en-US" altLang="ko-KR" dirty="0"/>
              <a:t>SW</a:t>
            </a:r>
            <a:r>
              <a:rPr lang="ko-KR" altLang="en-US" dirty="0"/>
              <a:t>및 궤도정보 및 운용개념 결정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3650ABF-6465-7406-9E97-F431DCDBC4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605" y="1894794"/>
            <a:ext cx="3687943" cy="1542566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9A483391-5840-00D5-4390-A1B22A744786}"/>
              </a:ext>
            </a:extLst>
          </p:cNvPr>
          <p:cNvGraphicFramePr>
            <a:graphicFrameLocks noGrp="1"/>
          </p:cNvGraphicFramePr>
          <p:nvPr/>
        </p:nvGraphicFramePr>
        <p:xfrm>
          <a:off x="4801717" y="1884520"/>
          <a:ext cx="4075044" cy="16047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59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9071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</a:tblGrid>
              <a:tr h="16890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Term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898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DV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위성군을 설계할 때 </a:t>
                      </a:r>
                      <a:r>
                        <a:rPr lang="en-US" altLang="ko-KR" sz="1300" dirty="0"/>
                        <a:t>input</a:t>
                      </a:r>
                      <a:r>
                        <a:rPr lang="ko-KR" altLang="en-US" sz="1300" dirty="0"/>
                        <a:t>으로 적용되는 설계변수로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최적화를 위해 값을 조정 가능</a:t>
                      </a:r>
                      <a:endParaRPr lang="en-US" altLang="ko-KR" sz="1300" dirty="0"/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3589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MOP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dirty="0"/>
                        <a:t>설계변수에 따라 얻을 수 있는 최종 성능지표 </a:t>
                      </a:r>
                      <a:r>
                        <a:rPr lang="en-US" altLang="ko-KR" sz="1300" dirty="0"/>
                        <a:t>(ex. </a:t>
                      </a:r>
                      <a:r>
                        <a:rPr lang="ko-KR" altLang="en-US" sz="1300" dirty="0"/>
                        <a:t>커버리지</a:t>
                      </a:r>
                      <a:r>
                        <a:rPr lang="en-US" altLang="ko-KR" sz="1300" dirty="0"/>
                        <a:t>, </a:t>
                      </a:r>
                      <a:r>
                        <a:rPr lang="ko-KR" altLang="en-US" sz="1300" dirty="0"/>
                        <a:t>재방문 주기</a:t>
                      </a:r>
                      <a:r>
                        <a:rPr lang="en-US" altLang="ko-KR" sz="1300" dirty="0"/>
                        <a:t>,</a:t>
                      </a:r>
                      <a:r>
                        <a:rPr lang="ko-KR" altLang="en-US" sz="1300" dirty="0"/>
                        <a:t> 해상도 등</a:t>
                      </a:r>
                      <a:r>
                        <a:rPr lang="en-US" altLang="ko-KR" sz="1300" dirty="0"/>
                        <a:t>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  <a:tr h="153061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1~2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개의 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DV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를 실행시키면 각 값에서 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MOP</a:t>
                      </a:r>
                      <a:r>
                        <a:rPr lang="ko-KR" altLang="en-US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가 수집됨 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dirty="0"/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4620658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F26E239-51ED-F7D9-A93B-C81443685F39}"/>
              </a:ext>
            </a:extLst>
          </p:cNvPr>
          <p:cNvGraphicFramePr>
            <a:graphicFrameLocks noGrp="1"/>
          </p:cNvGraphicFramePr>
          <p:nvPr/>
        </p:nvGraphicFramePr>
        <p:xfrm>
          <a:off x="4401062" y="4567064"/>
          <a:ext cx="4475699" cy="13102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13683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  <a:gridCol w="1705683">
                  <a:extLst>
                    <a:ext uri="{9D8B030D-6E8A-4147-A177-3AD203B41FA5}">
                      <a16:colId xmlns:a16="http://schemas.microsoft.com/office/drawing/2014/main" val="1375582816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5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</a:t>
                      </a: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37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LEO</a:t>
                      </a:r>
                      <a:endParaRPr lang="ko-KR" altLang="en-US" sz="13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SSO(Sun-Synchronous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Imaging Constellation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3309454"/>
                  </a:ext>
                </a:extLst>
              </a:tr>
              <a:tr h="3453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MIO(Mid-inclination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336657"/>
                  </a:ext>
                </a:extLst>
              </a:tr>
              <a:tr h="289194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MEO(</a:t>
                      </a: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Medium Earth Orbit)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/>
                        <a:t>Medium Earth 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Relay Constellation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53049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2282609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 (Imaging Constellation)</a:t>
            </a:r>
          </a:p>
          <a:p>
            <a:pPr lvl="1"/>
            <a:r>
              <a:rPr lang="en-US" altLang="ko-KR" dirty="0"/>
              <a:t>FOV </a:t>
            </a:r>
            <a:r>
              <a:rPr lang="ko-KR" altLang="en-US" dirty="0"/>
              <a:t>및 </a:t>
            </a:r>
            <a:r>
              <a:rPr lang="en-US" altLang="ko-KR" dirty="0"/>
              <a:t>GSD</a:t>
            </a:r>
            <a:r>
              <a:rPr lang="ko-KR" altLang="en-US" dirty="0"/>
              <a:t>를 조정하며 </a:t>
            </a:r>
            <a:r>
              <a:rPr lang="en-US" altLang="ko-KR" dirty="0"/>
              <a:t>DV</a:t>
            </a:r>
            <a:r>
              <a:rPr lang="ko-KR" altLang="en-US" dirty="0"/>
              <a:t>를 입력</a:t>
            </a:r>
            <a:endParaRPr lang="en-US" altLang="ko-KR" dirty="0"/>
          </a:p>
          <a:p>
            <a:pPr lvl="2"/>
            <a:r>
              <a:rPr lang="en-US" altLang="ko-KR" dirty="0"/>
              <a:t>(</a:t>
            </a:r>
            <a:r>
              <a:rPr lang="ko-KR" altLang="en-US" dirty="0"/>
              <a:t>논문에서는 </a:t>
            </a:r>
            <a:r>
              <a:rPr lang="en-US" altLang="ko-KR" dirty="0"/>
              <a:t>FOV = 20, GSD = 0.5m</a:t>
            </a:r>
            <a:r>
              <a:rPr lang="ko-KR" altLang="en-US" dirty="0"/>
              <a:t>로 설정</a:t>
            </a:r>
            <a:r>
              <a:rPr lang="en-US" altLang="ko-KR" dirty="0"/>
              <a:t>)</a:t>
            </a:r>
          </a:p>
          <a:p>
            <a:pPr lvl="1"/>
            <a:r>
              <a:rPr lang="en-US" altLang="ko-KR" dirty="0"/>
              <a:t>DV(SSO</a:t>
            </a:r>
            <a:r>
              <a:rPr lang="ko-KR" altLang="en-US" dirty="0"/>
              <a:t>궤도의 고도</a:t>
            </a:r>
            <a:r>
              <a:rPr lang="en-US" altLang="ko-KR" dirty="0"/>
              <a:t>, Imaging </a:t>
            </a:r>
            <a:r>
              <a:rPr lang="ko-KR" altLang="en-US" dirty="0"/>
              <a:t>위성의 수</a:t>
            </a:r>
            <a:r>
              <a:rPr lang="en-US" altLang="ko-KR" dirty="0"/>
              <a:t>) </a:t>
            </a:r>
          </a:p>
          <a:p>
            <a:pPr marL="216000" lvl="1" indent="0">
              <a:buNone/>
            </a:pPr>
            <a:r>
              <a:rPr lang="ko-KR" altLang="en-US" dirty="0"/>
              <a:t>      → </a:t>
            </a:r>
            <a:r>
              <a:rPr lang="en-US" altLang="ko-KR" dirty="0"/>
              <a:t>MOP(Daylight Global Coverage)</a:t>
            </a:r>
          </a:p>
          <a:p>
            <a:pPr lvl="1"/>
            <a:r>
              <a:rPr lang="en-US" altLang="ko-KR" dirty="0"/>
              <a:t>SSO</a:t>
            </a:r>
            <a:r>
              <a:rPr lang="ko-KR" altLang="en-US" dirty="0"/>
              <a:t>궤도의 고도가 높을수록</a:t>
            </a:r>
            <a:r>
              <a:rPr lang="en-US" altLang="ko-KR" dirty="0"/>
              <a:t>, </a:t>
            </a:r>
            <a:r>
              <a:rPr lang="ko-KR" altLang="en-US" dirty="0"/>
              <a:t>위성의 수가 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 많을수록 커버리지 비율 상승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위의 결과 중</a:t>
            </a:r>
            <a:r>
              <a:rPr lang="en-US" altLang="ko-KR" dirty="0"/>
              <a:t> </a:t>
            </a:r>
            <a:r>
              <a:rPr lang="ko-KR" altLang="en-US" dirty="0"/>
              <a:t>고도 </a:t>
            </a:r>
            <a:r>
              <a:rPr lang="en-US" altLang="ko-KR" dirty="0"/>
              <a:t>600km,</a:t>
            </a:r>
            <a:r>
              <a:rPr lang="ko-KR" altLang="en-US" dirty="0"/>
              <a:t> 위성 </a:t>
            </a:r>
            <a:r>
              <a:rPr lang="en-US" altLang="ko-KR" dirty="0"/>
              <a:t>4</a:t>
            </a:r>
            <a:r>
              <a:rPr lang="ko-KR" altLang="en-US" dirty="0"/>
              <a:t>개로 설정</a:t>
            </a:r>
            <a:endParaRPr lang="en-US" altLang="ko-KR" dirty="0"/>
          </a:p>
          <a:p>
            <a:pPr lvl="1"/>
            <a:r>
              <a:rPr lang="en-US" altLang="ko-KR" dirty="0"/>
              <a:t>DV(FOV, f) </a:t>
            </a:r>
            <a:r>
              <a:rPr lang="ko-KR" altLang="en-US" dirty="0"/>
              <a:t>→ </a:t>
            </a:r>
            <a:r>
              <a:rPr lang="en-US" altLang="ko-KR" dirty="0"/>
              <a:t>MOP(Daylight  Global Coverage)</a:t>
            </a:r>
          </a:p>
          <a:p>
            <a:pPr lvl="1"/>
            <a:r>
              <a:rPr lang="ko-KR" altLang="en-US" dirty="0"/>
              <a:t>초점거리가 길수록</a:t>
            </a:r>
            <a:r>
              <a:rPr lang="en-US" altLang="ko-KR" dirty="0"/>
              <a:t>, FOV</a:t>
            </a:r>
            <a:r>
              <a:rPr lang="ko-KR" altLang="en-US" dirty="0"/>
              <a:t>가 클수록 커버리지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비율이 증가함</a:t>
            </a:r>
            <a:endParaRPr lang="en-US" altLang="ko-KR" dirty="0"/>
          </a:p>
          <a:p>
            <a:pPr lvl="1"/>
            <a:r>
              <a:rPr lang="ko-KR" altLang="en-US" dirty="0"/>
              <a:t>하지만 일정수준 이상으로는 커버리지 비율이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 일정하므로 초점거리 늘릴 필요 없음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Imaging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시뮬레이션 결과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6175F535-FC1D-9FE1-3FF3-9719390F9C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4280" y="1416753"/>
            <a:ext cx="3122637" cy="22552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40968C5E-D7E5-412B-0749-78675B5CD5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279" y="3981600"/>
            <a:ext cx="3122637" cy="24592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06023023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(5) Satellite Constellation Design (Imaging Constellation)</a:t>
            </a:r>
          </a:p>
          <a:p>
            <a:pPr lvl="1"/>
            <a:r>
              <a:rPr lang="en-US" altLang="ko-KR" dirty="0"/>
              <a:t>SSO</a:t>
            </a:r>
            <a:r>
              <a:rPr lang="ko-KR" altLang="en-US" dirty="0"/>
              <a:t>궤도만으로는 중위도 지역 </a:t>
            </a:r>
            <a:r>
              <a:rPr lang="en-US" altLang="ko-KR" dirty="0"/>
              <a:t>100% </a:t>
            </a:r>
            <a:r>
              <a:rPr lang="ko-KR" altLang="en-US" dirty="0"/>
              <a:t>커버 불가</a:t>
            </a:r>
            <a:endParaRPr lang="en-US" altLang="ko-KR" dirty="0"/>
          </a:p>
          <a:p>
            <a:pPr lvl="1"/>
            <a:r>
              <a:rPr lang="en-US" altLang="ko-KR" dirty="0"/>
              <a:t>MIO</a:t>
            </a:r>
            <a:r>
              <a:rPr lang="ko-KR" altLang="en-US" dirty="0"/>
              <a:t>궤도에 </a:t>
            </a:r>
            <a:r>
              <a:rPr lang="en-US" altLang="ko-KR" dirty="0"/>
              <a:t>Imaging</a:t>
            </a:r>
            <a:r>
              <a:rPr lang="ko-KR" altLang="en-US" dirty="0"/>
              <a:t>위성군을 추가</a:t>
            </a:r>
            <a:endParaRPr lang="en-US" altLang="ko-KR" dirty="0"/>
          </a:p>
          <a:p>
            <a:pPr lvl="1"/>
            <a:r>
              <a:rPr lang="en-US" altLang="ko-KR" dirty="0"/>
              <a:t>DV(MIO</a:t>
            </a:r>
            <a:r>
              <a:rPr lang="ko-KR" altLang="en-US" dirty="0"/>
              <a:t>궤도의 고도</a:t>
            </a:r>
            <a:r>
              <a:rPr lang="en-US" altLang="ko-KR" dirty="0"/>
              <a:t>, Imaging </a:t>
            </a:r>
            <a:r>
              <a:rPr lang="ko-KR" altLang="en-US" dirty="0"/>
              <a:t>위성의 수</a:t>
            </a:r>
            <a:r>
              <a:rPr lang="en-US" altLang="ko-KR" dirty="0"/>
              <a:t>)</a:t>
            </a:r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→ </a:t>
            </a:r>
            <a:r>
              <a:rPr lang="en-US" altLang="ko-KR" dirty="0"/>
              <a:t>MOP(Global Coverage)</a:t>
            </a:r>
          </a:p>
          <a:p>
            <a:pPr lvl="1"/>
            <a:r>
              <a:rPr lang="en-US" altLang="ko-KR" dirty="0"/>
              <a:t>MIO</a:t>
            </a:r>
            <a:r>
              <a:rPr lang="ko-KR" altLang="en-US" dirty="0"/>
              <a:t>궤도의 고도와 커버리지 비율은 별다른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관계가 없음</a:t>
            </a:r>
            <a:endParaRPr lang="en-US" altLang="ko-KR" dirty="0"/>
          </a:p>
          <a:p>
            <a:pPr lvl="1"/>
            <a:r>
              <a:rPr lang="en-US" altLang="ko-KR" dirty="0"/>
              <a:t>575km</a:t>
            </a:r>
            <a:r>
              <a:rPr lang="ko-KR" altLang="en-US" dirty="0"/>
              <a:t>일 때 최대 커버리지 비율 </a:t>
            </a:r>
            <a:r>
              <a:rPr lang="en-US" altLang="ko-KR" dirty="0"/>
              <a:t>98.75% </a:t>
            </a:r>
            <a:r>
              <a:rPr lang="ko-KR" altLang="en-US" dirty="0"/>
              <a:t>달성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Imaging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시뮬레이션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557C819-D4DC-152E-F42B-84E11E2A46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045" y="1416754"/>
            <a:ext cx="3124867" cy="225523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15814700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(5) Satellite Constellation (Relay Constellation and SRT result)</a:t>
            </a:r>
          </a:p>
          <a:p>
            <a:pPr lvl="1"/>
            <a:r>
              <a:rPr lang="en-US" altLang="ko-KR" dirty="0"/>
              <a:t>Imaging</a:t>
            </a:r>
            <a:r>
              <a:rPr lang="ko-KR" altLang="en-US" dirty="0"/>
              <a:t>과 </a:t>
            </a:r>
            <a:r>
              <a:rPr lang="en-US" altLang="ko-KR" dirty="0"/>
              <a:t>relay constellation </a:t>
            </a:r>
            <a:r>
              <a:rPr lang="ko-KR" altLang="en-US" dirty="0"/>
              <a:t>간의 </a:t>
            </a:r>
            <a:r>
              <a:rPr lang="en-US" altLang="ko-KR" dirty="0"/>
              <a:t>ISL </a:t>
            </a:r>
            <a:r>
              <a:rPr lang="ko-KR" altLang="en-US" dirty="0"/>
              <a:t>통신 목적</a:t>
            </a:r>
            <a:endParaRPr lang="en-US" altLang="ko-KR" dirty="0"/>
          </a:p>
          <a:p>
            <a:pPr lvl="1"/>
            <a:r>
              <a:rPr lang="en-US" altLang="ko-KR" dirty="0"/>
              <a:t>MEO</a:t>
            </a:r>
            <a:r>
              <a:rPr lang="ko-KR" altLang="en-US" dirty="0"/>
              <a:t>궤도에 </a:t>
            </a:r>
            <a:r>
              <a:rPr lang="en-US" altLang="ko-KR" dirty="0"/>
              <a:t>relay constellation</a:t>
            </a:r>
            <a:r>
              <a:rPr lang="ko-KR" altLang="en-US" dirty="0"/>
              <a:t>의 위성군을 구성</a:t>
            </a:r>
            <a:endParaRPr lang="en-US" altLang="ko-KR" dirty="0"/>
          </a:p>
          <a:p>
            <a:pPr lvl="2"/>
            <a:r>
              <a:rPr lang="en-US" altLang="ko-KR" dirty="0"/>
              <a:t>MEO</a:t>
            </a:r>
            <a:r>
              <a:rPr lang="ko-KR" altLang="en-US" dirty="0"/>
              <a:t>궤도 중 가장 낮은 고도인 </a:t>
            </a:r>
            <a:r>
              <a:rPr lang="en-US" altLang="ko-KR" dirty="0"/>
              <a:t>8,000km</a:t>
            </a:r>
            <a:r>
              <a:rPr lang="ko-KR" altLang="en-US" dirty="0"/>
              <a:t>로 설정</a:t>
            </a:r>
            <a:endParaRPr lang="en-US" altLang="ko-KR" dirty="0"/>
          </a:p>
          <a:p>
            <a:pPr lvl="1"/>
            <a:r>
              <a:rPr lang="en-US" altLang="ko-KR" dirty="0"/>
              <a:t>DV(</a:t>
            </a:r>
            <a:r>
              <a:rPr lang="ko-KR" altLang="en-US" dirty="0"/>
              <a:t>지상국의 위도</a:t>
            </a:r>
            <a:r>
              <a:rPr lang="en-US" altLang="ko-KR" dirty="0"/>
              <a:t>, Relay</a:t>
            </a:r>
            <a:r>
              <a:rPr lang="ko-KR" altLang="en-US" dirty="0"/>
              <a:t> 위성의 수</a:t>
            </a:r>
            <a:r>
              <a:rPr lang="en-US" altLang="ko-KR" dirty="0"/>
              <a:t>) </a:t>
            </a:r>
          </a:p>
          <a:p>
            <a:pPr marL="216000" lvl="1" indent="0">
              <a:buNone/>
            </a:pPr>
            <a:r>
              <a:rPr lang="ko-KR" altLang="en-US" dirty="0"/>
              <a:t>      → </a:t>
            </a:r>
            <a:r>
              <a:rPr lang="en-US" altLang="ko-KR" dirty="0"/>
              <a:t>MOP(Daily</a:t>
            </a:r>
            <a:r>
              <a:rPr lang="ko-KR" altLang="en-US" dirty="0"/>
              <a:t> </a:t>
            </a:r>
            <a:r>
              <a:rPr lang="en-US" altLang="ko-KR" dirty="0"/>
              <a:t>Global Coverage)</a:t>
            </a:r>
          </a:p>
          <a:p>
            <a:pPr lvl="1"/>
            <a:r>
              <a:rPr lang="ko-KR" altLang="en-US" dirty="0"/>
              <a:t>위성의 수가 많을수록</a:t>
            </a:r>
            <a:r>
              <a:rPr lang="en-US" altLang="ko-KR" dirty="0"/>
              <a:t>, </a:t>
            </a:r>
            <a:r>
              <a:rPr lang="ko-KR" altLang="en-US" dirty="0"/>
              <a:t>지상국의 위도가 낮을수록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커버리지 비율이 증가함</a:t>
            </a:r>
            <a:endParaRPr lang="en-US" altLang="ko-KR" dirty="0"/>
          </a:p>
          <a:p>
            <a:pPr lvl="1"/>
            <a:r>
              <a:rPr lang="ko-KR" altLang="en-US" dirty="0"/>
              <a:t>지상국의 위치는 </a:t>
            </a:r>
            <a:r>
              <a:rPr lang="en-US" altLang="ko-KR" dirty="0"/>
              <a:t>0~34</a:t>
            </a:r>
            <a:r>
              <a:rPr lang="ko-KR" altLang="en-US" dirty="0"/>
              <a:t>˚</a:t>
            </a:r>
            <a:r>
              <a:rPr lang="en-US" altLang="ko-KR" dirty="0"/>
              <a:t>, </a:t>
            </a:r>
            <a:r>
              <a:rPr lang="ko-KR" altLang="en-US" dirty="0"/>
              <a:t>위성 수는 </a:t>
            </a:r>
            <a:r>
              <a:rPr lang="en-US" altLang="ko-KR" dirty="0"/>
              <a:t>4</a:t>
            </a:r>
            <a:r>
              <a:rPr lang="ko-KR" altLang="en-US" dirty="0"/>
              <a:t>대 이상이 좋음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en-US" altLang="ko-KR" dirty="0"/>
              <a:t>SRT </a:t>
            </a:r>
            <a:r>
              <a:rPr lang="ko-KR" altLang="en-US" dirty="0"/>
              <a:t>측면에서의 이종 위성군의 성능을</a:t>
            </a:r>
            <a:r>
              <a:rPr lang="en-US" altLang="ko-KR" dirty="0"/>
              <a:t> </a:t>
            </a:r>
            <a:r>
              <a:rPr lang="ko-KR" altLang="en-US" dirty="0"/>
              <a:t> </a:t>
            </a:r>
            <a:r>
              <a:rPr lang="en-US" altLang="ko-KR" dirty="0"/>
              <a:t>Imaging </a:t>
            </a:r>
          </a:p>
          <a:p>
            <a:pPr marL="216000" lvl="1" indent="0">
              <a:buNone/>
            </a:pPr>
            <a:r>
              <a:rPr lang="ko-KR" altLang="en-US" dirty="0"/>
              <a:t>     위성군과 비교</a:t>
            </a:r>
            <a:endParaRPr lang="en-US" altLang="ko-KR" dirty="0"/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SRT</a:t>
            </a:r>
            <a:r>
              <a:rPr lang="ko-KR" altLang="en-US" dirty="0"/>
              <a:t>의 평균값은 </a:t>
            </a:r>
            <a:r>
              <a:rPr lang="en-US" altLang="ko-KR" dirty="0"/>
              <a:t>Imaging </a:t>
            </a:r>
            <a:r>
              <a:rPr lang="ko-KR" altLang="en-US" dirty="0"/>
              <a:t>위성군만 운용했을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</a:t>
            </a:r>
            <a:r>
              <a:rPr lang="ko-KR" altLang="en-US" dirty="0"/>
              <a:t>때 보다 이종위성군으로 구성했을 때의 성능이 더 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좋음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 smtClean="0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Relay</a:t>
            </a:r>
            <a:r>
              <a:rPr lang="ko-KR" altLang="en-US" dirty="0"/>
              <a:t> </a:t>
            </a:r>
            <a:r>
              <a:rPr lang="ko-KR" altLang="en-US" dirty="0" err="1"/>
              <a:t>위성군</a:t>
            </a:r>
            <a:r>
              <a:rPr lang="ko-KR" altLang="en-US" dirty="0"/>
              <a:t> 및 </a:t>
            </a:r>
            <a:r>
              <a:rPr lang="en-US" altLang="ko-KR" dirty="0"/>
              <a:t>SRT</a:t>
            </a:r>
            <a:r>
              <a:rPr lang="ko-KR" altLang="en-US" dirty="0"/>
              <a:t> 시뮬레이션 결과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AC7945C6-59FB-8773-2C5B-554EAC456B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5859" y="1416756"/>
            <a:ext cx="2911050" cy="225523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A9CC8EC7-5FA1-A2CC-8841-10016C53BB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3675" y="4353078"/>
            <a:ext cx="3013241" cy="20542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F01CFF6-93D6-9E09-6651-870845ECDDAB}"/>
              </a:ext>
            </a:extLst>
          </p:cNvPr>
          <p:cNvSpPr txBox="1"/>
          <p:nvPr/>
        </p:nvSpPr>
        <p:spPr>
          <a:xfrm>
            <a:off x="6785595" y="6422568"/>
            <a:ext cx="221028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000" dirty="0"/>
              <a:t>(</a:t>
            </a:r>
            <a:r>
              <a:rPr lang="ko-KR" altLang="en-US" sz="1000" dirty="0"/>
              <a:t>지상국의 위도 </a:t>
            </a:r>
            <a:r>
              <a:rPr lang="en-US" altLang="ko-KR" sz="1000" dirty="0"/>
              <a:t>: 30</a:t>
            </a:r>
            <a:r>
              <a:rPr lang="ko-KR" altLang="en-US" sz="1000" dirty="0"/>
              <a:t>˚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87627969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(6) Figure of Merits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앞의 시뮬레이션 결과로부터 얻게 된 성능지수 값 요약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결과로부터 얻은 최종 성능지수 값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F0A7C54-38F9-4C03-2C4A-E5BC289E863E}"/>
              </a:ext>
            </a:extLst>
          </p:cNvPr>
          <p:cNvGraphicFramePr>
            <a:graphicFrameLocks noGrp="1"/>
          </p:cNvGraphicFramePr>
          <p:nvPr/>
        </p:nvGraphicFramePr>
        <p:xfrm>
          <a:off x="721658" y="1441818"/>
          <a:ext cx="4001288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23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9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0035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  <a:gridCol w="721043">
                  <a:extLst>
                    <a:ext uri="{9D8B030D-6E8A-4147-A177-3AD203B41FA5}">
                      <a16:colId xmlns:a16="http://schemas.microsoft.com/office/drawing/2014/main" val="3647112933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Constellation type</a:t>
                      </a:r>
                      <a:endParaRPr lang="ko-KR" altLang="en-US" sz="14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Imaging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Relay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8189452"/>
                  </a:ext>
                </a:extLst>
              </a:tr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 Type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SSO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MIO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MEO</a:t>
                      </a:r>
                      <a:endParaRPr lang="ko-KR" altLang="en-US" sz="1400" b="1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Orbital altitude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575km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8,000km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 of satellites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45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76487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FOV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40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Swath Width(SW)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437km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</a:t>
                      </a:r>
                      <a:endParaRPr lang="ko-KR" altLang="en-US" sz="120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Focal length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1.35m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324509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Sensor Detector pitch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1 </a:t>
                      </a:r>
                      <a:r>
                        <a:rPr lang="el-GR" altLang="ko-KR" sz="1200" dirty="0">
                          <a:solidFill>
                            <a:schemeClr val="tx1"/>
                          </a:solidFill>
                        </a:rPr>
                        <a:t>μ</a:t>
                      </a:r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019693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GSD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0.5m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187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Daylight global coverage %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98.75%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</a:t>
                      </a: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4082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GS latitude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30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~34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1762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4494015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b="1" u="sng" dirty="0" err="1"/>
              <a:t>위성군</a:t>
            </a:r>
            <a:r>
              <a:rPr lang="ko-KR" altLang="en-US" b="1" u="sng" dirty="0"/>
              <a:t> 설계의 임무목적 및 제한조건은</a:t>
            </a:r>
            <a:r>
              <a:rPr lang="ko-KR" altLang="en-US" dirty="0"/>
              <a:t> 궤도 구성을 결정하는 중요한 요소</a:t>
            </a:r>
            <a:endParaRPr lang="en-US" altLang="ko-KR" dirty="0"/>
          </a:p>
          <a:p>
            <a:pPr lvl="1"/>
            <a:r>
              <a:rPr lang="en-US" altLang="ko-KR" sz="1800" dirty="0"/>
              <a:t>SRT </a:t>
            </a:r>
            <a:r>
              <a:rPr lang="ko-KR" altLang="en-US" sz="1800" dirty="0"/>
              <a:t>개선은 </a:t>
            </a:r>
            <a:r>
              <a:rPr lang="ko-KR" altLang="en-US" dirty="0"/>
              <a:t>재해 위험 감소</a:t>
            </a:r>
            <a:r>
              <a:rPr lang="en-US" altLang="ko-KR" dirty="0"/>
              <a:t>,</a:t>
            </a:r>
            <a:r>
              <a:rPr lang="ko-KR" altLang="en-US" dirty="0"/>
              <a:t> 국가 보안에 중요한 관심사</a:t>
            </a:r>
            <a:endParaRPr lang="en-US" altLang="ko-KR" dirty="0"/>
          </a:p>
          <a:p>
            <a:pPr lvl="1"/>
            <a:r>
              <a:rPr lang="ko-KR" altLang="en-US" sz="1800" dirty="0"/>
              <a:t>위성군의 특성</a:t>
            </a:r>
            <a:endParaRPr lang="en-US" altLang="ko-KR" sz="1800" dirty="0"/>
          </a:p>
          <a:p>
            <a:pPr lvl="2"/>
            <a:r>
              <a:rPr lang="ko-KR" altLang="en-US" dirty="0"/>
              <a:t>위성의 </a:t>
            </a:r>
            <a:r>
              <a:rPr lang="ko-KR" altLang="en-US" b="1" u="sng" dirty="0"/>
              <a:t>고도</a:t>
            </a:r>
            <a:r>
              <a:rPr lang="en-US" altLang="ko-KR" b="1" u="sng" dirty="0"/>
              <a:t>, </a:t>
            </a:r>
            <a:r>
              <a:rPr lang="ko-KR" altLang="en-US" b="1" u="sng" dirty="0"/>
              <a:t>궤도 평면 및 평면 당 위성 수</a:t>
            </a:r>
            <a:r>
              <a:rPr lang="ko-KR" altLang="en-US" dirty="0"/>
              <a:t> 등 </a:t>
            </a:r>
            <a:endParaRPr lang="en-US" altLang="ko-KR" dirty="0"/>
          </a:p>
          <a:p>
            <a:pPr lvl="2"/>
            <a:r>
              <a:rPr lang="ko-KR" altLang="en-US" dirty="0"/>
              <a:t>시스템 가용성이 달라지고 </a:t>
            </a:r>
            <a:r>
              <a:rPr lang="ko-KR" altLang="en-US" b="1" u="sng" dirty="0"/>
              <a:t>이종 위성군의 구성에 큰 영향</a:t>
            </a:r>
            <a:r>
              <a:rPr lang="ko-KR" altLang="en-US" dirty="0"/>
              <a:t>을 줌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최상의 구성을 위해서는 여러 조합을 연구해야 함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논문의 내용 중 보완이 필요한 부분</a:t>
            </a:r>
            <a:endParaRPr lang="en-US" altLang="ko-KR" dirty="0"/>
          </a:p>
          <a:p>
            <a:pPr lvl="1"/>
            <a:r>
              <a:rPr lang="en-US" altLang="ko-KR" dirty="0"/>
              <a:t>STK </a:t>
            </a:r>
            <a:r>
              <a:rPr lang="ko-KR" altLang="en-US" dirty="0"/>
              <a:t>소프트웨어를 통한 구체적인 시뮬레이션 과정</a:t>
            </a:r>
            <a:endParaRPr lang="en-US" altLang="ko-KR" dirty="0"/>
          </a:p>
          <a:p>
            <a:pPr lvl="1"/>
            <a:r>
              <a:rPr lang="ko-KR" altLang="en-US" dirty="0"/>
              <a:t>그래프의 경향성에 대한 이유 및 분석 </a:t>
            </a:r>
            <a:r>
              <a:rPr lang="ko-KR" altLang="en-US" sz="1800" dirty="0"/>
              <a:t>등의 구체적인 내용</a:t>
            </a:r>
            <a:endParaRPr lang="en-US" altLang="ko-KR" sz="1800" dirty="0"/>
          </a:p>
          <a:p>
            <a:pPr lvl="1"/>
            <a:r>
              <a:rPr lang="en-US" altLang="ko-KR" sz="1800" dirty="0"/>
              <a:t>Imaging </a:t>
            </a:r>
            <a:r>
              <a:rPr lang="ko-KR" altLang="en-US" sz="1800" dirty="0"/>
              <a:t>위성군과 </a:t>
            </a:r>
            <a:r>
              <a:rPr lang="en-US" altLang="ko-KR" sz="1800" dirty="0"/>
              <a:t>Relay </a:t>
            </a:r>
            <a:r>
              <a:rPr lang="ko-KR" altLang="en-US" sz="1800" dirty="0" err="1"/>
              <a:t>위성군</a:t>
            </a:r>
            <a:r>
              <a:rPr lang="ko-KR" altLang="en-US" sz="1800" dirty="0"/>
              <a:t> 간의 </a:t>
            </a:r>
            <a:r>
              <a:rPr lang="en-US" altLang="ko-KR" sz="1800" dirty="0"/>
              <a:t>ISL</a:t>
            </a:r>
            <a:r>
              <a:rPr lang="ko-KR" altLang="en-US" sz="1800" dirty="0"/>
              <a:t> </a:t>
            </a:r>
            <a:r>
              <a:rPr lang="ko-KR" altLang="en-US" dirty="0"/>
              <a:t>통신에 대한 구체적인 내용</a:t>
            </a:r>
            <a:endParaRPr lang="en-US" altLang="ko-KR" dirty="0"/>
          </a:p>
          <a:p>
            <a:pPr lvl="1"/>
            <a:r>
              <a:rPr lang="en-US" altLang="ko-KR" dirty="0"/>
              <a:t>Walker </a:t>
            </a:r>
            <a:r>
              <a:rPr lang="ko-KR" altLang="en-US" dirty="0"/>
              <a:t>위성군과 해당 논문에서 설계한 위성군의 결과를 비교한 자료</a:t>
            </a:r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08802884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연구에 적용할 만한 내용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dirty="0"/>
              <a:t>하나의 </a:t>
            </a:r>
            <a:r>
              <a:rPr lang="ko-KR" altLang="en-US" dirty="0" err="1"/>
              <a:t>위성군</a:t>
            </a:r>
            <a:r>
              <a:rPr lang="ko-KR" altLang="en-US" dirty="0"/>
              <a:t> 안에 </a:t>
            </a:r>
            <a:r>
              <a:rPr lang="ko-KR" altLang="en-US" b="1" u="sng" dirty="0"/>
              <a:t>또 다른 이종 위성군으로의 구성</a:t>
            </a:r>
            <a:r>
              <a:rPr lang="ko-KR" altLang="en-US" dirty="0"/>
              <a:t>이</a:t>
            </a:r>
            <a:r>
              <a:rPr lang="en-US" altLang="ko-KR" dirty="0"/>
              <a:t> </a:t>
            </a:r>
            <a:r>
              <a:rPr lang="ko-KR" altLang="en-US" dirty="0"/>
              <a:t>가능한지에 대한 연구</a:t>
            </a:r>
            <a:endParaRPr lang="en-US" altLang="ko-KR" dirty="0"/>
          </a:p>
          <a:p>
            <a:pPr lvl="2"/>
            <a:r>
              <a:rPr lang="ko-KR" altLang="en-US" dirty="0"/>
              <a:t>본 논문에서는 </a:t>
            </a:r>
            <a:r>
              <a:rPr lang="en-US" altLang="ko-KR" dirty="0"/>
              <a:t>Imaging constellation</a:t>
            </a:r>
            <a:r>
              <a:rPr lang="ko-KR" altLang="en-US" dirty="0"/>
              <a:t>을 다시 </a:t>
            </a:r>
            <a:r>
              <a:rPr lang="en-US" altLang="ko-KR" dirty="0"/>
              <a:t>SSO, MIO</a:t>
            </a:r>
            <a:r>
              <a:rPr lang="ko-KR" altLang="en-US" dirty="0"/>
              <a:t>궤도로 나누어 배치함</a:t>
            </a:r>
            <a:endParaRPr lang="en-US" altLang="ko-KR" dirty="0"/>
          </a:p>
          <a:p>
            <a:pPr lvl="1"/>
            <a:r>
              <a:rPr lang="en-US" altLang="ko-KR" dirty="0"/>
              <a:t>FOV </a:t>
            </a:r>
            <a:r>
              <a:rPr lang="ko-KR" altLang="en-US" dirty="0"/>
              <a:t>값에 따른 </a:t>
            </a:r>
            <a:r>
              <a:rPr lang="en-US" altLang="ko-KR" dirty="0"/>
              <a:t>GSD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en-US" altLang="ko-KR" b="1" u="sng" dirty="0"/>
              <a:t>Maximum global coverage percentage</a:t>
            </a:r>
            <a:r>
              <a:rPr lang="ko-KR" altLang="en-US" dirty="0"/>
              <a:t>에 대한 연구</a:t>
            </a:r>
            <a:r>
              <a:rPr lang="en-US" altLang="ko-KR" dirty="0"/>
              <a:t> </a:t>
            </a:r>
          </a:p>
          <a:p>
            <a:pPr lvl="1"/>
            <a:r>
              <a:rPr lang="ko-KR" altLang="en-US" dirty="0"/>
              <a:t>초점거리</a:t>
            </a:r>
            <a:r>
              <a:rPr lang="en-US" altLang="ko-KR" dirty="0"/>
              <a:t>(f)</a:t>
            </a:r>
            <a:r>
              <a:rPr lang="ko-KR" altLang="en-US" dirty="0"/>
              <a:t>와 </a:t>
            </a:r>
            <a:r>
              <a:rPr lang="en-US" altLang="ko-KR" dirty="0"/>
              <a:t>GSD</a:t>
            </a:r>
            <a:r>
              <a:rPr lang="ko-KR" altLang="en-US" dirty="0"/>
              <a:t>의 관계에 따른 </a:t>
            </a:r>
            <a:r>
              <a:rPr lang="en-US" altLang="ko-KR" b="1" u="sng" dirty="0"/>
              <a:t>Imaging </a:t>
            </a:r>
            <a:r>
              <a:rPr lang="ko-KR" altLang="en-US" b="1" u="sng" dirty="0"/>
              <a:t>위성의 </a:t>
            </a:r>
            <a:r>
              <a:rPr lang="ko-KR" altLang="en-US" b="1" u="sng" dirty="0" err="1"/>
              <a:t>탑재체</a:t>
            </a:r>
            <a:r>
              <a:rPr lang="ko-KR" altLang="en-US" b="1" u="sng" dirty="0"/>
              <a:t> 성능</a:t>
            </a:r>
            <a:r>
              <a:rPr lang="en-US" altLang="ko-KR" b="1" u="sng" dirty="0"/>
              <a:t>(</a:t>
            </a:r>
            <a:r>
              <a:rPr lang="ko-KR" altLang="en-US" b="1" u="sng" dirty="0"/>
              <a:t>해상도</a:t>
            </a:r>
            <a:r>
              <a:rPr lang="en-US" altLang="ko-KR" b="1" u="sng" dirty="0"/>
              <a:t>)</a:t>
            </a:r>
            <a:r>
              <a:rPr lang="ko-KR" altLang="en-US" dirty="0"/>
              <a:t> 연구</a:t>
            </a:r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4067805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/>
              <a:t>(2) </a:t>
            </a:r>
            <a:r>
              <a:rPr lang="en-US" altLang="ko-KR" dirty="0"/>
              <a:t>S. Zhao, Y. Xu, H. Dai; Research on the configuration design method of heterogeneous constellation reconstruction under the multiple objective and multiple constraint. AIP Conference Proceedings 8 May 2017; 1839 (1): 020083.</a:t>
            </a:r>
            <a:br>
              <a:rPr lang="en-US" altLang="ko-KR" dirty="0"/>
            </a:br>
            <a:endParaRPr lang="ko-KR" altLang="en-US" sz="2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897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연구목표와 방법 및 이종위성군의 정의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</a:t>
            </a:r>
            <a:endParaRPr lang="en-US" altLang="ko-KR" dirty="0"/>
          </a:p>
          <a:p>
            <a:pPr lvl="1"/>
            <a:r>
              <a:rPr lang="ko-KR" altLang="en-US" dirty="0"/>
              <a:t>다음 두 가지의 </a:t>
            </a:r>
            <a:r>
              <a:rPr lang="ko-KR" altLang="en-US" sz="1800" dirty="0"/>
              <a:t>재구성 방법을 조합하여 최적화된 최종 구성을 얻는 것 </a:t>
            </a:r>
            <a:endParaRPr lang="en-US" altLang="ko-KR" sz="1800" dirty="0"/>
          </a:p>
          <a:p>
            <a:pPr lvl="2"/>
            <a:r>
              <a:rPr lang="en-US" altLang="ko-KR" dirty="0"/>
              <a:t>Phase position uniformity method </a:t>
            </a:r>
            <a:r>
              <a:rPr lang="ko-KR" altLang="en-US" dirty="0"/>
              <a:t> </a:t>
            </a:r>
            <a:endParaRPr lang="en-US" altLang="ko-KR" dirty="0"/>
          </a:p>
          <a:p>
            <a:pPr lvl="2"/>
            <a:r>
              <a:rPr lang="en-US" altLang="ko-KR" dirty="0"/>
              <a:t>Reconstruction configuration design method (based in optimization algorithm)</a:t>
            </a:r>
          </a:p>
          <a:p>
            <a:pPr lvl="1"/>
            <a:endParaRPr lang="en-US" altLang="ko-KR" sz="1800" b="1" dirty="0"/>
          </a:p>
          <a:p>
            <a:r>
              <a:rPr lang="ko-KR" altLang="en-US" dirty="0"/>
              <a:t>연구 방법</a:t>
            </a:r>
            <a:endParaRPr lang="en-US" altLang="ko-KR" dirty="0"/>
          </a:p>
          <a:p>
            <a:pPr lvl="1"/>
            <a:r>
              <a:rPr lang="ko-KR" altLang="en-US" dirty="0"/>
              <a:t>위의 두 가지 재구성 설계 방법의 장단점을 분석</a:t>
            </a:r>
            <a:endParaRPr lang="en-US" altLang="ko-KR" dirty="0"/>
          </a:p>
          <a:p>
            <a:pPr lvl="1"/>
            <a:r>
              <a:rPr lang="ko-KR" altLang="en-US" dirty="0"/>
              <a:t>각각의 방법에 대한 장점을 조합</a:t>
            </a:r>
            <a:endParaRPr lang="en-US" altLang="ko-KR" dirty="0"/>
          </a:p>
          <a:p>
            <a:pPr lvl="1"/>
            <a:r>
              <a:rPr lang="ko-KR" altLang="en-US" sz="1800" dirty="0"/>
              <a:t>다중 목적 및 다중 제한 조건에 기초한 이종 위성군의 설계방법을 달성</a:t>
            </a:r>
            <a:endParaRPr lang="en-US" altLang="ko-KR" sz="1800" dirty="0"/>
          </a:p>
          <a:p>
            <a:pPr lvl="1"/>
            <a:endParaRPr lang="en-US" altLang="ko-KR" b="1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모든 위성이 동일한 임무를 중심으로 회전</a:t>
            </a:r>
            <a:endParaRPr lang="en-US" altLang="ko-KR" dirty="0"/>
          </a:p>
          <a:p>
            <a:pPr lvl="1"/>
            <a:r>
              <a:rPr lang="ko-KR" altLang="en-US" dirty="0"/>
              <a:t>상대적으로 고정된 공간구조를 가짐 </a:t>
            </a:r>
            <a:endParaRPr lang="en-US" altLang="ko-KR" dirty="0"/>
          </a:p>
          <a:p>
            <a:pPr lvl="1"/>
            <a:r>
              <a:rPr lang="ko-KR" altLang="en-US" dirty="0"/>
              <a:t>이 공간구조는 워커와 동일한 </a:t>
            </a:r>
            <a:r>
              <a:rPr lang="ko-KR" altLang="en-US" dirty="0" err="1"/>
              <a:t>균일성</a:t>
            </a:r>
            <a:r>
              <a:rPr lang="ko-KR" altLang="en-US" dirty="0"/>
              <a:t> 및 대칭성을 가지지 않음</a:t>
            </a:r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2815462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en-US" altLang="ko-KR" dirty="0"/>
              <a:t>Reconstruction</a:t>
            </a:r>
            <a:r>
              <a:rPr lang="ko-KR" altLang="en-US" dirty="0"/>
              <a:t>의 정의 및 전체적인 구성도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위성군의 재구성</a:t>
            </a:r>
            <a:r>
              <a:rPr lang="en-US" altLang="ko-KR" dirty="0"/>
              <a:t>(Reconstruction) : </a:t>
            </a:r>
          </a:p>
          <a:p>
            <a:pPr lvl="1"/>
            <a:r>
              <a:rPr lang="ko-KR" altLang="en-US" dirty="0"/>
              <a:t>시스템 장애</a:t>
            </a:r>
            <a:r>
              <a:rPr lang="en-US" altLang="ko-KR" dirty="0"/>
              <a:t>, </a:t>
            </a:r>
            <a:r>
              <a:rPr lang="ko-KR" altLang="en-US" dirty="0"/>
              <a:t>환경 문제 등에 직면하여 기존의 구성을 조정 </a:t>
            </a:r>
            <a:endParaRPr lang="en-US" altLang="ko-KR" dirty="0"/>
          </a:p>
          <a:p>
            <a:pPr lvl="2"/>
            <a:r>
              <a:rPr lang="ko-KR" altLang="en-US" dirty="0"/>
              <a:t>위성군의 성능 개선 및 새로운 요구 사항을 충족하는 방법</a:t>
            </a:r>
            <a:endParaRPr lang="en-US" altLang="ko-KR" sz="1400" dirty="0"/>
          </a:p>
          <a:p>
            <a:pPr lvl="3">
              <a:defRPr/>
            </a:pPr>
            <a:endParaRPr lang="en-US" altLang="ko-KR" b="1" dirty="0"/>
          </a:p>
          <a:p>
            <a:pPr marL="576000" lvl="3" indent="0">
              <a:buNone/>
            </a:pPr>
            <a:endParaRPr lang="en-US" altLang="ko-KR" b="1" dirty="0"/>
          </a:p>
          <a:p>
            <a:pPr marL="576000" lvl="3" indent="0">
              <a:buNone/>
            </a:pPr>
            <a:endParaRPr lang="en-US" altLang="ko-KR" b="1" dirty="0"/>
          </a:p>
          <a:p>
            <a:pPr marL="576000" lvl="3" indent="0">
              <a:buNone/>
            </a:pPr>
            <a:endParaRPr lang="en-US" altLang="ko-KR" b="1" dirty="0"/>
          </a:p>
          <a:p>
            <a:pPr lvl="3"/>
            <a:endParaRPr lang="en-US" altLang="ko-KR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8F1D8DC4-A201-9116-C1A7-E6D73A8C2099}"/>
              </a:ext>
            </a:extLst>
          </p:cNvPr>
          <p:cNvGrpSpPr/>
          <p:nvPr/>
        </p:nvGrpSpPr>
        <p:grpSpPr>
          <a:xfrm>
            <a:off x="109140" y="2070151"/>
            <a:ext cx="8038730" cy="3859163"/>
            <a:chOff x="13070" y="1967312"/>
            <a:chExt cx="8038730" cy="3859163"/>
          </a:xfrm>
        </p:grpSpPr>
        <p:grpSp>
          <p:nvGrpSpPr>
            <p:cNvPr id="7" name="그룹 6">
              <a:extLst>
                <a:ext uri="{FF2B5EF4-FFF2-40B4-BE49-F238E27FC236}">
                  <a16:creationId xmlns:a16="http://schemas.microsoft.com/office/drawing/2014/main" id="{0F6B91C8-9B29-4F93-0913-4B9FA4097CD0}"/>
                </a:ext>
              </a:extLst>
            </p:cNvPr>
            <p:cNvGrpSpPr/>
            <p:nvPr/>
          </p:nvGrpSpPr>
          <p:grpSpPr>
            <a:xfrm>
              <a:off x="13070" y="1967312"/>
              <a:ext cx="8038730" cy="3859163"/>
              <a:chOff x="13070" y="1967312"/>
              <a:chExt cx="8038730" cy="3859163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F6CDD187-BB25-BBDD-B9B2-6D28677B5E86}"/>
                  </a:ext>
                </a:extLst>
              </p:cNvPr>
              <p:cNvGrpSpPr/>
              <p:nvPr/>
            </p:nvGrpSpPr>
            <p:grpSpPr>
              <a:xfrm>
                <a:off x="13070" y="1967312"/>
                <a:ext cx="8038730" cy="3859163"/>
                <a:chOff x="13070" y="1967312"/>
                <a:chExt cx="8038730" cy="3859163"/>
              </a:xfrm>
            </p:grpSpPr>
            <p:grpSp>
              <p:nvGrpSpPr>
                <p:cNvPr id="3" name="그룹 2">
                  <a:extLst>
                    <a:ext uri="{FF2B5EF4-FFF2-40B4-BE49-F238E27FC236}">
                      <a16:creationId xmlns:a16="http://schemas.microsoft.com/office/drawing/2014/main" id="{46364213-74C0-BA4B-EB94-DC6139BFEB4F}"/>
                    </a:ext>
                  </a:extLst>
                </p:cNvPr>
                <p:cNvGrpSpPr/>
                <p:nvPr/>
              </p:nvGrpSpPr>
              <p:grpSpPr>
                <a:xfrm>
                  <a:off x="257080" y="1979837"/>
                  <a:ext cx="7794720" cy="3846638"/>
                  <a:chOff x="257080" y="1979837"/>
                  <a:chExt cx="7794720" cy="3846638"/>
                </a:xfrm>
              </p:grpSpPr>
              <p:pic>
                <p:nvPicPr>
                  <p:cNvPr id="9" name="그림 8">
                    <a:extLst>
                      <a:ext uri="{FF2B5EF4-FFF2-40B4-BE49-F238E27FC236}">
                        <a16:creationId xmlns:a16="http://schemas.microsoft.com/office/drawing/2014/main" id="{E7B9E789-E60D-2C2A-0F21-FD759DF68A29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/>
                  <a:stretch>
                    <a:fillRect/>
                  </a:stretch>
                </p:blipFill>
                <p:spPr>
                  <a:xfrm>
                    <a:off x="1400236" y="2069153"/>
                    <a:ext cx="6651564" cy="3757322"/>
                  </a:xfrm>
                  <a:prstGeom prst="rect">
                    <a:avLst/>
                  </a:prstGeom>
                  <a:ln>
                    <a:solidFill>
                      <a:schemeClr val="tx1"/>
                    </a:solidFill>
                  </a:ln>
                </p:spPr>
              </p:pic>
              <p:sp>
                <p:nvSpPr>
                  <p:cNvPr id="13" name="직사각형 12">
                    <a:extLst>
                      <a:ext uri="{FF2B5EF4-FFF2-40B4-BE49-F238E27FC236}">
                        <a16:creationId xmlns:a16="http://schemas.microsoft.com/office/drawing/2014/main" id="{B2E626A0-0B0A-3F8F-25E8-CDD5B03D9D5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764970" y="2758634"/>
                    <a:ext cx="700828" cy="943278"/>
                  </a:xfrm>
                  <a:prstGeom prst="rect">
                    <a:avLst/>
                  </a:prstGeom>
                  <a:noFill/>
                  <a:ln w="19050">
                    <a:solidFill>
                      <a:srgbClr val="FF0000"/>
                    </a:solidFill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endParaRPr lang="ko-KR" altLang="en-US" dirty="0"/>
                  </a:p>
                </p:txBody>
              </p:sp>
              <p:sp>
                <p:nvSpPr>
                  <p:cNvPr id="14" name="직사각형 13">
                    <a:extLst>
                      <a:ext uri="{FF2B5EF4-FFF2-40B4-BE49-F238E27FC236}">
                        <a16:creationId xmlns:a16="http://schemas.microsoft.com/office/drawing/2014/main" id="{5A405B57-383E-519F-C154-25E904893D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29092" y="2248895"/>
                    <a:ext cx="5250790" cy="3488680"/>
                  </a:xfrm>
                  <a:prstGeom prst="rect">
                    <a:avLst/>
                  </a:prstGeom>
                  <a:noFill/>
                  <a:ln w="19050">
                    <a:solidFill>
                      <a:srgbClr val="0066FF"/>
                    </a:solidFill>
                  </a:ln>
                </p:spPr>
                <p:txBody>
                  <a:bodyPr vert="horz" wrap="square" lIns="91440" tIns="45720" rIns="91440" bIns="45720" numCol="1" rtlCol="0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l"/>
                    <a:endParaRPr lang="ko-KR" altLang="en-US" dirty="0">
                      <a:ln>
                        <a:solidFill>
                          <a:srgbClr val="0066FF"/>
                        </a:solidFill>
                      </a:ln>
                    </a:endParaRPr>
                  </a:p>
                </p:txBody>
              </p:sp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6B1C107-1B6B-7115-5CFA-F28A61724C3D}"/>
                      </a:ext>
                    </a:extLst>
                  </p:cNvPr>
                  <p:cNvSpPr txBox="1"/>
                  <p:nvPr/>
                </p:nvSpPr>
                <p:spPr>
                  <a:xfrm>
                    <a:off x="257080" y="2978927"/>
                    <a:ext cx="1615281" cy="52322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rgbClr val="FF0000"/>
                        </a:solidFill>
                      </a:rPr>
                      <a:t>Phase Uniformity </a:t>
                    </a:r>
                  </a:p>
                  <a:p>
                    <a:r>
                      <a:rPr lang="en-US" altLang="ko-KR" sz="1400" dirty="0">
                        <a:solidFill>
                          <a:srgbClr val="FF0000"/>
                        </a:solidFill>
                      </a:rPr>
                      <a:t>Method</a:t>
                    </a:r>
                    <a:endParaRPr lang="ko-KR" altLang="en-US" sz="1400" dirty="0">
                      <a:solidFill>
                        <a:srgbClr val="FF0000"/>
                      </a:solidFill>
                    </a:endParaRPr>
                  </a:p>
                </p:txBody>
              </p:sp>
              <p:sp>
                <p:nvSpPr>
                  <p:cNvPr id="17" name="TextBox 16">
                    <a:extLst>
                      <a:ext uri="{FF2B5EF4-FFF2-40B4-BE49-F238E27FC236}">
                        <a16:creationId xmlns:a16="http://schemas.microsoft.com/office/drawing/2014/main" id="{605D0E20-A876-926F-87A3-8AEF5FC22A2F}"/>
                      </a:ext>
                    </a:extLst>
                  </p:cNvPr>
                  <p:cNvSpPr txBox="1"/>
                  <p:nvPr/>
                </p:nvSpPr>
                <p:spPr>
                  <a:xfrm>
                    <a:off x="3893210" y="1979837"/>
                    <a:ext cx="3483728" cy="307777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US" altLang="ko-KR" sz="1400" dirty="0">
                        <a:solidFill>
                          <a:srgbClr val="0066FF"/>
                        </a:solidFill>
                      </a:rPr>
                      <a:t>Reconstruction Configuration</a:t>
                    </a:r>
                    <a:endParaRPr lang="ko-KR" altLang="en-US" sz="1400" dirty="0">
                      <a:solidFill>
                        <a:srgbClr val="0066FF"/>
                      </a:solidFill>
                    </a:endParaRPr>
                  </a:p>
                </p:txBody>
              </p:sp>
            </p:grp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A5A87862-7820-99A1-0692-5C8BEB3FAAE1}"/>
                    </a:ext>
                  </a:extLst>
                </p:cNvPr>
                <p:cNvSpPr txBox="1"/>
                <p:nvPr/>
              </p:nvSpPr>
              <p:spPr>
                <a:xfrm>
                  <a:off x="13070" y="2963370"/>
                  <a:ext cx="42637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rgbClr val="FF0000"/>
                      </a:solidFill>
                    </a:rPr>
                    <a:t>(1)</a:t>
                  </a:r>
                  <a:endParaRPr lang="ko-KR" altLang="en-US" sz="14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D7D9E33-D637-1228-0BD4-AB7B5AA66A0E}"/>
                    </a:ext>
                  </a:extLst>
                </p:cNvPr>
                <p:cNvSpPr txBox="1"/>
                <p:nvPr/>
              </p:nvSpPr>
              <p:spPr>
                <a:xfrm>
                  <a:off x="3655191" y="1967312"/>
                  <a:ext cx="426378" cy="30777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ko-KR" sz="1400" dirty="0">
                      <a:solidFill>
                        <a:srgbClr val="0066FF"/>
                      </a:solidFill>
                    </a:rPr>
                    <a:t>(2)</a:t>
                  </a:r>
                  <a:endParaRPr lang="ko-KR" altLang="en-US" sz="1400" dirty="0">
                    <a:solidFill>
                      <a:srgbClr val="0066FF"/>
                    </a:solidFill>
                  </a:endParaRPr>
                </a:p>
              </p:txBody>
            </p:sp>
          </p:grp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860C173F-3B3C-12B8-C28A-0F724C53BF1A}"/>
                  </a:ext>
                </a:extLst>
              </p:cNvPr>
              <p:cNvSpPr/>
              <p:nvPr/>
            </p:nvSpPr>
            <p:spPr bwMode="auto">
              <a:xfrm>
                <a:off x="3954853" y="2302668"/>
                <a:ext cx="2374028" cy="3358393"/>
              </a:xfrm>
              <a:prstGeom prst="rect">
                <a:avLst/>
              </a:prstGeom>
              <a:noFill/>
              <a:ln w="19050">
                <a:solidFill>
                  <a:srgbClr val="002060"/>
                </a:solidFill>
              </a:ln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l"/>
                <a:endParaRPr lang="ko-KR" altLang="en-US" dirty="0"/>
              </a:p>
            </p:txBody>
          </p:sp>
        </p:grp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530FEC8-9A77-2E52-5B9B-6AE82F8AF11B}"/>
                </a:ext>
              </a:extLst>
            </p:cNvPr>
            <p:cNvSpPr txBox="1"/>
            <p:nvPr/>
          </p:nvSpPr>
          <p:spPr>
            <a:xfrm>
              <a:off x="6318734" y="2609472"/>
              <a:ext cx="1579878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400" dirty="0"/>
                <a:t>Optimization algorithm</a:t>
              </a:r>
              <a:endParaRPr lang="ko-KR" altLang="en-US" sz="1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59410815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Phase</a:t>
            </a:r>
            <a:r>
              <a:rPr lang="ko-KR" altLang="en-US" dirty="0"/>
              <a:t> </a:t>
            </a:r>
            <a:r>
              <a:rPr lang="en-US" altLang="ko-KR" dirty="0"/>
              <a:t>Uniformity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(1) Phase Uniformity Method</a:t>
            </a:r>
            <a:endParaRPr lang="en-US" altLang="ko-KR" dirty="0"/>
          </a:p>
          <a:p>
            <a:pPr lvl="1"/>
            <a:r>
              <a:rPr lang="ko-KR" altLang="en-US" sz="1800" dirty="0"/>
              <a:t>위성군의 성능 향상을 위해 위성의 </a:t>
            </a:r>
            <a:r>
              <a:rPr lang="en-US" altLang="ko-KR" dirty="0"/>
              <a:t>failure</a:t>
            </a:r>
            <a:r>
              <a:rPr lang="ko-KR" altLang="en-US" sz="1800" dirty="0"/>
              <a:t>에 초점을 맞춘 재구성 전략</a:t>
            </a:r>
            <a:endParaRPr lang="en-US" altLang="ko-KR" sz="1800" dirty="0"/>
          </a:p>
          <a:p>
            <a:pPr lvl="1"/>
            <a:r>
              <a:rPr lang="ko-KR" altLang="en-US" sz="1800" dirty="0"/>
              <a:t>시나리오에 따라 다음으로 분류</a:t>
            </a:r>
          </a:p>
          <a:p>
            <a:pPr lvl="2">
              <a:defRPr/>
            </a:pPr>
            <a:r>
              <a:rPr lang="en-US" altLang="ko-KR" sz="1600" dirty="0"/>
              <a:t>Satellite failure reconstruction</a:t>
            </a:r>
          </a:p>
          <a:p>
            <a:pPr lvl="2">
              <a:defRPr/>
            </a:pPr>
            <a:r>
              <a:rPr lang="en-US" altLang="ko-KR" sz="1600" dirty="0"/>
              <a:t>Ground mission change reconstruction</a:t>
            </a:r>
            <a:endParaRPr lang="en-US" altLang="ko-KR" dirty="0"/>
          </a:p>
          <a:p>
            <a:pPr lvl="1">
              <a:defRPr/>
            </a:pPr>
            <a:r>
              <a:rPr lang="ko-KR" altLang="en-US" dirty="0"/>
              <a:t>본 논문에서는 </a:t>
            </a:r>
            <a:r>
              <a:rPr lang="en-US" altLang="ko-KR" dirty="0"/>
              <a:t>Satellite failure</a:t>
            </a:r>
            <a:r>
              <a:rPr lang="ko-KR" altLang="en-US" dirty="0"/>
              <a:t>에 대한 내용만을 다루었으며 다음으로 다시 분류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Single Satellite failure : </a:t>
            </a:r>
            <a:r>
              <a:rPr lang="ko-KR" altLang="en-US" dirty="0"/>
              <a:t>인접 위성과의 위상각을 조정</a:t>
            </a:r>
            <a:r>
              <a:rPr lang="en-US" altLang="ko-KR" dirty="0"/>
              <a:t> </a:t>
            </a:r>
          </a:p>
          <a:p>
            <a:pPr lvl="2">
              <a:defRPr/>
            </a:pPr>
            <a:r>
              <a:rPr lang="en-US" altLang="ko-KR" dirty="0"/>
              <a:t>Multi coplanar Satellite failure : </a:t>
            </a:r>
            <a:r>
              <a:rPr lang="ko-KR" altLang="en-US" dirty="0"/>
              <a:t>같은 평면의 모든 위성과의 위상각을 조정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Multi non-coplanar Satellite failure : </a:t>
            </a:r>
            <a:r>
              <a:rPr lang="ko-KR" altLang="en-US" dirty="0"/>
              <a:t>위성군의 모든 위성과의 위상각을 조정</a:t>
            </a:r>
            <a:endParaRPr lang="en-US" altLang="ko-KR" dirty="0"/>
          </a:p>
          <a:p>
            <a:pPr lvl="3">
              <a:defRPr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822E1DB-351B-43C5-08AD-252A8F226E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24" y="3958389"/>
            <a:ext cx="4045894" cy="284971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516239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19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Reconstruction Configuration Design Method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(2) Reconstruction Configuration Design Method</a:t>
            </a:r>
          </a:p>
          <a:p>
            <a:pPr lvl="1"/>
            <a:r>
              <a:rPr lang="ko-KR" altLang="en-US" dirty="0"/>
              <a:t>다양한 재구성 시나리오에 따라 최종 구성을 얻는 과정</a:t>
            </a:r>
            <a:endParaRPr lang="en-US" altLang="ko-KR" dirty="0"/>
          </a:p>
          <a:p>
            <a:pPr lvl="1"/>
            <a:r>
              <a:rPr lang="ko-KR" altLang="en-US" dirty="0"/>
              <a:t>시나리오 및 요구조건에 따라 재구성 전략이 결정</a:t>
            </a:r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purpose : </a:t>
            </a:r>
            <a:r>
              <a:rPr lang="ko-KR" altLang="en-US" dirty="0"/>
              <a:t>재구성에 따라 예상되는 결과</a:t>
            </a:r>
            <a:r>
              <a:rPr lang="en-US" altLang="ko-KR" dirty="0"/>
              <a:t>. </a:t>
            </a:r>
            <a:r>
              <a:rPr lang="ko-KR" altLang="en-US" dirty="0"/>
              <a:t>기존 문헌에서 하나 이상의 커버리지 성능지수 또는 새로운 요구조건 등을 </a:t>
            </a:r>
            <a:r>
              <a:rPr lang="en-US" altLang="ko-KR" dirty="0"/>
              <a:t>purpose</a:t>
            </a:r>
            <a:r>
              <a:rPr lang="ko-KR" altLang="en-US" dirty="0"/>
              <a:t>로 사용함</a:t>
            </a:r>
            <a:endParaRPr lang="en-US" altLang="ko-KR" dirty="0"/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method : </a:t>
            </a:r>
            <a:r>
              <a:rPr lang="ko-KR" altLang="en-US" dirty="0"/>
              <a:t>새로운 위성을 보완할 것인지</a:t>
            </a:r>
            <a:r>
              <a:rPr lang="en-US" altLang="ko-KR" dirty="0"/>
              <a:t>, </a:t>
            </a:r>
            <a:r>
              <a:rPr lang="ko-KR" altLang="en-US" dirty="0"/>
              <a:t>궤도 상의 위성을 어떻게 조종할 것인지</a:t>
            </a:r>
            <a:r>
              <a:rPr lang="en-US" altLang="ko-KR" dirty="0"/>
              <a:t>, </a:t>
            </a:r>
            <a:r>
              <a:rPr lang="ko-KR" altLang="en-US" dirty="0"/>
              <a:t>어떤 위성을 조정해야 하는지</a:t>
            </a:r>
            <a:r>
              <a:rPr lang="en-US" altLang="ko-KR" dirty="0"/>
              <a:t>, </a:t>
            </a:r>
            <a:r>
              <a:rPr lang="ko-KR" altLang="en-US" dirty="0"/>
              <a:t>어떤 변수를 변경해야 하는지 등 방법 및 수단</a:t>
            </a:r>
            <a:endParaRPr lang="en-US" altLang="ko-KR" dirty="0"/>
          </a:p>
          <a:p>
            <a:pPr lvl="2"/>
            <a:r>
              <a:rPr lang="en-US" altLang="ko-KR" dirty="0"/>
              <a:t>Reconstruction</a:t>
            </a:r>
            <a:r>
              <a:rPr lang="ko-KR" altLang="en-US" dirty="0"/>
              <a:t> </a:t>
            </a:r>
            <a:r>
              <a:rPr lang="en-US" altLang="ko-KR" dirty="0"/>
              <a:t>constraint : </a:t>
            </a:r>
            <a:r>
              <a:rPr lang="ko-KR" altLang="en-US" dirty="0"/>
              <a:t>재구성 시간 및 에너지 비용 등의 제한조건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2ECDA20-1923-91C5-DAE5-9717257D79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8712" y="3477128"/>
            <a:ext cx="3937432" cy="332768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11756003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두 가지 방법의 장단점 비교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sz="2400" dirty="0"/>
              <a:t>Comparison of the two </a:t>
            </a:r>
            <a:r>
              <a:rPr lang="en-US" altLang="ko-KR" dirty="0"/>
              <a:t>Methods</a:t>
            </a:r>
          </a:p>
          <a:p>
            <a:pPr lvl="1"/>
            <a:r>
              <a:rPr lang="ko-KR" altLang="en-US" dirty="0"/>
              <a:t>기존의 지표와 방법을 사용하여 수학적 모델을 설정하고 다양한 재구성 시나리오에 따라 최종 구성을 얻는 과정</a:t>
            </a:r>
          </a:p>
          <a:p>
            <a:pPr lvl="1"/>
            <a:endParaRPr lang="en-US" altLang="ko-KR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marL="396000" lvl="2" indent="0">
              <a:buNone/>
            </a:pPr>
            <a:endParaRPr lang="en-US" altLang="ko-KR" b="1" dirty="0"/>
          </a:p>
          <a:p>
            <a:pPr lvl="2"/>
            <a:endParaRPr lang="en-US" altLang="ko-KR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C559C2EB-1ADE-52E4-EF59-6DC2A3A36043}"/>
              </a:ext>
            </a:extLst>
          </p:cNvPr>
          <p:cNvGraphicFramePr>
            <a:graphicFrameLocks noGrp="1"/>
          </p:cNvGraphicFramePr>
          <p:nvPr/>
        </p:nvGraphicFramePr>
        <p:xfrm>
          <a:off x="625407" y="2096151"/>
          <a:ext cx="8261511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349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71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434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Phase uniformity method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Reconstruction Configuration 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design method</a:t>
                      </a:r>
                    </a:p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(Based on Optimization Algorithm)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Explain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내 위성의 위상각을 조정하여 성능을 향상시키기 위해 위성의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failure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에 초점을 맞춘 재구성 전력 방법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indent="0" algn="l" latinLnBrk="1">
                        <a:buFontTx/>
                        <a:buNone/>
                      </a:pP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- </a:t>
                      </a:r>
                      <a:r>
                        <a:rPr lang="ko-KR" altLang="en-US" sz="1200" dirty="0" err="1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고장난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위성 및 그 위성의 궤도에 따라 </a:t>
                      </a:r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single, multi coplanar, multi non-coplanar</a:t>
                      </a:r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로 분류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 설계의 수학적 모델을 설정하고 기존의 최적화 알고리즘을 사용하여 모델의 최적 해를 얻는 과정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Advantage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에너지 절약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구현의 단순성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간단한 과정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기존 구성에 대해 적은 손상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강력한 복구 능력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높은 범용성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재구성에 대한 특별한 요구사항이 없음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최적성을 보장 가능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Disadvantage</a:t>
                      </a:r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위성 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failure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재구성에만 적용됨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Coplanar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의 다중 위성에만 적용됨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최종 구성의 최적성은 보장 불가능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수학적 모델 및 구체적인 재구성 지표가 부족함 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- 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복잡하고 실현하기 어려움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72338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6289395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dirty="0"/>
              <a:t>이종위성군 재구성의 제한조건 및 목적함수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제한조건</a:t>
            </a:r>
            <a:endParaRPr lang="en-US" altLang="ko-KR" dirty="0"/>
          </a:p>
          <a:p>
            <a:pPr lvl="1"/>
            <a:r>
              <a:rPr lang="ko-KR" altLang="en-US" sz="1800" dirty="0"/>
              <a:t>재구성에 따른 위성군의 성능저하</a:t>
            </a:r>
            <a:endParaRPr lang="en-US" altLang="ko-KR" sz="1800" dirty="0"/>
          </a:p>
          <a:p>
            <a:pPr lvl="1"/>
            <a:r>
              <a:rPr lang="ko-KR" altLang="en-US" dirty="0"/>
              <a:t>운용 위성의 수</a:t>
            </a:r>
            <a:endParaRPr lang="en-US" altLang="ko-KR" dirty="0"/>
          </a:p>
          <a:p>
            <a:pPr lvl="1"/>
            <a:r>
              <a:rPr lang="ko-KR" altLang="en-US" dirty="0"/>
              <a:t>재구성의 복구 능력</a:t>
            </a:r>
            <a:endParaRPr lang="en-US" altLang="ko-KR" dirty="0"/>
          </a:p>
          <a:p>
            <a:pPr lvl="1"/>
            <a:r>
              <a:rPr lang="ko-KR" altLang="en-US" dirty="0"/>
              <a:t>재구성 에너지의 분배</a:t>
            </a:r>
            <a:endParaRPr lang="en-US" altLang="ko-KR" dirty="0"/>
          </a:p>
          <a:p>
            <a:pPr lvl="1"/>
            <a:r>
              <a:rPr lang="ko-KR" altLang="en-US" dirty="0"/>
              <a:t>재구성 비용의 손실</a:t>
            </a:r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재구성의 목적함수</a:t>
            </a:r>
            <a:endParaRPr lang="en-US" altLang="ko-KR" dirty="0"/>
          </a:p>
          <a:p>
            <a:pPr lvl="1"/>
            <a:r>
              <a:rPr lang="ko-KR" altLang="en-US" dirty="0"/>
              <a:t>위성군의 유형에 따라 성능지수의 중요도 또한 다르며 다음으로 구성됨</a:t>
            </a:r>
            <a:endParaRPr lang="en-US" altLang="ko-KR" dirty="0"/>
          </a:p>
          <a:p>
            <a:pPr lvl="2"/>
            <a:r>
              <a:rPr lang="ko-KR" altLang="en-US" dirty="0"/>
              <a:t>재방문 시간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응답 시간</a:t>
            </a:r>
            <a:endParaRPr lang="en-US" altLang="ko-KR" dirty="0"/>
          </a:p>
          <a:p>
            <a:pPr lvl="2"/>
            <a:r>
              <a:rPr lang="ko-KR" altLang="en-US" dirty="0"/>
              <a:t>커버리지 비율</a:t>
            </a:r>
            <a:endParaRPr lang="en-US" altLang="ko-KR" dirty="0"/>
          </a:p>
          <a:p>
            <a:pPr lvl="1"/>
            <a:r>
              <a:rPr lang="ko-KR" altLang="en-US" dirty="0"/>
              <a:t>목적함수의 정해진 패턴 및 공식은 없음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77898015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 및 보완이 필요한 부분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1"/>
            <a:r>
              <a:rPr lang="ko-KR" altLang="en-US" sz="1800" dirty="0"/>
              <a:t>이종 위성군의 재구성 설계에 대한 연구</a:t>
            </a:r>
            <a:endParaRPr lang="en-US" altLang="ko-KR" sz="1800" dirty="0"/>
          </a:p>
          <a:p>
            <a:pPr lvl="2"/>
            <a:r>
              <a:rPr lang="ko-KR" altLang="en-US" dirty="0"/>
              <a:t>복잡하지만 변경 가능한 지상 임무를 처리하는 능력 향상 가능 </a:t>
            </a:r>
            <a:endParaRPr lang="en-US" altLang="ko-KR" dirty="0"/>
          </a:p>
          <a:p>
            <a:pPr lvl="2"/>
            <a:r>
              <a:rPr lang="ko-KR" altLang="en-US" dirty="0"/>
              <a:t>기존 우주 임무의 안정성</a:t>
            </a:r>
            <a:r>
              <a:rPr lang="en-US" altLang="ko-KR" dirty="0"/>
              <a:t>, </a:t>
            </a:r>
            <a:r>
              <a:rPr lang="ko-KR" altLang="en-US" dirty="0"/>
              <a:t>신뢰성 및 유연성을 키울 수 있음 </a:t>
            </a:r>
            <a:endParaRPr lang="en-US" altLang="ko-KR" dirty="0"/>
          </a:p>
          <a:p>
            <a:pPr lvl="2"/>
            <a:r>
              <a:rPr lang="ko-KR" altLang="en-US" b="1" u="sng" dirty="0"/>
              <a:t>전략적 중요성과 응용 가치가 높음</a:t>
            </a:r>
          </a:p>
          <a:p>
            <a:pPr lvl="1"/>
            <a:r>
              <a:rPr lang="ko-KR" altLang="en-US" dirty="0"/>
              <a:t>연구의 한계</a:t>
            </a:r>
            <a:endParaRPr lang="en-US" altLang="ko-KR" dirty="0"/>
          </a:p>
          <a:p>
            <a:pPr lvl="2"/>
            <a:r>
              <a:rPr lang="ko-KR" altLang="en-US" dirty="0"/>
              <a:t>재구성 설계에 대한 </a:t>
            </a:r>
            <a:r>
              <a:rPr lang="ko-KR" altLang="en-US" b="1" u="sng" dirty="0"/>
              <a:t>기존의 모델 및 지표가 없는 것이 한계</a:t>
            </a:r>
            <a:endParaRPr lang="en-US" altLang="ko-KR" sz="1800" b="1" u="sng" dirty="0"/>
          </a:p>
          <a:p>
            <a:pPr lvl="1">
              <a:lnSpc>
                <a:spcPct val="110000"/>
              </a:lnSpc>
            </a:pPr>
            <a:r>
              <a:rPr lang="ko-KR" altLang="en-US" sz="1800" dirty="0"/>
              <a:t>한계 극복 방안</a:t>
            </a:r>
            <a:endParaRPr lang="en-US" altLang="ko-KR" sz="1800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본 논문에 소개된 </a:t>
            </a:r>
            <a:r>
              <a:rPr lang="en-US" altLang="ko-KR" dirty="0"/>
              <a:t>Method</a:t>
            </a:r>
            <a:r>
              <a:rPr lang="ko-KR" altLang="en-US" dirty="0"/>
              <a:t>에 따라 </a:t>
            </a:r>
            <a:r>
              <a:rPr lang="ko-KR" altLang="en-US" b="1" u="sng" dirty="0"/>
              <a:t>다양한 조합 구성</a:t>
            </a:r>
            <a:endParaRPr lang="en-US" altLang="ko-KR" b="1" u="sng" dirty="0"/>
          </a:p>
          <a:p>
            <a:pPr lvl="2">
              <a:lnSpc>
                <a:spcPct val="110000"/>
              </a:lnSpc>
            </a:pPr>
            <a:r>
              <a:rPr lang="ko-KR" altLang="en-US" dirty="0"/>
              <a:t>변수를 조정해가며 직접 시뮬레이션 진행 후 가장 </a:t>
            </a:r>
            <a:r>
              <a:rPr lang="ko-KR" altLang="en-US" b="1" u="sng" dirty="0"/>
              <a:t>최적의 경우를 찾기</a:t>
            </a:r>
            <a:endParaRPr lang="en-US" altLang="ko-KR" b="1" u="sng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 부분</a:t>
            </a:r>
            <a:endParaRPr lang="en-US" altLang="ko-KR" dirty="0"/>
          </a:p>
          <a:p>
            <a:pPr lvl="1"/>
            <a:r>
              <a:rPr lang="ko-KR" altLang="en-US" dirty="0"/>
              <a:t>자세한 설계 방법 및 시뮬레이션의 결과 등 구체적인 내용</a:t>
            </a:r>
            <a:endParaRPr lang="en-US" altLang="ko-KR" dirty="0"/>
          </a:p>
          <a:p>
            <a:pPr lvl="2"/>
            <a:r>
              <a:rPr lang="ko-KR" altLang="en-US" dirty="0"/>
              <a:t>방법론적인 연구만을 다룬 논문으로</a:t>
            </a:r>
            <a:r>
              <a:rPr lang="en-US" altLang="ko-KR" dirty="0"/>
              <a:t>, </a:t>
            </a:r>
            <a:r>
              <a:rPr lang="ko-KR" altLang="en-US" dirty="0"/>
              <a:t>시뮬레이션 진행 과정이 없음</a:t>
            </a:r>
            <a:endParaRPr lang="en-US" altLang="ko-KR" dirty="0"/>
          </a:p>
          <a:p>
            <a:pPr lvl="1"/>
            <a:r>
              <a:rPr lang="en-US" altLang="ko-KR" dirty="0"/>
              <a:t>Satellite failure reconstruction </a:t>
            </a:r>
            <a:r>
              <a:rPr lang="ko-KR" altLang="en-US" dirty="0"/>
              <a:t>과정의 이해를 위한 그림 및 그래프 등의 시각자료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386506103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연구에 적용할 만한 내용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본 논문 중 연구에 적용하면 좋을 내용</a:t>
            </a:r>
          </a:p>
          <a:p>
            <a:pPr lvl="1"/>
            <a:r>
              <a:rPr lang="en-US" altLang="ko-KR" dirty="0"/>
              <a:t>Satellite failure Reconstruction</a:t>
            </a:r>
            <a:r>
              <a:rPr lang="ko-KR" altLang="en-US" dirty="0"/>
              <a:t>을 통한</a:t>
            </a:r>
            <a:r>
              <a:rPr lang="en-US" altLang="ko-KR" dirty="0"/>
              <a:t> </a:t>
            </a:r>
            <a:r>
              <a:rPr lang="ko-KR" altLang="en-US" dirty="0"/>
              <a:t>단순성 유지 및 에너지 절약 방법 연구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79846350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(3) P. Fox, G. </a:t>
            </a:r>
            <a:r>
              <a:rPr lang="en-US" altLang="ko-KR" dirty="0" err="1"/>
              <a:t>Tyc</a:t>
            </a:r>
            <a:r>
              <a:rPr lang="en-US" altLang="ko-KR" dirty="0"/>
              <a:t>, and K. Beckett, “The UrtheCast SAR-XL multi-band, multi-aperture spaceborne SAR system,” 2017 IEEE Radar Conference (</a:t>
            </a:r>
            <a:r>
              <a:rPr lang="en-US" altLang="ko-KR" dirty="0" err="1"/>
              <a:t>RadarConf</a:t>
            </a:r>
            <a:r>
              <a:rPr lang="en-US" altLang="ko-KR" dirty="0"/>
              <a:t>), pp. 1761–1764, May 2017.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978666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 </a:t>
            </a:r>
          </a:p>
          <a:p>
            <a:pPr lvl="1"/>
            <a:r>
              <a:rPr lang="ko-KR" altLang="en-US" dirty="0"/>
              <a:t>두 가지 </a:t>
            </a:r>
            <a:r>
              <a:rPr lang="ko-KR" altLang="en-US" dirty="0" err="1"/>
              <a:t>위성군</a:t>
            </a:r>
            <a:r>
              <a:rPr lang="en-US" altLang="ko-KR" dirty="0"/>
              <a:t>(</a:t>
            </a:r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을 혼합한 이종위성군 </a:t>
            </a:r>
            <a:r>
              <a:rPr lang="en-US" altLang="ko-KR" dirty="0" err="1"/>
              <a:t>OptiSAR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구성</a:t>
            </a:r>
            <a:endParaRPr lang="en-US" altLang="ko-KR" dirty="0"/>
          </a:p>
          <a:p>
            <a:pPr lvl="1"/>
            <a:r>
              <a:rPr lang="ko-KR" altLang="en-US" dirty="0"/>
              <a:t> 이종위성군 </a:t>
            </a:r>
            <a:r>
              <a:rPr lang="en-US" altLang="ko-KR" dirty="0" err="1"/>
              <a:t>OptiSAR</a:t>
            </a:r>
            <a:r>
              <a:rPr lang="ko-KR" altLang="en-US" dirty="0"/>
              <a:t>를 운용하여 얻을 수 있는 기대효과 예측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연구방법</a:t>
            </a:r>
          </a:p>
          <a:p>
            <a:pPr lvl="1"/>
            <a:r>
              <a:rPr lang="ko-KR" altLang="en-US" dirty="0"/>
              <a:t>두 종류의 </a:t>
            </a:r>
            <a:r>
              <a:rPr lang="ko-KR" altLang="en-US" dirty="0" err="1"/>
              <a:t>위성군</a:t>
            </a:r>
            <a:r>
              <a:rPr lang="en-US" altLang="ko-KR" dirty="0"/>
              <a:t>(</a:t>
            </a:r>
            <a:r>
              <a:rPr lang="ko-KR" altLang="en-US" dirty="0"/>
              <a:t>광학위성과 </a:t>
            </a:r>
            <a:r>
              <a:rPr lang="en-US" altLang="ko-KR" dirty="0"/>
              <a:t>SAR</a:t>
            </a:r>
            <a:r>
              <a:rPr lang="ko-KR" altLang="en-US" dirty="0"/>
              <a:t> 위성</a:t>
            </a:r>
            <a:r>
              <a:rPr lang="en-US" altLang="ko-KR" dirty="0"/>
              <a:t>)</a:t>
            </a:r>
            <a:r>
              <a:rPr lang="ko-KR" altLang="en-US" dirty="0"/>
              <a:t>의 궤도 및 탑재체의 특성 분석</a:t>
            </a:r>
            <a:endParaRPr lang="en-US" altLang="ko-KR" dirty="0"/>
          </a:p>
          <a:p>
            <a:pPr lvl="1"/>
            <a:r>
              <a:rPr lang="ko-KR" altLang="en-US" dirty="0"/>
              <a:t>제한조건 및 운용개념에 따라 궤도 설계</a:t>
            </a:r>
            <a:endParaRPr lang="en-US" altLang="ko-KR" dirty="0"/>
          </a:p>
          <a:p>
            <a:pPr lvl="1"/>
            <a:r>
              <a:rPr lang="ko-KR" altLang="en-US" dirty="0"/>
              <a:t>두 </a:t>
            </a:r>
            <a:r>
              <a:rPr lang="ko-KR" altLang="en-US" dirty="0" err="1"/>
              <a:t>위성군</a:t>
            </a:r>
            <a:r>
              <a:rPr lang="ko-KR" altLang="en-US" dirty="0"/>
              <a:t> 간의 상호 보완으로 </a:t>
            </a:r>
            <a:r>
              <a:rPr lang="en-US" altLang="ko-KR" dirty="0" err="1"/>
              <a:t>OptiSAR</a:t>
            </a:r>
            <a:r>
              <a:rPr lang="ko-KR" altLang="en-US" dirty="0"/>
              <a:t>의 성능 최대화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ko-KR" altLang="en-US" dirty="0"/>
              <a:t>서로 다른 기능을 하는 두 종류의 위성군을 </a:t>
            </a:r>
            <a:r>
              <a:rPr lang="en-US" altLang="ko-KR" dirty="0"/>
              <a:t>Cross-Cueing</a:t>
            </a:r>
            <a:r>
              <a:rPr lang="ko-KR" altLang="en-US" dirty="0"/>
              <a:t>하여 운용함</a:t>
            </a:r>
            <a:endParaRPr lang="en-US" altLang="ko-KR" dirty="0"/>
          </a:p>
          <a:p>
            <a:pPr lvl="1"/>
            <a:r>
              <a:rPr lang="ko-KR" altLang="en-US" dirty="0"/>
              <a:t>각각의</a:t>
            </a:r>
            <a:r>
              <a:rPr lang="en-US" altLang="ko-KR" dirty="0"/>
              <a:t> </a:t>
            </a:r>
            <a:r>
              <a:rPr lang="ko-KR" altLang="en-US" dirty="0"/>
              <a:t>기능의 장점만을 이용하여 최적화된 동선</a:t>
            </a:r>
            <a:r>
              <a:rPr lang="en-US" altLang="ko-KR" dirty="0"/>
              <a:t>(Schedule)</a:t>
            </a:r>
            <a:r>
              <a:rPr lang="ko-KR" altLang="en-US" dirty="0"/>
              <a:t> 파악</a:t>
            </a:r>
            <a:endParaRPr lang="en-US" altLang="ko-KR" dirty="0"/>
          </a:p>
          <a:p>
            <a:pPr lvl="1"/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연구목표와 방법 및 이종위성군의 정의</a:t>
            </a:r>
          </a:p>
        </p:txBody>
      </p:sp>
    </p:spTree>
    <p:extLst>
      <p:ext uri="{BB962C8B-B14F-4D97-AF65-F5344CB8AC3E}">
        <p14:creationId xmlns:p14="http://schemas.microsoft.com/office/powerpoint/2010/main" val="2833343792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이종위성군의 구성 및 궤도 정보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16979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 err="1"/>
              <a:t>OptiSAR</a:t>
            </a:r>
            <a:r>
              <a:rPr lang="en-US" altLang="ko-KR" dirty="0"/>
              <a:t> </a:t>
            </a:r>
            <a:r>
              <a:rPr lang="ko-KR" altLang="en-US" dirty="0" err="1"/>
              <a:t>위성군</a:t>
            </a:r>
            <a:endParaRPr lang="en-US" altLang="ko-KR" dirty="0"/>
          </a:p>
          <a:p>
            <a:pPr lvl="1"/>
            <a:r>
              <a:rPr lang="en-US" altLang="ko-KR" dirty="0"/>
              <a:t>SAR-XL </a:t>
            </a:r>
            <a:r>
              <a:rPr lang="ko-KR" altLang="en-US" dirty="0"/>
              <a:t>기술을 사용하는 </a:t>
            </a:r>
            <a:r>
              <a:rPr lang="en-US" altLang="ko-KR" dirty="0"/>
              <a:t>SAR</a:t>
            </a:r>
            <a:r>
              <a:rPr lang="ko-KR" altLang="en-US" dirty="0"/>
              <a:t>위성과 </a:t>
            </a:r>
            <a:r>
              <a:rPr lang="en-US" altLang="ko-KR" dirty="0"/>
              <a:t>2</a:t>
            </a:r>
            <a:r>
              <a:rPr lang="ko-KR" altLang="en-US" dirty="0"/>
              <a:t>분 뒤에 따라오는 광학 위성으로 구성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r>
              <a:rPr lang="ko-KR" altLang="en-US" dirty="0"/>
              <a:t>궤도 정보</a:t>
            </a:r>
          </a:p>
          <a:p>
            <a:pPr lvl="1"/>
            <a:r>
              <a:rPr lang="ko-KR" altLang="en-US" dirty="0"/>
              <a:t>네 쌍의</a:t>
            </a:r>
            <a:r>
              <a:rPr lang="en-US" altLang="ko-KR" dirty="0"/>
              <a:t> </a:t>
            </a:r>
            <a:r>
              <a:rPr lang="ko-KR" altLang="en-US" dirty="0"/>
              <a:t>위성들은 궤도면 주위에 등간격으로 배치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95534C-CAEB-12D0-D171-DEB9EE1E7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518" y="1769540"/>
            <a:ext cx="2283318" cy="1548790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4333172-9340-865B-E35A-39EE6B697693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4255294"/>
          <a:ext cx="6014217" cy="1680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4446">
                  <a:extLst>
                    <a:ext uri="{9D8B030D-6E8A-4147-A177-3AD203B41FA5}">
                      <a16:colId xmlns:a16="http://schemas.microsoft.com/office/drawing/2014/main" val="1934110007"/>
                    </a:ext>
                  </a:extLst>
                </a:gridCol>
                <a:gridCol w="1748546">
                  <a:extLst>
                    <a:ext uri="{9D8B030D-6E8A-4147-A177-3AD203B41FA5}">
                      <a16:colId xmlns:a16="http://schemas.microsoft.com/office/drawing/2014/main" val="3433304667"/>
                    </a:ext>
                  </a:extLst>
                </a:gridCol>
                <a:gridCol w="1129421">
                  <a:extLst>
                    <a:ext uri="{9D8B030D-6E8A-4147-A177-3AD203B41FA5}">
                      <a16:colId xmlns:a16="http://schemas.microsoft.com/office/drawing/2014/main" val="4117600169"/>
                    </a:ext>
                  </a:extLst>
                </a:gridCol>
                <a:gridCol w="730958">
                  <a:extLst>
                    <a:ext uri="{9D8B030D-6E8A-4147-A177-3AD203B41FA5}">
                      <a16:colId xmlns:a16="http://schemas.microsoft.com/office/drawing/2014/main" val="3732205989"/>
                    </a:ext>
                  </a:extLst>
                </a:gridCol>
                <a:gridCol w="721682">
                  <a:extLst>
                    <a:ext uri="{9D8B030D-6E8A-4147-A177-3AD203B41FA5}">
                      <a16:colId xmlns:a16="http://schemas.microsoft.com/office/drawing/2014/main" val="2187101292"/>
                    </a:ext>
                  </a:extLst>
                </a:gridCol>
                <a:gridCol w="499220">
                  <a:extLst>
                    <a:ext uri="{9D8B030D-6E8A-4147-A177-3AD203B41FA5}">
                      <a16:colId xmlns:a16="http://schemas.microsoft.com/office/drawing/2014/main" val="992958570"/>
                    </a:ext>
                  </a:extLst>
                </a:gridCol>
                <a:gridCol w="489944">
                  <a:extLst>
                    <a:ext uri="{9D8B030D-6E8A-4147-A177-3AD203B41FA5}">
                      <a16:colId xmlns:a16="http://schemas.microsoft.com/office/drawing/2014/main" val="2977512495"/>
                    </a:ext>
                  </a:extLst>
                </a:gridCol>
              </a:tblGrid>
              <a:tr h="16249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Orbit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Function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Inclination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Number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of</a:t>
                      </a:r>
                      <a:r>
                        <a:rPr lang="ko-KR" altLang="en-US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en-US" altLang="ko-KR" sz="15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Satellite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0" dirty="0">
                        <a:solidFill>
                          <a:schemeClr val="bg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946841"/>
                  </a:ext>
                </a:extLst>
              </a:tr>
              <a:tr h="16249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Total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594251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SSO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지구 관측 임무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(LTAN 10:30)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98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16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372325"/>
                  </a:ext>
                </a:extLst>
              </a:tr>
              <a:tr h="41767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중위도 지역의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높은 재방문율 허용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45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4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8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2024666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6D5A17C8-ED43-B10B-F86A-3401BC530DC0}"/>
              </a:ext>
            </a:extLst>
          </p:cNvPr>
          <p:cNvGraphicFramePr>
            <a:graphicFrameLocks noGrp="1"/>
          </p:cNvGraphicFramePr>
          <p:nvPr/>
        </p:nvGraphicFramePr>
        <p:xfrm>
          <a:off x="585456" y="1739205"/>
          <a:ext cx="5275687" cy="1548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434">
                  <a:extLst>
                    <a:ext uri="{9D8B030D-6E8A-4147-A177-3AD203B41FA5}">
                      <a16:colId xmlns:a16="http://schemas.microsoft.com/office/drawing/2014/main" val="1914817558"/>
                    </a:ext>
                  </a:extLst>
                </a:gridCol>
                <a:gridCol w="2089858">
                  <a:extLst>
                    <a:ext uri="{9D8B030D-6E8A-4147-A177-3AD203B41FA5}">
                      <a16:colId xmlns:a16="http://schemas.microsoft.com/office/drawing/2014/main" val="816440905"/>
                    </a:ext>
                  </a:extLst>
                </a:gridCol>
                <a:gridCol w="2337395">
                  <a:extLst>
                    <a:ext uri="{9D8B030D-6E8A-4147-A177-3AD203B41FA5}">
                      <a16:colId xmlns:a16="http://schemas.microsoft.com/office/drawing/2014/main" val="3531733101"/>
                    </a:ext>
                  </a:extLst>
                </a:gridCol>
              </a:tblGrid>
              <a:tr h="17011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Payload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Dual mode Cam/Band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30524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Optics</a:t>
                      </a:r>
                      <a:endParaRPr lang="ko-KR" altLang="en-US" sz="1400" b="0" dirty="0">
                        <a:solidFill>
                          <a:schemeClr val="tx1"/>
                        </a:solidFill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Multi-spectral </a:t>
                      </a:r>
                      <a:r>
                        <a:rPr lang="en-US" altLang="ko-KR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pushbroom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SAR-XL 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기술을 이용한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듀얼밴드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1463829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RGB color video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2605333760"/>
                  </a:ext>
                </a:extLst>
              </a:tr>
              <a:tr h="246319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0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X-band(1m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고해상도</a:t>
                      </a: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(0.5m GSD)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의 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400" dirty="0" err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듀얼모드</a:t>
                      </a:r>
                      <a:r>
                        <a:rPr lang="ko-KR" altLang="en-US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광학 카메라 사용</a:t>
                      </a:r>
                      <a:endParaRPr lang="en-US" altLang="ko-KR" sz="14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0095560"/>
                  </a:ext>
                </a:extLst>
              </a:tr>
              <a:tr h="24631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L-band(5m class)</a:t>
                      </a:r>
                    </a:p>
                  </a:txBody>
                  <a:tcPr marL="96398" marR="96398" marT="48199" marB="4819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en-US" altLang="ko-KR" sz="1300" dirty="0"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marL="96398" marR="96398" marT="48199" marB="48199" anchor="ctr"/>
                </a:tc>
                <a:extLst>
                  <a:ext uri="{0D108BD9-81ED-4DB2-BD59-A6C34878D82A}">
                    <a16:rowId xmlns:a16="http://schemas.microsoft.com/office/drawing/2014/main" val="4050504015"/>
                  </a:ext>
                </a:extLst>
              </a:tr>
            </a:tbl>
          </a:graphicData>
        </a:graphic>
      </p:graphicFrame>
      <p:pic>
        <p:nvPicPr>
          <p:cNvPr id="25" name="그림 24">
            <a:extLst>
              <a:ext uri="{FF2B5EF4-FFF2-40B4-BE49-F238E27FC236}">
                <a16:creationId xmlns:a16="http://schemas.microsoft.com/office/drawing/2014/main" id="{AC4FC3C2-F1AB-398E-8099-0525C3B355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6554" y="3476540"/>
            <a:ext cx="1922435" cy="128799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5FDFFD92-F060-7007-EF2A-A7BB12EE79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6554" y="4822805"/>
            <a:ext cx="1922435" cy="155022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53467669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Cross-Cueing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각 탑재체의 역할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SAR</a:t>
            </a:r>
          </a:p>
          <a:p>
            <a:pPr lvl="2"/>
            <a:r>
              <a:rPr lang="ko-KR" altLang="en-US" dirty="0"/>
              <a:t>광범위한 감시 모드를 가진 후 </a:t>
            </a:r>
            <a:r>
              <a:rPr lang="en-US" altLang="ko-KR" dirty="0"/>
              <a:t>Onboard Process</a:t>
            </a:r>
            <a:r>
              <a:rPr lang="ko-KR" altLang="en-US" dirty="0"/>
              <a:t>로 관심 대상을 감지하고 분류함</a:t>
            </a:r>
            <a:endParaRPr lang="en-US" altLang="ko-KR" dirty="0"/>
          </a:p>
          <a:p>
            <a:pPr lvl="1"/>
            <a:r>
              <a:rPr lang="ko-KR" altLang="en-US" dirty="0"/>
              <a:t>광학 위성</a:t>
            </a:r>
            <a:endParaRPr lang="en-US" altLang="ko-KR" dirty="0"/>
          </a:p>
          <a:p>
            <a:pPr lvl="2"/>
            <a:r>
              <a:rPr lang="ko-KR" altLang="en-US" dirty="0"/>
              <a:t>관심 대상의 고해상도 이미지 또는 영상을 촬영하도록 지시</a:t>
            </a:r>
            <a:endParaRPr lang="en-US" altLang="ko-KR" dirty="0"/>
          </a:p>
          <a:p>
            <a:pPr lvl="3"/>
            <a:endParaRPr lang="en-US" altLang="ko-KR" dirty="0"/>
          </a:p>
          <a:p>
            <a:pPr lvl="3"/>
            <a:endParaRPr lang="en-US" altLang="ko-KR" dirty="0"/>
          </a:p>
          <a:p>
            <a:pPr lvl="1"/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03F4872-83C9-F9E7-DEBC-257B09351A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1243" y="2721515"/>
            <a:ext cx="5021513" cy="312119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78369882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Cross-Cueing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단계별 과정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Cross-cueing</a:t>
            </a:r>
          </a:p>
          <a:p>
            <a:pPr lvl="1"/>
            <a:r>
              <a:rPr lang="en-US" altLang="ko-KR" dirty="0"/>
              <a:t>1. </a:t>
            </a:r>
            <a:r>
              <a:rPr lang="ko-KR" altLang="en-US" dirty="0"/>
              <a:t>지상국에서 </a:t>
            </a:r>
            <a:r>
              <a:rPr lang="en-US" altLang="ko-KR" dirty="0"/>
              <a:t>SAR</a:t>
            </a:r>
            <a:r>
              <a:rPr lang="ko-KR" altLang="en-US" dirty="0"/>
              <a:t>위성에게 최적 구름 상태의 사진 촬영 및 이미지 전송 지시</a:t>
            </a:r>
            <a:endParaRPr lang="en-US" altLang="ko-KR" dirty="0"/>
          </a:p>
          <a:p>
            <a:pPr lvl="1"/>
            <a:r>
              <a:rPr lang="en-US" altLang="ko-KR" dirty="0"/>
              <a:t>2. </a:t>
            </a:r>
            <a:r>
              <a:rPr lang="ko-KR" altLang="en-US" dirty="0"/>
              <a:t>구름 카메라 및 </a:t>
            </a:r>
            <a:r>
              <a:rPr lang="en-US" altLang="ko-KR" dirty="0"/>
              <a:t>on-board processor</a:t>
            </a:r>
            <a:r>
              <a:rPr lang="ko-KR" altLang="en-US" dirty="0"/>
              <a:t>에서 구름 사진을 </a:t>
            </a:r>
            <a:r>
              <a:rPr lang="en-US" altLang="ko-KR" dirty="0"/>
              <a:t>mapping</a:t>
            </a:r>
          </a:p>
          <a:p>
            <a:pPr lvl="1"/>
            <a:r>
              <a:rPr lang="en-US" altLang="ko-KR" dirty="0"/>
              <a:t>3. SAR</a:t>
            </a:r>
            <a:r>
              <a:rPr lang="ko-KR" altLang="en-US" dirty="0"/>
              <a:t>가 관심지역의 넓은 부분을 스캔</a:t>
            </a:r>
            <a:endParaRPr lang="en-US" altLang="ko-KR" dirty="0"/>
          </a:p>
          <a:p>
            <a:pPr lvl="1"/>
            <a:r>
              <a:rPr lang="en-US" altLang="ko-KR" dirty="0"/>
              <a:t>4. AIS </a:t>
            </a:r>
            <a:r>
              <a:rPr lang="ko-KR" altLang="en-US" dirty="0"/>
              <a:t>수신기에서 선박으로 부터 받은 </a:t>
            </a:r>
            <a:r>
              <a:rPr lang="en-US" altLang="ko-KR" dirty="0"/>
              <a:t>AIS </a:t>
            </a:r>
            <a:r>
              <a:rPr lang="ko-KR" altLang="en-US" dirty="0"/>
              <a:t>신호를 해독</a:t>
            </a:r>
            <a:endParaRPr lang="en-US" altLang="ko-KR" dirty="0"/>
          </a:p>
          <a:p>
            <a:pPr lvl="1"/>
            <a:r>
              <a:rPr lang="en-US" altLang="ko-KR" dirty="0"/>
              <a:t>5. On-board processor</a:t>
            </a:r>
            <a:r>
              <a:rPr lang="ko-KR" altLang="en-US" dirty="0"/>
              <a:t>에서 </a:t>
            </a:r>
            <a:r>
              <a:rPr lang="en-US" altLang="ko-KR" dirty="0"/>
              <a:t>SAR</a:t>
            </a:r>
            <a:r>
              <a:rPr lang="ko-KR" altLang="en-US" dirty="0"/>
              <a:t>의 이미지를 형상화</a:t>
            </a:r>
            <a:endParaRPr lang="en-US" altLang="ko-KR" dirty="0"/>
          </a:p>
          <a:p>
            <a:pPr lvl="1"/>
            <a:r>
              <a:rPr lang="en-US" altLang="ko-KR" dirty="0"/>
              <a:t>6. On-board processor</a:t>
            </a:r>
            <a:r>
              <a:rPr lang="ko-KR" altLang="en-US" dirty="0"/>
              <a:t>에서 형상된 이미지 및 </a:t>
            </a:r>
            <a:r>
              <a:rPr lang="en-US" altLang="ko-KR" dirty="0"/>
              <a:t>AIS </a:t>
            </a:r>
            <a:r>
              <a:rPr lang="ko-KR" altLang="en-US" dirty="0"/>
              <a:t>신호에 기반한 잠재적 지역을 선택</a:t>
            </a:r>
            <a:endParaRPr lang="en-US" altLang="ko-KR" dirty="0"/>
          </a:p>
          <a:p>
            <a:pPr lvl="1"/>
            <a:r>
              <a:rPr lang="en-US" altLang="ko-KR" dirty="0"/>
              <a:t>7. </a:t>
            </a:r>
            <a:r>
              <a:rPr lang="ko-KR" altLang="en-US" dirty="0"/>
              <a:t>앞서가는 위성이 뒤따라오는 위성에게 </a:t>
            </a:r>
            <a:r>
              <a:rPr lang="en-US" altLang="ko-KR" dirty="0"/>
              <a:t>cloud mask</a:t>
            </a:r>
            <a:r>
              <a:rPr lang="ko-KR" altLang="en-US" dirty="0"/>
              <a:t>와 잠재적 관심지역을 전송</a:t>
            </a:r>
            <a:endParaRPr lang="en-US" altLang="ko-KR" dirty="0"/>
          </a:p>
          <a:p>
            <a:pPr lvl="1"/>
            <a:r>
              <a:rPr lang="en-US" altLang="ko-KR" dirty="0"/>
              <a:t>8. On-board processor</a:t>
            </a:r>
            <a:r>
              <a:rPr lang="ko-KR" altLang="en-US" dirty="0"/>
              <a:t>에서 최적의 </a:t>
            </a:r>
            <a:r>
              <a:rPr lang="en-US" altLang="ko-KR" dirty="0"/>
              <a:t>cloud mask </a:t>
            </a:r>
            <a:r>
              <a:rPr lang="ko-KR" altLang="en-US" dirty="0"/>
              <a:t>및 타겟 정보에 기반한 최적의 동선을 생성</a:t>
            </a:r>
            <a:endParaRPr lang="en-US" altLang="ko-KR" dirty="0"/>
          </a:p>
          <a:p>
            <a:pPr lvl="1"/>
            <a:r>
              <a:rPr lang="en-US" altLang="ko-KR" dirty="0"/>
              <a:t>9. </a:t>
            </a:r>
            <a:r>
              <a:rPr lang="ko-KR" altLang="en-US" dirty="0"/>
              <a:t>광학 위성은 최적화된 동선에 따라 구름을 피해 고해상도 이미지를 수집</a:t>
            </a:r>
            <a:endParaRPr lang="en-US" altLang="ko-KR" dirty="0"/>
          </a:p>
          <a:p>
            <a:pPr lvl="1"/>
            <a:r>
              <a:rPr lang="en-US" altLang="ko-KR" dirty="0"/>
              <a:t>10. </a:t>
            </a:r>
            <a:r>
              <a:rPr lang="ko-KR" altLang="en-US" dirty="0"/>
              <a:t>광학 위성은 지상국으로 비디오 및 이미지를 전송</a:t>
            </a:r>
          </a:p>
        </p:txBody>
      </p:sp>
    </p:spTree>
    <p:extLst>
      <p:ext uri="{BB962C8B-B14F-4D97-AF65-F5344CB8AC3E}">
        <p14:creationId xmlns:p14="http://schemas.microsoft.com/office/powerpoint/2010/main" val="1202080041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>
              <a:defRPr/>
            </a:pPr>
            <a:r>
              <a:rPr lang="ko-KR" altLang="en-US" dirty="0"/>
              <a:t>결론 및 보완점과 연구에 적용할 만한 내용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sz="1800" b="0" dirty="0"/>
          </a:p>
          <a:p>
            <a:pPr lvl="1"/>
            <a:r>
              <a:rPr lang="ko-KR" altLang="en-US" dirty="0"/>
              <a:t>광학위성 및 </a:t>
            </a:r>
            <a:r>
              <a:rPr lang="en-US" altLang="ko-KR" dirty="0"/>
              <a:t>SAR </a:t>
            </a:r>
            <a:r>
              <a:rPr lang="ko-KR" altLang="en-US" dirty="0"/>
              <a:t>위성의 </a:t>
            </a:r>
            <a:r>
              <a:rPr lang="en-US" altLang="ko-KR" dirty="0"/>
              <a:t>Cross-cueing </a:t>
            </a:r>
            <a:r>
              <a:rPr lang="ko-KR" altLang="en-US" dirty="0"/>
              <a:t>방법</a:t>
            </a:r>
            <a:endParaRPr lang="en-US" altLang="ko-KR" dirty="0"/>
          </a:p>
          <a:p>
            <a:pPr lvl="2"/>
            <a:r>
              <a:rPr lang="ko-KR" altLang="en-US" b="1" u="sng" dirty="0"/>
              <a:t>각 탑재체의 장점만을 이용</a:t>
            </a:r>
            <a:r>
              <a:rPr lang="ko-KR" altLang="en-US" dirty="0"/>
              <a:t>한 </a:t>
            </a:r>
            <a:r>
              <a:rPr lang="ko-KR" altLang="en-US" dirty="0" err="1"/>
              <a:t>위성군</a:t>
            </a:r>
            <a:r>
              <a:rPr lang="ko-KR" altLang="en-US" dirty="0"/>
              <a:t> 운용 가능</a:t>
            </a:r>
            <a:endParaRPr lang="en-US" altLang="ko-KR" dirty="0"/>
          </a:p>
          <a:p>
            <a:pPr lvl="1"/>
            <a:r>
              <a:rPr lang="ko-KR" altLang="en-US" dirty="0"/>
              <a:t>고해상도 및 넓은 범위의 영상에 대한 근본적인 과제를 해결하기 위해서는 더 많은 연구가 필요함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</a:t>
            </a:r>
            <a:r>
              <a:rPr lang="en-US" altLang="ko-KR" dirty="0"/>
              <a:t> </a:t>
            </a:r>
            <a:r>
              <a:rPr lang="ko-KR" altLang="en-US" dirty="0"/>
              <a:t>부분</a:t>
            </a:r>
            <a:endParaRPr lang="en-US" altLang="ko-KR" dirty="0"/>
          </a:p>
          <a:p>
            <a:pPr lvl="1"/>
            <a:r>
              <a:rPr lang="ko-KR" altLang="en-US" dirty="0"/>
              <a:t>시뮬레이션의 결과 및 이종위성군의 기대 효과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ko-KR" altLang="en-US" dirty="0"/>
              <a:t>논문에서 다룬 위성 외에 다른 종류의 탑재체에 </a:t>
            </a:r>
            <a:r>
              <a:rPr lang="en-US" altLang="ko-KR" dirty="0"/>
              <a:t>Cross-cueing</a:t>
            </a:r>
            <a:r>
              <a:rPr lang="ko-KR" altLang="en-US" dirty="0"/>
              <a:t> 방법을 적용하여 얻을 수 있는 기대효과</a:t>
            </a:r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972375220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0" y="1820659"/>
            <a:ext cx="9144000" cy="4024969"/>
          </a:xfrm>
        </p:spPr>
        <p:txBody>
          <a:bodyPr>
            <a:normAutofit fontScale="90000"/>
          </a:bodyPr>
          <a:lstStyle/>
          <a:p>
            <a:r>
              <a:rPr lang="en-US" altLang="ko-KR" b="1" dirty="0"/>
              <a:t>(4) L. Liu, Z. Dong, H. </a:t>
            </a:r>
            <a:r>
              <a:rPr lang="en-US" altLang="ko-KR" b="1" dirty="0" err="1"/>
              <a:t>Su</a:t>
            </a:r>
            <a:r>
              <a:rPr lang="en-US" altLang="ko-KR" b="1" dirty="0"/>
              <a:t>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</a:t>
            </a:r>
            <a:r>
              <a:rPr lang="en-US" altLang="ko-KR" b="1" dirty="0" err="1"/>
              <a:t>doi</a:t>
            </a:r>
            <a:r>
              <a:rPr lang="en-US" altLang="ko-KR" b="1" dirty="0"/>
              <a:t>: 10.1109/IAEAC50856.2021.9390990.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624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연구목표 </a:t>
            </a:r>
          </a:p>
          <a:p>
            <a:pPr lvl="1"/>
            <a:r>
              <a:rPr lang="ko-KR" altLang="en-US" dirty="0"/>
              <a:t>아래의 두 가지 알고리즘을 혼합한  </a:t>
            </a:r>
            <a:r>
              <a:rPr lang="en-US" altLang="ko-KR" dirty="0"/>
              <a:t>Hybrid Algorithm </a:t>
            </a:r>
            <a:r>
              <a:rPr lang="ko-KR" altLang="en-US" dirty="0"/>
              <a:t>구성</a:t>
            </a:r>
            <a:endParaRPr lang="en-US" altLang="ko-KR" dirty="0"/>
          </a:p>
          <a:p>
            <a:pPr lvl="2"/>
            <a:r>
              <a:rPr lang="en-US" altLang="ko-KR" dirty="0"/>
              <a:t>Genetic Algorithm(GA)</a:t>
            </a:r>
          </a:p>
          <a:p>
            <a:pPr lvl="2"/>
            <a:r>
              <a:rPr lang="en-US" altLang="ko-KR" dirty="0"/>
              <a:t>Tabu Search Algorithm(TS)</a:t>
            </a:r>
          </a:p>
          <a:p>
            <a:pPr lvl="1"/>
            <a:r>
              <a:rPr lang="en-US" altLang="ko-KR" dirty="0"/>
              <a:t>Hybrid Algorithm</a:t>
            </a:r>
            <a:r>
              <a:rPr lang="ko-KR" altLang="en-US" dirty="0"/>
              <a:t>을 이용하여 최적화된 </a:t>
            </a:r>
            <a:r>
              <a:rPr lang="en-US" altLang="ko-KR" dirty="0"/>
              <a:t>Scheduling</a:t>
            </a:r>
            <a:r>
              <a:rPr lang="ko-KR" altLang="en-US" dirty="0"/>
              <a:t>의 </a:t>
            </a:r>
            <a:r>
              <a:rPr lang="en-US" altLang="ko-KR" dirty="0"/>
              <a:t>solution</a:t>
            </a:r>
            <a:r>
              <a:rPr lang="ko-KR" altLang="en-US" dirty="0"/>
              <a:t> 도출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논문에서의 </a:t>
            </a:r>
            <a:r>
              <a:rPr lang="en-US" altLang="ko-KR" dirty="0"/>
              <a:t>Heterogeneous Constellation</a:t>
            </a:r>
            <a:r>
              <a:rPr lang="ko-KR" altLang="en-US" dirty="0"/>
              <a:t>의 정의</a:t>
            </a:r>
          </a:p>
          <a:p>
            <a:pPr lvl="1"/>
            <a:r>
              <a:rPr lang="en-US" altLang="ko-KR" dirty="0"/>
              <a:t>Mission schedule</a:t>
            </a:r>
            <a:r>
              <a:rPr lang="ko-KR" altLang="en-US" dirty="0"/>
              <a:t>을 최적화 목표</a:t>
            </a:r>
            <a:endParaRPr lang="en-US" altLang="ko-KR" dirty="0"/>
          </a:p>
          <a:p>
            <a:pPr lvl="1"/>
            <a:r>
              <a:rPr lang="ko-KR" altLang="en-US" dirty="0"/>
              <a:t>두 종류의 </a:t>
            </a:r>
            <a:r>
              <a:rPr lang="ko-KR" altLang="en-US" dirty="0" err="1"/>
              <a:t>위성군</a:t>
            </a:r>
            <a:r>
              <a:rPr lang="en-US" altLang="ko-KR" dirty="0"/>
              <a:t>(Visible Camera, SAR)</a:t>
            </a:r>
            <a:r>
              <a:rPr lang="ko-KR" altLang="en-US" dirty="0"/>
              <a:t>을 동시에 운용함 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연구목표 및 이종 위성군의 정의</a:t>
            </a:r>
          </a:p>
        </p:txBody>
      </p:sp>
    </p:spTree>
    <p:extLst>
      <p:ext uri="{BB962C8B-B14F-4D97-AF65-F5344CB8AC3E}">
        <p14:creationId xmlns:p14="http://schemas.microsoft.com/office/powerpoint/2010/main" val="65979690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연구방법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  <a:p>
            <a:pPr lvl="1"/>
            <a:r>
              <a:rPr lang="en-US" altLang="ko-KR" dirty="0"/>
              <a:t>Pre-Set data</a:t>
            </a:r>
            <a:r>
              <a:rPr lang="ko-KR" altLang="en-US" dirty="0"/>
              <a:t>와 </a:t>
            </a:r>
            <a:r>
              <a:rPr lang="en-US" altLang="ko-KR" dirty="0"/>
              <a:t>Dynamical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를 </a:t>
            </a:r>
            <a:r>
              <a:rPr lang="en-US" altLang="ko-KR" dirty="0"/>
              <a:t>Design Variable</a:t>
            </a:r>
            <a:r>
              <a:rPr lang="ko-KR" altLang="en-US" dirty="0"/>
              <a:t>로 입력</a:t>
            </a:r>
            <a:endParaRPr lang="en-US" altLang="ko-KR" dirty="0"/>
          </a:p>
          <a:p>
            <a:pPr lvl="1"/>
            <a:r>
              <a:rPr lang="en-US" altLang="ko-KR" dirty="0"/>
              <a:t>Model</a:t>
            </a:r>
            <a:r>
              <a:rPr lang="ko-KR" altLang="en-US" dirty="0"/>
              <a:t> </a:t>
            </a:r>
            <a:r>
              <a:rPr lang="en-US" altLang="ko-KR" dirty="0"/>
              <a:t>Deconflict </a:t>
            </a:r>
            <a:r>
              <a:rPr lang="ko-KR" altLang="en-US" dirty="0"/>
              <a:t>과정을 통해 상충되는 데이터를 제거  </a:t>
            </a:r>
            <a:endParaRPr lang="en-US" altLang="ko-KR" dirty="0"/>
          </a:p>
          <a:p>
            <a:pPr lvl="1"/>
            <a:r>
              <a:rPr lang="ko-KR" altLang="en-US" dirty="0"/>
              <a:t>최적의 해를 찾기 위해 알고리즘이 활성화</a:t>
            </a:r>
            <a:endParaRPr lang="en-US" altLang="ko-KR" dirty="0"/>
          </a:p>
          <a:p>
            <a:pPr lvl="1"/>
            <a:r>
              <a:rPr lang="ko-KR" altLang="en-US" dirty="0"/>
              <a:t>관측시간 정보 등의 </a:t>
            </a:r>
            <a:r>
              <a:rPr lang="en-US" altLang="ko-KR" dirty="0"/>
              <a:t>Scheduling</a:t>
            </a:r>
            <a:r>
              <a:rPr lang="ko-KR" altLang="en-US" dirty="0"/>
              <a:t>의 </a:t>
            </a:r>
            <a:r>
              <a:rPr lang="en-US" altLang="ko-KR" dirty="0"/>
              <a:t>solution </a:t>
            </a:r>
            <a:r>
              <a:rPr lang="ko-KR" altLang="en-US" dirty="0"/>
              <a:t>결과 도출</a:t>
            </a:r>
            <a:endParaRPr lang="en-US" altLang="ko-KR" dirty="0"/>
          </a:p>
          <a:p>
            <a:pPr lvl="1"/>
            <a:endParaRPr lang="ko-KR" altLang="en-US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Schedule Stage</a:t>
            </a:r>
            <a:r>
              <a:rPr lang="ko-KR" altLang="en-US" dirty="0"/>
              <a:t>에 따른 연구방법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A43A9BE4-E5BB-A00B-38DB-2CF678A9C9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762" y="1428004"/>
            <a:ext cx="4618070" cy="333402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1187548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임무의 </a:t>
            </a:r>
            <a:r>
              <a:rPr lang="en-US" altLang="ko-KR" dirty="0"/>
              <a:t>Scheduling</a:t>
            </a:r>
            <a:r>
              <a:rPr lang="ko-KR" altLang="en-US" dirty="0"/>
              <a:t>을 위한 가정</a:t>
            </a:r>
            <a:endParaRPr lang="en-US" altLang="ko-KR" dirty="0"/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서로 다른 유형의 탑재체를 사용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지상의 점 표적을 관측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 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대상은 한 번만 관측해도 됨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하나의 위성은 오직 하나의 탑재체를 운반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 </a:t>
            </a: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위성은 한 번에 한 가지 임무만 수행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"/>
              </a:rPr>
              <a:t> </a:t>
            </a:r>
            <a:endParaRPr lang="en-US" altLang="ko-KR" dirty="0">
              <a:solidFill>
                <a:srgbClr val="000000"/>
              </a:solidFill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임무가 시작되면 중단은 고려되지 않음</a:t>
            </a:r>
            <a:endParaRPr lang="en-US" altLang="ko-KR" b="0" i="0" dirty="0">
              <a:solidFill>
                <a:srgbClr val="000000"/>
              </a:solidFill>
              <a:effectLst/>
              <a:latin typeface="noto"/>
            </a:endParaRPr>
          </a:p>
          <a:p>
            <a:pPr lvl="1"/>
            <a:r>
              <a:rPr lang="ko-KR" altLang="en-US" b="0" i="0" dirty="0">
                <a:solidFill>
                  <a:srgbClr val="000000"/>
                </a:solidFill>
                <a:effectLst/>
                <a:latin typeface="noto"/>
              </a:rPr>
              <a:t>위성 궤도 기동의 상황은 고려되지 않음</a:t>
            </a:r>
            <a:br>
              <a:rPr lang="ko-KR" altLang="en-US" dirty="0"/>
            </a:br>
            <a:br>
              <a:rPr lang="ko-KR" altLang="en-US" dirty="0"/>
            </a:b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Scheduling</a:t>
            </a:r>
            <a:r>
              <a:rPr lang="ko-KR" altLang="en-US" dirty="0"/>
              <a:t>의 가정</a:t>
            </a:r>
          </a:p>
        </p:txBody>
      </p:sp>
    </p:spTree>
    <p:extLst>
      <p:ext uri="{BB962C8B-B14F-4D97-AF65-F5344CB8AC3E}">
        <p14:creationId xmlns:p14="http://schemas.microsoft.com/office/powerpoint/2010/main" val="269317359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r>
                  <a:rPr lang="ko-KR" altLang="en-US" dirty="0"/>
                  <a:t>임무의 제한조건</a:t>
                </a:r>
                <a:endParaRPr lang="en-US" altLang="ko-KR" dirty="0"/>
              </a:p>
              <a:p>
                <a:pPr lvl="1"/>
                <a:r>
                  <a:rPr lang="ko-KR" altLang="en-US" dirty="0"/>
                  <a:t> </a:t>
                </a:r>
                <a:r>
                  <a:rPr lang="en-US" altLang="ko-KR" dirty="0"/>
                  <a:t>Visible window constraint : </a:t>
                </a:r>
                <a:r>
                  <a:rPr lang="ko-KR" altLang="en-US" dirty="0"/>
                  <a:t>위성의 탑재체는 타겟을 볼 수 있어야 하고 </a:t>
                </a:r>
                <a:r>
                  <a:rPr lang="en-US" altLang="ko-KR" dirty="0"/>
                  <a:t>Window Duration</a:t>
                </a:r>
                <a:r>
                  <a:rPr lang="ko-KR" altLang="en-US" dirty="0"/>
                  <a:t>은 임무 관측 시간보다 길어야 함 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Task preparation time constraints : </a:t>
                </a:r>
                <a:r>
                  <a:rPr lang="ko-KR" altLang="en-US" dirty="0"/>
                  <a:t>위성의 관측이 끝난 후 다음 위성이 관측을 시작할 때 까지의 시간 간격은 탑재체의 준비 시간보다 길어야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Energy constraints : </a:t>
                </a:r>
                <a:r>
                  <a:rPr lang="ko-KR" altLang="en-US" dirty="0"/>
                  <a:t>각 위성에서 사용되는 총 에너지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소비량은 저장된 에너지 양의 상한선을 넘지 않아야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Lighting constraints : </a:t>
                </a:r>
                <a:r>
                  <a:rPr lang="ko-KR" altLang="en-US" dirty="0"/>
                  <a:t>광학 위성은 </a:t>
                </a:r>
                <a:r>
                  <a:rPr lang="en-US" altLang="ko-KR" dirty="0"/>
                  <a:t>Sun angle(</a:t>
                </a:r>
                <a:r>
                  <a:rPr lang="ko-KR" altLang="en-US" dirty="0"/>
                  <a:t>태양 고도 각도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 내에 있어야 함</a:t>
                </a:r>
                <a:endParaRPr lang="en-US" altLang="ko-KR" dirty="0"/>
              </a:p>
              <a:p>
                <a:pPr lvl="1"/>
                <a:r>
                  <a:rPr lang="en-US" altLang="ko-KR" dirty="0"/>
                  <a:t>Payload type constraints :</a:t>
                </a:r>
                <a:r>
                  <a:rPr lang="ko-KR" altLang="en-US" dirty="0"/>
                  <a:t> 대상을 필요한 유형의 탑재체로 관측해야 함</a:t>
                </a:r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ko-KR" altLang="en-US" dirty="0"/>
                  <a:t>임무의 최적화 목표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관측의 우선순위를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= </a:t>
                </a:r>
                <a:r>
                  <a:rPr lang="ko-KR" altLang="en-US" dirty="0"/>
                  <a:t>목표물 수를 최대화</a:t>
                </a:r>
                <a:endParaRPr lang="en-US" altLang="ko-KR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= α *</a:t>
                </a:r>
                <a:r>
                  <a:rPr lang="en-US" altLang="ko-KR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+ β *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(α =0.6, β =0.4)</a:t>
                </a:r>
                <a:br>
                  <a:rPr lang="ko-KR" altLang="en-US" dirty="0"/>
                </a:br>
                <a:endParaRPr lang="ko-KR" altLang="en-US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제한조건 및 최적화 목표</a:t>
            </a:r>
          </a:p>
        </p:txBody>
      </p:sp>
    </p:spTree>
    <p:extLst>
      <p:ext uri="{BB962C8B-B14F-4D97-AF65-F5344CB8AC3E}">
        <p14:creationId xmlns:p14="http://schemas.microsoft.com/office/powerpoint/2010/main" val="1732159515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Algorithm</a:t>
            </a:r>
          </a:p>
          <a:p>
            <a:pPr lvl="1"/>
            <a:r>
              <a:rPr lang="en-US" altLang="ko-KR" dirty="0"/>
              <a:t>Genetic Algorithm Design Concept(GA)</a:t>
            </a:r>
          </a:p>
          <a:p>
            <a:pPr lvl="2"/>
            <a:r>
              <a:rPr lang="en-US" altLang="ko-KR" dirty="0"/>
              <a:t>Chromosome coding design</a:t>
            </a:r>
          </a:p>
          <a:p>
            <a:pPr lvl="2"/>
            <a:r>
              <a:rPr lang="en-US" altLang="ko-KR" dirty="0"/>
              <a:t>Genetic algorithm procedure</a:t>
            </a:r>
          </a:p>
          <a:p>
            <a:pPr lvl="1"/>
            <a:r>
              <a:rPr lang="en-US" altLang="ko-KR" dirty="0"/>
              <a:t>Tabu Search Algorithm Design Concept(TS)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r>
              <a:rPr lang="en-US" altLang="ko-KR" dirty="0"/>
              <a:t>Hybrid Algorithm Design Concept(GA + TS)</a:t>
            </a:r>
          </a:p>
          <a:p>
            <a:pPr lvl="2"/>
            <a:r>
              <a:rPr lang="en-US" altLang="ko-KR" dirty="0"/>
              <a:t>(1) </a:t>
            </a:r>
            <a:r>
              <a:rPr lang="ko-KR" altLang="en-US" dirty="0"/>
              <a:t>유전 알고리즘으로 모집단 전체를 검색하여 여러 세대 진화 후 수렴하는 해를 찾음</a:t>
            </a:r>
            <a:endParaRPr lang="en-US" altLang="ko-KR" dirty="0"/>
          </a:p>
          <a:p>
            <a:pPr lvl="2"/>
            <a:r>
              <a:rPr lang="en-US" altLang="ko-KR" dirty="0"/>
              <a:t>(2) </a:t>
            </a:r>
            <a:r>
              <a:rPr lang="ko-KR" altLang="en-US" dirty="0" err="1"/>
              <a:t>타부</a:t>
            </a:r>
            <a:r>
              <a:rPr lang="ko-KR" altLang="en-US" dirty="0"/>
              <a:t> 알고리즘으로 부족한 부분을 개선하여 최적 해를 찾음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Algorithm</a:t>
            </a:r>
            <a:r>
              <a:rPr lang="ko-KR" altLang="en-US" dirty="0"/>
              <a:t>의 종류 및 장단점 비교</a:t>
            </a:r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DF5686F-7670-D346-B3C8-9D0A746D3EFC}"/>
              </a:ext>
            </a:extLst>
          </p:cNvPr>
          <p:cNvGraphicFramePr>
            <a:graphicFrameLocks noGrp="1"/>
          </p:cNvGraphicFramePr>
          <p:nvPr/>
        </p:nvGraphicFramePr>
        <p:xfrm>
          <a:off x="504755" y="2753159"/>
          <a:ext cx="7891579" cy="204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3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37631">
                  <a:extLst>
                    <a:ext uri="{9D8B030D-6E8A-4147-A177-3AD203B41FA5}">
                      <a16:colId xmlns:a16="http://schemas.microsoft.com/office/drawing/2014/main" val="3978487964"/>
                    </a:ext>
                  </a:extLst>
                </a:gridCol>
              </a:tblGrid>
              <a:tr h="21821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Algorithm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Genetic Algorithm(GA)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Tabu Search Algorithm(TS)</a:t>
                      </a:r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생물의 진화 원리를 모방하여 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최적화 문제를 해결하는데 사용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최적해를 찾은 뒤</a:t>
                      </a:r>
                      <a:r>
                        <a:rPr kumimoji="0" lang="en-US" altLang="ko-K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,</a:t>
                      </a: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 탐색이 불가능한 지역 탐색법의 단점을 보완하기 위해 개발된 알고리즘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303738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대규모 문제 해결에 유용함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초기 조건의 종류에 상관없이 작동 가능</a:t>
                      </a:r>
                      <a:endParaRPr lang="en-US" altLang="ko-KR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병렬 처리로 여러 개의 해를 찾는 것도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지역 최적점을 벗어나기에 효율적임</a:t>
                      </a:r>
                      <a:endParaRPr kumimoji="0" lang="en-US" altLang="ko-K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times" panose="02020603050405020304" pitchFamily="18" charset="0"/>
                        <a:ea typeface="맑은 고딕" panose="020B0503020000020004" pitchFamily="50" charset="-127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이미 찾은 국지점이 있더라도 그 값을 저장하고 주변의 탐색을 다시 허용하여 전역 최적해를 찾을 수 있음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639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국지적 최적해에 빠지기 쉬움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" panose="02020603050405020304" pitchFamily="18" charset="0"/>
                          <a:ea typeface="맑은 고딕" panose="020B0503020000020004" pitchFamily="50" charset="-127"/>
                          <a:cs typeface="times" panose="02020603050405020304" pitchFamily="18" charset="0"/>
                        </a:rPr>
                        <a:t>초기 해에 크게 의존하여 초기 해가 부정확하면 수렴 속도가 느려짐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5895164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설정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설정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4ECE0C0-E171-6115-36F8-4137C4D1A0AB}"/>
              </a:ext>
            </a:extLst>
          </p:cNvPr>
          <p:cNvGraphicFramePr>
            <a:graphicFrameLocks noGrp="1"/>
          </p:cNvGraphicFramePr>
          <p:nvPr/>
        </p:nvGraphicFramePr>
        <p:xfrm>
          <a:off x="363693" y="1527900"/>
          <a:ext cx="4476866" cy="39465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8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8117">
                  <a:extLst>
                    <a:ext uri="{9D8B030D-6E8A-4147-A177-3AD203B41FA5}">
                      <a16:colId xmlns:a16="http://schemas.microsoft.com/office/drawing/2014/main" val="3687457586"/>
                    </a:ext>
                  </a:extLst>
                </a:gridCol>
                <a:gridCol w="1883918">
                  <a:extLst>
                    <a:ext uri="{9D8B030D-6E8A-4147-A177-3AD203B41FA5}">
                      <a16:colId xmlns:a16="http://schemas.microsoft.com/office/drawing/2014/main" val="400930265"/>
                    </a:ext>
                  </a:extLst>
                </a:gridCol>
              </a:tblGrid>
              <a:tr h="258067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시뮬레이션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Sun-synchronous orbit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고도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600km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 시간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시작시각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2020.06.08 16:00:00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종료시각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2020.06.09 16:00:00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7627154"/>
                  </a:ext>
                </a:extLst>
              </a:tr>
              <a:tr h="38710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수치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시뮬레이션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위성군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설계 및 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궤도전파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STK Software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322474"/>
                  </a:ext>
                </a:extLst>
              </a:tr>
              <a:tr h="23226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데이터 분석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MATLAB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465013"/>
                  </a:ext>
                </a:extLst>
              </a:tr>
              <a:tr h="309681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CCD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Sensor Type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원뿔형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84221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FOV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532838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Lighting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sunAng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&gt;15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462390"/>
                  </a:ext>
                </a:extLst>
              </a:tr>
              <a:tr h="309681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SAR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</a:rPr>
                        <a:t>Min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15.2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23055"/>
                  </a:ext>
                </a:extLst>
              </a:tr>
              <a:tr h="309681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latin typeface="times" panose="02020603050405020304" pitchFamily="18" charset="0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</a:rPr>
                        <a:t>Max Elevation Angle</a:t>
                      </a:r>
                      <a:endParaRPr lang="ko-KR" altLang="en-US" sz="1200" b="1" dirty="0"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51.9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˚</a:t>
                      </a:r>
                      <a:endParaRPr lang="en-US" altLang="ko-KR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5351987"/>
                  </a:ext>
                </a:extLst>
              </a:tr>
            </a:tbl>
          </a:graphicData>
        </a:graphic>
      </p:graphicFrame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57E867A7-6114-363F-BDF6-06F0EA66C819}"/>
              </a:ext>
            </a:extLst>
          </p:cNvPr>
          <p:cNvGraphicFramePr>
            <a:graphicFrameLocks noGrp="1"/>
          </p:cNvGraphicFramePr>
          <p:nvPr/>
        </p:nvGraphicFramePr>
        <p:xfrm>
          <a:off x="5270212" y="1527900"/>
          <a:ext cx="2712932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01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702632630"/>
                    </a:ext>
                  </a:extLst>
                </a:gridCol>
                <a:gridCol w="731372">
                  <a:extLst>
                    <a:ext uri="{9D8B030D-6E8A-4147-A177-3AD203B41FA5}">
                      <a16:colId xmlns:a16="http://schemas.microsoft.com/office/drawing/2014/main" val="1874337334"/>
                    </a:ext>
                  </a:extLst>
                </a:gridCol>
              </a:tblGrid>
              <a:tr h="13716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 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시나리오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위성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times" panose="02020603050405020304" pitchFamily="18" charset="0"/>
                          <a:ea typeface="+mn-ea"/>
                          <a:cs typeface="times" panose="02020603050405020304" pitchFamily="18" charset="0"/>
                        </a:rPr>
                        <a:t>타겟 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8570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No.1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4213701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79162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No.3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0643435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No.4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200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319303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No.5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16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300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1350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시행 횟수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각 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10</a:t>
                      </a: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회씩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315648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Crossover(%)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0.8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144220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Mutation(%)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0.2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9895796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Global maximum iteration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150</a:t>
                      </a: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2735602"/>
                  </a:ext>
                </a:extLst>
              </a:tr>
              <a:tr h="23226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무작위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err="1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탑재체</a:t>
                      </a: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 유형</a:t>
                      </a:r>
                      <a:r>
                        <a:rPr lang="en-US" altLang="ko-KR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>
                          <a:latin typeface="+mn-lt"/>
                          <a:ea typeface="+mn-ea"/>
                          <a:cs typeface="times" panose="02020603050405020304" pitchFamily="18" charset="0"/>
                        </a:rPr>
                        <a:t>타겟의 위치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b="1" dirty="0">
                        <a:latin typeface="+mn-lt"/>
                        <a:ea typeface="+mn-ea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555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374123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오른쪽 그림과 같이 전세계적으로 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 err="1"/>
              <a:t>랜덤한</a:t>
            </a:r>
            <a:r>
              <a:rPr lang="ko-KR" altLang="en-US" dirty="0"/>
              <a:t> 균일 분포에 </a:t>
            </a:r>
            <a:r>
              <a:rPr lang="en-US" altLang="ko-KR" dirty="0"/>
              <a:t>target </a:t>
            </a:r>
            <a:r>
              <a:rPr lang="ko-KR" altLang="en-US" dirty="0"/>
              <a:t>생성</a:t>
            </a:r>
            <a:endParaRPr lang="en-US" altLang="ko-KR" dirty="0"/>
          </a:p>
          <a:p>
            <a:pPr lvl="1"/>
            <a:r>
              <a:rPr lang="ko-KR" altLang="en-US" dirty="0"/>
              <a:t>궤도 수와 궤도면의 위성 수를 조정</a:t>
            </a:r>
            <a:endParaRPr lang="en-US" altLang="ko-KR" dirty="0"/>
          </a:p>
          <a:p>
            <a:pPr marL="216000" lvl="1" indent="0">
              <a:buNone/>
            </a:pPr>
            <a:r>
              <a:rPr lang="en-US" altLang="ko-KR" dirty="0"/>
              <a:t>      </a:t>
            </a:r>
            <a:r>
              <a:rPr lang="ko-KR" altLang="en-US" dirty="0"/>
              <a:t>하여</a:t>
            </a:r>
            <a:r>
              <a:rPr lang="en-US" altLang="ko-KR" dirty="0"/>
              <a:t> </a:t>
            </a:r>
            <a:r>
              <a:rPr lang="ko-KR" altLang="en-US" dirty="0"/>
              <a:t>시나리오의 규모 수정 가능</a:t>
            </a:r>
            <a:endParaRPr lang="en-US" altLang="ko-KR" dirty="0"/>
          </a:p>
          <a:p>
            <a:pPr lvl="1"/>
            <a:r>
              <a:rPr lang="ko-KR" altLang="en-US" dirty="0" err="1"/>
              <a:t>탑재체</a:t>
            </a:r>
            <a:r>
              <a:rPr lang="ko-KR" altLang="en-US" dirty="0"/>
              <a:t> 유형도 무작위로 생성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1"/>
            <a:r>
              <a:rPr lang="ko-KR" altLang="en-US" dirty="0"/>
              <a:t>변수가 무작위로 적용되었기 때문에 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서로 다른 시나리오 간의 해의 성능은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비교하기 어려움</a:t>
            </a:r>
            <a:endParaRPr lang="en-US" altLang="ko-KR" dirty="0"/>
          </a:p>
          <a:p>
            <a:pPr lvl="1"/>
            <a:r>
              <a:rPr lang="ko-KR" altLang="en-US" dirty="0"/>
              <a:t>따라서 작업 완료율로 해의 전체 성능</a:t>
            </a:r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     을 판단해야 함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결과</a:t>
            </a:r>
            <a:r>
              <a:rPr lang="en-US" altLang="ko-KR" dirty="0"/>
              <a:t>(table)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B971BB3-6C8D-8B5D-2866-33D06A7D88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0498" y="1322186"/>
            <a:ext cx="4401075" cy="186354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2386C35-70BB-C0BD-BE8B-D8EBA5AC98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855" y="3682329"/>
            <a:ext cx="4401074" cy="243234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939569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ko-KR" altLang="en-US" dirty="0"/>
              <a:t>시나리오의 규모가 확장되면 충돌 제거 과정이 복잡해짐 </a:t>
            </a:r>
            <a:endParaRPr lang="en-US" altLang="ko-KR" dirty="0"/>
          </a:p>
          <a:p>
            <a:pPr lvl="2"/>
            <a:r>
              <a:rPr lang="ko-KR" altLang="en-US" dirty="0"/>
              <a:t>단일 </a:t>
            </a:r>
            <a:r>
              <a:rPr lang="en-US" altLang="ko-KR" dirty="0"/>
              <a:t>GA, TS</a:t>
            </a:r>
            <a:r>
              <a:rPr lang="ko-KR" altLang="en-US" dirty="0"/>
              <a:t>의 평균 실행 시간은 빠르게 증가</a:t>
            </a:r>
            <a:r>
              <a:rPr lang="en-US" altLang="ko-KR" dirty="0"/>
              <a:t>(</a:t>
            </a:r>
            <a:r>
              <a:rPr lang="ko-KR" altLang="en-US" dirty="0"/>
              <a:t>곡선 그래프</a:t>
            </a:r>
            <a:r>
              <a:rPr lang="en-US" altLang="ko-KR" dirty="0"/>
              <a:t>) </a:t>
            </a:r>
          </a:p>
          <a:p>
            <a:pPr lvl="2"/>
            <a:r>
              <a:rPr lang="ko-KR" altLang="en-US" dirty="0"/>
              <a:t>이에 따라 수렴생성계수는 증가하다가 감소</a:t>
            </a:r>
            <a:r>
              <a:rPr lang="en-US" altLang="ko-KR" dirty="0"/>
              <a:t>(</a:t>
            </a:r>
            <a:r>
              <a:rPr lang="ko-KR" altLang="en-US" dirty="0"/>
              <a:t>막대 그래프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작은 규모일수록 빠르게 수렴되어 좋은 해를 얻음</a:t>
            </a:r>
          </a:p>
          <a:p>
            <a:pPr lvl="1"/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결과</a:t>
            </a:r>
            <a:r>
              <a:rPr lang="en-US" altLang="ko-KR" dirty="0"/>
              <a:t>(Plot)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FBDEC07-E393-1C8A-C5E8-09A4043E2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127" y="2980139"/>
            <a:ext cx="7557799" cy="265982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F19E353-5043-D0E5-73E6-1869AD071F68}"/>
              </a:ext>
            </a:extLst>
          </p:cNvPr>
          <p:cNvSpPr/>
          <p:nvPr/>
        </p:nvSpPr>
        <p:spPr bwMode="auto">
          <a:xfrm>
            <a:off x="1063789" y="3125429"/>
            <a:ext cx="369333" cy="2277627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E5C5F0-6448-242C-5C86-96E26DA1A7B4}"/>
              </a:ext>
            </a:extLst>
          </p:cNvPr>
          <p:cNvSpPr txBox="1"/>
          <p:nvPr/>
        </p:nvSpPr>
        <p:spPr>
          <a:xfrm rot="10800000">
            <a:off x="964223" y="2995379"/>
            <a:ext cx="369332" cy="25224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1200" b="1" dirty="0">
                <a:solidFill>
                  <a:srgbClr val="33CCCC"/>
                </a:solidFill>
              </a:rPr>
              <a:t>Convergence Generation(average)</a:t>
            </a:r>
            <a:endParaRPr lang="ko-KR" altLang="en-US" sz="1200" b="1" dirty="0">
              <a:solidFill>
                <a:srgbClr val="33CCCC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B88BA8-5C8D-47C7-5D8F-3CBB47F6348B}"/>
              </a:ext>
            </a:extLst>
          </p:cNvPr>
          <p:cNvSpPr txBox="1"/>
          <p:nvPr/>
        </p:nvSpPr>
        <p:spPr>
          <a:xfrm>
            <a:off x="1172739" y="3131281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100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8EF19-0CC5-AB4A-EE35-4E08508C461A}"/>
              </a:ext>
            </a:extLst>
          </p:cNvPr>
          <p:cNvSpPr txBox="1"/>
          <p:nvPr/>
        </p:nvSpPr>
        <p:spPr>
          <a:xfrm>
            <a:off x="1220364" y="3337188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90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DB2813-028F-A161-B970-4F78477935FD}"/>
              </a:ext>
            </a:extLst>
          </p:cNvPr>
          <p:cNvSpPr txBox="1"/>
          <p:nvPr/>
        </p:nvSpPr>
        <p:spPr>
          <a:xfrm>
            <a:off x="1216435" y="3551529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80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0D6186A-C2A4-3697-3661-0F6F0D2E5C3A}"/>
              </a:ext>
            </a:extLst>
          </p:cNvPr>
          <p:cNvSpPr txBox="1"/>
          <p:nvPr/>
        </p:nvSpPr>
        <p:spPr>
          <a:xfrm>
            <a:off x="1216434" y="3765870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70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66D9B56-BF5A-8503-E6AA-29751EE8891F}"/>
              </a:ext>
            </a:extLst>
          </p:cNvPr>
          <p:cNvSpPr txBox="1"/>
          <p:nvPr/>
        </p:nvSpPr>
        <p:spPr>
          <a:xfrm>
            <a:off x="1219643" y="3975444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60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33E67D1-815B-A276-9E3B-4179D62C65A0}"/>
              </a:ext>
            </a:extLst>
          </p:cNvPr>
          <p:cNvSpPr txBox="1"/>
          <p:nvPr/>
        </p:nvSpPr>
        <p:spPr>
          <a:xfrm>
            <a:off x="1216434" y="4189769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50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6FDB98A-C225-E8C5-8D70-E8715901971C}"/>
              </a:ext>
            </a:extLst>
          </p:cNvPr>
          <p:cNvSpPr txBox="1"/>
          <p:nvPr/>
        </p:nvSpPr>
        <p:spPr>
          <a:xfrm>
            <a:off x="1216911" y="4405935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40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30CA670-87BE-6F95-C654-A895C196F14A}"/>
              </a:ext>
            </a:extLst>
          </p:cNvPr>
          <p:cNvSpPr txBox="1"/>
          <p:nvPr/>
        </p:nvSpPr>
        <p:spPr>
          <a:xfrm>
            <a:off x="1216434" y="4615849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30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EE1F99B-5BCF-BAD0-33C8-94840F3D9FA3}"/>
              </a:ext>
            </a:extLst>
          </p:cNvPr>
          <p:cNvSpPr txBox="1"/>
          <p:nvPr/>
        </p:nvSpPr>
        <p:spPr>
          <a:xfrm>
            <a:off x="1216434" y="4829283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20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9053C4B-4BDC-920B-750F-338BEBE0A647}"/>
              </a:ext>
            </a:extLst>
          </p:cNvPr>
          <p:cNvSpPr txBox="1"/>
          <p:nvPr/>
        </p:nvSpPr>
        <p:spPr>
          <a:xfrm>
            <a:off x="1216434" y="5047545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10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ABF25AE-E577-3184-5831-9324393E15FF}"/>
              </a:ext>
            </a:extLst>
          </p:cNvPr>
          <p:cNvSpPr txBox="1"/>
          <p:nvPr/>
        </p:nvSpPr>
        <p:spPr>
          <a:xfrm>
            <a:off x="1268459" y="5255632"/>
            <a:ext cx="39766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33CCCC"/>
                </a:solidFill>
              </a:rPr>
              <a:t>0</a:t>
            </a:r>
            <a:endParaRPr lang="ko-KR" altLang="en-US" sz="700" dirty="0">
              <a:solidFill>
                <a:srgbClr val="33CCCC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EBDC7417-9DA2-3586-AE61-D8A0C367ED5A}"/>
              </a:ext>
            </a:extLst>
          </p:cNvPr>
          <p:cNvSpPr/>
          <p:nvPr/>
        </p:nvSpPr>
        <p:spPr bwMode="auto">
          <a:xfrm>
            <a:off x="4328160" y="5455687"/>
            <a:ext cx="967740" cy="12215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0A0240-F243-B411-85FE-893B2F554B8C}"/>
              </a:ext>
            </a:extLst>
          </p:cNvPr>
          <p:cNvSpPr txBox="1"/>
          <p:nvPr/>
        </p:nvSpPr>
        <p:spPr>
          <a:xfrm>
            <a:off x="4145280" y="5403056"/>
            <a:ext cx="35966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/>
              <a:t>Scenario Number</a:t>
            </a:r>
            <a:endParaRPr lang="ko-KR" altLang="en-US" sz="105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0E70347-EE3D-1D6D-D0C8-DB121CFBE933}"/>
              </a:ext>
            </a:extLst>
          </p:cNvPr>
          <p:cNvSpPr/>
          <p:nvPr/>
        </p:nvSpPr>
        <p:spPr bwMode="auto">
          <a:xfrm>
            <a:off x="8166063" y="3131281"/>
            <a:ext cx="423863" cy="229383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3A4FDD-DF43-7649-3FC7-F02F2FF8F70C}"/>
              </a:ext>
            </a:extLst>
          </p:cNvPr>
          <p:cNvSpPr txBox="1"/>
          <p:nvPr/>
        </p:nvSpPr>
        <p:spPr>
          <a:xfrm rot="10800000">
            <a:off x="8276254" y="2814247"/>
            <a:ext cx="369332" cy="2522447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ko-KR" sz="1200" b="1" dirty="0">
                <a:solidFill>
                  <a:srgbClr val="EDB021"/>
                </a:solidFill>
              </a:rPr>
              <a:t>Convergence Time(average)</a:t>
            </a:r>
            <a:endParaRPr lang="ko-KR" altLang="en-US" sz="1200" b="1" dirty="0">
              <a:solidFill>
                <a:srgbClr val="EDB02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CD822E-B2B5-D217-9527-04A5A4631D6D}"/>
              </a:ext>
            </a:extLst>
          </p:cNvPr>
          <p:cNvSpPr txBox="1"/>
          <p:nvPr/>
        </p:nvSpPr>
        <p:spPr>
          <a:xfrm>
            <a:off x="8102629" y="3123048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350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153D5B-07F6-08B2-F9A8-102FA98B19D9}"/>
              </a:ext>
            </a:extLst>
          </p:cNvPr>
          <p:cNvSpPr txBox="1"/>
          <p:nvPr/>
        </p:nvSpPr>
        <p:spPr>
          <a:xfrm>
            <a:off x="8105057" y="3426366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300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2CC49E9-7D70-FE56-620D-D9B34934A90D}"/>
              </a:ext>
            </a:extLst>
          </p:cNvPr>
          <p:cNvSpPr txBox="1"/>
          <p:nvPr/>
        </p:nvSpPr>
        <p:spPr>
          <a:xfrm>
            <a:off x="8109492" y="3729684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250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DE92718-2687-EE8C-8C05-E6B8A600FF76}"/>
              </a:ext>
            </a:extLst>
          </p:cNvPr>
          <p:cNvSpPr txBox="1"/>
          <p:nvPr/>
        </p:nvSpPr>
        <p:spPr>
          <a:xfrm>
            <a:off x="8098555" y="4041730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200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EBD6D7A-05AD-8279-8A7C-20BBFBB8F8AB}"/>
              </a:ext>
            </a:extLst>
          </p:cNvPr>
          <p:cNvSpPr txBox="1"/>
          <p:nvPr/>
        </p:nvSpPr>
        <p:spPr>
          <a:xfrm>
            <a:off x="8102629" y="4344252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150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8D11AB-1501-8E37-1BD3-30E8ABDCA0C0}"/>
              </a:ext>
            </a:extLst>
          </p:cNvPr>
          <p:cNvSpPr txBox="1"/>
          <p:nvPr/>
        </p:nvSpPr>
        <p:spPr>
          <a:xfrm>
            <a:off x="8109539" y="4644393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100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1D7229-7A50-1234-41E6-E1F8AD3D4B3B}"/>
              </a:ext>
            </a:extLst>
          </p:cNvPr>
          <p:cNvSpPr txBox="1"/>
          <p:nvPr/>
        </p:nvSpPr>
        <p:spPr>
          <a:xfrm>
            <a:off x="8100799" y="4949296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50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3C8ED94-52DC-38CF-BE7D-6369798D384E}"/>
              </a:ext>
            </a:extLst>
          </p:cNvPr>
          <p:cNvSpPr txBox="1"/>
          <p:nvPr/>
        </p:nvSpPr>
        <p:spPr>
          <a:xfrm>
            <a:off x="8107111" y="5249714"/>
            <a:ext cx="423863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>
                <a:solidFill>
                  <a:srgbClr val="EDB021"/>
                </a:solidFill>
              </a:rPr>
              <a:t>0</a:t>
            </a:r>
            <a:endParaRPr lang="ko-KR" altLang="en-US" sz="700" dirty="0">
              <a:solidFill>
                <a:srgbClr val="EDB02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531974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이종위성군 선행연구자료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 lnSpcReduction="10000"/>
          </a:bodyPr>
          <a:lstStyle/>
          <a:p>
            <a:r>
              <a:rPr lang="ko-KR" altLang="en-US" dirty="0"/>
              <a:t>결론 </a:t>
            </a:r>
            <a:endParaRPr lang="en-US" altLang="ko-KR" dirty="0"/>
          </a:p>
          <a:p>
            <a:pPr lvl="1"/>
            <a:r>
              <a:rPr lang="ko-KR" altLang="en-US" b="1" u="sng" dirty="0"/>
              <a:t>해의 성능과 연산 시간 사이에는 </a:t>
            </a:r>
            <a:r>
              <a:rPr lang="en-US" altLang="ko-KR" b="1" u="sng" dirty="0"/>
              <a:t>Trade-off </a:t>
            </a:r>
            <a:r>
              <a:rPr lang="ko-KR" altLang="en-US" b="1" u="sng" dirty="0"/>
              <a:t>관계</a:t>
            </a:r>
            <a:r>
              <a:rPr lang="ko-KR" altLang="en-US" dirty="0"/>
              <a:t>가 있음</a:t>
            </a:r>
            <a:endParaRPr lang="en-US" altLang="ko-KR" dirty="0"/>
          </a:p>
          <a:p>
            <a:pPr lvl="1"/>
            <a:r>
              <a:rPr lang="ko-KR" altLang="en-US" dirty="0"/>
              <a:t>위성의 운용환경에 따라 둘 중 </a:t>
            </a:r>
            <a:r>
              <a:rPr lang="ko-KR" altLang="en-US" b="1" u="sng" dirty="0"/>
              <a:t>어떤 부분에 중점을 두어야 하는 지</a:t>
            </a:r>
            <a:r>
              <a:rPr lang="ko-KR" altLang="en-US" dirty="0"/>
              <a:t> 결정될 것</a:t>
            </a:r>
            <a:endParaRPr lang="en-US" altLang="ko-KR" sz="1800" dirty="0"/>
          </a:p>
          <a:p>
            <a:pPr lvl="1"/>
            <a:r>
              <a:rPr lang="ko-KR" altLang="en-US" dirty="0"/>
              <a:t>고려해야 할 </a:t>
            </a:r>
            <a:r>
              <a:rPr lang="ko-KR" altLang="en-US" b="1" u="sng" dirty="0"/>
              <a:t>변수 및 제한 조건의 수</a:t>
            </a:r>
            <a:r>
              <a:rPr lang="ko-KR" altLang="en-US" dirty="0"/>
              <a:t>에 따라 두 알고리즘</a:t>
            </a:r>
            <a:r>
              <a:rPr lang="en-US" altLang="ko-KR" dirty="0"/>
              <a:t>(</a:t>
            </a:r>
            <a:r>
              <a:rPr lang="ko-KR" altLang="en-US" dirty="0"/>
              <a:t>또는 혼합</a:t>
            </a:r>
            <a:r>
              <a:rPr lang="en-US" altLang="ko-KR" dirty="0"/>
              <a:t>) </a:t>
            </a:r>
            <a:r>
              <a:rPr lang="ko-KR" altLang="en-US" dirty="0"/>
              <a:t>중 어떤 것을 사용할지 판단해야 함 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논문 내용 중 보완이 필요한 부분</a:t>
            </a:r>
            <a:endParaRPr lang="en-US" altLang="ko-KR" dirty="0"/>
          </a:p>
          <a:p>
            <a:pPr lvl="1"/>
            <a:r>
              <a:rPr lang="ko-KR" altLang="en-US" dirty="0"/>
              <a:t>다른 논문에 비해 이종위성군의 특징이 상대적으로 약함</a:t>
            </a:r>
            <a:endParaRPr lang="en-US" altLang="ko-KR" dirty="0"/>
          </a:p>
          <a:p>
            <a:pPr lvl="2"/>
            <a:r>
              <a:rPr lang="ko-KR" altLang="en-US" dirty="0"/>
              <a:t>이종 위성군의 설계에 대한 내용이 아닌 </a:t>
            </a:r>
            <a:r>
              <a:rPr lang="en-US" altLang="ko-KR" dirty="0"/>
              <a:t>scheduling</a:t>
            </a:r>
            <a:r>
              <a:rPr lang="ko-KR" altLang="en-US" dirty="0"/>
              <a:t>을 위한 알고리즘을 중점적으로 다룸</a:t>
            </a:r>
            <a:endParaRPr lang="en-US" altLang="ko-KR" dirty="0"/>
          </a:p>
          <a:p>
            <a:pPr lvl="2"/>
            <a:r>
              <a:rPr lang="ko-KR" altLang="en-US" dirty="0"/>
              <a:t>이종위성군의 특징에 대해 구체화 필요</a:t>
            </a:r>
            <a:endParaRPr lang="en-US" altLang="ko-KR" dirty="0"/>
          </a:p>
          <a:p>
            <a:pPr lvl="1"/>
            <a:r>
              <a:rPr lang="ko-KR" altLang="en-US" dirty="0"/>
              <a:t>시뮬레이션 결과에 대한 구체적인 설명</a:t>
            </a:r>
            <a:endParaRPr lang="en-US" altLang="ko-KR" dirty="0"/>
          </a:p>
          <a:p>
            <a:pPr lvl="2"/>
            <a:r>
              <a:rPr lang="ko-KR" altLang="en-US" dirty="0"/>
              <a:t>특정 값이 아닌 무작위 값에 의존한 변수가 많음</a:t>
            </a:r>
            <a:endParaRPr lang="en-US" altLang="ko-KR" dirty="0"/>
          </a:p>
          <a:p>
            <a:pPr lvl="1"/>
            <a:r>
              <a:rPr lang="ko-KR" altLang="en-US" dirty="0"/>
              <a:t>그래프</a:t>
            </a:r>
            <a:r>
              <a:rPr lang="en-US" altLang="ko-KR" dirty="0"/>
              <a:t>, </a:t>
            </a:r>
            <a:r>
              <a:rPr lang="ko-KR" altLang="en-US" dirty="0"/>
              <a:t>그림 등 시각자료의 해상도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본 논문 중 연구에 적용하면 좋을 내용</a:t>
            </a:r>
            <a:endParaRPr lang="en-US" altLang="ko-KR" dirty="0"/>
          </a:p>
          <a:p>
            <a:pPr lvl="1"/>
            <a:r>
              <a:rPr lang="en-US" altLang="ko-KR" dirty="0"/>
              <a:t>GA</a:t>
            </a:r>
            <a:r>
              <a:rPr lang="ko-KR" altLang="en-US" dirty="0"/>
              <a:t>와 </a:t>
            </a:r>
            <a:r>
              <a:rPr lang="en-US" altLang="ko-KR" dirty="0"/>
              <a:t>TS</a:t>
            </a:r>
            <a:r>
              <a:rPr lang="ko-KR" altLang="en-US" dirty="0"/>
              <a:t> 두 알고리즘 각각의 장점만을 혼합하여 최적의 경로 구하는 방법 연구</a:t>
            </a: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80952094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 </a:t>
            </a:r>
            <a:r>
              <a:rPr lang="ko-KR" altLang="en-US" dirty="0"/>
              <a:t>시뮬레이션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1006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New Method: Binary Integer Linear Programming (BILP)</a:t>
            </a:r>
          </a:p>
          <a:p>
            <a:pPr lvl="1"/>
            <a:r>
              <a:rPr lang="en-US" altLang="ko-KR" dirty="0"/>
              <a:t>f</a:t>
            </a:r>
            <a:r>
              <a:rPr lang="ko-KR" altLang="en-US" dirty="0"/>
              <a:t>를 만족시키는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를 찾을 수 있음 </a:t>
            </a:r>
            <a:endParaRPr lang="en-US" altLang="ko-KR" dirty="0"/>
          </a:p>
          <a:p>
            <a:pPr lvl="1"/>
            <a:r>
              <a:rPr lang="ko-KR" altLang="en-US" dirty="0"/>
              <a:t>하지만 이 과정에서 얻은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  <a:r>
              <a:rPr lang="ko-KR" altLang="en-US" dirty="0"/>
              <a:t>는 반드시 </a:t>
            </a:r>
            <a:r>
              <a:rPr lang="en-US" altLang="ko-KR" dirty="0"/>
              <a:t>binary vector</a:t>
            </a:r>
            <a:r>
              <a:rPr lang="ko-KR" altLang="en-US" dirty="0"/>
              <a:t>는 아님</a:t>
            </a:r>
            <a:endParaRPr lang="en-US" altLang="ko-KR" dirty="0"/>
          </a:p>
          <a:p>
            <a:pPr lvl="2"/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pattern</a:t>
            </a:r>
            <a:r>
              <a:rPr lang="ko-KR" altLang="en-US" dirty="0"/>
              <a:t> </a:t>
            </a:r>
            <a:r>
              <a:rPr lang="en-US" altLang="ko-KR" dirty="0"/>
              <a:t>vector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특성을 위반</a:t>
            </a:r>
            <a:endParaRPr lang="en-US" altLang="ko-KR" dirty="0"/>
          </a:p>
          <a:p>
            <a:pPr lvl="1"/>
            <a:r>
              <a:rPr lang="ko-KR" altLang="en-US" dirty="0"/>
              <a:t>따라서 네 단계를 통해 이진 정수 선형 프로그래밍</a:t>
            </a:r>
            <a:r>
              <a:rPr lang="en-US" altLang="ko-KR" dirty="0"/>
              <a:t>(BILP)</a:t>
            </a:r>
            <a:r>
              <a:rPr lang="ko-KR" altLang="en-US" dirty="0"/>
              <a:t>을 해야 함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2BF3FF73-57B8-8906-0E6D-BABD599D8C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726" y="2967039"/>
            <a:ext cx="48101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5051267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New Method: Binary Integer Linear Programming (BILP)</a:t>
            </a:r>
          </a:p>
          <a:p>
            <a:pPr lvl="1"/>
            <a:r>
              <a:rPr lang="ko-KR" altLang="en-US" dirty="0"/>
              <a:t>이진 정수 선형 프로그래밍</a:t>
            </a:r>
            <a:r>
              <a:rPr lang="en-US" altLang="ko-KR" dirty="0"/>
              <a:t>(BILP) </a:t>
            </a:r>
            <a:r>
              <a:rPr lang="ko-KR" altLang="en-US" dirty="0"/>
              <a:t>과정</a:t>
            </a:r>
            <a:endParaRPr lang="en-US" altLang="ko-KR" dirty="0"/>
          </a:p>
          <a:p>
            <a:pPr lvl="2"/>
            <a:r>
              <a:rPr lang="en-US" altLang="ko-KR" dirty="0"/>
              <a:t>1. Multiple Target Points : target point</a:t>
            </a:r>
            <a:r>
              <a:rPr lang="ko-KR" altLang="en-US" dirty="0"/>
              <a:t>를 </a:t>
            </a:r>
            <a:r>
              <a:rPr lang="en-US" altLang="ko-KR" dirty="0"/>
              <a:t>0~J</a:t>
            </a:r>
            <a:r>
              <a:rPr lang="ko-KR" altLang="en-US" dirty="0"/>
              <a:t>번째 까지 고려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2.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: </a:t>
            </a:r>
            <a:r>
              <a:rPr lang="ko-KR" altLang="en-US" dirty="0"/>
              <a:t>서로 다른 </a:t>
            </a:r>
            <a:r>
              <a:rPr lang="ko-KR" altLang="en-US" dirty="0" err="1"/>
              <a:t>시드</a:t>
            </a:r>
            <a:r>
              <a:rPr lang="ko-KR" altLang="en-US" dirty="0"/>
              <a:t> 위성의</a:t>
            </a:r>
            <a:r>
              <a:rPr lang="en-US" altLang="ko-KR" dirty="0"/>
              <a:t> access profile</a:t>
            </a:r>
            <a:r>
              <a:rPr lang="ko-KR" altLang="en-US" dirty="0"/>
              <a:t>로 하위 위성군을 구성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A926313-ABC0-A8F6-D439-BBB835BE15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101" y="2082783"/>
            <a:ext cx="1840190" cy="121652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F3C0A4B-02C1-FE69-B582-BAD35DC30A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3101" y="3858641"/>
            <a:ext cx="3021361" cy="1380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4176921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지역 커버리지 </a:t>
            </a:r>
            <a:r>
              <a:rPr lang="ko-KR" altLang="en-US" dirty="0" err="1"/>
              <a:t>위성군</a:t>
            </a:r>
            <a:r>
              <a:rPr lang="ko-KR" altLang="en-US" dirty="0"/>
              <a:t> 패턴 설계 방법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93133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New Method: Binary Integer Linear Programming (BILP)</a:t>
            </a:r>
          </a:p>
          <a:p>
            <a:pPr lvl="2"/>
            <a:r>
              <a:rPr lang="en-US" altLang="ko-KR" dirty="0"/>
              <a:t>3. System of Multiple </a:t>
            </a:r>
            <a:r>
              <a:rPr lang="en-US" altLang="ko-KR" dirty="0" err="1"/>
              <a:t>Subconstellations</a:t>
            </a:r>
            <a:r>
              <a:rPr lang="en-US" altLang="ko-KR" dirty="0"/>
              <a:t> for Multiple Target Points : 1</a:t>
            </a:r>
            <a:r>
              <a:rPr lang="ko-KR" altLang="en-US" dirty="0"/>
              <a:t>과 </a:t>
            </a:r>
            <a:r>
              <a:rPr lang="en-US" altLang="ko-KR" dirty="0"/>
              <a:t>2</a:t>
            </a:r>
            <a:r>
              <a:rPr lang="ko-KR" altLang="en-US" dirty="0"/>
              <a:t>를 혼합하여 일반화</a:t>
            </a: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marL="432000" lvl="2" indent="0">
              <a:buNone/>
            </a:pPr>
            <a:endParaRPr lang="en-US" altLang="ko-KR" dirty="0"/>
          </a:p>
          <a:p>
            <a:pPr lvl="2"/>
            <a:r>
              <a:rPr lang="en-US" altLang="ko-KR" dirty="0"/>
              <a:t>4. BILP Problem Formulation : </a:t>
            </a:r>
            <a:r>
              <a:rPr lang="ko-KR" altLang="en-US" dirty="0"/>
              <a:t>원하는 횟수 이상으로 커버하는 최소 위성 수 도출 </a:t>
            </a:r>
            <a:r>
              <a:rPr lang="en-US" altLang="ko-KR" dirty="0"/>
              <a:t> </a:t>
            </a:r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pPr marL="216000" lvl="1" indent="0">
              <a:buNone/>
            </a:pPr>
            <a:endParaRPr lang="en-US" altLang="ko-KR" dirty="0"/>
          </a:p>
          <a:p>
            <a:pPr lvl="2"/>
            <a:endParaRPr lang="en-US" altLang="ko-KR" dirty="0"/>
          </a:p>
          <a:p>
            <a:pPr lvl="2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45FEDBCD-4B98-5F21-05B7-86B828CA0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98" y="1774305"/>
            <a:ext cx="3838095" cy="145714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296013B-4829-3EF4-D9BB-59E0F5728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6859" y="2131447"/>
            <a:ext cx="2457143" cy="742857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DBCBC86-B6FE-8467-2825-BEE458E5D0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9998" y="4417403"/>
            <a:ext cx="3323809" cy="1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46717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별 시뮬레이션 분석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8478A08-5053-D739-462D-EE53EB1798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12717"/>
            <a:ext cx="9144000" cy="3290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953181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시뮬레이션 환경 및 가정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환경</a:t>
            </a:r>
            <a:endParaRPr lang="en-US" altLang="ko-KR" dirty="0"/>
          </a:p>
          <a:p>
            <a:pPr lvl="1"/>
            <a:r>
              <a:rPr lang="en-US" altLang="ko-KR" dirty="0"/>
              <a:t>Processor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/>
              <a:t> </a:t>
            </a:r>
            <a:r>
              <a:rPr lang="en-US" altLang="ko-KR" dirty="0"/>
              <a:t>Intel Core i0-0040X Processor @3.30 GHz platform</a:t>
            </a:r>
          </a:p>
          <a:p>
            <a:pPr lvl="1"/>
            <a:r>
              <a:rPr lang="en-US" altLang="ko-KR" dirty="0"/>
              <a:t>BILP software :  </a:t>
            </a:r>
            <a:r>
              <a:rPr lang="en-US" altLang="ko-KR" dirty="0" err="1"/>
              <a:t>Gurobi</a:t>
            </a:r>
            <a:r>
              <a:rPr lang="en-US" altLang="ko-KR" dirty="0"/>
              <a:t> 9.0.0</a:t>
            </a:r>
          </a:p>
          <a:p>
            <a:pPr lvl="1"/>
            <a:r>
              <a:rPr lang="en-US" altLang="ko-KR" dirty="0"/>
              <a:t>Referenced ellipsoid model : WGS84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가정</a:t>
            </a:r>
            <a:endParaRPr lang="en-US" altLang="ko-KR" dirty="0"/>
          </a:p>
          <a:p>
            <a:pPr lvl="1"/>
            <a:r>
              <a:rPr lang="ko-KR" altLang="en-US" dirty="0"/>
              <a:t>모든 위성의 방향은 지구지향</a:t>
            </a:r>
            <a:endParaRPr lang="en-US" altLang="ko-KR" dirty="0"/>
          </a:p>
          <a:p>
            <a:pPr lvl="1"/>
            <a:r>
              <a:rPr lang="en-US" altLang="ko-KR" dirty="0"/>
              <a:t>J2 </a:t>
            </a:r>
            <a:r>
              <a:rPr lang="ko-KR" altLang="en-US" dirty="0"/>
              <a:t>이외의 섭동은 무시</a:t>
            </a:r>
            <a:endParaRPr lang="en-US" altLang="ko-KR" dirty="0"/>
          </a:p>
          <a:p>
            <a:pPr lvl="1"/>
            <a:r>
              <a:rPr lang="ko-KR" altLang="en-US" dirty="0"/>
              <a:t>동한 궤도를 유지</a:t>
            </a:r>
            <a:r>
              <a:rPr lang="en-US" altLang="ko-KR" dirty="0"/>
              <a:t>, </a:t>
            </a:r>
            <a:r>
              <a:rPr lang="ko-KR" altLang="en-US" dirty="0"/>
              <a:t>조정하기 위한 위성 기동 활용 가정</a:t>
            </a:r>
            <a:endParaRPr lang="en-US" altLang="ko-KR" dirty="0"/>
          </a:p>
          <a:p>
            <a:pPr lvl="1"/>
            <a:r>
              <a:rPr lang="en-US" altLang="ko-KR" sz="1800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𝜀</a:t>
            </a:r>
            <a:r>
              <a:rPr lang="en-US" altLang="ko-KR" sz="1800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min </a:t>
            </a:r>
            <a:r>
              <a:rPr lang="ko-KR" altLang="en-US" dirty="0"/>
              <a:t>값은 시간에 따라 불변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54587951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내용 개체 틀 9">
            <a:extLst>
              <a:ext uri="{FF2B5EF4-FFF2-40B4-BE49-F238E27FC236}">
                <a16:creationId xmlns:a16="http://schemas.microsoft.com/office/drawing/2014/main" id="{15A33589-74A7-D5B1-2FBB-316A03E096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시뮬레이션 세팅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Example 0</a:t>
            </a:r>
            <a:endParaRPr lang="ko-KR" altLang="en-US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7E396BF-5A48-9E53-81A7-57825F56BB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2257826"/>
              </p:ext>
            </p:extLst>
          </p:nvPr>
        </p:nvGraphicFramePr>
        <p:xfrm>
          <a:off x="656950" y="1464944"/>
          <a:ext cx="750789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[4/1,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170.2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36.7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137.48°E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8" name="그림 17">
            <a:extLst>
              <a:ext uri="{FF2B5EF4-FFF2-40B4-BE49-F238E27FC236}">
                <a16:creationId xmlns:a16="http://schemas.microsoft.com/office/drawing/2014/main" id="{2A751C80-CC45-F279-96A2-8C2F75CDC9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739" y="2518144"/>
            <a:ext cx="4514850" cy="3409950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EAD8941E-D96E-80E2-C3FF-29FD34BEE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121" y="2600336"/>
            <a:ext cx="4129918" cy="3409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306475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Example 0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51EDCC6-0961-EF05-D4B1-EFC0DD44A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65" y="2401856"/>
            <a:ext cx="6891156" cy="3813638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CA76898-46C4-0D5F-E2D6-EFC50B040F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9130443"/>
              </p:ext>
            </p:extLst>
          </p:nvPr>
        </p:nvGraphicFramePr>
        <p:xfrm>
          <a:off x="657269" y="1468774"/>
          <a:ext cx="7625366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[6878km,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170.2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36.7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137.48°E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173228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Example 0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7CA76898-46C4-0D5F-E2D6-EFC50B040FB7}"/>
              </a:ext>
            </a:extLst>
          </p:cNvPr>
          <p:cNvGraphicFramePr>
            <a:graphicFrameLocks noGrp="1"/>
          </p:cNvGraphicFramePr>
          <p:nvPr/>
        </p:nvGraphicFramePr>
        <p:xfrm>
          <a:off x="657269" y="1468774"/>
          <a:ext cx="7625366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1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[6878km, 0, 50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170.2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36.7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137.48°E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" name="그림 4">
            <a:extLst>
              <a:ext uri="{FF2B5EF4-FFF2-40B4-BE49-F238E27FC236}">
                <a16:creationId xmlns:a16="http://schemas.microsoft.com/office/drawing/2014/main" id="{835F75B1-7050-0FEA-C0DD-52D090E9A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89195" y="2305154"/>
            <a:ext cx="8124825" cy="4000500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5F284D17-D82E-45E0-5BB7-D10C63AE2FB2}"/>
              </a:ext>
            </a:extLst>
          </p:cNvPr>
          <p:cNvCxnSpPr/>
          <p:nvPr/>
        </p:nvCxnSpPr>
        <p:spPr>
          <a:xfrm>
            <a:off x="852475" y="5044610"/>
            <a:ext cx="630861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7C22884-7F59-F01C-57C0-4BE92BDA8AB8}"/>
              </a:ext>
            </a:extLst>
          </p:cNvPr>
          <p:cNvSpPr/>
          <p:nvPr/>
        </p:nvSpPr>
        <p:spPr bwMode="auto">
          <a:xfrm>
            <a:off x="3143892" y="2335976"/>
            <a:ext cx="1726059" cy="21201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482ABB-E733-AAA7-F7AE-26070C204283}"/>
              </a:ext>
            </a:extLst>
          </p:cNvPr>
          <p:cNvSpPr txBox="1"/>
          <p:nvPr/>
        </p:nvSpPr>
        <p:spPr>
          <a:xfrm>
            <a:off x="3410878" y="2313843"/>
            <a:ext cx="131509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100" dirty="0"/>
              <a:t>Elevation (GS-SC)</a:t>
            </a:r>
            <a:endParaRPr lang="ko-KR" altLang="en-US" sz="1100" dirty="0"/>
          </a:p>
        </p:txBody>
      </p:sp>
    </p:spTree>
    <p:extLst>
      <p:ext uri="{BB962C8B-B14F-4D97-AF65-F5344CB8AC3E}">
        <p14:creationId xmlns:p14="http://schemas.microsoft.com/office/powerpoint/2010/main" val="4003482158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세팅</a:t>
            </a:r>
            <a:endParaRPr lang="en-US" altLang="ko-KR" dirty="0"/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a </a:t>
            </a:r>
            <a:r>
              <a:rPr lang="en-US" altLang="ko-KR" b="1" u="sng" dirty="0"/>
              <a:t>single target</a:t>
            </a:r>
            <a:r>
              <a:rPr lang="en-US" altLang="ko-KR" b="0" dirty="0"/>
              <a:t> point</a:t>
            </a:r>
          </a:p>
          <a:p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/>
        </p:nvGraphicFramePr>
        <p:xfrm>
          <a:off x="657772" y="1828640"/>
          <a:ext cx="750789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3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[12/1,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7" name="그림 6">
            <a:extLst>
              <a:ext uri="{FF2B5EF4-FFF2-40B4-BE49-F238E27FC236}">
                <a16:creationId xmlns:a16="http://schemas.microsoft.com/office/drawing/2014/main" id="{ED6FB6C5-E897-9DA0-324E-614A13536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383" y="2789361"/>
            <a:ext cx="6700668" cy="3231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9986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세팅</a:t>
            </a:r>
            <a:endParaRPr lang="en-US" altLang="ko-KR" dirty="0"/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a </a:t>
            </a:r>
            <a:r>
              <a:rPr lang="en-US" altLang="ko-KR" b="1" u="sng" dirty="0"/>
              <a:t>single target</a:t>
            </a:r>
            <a:r>
              <a:rPr lang="en-US" altLang="ko-KR" b="0" dirty="0"/>
              <a:t> point</a:t>
            </a:r>
          </a:p>
          <a:p>
            <a:endParaRPr lang="en-US" altLang="ko-KR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2AF9A3E-B92D-365D-D1E1-A0EC7352E3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110" y="1958653"/>
            <a:ext cx="3214615" cy="25557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91A95EE2-3067-E498-31FF-51D337A81A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289" y="4715835"/>
            <a:ext cx="7852111" cy="1343243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B20FFC74-EF9A-CAEF-B0CD-1467CA618A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2243" y="1980787"/>
            <a:ext cx="5579839" cy="242208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98340352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dirty="0"/>
              <a:t>Example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시뮬레이션 결과</a:t>
            </a:r>
            <a:endParaRPr lang="en-US" altLang="ko-KR" dirty="0"/>
          </a:p>
          <a:p>
            <a:pPr lvl="1"/>
            <a:r>
              <a:rPr lang="en-US" altLang="ko-KR" b="1" u="sng" dirty="0"/>
              <a:t>Single-fold</a:t>
            </a:r>
            <a:r>
              <a:rPr lang="en-US" altLang="ko-KR" b="0" dirty="0"/>
              <a:t> continuous coverage over a </a:t>
            </a:r>
            <a:r>
              <a:rPr lang="en-US" altLang="ko-KR" b="1" u="sng" dirty="0"/>
              <a:t>single target</a:t>
            </a:r>
            <a:r>
              <a:rPr lang="en-US" altLang="ko-KR" b="0" dirty="0"/>
              <a:t> point</a:t>
            </a:r>
          </a:p>
          <a:p>
            <a:endParaRPr lang="en-US" altLang="ko-KR" dirty="0"/>
          </a:p>
          <a:p>
            <a:endParaRPr lang="en-US" altLang="ko-KR" dirty="0"/>
          </a:p>
          <a:p>
            <a:pPr lvl="1"/>
            <a:r>
              <a:rPr lang="ko-KR" altLang="en-US" b="0" dirty="0"/>
              <a:t>불연속 횟수</a:t>
            </a:r>
            <a:r>
              <a:rPr lang="en-US" altLang="ko-KR" dirty="0"/>
              <a:t> </a:t>
            </a:r>
            <a:r>
              <a:rPr lang="ko-KR" altLang="en-US" dirty="0"/>
              <a:t>및 시간</a:t>
            </a:r>
            <a:endParaRPr lang="en-US" altLang="ko-KR" b="0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57600DF-2459-7437-229C-9CFA1CC408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4346955"/>
              </p:ext>
            </p:extLst>
          </p:nvPr>
        </p:nvGraphicFramePr>
        <p:xfrm>
          <a:off x="657772" y="1828640"/>
          <a:ext cx="7742841" cy="675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85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06589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84918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 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[6878km, 0, 102.9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98.3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34.75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84.39°W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AA3C5FD2-92A9-E6E4-A04A-30AFF69FA7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2592585"/>
              </p:ext>
            </p:extLst>
          </p:nvPr>
        </p:nvGraphicFramePr>
        <p:xfrm>
          <a:off x="657772" y="3148437"/>
          <a:ext cx="4960988" cy="1259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2837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1269218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117824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270690">
                  <a:extLst>
                    <a:ext uri="{9D8B030D-6E8A-4147-A177-3AD203B41FA5}">
                      <a16:colId xmlns:a16="http://schemas.microsoft.com/office/drawing/2014/main" val="1616465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평면 수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평면당 </a:t>
                      </a:r>
                      <a:endParaRPr lang="en-US" altLang="ko-KR" sz="1400" dirty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위성 수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불연속 횟수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>
                          <a:latin typeface="Times New Roman"/>
                          <a:ea typeface="+mn-ea"/>
                          <a:cs typeface="Times New Roman"/>
                        </a:rPr>
                        <a:t>불연속 시간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6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31.02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02999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6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30.64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1967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8019205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83437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결론</a:t>
            </a:r>
            <a:endParaRPr lang="en-US" altLang="ko-KR" dirty="0"/>
          </a:p>
          <a:p>
            <a:pPr lvl="2"/>
            <a:r>
              <a:rPr lang="ko-KR" altLang="en-US" dirty="0"/>
              <a:t>여러가지</a:t>
            </a:r>
            <a:r>
              <a:rPr lang="en-US" altLang="ko-KR" dirty="0"/>
              <a:t> Linear Programming </a:t>
            </a:r>
            <a:r>
              <a:rPr lang="ko-KR" altLang="en-US" dirty="0"/>
              <a:t>방법 및 각각의 </a:t>
            </a:r>
            <a:r>
              <a:rPr lang="en-US" altLang="ko-KR" dirty="0"/>
              <a:t>Constraints</a:t>
            </a:r>
            <a:r>
              <a:rPr lang="ko-KR" altLang="en-US" dirty="0"/>
              <a:t>에 대한 사전조사 완료</a:t>
            </a:r>
            <a:endParaRPr lang="en-US" altLang="ko-KR" dirty="0"/>
          </a:p>
          <a:p>
            <a:pPr lvl="2"/>
            <a:r>
              <a:rPr lang="en-US" altLang="ko-KR" dirty="0"/>
              <a:t>MILP(BILP) method</a:t>
            </a:r>
            <a:r>
              <a:rPr lang="ko-KR" altLang="en-US" dirty="0"/>
              <a:t>를 이용한 </a:t>
            </a:r>
            <a:r>
              <a:rPr lang="en-US" altLang="ko-KR" dirty="0"/>
              <a:t>Solver</a:t>
            </a:r>
            <a:r>
              <a:rPr lang="ko-KR" altLang="en-US" dirty="0"/>
              <a:t>를 </a:t>
            </a:r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  <a:r>
              <a:rPr lang="ko-KR" altLang="en-US" dirty="0"/>
              <a:t>로 구현 완료</a:t>
            </a:r>
            <a:endParaRPr lang="en-US" altLang="ko-KR" dirty="0"/>
          </a:p>
          <a:p>
            <a:pPr lvl="2"/>
            <a:r>
              <a:rPr lang="ko-KR" altLang="en-US" dirty="0"/>
              <a:t>하지만 아직 위성 운용에 적용하기엔 기초적인 수준</a:t>
            </a:r>
            <a:endParaRPr lang="en-US" altLang="ko-KR" dirty="0"/>
          </a:p>
          <a:p>
            <a:pPr lvl="2"/>
            <a:r>
              <a:rPr lang="ko-KR" altLang="en-US" dirty="0"/>
              <a:t>지역 </a:t>
            </a:r>
            <a:r>
              <a:rPr lang="ko-KR" altLang="en-US" dirty="0" err="1"/>
              <a:t>커버리지를</a:t>
            </a:r>
            <a:r>
              <a:rPr lang="ko-KR" altLang="en-US" dirty="0"/>
              <a:t> 위한 위성 운용과의 관련성 다소 적음 </a:t>
            </a:r>
            <a:endParaRPr lang="en-US" altLang="ko-KR" dirty="0"/>
          </a:p>
          <a:p>
            <a:pPr lvl="2"/>
            <a:endParaRPr lang="en-US" altLang="ko-KR" dirty="0"/>
          </a:p>
          <a:p>
            <a:r>
              <a:rPr lang="ko-KR" altLang="en-US" dirty="0"/>
              <a:t>보완할 점</a:t>
            </a:r>
            <a:endParaRPr lang="en-US" altLang="ko-KR" dirty="0"/>
          </a:p>
          <a:p>
            <a:pPr lvl="2"/>
            <a:r>
              <a:rPr lang="en-US" altLang="ko-KR" dirty="0"/>
              <a:t>Linear Programming </a:t>
            </a:r>
            <a:r>
              <a:rPr lang="ko-KR" altLang="en-US" dirty="0"/>
              <a:t>방법을 </a:t>
            </a:r>
            <a:r>
              <a:rPr lang="ko-KR" altLang="en-US" dirty="0" err="1"/>
              <a:t>위성군</a:t>
            </a:r>
            <a:r>
              <a:rPr lang="ko-KR" altLang="en-US" dirty="0"/>
              <a:t> 운용에 연관시켜 </a:t>
            </a:r>
            <a:r>
              <a:rPr lang="en-US" altLang="ko-KR" dirty="0"/>
              <a:t>STK</a:t>
            </a:r>
            <a:r>
              <a:rPr lang="ko-KR" altLang="en-US" dirty="0"/>
              <a:t> 및 </a:t>
            </a:r>
            <a:r>
              <a:rPr lang="en-US" altLang="ko-KR" dirty="0" err="1"/>
              <a:t>Freeflyer</a:t>
            </a:r>
            <a:r>
              <a:rPr lang="ko-KR" altLang="en-US" dirty="0"/>
              <a:t>를 통한 </a:t>
            </a:r>
            <a:r>
              <a:rPr lang="ko-KR" altLang="en-US" dirty="0" err="1"/>
              <a:t>위성군</a:t>
            </a:r>
            <a:r>
              <a:rPr lang="ko-KR" altLang="en-US" dirty="0"/>
              <a:t> 전파 시뮬레이션 진행 </a:t>
            </a:r>
            <a:endParaRPr lang="en-US" altLang="ko-KR" dirty="0"/>
          </a:p>
          <a:p>
            <a:pPr lvl="2"/>
            <a:r>
              <a:rPr lang="ko-KR" altLang="en-US" dirty="0"/>
              <a:t>운용 개념 및 목적함수</a:t>
            </a:r>
            <a:r>
              <a:rPr lang="en-US" altLang="ko-KR" dirty="0"/>
              <a:t>,</a:t>
            </a:r>
            <a:r>
              <a:rPr lang="ko-KR" altLang="en-US" dirty="0"/>
              <a:t> 변수</a:t>
            </a:r>
            <a:r>
              <a:rPr lang="en-US" altLang="ko-KR" dirty="0"/>
              <a:t>, </a:t>
            </a:r>
            <a:r>
              <a:rPr lang="ko-KR" altLang="en-US" dirty="0"/>
              <a:t>제한조건 등을 정의하고 최적의 성능지수 도출</a:t>
            </a:r>
            <a:endParaRPr lang="en-US" altLang="ko-KR" dirty="0"/>
          </a:p>
          <a:p>
            <a:pPr lvl="2"/>
            <a:r>
              <a:rPr lang="en-US" altLang="ko-KR" dirty="0"/>
              <a:t>Walker-delta(</a:t>
            </a:r>
            <a:r>
              <a:rPr lang="ko-KR" altLang="en-US" dirty="0"/>
              <a:t>또는 </a:t>
            </a:r>
            <a:r>
              <a:rPr lang="en-US" altLang="ko-KR" dirty="0"/>
              <a:t>quasi-symmetry) </a:t>
            </a:r>
            <a:r>
              <a:rPr lang="ko-KR" altLang="en-US" dirty="0"/>
              <a:t>모델과 </a:t>
            </a:r>
            <a:r>
              <a:rPr lang="en-US" altLang="ko-KR" dirty="0"/>
              <a:t>Linear Programming </a:t>
            </a:r>
            <a:r>
              <a:rPr lang="ko-KR" altLang="en-US" dirty="0"/>
              <a:t>방법의 성능지수 비교</a:t>
            </a:r>
            <a:endParaRPr lang="en-US" altLang="ko-KR" dirty="0"/>
          </a:p>
          <a:p>
            <a:pPr lvl="2"/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2280629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9408548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 err="1"/>
              <a:t>위성군</a:t>
            </a:r>
            <a:r>
              <a:rPr lang="ko-KR" altLang="en-US" dirty="0"/>
              <a:t> 모델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Satellite Constellation Model</a:t>
            </a:r>
          </a:p>
          <a:p>
            <a:pPr lvl="1"/>
            <a:r>
              <a:rPr lang="en-US" altLang="ko-KR" dirty="0"/>
              <a:t>Repeating Ground Track Orbit</a:t>
            </a:r>
          </a:p>
          <a:p>
            <a:pPr lvl="2"/>
            <a:r>
              <a:rPr lang="ko-KR" altLang="en-US" dirty="0"/>
              <a:t>지구 표면을 지나는 하위 위성의 자취로 정의</a:t>
            </a:r>
            <a:endParaRPr lang="en-US" altLang="ko-KR" dirty="0"/>
          </a:p>
          <a:p>
            <a:pPr lvl="2"/>
            <a:r>
              <a:rPr lang="ko-KR" altLang="en-US" dirty="0"/>
              <a:t>논문에서는 위성군의 궤도가 정확하고 주기적으로 반복될 수 있도록 </a:t>
            </a:r>
            <a:r>
              <a:rPr lang="en-US" altLang="ko-KR" dirty="0"/>
              <a:t>RGT</a:t>
            </a:r>
            <a:r>
              <a:rPr lang="ko-KR" altLang="en-US" dirty="0"/>
              <a:t>를 사용함</a:t>
            </a:r>
            <a:endParaRPr lang="en-US" altLang="ko-KR" dirty="0"/>
          </a:p>
          <a:p>
            <a:pPr lvl="2"/>
            <a:r>
              <a:rPr lang="ko-KR" altLang="en-US" dirty="0"/>
              <a:t>위성 수가 적은 </a:t>
            </a:r>
            <a:r>
              <a:rPr lang="ko-KR" altLang="en-US" dirty="0" err="1"/>
              <a:t>비반복</a:t>
            </a:r>
            <a:r>
              <a:rPr lang="ko-KR" altLang="en-US" dirty="0"/>
              <a:t> 궤도보다 더 나은 지역 커버리지 성능을 보임</a:t>
            </a:r>
            <a:endParaRPr lang="en-US" altLang="ko-KR" dirty="0"/>
          </a:p>
          <a:p>
            <a:pPr lvl="2"/>
            <a:r>
              <a:rPr lang="en-US" altLang="ko-KR" dirty="0"/>
              <a:t>ECEF </a:t>
            </a:r>
            <a:r>
              <a:rPr lang="ko-KR" altLang="en-US" dirty="0"/>
              <a:t>좌표계에서 </a:t>
            </a:r>
            <a:r>
              <a:rPr lang="en-US" altLang="ko-KR" dirty="0"/>
              <a:t>RGT</a:t>
            </a:r>
            <a:r>
              <a:rPr lang="ko-KR" altLang="en-US" dirty="0"/>
              <a:t>궤도는 궤도의 </a:t>
            </a:r>
            <a:r>
              <a:rPr lang="en-US" altLang="ko-KR" dirty="0"/>
              <a:t>nodal period(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dirty="0"/>
              <a:t>)</a:t>
            </a:r>
            <a:r>
              <a:rPr lang="ko-KR" altLang="en-US" dirty="0"/>
              <a:t>가 </a:t>
            </a:r>
            <a:r>
              <a:rPr lang="ko-KR" altLang="en-US" dirty="0" err="1"/>
              <a:t>그리니치의</a:t>
            </a:r>
            <a:r>
              <a:rPr lang="ko-KR" altLang="en-US" dirty="0"/>
              <a:t> </a:t>
            </a:r>
            <a:r>
              <a:rPr lang="en-US" altLang="ko-KR" dirty="0"/>
              <a:t>nodal period(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altLang="ko-KR" dirty="0"/>
              <a:t>)</a:t>
            </a:r>
            <a:r>
              <a:rPr lang="ko-KR" altLang="en-US" dirty="0"/>
              <a:t>의 배수일 때 달성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dirty="0"/>
              <a:t> : </a:t>
            </a:r>
            <a:r>
              <a:rPr lang="ko-KR" altLang="en-US" dirty="0"/>
              <a:t>위성에 의한  승교선을 지나는 연속되는 두 교차 사이의 시간 간격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</a:t>
            </a:r>
            <a:r>
              <a:rPr lang="en-US" altLang="ko-KR" dirty="0"/>
              <a:t> : </a:t>
            </a:r>
            <a:r>
              <a:rPr lang="ko-KR" altLang="en-US" dirty="0"/>
              <a:t>본초 자오선에 의한 승교선을 지나는 연속되는 두 교차 사이의 시간 간격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</a:t>
            </a:r>
            <a:r>
              <a:rPr lang="en-US" altLang="ko-KR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1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</a:t>
            </a:r>
            <a:r>
              <a:rPr lang="en-US" altLang="ko-KR" spc="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ko-KR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=</a:t>
            </a:r>
            <a:r>
              <a:rPr lang="en-US" altLang="ko-KR" spc="15" dirty="0">
                <a:effectLst/>
                <a:latin typeface="Microsoft Sans Serif" panose="020B0604020202020204" pitchFamily="34" charset="0"/>
                <a:ea typeface="Microsoft Sans Serif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𝑇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 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(Period of Repetition)</a:t>
            </a:r>
            <a:endParaRPr lang="en-US" altLang="ko-KR" dirty="0"/>
          </a:p>
          <a:p>
            <a:pPr lvl="3"/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𝜏 = 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</a:t>
            </a:r>
            <a:r>
              <a:rPr lang="en-US" altLang="ko-KR" dirty="0">
                <a:effectLst/>
                <a:latin typeface="Lucida Sans Unicode" panose="020B0602030504020204" pitchFamily="34" charset="0"/>
                <a:ea typeface="Lucida Sans Unicode" panose="020B0602030504020204" pitchFamily="34" charset="0"/>
                <a:cs typeface="Times New Roman" panose="02020603050405020304" pitchFamily="18" charset="0"/>
              </a:rPr>
              <a:t>/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𝑁</a:t>
            </a:r>
            <a:r>
              <a:rPr lang="en-US" altLang="ko-KR" baseline="-25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(Period Ratio) </a:t>
            </a:r>
            <a:r>
              <a:rPr lang="ko-KR" altLang="en-US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→ </a:t>
            </a:r>
            <a:r>
              <a:rPr lang="en-US" altLang="ko-KR" spc="5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Semi-major axis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𝑎</a:t>
            </a:r>
            <a:r>
              <a:rPr lang="ko-KR" altLang="en-US" dirty="0"/>
              <a:t>를 대신하여 사용</a:t>
            </a:r>
            <a:endParaRPr lang="en-US" altLang="ko-KR" dirty="0"/>
          </a:p>
          <a:p>
            <a:pPr lvl="2"/>
            <a:r>
              <a:rPr lang="ko-KR" altLang="ko-KR" sz="1800" dirty="0">
                <a:effectLst/>
                <a:ea typeface="Times New Roman" panose="02020603050405020304" pitchFamily="18" charset="0"/>
              </a:rPr>
              <a:t> </a:t>
            </a:r>
            <a:r>
              <a:rPr lang="en-US" altLang="ko-KR" i="1" dirty="0">
                <a:effectLst/>
                <a:latin typeface="Sitka Heading" panose="02000505000000020004" pitchFamily="2" charset="0"/>
                <a:ea typeface="Sitka Heading" panose="02000505000000020004" pitchFamily="2" charset="0"/>
                <a:cs typeface="Times New Roman" panose="02020603050405020304" pitchFamily="18" charset="0"/>
              </a:rPr>
              <a:t>𝐽</a:t>
            </a:r>
            <a:r>
              <a:rPr lang="en-US" altLang="ko-KR" baseline="-25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en-US" altLang="ko-KR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ko-KR" alt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섭동만을 반영하면서 </a:t>
            </a:r>
            <a:r>
              <a:rPr lang="ko-KR" altLang="en-US" dirty="0"/>
              <a:t>위성의 수명 동안 동일한 지상 궤도를 수정하고 유지하기 위한 </a:t>
            </a:r>
            <a:r>
              <a:rPr lang="en-US" altLang="ko-KR" dirty="0"/>
              <a:t>maneuver</a:t>
            </a:r>
            <a:r>
              <a:rPr lang="ko-KR" altLang="en-US" dirty="0"/>
              <a:t>를 가정</a:t>
            </a:r>
            <a:endParaRPr lang="en-US" altLang="ko-KR" dirty="0"/>
          </a:p>
          <a:p>
            <a:pPr lvl="2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39522FC-C46B-A4F8-E9B2-CACCB1692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805" y="5300311"/>
            <a:ext cx="1201079" cy="5786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4F643020-098F-2F16-2F11-AED9A31B31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037" y="5300311"/>
            <a:ext cx="1374771" cy="57862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B2D7CBF-9848-751B-92B8-2A76AF4174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5194924"/>
            <a:ext cx="2637619" cy="789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32906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84951</TotalTime>
  <Words>4456</Words>
  <Application>Microsoft Office PowerPoint</Application>
  <PresentationFormat>화면 슬라이드 쇼(4:3)</PresentationFormat>
  <Paragraphs>1038</Paragraphs>
  <Slides>56</Slides>
  <Notes>53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56</vt:i4>
      </vt:variant>
    </vt:vector>
  </HeadingPairs>
  <TitlesOfParts>
    <vt:vector size="68" baseType="lpstr">
      <vt:lpstr>noto</vt:lpstr>
      <vt:lpstr>맑은 고딕</vt:lpstr>
      <vt:lpstr>Arial</vt:lpstr>
      <vt:lpstr>Calibri</vt:lpstr>
      <vt:lpstr>Cambria Math</vt:lpstr>
      <vt:lpstr>Lucida Sans Unicode</vt:lpstr>
      <vt:lpstr>Microsoft Sans Serif</vt:lpstr>
      <vt:lpstr>Sitka Heading</vt:lpstr>
      <vt:lpstr>times</vt:lpstr>
      <vt:lpstr>Times New Roman</vt:lpstr>
      <vt:lpstr>Wingdings</vt:lpstr>
      <vt:lpstr>Office 테마</vt:lpstr>
      <vt:lpstr>이종위성군 선행연구자료 분석</vt:lpstr>
      <vt:lpstr>연구 목표 및 자료조사에 참고한 논문</vt:lpstr>
      <vt:lpstr>연구 목표 및 자료조사에 참고한 논문</vt:lpstr>
      <vt:lpstr>(1) I. Sanad and D. G. Michelson, "A Framework for Heterogeneous Satellite Constellation Design for Rapid Response Earth Observations," 2019 IEEE Aerospace Conference, Big Sky, MT, USA, 2019, pp. 1-10, doi: 10.1109/AERO.2019.8741813. </vt:lpstr>
      <vt:lpstr>연구목표 및 이종위성군의 정의</vt:lpstr>
      <vt:lpstr>SRT의 정의 및 구성</vt:lpstr>
      <vt:lpstr>단계별 연구방법</vt:lpstr>
      <vt:lpstr>임무 목적 및 제한조건과 탑재체 성능 결정</vt:lpstr>
      <vt:lpstr>사용된 SW및 궤도정보 및 운용개념 결정</vt:lpstr>
      <vt:lpstr>Imaging 위성군 시뮬레이션 결과</vt:lpstr>
      <vt:lpstr>Imaging 위성군 시뮬레이션 결과</vt:lpstr>
      <vt:lpstr>Relay 위성군 및 SRT 시뮬레이션 결과</vt:lpstr>
      <vt:lpstr>결과로부터 얻은 최종 성능지수 값</vt:lpstr>
      <vt:lpstr>결론 및 보완이 필요한 부분</vt:lpstr>
      <vt:lpstr>연구에 적용할 만한 내용</vt:lpstr>
      <vt:lpstr>(2) S. Zhao, Y. Xu, H. Dai; Research on the configuration design method of heterogeneous constellation reconstruction under the multiple objective and multiple constraint. AIP Conference Proceedings 8 May 2017; 1839 (1): 020083. </vt:lpstr>
      <vt:lpstr>연구목표와 방법 및 이종위성군의 정의</vt:lpstr>
      <vt:lpstr>Reconstruction의 정의 및 전체적인 구성도</vt:lpstr>
      <vt:lpstr>Phase Uniformity Method</vt:lpstr>
      <vt:lpstr>Reconstruction Configuration Design Method</vt:lpstr>
      <vt:lpstr>두 가지 방법의 장단점 비교</vt:lpstr>
      <vt:lpstr>이종위성군 재구성의 제한조건 및 목적함수</vt:lpstr>
      <vt:lpstr>결론 및 보완이 필요한 부분</vt:lpstr>
      <vt:lpstr>연구에 적용할 만한 내용</vt:lpstr>
      <vt:lpstr>(3) P. Fox, G. Tyc, and K. Beckett, “The UrtheCast SAR-XL multi-band, multi-aperture spaceborne SAR system,” 2017 IEEE Radar Conference (RadarConf), pp. 1761–1764, May 2017.</vt:lpstr>
      <vt:lpstr>연구목표와 방법 및 이종위성군의 정의</vt:lpstr>
      <vt:lpstr>이종위성군의 구성 및 궤도 정보</vt:lpstr>
      <vt:lpstr>Cross-Cueing – 각 탑재체의 역할</vt:lpstr>
      <vt:lpstr>Cross-Cueing – 단계별 과정</vt:lpstr>
      <vt:lpstr>결론 및 보완점과 연구에 적용할 만한 내용</vt:lpstr>
      <vt:lpstr>(4) L. Liu, Z. Dong, H. Su, D. Yu and Y. Lin, "Research on a Heterogeneous Multi-satellite Mission Scheduling Model for Earth Observation Based on Adaptive Genetic-Tabu Hybrid Search Algorithm," 2021 IEEE 5th Advanced Information Technology, Electronic and Automation Control Conference (IAEAC), Chongqing, China, 2021, pp. 1684-1690, doi: 10.1109/IAEAC50856.2021.9390990.</vt:lpstr>
      <vt:lpstr>연구목표 및 이종 위성군의 정의</vt:lpstr>
      <vt:lpstr>Schedule Stage에 따른 연구방법</vt:lpstr>
      <vt:lpstr>Scheduling의 가정</vt:lpstr>
      <vt:lpstr>제한조건 및 최적화 목표</vt:lpstr>
      <vt:lpstr>Algorithm의 종류 및 장단점 비교</vt:lpstr>
      <vt:lpstr>시뮬레이션 설정</vt:lpstr>
      <vt:lpstr>시뮬레이션 결과(table)</vt:lpstr>
      <vt:lpstr>시뮬레이션 결과(Plot)</vt:lpstr>
      <vt:lpstr>이종위성군 선행연구자료</vt:lpstr>
      <vt:lpstr>BILP method 시뮬레이션</vt:lpstr>
      <vt:lpstr>지역 커버리지 위성군 패턴 설계 방법</vt:lpstr>
      <vt:lpstr>지역 커버리지 위성군 패턴 설계 방법</vt:lpstr>
      <vt:lpstr>지역 커버리지 위성군 패턴 설계 방법</vt:lpstr>
      <vt:lpstr>Example별 시뮬레이션 분석</vt:lpstr>
      <vt:lpstr>시뮬레이션 환경 및 가정</vt:lpstr>
      <vt:lpstr>Example 0</vt:lpstr>
      <vt:lpstr>Example 0</vt:lpstr>
      <vt:lpstr>Example 0</vt:lpstr>
      <vt:lpstr>Example 1</vt:lpstr>
      <vt:lpstr>Example 1</vt:lpstr>
      <vt:lpstr>Example 1</vt:lpstr>
      <vt:lpstr>결론</vt:lpstr>
      <vt:lpstr>결론</vt:lpstr>
      <vt:lpstr>경청해 주셔서 감사합니다.</vt:lpstr>
      <vt:lpstr>위성군 모델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4538</cp:revision>
  <dcterms:created xsi:type="dcterms:W3CDTF">2018-01-29T02:45:56Z</dcterms:created>
  <dcterms:modified xsi:type="dcterms:W3CDTF">2023-07-20T05:15:15Z</dcterms:modified>
</cp:coreProperties>
</file>