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2229" r:id="rId2"/>
    <p:sldId id="2250" r:id="rId3"/>
    <p:sldId id="2251" r:id="rId4"/>
    <p:sldId id="2268" r:id="rId5"/>
    <p:sldId id="2254" r:id="rId6"/>
    <p:sldId id="2258" r:id="rId7"/>
    <p:sldId id="2269" r:id="rId8"/>
    <p:sldId id="2261" r:id="rId9"/>
    <p:sldId id="2271" r:id="rId10"/>
    <p:sldId id="2232" r:id="rId11"/>
    <p:sldId id="2259" r:id="rId12"/>
    <p:sldId id="260" r:id="rId13"/>
    <p:sldId id="261" r:id="rId14"/>
    <p:sldId id="262" r:id="rId15"/>
    <p:sldId id="263" r:id="rId16"/>
    <p:sldId id="280" r:id="rId17"/>
    <p:sldId id="264" r:id="rId18"/>
    <p:sldId id="265" r:id="rId19"/>
    <p:sldId id="266" r:id="rId20"/>
    <p:sldId id="276" r:id="rId21"/>
    <p:sldId id="278" r:id="rId22"/>
    <p:sldId id="270" r:id="rId23"/>
    <p:sldId id="267" r:id="rId24"/>
    <p:sldId id="268" r:id="rId25"/>
    <p:sldId id="269" r:id="rId26"/>
    <p:sldId id="271" r:id="rId27"/>
    <p:sldId id="279" r:id="rId28"/>
    <p:sldId id="273" r:id="rId29"/>
    <p:sldId id="274" r:id="rId30"/>
    <p:sldId id="322" r:id="rId31"/>
    <p:sldId id="324" r:id="rId32"/>
    <p:sldId id="325" r:id="rId33"/>
    <p:sldId id="326" r:id="rId34"/>
    <p:sldId id="327" r:id="rId35"/>
    <p:sldId id="328" r:id="rId36"/>
    <p:sldId id="329" r:id="rId37"/>
    <p:sldId id="331" r:id="rId38"/>
    <p:sldId id="332" r:id="rId39"/>
    <p:sldId id="333" r:id="rId40"/>
    <p:sldId id="334" r:id="rId41"/>
    <p:sldId id="335" r:id="rId42"/>
    <p:sldId id="2263" r:id="rId43"/>
    <p:sldId id="2264" r:id="rId44"/>
    <p:sldId id="2265" r:id="rId45"/>
    <p:sldId id="2266" r:id="rId46"/>
    <p:sldId id="2267" r:id="rId4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86" d="100"/>
          <a:sy n="86" d="100"/>
        </p:scale>
        <p:origin x="9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152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-34~84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981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528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050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204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48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670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348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476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26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407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91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70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  <p:sldLayoutId id="2147483681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yonsei.ac.kr/search/detail/CAT000001820382?briefLink=/main/searchBrief?q=%EC%89%BD%EA%B2%8C+%EB%B0%B0%EC%9A%B0%EB%8A%94+matlab" TargetMode="External"/><Relationship Id="rId2" Type="http://schemas.openxmlformats.org/officeDocument/2006/relationships/hyperlink" Target="https://library.yonsei.ac.kr/search/detail/CAT000000899044?briefLink=/main/searchBrief?q=%EC%A0%9C%EB%8C%80%EB%A1%9C+%EB%B0%B0%EC%9A%B0%EB%8A%94+matla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Johnny-Johannesse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2023-01-12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정기 연구미팅 보고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</a:p>
          <a:p>
            <a:pPr lvl="1"/>
            <a:r>
              <a:rPr lang="en-US" altLang="ko-KR" dirty="0"/>
              <a:t>MATLAB </a:t>
            </a:r>
            <a:r>
              <a:rPr lang="ko-KR" altLang="en-US" dirty="0"/>
              <a:t>및 </a:t>
            </a:r>
            <a:r>
              <a:rPr lang="en-US" altLang="ko-KR" dirty="0"/>
              <a:t>SIMULINK </a:t>
            </a:r>
            <a:r>
              <a:rPr lang="ko-KR" altLang="en-US" dirty="0"/>
              <a:t>다루는 능력 기르기</a:t>
            </a:r>
            <a:endParaRPr lang="en-US" altLang="ko-KR" dirty="0"/>
          </a:p>
          <a:p>
            <a:pPr lvl="2"/>
            <a:r>
              <a:rPr lang="en-US" altLang="ko-KR" dirty="0"/>
              <a:t>MATLAB </a:t>
            </a:r>
            <a:r>
              <a:rPr lang="ko-KR" altLang="en-US" dirty="0"/>
              <a:t>교재</a:t>
            </a:r>
            <a:r>
              <a:rPr lang="en-US" altLang="ko-KR" dirty="0"/>
              <a:t>(</a:t>
            </a:r>
            <a:r>
              <a:rPr lang="ko-KR" altLang="en-US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  <a:hlinkClick r:id="rId2"/>
              </a:rPr>
              <a:t>제대로 배우는 </a:t>
            </a:r>
            <a:r>
              <a:rPr lang="en-US" altLang="ko-KR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  <a:hlinkClick r:id="rId2"/>
              </a:rPr>
              <a:t>MATLAB</a:t>
            </a:r>
            <a:r>
              <a:rPr lang="en-US" altLang="ko-KR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  <a:hlinkClick r:id="rId3"/>
              </a:rPr>
              <a:t>: 2014</a:t>
            </a:r>
            <a:r>
              <a:rPr lang="en-US" altLang="ko-KR" dirty="0"/>
              <a:t>)</a:t>
            </a:r>
            <a:r>
              <a:rPr lang="ko-KR" altLang="en-US" dirty="0"/>
              <a:t>와 신입생 자료 복습하기</a:t>
            </a:r>
            <a:endParaRPr lang="en-US" altLang="ko-KR" dirty="0"/>
          </a:p>
          <a:p>
            <a:pPr lvl="2"/>
            <a:r>
              <a:rPr lang="en-US" altLang="ko-KR" dirty="0"/>
              <a:t>EPS code </a:t>
            </a:r>
            <a:r>
              <a:rPr lang="ko-KR" altLang="en-US" dirty="0"/>
              <a:t>공부도 병행하기 </a:t>
            </a:r>
            <a:r>
              <a:rPr lang="en-US" altLang="ko-KR" dirty="0"/>
              <a:t>– </a:t>
            </a:r>
            <a:r>
              <a:rPr lang="ko-KR" altLang="en-US" dirty="0" err="1"/>
              <a:t>한줄</a:t>
            </a:r>
            <a:r>
              <a:rPr lang="ko-KR" altLang="en-US" dirty="0"/>
              <a:t> </a:t>
            </a:r>
            <a:r>
              <a:rPr lang="ko-KR" altLang="en-US" dirty="0" err="1"/>
              <a:t>한줄</a:t>
            </a:r>
            <a:r>
              <a:rPr lang="ko-KR" altLang="en-US" dirty="0"/>
              <a:t> 뜯어보면서 코드분석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EPS </a:t>
            </a:r>
            <a:r>
              <a:rPr lang="ko-KR" altLang="en-US" dirty="0"/>
              <a:t>하드웨어 특성 및 기능 숙지하기</a:t>
            </a:r>
            <a:endParaRPr lang="en-US" altLang="ko-KR" dirty="0"/>
          </a:p>
          <a:p>
            <a:pPr lvl="2"/>
            <a:r>
              <a:rPr lang="en-US" altLang="ko-KR" dirty="0"/>
              <a:t>PCDU, Solar Cell, Battery </a:t>
            </a:r>
            <a:r>
              <a:rPr lang="ko-KR" altLang="en-US" dirty="0"/>
              <a:t>데이터시트 수치까지 외울 정도로 자주 들여다보기</a:t>
            </a:r>
            <a:endParaRPr lang="en-US" altLang="ko-KR" dirty="0"/>
          </a:p>
          <a:p>
            <a:pPr lvl="2"/>
            <a:r>
              <a:rPr lang="ko-KR" altLang="en-US" dirty="0"/>
              <a:t>이해 안되는 내용들 </a:t>
            </a:r>
            <a:r>
              <a:rPr lang="en-US" altLang="ko-KR" dirty="0"/>
              <a:t>Reference </a:t>
            </a:r>
            <a:r>
              <a:rPr lang="ko-KR" altLang="en-US" dirty="0"/>
              <a:t>찾아보거나 메모해두고 선배님께 질문하기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팀 미팅 </a:t>
            </a:r>
            <a:r>
              <a:rPr lang="en-US" altLang="ko-KR" dirty="0"/>
              <a:t>(</a:t>
            </a:r>
            <a:r>
              <a:rPr lang="ko-KR" altLang="en-US" dirty="0"/>
              <a:t>매주 수요일 오후 </a:t>
            </a:r>
            <a:r>
              <a:rPr lang="en-US" altLang="ko-KR" dirty="0"/>
              <a:t>4</a:t>
            </a:r>
            <a:r>
              <a:rPr lang="ko-KR" altLang="en-US" dirty="0"/>
              <a:t>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매주 팀 미팅 보고에서 받은 피드백 내용 숙지한 후 적용하기</a:t>
            </a:r>
            <a:endParaRPr lang="en-US" altLang="ko-KR" dirty="0"/>
          </a:p>
          <a:p>
            <a:pPr lvl="2"/>
            <a:r>
              <a:rPr lang="en-US" altLang="ko-KR" dirty="0"/>
              <a:t>Teams</a:t>
            </a:r>
            <a:r>
              <a:rPr lang="ko-KR" altLang="en-US" dirty="0"/>
              <a:t>에 월간 계획</a:t>
            </a:r>
            <a:r>
              <a:rPr lang="en-US" altLang="ko-KR" dirty="0"/>
              <a:t>,</a:t>
            </a:r>
            <a:r>
              <a:rPr lang="ko-KR" altLang="en-US" dirty="0"/>
              <a:t> 달성도</a:t>
            </a:r>
            <a:r>
              <a:rPr lang="en-US" altLang="ko-KR" dirty="0"/>
              <a:t>, Action Item </a:t>
            </a:r>
            <a:r>
              <a:rPr lang="ko-KR" altLang="en-US" dirty="0"/>
              <a:t>등 진행상황 공유하기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방학기간 중 개선할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05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이종위성군</a:t>
            </a:r>
            <a:endParaRPr lang="en-US" altLang="ko-KR" dirty="0"/>
          </a:p>
          <a:p>
            <a:pPr lvl="1"/>
            <a:r>
              <a:rPr lang="en-US" altLang="ko-KR" dirty="0" err="1"/>
              <a:t>FreeFlyer</a:t>
            </a:r>
            <a:endParaRPr lang="en-US" altLang="ko-KR" dirty="0"/>
          </a:p>
          <a:p>
            <a:pPr lvl="2"/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학습내용을 코드에 적용하여 최적의 </a:t>
            </a:r>
            <a:r>
              <a:rPr lang="ko-KR" altLang="en-US" dirty="0" err="1"/>
              <a:t>탑재체</a:t>
            </a:r>
            <a:r>
              <a:rPr lang="ko-KR" altLang="en-US" dirty="0"/>
              <a:t> 성능 찾아보기 </a:t>
            </a:r>
            <a:endParaRPr lang="en-US" altLang="ko-KR" dirty="0"/>
          </a:p>
          <a:p>
            <a:pPr lvl="2"/>
            <a:r>
              <a:rPr lang="en-US" altLang="ko-KR" dirty="0" err="1"/>
              <a:t>FreeFlyer</a:t>
            </a:r>
            <a:r>
              <a:rPr lang="ko-KR" altLang="en-US" dirty="0"/>
              <a:t> 사이트의 </a:t>
            </a:r>
            <a:r>
              <a:rPr lang="en-US" altLang="ko-KR" dirty="0"/>
              <a:t>AI Solution </a:t>
            </a:r>
            <a:r>
              <a:rPr lang="ko-KR" altLang="en-US" dirty="0"/>
              <a:t>적극 활용하여 </a:t>
            </a:r>
            <a:r>
              <a:rPr lang="en-US" altLang="ko-KR" dirty="0"/>
              <a:t>code </a:t>
            </a:r>
            <a:r>
              <a:rPr lang="ko-KR" altLang="en-US" dirty="0"/>
              <a:t>공부하기</a:t>
            </a:r>
            <a:endParaRPr lang="en-US" altLang="ko-KR" dirty="0"/>
          </a:p>
          <a:p>
            <a:endParaRPr lang="en-US" altLang="ko-KR" sz="800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: </a:t>
            </a:r>
            <a:r>
              <a:rPr lang="ko-KR" altLang="en-US" dirty="0"/>
              <a:t>사례조사</a:t>
            </a:r>
            <a:r>
              <a:rPr lang="en-US" altLang="ko-KR" dirty="0"/>
              <a:t>, </a:t>
            </a:r>
            <a:r>
              <a:rPr lang="ko-KR" altLang="en-US" dirty="0"/>
              <a:t>사전연구조사</a:t>
            </a:r>
            <a:endParaRPr lang="en-US" altLang="ko-KR" dirty="0"/>
          </a:p>
          <a:p>
            <a:pPr lvl="2"/>
            <a:r>
              <a:rPr lang="en-US" altLang="ko-KR" dirty="0" err="1"/>
              <a:t>OptiSAR</a:t>
            </a:r>
            <a:r>
              <a:rPr lang="en-US" altLang="ko-KR" dirty="0"/>
              <a:t>(UrtheCast) </a:t>
            </a:r>
            <a:r>
              <a:rPr lang="ko-KR" altLang="en-US" dirty="0"/>
              <a:t>사례를 바탕으로 이종위성군에 대한 내용 복습하기</a:t>
            </a:r>
            <a:endParaRPr lang="en-US" altLang="ko-KR" dirty="0"/>
          </a:p>
          <a:p>
            <a:pPr lvl="3"/>
            <a:r>
              <a:rPr lang="ko-KR" altLang="en-US" dirty="0"/>
              <a:t>이종 위성군에 대한 추가적인 </a:t>
            </a:r>
            <a:r>
              <a:rPr lang="en-US" altLang="ko-KR" dirty="0"/>
              <a:t>Reference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조사하여 운용개념 분석해보기</a:t>
            </a:r>
            <a:endParaRPr lang="en-US" altLang="ko-KR" dirty="0"/>
          </a:p>
          <a:p>
            <a:pPr lvl="3"/>
            <a:endParaRPr lang="en-US" altLang="ko-KR" sz="400" dirty="0"/>
          </a:p>
          <a:p>
            <a:pPr lvl="2"/>
            <a:r>
              <a:rPr lang="ko-KR" altLang="en-US" dirty="0"/>
              <a:t>황영민</a:t>
            </a:r>
            <a:r>
              <a:rPr lang="en-US" altLang="ko-KR" dirty="0"/>
              <a:t>(2019) </a:t>
            </a:r>
            <a:r>
              <a:rPr lang="ko-KR" altLang="en-US" dirty="0"/>
              <a:t>신진영</a:t>
            </a:r>
            <a:r>
              <a:rPr lang="en-US" altLang="ko-KR" dirty="0"/>
              <a:t>(2020) </a:t>
            </a:r>
            <a:r>
              <a:rPr lang="ko-KR" altLang="en-US" dirty="0"/>
              <a:t>논문 복습하여 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설계기법 익히기</a:t>
            </a:r>
            <a:endParaRPr lang="en-US" altLang="ko-KR" sz="600" dirty="0"/>
          </a:p>
          <a:p>
            <a:pPr lvl="2"/>
            <a:r>
              <a:rPr lang="ko-KR" altLang="en-US" dirty="0"/>
              <a:t>이 내용들을 토대로 한반도 감시</a:t>
            </a:r>
            <a:r>
              <a:rPr lang="en-US" altLang="ko-KR" dirty="0"/>
              <a:t>/</a:t>
            </a:r>
            <a:r>
              <a:rPr lang="ko-KR" altLang="en-US" dirty="0"/>
              <a:t>정찰을 목적으로 하는 이종위성군 설계하기</a:t>
            </a:r>
            <a:endParaRPr lang="en-US" altLang="ko-KR" dirty="0"/>
          </a:p>
          <a:p>
            <a:pPr lvl="2"/>
            <a:endParaRPr lang="en-US" altLang="ko-KR" sz="1100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: </a:t>
            </a:r>
            <a:r>
              <a:rPr lang="ko-KR" altLang="en-US" dirty="0"/>
              <a:t>성능지표 수립</a:t>
            </a:r>
            <a:endParaRPr lang="en-US" altLang="ko-KR" dirty="0"/>
          </a:p>
          <a:p>
            <a:pPr lvl="2"/>
            <a:r>
              <a:rPr lang="ko-KR" altLang="en-US" dirty="0"/>
              <a:t>시뮬레이션을 통해 재방문 주기</a:t>
            </a:r>
            <a:r>
              <a:rPr lang="en-US" altLang="ko-KR" dirty="0"/>
              <a:t>, </a:t>
            </a:r>
            <a:r>
              <a:rPr lang="ko-KR" altLang="en-US" dirty="0"/>
              <a:t>탐색완료시간 등의 최적의 성능지수를 찾아보기</a:t>
            </a:r>
            <a:endParaRPr lang="en-US" altLang="ko-KR" dirty="0"/>
          </a:p>
          <a:p>
            <a:pPr lvl="2"/>
            <a:r>
              <a:rPr lang="ko-KR" altLang="en-US" dirty="0"/>
              <a:t>탑재체에 따른 여러가지 운용모드를 공부하고 성능지수 찾아보기</a:t>
            </a:r>
            <a:endParaRPr lang="en-US" altLang="ko-KR" dirty="0"/>
          </a:p>
          <a:p>
            <a:pPr lvl="2"/>
            <a:endParaRPr lang="en-US" altLang="ko-KR" sz="1200" dirty="0"/>
          </a:p>
          <a:p>
            <a:pPr lvl="1"/>
            <a:r>
              <a:rPr lang="ko-KR" altLang="en-US" dirty="0"/>
              <a:t>팀 미팅 </a:t>
            </a:r>
            <a:r>
              <a:rPr lang="en-US" altLang="ko-KR" dirty="0"/>
              <a:t>(</a:t>
            </a:r>
            <a:r>
              <a:rPr lang="ko-KR" altLang="en-US" dirty="0"/>
              <a:t>매주 화</a:t>
            </a:r>
            <a:r>
              <a:rPr lang="en-US" altLang="ko-KR" dirty="0"/>
              <a:t>, </a:t>
            </a:r>
            <a:r>
              <a:rPr lang="ko-KR" altLang="en-US" dirty="0"/>
              <a:t>목 오후 </a:t>
            </a:r>
            <a:r>
              <a:rPr lang="en-US" altLang="ko-KR" dirty="0"/>
              <a:t>3</a:t>
            </a:r>
            <a:r>
              <a:rPr lang="ko-KR" altLang="en-US" dirty="0"/>
              <a:t>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피드백 내용 숙지한 후 적용하기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방학기간 중 개선할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69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9143999" cy="5929314"/>
          </a:xfrm>
        </p:spPr>
        <p:txBody>
          <a:bodyPr/>
          <a:lstStyle/>
          <a:p>
            <a:r>
              <a:rPr lang="en-US" altLang="ko-KR" dirty="0"/>
              <a:t>1/11 </a:t>
            </a:r>
            <a:r>
              <a:rPr lang="ko-KR" altLang="en-US" dirty="0"/>
              <a:t>피드백내용 추가사항</a:t>
            </a:r>
            <a:endParaRPr lang="en-US" altLang="ko-KR" dirty="0"/>
          </a:p>
          <a:p>
            <a:pPr lvl="1"/>
            <a:r>
              <a:rPr lang="ko-KR" altLang="en-US" dirty="0"/>
              <a:t>우선순위</a:t>
            </a:r>
            <a:endParaRPr lang="en-US" altLang="ko-KR" dirty="0"/>
          </a:p>
          <a:p>
            <a:pPr lvl="2"/>
            <a:r>
              <a:rPr lang="ko-KR" altLang="en-US" dirty="0"/>
              <a:t>하루 동안 해야 할 일 중 우선순위에 맞게 진행</a:t>
            </a:r>
            <a:endParaRPr lang="en-US" altLang="ko-KR" dirty="0"/>
          </a:p>
          <a:p>
            <a:pPr lvl="3"/>
            <a:r>
              <a:rPr lang="ko-KR" altLang="en-US" b="1" dirty="0"/>
              <a:t>　</a:t>
            </a:r>
            <a:r>
              <a:rPr lang="ko-KR" altLang="en-US" b="1" dirty="0">
                <a:solidFill>
                  <a:srgbClr val="FF0000"/>
                </a:solidFill>
              </a:rPr>
              <a:t>① 그 날 있는 미팅 자료 </a:t>
            </a:r>
            <a:r>
              <a:rPr lang="ko-KR" altLang="en-US" dirty="0"/>
              <a:t>→ 미팅이 없으면 </a:t>
            </a:r>
            <a:r>
              <a:rPr lang="ko-KR" altLang="en-US" b="1" dirty="0">
                <a:solidFill>
                  <a:srgbClr val="FF0000"/>
                </a:solidFill>
              </a:rPr>
              <a:t>② </a:t>
            </a:r>
            <a:r>
              <a:rPr lang="ko-KR" altLang="en-US" b="1" dirty="0" err="1">
                <a:solidFill>
                  <a:srgbClr val="FF0000"/>
                </a:solidFill>
              </a:rPr>
              <a:t>위성군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</a:p>
          <a:p>
            <a:pPr marL="648000" lvl="3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          </a:t>
            </a:r>
            <a:r>
              <a:rPr lang="ko-KR" altLang="en-US" dirty="0"/>
              <a:t>→ </a:t>
            </a:r>
            <a:r>
              <a:rPr lang="en-US" altLang="ko-KR" dirty="0"/>
              <a:t>HYVRID (</a:t>
            </a:r>
            <a:r>
              <a:rPr lang="ko-KR" altLang="en-US" b="1" dirty="0">
                <a:solidFill>
                  <a:srgbClr val="FF0000"/>
                </a:solidFill>
              </a:rPr>
              <a:t>③ </a:t>
            </a:r>
            <a:r>
              <a:rPr lang="en-US" altLang="ko-KR" b="1" dirty="0">
                <a:solidFill>
                  <a:srgbClr val="FF0000"/>
                </a:solidFill>
              </a:rPr>
              <a:t>Hardware </a:t>
            </a:r>
            <a:r>
              <a:rPr lang="ko-KR" altLang="en-US" b="1" dirty="0"/>
              <a:t>→ </a:t>
            </a:r>
            <a:r>
              <a:rPr lang="ko-KR" altLang="en-US" b="1" dirty="0">
                <a:solidFill>
                  <a:srgbClr val="FF0000"/>
                </a:solidFill>
              </a:rPr>
              <a:t>④ </a:t>
            </a:r>
            <a:r>
              <a:rPr lang="en-US" altLang="ko-KR" b="1" dirty="0" err="1">
                <a:solidFill>
                  <a:srgbClr val="FF0000"/>
                </a:solidFill>
              </a:rPr>
              <a:t>Matlab</a:t>
            </a:r>
            <a:r>
              <a:rPr lang="en-US" altLang="ko-KR" b="1" dirty="0">
                <a:solidFill>
                  <a:srgbClr val="FF0000"/>
                </a:solidFill>
              </a:rPr>
              <a:t>, Simulink</a:t>
            </a:r>
            <a:r>
              <a:rPr lang="en-US" altLang="ko-KR" dirty="0"/>
              <a:t>)  </a:t>
            </a:r>
            <a:r>
              <a:rPr lang="ko-KR" altLang="en-US" dirty="0"/>
              <a:t>→ </a:t>
            </a:r>
            <a:r>
              <a:rPr lang="ko-KR" altLang="en-US" b="1" dirty="0">
                <a:solidFill>
                  <a:srgbClr val="FF0000"/>
                </a:solidFill>
              </a:rPr>
              <a:t>⑤ 개인 공부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순서대로 진행</a:t>
            </a:r>
            <a:endParaRPr lang="en-US" altLang="ko-KR" dirty="0"/>
          </a:p>
          <a:p>
            <a:pPr lvl="2"/>
            <a:endParaRPr lang="en-US" altLang="ko-KR" sz="800" dirty="0"/>
          </a:p>
          <a:p>
            <a:pPr lvl="2"/>
            <a:endParaRPr lang="en-US" altLang="ko-KR" sz="800" dirty="0"/>
          </a:p>
          <a:p>
            <a:pPr lvl="1"/>
            <a:r>
              <a:rPr lang="ko-KR" altLang="en-US" dirty="0"/>
              <a:t>사소한 것이라도 진행한 내용에 대해서는 모두 정리</a:t>
            </a:r>
            <a:endParaRPr lang="en-US" altLang="ko-KR" dirty="0"/>
          </a:p>
          <a:p>
            <a:pPr lvl="2"/>
            <a:r>
              <a:rPr lang="ko-KR" altLang="en-US" sz="1600" dirty="0"/>
              <a:t>나중에 다시 봤을 때 이해할 수 있도록 </a:t>
            </a:r>
            <a:r>
              <a:rPr lang="en-US" altLang="ko-KR" dirty="0">
                <a:solidFill>
                  <a:srgbClr val="FF0000"/>
                </a:solidFill>
              </a:rPr>
              <a:t>Technical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Report</a:t>
            </a:r>
            <a:r>
              <a:rPr lang="ko-KR" altLang="en-US" dirty="0">
                <a:solidFill>
                  <a:srgbClr val="FF0000"/>
                </a:solidFill>
              </a:rPr>
              <a:t> 작성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432000" lvl="2" indent="0">
              <a:buNone/>
            </a:pPr>
            <a:r>
              <a:rPr lang="en-US" altLang="ko-KR" dirty="0"/>
              <a:t>      </a:t>
            </a:r>
            <a:r>
              <a:rPr lang="en-US" altLang="ko-KR" sz="1600" dirty="0"/>
              <a:t>(</a:t>
            </a:r>
            <a:r>
              <a:rPr lang="ko-KR" altLang="en-US" sz="1600" dirty="0"/>
              <a:t>워드의 목차 기능 등 자기에게 편한 방법으로</a:t>
            </a:r>
            <a:r>
              <a:rPr lang="en-US" altLang="ko-KR" sz="1600" dirty="0"/>
              <a:t>)</a:t>
            </a:r>
          </a:p>
          <a:p>
            <a:pPr marL="432000" lvl="2" indent="0">
              <a:buNone/>
            </a:pPr>
            <a:endParaRPr lang="en-US" altLang="ko-KR" sz="1100" dirty="0"/>
          </a:p>
          <a:p>
            <a:pPr marL="432000" lvl="2" indent="0">
              <a:buNone/>
            </a:pPr>
            <a:endParaRPr lang="en-US" altLang="ko-KR" sz="1100" dirty="0"/>
          </a:p>
          <a:p>
            <a:pPr lvl="1"/>
            <a:r>
              <a:rPr lang="ko-KR" altLang="en-US" dirty="0"/>
              <a:t>스케줄 정리</a:t>
            </a:r>
            <a:endParaRPr lang="en-US" altLang="ko-KR" dirty="0"/>
          </a:p>
          <a:p>
            <a:pPr lvl="2"/>
            <a:r>
              <a:rPr lang="ko-KR" altLang="en-US" dirty="0"/>
              <a:t>발표자료 정리하는 시간까지 고려하여 계획 세우기</a:t>
            </a:r>
            <a:endParaRPr lang="en-US" altLang="ko-KR" dirty="0"/>
          </a:p>
          <a:p>
            <a:pPr lvl="2"/>
            <a:r>
              <a:rPr lang="ko-KR" altLang="en-US" dirty="0"/>
              <a:t>한 일 목록보다는 한 일에 </a:t>
            </a:r>
            <a:r>
              <a:rPr lang="ko-KR" altLang="en-US" dirty="0">
                <a:solidFill>
                  <a:srgbClr val="FF0000"/>
                </a:solidFill>
              </a:rPr>
              <a:t>할애한 시간</a:t>
            </a:r>
            <a:r>
              <a:rPr lang="ko-KR" altLang="en-US" dirty="0"/>
              <a:t>으로 정리</a:t>
            </a:r>
            <a:endParaRPr lang="en-US" altLang="ko-KR" dirty="0"/>
          </a:p>
          <a:p>
            <a:pPr lvl="2"/>
            <a:r>
              <a:rPr lang="ko-KR" altLang="en-US" dirty="0"/>
              <a:t>계획대로 하지 못한 일이 있으면 → </a:t>
            </a:r>
            <a:r>
              <a:rPr lang="ko-KR" altLang="en-US" dirty="0">
                <a:solidFill>
                  <a:srgbClr val="FF0000"/>
                </a:solidFill>
              </a:rPr>
              <a:t>못한 이유</a:t>
            </a:r>
            <a:r>
              <a:rPr lang="ko-KR" altLang="en-US" dirty="0"/>
              <a:t>와</a:t>
            </a:r>
            <a:r>
              <a:rPr lang="ko-KR" altLang="en-US" dirty="0">
                <a:solidFill>
                  <a:srgbClr val="FF0000"/>
                </a:solidFill>
              </a:rPr>
              <a:t> 무엇을 했는지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기록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방학기간 중 개선할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237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301554"/>
              </p:ext>
            </p:extLst>
          </p:nvPr>
        </p:nvGraphicFramePr>
        <p:xfrm>
          <a:off x="404847" y="1536758"/>
          <a:ext cx="8482069" cy="4707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177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</a:tblGrid>
              <a:tr h="519165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월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화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수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금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토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573977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1807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Chapter 01~02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공부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PCDU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EPS CODE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분석하기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strike="sngStrike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900" b="0" strike="sngStrike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strike="sngStrike" dirty="0">
                          <a:solidFill>
                            <a:schemeClr val="tx1"/>
                          </a:solidFill>
                        </a:rPr>
                        <a:t>Chapter 03~04 </a:t>
                      </a: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공부</a:t>
                      </a:r>
                      <a:endParaRPr lang="en-US" altLang="ko-KR" sz="9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PCDU</a:t>
                      </a:r>
                      <a:endParaRPr lang="ko-KR" altLang="en-US" sz="9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strike="sngStrike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strike="sngStrike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strike="sngStrike" dirty="0">
                          <a:solidFill>
                            <a:schemeClr val="tx1"/>
                          </a:solidFill>
                        </a:rPr>
                        <a:t>Chapter 05~06</a:t>
                      </a:r>
                      <a:r>
                        <a:rPr lang="ko-KR" altLang="en-US" sz="900" b="0" strike="sngStrike" dirty="0">
                          <a:solidFill>
                            <a:schemeClr val="tx1"/>
                          </a:solidFill>
                        </a:rPr>
                        <a:t> 공부</a:t>
                      </a:r>
                      <a:endParaRPr lang="en-US" altLang="ko-KR" sz="9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– PCDU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Chapter 03~04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공부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– battery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밀린 주간계획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완료하기</a:t>
                      </a:r>
                    </a:p>
                  </a:txBody>
                  <a:tcPr marL="6928" marR="6928" marT="69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180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이종위성군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strike="noStrike" dirty="0" err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와 관련된 논문 </a:t>
                      </a:r>
                      <a:r>
                        <a:rPr lang="ko-KR" altLang="en-US" sz="900" b="0" strike="noStrike" dirty="0" err="1">
                          <a:solidFill>
                            <a:schemeClr val="tx1"/>
                          </a:solidFill>
                        </a:rPr>
                        <a:t>찾아읽기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선배님 피드백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내용 공부하여 미팅 자료에 추가하기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주간 연구미팅 자료 준비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운용중인 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SAR 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사례 찾아보기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석사논문 복습하기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워커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델타 설계기법 익히기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워커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델타 기법으로 </a:t>
                      </a:r>
                      <a:r>
                        <a:rPr lang="ko-KR" altLang="en-US" sz="900" b="0" strike="noStrike" dirty="0" err="1">
                          <a:solidFill>
                            <a:schemeClr val="tx1"/>
                          </a:solidFill>
                        </a:rPr>
                        <a:t>위성군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 설계해보기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928" marR="6928" marT="69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63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25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664C14A-87CA-0261-BC79-66A74B13A2FA}"/>
              </a:ext>
            </a:extLst>
          </p:cNvPr>
          <p:cNvSpPr/>
          <p:nvPr/>
        </p:nvSpPr>
        <p:spPr bwMode="auto">
          <a:xfrm>
            <a:off x="257080" y="6305654"/>
            <a:ext cx="3453683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671301"/>
              </p:ext>
            </p:extLst>
          </p:nvPr>
        </p:nvGraphicFramePr>
        <p:xfrm>
          <a:off x="473553" y="989766"/>
          <a:ext cx="8196894" cy="563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3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976171904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481504592"/>
                    </a:ext>
                  </a:extLst>
                </a:gridCol>
              </a:tblGrid>
              <a:tr h="295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01.11 </a:t>
                      </a:r>
                      <a:r>
                        <a:rPr lang="ko-KR" altLang="en-US" sz="1300" dirty="0"/>
                        <a:t>수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/>
                        <a:t>위성군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HYVRID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3859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11:00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/>
                        <a:t>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158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7859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4921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14:00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95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15:00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4481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3669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17:00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2807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7184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이종 </a:t>
                      </a:r>
                      <a:r>
                        <a:rPr lang="ko-KR" altLang="en-US" sz="1300" dirty="0" err="1"/>
                        <a:t>위성군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39208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이종 </a:t>
                      </a:r>
                      <a:r>
                        <a:rPr lang="ko-KR" altLang="en-US" sz="1300" dirty="0" err="1"/>
                        <a:t>위성군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736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이종 </a:t>
                      </a:r>
                      <a:r>
                        <a:rPr lang="ko-KR" altLang="en-US" sz="1300" dirty="0" err="1"/>
                        <a:t>위성군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22:00 ~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못한 일간계획 완료하기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2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0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664C14A-87CA-0261-BC79-66A74B13A2FA}"/>
              </a:ext>
            </a:extLst>
          </p:cNvPr>
          <p:cNvSpPr/>
          <p:nvPr/>
        </p:nvSpPr>
        <p:spPr bwMode="auto">
          <a:xfrm>
            <a:off x="257080" y="6305654"/>
            <a:ext cx="3453683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160703"/>
              </p:ext>
            </p:extLst>
          </p:nvPr>
        </p:nvGraphicFramePr>
        <p:xfrm>
          <a:off x="473552" y="989766"/>
          <a:ext cx="8045980" cy="563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887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2252546">
                  <a:extLst>
                    <a:ext uri="{9D8B030D-6E8A-4147-A177-3AD203B41FA5}">
                      <a16:colId xmlns:a16="http://schemas.microsoft.com/office/drawing/2014/main" val="2976171904"/>
                    </a:ext>
                  </a:extLst>
                </a:gridCol>
                <a:gridCol w="2943922">
                  <a:extLst>
                    <a:ext uri="{9D8B030D-6E8A-4147-A177-3AD203B41FA5}">
                      <a16:colId xmlns:a16="http://schemas.microsoft.com/office/drawing/2014/main" val="2767664677"/>
                    </a:ext>
                  </a:extLst>
                </a:gridCol>
                <a:gridCol w="1594625">
                  <a:extLst>
                    <a:ext uri="{9D8B030D-6E8A-4147-A177-3AD203B41FA5}">
                      <a16:colId xmlns:a16="http://schemas.microsoft.com/office/drawing/2014/main" val="1558053720"/>
                    </a:ext>
                  </a:extLst>
                </a:gridCol>
              </a:tblGrid>
              <a:tr h="295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01.11 </a:t>
                      </a:r>
                      <a:r>
                        <a:rPr lang="ko-KR" altLang="en-US" sz="1300" dirty="0"/>
                        <a:t>수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계획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진행 상황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진행 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개인일정으로 하지 못함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r>
                        <a:rPr lang="ko-KR" altLang="en-US" sz="1300" dirty="0"/>
                        <a:t>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HYVRID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PCDU Data sheet </a:t>
                      </a:r>
                      <a:r>
                        <a:rPr lang="ko-KR" altLang="en-US" sz="1300" dirty="0"/>
                        <a:t>학습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20</a:t>
                      </a:r>
                      <a:r>
                        <a:rPr lang="ko-KR" altLang="en-US" sz="1300" dirty="0"/>
                        <a:t>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3859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11:00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/>
                        <a:t>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PCDU Data sheet </a:t>
                      </a:r>
                      <a:r>
                        <a:rPr lang="ko-KR" altLang="en-US" sz="1300" dirty="0"/>
                        <a:t>학습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158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17859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PCDU </a:t>
                      </a:r>
                      <a:r>
                        <a:rPr lang="ko-KR" altLang="en-US" sz="1300" dirty="0"/>
                        <a:t>용어 및 동작 원리 학습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4921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14:00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PCDU Hardware spec, </a:t>
                      </a:r>
                      <a:r>
                        <a:rPr lang="ko-KR" altLang="en-US" sz="1300" dirty="0"/>
                        <a:t>구성요소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95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15:00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Interface </a:t>
                      </a:r>
                      <a:r>
                        <a:rPr lang="ko-KR" altLang="en-US" sz="1300" dirty="0"/>
                        <a:t>및 </a:t>
                      </a:r>
                      <a:r>
                        <a:rPr lang="en-US" altLang="ko-KR" sz="1300" dirty="0"/>
                        <a:t>Charge method </a:t>
                      </a:r>
                      <a:r>
                        <a:rPr lang="ko-KR" altLang="en-US" sz="1300" dirty="0"/>
                        <a:t>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4481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93669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17:00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92807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37184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이종 </a:t>
                      </a:r>
                      <a:r>
                        <a:rPr lang="ko-KR" altLang="en-US" sz="1300" dirty="0" err="1"/>
                        <a:t>위성군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논문 조사 </a:t>
                      </a:r>
                      <a:r>
                        <a:rPr lang="en-US" altLang="ko-KR" sz="1300" dirty="0"/>
                        <a:t>(UrtheCast)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30</a:t>
                      </a:r>
                      <a:r>
                        <a:rPr lang="ko-KR" altLang="en-US" sz="1300" dirty="0"/>
                        <a:t>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39208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이종 </a:t>
                      </a:r>
                      <a:r>
                        <a:rPr lang="ko-KR" altLang="en-US" sz="1300" dirty="0" err="1"/>
                        <a:t>위성군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논문 조사 </a:t>
                      </a:r>
                      <a:r>
                        <a:rPr lang="en-US" altLang="ko-KR" sz="1300" dirty="0"/>
                        <a:t>(UrtheCast)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736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이종 </a:t>
                      </a:r>
                      <a:r>
                        <a:rPr lang="ko-KR" altLang="en-US" sz="1300" dirty="0" err="1"/>
                        <a:t>위성군</a:t>
                      </a:r>
                      <a:r>
                        <a:rPr lang="ko-KR" altLang="en-US" sz="1300" dirty="0"/>
                        <a:t> 자료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논문 조사 </a:t>
                      </a:r>
                      <a:r>
                        <a:rPr lang="en-US" altLang="ko-KR" sz="1300" dirty="0"/>
                        <a:t>(UrtheCast)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22:00 ~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못한 일간계획 완료하기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신입생 오리엔테이션 </a:t>
                      </a:r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강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2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54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664C14A-87CA-0261-BC79-66A74B13A2FA}"/>
              </a:ext>
            </a:extLst>
          </p:cNvPr>
          <p:cNvSpPr/>
          <p:nvPr/>
        </p:nvSpPr>
        <p:spPr bwMode="auto">
          <a:xfrm>
            <a:off x="257080" y="6305654"/>
            <a:ext cx="3453683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636659"/>
              </p:ext>
            </p:extLst>
          </p:nvPr>
        </p:nvGraphicFramePr>
        <p:xfrm>
          <a:off x="473553" y="989766"/>
          <a:ext cx="8196894" cy="5705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3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976171904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481504592"/>
                    </a:ext>
                  </a:extLst>
                </a:gridCol>
              </a:tblGrid>
              <a:tr h="295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01.12 </a:t>
                      </a:r>
                      <a:r>
                        <a:rPr lang="ko-KR" altLang="en-US" sz="1300" dirty="0"/>
                        <a:t>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/>
                        <a:t>위성군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3859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11:00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158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7859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연구 미팅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4921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14:00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95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15:00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황영민 석사 논문 </a:t>
                      </a: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부분 학습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4481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황영민 석사 논문 </a:t>
                      </a: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부분 학습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36692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17:00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28076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일간 발표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852315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71840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322906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39208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PCDU</a:t>
                      </a:r>
                      <a:r>
                        <a:rPr lang="ko-KR" altLang="en-US" sz="1300" dirty="0"/>
                        <a:t> 용어 정리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91705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PCDU Datasheet </a:t>
                      </a:r>
                      <a:r>
                        <a:rPr lang="ko-KR" altLang="en-US" sz="1300" dirty="0"/>
                        <a:t>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736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PCDU Datasheet </a:t>
                      </a:r>
                      <a:r>
                        <a:rPr lang="ko-KR" altLang="en-US" sz="1300" dirty="0"/>
                        <a:t>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22:00 ~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못한 일간계획 완료하기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38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81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664C14A-87CA-0261-BC79-66A74B13A2FA}"/>
              </a:ext>
            </a:extLst>
          </p:cNvPr>
          <p:cNvSpPr/>
          <p:nvPr/>
        </p:nvSpPr>
        <p:spPr bwMode="auto">
          <a:xfrm>
            <a:off x="257080" y="6305654"/>
            <a:ext cx="3453683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95099"/>
              </p:ext>
            </p:extLst>
          </p:nvPr>
        </p:nvGraphicFramePr>
        <p:xfrm>
          <a:off x="473552" y="989766"/>
          <a:ext cx="7867560" cy="5868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887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2107581">
                  <a:extLst>
                    <a:ext uri="{9D8B030D-6E8A-4147-A177-3AD203B41FA5}">
                      <a16:colId xmlns:a16="http://schemas.microsoft.com/office/drawing/2014/main" val="2976171904"/>
                    </a:ext>
                  </a:extLst>
                </a:gridCol>
                <a:gridCol w="3334214">
                  <a:extLst>
                    <a:ext uri="{9D8B030D-6E8A-4147-A177-3AD203B41FA5}">
                      <a16:colId xmlns:a16="http://schemas.microsoft.com/office/drawing/2014/main" val="3560489006"/>
                    </a:ext>
                  </a:extLst>
                </a:gridCol>
                <a:gridCol w="1170878">
                  <a:extLst>
                    <a:ext uri="{9D8B030D-6E8A-4147-A177-3AD203B41FA5}">
                      <a16:colId xmlns:a16="http://schemas.microsoft.com/office/drawing/2014/main" val="3013341761"/>
                    </a:ext>
                  </a:extLst>
                </a:gridCol>
              </a:tblGrid>
              <a:tr h="295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01.12 </a:t>
                      </a:r>
                      <a:r>
                        <a:rPr lang="ko-KR" altLang="en-US" sz="1300" dirty="0"/>
                        <a:t>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계획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진행 상황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진행 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논문 조사 </a:t>
                      </a:r>
                      <a:r>
                        <a:rPr lang="en-US" altLang="ko-KR" sz="1300" dirty="0"/>
                        <a:t>(UrtheCast)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현재 운용중인 </a:t>
                      </a:r>
                      <a:r>
                        <a:rPr lang="en-US" altLang="ko-KR" sz="1300" dirty="0"/>
                        <a:t>SAR </a:t>
                      </a:r>
                      <a:r>
                        <a:rPr lang="ko-KR" altLang="en-US" sz="1300" dirty="0"/>
                        <a:t>미션 조사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3859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11:00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한반도 감시정찰을 위한 </a:t>
                      </a: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조사</a:t>
                      </a:r>
                      <a:endParaRPr lang="en-US" altLang="ko-KR" sz="13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황영민 석사논문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158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점심식사 시간으로 이용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r>
                        <a:rPr lang="ko-KR" altLang="en-US" sz="1300" dirty="0"/>
                        <a:t>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7859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연구 미팅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연구미팅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94921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14:00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휴식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r>
                        <a:rPr lang="ko-KR" altLang="en-US" sz="1300" dirty="0"/>
                        <a:t>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695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15:00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황영민 석사 논문 </a:t>
                      </a:r>
                      <a:r>
                        <a:rPr lang="en-US" altLang="ko-KR" sz="1300" dirty="0" err="1"/>
                        <a:t>OptiSAR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부분 학습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위성 수에 따른 </a:t>
                      </a:r>
                      <a:r>
                        <a:rPr lang="en-US" altLang="ko-KR" sz="1300" dirty="0"/>
                        <a:t>EO</a:t>
                      </a:r>
                      <a:r>
                        <a:rPr lang="ko-KR" altLang="en-US" sz="1300" dirty="0"/>
                        <a:t>와 </a:t>
                      </a:r>
                      <a:r>
                        <a:rPr lang="en-US" altLang="ko-KR" sz="1300" dirty="0"/>
                        <a:t>SAR</a:t>
                      </a:r>
                      <a:r>
                        <a:rPr lang="ko-KR" altLang="en-US" sz="1300" dirty="0"/>
                        <a:t>의 성능지수 학습 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30</a:t>
                      </a:r>
                      <a:r>
                        <a:rPr lang="ko-KR" altLang="en-US" sz="1300" dirty="0"/>
                        <a:t>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4481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/>
                        <a:t>황영민 석사 논문 </a:t>
                      </a:r>
                      <a:r>
                        <a:rPr lang="en-US" altLang="ko-KR" sz="1300"/>
                        <a:t>OptiSAR </a:t>
                      </a:r>
                      <a:r>
                        <a:rPr lang="ko-KR" altLang="en-US" sz="1300"/>
                        <a:t>부분 학습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위성 수에 따른 </a:t>
                      </a:r>
                      <a:r>
                        <a:rPr lang="en-US" altLang="ko-KR" sz="1300" dirty="0"/>
                        <a:t>EO</a:t>
                      </a:r>
                      <a:r>
                        <a:rPr lang="ko-KR" altLang="en-US" sz="1300" dirty="0"/>
                        <a:t>와 </a:t>
                      </a:r>
                      <a:r>
                        <a:rPr lang="en-US" altLang="ko-KR" sz="1300" dirty="0"/>
                        <a:t>SAR</a:t>
                      </a:r>
                      <a:r>
                        <a:rPr lang="ko-KR" altLang="en-US" sz="1300" dirty="0"/>
                        <a:t>의 성능지수 학습 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36692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17:00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928076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일간 발표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852315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371840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322906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039208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PCDU</a:t>
                      </a:r>
                      <a:r>
                        <a:rPr lang="ko-KR" altLang="en-US" sz="1300" dirty="0"/>
                        <a:t> 용어 정리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91705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PCDU Datasheet </a:t>
                      </a:r>
                      <a:r>
                        <a:rPr lang="ko-KR" altLang="en-US" sz="1300" dirty="0"/>
                        <a:t>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736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PCDU Datasheet </a:t>
                      </a:r>
                      <a:r>
                        <a:rPr lang="ko-KR" altLang="en-US" sz="1300" dirty="0"/>
                        <a:t>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22:00 ~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못한 일간계획 완료하기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38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57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46F8AE-F028-6455-E0A6-536ADA74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97E53A-BF58-8D1D-22D1-E46AF38E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이종위성군 </a:t>
            </a:r>
            <a:r>
              <a:rPr lang="en-US" altLang="ko-KR"/>
              <a:t>(</a:t>
            </a:r>
            <a:r>
              <a:rPr lang="ko-KR" altLang="en-US"/>
              <a:t>특화센터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6A76EB1-B5F6-7E83-5FE5-AFA39984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E4264EF-4A2F-9E2C-A2DB-68E2704F7875}"/>
              </a:ext>
            </a:extLst>
          </p:cNvPr>
          <p:cNvGraphicFramePr>
            <a:graphicFrameLocks/>
          </p:cNvGraphicFramePr>
          <p:nvPr/>
        </p:nvGraphicFramePr>
        <p:xfrm>
          <a:off x="257080" y="1905000"/>
          <a:ext cx="8629653" cy="30480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7871">
                  <a:extLst>
                    <a:ext uri="{9D8B030D-6E8A-4147-A177-3AD203B41FA5}">
                      <a16:colId xmlns:a16="http://schemas.microsoft.com/office/drawing/2014/main" val="1555289743"/>
                    </a:ext>
                  </a:extLst>
                </a:gridCol>
                <a:gridCol w="5456264">
                  <a:extLst>
                    <a:ext uri="{9D8B030D-6E8A-4147-A177-3AD203B41FA5}">
                      <a16:colId xmlns:a16="http://schemas.microsoft.com/office/drawing/2014/main" val="3090383927"/>
                    </a:ext>
                  </a:extLst>
                </a:gridCol>
                <a:gridCol w="1237759">
                  <a:extLst>
                    <a:ext uri="{9D8B030D-6E8A-4147-A177-3AD203B41FA5}">
                      <a16:colId xmlns:a16="http://schemas.microsoft.com/office/drawing/2014/main" val="604177315"/>
                    </a:ext>
                  </a:extLst>
                </a:gridCol>
                <a:gridCol w="1237759">
                  <a:extLst>
                    <a:ext uri="{9D8B030D-6E8A-4147-A177-3AD203B41FA5}">
                      <a16:colId xmlns:a16="http://schemas.microsoft.com/office/drawing/2014/main" val="909881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목표일정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993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[1]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이종위성군 사례조사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~ 2022.12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221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OptiSAR</a:t>
                      </a:r>
                      <a:r>
                        <a:rPr lang="en-US" altLang="ko-KR" sz="1400" dirty="0"/>
                        <a:t> (UrtheCast) </a:t>
                      </a:r>
                      <a:r>
                        <a:rPr lang="ko-KR" altLang="en-US" sz="1400" dirty="0"/>
                        <a:t>운용궤도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위성 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탑재체</a:t>
                      </a:r>
                      <a:r>
                        <a:rPr lang="ko-KR" altLang="en-US" sz="1400" dirty="0"/>
                        <a:t> 성능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77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운용개념을 분석하여 궤도평면 내 </a:t>
                      </a:r>
                      <a:r>
                        <a:rPr lang="en-US" altLang="ko-KR" sz="1400" dirty="0"/>
                        <a:t>Optics/SAR </a:t>
                      </a:r>
                      <a:r>
                        <a:rPr lang="ko-KR" altLang="en-US" sz="1400" dirty="0"/>
                        <a:t>위성 배치 최적화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60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탑재체</a:t>
                      </a:r>
                      <a:r>
                        <a:rPr lang="ko-KR" altLang="en-US" sz="1400" dirty="0"/>
                        <a:t> 성능과 운용모드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71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[2]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한반도 감시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정찰 목적의 이종위성군 설계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~ 2023.01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12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워커</a:t>
                      </a: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델타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설계기법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21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[3]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이종위성군 성능지표 수립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~ 2023.02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704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감시정찰을 위한 성능지수 정의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재방문주기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탐색완료시간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40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탑재체</a:t>
                      </a:r>
                      <a:r>
                        <a:rPr lang="ko-KR" altLang="en-US" sz="1400" dirty="0"/>
                        <a:t> 특성을 고려한 운용모드 별 성능지수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03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61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이종위성군</a:t>
            </a:r>
            <a:endParaRPr lang="en-US" altLang="ko-KR" dirty="0"/>
          </a:p>
          <a:p>
            <a:pPr lvl="1"/>
            <a:r>
              <a:rPr lang="en-US" altLang="ko-KR" dirty="0"/>
              <a:t>Feedback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2"/>
            <a:r>
              <a:rPr lang="en-US" altLang="ko-KR" dirty="0"/>
              <a:t>Optics</a:t>
            </a:r>
            <a:r>
              <a:rPr lang="ko-KR" altLang="en-US" dirty="0"/>
              <a:t>와 </a:t>
            </a:r>
            <a:r>
              <a:rPr lang="en-US" altLang="ko-KR" dirty="0"/>
              <a:t>SAR </a:t>
            </a:r>
            <a:r>
              <a:rPr lang="ko-KR" altLang="en-US" dirty="0" err="1"/>
              <a:t>탑재체</a:t>
            </a:r>
            <a:r>
              <a:rPr lang="ko-KR" altLang="en-US" dirty="0"/>
              <a:t> 성능</a:t>
            </a:r>
            <a:r>
              <a:rPr lang="en-US" altLang="ko-KR" dirty="0"/>
              <a:t>, </a:t>
            </a:r>
            <a:r>
              <a:rPr lang="ko-KR" altLang="en-US" dirty="0"/>
              <a:t>특성 각각 조사하기</a:t>
            </a:r>
            <a:endParaRPr lang="en-US" altLang="ko-KR" dirty="0"/>
          </a:p>
          <a:p>
            <a:pPr lvl="3"/>
            <a:r>
              <a:rPr lang="ko-KR" altLang="en-US" dirty="0"/>
              <a:t>이를 위해 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공부</a:t>
            </a:r>
            <a:endParaRPr lang="en-US" altLang="ko-KR" dirty="0"/>
          </a:p>
          <a:p>
            <a:pPr lvl="3"/>
            <a:r>
              <a:rPr lang="ko-KR" altLang="en-US" dirty="0"/>
              <a:t>추가적으로 다른 설계기법도 공부 </a:t>
            </a:r>
            <a:r>
              <a:rPr lang="en-US" altLang="ko-KR" dirty="0"/>
              <a:t>(</a:t>
            </a:r>
            <a:r>
              <a:rPr lang="ko-KR" altLang="en-US" dirty="0"/>
              <a:t>황영민</a:t>
            </a:r>
            <a:r>
              <a:rPr lang="en-US" altLang="ko-KR" dirty="0"/>
              <a:t>, </a:t>
            </a:r>
            <a:r>
              <a:rPr lang="ko-KR" altLang="en-US" dirty="0"/>
              <a:t>신진영 석사논문 참고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각 국의 </a:t>
            </a:r>
            <a:r>
              <a:rPr lang="en-US" altLang="ko-KR" dirty="0"/>
              <a:t>SAR </a:t>
            </a:r>
            <a:r>
              <a:rPr lang="ko-KR" altLang="en-US" dirty="0" err="1"/>
              <a:t>위성군</a:t>
            </a:r>
            <a:r>
              <a:rPr lang="ko-KR" altLang="en-US" dirty="0"/>
              <a:t> 현재 운용 중인지 조사하기</a:t>
            </a:r>
            <a:endParaRPr lang="en-US" altLang="ko-KR" dirty="0"/>
          </a:p>
          <a:p>
            <a:pPr lvl="2"/>
            <a:r>
              <a:rPr lang="ko-KR" altLang="en-US" dirty="0"/>
              <a:t>교수님이 말씀하신 </a:t>
            </a: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위성군의 한 궤도평면 당 총 위성 수 확인하기</a:t>
            </a:r>
            <a:endParaRPr lang="en-US" altLang="ko-KR" dirty="0"/>
          </a:p>
          <a:p>
            <a:pPr marL="0" indent="0">
              <a:buNone/>
            </a:pPr>
            <a:endParaRPr lang="en-US" altLang="ko-KR" sz="800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방학기간 중 개선할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68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레이다</a:t>
            </a:r>
          </a:p>
          <a:p>
            <a:pPr lvl="1">
              <a:defRPr/>
            </a:pPr>
            <a:r>
              <a:rPr lang="ko-KR" altLang="en-US" dirty="0"/>
              <a:t>원리</a:t>
            </a:r>
          </a:p>
          <a:p>
            <a:pPr marL="777150" lvl="2" indent="-285750">
              <a:defRPr/>
            </a:pPr>
            <a:r>
              <a:rPr lang="ko-KR" altLang="en-US" dirty="0"/>
              <a:t>짧고 강한 펄스 전파 빔을 목표지역에 쏘아</a:t>
            </a:r>
          </a:p>
          <a:p>
            <a:pPr marL="777150" lvl="2" indent="-285750">
              <a:defRPr/>
            </a:pPr>
            <a:r>
              <a:rPr lang="ko-KR" altLang="en-US" dirty="0"/>
              <a:t>반사파가 레이다 안테나로 돌아오는 시간을 측정하여 </a:t>
            </a:r>
            <a:r>
              <a:rPr lang="en-US" altLang="ko-KR" dirty="0"/>
              <a:t>2</a:t>
            </a:r>
            <a:r>
              <a:rPr lang="ko-KR" altLang="en-US" dirty="0"/>
              <a:t>차원 영상을 구성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lvl="1">
              <a:defRPr/>
            </a:pPr>
            <a:r>
              <a:rPr lang="ko-KR" altLang="en-US" dirty="0"/>
              <a:t> 해상력을 높이기 위한 방법</a:t>
            </a:r>
          </a:p>
          <a:p>
            <a:pPr marL="777150" lvl="2" indent="-285750">
              <a:defRPr/>
            </a:pPr>
            <a:r>
              <a:rPr lang="ko-KR" altLang="en-US" dirty="0"/>
              <a:t>목표지역의 좁은 부분에서 나오는 반사파만 골라 수신할 수 있어야 함 </a:t>
            </a:r>
            <a:r>
              <a:rPr lang="en-US" altLang="ko-KR" dirty="0"/>
              <a:t>(</a:t>
            </a:r>
            <a:r>
              <a:rPr lang="ko-KR" altLang="en-US" dirty="0"/>
              <a:t>방위 해상도</a:t>
            </a:r>
            <a:r>
              <a:rPr lang="en-US" altLang="ko-KR" dirty="0"/>
              <a:t>)</a:t>
            </a:r>
          </a:p>
          <a:p>
            <a:pPr marL="777150" lvl="2" indent="-285750">
              <a:defRPr/>
            </a:pPr>
            <a:r>
              <a:rPr lang="ko-KR" altLang="en-US" dirty="0"/>
              <a:t>내보내는 전파 펄스 자체가 시간적으로 짧아야 함</a:t>
            </a:r>
            <a:r>
              <a:rPr lang="en-US" altLang="ko-KR" dirty="0"/>
              <a:t>(</a:t>
            </a:r>
            <a:r>
              <a:rPr lang="ko-KR" altLang="en-US" dirty="0"/>
              <a:t>거리 해상도</a:t>
            </a:r>
            <a:r>
              <a:rPr lang="en-US" altLang="ko-KR" dirty="0"/>
              <a:t>)</a:t>
            </a:r>
          </a:p>
          <a:p>
            <a:pPr marL="777150" lvl="2" indent="-285750">
              <a:defRPr/>
            </a:pPr>
            <a:r>
              <a:rPr lang="ko-KR" altLang="en-US" dirty="0"/>
              <a:t>분산이나 굴절을 최소화하기 위해 되도록 짧은 파장의 전파를 사용해야 함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lvl="1">
              <a:defRPr/>
            </a:pPr>
            <a:r>
              <a:rPr lang="ko-KR" altLang="en-US" dirty="0"/>
              <a:t> 해상력의 한계</a:t>
            </a:r>
          </a:p>
          <a:p>
            <a:pPr marL="777150" lvl="2" indent="-285750">
              <a:defRPr/>
            </a:pPr>
            <a:r>
              <a:rPr lang="ko-KR" altLang="en-US" dirty="0"/>
              <a:t>안테나의 직경을 늘리지 않고 배율만 높이면 빛의 회절로 상이 </a:t>
            </a:r>
            <a:r>
              <a:rPr lang="ko-KR" altLang="en-US" dirty="0" err="1"/>
              <a:t>뭉개짐</a:t>
            </a:r>
            <a:endParaRPr lang="ko-KR" altLang="en-US" dirty="0"/>
          </a:p>
          <a:p>
            <a:pPr marL="777150" lvl="2" indent="-285750">
              <a:defRPr/>
            </a:pPr>
            <a:r>
              <a:rPr lang="ko-KR" altLang="en-US" dirty="0"/>
              <a:t>항공기에 탑재하기엔 크기나 무게에 제한이 있고 빠르게 회전시키는 것도 곤란함</a:t>
            </a:r>
          </a:p>
          <a:p>
            <a:pPr marL="777150" lvl="2" indent="-285750">
              <a:defRPr/>
            </a:pPr>
            <a:r>
              <a:rPr lang="ko-KR" altLang="en-US" dirty="0"/>
              <a:t>전파의 파장을 짧게 하는 데도 기술적 한계나 실용적 문제가 있음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marL="216000" lvl="1" indent="0">
              <a:buFont typeface="mn-ea"/>
              <a:buNone/>
              <a:defRPr/>
            </a:pPr>
            <a:r>
              <a:rPr lang="en-US" altLang="ko-KR" b="1" dirty="0"/>
              <a:t>(</a:t>
            </a:r>
            <a:r>
              <a:rPr lang="ko-KR" altLang="en-US" b="1" dirty="0"/>
              <a:t>출처 </a:t>
            </a:r>
            <a:r>
              <a:rPr lang="en-US" altLang="en-US" b="1" dirty="0"/>
              <a:t>Rich Data Cheap Satellites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2017</a:t>
            </a:r>
            <a:r>
              <a:rPr lang="ko-KR" altLang="en-US" b="1" dirty="0"/>
              <a:t> </a:t>
            </a:r>
            <a:r>
              <a:rPr lang="ko-KR" altLang="en-US" b="1" dirty="0" err="1"/>
              <a:t>Luis</a:t>
            </a:r>
            <a:r>
              <a:rPr lang="ko-KR" altLang="en-US" b="1" dirty="0"/>
              <a:t> </a:t>
            </a:r>
            <a:r>
              <a:rPr lang="ko-KR" altLang="en-US" b="1" dirty="0" err="1"/>
              <a:t>Gomes</a:t>
            </a:r>
            <a:r>
              <a:rPr lang="ko-KR" altLang="en-US" b="1" dirty="0"/>
              <a:t>. </a:t>
            </a:r>
            <a:r>
              <a:rPr lang="ko-KR" altLang="en-US" b="1" dirty="0" err="1"/>
              <a:t>Surrey</a:t>
            </a:r>
            <a:r>
              <a:rPr lang="ko-KR" altLang="en-US" b="1" dirty="0"/>
              <a:t> </a:t>
            </a:r>
            <a:r>
              <a:rPr lang="ko-KR" altLang="en-US" b="1" dirty="0" err="1"/>
              <a:t>Satellite</a:t>
            </a:r>
            <a:r>
              <a:rPr lang="ko-KR" altLang="en-US" b="1" dirty="0"/>
              <a:t> Technology</a:t>
            </a:r>
            <a:r>
              <a:rPr lang="en-US" altLang="ko-KR" b="1" dirty="0"/>
              <a:t>)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SAR</a:t>
            </a:r>
          </a:p>
          <a:p>
            <a:pPr lvl="1">
              <a:defRPr/>
            </a:pPr>
            <a:r>
              <a:rPr lang="ko-KR" altLang="en-US" sz="1800"/>
              <a:t>합성개구레이다</a:t>
            </a:r>
            <a:r>
              <a:rPr lang="en-US" altLang="ko-KR" sz="1800"/>
              <a:t>(Synthetic Aperture Radar)</a:t>
            </a:r>
            <a:endParaRPr lang="ko-KR" altLang="en-US" sz="1800"/>
          </a:p>
          <a:p>
            <a:pPr marL="777150" lvl="2" indent="-285750">
              <a:defRPr/>
            </a:pPr>
            <a:r>
              <a:rPr lang="ko-KR" altLang="en-US"/>
              <a:t>공중에서 지상 및 해양을 관찰하는 레이다</a:t>
            </a:r>
          </a:p>
          <a:p>
            <a:pPr marL="777150" lvl="2" indent="-285750">
              <a:defRPr/>
            </a:pPr>
            <a:r>
              <a:rPr lang="ko-KR" altLang="en-US"/>
              <a:t>반사된 미세한 시간차를 처리하여 지상지형도를 만들거나 지표 관측</a:t>
            </a:r>
          </a:p>
          <a:p>
            <a:pPr marL="777150" lvl="2" indent="-285750">
              <a:defRPr/>
            </a:pPr>
            <a:r>
              <a:rPr lang="en-US" altLang="ko-KR"/>
              <a:t>1960</a:t>
            </a:r>
            <a:r>
              <a:rPr lang="ko-KR" altLang="en-US"/>
              <a:t>년대부터 주로 군용 정찰장비로 개발</a:t>
            </a:r>
          </a:p>
          <a:p>
            <a:pPr marL="777150" lvl="2" indent="-285750">
              <a:defRPr/>
            </a:pPr>
            <a:r>
              <a:rPr lang="en-US" altLang="ko-KR"/>
              <a:t>1980</a:t>
            </a:r>
            <a:r>
              <a:rPr lang="ko-KR" altLang="en-US"/>
              <a:t>년대에는 단순한 지형패턴만이 아닌 이동목표 추적 능력 탑재</a:t>
            </a:r>
          </a:p>
          <a:p>
            <a:pPr marL="777150" lvl="2" indent="-285750">
              <a:defRPr/>
            </a:pPr>
            <a:r>
              <a:rPr lang="ko-KR" altLang="en-US"/>
              <a:t>플랫폼에는 특별한 제한이 없으며 무인정찰기 및 인공위성에도 장착</a:t>
            </a:r>
            <a:endParaRPr lang="ko-KR" altLang="en-US" sz="1800"/>
          </a:p>
          <a:p>
            <a:pPr marL="216000" lvl="1" indent="0">
              <a:buNone/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장점</a:t>
            </a:r>
          </a:p>
          <a:p>
            <a:pPr marL="777150" lvl="2" indent="-285750">
              <a:defRPr/>
            </a:pPr>
            <a:r>
              <a:rPr lang="ko-KR" altLang="en-US"/>
              <a:t>안테나의 직경을 크게 하지 않으면서 높은 방위해상도를 얻을 수 있음</a:t>
            </a:r>
          </a:p>
          <a:p>
            <a:pPr marL="777150" lvl="2" indent="-285750">
              <a:defRPr/>
            </a:pPr>
            <a:r>
              <a:rPr lang="ko-KR" altLang="en-US"/>
              <a:t>펄스폭도 넓고 안테나 직경도 작아서 빔의 각도 범위도 넓은 편</a:t>
            </a:r>
          </a:p>
          <a:p>
            <a:pPr marL="777150" lvl="2" indent="-285750">
              <a:defRPr/>
            </a:pPr>
            <a:r>
              <a:rPr lang="ko-KR" altLang="en-US"/>
              <a:t>공중에서 넓은 범위의 지상의 고해상도의 영상을 획득하는데 아주 효과적임</a:t>
            </a:r>
          </a:p>
          <a:p>
            <a:pPr marL="777150" lvl="2" indent="-285750">
              <a:defRPr/>
            </a:pPr>
            <a:r>
              <a:rPr lang="ko-KR" altLang="en-US"/>
              <a:t>주간 및 야간</a:t>
            </a:r>
            <a:r>
              <a:rPr lang="en-US" altLang="ko-KR"/>
              <a:t>,</a:t>
            </a:r>
            <a:r>
              <a:rPr lang="ko-KR" altLang="en-US"/>
              <a:t> 악천후에도 사용할 수 있음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 dirty="0"/>
              <a:t> 원리</a:t>
            </a:r>
          </a:p>
          <a:p>
            <a:pPr marL="777150" lvl="2" indent="-285750">
              <a:defRPr/>
            </a:pPr>
            <a:r>
              <a:rPr lang="ko-KR" altLang="en-US" dirty="0"/>
              <a:t>고속으로 이동하며 위상이 일치하는 전파 빔을 방사</a:t>
            </a:r>
          </a:p>
          <a:p>
            <a:pPr marL="777150" lvl="2" indent="-285750">
              <a:defRPr/>
            </a:pPr>
            <a:r>
              <a:rPr lang="ko-KR" altLang="en-US" dirty="0"/>
              <a:t>레이다 반사파를 연속적으로 수신</a:t>
            </a:r>
          </a:p>
          <a:p>
            <a:pPr marL="777150" lvl="2" indent="-285750">
              <a:defRPr/>
            </a:pPr>
            <a:r>
              <a:rPr lang="ko-KR" altLang="en-US" u="sng" dirty="0"/>
              <a:t>전파 빔을 방사한 안테나</a:t>
            </a:r>
            <a:r>
              <a:rPr lang="ko-KR" altLang="en-US" dirty="0"/>
              <a:t>와 반사되어 돌아온 </a:t>
            </a:r>
            <a:r>
              <a:rPr lang="ko-KR" altLang="en-US" u="sng" dirty="0"/>
              <a:t>반사파를 수신하는 안테나</a:t>
            </a:r>
            <a:r>
              <a:rPr lang="ko-KR" altLang="en-US" dirty="0"/>
              <a:t>의 위치의 차이</a:t>
            </a:r>
          </a:p>
          <a:p>
            <a:pPr marL="777150" lvl="2" indent="-285750">
              <a:defRPr/>
            </a:pPr>
            <a:r>
              <a:rPr lang="ko-KR" altLang="en-US" dirty="0"/>
              <a:t> 도플러편이 발생</a:t>
            </a:r>
          </a:p>
          <a:p>
            <a:pPr marL="957150" lvl="3" indent="-285750">
              <a:defRPr/>
            </a:pPr>
            <a:r>
              <a:rPr lang="en-US" altLang="ko-KR" dirty="0"/>
              <a:t>1.</a:t>
            </a:r>
            <a:r>
              <a:rPr lang="ko-KR" altLang="en-US" dirty="0"/>
              <a:t> 대상과 레이다 안테나 사이의 거리차에 대한 위상보정 </a:t>
            </a:r>
          </a:p>
          <a:p>
            <a:pPr marL="957150" lvl="3" indent="-285750">
              <a:defRPr/>
            </a:pPr>
            <a:r>
              <a:rPr lang="en-US" altLang="ko-KR" dirty="0"/>
              <a:t>2.</a:t>
            </a:r>
            <a:r>
              <a:rPr lang="ko-KR" altLang="en-US" dirty="0"/>
              <a:t> 또는 수신지점이 다르지만 위상이 같은 신호를 더하여 합성된 안테나 신호를 획득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marL="777150" lvl="2" indent="-285750">
              <a:defRPr/>
            </a:pPr>
            <a:r>
              <a:rPr lang="ko-KR" altLang="en-US" dirty="0"/>
              <a:t>전파가 반사되어 돌아오는 동안 이동한 거리만큼 레이다 안테나의 직경이 길어지는 효과가 나타나므로 예리하게 반사파를 수신할 수 있음</a:t>
            </a:r>
          </a:p>
          <a:p>
            <a:pPr marL="777150" lvl="2" indent="-285750">
              <a:defRPr/>
            </a:pP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작은 안테나로 수신된 연속적인 여러 개의 레이다 신호들을 합성하여 개구면이 큰 안테나로 합성하는 것</a:t>
            </a:r>
          </a:p>
          <a:p>
            <a:pPr marL="216000" lvl="1" indent="0"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 dirty="0"/>
              <a:t> 각국의 </a:t>
            </a:r>
            <a:r>
              <a:rPr lang="en-US" altLang="ko-KR" dirty="0"/>
              <a:t>SAR</a:t>
            </a:r>
          </a:p>
          <a:p>
            <a:pPr marL="777150" lvl="2" indent="-285750">
              <a:defRPr/>
            </a:pPr>
            <a:r>
              <a:rPr lang="en-US" altLang="ko-KR" dirty="0"/>
              <a:t>AIRSAR : </a:t>
            </a:r>
            <a:r>
              <a:rPr lang="ko-KR" altLang="en-US" dirty="0"/>
              <a:t>미국 </a:t>
            </a:r>
            <a:r>
              <a:rPr lang="en-US" altLang="ko-KR" dirty="0"/>
              <a:t>NASA</a:t>
            </a:r>
            <a:r>
              <a:rPr lang="ko-KR" altLang="en-US" dirty="0"/>
              <a:t> </a:t>
            </a:r>
            <a:r>
              <a:rPr lang="en-US" altLang="ko-KR" dirty="0"/>
              <a:t>JPL </a:t>
            </a:r>
            <a:r>
              <a:rPr lang="en-US" altLang="ko-KR" dirty="0">
                <a:solidFill>
                  <a:srgbClr val="FF0000"/>
                </a:solidFill>
              </a:rPr>
              <a:t>(1988~2004)</a:t>
            </a:r>
          </a:p>
          <a:p>
            <a:pPr marL="777150" lvl="2" indent="-285750">
              <a:defRPr/>
            </a:pPr>
            <a:r>
              <a:rPr lang="en-US" altLang="ko-KR" dirty="0"/>
              <a:t>E-SAR : </a:t>
            </a:r>
            <a:r>
              <a:rPr lang="ko-KR" altLang="en-US" dirty="0"/>
              <a:t>독일 </a:t>
            </a:r>
            <a:r>
              <a:rPr lang="en-US" altLang="ko-KR" dirty="0"/>
              <a:t>DLR </a:t>
            </a:r>
            <a:r>
              <a:rPr lang="en-US" altLang="ko-KR" dirty="0">
                <a:solidFill>
                  <a:srgbClr val="FF0000"/>
                </a:solidFill>
              </a:rPr>
              <a:t>(1988~2009)</a:t>
            </a:r>
          </a:p>
          <a:p>
            <a:pPr marL="777150" lvl="2" indent="-285750">
              <a:defRPr/>
            </a:pPr>
            <a:r>
              <a:rPr lang="en-US" altLang="ko-KR" dirty="0"/>
              <a:t>PI-SAR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일본 </a:t>
            </a:r>
            <a:r>
              <a:rPr lang="en-US" altLang="ko-KR" dirty="0"/>
              <a:t>JAXA </a:t>
            </a:r>
            <a:r>
              <a:rPr lang="en-US" altLang="ko-KR" dirty="0">
                <a:solidFill>
                  <a:srgbClr val="FF0000"/>
                </a:solidFill>
              </a:rPr>
              <a:t>(2009)</a:t>
            </a:r>
          </a:p>
          <a:p>
            <a:pPr marL="777150" lvl="2" indent="-285750">
              <a:defRPr/>
            </a:pPr>
            <a:r>
              <a:rPr lang="en-US" altLang="ko-KR" dirty="0"/>
              <a:t>RAMSES : </a:t>
            </a:r>
            <a:r>
              <a:rPr lang="ko-KR" altLang="en-US" dirty="0"/>
              <a:t>프랑스</a:t>
            </a:r>
            <a:r>
              <a:rPr lang="en-US" altLang="ko-KR" dirty="0"/>
              <a:t> ONERA </a:t>
            </a:r>
            <a:r>
              <a:rPr lang="en-US" altLang="ko-KR" dirty="0">
                <a:solidFill>
                  <a:srgbClr val="FF0000"/>
                </a:solidFill>
              </a:rPr>
              <a:t>(2006)</a:t>
            </a:r>
          </a:p>
          <a:p>
            <a:pPr marL="777150" lvl="2" indent="-285750">
              <a:defRPr/>
            </a:pPr>
            <a:r>
              <a:rPr lang="en-US" altLang="ko-KR" dirty="0"/>
              <a:t>KOMSAR : </a:t>
            </a:r>
            <a:r>
              <a:rPr lang="ko-KR" altLang="en-US" dirty="0"/>
              <a:t>대한민국 국방과학연구소</a:t>
            </a:r>
          </a:p>
          <a:p>
            <a:pPr marL="777150" lvl="2" indent="-285750">
              <a:defRPr/>
            </a:pPr>
            <a:r>
              <a:rPr lang="en-US" altLang="ko-KR" dirty="0"/>
              <a:t>NEXSAR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대한민국 </a:t>
            </a:r>
            <a:r>
              <a:rPr lang="en-US" altLang="ko-KR" dirty="0"/>
              <a:t>LIG</a:t>
            </a:r>
            <a:r>
              <a:rPr lang="ko-KR" altLang="en-US" dirty="0" err="1"/>
              <a:t>넥스원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(2008)</a:t>
            </a:r>
            <a:endParaRPr lang="ko-KR" altLang="en-US" dirty="0">
              <a:solidFill>
                <a:srgbClr val="FF0000"/>
              </a:solidFill>
            </a:endParaRPr>
          </a:p>
          <a:p>
            <a:pPr marL="777150" lvl="2" indent="-285750">
              <a:defRPr/>
            </a:pPr>
            <a:r>
              <a:rPr lang="en-US" altLang="ko-KR" dirty="0"/>
              <a:t>EL/M-2055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이스라엘 </a:t>
            </a:r>
            <a:r>
              <a:rPr lang="en-US" altLang="ko-KR" dirty="0"/>
              <a:t>IAI</a:t>
            </a:r>
            <a:r>
              <a:rPr lang="ko-KR" altLang="en-US" dirty="0"/>
              <a:t>사</a:t>
            </a:r>
          </a:p>
          <a:p>
            <a:pPr marL="777150" lvl="2" indent="-285750">
              <a:defRPr/>
            </a:pPr>
            <a:r>
              <a:rPr lang="en-US" altLang="ko-KR" dirty="0"/>
              <a:t>KPU-STC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대한민국 한국산업기술대학</a:t>
            </a:r>
          </a:p>
          <a:p>
            <a:pPr marL="777150" lvl="2" indent="-285750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 dirty="0"/>
              <a:t> 각국의 </a:t>
            </a:r>
            <a:r>
              <a:rPr lang="en-US" altLang="ko-KR" dirty="0"/>
              <a:t>SAR</a:t>
            </a:r>
          </a:p>
          <a:p>
            <a:pPr marL="216000" lvl="1" indent="0">
              <a:buNone/>
              <a:defRPr/>
            </a:pPr>
            <a:endParaRPr lang="ko-KR" altLang="en-US" dirty="0"/>
          </a:p>
        </p:txBody>
      </p:sp>
      <p:pic>
        <p:nvPicPr>
          <p:cNvPr id="1026" name="Picture 2" descr="Overview of currently operating, approved, and planned spaceborne SAR systems.">
            <a:extLst>
              <a:ext uri="{FF2B5EF4-FFF2-40B4-BE49-F238E27FC236}">
                <a16:creationId xmlns:a16="http://schemas.microsoft.com/office/drawing/2014/main" id="{6861ECEB-6DCA-44E1-CDE0-5D033B422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840366"/>
            <a:ext cx="809625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A1EECC-2EBE-CAE9-3921-AD295A865421}"/>
              </a:ext>
            </a:extLst>
          </p:cNvPr>
          <p:cNvSpPr txBox="1"/>
          <p:nvPr/>
        </p:nvSpPr>
        <p:spPr>
          <a:xfrm>
            <a:off x="381000" y="5807736"/>
            <a:ext cx="838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1">
              <a:defRPr/>
            </a:pPr>
            <a:r>
              <a:rPr lang="ko-KR" altLang="en-US" sz="1200" b="1" dirty="0"/>
              <a:t>출처 </a:t>
            </a:r>
            <a:r>
              <a:rPr lang="en-US" altLang="ko-KR" sz="1200" b="1" dirty="0"/>
              <a:t>(</a:t>
            </a:r>
            <a:r>
              <a:rPr lang="en-US" altLang="ko-KR" sz="12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Overview of currently operating, approved, and planned spaceborne SAR systems, </a:t>
            </a:r>
            <a:r>
              <a:rPr lang="en-US" altLang="ko-KR" sz="1200" dirty="0"/>
              <a:t>2000</a:t>
            </a:r>
            <a:r>
              <a:rPr lang="en-US" altLang="ko-KR" sz="1200" b="1" dirty="0"/>
              <a:t> </a:t>
            </a:r>
            <a:r>
              <a:rPr lang="en-US" altLang="ko-KR" sz="1200" b="0" i="0" u="none" strike="noStrike" dirty="0">
                <a:solidFill>
                  <a:srgbClr val="111111"/>
                </a:solidFill>
                <a:effectLst/>
                <a:latin typeface="inherit"/>
                <a:hlinkClick r:id="rId3"/>
              </a:rPr>
              <a:t>Johnny A. Johannessen</a:t>
            </a:r>
            <a:r>
              <a:rPr lang="en-US" altLang="ko-KR" sz="1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28531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EO(Electro-Optics)</a:t>
            </a:r>
          </a:p>
          <a:p>
            <a:pPr lvl="1">
              <a:defRPr/>
            </a:pPr>
            <a:r>
              <a:rPr lang="ko-KR" altLang="en-US"/>
              <a:t>원리</a:t>
            </a:r>
          </a:p>
          <a:p>
            <a:pPr marL="777150" lvl="2" indent="-285750">
              <a:defRPr/>
            </a:pPr>
            <a:r>
              <a:rPr lang="ko-KR" altLang="en-US"/>
              <a:t>허공에 전자기파를 쏘아서 물체에 부딪혀 돌아오는 반사파를 측정해 탐지</a:t>
            </a:r>
          </a:p>
          <a:p>
            <a:pPr marL="777150" lvl="2" indent="-285750">
              <a:defRPr/>
            </a:pPr>
            <a:r>
              <a:rPr lang="ko-KR" altLang="en-US"/>
              <a:t>디지털카메라와 유사한 원리</a:t>
            </a:r>
          </a:p>
          <a:p>
            <a:pPr marL="491400" lvl="2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특징</a:t>
            </a:r>
          </a:p>
          <a:p>
            <a:pPr marL="777150" lvl="2" indent="-285750">
              <a:defRPr/>
            </a:pPr>
            <a:r>
              <a:rPr lang="ko-KR" altLang="en-US"/>
              <a:t>적외선 이상의 전파를 사용하는 레이더와는 달리 </a:t>
            </a:r>
            <a:r>
              <a:rPr lang="ko-KR" altLang="en-US" u="sng"/>
              <a:t>근적외선 및 가시광선을 사용</a:t>
            </a:r>
          </a:p>
          <a:p>
            <a:pPr marL="777150" lvl="2" indent="-285750">
              <a:defRPr/>
            </a:pPr>
            <a:r>
              <a:rPr lang="ko-KR" altLang="en-US"/>
              <a:t>센서의 해상도의 향상과 이에 따른 센서의 부피 및 무게를 해결하는 것이 기술적으로 난이도가 높음</a:t>
            </a:r>
          </a:p>
          <a:p>
            <a:pPr marL="777150" lvl="2" indent="-285750">
              <a:defRPr/>
            </a:pPr>
            <a:r>
              <a:rPr lang="ko-KR" altLang="en-US"/>
              <a:t>따라서 </a:t>
            </a:r>
            <a:r>
              <a:rPr lang="en-US" altLang="ko-KR"/>
              <a:t>2</a:t>
            </a:r>
            <a:r>
              <a:rPr lang="ko-KR" altLang="en-US"/>
              <a:t>차 세계대전 때부터 사용된 레이더보다 시기가 늦은 </a:t>
            </a:r>
            <a:r>
              <a:rPr lang="en-US" altLang="ko-KR" u="sng"/>
              <a:t>1980</a:t>
            </a:r>
            <a:r>
              <a:rPr lang="ko-KR" altLang="en-US" u="sng"/>
              <a:t>년대 이후부터 사용</a:t>
            </a:r>
          </a:p>
          <a:p>
            <a:pPr marL="777150" lvl="2" indent="-285750">
              <a:defRPr/>
            </a:pPr>
            <a:r>
              <a:rPr lang="en-US" altLang="ko-KR"/>
              <a:t>1990</a:t>
            </a:r>
            <a:r>
              <a:rPr lang="ko-KR" altLang="en-US"/>
              <a:t>년대 이후 전자광학 기술 및 해상도 처리하는 기술력이 발전함에 따라 발달</a:t>
            </a:r>
          </a:p>
          <a:p>
            <a:pPr marL="777150" lvl="2" indent="-285750">
              <a:defRPr/>
            </a:pPr>
            <a:r>
              <a:rPr lang="ko-KR" altLang="en-US"/>
              <a:t>각종 무인기에 장착해 군사 정찰용 및 기상 관측의 용도로 사용</a:t>
            </a:r>
          </a:p>
          <a:p>
            <a:pPr marL="777150" lvl="2" indent="-285750">
              <a:defRPr/>
            </a:pPr>
            <a:endParaRPr lang="ko-KR" altLang="en-US" u="sng"/>
          </a:p>
          <a:p>
            <a:pPr lvl="1">
              <a:defRPr/>
            </a:pPr>
            <a:r>
              <a:rPr lang="ko-KR" altLang="en-US"/>
              <a:t> 장점</a:t>
            </a:r>
          </a:p>
          <a:p>
            <a:pPr marL="777150" lvl="2" indent="-285750">
              <a:defRPr/>
            </a:pPr>
            <a:r>
              <a:rPr lang="ko-KR" altLang="en-US"/>
              <a:t>가시광선을 이용해 목표의 실제 영상을 실시간으로 관측하는 것이 가능</a:t>
            </a:r>
          </a:p>
          <a:p>
            <a:pPr marL="777150" lvl="2" indent="-285750">
              <a:defRPr/>
            </a:pPr>
            <a:r>
              <a:rPr lang="ko-KR" altLang="en-US"/>
              <a:t>레이더의 부족한 해상도를 보완하는데 큰 도움을 줌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 </a:t>
            </a:r>
            <a:r>
              <a:rPr lang="ko-KR" altLang="en-US"/>
              <a:t>및 </a:t>
            </a:r>
            <a:r>
              <a:rPr lang="en-US" altLang="ko-KR"/>
              <a:t>SAR </a:t>
            </a:r>
            <a:r>
              <a:rPr lang="ko-KR" altLang="en-US"/>
              <a:t>탑재체 비교</a:t>
            </a: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5750" y="1711970"/>
            <a:ext cx="7704801" cy="33587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5647674"/>
            <a:ext cx="8382000" cy="33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1" indent="0">
              <a:buFont typeface="Wingdings"/>
              <a:buNone/>
              <a:defRPr/>
            </a:pPr>
            <a:r>
              <a:rPr lang="ko-KR" altLang="en-US" sz="1600" b="1" dirty="0"/>
              <a:t>출처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초소형 </a:t>
            </a:r>
            <a:r>
              <a:rPr lang="ko-KR" altLang="en-US" sz="1600" b="1" dirty="0" err="1"/>
              <a:t>위성군</a:t>
            </a:r>
            <a:r>
              <a:rPr lang="ko-KR" altLang="en-US" sz="1600" b="1" dirty="0"/>
              <a:t> 궤도설계와 궤도유지 방법 연구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2020</a:t>
            </a:r>
            <a:r>
              <a:rPr lang="ko-KR" altLang="en-US" sz="1600" b="1" dirty="0"/>
              <a:t> 황영민</a:t>
            </a:r>
            <a:r>
              <a:rPr lang="en-US" altLang="ko-KR" sz="1600" b="1" dirty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개발 배경</a:t>
            </a:r>
          </a:p>
          <a:p>
            <a:pPr lvl="2">
              <a:defRPr/>
            </a:pPr>
            <a:r>
              <a:rPr lang="en-US" altLang="ko-KR" dirty="0"/>
              <a:t>EO</a:t>
            </a:r>
            <a:r>
              <a:rPr lang="ko-KR" altLang="en-US" dirty="0"/>
              <a:t>의 사용 가능한 데이터 세트가 제한적임</a:t>
            </a:r>
          </a:p>
          <a:p>
            <a:pPr lvl="3">
              <a:defRPr/>
            </a:pPr>
            <a:r>
              <a:rPr lang="ko-KR" altLang="en-US" dirty="0"/>
              <a:t>대부분 광학 매체 및 고해상도 위성으로 제한되는 경향이 있음</a:t>
            </a:r>
          </a:p>
          <a:p>
            <a:pPr lvl="3">
              <a:defRPr/>
            </a:pPr>
            <a:endParaRPr lang="ko-KR" altLang="en-US" dirty="0"/>
          </a:p>
          <a:p>
            <a:pPr lvl="2">
              <a:defRPr/>
            </a:pPr>
            <a:r>
              <a:rPr lang="ko-KR" altLang="en-US" dirty="0"/>
              <a:t>또한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SAR</a:t>
            </a:r>
            <a:r>
              <a:rPr lang="ko-KR" altLang="en-US" dirty="0"/>
              <a:t> 데이터의 사용 가능성이 제한적임</a:t>
            </a:r>
          </a:p>
          <a:p>
            <a:pPr lvl="3">
              <a:defRPr/>
            </a:pPr>
            <a:r>
              <a:rPr lang="ko-KR" altLang="en-US" dirty="0"/>
              <a:t>데이터를 동시에 </a:t>
            </a:r>
            <a:r>
              <a:rPr lang="ko-KR" altLang="en-US" dirty="0" err="1"/>
              <a:t>캡쳐하는</a:t>
            </a:r>
            <a:r>
              <a:rPr lang="ko-KR" altLang="en-US" dirty="0"/>
              <a:t> 것이 거의 불가능하며 데이터가 비싸고 접근성이 어렵다</a:t>
            </a:r>
          </a:p>
          <a:p>
            <a:pPr marL="432000" lvl="2" indent="0">
              <a:buNone/>
              <a:defRPr/>
            </a:pPr>
            <a:endParaRPr lang="ko-KR" altLang="en-US" dirty="0"/>
          </a:p>
          <a:p>
            <a:pPr lvl="2">
              <a:defRPr/>
            </a:pPr>
            <a:r>
              <a:rPr lang="en-US" altLang="ko-KR" dirty="0"/>
              <a:t>UrtheCast</a:t>
            </a:r>
            <a:r>
              <a:rPr lang="ko-KR" altLang="en-US" dirty="0"/>
              <a:t>는 위의 단점들을 보완하여 다음과 같은 기능을 할 수 있는 독자적인 </a:t>
            </a:r>
          </a:p>
          <a:p>
            <a:pPr marL="432000" lvl="2" indent="0">
              <a:buNone/>
              <a:defRPr/>
            </a:pPr>
            <a:r>
              <a:rPr lang="ko-KR" altLang="en-US" dirty="0"/>
              <a:t>     위성군을 만들기로 결정함</a:t>
            </a:r>
          </a:p>
          <a:p>
            <a:pPr lvl="3">
              <a:defRPr/>
            </a:pPr>
            <a:r>
              <a:rPr lang="ko-KR" altLang="en-US" dirty="0"/>
              <a:t>고품질 광학 및 </a:t>
            </a:r>
            <a:r>
              <a:rPr lang="en-US" altLang="ko-KR" dirty="0"/>
              <a:t>SAR</a:t>
            </a:r>
            <a:r>
              <a:rPr lang="ko-KR" altLang="en-US" dirty="0"/>
              <a:t>데이터 세트를 제공</a:t>
            </a:r>
          </a:p>
          <a:p>
            <a:pPr lvl="3">
              <a:defRPr/>
            </a:pPr>
            <a:r>
              <a:rPr lang="ko-KR" altLang="en-US" dirty="0"/>
              <a:t>시간 데이터도 동시에 캡처 가능</a:t>
            </a:r>
          </a:p>
          <a:p>
            <a:pPr lvl="3">
              <a:defRPr/>
            </a:pPr>
            <a:r>
              <a:rPr lang="ko-KR" altLang="en-US" dirty="0"/>
              <a:t>이를 위해 서로 다른 위성으로 센서를 분할하는 방법을 고안</a:t>
            </a:r>
          </a:p>
          <a:p>
            <a:pPr lvl="3">
              <a:defRPr/>
            </a:pPr>
            <a:r>
              <a:rPr lang="ko-KR" altLang="en-US" dirty="0"/>
              <a:t>이 방법으로 </a:t>
            </a:r>
            <a:r>
              <a:rPr lang="ko-KR" altLang="en-US" dirty="0" err="1"/>
              <a:t>위성군</a:t>
            </a:r>
            <a:r>
              <a:rPr lang="ko-KR" altLang="en-US" dirty="0"/>
              <a:t> 전체에 용량을 분산하여 단점들을 해결할 수 있음 </a:t>
            </a:r>
          </a:p>
          <a:p>
            <a:pPr marL="648000" lvl="3" indent="0">
              <a:buNone/>
              <a:defRPr/>
            </a:pPr>
            <a:endParaRPr lang="ko-KR" altLang="en-US" dirty="0"/>
          </a:p>
          <a:p>
            <a:pPr lvl="2">
              <a:defRPr/>
            </a:pPr>
            <a:endParaRPr lang="ko-KR" altLang="en-US" dirty="0"/>
          </a:p>
          <a:p>
            <a:pPr marL="957150" lvl="3" indent="-285750">
              <a:defRPr/>
            </a:pPr>
            <a:endParaRPr lang="en-US" altLang="ko-KR" dirty="0"/>
          </a:p>
          <a:p>
            <a:pPr marL="957150" lvl="3" indent="-285750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9057742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SAR </a:t>
            </a:r>
            <a:r>
              <a:rPr lang="ko-KR" altLang="en-US" dirty="0"/>
              <a:t>구성요소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이중 주파수</a:t>
            </a:r>
            <a:r>
              <a:rPr lang="en-US" altLang="ko-KR" dirty="0"/>
              <a:t>(X-band, L-band)</a:t>
            </a:r>
            <a:r>
              <a:rPr lang="ko-KR" altLang="en-US" dirty="0"/>
              <a:t>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L band SAR : Full complement </a:t>
            </a:r>
            <a:r>
              <a:rPr lang="ko-KR" altLang="en-US" dirty="0"/>
              <a:t>편광을 지원 </a:t>
            </a:r>
            <a:r>
              <a:rPr lang="en-US" altLang="ko-KR" dirty="0"/>
              <a:t>(single, dual, quad, linear, circular compact pole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X band SAR : VV </a:t>
            </a:r>
            <a:r>
              <a:rPr lang="ko-KR" altLang="en-US" dirty="0"/>
              <a:t>편광만 지원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이중 주파수를 통해 </a:t>
            </a:r>
            <a:r>
              <a:rPr lang="en-US" altLang="ko-KR" dirty="0"/>
              <a:t>Strip Map &amp;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두 가지 모드가 가능</a:t>
            </a:r>
            <a:endParaRPr lang="en-US" altLang="ko-KR" dirty="0"/>
          </a:p>
          <a:p>
            <a:pPr lvl="4">
              <a:defRPr/>
            </a:pPr>
            <a:r>
              <a:rPr lang="en-US" altLang="ko-KR" dirty="0"/>
              <a:t>Strip</a:t>
            </a:r>
            <a:r>
              <a:rPr lang="ko-KR" altLang="en-US" dirty="0"/>
              <a:t> </a:t>
            </a:r>
            <a:r>
              <a:rPr lang="en-US" altLang="ko-KR" dirty="0"/>
              <a:t>Map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2m-class(X band) and 10m-class(L-band) : 10km width image</a:t>
            </a:r>
          </a:p>
          <a:p>
            <a:pPr lvl="4">
              <a:defRPr/>
            </a:pPr>
            <a:r>
              <a:rPr lang="en-US" altLang="ko-KR" dirty="0" err="1"/>
              <a:t>ScanSAR</a:t>
            </a:r>
            <a:r>
              <a:rPr lang="en-US" altLang="ko-KR" dirty="0"/>
              <a:t> : 10m-class(X band) and 30m-class(L-band) : 25km width image</a:t>
            </a:r>
          </a:p>
          <a:p>
            <a:pPr marL="828000" lvl="4" indent="0">
              <a:buNone/>
              <a:defRPr/>
            </a:pPr>
            <a:r>
              <a:rPr lang="en-US" altLang="ko-KR" dirty="0"/>
              <a:t>                       : 30m-class(L band alone) : 100km width image</a:t>
            </a:r>
          </a:p>
          <a:p>
            <a:pPr marL="828000" lvl="4" indent="0">
              <a:buNone/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 payload</a:t>
            </a:r>
            <a:r>
              <a:rPr lang="ko-KR" altLang="en-US" dirty="0"/>
              <a:t>에 </a:t>
            </a:r>
            <a:r>
              <a:rPr lang="en-US" altLang="ko-KR" dirty="0"/>
              <a:t>Cloud Camera</a:t>
            </a:r>
            <a:r>
              <a:rPr lang="ko-KR" altLang="en-US" dirty="0"/>
              <a:t>가 추가되어 지속적인 </a:t>
            </a:r>
            <a:r>
              <a:rPr lang="en-US" altLang="ko-KR" dirty="0"/>
              <a:t>cloud coverage</a:t>
            </a:r>
            <a:r>
              <a:rPr lang="ko-KR" altLang="en-US" dirty="0"/>
              <a:t>를 제공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이 데이터를 </a:t>
            </a:r>
            <a:r>
              <a:rPr lang="en-US" altLang="ko-KR" dirty="0"/>
              <a:t>Optics</a:t>
            </a:r>
            <a:r>
              <a:rPr lang="ko-KR" altLang="en-US" dirty="0"/>
              <a:t>에 송신함 → </a:t>
            </a:r>
            <a:r>
              <a:rPr lang="en-US" altLang="ko-KR" dirty="0"/>
              <a:t>AIS</a:t>
            </a:r>
            <a:r>
              <a:rPr lang="ko-KR" altLang="en-US" dirty="0"/>
              <a:t>에서 수신</a:t>
            </a:r>
            <a:endParaRPr lang="en-US" altLang="ko-KR" dirty="0"/>
          </a:p>
          <a:p>
            <a:pPr marL="2262600" lvl="5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571486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9057742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Optics </a:t>
            </a:r>
            <a:r>
              <a:rPr lang="ko-KR" altLang="en-US" dirty="0"/>
              <a:t>구성요소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Meteorological</a:t>
            </a:r>
            <a:r>
              <a:rPr lang="ko-KR" altLang="en-US" dirty="0"/>
              <a:t> </a:t>
            </a:r>
            <a:r>
              <a:rPr lang="en-US" altLang="ko-KR" dirty="0"/>
              <a:t>camera(</a:t>
            </a:r>
            <a:r>
              <a:rPr lang="ko-KR" altLang="en-US" dirty="0" err="1"/>
              <a:t>듀얼모드</a:t>
            </a:r>
            <a:r>
              <a:rPr lang="ko-KR" altLang="en-US" dirty="0"/>
              <a:t> 카메라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 err="1"/>
              <a:t>듀얼모드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pushbroom</a:t>
            </a:r>
            <a:r>
              <a:rPr lang="en-US" altLang="ko-KR" dirty="0"/>
              <a:t> &amp; video mode</a:t>
            </a:r>
          </a:p>
          <a:p>
            <a:pPr lvl="3">
              <a:defRPr/>
            </a:pPr>
            <a:r>
              <a:rPr lang="en-US" altLang="ko-KR" dirty="0" err="1"/>
              <a:t>Pushbroom</a:t>
            </a:r>
            <a:r>
              <a:rPr lang="en-US" altLang="ko-KR" dirty="0"/>
              <a:t> sensor : 14bits</a:t>
            </a:r>
            <a:r>
              <a:rPr lang="ko-KR" altLang="en-US" dirty="0"/>
              <a:t>로 디지털화 된 </a:t>
            </a:r>
            <a:r>
              <a:rPr lang="en-US" altLang="ko-KR" dirty="0"/>
              <a:t>64</a:t>
            </a:r>
            <a:r>
              <a:rPr lang="ko-KR" altLang="en-US" dirty="0"/>
              <a:t>단계 </a:t>
            </a:r>
            <a:r>
              <a:rPr lang="en-US" altLang="ko-KR" dirty="0"/>
              <a:t>TDI</a:t>
            </a:r>
            <a:r>
              <a:rPr lang="ko-KR" altLang="en-US" dirty="0"/>
              <a:t> → </a:t>
            </a:r>
            <a:r>
              <a:rPr lang="en-US" altLang="ko-KR" dirty="0"/>
              <a:t>12.29km</a:t>
            </a:r>
            <a:r>
              <a:rPr lang="ko-KR" altLang="en-US" dirty="0"/>
              <a:t> </a:t>
            </a:r>
            <a:r>
              <a:rPr lang="en-US" altLang="ko-KR" dirty="0"/>
              <a:t>swath</a:t>
            </a:r>
            <a:r>
              <a:rPr lang="ko-KR" altLang="en-US" dirty="0"/>
              <a:t> 생성</a:t>
            </a:r>
            <a:r>
              <a:rPr lang="en-US" altLang="ko-KR" dirty="0"/>
              <a:t>. 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        : </a:t>
            </a:r>
            <a:r>
              <a:rPr lang="en-US" altLang="ko-KR" dirty="0" err="1"/>
              <a:t>phanchromatic</a:t>
            </a:r>
            <a:r>
              <a:rPr lang="en-US" altLang="ko-KR" dirty="0"/>
              <a:t> channel : 0.5m class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        : 6</a:t>
            </a:r>
            <a:r>
              <a:rPr lang="ko-KR" altLang="en-US" dirty="0"/>
              <a:t>개의 다중 스펙트럼 채널 </a:t>
            </a:r>
            <a:r>
              <a:rPr lang="en-US" altLang="ko-KR" dirty="0"/>
              <a:t>(Blue, Green, Yellow, Red, Red-edge, NIR) : 2m class</a:t>
            </a:r>
          </a:p>
          <a:p>
            <a:pPr lvl="3">
              <a:defRPr/>
            </a:pPr>
            <a:r>
              <a:rPr lang="en-US" altLang="ko-KR" dirty="0"/>
              <a:t>Video sensor : 12bits</a:t>
            </a:r>
            <a:r>
              <a:rPr lang="ko-KR" altLang="en-US" dirty="0"/>
              <a:t>로 디지털화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: </a:t>
            </a:r>
            <a:r>
              <a:rPr lang="ko-KR" altLang="en-US" dirty="0"/>
              <a:t>초당 최대 </a:t>
            </a:r>
            <a:r>
              <a:rPr lang="en-US" altLang="ko-KR" dirty="0"/>
              <a:t>30</a:t>
            </a:r>
            <a:r>
              <a:rPr lang="ko-KR" altLang="en-US" dirty="0"/>
              <a:t>프레임으로 </a:t>
            </a:r>
            <a:r>
              <a:rPr lang="en-US" altLang="ko-KR" dirty="0"/>
              <a:t>2.5km x 1.9km </a:t>
            </a:r>
            <a:r>
              <a:rPr lang="ko-KR" altLang="en-US" dirty="0"/>
              <a:t>산출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: 3</a:t>
            </a:r>
            <a:r>
              <a:rPr lang="ko-KR" altLang="en-US" dirty="0"/>
              <a:t>개의 스펙트럼 채널 </a:t>
            </a:r>
            <a:r>
              <a:rPr lang="en-US" altLang="ko-KR" dirty="0"/>
              <a:t>(Red, Blue, Green) – Bayer Filter</a:t>
            </a:r>
          </a:p>
          <a:p>
            <a:pPr marL="648000" lvl="3" indent="0">
              <a:buNone/>
              <a:defRPr/>
            </a:pPr>
            <a:endParaRPr lang="en-US" altLang="ko-KR" sz="500" dirty="0"/>
          </a:p>
          <a:p>
            <a:pPr lvl="2">
              <a:defRPr/>
            </a:pPr>
            <a:r>
              <a:rPr lang="en-US" altLang="ko-KR" dirty="0" err="1"/>
              <a:t>MetCam</a:t>
            </a:r>
            <a:r>
              <a:rPr lang="ko-KR" altLang="en-US" dirty="0"/>
              <a:t>은 </a:t>
            </a:r>
            <a:r>
              <a:rPr lang="en-US" altLang="ko-KR" dirty="0"/>
              <a:t>SAR </a:t>
            </a:r>
            <a:r>
              <a:rPr lang="ko-KR" altLang="en-US" dirty="0"/>
              <a:t>데이터에 대한 대기 보정을 완료하기 위한 데이터 제공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추가</a:t>
            </a:r>
            <a:r>
              <a:rPr lang="en-US" altLang="ko-KR" dirty="0"/>
              <a:t> </a:t>
            </a:r>
            <a:r>
              <a:rPr lang="ko-KR" altLang="en-US" dirty="0"/>
              <a:t>스펙트럼 채널 제공</a:t>
            </a:r>
            <a:r>
              <a:rPr lang="en-US" altLang="ko-KR" dirty="0"/>
              <a:t>, </a:t>
            </a:r>
            <a:r>
              <a:rPr lang="ko-KR" altLang="en-US" dirty="0"/>
              <a:t>대기가 이미지에 미치는 영향을 측정 및 지상 이미지 처리 중 보정이 가능</a:t>
            </a:r>
            <a:endParaRPr lang="en-US" altLang="ko-KR" dirty="0"/>
          </a:p>
          <a:p>
            <a:pPr marL="792000" lvl="4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AIS </a:t>
            </a:r>
            <a:r>
              <a:rPr lang="en-US" altLang="ko-KR" dirty="0" err="1"/>
              <a:t>Reciever</a:t>
            </a:r>
            <a:r>
              <a:rPr lang="en-US" altLang="ko-KR" dirty="0"/>
              <a:t> : </a:t>
            </a:r>
            <a:r>
              <a:rPr lang="ko-KR" altLang="en-US" dirty="0"/>
              <a:t> </a:t>
            </a:r>
            <a:r>
              <a:rPr lang="en-US" altLang="ko-KR" dirty="0"/>
              <a:t>SAR </a:t>
            </a:r>
            <a:r>
              <a:rPr lang="ko-KR" altLang="en-US" dirty="0"/>
              <a:t>데이터와 결합할 때 유용한 정보들을 제공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해상 감시</a:t>
            </a:r>
            <a:r>
              <a:rPr lang="en-US" altLang="ko-KR" dirty="0"/>
              <a:t>, </a:t>
            </a:r>
            <a:r>
              <a:rPr lang="ko-KR" altLang="en-US" dirty="0"/>
              <a:t>기름 유출 추적</a:t>
            </a:r>
            <a:r>
              <a:rPr lang="en-US" altLang="ko-KR" dirty="0"/>
              <a:t>, </a:t>
            </a:r>
            <a:r>
              <a:rPr lang="ko-KR" altLang="en-US" dirty="0"/>
              <a:t>미끼 탐지</a:t>
            </a:r>
            <a:r>
              <a:rPr lang="en-US" altLang="ko-KR" dirty="0"/>
              <a:t>, </a:t>
            </a:r>
            <a:r>
              <a:rPr lang="ko-KR" altLang="en-US" dirty="0"/>
              <a:t>항구 모니터링 등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Imager</a:t>
            </a:r>
            <a:r>
              <a:rPr lang="ko-KR" altLang="en-US" dirty="0"/>
              <a:t>는 가시성</a:t>
            </a:r>
            <a:r>
              <a:rPr lang="en-US" altLang="ko-KR" dirty="0"/>
              <a:t>, </a:t>
            </a:r>
            <a:r>
              <a:rPr lang="ko-KR" altLang="en-US" dirty="0"/>
              <a:t>침투 능력 및 필요한 공간해상도에 따라 달라짐</a:t>
            </a:r>
          </a:p>
          <a:p>
            <a:pPr lvl="3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563546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Dual-Optical Satellite</a:t>
            </a:r>
            <a:endParaRPr lang="ko-KR" altLang="en-US"/>
          </a:p>
          <a:p>
            <a:pPr lvl="3">
              <a:defRPr/>
            </a:pPr>
            <a:r>
              <a:rPr lang="en-US" altLang="ko-KR"/>
              <a:t>SSTL300</a:t>
            </a:r>
            <a:r>
              <a:rPr lang="ko-KR" altLang="en-US"/>
              <a:t>에 기반한 높은 해상도 및 민감도</a:t>
            </a:r>
          </a:p>
          <a:p>
            <a:pPr lvl="3">
              <a:defRPr/>
            </a:pPr>
            <a:r>
              <a:rPr lang="en-US" altLang="ko-KR"/>
              <a:t>700kg</a:t>
            </a:r>
          </a:p>
          <a:p>
            <a:pPr lvl="3">
              <a:defRPr/>
            </a:pP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band push broom still camera + color video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63764" y="2852737"/>
            <a:ext cx="4219575" cy="3057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 </a:t>
            </a:r>
            <a:r>
              <a:rPr lang="en-US" altLang="ko-KR" dirty="0" err="1"/>
              <a:t>OptiSAR</a:t>
            </a:r>
            <a:r>
              <a:rPr lang="ko-KR" altLang="en-US" dirty="0"/>
              <a:t>의 개발</a:t>
            </a:r>
          </a:p>
          <a:p>
            <a:pPr lvl="2">
              <a:defRPr/>
            </a:pPr>
            <a:r>
              <a:rPr lang="ko-KR" altLang="en-US" dirty="0"/>
              <a:t>고도 </a:t>
            </a:r>
            <a:r>
              <a:rPr lang="en-US" altLang="ko-KR" dirty="0"/>
              <a:t>450km</a:t>
            </a:r>
          </a:p>
          <a:p>
            <a:pPr lvl="2">
              <a:defRPr/>
            </a:pPr>
            <a:r>
              <a:rPr lang="en-US" altLang="ko-KR" dirty="0"/>
              <a:t>8</a:t>
            </a:r>
            <a:r>
              <a:rPr lang="ko-KR" altLang="en-US" dirty="0"/>
              <a:t>쌍의 </a:t>
            </a:r>
            <a:r>
              <a:rPr lang="en-US" altLang="ko-KR" dirty="0"/>
              <a:t>Optical Satellites</a:t>
            </a:r>
            <a:r>
              <a:rPr lang="ko-KR" altLang="en-US" dirty="0"/>
              <a:t>와 </a:t>
            </a:r>
            <a:r>
              <a:rPr lang="en-US" altLang="ko-KR" dirty="0"/>
              <a:t>SAR</a:t>
            </a:r>
            <a:r>
              <a:rPr lang="ko-KR" altLang="en-US" dirty="0"/>
              <a:t>가 포함된 </a:t>
            </a:r>
            <a:r>
              <a:rPr lang="ko-KR" altLang="en-US" dirty="0" err="1"/>
              <a:t>위성군</a:t>
            </a:r>
            <a:r>
              <a:rPr lang="ko-KR" altLang="en-US" dirty="0"/>
              <a:t> 개발</a:t>
            </a:r>
          </a:p>
          <a:p>
            <a:pPr lvl="2">
              <a:defRPr/>
            </a:pPr>
            <a:r>
              <a:rPr lang="en-US" altLang="ko-KR" dirty="0"/>
              <a:t>2</a:t>
            </a:r>
            <a:r>
              <a:rPr lang="ko-KR" altLang="en-US" dirty="0"/>
              <a:t>개의 궤도 평면에 등간격으로 각각 </a:t>
            </a:r>
            <a:r>
              <a:rPr lang="en-US" altLang="ko-KR" dirty="0"/>
              <a:t>4</a:t>
            </a:r>
            <a:r>
              <a:rPr lang="ko-KR" altLang="en-US" dirty="0" err="1"/>
              <a:t>쌍씩</a:t>
            </a:r>
            <a:r>
              <a:rPr lang="ko-KR" altLang="en-US" dirty="0"/>
              <a:t> 배치 </a:t>
            </a:r>
          </a:p>
          <a:p>
            <a:pPr lvl="2">
              <a:defRPr/>
            </a:pPr>
            <a:r>
              <a:rPr lang="en-US" altLang="ko-KR" dirty="0"/>
              <a:t>SAR(</a:t>
            </a:r>
            <a:r>
              <a:rPr lang="ko-KR" altLang="en-US" dirty="0"/>
              <a:t>탑재체에 </a:t>
            </a:r>
            <a:r>
              <a:rPr lang="en-US" altLang="ko-KR" dirty="0"/>
              <a:t>XL</a:t>
            </a:r>
            <a:r>
              <a:rPr lang="ko-KR" altLang="en-US" dirty="0"/>
              <a:t> 기술이 사용됨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2</a:t>
            </a:r>
            <a:r>
              <a:rPr lang="ko-KR" altLang="en-US" dirty="0"/>
              <a:t>분 후 → </a:t>
            </a:r>
            <a:r>
              <a:rPr lang="en-US" altLang="ko-KR" dirty="0"/>
              <a:t>Optical satellite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22049" y="2995241"/>
            <a:ext cx="4042472" cy="3175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</a:p>
          <a:p>
            <a:pPr lvl="2">
              <a:defRPr/>
            </a:pPr>
            <a:r>
              <a:rPr lang="en-US" altLang="ko-KR"/>
              <a:t>Dual - Optical Satellite</a:t>
            </a:r>
          </a:p>
          <a:p>
            <a:pPr lvl="3">
              <a:defRPr/>
            </a:pPr>
            <a:r>
              <a:rPr lang="ko-KR" altLang="en-US"/>
              <a:t>고해상도 </a:t>
            </a:r>
            <a:r>
              <a:rPr lang="en-US" altLang="ko-KR"/>
              <a:t>(0.5GSD)</a:t>
            </a:r>
            <a:r>
              <a:rPr lang="ko-KR" altLang="en-US"/>
              <a:t> 듀얼모드 광학 카메라 </a:t>
            </a:r>
            <a:r>
              <a:rPr lang="en-US" altLang="ko-KR"/>
              <a:t>(</a:t>
            </a:r>
            <a:r>
              <a:rPr lang="en-US" altLang="en-US"/>
              <a:t>multi-spectral pushbroom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RGB color video)</a:t>
            </a:r>
          </a:p>
          <a:p>
            <a:pPr lvl="2">
              <a:defRPr/>
            </a:pPr>
            <a:r>
              <a:rPr lang="en-US" altLang="ko-KR"/>
              <a:t>Dual - band</a:t>
            </a:r>
            <a:r>
              <a:rPr lang="ko-KR" altLang="en-US"/>
              <a:t> </a:t>
            </a:r>
            <a:r>
              <a:rPr lang="en-US" altLang="ko-KR"/>
              <a:t>SAR</a:t>
            </a:r>
          </a:p>
          <a:p>
            <a:pPr lvl="3">
              <a:defRPr/>
            </a:pPr>
            <a:r>
              <a:rPr lang="en-US" altLang="ko-KR"/>
              <a:t>SAR-XL </a:t>
            </a:r>
            <a:r>
              <a:rPr lang="ko-KR" altLang="en-US"/>
              <a:t>기술 </a:t>
            </a:r>
            <a:r>
              <a:rPr lang="en-US" altLang="ko-KR"/>
              <a:t>(X-band</a:t>
            </a:r>
            <a:r>
              <a:rPr lang="ko-KR" altLang="en-US"/>
              <a:t>와 </a:t>
            </a:r>
            <a:r>
              <a:rPr lang="en-US" altLang="ko-KR"/>
              <a:t>L-band</a:t>
            </a:r>
            <a:r>
              <a:rPr lang="ko-KR" altLang="en-US"/>
              <a:t>의 듀얼밴드</a:t>
            </a:r>
            <a:r>
              <a:rPr lang="en-US" altLang="ko-KR"/>
              <a:t>)</a:t>
            </a:r>
          </a:p>
          <a:p>
            <a:pPr lvl="3">
              <a:defRPr/>
            </a:pPr>
            <a:r>
              <a:rPr lang="ko-KR" altLang="en-US"/>
              <a:t>탑재체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1m X-band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5m</a:t>
            </a:r>
            <a:r>
              <a:rPr lang="ko-KR" altLang="en-US"/>
              <a:t> </a:t>
            </a:r>
            <a:r>
              <a:rPr lang="en-US" altLang="ko-KR"/>
              <a:t>L-band </a:t>
            </a:r>
          </a:p>
          <a:p>
            <a:pPr lvl="4">
              <a:defRPr/>
            </a:pPr>
            <a:endParaRPr lang="en-US" altLang="ko-KR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7944" y="3949723"/>
            <a:ext cx="3142633" cy="22263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0100" y="4005487"/>
            <a:ext cx="3166497" cy="2173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 </a:t>
            </a:r>
            <a:r>
              <a:rPr lang="en-US" altLang="ko-KR" dirty="0" err="1"/>
              <a:t>OptiSAR</a:t>
            </a:r>
            <a:r>
              <a:rPr lang="ko-KR" altLang="en-US" dirty="0"/>
              <a:t>의 개발</a:t>
            </a:r>
          </a:p>
          <a:p>
            <a:pPr lvl="2">
              <a:defRPr/>
            </a:pPr>
            <a:r>
              <a:rPr lang="ko-KR" altLang="en-US" dirty="0"/>
              <a:t>궤도 </a:t>
            </a:r>
            <a:r>
              <a:rPr lang="en-US" altLang="ko-KR" dirty="0"/>
              <a:t>:</a:t>
            </a:r>
            <a:r>
              <a:rPr lang="ko-KR" altLang="en-US" dirty="0"/>
              <a:t> 태양동기궤도</a:t>
            </a:r>
            <a:r>
              <a:rPr lang="en-US" altLang="ko-KR" dirty="0"/>
              <a:t>(SSO)</a:t>
            </a:r>
            <a:r>
              <a:rPr lang="ko-KR" altLang="en-US" dirty="0"/>
              <a:t>와</a:t>
            </a:r>
            <a:r>
              <a:rPr lang="en-US" altLang="ko-KR" dirty="0"/>
              <a:t> Mid-inclination-Orbit(MIO)</a:t>
            </a:r>
          </a:p>
          <a:p>
            <a:pPr lvl="3">
              <a:defRPr/>
            </a:pPr>
            <a:r>
              <a:rPr lang="en-US" altLang="ko-KR" dirty="0"/>
              <a:t>SSO : </a:t>
            </a:r>
            <a:r>
              <a:rPr lang="ko-KR" altLang="en-US" dirty="0"/>
              <a:t> </a:t>
            </a:r>
            <a:r>
              <a:rPr lang="en-US" altLang="ko-KR" dirty="0"/>
              <a:t>10:30 A.M.</a:t>
            </a:r>
            <a:r>
              <a:rPr lang="ko-KR" altLang="en-US" dirty="0"/>
              <a:t>에 적도를 지난다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dirty="0"/>
              <a:t>                 (LTAN 10:30) - </a:t>
            </a:r>
            <a:r>
              <a:rPr lang="ko-KR" altLang="en-US" dirty="0"/>
              <a:t>지구 관측 임무에 일반적으로 사용되는 적도 횡단 시간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MIO : </a:t>
            </a:r>
            <a:r>
              <a:rPr lang="ko-KR" altLang="en-US" dirty="0"/>
              <a:t>최대 </a:t>
            </a:r>
            <a:r>
              <a:rPr lang="en-US" altLang="ko-KR" dirty="0"/>
              <a:t>45</a:t>
            </a:r>
            <a:r>
              <a:rPr lang="ko-KR" altLang="en-US" dirty="0"/>
              <a:t>˚ 궤도경사각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Ultra-</a:t>
            </a:r>
            <a:r>
              <a:rPr lang="en-US" altLang="ko-KR" dirty="0" err="1"/>
              <a:t>hight</a:t>
            </a:r>
            <a:r>
              <a:rPr lang="en-US" altLang="ko-KR" dirty="0"/>
              <a:t> revisit </a:t>
            </a:r>
            <a:r>
              <a:rPr lang="ko-KR" altLang="en-US" dirty="0"/>
              <a:t>→ 세계 인구의 대부분이 거주하는 중위도에서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ko-KR" altLang="en-US" dirty="0"/>
              <a:t>                                                                                         초고도 재방문을 제공</a:t>
            </a:r>
            <a:endParaRPr lang="en-US" altLang="ko-KR" dirty="0"/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648000" lvl="3" indent="0">
              <a:buNone/>
              <a:defRPr/>
            </a:pPr>
            <a:r>
              <a:rPr lang="ko-KR" altLang="en-US" dirty="0"/>
              <a:t>극지방까지 허용하는 </a:t>
            </a:r>
            <a:r>
              <a:rPr lang="ko-KR" altLang="en-US" dirty="0" err="1"/>
              <a:t>전지구커버리지를</a:t>
            </a:r>
            <a:r>
              <a:rPr lang="ko-KR" altLang="en-US" dirty="0"/>
              <a:t> 제공함과 동시에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ko-KR" altLang="en-US" dirty="0"/>
              <a:t>인구가 가장 많은 중위도에서 최대 재방문율을 허용</a:t>
            </a:r>
            <a:endParaRPr lang="en-US" altLang="ko-KR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13100" y="4149969"/>
            <a:ext cx="3917799" cy="21778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Dual-band</a:t>
            </a:r>
            <a:r>
              <a:rPr lang="ko-KR" altLang="en-US"/>
              <a:t> </a:t>
            </a:r>
            <a:r>
              <a:rPr lang="en-US" altLang="ko-KR"/>
              <a:t>SAR</a:t>
            </a:r>
          </a:p>
          <a:p>
            <a:pPr lvl="3">
              <a:defRPr/>
            </a:pPr>
            <a:r>
              <a:rPr lang="en-US" altLang="ko-KR"/>
              <a:t>World first Dual frequency X and L band SAR</a:t>
            </a:r>
          </a:p>
          <a:p>
            <a:pPr lvl="3">
              <a:defRPr/>
            </a:pPr>
            <a:r>
              <a:rPr lang="en-US" altLang="ko-KR"/>
              <a:t>Antenna 1.8m(in elevation) x 1.0m(in azimuth)</a:t>
            </a:r>
          </a:p>
          <a:p>
            <a:pPr lvl="3">
              <a:defRPr/>
            </a:pPr>
            <a:r>
              <a:rPr lang="en-US" altLang="ko-KR"/>
              <a:t>S-band Inter-Satellite-Link to the Optical spacecraft(Tx only)</a:t>
            </a:r>
          </a:p>
          <a:p>
            <a:pPr lvl="3">
              <a:defRPr/>
            </a:pPr>
            <a:endParaRPr lang="en-US" altLang="ko-KR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1724" y="2823370"/>
            <a:ext cx="5403043" cy="3368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 한반도 감시</a:t>
            </a:r>
            <a:r>
              <a:rPr lang="en-US" altLang="ko-KR" dirty="0"/>
              <a:t>/</a:t>
            </a:r>
            <a:r>
              <a:rPr lang="ko-KR" altLang="en-US" dirty="0"/>
              <a:t>정찰을 위한 </a:t>
            </a:r>
            <a:r>
              <a:rPr lang="en-US" altLang="ko-KR" dirty="0" err="1"/>
              <a:t>OptiSAR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F81D99-7D28-160B-050A-6B366CBE5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10" y="1936465"/>
            <a:ext cx="4862139" cy="3241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854601-198A-36A8-D87B-D666F192320F}"/>
              </a:ext>
            </a:extLst>
          </p:cNvPr>
          <p:cNvSpPr txBox="1"/>
          <p:nvPr/>
        </p:nvSpPr>
        <p:spPr>
          <a:xfrm>
            <a:off x="257080" y="5991239"/>
            <a:ext cx="8382000" cy="33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1" indent="0">
              <a:buFont typeface="Wingdings"/>
              <a:buNone/>
              <a:defRPr/>
            </a:pPr>
            <a:r>
              <a:rPr lang="ko-KR" altLang="en-US" sz="1600" b="1" dirty="0"/>
              <a:t>출처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초소형 </a:t>
            </a:r>
            <a:r>
              <a:rPr lang="ko-KR" altLang="en-US" sz="1600" b="1" dirty="0" err="1"/>
              <a:t>위성군</a:t>
            </a:r>
            <a:r>
              <a:rPr lang="ko-KR" altLang="en-US" sz="1600" b="1" dirty="0"/>
              <a:t> 궤도설계와 궤도유지 방법 연구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2020</a:t>
            </a:r>
            <a:r>
              <a:rPr lang="ko-KR" altLang="en-US" sz="1600" b="1" dirty="0"/>
              <a:t> 황영민</a:t>
            </a:r>
            <a:r>
              <a:rPr lang="en-US" altLang="ko-KR" sz="1600" b="1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07B3B9-36CC-B29F-34D1-AFA4FD700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811" y="5177891"/>
            <a:ext cx="5520002" cy="629846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A4C83D4-8114-B601-F796-F06A7E6AA516}"/>
              </a:ext>
            </a:extLst>
          </p:cNvPr>
          <p:cNvCxnSpPr/>
          <p:nvPr/>
        </p:nvCxnSpPr>
        <p:spPr>
          <a:xfrm>
            <a:off x="1804811" y="5177891"/>
            <a:ext cx="5520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41543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장점</a:t>
            </a:r>
          </a:p>
          <a:p>
            <a:pPr lvl="1">
              <a:defRPr/>
            </a:pPr>
            <a:r>
              <a:rPr lang="ko-KR" altLang="en-US"/>
              <a:t>적은 비용으로 큰 위성군 설계 가능</a:t>
            </a:r>
          </a:p>
          <a:p>
            <a:pPr lvl="1">
              <a:defRPr/>
            </a:pPr>
            <a:r>
              <a:rPr lang="ko-KR" altLang="en-US"/>
              <a:t>기존 설계를 재사용하여 단순한 설계 유지</a:t>
            </a:r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기대효과</a:t>
            </a:r>
          </a:p>
          <a:p>
            <a:pPr lvl="1">
              <a:defRPr/>
            </a:pPr>
            <a:r>
              <a:rPr lang="ko-KR" altLang="en-US"/>
              <a:t>광학 및 </a:t>
            </a:r>
            <a:r>
              <a:rPr lang="en-US" altLang="ko-KR"/>
              <a:t>SAR</a:t>
            </a:r>
            <a:r>
              <a:rPr lang="ko-KR" altLang="en-US"/>
              <a:t>의 데이터를 융합한 높은 데이터 용량</a:t>
            </a:r>
          </a:p>
          <a:p>
            <a:pPr lvl="1">
              <a:defRPr/>
            </a:pPr>
            <a:r>
              <a:rPr lang="en-US" altLang="ko-KR"/>
              <a:t>SAR</a:t>
            </a:r>
            <a:r>
              <a:rPr lang="ko-KR" altLang="en-US"/>
              <a:t>를 사용하여 날씨에 구애받지 않는 고해상도 이미지</a:t>
            </a:r>
          </a:p>
          <a:p>
            <a:pPr lvl="1">
              <a:defRPr/>
            </a:pPr>
            <a:r>
              <a:rPr lang="ko-KR" altLang="en-US"/>
              <a:t>재방문 및 이미징 대기 시간 등 높은 성능의 공간 이미징 기능</a:t>
            </a:r>
          </a:p>
          <a:p>
            <a:pPr lvl="1">
              <a:defRPr/>
            </a:pPr>
            <a:r>
              <a:rPr lang="en-US" altLang="ko-KR"/>
              <a:t>SAR-optical satellite </a:t>
            </a:r>
            <a:r>
              <a:rPr lang="ko-KR" altLang="en-US"/>
              <a:t>구성의 비행으로 구름 회피를 가능하게  하는 실시간 처리</a:t>
            </a:r>
          </a:p>
          <a:p>
            <a:pPr lvl="1">
              <a:defRPr/>
            </a:pPr>
            <a:r>
              <a:rPr lang="ko-KR" altLang="en-US"/>
              <a:t>두 궤도면을 통해 극지방까지 확장되는 전 지구적 커버리지 제공</a:t>
            </a:r>
          </a:p>
          <a:p>
            <a:pPr lvl="1">
              <a:defRPr/>
            </a:pPr>
            <a:r>
              <a:rPr lang="ko-KR" altLang="en-US"/>
              <a:t>인구가 가장 많은 중위도에서의 최대 재방문율 허용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 sz="1800"/>
              <a:t> 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연구계획</a:t>
            </a:r>
          </a:p>
          <a:p>
            <a:pPr lvl="0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한반도 감시정찰을 위해 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사례를 통하여 운용 방법 공부</a:t>
            </a:r>
          </a:p>
          <a:p>
            <a:pPr lvl="1">
              <a:defRPr/>
            </a:pPr>
            <a:r>
              <a:rPr lang="ko-KR" altLang="en-US" dirty="0"/>
              <a:t>요구되는 조건 및 필요한 개념을 중점으로 한 </a:t>
            </a:r>
            <a:r>
              <a:rPr lang="ko-KR" altLang="en-US" u="sng" dirty="0"/>
              <a:t>탑재체의 특성에 대한 연구</a:t>
            </a:r>
            <a:endParaRPr lang="ko-KR" altLang="en-US" dirty="0"/>
          </a:p>
          <a:p>
            <a:pPr lvl="1">
              <a:defRPr/>
            </a:pPr>
            <a:r>
              <a:rPr lang="ko-KR" altLang="en-US" u="sng" dirty="0"/>
              <a:t>요구조건 및 성능지수</a:t>
            </a:r>
            <a:r>
              <a:rPr lang="ko-KR" altLang="en-US" dirty="0"/>
              <a:t>와 관련된 논문 추가 정리 </a:t>
            </a:r>
          </a:p>
          <a:p>
            <a:pPr lvl="1">
              <a:defRPr/>
            </a:pPr>
            <a:r>
              <a:rPr lang="en-US" altLang="ko-KR" dirty="0"/>
              <a:t>SAR, Optical satellite</a:t>
            </a:r>
            <a:r>
              <a:rPr lang="ko-KR" altLang="en-US" dirty="0"/>
              <a:t> 각각의 </a:t>
            </a:r>
            <a:r>
              <a:rPr lang="ko-KR" altLang="en-US" u="sng" dirty="0"/>
              <a:t>개별 위성군과의 성능 차이 분석</a:t>
            </a:r>
            <a:r>
              <a:rPr lang="ko-KR" altLang="en-US" dirty="0"/>
              <a:t> </a:t>
            </a:r>
          </a:p>
          <a:p>
            <a:pPr lvl="1">
              <a:defRPr/>
            </a:pPr>
            <a:endParaRPr lang="ko-KR" altLang="en-US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 : Power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Conditioning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and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Unit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5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5D4766-8EFF-B55C-BEBF-E2CCC5EBA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96" y="2224629"/>
            <a:ext cx="8036719" cy="29217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9A52F0-2999-F1DE-719D-2A68156870C7}"/>
              </a:ext>
            </a:extLst>
          </p:cNvPr>
          <p:cNvSpPr txBox="1"/>
          <p:nvPr/>
        </p:nvSpPr>
        <p:spPr>
          <a:xfrm>
            <a:off x="2756838" y="2651459"/>
            <a:ext cx="4594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Charge Regulator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56216-908C-60FC-F3AA-234F28CD84CF}"/>
              </a:ext>
            </a:extLst>
          </p:cNvPr>
          <p:cNvSpPr txBox="1"/>
          <p:nvPr/>
        </p:nvSpPr>
        <p:spPr>
          <a:xfrm>
            <a:off x="4314822" y="2651459"/>
            <a:ext cx="1696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 Conditioning Module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A4F565-BF4C-E311-95E0-0373E7C09065}"/>
              </a:ext>
            </a:extLst>
          </p:cNvPr>
          <p:cNvSpPr txBox="1"/>
          <p:nvPr/>
        </p:nvSpPr>
        <p:spPr>
          <a:xfrm>
            <a:off x="6022618" y="2650636"/>
            <a:ext cx="17196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 Distribution Module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212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 spec – AAC Clyde Space : Starbuck-Nano Plus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6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8D78BA0-CA24-E2BA-8B44-BE58249AF4C9}"/>
              </a:ext>
            </a:extLst>
          </p:cNvPr>
          <p:cNvGrpSpPr/>
          <p:nvPr/>
        </p:nvGrpSpPr>
        <p:grpSpPr>
          <a:xfrm>
            <a:off x="224712" y="2294942"/>
            <a:ext cx="3591422" cy="2045857"/>
            <a:chOff x="90748" y="2363736"/>
            <a:chExt cx="5266270" cy="2999936"/>
          </a:xfrm>
        </p:grpSpPr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14BF506-DB25-E81A-CB11-36BCBDB3FE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0695" y="3418609"/>
              <a:ext cx="5046" cy="43470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45974FA-AC64-8C5F-BBCE-BE54CF3565A9}"/>
                </a:ext>
              </a:extLst>
            </p:cNvPr>
            <p:cNvGrpSpPr/>
            <p:nvPr/>
          </p:nvGrpSpPr>
          <p:grpSpPr>
            <a:xfrm>
              <a:off x="90748" y="2363736"/>
              <a:ext cx="5266270" cy="2999936"/>
              <a:chOff x="583811" y="2361774"/>
              <a:chExt cx="5266270" cy="2999936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74188B6E-614A-9BE5-EA93-55C6B2DD7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1274" y="2361774"/>
                <a:ext cx="3795521" cy="2835049"/>
              </a:xfrm>
              <a:prstGeom prst="rect">
                <a:avLst/>
              </a:prstGeom>
            </p:spPr>
          </p:pic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01939E09-FDB8-E509-F3F2-19161A456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536" y="3429000"/>
                <a:ext cx="1148393" cy="184958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B43F1C9D-6EE0-1C13-2634-53EC26F8D3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2072" y="3927764"/>
                <a:ext cx="2724001" cy="14339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4E6F2E-257F-98C4-74BD-91D51216333F}"/>
                  </a:ext>
                </a:extLst>
              </p:cNvPr>
              <p:cNvSpPr txBox="1"/>
              <p:nvPr/>
            </p:nvSpPr>
            <p:spPr>
              <a:xfrm>
                <a:off x="3646531" y="4644737"/>
                <a:ext cx="1054229" cy="4400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35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9.6cm</a:t>
                </a:r>
                <a:endParaRPr lang="ko-KR" altLang="en-US" sz="135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6EC5C8-85B5-51EC-2865-12ECDA6C579D}"/>
                  </a:ext>
                </a:extLst>
              </p:cNvPr>
              <p:cNvSpPr txBox="1"/>
              <p:nvPr/>
            </p:nvSpPr>
            <p:spPr>
              <a:xfrm>
                <a:off x="583811" y="4275405"/>
                <a:ext cx="990363" cy="4400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35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9cm</a:t>
                </a:r>
                <a:endParaRPr lang="ko-KR" altLang="en-US" sz="135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3B05DB-E03E-AF01-E1B2-2AC1F36B0BD3}"/>
                  </a:ext>
                </a:extLst>
              </p:cNvPr>
              <p:cNvSpPr txBox="1"/>
              <p:nvPr/>
            </p:nvSpPr>
            <p:spPr>
              <a:xfrm>
                <a:off x="4939516" y="3456895"/>
                <a:ext cx="910565" cy="744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35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2.1cm</a:t>
                </a:r>
                <a:endParaRPr lang="ko-KR" altLang="en-US" sz="1350" dirty="0"/>
              </a:p>
            </p:txBody>
          </p:sp>
        </p:grp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3A446C19-2436-40DC-CF58-7C9148367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92" y="2057741"/>
            <a:ext cx="5129768" cy="242959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07CC474-4F0F-270E-6714-D1AEE81D6F65}"/>
              </a:ext>
            </a:extLst>
          </p:cNvPr>
          <p:cNvSpPr txBox="1"/>
          <p:nvPr/>
        </p:nvSpPr>
        <p:spPr>
          <a:xfrm>
            <a:off x="130536" y="5124500"/>
            <a:ext cx="459408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 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전기적으로 제어가 가능하며 각각의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부하 전원을 단속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sz="825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3A32CD-2EA2-F979-055B-583233ED521E}"/>
              </a:ext>
            </a:extLst>
          </p:cNvPr>
          <p:cNvSpPr txBox="1"/>
          <p:nvPr/>
        </p:nvSpPr>
        <p:spPr>
          <a:xfrm>
            <a:off x="130536" y="5339801"/>
            <a:ext cx="459408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I2C(Inter-Integrated Circuit) : SDA, SCL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두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가닥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선만으로도 데이터 송수신 가능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</a:t>
            </a:r>
            <a:endParaRPr lang="ko-KR" altLang="en-US" sz="825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EA82CE-D888-6131-CEAC-537B38F33D24}"/>
              </a:ext>
            </a:extLst>
          </p:cNvPr>
          <p:cNvSpPr txBox="1"/>
          <p:nvPr/>
        </p:nvSpPr>
        <p:spPr>
          <a:xfrm>
            <a:off x="3925107" y="4510473"/>
            <a:ext cx="45940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ko-KR" sz="9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Unregulated Battery bus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ko-KR" sz="9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(Maximum Power Point Tracker)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ko-KR" sz="9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Overcurrent, Over – and under voltage protection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ko-KR" sz="9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Watchdog</a:t>
            </a:r>
            <a:r>
              <a:rPr lang="ko-KR" altLang="en-US" sz="9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timer</a:t>
            </a:r>
          </a:p>
          <a:p>
            <a:endParaRPr lang="ko-KR" altLang="en-US" sz="9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AF7D2D-C69C-7431-8321-EE8C63C07683}"/>
              </a:ext>
            </a:extLst>
          </p:cNvPr>
          <p:cNvSpPr txBox="1"/>
          <p:nvPr/>
        </p:nvSpPr>
        <p:spPr>
          <a:xfrm>
            <a:off x="130536" y="5555102"/>
            <a:ext cx="572162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전기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모듈의 작동 상태를 조정하여 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panel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더 많은 전기를 출력할 수 있도록 하는 전기시스템 </a:t>
            </a:r>
            <a:endParaRPr lang="ko-KR" altLang="en-US" sz="825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21721E-BDFE-5BAE-092B-70366F97DD08}"/>
              </a:ext>
            </a:extLst>
          </p:cNvPr>
          <p:cNvSpPr txBox="1"/>
          <p:nvPr/>
        </p:nvSpPr>
        <p:spPr>
          <a:xfrm>
            <a:off x="130536" y="5761665"/>
            <a:ext cx="572162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Watchdog timer 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컴퓨터의 오작동을 탐지하고 복구하기 위해 쓰는 전자타이머 </a:t>
            </a:r>
            <a:endParaRPr lang="ko-KR" altLang="en-US" sz="825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578D84B-226C-191D-7C58-02414117E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756" y="1975783"/>
            <a:ext cx="4495157" cy="312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5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LCL(Latching Current Limit)</a:t>
            </a:r>
          </a:p>
          <a:p>
            <a:pPr marL="0" indent="0">
              <a:buNone/>
            </a:pP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7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CBB5D3-AC52-D69D-ADF8-C4B2A8223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05" y="1989302"/>
            <a:ext cx="4705462" cy="3742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FAA8C78-D643-8347-BB66-DCDA4992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359" y="857250"/>
            <a:ext cx="4027127" cy="51435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FE1CD55-0318-7F00-55BF-32C6A2840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1924915"/>
            <a:ext cx="5136137" cy="358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EF0F97-FB89-C50B-F3FF-875B6DD6FC1D}"/>
              </a:ext>
            </a:extLst>
          </p:cNvPr>
          <p:cNvSpPr/>
          <p:nvPr/>
        </p:nvSpPr>
        <p:spPr>
          <a:xfrm>
            <a:off x="1394980" y="1885950"/>
            <a:ext cx="5946198" cy="3086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8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B44F3-900A-A52D-7B37-40C90213B28F}"/>
              </a:ext>
            </a:extLst>
          </p:cNvPr>
          <p:cNvSpPr txBox="1"/>
          <p:nvPr/>
        </p:nvSpPr>
        <p:spPr>
          <a:xfrm>
            <a:off x="4603" y="5548318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 (Single Ended Primary Inductor Converter) 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입력전압에 대해 강압과 </a:t>
            </a:r>
            <a:r>
              <a:rPr lang="ko-KR" altLang="en-US" sz="825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승압이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모두 가능한 전력변환 장치</a:t>
            </a:r>
            <a:endParaRPr lang="ko-KR" altLang="en-US" sz="8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919C-6A33-875D-ADF5-E0E69DA9B306}"/>
              </a:ext>
            </a:extLst>
          </p:cNvPr>
          <p:cNvSpPr txBox="1"/>
          <p:nvPr/>
        </p:nvSpPr>
        <p:spPr>
          <a:xfrm>
            <a:off x="4603" y="5737915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DC-DC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컨퍼터의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일종으로 전압을 </a:t>
            </a:r>
            <a:r>
              <a:rPr lang="ko-KR" altLang="en-US" sz="825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강압시킴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입력전압보다 낮은 전압을 필요할 때 사용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825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3335D8E-4900-DA78-6AC9-931EBBBD4FC1}"/>
              </a:ext>
            </a:extLst>
          </p:cNvPr>
          <p:cNvGrpSpPr/>
          <p:nvPr/>
        </p:nvGrpSpPr>
        <p:grpSpPr>
          <a:xfrm>
            <a:off x="1501306" y="2069252"/>
            <a:ext cx="5622131" cy="2719497"/>
            <a:chOff x="2001740" y="2109787"/>
            <a:chExt cx="7496175" cy="362599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1C25444-692C-BD68-E87D-6A9138283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1740" y="2109787"/>
              <a:ext cx="7496175" cy="2638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76A76EB-AC4F-0A00-6D16-7ECE95B86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9727" y="4452343"/>
              <a:ext cx="7219084" cy="1283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744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9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B44F3-900A-A52D-7B37-40C90213B28F}"/>
              </a:ext>
            </a:extLst>
          </p:cNvPr>
          <p:cNvSpPr txBox="1"/>
          <p:nvPr/>
        </p:nvSpPr>
        <p:spPr>
          <a:xfrm>
            <a:off x="4603" y="5548318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 (Single Ended Primary Inductor Converter) 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입력전압에 대해 강압과 </a:t>
            </a:r>
            <a:r>
              <a:rPr lang="ko-KR" altLang="en-US" sz="825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승압이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모두 가능한 전력변환 장치</a:t>
            </a:r>
            <a:endParaRPr lang="ko-KR" altLang="en-US" sz="8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919C-6A33-875D-ADF5-E0E69DA9B306}"/>
              </a:ext>
            </a:extLst>
          </p:cNvPr>
          <p:cNvSpPr txBox="1"/>
          <p:nvPr/>
        </p:nvSpPr>
        <p:spPr>
          <a:xfrm>
            <a:off x="4603" y="5737915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DC-DC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컨버터의 일종으로 전압을 </a:t>
            </a:r>
            <a:r>
              <a:rPr lang="ko-KR" altLang="en-US" sz="825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강압시킴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입력전압보다 낮은 전압을 필요할 때 사용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825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8E4EEB-E8FD-CF84-1FBA-EB73162A1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1" y="1828005"/>
            <a:ext cx="4578360" cy="25973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9839AB-2583-63DD-D7AD-C8DD2C18B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589" y="1959397"/>
            <a:ext cx="4541411" cy="246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39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10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B44F3-900A-A52D-7B37-40C90213B28F}"/>
              </a:ext>
            </a:extLst>
          </p:cNvPr>
          <p:cNvSpPr txBox="1"/>
          <p:nvPr/>
        </p:nvSpPr>
        <p:spPr>
          <a:xfrm>
            <a:off x="4603" y="4989125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TML (Total Mass Loss) : 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대기 중과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진공 조건에서 나타나는 질량의 차이</a:t>
            </a:r>
            <a:endParaRPr lang="ko-KR" altLang="en-US" sz="8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919C-6A33-875D-ADF5-E0E69DA9B306}"/>
              </a:ext>
            </a:extLst>
          </p:cNvPr>
          <p:cNvSpPr txBox="1"/>
          <p:nvPr/>
        </p:nvSpPr>
        <p:spPr>
          <a:xfrm>
            <a:off x="4603" y="5178721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CVCM (Collected Volatile Condensable Mass)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휘발성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응축 질량</a:t>
            </a:r>
            <a:endParaRPr lang="ko-KR" altLang="en-US" sz="825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D2080F-33AB-14A1-F986-3B4D9DB4C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94" y="2153229"/>
            <a:ext cx="4447958" cy="255154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FC71D5-56E3-552F-91C1-28C04FA3A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738" y="2122056"/>
            <a:ext cx="4344285" cy="26941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C6BDA2-DBB2-861A-81C6-FC1A391B466A}"/>
              </a:ext>
            </a:extLst>
          </p:cNvPr>
          <p:cNvSpPr txBox="1"/>
          <p:nvPr/>
        </p:nvSpPr>
        <p:spPr>
          <a:xfrm>
            <a:off x="1" y="5378838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WVR (Water Vapor Regained):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물의 재흡수율</a:t>
            </a:r>
            <a:endParaRPr lang="ko-KR" altLang="en-US" sz="8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C795F8-1B09-CC31-50DC-8DF281134D4B}"/>
              </a:ext>
            </a:extLst>
          </p:cNvPr>
          <p:cNvSpPr txBox="1"/>
          <p:nvPr/>
        </p:nvSpPr>
        <p:spPr>
          <a:xfrm>
            <a:off x="4603" y="5568168"/>
            <a:ext cx="7285979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dirty="0"/>
              <a:t>SMT (Surface Mount Technology) : </a:t>
            </a:r>
            <a:r>
              <a:rPr lang="ko-KR" altLang="en-US" sz="825" dirty="0"/>
              <a:t>기판의 표면위에 전자 부품을 접합하여 회로가 전기적으로 구성되도록 하는 접합 기술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F8942E-F3D0-70E2-7221-8E5B3BFDA20C}"/>
              </a:ext>
            </a:extLst>
          </p:cNvPr>
          <p:cNvSpPr txBox="1"/>
          <p:nvPr/>
        </p:nvSpPr>
        <p:spPr>
          <a:xfrm>
            <a:off x="1" y="5768284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dirty="0"/>
              <a:t>PTH (Plated Through Hole) : </a:t>
            </a:r>
            <a:r>
              <a:rPr lang="ko-KR" altLang="en-US" sz="825" dirty="0"/>
              <a:t>부품의 리드를 삽입하여 납땜하는 기법</a:t>
            </a:r>
          </a:p>
        </p:txBody>
      </p:sp>
    </p:spTree>
    <p:extLst>
      <p:ext uri="{BB962C8B-B14F-4D97-AF65-F5344CB8AC3E}">
        <p14:creationId xmlns:p14="http://schemas.microsoft.com/office/powerpoint/2010/main" val="3066336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11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FF74F3-639D-EFB8-AC4F-61C244AC8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7" y="1801790"/>
            <a:ext cx="8829675" cy="35147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AFA27C-61C3-49B9-C256-0EEE349CC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051" y="1393640"/>
            <a:ext cx="4687949" cy="41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2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12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66412C-C69E-06DC-D0F7-54AF01C49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6" y="1623196"/>
            <a:ext cx="3694287" cy="33595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2B3724-BA4D-CD58-AB61-961097FED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871" y="1589485"/>
            <a:ext cx="5060273" cy="339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36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13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952F69-7DBF-DD83-2BFF-83F1197C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85" y="1471885"/>
            <a:ext cx="5564981" cy="415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24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417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14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15FFA5-E2BD-E958-55D6-AB7D06CE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68" y="1535191"/>
            <a:ext cx="3739880" cy="43068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C22441-103C-C6DF-6D02-8ADCEA58A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854" y="1345923"/>
            <a:ext cx="3460946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193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3430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/>
              <a:t>15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81563-C6A5-48CB-0C87-A146089004BA}"/>
              </a:ext>
            </a:extLst>
          </p:cNvPr>
          <p:cNvSpPr txBox="1"/>
          <p:nvPr/>
        </p:nvSpPr>
        <p:spPr>
          <a:xfrm>
            <a:off x="224712" y="1457866"/>
            <a:ext cx="4593431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Technical</a:t>
            </a:r>
            <a:r>
              <a:rPr lang="ko-KR" altLang="en-US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Description</a:t>
            </a:r>
            <a:endParaRPr lang="ko-KR" altLang="en-US" sz="135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AEEDB-5F4D-412D-A38A-C681A75EE0B8}"/>
              </a:ext>
            </a:extLst>
          </p:cNvPr>
          <p:cNvSpPr txBox="1"/>
          <p:nvPr/>
        </p:nvSpPr>
        <p:spPr>
          <a:xfrm>
            <a:off x="467599" y="2033201"/>
            <a:ext cx="45934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Charge Method</a:t>
            </a:r>
            <a:endParaRPr lang="ko-KR" alt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8A488A-7F8F-C04F-A6CA-F7C1EA959472}"/>
              </a:ext>
            </a:extLst>
          </p:cNvPr>
          <p:cNvSpPr txBox="1"/>
          <p:nvPr/>
        </p:nvSpPr>
        <p:spPr>
          <a:xfrm>
            <a:off x="743455" y="2482300"/>
            <a:ext cx="459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MPPT Mode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959DA-2FD7-DA23-91DD-5410C3BFA7D8}"/>
              </a:ext>
            </a:extLst>
          </p:cNvPr>
          <p:cNvSpPr txBox="1"/>
          <p:nvPr/>
        </p:nvSpPr>
        <p:spPr>
          <a:xfrm>
            <a:off x="743455" y="3342472"/>
            <a:ext cx="459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en-US" altLang="ko-KR" sz="12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2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Mode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8748B-EE46-D571-1229-EC6A0F3E1053}"/>
              </a:ext>
            </a:extLst>
          </p:cNvPr>
          <p:cNvSpPr txBox="1"/>
          <p:nvPr/>
        </p:nvSpPr>
        <p:spPr>
          <a:xfrm>
            <a:off x="2015656" y="2493841"/>
            <a:ext cx="54424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전압이 </a:t>
            </a:r>
            <a:r>
              <a:rPr lang="en-US" altLang="ko-KR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전압보다 낮은 경우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최대 전력 전송을 위해 태양 전지판의 최대 전력 지점에서 작동하는</a:t>
            </a:r>
            <a:endParaRPr lang="en-US" altLang="ko-KR" sz="105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Constant </a:t>
            </a:r>
            <a:r>
              <a:rPr lang="en-US" altLang="ko-KR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Cyrrent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charge method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이용한다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64F2A-363C-4563-118B-BFBB8BCB1304}"/>
              </a:ext>
            </a:extLst>
          </p:cNvPr>
          <p:cNvSpPr txBox="1"/>
          <p:nvPr/>
        </p:nvSpPr>
        <p:spPr>
          <a:xfrm>
            <a:off x="1822360" y="3354013"/>
            <a:ext cx="459343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전압에 도달하면 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정전압인 </a:t>
            </a:r>
            <a:r>
              <a:rPr lang="en-US" altLang="ko-KR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변경됨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일정하게 유지되고 패널에서 </a:t>
            </a:r>
            <a:r>
              <a:rPr lang="ko-KR" altLang="en-US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테이퍼링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전류가 공급된다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184551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712" y="1471885"/>
            <a:ext cx="8175318" cy="3430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1619794" y="851375"/>
            <a:ext cx="7524206" cy="424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250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851375"/>
            <a:ext cx="743456" cy="1393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2023-01-11</a:t>
            </a:r>
            <a:endParaRPr lang="ko-KR" altLang="en-US" sz="900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743456" y="851375"/>
            <a:ext cx="876339" cy="4248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/>
              <a:t>EPS</a:t>
            </a:r>
            <a:endParaRPr lang="ko-KR" altLang="en-US" sz="1050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990679"/>
            <a:ext cx="743456" cy="285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50" dirty="0"/>
              <a:t>14</a:t>
            </a:r>
            <a:endParaRPr lang="ko-KR" alt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1619794" y="921027"/>
            <a:ext cx="49985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234996-F8F6-8371-5B30-8FB15AFC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730" y="1547459"/>
            <a:ext cx="4875282" cy="38386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572DF-2E50-199E-8064-B1B8A1BFFA2E}"/>
              </a:ext>
            </a:extLst>
          </p:cNvPr>
          <p:cNvSpPr txBox="1"/>
          <p:nvPr/>
        </p:nvSpPr>
        <p:spPr>
          <a:xfrm>
            <a:off x="54609" y="5740766"/>
            <a:ext cx="5377295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Taper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charge :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배터리가</a:t>
            </a:r>
            <a:r>
              <a:rPr lang="en-US" altLang="ko-KR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완전히 충전된 상태에 </a:t>
            </a:r>
            <a:r>
              <a:rPr lang="ko-KR" altLang="en-US" sz="825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가까워짐에</a:t>
            </a:r>
            <a:r>
              <a:rPr lang="ko-KR" altLang="en-US" sz="825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따라 충전 속도가 감소하는 현상</a:t>
            </a:r>
            <a:endParaRPr lang="ko-KR" altLang="en-US" sz="825" dirty="0"/>
          </a:p>
        </p:txBody>
      </p:sp>
    </p:spTree>
    <p:extLst>
      <p:ext uri="{BB962C8B-B14F-4D97-AF65-F5344CB8AC3E}">
        <p14:creationId xmlns:p14="http://schemas.microsoft.com/office/powerpoint/2010/main" val="4246023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신입생 오리엔테이션 </a:t>
            </a:r>
            <a:r>
              <a:rPr lang="en-US" altLang="ko-KR" dirty="0"/>
              <a:t>(2</a:t>
            </a:r>
            <a:r>
              <a:rPr lang="ko-KR" altLang="en-US" dirty="0"/>
              <a:t>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Variable(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MATLAB</a:t>
            </a:r>
            <a:r>
              <a:rPr lang="ko-KR" altLang="en-US" dirty="0"/>
              <a:t>의 기초 </a:t>
            </a:r>
            <a:r>
              <a:rPr lang="en-US" altLang="ko-KR" dirty="0"/>
              <a:t>– variable(</a:t>
            </a:r>
            <a:r>
              <a:rPr lang="ko-KR" altLang="en-US" dirty="0"/>
              <a:t>변수</a:t>
            </a:r>
            <a:r>
              <a:rPr lang="en-US" altLang="ko-KR" dirty="0"/>
              <a:t>) – double</a:t>
            </a:r>
            <a:r>
              <a:rPr lang="ko-KR" altLang="en-US" dirty="0"/>
              <a:t>이라는 변수</a:t>
            </a:r>
            <a:endParaRPr lang="en-US" altLang="ko-KR" dirty="0"/>
          </a:p>
          <a:p>
            <a:pPr lvl="2"/>
            <a:r>
              <a:rPr lang="ko-KR" altLang="en-US" dirty="0"/>
              <a:t>변수 언급을 </a:t>
            </a:r>
            <a:r>
              <a:rPr lang="ko-KR" altLang="en-US" dirty="0" err="1"/>
              <a:t>안하면</a:t>
            </a:r>
            <a:r>
              <a:rPr lang="ko-KR" altLang="en-US" dirty="0"/>
              <a:t> </a:t>
            </a:r>
            <a:r>
              <a:rPr lang="en-US" altLang="ko-KR" dirty="0" err="1"/>
              <a:t>ans</a:t>
            </a:r>
            <a:r>
              <a:rPr lang="ko-KR" altLang="en-US" dirty="0"/>
              <a:t>에 저장됨</a:t>
            </a:r>
            <a:r>
              <a:rPr lang="en-US" altLang="ko-KR" dirty="0"/>
              <a:t>	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Array(</a:t>
            </a:r>
            <a:r>
              <a:rPr lang="ko-KR" altLang="en-US" dirty="0"/>
              <a:t>배열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하나의 변수 내에 여러 개의 데이터가 순서대로 기록된 것</a:t>
            </a:r>
            <a:endParaRPr lang="en-US" altLang="ko-KR" dirty="0"/>
          </a:p>
          <a:p>
            <a:pPr lvl="2"/>
            <a:r>
              <a:rPr lang="en-US" altLang="ko-KR" dirty="0"/>
              <a:t>A(Row#, Column#)</a:t>
            </a:r>
          </a:p>
          <a:p>
            <a:pPr lvl="2"/>
            <a:r>
              <a:rPr lang="ko-KR" altLang="en-US" dirty="0"/>
              <a:t>콤마</a:t>
            </a:r>
            <a:r>
              <a:rPr lang="en-US" altLang="ko-KR" dirty="0"/>
              <a:t>, </a:t>
            </a:r>
            <a:r>
              <a:rPr lang="ko-KR" altLang="en-US" dirty="0"/>
              <a:t>또는 띄어쓰기를 이용하여 행을 나눠서 출력가능</a:t>
            </a:r>
            <a:endParaRPr lang="en-US" altLang="ko-KR" dirty="0"/>
          </a:p>
          <a:p>
            <a:pPr lvl="2"/>
            <a:r>
              <a:rPr lang="ko-KR" altLang="en-US" dirty="0"/>
              <a:t>행과 열의 크기가 다르면 연산에 오류가 발생 → 연산 앞에 </a:t>
            </a:r>
            <a:r>
              <a:rPr lang="en-US" altLang="ko-KR" dirty="0"/>
              <a:t>‘.’</a:t>
            </a:r>
            <a:r>
              <a:rPr lang="ko-KR" altLang="en-US" dirty="0"/>
              <a:t>을 붙임</a:t>
            </a:r>
            <a:endParaRPr lang="en-US" altLang="ko-KR" dirty="0"/>
          </a:p>
          <a:p>
            <a:pPr lvl="3"/>
            <a:r>
              <a:rPr lang="ko-KR" altLang="en-US" dirty="0"/>
              <a:t> 성분끼리 연산이 되어 문제 해결</a:t>
            </a:r>
            <a:endParaRPr lang="en-US" altLang="ko-KR" dirty="0"/>
          </a:p>
          <a:p>
            <a:pPr lvl="5"/>
            <a:endParaRPr lang="en-US" altLang="ko-KR" sz="1200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5"/>
            <a:endParaRPr lang="en-US" altLang="ko-KR" dirty="0"/>
          </a:p>
          <a:p>
            <a:pPr lvl="5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 보고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716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신입생 오리엔테이션 </a:t>
            </a:r>
            <a:r>
              <a:rPr lang="en-US" altLang="ko-KR" dirty="0"/>
              <a:t>(2</a:t>
            </a:r>
            <a:r>
              <a:rPr lang="ko-KR" altLang="en-US" dirty="0"/>
              <a:t>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코드실행</a:t>
            </a:r>
            <a:endParaRPr lang="en-US" altLang="ko-KR" dirty="0"/>
          </a:p>
          <a:p>
            <a:pPr lvl="2"/>
            <a:r>
              <a:rPr lang="en-US" altLang="ko-KR" dirty="0"/>
              <a:t>1. Command Window</a:t>
            </a:r>
            <a:r>
              <a:rPr lang="ko-KR" altLang="en-US" dirty="0"/>
              <a:t>에 직접 입력</a:t>
            </a:r>
            <a:endParaRPr lang="en-US" altLang="ko-KR" dirty="0"/>
          </a:p>
          <a:p>
            <a:pPr lvl="3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간단하다</a:t>
            </a:r>
            <a:r>
              <a:rPr lang="en-US" altLang="ko-KR" dirty="0"/>
              <a:t>. </a:t>
            </a:r>
            <a:r>
              <a:rPr lang="ko-KR" altLang="en-US" dirty="0"/>
              <a:t>스크립트 파일 넣기 전에 오류 확인가능</a:t>
            </a:r>
            <a:endParaRPr lang="en-US" altLang="ko-KR" dirty="0"/>
          </a:p>
          <a:p>
            <a:pPr lvl="3"/>
            <a:r>
              <a:rPr lang="ko-KR" altLang="en-US" dirty="0"/>
              <a:t>장문에 코드는 어려움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en-US" altLang="ko-KR" dirty="0"/>
              <a:t>2. Editor + (</a:t>
            </a:r>
            <a:r>
              <a:rPr lang="en-US" altLang="ko-KR" dirty="0" err="1"/>
              <a:t>crtl</a:t>
            </a:r>
            <a:r>
              <a:rPr lang="en-US" altLang="ko-KR" dirty="0"/>
              <a:t> + Enter)</a:t>
            </a:r>
          </a:p>
          <a:p>
            <a:pPr lvl="3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스크립트를 저장하지 않고 바로 실행 가능</a:t>
            </a:r>
            <a:r>
              <a:rPr lang="en-US" altLang="ko-KR" dirty="0"/>
              <a:t>, %%</a:t>
            </a:r>
            <a:r>
              <a:rPr lang="ko-KR" altLang="en-US" dirty="0"/>
              <a:t>로 영역을 나눌 수 있음</a:t>
            </a:r>
            <a:endParaRPr lang="en-US" altLang="ko-KR" dirty="0"/>
          </a:p>
          <a:p>
            <a:pPr lvl="3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코드 전체를 실행하려면 영역별로 실행해야 함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en-US" altLang="ko-KR" dirty="0"/>
              <a:t>3. Editor + F5</a:t>
            </a:r>
          </a:p>
          <a:p>
            <a:pPr lvl="3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코드 실행 가능</a:t>
            </a:r>
            <a:endParaRPr lang="en-US" altLang="ko-KR" dirty="0"/>
          </a:p>
          <a:p>
            <a:pPr lvl="3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실행할 때 마다 저장을 계속 해야 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5"/>
            <a:endParaRPr lang="en-US" altLang="ko-KR" sz="1200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5"/>
            <a:endParaRPr lang="en-US" altLang="ko-KR" dirty="0"/>
          </a:p>
          <a:p>
            <a:pPr lvl="5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 보고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848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신입생 오리엔테이션 </a:t>
            </a:r>
            <a:r>
              <a:rPr lang="en-US" altLang="ko-KR" dirty="0"/>
              <a:t>(2</a:t>
            </a:r>
            <a:r>
              <a:rPr lang="ko-KR" altLang="en-US" dirty="0"/>
              <a:t>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기초연산</a:t>
            </a:r>
            <a:endParaRPr lang="en-US" altLang="ko-KR" dirty="0"/>
          </a:p>
          <a:p>
            <a:pPr lvl="2"/>
            <a:r>
              <a:rPr lang="ko-KR" altLang="en-US" dirty="0"/>
              <a:t>전치행렬 </a:t>
            </a:r>
            <a:r>
              <a:rPr lang="en-US" altLang="ko-KR" dirty="0"/>
              <a:t>(‘)</a:t>
            </a:r>
          </a:p>
          <a:p>
            <a:pPr lvl="3"/>
            <a:r>
              <a:rPr lang="en-US" altLang="ko-KR" dirty="0"/>
              <a:t>A’, A.’ </a:t>
            </a:r>
            <a:r>
              <a:rPr lang="ko-KR" altLang="en-US" dirty="0"/>
              <a:t>실수가</a:t>
            </a:r>
            <a:r>
              <a:rPr lang="en-US" altLang="ko-KR" dirty="0"/>
              <a:t> </a:t>
            </a:r>
            <a:r>
              <a:rPr lang="ko-KR" altLang="en-US" dirty="0"/>
              <a:t>아니라 복소수면 결과가 다름</a:t>
            </a:r>
            <a:endParaRPr lang="en-US" altLang="ko-KR" dirty="0"/>
          </a:p>
          <a:p>
            <a:pPr lvl="2"/>
            <a:r>
              <a:rPr lang="ko-KR" altLang="en-US" dirty="0" err="1"/>
              <a:t>역행렬</a:t>
            </a:r>
            <a:r>
              <a:rPr lang="ko-KR" altLang="en-US" dirty="0"/>
              <a:t> </a:t>
            </a:r>
            <a:r>
              <a:rPr lang="en-US" altLang="ko-KR" dirty="0"/>
              <a:t>(inv(A), A^(-1))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값의 형태</a:t>
            </a:r>
            <a:endParaRPr lang="en-US" altLang="ko-KR" dirty="0"/>
          </a:p>
          <a:p>
            <a:pPr lvl="2"/>
            <a:r>
              <a:rPr lang="en-US" altLang="ko-KR" dirty="0"/>
              <a:t>1. Format</a:t>
            </a:r>
            <a:r>
              <a:rPr lang="ko-KR" altLang="en-US" dirty="0"/>
              <a:t> </a:t>
            </a:r>
            <a:r>
              <a:rPr lang="en-US" altLang="ko-KR" dirty="0"/>
              <a:t>long</a:t>
            </a:r>
          </a:p>
          <a:p>
            <a:pPr lvl="2"/>
            <a:r>
              <a:rPr lang="en-US" altLang="ko-KR" dirty="0"/>
              <a:t>2. Format short</a:t>
            </a:r>
          </a:p>
          <a:p>
            <a:pPr lvl="2"/>
            <a:r>
              <a:rPr lang="en-US" altLang="ko-KR" dirty="0"/>
              <a:t>3. Format </a:t>
            </a:r>
            <a:r>
              <a:rPr lang="en-US" altLang="ko-KR" dirty="0" err="1"/>
              <a:t>shorte</a:t>
            </a:r>
            <a:r>
              <a:rPr lang="en-US" altLang="ko-KR" dirty="0"/>
              <a:t> -&gt; exponential</a:t>
            </a:r>
          </a:p>
          <a:p>
            <a:pPr marL="792000" lvl="4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Indexing &amp; colon operator</a:t>
            </a:r>
          </a:p>
          <a:p>
            <a:pPr lvl="2"/>
            <a:r>
              <a:rPr lang="en-US" altLang="ko-KR" dirty="0"/>
              <a:t>A(</a:t>
            </a:r>
            <a:r>
              <a:rPr lang="en-US" altLang="ko-KR" dirty="0" err="1"/>
              <a:t>a,b:c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A</a:t>
            </a:r>
            <a:r>
              <a:rPr lang="ko-KR" altLang="en-US" dirty="0"/>
              <a:t>행렬 </a:t>
            </a:r>
            <a:r>
              <a:rPr lang="en-US" altLang="ko-KR" dirty="0"/>
              <a:t>a</a:t>
            </a:r>
            <a:r>
              <a:rPr lang="ko-KR" altLang="en-US" dirty="0"/>
              <a:t>행의</a:t>
            </a:r>
            <a:r>
              <a:rPr lang="en-US" altLang="ko-KR" dirty="0"/>
              <a:t>, b</a:t>
            </a:r>
            <a:r>
              <a:rPr lang="ko-KR" altLang="en-US" dirty="0"/>
              <a:t>부터</a:t>
            </a:r>
            <a:r>
              <a:rPr lang="en-US" altLang="ko-KR" dirty="0"/>
              <a:t>:c</a:t>
            </a:r>
            <a:r>
              <a:rPr lang="ko-KR" altLang="en-US" dirty="0"/>
              <a:t>까지 </a:t>
            </a:r>
            <a:endParaRPr lang="en-US" altLang="ko-KR" dirty="0"/>
          </a:p>
          <a:p>
            <a:pPr lvl="2"/>
            <a:r>
              <a:rPr lang="en-US" altLang="ko-KR" dirty="0"/>
              <a:t>O = 1:1:10  == P = 1:10 (1</a:t>
            </a:r>
            <a:r>
              <a:rPr lang="ko-KR" altLang="en-US" dirty="0"/>
              <a:t>간격이 </a:t>
            </a:r>
            <a:r>
              <a:rPr lang="en-US" altLang="ko-KR" dirty="0"/>
              <a:t>default)</a:t>
            </a:r>
          </a:p>
          <a:p>
            <a:pPr lvl="2"/>
            <a:r>
              <a:rPr lang="en-US" altLang="ko-KR" dirty="0"/>
              <a:t>Q = 0:10:105 </a:t>
            </a:r>
            <a:r>
              <a:rPr lang="ko-KR" altLang="en-US" dirty="0"/>
              <a:t>→ </a:t>
            </a:r>
            <a:r>
              <a:rPr lang="en-US" altLang="ko-KR" dirty="0"/>
              <a:t>0  10  20  30  40  50  60  70  80  90  100  </a:t>
            </a:r>
            <a:r>
              <a:rPr lang="en-US" altLang="ko-KR" strike="sngStrike" dirty="0"/>
              <a:t>105</a:t>
            </a:r>
          </a:p>
          <a:p>
            <a:pPr lvl="2"/>
            <a:r>
              <a:rPr lang="en-US" altLang="ko-KR" dirty="0"/>
              <a:t>R = </a:t>
            </a:r>
            <a:r>
              <a:rPr lang="en-US" altLang="ko-KR" dirty="0" err="1"/>
              <a:t>linspace</a:t>
            </a:r>
            <a:r>
              <a:rPr lang="en-US" altLang="ko-KR" dirty="0"/>
              <a:t>(0, 105, 6) </a:t>
            </a:r>
            <a:r>
              <a:rPr lang="ko-KR" altLang="en-US" dirty="0"/>
              <a:t>→ </a:t>
            </a:r>
            <a:r>
              <a:rPr lang="en-US" altLang="ko-KR" dirty="0"/>
              <a:t>0  21  42  63  84  105 (</a:t>
            </a:r>
            <a:r>
              <a:rPr lang="ko-KR" altLang="en-US" dirty="0"/>
              <a:t>등간격으로 나누어 </a:t>
            </a:r>
            <a:r>
              <a:rPr lang="en-US" altLang="ko-KR" dirty="0"/>
              <a:t>6</a:t>
            </a:r>
            <a:r>
              <a:rPr lang="ko-KR" altLang="en-US" dirty="0"/>
              <a:t>개로 표현</a:t>
            </a:r>
            <a:r>
              <a:rPr lang="en-US" altLang="ko-KR" dirty="0"/>
              <a:t>)</a:t>
            </a:r>
          </a:p>
          <a:p>
            <a:pPr marL="792000" lvl="4" indent="0">
              <a:buNone/>
            </a:pPr>
            <a:endParaRPr lang="en-US" altLang="ko-KR" dirty="0"/>
          </a:p>
          <a:p>
            <a:pPr marL="792000" lvl="4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 보고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8554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신입생 오리엔테이션 </a:t>
            </a:r>
            <a:r>
              <a:rPr lang="en-US" altLang="ko-KR" dirty="0"/>
              <a:t>(2</a:t>
            </a:r>
            <a:r>
              <a:rPr lang="ko-KR" altLang="en-US" dirty="0"/>
              <a:t>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배열 붙이기</a:t>
            </a:r>
            <a:endParaRPr lang="en-US" altLang="ko-KR" dirty="0"/>
          </a:p>
          <a:p>
            <a:pPr lvl="2"/>
            <a:r>
              <a:rPr lang="en-US" altLang="ko-KR" dirty="0"/>
              <a:t>C = [A B] : </a:t>
            </a:r>
            <a:r>
              <a:rPr lang="ko-KR" altLang="en-US" dirty="0"/>
              <a:t>가로로 붙이기</a:t>
            </a:r>
            <a:endParaRPr lang="en-US" altLang="ko-KR" dirty="0"/>
          </a:p>
          <a:p>
            <a:pPr lvl="2"/>
            <a:r>
              <a:rPr lang="en-US" altLang="ko-KR" dirty="0"/>
              <a:t>D = [A; B] : </a:t>
            </a:r>
            <a:r>
              <a:rPr lang="ko-KR" altLang="en-US" dirty="0"/>
              <a:t>세로로 붙이기</a:t>
            </a:r>
            <a:endParaRPr lang="en-US" altLang="ko-KR" dirty="0"/>
          </a:p>
          <a:p>
            <a:pPr lvl="2"/>
            <a:r>
              <a:rPr lang="en-US" altLang="ko-KR" dirty="0"/>
              <a:t>D(5, 1:2) = [0 1]  </a:t>
            </a:r>
            <a:r>
              <a:rPr lang="ko-KR" altLang="en-US" dirty="0"/>
              <a:t>→  </a:t>
            </a:r>
            <a:r>
              <a:rPr lang="en-US" altLang="ko-KR" dirty="0"/>
              <a:t>D</a:t>
            </a:r>
            <a:r>
              <a:rPr lang="ko-KR" altLang="en-US" dirty="0"/>
              <a:t>행렬의 </a:t>
            </a:r>
            <a:r>
              <a:rPr lang="en-US" altLang="ko-KR" dirty="0"/>
              <a:t>5</a:t>
            </a:r>
            <a:r>
              <a:rPr lang="ko-KR" altLang="en-US" dirty="0"/>
              <a:t>번째 행 </a:t>
            </a:r>
            <a:r>
              <a:rPr lang="en-US" altLang="ko-KR" dirty="0"/>
              <a:t>1~2</a:t>
            </a:r>
            <a:r>
              <a:rPr lang="ko-KR" altLang="en-US" dirty="0"/>
              <a:t>열에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을 추가</a:t>
            </a:r>
            <a:endParaRPr lang="en-US" altLang="ko-KR" dirty="0"/>
          </a:p>
          <a:p>
            <a:pPr lvl="2"/>
            <a:r>
              <a:rPr lang="en-US" altLang="ko-KR" dirty="0"/>
              <a:t>D(7, :) = [-1 -2]  </a:t>
            </a:r>
            <a:r>
              <a:rPr lang="ko-KR" altLang="en-US" dirty="0"/>
              <a:t>→  </a:t>
            </a:r>
            <a:r>
              <a:rPr lang="en-US" altLang="ko-KR" dirty="0"/>
              <a:t>D</a:t>
            </a:r>
            <a:r>
              <a:rPr lang="ko-KR" altLang="en-US" dirty="0"/>
              <a:t>행렬의 </a:t>
            </a:r>
            <a:r>
              <a:rPr lang="en-US" altLang="ko-KR" dirty="0"/>
              <a:t>7</a:t>
            </a:r>
            <a:r>
              <a:rPr lang="ko-KR" altLang="en-US" dirty="0"/>
              <a:t>번째 행 </a:t>
            </a:r>
            <a:r>
              <a:rPr lang="en-US" altLang="ko-KR" dirty="0"/>
              <a:t>1~2</a:t>
            </a:r>
            <a:r>
              <a:rPr lang="ko-KR" altLang="en-US" dirty="0"/>
              <a:t>열에 </a:t>
            </a:r>
            <a:r>
              <a:rPr lang="en-US" altLang="ko-KR" dirty="0"/>
              <a:t>-1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추가 </a:t>
            </a:r>
            <a:r>
              <a:rPr lang="en-US" altLang="ko-KR" dirty="0"/>
              <a:t>(6</a:t>
            </a:r>
            <a:r>
              <a:rPr lang="ko-KR" altLang="en-US" dirty="0"/>
              <a:t>번째 행은 </a:t>
            </a:r>
            <a:r>
              <a:rPr lang="en-US" altLang="ko-KR" dirty="0"/>
              <a:t>0 0)</a:t>
            </a:r>
          </a:p>
          <a:p>
            <a:pPr marL="432000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Text and characters : characters and string</a:t>
            </a:r>
          </a:p>
          <a:p>
            <a:pPr lvl="2"/>
            <a:r>
              <a:rPr lang="en-US" altLang="ko-KR" dirty="0" err="1"/>
              <a:t>t_char</a:t>
            </a:r>
            <a:r>
              <a:rPr lang="en-US" altLang="ko-KR" dirty="0"/>
              <a:t> = length : 13 (t=‘Hello, world!’)</a:t>
            </a:r>
          </a:p>
          <a:p>
            <a:pPr lvl="2"/>
            <a:r>
              <a:rPr lang="en-US" altLang="ko-KR" dirty="0" err="1"/>
              <a:t>t_string</a:t>
            </a:r>
            <a:r>
              <a:rPr lang="en-US" altLang="ko-KR" dirty="0"/>
              <a:t> = length : 1 (t=“Hello, world!”)</a:t>
            </a:r>
          </a:p>
          <a:p>
            <a:pPr lvl="2"/>
            <a:r>
              <a:rPr lang="en-US" altLang="ko-KR" dirty="0"/>
              <a:t>Double(t) = 104 101 108 108 111 (ascii code)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Text and characters : char </a:t>
            </a:r>
            <a:r>
              <a:rPr lang="ko-KR" altLang="en-US" dirty="0"/>
              <a:t>합치기</a:t>
            </a:r>
            <a:r>
              <a:rPr lang="en-US" altLang="ko-KR" dirty="0"/>
              <a:t>, char</a:t>
            </a:r>
            <a:r>
              <a:rPr lang="ko-KR" altLang="en-US" dirty="0"/>
              <a:t>와 </a:t>
            </a:r>
            <a:r>
              <a:rPr lang="en-US" altLang="ko-KR" dirty="0"/>
              <a:t>double </a:t>
            </a:r>
            <a:r>
              <a:rPr lang="ko-KR" altLang="en-US" dirty="0"/>
              <a:t>변환</a:t>
            </a:r>
            <a:endParaRPr lang="en-US" altLang="ko-KR" dirty="0"/>
          </a:p>
          <a:p>
            <a:pPr lvl="2"/>
            <a:r>
              <a:rPr lang="en-US" altLang="ko-KR" dirty="0"/>
              <a:t>D = [16 ‘-Feb-’ 2004] </a:t>
            </a:r>
            <a:r>
              <a:rPr lang="ko-KR" altLang="en-US" dirty="0"/>
              <a:t>→ </a:t>
            </a:r>
            <a:r>
              <a:rPr lang="en-US" altLang="ko-KR" dirty="0"/>
              <a:t>Error</a:t>
            </a:r>
          </a:p>
          <a:p>
            <a:pPr lvl="2"/>
            <a:r>
              <a:rPr lang="en-US" altLang="ko-KR" dirty="0"/>
              <a:t>D = [’16’ ‘-Feb-’ ‘2004’] </a:t>
            </a:r>
            <a:r>
              <a:rPr lang="ko-KR" altLang="en-US" dirty="0"/>
              <a:t>로 해야 함 </a:t>
            </a:r>
            <a:r>
              <a:rPr lang="en-US" altLang="ko-KR" dirty="0"/>
              <a:t>== [num2str(16) ‘-Feb-’ num2str(2004)]</a:t>
            </a:r>
          </a:p>
          <a:p>
            <a:pPr lvl="2"/>
            <a:r>
              <a:rPr lang="en-US" altLang="ko-KR" dirty="0"/>
              <a:t>Y = ‘23.11’ </a:t>
            </a:r>
            <a:r>
              <a:rPr lang="ko-KR" altLang="en-US" dirty="0"/>
              <a:t>일 때  →  </a:t>
            </a:r>
            <a:r>
              <a:rPr lang="en-US" altLang="ko-KR" dirty="0"/>
              <a:t>Y + 10 = 60  61  56  59  59</a:t>
            </a:r>
          </a:p>
          <a:p>
            <a:pPr marL="432000" lvl="2" indent="0">
              <a:buNone/>
            </a:pPr>
            <a:r>
              <a:rPr lang="en-US" altLang="ko-KR" dirty="0"/>
              <a:t>                                    </a:t>
            </a:r>
            <a:r>
              <a:rPr lang="ko-KR" altLang="en-US" dirty="0"/>
              <a:t>→  </a:t>
            </a:r>
            <a:r>
              <a:rPr lang="en-US" altLang="ko-KR" dirty="0"/>
              <a:t>str2double(Y) + 10  = 33.11</a:t>
            </a:r>
          </a:p>
          <a:p>
            <a:pPr marL="792000" lvl="4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 보고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222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신입생 오리엔테이션 </a:t>
            </a:r>
            <a:r>
              <a:rPr lang="en-US" altLang="ko-KR" dirty="0"/>
              <a:t>(2</a:t>
            </a:r>
            <a:r>
              <a:rPr lang="ko-KR" altLang="en-US" dirty="0"/>
              <a:t>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fprintf</a:t>
            </a:r>
            <a:endParaRPr lang="en-US" altLang="ko-KR" dirty="0"/>
          </a:p>
          <a:p>
            <a:pPr lvl="2"/>
            <a:r>
              <a:rPr lang="en-US" altLang="ko-KR" dirty="0" err="1"/>
              <a:t>Fprintf</a:t>
            </a:r>
            <a:r>
              <a:rPr lang="en-US" altLang="ko-KR" dirty="0"/>
              <a:t>(‘Result is %d\n , 3)  </a:t>
            </a:r>
          </a:p>
          <a:p>
            <a:pPr lvl="3"/>
            <a:r>
              <a:rPr lang="en-US" altLang="ko-KR" dirty="0"/>
              <a:t>%d</a:t>
            </a:r>
            <a:r>
              <a:rPr lang="ko-KR" altLang="en-US" dirty="0"/>
              <a:t>자리에 </a:t>
            </a:r>
            <a:r>
              <a:rPr lang="en-US" altLang="ko-KR" dirty="0"/>
              <a:t>3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r>
              <a:rPr lang="en-US" altLang="ko-KR" dirty="0"/>
              <a:t>\n</a:t>
            </a:r>
            <a:r>
              <a:rPr lang="ko-KR" altLang="en-US" dirty="0"/>
              <a:t>이 있어서 다음줄에 계속 출력</a:t>
            </a:r>
            <a:endParaRPr lang="en-US" altLang="ko-KR" dirty="0"/>
          </a:p>
          <a:p>
            <a:pPr lvl="2"/>
            <a:r>
              <a:rPr lang="en-US" altLang="ko-KR" dirty="0" err="1"/>
              <a:t>Fprintf</a:t>
            </a:r>
            <a:r>
              <a:rPr lang="en-US" altLang="ko-KR" dirty="0"/>
              <a:t>(‘Result is %d is</a:t>
            </a:r>
            <a:r>
              <a:rPr lang="ko-KR" altLang="en-US" dirty="0"/>
              <a:t> </a:t>
            </a:r>
            <a:r>
              <a:rPr lang="en-US" altLang="ko-KR" dirty="0"/>
              <a:t>%f \n, 3, pi*3^2)  </a:t>
            </a:r>
          </a:p>
          <a:p>
            <a:pPr lvl="3"/>
            <a:r>
              <a:rPr lang="en-US" altLang="ko-KR" dirty="0"/>
              <a:t>%d</a:t>
            </a:r>
            <a:r>
              <a:rPr lang="ko-KR" altLang="en-US" dirty="0"/>
              <a:t>자리에 </a:t>
            </a:r>
            <a:r>
              <a:rPr lang="en-US" altLang="ko-KR" dirty="0"/>
              <a:t>3</a:t>
            </a:r>
            <a:r>
              <a:rPr lang="ko-KR" altLang="en-US" dirty="0"/>
              <a:t>이</a:t>
            </a:r>
            <a:r>
              <a:rPr lang="en-US" altLang="ko-KR" dirty="0"/>
              <a:t>, %f</a:t>
            </a:r>
            <a:r>
              <a:rPr lang="ko-KR" altLang="en-US" dirty="0"/>
              <a:t>자리에 </a:t>
            </a:r>
            <a:r>
              <a:rPr lang="en-US" altLang="ko-KR" dirty="0"/>
              <a:t>pi*3^2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r>
              <a:rPr lang="en-US" altLang="ko-KR" dirty="0"/>
              <a:t>\n</a:t>
            </a:r>
            <a:r>
              <a:rPr lang="ko-KR" altLang="en-US" dirty="0"/>
              <a:t>이 있어서 다음줄에 계속 출력 </a:t>
            </a:r>
            <a:endParaRPr lang="en-US" altLang="ko-KR" dirty="0"/>
          </a:p>
          <a:p>
            <a:pPr lvl="2"/>
            <a:r>
              <a:rPr lang="en-US" altLang="ko-KR" dirty="0" err="1"/>
              <a:t>Fprintf</a:t>
            </a:r>
            <a:r>
              <a:rPr lang="en-US" altLang="ko-KR" dirty="0"/>
              <a:t>(‘x = %3d\n’, 5)  </a:t>
            </a:r>
          </a:p>
          <a:p>
            <a:pPr lvl="3"/>
            <a:r>
              <a:rPr lang="ko-KR" altLang="en-US" dirty="0"/>
              <a:t>앞에</a:t>
            </a:r>
            <a:r>
              <a:rPr lang="en-US" altLang="ko-KR" dirty="0"/>
              <a:t> 3</a:t>
            </a:r>
            <a:r>
              <a:rPr lang="ko-KR" altLang="en-US" dirty="0"/>
              <a:t>자리를 띄워 둠</a:t>
            </a:r>
            <a:endParaRPr lang="en-US" altLang="ko-KR" dirty="0"/>
          </a:p>
          <a:p>
            <a:pPr lvl="2"/>
            <a:r>
              <a:rPr lang="en-US" altLang="ko-KR" dirty="0" err="1"/>
              <a:t>Fprintf</a:t>
            </a:r>
            <a:r>
              <a:rPr lang="en-US" altLang="ko-KR" dirty="0"/>
              <a:t>(‘x = %0.2f\n’, pi)  = (‘x = %4.2f\n’, pi) </a:t>
            </a:r>
          </a:p>
          <a:p>
            <a:pPr lvl="3"/>
            <a:r>
              <a:rPr lang="ko-KR" altLang="en-US" dirty="0"/>
              <a:t>필요한</a:t>
            </a:r>
            <a:r>
              <a:rPr lang="en-US" altLang="ko-KR" dirty="0"/>
              <a:t> </a:t>
            </a:r>
            <a:r>
              <a:rPr lang="ko-KR" altLang="en-US" dirty="0"/>
              <a:t>최소만큼 띄워 두고 소수점 둘째까지 → </a:t>
            </a:r>
            <a:r>
              <a:rPr lang="en-US" altLang="ko-KR" dirty="0"/>
              <a:t>x =3.14</a:t>
            </a:r>
          </a:p>
          <a:p>
            <a:pPr lvl="2"/>
            <a:r>
              <a:rPr lang="en-US" altLang="ko-KR" dirty="0" err="1"/>
              <a:t>Fprintf</a:t>
            </a:r>
            <a:r>
              <a:rPr lang="en-US" altLang="ko-KR" dirty="0"/>
              <a:t>(‘x = %6.2f\n’, pi)  </a:t>
            </a:r>
          </a:p>
          <a:p>
            <a:pPr lvl="3"/>
            <a:r>
              <a:rPr lang="en-US" altLang="ko-KR" dirty="0"/>
              <a:t>6</a:t>
            </a:r>
            <a:r>
              <a:rPr lang="ko-KR" altLang="en-US" dirty="0"/>
              <a:t>자리를 만들어 두고 소수점 둘째까지 → </a:t>
            </a:r>
            <a:r>
              <a:rPr lang="en-US" altLang="ko-KR" dirty="0"/>
              <a:t>x =</a:t>
            </a:r>
            <a:r>
              <a:rPr lang="ko-KR" altLang="en-US" dirty="0"/>
              <a:t>○○</a:t>
            </a:r>
            <a:r>
              <a:rPr lang="en-US" altLang="ko-KR" dirty="0"/>
              <a:t>3.14  </a:t>
            </a:r>
          </a:p>
          <a:p>
            <a:pPr lvl="2"/>
            <a:r>
              <a:rPr lang="en-US" altLang="ko-KR" dirty="0" err="1"/>
              <a:t>Fprintf</a:t>
            </a:r>
            <a:r>
              <a:rPr lang="en-US" altLang="ko-KR" dirty="0"/>
              <a:t>(‘x = %d\</a:t>
            </a:r>
            <a:r>
              <a:rPr lang="en-US" altLang="ko-KR" dirty="0" err="1"/>
              <a:t>ny</a:t>
            </a:r>
            <a:r>
              <a:rPr lang="en-US" altLang="ko-KR" dirty="0"/>
              <a:t> = %d\n’, 3, 13)  </a:t>
            </a:r>
          </a:p>
          <a:p>
            <a:pPr lvl="3"/>
            <a:r>
              <a:rPr lang="en-US" altLang="ko-KR" dirty="0"/>
              <a:t>X=3,</a:t>
            </a:r>
            <a:r>
              <a:rPr lang="ko-KR" altLang="en-US" dirty="0"/>
              <a:t> </a:t>
            </a:r>
            <a:r>
              <a:rPr lang="en-US" altLang="ko-KR" dirty="0"/>
              <a:t>y=13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 보고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57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79927</TotalTime>
  <Words>3337</Words>
  <Application>Microsoft Office PowerPoint</Application>
  <PresentationFormat>화면 슬라이드 쇼(4:3)</PresentationFormat>
  <Paragraphs>790</Paragraphs>
  <Slides>46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5" baseType="lpstr">
      <vt:lpstr>inherit</vt:lpstr>
      <vt:lpstr>mn-ea</vt:lpstr>
      <vt:lpstr>NanumBarunGothic</vt:lpstr>
      <vt:lpstr>맑은 고딕</vt:lpstr>
      <vt:lpstr>Arial</vt:lpstr>
      <vt:lpstr>Roboto</vt:lpstr>
      <vt:lpstr>times</vt:lpstr>
      <vt:lpstr>Wingdings</vt:lpstr>
      <vt:lpstr>Office 테마</vt:lpstr>
      <vt:lpstr>정기 연구미팅 보고</vt:lpstr>
      <vt:lpstr>방학기간 중 개선할 사항</vt:lpstr>
      <vt:lpstr>방학기간 중 개선할 사항</vt:lpstr>
      <vt:lpstr>방학기간 중 개선할 사항</vt:lpstr>
      <vt:lpstr>주간계획</vt:lpstr>
      <vt:lpstr>일간계획</vt:lpstr>
      <vt:lpstr>일간계획</vt:lpstr>
      <vt:lpstr>일간계획</vt:lpstr>
      <vt:lpstr>일간계획</vt:lpstr>
      <vt:lpstr>이종위성군 (특화센터)</vt:lpstr>
      <vt:lpstr>방학기간 중 개선할 사항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요약 및 연구계획</vt:lpstr>
      <vt:lpstr>요약 및 연구계획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일간 보고 사항</vt:lpstr>
      <vt:lpstr>일간 보고 사항</vt:lpstr>
      <vt:lpstr>일간 보고 사항</vt:lpstr>
      <vt:lpstr>일간 보고 사항</vt:lpstr>
      <vt:lpstr>일간 보고 사항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4504</cp:revision>
  <dcterms:created xsi:type="dcterms:W3CDTF">2018-01-29T02:45:56Z</dcterms:created>
  <dcterms:modified xsi:type="dcterms:W3CDTF">2023-01-12T10:01:10Z</dcterms:modified>
</cp:coreProperties>
</file>