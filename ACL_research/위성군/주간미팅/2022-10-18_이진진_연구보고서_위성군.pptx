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>
  <p:sldMasterIdLst>
    <p:sldMasterId id="2147483687" r:id="rId1"/>
  </p:sldMasterIdLst>
  <p:notesMasterIdLst>
    <p:notesMasterId r:id="rId13"/>
  </p:notesMasterIdLst>
  <p:handoutMasterIdLst>
    <p:handoutMasterId r:id="rId14"/>
  </p:handoutMasterIdLst>
  <p:sldIdLst>
    <p:sldId id="256" r:id="rId2"/>
    <p:sldId id="257" r:id="rId3"/>
    <p:sldId id="258" r:id="rId4"/>
    <p:sldId id="259" r:id="rId5"/>
    <p:sldId id="260" r:id="rId6"/>
    <p:sldId id="268" r:id="rId7"/>
    <p:sldId id="269" r:id="rId8"/>
    <p:sldId id="270" r:id="rId9"/>
    <p:sldId id="272" r:id="rId10"/>
    <p:sldId id="271" r:id="rId11"/>
    <p:sldId id="267" r:id="rId12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7">
          <p15:clr>
            <a:srgbClr val="A4A3A4"/>
          </p15:clr>
        </p15:guide>
        <p15:guide id="2" pos="2877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김극남" initials="김" lastIdx="0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  <p:ext uri="ACF4677E-8BD2-47ae-8A1F-98590045965D">
      <hp:hncThemeShow xmlns:hp="http://schemas.haansoft.com/office/presentation/8.0" xmlns:dsp="http://schemas.microsoft.com/office/drawing/2008/diagram" xmlns:dgm="http://schemas.openxmlformats.org/drawingml/2006/diagram" xmlns:c="http://schemas.openxmlformats.org/drawingml/2006/chart" xmlns="" themeShowType="1" themeSkinType="1" themeTransitionType="1" useThemeTransition="1" byMouseClick="1" attrType="1" dur="200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06F615A-370F-48FF-96DE-FFA2584FB0C5}" styleName="Light Style 2 - Body/Background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dk1"/>
            </a:lnRef>
          </a:left>
          <a:right>
            <a:lnRef idx="1">
              <a:schemeClr val="dk1"/>
            </a:lnRef>
          </a:right>
          <a:top>
            <a:lnRef idx="1">
              <a:schemeClr val="dk1"/>
            </a:lnRef>
          </a:top>
          <a:bottom>
            <a:lnRef idx="1">
              <a:schemeClr val="dk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TxStyle/>
      <a:tcStyle>
        <a:tcBdr>
          <a:top>
            <a:lnRef idx="1">
              <a:schemeClr val="dk1"/>
            </a:lnRef>
          </a:top>
          <a:bottom>
            <a:lnRef idx="1">
              <a:schemeClr val="dk1"/>
            </a:lnRef>
          </a:bottom>
        </a:tcBdr>
      </a:tcStyle>
    </a:band1H>
    <a:band1V>
      <a:tcTxStyle/>
      <a:tcStyle>
        <a:tcBdr>
          <a:left>
            <a:lnRef idx="1">
              <a:schemeClr val="dk1"/>
            </a:lnRef>
          </a:left>
          <a:right>
            <a:lnRef idx="1">
              <a:schemeClr val="dk1"/>
            </a:lnRef>
          </a:right>
        </a:tcBdr>
      </a:tcStyle>
    </a:band1V>
    <a:band2V>
      <a:tcTxStyle/>
      <a:tcStyle>
        <a:tcBdr>
          <a:left>
            <a:lnRef idx="1">
              <a:schemeClr val="dk1"/>
            </a:lnRef>
          </a:left>
          <a:right>
            <a:lnRef idx="1">
              <a:schemeClr val="dk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>
        <a:fontRef idx="minor">
          <a:scrgbClr r="0" g="0" b="0"/>
        </a:fontRef>
        <a:schemeClr val="dk1"/>
      </a:tcTxStyle>
      <a:tcStyle>
        <a:tcBdr>
          <a:top>
            <a:ln w="60800" cmpd="dbl">
              <a:solidFill>
                <a:schemeClr val="dk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dk1">
          <a:shade val="40000"/>
        </a:schemeClr>
      </a:tcTxStyle>
      <a:tcStyle>
        <a:tcBdr/>
        <a:fill>
          <a:solidFill>
            <a:schemeClr val="dk1">
              <a:alpha val="40000"/>
            </a:schemeClr>
          </a:solidFill>
        </a:fill>
      </a:tcStyle>
    </a:firstRow>
  </a:tblStyle>
  <a:tblStyle styleId="{42320776-619C-4BAB-845C-80F7B59164DB}" styleName="Generic Style 2- Body/Background Dark Color 1">
    <a:tblBg>
      <a:fillRef idx="3">
        <a:schemeClr val="lt1"/>
      </a:fillRef>
      <a:effectRef idx="3">
        <a:schemeClr val="l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lt1">
                <a:tint val="50000"/>
              </a:schemeClr>
            </a:lnRef>
          </a:left>
          <a:right>
            <a:lnRef idx="1">
              <a:schemeClr val="lt1">
                <a:tint val="50000"/>
              </a:schemeClr>
            </a:lnRef>
          </a:right>
          <a:top>
            <a:lnRef idx="1">
              <a:schemeClr val="lt1">
                <a:tint val="50000"/>
              </a:schemeClr>
            </a:lnRef>
          </a:top>
          <a:bottom>
            <a:lnRef idx="1">
              <a:schemeClr val="lt1">
                <a:tint val="50000"/>
              </a:schemeClr>
            </a:lnRef>
          </a:bottom>
          <a:insideH>
            <a:lnRef idx="0">
              <a:schemeClr val="dk1"/>
            </a:lnRef>
          </a:insideH>
          <a:insideV>
            <a:lnRef idx="0">
              <a:schemeClr val="dk1"/>
            </a:lnRef>
          </a:insideV>
        </a:tcBdr>
        <a:fill>
          <a:noFill/>
        </a:fill>
      </a:tcStyle>
    </a:wholeTbl>
    <a:band1H>
      <a:tcTxStyle/>
      <a:tcStyle>
        <a:tcBdr/>
        <a:fill>
          <a:solidFill>
            <a:schemeClr val="dk1">
              <a:alpha val="20000"/>
            </a:schemeClr>
          </a:solidFill>
        </a:fill>
      </a:tcStyle>
    </a:band1H>
    <a:band1V>
      <a:tcTxStyle/>
      <a:tcStyle>
        <a:tcBdr/>
        <a:fill>
          <a:solidFill>
            <a:schemeClr val="dk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>
        <a:fontRef idx="minor">
          <a:schemeClr val="dk1"/>
        </a:fontRef>
      </a:tcTxStyle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0">
              <a:schemeClr val="lt1"/>
            </a:lnRef>
          </a:top>
        </a:tcBdr>
        <a:fill>
          <a:solidFill>
            <a:schemeClr val="lt1">
              <a:shade val="60000"/>
            </a:schemeClr>
          </a:solidFill>
        </a:fill>
      </a:tcStyle>
    </a:lastRow>
    <a:seCell>
      <a:tcTxStyle/>
      <a:tcStyle>
        <a:tcBdr>
          <a:left>
            <a:lnRef idx="2">
              <a:schemeClr val="lt1"/>
            </a:lnRef>
          </a:left>
          <a:top>
            <a:ln>
              <a:noFill/>
            </a:ln>
          </a:top>
        </a:tcBdr>
      </a:tcStyle>
    </a:seCell>
    <a:swCell>
      <a:tcTxStyle/>
      <a:tcStyle>
        <a:tcBdr>
          <a:right>
            <a:lnRef idx="2">
              <a:schemeClr val="lt1"/>
            </a:lnRef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0">
              <a:schemeClr val="lt1"/>
            </a:lnRef>
          </a:bottom>
        </a:tcBdr>
        <a:fill>
          <a:noFill/>
        </a:fill>
      </a:tcStyle>
    </a:firstRow>
    <a:neCell>
      <a:tcTxStyle/>
      <a:tcStyle>
        <a:tcBdr>
          <a:bottom>
            <a:ln>
              <a:noFill/>
            </a:ln>
          </a:bottom>
        </a:tcBdr>
      </a:tcStyle>
    </a:neCell>
  </a:tblStyle>
  <a:tblStyle styleId="{01A66EDD-3DAB-4C5B-A090-DC80EC1FD486}" styleName="Normal Style 1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lum val="90000"/>
            </a:schemeClr>
          </a:solidFill>
        </a:fill>
      </a:tcStyle>
    </a:wholeTbl>
    <a:band1H>
      <a:tcTxStyle/>
      <a:tcStyle>
        <a:tcBdr/>
        <a:fill>
          <a:solidFill>
            <a:schemeClr val="accent1">
              <a:lum val="8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1">
              <a:lum val="8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069" autoAdjust="0"/>
    <p:restoredTop sz="86353" autoAdjust="0"/>
  </p:normalViewPr>
  <p:slideViewPr>
    <p:cSldViewPr snapToGrid="0">
      <p:cViewPr varScale="1">
        <p:scale>
          <a:sx n="98" d="100"/>
          <a:sy n="98" d="100"/>
        </p:scale>
        <p:origin x="2178" y="90"/>
      </p:cViewPr>
      <p:guideLst>
        <p:guide orient="horz" pos="2157"/>
        <p:guide pos="2877"/>
      </p:guideLst>
    </p:cSldViewPr>
  </p:slideViewPr>
  <p:notesTextViewPr>
    <p:cViewPr>
      <p:scale>
        <a:sx n="150" d="100"/>
        <a:sy n="15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5" d="100"/>
          <a:sy n="65" d="100"/>
        </p:scale>
        <p:origin x="2299" y="3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commentAuthors" Target="commentAuthors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pPr lvl="0">
              <a:defRPr/>
            </a:pPr>
            <a:fld id="{11E49D1F-15B2-4B9C-8076-11C3A082C32A}" type="datetime1">
              <a:rPr lang="ko-KR" altLang="en-US"/>
              <a:pPr lvl="0">
                <a:defRPr/>
              </a:pPr>
              <a:t>2022-10-18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r">
              <a:defRPr sz="1200"/>
            </a:lvl1pPr>
          </a:lstStyle>
          <a:p>
            <a:pPr lvl="0">
              <a:defRPr/>
            </a:pPr>
            <a:fld id="{D3A8452A-AED7-4144-8B8B-DADFF71C57C8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pPr lvl="0">
              <a:defRPr/>
            </a:pPr>
            <a:fld id="{66DDD8DE-5D7B-4A4B-9949-78C9C314FE9D}" type="datetime1">
              <a:rPr lang="ko-KR" altLang="en-US"/>
              <a:pPr lvl="0">
                <a:defRPr/>
              </a:pPr>
              <a:t>2022-10-18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anchor="ctr"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/>
          <a:lstStyle/>
          <a:p>
            <a:pPr lvl="0">
              <a:defRPr/>
            </a:pPr>
            <a:r>
              <a:rPr lang="ko-KR" altLang="en-US"/>
              <a:t>마스터 텍스트 스타일을 편집합니다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r">
              <a:defRPr sz="1200"/>
            </a:lvl1pPr>
          </a:lstStyle>
          <a:p>
            <a:pPr lvl="0">
              <a:defRPr/>
            </a:pPr>
            <a:fld id="{ED463564-01E7-4F87-AE00-59478FEE8A8F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ED463564-01E7-4F87-AE00-59478FEE8A8F}" type="slidenum">
              <a:rPr lang="en-US" altLang="en-US"/>
              <a:pPr lvl="0">
                <a:defRPr/>
              </a:pPr>
              <a:t>0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연구미팅 시작하겠습니다 </a:t>
            </a:r>
            <a:r>
              <a:rPr lang="en-US" altLang="ko-KR"/>
              <a:t>2</a:t>
            </a:r>
            <a:r>
              <a:rPr lang="ko-KR" altLang="en-US"/>
              <a:t>종위성군 </a:t>
            </a:r>
            <a:r>
              <a:rPr lang="en-US" altLang="ko-KR"/>
              <a:t>Optisar</a:t>
            </a:r>
            <a:r>
              <a:rPr lang="ko-KR" altLang="en-US"/>
              <a:t>에 대한 연구를 계속 진행중에 있으며</a:t>
            </a:r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ED463564-01E7-4F87-AE00-59478FEE8A8F}" type="slidenum">
              <a:rPr lang="en-US" altLang="en-US"/>
              <a:pPr lvl="0">
                <a:defRPr/>
              </a:pPr>
              <a:t>1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그에 대한 프로그램으로 </a:t>
            </a:r>
            <a:r>
              <a:rPr lang="en-US" altLang="ko-KR"/>
              <a:t>FreeFlyer</a:t>
            </a:r>
            <a:r>
              <a:rPr lang="ko-KR" altLang="en-US"/>
              <a:t> 를 학습하고 있습니다</a:t>
            </a:r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ED463564-01E7-4F87-AE00-59478FEE8A8F}" type="slidenum">
              <a:rPr lang="en-US" altLang="en-US"/>
              <a:pPr lvl="0">
                <a:defRPr/>
              </a:pPr>
              <a:t>2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/>
            </a:pPr>
            <a:endParaRPr lang="en-US" altLang="ko-KR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ED463564-01E7-4F87-AE00-59478FEE8A8F}" type="slidenum">
              <a:rPr lang="en-US" altLang="en-US"/>
              <a:pPr lvl="0">
                <a:defRPr/>
              </a:pPr>
              <a:t>4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/>
            </a:pPr>
            <a:endParaRPr lang="en-US" altLang="ko-KR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ED463564-01E7-4F87-AE00-59478FEE8A8F}" type="slidenum">
              <a:rPr lang="en-US" altLang="en-US"/>
              <a:pPr lvl="0">
                <a:defRPr/>
              </a:pPr>
              <a:t>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6063622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/>
            </a:pPr>
            <a:endParaRPr lang="en-US" altLang="ko-KR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ED463564-01E7-4F87-AE00-59478FEE8A8F}" type="slidenum">
              <a:rPr lang="en-US" altLang="en-US"/>
              <a:pPr lvl="0">
                <a:defRPr/>
              </a:pPr>
              <a:t>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1146032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/>
            </a:pPr>
            <a:endParaRPr lang="en-US" altLang="ko-KR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ED463564-01E7-4F87-AE00-59478FEE8A8F}" type="slidenum">
              <a:rPr lang="en-US" altLang="en-US"/>
              <a:pPr lvl="0">
                <a:defRPr/>
              </a:pPr>
              <a:t>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1068243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/>
            </a:pPr>
            <a:endParaRPr lang="en-US" altLang="ko-KR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ED463564-01E7-4F87-AE00-59478FEE8A8F}" type="slidenum">
              <a:rPr lang="en-US" altLang="en-US"/>
              <a:pPr lvl="0">
                <a:defRPr/>
              </a:pPr>
              <a:t>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7888449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/>
            </a:pPr>
            <a:endParaRPr lang="en-US" altLang="ko-KR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ED463564-01E7-4F87-AE00-59478FEE8A8F}" type="slidenum">
              <a:rPr lang="en-US" altLang="en-US"/>
              <a:pPr lvl="0">
                <a:defRPr/>
              </a:pPr>
              <a:t>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204878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jpe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jpeg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143000" y="4419136"/>
            <a:ext cx="6858000" cy="133978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 b="1">
                <a:latin typeface="times" panose="02020603050405020304" pitchFamily="18" charset="0"/>
                <a:cs typeface="times" panose="02020603050405020304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dirty="0"/>
              <a:t>이름</a:t>
            </a:r>
            <a:endParaRPr lang="en-US" altLang="ko-KR" dirty="0"/>
          </a:p>
          <a:p>
            <a:r>
              <a:rPr lang="ko-KR" altLang="en-US" dirty="0"/>
              <a:t>소속</a:t>
            </a:r>
            <a:endParaRPr lang="en-US" altLang="ko-KR" dirty="0"/>
          </a:p>
          <a:p>
            <a:r>
              <a:rPr lang="ko-KR" altLang="en-US" dirty="0"/>
              <a:t>발표장소</a:t>
            </a:r>
            <a:r>
              <a:rPr lang="en-US" altLang="ko-KR" dirty="0"/>
              <a:t>/</a:t>
            </a:r>
            <a:r>
              <a:rPr lang="ko-KR" altLang="en-US" dirty="0"/>
              <a:t>발표일</a:t>
            </a:r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88B88FB9-8488-4F3A-9179-85AF22A058C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0" y="1935331"/>
            <a:ext cx="9144000" cy="2226189"/>
          </a:xfrm>
        </p:spPr>
        <p:txBody>
          <a:bodyPr anchor="ctr">
            <a:normAutofit/>
          </a:bodyPr>
          <a:lstStyle>
            <a:lvl1pPr algn="ctr">
              <a:defRPr sz="4000" b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" panose="02020603050405020304" pitchFamily="18" charset="0"/>
                <a:ea typeface="+mj-ea"/>
                <a:cs typeface="times" panose="02020603050405020304" pitchFamily="18" charset="0"/>
              </a:defRPr>
            </a:lvl1pPr>
          </a:lstStyle>
          <a:p>
            <a:r>
              <a:rPr lang="ko-KR" altLang="en-US" dirty="0"/>
              <a:t>발표제목</a:t>
            </a:r>
            <a:br>
              <a:rPr lang="en-US" altLang="ko-KR" dirty="0"/>
            </a:br>
            <a:r>
              <a:rPr lang="en-US" altLang="ko-KR" dirty="0"/>
              <a:t>(</a:t>
            </a:r>
            <a:r>
              <a:rPr lang="ko-KR" altLang="en-US" dirty="0"/>
              <a:t>국</a:t>
            </a:r>
            <a:r>
              <a:rPr lang="en-US" altLang="ko-KR" dirty="0"/>
              <a:t>/</a:t>
            </a:r>
            <a:r>
              <a:rPr lang="ko-KR" altLang="en-US" dirty="0"/>
              <a:t>영문</a:t>
            </a:r>
            <a:r>
              <a:rPr lang="en-US" altLang="ko-KR" dirty="0"/>
              <a:t>, Times, 40 pts)</a:t>
            </a:r>
            <a:endParaRPr lang="en-US" dirty="0"/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80F818A9-523E-49E6-8353-F8A3A0FF3B05}"/>
              </a:ext>
            </a:extLst>
          </p:cNvPr>
          <p:cNvGrpSpPr/>
          <p:nvPr userDrawn="1"/>
        </p:nvGrpSpPr>
        <p:grpSpPr>
          <a:xfrm>
            <a:off x="3097294" y="6017853"/>
            <a:ext cx="3389530" cy="720000"/>
            <a:chOff x="3167632" y="6062339"/>
            <a:chExt cx="3389530" cy="720000"/>
          </a:xfrm>
        </p:grpSpPr>
        <p:pic>
          <p:nvPicPr>
            <p:cNvPr id="4" name="그림 3" descr="그리기, 플레이트, 음식, 방이(가) 표시된 사진&#10;&#10;자동 생성된 설명">
              <a:extLst>
                <a:ext uri="{FF2B5EF4-FFF2-40B4-BE49-F238E27FC236}">
                  <a16:creationId xmlns:a16="http://schemas.microsoft.com/office/drawing/2014/main" id="{E63BAE71-441C-4804-B8BC-2FBAFD2A509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167632" y="6062339"/>
              <a:ext cx="720000" cy="720000"/>
            </a:xfrm>
            <a:prstGeom prst="rect">
              <a:avLst/>
            </a:prstGeom>
          </p:spPr>
        </p:pic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215EB456-78DB-470E-AB3C-3A934AB3135F}"/>
                </a:ext>
              </a:extLst>
            </p:cNvPr>
            <p:cNvSpPr/>
            <p:nvPr userDrawn="1"/>
          </p:nvSpPr>
          <p:spPr>
            <a:xfrm>
              <a:off x="3846292" y="6114563"/>
              <a:ext cx="2710870" cy="615553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ko-KR" altLang="en-US" sz="2000" b="1" spc="100" baseline="0" dirty="0">
                  <a:solidFill>
                    <a:schemeClr val="accent5">
                      <a:lumMod val="7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" panose="02020603050405020304" pitchFamily="18" charset="0"/>
                  <a:cs typeface="times" panose="02020603050405020304" pitchFamily="18" charset="0"/>
                </a:rPr>
                <a:t>우주비행제어연구실</a:t>
              </a:r>
              <a:endParaRPr lang="en-US" altLang="ko-KR" sz="2000" b="1" spc="100" baseline="0" dirty="0"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" panose="02020603050405020304" pitchFamily="18" charset="0"/>
                <a:cs typeface="times" panose="02020603050405020304" pitchFamily="18" charset="0"/>
              </a:endParaRPr>
            </a:p>
            <a:p>
              <a:r>
                <a:rPr lang="en-US" altLang="ko-KR" sz="1400" b="1" dirty="0">
                  <a:solidFill>
                    <a:schemeClr val="accent5">
                      <a:lumMod val="7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" panose="02020603050405020304" pitchFamily="18" charset="0"/>
                  <a:cs typeface="times" panose="02020603050405020304" pitchFamily="18" charset="0"/>
                </a:rPr>
                <a:t>Astrodynamics and Control Lab.</a:t>
              </a:r>
            </a:p>
          </p:txBody>
        </p:sp>
      </p:grpSp>
      <p:pic>
        <p:nvPicPr>
          <p:cNvPr id="15" name="그림 14">
            <a:extLst>
              <a:ext uri="{FF2B5EF4-FFF2-40B4-BE49-F238E27FC236}">
                <a16:creationId xmlns:a16="http://schemas.microsoft.com/office/drawing/2014/main" id="{B0D7EE89-F264-41E4-AEC5-73770F7D8FD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b="50000"/>
          <a:stretch/>
        </p:blipFill>
        <p:spPr>
          <a:xfrm>
            <a:off x="7031115" y="4108252"/>
            <a:ext cx="2133955" cy="2761589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FD783890-A54B-4809-84F6-B7736A2B63C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/>
          <a:srcRect t="5510" b="52178"/>
          <a:stretch/>
        </p:blipFill>
        <p:spPr>
          <a:xfrm flipH="1">
            <a:off x="-21070" y="4419136"/>
            <a:ext cx="2212357" cy="2438864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EA08DBB2-FE6A-40A8-BAA8-F4DFAEEBA3FF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70565" y="89661"/>
            <a:ext cx="720000" cy="720000"/>
          </a:xfrm>
          <a:prstGeom prst="rect">
            <a:avLst/>
          </a:prstGeom>
        </p:spPr>
      </p:pic>
      <p:pic>
        <p:nvPicPr>
          <p:cNvPr id="12" name="Picture 8">
            <a:extLst>
              <a:ext uri="{FF2B5EF4-FFF2-40B4-BE49-F238E27FC236}">
                <a16:creationId xmlns:a16="http://schemas.microsoft.com/office/drawing/2014/main" id="{6A115575-BE6D-40AD-B231-D68D8B4912A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6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38645" y="89661"/>
            <a:ext cx="720000" cy="72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6179185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4. 본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9" name="직선 연결선 48">
            <a:extLst>
              <a:ext uri="{FF2B5EF4-FFF2-40B4-BE49-F238E27FC236}">
                <a16:creationId xmlns:a16="http://schemas.microsoft.com/office/drawing/2014/main" id="{DD644064-7FF7-4F6F-ADA3-1626B4D81BCB}"/>
              </a:ext>
            </a:extLst>
          </p:cNvPr>
          <p:cNvCxnSpPr>
            <a:cxnSpLocks/>
          </p:cNvCxnSpPr>
          <p:nvPr userDrawn="1"/>
        </p:nvCxnSpPr>
        <p:spPr>
          <a:xfrm>
            <a:off x="619125" y="876300"/>
            <a:ext cx="7575550" cy="0"/>
          </a:xfrm>
          <a:prstGeom prst="line">
            <a:avLst/>
          </a:prstGeom>
          <a:ln w="28575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itle 1">
            <a:extLst>
              <a:ext uri="{FF2B5EF4-FFF2-40B4-BE49-F238E27FC236}">
                <a16:creationId xmlns:a16="http://schemas.microsoft.com/office/drawing/2014/main" id="{9EEAC6FF-2CB2-4248-942E-A23DF1B6BE2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84057" y="71055"/>
            <a:ext cx="6705464" cy="687714"/>
          </a:xfrm>
        </p:spPr>
        <p:txBody>
          <a:bodyPr>
            <a:normAutofit/>
          </a:bodyPr>
          <a:lstStyle>
            <a:lvl1pPr algn="ctr">
              <a:defRPr sz="2800" b="1">
                <a:solidFill>
                  <a:schemeClr val="tx1"/>
                </a:solidFill>
                <a:latin typeface="times" panose="02020603050405020304" pitchFamily="18" charset="0"/>
                <a:ea typeface="+mj-ea"/>
                <a:cs typeface="times" panose="02020603050405020304" pitchFamily="18" charset="0"/>
              </a:defRPr>
            </a:lvl1pPr>
          </a:lstStyle>
          <a:p>
            <a:r>
              <a:rPr lang="ko-KR" altLang="en-US" dirty="0"/>
              <a:t>마스터 제목 스타일 편집 </a:t>
            </a:r>
            <a:r>
              <a:rPr lang="en-US" altLang="ko-KR" dirty="0"/>
              <a:t>(28 pts)</a:t>
            </a:r>
            <a:endParaRPr lang="en-US" dirty="0"/>
          </a:p>
        </p:txBody>
      </p:sp>
      <p:pic>
        <p:nvPicPr>
          <p:cNvPr id="19" name="그림 18">
            <a:extLst>
              <a:ext uri="{FF2B5EF4-FFF2-40B4-BE49-F238E27FC236}">
                <a16:creationId xmlns:a16="http://schemas.microsoft.com/office/drawing/2014/main" id="{ABD5D053-347B-45C0-B24B-C511B6215BC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3646" r="9900"/>
          <a:stretch/>
        </p:blipFill>
        <p:spPr>
          <a:xfrm>
            <a:off x="7554954" y="1"/>
            <a:ext cx="1589045" cy="1029956"/>
          </a:xfrm>
          <a:prstGeom prst="rect">
            <a:avLst/>
          </a:prstGeom>
        </p:spPr>
      </p:pic>
      <p:sp>
        <p:nvSpPr>
          <p:cNvPr id="26" name="직사각형 25">
            <a:extLst>
              <a:ext uri="{FF2B5EF4-FFF2-40B4-BE49-F238E27FC236}">
                <a16:creationId xmlns:a16="http://schemas.microsoft.com/office/drawing/2014/main" id="{CDF2725A-2EAD-4828-8A48-CF4B69244C83}"/>
              </a:ext>
            </a:extLst>
          </p:cNvPr>
          <p:cNvSpPr/>
          <p:nvPr userDrawn="1"/>
        </p:nvSpPr>
        <p:spPr>
          <a:xfrm>
            <a:off x="260193" y="6331061"/>
            <a:ext cx="343363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800" b="1" dirty="0"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" panose="02020603050405020304" pitchFamily="18" charset="0"/>
                <a:cs typeface="times" panose="02020603050405020304" pitchFamily="18" charset="0"/>
              </a:rPr>
              <a:t>Astrodynamics and Control Lab.</a:t>
            </a:r>
          </a:p>
        </p:txBody>
      </p:sp>
      <p:sp>
        <p:nvSpPr>
          <p:cNvPr id="27" name="슬라이드 번호 개체 틀 4">
            <a:extLst>
              <a:ext uri="{FF2B5EF4-FFF2-40B4-BE49-F238E27FC236}">
                <a16:creationId xmlns:a16="http://schemas.microsoft.com/office/drawing/2014/main" id="{116EEB02-C842-4201-B314-07D2C2222D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905750" y="6327787"/>
            <a:ext cx="981169" cy="360000"/>
          </a:xfrm>
          <a:prstGeom prst="rect">
            <a:avLst/>
          </a:prstGeom>
        </p:spPr>
        <p:txBody>
          <a:bodyPr anchor="ctr"/>
          <a:lstStyle>
            <a:lvl1pPr algn="r">
              <a:defRPr sz="1400" b="1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defRPr>
            </a:lvl1pPr>
          </a:lstStyle>
          <a:p>
            <a:fld id="{397DD3AE-C24E-49FC-B527-05061A0348E6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823B068E-A8D6-4389-87D7-7224E5B251E9}"/>
              </a:ext>
            </a:extLst>
          </p:cNvPr>
          <p:cNvGrpSpPr/>
          <p:nvPr userDrawn="1"/>
        </p:nvGrpSpPr>
        <p:grpSpPr>
          <a:xfrm>
            <a:off x="695141" y="1187583"/>
            <a:ext cx="698862" cy="4535814"/>
            <a:chOff x="695141" y="1187583"/>
            <a:chExt cx="698862" cy="4535814"/>
          </a:xfrm>
        </p:grpSpPr>
        <p:sp>
          <p:nvSpPr>
            <p:cNvPr id="12" name="타원 11">
              <a:extLst>
                <a:ext uri="{FF2B5EF4-FFF2-40B4-BE49-F238E27FC236}">
                  <a16:creationId xmlns:a16="http://schemas.microsoft.com/office/drawing/2014/main" id="{FB63AC01-59A1-4839-880A-52A4371FE19E}"/>
                </a:ext>
              </a:extLst>
            </p:cNvPr>
            <p:cNvSpPr/>
            <p:nvPr/>
          </p:nvSpPr>
          <p:spPr>
            <a:xfrm>
              <a:off x="701313" y="1187583"/>
              <a:ext cx="692690" cy="687714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chemeClr val="tx1"/>
                  </a:solidFill>
                  <a:latin typeface="times" panose="02020603050405020304" pitchFamily="18" charset="0"/>
                  <a:cs typeface="times" panose="02020603050405020304" pitchFamily="18" charset="0"/>
                </a:rPr>
                <a:t>I</a:t>
              </a:r>
              <a:endParaRPr lang="ko-KR" altLang="en-US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endParaRPr>
            </a:p>
          </p:txBody>
        </p:sp>
        <p:sp>
          <p:nvSpPr>
            <p:cNvPr id="13" name="타원 12">
              <a:extLst>
                <a:ext uri="{FF2B5EF4-FFF2-40B4-BE49-F238E27FC236}">
                  <a16:creationId xmlns:a16="http://schemas.microsoft.com/office/drawing/2014/main" id="{E40572AD-6701-4266-9752-13DC1E63AA2C}"/>
                </a:ext>
              </a:extLst>
            </p:cNvPr>
            <p:cNvSpPr/>
            <p:nvPr/>
          </p:nvSpPr>
          <p:spPr>
            <a:xfrm>
              <a:off x="695141" y="2149608"/>
              <a:ext cx="692690" cy="687714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chemeClr val="tx1"/>
                  </a:solidFill>
                  <a:latin typeface="times" panose="02020603050405020304" pitchFamily="18" charset="0"/>
                  <a:cs typeface="times" panose="02020603050405020304" pitchFamily="18" charset="0"/>
                </a:rPr>
                <a:t>II</a:t>
              </a:r>
              <a:endParaRPr lang="ko-KR" altLang="en-US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endParaRPr>
            </a:p>
          </p:txBody>
        </p:sp>
        <p:sp>
          <p:nvSpPr>
            <p:cNvPr id="15" name="타원 14">
              <a:extLst>
                <a:ext uri="{FF2B5EF4-FFF2-40B4-BE49-F238E27FC236}">
                  <a16:creationId xmlns:a16="http://schemas.microsoft.com/office/drawing/2014/main" id="{262E28C8-6768-42E9-BCF0-6BF7AA2C69D1}"/>
                </a:ext>
              </a:extLst>
            </p:cNvPr>
            <p:cNvSpPr/>
            <p:nvPr/>
          </p:nvSpPr>
          <p:spPr>
            <a:xfrm>
              <a:off x="695141" y="3111633"/>
              <a:ext cx="692690" cy="687714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chemeClr val="tx1"/>
                  </a:solidFill>
                  <a:latin typeface="times" panose="02020603050405020304" pitchFamily="18" charset="0"/>
                  <a:cs typeface="times" panose="02020603050405020304" pitchFamily="18" charset="0"/>
                </a:rPr>
                <a:t>III</a:t>
              </a:r>
              <a:endParaRPr lang="ko-KR" altLang="en-US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endParaRPr>
            </a:p>
          </p:txBody>
        </p:sp>
        <p:sp>
          <p:nvSpPr>
            <p:cNvPr id="16" name="타원 15">
              <a:extLst>
                <a:ext uri="{FF2B5EF4-FFF2-40B4-BE49-F238E27FC236}">
                  <a16:creationId xmlns:a16="http://schemas.microsoft.com/office/drawing/2014/main" id="{51C8E578-E54B-4F6C-8319-D77A1971F286}"/>
                </a:ext>
              </a:extLst>
            </p:cNvPr>
            <p:cNvSpPr/>
            <p:nvPr/>
          </p:nvSpPr>
          <p:spPr>
            <a:xfrm>
              <a:off x="695141" y="4073658"/>
              <a:ext cx="692690" cy="687714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chemeClr val="tx1"/>
                  </a:solidFill>
                  <a:latin typeface="times" panose="02020603050405020304" pitchFamily="18" charset="0"/>
                  <a:cs typeface="times" panose="02020603050405020304" pitchFamily="18" charset="0"/>
                </a:rPr>
                <a:t>IV</a:t>
              </a:r>
              <a:endParaRPr lang="ko-KR" altLang="en-US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endParaRPr>
            </a:p>
          </p:txBody>
        </p:sp>
        <p:sp>
          <p:nvSpPr>
            <p:cNvPr id="17" name="타원 16">
              <a:extLst>
                <a:ext uri="{FF2B5EF4-FFF2-40B4-BE49-F238E27FC236}">
                  <a16:creationId xmlns:a16="http://schemas.microsoft.com/office/drawing/2014/main" id="{0F52A207-95C0-475F-A6D7-1FCB68CF92B4}"/>
                </a:ext>
              </a:extLst>
            </p:cNvPr>
            <p:cNvSpPr/>
            <p:nvPr/>
          </p:nvSpPr>
          <p:spPr>
            <a:xfrm>
              <a:off x="695141" y="5035683"/>
              <a:ext cx="692690" cy="687714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chemeClr val="tx1"/>
                  </a:solidFill>
                  <a:latin typeface="times" panose="02020603050405020304" pitchFamily="18" charset="0"/>
                  <a:cs typeface="times" panose="02020603050405020304" pitchFamily="18" charset="0"/>
                </a:rPr>
                <a:t>V</a:t>
              </a:r>
              <a:endParaRPr lang="ko-KR" altLang="en-US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endParaRPr>
            </a:p>
          </p:txBody>
        </p:sp>
      </p:grpSp>
      <p:graphicFrame>
        <p:nvGraphicFramePr>
          <p:cNvPr id="18" name="표 18">
            <a:extLst>
              <a:ext uri="{FF2B5EF4-FFF2-40B4-BE49-F238E27FC236}">
                <a16:creationId xmlns:a16="http://schemas.microsoft.com/office/drawing/2014/main" id="{5B07531E-AAB8-40A5-B3D0-4F0F6D12E2F0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295206933"/>
              </p:ext>
            </p:extLst>
          </p:nvPr>
        </p:nvGraphicFramePr>
        <p:xfrm>
          <a:off x="1454505" y="1029970"/>
          <a:ext cx="7318019" cy="48291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8019">
                  <a:extLst>
                    <a:ext uri="{9D8B030D-6E8A-4147-A177-3AD203B41FA5}">
                      <a16:colId xmlns:a16="http://schemas.microsoft.com/office/drawing/2014/main" val="2719041385"/>
                    </a:ext>
                  </a:extLst>
                </a:gridCol>
              </a:tblGrid>
              <a:tr h="965835">
                <a:tc>
                  <a:txBody>
                    <a:bodyPr/>
                    <a:lstStyle/>
                    <a:p>
                      <a:pPr latinLnBrk="1"/>
                      <a:endParaRPr lang="ko-KR" altLang="en-US" sz="2000" b="1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7413000"/>
                  </a:ext>
                </a:extLst>
              </a:tr>
              <a:tr h="965835">
                <a:tc>
                  <a:txBody>
                    <a:bodyPr/>
                    <a:lstStyle/>
                    <a:p>
                      <a:pPr latinLnBrk="1"/>
                      <a:endParaRPr lang="ko-KR" altLang="en-US" sz="2000" b="1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04167346"/>
                  </a:ext>
                </a:extLst>
              </a:tr>
              <a:tr h="965835">
                <a:tc>
                  <a:txBody>
                    <a:bodyPr/>
                    <a:lstStyle/>
                    <a:p>
                      <a:pPr latinLnBrk="1"/>
                      <a:endParaRPr lang="ko-KR" altLang="en-US" sz="2000" b="1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45247919"/>
                  </a:ext>
                </a:extLst>
              </a:tr>
              <a:tr h="965835">
                <a:tc>
                  <a:txBody>
                    <a:bodyPr/>
                    <a:lstStyle/>
                    <a:p>
                      <a:pPr latinLnBrk="1"/>
                      <a:endParaRPr lang="ko-KR" altLang="en-US" sz="2000" b="1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81284267"/>
                  </a:ext>
                </a:extLst>
              </a:tr>
              <a:tr h="965835">
                <a:tc>
                  <a:txBody>
                    <a:bodyPr/>
                    <a:lstStyle/>
                    <a:p>
                      <a:pPr latinLnBrk="1"/>
                      <a:endParaRPr lang="ko-KR" altLang="en-US" sz="2000" b="1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35405283"/>
                  </a:ext>
                </a:extLst>
              </a:tr>
            </a:tbl>
          </a:graphicData>
        </a:graphic>
      </p:graphicFrame>
      <p:pic>
        <p:nvPicPr>
          <p:cNvPr id="23" name="그림 22" descr="그리기, 플레이트, 음식, 방이(가) 표시된 사진&#10;&#10;자동 생성된 설명">
            <a:extLst>
              <a:ext uri="{FF2B5EF4-FFF2-40B4-BE49-F238E27FC236}">
                <a16:creationId xmlns:a16="http://schemas.microsoft.com/office/drawing/2014/main" id="{FEF37F4A-64D8-493C-A65A-762B21FB975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423" y="100133"/>
            <a:ext cx="720000" cy="720000"/>
          </a:xfrm>
          <a:prstGeom prst="rect">
            <a:avLst/>
          </a:prstGeom>
        </p:spPr>
      </p:pic>
      <p:cxnSp>
        <p:nvCxnSpPr>
          <p:cNvPr id="24" name="직선 연결선 23">
            <a:extLst>
              <a:ext uri="{FF2B5EF4-FFF2-40B4-BE49-F238E27FC236}">
                <a16:creationId xmlns:a16="http://schemas.microsoft.com/office/drawing/2014/main" id="{6567B15C-EDC8-4FDB-86E3-588E3F4B38B8}"/>
              </a:ext>
            </a:extLst>
          </p:cNvPr>
          <p:cNvCxnSpPr>
            <a:cxnSpLocks/>
          </p:cNvCxnSpPr>
          <p:nvPr userDrawn="1"/>
        </p:nvCxnSpPr>
        <p:spPr>
          <a:xfrm>
            <a:off x="781050" y="803275"/>
            <a:ext cx="6732270" cy="0"/>
          </a:xfrm>
          <a:prstGeom prst="line">
            <a:avLst/>
          </a:prstGeom>
          <a:ln w="28575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764869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. 본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직사각형 23">
            <a:extLst>
              <a:ext uri="{FF2B5EF4-FFF2-40B4-BE49-F238E27FC236}">
                <a16:creationId xmlns:a16="http://schemas.microsoft.com/office/drawing/2014/main" id="{B04D5D09-A2FC-4C8B-A3FF-CD7464225194}"/>
              </a:ext>
            </a:extLst>
          </p:cNvPr>
          <p:cNvSpPr/>
          <p:nvPr userDrawn="1"/>
        </p:nvSpPr>
        <p:spPr>
          <a:xfrm>
            <a:off x="260193" y="6331061"/>
            <a:ext cx="343363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800" b="1" dirty="0"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" panose="02020603050405020304" pitchFamily="18" charset="0"/>
                <a:cs typeface="times" panose="02020603050405020304" pitchFamily="18" charset="0"/>
              </a:rPr>
              <a:t>Astrodynamics and Control Lab.</a:t>
            </a:r>
          </a:p>
        </p:txBody>
      </p:sp>
      <p:sp>
        <p:nvSpPr>
          <p:cNvPr id="25" name="슬라이드 번호 개체 틀 4">
            <a:extLst>
              <a:ext uri="{FF2B5EF4-FFF2-40B4-BE49-F238E27FC236}">
                <a16:creationId xmlns:a16="http://schemas.microsoft.com/office/drawing/2014/main" id="{631309A5-660A-4E14-8195-3A25152345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905750" y="6327787"/>
            <a:ext cx="981169" cy="360000"/>
          </a:xfrm>
          <a:prstGeom prst="rect">
            <a:avLst/>
          </a:prstGeom>
        </p:spPr>
        <p:txBody>
          <a:bodyPr anchor="ctr"/>
          <a:lstStyle>
            <a:lvl1pPr algn="r">
              <a:defRPr sz="1400" b="1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defRPr>
            </a:lvl1pPr>
          </a:lstStyle>
          <a:p>
            <a:fld id="{397DD3AE-C24E-49FC-B527-05061A0348E6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27" name="Content Placeholder 2">
            <a:extLst>
              <a:ext uri="{FF2B5EF4-FFF2-40B4-BE49-F238E27FC236}">
                <a16:creationId xmlns:a16="http://schemas.microsoft.com/office/drawing/2014/main" id="{7540F519-A5D5-4C17-A8B9-7371A3A841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Autofit/>
          </a:bodyPr>
          <a:lstStyle>
            <a:lvl1pPr marL="228600" indent="-360000">
              <a:lnSpc>
                <a:spcPct val="100000"/>
              </a:lnSpc>
              <a:buFont typeface="Wingdings" panose="05000000000000000000" pitchFamily="2" charset="2"/>
              <a:buChar char="v"/>
              <a:defRPr sz="2400" b="1">
                <a:latin typeface="times" panose="02020603050405020304" pitchFamily="18" charset="0"/>
                <a:cs typeface="times" panose="02020603050405020304" pitchFamily="18" charset="0"/>
              </a:defRPr>
            </a:lvl1pPr>
            <a:lvl2pPr marL="540000" indent="-324000">
              <a:lnSpc>
                <a:spcPct val="100000"/>
              </a:lnSpc>
              <a:buFont typeface="Wingdings" panose="05000000000000000000" pitchFamily="2" charset="2"/>
              <a:buChar char="u"/>
              <a:defRPr sz="1800" b="0">
                <a:latin typeface="times" panose="02020603050405020304" pitchFamily="18" charset="0"/>
                <a:cs typeface="times" panose="02020603050405020304" pitchFamily="18" charset="0"/>
              </a:defRPr>
            </a:lvl2pPr>
            <a:lvl3pPr marL="720000" indent="-288000">
              <a:lnSpc>
                <a:spcPct val="100000"/>
              </a:lnSpc>
              <a:buFont typeface="Wingdings" panose="05000000000000000000" pitchFamily="2" charset="2"/>
              <a:buChar char="Ø"/>
              <a:defRPr sz="1600">
                <a:latin typeface="times" panose="02020603050405020304" pitchFamily="18" charset="0"/>
                <a:cs typeface="times" panose="02020603050405020304" pitchFamily="18" charset="0"/>
              </a:defRPr>
            </a:lvl3pPr>
            <a:lvl4pPr marL="900000" indent="-252000">
              <a:lnSpc>
                <a:spcPct val="100000"/>
              </a:lnSpc>
              <a:buFont typeface="Wingdings" panose="05000000000000000000" pitchFamily="2" charset="2"/>
              <a:buChar char="ü"/>
              <a:defRPr sz="1400">
                <a:latin typeface="times" panose="02020603050405020304" pitchFamily="18" charset="0"/>
                <a:cs typeface="times" panose="02020603050405020304" pitchFamily="18" charset="0"/>
              </a:defRPr>
            </a:lvl4pPr>
            <a:lvl5pPr marL="1080000" indent="-252000">
              <a:lnSpc>
                <a:spcPct val="100000"/>
              </a:lnSpc>
              <a:defRPr sz="1400">
                <a:latin typeface="times" panose="02020603050405020304" pitchFamily="18" charset="0"/>
                <a:cs typeface="times" panose="02020603050405020304" pitchFamily="18" charset="0"/>
              </a:defRPr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  <a:endParaRPr lang="en-US" dirty="0"/>
          </a:p>
        </p:txBody>
      </p:sp>
      <p:sp>
        <p:nvSpPr>
          <p:cNvPr id="30" name="Title 1">
            <a:extLst>
              <a:ext uri="{FF2B5EF4-FFF2-40B4-BE49-F238E27FC236}">
                <a16:creationId xmlns:a16="http://schemas.microsoft.com/office/drawing/2014/main" id="{78361285-D5CA-4434-A351-5343035FD0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84057" y="71055"/>
            <a:ext cx="6705464" cy="687714"/>
          </a:xfrm>
        </p:spPr>
        <p:txBody>
          <a:bodyPr>
            <a:normAutofit/>
          </a:bodyPr>
          <a:lstStyle>
            <a:lvl1pPr algn="ctr">
              <a:defRPr sz="2800" b="1">
                <a:solidFill>
                  <a:schemeClr val="tx1"/>
                </a:solidFill>
                <a:latin typeface="times" panose="02020603050405020304" pitchFamily="18" charset="0"/>
                <a:ea typeface="+mj-ea"/>
                <a:cs typeface="times" panose="02020603050405020304" pitchFamily="18" charset="0"/>
              </a:defRPr>
            </a:lvl1pPr>
          </a:lstStyle>
          <a:p>
            <a:r>
              <a:rPr lang="ko-KR" altLang="en-US" dirty="0"/>
              <a:t>마스터 제목 스타일 편집 </a:t>
            </a:r>
            <a:r>
              <a:rPr lang="en-US" altLang="ko-KR" dirty="0"/>
              <a:t>(28 pts)</a:t>
            </a:r>
            <a:endParaRPr lang="en-US" dirty="0"/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15C7FC81-20F4-4FC2-B40D-A9FF1F52076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3646" r="9900"/>
          <a:stretch/>
        </p:blipFill>
        <p:spPr>
          <a:xfrm>
            <a:off x="7554954" y="1"/>
            <a:ext cx="1589045" cy="1029956"/>
          </a:xfrm>
          <a:prstGeom prst="rect">
            <a:avLst/>
          </a:prstGeom>
        </p:spPr>
      </p:pic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4D14EEDE-3F58-409A-8C98-F099C099E03A}"/>
              </a:ext>
            </a:extLst>
          </p:cNvPr>
          <p:cNvCxnSpPr>
            <a:cxnSpLocks/>
          </p:cNvCxnSpPr>
          <p:nvPr userDrawn="1"/>
        </p:nvCxnSpPr>
        <p:spPr>
          <a:xfrm>
            <a:off x="619125" y="876300"/>
            <a:ext cx="7575550" cy="0"/>
          </a:xfrm>
          <a:prstGeom prst="line">
            <a:avLst/>
          </a:prstGeom>
          <a:ln w="28575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그림 14" descr="그리기, 플레이트, 음식, 방이(가) 표시된 사진&#10;&#10;자동 생성된 설명">
            <a:extLst>
              <a:ext uri="{FF2B5EF4-FFF2-40B4-BE49-F238E27FC236}">
                <a16:creationId xmlns:a16="http://schemas.microsoft.com/office/drawing/2014/main" id="{D6923843-3AE5-4E5F-BACA-DFA2C5600B2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423" y="100133"/>
            <a:ext cx="720000" cy="720000"/>
          </a:xfrm>
          <a:prstGeom prst="rect">
            <a:avLst/>
          </a:prstGeom>
        </p:spPr>
      </p:pic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04926874-7DA7-4D84-BD23-06EAC42705A1}"/>
              </a:ext>
            </a:extLst>
          </p:cNvPr>
          <p:cNvCxnSpPr>
            <a:cxnSpLocks/>
          </p:cNvCxnSpPr>
          <p:nvPr userDrawn="1"/>
        </p:nvCxnSpPr>
        <p:spPr>
          <a:xfrm>
            <a:off x="781050" y="803275"/>
            <a:ext cx="6732270" cy="0"/>
          </a:xfrm>
          <a:prstGeom prst="line">
            <a:avLst/>
          </a:prstGeom>
          <a:ln w="28575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028288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88B88FB9-8488-4F3A-9179-85AF22A058C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0" y="1820660"/>
            <a:ext cx="9144000" cy="3180446"/>
          </a:xfrm>
        </p:spPr>
        <p:txBody>
          <a:bodyPr anchor="ctr">
            <a:normAutofit/>
          </a:bodyPr>
          <a:lstStyle>
            <a:lvl1pPr algn="ctr">
              <a:defRPr sz="4000" b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" panose="02020603050405020304" pitchFamily="18" charset="0"/>
                <a:ea typeface="+mj-ea"/>
                <a:cs typeface="times" panose="02020603050405020304" pitchFamily="18" charset="0"/>
              </a:defRPr>
            </a:lvl1pPr>
          </a:lstStyle>
          <a:p>
            <a:r>
              <a:rPr lang="ko-KR" altLang="en-US" dirty="0"/>
              <a:t>질의응답</a:t>
            </a:r>
            <a:br>
              <a:rPr lang="en-US" altLang="ko-KR" dirty="0"/>
            </a:br>
            <a:r>
              <a:rPr lang="en-US" altLang="ko-KR" dirty="0"/>
              <a:t>(</a:t>
            </a:r>
            <a:r>
              <a:rPr lang="ko-KR" altLang="en-US" dirty="0"/>
              <a:t>국</a:t>
            </a:r>
            <a:r>
              <a:rPr lang="en-US" altLang="ko-KR" dirty="0"/>
              <a:t>/</a:t>
            </a:r>
            <a:r>
              <a:rPr lang="ko-KR" altLang="en-US" dirty="0"/>
              <a:t>영문</a:t>
            </a:r>
            <a:r>
              <a:rPr lang="en-US" altLang="ko-KR" dirty="0"/>
              <a:t>, Times, 40 pts)</a:t>
            </a:r>
            <a:endParaRPr lang="en-US" dirty="0"/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4FBB211E-0AA6-4FE2-9E18-B081DCF3E19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43000" y="4543424"/>
            <a:ext cx="6858000" cy="1339783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 b="1">
                <a:latin typeface="times" panose="02020603050405020304" pitchFamily="18" charset="0"/>
                <a:cs typeface="times" panose="02020603050405020304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dirty="0"/>
              <a:t>이름</a:t>
            </a:r>
            <a:endParaRPr lang="en-US" altLang="ko-KR" dirty="0"/>
          </a:p>
          <a:p>
            <a:r>
              <a:rPr lang="ko-KR" altLang="en-US" dirty="0"/>
              <a:t>소속</a:t>
            </a:r>
            <a:endParaRPr lang="en-US" altLang="ko-KR" dirty="0"/>
          </a:p>
          <a:p>
            <a:r>
              <a:rPr lang="ko-KR" altLang="en-US" dirty="0"/>
              <a:t>연락처</a:t>
            </a:r>
            <a:endParaRPr lang="en-US" dirty="0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22319A21-8E7C-4790-9643-94CC1925297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70565" y="6048339"/>
            <a:ext cx="720000" cy="720000"/>
          </a:xfrm>
          <a:prstGeom prst="rect">
            <a:avLst/>
          </a:prstGeom>
        </p:spPr>
      </p:pic>
      <p:pic>
        <p:nvPicPr>
          <p:cNvPr id="14" name="Picture 8">
            <a:extLst>
              <a:ext uri="{FF2B5EF4-FFF2-40B4-BE49-F238E27FC236}">
                <a16:creationId xmlns:a16="http://schemas.microsoft.com/office/drawing/2014/main" id="{46F0A41C-6A01-44CA-A626-55476509C76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38645" y="6048339"/>
            <a:ext cx="720000" cy="72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25" name="그룹 24">
            <a:extLst>
              <a:ext uri="{FF2B5EF4-FFF2-40B4-BE49-F238E27FC236}">
                <a16:creationId xmlns:a16="http://schemas.microsoft.com/office/drawing/2014/main" id="{6E63BBB4-44C3-4C69-9162-763FE81E6FBD}"/>
              </a:ext>
            </a:extLst>
          </p:cNvPr>
          <p:cNvGrpSpPr/>
          <p:nvPr userDrawn="1"/>
        </p:nvGrpSpPr>
        <p:grpSpPr>
          <a:xfrm>
            <a:off x="122423" y="99901"/>
            <a:ext cx="3389530" cy="720000"/>
            <a:chOff x="3167632" y="6062339"/>
            <a:chExt cx="3389530" cy="720000"/>
          </a:xfrm>
        </p:grpSpPr>
        <p:pic>
          <p:nvPicPr>
            <p:cNvPr id="26" name="그림 25" descr="그리기, 플레이트, 음식, 방이(가) 표시된 사진&#10;&#10;자동 생성된 설명">
              <a:extLst>
                <a:ext uri="{FF2B5EF4-FFF2-40B4-BE49-F238E27FC236}">
                  <a16:creationId xmlns:a16="http://schemas.microsoft.com/office/drawing/2014/main" id="{58F4BD04-EF90-4931-B1B3-0FDABC5889ED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167632" y="6062339"/>
              <a:ext cx="720000" cy="720000"/>
            </a:xfrm>
            <a:prstGeom prst="rect">
              <a:avLst/>
            </a:prstGeom>
          </p:spPr>
        </p:pic>
        <p:sp>
          <p:nvSpPr>
            <p:cNvPr id="27" name="직사각형 26">
              <a:extLst>
                <a:ext uri="{FF2B5EF4-FFF2-40B4-BE49-F238E27FC236}">
                  <a16:creationId xmlns:a16="http://schemas.microsoft.com/office/drawing/2014/main" id="{727BC293-2715-43CE-819C-216F1B960AEE}"/>
                </a:ext>
              </a:extLst>
            </p:cNvPr>
            <p:cNvSpPr/>
            <p:nvPr userDrawn="1"/>
          </p:nvSpPr>
          <p:spPr>
            <a:xfrm>
              <a:off x="3846292" y="6114563"/>
              <a:ext cx="2710870" cy="615553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ko-KR" altLang="en-US" sz="2000" b="1" spc="100" baseline="0" dirty="0">
                  <a:solidFill>
                    <a:schemeClr val="accent5">
                      <a:lumMod val="7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" panose="02020603050405020304" pitchFamily="18" charset="0"/>
                  <a:cs typeface="times" panose="02020603050405020304" pitchFamily="18" charset="0"/>
                </a:rPr>
                <a:t>우주비행제어연구실</a:t>
              </a:r>
              <a:endParaRPr lang="en-US" altLang="ko-KR" sz="2000" b="1" spc="100" baseline="0" dirty="0"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" panose="02020603050405020304" pitchFamily="18" charset="0"/>
                <a:cs typeface="times" panose="02020603050405020304" pitchFamily="18" charset="0"/>
              </a:endParaRPr>
            </a:p>
            <a:p>
              <a:r>
                <a:rPr lang="en-US" altLang="ko-KR" sz="1400" b="1" dirty="0">
                  <a:solidFill>
                    <a:schemeClr val="accent5">
                      <a:lumMod val="7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" panose="02020603050405020304" pitchFamily="18" charset="0"/>
                  <a:cs typeface="times" panose="02020603050405020304" pitchFamily="18" charset="0"/>
                </a:rPr>
                <a:t>Astrodynamics and Control Lab.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0457699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88B88FB9-8488-4F3A-9179-85AF22A058C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0" y="1820660"/>
            <a:ext cx="9144000" cy="3180446"/>
          </a:xfrm>
        </p:spPr>
        <p:txBody>
          <a:bodyPr anchor="ctr">
            <a:normAutofit/>
          </a:bodyPr>
          <a:lstStyle>
            <a:lvl1pPr algn="ctr">
              <a:defRPr sz="4000" b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" panose="02020603050405020304" pitchFamily="18" charset="0"/>
                <a:ea typeface="+mj-ea"/>
                <a:cs typeface="times" panose="02020603050405020304" pitchFamily="18" charset="0"/>
              </a:defRPr>
            </a:lvl1pPr>
          </a:lstStyle>
          <a:p>
            <a:r>
              <a:rPr lang="ko-KR" altLang="en-US" dirty="0"/>
              <a:t>간지</a:t>
            </a:r>
            <a:br>
              <a:rPr lang="en-US" altLang="ko-KR" dirty="0"/>
            </a:br>
            <a:r>
              <a:rPr lang="en-US" altLang="ko-KR" dirty="0"/>
              <a:t>(</a:t>
            </a:r>
            <a:r>
              <a:rPr lang="ko-KR" altLang="en-US" dirty="0"/>
              <a:t>국</a:t>
            </a:r>
            <a:r>
              <a:rPr lang="en-US" altLang="ko-KR" dirty="0"/>
              <a:t>/</a:t>
            </a:r>
            <a:r>
              <a:rPr lang="ko-KR" altLang="en-US" dirty="0"/>
              <a:t>영문</a:t>
            </a:r>
            <a:r>
              <a:rPr lang="en-US" altLang="ko-KR" dirty="0"/>
              <a:t>, Times, 40 pts)</a:t>
            </a:r>
            <a:endParaRPr lang="en-US" dirty="0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E0F02479-4D4E-48F6-A414-FD2BEFAB596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70565" y="6048339"/>
            <a:ext cx="720000" cy="720000"/>
          </a:xfrm>
          <a:prstGeom prst="rect">
            <a:avLst/>
          </a:prstGeom>
        </p:spPr>
      </p:pic>
      <p:pic>
        <p:nvPicPr>
          <p:cNvPr id="10" name="Picture 8">
            <a:extLst>
              <a:ext uri="{FF2B5EF4-FFF2-40B4-BE49-F238E27FC236}">
                <a16:creationId xmlns:a16="http://schemas.microsoft.com/office/drawing/2014/main" id="{93518514-EB1D-4173-98C0-35F88CF32D6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38645" y="6048339"/>
            <a:ext cx="720000" cy="72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1" name="그룹 10">
            <a:extLst>
              <a:ext uri="{FF2B5EF4-FFF2-40B4-BE49-F238E27FC236}">
                <a16:creationId xmlns:a16="http://schemas.microsoft.com/office/drawing/2014/main" id="{6A8B2090-A0C2-4296-B39A-3CF2073B64CD}"/>
              </a:ext>
            </a:extLst>
          </p:cNvPr>
          <p:cNvGrpSpPr/>
          <p:nvPr userDrawn="1"/>
        </p:nvGrpSpPr>
        <p:grpSpPr>
          <a:xfrm>
            <a:off x="122423" y="99901"/>
            <a:ext cx="3389530" cy="720000"/>
            <a:chOff x="3167632" y="6062339"/>
            <a:chExt cx="3389530" cy="720000"/>
          </a:xfrm>
        </p:grpSpPr>
        <p:pic>
          <p:nvPicPr>
            <p:cNvPr id="12" name="그림 11" descr="그리기, 플레이트, 음식, 방이(가) 표시된 사진&#10;&#10;자동 생성된 설명">
              <a:extLst>
                <a:ext uri="{FF2B5EF4-FFF2-40B4-BE49-F238E27FC236}">
                  <a16:creationId xmlns:a16="http://schemas.microsoft.com/office/drawing/2014/main" id="{D4A8645E-E578-4994-ACFB-E636079E422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167632" y="6062339"/>
              <a:ext cx="720000" cy="720000"/>
            </a:xfrm>
            <a:prstGeom prst="rect">
              <a:avLst/>
            </a:prstGeom>
          </p:spPr>
        </p:pic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869595E0-FFC1-42B0-845F-81DEAB14A06B}"/>
                </a:ext>
              </a:extLst>
            </p:cNvPr>
            <p:cNvSpPr/>
            <p:nvPr userDrawn="1"/>
          </p:nvSpPr>
          <p:spPr>
            <a:xfrm>
              <a:off x="3846292" y="6114563"/>
              <a:ext cx="2710870" cy="615553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ko-KR" altLang="en-US" sz="2000" b="1" spc="100" baseline="0" dirty="0">
                  <a:solidFill>
                    <a:schemeClr val="accent5">
                      <a:lumMod val="7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" panose="02020603050405020304" pitchFamily="18" charset="0"/>
                  <a:cs typeface="times" panose="02020603050405020304" pitchFamily="18" charset="0"/>
                </a:rPr>
                <a:t>우주비행제어연구실</a:t>
              </a:r>
              <a:endParaRPr lang="en-US" altLang="ko-KR" sz="2000" b="1" spc="100" baseline="0" dirty="0"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" panose="02020603050405020304" pitchFamily="18" charset="0"/>
                <a:cs typeface="times" panose="02020603050405020304" pitchFamily="18" charset="0"/>
              </a:endParaRPr>
            </a:p>
            <a:p>
              <a:r>
                <a:rPr lang="en-US" altLang="ko-KR" sz="1400" b="1" dirty="0">
                  <a:solidFill>
                    <a:schemeClr val="accent5">
                      <a:lumMod val="7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" panose="02020603050405020304" pitchFamily="18" charset="0"/>
                  <a:cs typeface="times" panose="02020603050405020304" pitchFamily="18" charset="0"/>
                </a:rPr>
                <a:t>Astrodynamics and Control Lab.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0286937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946300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EB3741-4917-4953-934B-4EF1C3CF7792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8" name="날짜 개체 틀 7"/>
          <p:cNvSpPr>
            <a:spLocks noGrp="1"/>
          </p:cNvSpPr>
          <p:nvPr>
            <p:ph type="dt" sz="half" idx="2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9" name="바닥글 개체 틀 8"/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426940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0" r:id="rId1"/>
    <p:sldLayoutId id="2147483677" r:id="rId2"/>
    <p:sldLayoutId id="2147483662" r:id="rId3"/>
    <p:sldLayoutId id="2147483679" r:id="rId4"/>
    <p:sldLayoutId id="2147483678" r:id="rId5"/>
    <p:sldLayoutId id="2147483667" r:id="rId6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gif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부제목 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/>
              <a:t>이진진</a:t>
            </a:r>
          </a:p>
          <a:p>
            <a:pPr lvl="0">
              <a:defRPr/>
            </a:pPr>
            <a:r>
              <a:rPr lang="ko-KR" altLang="en-US" dirty="0"/>
              <a:t>석사과정 </a:t>
            </a:r>
            <a:r>
              <a:rPr lang="en-US" altLang="ko-KR" dirty="0"/>
              <a:t>2</a:t>
            </a:r>
            <a:r>
              <a:rPr lang="ko-KR" altLang="en-US" dirty="0"/>
              <a:t>학기</a:t>
            </a:r>
          </a:p>
          <a:p>
            <a:pPr lvl="0">
              <a:defRPr/>
            </a:pPr>
            <a:r>
              <a:rPr lang="en-US" altLang="ko-KR" dirty="0"/>
              <a:t>2022-10-18</a:t>
            </a:r>
          </a:p>
        </p:txBody>
      </p:sp>
      <p:sp>
        <p:nvSpPr>
          <p:cNvPr id="3" name="제목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정기 연구미팅 보고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975828" y="71055"/>
            <a:ext cx="7197892" cy="687714"/>
          </a:xfrm>
        </p:spPr>
        <p:txBody>
          <a:bodyPr/>
          <a:lstStyle/>
          <a:p>
            <a:pPr lvl="0">
              <a:defRPr/>
            </a:pPr>
            <a:r>
              <a:rPr lang="ko-KR" altLang="en-US"/>
              <a:t>목차</a:t>
            </a:r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>
          <a:xfrm>
            <a:off x="7905750" y="6388843"/>
            <a:ext cx="981169" cy="360000"/>
          </a:xfrm>
        </p:spPr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1</a:t>
            </a:fld>
            <a:endParaRPr lang="en-US" altLang="en-US"/>
          </a:p>
        </p:txBody>
      </p:sp>
      <p:graphicFrame>
        <p:nvGraphicFramePr>
          <p:cNvPr id="11" name="표 1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5434348"/>
              </p:ext>
            </p:extLst>
          </p:nvPr>
        </p:nvGraphicFramePr>
        <p:xfrm>
          <a:off x="1454505" y="1029970"/>
          <a:ext cx="7318019" cy="48291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801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965835"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r>
                        <a:rPr lang="en-US" altLang="ko-KR" sz="2000" b="1" dirty="0" err="1">
                          <a:solidFill>
                            <a:schemeClr val="tx1"/>
                          </a:solidFill>
                        </a:rPr>
                        <a:t>Freeflyer</a:t>
                      </a:r>
                      <a:r>
                        <a:rPr lang="ko-KR" altLang="en-US" sz="2000" b="1" dirty="0">
                          <a:solidFill>
                            <a:schemeClr val="tx1"/>
                          </a:solidFill>
                        </a:rPr>
                        <a:t>를 이용한 연속 지역 커버리지 연구 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65835"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r>
                        <a:rPr lang="ko-KR" altLang="en-US" sz="2000" b="1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결론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65835"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 sz="2000" b="1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65835"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 sz="2000" b="1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65835"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 sz="2000" b="1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직사각형 5"/>
          <p:cNvSpPr/>
          <p:nvPr/>
        </p:nvSpPr>
        <p:spPr>
          <a:xfrm>
            <a:off x="457200" y="3048000"/>
            <a:ext cx="997305" cy="281114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2</a:t>
            </a:fld>
            <a:endParaRPr lang="en-US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연구</a:t>
            </a:r>
            <a:r>
              <a:rPr lang="en-US" altLang="ko-KR"/>
              <a:t>/</a:t>
            </a:r>
            <a:r>
              <a:rPr lang="ko-KR" altLang="en-US"/>
              <a:t>개발 주제 및 성격</a:t>
            </a:r>
          </a:p>
          <a:p>
            <a:pPr lvl="0">
              <a:defRPr/>
            </a:pPr>
            <a:endParaRPr lang="en-US" altLang="ko-KR"/>
          </a:p>
          <a:p>
            <a:pPr lvl="0">
              <a:defRPr/>
            </a:pPr>
            <a:endParaRPr lang="en-US" altLang="ko-KR"/>
          </a:p>
          <a:p>
            <a:pPr lvl="0">
              <a:defRPr/>
            </a:pPr>
            <a:endParaRPr lang="en-US" altLang="ko-KR"/>
          </a:p>
          <a:p>
            <a:pPr lvl="0">
              <a:defRPr/>
            </a:pPr>
            <a:r>
              <a:rPr lang="ko-KR" altLang="en-US"/>
              <a:t>주요 목표 및 진행 상황</a:t>
            </a:r>
            <a:endParaRPr lang="en-US" altLang="ko-KR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연구</a:t>
            </a:r>
            <a:r>
              <a:rPr lang="en-US" altLang="ko-KR"/>
              <a:t>/</a:t>
            </a:r>
            <a:r>
              <a:rPr lang="ko-KR" altLang="en-US"/>
              <a:t>개발 개요</a:t>
            </a:r>
          </a:p>
        </p:txBody>
      </p:sp>
      <p:graphicFrame>
        <p:nvGraphicFramePr>
          <p:cNvPr id="5" name="표 4"/>
          <p:cNvGraphicFramePr>
            <a:graphicFrameLocks noGrp="1"/>
          </p:cNvGraphicFramePr>
          <p:nvPr/>
        </p:nvGraphicFramePr>
        <p:xfrm>
          <a:off x="257079" y="3368824"/>
          <a:ext cx="8629840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7508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68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68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9434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5761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254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1400">
                          <a:latin typeface="Times New Roman"/>
                          <a:ea typeface="+mn-ea"/>
                          <a:cs typeface="Times New Roman"/>
                        </a:rPr>
                        <a:t>주요 목표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1400">
                          <a:latin typeface="Times New Roman"/>
                          <a:ea typeface="+mn-ea"/>
                          <a:cs typeface="Times New Roman"/>
                        </a:rPr>
                        <a:t>착수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1400">
                          <a:latin typeface="Times New Roman"/>
                          <a:ea typeface="+mn-ea"/>
                          <a:cs typeface="Times New Roman"/>
                        </a:rPr>
                        <a:t>마감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solidFill>
                      <a:srgbClr val="001E46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1400">
                          <a:latin typeface="Times New Roman"/>
                          <a:ea typeface="+mn-ea"/>
                          <a:cs typeface="Times New Roman"/>
                        </a:rPr>
                        <a:t>진행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solidFill>
                      <a:srgbClr val="001E46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1400">
                          <a:latin typeface="Times New Roman"/>
                          <a:ea typeface="+mn-ea"/>
                          <a:cs typeface="Times New Roman"/>
                        </a:rPr>
                        <a:t>비고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solidFill>
                      <a:srgbClr val="001E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just" latinLnBrk="1">
                        <a:defRPr/>
                      </a:pPr>
                      <a:r>
                        <a:rPr lang="ko-KR" altLang="en-US" sz="1200">
                          <a:latin typeface="Times New Roman"/>
                          <a:ea typeface="+mn-ea"/>
                          <a:cs typeface="Times New Roman"/>
                        </a:rPr>
                        <a:t>선행연구 자료조사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>
                          <a:latin typeface="Times New Roman"/>
                          <a:ea typeface="+mn-ea"/>
                          <a:cs typeface="Times New Roman"/>
                        </a:rPr>
                        <a:t>2022.07.25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en-US" altLang="ko-KR" sz="1200" b="0" i="0" u="none" strike="noStrike" kern="1200" cap="none" spc="0" normalizeH="0" baseline="0"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/>
                          <a:ea typeface="맑은 고딕"/>
                          <a:cs typeface="Times New Roman"/>
                        </a:rPr>
                        <a:t>2022.08.16</a:t>
                      </a:r>
                      <a:endParaRPr kumimoji="0" lang="en-US" altLang="ko-KR" sz="1200" b="0" i="0" u="none" strike="noStrike" kern="1200" cap="none" spc="0" normalizeH="0" baseline="0">
                        <a:solidFill>
                          <a:prstClr val="black"/>
                        </a:solidFill>
                        <a:latin typeface="Times New Roman"/>
                        <a:ea typeface="맑은 고딕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defRPr/>
                      </a:pPr>
                      <a:r>
                        <a:rPr lang="en-US" altLang="ko-KR" sz="1200">
                          <a:latin typeface="Times New Roman"/>
                          <a:ea typeface="+mn-ea"/>
                          <a:cs typeface="Times New Roman"/>
                        </a:rPr>
                        <a:t>100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noFill/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defRPr/>
                      </a:pPr>
                      <a:r>
                        <a:rPr lang="en-US" altLang="ko-KR" sz="1200">
                          <a:latin typeface="Times New Roman"/>
                          <a:ea typeface="+mn-ea"/>
                          <a:cs typeface="Times New Roman"/>
                        </a:rPr>
                        <a:t>%</a:t>
                      </a:r>
                      <a:endParaRPr lang="ko-KR" altLang="en-US" sz="120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just" latinLnBrk="1">
                        <a:defRPr/>
                      </a:pPr>
                      <a:r>
                        <a:rPr lang="en-US" altLang="ko-KR" sz="1200">
                          <a:latin typeface="Times New Roman"/>
                          <a:ea typeface="+mn-ea"/>
                          <a:cs typeface="Times New Roman"/>
                        </a:rPr>
                        <a:t>Free Flyer </a:t>
                      </a:r>
                      <a:r>
                        <a:rPr lang="ko-KR" altLang="en-US" sz="1200">
                          <a:latin typeface="Times New Roman"/>
                          <a:ea typeface="+mn-ea"/>
                          <a:cs typeface="Times New Roman"/>
                        </a:rPr>
                        <a:t>프로그램 학습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en-US" altLang="ko-KR" sz="1200" b="0" i="0" u="none" strike="noStrike" kern="1200" cap="none" spc="0" normalizeH="0" baseline="0"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/>
                          <a:ea typeface="+mn-ea"/>
                          <a:cs typeface="Times New Roman"/>
                        </a:rPr>
                        <a:t>2022.08.16</a:t>
                      </a:r>
                      <a:endParaRPr kumimoji="0" lang="ko-KR" altLang="en-US" sz="1200" b="0" i="0" u="none" strike="noStrike" kern="1200" cap="none" spc="0" normalizeH="0" baseline="0"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endParaRPr kumimoji="0" lang="en-US" altLang="ko-KR" sz="1200" b="0" i="0" u="none" strike="noStrike" kern="1200" cap="none" spc="0" normalizeH="0" baseline="0"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defRPr/>
                      </a:pPr>
                      <a:endParaRPr lang="en-US" altLang="ko-KR" sz="120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noFill/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defRPr/>
                      </a:pPr>
                      <a:r>
                        <a:rPr lang="en-US" altLang="ko-KR" sz="1200">
                          <a:latin typeface="Times New Roman"/>
                          <a:ea typeface="+mn-ea"/>
                          <a:cs typeface="Times New Roman"/>
                        </a:rPr>
                        <a:t>%</a:t>
                      </a:r>
                      <a:endParaRPr lang="ko-KR" altLang="en-US" sz="120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just" latinLnBrk="1">
                        <a:defRPr/>
                      </a:pPr>
                      <a:endParaRPr lang="ko-KR" altLang="en-US" sz="120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en-US" altLang="ko-KR" sz="1200" b="0" i="0" u="none" strike="noStrike" kern="1200" cap="none" spc="0" normalizeH="0" baseline="0"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/>
                          <a:ea typeface="+mn-ea"/>
                          <a:cs typeface="Times New Roman"/>
                        </a:rPr>
                        <a:t>YYYY.MM.DD</a:t>
                      </a:r>
                      <a:endParaRPr kumimoji="0" lang="ko-KR" altLang="en-US" sz="1200" b="0" i="0" u="none" strike="noStrike" kern="1200" cap="none" spc="0" normalizeH="0" baseline="0"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en-US" altLang="ko-KR" sz="1200" b="0" i="0" u="none" strike="noStrike" kern="1200" cap="none" spc="0" normalizeH="0" baseline="0"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/>
                          <a:ea typeface="+mn-ea"/>
                          <a:cs typeface="Times New Roman"/>
                        </a:rPr>
                        <a:t>YYYY.MM.DD</a:t>
                      </a:r>
                      <a:endParaRPr kumimoji="0" lang="ko-KR" altLang="en-US" sz="1200" b="0" i="0" u="none" strike="noStrike" kern="1200" cap="none" spc="0" normalizeH="0" baseline="0"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defRPr/>
                      </a:pPr>
                      <a:endParaRPr lang="ko-KR" altLang="en-US" sz="120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noFill/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defRPr/>
                      </a:pPr>
                      <a:r>
                        <a:rPr lang="en-US" altLang="ko-KR" sz="1200">
                          <a:latin typeface="Times New Roman"/>
                          <a:ea typeface="+mn-ea"/>
                          <a:cs typeface="Times New Roman"/>
                        </a:rPr>
                        <a:t>%</a:t>
                      </a:r>
                      <a:endParaRPr lang="ko-KR" altLang="en-US" sz="120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just" latinLnBrk="1">
                        <a:defRPr/>
                      </a:pPr>
                      <a:endParaRPr lang="ko-KR" altLang="en-US" sz="120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endParaRPr kumimoji="0" lang="ko-KR" altLang="en-US" sz="1200" b="0" i="0" u="none" strike="noStrike" kern="1200" cap="none" spc="0" normalizeH="0" baseline="0"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/>
                        <a:ea typeface="맑은 고딕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endParaRPr kumimoji="0" lang="ko-KR" altLang="en-US" sz="1200" b="0" i="0" u="none" strike="noStrike" kern="1200" cap="none" spc="0" normalizeH="0" baseline="0"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/>
                        <a:ea typeface="맑은 고딕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defRPr/>
                      </a:pPr>
                      <a:endParaRPr lang="ko-KR" altLang="en-US" sz="120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noFill/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defRPr/>
                      </a:pPr>
                      <a:endParaRPr lang="ko-KR" altLang="en-US" sz="120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76860847"/>
              </p:ext>
            </p:extLst>
          </p:nvPr>
        </p:nvGraphicFramePr>
        <p:xfrm>
          <a:off x="257077" y="1383366"/>
          <a:ext cx="8629838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1491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1491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1400">
                          <a:latin typeface="Times New Roman"/>
                          <a:ea typeface="+mn-ea"/>
                          <a:cs typeface="Times New Roman"/>
                        </a:rPr>
                        <a:t>주제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1400">
                          <a:latin typeface="Times New Roman"/>
                          <a:ea typeface="+mn-ea"/>
                          <a:cs typeface="Times New Roman"/>
                        </a:rPr>
                        <a:t>성격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solidFill>
                      <a:srgbClr val="001E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r>
                        <a:rPr lang="en-US" altLang="ko-KR" sz="1200" b="0" dirty="0" err="1">
                          <a:solidFill>
                            <a:schemeClr val="tx1"/>
                          </a:solidFill>
                        </a:rPr>
                        <a:t>Freeflyer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를 이용한 연속 지역 커버리지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 latinLnBrk="1">
                        <a:defRPr/>
                      </a:pP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임무설계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 lvl="0">
              <a:defRPr/>
            </a:pPr>
            <a:r>
              <a:rPr lang="en-US" altLang="ko-KR" sz="4000" b="1" dirty="0" err="1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Free</a:t>
            </a:r>
            <a:r>
              <a:rPr lang="en-US" altLang="ko-KR" dirty="0" err="1">
                <a:latin typeface="Times New Roman"/>
                <a:ea typeface="+mn-ea"/>
                <a:cs typeface="Times New Roman"/>
              </a:rPr>
              <a:t>Flyer</a:t>
            </a:r>
            <a:r>
              <a:rPr lang="en-US" altLang="ko-KR" dirty="0">
                <a:latin typeface="Times New Roman"/>
                <a:ea typeface="+mn-ea"/>
                <a:cs typeface="Times New Roman"/>
              </a:rPr>
              <a:t> </a:t>
            </a:r>
            <a:r>
              <a:rPr lang="ko-KR" altLang="en-US" dirty="0">
                <a:latin typeface="Times New Roman"/>
                <a:ea typeface="+mn-ea"/>
                <a:cs typeface="Times New Roman"/>
              </a:rPr>
              <a:t>소프트웨어 </a:t>
            </a:r>
            <a:r>
              <a:rPr lang="ko-KR" altLang="en-US" sz="4000" b="1" dirty="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선행 </a:t>
            </a:r>
            <a:r>
              <a:rPr lang="ko-KR" altLang="en-US" dirty="0"/>
              <a:t>연구 조사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4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Freeflyer</a:t>
            </a:r>
            <a:r>
              <a:rPr lang="ko-KR" altLang="en-US"/>
              <a:t> 소프트웨어 선행 연구 조사</a:t>
            </a:r>
          </a:p>
        </p:txBody>
      </p:sp>
      <p:sp>
        <p:nvSpPr>
          <p:cNvPr id="10" name="내용 개체 틀 2"/>
          <p:cNvSpPr txBox="1"/>
          <p:nvPr/>
        </p:nvSpPr>
        <p:spPr>
          <a:xfrm>
            <a:off x="144418" y="1050263"/>
            <a:ext cx="8999580" cy="5376968"/>
          </a:xfrm>
          <a:prstGeom prst="rect">
            <a:avLst/>
          </a:prstGeom>
        </p:spPr>
        <p:txBody>
          <a:bodyPr vert="horz" lIns="91440" tIns="45720" rIns="91440" bIns="45720">
            <a:noAutofit/>
          </a:bodyPr>
          <a:lstStyle>
            <a:lvl1pPr marL="228600" indent="-360000" algn="l" defTabSz="914400" rtl="0" eaLnBrk="1" latinLnBrk="1" hangingPunct="1">
              <a:lnSpc>
                <a:spcPct val="100000"/>
              </a:lnSpc>
              <a:spcBef>
                <a:spcPts val="1000"/>
              </a:spcBef>
              <a:buFont typeface="Wingdings"/>
              <a:buChar char="v"/>
              <a:defRPr sz="2400" b="1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1pPr>
            <a:lvl2pPr marL="540000" indent="-324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Wingdings"/>
              <a:buChar char="u"/>
              <a:defRPr sz="1800" b="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2pPr>
            <a:lvl3pPr marL="720000" indent="-288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Wingdings"/>
              <a:buChar char="Ø"/>
              <a:defRPr sz="160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3pPr>
            <a:lvl4pPr marL="900000" indent="-252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Wingdings"/>
              <a:buChar char="ü"/>
              <a:defRPr sz="140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4pPr>
            <a:lvl5pPr marL="1080000" indent="-252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r>
              <a:rPr lang="en-US" altLang="ko-KR" dirty="0"/>
              <a:t>Revisit time</a:t>
            </a:r>
            <a:r>
              <a:rPr lang="ko-KR" altLang="en-US" dirty="0"/>
              <a:t> </a:t>
            </a:r>
          </a:p>
          <a:p>
            <a:pPr marL="396000" lvl="2" indent="0">
              <a:buNone/>
              <a:defRPr/>
            </a:pPr>
            <a:r>
              <a:rPr lang="ko-KR" altLang="en-US" dirty="0"/>
              <a:t> 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6DDDEA81-5607-3B4C-4ECE-5CE4BDB705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14946" y="1281195"/>
            <a:ext cx="3243685" cy="491510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5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Freeflyer</a:t>
            </a:r>
            <a:r>
              <a:rPr lang="ko-KR" altLang="en-US"/>
              <a:t> 소프트웨어 선행 연구 조사</a:t>
            </a:r>
          </a:p>
        </p:txBody>
      </p:sp>
      <p:sp>
        <p:nvSpPr>
          <p:cNvPr id="10" name="내용 개체 틀 2"/>
          <p:cNvSpPr txBox="1"/>
          <p:nvPr/>
        </p:nvSpPr>
        <p:spPr>
          <a:xfrm>
            <a:off x="144418" y="1050263"/>
            <a:ext cx="8999580" cy="5376968"/>
          </a:xfrm>
          <a:prstGeom prst="rect">
            <a:avLst/>
          </a:prstGeom>
        </p:spPr>
        <p:txBody>
          <a:bodyPr vert="horz" lIns="91440" tIns="45720" rIns="91440" bIns="45720">
            <a:noAutofit/>
          </a:bodyPr>
          <a:lstStyle>
            <a:lvl1pPr marL="228600" indent="-360000" algn="l" defTabSz="914400" rtl="0" eaLnBrk="1" latinLnBrk="1" hangingPunct="1">
              <a:lnSpc>
                <a:spcPct val="100000"/>
              </a:lnSpc>
              <a:spcBef>
                <a:spcPts val="1000"/>
              </a:spcBef>
              <a:buFont typeface="Wingdings"/>
              <a:buChar char="v"/>
              <a:defRPr sz="2400" b="1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1pPr>
            <a:lvl2pPr marL="540000" indent="-324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Wingdings"/>
              <a:buChar char="u"/>
              <a:defRPr sz="1800" b="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2pPr>
            <a:lvl3pPr marL="720000" indent="-288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Wingdings"/>
              <a:buChar char="Ø"/>
              <a:defRPr sz="160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3pPr>
            <a:lvl4pPr marL="900000" indent="-252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Wingdings"/>
              <a:buChar char="ü"/>
              <a:defRPr sz="140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4pPr>
            <a:lvl5pPr marL="1080000" indent="-252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r>
              <a:rPr lang="en-US" altLang="ko-KR" dirty="0"/>
              <a:t>Revisit time</a:t>
            </a:r>
            <a:r>
              <a:rPr lang="ko-KR" altLang="en-US" dirty="0"/>
              <a:t> </a:t>
            </a:r>
          </a:p>
          <a:p>
            <a:pPr marL="396000" lvl="2" indent="0">
              <a:buNone/>
              <a:defRPr/>
            </a:pPr>
            <a:r>
              <a:rPr lang="ko-KR" altLang="en-US" dirty="0"/>
              <a:t> 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8802DF3E-4DEC-A18B-2663-66529EA573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47837" y="1785937"/>
            <a:ext cx="5648325" cy="3286125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94BA027C-734A-866F-CED6-A2BBE365E9C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16794" y="4209338"/>
            <a:ext cx="2778565" cy="1725447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876125559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6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Freeflyer</a:t>
            </a:r>
            <a:r>
              <a:rPr lang="ko-KR" altLang="en-US"/>
              <a:t> 소프트웨어 선행 연구 조사</a:t>
            </a:r>
          </a:p>
        </p:txBody>
      </p:sp>
      <p:sp>
        <p:nvSpPr>
          <p:cNvPr id="10" name="내용 개체 틀 2"/>
          <p:cNvSpPr txBox="1"/>
          <p:nvPr/>
        </p:nvSpPr>
        <p:spPr>
          <a:xfrm>
            <a:off x="144418" y="1050263"/>
            <a:ext cx="8999580" cy="5376968"/>
          </a:xfrm>
          <a:prstGeom prst="rect">
            <a:avLst/>
          </a:prstGeom>
        </p:spPr>
        <p:txBody>
          <a:bodyPr vert="horz" lIns="91440" tIns="45720" rIns="91440" bIns="45720">
            <a:noAutofit/>
          </a:bodyPr>
          <a:lstStyle>
            <a:lvl1pPr marL="228600" indent="-360000" algn="l" defTabSz="914400" rtl="0" eaLnBrk="1" latinLnBrk="1" hangingPunct="1">
              <a:lnSpc>
                <a:spcPct val="100000"/>
              </a:lnSpc>
              <a:spcBef>
                <a:spcPts val="1000"/>
              </a:spcBef>
              <a:buFont typeface="Wingdings"/>
              <a:buChar char="v"/>
              <a:defRPr sz="2400" b="1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1pPr>
            <a:lvl2pPr marL="540000" indent="-324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Wingdings"/>
              <a:buChar char="u"/>
              <a:defRPr sz="1800" b="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2pPr>
            <a:lvl3pPr marL="720000" indent="-288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Wingdings"/>
              <a:buChar char="Ø"/>
              <a:defRPr sz="160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3pPr>
            <a:lvl4pPr marL="900000" indent="-252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Wingdings"/>
              <a:buChar char="ü"/>
              <a:defRPr sz="140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4pPr>
            <a:lvl5pPr marL="1080000" indent="-252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r>
              <a:rPr lang="en-US" altLang="ko-KR" dirty="0"/>
              <a:t>Revisit time</a:t>
            </a:r>
            <a:r>
              <a:rPr lang="ko-KR" altLang="en-US" dirty="0"/>
              <a:t> </a:t>
            </a:r>
          </a:p>
          <a:p>
            <a:pPr marL="396000" lvl="2" indent="0">
              <a:buNone/>
              <a:defRPr/>
            </a:pPr>
            <a:r>
              <a:rPr lang="ko-KR" altLang="en-US" dirty="0"/>
              <a:t> 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E7B5FC14-9F09-57DB-45FF-EF863DFBAE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88364" y="1379789"/>
            <a:ext cx="3367272" cy="47179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2831318"/>
      </p:ext>
    </p:ext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7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Freeflyer</a:t>
            </a:r>
            <a:r>
              <a:rPr lang="ko-KR" altLang="en-US"/>
              <a:t> 소프트웨어 선행 연구 조사</a:t>
            </a:r>
          </a:p>
        </p:txBody>
      </p:sp>
      <p:sp>
        <p:nvSpPr>
          <p:cNvPr id="10" name="내용 개체 틀 2"/>
          <p:cNvSpPr txBox="1"/>
          <p:nvPr/>
        </p:nvSpPr>
        <p:spPr>
          <a:xfrm>
            <a:off x="144418" y="1050263"/>
            <a:ext cx="8999580" cy="5376968"/>
          </a:xfrm>
          <a:prstGeom prst="rect">
            <a:avLst/>
          </a:prstGeom>
        </p:spPr>
        <p:txBody>
          <a:bodyPr vert="horz" lIns="91440" tIns="45720" rIns="91440" bIns="45720">
            <a:noAutofit/>
          </a:bodyPr>
          <a:lstStyle>
            <a:lvl1pPr marL="228600" indent="-360000" algn="l" defTabSz="914400" rtl="0" eaLnBrk="1" latinLnBrk="1" hangingPunct="1">
              <a:lnSpc>
                <a:spcPct val="100000"/>
              </a:lnSpc>
              <a:spcBef>
                <a:spcPts val="1000"/>
              </a:spcBef>
              <a:buFont typeface="Wingdings"/>
              <a:buChar char="v"/>
              <a:defRPr sz="2400" b="1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1pPr>
            <a:lvl2pPr marL="540000" indent="-324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Wingdings"/>
              <a:buChar char="u"/>
              <a:defRPr sz="1800" b="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2pPr>
            <a:lvl3pPr marL="720000" indent="-288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Wingdings"/>
              <a:buChar char="Ø"/>
              <a:defRPr sz="160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3pPr>
            <a:lvl4pPr marL="900000" indent="-252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Wingdings"/>
              <a:buChar char="ü"/>
              <a:defRPr sz="140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4pPr>
            <a:lvl5pPr marL="1080000" indent="-252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r>
              <a:rPr lang="en-US" altLang="ko-KR" dirty="0"/>
              <a:t>Revisit time</a:t>
            </a:r>
            <a:r>
              <a:rPr lang="ko-KR" altLang="en-US" dirty="0"/>
              <a:t> </a:t>
            </a:r>
          </a:p>
          <a:p>
            <a:pPr marL="396000" lvl="2" indent="0">
              <a:buNone/>
              <a:defRPr/>
            </a:pPr>
            <a:r>
              <a:rPr lang="ko-KR" altLang="en-US" dirty="0"/>
              <a:t> 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E7B5FC14-9F09-57DB-45FF-EF863DFBAE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88364" y="1379789"/>
            <a:ext cx="3367272" cy="47179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5173874"/>
      </p:ext>
    </p:extLst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8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Freeflyer</a:t>
            </a:r>
            <a:r>
              <a:rPr lang="ko-KR" altLang="en-US"/>
              <a:t> 소프트웨어 선행 연구 조사</a:t>
            </a:r>
          </a:p>
        </p:txBody>
      </p:sp>
      <p:sp>
        <p:nvSpPr>
          <p:cNvPr id="10" name="내용 개체 틀 2"/>
          <p:cNvSpPr txBox="1"/>
          <p:nvPr/>
        </p:nvSpPr>
        <p:spPr>
          <a:xfrm>
            <a:off x="144418" y="1050263"/>
            <a:ext cx="8999580" cy="5376968"/>
          </a:xfrm>
          <a:prstGeom prst="rect">
            <a:avLst/>
          </a:prstGeom>
        </p:spPr>
        <p:txBody>
          <a:bodyPr vert="horz" lIns="91440" tIns="45720" rIns="91440" bIns="45720">
            <a:noAutofit/>
          </a:bodyPr>
          <a:lstStyle>
            <a:lvl1pPr marL="228600" indent="-360000" algn="l" defTabSz="914400" rtl="0" eaLnBrk="1" latinLnBrk="1" hangingPunct="1">
              <a:lnSpc>
                <a:spcPct val="100000"/>
              </a:lnSpc>
              <a:spcBef>
                <a:spcPts val="1000"/>
              </a:spcBef>
              <a:buFont typeface="Wingdings"/>
              <a:buChar char="v"/>
              <a:defRPr sz="2400" b="1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1pPr>
            <a:lvl2pPr marL="540000" indent="-324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Wingdings"/>
              <a:buChar char="u"/>
              <a:defRPr sz="1800" b="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2pPr>
            <a:lvl3pPr marL="720000" indent="-288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Wingdings"/>
              <a:buChar char="Ø"/>
              <a:defRPr sz="160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3pPr>
            <a:lvl4pPr marL="900000" indent="-252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Wingdings"/>
              <a:buChar char="ü"/>
              <a:defRPr sz="140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4pPr>
            <a:lvl5pPr marL="1080000" indent="-252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r>
              <a:rPr lang="en-US" altLang="ko-KR" dirty="0"/>
              <a:t>Revisit time</a:t>
            </a:r>
            <a:r>
              <a:rPr lang="ko-KR" altLang="en-US" dirty="0"/>
              <a:t> </a:t>
            </a:r>
          </a:p>
          <a:p>
            <a:pPr marL="396000" lvl="2" indent="0">
              <a:buNone/>
              <a:defRPr/>
            </a:pPr>
            <a:r>
              <a:rPr lang="ko-KR" altLang="en-US" dirty="0"/>
              <a:t> 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55B0D5E0-E4E1-1AFD-9B3F-2175066AC1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8683" y="1770435"/>
            <a:ext cx="6126634" cy="44108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3498300"/>
      </p:ext>
    </p:extLst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9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Freeflyer</a:t>
            </a:r>
            <a:r>
              <a:rPr lang="ko-KR" altLang="en-US"/>
              <a:t> 소프트웨어 선행 연구 조사</a:t>
            </a:r>
          </a:p>
        </p:txBody>
      </p:sp>
      <p:sp>
        <p:nvSpPr>
          <p:cNvPr id="10" name="내용 개체 틀 2"/>
          <p:cNvSpPr txBox="1"/>
          <p:nvPr/>
        </p:nvSpPr>
        <p:spPr>
          <a:xfrm>
            <a:off x="144418" y="1050263"/>
            <a:ext cx="8999580" cy="5376968"/>
          </a:xfrm>
          <a:prstGeom prst="rect">
            <a:avLst/>
          </a:prstGeom>
        </p:spPr>
        <p:txBody>
          <a:bodyPr vert="horz" lIns="91440" tIns="45720" rIns="91440" bIns="45720">
            <a:noAutofit/>
          </a:bodyPr>
          <a:lstStyle>
            <a:lvl1pPr marL="228600" indent="-360000" algn="l" defTabSz="914400" rtl="0" eaLnBrk="1" latinLnBrk="1" hangingPunct="1">
              <a:lnSpc>
                <a:spcPct val="100000"/>
              </a:lnSpc>
              <a:spcBef>
                <a:spcPts val="1000"/>
              </a:spcBef>
              <a:buFont typeface="Wingdings"/>
              <a:buChar char="v"/>
              <a:defRPr sz="2400" b="1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1pPr>
            <a:lvl2pPr marL="540000" indent="-324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Wingdings"/>
              <a:buChar char="u"/>
              <a:defRPr sz="1800" b="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2pPr>
            <a:lvl3pPr marL="720000" indent="-288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Wingdings"/>
              <a:buChar char="Ø"/>
              <a:defRPr sz="160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3pPr>
            <a:lvl4pPr marL="900000" indent="-252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Wingdings"/>
              <a:buChar char="ü"/>
              <a:defRPr sz="140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4pPr>
            <a:lvl5pPr marL="1080000" indent="-252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r>
              <a:rPr lang="en-US" altLang="ko-KR" dirty="0"/>
              <a:t>Revisit time</a:t>
            </a:r>
            <a:r>
              <a:rPr lang="ko-KR" altLang="en-US" dirty="0"/>
              <a:t> </a:t>
            </a:r>
          </a:p>
          <a:p>
            <a:pPr marL="396000" lvl="2" indent="0">
              <a:buNone/>
              <a:defRPr/>
            </a:pPr>
            <a:r>
              <a:rPr lang="ko-KR" altLang="en-US" dirty="0"/>
              <a:t> 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26885F81-EC24-0A22-AFC6-3D89B5FB473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5909" y="2082719"/>
            <a:ext cx="8378089" cy="35495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3702350"/>
      </p:ext>
    </p:extLst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B49133EF-F552-4618-8A24-449D405ACA1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567740"/>
            <a:ext cx="9144000" cy="3180446"/>
          </a:xfrm>
        </p:spPr>
        <p:txBody>
          <a:bodyPr/>
          <a:lstStyle/>
          <a:p>
            <a:r>
              <a:rPr lang="ko-KR" altLang="en-US" dirty="0"/>
              <a:t>경청해 주셔서 감사합니다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2" name="부제목 1">
            <a:extLst>
              <a:ext uri="{FF2B5EF4-FFF2-40B4-BE49-F238E27FC236}">
                <a16:creationId xmlns:a16="http://schemas.microsoft.com/office/drawing/2014/main" id="{BC56ECCA-CBEB-4852-BDCB-4A64F14D9B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4757433"/>
            <a:ext cx="6858000" cy="1339783"/>
          </a:xfrm>
        </p:spPr>
        <p:txBody>
          <a:bodyPr/>
          <a:lstStyle/>
          <a:p>
            <a:r>
              <a:rPr lang="ko-KR" altLang="en-US" dirty="0"/>
              <a:t>발표자</a:t>
            </a:r>
            <a:r>
              <a:rPr lang="en-US" altLang="ko-KR" dirty="0"/>
              <a:t>: </a:t>
            </a:r>
            <a:r>
              <a:rPr lang="ko-KR" altLang="en-US" dirty="0"/>
              <a:t>이진진</a:t>
            </a:r>
            <a:endParaRPr lang="en-US" altLang="ko-KR" dirty="0"/>
          </a:p>
          <a:p>
            <a:r>
              <a:rPr lang="ko-KR" altLang="en-US" dirty="0"/>
              <a:t>이메일</a:t>
            </a:r>
            <a:r>
              <a:rPr lang="en-US" altLang="ko-KR" dirty="0"/>
              <a:t>: jj95lee@yonsei.acl.kr</a:t>
            </a:r>
            <a:endParaRPr lang="ko-KR" altLang="en-US" dirty="0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B2F92A04-5E08-4877-A7E9-FFBBA1547131}"/>
              </a:ext>
            </a:extLst>
          </p:cNvPr>
          <p:cNvSpPr/>
          <p:nvPr/>
        </p:nvSpPr>
        <p:spPr>
          <a:xfrm>
            <a:off x="0" y="3604912"/>
            <a:ext cx="91440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ko-KR" altLang="en-US" sz="3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" panose="02020603050405020304" pitchFamily="18" charset="0"/>
                <a:cs typeface="times" panose="02020603050405020304" pitchFamily="18" charset="0"/>
              </a:rPr>
              <a:t>질의응답</a:t>
            </a:r>
          </a:p>
        </p:txBody>
      </p:sp>
    </p:spTree>
    <p:extLst>
      <p:ext uri="{BB962C8B-B14F-4D97-AF65-F5344CB8AC3E}">
        <p14:creationId xmlns:p14="http://schemas.microsoft.com/office/powerpoint/2010/main" val="38209856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20000000000000000000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20000000000000000000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20000000000000000000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20000000000000000000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20000000000000000000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20000000000000000000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54</TotalTime>
  <Words>175</Words>
  <Application>Microsoft Office PowerPoint</Application>
  <PresentationFormat>화면 슬라이드 쇼(4:3)</PresentationFormat>
  <Paragraphs>75</Paragraphs>
  <Slides>11</Slides>
  <Notes>9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11</vt:i4>
      </vt:variant>
    </vt:vector>
  </HeadingPairs>
  <TitlesOfParts>
    <vt:vector size="17" baseType="lpstr">
      <vt:lpstr>맑은 고딕</vt:lpstr>
      <vt:lpstr>Arial</vt:lpstr>
      <vt:lpstr>times</vt:lpstr>
      <vt:lpstr>Times New Roman</vt:lpstr>
      <vt:lpstr>Wingdings</vt:lpstr>
      <vt:lpstr>Office 테마</vt:lpstr>
      <vt:lpstr>정기 연구미팅 보고</vt:lpstr>
      <vt:lpstr>목차</vt:lpstr>
      <vt:lpstr>연구/개발 개요</vt:lpstr>
      <vt:lpstr>FreeFlyer 소프트웨어 선행 연구 조사</vt:lpstr>
      <vt:lpstr>Freeflyer 소프트웨어 선행 연구 조사</vt:lpstr>
      <vt:lpstr>Freeflyer 소프트웨어 선행 연구 조사</vt:lpstr>
      <vt:lpstr>Freeflyer 소프트웨어 선행 연구 조사</vt:lpstr>
      <vt:lpstr>Freeflyer 소프트웨어 선행 연구 조사</vt:lpstr>
      <vt:lpstr>Freeflyer 소프트웨어 선행 연구 조사</vt:lpstr>
      <vt:lpstr>Freeflyer 소프트웨어 선행 연구 조사</vt:lpstr>
      <vt:lpstr>경청해 주셔서 감사합니다.</vt:lpstr>
    </vt:vector>
  </TitlesOfParts>
  <Manager/>
  <Company>Microsoft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KimGeuk-Nam</dc:creator>
  <cp:lastModifiedBy>이진진</cp:lastModifiedBy>
  <cp:revision>3152</cp:revision>
  <dcterms:created xsi:type="dcterms:W3CDTF">2018-01-29T02:45:56Z</dcterms:created>
  <dcterms:modified xsi:type="dcterms:W3CDTF">2022-10-18T06:39:29Z</dcterms:modified>
  <cp:version>1000.0000.01</cp:version>
</cp:coreProperties>
</file>