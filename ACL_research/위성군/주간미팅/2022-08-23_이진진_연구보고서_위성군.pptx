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703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김극남" initials="김" lastIdx="0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100" d="100"/>
          <a:sy n="100" d="100"/>
        </p:scale>
        <p:origin x="2268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commentAuthors" Target="commentAuthors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2022-08-23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논문에서 다룬 두 위성에 대한 시스템 성능을 정량화 한 것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위성의 영상촬영이 가능한 지역을 의미 </a:t>
            </a:r>
            <a:r>
              <a:rPr lang="en-US" altLang="ko-KR"/>
              <a:t>-</a:t>
            </a:r>
            <a:r>
              <a:rPr lang="ko-KR" altLang="en-US"/>
              <a:t> 센서의 촬영 빈도 등이 결정되므로 중요한 성능지수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낮은 경사각의 경우</a:t>
            </a:r>
            <a:r>
              <a:rPr lang="en-US" altLang="ko-KR"/>
              <a:t>,</a:t>
            </a:r>
            <a:r>
              <a:rPr lang="ko-KR" altLang="en-US"/>
              <a:t> 접근가능지역이 현저히 줄어들지만 특정 영역만을 감시 또는 관측하기 위해서는 </a:t>
            </a:r>
            <a:endParaRPr lang="ko-KR" altLang="en-US"/>
          </a:p>
          <a:p>
            <a:pPr>
              <a:defRPr/>
            </a:pPr>
            <a:r>
              <a:rPr lang="ko-KR" altLang="en-US"/>
              <a:t>재방문주기 및 응답 주기 측면에서 더 유리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주요관측지역에 따라 경사각을 결정할 수 있음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관측지역을 재관측하는데 소요되는 시간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관측지역을 재관측하는데 소요되는 시간</a:t>
            </a:r>
            <a:endParaRPr lang="ko-KR" altLang="en-US"/>
          </a:p>
          <a:p>
            <a:pPr>
              <a:defRPr/>
            </a:pPr>
            <a:r>
              <a:rPr lang="ko-KR" altLang="en-US"/>
              <a:t>평균 시스템응답주기를 시간에 대한 함수로 표현한 식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이진진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석사과정 </a:t>
            </a:r>
            <a:r>
              <a:rPr lang="en-US" altLang="ko-KR"/>
              <a:t>2</a:t>
            </a:r>
            <a:r>
              <a:rPr lang="ko-KR" altLang="en-US"/>
              <a:t>학기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2022-08-23</a:t>
            </a: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/>
                <a:gridCol w="1188689"/>
                <a:gridCol w="1188689"/>
                <a:gridCol w="594345"/>
                <a:gridCol w="257614"/>
                <a:gridCol w="1525420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2022.07.25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2022.08.16</a:t>
                      </a: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100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Free Flyer </a:t>
                      </a: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프로그램 학습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2022.08.16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2022.08.31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/>
                <a:gridCol w="4314919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Free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Flyer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소프트웨어 </a:t>
            </a: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선행 </a:t>
            </a:r>
            <a:r>
              <a:rPr lang="ko-KR" altLang="en-US" dirty="0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Figure Of Merit (FOM)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대안에 비해 장치, 시스템 또는 방법의 성능을 특성화하는데 사용되는 수량(quantity)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2749" y="1950710"/>
            <a:ext cx="7757067" cy="37382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Figure Of Merit (FOM)</a:t>
            </a:r>
            <a:endParaRPr lang="en-US" altLang="ko-KR"/>
          </a:p>
          <a:p>
            <a:pPr lvl="1">
              <a:defRPr/>
            </a:pP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6739" y="1558668"/>
            <a:ext cx="4293196" cy="4508807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848165" y="1233641"/>
            <a:ext cx="3681195" cy="4707194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188448" y="60805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임무 운용을 위한 성능지수의 정의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커버리지 비율</a:t>
            </a:r>
            <a:r>
              <a:rPr lang="en-US" altLang="ko-KR"/>
              <a:t>(Coverage Percentages)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재방문주기</a:t>
            </a:r>
            <a:r>
              <a:rPr lang="en-US" altLang="ko-KR"/>
              <a:t>(Revisit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최대</a:t>
            </a:r>
            <a:r>
              <a:rPr lang="en-US" altLang="ko-KR"/>
              <a:t>,</a:t>
            </a:r>
            <a:r>
              <a:rPr lang="ko-KR" altLang="en-US"/>
              <a:t> 최소</a:t>
            </a:r>
            <a:r>
              <a:rPr lang="en-US" altLang="ko-KR"/>
              <a:t>,</a:t>
            </a:r>
            <a:r>
              <a:rPr lang="ko-KR" altLang="en-US"/>
              <a:t> 평균 시스템응답주기</a:t>
            </a:r>
            <a:r>
              <a:rPr lang="en-US" altLang="ko-KR"/>
              <a:t>(System Response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관측 지역과 지상국의 가시성</a:t>
            </a:r>
            <a:r>
              <a:rPr lang="en-US" altLang="ko-KR"/>
              <a:t>(Ground Stations Visibility)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조도 조건 및 태양의 위치</a:t>
            </a:r>
            <a:endParaRPr lang="ko-KR" altLang="en-US"/>
          </a:p>
          <a:p>
            <a:pPr marL="396000" lvl="2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임무 운용을 위한 성능지수의 정의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8691" y="1534704"/>
            <a:ext cx="4065556" cy="4419084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188448" y="6008603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5648" y="1596048"/>
            <a:ext cx="6977022" cy="4323676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88448" y="60043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351207" y="5520536"/>
            <a:ext cx="4572001" cy="287809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(SSO)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6212" y="1538626"/>
            <a:ext cx="7664787" cy="4359711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88448" y="60043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접근가능지역</a:t>
            </a:r>
            <a:r>
              <a:rPr lang="en-US" altLang="ko-KR"/>
              <a:t>(Accessible Area)</a:t>
            </a:r>
            <a:endParaRPr lang="en-US" altLang="ko-KR"/>
          </a:p>
          <a:p>
            <a:pPr marL="396000" lvl="2" indent="0">
              <a:buNone/>
              <a:defRPr/>
            </a:pPr>
            <a:endParaRPr lang="ko-KR" altLang="en-US"/>
          </a:p>
        </p:txBody>
      </p:sp>
      <p:sp>
        <p:nvSpPr>
          <p:cNvPr id="16" name=""/>
          <p:cNvSpPr txBox="1"/>
          <p:nvPr/>
        </p:nvSpPr>
        <p:spPr>
          <a:xfrm>
            <a:off x="188448" y="6004302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6487" y="1592955"/>
            <a:ext cx="4437101" cy="4305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재방문 주기</a:t>
            </a:r>
            <a:r>
              <a:rPr lang="en-US" altLang="ko-KR"/>
              <a:t>(Revisit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위성군이 관심 지역에 접근</a:t>
            </a:r>
            <a:r>
              <a:rPr lang="en-US" altLang="ko-KR"/>
              <a:t>(</a:t>
            </a:r>
            <a:r>
              <a:rPr lang="ko-KR" altLang="en-US"/>
              <a:t>관측</a:t>
            </a:r>
            <a:r>
              <a:rPr lang="en-US" altLang="ko-KR"/>
              <a:t>) </a:t>
            </a:r>
            <a:r>
              <a:rPr lang="ko-KR" altLang="en-US"/>
              <a:t>가능한 시간 사이의 관측 공백 시간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이 연구에서 사용한 평균 재방문 주기</a:t>
            </a: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/>
              <a:t>      = </a:t>
            </a:r>
            <a:r>
              <a:rPr lang="ko-KR" altLang="en-US"/>
              <a:t>시뮬레이션 기간 동안 발생한 모든 관측 공백 시간의 합 </a:t>
            </a:r>
            <a:r>
              <a:rPr lang="en-US" altLang="ko-KR"/>
              <a:t>/ </a:t>
            </a:r>
            <a:r>
              <a:rPr lang="ko-KR" altLang="en-US"/>
              <a:t>총 공백 횟수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최소 및 최대 재방문주기 </a:t>
            </a:r>
            <a:r>
              <a:rPr lang="en-US" altLang="ko-KR"/>
              <a:t>: </a:t>
            </a:r>
            <a:r>
              <a:rPr lang="ko-KR" altLang="en-US"/>
              <a:t>각각 전체 시뮬레이션 기간동안 기록된 재방문주기의 </a:t>
            </a: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/>
              <a:t>      </a:t>
            </a:r>
            <a:r>
              <a:rPr lang="ko-KR" altLang="en-US"/>
              <a:t>최소 및 최대값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재방문주기의 표준편차 </a:t>
            </a:r>
            <a:r>
              <a:rPr lang="en-US" altLang="ko-KR"/>
              <a:t>: </a:t>
            </a:r>
            <a:r>
              <a:rPr lang="ko-KR" altLang="en-US"/>
              <a:t>모든 재방문주기의 표본 표준편차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동역학 시뮬레이션 환경에서는 내부 영역을 </a:t>
            </a:r>
            <a:r>
              <a:rPr lang="en-US" altLang="ko-KR"/>
              <a:t>0.25</a:t>
            </a:r>
            <a:r>
              <a:rPr lang="ko-KR" altLang="en-US"/>
              <a:t>˚의 격자로 나누어 설정 </a:t>
            </a:r>
            <a:endParaRPr lang="ko-KR" altLang="en-US"/>
          </a:p>
          <a:p>
            <a:pPr marL="396000" lvl="2" indent="0">
              <a:buNone/>
              <a:defRPr/>
            </a:pP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1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9228" y="3724351"/>
            <a:ext cx="6600780" cy="2252337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905384" y="6086237"/>
            <a:ext cx="8238616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>
              <a:buFont typeface="Wingdings"/>
              <a:buNone/>
              <a:defRPr/>
            </a:pPr>
            <a:r>
              <a:rPr lang="ko-KR" altLang="en-US" sz="1300" b="1"/>
              <a:t>출처 </a:t>
            </a:r>
            <a:r>
              <a:rPr lang="en-US" altLang="ko-KR" sz="1300" b="1"/>
              <a:t>(</a:t>
            </a:r>
            <a:r>
              <a:rPr lang="ko-KR" altLang="en-US" sz="1300" b="1"/>
              <a:t>지역 커버리지 초소형 위성군 궤도 설계와 위성군 궤도 전개 연구</a:t>
            </a:r>
            <a:r>
              <a:rPr lang="en-US" altLang="ko-KR" sz="1300" b="1"/>
              <a:t>, 2020 </a:t>
            </a:r>
            <a:r>
              <a:rPr lang="ko-KR" altLang="en-US" sz="1300" b="1"/>
              <a:t>신진영</a:t>
            </a:r>
            <a:r>
              <a:rPr lang="en-US" altLang="ko-KR" sz="1300" b="1"/>
              <a:t>)</a:t>
            </a:r>
            <a:endParaRPr lang="ko-KR" alt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시스템 응답주기</a:t>
            </a:r>
            <a:r>
              <a:rPr lang="en-US" altLang="ko-KR"/>
              <a:t>(System Response Time)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사용자가 영상촬영을 요청할 때부터 활용가능한 표준영상을 받을 때까지의 시간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 응답주기가 짧을수록 임무에 대해 높은 성능을 가짐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이를 위해 재방문주기 성능 향상이 요구됨</a:t>
            </a:r>
            <a:endParaRPr lang="ko-KR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58461" y="3062287"/>
            <a:ext cx="1771650" cy="733425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16936" y="2514604"/>
            <a:ext cx="7064888" cy="3636339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36766" y="6127921"/>
            <a:ext cx="8238617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187996" y="1852508"/>
            <a:ext cx="1771650" cy="733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궤도면의 수에 따른 재방문주기</a:t>
            </a:r>
            <a:endParaRPr lang="ko-KR" altLang="en-US"/>
          </a:p>
        </p:txBody>
      </p:sp>
      <p:sp>
        <p:nvSpPr>
          <p:cNvPr id="19" name=""/>
          <p:cNvSpPr txBox="1"/>
          <p:nvPr/>
        </p:nvSpPr>
        <p:spPr>
          <a:xfrm>
            <a:off x="36766" y="6127921"/>
            <a:ext cx="8238617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031" y="2443428"/>
            <a:ext cx="4480129" cy="2339852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23557" y="2093145"/>
            <a:ext cx="3875742" cy="34193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궤도면의 수에 따른 시스템응답주기</a:t>
            </a:r>
            <a:endParaRPr lang="ko-KR" altLang="en-US"/>
          </a:p>
        </p:txBody>
      </p:sp>
      <p:sp>
        <p:nvSpPr>
          <p:cNvPr id="19" name=""/>
          <p:cNvSpPr txBox="1"/>
          <p:nvPr/>
        </p:nvSpPr>
        <p:spPr>
          <a:xfrm>
            <a:off x="36766" y="6127921"/>
            <a:ext cx="8238617" cy="292171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(SAR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군집위성의 성능지수 및 영상촬영능력 분석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2019 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송수아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7351" y="2364965"/>
            <a:ext cx="4666635" cy="2455745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93769" y="2055967"/>
            <a:ext cx="3832730" cy="3360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연구계획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r>
              <a:rPr lang="en-US" altLang="ko-KR"/>
              <a:t>Freeflyer</a:t>
            </a:r>
            <a:r>
              <a:rPr lang="ko-KR" altLang="en-US"/>
              <a:t>를 통한 시뮬레이션</a:t>
            </a:r>
            <a:r>
              <a:rPr lang="en-US" altLang="ko-KR"/>
              <a:t> </a:t>
            </a:r>
            <a:r>
              <a:rPr lang="ko-KR" altLang="en-US"/>
              <a:t>실행 방법 익히기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석사논문에 기재된 궤도 중 하나를 선정하여 적용해보기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이를 통해 성능지수 도출해보기</a:t>
            </a:r>
            <a:endParaRPr lang="ko-KR" altLang="en-US"/>
          </a:p>
          <a:p>
            <a:pPr marL="216000" lvl="1" indent="0">
              <a:buNone/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Microsoft</ep:Company>
  <ep:Words>392</ep:Words>
  <ep:PresentationFormat>화면 슬라이드 쇼(4:3)</ep:PresentationFormat>
  <ep:Paragraphs>85</ep:Paragraphs>
  <ep:Slides>18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테마</vt:lpstr>
      <vt:lpstr>정기 연구미팅 보고</vt:lpstr>
      <vt:lpstr>목차</vt:lpstr>
      <vt:lpstr>연구/개발 개요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결론</vt:lpstr>
      <vt:lpstr>요약 및 연구계획</vt:lpstr>
      <vt:lpstr>경청해 주셔서 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2018-01-29T02:45:56.000</dcterms:created>
  <dc:creator>KimGeuk-Nam</dc:creator>
  <cp:lastModifiedBy>ACL2022_13</cp:lastModifiedBy>
  <dcterms:modified xsi:type="dcterms:W3CDTF">2022-08-23T04:54:57.689</dcterms:modified>
  <cp:revision>3118</cp:revision>
  <dc:title>PowerPoint 프레젠테이션</dc:title>
  <cp:version>1000.0000.01</cp:version>
</cp:coreProperties>
</file>