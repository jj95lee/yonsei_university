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3100" r:id="rId2"/>
    <p:sldId id="3101" r:id="rId3"/>
    <p:sldId id="3103" r:id="rId4"/>
    <p:sldId id="3112" r:id="rId5"/>
    <p:sldId id="3113" r:id="rId6"/>
    <p:sldId id="2406" r:id="rId7"/>
    <p:sldId id="2347" r:id="rId8"/>
    <p:sldId id="2349" r:id="rId9"/>
    <p:sldId id="2352" r:id="rId10"/>
    <p:sldId id="2386" r:id="rId11"/>
    <p:sldId id="3104" r:id="rId12"/>
    <p:sldId id="2553" r:id="rId13"/>
    <p:sldId id="2573" r:id="rId14"/>
    <p:sldId id="2558" r:id="rId15"/>
    <p:sldId id="3114" r:id="rId16"/>
    <p:sldId id="3115" r:id="rId17"/>
    <p:sldId id="3118" r:id="rId18"/>
    <p:sldId id="3116" r:id="rId19"/>
    <p:sldId id="3117" r:id="rId20"/>
    <p:sldId id="3119" r:id="rId21"/>
    <p:sldId id="3120" r:id="rId22"/>
    <p:sldId id="3121" r:id="rId23"/>
    <p:sldId id="3122" r:id="rId24"/>
    <p:sldId id="3123" r:id="rId25"/>
    <p:sldId id="3124" r:id="rId26"/>
    <p:sldId id="2516" r:id="rId27"/>
    <p:sldId id="2522" r:id="rId28"/>
    <p:sldId id="3125" r:id="rId29"/>
    <p:sldId id="2547" r:id="rId30"/>
    <p:sldId id="2536" r:id="rId31"/>
    <p:sldId id="2538" r:id="rId32"/>
    <p:sldId id="2555" r:id="rId33"/>
    <p:sldId id="2559" r:id="rId34"/>
    <p:sldId id="2537" r:id="rId35"/>
    <p:sldId id="2539" r:id="rId36"/>
    <p:sldId id="2556" r:id="rId37"/>
    <p:sldId id="2557" r:id="rId38"/>
    <p:sldId id="2509" r:id="rId39"/>
    <p:sldId id="2561" r:id="rId40"/>
    <p:sldId id="2562" r:id="rId41"/>
    <p:sldId id="2563" r:id="rId42"/>
    <p:sldId id="2564" r:id="rId43"/>
    <p:sldId id="2565" r:id="rId44"/>
    <p:sldId id="2568" r:id="rId45"/>
    <p:sldId id="2567" r:id="rId46"/>
    <p:sldId id="2566" r:id="rId47"/>
    <p:sldId id="2572" r:id="rId48"/>
    <p:sldId id="2551" r:id="rId49"/>
    <p:sldId id="2552" r:id="rId50"/>
    <p:sldId id="2359" r:id="rId51"/>
    <p:sldId id="2372" r:id="rId52"/>
    <p:sldId id="2405" r:id="rId53"/>
    <p:sldId id="2374" r:id="rId54"/>
    <p:sldId id="2407" r:id="rId55"/>
    <p:sldId id="2337" r:id="rId56"/>
    <p:sldId id="2366" r:id="rId57"/>
    <p:sldId id="2426" r:id="rId58"/>
    <p:sldId id="2369" r:id="rId59"/>
    <p:sldId id="2427" r:id="rId60"/>
    <p:sldId id="2371" r:id="rId61"/>
    <p:sldId id="2408" r:id="rId62"/>
    <p:sldId id="2373" r:id="rId63"/>
    <p:sldId id="2409" r:id="rId64"/>
    <p:sldId id="2413" r:id="rId65"/>
    <p:sldId id="2423" r:id="rId66"/>
    <p:sldId id="3107" r:id="rId67"/>
    <p:sldId id="3106" r:id="rId68"/>
    <p:sldId id="3109" r:id="rId69"/>
    <p:sldId id="3111" r:id="rId70"/>
    <p:sldId id="3110" r:id="rId7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86055" autoAdjust="0"/>
  </p:normalViewPr>
  <p:slideViewPr>
    <p:cSldViewPr snapToGrid="0" showGuides="1">
      <p:cViewPr varScale="1">
        <p:scale>
          <a:sx n="98" d="100"/>
          <a:sy n="98" d="100"/>
        </p:scale>
        <p:origin x="22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87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l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 </a:t>
            </a:r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 3. SAR</a:t>
            </a:r>
            <a:r>
              <a:rPr lang="ko-KR" altLang="en-US" dirty="0"/>
              <a:t>가 관심지역을 스캔 </a:t>
            </a:r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r>
              <a:rPr lang="en-US" altLang="ko-KR" dirty="0"/>
              <a:t>(</a:t>
            </a:r>
            <a:r>
              <a:rPr lang="en-US" altLang="ko-KR" b="0" i="0" dirty="0">
                <a:solidFill>
                  <a:srgbClr val="4D5156"/>
                </a:solidFill>
                <a:effectLst/>
                <a:latin typeface="Apple SD Gothic Neo"/>
              </a:rPr>
              <a:t>Automatic Identification System</a:t>
            </a:r>
            <a:r>
              <a:rPr lang="en-US" altLang="ko-KR" dirty="0"/>
              <a:t>) 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 </a:t>
            </a:r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 </a:t>
            </a:r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 </a:t>
            </a:r>
            <a:r>
              <a:rPr lang="en-US" altLang="ko-KR" dirty="0"/>
              <a:t>8. </a:t>
            </a:r>
            <a:r>
              <a:rPr lang="ko-KR" altLang="en-US" dirty="0"/>
              <a:t>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 </a:t>
            </a:r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 </a:t>
            </a:r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65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965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77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425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778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46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5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668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193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09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232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40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339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16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식을 모두 만족하면서 </a:t>
            </a:r>
            <a:r>
              <a:rPr lang="en-US" altLang="ko-KR" dirty="0"/>
              <a:t>Z </a:t>
            </a:r>
            <a:r>
              <a:rPr lang="ko-KR" altLang="en-US" dirty="0"/>
              <a:t>값을 최소화 하는 과정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가지치기처럼 </a:t>
            </a:r>
            <a:r>
              <a:rPr lang="en-US" altLang="ko-KR" dirty="0"/>
              <a:t>x1</a:t>
            </a:r>
            <a:r>
              <a:rPr lang="ko-KR" altLang="en-US" dirty="0"/>
              <a:t>부터 순차적으로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의 값을 각각 대입했을 때 </a:t>
            </a:r>
            <a:endParaRPr lang="en-US" altLang="ko-KR" dirty="0"/>
          </a:p>
          <a:p>
            <a:r>
              <a:rPr lang="ko-KR" altLang="en-US" dirty="0"/>
              <a:t>가능한 </a:t>
            </a:r>
            <a:r>
              <a:rPr lang="en-US" altLang="ko-KR" dirty="0"/>
              <a:t>Z </a:t>
            </a:r>
            <a:r>
              <a:rPr lang="ko-KR" altLang="en-US" dirty="0"/>
              <a:t>값을 하나씩 </a:t>
            </a:r>
            <a:r>
              <a:rPr lang="ko-KR" altLang="en-US" dirty="0" err="1"/>
              <a:t>구해나가면서</a:t>
            </a:r>
            <a:r>
              <a:rPr lang="en-US" altLang="ko-KR" dirty="0"/>
              <a:t>, </a:t>
            </a:r>
            <a:r>
              <a:rPr lang="ko-KR" altLang="en-US" dirty="0"/>
              <a:t>어떤 경우에도 불가능한 상황을 </a:t>
            </a:r>
            <a:r>
              <a:rPr lang="ko-KR" altLang="en-US" dirty="0" err="1"/>
              <a:t>지워버림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지우고 난 여러 상황 중 가장 최소화된 해를</a:t>
            </a:r>
            <a:r>
              <a:rPr lang="en-US" altLang="ko-KR" dirty="0"/>
              <a:t>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최적화된 경우를 찾는다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위성운용에 적용 </a:t>
            </a:r>
            <a:r>
              <a:rPr lang="en-US" altLang="ko-KR" dirty="0"/>
              <a:t>ex) </a:t>
            </a:r>
            <a:r>
              <a:rPr lang="ko-KR" altLang="en-US" dirty="0"/>
              <a:t>주어진 제한 조건 범위 내에서 원하는 운용 개념을 만족하기 위한 최소의 위성</a:t>
            </a:r>
            <a:endParaRPr lang="en-US" altLang="ko-KR" dirty="0"/>
          </a:p>
          <a:p>
            <a:r>
              <a:rPr lang="ko-KR" altLang="en-US" dirty="0"/>
              <a:t>앞에서부터 순서대로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인 상황으로 가정하기 때문에 여러 제한 조건 중 가장 </a:t>
            </a:r>
            <a:r>
              <a:rPr lang="en-US" altLang="ko-KR" dirty="0"/>
              <a:t>critical</a:t>
            </a:r>
            <a:r>
              <a:rPr lang="ko-KR" altLang="en-US" dirty="0"/>
              <a:t>한 순서로 </a:t>
            </a:r>
            <a:r>
              <a:rPr lang="en-US" altLang="ko-KR" dirty="0"/>
              <a:t>x1, x2.. </a:t>
            </a:r>
            <a:r>
              <a:rPr lang="ko-KR" altLang="en-US" dirty="0"/>
              <a:t>이렇게 비중을 정할 수 있음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437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최대화 하는 </a:t>
            </a:r>
            <a:r>
              <a:rPr lang="en-US" altLang="ko-KR" dirty="0"/>
              <a:t>Z </a:t>
            </a:r>
            <a:r>
              <a:rPr lang="ko-KR" altLang="en-US" dirty="0"/>
              <a:t>값을 구하도록 최적화 하는 과정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579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0061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7734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567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period, 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RGT </a:t>
            </a:r>
            <a:r>
              <a:rPr lang="ko-KR" altLang="en-US" dirty="0"/>
              <a:t>궤도에 </a:t>
            </a:r>
            <a:r>
              <a:rPr lang="ko-KR" altLang="en-US"/>
              <a:t>있는 위성이 </a:t>
            </a:r>
            <a:r>
              <a:rPr lang="ko-KR" altLang="en-US" dirty="0"/>
              <a:t>회전 </a:t>
            </a:r>
            <a:r>
              <a:rPr lang="ko-KR" altLang="en-US"/>
              <a:t>수 </a:t>
            </a:r>
            <a:r>
              <a:rPr lang="en-US" altLang="ko-KR"/>
              <a:t>NP</a:t>
            </a:r>
            <a:r>
              <a:rPr lang="ko-KR" altLang="en-US"/>
              <a:t>를 만든다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6222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61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831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252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28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259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3035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9902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575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8124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8024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610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175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9432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0720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2978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9164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64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22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39530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874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51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0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gi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918858"/>
            <a:ext cx="6858000" cy="1840062"/>
          </a:xfrm>
        </p:spPr>
        <p:txBody>
          <a:bodyPr>
            <a:normAutofit/>
          </a:bodyPr>
          <a:lstStyle/>
          <a:p>
            <a:r>
              <a:rPr lang="en-US" altLang="ko-KR" dirty="0"/>
              <a:t>2023-07-28</a:t>
            </a:r>
          </a:p>
          <a:p>
            <a:endParaRPr lang="en-US" altLang="ko-KR" dirty="0"/>
          </a:p>
          <a:p>
            <a:r>
              <a:rPr lang="ko-KR" altLang="en-US" dirty="0"/>
              <a:t>박상영 </a:t>
            </a:r>
            <a:r>
              <a:rPr lang="en-US" altLang="ko-KR" dirty="0"/>
              <a:t>(</a:t>
            </a:r>
            <a:r>
              <a:rPr lang="ko-KR" altLang="en-US" dirty="0"/>
              <a:t>연구책임자</a:t>
            </a:r>
            <a:r>
              <a:rPr lang="en-US" altLang="ko-KR" dirty="0"/>
              <a:t>), </a:t>
            </a:r>
            <a:r>
              <a:rPr lang="ko-KR" altLang="en-US" dirty="0" err="1"/>
              <a:t>이진진</a:t>
            </a:r>
            <a:r>
              <a:rPr lang="en-US" altLang="ko-KR" dirty="0"/>
              <a:t>, </a:t>
            </a:r>
            <a:r>
              <a:rPr lang="ko-KR" altLang="en-US" dirty="0"/>
              <a:t>전수빈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연세대학교</a:t>
            </a:r>
            <a:r>
              <a:rPr lang="en-US" altLang="ko-KR" dirty="0"/>
              <a:t>, </a:t>
            </a:r>
            <a:r>
              <a:rPr lang="ko-KR" altLang="en-US" dirty="0"/>
              <a:t>천문우주학과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83155"/>
            <a:ext cx="9144000" cy="2226189"/>
          </a:xfrm>
        </p:spPr>
        <p:txBody>
          <a:bodyPr/>
          <a:lstStyle/>
          <a:p>
            <a:r>
              <a:rPr lang="ko-KR" altLang="en-US" dirty="0"/>
              <a:t>이종위성군 궤도설계</a:t>
            </a:r>
          </a:p>
        </p:txBody>
      </p:sp>
    </p:spTree>
    <p:extLst>
      <p:ext uri="{BB962C8B-B14F-4D97-AF65-F5344CB8AC3E}">
        <p14:creationId xmlns:p14="http://schemas.microsoft.com/office/powerpoint/2010/main" val="386895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AE9B9-E45F-2308-7022-2DD345D7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EEA1B5-305B-E72A-A2CE-6080414A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B28C21B-46EB-76C0-7E48-B92212ADB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36998"/>
              </p:ext>
            </p:extLst>
          </p:nvPr>
        </p:nvGraphicFramePr>
        <p:xfrm>
          <a:off x="1716231" y="1056987"/>
          <a:ext cx="6096000" cy="4744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71437417"/>
                    </a:ext>
                  </a:extLst>
                </a:gridCol>
              </a:tblGrid>
              <a:tr h="94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연구배경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113803"/>
                  </a:ext>
                </a:extLst>
              </a:tr>
              <a:tr h="94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연구진행상황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087604"/>
                  </a:ext>
                </a:extLst>
              </a:tr>
              <a:tr h="94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연구추진 계획안 논의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580550"/>
                  </a:ext>
                </a:extLst>
              </a:tr>
              <a:tr h="948805"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368427"/>
                  </a:ext>
                </a:extLst>
              </a:tr>
              <a:tr h="948805"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587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65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E990B49-9D58-2EE0-DD37-2EB9D5ACA2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연구배경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413D62-0B25-8728-0F2B-B3549E01A4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248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001F22-72C1-A276-9FD6-24791FE8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DB9D9-86B9-C3F0-E6F1-779BA90C1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연구의 필요성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시스템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다수의 초소형위성을 사용</a:t>
            </a:r>
            <a:endParaRPr lang="en-US" altLang="ko-KR" dirty="0"/>
          </a:p>
          <a:p>
            <a:pPr lvl="2">
              <a:defRPr/>
            </a:pPr>
            <a:r>
              <a:rPr lang="ko-KR" altLang="en-US" b="1" u="sng" dirty="0"/>
              <a:t>개발 기간</a:t>
            </a:r>
            <a:r>
              <a:rPr lang="en-US" altLang="ko-KR" b="1" u="sng" dirty="0"/>
              <a:t>/</a:t>
            </a:r>
            <a:r>
              <a:rPr lang="ko-KR" altLang="en-US" b="1" u="sng" dirty="0"/>
              <a:t>비용 대비 운용 효율</a:t>
            </a:r>
            <a:endParaRPr lang="en-US" altLang="ko-KR" b="1" u="sng" dirty="0"/>
          </a:p>
          <a:p>
            <a:pPr lvl="2">
              <a:defRPr/>
            </a:pPr>
            <a:r>
              <a:rPr lang="ko-KR" altLang="en-US" b="1" u="sng" dirty="0"/>
              <a:t>우주 임무 수행의 확장성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/>
              <a:t>이종위성군</a:t>
            </a:r>
            <a:endParaRPr lang="en-US" altLang="ko-KR" sz="1800" dirty="0"/>
          </a:p>
          <a:p>
            <a:pPr lvl="2">
              <a:defRPr/>
            </a:pPr>
            <a:r>
              <a:rPr lang="ko-KR" altLang="en-US" dirty="0"/>
              <a:t>동일 위성으로 이루어진 위성군에 비하여 </a:t>
            </a:r>
            <a:r>
              <a:rPr lang="ko-KR" altLang="en-US" b="1" u="sng" dirty="0"/>
              <a:t>운용 자유도가 높음</a:t>
            </a:r>
            <a:endParaRPr lang="en-US" altLang="ko-KR" b="1" u="sng" dirty="0"/>
          </a:p>
          <a:p>
            <a:pPr lvl="2">
              <a:defRPr/>
            </a:pPr>
            <a:r>
              <a:rPr lang="ko-KR" altLang="en-US" dirty="0"/>
              <a:t>이를 고려한 운용 개념 도출 및 설계</a:t>
            </a:r>
            <a:r>
              <a:rPr lang="en-US" altLang="ko-KR" dirty="0"/>
              <a:t>/</a:t>
            </a:r>
            <a:r>
              <a:rPr lang="ko-KR" altLang="en-US" dirty="0"/>
              <a:t>최적화가 필요함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과제의 연구 목표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요구도 분석을 활용해 이종위성군의 </a:t>
            </a:r>
            <a:r>
              <a:rPr lang="ko-KR" altLang="en-US" b="1" u="sng" dirty="0"/>
              <a:t>운용개념을 도출</a:t>
            </a:r>
            <a:endParaRPr lang="en-US" altLang="ko-KR" b="1" u="sng" dirty="0"/>
          </a:p>
          <a:p>
            <a:pPr lvl="2">
              <a:defRPr/>
            </a:pPr>
            <a:r>
              <a:rPr lang="ko-KR" altLang="en-US" dirty="0"/>
              <a:t>체계적으로 </a:t>
            </a:r>
            <a:r>
              <a:rPr lang="ko-KR" altLang="en-US" b="1" u="sng" dirty="0"/>
              <a:t>위성군을 설계</a:t>
            </a:r>
            <a:r>
              <a:rPr lang="en-US" altLang="ko-KR" b="1" u="sng" dirty="0"/>
              <a:t>/</a:t>
            </a:r>
            <a:r>
              <a:rPr lang="ko-KR" altLang="en-US" b="1" u="sng" dirty="0"/>
              <a:t>최적화</a:t>
            </a:r>
            <a:r>
              <a:rPr lang="ko-KR" altLang="en-US" dirty="0"/>
              <a:t>할 수 있는 툴을 개발하고자 함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A38BF0B-6A0B-E926-788D-05E5F12F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연구의 필요성</a:t>
            </a:r>
          </a:p>
        </p:txBody>
      </p:sp>
    </p:spTree>
    <p:extLst>
      <p:ext uri="{BB962C8B-B14F-4D97-AF65-F5344CB8AC3E}">
        <p14:creationId xmlns:p14="http://schemas.microsoft.com/office/powerpoint/2010/main" val="200875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6400E0-1F20-BB70-2831-0A3B42F9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9EE589-A470-18F8-5573-25F75F11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연구배경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 err="1"/>
              <a:t>위성군</a:t>
            </a:r>
            <a:r>
              <a:rPr lang="en-US" altLang="ko-KR" sz="1800" dirty="0"/>
              <a:t>(satellite</a:t>
            </a:r>
            <a:r>
              <a:rPr lang="ko-KR" altLang="en-US" sz="1800" dirty="0"/>
              <a:t> </a:t>
            </a:r>
            <a:r>
              <a:rPr lang="en-US" altLang="ko-KR" sz="1800" dirty="0"/>
              <a:t>Constellation)</a:t>
            </a:r>
          </a:p>
          <a:p>
            <a:pPr lvl="2">
              <a:defRPr/>
            </a:pPr>
            <a:r>
              <a:rPr lang="ko-KR" altLang="en-US" dirty="0"/>
              <a:t>동일목적으로 운용되는 위성의 집합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초소형위성 산업이 발전함에 따라 주목받고 있는 개념</a:t>
            </a:r>
          </a:p>
          <a:p>
            <a:pPr lvl="1">
              <a:defRPr/>
            </a:pPr>
            <a:r>
              <a:rPr lang="ko-KR" altLang="en-US" dirty="0"/>
              <a:t>이종위성군</a:t>
            </a:r>
            <a:r>
              <a:rPr lang="en-US" altLang="ko-KR" dirty="0"/>
              <a:t>(Heterogeneous Constellation)</a:t>
            </a:r>
          </a:p>
          <a:p>
            <a:pPr lvl="2">
              <a:defRPr/>
            </a:pPr>
            <a:r>
              <a:rPr lang="ko-KR" altLang="en-US" dirty="0"/>
              <a:t>동일한 시간동안 표적에 대해 다양한 정보를 획득하여 보다 효율적인 임무수행이 가능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Ex. </a:t>
            </a: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임무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궤도평면 당 </a:t>
            </a:r>
            <a:r>
              <a:rPr lang="en-US" altLang="ko-KR" dirty="0"/>
              <a:t>SAR </a:t>
            </a:r>
            <a:r>
              <a:rPr lang="ko-KR" altLang="en-US" dirty="0"/>
              <a:t>위성 </a:t>
            </a:r>
            <a:r>
              <a:rPr lang="en-US" altLang="ko-KR" dirty="0"/>
              <a:t>4</a:t>
            </a:r>
            <a:r>
              <a:rPr lang="ko-KR" altLang="en-US" dirty="0"/>
              <a:t>기와 </a:t>
            </a:r>
            <a:r>
              <a:rPr lang="en-US" altLang="ko-KR" dirty="0"/>
              <a:t>EO</a:t>
            </a:r>
            <a:r>
              <a:rPr lang="ko-KR" altLang="en-US" dirty="0"/>
              <a:t>위성 </a:t>
            </a:r>
            <a:r>
              <a:rPr lang="en-US" altLang="ko-KR" dirty="0"/>
              <a:t>4</a:t>
            </a:r>
            <a:r>
              <a:rPr lang="ko-KR" altLang="en-US" dirty="0"/>
              <a:t>기를 배치하여 극궤도와 경사궤도에서 운용함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과제의 궁극적인 목적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감시정찰</a:t>
            </a:r>
            <a:r>
              <a:rPr lang="en-US" altLang="ko-KR" dirty="0"/>
              <a:t>/</a:t>
            </a:r>
            <a:r>
              <a:rPr lang="ko-KR" altLang="en-US" dirty="0"/>
              <a:t>재난 모니터링 임무를 수행하는 이종위성군</a:t>
            </a:r>
            <a:endParaRPr lang="en-US" altLang="ko-KR" dirty="0"/>
          </a:p>
          <a:p>
            <a:pPr lvl="2">
              <a:defRPr/>
            </a:pPr>
            <a:r>
              <a:rPr lang="ko-KR" altLang="en-US" b="1" u="sng" dirty="0"/>
              <a:t>운용성능을 최적화하는 궤도를 설계</a:t>
            </a:r>
            <a:endParaRPr lang="en-US" altLang="ko-KR" b="1" u="sng" dirty="0"/>
          </a:p>
          <a:p>
            <a:pPr lvl="2">
              <a:defRPr/>
            </a:pPr>
            <a:r>
              <a:rPr lang="ko-KR" altLang="en-US" b="1" u="sng" dirty="0"/>
              <a:t>최적궤도에 위성들을 배치</a:t>
            </a:r>
            <a:r>
              <a:rPr lang="ko-KR" altLang="en-US" dirty="0"/>
              <a:t>하여 위성군의 성능을 검증</a:t>
            </a:r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D1AB051-24F1-09FE-FA46-E5EEE99F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연구배경</a:t>
            </a:r>
          </a:p>
        </p:txBody>
      </p:sp>
    </p:spTree>
    <p:extLst>
      <p:ext uri="{BB962C8B-B14F-4D97-AF65-F5344CB8AC3E}">
        <p14:creationId xmlns:p14="http://schemas.microsoft.com/office/powerpoint/2010/main" val="102718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두 가지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혼합한 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ko-KR" altLang="en-US" dirty="0"/>
              <a:t>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 운용하여 얻을 수 있는 기대효과 예측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연구방법</a:t>
            </a:r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의 궤도 및 탑재체의 특성 분석</a:t>
            </a:r>
            <a:endParaRPr lang="en-US" altLang="ko-KR" dirty="0"/>
          </a:p>
          <a:p>
            <a:pPr lvl="1"/>
            <a:r>
              <a:rPr lang="ko-KR" altLang="en-US" dirty="0"/>
              <a:t>제한조건 및 운용개념에 따라 궤도 설계</a:t>
            </a:r>
            <a:endParaRPr lang="en-US" altLang="ko-KR" dirty="0"/>
          </a:p>
          <a:p>
            <a:pPr lvl="1"/>
            <a:r>
              <a:rPr lang="ko-KR" altLang="en-US" dirty="0"/>
              <a:t>두 </a:t>
            </a:r>
            <a:r>
              <a:rPr lang="ko-KR" altLang="en-US" dirty="0" err="1"/>
              <a:t>위성군</a:t>
            </a:r>
            <a:r>
              <a:rPr lang="ko-KR" altLang="en-US" dirty="0"/>
              <a:t> 간의 상호 보완으로 </a:t>
            </a:r>
            <a:r>
              <a:rPr lang="en-US" altLang="ko-KR" dirty="0" err="1"/>
              <a:t>OptiSAR</a:t>
            </a:r>
            <a:r>
              <a:rPr lang="ko-KR" altLang="en-US" dirty="0"/>
              <a:t>의 성능 최대화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기능을 하는 두 종류의 위성군을 </a:t>
            </a:r>
            <a:r>
              <a:rPr lang="en-US" altLang="ko-KR" dirty="0"/>
              <a:t>Cross-Cueing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각각의</a:t>
            </a:r>
            <a:r>
              <a:rPr lang="en-US" altLang="ko-KR" dirty="0"/>
              <a:t> </a:t>
            </a:r>
            <a:r>
              <a:rPr lang="ko-KR" altLang="en-US" dirty="0"/>
              <a:t>기능의 장점만을 이용하여 최적화된 동선</a:t>
            </a:r>
            <a:r>
              <a:rPr lang="en-US" altLang="ko-KR" dirty="0"/>
              <a:t>(Schedule)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선행연구조사 </a:t>
            </a:r>
            <a:r>
              <a:rPr lang="en-US" altLang="ko-KR" dirty="0"/>
              <a:t>(</a:t>
            </a:r>
            <a:r>
              <a:rPr lang="en-US" altLang="ko-KR" dirty="0" err="1"/>
              <a:t>OptiSAR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334379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선행연구조사 </a:t>
            </a:r>
            <a:r>
              <a:rPr lang="en-US" altLang="ko-KR" dirty="0"/>
              <a:t>(</a:t>
            </a:r>
            <a:r>
              <a:rPr lang="en-US" altLang="ko-KR" dirty="0" err="1"/>
              <a:t>OptiSAR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25086"/>
              </p:ext>
            </p:extLst>
          </p:nvPr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선행연구조사 </a:t>
            </a:r>
            <a:r>
              <a:rPr lang="en-US" altLang="ko-KR" dirty="0"/>
              <a:t>(</a:t>
            </a:r>
            <a:r>
              <a:rPr lang="en-US" altLang="ko-KR" dirty="0" err="1"/>
              <a:t>OptiSAR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 – </a:t>
            </a:r>
            <a:r>
              <a:rPr lang="ko-KR" altLang="en-US" dirty="0"/>
              <a:t>각 탑재체의 역할</a:t>
            </a:r>
            <a:endParaRPr lang="en-US" altLang="ko-KR" dirty="0"/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D3918E-424D-5B54-AFCD-FB95C4E88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729" y="868825"/>
            <a:ext cx="9144000" cy="59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선행연구조사 </a:t>
            </a:r>
            <a:r>
              <a:rPr lang="en-US" altLang="ko-KR" dirty="0"/>
              <a:t>(</a:t>
            </a:r>
            <a:r>
              <a:rPr lang="en-US" altLang="ko-KR" dirty="0" err="1"/>
              <a:t>OptiSAR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 – </a:t>
            </a:r>
            <a:r>
              <a:rPr lang="ko-KR" altLang="en-US" dirty="0"/>
              <a:t>단계별 과정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선행연구조사 </a:t>
            </a:r>
            <a:r>
              <a:rPr lang="en-US" altLang="ko-KR" dirty="0"/>
              <a:t>(</a:t>
            </a:r>
            <a:r>
              <a:rPr lang="en-US" altLang="ko-KR" dirty="0" err="1"/>
              <a:t>OptiSAR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sz="1800" b="0" dirty="0"/>
          </a:p>
          <a:p>
            <a:pPr lvl="1"/>
            <a:r>
              <a:rPr lang="ko-KR" altLang="en-US" dirty="0"/>
              <a:t>광학위성 및 </a:t>
            </a:r>
            <a:r>
              <a:rPr lang="en-US" altLang="ko-KR" dirty="0"/>
              <a:t>SAR </a:t>
            </a:r>
            <a:r>
              <a:rPr lang="ko-KR" altLang="en-US" dirty="0"/>
              <a:t>위성의 </a:t>
            </a:r>
            <a:r>
              <a:rPr lang="en-US" altLang="ko-KR" dirty="0"/>
              <a:t>Cross-cueing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ko-KR" altLang="en-US" b="1" u="sng" dirty="0"/>
              <a:t>각 탑재체의 장점만을 이용</a:t>
            </a:r>
            <a:r>
              <a:rPr lang="ko-KR" altLang="en-US" dirty="0"/>
              <a:t>한 </a:t>
            </a:r>
            <a:r>
              <a:rPr lang="ko-KR" altLang="en-US" dirty="0" err="1"/>
              <a:t>위성군</a:t>
            </a:r>
            <a:r>
              <a:rPr lang="ko-KR" altLang="en-US" dirty="0"/>
              <a:t> 운용 가능</a:t>
            </a:r>
            <a:endParaRPr lang="en-US" altLang="ko-KR" dirty="0"/>
          </a:p>
          <a:p>
            <a:pPr lvl="1"/>
            <a:r>
              <a:rPr lang="ko-KR" altLang="en-US" dirty="0"/>
              <a:t>고해상도 및 넓은 범위의 영상에 대한 근본적인 과제를 해결하기 위해서는 더 많은 연구가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</a:t>
            </a:r>
            <a:r>
              <a:rPr lang="en-US" altLang="ko-KR" dirty="0"/>
              <a:t> </a:t>
            </a:r>
            <a:r>
              <a:rPr lang="ko-KR" altLang="en-US" dirty="0"/>
              <a:t>부분</a:t>
            </a:r>
            <a:endParaRPr lang="en-US" altLang="ko-KR" dirty="0"/>
          </a:p>
          <a:p>
            <a:pPr lvl="1"/>
            <a:r>
              <a:rPr lang="ko-KR" altLang="en-US" dirty="0"/>
              <a:t>시뮬레이션의 결과 및 이종위성군의 기대 효과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논문에서 다룬 위성 외에 다른 종류의 탑재체에 </a:t>
            </a:r>
            <a:r>
              <a:rPr lang="en-US" altLang="ko-KR" dirty="0"/>
              <a:t>Cross-cueing</a:t>
            </a:r>
            <a:r>
              <a:rPr lang="ko-KR" altLang="en-US" dirty="0"/>
              <a:t> 방법을 적용하여 얻을 수 있는 기대효과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8D04409-0CB9-806C-8320-A96D05B0B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연구진행상황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D05933-B440-E8B5-9BB9-12FB5788D3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96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목표 및 자료조사에 참고한 논문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dirty="0"/>
              <a:t>선행연구 목표</a:t>
            </a:r>
            <a:r>
              <a:rPr lang="en-US" altLang="ko-KR" sz="1800" dirty="0"/>
              <a:t> 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최적화를 위한 자료수집 </a:t>
            </a:r>
            <a:endParaRPr lang="en-US" altLang="ko-KR" sz="1800" dirty="0"/>
          </a:p>
          <a:p>
            <a:pPr lvl="1"/>
            <a:r>
              <a:rPr lang="ko-KR" altLang="en-US" dirty="0"/>
              <a:t>논문 선정 기준 </a:t>
            </a:r>
            <a:r>
              <a:rPr lang="en-US" altLang="ko-KR" dirty="0"/>
              <a:t>: </a:t>
            </a:r>
            <a:r>
              <a:rPr lang="ko-KR" altLang="en-US" sz="1800" dirty="0"/>
              <a:t>한반도를 관심지역으로 설정한 본 프로젝트의 연구 방향에 가장 적합하며 의미 있을 것으로 판단되는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(1) Hang </a:t>
            </a:r>
            <a:r>
              <a:rPr lang="en-US" altLang="ko-KR" dirty="0" err="1"/>
              <a:t>Woon</a:t>
            </a:r>
            <a:r>
              <a:rPr lang="en-US" altLang="ko-KR" dirty="0"/>
              <a:t> Lee, Seiichi Shimizu, Shoji Yoshikawa, Koki Ho, "Satellite Constellation Pattern Optimization for Complex Regional Coverage“ 2020 Journal of Spacecraft and Rockets, Vol. 57, No. 6, pp. 1309-1327</a:t>
            </a:r>
          </a:p>
          <a:p>
            <a:pPr lvl="2"/>
            <a:r>
              <a:rPr lang="en-US" altLang="ko-KR" dirty="0"/>
              <a:t>(2) </a:t>
            </a:r>
            <a:r>
              <a:rPr lang="en-US" altLang="ko-KR" dirty="0" err="1"/>
              <a:t>Mencarelli</a:t>
            </a:r>
            <a:r>
              <a:rPr lang="en-US" altLang="ko-KR" dirty="0"/>
              <a:t>, L., </a:t>
            </a:r>
            <a:r>
              <a:rPr lang="en-US" altLang="ko-KR" dirty="0" err="1"/>
              <a:t>Floquet</a:t>
            </a:r>
            <a:r>
              <a:rPr lang="en-US" altLang="ko-KR" dirty="0"/>
              <a:t>, J., Georges, F. et al. Mixed integer (non)linear approaches for the satellite constellation design problem. </a:t>
            </a:r>
            <a:r>
              <a:rPr lang="en-US" altLang="ko-KR" dirty="0" err="1"/>
              <a:t>Optim</a:t>
            </a:r>
            <a:r>
              <a:rPr lang="en-US" altLang="ko-KR" dirty="0"/>
              <a:t> Eng (2022). https://doi.org/10.1007/s11081-022-09774-9</a:t>
            </a:r>
          </a:p>
          <a:p>
            <a:pPr lvl="2"/>
            <a:r>
              <a:rPr lang="en-US" altLang="ko-KR" dirty="0"/>
              <a:t>(3) 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</a:p>
          <a:p>
            <a:pPr lvl="2"/>
            <a:r>
              <a:rPr lang="en-US" altLang="ko-KR" dirty="0"/>
              <a:t>(4) S. Zhao, Y. Xu, H. Dai; Research on the configuration design method of heterogeneous constellation reconstruction under the multiple objective and multiple constraint. AIP Conference Proceedings 8 May 2017; 1839 (1): 020083.</a:t>
            </a:r>
          </a:p>
          <a:p>
            <a:pPr lvl="2"/>
            <a:r>
              <a:rPr lang="en-US" altLang="ko-KR" dirty="0"/>
              <a:t>(4) L. Liu, Z. Dong, H. </a:t>
            </a:r>
            <a:r>
              <a:rPr lang="en-US" altLang="ko-KR" dirty="0" err="1"/>
              <a:t>Su</a:t>
            </a:r>
            <a:r>
              <a:rPr lang="en-US" altLang="ko-KR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dirty="0" err="1"/>
              <a:t>doi</a:t>
            </a:r>
            <a:r>
              <a:rPr lang="en-US" altLang="ko-KR" dirty="0"/>
              <a:t>: 10.1109/IAEAC50856.2021.9390990.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4129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(1) Hang </a:t>
            </a:r>
            <a:r>
              <a:rPr lang="en-US" altLang="ko-KR" dirty="0" err="1"/>
              <a:t>Woon</a:t>
            </a:r>
            <a:r>
              <a:rPr lang="en-US" altLang="ko-KR" dirty="0"/>
              <a:t> Lee, Seiichi Shimizu, Shoji Yoshikawa, Koki Ho, "Satellite Constellation Pattern Optimization for Complex Regional Coverage“ 2020 Journal of Spacecraft and Rockets, Vol. 57, No. 6, pp. 1309-1327</a:t>
            </a:r>
          </a:p>
        </p:txBody>
      </p:sp>
    </p:spTree>
    <p:extLst>
      <p:ext uri="{BB962C8B-B14F-4D97-AF65-F5344CB8AC3E}">
        <p14:creationId xmlns:p14="http://schemas.microsoft.com/office/powerpoint/2010/main" val="407500557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</a:t>
            </a:r>
            <a:r>
              <a:rPr lang="en-US" altLang="ko-KR" dirty="0"/>
              <a:t>, </a:t>
            </a:r>
            <a:r>
              <a:rPr lang="ko-KR" altLang="en-US" dirty="0"/>
              <a:t>방법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다양한 시나리오를 가정하여 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달성 </a:t>
            </a:r>
            <a:endParaRPr lang="en-US" altLang="ko-KR" dirty="0"/>
          </a:p>
          <a:p>
            <a:pPr lvl="1"/>
            <a:r>
              <a:rPr lang="ko-KR" altLang="en-US" dirty="0"/>
              <a:t>두 가지의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 중</a:t>
            </a:r>
            <a:r>
              <a:rPr lang="en-US" altLang="ko-KR" dirty="0"/>
              <a:t>, </a:t>
            </a:r>
            <a:r>
              <a:rPr lang="ko-KR" altLang="en-US" dirty="0"/>
              <a:t>보다 효율적인 기법을 고안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연구방법</a:t>
            </a:r>
          </a:p>
          <a:p>
            <a:pPr lvl="1"/>
            <a:r>
              <a:rPr lang="en-US" altLang="ko-KR" dirty="0"/>
              <a:t>APC decomposition</a:t>
            </a:r>
            <a:r>
              <a:rPr lang="ko-KR" altLang="en-US" dirty="0"/>
              <a:t>이라는 개념을 도입하여 위성군의 성능을 결정하는 요소인 </a:t>
            </a:r>
            <a:r>
              <a:rPr lang="en-US" altLang="ko-KR" dirty="0"/>
              <a:t>Access profile, Pattern Vector, Coverage Timeline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차례대로 확장</a:t>
            </a:r>
            <a:endParaRPr lang="en-US" altLang="ko-KR" dirty="0"/>
          </a:p>
          <a:p>
            <a:pPr lvl="1"/>
            <a:r>
              <a:rPr lang="ko-KR" altLang="en-US" dirty="0"/>
              <a:t>두 가지의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 </a:t>
            </a:r>
            <a:r>
              <a:rPr lang="en-US" altLang="ko-KR" dirty="0"/>
              <a:t>Quasi-symmetric, BILP method</a:t>
            </a:r>
            <a:r>
              <a:rPr lang="ko-KR" altLang="en-US" dirty="0"/>
              <a:t>를 제시</a:t>
            </a:r>
            <a:endParaRPr lang="en-US" altLang="ko-KR" dirty="0"/>
          </a:p>
          <a:p>
            <a:pPr lvl="1"/>
            <a:r>
              <a:rPr lang="ko-KR" altLang="en-US" dirty="0"/>
              <a:t>총 다섯가지의 상황을 가정하여 각각의 설계 방법에 대한 최적화 결과를 비교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</a:t>
            </a:r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특정 지역의 최소 커버리지 횟수 달성을 위해</a:t>
            </a:r>
            <a:r>
              <a:rPr lang="en-US" altLang="ko-KR" dirty="0"/>
              <a:t>,</a:t>
            </a:r>
            <a:r>
              <a:rPr lang="ko-KR" altLang="en-US" dirty="0"/>
              <a:t> 상이한 궤도 및 하드웨어 특성을 지닌 이종의 위성군의 설계 필요</a:t>
            </a:r>
            <a:endParaRPr lang="en-US" altLang="ko-KR" dirty="0"/>
          </a:p>
          <a:p>
            <a:pPr lvl="1"/>
            <a:r>
              <a:rPr lang="ko-KR" altLang="en-US" dirty="0"/>
              <a:t>대칭적이며 </a:t>
            </a:r>
            <a:r>
              <a:rPr lang="en-US" altLang="ko-KR" dirty="0"/>
              <a:t>homogeneous</a:t>
            </a:r>
            <a:r>
              <a:rPr lang="ko-KR" altLang="en-US" dirty="0"/>
              <a:t> 위성이 아닌</a:t>
            </a:r>
            <a:r>
              <a:rPr lang="en-US" altLang="ko-KR" dirty="0"/>
              <a:t>,</a:t>
            </a:r>
            <a:r>
              <a:rPr lang="ko-KR" altLang="en-US" dirty="0"/>
              <a:t> 비대칭적 </a:t>
            </a:r>
            <a:r>
              <a:rPr lang="en-US" altLang="ko-KR" dirty="0"/>
              <a:t>heterogeneous</a:t>
            </a:r>
            <a:r>
              <a:rPr lang="ko-KR" altLang="en-US" dirty="0"/>
              <a:t> 위성으로 구성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8988480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decomposition(Access Profile)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58DBF1-876C-D29A-6508-5D61373C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5" y="1379294"/>
            <a:ext cx="1859643" cy="26123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B173F9-98F8-5243-06CD-301EC7BC1C4D}"/>
              </a:ext>
            </a:extLst>
          </p:cNvPr>
          <p:cNvSpPr txBox="1"/>
          <p:nvPr/>
        </p:nvSpPr>
        <p:spPr>
          <a:xfrm>
            <a:off x="322448" y="482965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600" i="1" spc="24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(</a:t>
            </a:r>
            <a:r>
              <a:rPr lang="ko-KR" altLang="en-US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∵ 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Rotation of the Earth)</a:t>
            </a:r>
            <a:r>
              <a:rPr lang="en-US" altLang="ko-KR" sz="16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766F51-F896-EBF9-F990-B41887881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233" y="1379294"/>
            <a:ext cx="5108088" cy="3984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B168EB-3FBA-B678-7527-465B8D5CE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07" y="4204433"/>
            <a:ext cx="2838450" cy="5429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B5A6DF-A937-EBE7-E1F4-DB93C2EC3648}"/>
              </a:ext>
            </a:extLst>
          </p:cNvPr>
          <p:cNvSpPr txBox="1"/>
          <p:nvPr/>
        </p:nvSpPr>
        <p:spPr>
          <a:xfrm>
            <a:off x="3609040" y="5463322"/>
            <a:ext cx="5330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위성의 고도가 임무 제한조건에 의해 결정되는 최소 </a:t>
            </a:r>
            <a:r>
              <a:rPr lang="ko-KR" altLang="en-US" sz="1400" dirty="0" err="1"/>
              <a:t>고도각</a:t>
            </a:r>
            <a:r>
              <a:rPr lang="en-US" altLang="ko-KR" sz="1400" dirty="0"/>
              <a:t>(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</a:t>
            </a:r>
            <a:r>
              <a:rPr lang="en-US" altLang="ko-KR" sz="1400" dirty="0"/>
              <a:t>)</a:t>
            </a:r>
            <a:r>
              <a:rPr lang="ko-KR" altLang="en-US" sz="1400" dirty="0"/>
              <a:t> 이상일 때 목표 지점에서 가시적이거나 접근</a:t>
            </a:r>
            <a:r>
              <a:rPr lang="en-US" altLang="ko-KR" sz="1400" dirty="0"/>
              <a:t>(Access) 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0112915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decomposition(Access Profile)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r>
              <a:rPr lang="ko-KR" altLang="en-US" dirty="0"/>
              <a:t>𝜀</a:t>
            </a:r>
            <a:r>
              <a:rPr lang="en-US" altLang="ko-KR" dirty="0"/>
              <a:t>(</a:t>
            </a:r>
            <a:r>
              <a:rPr lang="ko-KR" altLang="en-US" dirty="0"/>
              <a:t>𝑡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ko-KR" altLang="en-US" dirty="0"/>
              <a:t>마다 샘플링 되어 길이가 </a:t>
            </a:r>
            <a:r>
              <a:rPr lang="en-US" altLang="ko-KR" dirty="0"/>
              <a:t>L</a:t>
            </a:r>
            <a:r>
              <a:rPr lang="ko-KR" altLang="en-US" dirty="0"/>
              <a:t>인 이산 시간 </a:t>
            </a:r>
            <a:r>
              <a:rPr lang="ko-KR" altLang="en-US" dirty="0" err="1"/>
              <a:t>고도각</a:t>
            </a:r>
            <a:r>
              <a:rPr lang="ko-KR" altLang="en-US" dirty="0"/>
              <a:t> 함수 𝜀</a:t>
            </a:r>
            <a:r>
              <a:rPr lang="en-US" altLang="ko-KR" dirty="0"/>
              <a:t>[n]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k = </a:t>
            </a:r>
            <a:r>
              <a:rPr lang="ko-KR" altLang="en-US" dirty="0"/>
              <a:t>위성 수 </a:t>
            </a:r>
            <a:r>
              <a:rPr lang="en-US" altLang="ko-KR" dirty="0"/>
              <a:t>(k</a:t>
            </a:r>
            <a:r>
              <a:rPr lang="ko-KR" altLang="en-US" dirty="0"/>
              <a:t>번째 위성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US" altLang="ko-KR" dirty="0"/>
          </a:p>
          <a:p>
            <a:pPr lvl="2"/>
            <a:r>
              <a:rPr lang="en-US" altLang="ko-KR" dirty="0"/>
              <a:t>j = </a:t>
            </a:r>
            <a:r>
              <a:rPr lang="ko-KR" altLang="en-US" dirty="0"/>
              <a:t>목표 지점의 수 </a:t>
            </a:r>
            <a:r>
              <a:rPr lang="en-US" altLang="ko-KR" dirty="0"/>
              <a:t>(j</a:t>
            </a:r>
            <a:r>
              <a:rPr lang="ko-KR" altLang="en-US" dirty="0"/>
              <a:t>번째 목표 지점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n = </a:t>
            </a:r>
            <a:r>
              <a:rPr lang="ko-KR" altLang="en-US" dirty="0"/>
              <a:t>이산 시간 </a:t>
            </a:r>
            <a:r>
              <a:rPr lang="en-US" altLang="ko-KR" dirty="0"/>
              <a:t>(</a:t>
            </a:r>
            <a:r>
              <a:rPr lang="ko-KR" altLang="en-US" dirty="0"/>
              <a:t>각각의 이산 시간 </a:t>
            </a:r>
            <a:r>
              <a:rPr lang="en-US" altLang="ko-KR" dirty="0"/>
              <a:t>:</a:t>
            </a:r>
            <a:r>
              <a:rPr lang="ko-KR" altLang="en-US" dirty="0"/>
              <a:t> 𝑛 ∈ </a:t>
            </a:r>
            <a:r>
              <a:rPr lang="en-US" altLang="ko-KR" dirty="0"/>
              <a:t>{0, …, </a:t>
            </a:r>
            <a:r>
              <a:rPr lang="ko-KR" altLang="en-US" dirty="0"/>
              <a:t>𝐿 − </a:t>
            </a:r>
            <a:r>
              <a:rPr lang="en-US" altLang="ko-KR" dirty="0"/>
              <a:t>1})</a:t>
            </a:r>
          </a:p>
          <a:p>
            <a:pPr lvl="1"/>
            <a:r>
              <a:rPr lang="ko-KR" altLang="en-US" dirty="0"/>
              <a:t>주어진 위성 대상에 대해 적어도 하나의 </a:t>
            </a:r>
            <a:r>
              <a:rPr lang="en-US" altLang="ko-KR" dirty="0"/>
              <a:t>access interval</a:t>
            </a:r>
            <a:r>
              <a:rPr lang="ko-KR" altLang="en-US" dirty="0"/>
              <a:t>이 있어야 함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프로필은 </a:t>
            </a:r>
            <a:r>
              <a:rPr lang="en-US" altLang="ko-KR" dirty="0"/>
              <a:t>0</a:t>
            </a:r>
            <a:r>
              <a:rPr lang="ko-KR" altLang="en-US" dirty="0"/>
              <a:t>이 아닌 벡터여야 함</a:t>
            </a:r>
            <a:endParaRPr lang="en-US" altLang="ko-KR" dirty="0"/>
          </a:p>
          <a:p>
            <a:pPr lvl="1"/>
            <a:r>
              <a:rPr lang="ko-KR" altLang="en-US" dirty="0" err="1"/>
              <a:t>시드위성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위성군에 대해 </a:t>
            </a:r>
            <a:r>
              <a:rPr lang="en-US" altLang="ko-KR" dirty="0"/>
              <a:t>reference</a:t>
            </a:r>
            <a:r>
              <a:rPr lang="ko-KR" altLang="en-US" dirty="0"/>
              <a:t> 궤도 정보를 전달하는 가상의 위성</a:t>
            </a:r>
            <a:endParaRPr lang="en-US" altLang="ko-KR" dirty="0"/>
          </a:p>
          <a:p>
            <a:pPr lvl="2"/>
            <a:r>
              <a:rPr lang="ko-KR" altLang="en-US" dirty="0" err="1"/>
              <a:t>시드위성</a:t>
            </a:r>
            <a:r>
              <a:rPr lang="ko-KR" altLang="en-US" dirty="0"/>
              <a:t> 궤도 요소 벡터 </a:t>
            </a:r>
            <a:r>
              <a:rPr lang="en-US" altLang="ko-KR" dirty="0"/>
              <a:t>: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œ0 = [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𝜏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𝑒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𝑖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ω,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𝑇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𝑀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0]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2"/>
            <a:r>
              <a:rPr lang="ko-KR" altLang="en-US" dirty="0"/>
              <a:t>가상의 위성이기 때문에 실제 위치는 고려되지 않음</a:t>
            </a:r>
            <a:endParaRPr lang="en-US" altLang="ko-KR" dirty="0"/>
          </a:p>
          <a:p>
            <a:pPr lvl="3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4EE408-0769-9B24-1F35-5FD57BF3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5" y="1815539"/>
            <a:ext cx="36957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13907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decomposition(Pattern Vector)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Constellation Pattern Vector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번째 위성은 </a:t>
            </a:r>
            <a:r>
              <a:rPr lang="ko-KR" altLang="en-US" dirty="0" err="1"/>
              <a:t>시드위성과</a:t>
            </a:r>
            <a:r>
              <a:rPr lang="ko-KR" altLang="en-US" dirty="0"/>
              <a:t> 비교하여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Δ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𝑛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/>
              <a:t>만큼 시간 지연이 발생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672F9F-8A0B-B1D2-66BA-3A5084CA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1" y="1446797"/>
            <a:ext cx="6657975" cy="240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8391B8-28B3-606D-1972-15455B285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70" y="4423663"/>
            <a:ext cx="2426317" cy="1329489"/>
          </a:xfrm>
          <a:prstGeom prst="rect">
            <a:avLst/>
          </a:prstGeom>
        </p:spPr>
      </p:pic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4F3E765-7FBA-365C-B83D-86E78A4C3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5590" y="4691353"/>
          <a:ext cx="1371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5" imgW="1371600" imgH="876240" progId="Paint.Picture">
                  <p:embed/>
                </p:oleObj>
              </mc:Choice>
              <mc:Fallback>
                <p:oleObj name="비트맵 이미지" r:id="rId5" imgW="1371600" imgH="876240" progId="Paint.Picture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4F3E765-7FBA-365C-B83D-86E78A4C3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5590" y="4691353"/>
                        <a:ext cx="1371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2B0C31B-701F-FC19-93E2-F78076577BD3}"/>
              </a:ext>
            </a:extLst>
          </p:cNvPr>
          <p:cNvSpPr/>
          <p:nvPr/>
        </p:nvSpPr>
        <p:spPr bwMode="auto">
          <a:xfrm>
            <a:off x="3524036" y="4901715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63758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decomposition(Coverage Timeline)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3. Coverage Timeline</a:t>
            </a:r>
          </a:p>
          <a:p>
            <a:pPr lvl="1"/>
            <a:r>
              <a:rPr lang="ko-KR" altLang="en-US" dirty="0"/>
              <a:t>위성군에는 여러 위성이 있기 때문에 목표 지점에 대한 커버리지 타임라인을 만들기 위해 </a:t>
            </a:r>
            <a:r>
              <a:rPr lang="en-US" altLang="ko-KR" dirty="0"/>
              <a:t>Access Profile</a:t>
            </a:r>
            <a:r>
              <a:rPr lang="ko-KR" altLang="en-US" dirty="0"/>
              <a:t>이 서로 맞물려야 함</a:t>
            </a:r>
            <a:endParaRPr lang="en-US" altLang="ko-KR" dirty="0"/>
          </a:p>
          <a:p>
            <a:pPr lvl="1"/>
            <a:r>
              <a:rPr lang="ko-KR" altLang="en-US" dirty="0"/>
              <a:t>따라서 </a:t>
            </a:r>
            <a:r>
              <a:rPr lang="en-US" altLang="ko-KR" dirty="0"/>
              <a:t>Coverage Timeline</a:t>
            </a:r>
            <a:r>
              <a:rPr lang="ko-KR" altLang="en-US" dirty="0"/>
              <a:t> </a:t>
            </a:r>
            <a:r>
              <a:rPr lang="en-US" altLang="ko-KR" dirty="0"/>
              <a:t>b</a:t>
            </a:r>
            <a:r>
              <a:rPr lang="ko-KR" altLang="en-US" dirty="0"/>
              <a:t>는 여러 위성들과 </a:t>
            </a:r>
            <a:r>
              <a:rPr lang="en-US" altLang="ko-KR" dirty="0"/>
              <a:t>j</a:t>
            </a:r>
            <a:r>
              <a:rPr lang="ko-KR" altLang="en-US" dirty="0"/>
              <a:t>번째 목표 지점 사이의 </a:t>
            </a:r>
            <a:r>
              <a:rPr lang="en-US" altLang="ko-KR" dirty="0"/>
              <a:t>Access Profile</a:t>
            </a:r>
            <a:r>
              <a:rPr lang="ko-KR" altLang="en-US" dirty="0"/>
              <a:t>임</a:t>
            </a:r>
            <a:endParaRPr lang="en-US" altLang="ko-KR" dirty="0"/>
          </a:p>
          <a:p>
            <a:pPr lvl="1"/>
            <a:r>
              <a:rPr lang="ko-KR" altLang="en-US" dirty="0"/>
              <a:t>이산 시간 순간 </a:t>
            </a:r>
            <a:r>
              <a:rPr lang="en-US" altLang="ko-KR" dirty="0"/>
              <a:t>n</a:t>
            </a:r>
            <a:r>
              <a:rPr lang="ko-KR" altLang="en-US" dirty="0"/>
              <a:t>에서 보이는 위성 수에 대한 정보를 저장함 </a:t>
            </a:r>
            <a:endParaRPr lang="en-US" altLang="ko-KR" dirty="0"/>
          </a:p>
          <a:p>
            <a:pPr lvl="1"/>
            <a:r>
              <a:rPr lang="ko-KR" altLang="en-US" dirty="0" err="1"/>
              <a:t>시드위성은</a:t>
            </a:r>
            <a:r>
              <a:rPr lang="ko-KR" altLang="en-US" dirty="0"/>
              <a:t> 가상이기 때문에 </a:t>
            </a:r>
            <a:r>
              <a:rPr lang="en-US" altLang="ko-KR" dirty="0"/>
              <a:t>Access Profile</a:t>
            </a:r>
            <a:r>
              <a:rPr lang="ko-KR" altLang="en-US" dirty="0"/>
              <a:t>은 </a:t>
            </a:r>
            <a:r>
              <a:rPr lang="en-US" altLang="ko-KR" dirty="0"/>
              <a:t>Coverage Timeline</a:t>
            </a:r>
            <a:r>
              <a:rPr lang="ko-KR" altLang="en-US" dirty="0"/>
              <a:t>에서 고려되지 않음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24DC4-AF50-25B1-1213-60BEEC55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3597442"/>
            <a:ext cx="2562864" cy="2553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D699D7-A416-5F1A-AB80-7B9689CDA394}"/>
              </a:ext>
            </a:extLst>
          </p:cNvPr>
          <p:cNvSpPr txBox="1"/>
          <p:nvPr/>
        </p:nvSpPr>
        <p:spPr>
          <a:xfrm>
            <a:off x="3446921" y="359310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Seed Satellite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3F4E52-6813-921D-D176-2B78D3D51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974" y="4421545"/>
            <a:ext cx="2009101" cy="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9991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decomposition(Coverage Timeline)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3. Coverage Requirement</a:t>
            </a:r>
          </a:p>
          <a:p>
            <a:pPr lvl="1"/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관심 지역이 여러 </a:t>
            </a:r>
            <a:r>
              <a:rPr lang="ko-KR" altLang="en-US" dirty="0" err="1"/>
              <a:t>개일때</a:t>
            </a:r>
            <a:r>
              <a:rPr lang="en-US" altLang="ko-KR" dirty="0"/>
              <a:t>, </a:t>
            </a:r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4CB1BA-999B-FFC2-F172-865DC796D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1" y="1715432"/>
            <a:ext cx="4603844" cy="12375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B63E46-752F-C20D-FF9A-5770E642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8" y="3521344"/>
            <a:ext cx="3093980" cy="123759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C76706A-DE80-A532-2120-D951560FB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821" y="3739770"/>
            <a:ext cx="36957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972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4. Circular Convolution Phenomenon</a:t>
            </a:r>
          </a:p>
          <a:p>
            <a:pPr lvl="1"/>
            <a:r>
              <a:rPr lang="ko-KR" altLang="en-US" dirty="0"/>
              <a:t>앞에서 정의한 함수들을 종합하여 다음 식과 같이 정리할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열의 인덱스 𝛼</a:t>
            </a:r>
            <a:r>
              <a:rPr lang="en-US" altLang="ko-KR" dirty="0"/>
              <a:t>, β (</a:t>
            </a:r>
            <a:r>
              <a:rPr lang="ko-KR" altLang="en-US" dirty="0"/>
              <a:t>∈ </a:t>
            </a:r>
            <a:r>
              <a:rPr lang="en-US" altLang="ko-KR" dirty="0"/>
              <a:t>{0, 1, · · · , </a:t>
            </a:r>
            <a:r>
              <a:rPr lang="ko-KR" altLang="en-US" dirty="0"/>
              <a:t>𝐿 − </a:t>
            </a:r>
            <a:r>
              <a:rPr lang="en-US" altLang="ko-KR" dirty="0"/>
              <a:t>1}) </a:t>
            </a:r>
            <a:r>
              <a:rPr lang="ko-KR" altLang="en-US" dirty="0"/>
              <a:t>에 따라 정리된 최종 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6BBA6A-27B1-630D-ED1C-B4334C00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06" y="1829220"/>
            <a:ext cx="5466885" cy="1595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60F13E-8AAC-4AB6-8B9B-CDC34E15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66" y="2288801"/>
            <a:ext cx="1943100" cy="676275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38245E6-4BF6-66E0-D3C3-266C1CB6B11C}"/>
              </a:ext>
            </a:extLst>
          </p:cNvPr>
          <p:cNvSpPr/>
          <p:nvPr/>
        </p:nvSpPr>
        <p:spPr bwMode="auto">
          <a:xfrm>
            <a:off x="6408060" y="2452277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5942EB-3122-E5BD-7C04-8EC024255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265032"/>
            <a:ext cx="3892199" cy="51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9713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4. Circular Convolution Phenomenon</a:t>
                </a:r>
              </a:p>
              <a:p>
                <a:pPr lvl="1"/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œ = [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𝜏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 =𝑁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altLang="ko-KR" dirty="0">
                    <a:effectLst/>
                    <a:latin typeface="Lucida Sans Unicode" panose="020B0602030504020204" pitchFamily="34" charset="0"/>
                    <a:ea typeface="Lucida Sans Unicode" panose="020B060203050402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𝑒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𝑖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ω,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𝑇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𝑀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2"/>
                <a:r>
                  <a:rPr lang="fr-FR" altLang="ko-KR" dirty="0"/>
                  <a:t>œ1 = [4/1, 0, 50°, 0°, 350.2°,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</a:p>
              <a:p>
                <a:pPr lvl="2"/>
                <a:r>
                  <a:rPr lang="fr-FR" altLang="ko-KR" dirty="0"/>
                  <a:t>œ2 = [4/1, 0, 50°, 0°, 170.2°,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CB9ADDC-4DFB-32AE-BAD4-E9DC9627C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27" y="2609639"/>
            <a:ext cx="3140616" cy="31243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D8CD91-909F-E558-698B-8D9FD9033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292" y="2691630"/>
            <a:ext cx="3827214" cy="3042352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1BB2516-A5D9-4013-351D-6AD6163CEE28}"/>
              </a:ext>
            </a:extLst>
          </p:cNvPr>
          <p:cNvGraphicFramePr>
            <a:graphicFrameLocks noGrp="1"/>
          </p:cNvGraphicFramePr>
          <p:nvPr/>
        </p:nvGraphicFramePr>
        <p:xfrm>
          <a:off x="4266254" y="1604942"/>
          <a:ext cx="4681265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17321279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3004374232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36.7°N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0, 360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22401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r>
              <a:rPr lang="ko-KR" altLang="en-US" dirty="0"/>
              <a:t>공통의 닫힌 궤적을 따라 균일한 시간 간격으로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</a:t>
            </a:r>
            <a:endParaRPr lang="en-US" altLang="ko-KR" dirty="0"/>
          </a:p>
          <a:p>
            <a:pPr lvl="1"/>
            <a:r>
              <a:rPr lang="ko-KR" altLang="en-US" dirty="0"/>
              <a:t>위성간 균일 시간간격 상수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정수일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정수가 아닐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B2D6B7-B056-89EC-2F7B-1DE13BE58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95" y="2196280"/>
            <a:ext cx="923109" cy="711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F82BA1-8085-704D-6E0F-3C0054466982}"/>
              </a:ext>
            </a:extLst>
          </p:cNvPr>
          <p:cNvSpPr txBox="1"/>
          <p:nvPr/>
        </p:nvSpPr>
        <p:spPr>
          <a:xfrm>
            <a:off x="1735015" y="2364392"/>
            <a:ext cx="7151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(L : </a:t>
            </a:r>
            <a:r>
              <a:rPr lang="ko-KR" altLang="en-US" dirty="0" err="1"/>
              <a:t>위성군</a:t>
            </a:r>
            <a:r>
              <a:rPr lang="en-US" altLang="ko-KR" dirty="0"/>
              <a:t> </a:t>
            </a:r>
            <a:r>
              <a:rPr lang="ko-KR" altLang="en-US" dirty="0"/>
              <a:t>패턴 벡터의 길이</a:t>
            </a:r>
            <a:r>
              <a:rPr lang="en-US" altLang="ko-KR" dirty="0"/>
              <a:t>, N : </a:t>
            </a:r>
            <a:r>
              <a:rPr lang="ko-KR" altLang="en-US" dirty="0"/>
              <a:t>시간지연이 발생한 위성의 수</a:t>
            </a:r>
            <a:r>
              <a:rPr lang="en-US" altLang="ko-KR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88415A-30F9-5594-CF9F-965C4D79B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927" y="3305974"/>
            <a:ext cx="4066667" cy="10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A62C1E0-FEA8-01AE-206A-7758CF5BE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885" y="4691946"/>
            <a:ext cx="4476190" cy="1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65E93-C8A4-7D8C-DF86-20A0DDF9B4F8}"/>
              </a:ext>
            </a:extLst>
          </p:cNvPr>
          <p:cNvSpPr txBox="1"/>
          <p:nvPr/>
        </p:nvSpPr>
        <p:spPr>
          <a:xfrm>
            <a:off x="3034002" y="59510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(</a:t>
            </a:r>
            <a:r>
              <a:rPr lang="en-US" altLang="ko-KR" sz="1400" dirty="0" err="1"/>
              <a:t>nint</a:t>
            </a:r>
            <a:r>
              <a:rPr lang="en-US" altLang="ko-KR" sz="1400" dirty="0"/>
              <a:t> is the nearest integer function)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4108285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2F082E-E08B-A0F8-A905-9BD0D384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6" y="1726457"/>
            <a:ext cx="52292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0973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Quasi method</a:t>
            </a:r>
            <a:r>
              <a:rPr lang="ko-KR" altLang="en-US" dirty="0"/>
              <a:t>와 다르게 대칭을 가정하지 않으며 더 엄격하고 일반적인 방식으로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을 최적화 하기 위한 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9A4254-C37B-D82C-195C-C4E7620CD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132901"/>
            <a:ext cx="1371429" cy="5523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5839B18-F4A2-6784-616A-F5B161D5A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2855199"/>
            <a:ext cx="6571429" cy="1580952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1C85674-D4E8-8B95-02B1-17CF0903946C}"/>
              </a:ext>
            </a:extLst>
          </p:cNvPr>
          <p:cNvSpPr/>
          <p:nvPr/>
        </p:nvSpPr>
        <p:spPr bwMode="auto">
          <a:xfrm>
            <a:off x="4345969" y="4623371"/>
            <a:ext cx="513708" cy="6061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1680B24-DEF5-B500-2AC2-75899CFD4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814" y="5567842"/>
            <a:ext cx="3180952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0651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f</a:t>
            </a:r>
            <a:r>
              <a:rPr lang="ko-KR" altLang="en-US" dirty="0"/>
              <a:t>를 만족시키는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를 찾을 수 있음 </a:t>
            </a:r>
            <a:endParaRPr lang="en-US" altLang="ko-KR" dirty="0"/>
          </a:p>
          <a:p>
            <a:pPr lvl="1"/>
            <a:r>
              <a:rPr lang="ko-KR" altLang="en-US" dirty="0"/>
              <a:t>하지만 이 과정에서 얻은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는 반드시 </a:t>
            </a:r>
            <a:r>
              <a:rPr lang="en-US" altLang="ko-KR" dirty="0"/>
              <a:t>binary vector</a:t>
            </a:r>
            <a:r>
              <a:rPr lang="ko-KR" altLang="en-US" dirty="0"/>
              <a:t>는 아님</a:t>
            </a:r>
            <a:endParaRPr lang="en-US" altLang="ko-KR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특성을 위반</a:t>
            </a:r>
            <a:endParaRPr lang="en-US" altLang="ko-KR" dirty="0"/>
          </a:p>
          <a:p>
            <a:pPr lvl="1"/>
            <a:r>
              <a:rPr lang="ko-KR" altLang="en-US" dirty="0"/>
              <a:t>따라서 네 단계를 통해 이진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BF3FF73-57B8-8906-0E6D-BABD599D8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726" y="2967039"/>
            <a:ext cx="481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235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Mixed Integer</a:t>
            </a:r>
            <a:r>
              <a:rPr lang="ko-KR" altLang="en-US" dirty="0"/>
              <a:t> </a:t>
            </a:r>
            <a:r>
              <a:rPr lang="en-US" altLang="ko-KR" dirty="0"/>
              <a:t>Linear 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MILP(BILP)</a:t>
                </a:r>
                <a:r>
                  <a:rPr lang="ko-KR" altLang="en-US" dirty="0"/>
                  <a:t>의 최적화 과정</a:t>
                </a:r>
              </a:p>
              <a:p>
                <a:pPr lvl="1"/>
                <a:r>
                  <a:rPr lang="en-US" altLang="ko-KR" dirty="0"/>
                  <a:t>Ex. </a:t>
                </a:r>
                <a:r>
                  <a:rPr lang="ko-KR" altLang="en-US" dirty="0"/>
                  <a:t>아래 식을 모두 만족하면서  </a:t>
                </a:r>
                <a:r>
                  <a:rPr lang="en-US" altLang="ko-KR" dirty="0"/>
                  <a:t>Z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최소화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:r>
                  <a:rPr lang="en-US" altLang="ko-KR" dirty="0"/>
                  <a:t>2</a:t>
                </a:r>
              </a:p>
              <a:p>
                <a:pPr lvl="2"/>
                <a:r>
                  <a:rPr lang="en-US" altLang="ko-KR" dirty="0"/>
                  <a:t>(2)</a:t>
                </a:r>
                <a:r>
                  <a:rPr lang="pt-B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(3)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432000" lvl="2" indent="0">
                  <a:buNone/>
                </a:pPr>
                <a:r>
                  <a:rPr lang="en-US" altLang="ko-KR" dirty="0">
                    <a:solidFill>
                      <a:srgbClr val="FF000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-5 -3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 marL="432000" lvl="2" indent="0">
                  <a:buNone/>
                </a:pP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3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FC4F732-8901-F705-42C3-42A80F0D1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3035595"/>
            <a:ext cx="3493856" cy="22511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1DE4DE-32A3-A18A-E995-D487DB1FD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027495"/>
            <a:ext cx="3935002" cy="2182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539E6A-966B-E756-6686-205E8C4F947C}"/>
              </a:ext>
            </a:extLst>
          </p:cNvPr>
          <p:cNvSpPr txBox="1"/>
          <p:nvPr/>
        </p:nvSpPr>
        <p:spPr>
          <a:xfrm>
            <a:off x="721703" y="57340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altLang="ko-KR" dirty="0"/>
              <a:t>1    1     0    1</a:t>
            </a:r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DBFD5812-2FB3-FAA1-9B50-0DD7E0556CCA}"/>
              </a:ext>
            </a:extLst>
          </p:cNvPr>
          <p:cNvSpPr/>
          <p:nvPr/>
        </p:nvSpPr>
        <p:spPr bwMode="auto">
          <a:xfrm>
            <a:off x="2933272" y="4364602"/>
            <a:ext cx="688368" cy="431514"/>
          </a:xfrm>
          <a:prstGeom prst="mathMultiply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05B3F4-E2D2-C29A-F735-620C64312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114" y="2995843"/>
            <a:ext cx="4106773" cy="292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225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Mixed Integer</a:t>
            </a:r>
            <a:r>
              <a:rPr lang="ko-KR" altLang="en-US" dirty="0"/>
              <a:t> </a:t>
            </a:r>
            <a:r>
              <a:rPr lang="en-US" altLang="ko-KR" dirty="0"/>
              <a:t>Linear Programming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MILP(BILP)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chemeClr val="tx1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74EA407-6AB5-4F33-38C4-04B4E7B54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28" y="1960229"/>
            <a:ext cx="6061273" cy="370508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C92FF8-37C8-84F8-351C-4EDFFF57E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058" y="978853"/>
            <a:ext cx="5204204" cy="566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1781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Quasi-symmetric vs Binary Integer Linear Programming 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396000" lvl="2" indent="0">
              <a:buNone/>
            </a:pP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3C5DB1-8723-C8BA-85B7-E919202E2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01" y="1573731"/>
            <a:ext cx="3258643" cy="26286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9CF4D1-49BF-6518-A387-328C38161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475" y="1574765"/>
            <a:ext cx="4913066" cy="4730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F950FB0-5A7C-18A3-F0D2-4B21B7AA5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63" y="4571978"/>
            <a:ext cx="3147601" cy="12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0272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78A08-5053-D739-462D-EE53EB17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8417"/>
            <a:ext cx="9144000" cy="329076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5307AC5-1597-CC54-1712-A89301EFB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14500"/>
            <a:ext cx="9144000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CC57A0-46FE-1726-3B20-1DB7CCCF6727}"/>
                  </a:ext>
                </a:extLst>
              </p:cNvPr>
              <p:cNvSpPr txBox="1"/>
              <p:nvPr/>
            </p:nvSpPr>
            <p:spPr>
              <a:xfrm>
                <a:off x="399957" y="2226047"/>
                <a:ext cx="8915400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50" b="1" dirty="0">
                    <a:solidFill>
                      <a:srgbClr val="FF0000"/>
                    </a:solidFill>
                  </a:rPr>
                  <a:t>0           [4/1, 0, 50</a:t>
                </a:r>
                <a:r>
                  <a:rPr lang="ko-KR" altLang="en-US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˚</a:t>
                </a:r>
                <a:r>
                  <a:rPr lang="en-US" altLang="ko-KR" sz="1250" b="1" dirty="0">
                    <a:solidFill>
                      <a:srgbClr val="FF0000"/>
                    </a:solidFill>
                  </a:rPr>
                  <a:t>, 0</a:t>
                </a:r>
                <a:r>
                  <a:rPr lang="ko-KR" altLang="en-US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˚</a:t>
                </a:r>
                <a:r>
                  <a:rPr lang="en-US" altLang="ko-KR" sz="1250" b="1" dirty="0">
                    <a:solidFill>
                      <a:srgbClr val="FF0000"/>
                    </a:solidFill>
                  </a:rPr>
                  <a:t>, 170.2</a:t>
                </a:r>
                <a:r>
                  <a:rPr lang="ko-KR" altLang="en-US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˚</a:t>
                </a:r>
                <a:r>
                  <a:rPr lang="en-US" altLang="ko-KR" sz="1250" b="1" dirty="0">
                    <a:solidFill>
                      <a:srgbClr val="FF0000"/>
                    </a:solidFill>
                  </a:rPr>
                  <a:t>, 0</a:t>
                </a:r>
                <a:r>
                  <a:rPr lang="ko-KR" altLang="en-US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˚</a:t>
                </a:r>
                <a:r>
                  <a:rPr lang="el-GR" altLang="ko-KR" sz="1400" b="1" dirty="0">
                    <a:solidFill>
                      <a:srgbClr val="FF0000"/>
                    </a:solidFill>
                    <a:latin typeface="noto"/>
                  </a:rPr>
                  <a:t>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altLang="ko-KR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                      10</a:t>
                </a:r>
                <a:r>
                  <a:rPr lang="ko-KR" altLang="en-US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˚                 </a:t>
                </a:r>
                <a:r>
                  <a:rPr lang="en-US" altLang="ko-KR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{ (</a:t>
                </a:r>
                <a:r>
                  <a:rPr lang="ko-KR" altLang="en-US" sz="1250" b="1" dirty="0">
                    <a:solidFill>
                      <a:srgbClr val="FF0000"/>
                    </a:solidFill>
                  </a:rPr>
                  <a:t>𝜙</a:t>
                </a:r>
                <a:r>
                  <a:rPr lang="en-US" altLang="ko-KR" sz="125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= 36.7</a:t>
                </a:r>
                <a:r>
                  <a:rPr lang="ko-KR" altLang="en-US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˚</a:t>
                </a:r>
                <a:r>
                  <a:rPr lang="en-US" altLang="ko-KR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N, λ = </a:t>
                </a:r>
                <a:r>
                  <a:rPr lang="en-US" altLang="ko-KR" sz="1250" b="1" dirty="0">
                    <a:solidFill>
                      <a:srgbClr val="FF0000"/>
                    </a:solidFill>
                  </a:rPr>
                  <a:t>137.48°E</a:t>
                </a:r>
                <a:r>
                  <a:rPr lang="en-US" altLang="ko-KR" sz="1250" b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 ) }                   1                   720 </a:t>
                </a:r>
                <a:endParaRPr lang="ko-KR" altLang="en-US" sz="1250" b="1" dirty="0">
                  <a:solidFill>
                    <a:srgbClr val="FF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CC57A0-46FE-1726-3B20-1DB7CCCF6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57" y="2226047"/>
                <a:ext cx="8915400" cy="311560"/>
              </a:xfrm>
              <a:prstGeom prst="rect">
                <a:avLst/>
              </a:prstGeom>
              <a:blipFill>
                <a:blip r:embed="rId5"/>
                <a:stretch>
                  <a:fillRect l="-68" t="-1961" b="-21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6841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논문의 시뮬레이션 환경 및 가정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논문의</a:t>
            </a:r>
            <a:r>
              <a:rPr lang="en-US" altLang="ko-KR" dirty="0"/>
              <a:t> </a:t>
            </a:r>
            <a:r>
              <a:rPr lang="ko-KR" altLang="en-US" dirty="0"/>
              <a:t>시뮬레이션 환경</a:t>
            </a:r>
            <a:endParaRPr lang="en-US" altLang="ko-KR" dirty="0"/>
          </a:p>
          <a:p>
            <a:pPr lvl="1"/>
            <a:r>
              <a:rPr lang="en-US" altLang="ko-KR" dirty="0"/>
              <a:t>Processor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Intel Core i0-0040X Processor @3.30 GHz platform</a:t>
            </a:r>
          </a:p>
          <a:p>
            <a:pPr lvl="1"/>
            <a:r>
              <a:rPr lang="en-US" altLang="ko-KR" dirty="0"/>
              <a:t>BILP software :  </a:t>
            </a:r>
            <a:r>
              <a:rPr lang="en-US" altLang="ko-KR" dirty="0" err="1"/>
              <a:t>Gurobi</a:t>
            </a:r>
            <a:r>
              <a:rPr lang="en-US" altLang="ko-KR" dirty="0"/>
              <a:t> 9.0.0</a:t>
            </a:r>
          </a:p>
          <a:p>
            <a:pPr lvl="1"/>
            <a:r>
              <a:rPr lang="en-US" altLang="ko-KR" dirty="0"/>
              <a:t>Referenced ellipsoid model : WGS84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가정</a:t>
            </a:r>
            <a:endParaRPr lang="en-US" altLang="ko-KR" dirty="0"/>
          </a:p>
          <a:p>
            <a:pPr lvl="1"/>
            <a:r>
              <a:rPr lang="ko-KR" altLang="en-US" dirty="0"/>
              <a:t>모든 위성의 방향은 지구지향</a:t>
            </a:r>
            <a:endParaRPr lang="en-US" altLang="ko-KR" dirty="0"/>
          </a:p>
          <a:p>
            <a:pPr lvl="1"/>
            <a:r>
              <a:rPr lang="en-US" altLang="ko-KR" dirty="0"/>
              <a:t>J2 </a:t>
            </a:r>
            <a:r>
              <a:rPr lang="ko-KR" altLang="en-US" dirty="0"/>
              <a:t>이외의 섭동은 무시</a:t>
            </a:r>
            <a:endParaRPr lang="en-US" altLang="ko-KR" dirty="0"/>
          </a:p>
          <a:p>
            <a:pPr lvl="1"/>
            <a:r>
              <a:rPr lang="ko-KR" altLang="en-US" dirty="0"/>
              <a:t>동일한 궤도를 유지</a:t>
            </a:r>
            <a:r>
              <a:rPr lang="en-US" altLang="ko-KR" dirty="0"/>
              <a:t>, </a:t>
            </a:r>
            <a:r>
              <a:rPr lang="ko-KR" altLang="en-US" dirty="0"/>
              <a:t>조정하기 위한 위성 기동 활용 가정</a:t>
            </a:r>
            <a:endParaRPr lang="en-US" altLang="ko-KR" dirty="0"/>
          </a:p>
          <a:p>
            <a:pPr lvl="1"/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 </a:t>
            </a:r>
            <a:r>
              <a:rPr lang="ko-KR" altLang="en-US" dirty="0"/>
              <a:t>값은 시간에 따라 불변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029942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15A33589-74A7-D5B1-2FBB-316A03E09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논문의 시뮬레이션 변수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Input</a:t>
                </a:r>
              </a:p>
              <a:p>
                <a:pPr lvl="2"/>
                <a:r>
                  <a:rPr lang="en-US" altLang="ko-KR" dirty="0"/>
                  <a:t>Seed Satellite Orbital elements (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œ = [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𝜏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 =𝑁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altLang="ko-KR" dirty="0">
                    <a:effectLst/>
                    <a:latin typeface="Lucida Sans Unicode" panose="020B0602030504020204" pitchFamily="34" charset="0"/>
                    <a:ea typeface="Lucida Sans Unicode" panose="020B060203050402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𝑒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𝑖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ω, 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T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M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ko-KR" dirty="0"/>
                  <a:t>) </a:t>
                </a:r>
              </a:p>
              <a:p>
                <a:pPr lvl="2"/>
                <a:r>
                  <a:rPr lang="en-US" altLang="ko-KR" dirty="0"/>
                  <a:t>Minimum elevation angle (</a:t>
                </a:r>
                <a:r>
                  <a:rPr lang="en-US" altLang="ko-KR" sz="1600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𝜀</a:t>
                </a:r>
                <a:r>
                  <a:rPr lang="en-US" altLang="ko-KR" sz="16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min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Target’s longitude, latitude (</a:t>
                </a:r>
                <a:r>
                  <a:rPr lang="ko-KR" altLang="en-US" sz="1600" dirty="0"/>
                  <a:t>𝜙</a:t>
                </a:r>
                <a:r>
                  <a:rPr lang="en-US" altLang="ko-KR" sz="1600" dirty="0"/>
                  <a:t>, </a:t>
                </a:r>
                <a:r>
                  <a:rPr lang="en-US" altLang="ko-KR" sz="1600" dirty="0">
                    <a:latin typeface="Times New Roman"/>
                    <a:ea typeface="+mn-ea"/>
                    <a:cs typeface="Times New Roman"/>
                  </a:rPr>
                  <a:t>λ)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Coverage requirements </a:t>
                </a:r>
              </a:p>
              <a:p>
                <a:pPr lvl="2"/>
                <a:r>
                  <a:rPr lang="en-US" altLang="ko-KR" dirty="0"/>
                  <a:t>Number of time steps of the simulation horizon (L)</a:t>
                </a:r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en-US" altLang="ko-KR" dirty="0"/>
                  <a:t>Output</a:t>
                </a:r>
              </a:p>
              <a:p>
                <a:pPr lvl="2"/>
                <a:r>
                  <a:rPr lang="en-US" altLang="ko-KR" dirty="0"/>
                  <a:t>Seed Satellite’s Access Profile</a:t>
                </a:r>
              </a:p>
              <a:p>
                <a:pPr lvl="2"/>
                <a:r>
                  <a:rPr lang="en-US" altLang="ko-KR" dirty="0"/>
                  <a:t>Constellation Pattern vector</a:t>
                </a:r>
              </a:p>
              <a:p>
                <a:pPr lvl="2"/>
                <a:r>
                  <a:rPr lang="en-US" altLang="ko-KR" dirty="0"/>
                  <a:t>Coverage Timeline</a:t>
                </a:r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15A33589-74A7-D5B1-2FBB-316A03E09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논문의 시뮬레이션 변수</a:t>
            </a:r>
          </a:p>
        </p:txBody>
      </p:sp>
    </p:spTree>
    <p:extLst>
      <p:ext uri="{BB962C8B-B14F-4D97-AF65-F5344CB8AC3E}">
        <p14:creationId xmlns:p14="http://schemas.microsoft.com/office/powerpoint/2010/main" val="228569585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5A33589-74A7-D5B1-2FBB-316A03E09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 0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논문의 시뮬레이션 세팅 및 결과 </a:t>
            </a:r>
            <a:r>
              <a:rPr lang="en-US" altLang="ko-KR" dirty="0"/>
              <a:t>(Ex.0)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7E396BF-5A48-9E53-81A7-57825F56BB39}"/>
              </a:ext>
            </a:extLst>
          </p:cNvPr>
          <p:cNvGraphicFramePr>
            <a:graphicFrameLocks noGrp="1"/>
          </p:cNvGraphicFramePr>
          <p:nvPr/>
        </p:nvGraphicFramePr>
        <p:xfrm>
          <a:off x="656950" y="1464944"/>
          <a:ext cx="7673424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1001500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[4/1,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170.2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36.7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2A751C80-CC45-F279-96A2-8C2F75CDC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39" y="2518144"/>
            <a:ext cx="4514850" cy="340995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AD8941E-D96E-80E2-C3FF-29FD34BEE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21" y="2600336"/>
            <a:ext cx="4129918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31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직접 실행한 시뮬레이션 세팅</a:t>
            </a:r>
            <a:r>
              <a:rPr lang="en-US" altLang="ko-KR" dirty="0"/>
              <a:t> (Ex.0)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0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분석 소프트웨어</a:t>
            </a:r>
            <a:endParaRPr lang="en-US" altLang="ko-KR" dirty="0"/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FreeFlyer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ym typeface="Wingdings" panose="05000000000000000000" pitchFamily="2" charset="2"/>
              </a:rPr>
              <a:t>위성군</a:t>
            </a:r>
            <a:r>
              <a:rPr lang="ko-KR" altLang="en-US" dirty="0">
                <a:sym typeface="Wingdings" panose="05000000000000000000" pitchFamily="2" charset="2"/>
              </a:rPr>
              <a:t> 설계 및 궤도전파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ko-KR" altLang="en-US" dirty="0"/>
              <a:t>동역학모델</a:t>
            </a:r>
            <a:r>
              <a:rPr lang="en-US" altLang="ko-KR" dirty="0"/>
              <a:t>: 2</a:t>
            </a:r>
            <a:r>
              <a:rPr lang="ko-KR" altLang="en-US" dirty="0"/>
              <a:t>체 문제 </a:t>
            </a:r>
            <a:r>
              <a:rPr lang="en-US" altLang="ko-KR" dirty="0"/>
              <a:t>(</a:t>
            </a:r>
            <a:r>
              <a:rPr lang="ko-KR" altLang="en-US" dirty="0" err="1"/>
              <a:t>점질량</a:t>
            </a:r>
            <a:r>
              <a:rPr lang="ko-KR" altLang="en-US" dirty="0"/>
              <a:t> 가정</a:t>
            </a:r>
            <a:r>
              <a:rPr lang="en-US" altLang="ko-KR" dirty="0"/>
              <a:t>, </a:t>
            </a:r>
            <a:r>
              <a:rPr lang="ko-KR" altLang="en-US" dirty="0"/>
              <a:t>다른 섭동 반영하지 않음</a:t>
            </a:r>
            <a:r>
              <a:rPr lang="en-US" altLang="ko-KR" dirty="0"/>
              <a:t>)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MATLAB: </a:t>
            </a:r>
            <a:r>
              <a:rPr lang="ko-KR" altLang="en-US" dirty="0">
                <a:sym typeface="Wingdings" panose="05000000000000000000" pitchFamily="2" charset="2"/>
              </a:rPr>
              <a:t>데이터 분석</a:t>
            </a:r>
            <a:endParaRPr lang="ko-KR" altLang="en-US" dirty="0"/>
          </a:p>
          <a:p>
            <a:pPr lvl="3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09F10C-0FD5-DD61-92A6-B13EF2F398E4}"/>
              </a:ext>
            </a:extLst>
          </p:cNvPr>
          <p:cNvGraphicFramePr>
            <a:graphicFrameLocks noGrp="1"/>
          </p:cNvGraphicFramePr>
          <p:nvPr/>
        </p:nvGraphicFramePr>
        <p:xfrm>
          <a:off x="657269" y="1468774"/>
          <a:ext cx="7666797" cy="642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3011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23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[6878km,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170.2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36.7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793B59E-1EF9-AF23-BA9C-1EADC117996D}"/>
              </a:ext>
            </a:extLst>
          </p:cNvPr>
          <p:cNvGraphicFramePr>
            <a:graphicFrameLocks noGrp="1"/>
          </p:cNvGraphicFramePr>
          <p:nvPr/>
        </p:nvGraphicFramePr>
        <p:xfrm>
          <a:off x="657268" y="3716167"/>
          <a:ext cx="7625364" cy="98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6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341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1906341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906341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>
                          <a:latin typeface="Times New Roman"/>
                          <a:ea typeface="+mn-ea"/>
                          <a:cs typeface="Times New Roman"/>
                        </a:rPr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>
                          <a:latin typeface="Times New Roman"/>
                          <a:ea typeface="+mn-ea"/>
                          <a:cs typeface="Times New Roman"/>
                        </a:rPr>
                        <a:t>시작 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>
                          <a:latin typeface="Times New Roman"/>
                          <a:ea typeface="+mn-ea"/>
                          <a:cs typeface="Times New Roman"/>
                        </a:rPr>
                        <a:t>종료 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>
                          <a:latin typeface="Times New Roman"/>
                          <a:ea typeface="+mn-ea"/>
                          <a:cs typeface="Times New Roman"/>
                        </a:rPr>
                        <a:t>전파 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>
                          <a:latin typeface="Times New Roman"/>
                          <a:ea typeface="+mn-ea"/>
                          <a:cs typeface="Times New Roman"/>
                        </a:rPr>
                        <a:t>시간 간격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55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2024-01-01 00:00:00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2024-01-02 00:00:00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 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 sec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27364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CE991B6-C6B5-F570-8CA1-E61E5308106B}"/>
              </a:ext>
            </a:extLst>
          </p:cNvPr>
          <p:cNvGraphicFramePr>
            <a:graphicFrameLocks noGrp="1"/>
          </p:cNvGraphicFramePr>
          <p:nvPr/>
        </p:nvGraphicFramePr>
        <p:xfrm>
          <a:off x="657269" y="1468774"/>
          <a:ext cx="7666797" cy="642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3011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23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[6878km,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170.2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36.7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직접 실행한 시뮬레이션 결과</a:t>
            </a:r>
            <a:r>
              <a:rPr lang="en-US" altLang="ko-KR" dirty="0"/>
              <a:t> (Ex.0)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0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C761297-EFE8-CCF0-A4E3-D63FDDB98A5E}"/>
              </a:ext>
            </a:extLst>
          </p:cNvPr>
          <p:cNvGraphicFramePr>
            <a:graphicFrameLocks noGrp="1"/>
          </p:cNvGraphicFramePr>
          <p:nvPr/>
        </p:nvGraphicFramePr>
        <p:xfrm>
          <a:off x="657268" y="2425369"/>
          <a:ext cx="7666796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17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162214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139156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680579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Access Profile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AOS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LOS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Duration(min)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Max Elevation(deg)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No.1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10:26:35.390625000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10:34:19.453125000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7.734375000 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70.957108227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No.2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12:06:23.125000000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12:12:37.656250000 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6.242187500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22.335710503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13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No.3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13:47:57.109375000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13:50:48.281250000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2.852864583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11.599862178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71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No.4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15:26:56.953125000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15:31:52.890625000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4.932291667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15.877774778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066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No.5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17:04:58.750000000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17:12:38.125000000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7.656250000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55.426529997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7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No.6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18:44:30.546875000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18:50:01.875000000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5.522135417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+mj-lt"/>
                          <a:ea typeface="+mn-ea"/>
                          <a:cs typeface="Times New Roman"/>
                        </a:rPr>
                        <a:t>18.722768265</a:t>
                      </a:r>
                      <a:endParaRPr lang="ko-KR" altLang="en-US" sz="12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65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08466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직접 실행한 시뮬레이션 결과 </a:t>
            </a:r>
            <a:r>
              <a:rPr lang="en-US" altLang="ko-KR" dirty="0"/>
              <a:t>(Ex.0)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Access Profile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C22884-7F59-F01C-57C0-4BE92BDA8AB8}"/>
              </a:ext>
            </a:extLst>
          </p:cNvPr>
          <p:cNvSpPr/>
          <p:nvPr/>
        </p:nvSpPr>
        <p:spPr bwMode="auto">
          <a:xfrm>
            <a:off x="3143892" y="2335976"/>
            <a:ext cx="1726059" cy="21201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952D8CB-13A3-AD24-6F65-EA69AB46091B}"/>
              </a:ext>
            </a:extLst>
          </p:cNvPr>
          <p:cNvGrpSpPr/>
          <p:nvPr/>
        </p:nvGrpSpPr>
        <p:grpSpPr>
          <a:xfrm>
            <a:off x="666749" y="1403800"/>
            <a:ext cx="6402623" cy="4923987"/>
            <a:chOff x="635175" y="1352762"/>
            <a:chExt cx="6402623" cy="4923987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A16B7B1C-DF5E-206B-0A8C-05035B9D4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373" y="3657374"/>
              <a:ext cx="1114425" cy="2619375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2F1CB18-F47A-1B98-4B0C-9277A1BA9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175" y="3657374"/>
              <a:ext cx="1114425" cy="26193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8654FB6-F729-3FA1-C646-56A897387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175" y="1352762"/>
              <a:ext cx="6402623" cy="2604989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1F5A612-28A9-56E0-FDB4-1E7E6E923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545" y="3732733"/>
              <a:ext cx="6310155" cy="2544016"/>
            </a:xfrm>
            <a:prstGeom prst="rect">
              <a:avLst/>
            </a:prstGeom>
          </p:spPr>
        </p:pic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A7483B6-469F-1D9B-494A-118ECB88CFA1}"/>
              </a:ext>
            </a:extLst>
          </p:cNvPr>
          <p:cNvSpPr/>
          <p:nvPr/>
        </p:nvSpPr>
        <p:spPr bwMode="auto">
          <a:xfrm>
            <a:off x="658028" y="1401537"/>
            <a:ext cx="6411344" cy="490283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7206460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직접 실행한 시뮬레이션 결과 </a:t>
            </a:r>
            <a:r>
              <a:rPr lang="en-US" altLang="ko-KR" dirty="0"/>
              <a:t>(Ex.0)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Constellation Pattern Vector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900" dirty="0"/>
          </a:p>
          <a:p>
            <a:r>
              <a:rPr lang="en-US" altLang="ko-KR" dirty="0"/>
              <a:t>Coverage Timeline</a:t>
            </a:r>
          </a:p>
          <a:p>
            <a:pPr marL="0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396000" lvl="2" indent="0">
              <a:buNone/>
            </a:pPr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C470EC-2B52-7C05-BBE9-3423C2CE5F39}"/>
              </a:ext>
            </a:extLst>
          </p:cNvPr>
          <p:cNvSpPr/>
          <p:nvPr/>
        </p:nvSpPr>
        <p:spPr bwMode="auto">
          <a:xfrm>
            <a:off x="195210" y="1341755"/>
            <a:ext cx="6960403" cy="21729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noFill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476A88-059E-89EF-79AB-3934C8111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21" y="1371916"/>
            <a:ext cx="6936118" cy="212970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6E7214A6-06D4-CE49-8B72-B8575E9B8914}"/>
              </a:ext>
            </a:extLst>
          </p:cNvPr>
          <p:cNvGrpSpPr/>
          <p:nvPr/>
        </p:nvGrpSpPr>
        <p:grpSpPr>
          <a:xfrm>
            <a:off x="219495" y="4204283"/>
            <a:ext cx="6965230" cy="2140337"/>
            <a:chOff x="219495" y="4050173"/>
            <a:chExt cx="6965230" cy="2140337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5606EA3-96BC-4DA4-6E48-265C7ECA2C7C}"/>
                </a:ext>
              </a:extLst>
            </p:cNvPr>
            <p:cNvGrpSpPr/>
            <p:nvPr/>
          </p:nvGrpSpPr>
          <p:grpSpPr>
            <a:xfrm>
              <a:off x="219495" y="4060807"/>
              <a:ext cx="6960403" cy="2129703"/>
              <a:chOff x="0" y="1822305"/>
              <a:chExt cx="9144000" cy="2929493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B6933847-C8E9-4F23-8A88-A2DB333FD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17969" y="1822892"/>
                <a:ext cx="226031" cy="2928906"/>
              </a:xfrm>
              <a:prstGeom prst="rect">
                <a:avLst/>
              </a:prstGeom>
            </p:spPr>
          </p:pic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26C307FC-3968-9359-2EFD-3F3B40B2D3F8}"/>
                  </a:ext>
                </a:extLst>
              </p:cNvPr>
              <p:cNvGrpSpPr/>
              <p:nvPr/>
            </p:nvGrpSpPr>
            <p:grpSpPr>
              <a:xfrm>
                <a:off x="0" y="1822305"/>
                <a:ext cx="9051533" cy="2929493"/>
                <a:chOff x="0" y="1822305"/>
                <a:chExt cx="9051533" cy="2929493"/>
              </a:xfrm>
            </p:grpSpPr>
            <p:grpSp>
              <p:nvGrpSpPr>
                <p:cNvPr id="3" name="그룹 2">
                  <a:extLst>
                    <a:ext uri="{FF2B5EF4-FFF2-40B4-BE49-F238E27FC236}">
                      <a16:creationId xmlns:a16="http://schemas.microsoft.com/office/drawing/2014/main" id="{CFFFD901-D88D-F0AD-5600-3E8C01B761EF}"/>
                    </a:ext>
                  </a:extLst>
                </p:cNvPr>
                <p:cNvGrpSpPr/>
                <p:nvPr/>
              </p:nvGrpSpPr>
              <p:grpSpPr>
                <a:xfrm>
                  <a:off x="0" y="1822305"/>
                  <a:ext cx="9051533" cy="2929493"/>
                  <a:chOff x="-1" y="3875235"/>
                  <a:chExt cx="9051533" cy="2929493"/>
                </a:xfrm>
              </p:grpSpPr>
              <p:pic>
                <p:nvPicPr>
                  <p:cNvPr id="5" name="그림 4">
                    <a:extLst>
                      <a:ext uri="{FF2B5EF4-FFF2-40B4-BE49-F238E27FC236}">
                        <a16:creationId xmlns:a16="http://schemas.microsoft.com/office/drawing/2014/main" id="{EC6B920F-7188-E95D-439C-B1FFEB7FA7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-1" y="3875235"/>
                    <a:ext cx="9051533" cy="2929493"/>
                  </a:xfrm>
                  <a:prstGeom prst="rect">
                    <a:avLst/>
                  </a:prstGeom>
                </p:spPr>
              </p:pic>
              <p:pic>
                <p:nvPicPr>
                  <p:cNvPr id="7" name="그림 6">
                    <a:extLst>
                      <a:ext uri="{FF2B5EF4-FFF2-40B4-BE49-F238E27FC236}">
                        <a16:creationId xmlns:a16="http://schemas.microsoft.com/office/drawing/2014/main" id="{949A19C5-957A-81E7-AB43-0C998443DB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588021" y="4198024"/>
                    <a:ext cx="3559997" cy="228857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044D22E5-3853-9458-CC7A-CB2B83E49A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89066" y="2190739"/>
                  <a:ext cx="828675" cy="2238375"/>
                </a:xfrm>
                <a:prstGeom prst="rect">
                  <a:avLst/>
                </a:prstGeom>
              </p:spPr>
            </p:pic>
            <p:pic>
              <p:nvPicPr>
                <p:cNvPr id="16" name="그림 15">
                  <a:extLst>
                    <a:ext uri="{FF2B5EF4-FFF2-40B4-BE49-F238E27FC236}">
                      <a16:creationId xmlns:a16="http://schemas.microsoft.com/office/drawing/2014/main" id="{BD01DF5F-0645-F2A9-A656-A443B4581B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5656" y="2175167"/>
                  <a:ext cx="1838325" cy="2247900"/>
                </a:xfrm>
                <a:prstGeom prst="rect">
                  <a:avLst/>
                </a:prstGeom>
              </p:spPr>
            </p:pic>
          </p:grp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F27B61E-26EA-552E-A8A1-B765F8A9FC8E}"/>
                </a:ext>
              </a:extLst>
            </p:cNvPr>
            <p:cNvSpPr/>
            <p:nvPr/>
          </p:nvSpPr>
          <p:spPr bwMode="auto">
            <a:xfrm>
              <a:off x="224322" y="4050173"/>
              <a:ext cx="6960403" cy="212970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noFill/>
              </a:endParaRP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547CA0-588F-6EF8-813E-702819C62E81}"/>
              </a:ext>
            </a:extLst>
          </p:cNvPr>
          <p:cNvSpPr/>
          <p:nvPr/>
        </p:nvSpPr>
        <p:spPr bwMode="auto">
          <a:xfrm>
            <a:off x="3263900" y="1533525"/>
            <a:ext cx="269875" cy="1733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676EDBF-9A22-E77B-A544-03E7DE4799CF}"/>
              </a:ext>
            </a:extLst>
          </p:cNvPr>
          <p:cNvSpPr/>
          <p:nvPr/>
        </p:nvSpPr>
        <p:spPr bwMode="auto">
          <a:xfrm>
            <a:off x="6540703" y="1534875"/>
            <a:ext cx="269875" cy="1733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6624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F5606EA3-96BC-4DA4-6E48-265C7ECA2C7C}"/>
              </a:ext>
            </a:extLst>
          </p:cNvPr>
          <p:cNvGrpSpPr/>
          <p:nvPr/>
        </p:nvGrpSpPr>
        <p:grpSpPr>
          <a:xfrm>
            <a:off x="682482" y="2276270"/>
            <a:ext cx="6653262" cy="2034622"/>
            <a:chOff x="0" y="1822892"/>
            <a:chExt cx="9144000" cy="2942977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B6933847-C8E9-4F23-8A88-A2DB333FD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7969" y="1822892"/>
              <a:ext cx="226031" cy="2928906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26C307FC-3968-9359-2EFD-3F3B40B2D3F8}"/>
                </a:ext>
              </a:extLst>
            </p:cNvPr>
            <p:cNvGrpSpPr/>
            <p:nvPr/>
          </p:nvGrpSpPr>
          <p:grpSpPr>
            <a:xfrm>
              <a:off x="0" y="1836376"/>
              <a:ext cx="9051533" cy="2929493"/>
              <a:chOff x="0" y="1836376"/>
              <a:chExt cx="9051533" cy="2929493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CFFFD901-D88D-F0AD-5600-3E8C01B761EF}"/>
                  </a:ext>
                </a:extLst>
              </p:cNvPr>
              <p:cNvGrpSpPr/>
              <p:nvPr/>
            </p:nvGrpSpPr>
            <p:grpSpPr>
              <a:xfrm>
                <a:off x="0" y="1836376"/>
                <a:ext cx="9051533" cy="2929493"/>
                <a:chOff x="-1" y="3889306"/>
                <a:chExt cx="9051533" cy="2929493"/>
              </a:xfrm>
            </p:grpSpPr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EC6B920F-7188-E95D-439C-B1FFEB7FA7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-1" y="3889306"/>
                  <a:ext cx="9051533" cy="2929493"/>
                </a:xfrm>
                <a:prstGeom prst="rect">
                  <a:avLst/>
                </a:prstGeom>
              </p:spPr>
            </p:pic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949A19C5-957A-81E7-AB43-0C998443DB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88021" y="4207549"/>
                  <a:ext cx="3559997" cy="2288570"/>
                </a:xfrm>
                <a:prstGeom prst="rect">
                  <a:avLst/>
                </a:prstGeom>
              </p:spPr>
            </p:pic>
          </p:grpSp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044D22E5-3853-9458-CC7A-CB2B83E49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89066" y="2200264"/>
                <a:ext cx="828675" cy="2238375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BD01DF5F-0645-F2A9-A656-A443B4581B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5656" y="2175167"/>
                <a:ext cx="1838325" cy="2247900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직접 실행한 시뮬레이션 결과 </a:t>
            </a:r>
            <a:r>
              <a:rPr lang="en-US" altLang="ko-KR" dirty="0"/>
              <a:t>(Ex.0)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논문과 비교해본 실제 시뮬레이션의 결과</a:t>
            </a:r>
            <a:endParaRPr lang="en-US" altLang="ko-KR" dirty="0"/>
          </a:p>
          <a:p>
            <a:pPr lvl="1"/>
            <a:r>
              <a:rPr lang="ko-KR" altLang="en-US" dirty="0"/>
              <a:t>최소 </a:t>
            </a:r>
            <a:r>
              <a:rPr lang="ko-KR" altLang="en-US" dirty="0" err="1"/>
              <a:t>고도각</a:t>
            </a:r>
            <a:r>
              <a:rPr lang="ko-KR" altLang="en-US" dirty="0"/>
              <a:t> 이상 유지되는 기간이 비교적 짧음</a:t>
            </a:r>
            <a:endParaRPr lang="en-US" altLang="ko-KR" dirty="0"/>
          </a:p>
          <a:p>
            <a:pPr lvl="1"/>
            <a:r>
              <a:rPr lang="ko-KR" altLang="en-US" dirty="0"/>
              <a:t>최소 </a:t>
            </a:r>
            <a:r>
              <a:rPr lang="ko-KR" altLang="en-US" dirty="0" err="1"/>
              <a:t>고도각</a:t>
            </a:r>
            <a:r>
              <a:rPr lang="ko-KR" altLang="en-US" dirty="0"/>
              <a:t> 이상 유지되는 횟수가 </a:t>
            </a:r>
            <a:r>
              <a:rPr lang="en-US" altLang="ko-KR" dirty="0"/>
              <a:t>2</a:t>
            </a:r>
            <a:r>
              <a:rPr lang="ko-KR" altLang="en-US" dirty="0"/>
              <a:t>배 더 많음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396000" lvl="2" indent="0">
              <a:buNone/>
            </a:pPr>
            <a:endParaRPr lang="en-US" altLang="ko-KR" dirty="0"/>
          </a:p>
          <a:p>
            <a:pPr lvl="4"/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4309EF-7A25-6BC0-49A2-30E0748DA2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835" y="4464585"/>
            <a:ext cx="6936909" cy="155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8479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/>
              <a:t>여러가지</a:t>
            </a:r>
            <a:r>
              <a:rPr lang="en-US" altLang="ko-KR" dirty="0"/>
              <a:t> Linear Programming </a:t>
            </a:r>
            <a:r>
              <a:rPr lang="ko-KR" altLang="en-US" dirty="0"/>
              <a:t>방법 및 각각의 </a:t>
            </a:r>
            <a:r>
              <a:rPr lang="en-US" altLang="ko-KR" dirty="0"/>
              <a:t>Constraints</a:t>
            </a:r>
            <a:r>
              <a:rPr lang="ko-KR" altLang="en-US" dirty="0"/>
              <a:t>에 대한 사전조사 완료</a:t>
            </a:r>
            <a:endParaRPr lang="en-US" altLang="ko-KR" dirty="0"/>
          </a:p>
          <a:p>
            <a:pPr lvl="1"/>
            <a:r>
              <a:rPr lang="en-US" altLang="ko-KR" dirty="0"/>
              <a:t>MILP(BILP) method</a:t>
            </a:r>
            <a:r>
              <a:rPr lang="ko-KR" altLang="en-US" dirty="0"/>
              <a:t>를 이용한 </a:t>
            </a:r>
            <a:r>
              <a:rPr lang="en-US" altLang="ko-KR" dirty="0"/>
              <a:t>Solver</a:t>
            </a:r>
            <a:r>
              <a:rPr lang="ko-KR" altLang="en-US" dirty="0"/>
              <a:t>를 </a:t>
            </a:r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r>
              <a:rPr lang="ko-KR" altLang="en-US" dirty="0"/>
              <a:t>로 구현 완료</a:t>
            </a:r>
            <a:endParaRPr lang="en-US" altLang="ko-KR" dirty="0"/>
          </a:p>
          <a:p>
            <a:pPr lvl="1"/>
            <a:r>
              <a:rPr lang="ko-KR" altLang="en-US" dirty="0"/>
              <a:t>논문을 참고하여 </a:t>
            </a:r>
            <a:r>
              <a:rPr lang="en-US" altLang="ko-KR" dirty="0"/>
              <a:t>Example.0</a:t>
            </a:r>
            <a:r>
              <a:rPr lang="ko-KR" altLang="en-US" dirty="0"/>
              <a:t> 시뮬레이션을 수행  </a:t>
            </a:r>
            <a:endParaRPr lang="en-US" altLang="ko-KR" dirty="0"/>
          </a:p>
          <a:p>
            <a:pPr lvl="2"/>
            <a:r>
              <a:rPr lang="ko-KR" altLang="en-US" dirty="0"/>
              <a:t>하지만 아직 위성 운용에 적용하기엔 기초적인 수준</a:t>
            </a:r>
            <a:endParaRPr lang="en-US" altLang="ko-KR" dirty="0"/>
          </a:p>
          <a:p>
            <a:pPr lvl="2"/>
            <a:r>
              <a:rPr lang="ko-KR" altLang="en-US" dirty="0"/>
              <a:t>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위성 운용과의 관련성 다소 적음 </a:t>
            </a:r>
            <a:endParaRPr lang="en-US" altLang="ko-KR" dirty="0"/>
          </a:p>
          <a:p>
            <a:pPr lvl="2"/>
            <a:r>
              <a:rPr lang="en-US" altLang="ko-KR" dirty="0"/>
              <a:t>BILP(MILP) </a:t>
            </a:r>
            <a:r>
              <a:rPr lang="ko-KR" altLang="en-US" dirty="0"/>
              <a:t>기법에 대해서는 두 번째 논문에서 다룸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보완할 점</a:t>
            </a:r>
            <a:endParaRPr lang="en-US" altLang="ko-KR" dirty="0"/>
          </a:p>
          <a:p>
            <a:pPr lvl="2"/>
            <a:r>
              <a:rPr lang="en-US" altLang="ko-KR" dirty="0"/>
              <a:t>Linear Programming </a:t>
            </a:r>
            <a:r>
              <a:rPr lang="ko-KR" altLang="en-US" dirty="0"/>
              <a:t>방법을 </a:t>
            </a:r>
            <a:r>
              <a:rPr lang="ko-KR" altLang="en-US" dirty="0" err="1"/>
              <a:t>위성군</a:t>
            </a:r>
            <a:r>
              <a:rPr lang="ko-KR" altLang="en-US" dirty="0"/>
              <a:t> 운용에 연관시켜 </a:t>
            </a:r>
            <a:r>
              <a:rPr lang="en-US" altLang="ko-KR" dirty="0"/>
              <a:t>STK</a:t>
            </a:r>
            <a:r>
              <a:rPr lang="ko-KR" altLang="en-US" dirty="0"/>
              <a:t> 및 </a:t>
            </a:r>
            <a:r>
              <a:rPr lang="en-US" altLang="ko-KR" dirty="0" err="1"/>
              <a:t>Freeflyer</a:t>
            </a:r>
            <a:r>
              <a:rPr lang="ko-KR" altLang="en-US" dirty="0"/>
              <a:t>를 통한 </a:t>
            </a:r>
            <a:r>
              <a:rPr lang="ko-KR" altLang="en-US" dirty="0" err="1"/>
              <a:t>위성군</a:t>
            </a:r>
            <a:r>
              <a:rPr lang="ko-KR" altLang="en-US" dirty="0"/>
              <a:t> 전파 시뮬레이션 진행</a:t>
            </a:r>
            <a:endParaRPr lang="en-US" altLang="ko-KR" dirty="0"/>
          </a:p>
          <a:p>
            <a:pPr lvl="2"/>
            <a:r>
              <a:rPr lang="ko-KR" altLang="en-US" dirty="0"/>
              <a:t>운용 개념 및 목적함수</a:t>
            </a:r>
            <a:r>
              <a:rPr lang="en-US" altLang="ko-KR" dirty="0"/>
              <a:t>,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/>
              <a:t>제한조건 등을 정의하고 최적의 성능지수 도출</a:t>
            </a:r>
            <a:endParaRPr lang="en-US" altLang="ko-KR" dirty="0"/>
          </a:p>
          <a:p>
            <a:pPr lvl="2"/>
            <a:r>
              <a:rPr lang="en-US" altLang="ko-KR" dirty="0"/>
              <a:t>Walker-delta(</a:t>
            </a:r>
            <a:r>
              <a:rPr lang="ko-KR" altLang="en-US" dirty="0"/>
              <a:t>또는 </a:t>
            </a:r>
            <a:r>
              <a:rPr lang="en-US" altLang="ko-KR" dirty="0"/>
              <a:t>quasi-symmetry) </a:t>
            </a:r>
            <a:r>
              <a:rPr lang="ko-KR" altLang="en-US" dirty="0"/>
              <a:t>모델과 </a:t>
            </a:r>
            <a:r>
              <a:rPr lang="en-US" altLang="ko-KR" dirty="0"/>
              <a:t>Linear Programming </a:t>
            </a:r>
            <a:r>
              <a:rPr lang="ko-KR" altLang="en-US" dirty="0"/>
              <a:t>방법의 성능지수 비교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3304184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(2) </a:t>
            </a:r>
            <a:r>
              <a:rPr lang="en-US" altLang="ko-KR" dirty="0" err="1"/>
              <a:t>Mencarelli</a:t>
            </a:r>
            <a:r>
              <a:rPr lang="en-US" altLang="ko-KR" dirty="0"/>
              <a:t>, L., </a:t>
            </a:r>
            <a:r>
              <a:rPr lang="en-US" altLang="ko-KR" dirty="0" err="1"/>
              <a:t>Floquet</a:t>
            </a:r>
            <a:r>
              <a:rPr lang="en-US" altLang="ko-KR" dirty="0"/>
              <a:t>, J., Georges, F. et al. Mixed integer (non)linear approaches for the satellite constellation design problem. </a:t>
            </a:r>
            <a:r>
              <a:rPr lang="en-US" altLang="ko-KR" dirty="0" err="1"/>
              <a:t>Optim</a:t>
            </a:r>
            <a:r>
              <a:rPr lang="en-US" altLang="ko-KR" dirty="0"/>
              <a:t> Eng (2022). https://doi.org/10.1007/ s11081-022-09774-9</a:t>
            </a:r>
          </a:p>
        </p:txBody>
      </p:sp>
    </p:spTree>
    <p:extLst>
      <p:ext uri="{BB962C8B-B14F-4D97-AF65-F5344CB8AC3E}">
        <p14:creationId xmlns:p14="http://schemas.microsoft.com/office/powerpoint/2010/main" val="163342343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불연속 커버리지 해결을 위한 최적화 </a:t>
            </a: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  <a:endParaRPr lang="en-US" altLang="ko-KR" dirty="0"/>
          </a:p>
          <a:p>
            <a:pPr lvl="1"/>
            <a:r>
              <a:rPr lang="ko-KR" altLang="en-US" dirty="0"/>
              <a:t>주어진 재방문 시간 및 관심 지역에 대해 최소한의 위성 수를 결정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연구방법</a:t>
            </a:r>
          </a:p>
          <a:p>
            <a:pPr lvl="1"/>
            <a:r>
              <a:rPr lang="ko-KR" altLang="en-US" dirty="0"/>
              <a:t>다음 두 가지 방법의 </a:t>
            </a:r>
            <a:r>
              <a:rPr lang="en-US" altLang="ko-KR" dirty="0"/>
              <a:t>Mixed Integer Nonlinear formulations</a:t>
            </a:r>
            <a:r>
              <a:rPr lang="ko-KR" altLang="en-US" dirty="0"/>
              <a:t>을 이용</a:t>
            </a:r>
            <a:endParaRPr lang="en-US" altLang="ko-KR" dirty="0"/>
          </a:p>
          <a:p>
            <a:pPr lvl="2"/>
            <a:r>
              <a:rPr lang="ko-KR" altLang="en-US" dirty="0"/>
              <a:t>수학 정의에 기초한 관측 가능성의 실현 가능성 문제</a:t>
            </a:r>
            <a:endParaRPr lang="en-US" altLang="ko-KR" dirty="0"/>
          </a:p>
          <a:p>
            <a:pPr lvl="2"/>
            <a:r>
              <a:rPr lang="ko-KR" altLang="en-US" dirty="0"/>
              <a:t>주어진 시간에 관심 지역을 관측하는지 여부를 지정하는 변수 집합</a:t>
            </a:r>
            <a:endParaRPr lang="en-US" altLang="ko-KR" dirty="0"/>
          </a:p>
          <a:p>
            <a:pPr lvl="1"/>
            <a:r>
              <a:rPr lang="en-US" altLang="ko-KR" dirty="0"/>
              <a:t>Linear problem</a:t>
            </a:r>
            <a:r>
              <a:rPr lang="ko-KR" altLang="en-US" dirty="0"/>
              <a:t>을 해결하기 위한 위성들의 위치 이산화</a:t>
            </a:r>
            <a:endParaRPr lang="en-US" altLang="ko-KR" dirty="0"/>
          </a:p>
          <a:p>
            <a:pPr lvl="1"/>
            <a:r>
              <a:rPr lang="en-US" altLang="ko-KR" dirty="0"/>
              <a:t>Julia language</a:t>
            </a:r>
            <a:r>
              <a:rPr lang="ko-KR" altLang="en-US" dirty="0"/>
              <a:t>를 이용하여 잠재적 또는 제한적 접근 도출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32894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사용된 소프트웨어 및 최적화 프로그램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분석 소프트웨어</a:t>
            </a:r>
            <a:endParaRPr lang="en-US" altLang="ko-KR" dirty="0"/>
          </a:p>
          <a:p>
            <a:pPr lvl="1"/>
            <a:r>
              <a:rPr lang="en-US" altLang="ko-KR" dirty="0"/>
              <a:t>Julia(version 1.7.2)</a:t>
            </a:r>
          </a:p>
          <a:p>
            <a:pPr lvl="1"/>
            <a:r>
              <a:rPr lang="en-US" altLang="ko-KR" dirty="0"/>
              <a:t>Julia library(Satellite Toolbox)</a:t>
            </a:r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en-US" altLang="ko-KR" dirty="0"/>
              <a:t>Solver</a:t>
            </a:r>
          </a:p>
          <a:p>
            <a:pPr lvl="1"/>
            <a:r>
              <a:rPr lang="en-US" altLang="ko-KR" dirty="0"/>
              <a:t>Julia library(CPLEX 20.1.0)</a:t>
            </a:r>
          </a:p>
          <a:p>
            <a:endParaRPr lang="en-US" altLang="ko-KR" dirty="0"/>
          </a:p>
          <a:p>
            <a:r>
              <a:rPr lang="en-US" altLang="ko-KR" dirty="0"/>
              <a:t>Simulator</a:t>
            </a:r>
          </a:p>
          <a:p>
            <a:pPr lvl="1"/>
            <a:r>
              <a:rPr lang="en-US" altLang="ko-KR" dirty="0" err="1"/>
              <a:t>SpaceLab</a:t>
            </a:r>
            <a:r>
              <a:rPr lang="en-US" altLang="ko-KR" dirty="0"/>
              <a:t> simulator(ONERA)</a:t>
            </a:r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0106389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분석 소프트웨어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Julia(version 1.7.2)</a:t>
            </a:r>
          </a:p>
          <a:p>
            <a:pPr marL="2160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B68B36-0E75-2E47-4BFF-E029A304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40" y="1593444"/>
            <a:ext cx="86201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3435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분석 소프트웨어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Julia(version 1.7.2)</a:t>
            </a:r>
          </a:p>
          <a:p>
            <a:pPr lvl="1"/>
            <a:r>
              <a:rPr lang="en-US" altLang="ko-KR" dirty="0"/>
              <a:t>Julia Terminal(parameters, functions)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7FE70B-66E0-AF98-9371-45A43AE1F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781298"/>
            <a:ext cx="3345330" cy="40554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B10076-1B52-74A7-60E5-06B3E1A5C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519" y="1781298"/>
            <a:ext cx="3644581" cy="40554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6CAAEB-A7EE-37E2-9350-0083636409A3}"/>
              </a:ext>
            </a:extLst>
          </p:cNvPr>
          <p:cNvSpPr txBox="1"/>
          <p:nvPr/>
        </p:nvSpPr>
        <p:spPr>
          <a:xfrm>
            <a:off x="2001181" y="5898492"/>
            <a:ext cx="1512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Parameters.jl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2FF28-065A-6928-79A3-87C5E3911B21}"/>
              </a:ext>
            </a:extLst>
          </p:cNvPr>
          <p:cNvSpPr txBox="1"/>
          <p:nvPr/>
        </p:nvSpPr>
        <p:spPr>
          <a:xfrm>
            <a:off x="6057759" y="5916486"/>
            <a:ext cx="1512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Functions.jl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6478598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0068385-6D5B-35DA-9364-8C5B999AC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1754578"/>
            <a:ext cx="5711952" cy="41088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분석 소프트웨어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Julia(version 1.7.2)</a:t>
            </a:r>
          </a:p>
          <a:p>
            <a:pPr lvl="1"/>
            <a:r>
              <a:rPr lang="en-US" altLang="ko-KR" dirty="0"/>
              <a:t>Julia Terminal(MILP)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CAAEB-A7EE-37E2-9350-0083636409A3}"/>
              </a:ext>
            </a:extLst>
          </p:cNvPr>
          <p:cNvSpPr txBox="1"/>
          <p:nvPr/>
        </p:nvSpPr>
        <p:spPr>
          <a:xfrm>
            <a:off x="2501991" y="5953368"/>
            <a:ext cx="24760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Keplerian_4P_SferaGira-MILP.jl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3339635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입력</a:t>
            </a:r>
            <a:r>
              <a:rPr lang="en-US" altLang="ko-KR" dirty="0"/>
              <a:t>/</a:t>
            </a:r>
            <a:r>
              <a:rPr lang="ko-KR" altLang="en-US" dirty="0"/>
              <a:t>출력 변수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Julia(version 1.7.2)</a:t>
            </a:r>
          </a:p>
          <a:p>
            <a:pPr lvl="1"/>
            <a:r>
              <a:rPr lang="en-US" altLang="ko-KR" dirty="0"/>
              <a:t>Input Parameters</a:t>
            </a:r>
          </a:p>
          <a:p>
            <a:pPr lvl="2"/>
            <a:r>
              <a:rPr lang="en-US" altLang="ko-KR" dirty="0"/>
              <a:t>Target points</a:t>
            </a:r>
          </a:p>
          <a:p>
            <a:pPr lvl="2"/>
            <a:r>
              <a:rPr lang="en-US" altLang="ko-KR" dirty="0"/>
              <a:t>Revisit Time</a:t>
            </a:r>
          </a:p>
          <a:p>
            <a:pPr lvl="2"/>
            <a:r>
              <a:rPr lang="en-US" altLang="ko-KR" dirty="0"/>
              <a:t>Simulation Time Step(m)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Output Parameters</a:t>
            </a:r>
          </a:p>
          <a:p>
            <a:pPr lvl="2"/>
            <a:r>
              <a:rPr lang="en-US" altLang="ko-KR" dirty="0"/>
              <a:t>Number of Satellite</a:t>
            </a:r>
          </a:p>
          <a:p>
            <a:pPr lvl="2"/>
            <a:r>
              <a:rPr lang="en-US" altLang="ko-KR" dirty="0"/>
              <a:t>Coverage Req</a:t>
            </a:r>
          </a:p>
          <a:p>
            <a:pPr lvl="2"/>
            <a:r>
              <a:rPr lang="en-US" altLang="ko-KR" dirty="0" err="1"/>
              <a:t>MILP_Routine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59CFC4-B596-D7E5-7E4E-5AEF69BA1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711" y="1495171"/>
            <a:ext cx="5618653" cy="3867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AA3205-44DC-E82E-B036-696CD672A8AE}"/>
              </a:ext>
            </a:extLst>
          </p:cNvPr>
          <p:cNvSpPr txBox="1"/>
          <p:nvPr/>
        </p:nvSpPr>
        <p:spPr>
          <a:xfrm>
            <a:off x="4506353" y="5444345"/>
            <a:ext cx="3083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400" dirty="0"/>
              <a:t>Example of Input Parameters</a:t>
            </a:r>
          </a:p>
        </p:txBody>
      </p:sp>
    </p:spTree>
    <p:extLst>
      <p:ext uri="{BB962C8B-B14F-4D97-AF65-F5344CB8AC3E}">
        <p14:creationId xmlns:p14="http://schemas.microsoft.com/office/powerpoint/2010/main" val="159497551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소프트웨어 실행 결과 예시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Julia(version 1.7.2)</a:t>
            </a:r>
          </a:p>
          <a:p>
            <a:pPr lvl="1"/>
            <a:r>
              <a:rPr lang="en-US" altLang="ko-KR" dirty="0"/>
              <a:t>3D Global map &amp; </a:t>
            </a:r>
            <a:r>
              <a:rPr lang="en-US" altLang="ko-KR" dirty="0" err="1"/>
              <a:t>MILP_Routine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16F8D0-ACBD-43B8-517A-CACBFD4FA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08" y="1790757"/>
            <a:ext cx="3697256" cy="31117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2D50F6-7C6C-C07B-51BE-5863EDF94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76" y="5046691"/>
            <a:ext cx="3831984" cy="11243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9EB28E8-1F3B-48FD-707D-107C0960F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415" y="1790757"/>
            <a:ext cx="4366184" cy="31117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493827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주어진 재방문 주기를 달성하기 위해 최소한의 위성을 구하는 </a:t>
            </a:r>
            <a:r>
              <a:rPr lang="ko-KR" altLang="en-US" dirty="0" err="1"/>
              <a:t>위성군</a:t>
            </a:r>
            <a:r>
              <a:rPr lang="ko-KR" altLang="en-US" dirty="0"/>
              <a:t> 설계가 목표</a:t>
            </a:r>
            <a:endParaRPr lang="en-US" altLang="ko-KR" dirty="0"/>
          </a:p>
          <a:p>
            <a:pPr lvl="2"/>
            <a:r>
              <a:rPr lang="en-US" altLang="ko-KR" dirty="0"/>
              <a:t>Julia language</a:t>
            </a:r>
            <a:r>
              <a:rPr lang="ko-KR" altLang="en-US" dirty="0"/>
              <a:t>를 이용한 </a:t>
            </a:r>
            <a:r>
              <a:rPr lang="en-US" altLang="ko-KR" dirty="0"/>
              <a:t>MILP method</a:t>
            </a:r>
            <a:r>
              <a:rPr lang="ko-KR" altLang="en-US" dirty="0"/>
              <a:t>로 최적화 작업 시뮬레이션 진행</a:t>
            </a:r>
            <a:endParaRPr lang="en-US" altLang="ko-KR" dirty="0"/>
          </a:p>
          <a:p>
            <a:pPr lvl="2"/>
            <a:r>
              <a:rPr lang="ko-KR" altLang="en-US" dirty="0"/>
              <a:t>원하는 지역의 재방문 주기를 설정하고 감시를 위해 필요한 최소 위성 수 도출 가능 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보완할 점</a:t>
            </a:r>
            <a:endParaRPr lang="en-US" altLang="ko-KR" dirty="0"/>
          </a:p>
          <a:p>
            <a:pPr lvl="2"/>
            <a:r>
              <a:rPr lang="ko-KR" altLang="en-US" dirty="0"/>
              <a:t>가장 간단한 예시로</a:t>
            </a:r>
            <a:r>
              <a:rPr lang="en-US" altLang="ko-KR" dirty="0"/>
              <a:t>(Example 1) </a:t>
            </a:r>
            <a:r>
              <a:rPr lang="ko-KR" altLang="en-US" dirty="0"/>
              <a:t>시뮬레이션 진행 후 논문의 결과와 비교 </a:t>
            </a:r>
            <a:endParaRPr lang="en-US" altLang="ko-KR" dirty="0"/>
          </a:p>
          <a:p>
            <a:pPr lvl="2"/>
            <a:r>
              <a:rPr lang="en-US" altLang="ko-KR" dirty="0"/>
              <a:t>MILP</a:t>
            </a:r>
            <a:r>
              <a:rPr lang="ko-KR" altLang="en-US" dirty="0"/>
              <a:t>와 </a:t>
            </a:r>
            <a:r>
              <a:rPr lang="en-US" altLang="ko-KR" dirty="0"/>
              <a:t>MINLP </a:t>
            </a:r>
            <a:r>
              <a:rPr lang="ko-KR" altLang="en-US" dirty="0"/>
              <a:t>두 가지 방법의 성능 비교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41327712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(3) </a:t>
            </a:r>
            <a:r>
              <a:rPr lang="en-US" altLang="ko-KR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3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자연안보에 신속하게 대응 </a:t>
            </a:r>
            <a:endParaRPr lang="en-US" altLang="ko-KR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marL="216000" lvl="1" indent="0">
              <a:buNone/>
            </a:pPr>
            <a:endParaRPr lang="ko-KR" altLang="en-US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9153322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SRT</a:t>
            </a:r>
            <a:r>
              <a:rPr lang="ko-KR" altLang="en-US" dirty="0"/>
              <a:t>의 정의 및 구성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Relay</a:t>
            </a:r>
            <a:r>
              <a:rPr lang="ko-KR" altLang="en-US" dirty="0"/>
              <a:t> 위성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/>
        </p:nvGraphicFramePr>
        <p:xfrm>
          <a:off x="486122" y="2605142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(1)</a:t>
            </a:r>
            <a:r>
              <a:rPr lang="ko-KR" altLang="en-US" dirty="0"/>
              <a:t>임무목적과 제한조건을 설정</a:t>
            </a:r>
            <a:endParaRPr lang="en-US" altLang="ko-KR" dirty="0"/>
          </a:p>
          <a:p>
            <a:pPr lvl="1"/>
            <a:r>
              <a:rPr lang="en-US" altLang="ko-KR" dirty="0"/>
              <a:t>(2) EO </a:t>
            </a:r>
            <a:r>
              <a:rPr lang="ko-KR" altLang="en-US" dirty="0"/>
              <a:t>탑재체의 성능 결정</a:t>
            </a:r>
            <a:endParaRPr lang="en-US" altLang="ko-KR" dirty="0"/>
          </a:p>
          <a:p>
            <a:pPr lvl="1"/>
            <a:r>
              <a:rPr lang="en-US" altLang="ko-KR" dirty="0"/>
              <a:t>(3) </a:t>
            </a:r>
            <a:r>
              <a:rPr lang="ko-KR" altLang="en-US" dirty="0"/>
              <a:t>궤도역학에 기반한</a:t>
            </a:r>
            <a:r>
              <a:rPr lang="en-US" altLang="ko-KR" dirty="0"/>
              <a:t> STK </a:t>
            </a:r>
            <a:r>
              <a:rPr lang="ko-KR" altLang="en-US" dirty="0"/>
              <a:t>소프트웨어 시뮬레이션</a:t>
            </a:r>
            <a:endParaRPr lang="en-US" altLang="ko-KR" dirty="0"/>
          </a:p>
          <a:p>
            <a:pPr lvl="1"/>
            <a:r>
              <a:rPr lang="en-US" altLang="ko-KR" dirty="0"/>
              <a:t>(4) </a:t>
            </a:r>
            <a:r>
              <a:rPr lang="ko-KR" altLang="en-US" dirty="0"/>
              <a:t>궤도정보 및 </a:t>
            </a:r>
            <a:r>
              <a:rPr lang="ko-KR" altLang="en-US" dirty="0" err="1"/>
              <a:t>위성군</a:t>
            </a:r>
            <a:r>
              <a:rPr lang="ko-KR" altLang="en-US" dirty="0"/>
              <a:t> 운용 개념 결정</a:t>
            </a:r>
            <a:endParaRPr lang="en-US" altLang="ko-KR" dirty="0"/>
          </a:p>
          <a:p>
            <a:pPr lvl="1"/>
            <a:r>
              <a:rPr lang="en-US" altLang="ko-KR" dirty="0"/>
              <a:t>(5)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/>
            <a:r>
              <a:rPr lang="en-US" altLang="ko-KR" dirty="0"/>
              <a:t>(6) </a:t>
            </a:r>
            <a:r>
              <a:rPr lang="ko-KR" altLang="en-US" dirty="0"/>
              <a:t>최적의 결과를 내는 성능지수 도출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단계별 연구방법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BABF09C-C3AA-875F-66EE-3594CC1F60B1}"/>
              </a:ext>
            </a:extLst>
          </p:cNvPr>
          <p:cNvGrpSpPr/>
          <p:nvPr/>
        </p:nvGrpSpPr>
        <p:grpSpPr>
          <a:xfrm>
            <a:off x="287902" y="1547104"/>
            <a:ext cx="5887955" cy="2121437"/>
            <a:chOff x="279751" y="1524723"/>
            <a:chExt cx="5360761" cy="193148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78E0DC1-8279-79E8-6701-7CD127EC4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627" y="1524723"/>
              <a:ext cx="5054885" cy="19314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2B189E-DC46-E69E-EFBD-9F3E0758E038}"/>
                </a:ext>
              </a:extLst>
            </p:cNvPr>
            <p:cNvSpPr txBox="1"/>
            <p:nvPr/>
          </p:nvSpPr>
          <p:spPr>
            <a:xfrm>
              <a:off x="279751" y="1568615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(1)</a:t>
              </a:r>
              <a:endParaRPr lang="ko-KR" altLang="en-US" sz="12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C917C6-EFA8-9B1E-5BA4-C18D134BDC5C}"/>
                </a:ext>
              </a:extLst>
            </p:cNvPr>
            <p:cNvSpPr txBox="1"/>
            <p:nvPr/>
          </p:nvSpPr>
          <p:spPr>
            <a:xfrm>
              <a:off x="1494176" y="2285386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(2)</a:t>
              </a:r>
              <a:endParaRPr lang="ko-KR" altLang="en-US" sz="1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FD4704-FE8B-0C1E-7B1D-108D26E6DE3F}"/>
                </a:ext>
              </a:extLst>
            </p:cNvPr>
            <p:cNvSpPr txBox="1"/>
            <p:nvPr/>
          </p:nvSpPr>
          <p:spPr>
            <a:xfrm>
              <a:off x="2074409" y="2884779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(4)</a:t>
              </a:r>
              <a:endParaRPr lang="ko-KR" altLang="en-US" sz="12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21EED1-5953-B105-63ED-2DB925C778C5}"/>
                </a:ext>
              </a:extLst>
            </p:cNvPr>
            <p:cNvSpPr txBox="1"/>
            <p:nvPr/>
          </p:nvSpPr>
          <p:spPr>
            <a:xfrm>
              <a:off x="1885947" y="1540926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(5)</a:t>
              </a:r>
              <a:endParaRPr lang="ko-KR" altLang="en-US" sz="12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748C22-1B23-770B-607E-8C4B3C0EBCA1}"/>
                </a:ext>
              </a:extLst>
            </p:cNvPr>
            <p:cNvSpPr txBox="1"/>
            <p:nvPr/>
          </p:nvSpPr>
          <p:spPr>
            <a:xfrm>
              <a:off x="3720920" y="1569601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(6)</a:t>
              </a:r>
              <a:endParaRPr lang="ko-KR" altLang="en-US" sz="1200" b="1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CEE1002-5A46-31F7-41C2-6DF0883DCFBF}"/>
              </a:ext>
            </a:extLst>
          </p:cNvPr>
          <p:cNvSpPr txBox="1"/>
          <p:nvPr/>
        </p:nvSpPr>
        <p:spPr>
          <a:xfrm>
            <a:off x="4151171" y="3032901"/>
            <a:ext cx="489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(3)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5395382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(1) Mission Objectives and</a:t>
            </a:r>
            <a:r>
              <a:rPr lang="ko-KR" altLang="en-US" dirty="0"/>
              <a:t> </a:t>
            </a:r>
            <a:r>
              <a:rPr lang="en-US" altLang="ko-KR" dirty="0"/>
              <a:t>Constraints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(2) Remote Sensing Sensor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임무 목적 및 제한조건과 </a:t>
            </a:r>
            <a:r>
              <a:rPr lang="ko-KR" altLang="en-US" dirty="0" err="1"/>
              <a:t>탑재체</a:t>
            </a:r>
            <a:r>
              <a:rPr lang="ko-KR" altLang="en-US" dirty="0"/>
              <a:t> 성능 결정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F103E3-69C3-6850-2071-B6FE1CA0FA5C}"/>
              </a:ext>
            </a:extLst>
          </p:cNvPr>
          <p:cNvGraphicFramePr>
            <a:graphicFrameLocks noGrp="1"/>
          </p:cNvGraphicFramePr>
          <p:nvPr/>
        </p:nvGraphicFramePr>
        <p:xfrm>
          <a:off x="750760" y="1424372"/>
          <a:ext cx="6125211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583">
                  <a:extLst>
                    <a:ext uri="{9D8B030D-6E8A-4147-A177-3AD203B41FA5}">
                      <a16:colId xmlns:a16="http://schemas.microsoft.com/office/drawing/2014/main" val="1211919237"/>
                    </a:ext>
                  </a:extLst>
                </a:gridCol>
              </a:tblGrid>
              <a:tr h="267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Step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9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Mission</a:t>
                      </a:r>
                      <a:r>
                        <a:rPr lang="ko-KR" altLang="en-US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Global Coverage 100%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커버를 달성하는 광학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특정 공간 해상도를 달성하는데 필요한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파라미터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SRT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줄이기 위한 최상의 적도 평면 상의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 송수신을 위한 지상국의 위치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19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Constraints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SSO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200~1,200km (Imaging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MEO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 (Relay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평면 당 위성의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2~6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Detector Pitch(DP)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FBA166-D59A-D7DA-31F3-D3A18048B8C3}"/>
              </a:ext>
            </a:extLst>
          </p:cNvPr>
          <p:cNvGraphicFramePr>
            <a:graphicFrameLocks noGrp="1"/>
          </p:cNvGraphicFramePr>
          <p:nvPr/>
        </p:nvGraphicFramePr>
        <p:xfrm>
          <a:off x="750760" y="4903574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043772B-BCE6-0E42-B27D-5A2B8EB75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546" y="4903574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/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/>
                  <a:t>GSD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𝐷𝑃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𝑒𝑙𝑒𝑣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blipFill>
                <a:blip r:embed="rId4"/>
                <a:stretch>
                  <a:fillRect l="-6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(3) Orbital</a:t>
            </a:r>
            <a:r>
              <a:rPr lang="ko-KR" altLang="en-US" dirty="0"/>
              <a:t> </a:t>
            </a:r>
            <a:r>
              <a:rPr lang="en-US" altLang="ko-KR" dirty="0"/>
              <a:t>Mechanics and simulation method</a:t>
            </a:r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</a:t>
            </a:r>
            <a:endParaRPr lang="en-US" altLang="ko-KR" dirty="0"/>
          </a:p>
          <a:p>
            <a:pPr lvl="1"/>
            <a:r>
              <a:rPr lang="ko-KR" altLang="en-US" dirty="0"/>
              <a:t>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en-US" altLang="ko-KR" dirty="0"/>
              <a:t>(4) Orbit types and Constellation Concept</a:t>
            </a:r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2"/>
            <a:r>
              <a:rPr lang="ko-KR" altLang="en-US" dirty="0"/>
              <a:t>중위도 지역 커버 목적</a:t>
            </a:r>
            <a:endParaRPr lang="en-US" altLang="ko-KR" dirty="0"/>
          </a:p>
          <a:p>
            <a:pPr lvl="1"/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</a:p>
          <a:p>
            <a:pPr lvl="2"/>
            <a:r>
              <a:rPr lang="en-US" altLang="ko-KR" dirty="0"/>
              <a:t>Imaging </a:t>
            </a:r>
            <a:r>
              <a:rPr lang="ko-KR" altLang="en-US" dirty="0"/>
              <a:t>위성군과의 </a:t>
            </a:r>
            <a:r>
              <a:rPr lang="en-US" altLang="ko-KR" dirty="0"/>
              <a:t>ISL</a:t>
            </a:r>
            <a:r>
              <a:rPr lang="ko-KR" altLang="en-US" dirty="0"/>
              <a:t> 통신 목적</a:t>
            </a:r>
          </a:p>
          <a:p>
            <a:pPr lvl="1"/>
            <a:r>
              <a:rPr lang="ko-KR" altLang="en-US" dirty="0"/>
              <a:t>이종 위성군을 이용한 </a:t>
            </a:r>
            <a:r>
              <a:rPr lang="en-US" altLang="ko-KR" dirty="0"/>
              <a:t>SRT</a:t>
            </a:r>
            <a:r>
              <a:rPr lang="ko-KR" altLang="en-US" dirty="0"/>
              <a:t> 성능분석</a:t>
            </a:r>
          </a:p>
          <a:p>
            <a:pPr lvl="2"/>
            <a:r>
              <a:rPr lang="ko-KR" altLang="en-US" dirty="0"/>
              <a:t>이종위성군 </a:t>
            </a:r>
            <a:r>
              <a:rPr lang="en-US" altLang="ko-KR" dirty="0"/>
              <a:t>vs Imaging</a:t>
            </a:r>
            <a:r>
              <a:rPr lang="ko-KR" altLang="en-US" dirty="0"/>
              <a:t> 위성군을 비교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사용된 </a:t>
            </a:r>
            <a:r>
              <a:rPr lang="en-US" altLang="ko-KR" dirty="0"/>
              <a:t>SW</a:t>
            </a:r>
            <a:r>
              <a:rPr lang="ko-KR" altLang="en-US" dirty="0"/>
              <a:t>및 궤도정보 및 운용개념 결정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650ABF-6465-7406-9E97-F431DCDB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05" y="1894794"/>
            <a:ext cx="3687943" cy="154256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A483391-5840-00D5-4390-A1B22A744786}"/>
              </a:ext>
            </a:extLst>
          </p:cNvPr>
          <p:cNvGraphicFramePr>
            <a:graphicFrameLocks noGrp="1"/>
          </p:cNvGraphicFramePr>
          <p:nvPr/>
        </p:nvGraphicFramePr>
        <p:xfrm>
          <a:off x="4801717" y="1884520"/>
          <a:ext cx="4075044" cy="160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071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168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Term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위성군을 설계할 때 </a:t>
                      </a:r>
                      <a:r>
                        <a:rPr lang="en-US" altLang="ko-KR" sz="1300" dirty="0"/>
                        <a:t>input</a:t>
                      </a:r>
                      <a:r>
                        <a:rPr lang="ko-KR" altLang="en-US" sz="1300" dirty="0"/>
                        <a:t>으로 적용되는 설계변수로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최적화를 위해 값을 조정 가능</a:t>
                      </a: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설계변수에 따라 얻을 수 있는 최종 성능지표 </a:t>
                      </a:r>
                      <a:r>
                        <a:rPr lang="en-US" altLang="ko-KR" sz="1300" dirty="0"/>
                        <a:t>(ex. </a:t>
                      </a:r>
                      <a:r>
                        <a:rPr lang="ko-KR" altLang="en-US" sz="1300" dirty="0"/>
                        <a:t>커버리지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재방문 주기</a:t>
                      </a:r>
                      <a:r>
                        <a:rPr lang="en-US" altLang="ko-KR" sz="1300" dirty="0"/>
                        <a:t>,</a:t>
                      </a:r>
                      <a:r>
                        <a:rPr lang="ko-KR" altLang="en-US" sz="1300" dirty="0"/>
                        <a:t> 해상도 등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  <a:tr h="15306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1~2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개의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실행시키면 각 값에서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가 수집됨 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2065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F26E239-51ED-F7D9-A93B-C81443685F39}"/>
              </a:ext>
            </a:extLst>
          </p:cNvPr>
          <p:cNvGraphicFramePr>
            <a:graphicFrameLocks noGrp="1"/>
          </p:cNvGraphicFramePr>
          <p:nvPr/>
        </p:nvGraphicFramePr>
        <p:xfrm>
          <a:off x="4401062" y="4567064"/>
          <a:ext cx="4475699" cy="131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683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705683">
                  <a:extLst>
                    <a:ext uri="{9D8B030D-6E8A-4147-A177-3AD203B41FA5}">
                      <a16:colId xmlns:a16="http://schemas.microsoft.com/office/drawing/2014/main" val="13755828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LEO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SSO(Sun-Synchronous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Imaging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453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MIO(Mid-inclination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6657"/>
                  </a:ext>
                </a:extLst>
              </a:tr>
              <a:tr h="28919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MEO(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Medium Earth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Medium Earth 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Relay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282609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b="1" u="sng" dirty="0" err="1"/>
              <a:t>위성군</a:t>
            </a:r>
            <a:r>
              <a:rPr lang="ko-KR" altLang="en-US" b="1" u="sng" dirty="0"/>
              <a:t> 설계의 임무목적 및 제한조건은</a:t>
            </a:r>
            <a:r>
              <a:rPr lang="ko-KR" altLang="en-US" dirty="0"/>
              <a:t> 궤도 구성을 결정하는 중요한 요소</a:t>
            </a:r>
            <a:endParaRPr lang="en-US" altLang="ko-KR" dirty="0"/>
          </a:p>
          <a:p>
            <a:pPr lvl="1"/>
            <a:r>
              <a:rPr lang="en-US" altLang="ko-KR" sz="1800" dirty="0"/>
              <a:t>SRT </a:t>
            </a:r>
            <a:r>
              <a:rPr lang="ko-KR" altLang="en-US" sz="1800" dirty="0"/>
              <a:t>개선은 </a:t>
            </a:r>
            <a:r>
              <a:rPr lang="ko-KR" altLang="en-US" dirty="0"/>
              <a:t>재해 위험 감소</a:t>
            </a:r>
            <a:r>
              <a:rPr lang="en-US" altLang="ko-KR" dirty="0"/>
              <a:t>,</a:t>
            </a:r>
            <a:r>
              <a:rPr lang="ko-KR" altLang="en-US" dirty="0"/>
              <a:t> 국가 보안에 중요한 관심사</a:t>
            </a:r>
            <a:endParaRPr lang="en-US" altLang="ko-KR" dirty="0"/>
          </a:p>
          <a:p>
            <a:pPr lvl="1"/>
            <a:r>
              <a:rPr lang="ko-KR" altLang="en-US" sz="1800" dirty="0"/>
              <a:t>위성군의 특성</a:t>
            </a:r>
            <a:endParaRPr lang="en-US" altLang="ko-KR" sz="1800" dirty="0"/>
          </a:p>
          <a:p>
            <a:pPr lvl="2"/>
            <a:r>
              <a:rPr lang="ko-KR" altLang="en-US" dirty="0"/>
              <a:t>위성의 </a:t>
            </a:r>
            <a:r>
              <a:rPr lang="ko-KR" altLang="en-US" b="1" u="sng" dirty="0"/>
              <a:t>고도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궤도 평면 및 평면 당 위성 수</a:t>
            </a:r>
            <a:r>
              <a:rPr lang="ko-KR" altLang="en-US" dirty="0"/>
              <a:t> 등 </a:t>
            </a:r>
            <a:endParaRPr lang="en-US" altLang="ko-KR" dirty="0"/>
          </a:p>
          <a:p>
            <a:pPr lvl="2"/>
            <a:r>
              <a:rPr lang="ko-KR" altLang="en-US" dirty="0"/>
              <a:t>시스템 가용성이 달라지고 </a:t>
            </a:r>
            <a:r>
              <a:rPr lang="ko-KR" altLang="en-US" b="1" u="sng" dirty="0"/>
              <a:t>이종 위성군의 구성에 큰 영향</a:t>
            </a:r>
            <a:r>
              <a:rPr lang="ko-KR" altLang="en-US" dirty="0"/>
              <a:t>을 줌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논문의 내용 중 보완이 필요한 부분</a:t>
            </a:r>
            <a:endParaRPr lang="en-US" altLang="ko-KR" dirty="0"/>
          </a:p>
          <a:p>
            <a:pPr lvl="1"/>
            <a:r>
              <a:rPr lang="en-US" altLang="ko-KR" dirty="0"/>
              <a:t>STK </a:t>
            </a:r>
            <a:r>
              <a:rPr lang="ko-KR" altLang="en-US" dirty="0"/>
              <a:t>소프트웨어를 통한 구체적인 시뮬레이션 과정</a:t>
            </a:r>
            <a:endParaRPr lang="en-US" altLang="ko-KR" dirty="0"/>
          </a:p>
          <a:p>
            <a:pPr lvl="1"/>
            <a:r>
              <a:rPr lang="ko-KR" altLang="en-US" dirty="0"/>
              <a:t>그래프의 경향성에 대한 이유 및 분석 </a:t>
            </a:r>
            <a:r>
              <a:rPr lang="ko-KR" altLang="en-US" sz="1800" dirty="0"/>
              <a:t>등의 구체적인 내용</a:t>
            </a:r>
            <a:endParaRPr lang="en-US" altLang="ko-KR" sz="1800" dirty="0"/>
          </a:p>
          <a:p>
            <a:pPr lvl="1"/>
            <a:r>
              <a:rPr lang="en-US" altLang="ko-KR" sz="1800" dirty="0"/>
              <a:t>Imaging </a:t>
            </a:r>
            <a:r>
              <a:rPr lang="ko-KR" altLang="en-US" sz="1800" dirty="0"/>
              <a:t>위성군과 </a:t>
            </a:r>
            <a:r>
              <a:rPr lang="en-US" altLang="ko-KR" sz="1800" dirty="0"/>
              <a:t>Relay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간의 </a:t>
            </a:r>
            <a:r>
              <a:rPr lang="en-US" altLang="ko-KR" sz="1800" dirty="0"/>
              <a:t>ISL</a:t>
            </a:r>
            <a:r>
              <a:rPr lang="ko-KR" altLang="en-US" sz="1800" dirty="0"/>
              <a:t> </a:t>
            </a:r>
            <a:r>
              <a:rPr lang="ko-KR" altLang="en-US" dirty="0"/>
              <a:t>통신에 대한 구체적인 내용</a:t>
            </a:r>
            <a:endParaRPr lang="en-US" altLang="ko-KR" dirty="0"/>
          </a:p>
          <a:p>
            <a:pPr lvl="1"/>
            <a:r>
              <a:rPr lang="en-US" altLang="ko-KR" dirty="0"/>
              <a:t>Walker </a:t>
            </a:r>
            <a:r>
              <a:rPr lang="ko-KR" altLang="en-US" dirty="0"/>
              <a:t>위성군과 해당 논문에서 설계한 위성군의 결과를 비교한 자료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8802884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(4) </a:t>
            </a:r>
            <a:r>
              <a:rPr lang="en-US" altLang="ko-KR" dirty="0"/>
              <a:t>S. Zhao, Y. Xu, H. Dai; Research on the configuration design method of heterogeneous constellation reconstruction under the multiple objective and multiple constraint. AIP Conference Proceedings 8 May 2017; 1839 (1): 020083.</a:t>
            </a:r>
            <a:br>
              <a:rPr lang="en-US" altLang="ko-KR" dirty="0"/>
            </a:b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연구목표와 방법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  <a:endParaRPr lang="en-US" altLang="ko-KR" dirty="0"/>
          </a:p>
          <a:p>
            <a:pPr lvl="1"/>
            <a:r>
              <a:rPr lang="ko-KR" altLang="en-US" dirty="0"/>
              <a:t>다음 두 가지의 </a:t>
            </a:r>
            <a:r>
              <a:rPr lang="ko-KR" altLang="en-US" sz="1800" dirty="0"/>
              <a:t>재구성 방법을 조합하여 최적화된 최종 구성을 얻는 것 </a:t>
            </a:r>
            <a:endParaRPr lang="en-US" altLang="ko-KR" sz="1800" dirty="0"/>
          </a:p>
          <a:p>
            <a:pPr lvl="2"/>
            <a:r>
              <a:rPr lang="en-US" altLang="ko-KR" dirty="0"/>
              <a:t>Phase position uniformity method 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en-US" altLang="ko-KR" dirty="0"/>
              <a:t>Reconstruction configuration design method (based in optimization algorithm)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연구 방법</a:t>
            </a:r>
            <a:endParaRPr lang="en-US" altLang="ko-KR" dirty="0"/>
          </a:p>
          <a:p>
            <a:pPr lvl="1"/>
            <a:r>
              <a:rPr lang="ko-KR" altLang="en-US" dirty="0"/>
              <a:t>위의 두 가지 재구성 설계 방법의 장단점을 분석</a:t>
            </a:r>
            <a:endParaRPr lang="en-US" altLang="ko-KR" dirty="0"/>
          </a:p>
          <a:p>
            <a:pPr lvl="1"/>
            <a:r>
              <a:rPr lang="ko-KR" altLang="en-US" dirty="0"/>
              <a:t>각각의 방법에 대한 장점을 조합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설계방법을 달성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모든 위성이 동일한 임무를 중심으로 회전</a:t>
            </a:r>
            <a:endParaRPr lang="en-US" altLang="ko-KR" dirty="0"/>
          </a:p>
          <a:p>
            <a:pPr lvl="1"/>
            <a:r>
              <a:rPr lang="ko-KR" altLang="en-US" dirty="0"/>
              <a:t>상대적으로 고정된 공간구조를 가짐 </a:t>
            </a:r>
            <a:endParaRPr lang="en-US" altLang="ko-KR" dirty="0"/>
          </a:p>
          <a:p>
            <a:pPr lvl="1"/>
            <a:r>
              <a:rPr lang="ko-KR" altLang="en-US" dirty="0"/>
              <a:t>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Phase</a:t>
            </a:r>
            <a:r>
              <a:rPr lang="ko-KR" altLang="en-US" dirty="0"/>
              <a:t> </a:t>
            </a:r>
            <a:r>
              <a:rPr lang="en-US" altLang="ko-KR" dirty="0"/>
              <a:t>Uniformity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lvl="1"/>
            <a:r>
              <a:rPr lang="ko-KR" altLang="en-US" sz="1800" dirty="0"/>
              <a:t>위성군의 성능 향상을 위해 위성의 </a:t>
            </a:r>
            <a:r>
              <a:rPr lang="en-US" altLang="ko-KR" dirty="0"/>
              <a:t>failure</a:t>
            </a:r>
            <a:r>
              <a:rPr lang="ko-KR" altLang="en-US" sz="1800" dirty="0"/>
              <a:t>에 초점을 맞춘 재구성 전략</a:t>
            </a:r>
            <a:endParaRPr lang="en-US" altLang="ko-KR" sz="1800" dirty="0"/>
          </a:p>
          <a:p>
            <a:pPr lvl="1"/>
            <a:r>
              <a:rPr lang="ko-KR" altLang="en-US" sz="1800" dirty="0"/>
              <a:t>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논문에서는 </a:t>
            </a:r>
            <a:r>
              <a:rPr lang="en-US" altLang="ko-KR" dirty="0"/>
              <a:t>Satellite failure</a:t>
            </a:r>
            <a:r>
              <a:rPr lang="ko-KR" altLang="en-US" dirty="0"/>
              <a:t>에 대한 내용만을 다루었으며 다음으로 다시 분류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Single Satellite failure : </a:t>
            </a:r>
            <a:r>
              <a:rPr lang="ko-KR" altLang="en-US" dirty="0"/>
              <a:t>인접 위성과의 위상각을 조정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/>
              <a:t>Multi coplanar Satellite failure : </a:t>
            </a:r>
            <a:r>
              <a:rPr lang="ko-KR" altLang="en-US" dirty="0"/>
              <a:t>같은 평면의 모든 위성과의 위상각을 조정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Multi non-coplanar Satellite failure : </a:t>
            </a:r>
            <a:r>
              <a:rPr lang="ko-KR" altLang="en-US" dirty="0"/>
              <a:t>위성군의 모든 위성과의 위상각을 조정</a:t>
            </a:r>
            <a:endParaRPr lang="en-US" altLang="ko-KR" dirty="0"/>
          </a:p>
          <a:p>
            <a:pPr lvl="3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22E1DB-351B-43C5-08AD-252A8F22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24" y="3958389"/>
            <a:ext cx="4045894" cy="2849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516239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Reconstruction Configuration Design Method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r>
              <a:rPr lang="ko-KR" altLang="en-US" dirty="0"/>
              <a:t>다양한 재구성 시나리오에 따라 최종 구성을 얻는 과정</a:t>
            </a:r>
            <a:endParaRPr lang="en-US" altLang="ko-KR" dirty="0"/>
          </a:p>
          <a:p>
            <a:pPr lvl="1"/>
            <a:r>
              <a:rPr lang="ko-KR" altLang="en-US" dirty="0"/>
              <a:t>시나리오 및 요구조건에 따라 재구성 전략이 결정</a:t>
            </a:r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purpose : </a:t>
            </a:r>
            <a:r>
              <a:rPr lang="ko-KR" altLang="en-US" dirty="0"/>
              <a:t>재구성에 따라 예상되는 결과</a:t>
            </a:r>
            <a:r>
              <a:rPr lang="en-US" altLang="ko-KR" dirty="0"/>
              <a:t>. </a:t>
            </a:r>
            <a:r>
              <a:rPr lang="ko-KR" altLang="en-US" dirty="0"/>
              <a:t>기존 문헌에서 하나 이상의 커버리지 성능지수 또는 새로운 요구조건 등을 </a:t>
            </a:r>
            <a:r>
              <a:rPr lang="en-US" altLang="ko-KR" dirty="0"/>
              <a:t>purpose</a:t>
            </a:r>
            <a:r>
              <a:rPr lang="ko-KR" altLang="en-US" dirty="0"/>
              <a:t>로 사용함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method : </a:t>
            </a:r>
            <a:r>
              <a:rPr lang="ko-KR" altLang="en-US" dirty="0"/>
              <a:t>새로운 위성을 보완할 것인지</a:t>
            </a:r>
            <a:r>
              <a:rPr lang="en-US" altLang="ko-KR" dirty="0"/>
              <a:t>, </a:t>
            </a:r>
            <a:r>
              <a:rPr lang="ko-KR" altLang="en-US" dirty="0"/>
              <a:t>궤도 상의 위성을 어떻게 조종할 것인지</a:t>
            </a:r>
            <a:r>
              <a:rPr lang="en-US" altLang="ko-KR" dirty="0"/>
              <a:t>, </a:t>
            </a:r>
            <a:r>
              <a:rPr lang="ko-KR" altLang="en-US" dirty="0"/>
              <a:t>어떤 위성을 조정해야 하는지</a:t>
            </a:r>
            <a:r>
              <a:rPr lang="en-US" altLang="ko-KR" dirty="0"/>
              <a:t>, </a:t>
            </a:r>
            <a:r>
              <a:rPr lang="ko-KR" altLang="en-US" dirty="0"/>
              <a:t>어떤 변수를 변경해야 하는지 등 방법 및 수단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constraint : </a:t>
            </a:r>
            <a:r>
              <a:rPr lang="ko-KR" altLang="en-US" dirty="0"/>
              <a:t>재구성 시간 및 에너지 비용 등의 제한조건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ECDA20-1923-91C5-DAE5-9717257D7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712" y="3477128"/>
            <a:ext cx="3937432" cy="33276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두 가지 방법의 장단점 비교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Comparison of the two </a:t>
            </a:r>
            <a:r>
              <a:rPr lang="en-US" altLang="ko-KR" dirty="0"/>
              <a:t>Methods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/>
        </p:nvGraphicFramePr>
        <p:xfrm>
          <a:off x="625407" y="2096151"/>
          <a:ext cx="826151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434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(Based on Optimization Algorithm)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위성의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에 초점을 맞춘 재구성 전력 방법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고장난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위성 및 그 위성의 궤도에 따라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single, multi coplanar, multi non-coplanar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로 분류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얻는 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구현의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기존 구성에 대해 적은 손상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강력한 복구 능력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높은 범용성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최적성을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failure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재구성에만 적용됨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Coplanar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의 다중 위성에만 적용됨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최적성은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부족함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복잡하고 실현하기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289395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</a:t>
            </a:r>
            <a:endParaRPr lang="en-US" altLang="ko-KR" sz="1800" dirty="0"/>
          </a:p>
          <a:p>
            <a:pPr lvl="2"/>
            <a:r>
              <a:rPr lang="ko-KR" altLang="en-US" dirty="0"/>
              <a:t>복잡하지만 변경 가능한 지상 임무를 처리하는 능력 향상 가능 </a:t>
            </a:r>
            <a:endParaRPr lang="en-US" altLang="ko-KR" dirty="0"/>
          </a:p>
          <a:p>
            <a:pPr lvl="2"/>
            <a:r>
              <a:rPr lang="ko-KR" altLang="en-US" dirty="0"/>
              <a:t>기존 우주 임무의 안정성</a:t>
            </a:r>
            <a:r>
              <a:rPr lang="en-US" altLang="ko-KR" dirty="0"/>
              <a:t>, </a:t>
            </a:r>
            <a:r>
              <a:rPr lang="ko-KR" altLang="en-US" dirty="0"/>
              <a:t>신뢰성 및 유연성을 키울 수 있음 </a:t>
            </a:r>
            <a:endParaRPr lang="en-US" altLang="ko-KR" dirty="0"/>
          </a:p>
          <a:p>
            <a:pPr lvl="2"/>
            <a:r>
              <a:rPr lang="ko-KR" altLang="en-US" b="1" u="sng" dirty="0"/>
              <a:t>전략적 중요성과 응용 가치가 높음</a:t>
            </a:r>
          </a:p>
          <a:p>
            <a:pPr lvl="1"/>
            <a:r>
              <a:rPr lang="ko-KR" altLang="en-US" dirty="0"/>
              <a:t>연구의 한계</a:t>
            </a:r>
            <a:endParaRPr lang="en-US" altLang="ko-KR" dirty="0"/>
          </a:p>
          <a:p>
            <a:pPr lvl="2"/>
            <a:r>
              <a:rPr lang="ko-KR" altLang="en-US" dirty="0"/>
              <a:t>재구성 설계에 대한 </a:t>
            </a:r>
            <a:r>
              <a:rPr lang="ko-KR" altLang="en-US" b="1" u="sng" dirty="0"/>
              <a:t>기존의 모델 및 지표가 없는 것이 한계</a:t>
            </a:r>
            <a:endParaRPr lang="en-US" altLang="ko-KR" sz="1800" b="1" u="sng" dirty="0"/>
          </a:p>
          <a:p>
            <a:pPr lvl="1">
              <a:lnSpc>
                <a:spcPct val="110000"/>
              </a:lnSpc>
            </a:pPr>
            <a:r>
              <a:rPr lang="ko-KR" altLang="en-US" sz="1800" dirty="0"/>
              <a:t>한계 극복 방안</a:t>
            </a:r>
            <a:endParaRPr lang="en-US" altLang="ko-KR" sz="1800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본 논문에 소개된 </a:t>
            </a:r>
            <a:r>
              <a:rPr lang="en-US" altLang="ko-KR" dirty="0"/>
              <a:t>Method</a:t>
            </a:r>
            <a:r>
              <a:rPr lang="ko-KR" altLang="en-US" dirty="0"/>
              <a:t>에 따라 </a:t>
            </a:r>
            <a:r>
              <a:rPr lang="ko-KR" altLang="en-US" b="1" u="sng" dirty="0"/>
              <a:t>다양한 조합 구성</a:t>
            </a:r>
            <a:endParaRPr lang="en-US" altLang="ko-KR" b="1" u="sng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변수를 조정해가며 직접 시뮬레이션 진행 후 가장 </a:t>
            </a:r>
            <a:r>
              <a:rPr lang="ko-KR" altLang="en-US" b="1" u="sng" dirty="0"/>
              <a:t>최적의 경우를 찾기</a:t>
            </a:r>
            <a:endParaRPr lang="en-US" altLang="ko-KR" b="1" u="sng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자세한 설계 방법 및 시뮬레이션의 결과 등 구체적인 내용</a:t>
            </a:r>
            <a:endParaRPr lang="en-US" altLang="ko-KR" dirty="0"/>
          </a:p>
          <a:p>
            <a:pPr lvl="2"/>
            <a:r>
              <a:rPr lang="ko-KR" altLang="en-US" dirty="0"/>
              <a:t>방법론적인 연구만을 다룬 논문으로</a:t>
            </a:r>
            <a:r>
              <a:rPr lang="en-US" altLang="ko-KR" dirty="0"/>
              <a:t>, </a:t>
            </a:r>
            <a:r>
              <a:rPr lang="ko-KR" altLang="en-US" dirty="0"/>
              <a:t>시뮬레이션 진행 과정이 없음</a:t>
            </a:r>
            <a:endParaRPr lang="en-US" altLang="ko-KR" dirty="0"/>
          </a:p>
          <a:p>
            <a:pPr lvl="1"/>
            <a:r>
              <a:rPr lang="en-US" altLang="ko-KR" dirty="0"/>
              <a:t>Satellite failure reconstruction </a:t>
            </a:r>
            <a:r>
              <a:rPr lang="ko-KR" altLang="en-US" dirty="0"/>
              <a:t>과정의 이해를 위한 그림 및 그래프 등의 시각자료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1820659"/>
            <a:ext cx="9144000" cy="4024969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(5) L. Liu, Z. Dong, H. </a:t>
            </a:r>
            <a:r>
              <a:rPr lang="en-US" altLang="ko-KR" b="1" dirty="0" err="1"/>
              <a:t>Su</a:t>
            </a:r>
            <a:r>
              <a:rPr lang="en-US" altLang="ko-KR" b="1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b="1" dirty="0" err="1"/>
              <a:t>doi</a:t>
            </a:r>
            <a:r>
              <a:rPr lang="en-US" altLang="ko-KR" b="1" dirty="0"/>
              <a:t>: 10.1109/IAEAC50856.2021.9390990.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아래의 두 가지 알고리즘을 혼합한  </a:t>
            </a:r>
            <a:r>
              <a:rPr lang="en-US" altLang="ko-KR" dirty="0"/>
              <a:t>Hybrid Algorithm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2"/>
            <a:r>
              <a:rPr lang="en-US" altLang="ko-KR" dirty="0"/>
              <a:t>Genetic Algorithm(GA)</a:t>
            </a:r>
          </a:p>
          <a:p>
            <a:pPr lvl="2"/>
            <a:r>
              <a:rPr lang="en-US" altLang="ko-KR" dirty="0"/>
              <a:t>Tabu Search Algorithm(TS)</a:t>
            </a:r>
          </a:p>
          <a:p>
            <a:pPr lvl="1"/>
            <a:r>
              <a:rPr lang="en-US" altLang="ko-KR" dirty="0"/>
              <a:t>Hybrid Algorithm</a:t>
            </a:r>
            <a:r>
              <a:rPr lang="ko-KR" altLang="en-US" dirty="0"/>
              <a:t>을 이용하여 최적화된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</a:t>
            </a:r>
            <a:r>
              <a:rPr lang="ko-KR" altLang="en-US" dirty="0"/>
              <a:t> 도출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Mission schedule</a:t>
            </a:r>
            <a:r>
              <a:rPr lang="ko-KR" altLang="en-US" dirty="0"/>
              <a:t>을 최적화 목표</a:t>
            </a:r>
            <a:endParaRPr lang="en-US" altLang="ko-KR" dirty="0"/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(Visible Camera, SAR)</a:t>
            </a:r>
            <a:r>
              <a:rPr lang="ko-KR" altLang="en-US" dirty="0"/>
              <a:t>을 동시에 운용함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 위성군의 정의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pPr lvl="1"/>
            <a:r>
              <a:rPr lang="en-US" altLang="ko-KR" dirty="0"/>
              <a:t>Pre-Set data</a:t>
            </a:r>
            <a:r>
              <a:rPr lang="ko-KR" altLang="en-US" dirty="0"/>
              <a:t>와 </a:t>
            </a:r>
            <a:r>
              <a:rPr lang="en-US" altLang="ko-KR" dirty="0"/>
              <a:t>Dynamical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를 </a:t>
            </a:r>
            <a:r>
              <a:rPr lang="en-US" altLang="ko-KR" dirty="0"/>
              <a:t>Design Variable</a:t>
            </a:r>
            <a:r>
              <a:rPr lang="ko-KR" altLang="en-US" dirty="0"/>
              <a:t>로 입력</a:t>
            </a:r>
            <a:endParaRPr lang="en-US" altLang="ko-KR" dirty="0"/>
          </a:p>
          <a:p>
            <a:pPr lvl="1"/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Deconflict </a:t>
            </a:r>
            <a:r>
              <a:rPr lang="ko-KR" altLang="en-US" dirty="0"/>
              <a:t>과정을 통해 상충되는 데이터를 제거  </a:t>
            </a:r>
            <a:endParaRPr lang="en-US" altLang="ko-KR" dirty="0"/>
          </a:p>
          <a:p>
            <a:pPr lvl="1"/>
            <a:r>
              <a:rPr lang="ko-KR" altLang="en-US" dirty="0"/>
              <a:t>최적의 해를 찾기 위해 알고리즘이 활성화</a:t>
            </a:r>
            <a:endParaRPr lang="en-US" altLang="ko-KR" dirty="0"/>
          </a:p>
          <a:p>
            <a:pPr lvl="1"/>
            <a:r>
              <a:rPr lang="ko-KR" altLang="en-US" dirty="0"/>
              <a:t>관측시간 정보 등의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 </a:t>
            </a:r>
            <a:r>
              <a:rPr lang="ko-KR" altLang="en-US" dirty="0"/>
              <a:t>결과 도출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Schedule Stage</a:t>
            </a:r>
            <a:r>
              <a:rPr lang="ko-KR" altLang="en-US" dirty="0"/>
              <a:t>에 따른 연구방법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62" y="1428004"/>
            <a:ext cx="4618070" cy="333402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187548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Genetic Algorithm Design Concept(GA)</a:t>
            </a:r>
          </a:p>
          <a:p>
            <a:pPr lvl="2"/>
            <a:r>
              <a:rPr lang="en-US" altLang="ko-KR" dirty="0"/>
              <a:t>Chromosome coding design</a:t>
            </a:r>
          </a:p>
          <a:p>
            <a:pPr lvl="2"/>
            <a:r>
              <a:rPr lang="en-US" altLang="ko-KR" dirty="0"/>
              <a:t>Genetic algorithm procedure</a:t>
            </a:r>
          </a:p>
          <a:p>
            <a:pPr lvl="1"/>
            <a:r>
              <a:rPr lang="en-US" altLang="ko-KR" dirty="0"/>
              <a:t>Tabu Search Algorithm Design Concept(TS)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Hybrid Algorithm Design Concept(GA + TS)</a:t>
            </a:r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유전 알고리즘으로 모집단 전체를 검색하여 여러 세대 진화 후 수렴하는 해를 찾음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타부</a:t>
            </a:r>
            <a:r>
              <a:rPr lang="ko-KR" altLang="en-US" dirty="0"/>
              <a:t> 알고리즘으로 부족한 부분을 개선하여 최적 해를 찾음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Algorithm</a:t>
            </a:r>
            <a:r>
              <a:rPr lang="ko-KR" altLang="en-US" dirty="0"/>
              <a:t>의 종류 및 장단점 비교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F5686F-7670-D346-B3C8-9D0A746D3EFC}"/>
              </a:ext>
            </a:extLst>
          </p:cNvPr>
          <p:cNvGraphicFramePr>
            <a:graphicFrameLocks noGrp="1"/>
          </p:cNvGraphicFramePr>
          <p:nvPr/>
        </p:nvGraphicFramePr>
        <p:xfrm>
          <a:off x="504755" y="2753159"/>
          <a:ext cx="789157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Algorithm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Genetic Algorithm(GA)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Tabu Search Algorithm(TS)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생물의 진화 원리를 모방하여 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최적화 문제를 해결하는데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최적해를 찾은 뒤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탐색이 불가능한 지역 탐색법의 단점을 보완하기 위해 개발된 알고리즘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3738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대규모 문제 해결에 유용함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초기 조건의 종류에 상관없이 작동 가능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병렬 처리로 여러 개의 해를 찾는 것도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지역 최적점을 벗어나기에 효율적임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이미 찾은 국지점이 있더라도 그 값을 저장하고 주변의 탐색을 다시 허용하여 전역 최적해를 찾을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최적해에 빠지기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초기 해에 크게 의존하여 초기 해가 부정확하면 수렴 속도가 느려짐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51647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결론 </a:t>
            </a:r>
            <a:endParaRPr lang="en-US" altLang="ko-KR" dirty="0"/>
          </a:p>
          <a:p>
            <a:pPr lvl="1"/>
            <a:r>
              <a:rPr lang="ko-KR" altLang="en-US" b="1" u="sng" dirty="0"/>
              <a:t>해의 성능과 연산 시간 사이에는 </a:t>
            </a:r>
            <a:r>
              <a:rPr lang="en-US" altLang="ko-KR" b="1" u="sng" dirty="0"/>
              <a:t>Trade-off </a:t>
            </a:r>
            <a:r>
              <a:rPr lang="ko-KR" altLang="en-US" b="1" u="sng" dirty="0"/>
              <a:t>관계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/>
            <a:r>
              <a:rPr lang="ko-KR" altLang="en-US" dirty="0"/>
              <a:t>위성의 운용환경에 따라 둘 중 </a:t>
            </a:r>
            <a:r>
              <a:rPr lang="ko-KR" altLang="en-US" b="1" u="sng" dirty="0"/>
              <a:t>어떤 부분에 중점을 두어야 하는 지</a:t>
            </a:r>
            <a:r>
              <a:rPr lang="ko-KR" altLang="en-US" dirty="0"/>
              <a:t> 결정될 것</a:t>
            </a:r>
            <a:endParaRPr lang="en-US" altLang="ko-KR" sz="1800" dirty="0"/>
          </a:p>
          <a:p>
            <a:pPr lvl="1"/>
            <a:r>
              <a:rPr lang="ko-KR" altLang="en-US" dirty="0"/>
              <a:t>고려해야 할 </a:t>
            </a:r>
            <a:r>
              <a:rPr lang="ko-KR" altLang="en-US" b="1" u="sng" dirty="0"/>
              <a:t>변수 및 제한 조건의 수</a:t>
            </a:r>
            <a:r>
              <a:rPr lang="ko-KR" altLang="en-US" dirty="0"/>
              <a:t>에 따라 두 알고리즘</a:t>
            </a:r>
            <a:r>
              <a:rPr lang="en-US" altLang="ko-KR" dirty="0"/>
              <a:t>(</a:t>
            </a:r>
            <a:r>
              <a:rPr lang="ko-KR" altLang="en-US" dirty="0"/>
              <a:t>또는 혼합</a:t>
            </a:r>
            <a:r>
              <a:rPr lang="en-US" altLang="ko-KR" dirty="0"/>
              <a:t>) </a:t>
            </a:r>
            <a:r>
              <a:rPr lang="ko-KR" altLang="en-US" dirty="0"/>
              <a:t>중 어떤 것을 사용할지 판단해야 함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다른 논문에 비해 이종위성군의 특징이 상대적으로 약함</a:t>
            </a:r>
            <a:endParaRPr lang="en-US" altLang="ko-KR" dirty="0"/>
          </a:p>
          <a:p>
            <a:pPr lvl="2"/>
            <a:r>
              <a:rPr lang="ko-KR" altLang="en-US" dirty="0"/>
              <a:t>이종 위성군의 설계에 대한 내용이 아닌 </a:t>
            </a:r>
            <a:r>
              <a:rPr lang="en-US" altLang="ko-KR" dirty="0"/>
              <a:t>scheduling</a:t>
            </a:r>
            <a:r>
              <a:rPr lang="ko-KR" altLang="en-US" dirty="0"/>
              <a:t>을 위한 알고리즘을 중점적으로 다룸</a:t>
            </a:r>
            <a:endParaRPr lang="en-US" altLang="ko-KR" dirty="0"/>
          </a:p>
          <a:p>
            <a:pPr lvl="2"/>
            <a:r>
              <a:rPr lang="ko-KR" altLang="en-US" dirty="0"/>
              <a:t>이종위성군의 특징에 대해 구체화 필요</a:t>
            </a:r>
            <a:endParaRPr lang="en-US" altLang="ko-KR" dirty="0"/>
          </a:p>
          <a:p>
            <a:pPr lvl="1"/>
            <a:r>
              <a:rPr lang="ko-KR" altLang="en-US" dirty="0"/>
              <a:t>시뮬레이션 결과에 대한 구체적인 설명</a:t>
            </a:r>
            <a:endParaRPr lang="en-US" altLang="ko-KR" dirty="0"/>
          </a:p>
          <a:p>
            <a:pPr lvl="2"/>
            <a:r>
              <a:rPr lang="ko-KR" altLang="en-US" dirty="0"/>
              <a:t>특정 값이 아닌 무작위 값에 의존한 변수가 많음</a:t>
            </a:r>
            <a:endParaRPr lang="en-US" altLang="ko-KR" dirty="0"/>
          </a:p>
          <a:p>
            <a:pPr lvl="1"/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그림 등 시각자료의 해상도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en-US" altLang="ko-KR" dirty="0"/>
              <a:t>GA</a:t>
            </a:r>
            <a:r>
              <a:rPr lang="ko-KR" altLang="en-US" dirty="0"/>
              <a:t>와 </a:t>
            </a:r>
            <a:r>
              <a:rPr lang="en-US" altLang="ko-KR" dirty="0"/>
              <a:t>TS</a:t>
            </a:r>
            <a:r>
              <a:rPr lang="ko-KR" altLang="en-US" dirty="0"/>
              <a:t> 두 알고리즘 각각의 장점만을 혼합하여 최적의 경로 구하는 방법 연구</a:t>
            </a: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0952094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8D04409-0CB9-806C-8320-A96D05B0B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연구추진 계획안 논의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D05933-B440-E8B5-9BB9-12FB5788D3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19038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503EF4-7317-08A3-2965-8D4FF0CB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F901887-0AF9-63E6-A07B-16389FD2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연차별</a:t>
            </a:r>
            <a:r>
              <a:rPr lang="ko-KR" altLang="en-US" dirty="0"/>
              <a:t> 연구 목표</a:t>
            </a:r>
            <a:r>
              <a:rPr lang="en-US" altLang="ko-KR" dirty="0"/>
              <a:t>/</a:t>
            </a:r>
            <a:r>
              <a:rPr lang="ko-KR" altLang="en-US" dirty="0"/>
              <a:t>내용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A3061E9F-6FCA-47B1-D7D2-439BFDD5B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718119"/>
              </p:ext>
            </p:extLst>
          </p:nvPr>
        </p:nvGraphicFramePr>
        <p:xfrm>
          <a:off x="257269" y="1310128"/>
          <a:ext cx="8629650" cy="4709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01461">
                  <a:extLst>
                    <a:ext uri="{9D8B030D-6E8A-4147-A177-3AD203B41FA5}">
                      <a16:colId xmlns:a16="http://schemas.microsoft.com/office/drawing/2014/main" val="422991736"/>
                    </a:ext>
                  </a:extLst>
                </a:gridCol>
                <a:gridCol w="2753591">
                  <a:extLst>
                    <a:ext uri="{9D8B030D-6E8A-4147-A177-3AD203B41FA5}">
                      <a16:colId xmlns:a16="http://schemas.microsoft.com/office/drawing/2014/main" val="1785238083"/>
                    </a:ext>
                  </a:extLst>
                </a:gridCol>
                <a:gridCol w="4574598">
                  <a:extLst>
                    <a:ext uri="{9D8B030D-6E8A-4147-A177-3AD203B41FA5}">
                      <a16:colId xmlns:a16="http://schemas.microsoft.com/office/drawing/2014/main" val="1813537266"/>
                    </a:ext>
                  </a:extLst>
                </a:gridCol>
              </a:tblGrid>
              <a:tr h="2190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연구 목표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연구내용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810845"/>
                  </a:ext>
                </a:extLst>
              </a:tr>
              <a:tr h="5476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1</a:t>
                      </a:r>
                      <a:r>
                        <a:rPr lang="ko-KR" altLang="en-US" sz="1400" b="1" dirty="0"/>
                        <a:t>차년도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시스템 요구조건 및 아키텍처 도출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감시정찰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재난 모니터링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임무 선행기술 연구</a:t>
                      </a:r>
                    </a:p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수요자 의견 수렴을 통한 시스템 요구조건 도출</a:t>
                      </a:r>
                    </a:p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요구조건을 충족시키기 위한 아키텍처 옵션 도출 및 트레이드 스터디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776412"/>
                  </a:ext>
                </a:extLst>
              </a:tr>
              <a:tr h="427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r>
                        <a:rPr lang="ko-KR" altLang="en-US" sz="1400" b="1" dirty="0"/>
                        <a:t>차년도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운용 개념 및 성능 평가지표 도출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감시정찰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재난 모니터링 목표지역 설정 및 임무 구현을 위한 </a:t>
                      </a:r>
                      <a:r>
                        <a:rPr lang="en-US" altLang="ko-KR" sz="1100" dirty="0" err="1"/>
                        <a:t>ConOps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도출</a:t>
                      </a:r>
                    </a:p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시스템 레벨의 성능 평가 지표 도출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841905"/>
                  </a:ext>
                </a:extLst>
              </a:tr>
              <a:tr h="427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차년도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시스템 운용 성능 분석 툴 개발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정해진 성능 평가 지표에 따라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시스템의 운용 성능을 산정할 수 있는 소프트웨어 툴 개발</a:t>
                      </a:r>
                    </a:p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다양한 임무상황 적용을 통한 분석 툴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155898"/>
                  </a:ext>
                </a:extLst>
              </a:tr>
              <a:tr h="21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1</a:t>
                      </a:r>
                      <a:r>
                        <a:rPr lang="ko-KR" altLang="en-US" sz="14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운용개념과 시스템 요구조건 정의 및 운용성능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692367"/>
                  </a:ext>
                </a:extLst>
              </a:tr>
              <a:tr h="427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</a:t>
                      </a:r>
                      <a:r>
                        <a:rPr lang="ko-KR" altLang="en-US" sz="1400" b="1" dirty="0"/>
                        <a:t>차년도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설계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최적화 문제 정식화 및 툴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감시정찰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재난 모니터링 성능 구현에 용이한 목적함수 및 설계 파라미터 정의</a:t>
                      </a:r>
                    </a:p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이종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 설계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최적화 툴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886833"/>
                  </a:ext>
                </a:extLst>
              </a:tr>
              <a:tr h="3724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5</a:t>
                      </a:r>
                      <a:r>
                        <a:rPr lang="ko-KR" altLang="en-US" sz="1400" b="1" dirty="0"/>
                        <a:t>차년도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궤도배치를 위한 발사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전개 전략 수립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최적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발사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전개 문제의 정식화 및 방법론 연구</a:t>
                      </a:r>
                    </a:p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연료 소모량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배치 기간을 고려하여 효율적인 궤도배치 전략 수립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741787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6</a:t>
                      </a:r>
                      <a:r>
                        <a:rPr lang="ko-KR" altLang="en-US" sz="1400" b="1" dirty="0"/>
                        <a:t>차년도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시스템 설계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최적화 사례연구를 통한 개발 툴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다양한 임무상황을 고려한 운용 시나리오 제시</a:t>
                      </a:r>
                    </a:p>
                    <a:p>
                      <a:pPr latinLnBrk="1"/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사례 연구를 수행하여 개발된 시스템 및 발사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전개 툴 검증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221032"/>
                  </a:ext>
                </a:extLst>
              </a:tr>
              <a:tr h="21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r>
                        <a:rPr lang="ko-KR" altLang="en-US" sz="14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이종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최적화 알고리즘 개발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검증 및 최적궤도 배치 기법 연구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901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6594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6106C0-FF7C-0B0A-CAD5-C080C167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28B661-28DF-FF1A-6615-D00E877B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연구목표</a:t>
            </a:r>
            <a:endParaRPr lang="en-US" altLang="ko-KR" dirty="0"/>
          </a:p>
          <a:p>
            <a:pPr lvl="1"/>
            <a:r>
              <a:rPr lang="en-US" altLang="ko-KR" dirty="0"/>
              <a:t>Work Module A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4F19452-C917-2EE1-E600-CD3092AF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 Modules</a:t>
            </a:r>
            <a:endParaRPr lang="ko-KR" altLang="en-US" dirty="0"/>
          </a:p>
        </p:txBody>
      </p:sp>
      <p:pic>
        <p:nvPicPr>
          <p:cNvPr id="2051" name="_x528728864">
            <a:extLst>
              <a:ext uri="{FF2B5EF4-FFF2-40B4-BE49-F238E27FC236}">
                <a16:creationId xmlns:a16="http://schemas.microsoft.com/office/drawing/2014/main" id="{47D015C5-2D56-0731-A9A5-6BF893884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4" y="3272053"/>
            <a:ext cx="6961492" cy="320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0" name="그룹 2059">
            <a:extLst>
              <a:ext uri="{FF2B5EF4-FFF2-40B4-BE49-F238E27FC236}">
                <a16:creationId xmlns:a16="http://schemas.microsoft.com/office/drawing/2014/main" id="{5BA9F557-24D2-DEDF-B3A4-CDA0C2D31FEA}"/>
              </a:ext>
            </a:extLst>
          </p:cNvPr>
          <p:cNvGrpSpPr/>
          <p:nvPr/>
        </p:nvGrpSpPr>
        <p:grpSpPr>
          <a:xfrm>
            <a:off x="3796617" y="925512"/>
            <a:ext cx="5111734" cy="2247611"/>
            <a:chOff x="3796617" y="925512"/>
            <a:chExt cx="5111734" cy="2247611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686C131-1E8F-52D1-89AB-AE62232698B3}"/>
                </a:ext>
              </a:extLst>
            </p:cNvPr>
            <p:cNvGrpSpPr/>
            <p:nvPr/>
          </p:nvGrpSpPr>
          <p:grpSpPr>
            <a:xfrm>
              <a:off x="3796617" y="925512"/>
              <a:ext cx="5111734" cy="2247611"/>
              <a:chOff x="3796617" y="925512"/>
              <a:chExt cx="5111734" cy="2247611"/>
            </a:xfrm>
          </p:grpSpPr>
          <p:pic>
            <p:nvPicPr>
              <p:cNvPr id="2049" name="_x528750304">
                <a:extLst>
                  <a:ext uri="{FF2B5EF4-FFF2-40B4-BE49-F238E27FC236}">
                    <a16:creationId xmlns:a16="http://schemas.microsoft.com/office/drawing/2014/main" id="{5C10A562-58EA-7E60-7F71-AA797D208D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59865" y="928686"/>
                <a:ext cx="3827053" cy="22444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02B05DE-5646-6278-DF66-6D6A98D28446}"/>
                  </a:ext>
                </a:extLst>
              </p:cNvPr>
              <p:cNvSpPr/>
              <p:nvPr/>
            </p:nvSpPr>
            <p:spPr>
              <a:xfrm>
                <a:off x="5043194" y="925512"/>
                <a:ext cx="756000" cy="36000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177C908-B440-9A29-218F-948CFC8A9AAD}"/>
                  </a:ext>
                </a:extLst>
              </p:cNvPr>
              <p:cNvSpPr/>
              <p:nvPr/>
            </p:nvSpPr>
            <p:spPr>
              <a:xfrm>
                <a:off x="5289892" y="1374918"/>
                <a:ext cx="756000" cy="36000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35994F5-D7BD-A3B2-3F1B-0089D58A2DF6}"/>
                  </a:ext>
                </a:extLst>
              </p:cNvPr>
              <p:cNvSpPr/>
              <p:nvPr/>
            </p:nvSpPr>
            <p:spPr>
              <a:xfrm>
                <a:off x="5490869" y="1862172"/>
                <a:ext cx="1008000" cy="36000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2F26E53-B93E-8A4E-8D66-7FB2156E6828}"/>
                  </a:ext>
                </a:extLst>
              </p:cNvPr>
              <p:cNvSpPr/>
              <p:nvPr/>
            </p:nvSpPr>
            <p:spPr>
              <a:xfrm>
                <a:off x="5771857" y="2336186"/>
                <a:ext cx="1080000" cy="14400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E4BE05-C2C1-F2E7-BD32-231DF550777D}"/>
                  </a:ext>
                </a:extLst>
              </p:cNvPr>
              <p:cNvSpPr txBox="1"/>
              <p:nvPr/>
            </p:nvSpPr>
            <p:spPr>
              <a:xfrm>
                <a:off x="3796617" y="1097744"/>
                <a:ext cx="9188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n w="3175"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</a:rPr>
                  <a:t>1</a:t>
                </a:r>
                <a:r>
                  <a:rPr lang="ko-KR" altLang="en-US" sz="1600" b="1" dirty="0">
                    <a:ln w="3175"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</a:rPr>
                  <a:t>차년도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8AB347-2907-7E11-8DBD-86DE8FE3F40C}"/>
                  </a:ext>
                </a:extLst>
              </p:cNvPr>
              <p:cNvSpPr txBox="1"/>
              <p:nvPr/>
            </p:nvSpPr>
            <p:spPr>
              <a:xfrm>
                <a:off x="3797589" y="2709022"/>
                <a:ext cx="15488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n w="3175"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(2</a:t>
                </a:r>
                <a:r>
                  <a:rPr lang="ko-KR" altLang="en-US" sz="1600" b="1" dirty="0">
                    <a:ln w="3175"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차년도 이후</a:t>
                </a:r>
                <a:r>
                  <a:rPr lang="en-US" altLang="ko-KR" sz="1600" b="1" dirty="0">
                    <a:ln w="3175"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)</a:t>
                </a:r>
                <a:endParaRPr lang="ko-KR" altLang="en-US" sz="1600" b="1" dirty="0">
                  <a:ln w="3175"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936D5AAD-E935-12C8-C6A2-78B6BE747D17}"/>
                  </a:ext>
                </a:extLst>
              </p:cNvPr>
              <p:cNvSpPr/>
              <p:nvPr/>
            </p:nvSpPr>
            <p:spPr>
              <a:xfrm>
                <a:off x="6590629" y="2796899"/>
                <a:ext cx="756000" cy="360000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0319DBCD-5CD3-CF4E-6534-5296102855A2}"/>
                  </a:ext>
                </a:extLst>
              </p:cNvPr>
              <p:cNvSpPr/>
              <p:nvPr/>
            </p:nvSpPr>
            <p:spPr>
              <a:xfrm>
                <a:off x="5771855" y="2502874"/>
                <a:ext cx="1080000" cy="144000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2A442C09-B7D2-8B26-C1A6-EF6D8EEE0308}"/>
                  </a:ext>
                </a:extLst>
              </p:cNvPr>
              <p:cNvSpPr/>
              <p:nvPr/>
            </p:nvSpPr>
            <p:spPr>
              <a:xfrm>
                <a:off x="7071746" y="2306535"/>
                <a:ext cx="1080000" cy="360000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F8EA7E2A-BEAA-BDA9-9858-FA4729A39D08}"/>
                  </a:ext>
                </a:extLst>
              </p:cNvPr>
              <p:cNvSpPr/>
              <p:nvPr/>
            </p:nvSpPr>
            <p:spPr>
              <a:xfrm>
                <a:off x="7455921" y="1858997"/>
                <a:ext cx="1008000" cy="360000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A5D4537-00D4-A504-8744-EBF0C5FB96FC}"/>
                  </a:ext>
                </a:extLst>
              </p:cNvPr>
              <p:cNvSpPr/>
              <p:nvPr/>
            </p:nvSpPr>
            <p:spPr>
              <a:xfrm>
                <a:off x="7907543" y="1411459"/>
                <a:ext cx="763200" cy="360000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11866BA-2CD9-B89A-8D97-35745E741E48}"/>
                  </a:ext>
                </a:extLst>
              </p:cNvPr>
              <p:cNvSpPr/>
              <p:nvPr/>
            </p:nvSpPr>
            <p:spPr>
              <a:xfrm>
                <a:off x="8145151" y="925512"/>
                <a:ext cx="763200" cy="360000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1C9F808B-FD24-3485-62B2-F7A65E3F895B}"/>
                </a:ext>
              </a:extLst>
            </p:cNvPr>
            <p:cNvCxnSpPr>
              <a:stCxn id="13" idx="3"/>
              <a:endCxn id="8" idx="1"/>
            </p:cNvCxnSpPr>
            <p:nvPr/>
          </p:nvCxnSpPr>
          <p:spPr>
            <a:xfrm flipV="1">
              <a:off x="4715458" y="1105512"/>
              <a:ext cx="327736" cy="161509"/>
            </a:xfrm>
            <a:prstGeom prst="bentConnector3">
              <a:avLst>
                <a:gd name="adj1" fmla="val 49274"/>
              </a:avLst>
            </a:prstGeom>
            <a:ln w="9525">
              <a:solidFill>
                <a:schemeClr val="tx1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B2F88DF6-A951-3213-5BBB-77E1E463F07E}"/>
                </a:ext>
              </a:extLst>
            </p:cNvPr>
            <p:cNvCxnSpPr>
              <a:cxnSpLocks/>
              <a:stCxn id="13" idx="3"/>
              <a:endCxn id="9" idx="1"/>
            </p:cNvCxnSpPr>
            <p:nvPr/>
          </p:nvCxnSpPr>
          <p:spPr>
            <a:xfrm>
              <a:off x="4715458" y="1267021"/>
              <a:ext cx="574434" cy="287897"/>
            </a:xfrm>
            <a:prstGeom prst="bentConnector3">
              <a:avLst>
                <a:gd name="adj1" fmla="val 28030"/>
              </a:avLst>
            </a:prstGeom>
            <a:ln w="9525">
              <a:solidFill>
                <a:schemeClr val="tx1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45497BB4-DF47-8E83-8A9E-746262D0AFFB}"/>
                </a:ext>
              </a:extLst>
            </p:cNvPr>
            <p:cNvCxnSpPr>
              <a:cxnSpLocks/>
              <a:stCxn id="13" idx="3"/>
              <a:endCxn id="10" idx="1"/>
            </p:cNvCxnSpPr>
            <p:nvPr/>
          </p:nvCxnSpPr>
          <p:spPr>
            <a:xfrm>
              <a:off x="4715458" y="1267021"/>
              <a:ext cx="775411" cy="775151"/>
            </a:xfrm>
            <a:prstGeom prst="bentConnector3">
              <a:avLst>
                <a:gd name="adj1" fmla="val 20826"/>
              </a:avLst>
            </a:prstGeom>
            <a:ln w="9525">
              <a:solidFill>
                <a:schemeClr val="tx1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연결선: 꺾임 2047">
              <a:extLst>
                <a:ext uri="{FF2B5EF4-FFF2-40B4-BE49-F238E27FC236}">
                  <a16:creationId xmlns:a16="http://schemas.microsoft.com/office/drawing/2014/main" id="{E77F7A0E-C135-40A9-E2AA-9AB7C47DD628}"/>
                </a:ext>
              </a:extLst>
            </p:cNvPr>
            <p:cNvCxnSpPr>
              <a:cxnSpLocks/>
              <a:stCxn id="13" idx="3"/>
              <a:endCxn id="12" idx="1"/>
            </p:cNvCxnSpPr>
            <p:nvPr/>
          </p:nvCxnSpPr>
          <p:spPr>
            <a:xfrm>
              <a:off x="4715458" y="1267021"/>
              <a:ext cx="1056399" cy="1141165"/>
            </a:xfrm>
            <a:prstGeom prst="bentConnector3">
              <a:avLst>
                <a:gd name="adj1" fmla="val 15287"/>
              </a:avLst>
            </a:prstGeom>
            <a:ln w="9525">
              <a:solidFill>
                <a:schemeClr val="tx1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1" name="TextBox 2060">
            <a:extLst>
              <a:ext uri="{FF2B5EF4-FFF2-40B4-BE49-F238E27FC236}">
                <a16:creationId xmlns:a16="http://schemas.microsoft.com/office/drawing/2014/main" id="{A62A5CD0-F6C5-DA40-A2F8-BBB467E539D2}"/>
              </a:ext>
            </a:extLst>
          </p:cNvPr>
          <p:cNvSpPr txBox="1"/>
          <p:nvPr/>
        </p:nvSpPr>
        <p:spPr>
          <a:xfrm>
            <a:off x="382026" y="5295901"/>
            <a:ext cx="709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i="1" dirty="0">
                <a:solidFill>
                  <a:srgbClr val="0070C0"/>
                </a:solidFill>
              </a:rPr>
              <a:t>1</a:t>
            </a:r>
            <a:r>
              <a:rPr lang="ko-KR" altLang="en-US" sz="1100" b="1" i="1" dirty="0">
                <a:solidFill>
                  <a:srgbClr val="0070C0"/>
                </a:solidFill>
              </a:rPr>
              <a:t>차년도</a:t>
            </a: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B0789CA1-F3AF-382A-CE17-E65006CA1D67}"/>
              </a:ext>
            </a:extLst>
          </p:cNvPr>
          <p:cNvSpPr txBox="1"/>
          <p:nvPr/>
        </p:nvSpPr>
        <p:spPr>
          <a:xfrm>
            <a:off x="382025" y="5596623"/>
            <a:ext cx="709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i="1" dirty="0">
                <a:solidFill>
                  <a:srgbClr val="0070C0"/>
                </a:solidFill>
              </a:rPr>
              <a:t>2</a:t>
            </a:r>
            <a:r>
              <a:rPr lang="ko-KR" altLang="en-US" sz="1100" b="1" i="1" dirty="0">
                <a:solidFill>
                  <a:srgbClr val="0070C0"/>
                </a:solidFill>
              </a:rPr>
              <a:t>차년도</a:t>
            </a: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BA912CC4-D424-A4B6-2BC9-2E5AE29FBC17}"/>
              </a:ext>
            </a:extLst>
          </p:cNvPr>
          <p:cNvSpPr txBox="1"/>
          <p:nvPr/>
        </p:nvSpPr>
        <p:spPr>
          <a:xfrm>
            <a:off x="382025" y="5897345"/>
            <a:ext cx="709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i="1" dirty="0">
                <a:solidFill>
                  <a:srgbClr val="0070C0"/>
                </a:solidFill>
              </a:rPr>
              <a:t>3</a:t>
            </a:r>
            <a:r>
              <a:rPr lang="ko-KR" altLang="en-US" sz="1100" b="1" i="1" dirty="0">
                <a:solidFill>
                  <a:srgbClr val="0070C0"/>
                </a:solidFill>
              </a:rPr>
              <a:t>차년도</a:t>
            </a:r>
          </a:p>
        </p:txBody>
      </p:sp>
      <p:sp>
        <p:nvSpPr>
          <p:cNvPr id="2064" name="타원 2063">
            <a:extLst>
              <a:ext uri="{FF2B5EF4-FFF2-40B4-BE49-F238E27FC236}">
                <a16:creationId xmlns:a16="http://schemas.microsoft.com/office/drawing/2014/main" id="{4BC9CB6A-0032-E48C-304D-F99497C3F28F}"/>
              </a:ext>
            </a:extLst>
          </p:cNvPr>
          <p:cNvSpPr/>
          <p:nvPr/>
        </p:nvSpPr>
        <p:spPr>
          <a:xfrm>
            <a:off x="1878804" y="4849999"/>
            <a:ext cx="110144" cy="110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5" name="타원 2064">
            <a:extLst>
              <a:ext uri="{FF2B5EF4-FFF2-40B4-BE49-F238E27FC236}">
                <a16:creationId xmlns:a16="http://schemas.microsoft.com/office/drawing/2014/main" id="{075E10DB-A36D-5832-4D45-FBC879220F17}"/>
              </a:ext>
            </a:extLst>
          </p:cNvPr>
          <p:cNvSpPr/>
          <p:nvPr/>
        </p:nvSpPr>
        <p:spPr>
          <a:xfrm>
            <a:off x="1878804" y="5295901"/>
            <a:ext cx="110144" cy="110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6" name="타원 2065">
            <a:extLst>
              <a:ext uri="{FF2B5EF4-FFF2-40B4-BE49-F238E27FC236}">
                <a16:creationId xmlns:a16="http://schemas.microsoft.com/office/drawing/2014/main" id="{1DA54A09-8AB8-74BB-5D69-FB70055302A4}"/>
              </a:ext>
            </a:extLst>
          </p:cNvPr>
          <p:cNvSpPr/>
          <p:nvPr/>
        </p:nvSpPr>
        <p:spPr>
          <a:xfrm>
            <a:off x="1878804" y="5750144"/>
            <a:ext cx="110144" cy="110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68" name="연결선: 꺾임 2067">
            <a:extLst>
              <a:ext uri="{FF2B5EF4-FFF2-40B4-BE49-F238E27FC236}">
                <a16:creationId xmlns:a16="http://schemas.microsoft.com/office/drawing/2014/main" id="{92ED425E-7E3D-AB96-DD64-7C98E65DD760}"/>
              </a:ext>
            </a:extLst>
          </p:cNvPr>
          <p:cNvCxnSpPr>
            <a:cxnSpLocks/>
            <a:stCxn id="2061" idx="3"/>
          </p:cNvCxnSpPr>
          <p:nvPr/>
        </p:nvCxnSpPr>
        <p:spPr>
          <a:xfrm flipV="1">
            <a:off x="1091255" y="4905071"/>
            <a:ext cx="787549" cy="521635"/>
          </a:xfrm>
          <a:prstGeom prst="bentConnector3">
            <a:avLst>
              <a:gd name="adj1" fmla="val 61188"/>
            </a:avLst>
          </a:prstGeom>
          <a:ln>
            <a:solidFill>
              <a:srgbClr val="0070C0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연결선: 꺾임 2071">
            <a:extLst>
              <a:ext uri="{FF2B5EF4-FFF2-40B4-BE49-F238E27FC236}">
                <a16:creationId xmlns:a16="http://schemas.microsoft.com/office/drawing/2014/main" id="{3DDC5F03-4B4E-5378-CEDA-59AD0BEB734B}"/>
              </a:ext>
            </a:extLst>
          </p:cNvPr>
          <p:cNvCxnSpPr>
            <a:cxnSpLocks/>
            <a:stCxn id="2062" idx="3"/>
          </p:cNvCxnSpPr>
          <p:nvPr/>
        </p:nvCxnSpPr>
        <p:spPr>
          <a:xfrm flipV="1">
            <a:off x="1091254" y="5358931"/>
            <a:ext cx="787549" cy="368497"/>
          </a:xfrm>
          <a:prstGeom prst="bentConnector3">
            <a:avLst>
              <a:gd name="adj1" fmla="val 48992"/>
            </a:avLst>
          </a:prstGeom>
          <a:ln>
            <a:solidFill>
              <a:srgbClr val="0070C0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8" name="연결선: 꺾임 2077">
            <a:extLst>
              <a:ext uri="{FF2B5EF4-FFF2-40B4-BE49-F238E27FC236}">
                <a16:creationId xmlns:a16="http://schemas.microsoft.com/office/drawing/2014/main" id="{4E529801-2866-E21C-D858-823FE7CB360A}"/>
              </a:ext>
            </a:extLst>
          </p:cNvPr>
          <p:cNvCxnSpPr>
            <a:cxnSpLocks/>
            <a:stCxn id="2063" idx="3"/>
          </p:cNvCxnSpPr>
          <p:nvPr/>
        </p:nvCxnSpPr>
        <p:spPr>
          <a:xfrm flipV="1">
            <a:off x="1091254" y="5804833"/>
            <a:ext cx="787549" cy="223317"/>
          </a:xfrm>
          <a:prstGeom prst="bentConnector3">
            <a:avLst>
              <a:gd name="adj1" fmla="val 57861"/>
            </a:avLst>
          </a:prstGeom>
          <a:ln>
            <a:solidFill>
              <a:srgbClr val="0070C0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6923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06B102-6DAC-253E-384E-054F3D0A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93DD0-F512-8780-6681-7C6F4AEF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2023.03.20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C0081EB-34DC-627F-C56C-5E453C1E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추진 계획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97D867-6BF7-3240-A028-5A73B612D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04" t="30096" r="12604" b="18077"/>
          <a:stretch>
            <a:fillRect/>
          </a:stretch>
        </p:blipFill>
        <p:spPr>
          <a:xfrm>
            <a:off x="1593894" y="1719264"/>
            <a:ext cx="5956212" cy="4471307"/>
          </a:xfrm>
          <a:custGeom>
            <a:avLst/>
            <a:gdLst>
              <a:gd name="connsiteX0" fmla="*/ 0 w 13677900"/>
              <a:gd name="connsiteY0" fmla="*/ 0 h 10267950"/>
              <a:gd name="connsiteX1" fmla="*/ 13677900 w 13677900"/>
              <a:gd name="connsiteY1" fmla="*/ 0 h 10267950"/>
              <a:gd name="connsiteX2" fmla="*/ 13677900 w 13677900"/>
              <a:gd name="connsiteY2" fmla="*/ 10267950 h 10267950"/>
              <a:gd name="connsiteX3" fmla="*/ 0 w 13677900"/>
              <a:gd name="connsiteY3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7900" h="10267950">
                <a:moveTo>
                  <a:pt x="0" y="0"/>
                </a:moveTo>
                <a:lnTo>
                  <a:pt x="13677900" y="0"/>
                </a:lnTo>
                <a:lnTo>
                  <a:pt x="13677900" y="10267950"/>
                </a:lnTo>
                <a:lnTo>
                  <a:pt x="0" y="10267950"/>
                </a:lnTo>
                <a:close/>
              </a:path>
            </a:pathLst>
          </a:cu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67860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2B196E-5669-C3E0-E418-FB94BA42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B10161-01B7-0835-949E-1896DD4C4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2023.07.28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33657F3-B100-6727-FA2C-C88E7ECF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연구추진 계획 </a:t>
            </a:r>
            <a:r>
              <a:rPr lang="ko-KR" altLang="en-US" dirty="0" err="1"/>
              <a:t>변경안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63C618-07B0-613F-8E15-F053F622FE95}"/>
              </a:ext>
            </a:extLst>
          </p:cNvPr>
          <p:cNvSpPr/>
          <p:nvPr/>
        </p:nvSpPr>
        <p:spPr>
          <a:xfrm>
            <a:off x="3765354" y="1640114"/>
            <a:ext cx="1613293" cy="63219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선행기술 연구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93A617-D176-5F83-D582-705FD7DA70E3}"/>
              </a:ext>
            </a:extLst>
          </p:cNvPr>
          <p:cNvSpPr/>
          <p:nvPr/>
        </p:nvSpPr>
        <p:spPr>
          <a:xfrm>
            <a:off x="3765354" y="2338317"/>
            <a:ext cx="1613293" cy="63219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Stakeholder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Analysis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C81279-8F4D-8EE3-187A-7C0AD01435DC}"/>
              </a:ext>
            </a:extLst>
          </p:cNvPr>
          <p:cNvSpPr/>
          <p:nvPr/>
        </p:nvSpPr>
        <p:spPr>
          <a:xfrm>
            <a:off x="3765353" y="3026129"/>
            <a:ext cx="1613293" cy="63219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Requirement Definition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DE5F7F-0D10-630F-23EB-5B0C1C599CD0}"/>
              </a:ext>
            </a:extLst>
          </p:cNvPr>
          <p:cNvSpPr/>
          <p:nvPr/>
        </p:nvSpPr>
        <p:spPr>
          <a:xfrm>
            <a:off x="2410694" y="3795746"/>
            <a:ext cx="2075480" cy="63219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500000" scaled="1"/>
          </a:gra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운용 아키텍처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옵션도출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D3B3FA-0518-C8C5-67B9-E3BE7642DC6E}"/>
              </a:ext>
            </a:extLst>
          </p:cNvPr>
          <p:cNvSpPr/>
          <p:nvPr/>
        </p:nvSpPr>
        <p:spPr>
          <a:xfrm>
            <a:off x="2410694" y="4482235"/>
            <a:ext cx="2075480" cy="63219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500000" scaled="1"/>
            <a:tileRect/>
          </a:gra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ConOps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옵션도출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103501-25EC-635C-27E7-E3006591412A}"/>
              </a:ext>
            </a:extLst>
          </p:cNvPr>
          <p:cNvSpPr/>
          <p:nvPr/>
        </p:nvSpPr>
        <p:spPr>
          <a:xfrm>
            <a:off x="2410694" y="5179115"/>
            <a:ext cx="2075480" cy="63219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500000" scaled="1"/>
            <a:tileRect/>
          </a:gra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SW </a:t>
            </a:r>
            <a:r>
              <a:rPr lang="ko-KR" altLang="en-US" sz="1600" dirty="0">
                <a:solidFill>
                  <a:schemeClr val="tx1"/>
                </a:solidFill>
              </a:rPr>
              <a:t>툴 개발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6F59A1-61D6-E78B-CA2A-1B6478D5CDF8}"/>
              </a:ext>
            </a:extLst>
          </p:cNvPr>
          <p:cNvSpPr/>
          <p:nvPr/>
        </p:nvSpPr>
        <p:spPr>
          <a:xfrm>
            <a:off x="4699393" y="3795746"/>
            <a:ext cx="2075478" cy="63219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35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시스템 성능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평가지표 도출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0DEBCE-9ED3-0280-75CA-AEE09A953863}"/>
              </a:ext>
            </a:extLst>
          </p:cNvPr>
          <p:cNvSpPr/>
          <p:nvPr/>
        </p:nvSpPr>
        <p:spPr>
          <a:xfrm>
            <a:off x="4699393" y="4482235"/>
            <a:ext cx="2075478" cy="63219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35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시스템 성능 평가지표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Trade-off Study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5C685C-1B0E-4EE2-26A1-C4C8A58BEF96}"/>
              </a:ext>
            </a:extLst>
          </p:cNvPr>
          <p:cNvSpPr/>
          <p:nvPr/>
        </p:nvSpPr>
        <p:spPr>
          <a:xfrm>
            <a:off x="2410694" y="5958846"/>
            <a:ext cx="4364175" cy="32884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툴 검증 </a:t>
            </a:r>
            <a:r>
              <a:rPr lang="en-US" altLang="ko-KR" sz="1600" dirty="0">
                <a:solidFill>
                  <a:schemeClr val="tx1"/>
                </a:solidFill>
              </a:rPr>
              <a:t>Study, </a:t>
            </a:r>
            <a:r>
              <a:rPr lang="en-US" altLang="ko-KR" sz="1600" dirty="0" err="1">
                <a:solidFill>
                  <a:schemeClr val="tx1"/>
                </a:solidFill>
              </a:rPr>
              <a:t>ConOps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평가</a:t>
            </a:r>
            <a:r>
              <a:rPr lang="en-US" altLang="ko-KR" sz="1600" dirty="0">
                <a:solidFill>
                  <a:schemeClr val="tx1"/>
                </a:solidFill>
              </a:rPr>
              <a:t>, Trade Study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789C95-4FA3-D934-504E-C4D08CC2076F}"/>
              </a:ext>
            </a:extLst>
          </p:cNvPr>
          <p:cNvSpPr/>
          <p:nvPr/>
        </p:nvSpPr>
        <p:spPr>
          <a:xfrm>
            <a:off x="4699391" y="5179115"/>
            <a:ext cx="2075478" cy="63219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35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시스템 운용 성능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분석 툴 개발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45D929-8298-6093-81ED-BD93DA77A03F}"/>
              </a:ext>
            </a:extLst>
          </p:cNvPr>
          <p:cNvSpPr/>
          <p:nvPr/>
        </p:nvSpPr>
        <p:spPr>
          <a:xfrm>
            <a:off x="103909" y="3801423"/>
            <a:ext cx="2200176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단순화된 형태의 초기 설계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아키텍처 간 장단점 분석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Design Iteration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43FF97-8E20-C93D-31B7-8901EB2BD2F3}"/>
              </a:ext>
            </a:extLst>
          </p:cNvPr>
          <p:cNvSpPr/>
          <p:nvPr/>
        </p:nvSpPr>
        <p:spPr>
          <a:xfrm>
            <a:off x="103909" y="4482235"/>
            <a:ext cx="2200176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>
                <a:solidFill>
                  <a:schemeClr val="tx1"/>
                </a:solidFill>
              </a:rPr>
              <a:t>구체적인 시스템 성능 분석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1C5A94-D92F-3FE2-F49C-5CB6AE9165EE}"/>
              </a:ext>
            </a:extLst>
          </p:cNvPr>
          <p:cNvSpPr/>
          <p:nvPr/>
        </p:nvSpPr>
        <p:spPr>
          <a:xfrm>
            <a:off x="103909" y="5163047"/>
            <a:ext cx="2200176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아키텍처 및 시스템 분석 </a:t>
            </a:r>
            <a:r>
              <a:rPr lang="en-US" altLang="ko-KR" sz="1050" dirty="0">
                <a:solidFill>
                  <a:schemeClr val="tx1"/>
                </a:solidFill>
              </a:rPr>
              <a:t>SW </a:t>
            </a:r>
            <a:r>
              <a:rPr lang="ko-KR" altLang="en-US" sz="1050" dirty="0">
                <a:solidFill>
                  <a:schemeClr val="tx1"/>
                </a:solidFill>
              </a:rPr>
              <a:t>툴 개발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7296F7-40FD-CB68-2DB3-F7444F8B1352}"/>
              </a:ext>
            </a:extLst>
          </p:cNvPr>
          <p:cNvSpPr/>
          <p:nvPr/>
        </p:nvSpPr>
        <p:spPr>
          <a:xfrm>
            <a:off x="6888221" y="3795746"/>
            <a:ext cx="2200176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MOE </a:t>
            </a:r>
            <a:r>
              <a:rPr lang="ko-KR" altLang="en-US" sz="1050" dirty="0">
                <a:solidFill>
                  <a:schemeClr val="tx1"/>
                </a:solidFill>
              </a:rPr>
              <a:t>도출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Revisit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time,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Percent coverage, Response Time </a:t>
            </a:r>
            <a:r>
              <a:rPr lang="ko-KR" altLang="en-US" sz="1050" dirty="0">
                <a:solidFill>
                  <a:schemeClr val="tx1"/>
                </a:solidFill>
              </a:rPr>
              <a:t>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AA0D28-F6D3-F1D6-0BA9-8F5428F771B5}"/>
              </a:ext>
            </a:extLst>
          </p:cNvPr>
          <p:cNvSpPr/>
          <p:nvPr/>
        </p:nvSpPr>
        <p:spPr>
          <a:xfrm>
            <a:off x="6890438" y="4474544"/>
            <a:ext cx="2200176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MOE</a:t>
            </a:r>
            <a:r>
              <a:rPr lang="ko-KR" altLang="en-US" sz="1050" dirty="0">
                <a:solidFill>
                  <a:schemeClr val="tx1"/>
                </a:solidFill>
              </a:rPr>
              <a:t>간 </a:t>
            </a:r>
            <a:r>
              <a:rPr lang="en-US" altLang="ko-KR" sz="1050" dirty="0">
                <a:solidFill>
                  <a:schemeClr val="tx1"/>
                </a:solidFill>
              </a:rPr>
              <a:t>Trade-off </a:t>
            </a:r>
            <a:r>
              <a:rPr lang="ko-KR" altLang="en-US" sz="1050" dirty="0">
                <a:solidFill>
                  <a:schemeClr val="tx1"/>
                </a:solidFill>
              </a:rPr>
              <a:t>관계 분석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e.g. Revisit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time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vs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Percent coverage, etc.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4F8208-3D6D-94DB-2D84-00C0D748A1D4}"/>
              </a:ext>
            </a:extLst>
          </p:cNvPr>
          <p:cNvSpPr/>
          <p:nvPr/>
        </p:nvSpPr>
        <p:spPr>
          <a:xfrm>
            <a:off x="6888221" y="5156290"/>
            <a:ext cx="2200176" cy="7501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시스템 운용성능 분석에 적합한 평가지표 도출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임무 목표와 시스템 초기설계 결과 고려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0E9C68-BC08-F9DB-5133-B56EC9AEAE42}"/>
              </a:ext>
            </a:extLst>
          </p:cNvPr>
          <p:cNvSpPr/>
          <p:nvPr/>
        </p:nvSpPr>
        <p:spPr>
          <a:xfrm>
            <a:off x="5531819" y="1645791"/>
            <a:ext cx="3240705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SAR/EO</a:t>
            </a:r>
            <a:r>
              <a:rPr lang="ko-KR" altLang="en-US" sz="1050" dirty="0">
                <a:solidFill>
                  <a:schemeClr val="tx1"/>
                </a:solidFill>
              </a:rPr>
              <a:t> 초소형 위성 </a:t>
            </a:r>
            <a:r>
              <a:rPr lang="en-US" altLang="ko-KR" sz="1050" dirty="0">
                <a:solidFill>
                  <a:schemeClr val="tx1"/>
                </a:solidFill>
              </a:rPr>
              <a:t>Specification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운용 사례 분석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Literature Study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F80E5D5-984D-A2D2-4FCA-9F0F1D6D7B61}"/>
              </a:ext>
            </a:extLst>
          </p:cNvPr>
          <p:cNvSpPr/>
          <p:nvPr/>
        </p:nvSpPr>
        <p:spPr>
          <a:xfrm>
            <a:off x="5531819" y="2324589"/>
            <a:ext cx="3240705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Interview </a:t>
            </a:r>
            <a:r>
              <a:rPr lang="ko-KR" altLang="en-US" sz="1050" dirty="0">
                <a:solidFill>
                  <a:schemeClr val="tx1"/>
                </a:solidFill>
              </a:rPr>
              <a:t>방식 결정 </a:t>
            </a:r>
            <a:r>
              <a:rPr lang="en-US" altLang="ko-KR" sz="1050" dirty="0">
                <a:solidFill>
                  <a:schemeClr val="tx1"/>
                </a:solidFill>
              </a:rPr>
              <a:t>(Question List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Interviewee </a:t>
            </a:r>
            <a:r>
              <a:rPr lang="ko-KR" altLang="en-US" sz="1050" dirty="0">
                <a:solidFill>
                  <a:schemeClr val="tx1"/>
                </a:solidFill>
              </a:rPr>
              <a:t>선정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</a:rPr>
              <a:t>Interview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93B94-C5D8-68CE-6BFF-974701A6688C}"/>
              </a:ext>
            </a:extLst>
          </p:cNvPr>
          <p:cNvSpPr/>
          <p:nvPr/>
        </p:nvSpPr>
        <p:spPr>
          <a:xfrm>
            <a:off x="5531818" y="3022675"/>
            <a:ext cx="3240705" cy="626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감시 정찰 목표 지역 설정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임무 수행 능력 정의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</a:rPr>
              <a:t>기타 </a:t>
            </a:r>
            <a:r>
              <a:rPr lang="en-US" altLang="ko-KR" sz="1050" dirty="0">
                <a:solidFill>
                  <a:schemeClr val="tx1"/>
                </a:solidFill>
              </a:rPr>
              <a:t>Requirement </a:t>
            </a:r>
            <a:r>
              <a:rPr lang="ko-KR" altLang="en-US" sz="1050" dirty="0">
                <a:solidFill>
                  <a:schemeClr val="tx1"/>
                </a:solidFill>
              </a:rPr>
              <a:t>정의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FE70462-AA98-7F0C-940D-F16A43A91EE2}"/>
              </a:ext>
            </a:extLst>
          </p:cNvPr>
          <p:cNvSpPr/>
          <p:nvPr/>
        </p:nvSpPr>
        <p:spPr>
          <a:xfrm>
            <a:off x="397351" y="1640114"/>
            <a:ext cx="1109332" cy="42767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Cowork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3EB4AF-AEFE-5E13-630C-0BA159209716}"/>
              </a:ext>
            </a:extLst>
          </p:cNvPr>
          <p:cNvSpPr/>
          <p:nvPr/>
        </p:nvSpPr>
        <p:spPr>
          <a:xfrm>
            <a:off x="397883" y="2124117"/>
            <a:ext cx="1108800" cy="4284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500000" scaled="1"/>
          </a:gra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KAIST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1EA5EC9-7043-14D1-8BC1-7E440DB2790F}"/>
              </a:ext>
            </a:extLst>
          </p:cNvPr>
          <p:cNvSpPr/>
          <p:nvPr/>
        </p:nvSpPr>
        <p:spPr>
          <a:xfrm>
            <a:off x="397883" y="2606810"/>
            <a:ext cx="1108800" cy="4284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35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연세대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15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84759</TotalTime>
  <Words>5183</Words>
  <Application>Microsoft Office PowerPoint</Application>
  <PresentationFormat>화면 슬라이드 쇼(4:3)</PresentationFormat>
  <Paragraphs>1149</Paragraphs>
  <Slides>70</Slides>
  <Notes>59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83" baseType="lpstr">
      <vt:lpstr>Apple SD Gothic Neo</vt:lpstr>
      <vt:lpstr>noto</vt:lpstr>
      <vt:lpstr>맑은 고딕</vt:lpstr>
      <vt:lpstr>Arial</vt:lpstr>
      <vt:lpstr>Cambria Math</vt:lpstr>
      <vt:lpstr>Lucida Sans Unicode</vt:lpstr>
      <vt:lpstr>Microsoft Sans Serif</vt:lpstr>
      <vt:lpstr>Sitka Heading</vt:lpstr>
      <vt:lpstr>times</vt:lpstr>
      <vt:lpstr>Times New Roman</vt:lpstr>
      <vt:lpstr>Wingdings</vt:lpstr>
      <vt:lpstr>Office 테마</vt:lpstr>
      <vt:lpstr>비트맵 이미지</vt:lpstr>
      <vt:lpstr>이종위성군 궤도설계</vt:lpstr>
      <vt:lpstr>Contents</vt:lpstr>
      <vt:lpstr>연구배경</vt:lpstr>
      <vt:lpstr>연구의 필요성</vt:lpstr>
      <vt:lpstr>연구배경</vt:lpstr>
      <vt:lpstr>선행연구조사 (OptiSAR)</vt:lpstr>
      <vt:lpstr>선행연구조사 (OptiSAR)</vt:lpstr>
      <vt:lpstr>선행연구조사 (OptiSAR)</vt:lpstr>
      <vt:lpstr>선행연구조사 (OptiSAR)</vt:lpstr>
      <vt:lpstr>선행연구조사 (OptiSAR)</vt:lpstr>
      <vt:lpstr>연구진행상황</vt:lpstr>
      <vt:lpstr>연구 목표 및 자료조사에 참고한 논문</vt:lpstr>
      <vt:lpstr>(1) Hang Woon Lee, Seiichi Shimizu, Shoji Yoshikawa, Koki Ho, "Satellite Constellation Pattern Optimization for Complex Regional Coverage“ 2020 Journal of Spacecraft and Rockets, Vol. 57, No. 6, pp. 1309-1327</vt:lpstr>
      <vt:lpstr>연구목표, 방법 및 이종위성군의 정의</vt:lpstr>
      <vt:lpstr>APC decomposition(Access Profile)</vt:lpstr>
      <vt:lpstr>APC decomposition(Access Profile)</vt:lpstr>
      <vt:lpstr>APC decomposition(Pattern Vector)</vt:lpstr>
      <vt:lpstr>APC decomposition(Coverage Timeline)</vt:lpstr>
      <vt:lpstr>APC decomposition(Coverage Timeline)</vt:lpstr>
      <vt:lpstr>Circular Convolution Formulation</vt:lpstr>
      <vt:lpstr>Circular Convolution Formulation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Mixed Integer Linear Programming</vt:lpstr>
      <vt:lpstr>Mixed Integer Linear Programming</vt:lpstr>
      <vt:lpstr>지역 커버리지 위성군 패턴 설계 방법</vt:lpstr>
      <vt:lpstr>Example별 시뮬레이션 분석</vt:lpstr>
      <vt:lpstr>논문의 시뮬레이션 환경 및 가정</vt:lpstr>
      <vt:lpstr>논문의 시뮬레이션 변수</vt:lpstr>
      <vt:lpstr>논문의 시뮬레이션 세팅 및 결과 (Ex.0)</vt:lpstr>
      <vt:lpstr>직접 실행한 시뮬레이션 세팅 (Ex.0)</vt:lpstr>
      <vt:lpstr>직접 실행한 시뮬레이션 결과 (Ex.0)</vt:lpstr>
      <vt:lpstr>직접 실행한 시뮬레이션 결과 (Ex.0)</vt:lpstr>
      <vt:lpstr>직접 실행한 시뮬레이션 결과 (Ex.0)</vt:lpstr>
      <vt:lpstr>직접 실행한 시뮬레이션 결과 (Ex.0)</vt:lpstr>
      <vt:lpstr>결론 및 보완이 필요한 부분</vt:lpstr>
      <vt:lpstr>(2) Mencarelli, L., Floquet, J., Georges, F. et al. Mixed integer (non)linear approaches for the satellite constellation design problem. Optim Eng (2022). https://doi.org/10.1007/ s11081-022-09774-9</vt:lpstr>
      <vt:lpstr>연구목표 및 방법</vt:lpstr>
      <vt:lpstr>사용된 소프트웨어 및 최적화 프로그램</vt:lpstr>
      <vt:lpstr>분석 소프트웨어</vt:lpstr>
      <vt:lpstr>분석 소프트웨어</vt:lpstr>
      <vt:lpstr>분석 소프트웨어</vt:lpstr>
      <vt:lpstr>입력/출력 변수</vt:lpstr>
      <vt:lpstr>소프트웨어 실행 결과 예시</vt:lpstr>
      <vt:lpstr>결론</vt:lpstr>
      <vt:lpstr>(3) I. Sanad and D. G. Michelson, "A Framework for Heterogeneous Satellite Constellation Design for Rapid Response Earth Observations," 2019 IEEE Aerospace Conference, Big Sky, MT, USA, 2019, pp. 1-10, doi: 10.1109/AERO.2019.8741813. </vt:lpstr>
      <vt:lpstr>연구목표 및 이종위성군의 정의</vt:lpstr>
      <vt:lpstr>SRT의 정의 및 구성</vt:lpstr>
      <vt:lpstr>단계별 연구방법</vt:lpstr>
      <vt:lpstr>임무 목적 및 제한조건과 탑재체 성능 결정</vt:lpstr>
      <vt:lpstr>사용된 SW및 궤도정보 및 운용개념 결정</vt:lpstr>
      <vt:lpstr>결론 및 보완이 필요한 부분</vt:lpstr>
      <vt:lpstr>(4) S. Zhao, Y. Xu, H. Dai; Research on the configuration design method of heterogeneous constellation reconstruction under the multiple objective and multiple constraint. AIP Conference Proceedings 8 May 2017; 1839 (1): 020083. </vt:lpstr>
      <vt:lpstr>연구목표와 방법 및 이종위성군의 정의</vt:lpstr>
      <vt:lpstr>Phase Uniformity Method</vt:lpstr>
      <vt:lpstr>Reconstruction Configuration Design Method</vt:lpstr>
      <vt:lpstr>두 가지 방법의 장단점 비교</vt:lpstr>
      <vt:lpstr>결론 및 보완이 필요한 부분</vt:lpstr>
      <vt:lpstr>(5) L. Liu, Z. Dong, H. Su,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doi: 10.1109/IAEAC50856.2021.9390990.</vt:lpstr>
      <vt:lpstr>연구목표 및 이종 위성군의 정의</vt:lpstr>
      <vt:lpstr>Schedule Stage에 따른 연구방법</vt:lpstr>
      <vt:lpstr>Algorithm의 종류 및 장단점 비교</vt:lpstr>
      <vt:lpstr>결론 및 보완이 필요한 부분</vt:lpstr>
      <vt:lpstr>연구추진 계획안 논의</vt:lpstr>
      <vt:lpstr>연차별 연구 목표/내용</vt:lpstr>
      <vt:lpstr>Work Modules</vt:lpstr>
      <vt:lpstr>연구 추진 계획(안)</vt:lpstr>
      <vt:lpstr>연구추진 계획 변경안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5367</cp:revision>
  <dcterms:created xsi:type="dcterms:W3CDTF">2018-01-29T02:45:56Z</dcterms:created>
  <dcterms:modified xsi:type="dcterms:W3CDTF">2023-07-27T08:45:24Z</dcterms:modified>
</cp:coreProperties>
</file>