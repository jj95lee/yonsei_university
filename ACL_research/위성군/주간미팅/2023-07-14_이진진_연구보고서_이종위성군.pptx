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69"/>
  </p:notesMasterIdLst>
  <p:handoutMasterIdLst>
    <p:handoutMasterId r:id="rId70"/>
  </p:handoutMasterIdLst>
  <p:sldIdLst>
    <p:sldId id="2229" r:id="rId2"/>
    <p:sldId id="2239" r:id="rId3"/>
    <p:sldId id="2300" r:id="rId4"/>
    <p:sldId id="2438" r:id="rId5"/>
    <p:sldId id="2512" r:id="rId6"/>
    <p:sldId id="2513" r:id="rId7"/>
    <p:sldId id="2518" r:id="rId8"/>
    <p:sldId id="2514" r:id="rId9"/>
    <p:sldId id="2534" r:id="rId10"/>
    <p:sldId id="2517" r:id="rId11"/>
    <p:sldId id="2516" r:id="rId12"/>
    <p:sldId id="2497" r:id="rId13"/>
    <p:sldId id="2519" r:id="rId14"/>
    <p:sldId id="2524" r:id="rId15"/>
    <p:sldId id="2532" r:id="rId16"/>
    <p:sldId id="2531" r:id="rId17"/>
    <p:sldId id="2526" r:id="rId18"/>
    <p:sldId id="2527" r:id="rId19"/>
    <p:sldId id="2523" r:id="rId20"/>
    <p:sldId id="2528" r:id="rId21"/>
    <p:sldId id="2522" r:id="rId22"/>
    <p:sldId id="2529" r:id="rId23"/>
    <p:sldId id="2530" r:id="rId24"/>
    <p:sldId id="2533" r:id="rId25"/>
    <p:sldId id="2508" r:id="rId26"/>
    <p:sldId id="2509" r:id="rId27"/>
    <p:sldId id="2510" r:id="rId28"/>
    <p:sldId id="2444" r:id="rId29"/>
    <p:sldId id="2456" r:id="rId30"/>
    <p:sldId id="2457" r:id="rId31"/>
    <p:sldId id="2446" r:id="rId32"/>
    <p:sldId id="2458" r:id="rId33"/>
    <p:sldId id="2459" r:id="rId34"/>
    <p:sldId id="2448" r:id="rId35"/>
    <p:sldId id="2460" r:id="rId36"/>
    <p:sldId id="2461" r:id="rId37"/>
    <p:sldId id="2462" r:id="rId38"/>
    <p:sldId id="2447" r:id="rId39"/>
    <p:sldId id="2463" r:id="rId40"/>
    <p:sldId id="2464" r:id="rId41"/>
    <p:sldId id="2465" r:id="rId42"/>
    <p:sldId id="2466" r:id="rId43"/>
    <p:sldId id="2467" r:id="rId44"/>
    <p:sldId id="2468" r:id="rId45"/>
    <p:sldId id="2475" r:id="rId46"/>
    <p:sldId id="2469" r:id="rId47"/>
    <p:sldId id="2476" r:id="rId48"/>
    <p:sldId id="2477" r:id="rId49"/>
    <p:sldId id="2479" r:id="rId50"/>
    <p:sldId id="2478" r:id="rId51"/>
    <p:sldId id="2472" r:id="rId52"/>
    <p:sldId id="2483" r:id="rId53"/>
    <p:sldId id="2484" r:id="rId54"/>
    <p:sldId id="2485" r:id="rId55"/>
    <p:sldId id="2486" r:id="rId56"/>
    <p:sldId id="2487" r:id="rId57"/>
    <p:sldId id="2488" r:id="rId58"/>
    <p:sldId id="2489" r:id="rId59"/>
    <p:sldId id="2492" r:id="rId60"/>
    <p:sldId id="2490" r:id="rId61"/>
    <p:sldId id="2491" r:id="rId62"/>
    <p:sldId id="2493" r:id="rId63"/>
    <p:sldId id="2494" r:id="rId64"/>
    <p:sldId id="2495" r:id="rId65"/>
    <p:sldId id="2297" r:id="rId66"/>
    <p:sldId id="2441" r:id="rId67"/>
    <p:sldId id="268" r:id="rId6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0A1E"/>
    <a:srgbClr val="EDB021"/>
    <a:srgbClr val="D9541A"/>
    <a:srgbClr val="404040"/>
    <a:srgbClr val="FFFFFF"/>
    <a:srgbClr val="001E46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A3A2F-24A6-4780-87F1-B038B229A4F4}" v="6" dt="2023-06-14T11:24:23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진" userId="2c4bb6cd-31fa-4501-9704-1dfc32333b2e" providerId="ADAL" clId="{B78A3A2F-24A6-4780-87F1-B038B229A4F4}"/>
    <pc:docChg chg="custSel delSld modSld">
      <pc:chgData name="이진진" userId="2c4bb6cd-31fa-4501-9704-1dfc32333b2e" providerId="ADAL" clId="{B78A3A2F-24A6-4780-87F1-B038B229A4F4}" dt="2023-06-14T11:24:28.733" v="61" actId="27636"/>
      <pc:docMkLst>
        <pc:docMk/>
      </pc:docMkLst>
      <pc:sldChg chg="del modNotesTx">
        <pc:chgData name="이진진" userId="2c4bb6cd-31fa-4501-9704-1dfc32333b2e" providerId="ADAL" clId="{B78A3A2F-24A6-4780-87F1-B038B229A4F4}" dt="2023-06-14T11:19:59.194" v="2" actId="2696"/>
        <pc:sldMkLst>
          <pc:docMk/>
          <pc:sldMk cId="607627868" sldId="243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148163736" sldId="244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904486488" sldId="244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295381" sldId="244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412052492" sldId="244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45331008" sldId="245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2666145" sldId="245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035611463" sldId="245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633155832" sldId="245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43723579" sldId="2459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574002915" sldId="2460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42137124" sldId="2461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795126205" sldId="2462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21109907" sldId="2463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706119381" sldId="246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30859256" sldId="246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4854847" sldId="246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28437977" sldId="246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50181166" sldId="2468"/>
        </pc:sldMkLst>
      </pc:sldChg>
      <pc:sldChg chg="modSp mod">
        <pc:chgData name="이진진" userId="2c4bb6cd-31fa-4501-9704-1dfc32333b2e" providerId="ADAL" clId="{B78A3A2F-24A6-4780-87F1-B038B229A4F4}" dt="2023-06-14T11:24:23.716" v="59"/>
        <pc:sldMkLst>
          <pc:docMk/>
          <pc:sldMk cId="4276021245" sldId="2469"/>
        </pc:sldMkLst>
        <pc:spChg chg="mod">
          <ac:chgData name="이진진" userId="2c4bb6cd-31fa-4501-9704-1dfc32333b2e" providerId="ADAL" clId="{B78A3A2F-24A6-4780-87F1-B038B229A4F4}" dt="2023-06-14T11:24:23.716" v="59"/>
          <ac:spMkLst>
            <pc:docMk/>
            <pc:sldMk cId="4276021245" sldId="2469"/>
            <ac:spMk id="4" creationId="{00000000-0000-0000-0000-000000000000}"/>
          </ac:spMkLst>
        </pc:spChg>
      </pc:sldChg>
      <pc:sldChg chg="modSp mod">
        <pc:chgData name="이진진" userId="2c4bb6cd-31fa-4501-9704-1dfc32333b2e" providerId="ADAL" clId="{B78A3A2F-24A6-4780-87F1-B038B229A4F4}" dt="2023-06-14T11:24:28.733" v="61" actId="27636"/>
        <pc:sldMkLst>
          <pc:docMk/>
          <pc:sldMk cId="1668698186" sldId="2470"/>
        </pc:sldMkLst>
        <pc:spChg chg="mod">
          <ac:chgData name="이진진" userId="2c4bb6cd-31fa-4501-9704-1dfc32333b2e" providerId="ADAL" clId="{B78A3A2F-24A6-4780-87F1-B038B229A4F4}" dt="2023-06-14T11:24:28.733" v="61" actId="27636"/>
          <ac:spMkLst>
            <pc:docMk/>
            <pc:sldMk cId="1668698186" sldId="2470"/>
            <ac:spMk id="4" creationId="{00000000-0000-0000-0000-000000000000}"/>
          </ac:spMkLst>
        </pc:spChg>
      </pc:sldChg>
      <pc:sldChg chg="del">
        <pc:chgData name="이진진" userId="2c4bb6cd-31fa-4501-9704-1dfc32333b2e" providerId="ADAL" clId="{B78A3A2F-24A6-4780-87F1-B038B229A4F4}" dt="2023-06-14T11:19:32.986" v="1" actId="2696"/>
        <pc:sldMkLst>
          <pc:docMk/>
          <pc:sldMk cId="2370003660" sldId="2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연구 목표 및 계획 리마인드</a:t>
            </a:r>
            <a:r>
              <a:rPr lang="en-US" altLang="ko-KR" dirty="0"/>
              <a:t>, </a:t>
            </a:r>
            <a:r>
              <a:rPr lang="ko-KR" altLang="en-US" dirty="0"/>
              <a:t>전체 계획 중 현재 위치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다양한 이유 중 첫번째는 이진수 변수 </a:t>
            </a:r>
            <a:r>
              <a:rPr lang="en-US" altLang="ko-KR" dirty="0"/>
              <a:t>– BILP(</a:t>
            </a:r>
            <a:r>
              <a:rPr lang="ko-KR" altLang="en-US" dirty="0"/>
              <a:t>다음 슬라이드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17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이상인지 아닌지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관심지역 커버되는지 아닌지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다음 슬라이드에 추가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97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307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LP / MILP – </a:t>
            </a:r>
            <a:r>
              <a:rPr lang="ko-KR" altLang="en-US" dirty="0"/>
              <a:t>가장 일반적으로 쓰는 것으로 보임</a:t>
            </a:r>
            <a:r>
              <a:rPr lang="en-US" altLang="ko-KR" dirty="0"/>
              <a:t> (</a:t>
            </a:r>
            <a:r>
              <a:rPr lang="ko-KR" altLang="en-US" dirty="0"/>
              <a:t>뒷장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정수만 쓰는 </a:t>
            </a:r>
            <a:r>
              <a:rPr lang="en-US" altLang="ko-KR" dirty="0"/>
              <a:t>BILP</a:t>
            </a:r>
            <a:r>
              <a:rPr lang="ko-KR" altLang="en-US" dirty="0"/>
              <a:t>에 약간 변형하여 실수 변수까지 허용한 것이 </a:t>
            </a:r>
            <a:r>
              <a:rPr lang="en-US" altLang="ko-KR" dirty="0"/>
              <a:t>MILP</a:t>
            </a:r>
            <a:r>
              <a:rPr lang="ko-KR" altLang="en-US" dirty="0"/>
              <a:t>이므로 </a:t>
            </a:r>
            <a:endParaRPr lang="en-US" altLang="ko-KR" dirty="0"/>
          </a:p>
          <a:p>
            <a:r>
              <a:rPr lang="ko-KR" altLang="en-US" dirty="0"/>
              <a:t>비슷한 개념으로 생각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종류를 주로 다룰 것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21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정수만 쓰는 </a:t>
            </a:r>
            <a:r>
              <a:rPr lang="en-US" altLang="ko-KR" dirty="0"/>
              <a:t>BILP</a:t>
            </a:r>
            <a:r>
              <a:rPr lang="ko-KR" altLang="en-US" dirty="0"/>
              <a:t>에 약간 변형하여 실수 변수까지 허용한 것이 </a:t>
            </a:r>
            <a:r>
              <a:rPr lang="en-US" altLang="ko-KR" dirty="0"/>
              <a:t>MILP</a:t>
            </a:r>
            <a:r>
              <a:rPr lang="ko-KR" altLang="en-US" dirty="0"/>
              <a:t>이므로 </a:t>
            </a:r>
            <a:endParaRPr lang="en-US" altLang="ko-KR" dirty="0"/>
          </a:p>
          <a:p>
            <a:r>
              <a:rPr lang="ko-KR" altLang="en-US" dirty="0"/>
              <a:t>비슷한 개념으로 생각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종류를 주로 다룰 것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44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문제정의 </a:t>
            </a:r>
            <a:r>
              <a:rPr lang="en-US" altLang="ko-KR" dirty="0"/>
              <a:t>– </a:t>
            </a:r>
            <a:r>
              <a:rPr lang="ko-KR" altLang="en-US" dirty="0"/>
              <a:t>운용 개념에 입각하여 목적 정의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2, 3, 4 -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목적함수</a:t>
            </a:r>
            <a:r>
              <a:rPr lang="en-US" altLang="ko-KR" dirty="0"/>
              <a:t>, </a:t>
            </a:r>
            <a:r>
              <a:rPr lang="ko-KR" altLang="en-US" dirty="0"/>
              <a:t>제한조건의 정의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위의 조건들을 포함하여 모델을 구축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미리 준비해둔 코드 및 </a:t>
            </a:r>
            <a:r>
              <a:rPr lang="ko-KR" altLang="en-US" dirty="0" err="1"/>
              <a:t>솔버를</a:t>
            </a:r>
            <a:r>
              <a:rPr lang="ko-KR" altLang="en-US" dirty="0"/>
              <a:t> 실행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Cplex</a:t>
            </a:r>
            <a:r>
              <a:rPr lang="en-US" altLang="ko-KR" dirty="0"/>
              <a:t> </a:t>
            </a:r>
            <a:r>
              <a:rPr lang="ko-KR" altLang="en-US" dirty="0"/>
              <a:t>또는 구로비와 같은 소프트 </a:t>
            </a:r>
            <a:r>
              <a:rPr lang="ko-KR" altLang="en-US" dirty="0" err="1"/>
              <a:t>웨어가</a:t>
            </a:r>
            <a:r>
              <a:rPr lang="ko-KR" altLang="en-US" dirty="0"/>
              <a:t> 있긴 하지만 매트랩을 이용해 </a:t>
            </a:r>
            <a:r>
              <a:rPr lang="ko-KR" altLang="en-US" dirty="0" err="1"/>
              <a:t>기초적으로나마</a:t>
            </a:r>
            <a:r>
              <a:rPr lang="ko-KR" altLang="en-US" dirty="0"/>
              <a:t> 구현을 해보았음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7. </a:t>
            </a:r>
            <a:r>
              <a:rPr lang="ko-KR" altLang="en-US" dirty="0"/>
              <a:t>최적의 변수 및 목적함수 얻는 것이 최종 목표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3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식을 모두 만족하면서 </a:t>
            </a:r>
            <a:r>
              <a:rPr lang="en-US" altLang="ko-KR" dirty="0"/>
              <a:t>Z </a:t>
            </a:r>
            <a:r>
              <a:rPr lang="ko-KR" altLang="en-US" dirty="0"/>
              <a:t>값을 최소화 하는 과정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가지치기처럼 </a:t>
            </a:r>
            <a:r>
              <a:rPr lang="en-US" altLang="ko-KR" dirty="0"/>
              <a:t>x1</a:t>
            </a:r>
            <a:r>
              <a:rPr lang="ko-KR" altLang="en-US" dirty="0"/>
              <a:t>부터 순차적으로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값을 각각 대입했을 때 </a:t>
            </a:r>
            <a:endParaRPr lang="en-US" altLang="ko-KR" dirty="0"/>
          </a:p>
          <a:p>
            <a:r>
              <a:rPr lang="ko-KR" altLang="en-US" dirty="0"/>
              <a:t>가능한 </a:t>
            </a:r>
            <a:r>
              <a:rPr lang="en-US" altLang="ko-KR" dirty="0"/>
              <a:t>Z </a:t>
            </a:r>
            <a:r>
              <a:rPr lang="ko-KR" altLang="en-US" dirty="0"/>
              <a:t>값을 하나씩 </a:t>
            </a:r>
            <a:r>
              <a:rPr lang="ko-KR" altLang="en-US" dirty="0" err="1"/>
              <a:t>구해나가면서</a:t>
            </a:r>
            <a:r>
              <a:rPr lang="en-US" altLang="ko-KR" dirty="0"/>
              <a:t>, </a:t>
            </a:r>
            <a:r>
              <a:rPr lang="ko-KR" altLang="en-US" dirty="0"/>
              <a:t>어떤 경우에도 불가능한 상황을 </a:t>
            </a:r>
            <a:r>
              <a:rPr lang="ko-KR" altLang="en-US" dirty="0" err="1"/>
              <a:t>지워버림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지우고 난 여러 상황 중 가장 최소화된 해를</a:t>
            </a:r>
            <a:r>
              <a:rPr lang="en-US" altLang="ko-KR" dirty="0"/>
              <a:t>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최적화된 경우를 찾는다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위성운용에 적용 </a:t>
            </a:r>
            <a:r>
              <a:rPr lang="en-US" altLang="ko-KR" dirty="0"/>
              <a:t>ex) </a:t>
            </a:r>
            <a:r>
              <a:rPr lang="ko-KR" altLang="en-US" dirty="0"/>
              <a:t>주어진 제한 조건 범위 내에서 원하는 운용 개념을 만족하기 위한 최소의 위성</a:t>
            </a:r>
            <a:endParaRPr lang="en-US" altLang="ko-KR" dirty="0"/>
          </a:p>
          <a:p>
            <a:r>
              <a:rPr lang="ko-KR" altLang="en-US" dirty="0"/>
              <a:t>앞에서부터 순서대로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인 상황으로 가정하기 때문에 여러 제한 조건 중 가장 </a:t>
            </a:r>
            <a:r>
              <a:rPr lang="en-US" altLang="ko-KR" dirty="0"/>
              <a:t>critical</a:t>
            </a:r>
            <a:r>
              <a:rPr lang="ko-KR" altLang="en-US" dirty="0"/>
              <a:t>한 순서로 </a:t>
            </a:r>
            <a:r>
              <a:rPr lang="en-US" altLang="ko-KR" dirty="0"/>
              <a:t>x1, x2.. </a:t>
            </a:r>
            <a:r>
              <a:rPr lang="ko-KR" altLang="en-US" dirty="0"/>
              <a:t>이렇게 비중을 정할 수 있음</a:t>
            </a:r>
            <a:endParaRPr lang="en-US" altLang="ko-KR" dirty="0"/>
          </a:p>
          <a:p>
            <a:r>
              <a:rPr lang="ko-KR" altLang="en-US" dirty="0"/>
              <a:t>여러 제한 조건 </a:t>
            </a:r>
            <a:r>
              <a:rPr lang="en-US" altLang="ko-KR" dirty="0"/>
              <a:t>– </a:t>
            </a:r>
            <a:r>
              <a:rPr lang="ko-KR" altLang="en-US" dirty="0"/>
              <a:t>다음 슬라이드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437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간섭 방지 뿐만 아니라 통신 </a:t>
            </a:r>
            <a:r>
              <a:rPr lang="ko-KR" altLang="en-US" dirty="0" err="1"/>
              <a:t>위성군</a:t>
            </a:r>
            <a:r>
              <a:rPr lang="ko-KR" altLang="en-US" dirty="0"/>
              <a:t> 같은 경우엔 특정 거리 범위 내에 있어야 하므로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커버리지</a:t>
            </a:r>
            <a:r>
              <a:rPr lang="en-US" altLang="ko-KR" dirty="0"/>
              <a:t>, </a:t>
            </a:r>
            <a:r>
              <a:rPr lang="ko-KR" altLang="en-US" dirty="0"/>
              <a:t>자원</a:t>
            </a:r>
            <a:r>
              <a:rPr lang="en-US" altLang="ko-KR" dirty="0"/>
              <a:t>, </a:t>
            </a:r>
            <a:r>
              <a:rPr lang="ko-KR" altLang="en-US" dirty="0"/>
              <a:t>지형 제한 조건 등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331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948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매트랩에 내장되어 있는 최적화 툴이 있었음</a:t>
            </a:r>
            <a:endParaRPr lang="en-US" altLang="ko-KR" dirty="0"/>
          </a:p>
          <a:p>
            <a:r>
              <a:rPr lang="ko-KR" altLang="en-US" dirty="0"/>
              <a:t>이걸 이용해도 최적화된 값을 얻을 수 있지만</a:t>
            </a:r>
            <a:r>
              <a:rPr lang="en-US" altLang="ko-KR" dirty="0"/>
              <a:t>, </a:t>
            </a:r>
            <a:r>
              <a:rPr lang="ko-KR" altLang="en-US" dirty="0"/>
              <a:t>직접 코드를 구현해보고자 함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7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이용한 함수는 혼합 정수 선형 계획법이라는 </a:t>
            </a:r>
            <a:r>
              <a:rPr lang="en-US" altLang="ko-KR" dirty="0"/>
              <a:t>int  </a:t>
            </a:r>
            <a:r>
              <a:rPr lang="en-US" altLang="ko-KR" dirty="0" err="1"/>
              <a:t>lin</a:t>
            </a:r>
            <a:r>
              <a:rPr lang="en-US" altLang="ko-KR" dirty="0"/>
              <a:t>  prog</a:t>
            </a:r>
          </a:p>
          <a:p>
            <a:endParaRPr lang="en-US" altLang="ko-KR" dirty="0"/>
          </a:p>
          <a:p>
            <a:r>
              <a:rPr lang="ko-KR" altLang="en-US" dirty="0"/>
              <a:t>참고하여 코드를 작성</a:t>
            </a:r>
            <a:r>
              <a:rPr lang="en-US" altLang="ko-KR" dirty="0"/>
              <a:t>. </a:t>
            </a:r>
            <a:r>
              <a:rPr lang="ko-KR" altLang="en-US" dirty="0"/>
              <a:t>간단한 예시로 시작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98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다룬 식을 그대로 가져옴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Integer programming </a:t>
            </a:r>
            <a:r>
              <a:rPr lang="ko-KR" altLang="en-US" dirty="0"/>
              <a:t>적용을 위해 항상 우변이 작아야 함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021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정수가 아닌</a:t>
            </a:r>
            <a:r>
              <a:rPr lang="en-US" altLang="ko-KR" dirty="0"/>
              <a:t>, </a:t>
            </a:r>
            <a:r>
              <a:rPr lang="ko-KR" altLang="en-US" dirty="0"/>
              <a:t>실수 범위에서의 </a:t>
            </a:r>
            <a:r>
              <a:rPr lang="en-US" altLang="ko-KR" dirty="0"/>
              <a:t>linear programming</a:t>
            </a:r>
          </a:p>
          <a:p>
            <a:endParaRPr lang="en-US" altLang="ko-KR" dirty="0"/>
          </a:p>
          <a:p>
            <a:r>
              <a:rPr lang="ko-KR" altLang="en-US" dirty="0"/>
              <a:t>등호가 </a:t>
            </a:r>
            <a:r>
              <a:rPr lang="ko-KR" altLang="en-US" dirty="0" err="1"/>
              <a:t>있을때</a:t>
            </a:r>
            <a:r>
              <a:rPr lang="ko-KR" altLang="en-US" dirty="0"/>
              <a:t> 입력하는 란 </a:t>
            </a:r>
            <a:r>
              <a:rPr lang="en-US" altLang="ko-KR" dirty="0"/>
              <a:t>-&gt; </a:t>
            </a:r>
            <a:r>
              <a:rPr lang="ko-KR" altLang="en-US" dirty="0"/>
              <a:t>부등호만 다루므로 </a:t>
            </a:r>
            <a:r>
              <a:rPr lang="ko-KR" altLang="en-US" dirty="0" err="1"/>
              <a:t>비워둠</a:t>
            </a:r>
            <a:endParaRPr lang="en-US" altLang="ko-KR" dirty="0"/>
          </a:p>
          <a:p>
            <a:r>
              <a:rPr lang="ko-KR" altLang="en-US" dirty="0"/>
              <a:t>하한은 </a:t>
            </a:r>
            <a:r>
              <a:rPr lang="en-US" altLang="ko-KR" dirty="0"/>
              <a:t>0, </a:t>
            </a:r>
            <a:r>
              <a:rPr lang="ko-KR" altLang="en-US" dirty="0"/>
              <a:t>상한은 정의되지 않았으므로 </a:t>
            </a:r>
            <a:r>
              <a:rPr lang="ko-KR" altLang="en-US" dirty="0" err="1"/>
              <a:t>비워둠</a:t>
            </a:r>
            <a:endParaRPr lang="en-US" altLang="ko-KR" dirty="0"/>
          </a:p>
          <a:p>
            <a:r>
              <a:rPr lang="ko-KR" altLang="en-US" dirty="0"/>
              <a:t>최적화를 위한 함수 </a:t>
            </a:r>
            <a:r>
              <a:rPr lang="en-US" altLang="ko-KR" dirty="0"/>
              <a:t>-&gt; linear program,  </a:t>
            </a:r>
            <a:r>
              <a:rPr lang="en-US" altLang="ko-KR" dirty="0" err="1"/>
              <a:t>iterior</a:t>
            </a:r>
            <a:r>
              <a:rPr lang="en-US" altLang="ko-KR" dirty="0"/>
              <a:t>-point</a:t>
            </a:r>
            <a:r>
              <a:rPr lang="ko-KR" altLang="en-US" dirty="0"/>
              <a:t>라는 알고리즘 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최적해를 찾았더니 값이 다소 복잡함 </a:t>
            </a:r>
            <a:r>
              <a:rPr lang="en-US" altLang="ko-KR" dirty="0"/>
              <a:t>-&gt; </a:t>
            </a:r>
            <a:r>
              <a:rPr lang="ko-KR" altLang="en-US" dirty="0"/>
              <a:t>이걸 정수화 할 수 있음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703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정수로만 출력되는 </a:t>
            </a:r>
            <a:r>
              <a:rPr lang="en-US" altLang="ko-KR" dirty="0"/>
              <a:t>Integer linear programming </a:t>
            </a:r>
            <a:r>
              <a:rPr lang="ko-KR" altLang="en-US" dirty="0"/>
              <a:t>적용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값이 정수로만 출력됨 </a:t>
            </a:r>
            <a:r>
              <a:rPr lang="en-US" altLang="ko-KR" dirty="0"/>
              <a:t>-&gt; </a:t>
            </a:r>
            <a:r>
              <a:rPr lang="ko-KR" altLang="en-US" dirty="0"/>
              <a:t>논문의 결과와 목적함수</a:t>
            </a:r>
            <a:r>
              <a:rPr lang="en-US" altLang="ko-KR" dirty="0"/>
              <a:t>, </a:t>
            </a:r>
            <a:r>
              <a:rPr lang="ko-KR" altLang="en-US" dirty="0"/>
              <a:t>최적해 값 모두 동일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출력되어 이진수로만 나오는 것처럼 보이지만 우연한 결과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그렇지 않은 예시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691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예제와 또다른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22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앞과 동일하게 정수인 최적의 해를 찾는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이루어진 해를 찾는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해가 없다면 </a:t>
            </a:r>
            <a:r>
              <a:rPr lang="en-US" altLang="ko-KR" dirty="0"/>
              <a:t>feasible</a:t>
            </a:r>
            <a:r>
              <a:rPr lang="ko-KR" altLang="en-US" dirty="0"/>
              <a:t>한 해가 없다고 출력됨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819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지금까지는</a:t>
            </a:r>
            <a:r>
              <a:rPr lang="en-US" altLang="ko-KR" dirty="0"/>
              <a:t>,</a:t>
            </a:r>
            <a:r>
              <a:rPr lang="ko-KR" altLang="en-US" dirty="0"/>
              <a:t> 필요한 위성 수 또는 재방문 주기 등 최소화 해야 하는 제한조건을 다루었다면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마지막으로 세번째 예시는 원하는 값을 최대화 하는 </a:t>
            </a:r>
            <a:r>
              <a:rPr lang="en-US" altLang="ko-KR" dirty="0"/>
              <a:t>Z </a:t>
            </a:r>
            <a:r>
              <a:rPr lang="ko-KR" altLang="en-US" dirty="0"/>
              <a:t>값을 구하도록 최적화 하는 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579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그냥 실행시키면 최솟값 구하는 것으로 간주하여 </a:t>
            </a:r>
            <a:r>
              <a:rPr lang="en-US" altLang="ko-KR" dirty="0"/>
              <a:t>x1, x2</a:t>
            </a:r>
            <a:r>
              <a:rPr lang="ko-KR" altLang="en-US" dirty="0"/>
              <a:t>가 모두 하한 값인 </a:t>
            </a:r>
            <a:r>
              <a:rPr lang="en-US" altLang="ko-KR" dirty="0"/>
              <a:t>0</a:t>
            </a:r>
            <a:r>
              <a:rPr lang="ko-KR" altLang="en-US" dirty="0"/>
              <a:t>이 나오기 때문에 음수로 바꿔주면 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결과가 </a:t>
            </a:r>
            <a:r>
              <a:rPr lang="ko-KR" altLang="en-US" dirty="0" err="1"/>
              <a:t>논문에서와</a:t>
            </a:r>
            <a:r>
              <a:rPr lang="ko-KR" altLang="en-US" dirty="0"/>
              <a:t> 동일하게 나온 것으로 보아 코드 작성에 문제가 없는 것으로 판단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51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얻은 </a:t>
            </a:r>
            <a:r>
              <a:rPr lang="en-US" altLang="ko-KR" dirty="0"/>
              <a:t>Z</a:t>
            </a:r>
            <a:r>
              <a:rPr lang="ko-KR" altLang="en-US" dirty="0"/>
              <a:t>의 결과 </a:t>
            </a:r>
            <a:r>
              <a:rPr lang="en-US" altLang="ko-KR" dirty="0"/>
              <a:t>41.25</a:t>
            </a:r>
            <a:r>
              <a:rPr lang="ko-KR" altLang="en-US" dirty="0"/>
              <a:t>와 이 때의 </a:t>
            </a:r>
            <a:r>
              <a:rPr lang="en-US" altLang="ko-KR" dirty="0"/>
              <a:t>x1 x2 </a:t>
            </a:r>
            <a:r>
              <a:rPr lang="ko-KR" altLang="en-US" dirty="0"/>
              <a:t>값을 정수화 및 최적화 하는 일련의 과정 없이도 이렇게 손쉽게 구할 수 있다는 것이 </a:t>
            </a:r>
            <a:r>
              <a:rPr lang="ko-KR" altLang="en-US" dirty="0" err="1"/>
              <a:t>솔버의</a:t>
            </a:r>
            <a:r>
              <a:rPr lang="ko-KR" altLang="en-US" dirty="0"/>
              <a:t> 장점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마찬가지로 앞서 설명한 브런치 앤 바운드 방법을 사용하지 않아도 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9534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얻은 </a:t>
            </a:r>
            <a:r>
              <a:rPr lang="en-US" altLang="ko-KR" dirty="0"/>
              <a:t>Z</a:t>
            </a:r>
            <a:r>
              <a:rPr lang="ko-KR" altLang="en-US" dirty="0"/>
              <a:t>의 결과 </a:t>
            </a:r>
            <a:r>
              <a:rPr lang="en-US" altLang="ko-KR" dirty="0"/>
              <a:t>41.25</a:t>
            </a:r>
            <a:r>
              <a:rPr lang="ko-KR" altLang="en-US" dirty="0"/>
              <a:t>와 이 때의 </a:t>
            </a:r>
            <a:r>
              <a:rPr lang="en-US" altLang="ko-KR" dirty="0"/>
              <a:t>x1 x2 </a:t>
            </a:r>
            <a:r>
              <a:rPr lang="ko-KR" altLang="en-US" dirty="0"/>
              <a:t>값을 정수화 및 최적화 하는 일련의 과정 없이도 이렇게 손쉽게 구할 수 있다는 것이 </a:t>
            </a:r>
            <a:r>
              <a:rPr lang="ko-KR" altLang="en-US" dirty="0" err="1"/>
              <a:t>솔버의</a:t>
            </a:r>
            <a:r>
              <a:rPr lang="ko-KR" altLang="en-US" dirty="0"/>
              <a:t> 장점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마찬가지로 앞서 설명한 브런치 앤 바운드 방법을 사용하지 않아도 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2942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84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37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r>
              <a:rPr lang="ko-KR" altLang="en-US" dirty="0"/>
              <a:t>에서 설명한 내용</a:t>
            </a:r>
            <a:endParaRPr lang="en-US" altLang="ko-KR" dirty="0"/>
          </a:p>
          <a:p>
            <a:r>
              <a:rPr lang="en-US" altLang="ko-KR" dirty="0"/>
              <a:t>: </a:t>
            </a:r>
            <a:r>
              <a:rPr lang="ko-KR" altLang="en-US" dirty="0"/>
              <a:t>지역 커버리지의 장점 및 고전 방법과 대비되는 새로운 방법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757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복잡한 요구조건에 따른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배경</a:t>
            </a:r>
            <a:r>
              <a:rPr lang="en-US" altLang="ko-KR" dirty="0"/>
              <a:t>, </a:t>
            </a:r>
            <a:r>
              <a:rPr lang="ko-KR" altLang="en-US" dirty="0"/>
              <a:t>과정 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597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내용의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2924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문헌 자료 </a:t>
            </a:r>
            <a:r>
              <a:rPr lang="en-US" altLang="ko-KR" dirty="0"/>
              <a:t>– </a:t>
            </a:r>
            <a:r>
              <a:rPr lang="ko-KR" altLang="en-US" dirty="0"/>
              <a:t>해당 내용이 등장하면 참고할 수 있도록 간단하게 요약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92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87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4923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RGT </a:t>
            </a:r>
            <a:r>
              <a:rPr lang="ko-KR" altLang="en-US" dirty="0"/>
              <a:t>에 대한 설명 </a:t>
            </a:r>
            <a:r>
              <a:rPr lang="en-US" altLang="ko-KR" dirty="0"/>
              <a:t>– </a:t>
            </a:r>
            <a:r>
              <a:rPr lang="ko-KR" altLang="en-US" dirty="0"/>
              <a:t>궤도가 주기적으로 반복되도록 사용</a:t>
            </a:r>
            <a:endParaRPr lang="en-US" altLang="ko-KR" dirty="0"/>
          </a:p>
          <a:p>
            <a:r>
              <a:rPr lang="en-US" altLang="ko-KR" dirty="0"/>
              <a:t>RGT</a:t>
            </a:r>
            <a:r>
              <a:rPr lang="ko-KR" altLang="en-US" dirty="0"/>
              <a:t>궤도의 </a:t>
            </a:r>
            <a:r>
              <a:rPr lang="en-US" altLang="ko-KR" dirty="0"/>
              <a:t>nodal period,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 </a:t>
            </a:r>
            <a:r>
              <a:rPr lang="ko-KR" altLang="en-US" dirty="0"/>
              <a:t>라는 개념 사용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지구의 자전에 따른 영향을 수식으로 계산 </a:t>
            </a:r>
            <a:r>
              <a:rPr lang="en-US" altLang="ko-KR" dirty="0"/>
              <a:t>-</a:t>
            </a:r>
            <a:r>
              <a:rPr lang="ko-KR" altLang="en-US" dirty="0"/>
              <a:t> 이 관계를 이용하여 </a:t>
            </a:r>
            <a:r>
              <a:rPr lang="en-US" altLang="ko-KR" dirty="0"/>
              <a:t>a </a:t>
            </a:r>
            <a:r>
              <a:rPr lang="ko-KR" altLang="en-US" dirty="0"/>
              <a:t>대신에 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*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period, ND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RGT </a:t>
            </a:r>
            <a:r>
              <a:rPr lang="ko-KR" altLang="en-US" dirty="0"/>
              <a:t>궤도에 있는 위성이 회전 수 </a:t>
            </a:r>
            <a:r>
              <a:rPr lang="en-US" altLang="ko-KR" dirty="0"/>
              <a:t>NP</a:t>
            </a:r>
            <a:r>
              <a:rPr lang="ko-KR" altLang="en-US" dirty="0"/>
              <a:t>를 만든다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09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궤도가 중첩되어 하나의 궤도를 생성하도록</a:t>
            </a:r>
            <a:endParaRPr lang="en-US" altLang="ko-KR" dirty="0"/>
          </a:p>
          <a:p>
            <a:r>
              <a:rPr lang="en-US" altLang="ko-KR" dirty="0"/>
              <a:t>9</a:t>
            </a:r>
            <a:r>
              <a:rPr lang="ko-KR" altLang="en-US" dirty="0"/>
              <a:t>개 위성의 예시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461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주로 다룬 </a:t>
            </a:r>
            <a:r>
              <a:rPr lang="ko-KR" altLang="en-US" dirty="0" err="1"/>
              <a:t>위성군</a:t>
            </a:r>
            <a:r>
              <a:rPr lang="ko-KR" altLang="en-US" dirty="0"/>
              <a:t> 모델은 앞의 두 개</a:t>
            </a:r>
            <a:endParaRPr lang="en-US" altLang="ko-KR" dirty="0"/>
          </a:p>
          <a:p>
            <a:r>
              <a:rPr lang="en-US" altLang="ko-KR" dirty="0"/>
              <a:t>Flower </a:t>
            </a:r>
            <a:r>
              <a:rPr lang="ko-KR" altLang="en-US" dirty="0"/>
              <a:t>위성군은 참고사항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9022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Circular Convolution Formulation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위해 시간 </a:t>
            </a:r>
            <a:r>
              <a:rPr lang="ko-KR" altLang="en-US" dirty="0" err="1"/>
              <a:t>시간</a:t>
            </a:r>
            <a:r>
              <a:rPr lang="ko-KR" altLang="en-US" dirty="0"/>
              <a:t> 이산화 활용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최종적으로 이 내용에 도달하기 위해 단계적으로 연구 진행됨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632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Access Profile</a:t>
            </a:r>
          </a:p>
          <a:p>
            <a:r>
              <a:rPr lang="en-US" altLang="ko-KR" dirty="0"/>
              <a:t>sin</a:t>
            </a:r>
            <a:r>
              <a:rPr lang="ko-KR" altLang="en-US" dirty="0"/>
              <a:t> 법칙을 이용해 수학적으로 위성의 고도를 계산하여</a:t>
            </a:r>
            <a:endParaRPr lang="en-US" altLang="ko-KR" dirty="0"/>
          </a:p>
          <a:p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입실론 </a:t>
            </a:r>
            <a:r>
              <a:rPr lang="en-US" altLang="ko-KR" dirty="0"/>
              <a:t>minimum </a:t>
            </a:r>
            <a:r>
              <a:rPr lang="ko-KR" altLang="en-US" dirty="0"/>
              <a:t>값을 구하고 해당 값 이상일 때만 출력되도록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612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주기로 </a:t>
            </a:r>
            <a:r>
              <a:rPr lang="ko-KR" altLang="en-US" dirty="0" err="1"/>
              <a:t>샘플링되어</a:t>
            </a:r>
            <a:r>
              <a:rPr lang="ko-KR" altLang="en-US" dirty="0"/>
              <a:t> 총 </a:t>
            </a:r>
            <a:r>
              <a:rPr lang="en-US" altLang="ko-KR" dirty="0"/>
              <a:t>n</a:t>
            </a:r>
            <a:r>
              <a:rPr lang="ko-KR" altLang="en-US" dirty="0"/>
              <a:t>번 길이가 </a:t>
            </a:r>
            <a:r>
              <a:rPr lang="en-US" altLang="ko-KR" dirty="0"/>
              <a:t>L</a:t>
            </a:r>
            <a:r>
              <a:rPr lang="ko-KR" altLang="en-US" dirty="0"/>
              <a:t>인 함수 생성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앞페이지 </a:t>
            </a:r>
            <a:r>
              <a:rPr lang="en-US" altLang="ko-KR" dirty="0"/>
              <a:t>n = 720)</a:t>
            </a:r>
          </a:p>
          <a:p>
            <a:endParaRPr lang="en-US" altLang="ko-KR" dirty="0"/>
          </a:p>
          <a:p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값 이상일 때만 </a:t>
            </a:r>
            <a:r>
              <a:rPr lang="en-US" altLang="ko-KR" dirty="0"/>
              <a:t>1</a:t>
            </a:r>
            <a:r>
              <a:rPr lang="ko-KR" altLang="en-US" dirty="0"/>
              <a:t>로 출력되도록 </a:t>
            </a:r>
            <a:r>
              <a:rPr lang="en-US" altLang="ko-KR" dirty="0"/>
              <a:t>v </a:t>
            </a:r>
            <a:r>
              <a:rPr lang="en-US" altLang="ko-KR" dirty="0" err="1"/>
              <a:t>k,j</a:t>
            </a:r>
            <a:r>
              <a:rPr lang="en-US" altLang="ko-KR" dirty="0"/>
              <a:t> </a:t>
            </a:r>
            <a:r>
              <a:rPr lang="ko-KR" altLang="en-US" dirty="0"/>
              <a:t>함수 정의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위성들에게 궤도 정보를 전달하는 가상의 </a:t>
            </a:r>
            <a:r>
              <a:rPr lang="ko-KR" altLang="en-US" dirty="0" err="1"/>
              <a:t>시드</a:t>
            </a:r>
            <a:r>
              <a:rPr lang="ko-KR" altLang="en-US" dirty="0"/>
              <a:t> 위성 개념 </a:t>
            </a:r>
            <a:endParaRPr lang="en-US" altLang="ko-KR" dirty="0"/>
          </a:p>
          <a:p>
            <a:r>
              <a:rPr lang="ko-KR" altLang="en-US" dirty="0"/>
              <a:t>궤도 요소에 </a:t>
            </a:r>
            <a:r>
              <a:rPr lang="en-US" altLang="ko-KR" dirty="0"/>
              <a:t>semi major</a:t>
            </a:r>
            <a:r>
              <a:rPr lang="ko-KR" altLang="en-US" dirty="0"/>
              <a:t>만 다르게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3566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두번째는 </a:t>
            </a:r>
            <a:r>
              <a:rPr lang="en-US" altLang="ko-KR" dirty="0"/>
              <a:t>Coverage Timeline</a:t>
            </a:r>
          </a:p>
          <a:p>
            <a:r>
              <a:rPr lang="ko-KR" altLang="en-US" dirty="0"/>
              <a:t>관심지역은 여러 위성에 대해 커버가 되기 때문에 타임라인을 만듦  </a:t>
            </a:r>
            <a:endParaRPr lang="en-US" altLang="ko-KR" dirty="0"/>
          </a:p>
          <a:p>
            <a:r>
              <a:rPr lang="ko-KR" altLang="en-US" dirty="0"/>
              <a:t>앞에서 </a:t>
            </a:r>
            <a:r>
              <a:rPr lang="en-US" altLang="ko-KR" dirty="0"/>
              <a:t>Access profile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인 값들만 모아서 </a:t>
            </a:r>
            <a:r>
              <a:rPr lang="ko-KR" altLang="en-US" dirty="0" err="1"/>
              <a:t>합쳐놓은</a:t>
            </a:r>
            <a:r>
              <a:rPr lang="ko-KR" altLang="en-US" dirty="0"/>
              <a:t> 것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ko-KR" altLang="en-US" dirty="0"/>
              <a:t> 위성은 가상이므로 해당되지 않게</a:t>
            </a:r>
            <a:endParaRPr lang="en-US" altLang="ko-KR" dirty="0"/>
          </a:p>
          <a:p>
            <a:r>
              <a:rPr lang="ko-KR" altLang="en-US" dirty="0"/>
              <a:t>한번이면 </a:t>
            </a:r>
            <a:r>
              <a:rPr lang="en-US" altLang="ko-KR" dirty="0"/>
              <a:t>single </a:t>
            </a:r>
            <a:r>
              <a:rPr lang="ko-KR" altLang="en-US" dirty="0" err="1"/>
              <a:t>두번</a:t>
            </a:r>
            <a:r>
              <a:rPr lang="ko-KR" altLang="en-US" dirty="0"/>
              <a:t> 중복되면 </a:t>
            </a:r>
            <a:r>
              <a:rPr lang="en-US" altLang="ko-KR" dirty="0"/>
              <a:t>double</a:t>
            </a:r>
            <a:r>
              <a:rPr lang="ko-KR" altLang="en-US" dirty="0"/>
              <a:t>로 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9869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정의하면 위와 같은 식 </a:t>
            </a:r>
            <a:endParaRPr lang="en-US" altLang="ko-KR" dirty="0"/>
          </a:p>
          <a:p>
            <a:r>
              <a:rPr lang="en-US" altLang="ko-KR" dirty="0"/>
              <a:t>F </a:t>
            </a:r>
            <a:r>
              <a:rPr lang="ko-KR" altLang="en-US" dirty="0"/>
              <a:t>즉 중복된 보다 많으면 커버가 되는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 개일때는 다시 이것들을 전부 합친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233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en-US" altLang="ko-KR" dirty="0"/>
              <a:t> </a:t>
            </a:r>
            <a:r>
              <a:rPr lang="ko-KR" altLang="en-US" dirty="0"/>
              <a:t>위성과 비교하여 얼마나 시간 지연이 발생하는지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2249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하면 </a:t>
            </a:r>
            <a:r>
              <a:rPr lang="en-US" altLang="ko-KR" dirty="0" err="1"/>
              <a:t>circlular</a:t>
            </a:r>
            <a:r>
              <a:rPr lang="en-US" altLang="ko-KR" dirty="0"/>
              <a:t> </a:t>
            </a:r>
            <a:r>
              <a:rPr lang="en-US" altLang="ko-KR" dirty="0" err="1"/>
              <a:t>convoulutin</a:t>
            </a:r>
            <a:r>
              <a:rPr lang="en-US" altLang="ko-KR" dirty="0"/>
              <a:t> </a:t>
            </a:r>
            <a:r>
              <a:rPr lang="en-US" altLang="ko-KR" dirty="0" err="1"/>
              <a:t>phnomenon</a:t>
            </a:r>
            <a:r>
              <a:rPr lang="ko-KR" altLang="en-US" dirty="0"/>
              <a:t>을 이끌어낼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앞의 함수들을 종합하면 일반화 가능 행</a:t>
            </a:r>
            <a:r>
              <a:rPr lang="en-US" altLang="ko-KR" dirty="0"/>
              <a:t>, </a:t>
            </a:r>
            <a:r>
              <a:rPr lang="ko-KR" altLang="en-US" dirty="0" err="1"/>
              <a:t>렬에</a:t>
            </a:r>
            <a:r>
              <a:rPr lang="ko-KR" altLang="en-US" dirty="0"/>
              <a:t> 대해 한번 더 정리한 식이 아래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621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시드</a:t>
            </a:r>
            <a:r>
              <a:rPr lang="ko-KR" altLang="en-US" dirty="0"/>
              <a:t> 위성이 첫번째에 해당 </a:t>
            </a:r>
            <a:r>
              <a:rPr lang="en-US" altLang="ko-KR" dirty="0"/>
              <a:t>(n=0)</a:t>
            </a:r>
          </a:p>
          <a:p>
            <a:r>
              <a:rPr lang="ko-KR" altLang="en-US" dirty="0"/>
              <a:t>그로부터 반대편에 있는 두번째 위성이 커버가 되면</a:t>
            </a:r>
            <a:endParaRPr lang="en-US" altLang="ko-KR" dirty="0"/>
          </a:p>
          <a:p>
            <a:r>
              <a:rPr lang="ko-KR" altLang="en-US" dirty="0"/>
              <a:t>이를 합친 것이 </a:t>
            </a:r>
            <a:r>
              <a:rPr lang="en-US" altLang="ko-KR" dirty="0"/>
              <a:t>coverage timeline </a:t>
            </a:r>
            <a:r>
              <a:rPr lang="ko-KR" altLang="en-US" dirty="0"/>
              <a:t>으로 형성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9466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완전 대칭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준 대칭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, quasi symmetric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0208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2356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5090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0963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 : </a:t>
            </a:r>
            <a:r>
              <a:rPr lang="ko-KR" altLang="en-US" dirty="0"/>
              <a:t>위성의 </a:t>
            </a:r>
            <a:r>
              <a:rPr lang="en-US" altLang="ko-KR" dirty="0"/>
              <a:t>index</a:t>
            </a:r>
          </a:p>
          <a:p>
            <a:r>
              <a:rPr lang="en-US" altLang="ko-KR" dirty="0"/>
              <a:t>Z : </a:t>
            </a:r>
            <a:r>
              <a:rPr lang="ko-KR" altLang="en-US" dirty="0"/>
              <a:t>위성의 집합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위성의 하위 위성군의 </a:t>
            </a:r>
            <a:r>
              <a:rPr lang="en-US" altLang="ko-KR" dirty="0"/>
              <a:t>access profile</a:t>
            </a:r>
            <a:r>
              <a:rPr lang="ko-KR" altLang="en-US" dirty="0"/>
              <a:t>은 그 </a:t>
            </a:r>
            <a:r>
              <a:rPr lang="ko-KR" altLang="en-US" dirty="0" err="1"/>
              <a:t>시드</a:t>
            </a:r>
            <a:r>
              <a:rPr lang="ko-KR" altLang="en-US" dirty="0"/>
              <a:t> 위성의 궤도요소 벡터에 기반하여 계산됨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목표는 커버리지 요구조건을 만족하기 위함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9954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각 하위 위성</a:t>
            </a:r>
            <a:r>
              <a:rPr lang="en-US" altLang="ko-KR" dirty="0"/>
              <a:t>(z)</a:t>
            </a:r>
            <a:r>
              <a:rPr lang="ko-KR" altLang="en-US" dirty="0"/>
              <a:t>은 독립적인 궤도 요소를 부여할 수 있음 </a:t>
            </a:r>
            <a:endParaRPr lang="en-US" altLang="ko-KR" dirty="0"/>
          </a:p>
          <a:p>
            <a:r>
              <a:rPr lang="ko-KR" altLang="en-US" dirty="0"/>
              <a:t>마찬가지로 </a:t>
            </a:r>
            <a:r>
              <a:rPr lang="en-US" altLang="ko-KR" dirty="0"/>
              <a:t>target point(j)</a:t>
            </a:r>
            <a:r>
              <a:rPr lang="ko-KR" altLang="en-US" dirty="0"/>
              <a:t>는 각각의 독립적인 커버리지 요구조건을 부여할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785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551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0732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2789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낮에는 통신을 위해 두 개의 위성으로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밤에는 대기 상태이므로 한 개의 위성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96042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(2</a:t>
            </a:r>
            <a:r>
              <a:rPr lang="ko-KR" altLang="en-US" dirty="0"/>
              <a:t>중첩 있으므로</a:t>
            </a:r>
            <a:r>
              <a:rPr lang="en-US" altLang="ko-KR" dirty="0"/>
              <a:t>) Ex1</a:t>
            </a:r>
            <a:r>
              <a:rPr lang="ko-KR" altLang="en-US" dirty="0"/>
              <a:t>보다 많은 수의 위성 필요</a:t>
            </a:r>
            <a:endParaRPr lang="en-US" altLang="ko-KR" dirty="0"/>
          </a:p>
          <a:p>
            <a:r>
              <a:rPr lang="ko-KR" altLang="en-US" dirty="0"/>
              <a:t>대칭으로 분포하므로 </a:t>
            </a:r>
            <a:r>
              <a:rPr lang="en-US" altLang="ko-KR" dirty="0"/>
              <a:t>f=2</a:t>
            </a:r>
            <a:r>
              <a:rPr lang="ko-KR" altLang="en-US" dirty="0"/>
              <a:t>를 만족하기 위해 필요하지 않은 경우에도 </a:t>
            </a:r>
            <a:r>
              <a:rPr lang="en-US" altLang="ko-KR" dirty="0"/>
              <a:t>f=2</a:t>
            </a:r>
            <a:r>
              <a:rPr lang="ko-KR" altLang="en-US" dirty="0"/>
              <a:t>가 되도록 </a:t>
            </a:r>
            <a:r>
              <a:rPr lang="en-US" altLang="ko-KR" dirty="0"/>
              <a:t>(</a:t>
            </a:r>
            <a:r>
              <a:rPr lang="ko-KR" altLang="en-US" dirty="0"/>
              <a:t>효율 떨어짐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Ex1 </a:t>
            </a:r>
            <a:r>
              <a:rPr lang="ko-KR" altLang="en-US" dirty="0"/>
              <a:t>에선 </a:t>
            </a:r>
            <a:r>
              <a:rPr lang="en-US" altLang="ko-KR" dirty="0"/>
              <a:t>4</a:t>
            </a:r>
            <a:r>
              <a:rPr lang="ko-KR" altLang="en-US" dirty="0"/>
              <a:t>대 차이</a:t>
            </a:r>
            <a:r>
              <a:rPr lang="en-US" altLang="ko-KR" dirty="0"/>
              <a:t>, ex2</a:t>
            </a:r>
            <a:r>
              <a:rPr lang="ko-KR" altLang="en-US" dirty="0"/>
              <a:t>에선 거의 </a:t>
            </a:r>
            <a:r>
              <a:rPr lang="en-US" altLang="ko-KR" dirty="0"/>
              <a:t>1.5</a:t>
            </a:r>
            <a:r>
              <a:rPr lang="ko-KR" altLang="en-US" dirty="0"/>
              <a:t>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867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7600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남반구에 원지점이 있는 타원궤도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553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관심 영역에 대해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r>
              <a:rPr lang="en-US" altLang="ko-KR" dirty="0"/>
              <a:t> (3x3</a:t>
            </a:r>
            <a:r>
              <a:rPr lang="ko-KR" altLang="en-US" dirty="0"/>
              <a:t>으로 각각 </a:t>
            </a:r>
            <a:r>
              <a:rPr lang="en-US" altLang="ko-KR" dirty="0"/>
              <a:t>56, 30</a:t>
            </a:r>
            <a:r>
              <a:rPr lang="ko-KR" altLang="en-US" dirty="0"/>
              <a:t>개의 목표지점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아마존 </a:t>
            </a:r>
            <a:r>
              <a:rPr lang="en-US" altLang="ko-KR" dirty="0"/>
              <a:t>: 12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나일 강 </a:t>
            </a:r>
            <a:r>
              <a:rPr lang="en-US" altLang="ko-KR" dirty="0"/>
              <a:t>: 6</a:t>
            </a:r>
            <a:r>
              <a:rPr lang="ko-KR" altLang="en-US" dirty="0"/>
              <a:t>시간 마다 </a:t>
            </a:r>
            <a:r>
              <a:rPr lang="en-US" altLang="ko-KR" dirty="0"/>
              <a:t>6</a:t>
            </a:r>
            <a:r>
              <a:rPr lang="ko-KR" altLang="en-US" dirty="0"/>
              <a:t>시간씩의 재방문 시간이 필요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Ex2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다르게 시간 변화에 이어 공간 변화 즉</a:t>
            </a:r>
            <a:r>
              <a:rPr lang="en-US" altLang="ko-KR" dirty="0"/>
              <a:t>, </a:t>
            </a:r>
            <a:r>
              <a:rPr lang="ko-KR" altLang="en-US" dirty="0"/>
              <a:t>아마존과 나일강에 대한 다른 요구조건이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889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관심 영역에 대해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r>
              <a:rPr lang="en-US" altLang="ko-KR" dirty="0"/>
              <a:t> (3x3</a:t>
            </a:r>
            <a:r>
              <a:rPr lang="ko-KR" altLang="en-US" dirty="0"/>
              <a:t>으로 각각 </a:t>
            </a:r>
            <a:r>
              <a:rPr lang="en-US" altLang="ko-KR" dirty="0"/>
              <a:t>56, 30</a:t>
            </a:r>
            <a:r>
              <a:rPr lang="ko-KR" altLang="en-US" dirty="0"/>
              <a:t>개의 목표지점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아마존 </a:t>
            </a:r>
            <a:r>
              <a:rPr lang="en-US" altLang="ko-KR" dirty="0"/>
              <a:t>: 12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나일 강 </a:t>
            </a:r>
            <a:r>
              <a:rPr lang="en-US" altLang="ko-KR" dirty="0"/>
              <a:t>: 6</a:t>
            </a:r>
            <a:r>
              <a:rPr lang="ko-KR" altLang="en-US" dirty="0"/>
              <a:t>시간 마다 </a:t>
            </a:r>
            <a:r>
              <a:rPr lang="en-US" altLang="ko-KR" dirty="0"/>
              <a:t>6</a:t>
            </a:r>
            <a:r>
              <a:rPr lang="ko-KR" altLang="en-US" dirty="0"/>
              <a:t>시간씩의 재방문 시간이 필요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Ex2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다르게 시간 변화에 이어 공간 변화 즉</a:t>
            </a:r>
            <a:r>
              <a:rPr lang="en-US" altLang="ko-KR" dirty="0"/>
              <a:t>, </a:t>
            </a:r>
            <a:r>
              <a:rPr lang="ko-KR" altLang="en-US" dirty="0"/>
              <a:t>아마존과 나일강에 대한 다른 요구조건이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3117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Req : </a:t>
            </a:r>
            <a:r>
              <a:rPr lang="ko-KR" altLang="en-US" dirty="0"/>
              <a:t>커버리지</a:t>
            </a:r>
            <a:r>
              <a:rPr lang="en-US" altLang="ko-KR" dirty="0"/>
              <a:t> </a:t>
            </a:r>
            <a:r>
              <a:rPr lang="ko-KR" altLang="en-US" dirty="0"/>
              <a:t>요구조건</a:t>
            </a:r>
            <a:endParaRPr lang="en-US" altLang="ko-KR" dirty="0"/>
          </a:p>
          <a:p>
            <a:r>
              <a:rPr lang="en-US" altLang="ko-KR" dirty="0"/>
              <a:t>Result </a:t>
            </a:r>
            <a:r>
              <a:rPr lang="en-US" altLang="ko-KR" dirty="0" err="1"/>
              <a:t>cov</a:t>
            </a:r>
            <a:r>
              <a:rPr lang="en-US" altLang="ko-KR" dirty="0"/>
              <a:t> : </a:t>
            </a:r>
            <a:r>
              <a:rPr lang="ko-KR" altLang="en-US" dirty="0"/>
              <a:t>실제 커버리지 성능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3851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BILP</a:t>
            </a:r>
            <a:r>
              <a:rPr lang="ko-KR" altLang="en-US" dirty="0"/>
              <a:t>는 적은 위성 수로 동일한 커버리지 요구조건 도달 가능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563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아이슬란드의 레이캬비크</a:t>
            </a:r>
            <a:r>
              <a:rPr lang="en-US" altLang="ko-KR" dirty="0"/>
              <a:t>, </a:t>
            </a:r>
            <a:r>
              <a:rPr lang="ko-KR" altLang="en-US" dirty="0"/>
              <a:t>인도의 뭄바이 </a:t>
            </a:r>
            <a:r>
              <a:rPr lang="en-US" altLang="ko-KR" dirty="0"/>
              <a:t>(</a:t>
            </a:r>
            <a:r>
              <a:rPr lang="ko-KR" altLang="en-US" dirty="0"/>
              <a:t>고도 </a:t>
            </a:r>
            <a:r>
              <a:rPr lang="en-US" altLang="ko-KR" dirty="0"/>
              <a:t>4150km, 6380km)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174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개의 하위 위성군에서 위성의 총 수를 최소화하면서 </a:t>
            </a:r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에 대한 연속 커버리지가 달성되도록 최적화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89346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777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45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0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2023-07-14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95043"/>
              </p:ext>
            </p:extLst>
          </p:nvPr>
        </p:nvGraphicFramePr>
        <p:xfrm>
          <a:off x="1454505" y="1029970"/>
          <a:ext cx="7318019" cy="293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</a:rPr>
                        <a:t>IP(Integer Programming)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MILP(BILP) Solver &amp; </a:t>
                      </a:r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Matlab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code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3927475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IP(Integer Programming)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이란</a:t>
            </a:r>
            <a:endParaRPr lang="en-US" altLang="ko-KR" dirty="0"/>
          </a:p>
          <a:p>
            <a:pPr lvl="1"/>
            <a:r>
              <a:rPr lang="ko-KR" altLang="en-US" dirty="0"/>
              <a:t>최적화 문제를 해결하기 위한 수학적인 기법 중 하나</a:t>
            </a:r>
            <a:endParaRPr lang="en-US" altLang="ko-KR" dirty="0"/>
          </a:p>
          <a:p>
            <a:pPr lvl="1"/>
            <a:r>
              <a:rPr lang="ko-KR" altLang="en-US" dirty="0"/>
              <a:t>변수들이 정수 값을 가져야 하는 제약을 가지는 문제를 다루는 것을 의미함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의 필요성</a:t>
            </a:r>
            <a:endParaRPr lang="en-US" altLang="ko-KR" dirty="0"/>
          </a:p>
          <a:p>
            <a:pPr lvl="1"/>
            <a:r>
              <a:rPr lang="en-US" altLang="ko-KR" b="1" dirty="0"/>
              <a:t>1. </a:t>
            </a:r>
            <a:r>
              <a:rPr lang="ko-KR" altLang="en-US" b="1" dirty="0"/>
              <a:t>이진 결정 변수 </a:t>
            </a:r>
            <a:endParaRPr lang="en-US" altLang="ko-KR" b="1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운용에서는 일부 상황에서 </a:t>
            </a:r>
            <a:r>
              <a:rPr lang="en-US" altLang="ko-KR" dirty="0"/>
              <a:t>0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로 나타내는 이진수가 필요</a:t>
            </a:r>
            <a:r>
              <a:rPr lang="en-US" altLang="ko-KR" dirty="0"/>
              <a:t>(BILP)</a:t>
            </a:r>
          </a:p>
          <a:p>
            <a:pPr lvl="2"/>
            <a:r>
              <a:rPr lang="ko-KR" altLang="en-US" dirty="0"/>
              <a:t>각 위성의 상태</a:t>
            </a:r>
            <a:r>
              <a:rPr lang="en-US" altLang="ko-KR" dirty="0"/>
              <a:t>(</a:t>
            </a:r>
            <a:r>
              <a:rPr lang="ko-KR" altLang="en-US" dirty="0"/>
              <a:t>활성화 또는 비활성화</a:t>
            </a:r>
            <a:r>
              <a:rPr lang="en-US" altLang="ko-KR" dirty="0"/>
              <a:t>), </a:t>
            </a:r>
            <a:r>
              <a:rPr lang="ko-KR" altLang="en-US" dirty="0"/>
              <a:t>작업 및 자원 할당 여부 등</a:t>
            </a:r>
            <a:endParaRPr lang="en-US" altLang="ko-KR" dirty="0"/>
          </a:p>
          <a:p>
            <a:pPr lvl="1"/>
            <a:r>
              <a:rPr lang="en-US" altLang="ko-KR" b="1" dirty="0"/>
              <a:t>2. </a:t>
            </a:r>
            <a:r>
              <a:rPr lang="ko-KR" altLang="en-US" b="1" dirty="0"/>
              <a:t>제약조건의 복잡성을 처리하는 데 유리함</a:t>
            </a:r>
            <a:endParaRPr lang="en-US" altLang="ko-KR" b="1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상호 간섭 방지</a:t>
            </a:r>
            <a:r>
              <a:rPr lang="en-US" altLang="ko-KR" dirty="0"/>
              <a:t>, </a:t>
            </a:r>
            <a:r>
              <a:rPr lang="ko-KR" altLang="en-US" dirty="0"/>
              <a:t>자원 할당 제약</a:t>
            </a:r>
            <a:r>
              <a:rPr lang="en-US" altLang="ko-KR" dirty="0"/>
              <a:t>, </a:t>
            </a:r>
            <a:r>
              <a:rPr lang="ko-KR" altLang="en-US" dirty="0"/>
              <a:t>우주 환경 제약 등</a:t>
            </a:r>
            <a:endParaRPr lang="en-US" altLang="ko-KR" dirty="0"/>
          </a:p>
          <a:p>
            <a:pPr lvl="1"/>
            <a:r>
              <a:rPr lang="en-US" altLang="ko-KR" b="1" dirty="0"/>
              <a:t>3. </a:t>
            </a:r>
            <a:r>
              <a:rPr lang="ko-KR" altLang="en-US" b="1" dirty="0"/>
              <a:t>조합 최적화 문제 해결의 적합성</a:t>
            </a:r>
            <a:endParaRPr lang="en-US" altLang="ko-KR" b="1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운용은 종종 최적화 문제로 모델링됨</a:t>
            </a:r>
            <a:endParaRPr lang="en-US" altLang="ko-KR" dirty="0"/>
          </a:p>
          <a:p>
            <a:pPr lvl="2"/>
            <a:r>
              <a:rPr lang="ko-KR" altLang="en-US" dirty="0"/>
              <a:t>여러 개체를 조합하여 최적의 해를 찾는 문제</a:t>
            </a:r>
            <a:endParaRPr lang="en-US" altLang="ko-KR" dirty="0"/>
          </a:p>
          <a:p>
            <a:pPr lvl="2"/>
            <a:r>
              <a:rPr lang="ko-KR" altLang="en-US" dirty="0"/>
              <a:t>이 경우</a:t>
            </a:r>
            <a:r>
              <a:rPr lang="en-US" altLang="ko-KR" dirty="0"/>
              <a:t>, </a:t>
            </a:r>
            <a:r>
              <a:rPr lang="ko-KR" altLang="en-US" dirty="0"/>
              <a:t>이항 변수를 사용하여 조합을 표현하고 최적화를 수행하는 것이 필요</a:t>
            </a:r>
            <a:endParaRPr lang="en-US" altLang="ko-KR" dirty="0"/>
          </a:p>
          <a:p>
            <a:pPr lvl="1"/>
            <a:r>
              <a:rPr lang="en-US" altLang="ko-KR" b="1" dirty="0"/>
              <a:t>4. </a:t>
            </a:r>
            <a:r>
              <a:rPr lang="ko-KR" altLang="en-US" b="1" dirty="0"/>
              <a:t>정수 제한조건의 고려</a:t>
            </a:r>
            <a:endParaRPr lang="en-US" altLang="ko-KR" b="1" dirty="0"/>
          </a:p>
          <a:p>
            <a:pPr lvl="2"/>
            <a:r>
              <a:rPr lang="ko-KR" altLang="en-US" dirty="0"/>
              <a:t>위성의 작업 할당이 이산적이어야 하는 경우가 있음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다양한 요소와 제한 조건을 고려해야 하기 때문에 정수 값을 기준으로 판별하는 방법을 이용 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9172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이진 결정 변수의 예시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53AC3B-07F6-63A4-A0E6-8134EA570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993" y="4391031"/>
            <a:ext cx="2097726" cy="11494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901FE41-8000-3B99-3C11-21C2B6BEA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03" y="3021147"/>
            <a:ext cx="4031916" cy="10838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DECF96-270A-6439-7947-5C4DD39DF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447" y="2991350"/>
            <a:ext cx="2637996" cy="10551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0F72F2-5663-CFA4-C18E-D9E9CB415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812" y="1842931"/>
            <a:ext cx="3147868" cy="1030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36A0CA-3FB9-9B25-4C99-53AC3DF5AEEE}"/>
              </a:ext>
            </a:extLst>
          </p:cNvPr>
          <p:cNvSpPr txBox="1"/>
          <p:nvPr/>
        </p:nvSpPr>
        <p:spPr>
          <a:xfrm>
            <a:off x="159774" y="2173444"/>
            <a:ext cx="1816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Access Profile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42E65-29D6-5630-8727-BC9A8EB4149A}"/>
              </a:ext>
            </a:extLst>
          </p:cNvPr>
          <p:cNvSpPr txBox="1"/>
          <p:nvPr/>
        </p:nvSpPr>
        <p:spPr>
          <a:xfrm>
            <a:off x="374645" y="3199682"/>
            <a:ext cx="1231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Coverage Timeline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DA8A7-C1C9-B2F0-AEAE-D406A4197FB9}"/>
              </a:ext>
            </a:extLst>
          </p:cNvPr>
          <p:cNvSpPr txBox="1"/>
          <p:nvPr/>
        </p:nvSpPr>
        <p:spPr>
          <a:xfrm>
            <a:off x="151673" y="4625461"/>
            <a:ext cx="1677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Constellation</a:t>
            </a:r>
          </a:p>
          <a:p>
            <a:pPr algn="ctr"/>
            <a:r>
              <a:rPr lang="en-US" altLang="ko-KR" dirty="0"/>
              <a:t>Pattern Vector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2760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이진 결정 변수의 예시</a:t>
            </a:r>
            <a:endParaRPr lang="en-US" altLang="ko-KR" dirty="0"/>
          </a:p>
          <a:p>
            <a:pPr lvl="1"/>
            <a:r>
              <a:rPr lang="ko-KR" altLang="en-US" dirty="0"/>
              <a:t>위성의 상태 </a:t>
            </a:r>
            <a:r>
              <a:rPr lang="en-US" altLang="ko-KR" dirty="0"/>
              <a:t>: </a:t>
            </a:r>
            <a:r>
              <a:rPr lang="ko-KR" altLang="en-US" dirty="0"/>
              <a:t>각 위성 상태를 나타내는 이항 변수를 사용</a:t>
            </a:r>
            <a:endParaRPr lang="en-US" altLang="ko-KR" dirty="0"/>
          </a:p>
          <a:p>
            <a:pPr lvl="2"/>
            <a:r>
              <a:rPr lang="ko-KR" altLang="en-US" dirty="0"/>
              <a:t>활성화</a:t>
            </a:r>
            <a:r>
              <a:rPr lang="en-US" altLang="ko-KR" dirty="0"/>
              <a:t>(1)</a:t>
            </a:r>
            <a:r>
              <a:rPr lang="ko-KR" altLang="en-US" dirty="0"/>
              <a:t>되었는지 또는 비활성화</a:t>
            </a:r>
            <a:r>
              <a:rPr lang="en-US" altLang="ko-KR" dirty="0"/>
              <a:t>(0)</a:t>
            </a:r>
            <a:r>
              <a:rPr lang="ko-KR" altLang="en-US" dirty="0"/>
              <a:t>되었는지를 표시</a:t>
            </a:r>
            <a:endParaRPr lang="en-US" altLang="ko-KR" dirty="0"/>
          </a:p>
          <a:p>
            <a:pPr lvl="2"/>
            <a:r>
              <a:rPr lang="ko-KR" altLang="en-US" dirty="0"/>
              <a:t>작동여부에 대한 지표이며</a:t>
            </a:r>
            <a:r>
              <a:rPr lang="en-US" altLang="ko-KR" dirty="0"/>
              <a:t>, </a:t>
            </a:r>
            <a:r>
              <a:rPr lang="ko-KR" altLang="en-US" dirty="0"/>
              <a:t>자원의 할당 여부에 영향을 줌</a:t>
            </a:r>
            <a:endParaRPr lang="en-US" altLang="ko-KR" dirty="0"/>
          </a:p>
          <a:p>
            <a:pPr lvl="1"/>
            <a:r>
              <a:rPr lang="ko-KR" altLang="en-US" dirty="0"/>
              <a:t>작업 할당 </a:t>
            </a:r>
            <a:r>
              <a:rPr lang="en-US" altLang="ko-KR" dirty="0"/>
              <a:t>: </a:t>
            </a:r>
            <a:r>
              <a:rPr lang="ko-KR" altLang="en-US" dirty="0"/>
              <a:t>수행할 작업을 할당하는 데 이항 변수를 사용</a:t>
            </a:r>
            <a:endParaRPr lang="en-US" altLang="ko-KR" dirty="0"/>
          </a:p>
          <a:p>
            <a:pPr lvl="2"/>
            <a:r>
              <a:rPr lang="ko-KR" altLang="en-US" dirty="0"/>
              <a:t>통신 채널 할당 또는 특정 작업 수행 여부를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표시</a:t>
            </a:r>
            <a:endParaRPr lang="en-US" altLang="ko-KR" dirty="0"/>
          </a:p>
          <a:p>
            <a:pPr lvl="2"/>
            <a:r>
              <a:rPr lang="ko-KR" altLang="en-US" dirty="0"/>
              <a:t>각 위성이 특정 작업을 수행하는지 여부를 결정</a:t>
            </a:r>
            <a:endParaRPr lang="en-US" altLang="ko-KR" dirty="0"/>
          </a:p>
          <a:p>
            <a:pPr lvl="1"/>
            <a:r>
              <a:rPr lang="ko-KR" altLang="en-US" dirty="0"/>
              <a:t>자원 할당 </a:t>
            </a:r>
            <a:r>
              <a:rPr lang="en-US" altLang="ko-KR" dirty="0"/>
              <a:t>: </a:t>
            </a:r>
            <a:r>
              <a:rPr lang="ko-KR" altLang="en-US" dirty="0"/>
              <a:t>여러 위성이 공유하는 자원의 할당을 나타내는 이항 변수를 사용</a:t>
            </a:r>
            <a:endParaRPr lang="en-US" altLang="ko-KR" dirty="0"/>
          </a:p>
          <a:p>
            <a:pPr lvl="2"/>
            <a:r>
              <a:rPr lang="ko-KR" altLang="en-US" dirty="0"/>
              <a:t>주파수 슬롯 또는 전력 자원의 할당 여부</a:t>
            </a:r>
            <a:endParaRPr lang="en-US" altLang="ko-KR" dirty="0"/>
          </a:p>
          <a:p>
            <a:pPr lvl="2"/>
            <a:r>
              <a:rPr lang="ko-KR" altLang="en-US" dirty="0"/>
              <a:t>각 위성이 특정 자원을 사용하는지 여부 결정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76143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1"/>
            <a:r>
              <a:rPr lang="en-US" altLang="ko-KR" dirty="0"/>
              <a:t>LP(Linear Programming)</a:t>
            </a:r>
          </a:p>
          <a:p>
            <a:pPr lvl="2"/>
            <a:r>
              <a:rPr lang="ko-KR" altLang="en-US" dirty="0"/>
              <a:t>선형 목적 함수와 선형 제한 조건을 가진 최적화 문제</a:t>
            </a:r>
            <a:endParaRPr lang="en-US" altLang="ko-KR" dirty="0"/>
          </a:p>
          <a:p>
            <a:pPr lvl="2"/>
            <a:r>
              <a:rPr lang="ko-KR" altLang="en-US" dirty="0"/>
              <a:t>변수들이 실수 값을 가질 수 있음</a:t>
            </a:r>
            <a:endParaRPr lang="en-US" altLang="ko-KR" dirty="0"/>
          </a:p>
          <a:p>
            <a:pPr lvl="1"/>
            <a:r>
              <a:rPr lang="en-US" altLang="ko-KR" dirty="0"/>
              <a:t>IP(Integer Programming)</a:t>
            </a:r>
          </a:p>
          <a:p>
            <a:pPr lvl="2"/>
            <a:r>
              <a:rPr lang="en-US" altLang="ko-KR" dirty="0"/>
              <a:t>LP</a:t>
            </a:r>
            <a:r>
              <a:rPr lang="ko-KR" altLang="en-US" dirty="0"/>
              <a:t>와 달리 변수들이 정수 값을 가져야 하는 최적화 문제</a:t>
            </a:r>
            <a:endParaRPr lang="en-US" altLang="ko-KR" dirty="0"/>
          </a:p>
          <a:p>
            <a:pPr lvl="2"/>
            <a:r>
              <a:rPr lang="ko-KR" altLang="en-US" dirty="0"/>
              <a:t>정수 제한 조건을 가지므로 연속적인 값을 허용하지 않음</a:t>
            </a:r>
            <a:endParaRPr lang="en-US" altLang="ko-KR" dirty="0"/>
          </a:p>
          <a:p>
            <a:pPr lvl="2"/>
            <a:r>
              <a:rPr lang="ko-KR" altLang="en-US" dirty="0"/>
              <a:t>일반적인 정수 최적화 문제를 다루는데 사용</a:t>
            </a:r>
            <a:endParaRPr lang="en-US" altLang="ko-KR" dirty="0"/>
          </a:p>
          <a:p>
            <a:pPr lvl="1"/>
            <a:r>
              <a:rPr lang="en-US" altLang="ko-KR" dirty="0"/>
              <a:t>BIP(Binary Integer Programming) </a:t>
            </a:r>
          </a:p>
          <a:p>
            <a:pPr lvl="2"/>
            <a:r>
              <a:rPr lang="en-US" altLang="ko-KR" dirty="0"/>
              <a:t>IP</a:t>
            </a:r>
            <a:r>
              <a:rPr lang="ko-KR" altLang="en-US" dirty="0"/>
              <a:t>의 특수한 형태로</a:t>
            </a:r>
            <a:r>
              <a:rPr lang="en-US" altLang="ko-KR" dirty="0"/>
              <a:t>, </a:t>
            </a:r>
            <a:r>
              <a:rPr lang="ko-KR" altLang="en-US" dirty="0"/>
              <a:t>변수들이 </a:t>
            </a:r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의 이진 값을 가져야 하는 최적화 문제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/</a:t>
            </a:r>
            <a:r>
              <a:rPr lang="ko-KR" altLang="en-US" dirty="0" err="1"/>
              <a:t>아니오</a:t>
            </a:r>
            <a:r>
              <a:rPr lang="ko-KR" altLang="en-US" dirty="0"/>
              <a:t> 등과 같은 어떤 결정 또는 선택을 나타내는데 사용</a:t>
            </a:r>
            <a:endParaRPr lang="en-US" altLang="ko-KR" dirty="0"/>
          </a:p>
          <a:p>
            <a:pPr lvl="1"/>
            <a:r>
              <a:rPr lang="en-US" altLang="ko-KR" dirty="0"/>
              <a:t>MILP(Mixed Integer Linear Programming)</a:t>
            </a:r>
          </a:p>
          <a:p>
            <a:pPr lvl="2"/>
            <a:r>
              <a:rPr lang="ko-KR" altLang="en-US" dirty="0"/>
              <a:t>선형 목적 함수와 선형 제한 조건을 가진 최적화 문제</a:t>
            </a:r>
            <a:endParaRPr lang="en-US" altLang="ko-KR" dirty="0"/>
          </a:p>
          <a:p>
            <a:pPr lvl="2"/>
            <a:r>
              <a:rPr lang="ko-KR" altLang="en-US" dirty="0"/>
              <a:t>변수들 중 일부는 </a:t>
            </a:r>
            <a:r>
              <a:rPr lang="ko-KR" altLang="en-US" dirty="0" err="1"/>
              <a:t>정수값을</a:t>
            </a:r>
            <a:r>
              <a:rPr lang="ko-KR" altLang="en-US" dirty="0"/>
              <a:t> 가져야 함</a:t>
            </a:r>
            <a:endParaRPr lang="en-US" altLang="ko-KR" dirty="0"/>
          </a:p>
          <a:p>
            <a:pPr lvl="2"/>
            <a:r>
              <a:rPr lang="en-US" altLang="ko-KR" dirty="0"/>
              <a:t>LP</a:t>
            </a:r>
            <a:r>
              <a:rPr lang="ko-KR" altLang="en-US" dirty="0"/>
              <a:t>와 </a:t>
            </a:r>
            <a:r>
              <a:rPr lang="en-US" altLang="ko-KR" dirty="0"/>
              <a:t>IP</a:t>
            </a:r>
            <a:r>
              <a:rPr lang="ko-KR" altLang="en-US" dirty="0"/>
              <a:t>의 조합으로 이루어진 형태</a:t>
            </a:r>
            <a:endParaRPr lang="en-US" altLang="ko-KR" dirty="0"/>
          </a:p>
          <a:p>
            <a:pPr lvl="2"/>
            <a:r>
              <a:rPr lang="ko-KR" altLang="en-US" dirty="0"/>
              <a:t>실수변수와 정수변수를 함께 다룰 수 있어 더 다양한 문제를 해결할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98250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의 종류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D94B68-B9FE-B27F-EFAC-3DE7E7E8D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26" y="1650128"/>
            <a:ext cx="8119948" cy="422781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804309E-A083-B478-19D1-8DB96544E2A9}"/>
              </a:ext>
            </a:extLst>
          </p:cNvPr>
          <p:cNvSpPr/>
          <p:nvPr/>
        </p:nvSpPr>
        <p:spPr bwMode="auto">
          <a:xfrm>
            <a:off x="6421348" y="4633645"/>
            <a:ext cx="2044558" cy="1089061"/>
          </a:xfrm>
          <a:prstGeom prst="rect">
            <a:avLst/>
          </a:prstGeom>
          <a:noFill/>
          <a:ln>
            <a:solidFill>
              <a:srgbClr val="CC99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0375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MILP(BILP) </a:t>
            </a:r>
            <a:r>
              <a:rPr lang="ko-KR" altLang="en-US" dirty="0"/>
              <a:t>문제 해결을 위한 단계</a:t>
            </a:r>
            <a:endParaRPr lang="en-US" altLang="ko-KR" dirty="0"/>
          </a:p>
          <a:p>
            <a:pPr lvl="1"/>
            <a:r>
              <a:rPr lang="en-US" altLang="ko-KR" b="1" dirty="0"/>
              <a:t>1. </a:t>
            </a:r>
            <a:r>
              <a:rPr lang="ko-KR" altLang="en-US" b="1" dirty="0"/>
              <a:t>문제 정의 </a:t>
            </a:r>
            <a:r>
              <a:rPr lang="en-US" altLang="ko-KR" dirty="0"/>
              <a:t>: </a:t>
            </a:r>
            <a:r>
              <a:rPr lang="ko-KR" altLang="en-US" dirty="0"/>
              <a:t>설계하려는 위성군의 운용개념 및 목적을 명확히 정의</a:t>
            </a:r>
            <a:endParaRPr lang="en-US" altLang="ko-KR" dirty="0"/>
          </a:p>
          <a:p>
            <a:pPr lvl="2"/>
            <a:r>
              <a:rPr lang="en-US" altLang="ko-KR" dirty="0"/>
              <a:t>Ex. </a:t>
            </a:r>
            <a:r>
              <a:rPr lang="ko-KR" altLang="en-US" dirty="0"/>
              <a:t>통신위성군 </a:t>
            </a:r>
            <a:r>
              <a:rPr lang="en-US" altLang="ko-KR" dirty="0"/>
              <a:t>– </a:t>
            </a:r>
            <a:r>
              <a:rPr lang="ko-KR" altLang="en-US" dirty="0"/>
              <a:t>통신 요구사항</a:t>
            </a:r>
            <a:r>
              <a:rPr lang="en-US" altLang="ko-KR" dirty="0"/>
              <a:t>, </a:t>
            </a:r>
            <a:r>
              <a:rPr lang="ko-KR" altLang="en-US" dirty="0"/>
              <a:t>커버리지 요구사항</a:t>
            </a:r>
            <a:r>
              <a:rPr lang="en-US" altLang="ko-KR" dirty="0"/>
              <a:t>, </a:t>
            </a:r>
            <a:r>
              <a:rPr lang="ko-KR" altLang="en-US" dirty="0"/>
              <a:t>주파수 제한조건 등</a:t>
            </a:r>
            <a:endParaRPr lang="en-US" altLang="ko-KR" dirty="0"/>
          </a:p>
          <a:p>
            <a:pPr lvl="1"/>
            <a:r>
              <a:rPr lang="en-US" altLang="ko-KR" b="1" dirty="0"/>
              <a:t>2. </a:t>
            </a:r>
            <a:r>
              <a:rPr lang="ko-KR" altLang="en-US" b="1" dirty="0"/>
              <a:t>변수 정의</a:t>
            </a:r>
            <a:endParaRPr lang="en-US" altLang="ko-KR" b="1" dirty="0"/>
          </a:p>
          <a:p>
            <a:pPr lvl="2"/>
            <a:r>
              <a:rPr lang="ko-KR" altLang="en-US" dirty="0"/>
              <a:t>주로 위성 상태</a:t>
            </a:r>
            <a:r>
              <a:rPr lang="en-US" altLang="ko-KR" dirty="0"/>
              <a:t>, </a:t>
            </a:r>
            <a:r>
              <a:rPr lang="ko-KR" altLang="en-US" dirty="0"/>
              <a:t>작업 및 자원의 할당 등</a:t>
            </a:r>
            <a:endParaRPr lang="en-US" altLang="ko-KR" dirty="0"/>
          </a:p>
          <a:p>
            <a:pPr lvl="1"/>
            <a:r>
              <a:rPr lang="en-US" altLang="ko-KR" b="1" dirty="0"/>
              <a:t>3. </a:t>
            </a:r>
            <a:r>
              <a:rPr lang="ko-KR" altLang="en-US" b="1" dirty="0"/>
              <a:t>목적함수 정의 </a:t>
            </a:r>
            <a:r>
              <a:rPr lang="en-US" altLang="ko-KR" dirty="0"/>
              <a:t>: </a:t>
            </a:r>
            <a:r>
              <a:rPr lang="ko-KR" altLang="en-US" dirty="0"/>
              <a:t>최대화 또는 최소화 해야 할 성능 지표</a:t>
            </a:r>
            <a:endParaRPr lang="en-US" altLang="ko-KR" dirty="0"/>
          </a:p>
          <a:p>
            <a:pPr lvl="2"/>
            <a:r>
              <a:rPr lang="en-US" altLang="ko-KR" dirty="0"/>
              <a:t>Ex. </a:t>
            </a:r>
            <a:r>
              <a:rPr lang="ko-KR" altLang="en-US" dirty="0"/>
              <a:t>통신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통신 커버리지</a:t>
            </a:r>
            <a:r>
              <a:rPr lang="en-US" altLang="ko-KR" dirty="0"/>
              <a:t>, </a:t>
            </a:r>
            <a:r>
              <a:rPr lang="ko-KR" altLang="en-US" dirty="0"/>
              <a:t>전력 소비</a:t>
            </a:r>
            <a:r>
              <a:rPr lang="en-US" altLang="ko-KR" dirty="0"/>
              <a:t>, </a:t>
            </a:r>
            <a:r>
              <a:rPr lang="ko-KR" altLang="en-US" dirty="0"/>
              <a:t>대역폭 이용률 등 </a:t>
            </a:r>
            <a:endParaRPr lang="en-US" altLang="ko-KR" dirty="0"/>
          </a:p>
          <a:p>
            <a:pPr lvl="1"/>
            <a:r>
              <a:rPr lang="en-US" altLang="ko-KR" b="1" dirty="0"/>
              <a:t>4. </a:t>
            </a:r>
            <a:r>
              <a:rPr lang="ko-KR" altLang="en-US" b="1" dirty="0"/>
              <a:t>제한조건 정의 </a:t>
            </a:r>
            <a:r>
              <a:rPr lang="en-US" altLang="ko-KR" dirty="0"/>
              <a:t>: </a:t>
            </a:r>
            <a:r>
              <a:rPr lang="ko-KR" altLang="en-US" dirty="0"/>
              <a:t>운용에 적용되는 제한 조건</a:t>
            </a:r>
            <a:endParaRPr lang="en-US" altLang="ko-KR" dirty="0"/>
          </a:p>
          <a:p>
            <a:pPr lvl="2"/>
            <a:r>
              <a:rPr lang="ko-KR" altLang="en-US" dirty="0"/>
              <a:t>각 위성의 작업 및 자원 할당 제약</a:t>
            </a:r>
            <a:r>
              <a:rPr lang="en-US" altLang="ko-KR" dirty="0"/>
              <a:t>, </a:t>
            </a:r>
            <a:r>
              <a:rPr lang="ko-KR" altLang="en-US" dirty="0"/>
              <a:t>상호 간섭 방지</a:t>
            </a:r>
            <a:r>
              <a:rPr lang="en-US" altLang="ko-KR" dirty="0"/>
              <a:t>, </a:t>
            </a:r>
            <a:r>
              <a:rPr lang="ko-KR" altLang="en-US" dirty="0"/>
              <a:t>우주 환경 제약 등</a:t>
            </a:r>
            <a:endParaRPr lang="en-US" altLang="ko-KR" dirty="0"/>
          </a:p>
          <a:p>
            <a:pPr lvl="1"/>
            <a:r>
              <a:rPr lang="en-US" altLang="ko-KR" b="1" dirty="0"/>
              <a:t>5. MILP(BILP) </a:t>
            </a:r>
            <a:r>
              <a:rPr lang="ko-KR" altLang="en-US" b="1" dirty="0"/>
              <a:t>모델 구축 </a:t>
            </a:r>
            <a:r>
              <a:rPr lang="en-US" altLang="ko-KR" dirty="0"/>
              <a:t>: </a:t>
            </a:r>
            <a:r>
              <a:rPr lang="ko-KR" altLang="en-US" dirty="0"/>
              <a:t>위에서 정의한 변수</a:t>
            </a:r>
            <a:r>
              <a:rPr lang="en-US" altLang="ko-KR" dirty="0"/>
              <a:t>, </a:t>
            </a:r>
            <a:r>
              <a:rPr lang="ko-KR" altLang="en-US" dirty="0"/>
              <a:t>목적함수</a:t>
            </a:r>
            <a:r>
              <a:rPr lang="en-US" altLang="ko-KR" dirty="0"/>
              <a:t>, </a:t>
            </a:r>
            <a:r>
              <a:rPr lang="ko-KR" altLang="en-US" dirty="0"/>
              <a:t>제한조건을 사용하여 모델을 구축</a:t>
            </a:r>
            <a:endParaRPr lang="en-US" altLang="ko-KR" dirty="0"/>
          </a:p>
          <a:p>
            <a:pPr lvl="2"/>
            <a:r>
              <a:rPr lang="ko-KR" altLang="en-US" dirty="0"/>
              <a:t>수학적으로 표현된 최적화 문제</a:t>
            </a:r>
            <a:endParaRPr lang="en-US" altLang="ko-KR" dirty="0"/>
          </a:p>
          <a:p>
            <a:pPr lvl="1"/>
            <a:r>
              <a:rPr lang="en-US" altLang="ko-KR" b="1" dirty="0"/>
              <a:t>6. MILP(BILP) </a:t>
            </a:r>
            <a:r>
              <a:rPr lang="ko-KR" altLang="en-US" b="1" dirty="0" err="1"/>
              <a:t>솔버</a:t>
            </a:r>
            <a:r>
              <a:rPr lang="ko-KR" altLang="en-US" b="1" dirty="0"/>
              <a:t> 실행 </a:t>
            </a:r>
            <a:r>
              <a:rPr lang="en-US" altLang="ko-KR" dirty="0"/>
              <a:t>: </a:t>
            </a:r>
            <a:r>
              <a:rPr lang="ko-KR" altLang="en-US" dirty="0"/>
              <a:t>최적의 변수 값들을 찾는 알고리즘 실행</a:t>
            </a:r>
            <a:endParaRPr lang="en-US" altLang="ko-KR" dirty="0"/>
          </a:p>
          <a:p>
            <a:pPr lvl="2"/>
            <a:r>
              <a:rPr lang="en-US" altLang="ko-KR" dirty="0"/>
              <a:t>CPLEX, </a:t>
            </a:r>
            <a:r>
              <a:rPr lang="en-US" altLang="ko-KR" dirty="0" err="1"/>
              <a:t>Gurobi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endParaRPr lang="en-US" altLang="ko-KR" dirty="0"/>
          </a:p>
          <a:p>
            <a:pPr lvl="1"/>
            <a:r>
              <a:rPr lang="en-US" altLang="ko-KR" b="1" dirty="0"/>
              <a:t>7. </a:t>
            </a:r>
            <a:r>
              <a:rPr lang="ko-KR" altLang="en-US" b="1" dirty="0"/>
              <a:t>결과 분석 </a:t>
            </a:r>
            <a:r>
              <a:rPr lang="en-US" altLang="ko-KR" dirty="0"/>
              <a:t>: </a:t>
            </a:r>
            <a:r>
              <a:rPr lang="ko-KR" altLang="en-US" dirty="0" err="1"/>
              <a:t>솔버</a:t>
            </a:r>
            <a:r>
              <a:rPr lang="ko-KR" altLang="en-US" dirty="0"/>
              <a:t> 실행이 완료되면 최적의 변수 값과 최적화된 목적함수 도출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25886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MILP(BILP)</a:t>
                </a:r>
                <a:r>
                  <a:rPr lang="ko-KR" altLang="en-US" dirty="0"/>
                  <a:t>의 최적화 과정</a:t>
                </a:r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아래 식을 모두 만족하면서  </a:t>
                </a:r>
                <a:r>
                  <a:rPr lang="en-US" altLang="ko-KR" dirty="0"/>
                  <a:t>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최소화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:r>
                  <a:rPr lang="en-US" altLang="ko-KR" dirty="0"/>
                  <a:t>2</a:t>
                </a:r>
              </a:p>
              <a:p>
                <a:pPr lvl="2"/>
                <a:r>
                  <a:rPr lang="en-US" altLang="ko-KR" dirty="0"/>
                  <a:t>(2)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(3)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-5 -3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marL="432000" lvl="2" indent="0">
                  <a:buNone/>
                </a:pP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3"/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FC4F732-8901-F705-42C3-42A80F0D1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3035595"/>
            <a:ext cx="3493856" cy="22511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1DE4DE-32A3-A18A-E995-D487DB1F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27495"/>
            <a:ext cx="3935002" cy="2182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539E6A-966B-E756-6686-205E8C4F947C}"/>
              </a:ext>
            </a:extLst>
          </p:cNvPr>
          <p:cNvSpPr txBox="1"/>
          <p:nvPr/>
        </p:nvSpPr>
        <p:spPr>
          <a:xfrm>
            <a:off x="721703" y="57340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ko-KR" dirty="0"/>
              <a:t>1    1     0    1</a:t>
            </a:r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DBFD5812-2FB3-FAA1-9B50-0DD7E0556CCA}"/>
              </a:ext>
            </a:extLst>
          </p:cNvPr>
          <p:cNvSpPr/>
          <p:nvPr/>
        </p:nvSpPr>
        <p:spPr bwMode="auto">
          <a:xfrm>
            <a:off x="2933272" y="4364602"/>
            <a:ext cx="688368" cy="431514"/>
          </a:xfrm>
          <a:prstGeom prst="mathMultiply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05B3F4-E2D2-C29A-F735-620C64312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114" y="2995843"/>
            <a:ext cx="4106773" cy="292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22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of Constraints</a:t>
            </a:r>
          </a:p>
          <a:p>
            <a:pPr lvl="1"/>
            <a:r>
              <a:rPr lang="ko-KR" altLang="en-US" b="1" dirty="0"/>
              <a:t>상호 간섭 제한조건 </a:t>
            </a:r>
            <a:r>
              <a:rPr lang="en-US" altLang="ko-KR" dirty="0"/>
              <a:t>: </a:t>
            </a:r>
            <a:r>
              <a:rPr lang="ko-KR" altLang="en-US" dirty="0"/>
              <a:t>각 위성의 위치를 정의하고 거리 제한조건 고려</a:t>
            </a:r>
            <a:endParaRPr lang="en-US" altLang="ko-KR" dirty="0"/>
          </a:p>
          <a:p>
            <a:pPr lvl="2"/>
            <a:r>
              <a:rPr lang="ko-KR" altLang="en-US" dirty="0"/>
              <a:t>위성들 간 충돌을 방지하기 위해 최소 거리 제한을 설정할 수 있음</a:t>
            </a:r>
            <a:endParaRPr lang="en-US" altLang="ko-KR" dirty="0"/>
          </a:p>
          <a:p>
            <a:pPr lvl="1"/>
            <a:r>
              <a:rPr lang="ko-KR" altLang="en-US" b="1" dirty="0"/>
              <a:t>커버리지 제한조건 </a:t>
            </a:r>
            <a:r>
              <a:rPr lang="en-US" altLang="ko-KR" dirty="0"/>
              <a:t>: </a:t>
            </a:r>
            <a:r>
              <a:rPr lang="ko-KR" altLang="en-US" dirty="0"/>
              <a:t>위성군의 목표에 따라 커버리지 제한조건 고려</a:t>
            </a:r>
            <a:endParaRPr lang="en-US" altLang="ko-KR" dirty="0"/>
          </a:p>
          <a:p>
            <a:pPr lvl="2"/>
            <a:r>
              <a:rPr lang="ko-KR" altLang="en-US" dirty="0"/>
              <a:t>지리적 영역 내에서 특정 지점을 커버하기 위해 위성의 커버리지 반경 설정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커버되어야 하는 지점들에 대해 신호 강도 등의 제한조건을 추가</a:t>
            </a:r>
            <a:endParaRPr lang="en-US" altLang="ko-KR" dirty="0"/>
          </a:p>
          <a:p>
            <a:pPr lvl="1"/>
            <a:r>
              <a:rPr lang="ko-KR" altLang="en-US" b="1" dirty="0"/>
              <a:t>리소스 제한조건 </a:t>
            </a:r>
            <a:r>
              <a:rPr lang="en-US" altLang="ko-KR" dirty="0"/>
              <a:t>: </a:t>
            </a:r>
            <a:r>
              <a:rPr lang="ko-KR" altLang="en-US" dirty="0"/>
              <a:t>위성이 갖고 있는 주파수 대역 및 전력 등의 제한조건 고려</a:t>
            </a:r>
            <a:endParaRPr lang="en-US" altLang="ko-KR" dirty="0"/>
          </a:p>
          <a:p>
            <a:pPr lvl="2"/>
            <a:r>
              <a:rPr lang="ko-KR" altLang="en-US" dirty="0"/>
              <a:t>서로 다른 위성이 같은 주파수를 사용하지 않도록 함</a:t>
            </a:r>
            <a:endParaRPr lang="en-US" altLang="ko-KR" dirty="0"/>
          </a:p>
          <a:p>
            <a:pPr lvl="2"/>
            <a:r>
              <a:rPr lang="ko-KR" altLang="en-US" dirty="0"/>
              <a:t>전력 소비 제한조건을 추가하여 전력 예산을 절약</a:t>
            </a:r>
            <a:endParaRPr lang="en-US" altLang="ko-KR" dirty="0"/>
          </a:p>
          <a:p>
            <a:pPr lvl="1"/>
            <a:r>
              <a:rPr lang="ko-KR" altLang="en-US" b="1" dirty="0"/>
              <a:t>지형 제한조건 </a:t>
            </a:r>
            <a:r>
              <a:rPr lang="en-US" altLang="ko-KR" dirty="0"/>
              <a:t>: </a:t>
            </a:r>
            <a:r>
              <a:rPr lang="ko-KR" altLang="en-US" dirty="0"/>
              <a:t>위성의 특정 영역에 접근하지 못하도록 제한조건 고려</a:t>
            </a:r>
            <a:endParaRPr lang="en-US" altLang="ko-KR" dirty="0"/>
          </a:p>
          <a:p>
            <a:pPr lvl="2"/>
            <a:r>
              <a:rPr lang="ko-KR" altLang="en-US" dirty="0"/>
              <a:t>지구의 지형을 고려하여 특정 궤도 경로를 피할 수 있음</a:t>
            </a:r>
            <a:endParaRPr lang="en-US" altLang="ko-KR" dirty="0"/>
          </a:p>
          <a:p>
            <a:pPr lvl="1"/>
            <a:r>
              <a:rPr lang="ko-KR" altLang="en-US" b="1" dirty="0"/>
              <a:t>운용 제한조건 </a:t>
            </a:r>
            <a:r>
              <a:rPr lang="en-US" altLang="ko-KR" dirty="0"/>
              <a:t>: </a:t>
            </a:r>
            <a:r>
              <a:rPr lang="ko-KR" altLang="en-US" dirty="0"/>
              <a:t>위성 운용에 관련된 제한 조건 고려</a:t>
            </a:r>
            <a:endParaRPr lang="en-US" altLang="ko-KR" dirty="0"/>
          </a:p>
          <a:p>
            <a:pPr lvl="2"/>
            <a:r>
              <a:rPr lang="ko-KR" altLang="en-US" dirty="0"/>
              <a:t>작동 시간 또는 작업 간 우선순위 제한을 설정할 수 있음</a:t>
            </a:r>
            <a:endParaRPr lang="en-US" altLang="ko-KR" dirty="0"/>
          </a:p>
          <a:p>
            <a:pPr lvl="1"/>
            <a:r>
              <a:rPr lang="ko-KR" altLang="en-US" b="1" dirty="0"/>
              <a:t>배치 제한조건 </a:t>
            </a:r>
            <a:r>
              <a:rPr lang="en-US" altLang="ko-KR" dirty="0"/>
              <a:t>: </a:t>
            </a:r>
            <a:r>
              <a:rPr lang="ko-KR" altLang="en-US" dirty="0"/>
              <a:t>위성의 배치 위치에 관련된 제한조건 고려</a:t>
            </a:r>
            <a:endParaRPr lang="en-US" altLang="ko-KR" dirty="0"/>
          </a:p>
          <a:p>
            <a:pPr lvl="2"/>
            <a:r>
              <a:rPr lang="ko-KR" altLang="en-US" dirty="0"/>
              <a:t>지구의 특정 영역에 위성을 배치해야 하는 경우</a:t>
            </a:r>
            <a:endParaRPr lang="en-US" altLang="ko-KR" dirty="0"/>
          </a:p>
          <a:p>
            <a:pPr lvl="2"/>
            <a:r>
              <a:rPr lang="ko-KR" altLang="en-US" dirty="0"/>
              <a:t>위성들 사이의 상대적인 위치 및 각도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131914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Matlab</a:t>
            </a:r>
            <a:r>
              <a:rPr lang="en-US" altLang="ko-KR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code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59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내용 개체 틀 50">
            <a:extLst>
              <a:ext uri="{FF2B5EF4-FFF2-40B4-BE49-F238E27FC236}">
                <a16:creationId xmlns:a16="http://schemas.microsoft.com/office/drawing/2014/main" id="{0DA17CD2-C9CD-BFBF-1B18-7805CD6E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MILP(BILP) Solver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CE188E-0875-13C5-11CD-B12092CC946E}"/>
              </a:ext>
            </a:extLst>
          </p:cNvPr>
          <p:cNvSpPr/>
          <p:nvPr/>
        </p:nvSpPr>
        <p:spPr bwMode="auto">
          <a:xfrm>
            <a:off x="257081" y="6383020"/>
            <a:ext cx="3390245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7BD700-F897-3371-58E5-D7F6F67F3887}"/>
              </a:ext>
            </a:extLst>
          </p:cNvPr>
          <p:cNvSpPr/>
          <p:nvPr/>
        </p:nvSpPr>
        <p:spPr bwMode="auto">
          <a:xfrm>
            <a:off x="5085282" y="4092170"/>
            <a:ext cx="194539" cy="192475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5298B1-7D48-53CA-99A2-6541907C928B}"/>
              </a:ext>
            </a:extLst>
          </p:cNvPr>
          <p:cNvSpPr/>
          <p:nvPr/>
        </p:nvSpPr>
        <p:spPr bwMode="auto">
          <a:xfrm>
            <a:off x="6609983" y="1177312"/>
            <a:ext cx="540834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F70F851D-0A9D-4F42-3276-336DE412B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48" y="1461432"/>
            <a:ext cx="5710718" cy="45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0450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내용 개체 틀 50">
            <a:extLst>
              <a:ext uri="{FF2B5EF4-FFF2-40B4-BE49-F238E27FC236}">
                <a16:creationId xmlns:a16="http://schemas.microsoft.com/office/drawing/2014/main" id="{0DA17CD2-C9CD-BFBF-1B18-7805CD6E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CE188E-0875-13C5-11CD-B12092CC946E}"/>
              </a:ext>
            </a:extLst>
          </p:cNvPr>
          <p:cNvSpPr/>
          <p:nvPr/>
        </p:nvSpPr>
        <p:spPr bwMode="auto">
          <a:xfrm>
            <a:off x="257081" y="6383020"/>
            <a:ext cx="3390245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7BD700-F897-3371-58E5-D7F6F67F3887}"/>
              </a:ext>
            </a:extLst>
          </p:cNvPr>
          <p:cNvSpPr/>
          <p:nvPr/>
        </p:nvSpPr>
        <p:spPr bwMode="auto">
          <a:xfrm>
            <a:off x="5085282" y="4092170"/>
            <a:ext cx="194539" cy="192475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5298B1-7D48-53CA-99A2-6541907C928B}"/>
              </a:ext>
            </a:extLst>
          </p:cNvPr>
          <p:cNvSpPr/>
          <p:nvPr/>
        </p:nvSpPr>
        <p:spPr bwMode="auto">
          <a:xfrm>
            <a:off x="6609983" y="1177312"/>
            <a:ext cx="540834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5430DA-1827-694A-38B7-96C4FB06A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88" y="1508109"/>
            <a:ext cx="4238625" cy="2752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33C1A8D-F4AD-6694-06FE-2B10AE2F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14" y="4343745"/>
            <a:ext cx="7027524" cy="2200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555122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62622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 err="1"/>
                  <a:t>Matlab</a:t>
                </a:r>
                <a:r>
                  <a:rPr lang="en-US" altLang="ko-KR" dirty="0"/>
                  <a:t> code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altLang="ko-KR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ko-KR" b="0" dirty="0">
                    <a:solidFill>
                      <a:schemeClr val="tx1"/>
                    </a:solidFill>
                  </a:rPr>
                  <a:t>Constraints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marL="648000" lvl="3" indent="0">
                  <a:buNone/>
                </a:pPr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marL="648000" lvl="3" indent="0">
                  <a:buNone/>
                </a:pPr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marL="648000" lvl="3" indent="0">
                  <a:buNone/>
                </a:pPr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marL="216000" lvl="1" indent="0">
                  <a:buNone/>
                </a:pPr>
                <a:r>
                  <a:rPr lang="en-US" altLang="ko-KR" dirty="0"/>
                  <a:t>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mr>
                      <m:m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mr>
                    </m:m>
                  </m:oMath>
                </a14:m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marL="216000" lvl="1" indent="0">
                  <a:buNone/>
                </a:pPr>
                <a:r>
                  <a:rPr lang="en-US" altLang="ko-KR" dirty="0"/>
                  <a:t>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mr>
                      <m:m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mr>
                      <m:m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en-US" altLang="ko-KR" dirty="0"/>
              </a:p>
              <a:p>
                <a:pPr marL="648000" lvl="3" indent="0">
                  <a:buNone/>
                </a:pPr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marL="648000" lvl="3" indent="0">
                  <a:buNone/>
                </a:pPr>
                <a:endParaRPr lang="en-US" altLang="ko-KR" dirty="0"/>
              </a:p>
              <a:p>
                <a:pPr marL="648000" lvl="3" indent="0">
                  <a:buNone/>
                </a:pPr>
                <a:endParaRPr lang="en-US" altLang="ko-KR" sz="1800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626226"/>
              </a:xfrm>
              <a:blipFill>
                <a:blip r:embed="rId3"/>
                <a:stretch>
                  <a:fillRect l="-910" t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CE188E-0875-13C5-11CD-B12092CC946E}"/>
              </a:ext>
            </a:extLst>
          </p:cNvPr>
          <p:cNvSpPr/>
          <p:nvPr/>
        </p:nvSpPr>
        <p:spPr bwMode="auto">
          <a:xfrm>
            <a:off x="257081" y="6383020"/>
            <a:ext cx="3390245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B67431B-F790-A060-D977-D15423F86385}"/>
              </a:ext>
            </a:extLst>
          </p:cNvPr>
          <p:cNvGrpSpPr/>
          <p:nvPr/>
        </p:nvGrpSpPr>
        <p:grpSpPr>
          <a:xfrm>
            <a:off x="511752" y="3462328"/>
            <a:ext cx="4457640" cy="1534438"/>
            <a:chOff x="528959" y="3770615"/>
            <a:chExt cx="4457640" cy="1534438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A444E09-F6E0-7E98-E7C0-D172B21DF973}"/>
                </a:ext>
              </a:extLst>
            </p:cNvPr>
            <p:cNvGrpSpPr/>
            <p:nvPr/>
          </p:nvGrpSpPr>
          <p:grpSpPr>
            <a:xfrm>
              <a:off x="528959" y="4073649"/>
              <a:ext cx="3029486" cy="946050"/>
              <a:chOff x="508410" y="3539393"/>
              <a:chExt cx="3029486" cy="946050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84BC32F3-8C12-6C0E-E0D2-3773912046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410" y="3539393"/>
                <a:ext cx="257175" cy="847725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B62D105C-46FB-5DF0-7163-78DC5D238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3280721" y="3637718"/>
                <a:ext cx="257175" cy="847725"/>
              </a:xfrm>
              <a:prstGeom prst="rect">
                <a:avLst/>
              </a:prstGeom>
            </p:spPr>
          </p:pic>
        </p:grp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6255257-0704-63C9-9453-1220EF808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73515" y="3770615"/>
              <a:ext cx="632518" cy="153443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474AAD82-8525-E7FB-45DD-D7273579E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62724" y="4192522"/>
              <a:ext cx="523875" cy="65722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9633CA9-804A-444E-8DC6-6E210236DF62}"/>
                    </a:ext>
                  </a:extLst>
                </p:cNvPr>
                <p:cNvSpPr txBox="1"/>
                <p:nvPr/>
              </p:nvSpPr>
              <p:spPr>
                <a:xfrm>
                  <a:off x="4102012" y="4312845"/>
                  <a:ext cx="3955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9633CA9-804A-444E-8DC6-6E210236DF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2012" y="4312845"/>
                  <a:ext cx="39555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8BBF0F1-F81C-C5F1-35E9-666487901F90}"/>
              </a:ext>
            </a:extLst>
          </p:cNvPr>
          <p:cNvGrpSpPr/>
          <p:nvPr/>
        </p:nvGrpSpPr>
        <p:grpSpPr>
          <a:xfrm>
            <a:off x="520931" y="5249707"/>
            <a:ext cx="4457640" cy="1534438"/>
            <a:chOff x="528959" y="3770615"/>
            <a:chExt cx="4457640" cy="1534438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377C854-88D0-9C4A-F9C3-E7246E6DE29D}"/>
                </a:ext>
              </a:extLst>
            </p:cNvPr>
            <p:cNvGrpSpPr/>
            <p:nvPr/>
          </p:nvGrpSpPr>
          <p:grpSpPr>
            <a:xfrm>
              <a:off x="528959" y="4073649"/>
              <a:ext cx="3029486" cy="946050"/>
              <a:chOff x="508410" y="3539393"/>
              <a:chExt cx="3029486" cy="946050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55F44D91-BAD7-2FF8-CBC6-5542C33B8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410" y="3539393"/>
                <a:ext cx="257175" cy="847725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9EFFFEDE-330D-339F-EB4F-5E6A08DFE0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3280721" y="3637718"/>
                <a:ext cx="257175" cy="847725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455B921-D40D-F07F-7A0E-478CDC0F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73515" y="3770615"/>
              <a:ext cx="632518" cy="1534438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F29E2150-83B8-0E58-DA3C-E57353594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62724" y="4192522"/>
              <a:ext cx="523875" cy="65722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D84A063-7968-B404-B1CA-983B911F2800}"/>
                    </a:ext>
                  </a:extLst>
                </p:cNvPr>
                <p:cNvSpPr txBox="1"/>
                <p:nvPr/>
              </p:nvSpPr>
              <p:spPr>
                <a:xfrm>
                  <a:off x="4102012" y="4312845"/>
                  <a:ext cx="3955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D84A063-7968-B404-B1CA-983B911F28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2012" y="4312845"/>
                  <a:ext cx="39555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27A57B82-4957-3F38-E132-996B8500FA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0966" y="5663707"/>
            <a:ext cx="466725" cy="7143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280A7BF-93D5-E9C5-2DF3-74803EA2B7DD}"/>
              </a:ext>
            </a:extLst>
          </p:cNvPr>
          <p:cNvSpPr txBox="1"/>
          <p:nvPr/>
        </p:nvSpPr>
        <p:spPr>
          <a:xfrm>
            <a:off x="1910637" y="3178069"/>
            <a:ext cx="397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accent5"/>
                </a:solidFill>
              </a:rPr>
              <a:t>A</a:t>
            </a:r>
            <a:r>
              <a:rPr lang="en-US" altLang="ko-KR" dirty="0">
                <a:solidFill>
                  <a:schemeClr val="accent5"/>
                </a:solidFill>
              </a:rPr>
              <a:t> 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76C74E-9976-4D3C-F070-B4E73D40DB46}"/>
                  </a:ext>
                </a:extLst>
              </p:cNvPr>
              <p:cNvSpPr txBox="1"/>
              <p:nvPr/>
            </p:nvSpPr>
            <p:spPr>
              <a:xfrm>
                <a:off x="3612968" y="2997523"/>
                <a:ext cx="3972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76C74E-9976-4D3C-F070-B4E73D40D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968" y="2997523"/>
                <a:ext cx="397279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22E71AD-5036-7D75-CBBC-818FC7469645}"/>
              </a:ext>
            </a:extLst>
          </p:cNvPr>
          <p:cNvSpPr txBox="1"/>
          <p:nvPr/>
        </p:nvSpPr>
        <p:spPr>
          <a:xfrm>
            <a:off x="4541291" y="3333059"/>
            <a:ext cx="397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accent5"/>
                </a:solidFill>
              </a:rPr>
              <a:t>b</a:t>
            </a:r>
            <a:endParaRPr lang="ko-KR" altLang="en-US" sz="2400" dirty="0">
              <a:solidFill>
                <a:schemeClr val="accent5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E22619-02CE-652F-5159-18AD69499508}"/>
              </a:ext>
            </a:extLst>
          </p:cNvPr>
          <p:cNvSpPr/>
          <p:nvPr/>
        </p:nvSpPr>
        <p:spPr bwMode="auto">
          <a:xfrm>
            <a:off x="566058" y="3693648"/>
            <a:ext cx="2890250" cy="10999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953603-3889-BEB3-BAA7-F5BA7F6FC030}"/>
              </a:ext>
            </a:extLst>
          </p:cNvPr>
          <p:cNvSpPr/>
          <p:nvPr/>
        </p:nvSpPr>
        <p:spPr bwMode="auto">
          <a:xfrm>
            <a:off x="3505963" y="3538756"/>
            <a:ext cx="578841" cy="14580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26D4F9-5DDD-DD2F-93FC-AAD0CA7A60B3}"/>
              </a:ext>
            </a:extLst>
          </p:cNvPr>
          <p:cNvSpPr/>
          <p:nvPr/>
        </p:nvSpPr>
        <p:spPr bwMode="auto">
          <a:xfrm>
            <a:off x="4480360" y="3850512"/>
            <a:ext cx="507605" cy="7523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8BCEC1-3C86-46CD-2F1D-D1AB85B7474C}"/>
              </a:ext>
            </a:extLst>
          </p:cNvPr>
          <p:cNvSpPr/>
          <p:nvPr/>
        </p:nvSpPr>
        <p:spPr bwMode="auto">
          <a:xfrm>
            <a:off x="5250094" y="4161034"/>
            <a:ext cx="400713" cy="185962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7BD700-F897-3371-58E5-D7F6F67F3887}"/>
              </a:ext>
            </a:extLst>
          </p:cNvPr>
          <p:cNvSpPr/>
          <p:nvPr/>
        </p:nvSpPr>
        <p:spPr bwMode="auto">
          <a:xfrm>
            <a:off x="5085282" y="4092170"/>
            <a:ext cx="194539" cy="192475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31B2076-159A-56B1-08D3-3042907E0402}"/>
              </a:ext>
            </a:extLst>
          </p:cNvPr>
          <p:cNvCxnSpPr>
            <a:endCxn id="15" idx="2"/>
          </p:cNvCxnSpPr>
          <p:nvPr/>
        </p:nvCxnSpPr>
        <p:spPr>
          <a:xfrm flipH="1">
            <a:off x="5182552" y="6016926"/>
            <a:ext cx="97269" cy="0"/>
          </a:xfrm>
          <a:prstGeom prst="straightConnector1">
            <a:avLst/>
          </a:prstGeom>
          <a:ln>
            <a:solidFill>
              <a:srgbClr val="000A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B33B382-6C0F-3B1E-A2F8-ED6044399D91}"/>
              </a:ext>
            </a:extLst>
          </p:cNvPr>
          <p:cNvSpPr txBox="1"/>
          <p:nvPr/>
        </p:nvSpPr>
        <p:spPr>
          <a:xfrm>
            <a:off x="5770925" y="4969297"/>
            <a:ext cx="778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chemeClr val="tx1"/>
                </a:solidFill>
              </a:rPr>
              <a:t>x (-1)</a:t>
            </a:r>
            <a:endParaRPr lang="ko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6B67DA2-3145-9980-D849-9E2084398C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1272" y="1283022"/>
            <a:ext cx="619125" cy="17145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5298B1-7D48-53CA-99A2-6541907C928B}"/>
              </a:ext>
            </a:extLst>
          </p:cNvPr>
          <p:cNvSpPr/>
          <p:nvPr/>
        </p:nvSpPr>
        <p:spPr bwMode="auto">
          <a:xfrm>
            <a:off x="6609983" y="1177312"/>
            <a:ext cx="540834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3986CA7-595B-8DCD-C39C-E49B506C75D7}"/>
                  </a:ext>
                </a:extLst>
              </p:cNvPr>
              <p:cNvSpPr txBox="1"/>
              <p:nvPr/>
            </p:nvSpPr>
            <p:spPr>
              <a:xfrm>
                <a:off x="6801646" y="990634"/>
                <a:ext cx="3972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3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ko-KR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3986CA7-595B-8DCD-C39C-E49B506C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646" y="990634"/>
                <a:ext cx="397279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222338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8474C55-50A8-0CAF-6F4E-AEB41A5F3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code(Linear Programming)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F739B17-8788-91B1-51E8-4A63776FF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05" y="1734673"/>
            <a:ext cx="5324475" cy="2505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5487457-A055-51DB-E150-08A7A4430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05" y="4740935"/>
            <a:ext cx="672465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C5BBCA-5B7F-E86D-409D-994282089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05" y="5675509"/>
            <a:ext cx="4076700" cy="352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1607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8474C55-50A8-0CAF-6F4E-AEB41A5F3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code(Integer linear Programming)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F739B17-8788-91B1-51E8-4A63776FF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05" y="1734673"/>
            <a:ext cx="5324475" cy="2505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715317F-1E75-F21F-C229-471865436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05" y="4740935"/>
            <a:ext cx="5734050" cy="914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B3B6FA-FB63-6930-2F49-EF139479E346}"/>
              </a:ext>
            </a:extLst>
          </p:cNvPr>
          <p:cNvSpPr txBox="1"/>
          <p:nvPr/>
        </p:nvSpPr>
        <p:spPr>
          <a:xfrm>
            <a:off x="6675419" y="5013469"/>
            <a:ext cx="2460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chemeClr val="tx1"/>
                </a:solidFill>
              </a:rPr>
              <a:t>linprog</a:t>
            </a:r>
            <a:r>
              <a:rPr lang="en-US" altLang="ko-KR" b="0" dirty="0">
                <a:solidFill>
                  <a:schemeClr val="tx1"/>
                </a:solidFill>
              </a:rPr>
              <a:t> </a:t>
            </a:r>
            <a:r>
              <a:rPr lang="ko-KR" altLang="en-US" b="0" dirty="0">
                <a:solidFill>
                  <a:schemeClr val="tx1"/>
                </a:solidFill>
              </a:rPr>
              <a:t>→ </a:t>
            </a:r>
            <a:r>
              <a:rPr lang="en-US" altLang="ko-KR" b="0" dirty="0" err="1">
                <a:solidFill>
                  <a:schemeClr val="tx1"/>
                </a:solidFill>
              </a:rPr>
              <a:t>intlinprog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63737F-58BE-4195-6110-CE0731D69C83}"/>
              </a:ext>
            </a:extLst>
          </p:cNvPr>
          <p:cNvSpPr/>
          <p:nvPr/>
        </p:nvSpPr>
        <p:spPr bwMode="auto">
          <a:xfrm>
            <a:off x="2691829" y="5228957"/>
            <a:ext cx="863029" cy="18466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8DE547-473F-E305-D6B3-F08F9DFF0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05" y="5926745"/>
            <a:ext cx="1666875" cy="361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30605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code(BILP)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ko-KR" b="0" dirty="0">
                    <a:solidFill>
                      <a:schemeClr val="tx1"/>
                    </a:solidFill>
                  </a:rPr>
                  <a:t>Constraints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     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≤ 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20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≤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42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             ≤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20</a:t>
                </a:r>
              </a:p>
              <a:p>
                <a:pPr lvl="2"/>
                <a:endParaRPr lang="en-US" altLang="ko-KR" dirty="0">
                  <a:solidFill>
                    <a:srgbClr val="FF0000"/>
                  </a:solidFill>
                </a:endParaRPr>
              </a:p>
              <a:p>
                <a:pPr lvl="2"/>
                <a:endParaRPr lang="en-US" altLang="ko-KR" dirty="0">
                  <a:solidFill>
                    <a:srgbClr val="FF0000"/>
                  </a:solidFill>
                </a:endParaRPr>
              </a:p>
              <a:p>
                <a:pPr lvl="3"/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lvl="3"/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lvl="1"/>
                <a:endParaRPr lang="en-US" altLang="ko-KR" dirty="0"/>
              </a:p>
              <a:p>
                <a:pPr marL="648000" lvl="3" indent="0">
                  <a:buNone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483416E-6FEA-411E-7C5B-2183C92CD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89" y="3471864"/>
            <a:ext cx="4972050" cy="2457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419113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 err="1"/>
                  <a:t>Matlab</a:t>
                </a:r>
                <a:r>
                  <a:rPr lang="en-US" altLang="ko-KR" dirty="0"/>
                  <a:t> code(BILP)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ko-KR" b="0" dirty="0">
                    <a:solidFill>
                      <a:schemeClr val="tx1"/>
                    </a:solidFill>
                  </a:rPr>
                  <a:t>Constraints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     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≤ 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20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≤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42</a:t>
                </a:r>
              </a:p>
              <a:p>
                <a:pPr lvl="2"/>
                <a:r>
                  <a:rPr lang="en-US" altLang="ko-KR" dirty="0">
                    <a:solidFill>
                      <a:srgbClr val="FF0000"/>
                    </a:solidFill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             ≤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20</a:t>
                </a:r>
              </a:p>
              <a:p>
                <a:pPr lvl="2"/>
                <a:endParaRPr lang="en-US" altLang="ko-KR" dirty="0">
                  <a:solidFill>
                    <a:srgbClr val="FF0000"/>
                  </a:solidFill>
                </a:endParaRPr>
              </a:p>
              <a:p>
                <a:pPr lvl="2"/>
                <a:endParaRPr lang="en-US" altLang="ko-KR" dirty="0">
                  <a:solidFill>
                    <a:srgbClr val="FF0000"/>
                  </a:solidFill>
                </a:endParaRPr>
              </a:p>
              <a:p>
                <a:pPr lvl="3"/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lvl="3"/>
                <a:endParaRPr lang="en-US" altLang="ko-KR" b="0" dirty="0">
                  <a:solidFill>
                    <a:srgbClr val="FF0000"/>
                  </a:solidFill>
                </a:endParaRPr>
              </a:p>
              <a:p>
                <a:pPr lvl="1"/>
                <a:endParaRPr lang="en-US" altLang="ko-KR" dirty="0"/>
              </a:p>
              <a:p>
                <a:pPr marL="648000" lvl="3" indent="0">
                  <a:buNone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3070CBAA-4F47-AB6F-0045-F1B5030B7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561" y="3216479"/>
            <a:ext cx="5610225" cy="914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37EDA7-6BE8-47D2-3BCF-CF970C98B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467" y="3506991"/>
            <a:ext cx="1323975" cy="3333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680A1A-3312-476F-9A15-AAF977B02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067" y="4398480"/>
            <a:ext cx="5638800" cy="16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FDC799-62C0-FADD-71F0-1B03568925D1}"/>
              </a:ext>
            </a:extLst>
          </p:cNvPr>
          <p:cNvSpPr/>
          <p:nvPr/>
        </p:nvSpPr>
        <p:spPr bwMode="auto">
          <a:xfrm>
            <a:off x="1258381" y="4746661"/>
            <a:ext cx="1166316" cy="18493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629B1BF-A221-11D6-824A-BBE81F7949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517" y="4965970"/>
            <a:ext cx="1343025" cy="323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11B96E-DBFB-03E2-A24E-F4937E2BB1F9}"/>
              </a:ext>
            </a:extLst>
          </p:cNvPr>
          <p:cNvSpPr txBox="1"/>
          <p:nvPr/>
        </p:nvSpPr>
        <p:spPr>
          <a:xfrm>
            <a:off x="540137" y="3478739"/>
            <a:ext cx="512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ILP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70A948-0E0E-D8B3-EB5D-F97FB209191A}"/>
              </a:ext>
            </a:extLst>
          </p:cNvPr>
          <p:cNvSpPr txBox="1"/>
          <p:nvPr/>
        </p:nvSpPr>
        <p:spPr>
          <a:xfrm>
            <a:off x="431515" y="4931555"/>
            <a:ext cx="66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BILP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2BF6396-316F-1FC9-BB11-883B027FC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8190" y="5255720"/>
            <a:ext cx="4638675" cy="1009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27654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code(MILP)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FF0000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74EA407-6AB5-4F33-38C4-04B4E7B54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1895456"/>
            <a:ext cx="6061273" cy="370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1781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code(MILP)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FF0000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74EA407-6AB5-4F33-38C4-04B4E7B54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1895456"/>
            <a:ext cx="6061273" cy="37050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6358EA-C589-58E5-BA43-2F6910FE9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687" y="2054832"/>
            <a:ext cx="4679068" cy="209079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CAB9A03-AD53-5B45-687F-2A1AE2751C12}"/>
              </a:ext>
            </a:extLst>
          </p:cNvPr>
          <p:cNvSpPr/>
          <p:nvPr/>
        </p:nvSpPr>
        <p:spPr bwMode="auto">
          <a:xfrm>
            <a:off x="3814687" y="2157571"/>
            <a:ext cx="901151" cy="1335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4B417A-E2FE-5F59-7712-E3D028217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67" y="4539706"/>
            <a:ext cx="1771650" cy="3333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2540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code(MILP)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FF0000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40D3ACF1-9842-0F76-69F4-7D328399E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90" y="978853"/>
            <a:ext cx="5204204" cy="566783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44855C-F50B-0FBE-CDAF-95CF04509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512" y="5895923"/>
            <a:ext cx="1409700" cy="34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F457DDC-A9B9-5B75-FB44-EC4C116D9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4" y="1915712"/>
            <a:ext cx="3493856" cy="2251123"/>
          </a:xfrm>
          <a:prstGeom prst="rect">
            <a:avLst/>
          </a:prstGeom>
        </p:spPr>
      </p:pic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5ABD271B-F297-CEFF-3AE8-6CA50BCDDD1E}"/>
              </a:ext>
            </a:extLst>
          </p:cNvPr>
          <p:cNvSpPr/>
          <p:nvPr/>
        </p:nvSpPr>
        <p:spPr bwMode="auto">
          <a:xfrm>
            <a:off x="2145649" y="3244719"/>
            <a:ext cx="688368" cy="431514"/>
          </a:xfrm>
          <a:prstGeom prst="mathMultiply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113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Matlab code(MILP)</a:t>
            </a:r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F1AE10-391A-9CE9-CC42-4304D57F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292" y="1496736"/>
            <a:ext cx="4582042" cy="4624815"/>
          </a:xfrm>
          <a:prstGeom prst="rect">
            <a:avLst/>
          </a:prstGeom>
          <a:ln>
            <a:solidFill>
              <a:srgbClr val="000A1E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181C37-FE00-FFBB-9F42-B3C6DF724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2" y="2620192"/>
            <a:ext cx="4002198" cy="221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177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83437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여러가지</a:t>
            </a:r>
            <a:r>
              <a:rPr lang="en-US" altLang="ko-KR" dirty="0"/>
              <a:t> Linear Programming </a:t>
            </a:r>
            <a:r>
              <a:rPr lang="ko-KR" altLang="en-US" dirty="0"/>
              <a:t>방법 및 각각의 </a:t>
            </a:r>
            <a:r>
              <a:rPr lang="en-US" altLang="ko-KR" dirty="0"/>
              <a:t>Constraints</a:t>
            </a:r>
            <a:r>
              <a:rPr lang="ko-KR" altLang="en-US" dirty="0"/>
              <a:t>에 대한 사전조사 완료</a:t>
            </a:r>
            <a:endParaRPr lang="en-US" altLang="ko-KR" dirty="0"/>
          </a:p>
          <a:p>
            <a:pPr lvl="2"/>
            <a:r>
              <a:rPr lang="en-US" altLang="ko-KR" dirty="0"/>
              <a:t>MILP(BILP) method</a:t>
            </a:r>
            <a:r>
              <a:rPr lang="ko-KR" altLang="en-US" dirty="0"/>
              <a:t>를 이용한 </a:t>
            </a:r>
            <a:r>
              <a:rPr lang="en-US" altLang="ko-KR" dirty="0"/>
              <a:t>Solver</a:t>
            </a:r>
            <a:r>
              <a:rPr lang="ko-KR" altLang="en-US" dirty="0"/>
              <a:t>를 </a:t>
            </a:r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r>
              <a:rPr lang="ko-KR" altLang="en-US" dirty="0"/>
              <a:t>로 구현 완료</a:t>
            </a:r>
            <a:endParaRPr lang="en-US" altLang="ko-KR" dirty="0"/>
          </a:p>
          <a:p>
            <a:pPr lvl="2"/>
            <a:r>
              <a:rPr lang="ko-KR" altLang="en-US" dirty="0"/>
              <a:t>하지만 아직 위성 운용에 적용하기엔 기초적인 수준</a:t>
            </a:r>
            <a:endParaRPr lang="en-US" altLang="ko-KR" dirty="0"/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위성 운용과의 관련성 다소 적음 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보완할 점</a:t>
            </a:r>
            <a:endParaRPr lang="en-US" altLang="ko-KR" dirty="0"/>
          </a:p>
          <a:p>
            <a:pPr lvl="2"/>
            <a:r>
              <a:rPr lang="en-US" altLang="ko-KR" dirty="0"/>
              <a:t>Linear Programming </a:t>
            </a:r>
            <a:r>
              <a:rPr lang="ko-KR" altLang="en-US" dirty="0"/>
              <a:t>방법을 </a:t>
            </a:r>
            <a:r>
              <a:rPr lang="ko-KR" altLang="en-US" dirty="0" err="1"/>
              <a:t>위성군</a:t>
            </a:r>
            <a:r>
              <a:rPr lang="ko-KR" altLang="en-US" dirty="0"/>
              <a:t> 운용에 연관시켜 </a:t>
            </a:r>
            <a:r>
              <a:rPr lang="en-US" altLang="ko-KR" dirty="0"/>
              <a:t>STK</a:t>
            </a:r>
            <a:r>
              <a:rPr lang="ko-KR" altLang="en-US" dirty="0"/>
              <a:t> 및 </a:t>
            </a:r>
            <a:r>
              <a:rPr lang="en-US" altLang="ko-KR" dirty="0" err="1"/>
              <a:t>Freeflyer</a:t>
            </a:r>
            <a:r>
              <a:rPr lang="ko-KR" altLang="en-US" dirty="0"/>
              <a:t>를 통한 </a:t>
            </a:r>
            <a:r>
              <a:rPr lang="ko-KR" altLang="en-US" dirty="0" err="1"/>
              <a:t>위성군</a:t>
            </a:r>
            <a:r>
              <a:rPr lang="ko-KR" altLang="en-US" dirty="0"/>
              <a:t> 전파 시뮬레이션 진행 </a:t>
            </a:r>
            <a:endParaRPr lang="en-US" altLang="ko-KR" dirty="0"/>
          </a:p>
          <a:p>
            <a:pPr lvl="2"/>
            <a:r>
              <a:rPr lang="ko-KR" altLang="en-US" dirty="0"/>
              <a:t>운용 개념 및 목적함수</a:t>
            </a:r>
            <a:r>
              <a:rPr lang="en-US" altLang="ko-KR" dirty="0"/>
              <a:t>,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/>
              <a:t>제한조건 등을 정의하고 최적의 성능지수 도출</a:t>
            </a:r>
            <a:endParaRPr lang="en-US" altLang="ko-KR" dirty="0"/>
          </a:p>
          <a:p>
            <a:pPr lvl="2"/>
            <a:r>
              <a:rPr lang="en-US" altLang="ko-KR" dirty="0"/>
              <a:t>Walker-delta(</a:t>
            </a:r>
            <a:r>
              <a:rPr lang="ko-KR" altLang="en-US" dirty="0"/>
              <a:t>또는 </a:t>
            </a:r>
            <a:r>
              <a:rPr lang="en-US" altLang="ko-KR" dirty="0"/>
              <a:t>quasi-symmetry) </a:t>
            </a:r>
            <a:r>
              <a:rPr lang="ko-KR" altLang="en-US" dirty="0"/>
              <a:t>모델과 </a:t>
            </a:r>
            <a:r>
              <a:rPr lang="en-US" altLang="ko-KR" dirty="0"/>
              <a:t>Linear Programming </a:t>
            </a:r>
            <a:r>
              <a:rPr lang="ko-KR" altLang="en-US" dirty="0"/>
              <a:t>방법의 성능지수 비교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8062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b="1" u="sng" dirty="0"/>
              <a:t>지역 </a:t>
            </a:r>
            <a:r>
              <a:rPr lang="ko-KR" altLang="en-US" b="1" u="sng" dirty="0" err="1"/>
              <a:t>커버리지</a:t>
            </a:r>
            <a:r>
              <a:rPr lang="ko-KR" altLang="en-US" dirty="0" err="1"/>
              <a:t>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시스템이 지배하는 시장에서 유능한 솔루션으로 점점 더 화제</a:t>
            </a:r>
            <a:endParaRPr lang="en-US" altLang="ko-KR" dirty="0"/>
          </a:p>
          <a:p>
            <a:pPr lvl="2"/>
            <a:r>
              <a:rPr lang="ko-KR" altLang="en-US" dirty="0"/>
              <a:t>독립적인 것부터 기존 우주 기반 시스템을 보완하는 것까지 다양한 형태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위성군과 관련된 지정학적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기술적 문제를 회피하는 수단으로 유연한 해결책을 제공</a:t>
            </a:r>
            <a:endParaRPr lang="en-US" altLang="ko-KR" dirty="0"/>
          </a:p>
          <a:p>
            <a:pPr lvl="2"/>
            <a:r>
              <a:rPr lang="ko-KR" altLang="en-US" dirty="0"/>
              <a:t>특정 영역에 대한 커버만 집중 </a:t>
            </a:r>
            <a:endParaRPr lang="en-US" altLang="ko-KR" dirty="0"/>
          </a:p>
          <a:p>
            <a:pPr lvl="3"/>
            <a:r>
              <a:rPr lang="ko-KR" altLang="en-US" dirty="0"/>
              <a:t>면적 당 동일한 성능을 위한 더 적은 위성이 필요함 </a:t>
            </a:r>
            <a:endParaRPr lang="en-US" altLang="ko-KR" dirty="0"/>
          </a:p>
          <a:p>
            <a:pPr lvl="3"/>
            <a:r>
              <a:rPr lang="ko-KR" altLang="en-US" dirty="0"/>
              <a:t>따라서 시스템의 </a:t>
            </a:r>
            <a:r>
              <a:rPr lang="en-US" altLang="ko-KR" dirty="0"/>
              <a:t>(</a:t>
            </a:r>
            <a:r>
              <a:rPr lang="ko-KR" altLang="en-US" dirty="0"/>
              <a:t>총 수명주기</a:t>
            </a:r>
            <a:r>
              <a:rPr lang="en-US" altLang="ko-KR" dirty="0"/>
              <a:t>)</a:t>
            </a:r>
            <a:r>
              <a:rPr lang="ko-KR" altLang="en-US" dirty="0"/>
              <a:t>비용이 크게 절감</a:t>
            </a:r>
            <a:endParaRPr lang="en-US" altLang="ko-KR" dirty="0"/>
          </a:p>
          <a:p>
            <a:pPr lvl="3"/>
            <a:r>
              <a:rPr lang="ko-KR" altLang="en-US" dirty="0"/>
              <a:t>장애 위험 감수</a:t>
            </a:r>
            <a:r>
              <a:rPr lang="en-US" altLang="ko-KR" dirty="0"/>
              <a:t>, </a:t>
            </a:r>
            <a:r>
              <a:rPr lang="ko-KR" altLang="en-US" dirty="0"/>
              <a:t>투자 회수 기간 단축</a:t>
            </a:r>
            <a:endParaRPr lang="en-US" altLang="ko-KR" dirty="0"/>
          </a:p>
          <a:p>
            <a:pPr lvl="3"/>
            <a:r>
              <a:rPr lang="ko-KR" altLang="en-US" dirty="0"/>
              <a:t>시장 수요 및 관리 문제로 발생하는 불확실성에 신속 대응 가능</a:t>
            </a:r>
            <a:endParaRPr lang="en-US" altLang="ko-KR" dirty="0"/>
          </a:p>
          <a:p>
            <a:pPr lvl="1"/>
            <a:r>
              <a:rPr lang="ko-KR" altLang="en-US" dirty="0"/>
              <a:t>가장 고전적 지역 커버리지 방법은 </a:t>
            </a:r>
            <a:r>
              <a:rPr lang="en-US" altLang="ko-KR" dirty="0"/>
              <a:t>GSO, GEO</a:t>
            </a:r>
          </a:p>
          <a:p>
            <a:pPr lvl="1"/>
            <a:r>
              <a:rPr lang="en-US" altLang="ko-KR" dirty="0"/>
              <a:t>NGSO</a:t>
            </a:r>
            <a:r>
              <a:rPr lang="ko-KR" altLang="en-US" dirty="0"/>
              <a:t>는 대기 시간 및 발사 비용 같은 많은 속성에 대해 더 나은 성능을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816373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비교적 간단한 커버리지 기준으로 조사함</a:t>
            </a:r>
            <a:endParaRPr lang="en-US" altLang="ko-KR" dirty="0"/>
          </a:p>
          <a:p>
            <a:pPr lvl="2"/>
            <a:r>
              <a:rPr lang="en-US" altLang="ko-KR" dirty="0"/>
              <a:t>F-fold</a:t>
            </a:r>
            <a:r>
              <a:rPr lang="ko-KR" altLang="en-US" dirty="0"/>
              <a:t> 연속 커버리지 요구조건을</a:t>
            </a:r>
            <a:r>
              <a:rPr lang="en-US" altLang="ko-KR" dirty="0"/>
              <a:t> </a:t>
            </a:r>
            <a:r>
              <a:rPr lang="ko-KR" altLang="en-US" dirty="0"/>
              <a:t>충족하기</a:t>
            </a:r>
            <a:endParaRPr lang="en-US" altLang="ko-KR" dirty="0"/>
          </a:p>
          <a:p>
            <a:pPr lvl="2"/>
            <a:r>
              <a:rPr lang="ko-KR" altLang="en-US" dirty="0"/>
              <a:t>최대 재방문 시간 차이를 최소화하기 </a:t>
            </a:r>
            <a:endParaRPr lang="en-US" altLang="ko-KR" dirty="0"/>
          </a:p>
          <a:p>
            <a:pPr lvl="1"/>
            <a:r>
              <a:rPr lang="ko-KR" altLang="en-US" dirty="0"/>
              <a:t>하지만 다음과 같이 주기적으로 시공간이 변하는 복잡한 요구사항 문제는 </a:t>
            </a:r>
            <a:r>
              <a:rPr lang="ko-KR" altLang="en-US" dirty="0" err="1"/>
              <a:t>탐구되지</a:t>
            </a:r>
            <a:r>
              <a:rPr lang="ko-KR" altLang="en-US" dirty="0"/>
              <a:t> 않음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낮 시간 동안의 통신 서비스 수요량 증가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/>
              <a:t>신뢰성 있는 접근을 위한 도시</a:t>
            </a:r>
            <a:r>
              <a:rPr lang="en-US" altLang="ko-KR" dirty="0"/>
              <a:t> </a:t>
            </a:r>
            <a:r>
              <a:rPr lang="ko-KR" altLang="en-US" dirty="0"/>
              <a:t>및 교외 지역에 대한 서비스 수요량 증가</a:t>
            </a:r>
            <a:endParaRPr lang="en-US" altLang="ko-KR" dirty="0"/>
          </a:p>
          <a:p>
            <a:pPr lvl="1"/>
            <a:r>
              <a:rPr lang="ko-KR" altLang="en-US" dirty="0"/>
              <a:t>이러한 복잡한 요구조건에 대한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과정은 다음과 같음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일반적인 궤도 특성 결정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위성군</a:t>
            </a:r>
            <a:r>
              <a:rPr lang="ko-KR" altLang="en-US" dirty="0"/>
              <a:t> 패턴 결정 </a:t>
            </a:r>
            <a:r>
              <a:rPr lang="en-US" altLang="ko-KR" dirty="0"/>
              <a:t>– </a:t>
            </a:r>
            <a:r>
              <a:rPr lang="ko-KR" altLang="en-US" dirty="0"/>
              <a:t>보통 대칭패턴 </a:t>
            </a:r>
            <a:r>
              <a:rPr lang="en-US" altLang="ko-KR" dirty="0"/>
              <a:t>(ex. </a:t>
            </a:r>
            <a:r>
              <a:rPr lang="ko-KR" altLang="en-US" dirty="0"/>
              <a:t>워커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(3) </a:t>
            </a:r>
            <a:r>
              <a:rPr lang="ko-KR" altLang="en-US" dirty="0"/>
              <a:t>공통적인 궤도 특성 최적화 </a:t>
            </a:r>
            <a:r>
              <a:rPr lang="en-US" altLang="ko-KR" dirty="0"/>
              <a:t>(ex. </a:t>
            </a:r>
            <a:r>
              <a:rPr lang="ko-KR" altLang="en-US" dirty="0"/>
              <a:t>고도</a:t>
            </a:r>
            <a:r>
              <a:rPr lang="en-US" altLang="ko-KR" dirty="0"/>
              <a:t>, </a:t>
            </a:r>
            <a:r>
              <a:rPr lang="ko-KR" altLang="en-US" dirty="0"/>
              <a:t>궤도경사각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66614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관심지역에 대해 주기적으로 시공간이 변하는 요구조건에 대한 최적화된 위성군은 어떻게 설계할까</a:t>
            </a:r>
            <a:r>
              <a:rPr lang="en-US" altLang="ko-KR" dirty="0"/>
              <a:t>? </a:t>
            </a:r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방법을 통해 이 문제를 해결하고자 함</a:t>
            </a:r>
            <a:endParaRPr lang="en-US" altLang="ko-KR" dirty="0"/>
          </a:p>
          <a:p>
            <a:pPr lvl="2"/>
            <a:r>
              <a:rPr lang="ko-KR" altLang="en-US" dirty="0"/>
              <a:t>기존의 궤도 특성 설계 방법 및 발사</a:t>
            </a:r>
            <a:r>
              <a:rPr lang="en-US" altLang="ko-KR" dirty="0"/>
              <a:t>, </a:t>
            </a:r>
            <a:r>
              <a:rPr lang="ko-KR" altLang="en-US" dirty="0"/>
              <a:t>미션 제약 조건과 통합되어 미래의 위성군을 최적화 할 수 있음</a:t>
            </a:r>
            <a:endParaRPr lang="en-US" altLang="ko-KR" dirty="0"/>
          </a:p>
          <a:p>
            <a:pPr lvl="1"/>
            <a:r>
              <a:rPr lang="ko-KR" altLang="en-US" dirty="0"/>
              <a:t>본 논문의 </a:t>
            </a:r>
            <a:r>
              <a:rPr lang="en-US" altLang="ko-KR" dirty="0"/>
              <a:t>Contribution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 err="1"/>
              <a:t>시드</a:t>
            </a:r>
            <a:r>
              <a:rPr lang="ko-KR" altLang="en-US" dirty="0"/>
              <a:t> 위성 접속 프로필</a:t>
            </a:r>
            <a:r>
              <a:rPr lang="en-US" altLang="ko-KR" dirty="0"/>
              <a:t>, </a:t>
            </a:r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r>
              <a:rPr lang="en-US" altLang="ko-KR" dirty="0"/>
              <a:t>,</a:t>
            </a:r>
            <a:r>
              <a:rPr lang="ko-KR" altLang="en-US" dirty="0"/>
              <a:t> 커버리지 타임라인 간의 원형 구조 현상의 발견을 공식화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시간에 대해 독립적인 </a:t>
            </a:r>
            <a:r>
              <a:rPr lang="en-US" altLang="ko-KR" dirty="0"/>
              <a:t>f-fold </a:t>
            </a:r>
            <a:r>
              <a:rPr lang="ko-KR" altLang="en-US" dirty="0"/>
              <a:t>커버리지 요구사항의 정의를 </a:t>
            </a:r>
            <a:r>
              <a:rPr lang="en-US" altLang="ko-KR" dirty="0"/>
              <a:t>n-fold</a:t>
            </a:r>
            <a:r>
              <a:rPr lang="ko-KR" altLang="en-US" dirty="0"/>
              <a:t>로 확장</a:t>
            </a:r>
            <a:endParaRPr lang="en-US" altLang="ko-KR" dirty="0"/>
          </a:p>
          <a:p>
            <a:pPr lvl="3"/>
            <a:r>
              <a:rPr lang="en-US" altLang="ko-KR" dirty="0"/>
              <a:t>f</a:t>
            </a:r>
            <a:r>
              <a:rPr lang="ko-KR" altLang="en-US" dirty="0"/>
              <a:t>는 이산 시간 순간이므로 주기적으로 시간이 변하는 커버리지 요구사항은 위성군에서 최적으로 처리될 수 있음</a:t>
            </a:r>
            <a:endParaRPr lang="en-US" altLang="ko-KR" dirty="0"/>
          </a:p>
          <a:p>
            <a:pPr lvl="3"/>
            <a:r>
              <a:rPr lang="ko-KR" altLang="en-US" dirty="0"/>
              <a:t>이 아이디어를 여러 목표지점에 적용함으로써 시공간이 변화하는 적용 범위 요구조건이 있는 경우로 더욱 확장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최적의 위성 배치 패턴을 탐색</a:t>
            </a:r>
            <a:endParaRPr lang="en-US" altLang="ko-KR" dirty="0"/>
          </a:p>
          <a:p>
            <a:pPr lvl="3"/>
            <a:r>
              <a:rPr lang="ko-KR" altLang="en-US" dirty="0"/>
              <a:t>이산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이용한 일반적인 방법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561146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지구 또는 위도 경계 영역과 같이 광범위한 관심 영역에 지속적인 </a:t>
            </a:r>
            <a:r>
              <a:rPr lang="ko-KR" altLang="en-US" dirty="0" err="1"/>
              <a:t>커버리지를</a:t>
            </a:r>
            <a:r>
              <a:rPr lang="en-US" altLang="ko-KR" dirty="0"/>
              <a:t> </a:t>
            </a:r>
            <a:r>
              <a:rPr lang="ko-KR" altLang="en-US" dirty="0"/>
              <a:t>제공하면서 위성 수를 최소화하는 데 초점 맞춤</a:t>
            </a:r>
            <a:endParaRPr lang="en-US" altLang="ko-KR" dirty="0"/>
          </a:p>
          <a:p>
            <a:pPr lvl="1"/>
            <a:r>
              <a:rPr lang="ko-KR" altLang="en-US" dirty="0"/>
              <a:t>다음과 같이 고전적인 방법들은 위성이 미리 정해진 위상 규칙에 기초하여 균일하고 대칭적으로 배열되는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패턴에서 대칭을 나타내기 위해 기하학적 접근법 이용</a:t>
            </a:r>
            <a:endParaRPr lang="en-US" altLang="ko-KR" dirty="0"/>
          </a:p>
          <a:p>
            <a:pPr lvl="2"/>
            <a:r>
              <a:rPr lang="en-US" altLang="ko-KR" dirty="0"/>
              <a:t>Classical method (Streets of Coverage) : [9-12]</a:t>
            </a:r>
          </a:p>
          <a:p>
            <a:pPr lvl="2"/>
            <a:r>
              <a:rPr lang="en-US" altLang="ko-KR" dirty="0"/>
              <a:t>Walker and Rosette constellation : [6-8, 13]</a:t>
            </a:r>
          </a:p>
          <a:p>
            <a:pPr lvl="2"/>
            <a:r>
              <a:rPr lang="en-US" altLang="ko-KR" dirty="0"/>
              <a:t>Tetrahedron elliptical constellation : [14]</a:t>
            </a:r>
          </a:p>
          <a:p>
            <a:pPr lvl="1"/>
            <a:r>
              <a:rPr lang="ko-KR" altLang="en-US" dirty="0"/>
              <a:t>위성군의 대칭은 유한 변동성</a:t>
            </a:r>
            <a:r>
              <a:rPr lang="en-US" altLang="ko-KR" dirty="0"/>
              <a:t>[15]</a:t>
            </a:r>
            <a:r>
              <a:rPr lang="ko-KR" altLang="en-US" dirty="0"/>
              <a:t>으로 인해 완전한 설계 공간 분석 또는 해를 위한 기초를 제공</a:t>
            </a:r>
            <a:endParaRPr lang="en-US" altLang="ko-KR" dirty="0"/>
          </a:p>
          <a:p>
            <a:pPr lvl="1"/>
            <a:r>
              <a:rPr lang="ko-KR" altLang="en-US" dirty="0"/>
              <a:t>하지만 이는 일반적으로 중복을 초래하므로 경계 지역에 걸쳐 위성의 수 측면에서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설계를 생성하지 못할 수 있음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48648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 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지역 커버리지 별자리의 설계를 구체적으로 다룬 선행 연구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특성을 활용 </a:t>
            </a:r>
            <a:r>
              <a:rPr lang="en-US" altLang="ko-KR" dirty="0"/>
              <a:t>: [16] - </a:t>
            </a:r>
            <a:r>
              <a:rPr lang="en-US" altLang="ko-KR" dirty="0" err="1"/>
              <a:t>hanson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</a:p>
          <a:p>
            <a:pPr lvl="1"/>
            <a:r>
              <a:rPr lang="en-US" altLang="ko-KR" dirty="0"/>
              <a:t>Timeline Meshing </a:t>
            </a:r>
            <a:r>
              <a:rPr lang="ko-KR" altLang="en-US" dirty="0"/>
              <a:t>방법을 사용하여 최소 가능한 기울기에서 최대 시간 간격을 최소화 하는 것과 관련한 </a:t>
            </a:r>
            <a:r>
              <a:rPr lang="ko-KR" altLang="en-US" dirty="0" err="1"/>
              <a:t>위성군</a:t>
            </a:r>
            <a:r>
              <a:rPr lang="ko-KR" altLang="en-US" dirty="0"/>
              <a:t> 설계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[17] - Ma and Hsu </a:t>
            </a:r>
          </a:p>
          <a:p>
            <a:pPr lvl="1"/>
            <a:r>
              <a:rPr lang="ko-KR" altLang="en-US" dirty="0"/>
              <a:t>간격을 최소화하거나 </a:t>
            </a:r>
            <a:r>
              <a:rPr lang="ko-KR" altLang="en-US" dirty="0" err="1"/>
              <a:t>커버리지를</a:t>
            </a:r>
            <a:r>
              <a:rPr lang="ko-KR" altLang="en-US" dirty="0"/>
              <a:t> 최대화하는 것과 관련하여 허용 가능 시간 지연을 검색함으로써 </a:t>
            </a:r>
            <a:r>
              <a:rPr lang="en-US" altLang="ko-KR" dirty="0"/>
              <a:t>RGT </a:t>
            </a:r>
            <a:r>
              <a:rPr lang="ko-KR" altLang="en-US" dirty="0"/>
              <a:t>특성을 확장 </a:t>
            </a:r>
            <a:r>
              <a:rPr lang="en-US" altLang="ko-KR" dirty="0"/>
              <a:t>: [18] - </a:t>
            </a:r>
            <a:r>
              <a:rPr lang="en-US" altLang="ko-KR" dirty="0" err="1"/>
              <a:t>Pontani</a:t>
            </a:r>
            <a:r>
              <a:rPr lang="en-US" altLang="ko-KR" dirty="0"/>
              <a:t> and </a:t>
            </a:r>
            <a:r>
              <a:rPr lang="en-US" altLang="ko-KR" dirty="0" err="1"/>
              <a:t>Teofilatto</a:t>
            </a:r>
            <a:endParaRPr lang="en-US" altLang="ko-KR" dirty="0"/>
          </a:p>
          <a:p>
            <a:pPr lvl="1"/>
            <a:r>
              <a:rPr lang="ko-KR" altLang="en-US" dirty="0"/>
              <a:t>최대 재방문 시간을 최소화하기 위해 </a:t>
            </a:r>
            <a:r>
              <a:rPr lang="en-US" altLang="ko-KR" dirty="0"/>
              <a:t>metaheuristics</a:t>
            </a:r>
            <a:r>
              <a:rPr lang="ko-KR" altLang="en-US" dirty="0"/>
              <a:t> 방법을 사용하여 위성군을 설계 </a:t>
            </a:r>
            <a:r>
              <a:rPr lang="en-US" altLang="ko-KR" dirty="0"/>
              <a:t>: [19] - Crossley and Williams</a:t>
            </a:r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위성군</a:t>
            </a:r>
            <a:r>
              <a:rPr lang="ko-KR" altLang="en-US" dirty="0"/>
              <a:t> 설계 알고리즘은 단일 대상 또는 연결된 영역과 관련하여 비대칭 구성을 생성할 수 있는 능력을 보여줌 </a:t>
            </a:r>
            <a:endParaRPr lang="en-US" altLang="ko-KR" dirty="0"/>
          </a:p>
          <a:p>
            <a:pPr lvl="2"/>
            <a:r>
              <a:rPr lang="ko-KR" altLang="en-US" dirty="0"/>
              <a:t>하지만 여러 하위 분류가 있는 목표지점에 대해 시간에 따라 변하는 요구조건에 대한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설계에는 적용되지 않음</a:t>
            </a:r>
            <a:endParaRPr lang="en-US" altLang="ko-KR" dirty="0"/>
          </a:p>
          <a:p>
            <a:pPr lvl="1"/>
            <a:r>
              <a:rPr lang="ko-KR" altLang="en-US" dirty="0"/>
              <a:t>복잡한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설계의 기하학적 접근법 </a:t>
            </a:r>
            <a:r>
              <a:rPr lang="en-US" altLang="ko-KR" dirty="0"/>
              <a:t>: [20]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2"/>
            <a:r>
              <a:rPr lang="ko-KR" altLang="en-US" dirty="0"/>
              <a:t>위성 위치 및 커버리지 기능을 위한 </a:t>
            </a:r>
            <a:r>
              <a:rPr lang="en-US" altLang="ko-KR" dirty="0"/>
              <a:t>2</a:t>
            </a:r>
            <a:r>
              <a:rPr lang="ko-KR" altLang="en-US" dirty="0"/>
              <a:t>차원 공간과 결합된 지도의 사용을 보여줌</a:t>
            </a:r>
            <a:endParaRPr lang="en-US" altLang="ko-KR" dirty="0"/>
          </a:p>
          <a:p>
            <a:pPr lvl="2"/>
            <a:r>
              <a:rPr lang="ko-KR" altLang="en-US" dirty="0"/>
              <a:t>비대칭 위성군에는 이 방법 적용할 수 없음 </a:t>
            </a:r>
            <a:r>
              <a:rPr lang="en-US" altLang="ko-KR" dirty="0"/>
              <a:t>: [15.21] - </a:t>
            </a:r>
            <a:r>
              <a:rPr lang="en-US" altLang="ko-KR" dirty="0" err="1"/>
              <a:t>Lecohier</a:t>
            </a:r>
            <a:r>
              <a:rPr lang="en-US" altLang="ko-KR" dirty="0"/>
              <a:t> and Mora as well as Wertz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15583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연속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 대한 역사 조사를 발표 </a:t>
            </a:r>
            <a:r>
              <a:rPr lang="en-US" altLang="ko-KR" dirty="0"/>
              <a:t>: [22]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1"/>
            <a:r>
              <a:rPr lang="ko-KR" altLang="en-US" dirty="0"/>
              <a:t>지역</a:t>
            </a:r>
            <a:r>
              <a:rPr lang="en-US" altLang="ko-KR" dirty="0"/>
              <a:t> </a:t>
            </a:r>
            <a:r>
              <a:rPr lang="ko-KR" altLang="en-US" dirty="0"/>
              <a:t>커버리지 문제의 세 가지 측면에 대해 답하는 방법론은 없음 </a:t>
            </a:r>
            <a:endParaRPr lang="en-US" altLang="ko-KR" dirty="0"/>
          </a:p>
          <a:p>
            <a:pPr lvl="2"/>
            <a:r>
              <a:rPr lang="ko-KR" altLang="en-US" dirty="0"/>
              <a:t>다중 대상 지점</a:t>
            </a:r>
            <a:endParaRPr lang="en-US" altLang="ko-KR" dirty="0"/>
          </a:p>
          <a:p>
            <a:pPr lvl="2"/>
            <a:r>
              <a:rPr lang="ko-KR" altLang="en-US" dirty="0"/>
              <a:t>복잡한 커버리지 요구조건</a:t>
            </a:r>
            <a:endParaRPr lang="en-US" altLang="ko-KR" dirty="0"/>
          </a:p>
          <a:p>
            <a:pPr lvl="2"/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r>
              <a:rPr lang="en-US" altLang="ko-KR" dirty="0"/>
              <a:t>, </a:t>
            </a:r>
            <a:r>
              <a:rPr lang="ko-KR" altLang="en-US" dirty="0"/>
              <a:t>그리고 여러 대상 지점에 대해</a:t>
            </a:r>
            <a:r>
              <a:rPr lang="en-US" altLang="ko-KR" dirty="0"/>
              <a:t>)</a:t>
            </a:r>
            <a:r>
              <a:rPr lang="ko-KR" altLang="en-US" dirty="0"/>
              <a:t> 주기적으로 시공간을 변화시키는 커버리지 요구조건을 위한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설계하는 방법 구성이 목표</a:t>
            </a:r>
            <a:endParaRPr lang="en-US" altLang="ko-KR" dirty="0"/>
          </a:p>
          <a:p>
            <a:pPr lvl="1"/>
            <a:r>
              <a:rPr lang="en-US" altLang="ko-KR" dirty="0"/>
              <a:t>RGT</a:t>
            </a:r>
            <a:r>
              <a:rPr lang="ko-KR" altLang="en-US" dirty="0"/>
              <a:t>와 </a:t>
            </a:r>
            <a:r>
              <a:rPr lang="en-US" altLang="ko-KR" dirty="0"/>
              <a:t>CGT</a:t>
            </a:r>
            <a:r>
              <a:rPr lang="ko-KR" altLang="en-US" dirty="0"/>
              <a:t>와 이전 연구를 일반화하는 아이디어를 바탕으로 </a:t>
            </a:r>
            <a:r>
              <a:rPr lang="en-US" altLang="ko-KR" dirty="0"/>
              <a:t>: [26]</a:t>
            </a:r>
          </a:p>
          <a:p>
            <a:pPr lvl="2"/>
            <a:r>
              <a:rPr lang="en-US" altLang="ko-KR" dirty="0"/>
              <a:t>Ex. Flower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: [23-25]</a:t>
            </a:r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패턴 설계 문제의 원형 구조 특성을 공식화하고 이를 위한 두 가지 방법</a:t>
            </a:r>
            <a:endParaRPr lang="en-US" altLang="ko-KR" dirty="0"/>
          </a:p>
          <a:p>
            <a:pPr lvl="2"/>
            <a:r>
              <a:rPr lang="ko-KR" altLang="en-US" dirty="0"/>
              <a:t>기준선 및 다소 전통적인 </a:t>
            </a:r>
            <a:r>
              <a:rPr lang="en-US" altLang="ko-KR" dirty="0"/>
              <a:t>quasi-symmetric method</a:t>
            </a:r>
          </a:p>
          <a:p>
            <a:pPr lvl="2"/>
            <a:r>
              <a:rPr lang="ko-KR" altLang="en-US" dirty="0"/>
              <a:t>더 일반적이고 새로운 </a:t>
            </a:r>
            <a:r>
              <a:rPr lang="en-US" altLang="ko-KR" dirty="0"/>
              <a:t>BILP </a:t>
            </a:r>
            <a:r>
              <a:rPr lang="ko-KR" altLang="en-US" dirty="0"/>
              <a:t>방법 도출</a:t>
            </a:r>
          </a:p>
        </p:txBody>
      </p:sp>
    </p:spTree>
    <p:extLst>
      <p:ext uri="{BB962C8B-B14F-4D97-AF65-F5344CB8AC3E}">
        <p14:creationId xmlns:p14="http://schemas.microsoft.com/office/powerpoint/2010/main" val="294372357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Repeating Ground Track Orbit</a:t>
            </a:r>
          </a:p>
          <a:p>
            <a:pPr lvl="2"/>
            <a:r>
              <a:rPr lang="ko-KR" altLang="en-US" dirty="0"/>
              <a:t>지구 표면을 지나는 하위 위성의 자취로 정의</a:t>
            </a:r>
            <a:endParaRPr lang="en-US" altLang="ko-KR" dirty="0"/>
          </a:p>
          <a:p>
            <a:pPr lvl="2"/>
            <a:r>
              <a:rPr lang="ko-KR" altLang="en-US" dirty="0"/>
              <a:t>논문에서는 위성군의 궤도가 정확하고 주기적으로 반복될 수 있도록 </a:t>
            </a:r>
            <a:r>
              <a:rPr lang="en-US" altLang="ko-KR" dirty="0"/>
              <a:t>RGT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lvl="2"/>
            <a:r>
              <a:rPr lang="ko-KR" altLang="en-US" dirty="0"/>
              <a:t>위성 수가 적은 </a:t>
            </a:r>
            <a:r>
              <a:rPr lang="ko-KR" altLang="en-US" dirty="0" err="1"/>
              <a:t>비반복</a:t>
            </a:r>
            <a:r>
              <a:rPr lang="ko-KR" altLang="en-US" dirty="0"/>
              <a:t> 궤도보다 더 나은 지역 커버리지 성능을 보임</a:t>
            </a:r>
            <a:endParaRPr lang="en-US" altLang="ko-KR" dirty="0"/>
          </a:p>
          <a:p>
            <a:pPr lvl="2"/>
            <a:r>
              <a:rPr lang="en-US" altLang="ko-KR" dirty="0"/>
              <a:t>ECEF </a:t>
            </a:r>
            <a:r>
              <a:rPr lang="ko-KR" altLang="en-US" dirty="0"/>
              <a:t>좌표계에서 </a:t>
            </a:r>
            <a:r>
              <a:rPr lang="en-US" altLang="ko-KR" dirty="0"/>
              <a:t>RGT</a:t>
            </a:r>
            <a:r>
              <a:rPr lang="ko-KR" altLang="en-US" dirty="0"/>
              <a:t>궤도는 궤도의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)</a:t>
            </a:r>
            <a:r>
              <a:rPr lang="ko-KR" altLang="en-US" dirty="0"/>
              <a:t>의 배수일 때 달성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 : </a:t>
            </a:r>
            <a:r>
              <a:rPr lang="ko-KR" altLang="en-US" dirty="0"/>
              <a:t>위성에 의한 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 : </a:t>
            </a:r>
            <a:r>
              <a:rPr lang="ko-KR" altLang="en-US" dirty="0"/>
              <a:t>본초 자오선에 의한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(Period of Repetition)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𝜏 = 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(Period Ratio) </a:t>
            </a:r>
            <a:r>
              <a:rPr lang="ko-KR" alt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Semi-major axis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</a:t>
            </a:r>
            <a:r>
              <a:rPr lang="ko-KR" altLang="en-US" dirty="0"/>
              <a:t>를 대신하여 사용</a:t>
            </a:r>
            <a:endParaRPr lang="en-US" altLang="ko-KR" dirty="0"/>
          </a:p>
          <a:p>
            <a:pPr lvl="2"/>
            <a:r>
              <a:rPr lang="ko-KR" altLang="ko-KR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𝐽</a:t>
            </a:r>
            <a:r>
              <a:rPr lang="en-US" altLang="ko-KR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섭동만을 반영하면서 </a:t>
            </a:r>
            <a:r>
              <a:rPr lang="ko-KR" altLang="en-US" dirty="0"/>
              <a:t>위성의 수명 동안 동일한 지상 궤도를 수정하고 유지하기 위한 </a:t>
            </a:r>
            <a:r>
              <a:rPr lang="en-US" altLang="ko-KR" dirty="0"/>
              <a:t>maneuver</a:t>
            </a:r>
            <a:r>
              <a:rPr lang="ko-KR" altLang="en-US" dirty="0"/>
              <a:t>를 가정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9522FC-C46B-A4F8-E9B2-CACCB169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05" y="5300311"/>
            <a:ext cx="1201079" cy="5786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643020-098F-2F16-2F11-AED9A31B3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037" y="5300311"/>
            <a:ext cx="1374771" cy="5786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D7CBF-9848-751B-92B8-2A76AF417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194924"/>
            <a:ext cx="2637619" cy="7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5249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Common Ground Track Orbit</a:t>
            </a:r>
          </a:p>
          <a:p>
            <a:pPr lvl="2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논문에서는 위성군의 모든 위성의 지상 궤도가 중첩되어 하나의 공통 지상 궤도를 생성하도록 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패턴을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위의 그림은 임의의 </a:t>
            </a:r>
            <a:r>
              <a:rPr lang="en-US" altLang="ko-KR" dirty="0"/>
              <a:t>9</a:t>
            </a:r>
            <a:r>
              <a:rPr lang="ko-KR" altLang="en-US" dirty="0"/>
              <a:t>개의 위성에 대한 </a:t>
            </a:r>
            <a:r>
              <a:rPr lang="en-US" altLang="ko-KR" dirty="0"/>
              <a:t>CGT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궤도는 다음과 같이 표현 가능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/(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 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−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(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Walker</a:t>
            </a:r>
            <a:r>
              <a:rPr lang="en-US" altLang="ko-KR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notation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altLang="ko-KR" spc="22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𝑃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𝐹)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81A527-3C90-D0C6-D1AF-45D8B0ED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55" y="2319687"/>
            <a:ext cx="4614802" cy="26666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400291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Flower Constellation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궤도를 가진 </a:t>
            </a:r>
            <a:r>
              <a:rPr lang="en-US" altLang="ko-KR" dirty="0"/>
              <a:t>GCT </a:t>
            </a:r>
            <a:r>
              <a:rPr lang="ko-KR" altLang="en-US" dirty="0"/>
              <a:t>위성군은 </a:t>
            </a:r>
            <a:r>
              <a:rPr lang="en-US" altLang="ko-KR" dirty="0"/>
              <a:t>Original Flower Constellation </a:t>
            </a:r>
            <a:r>
              <a:rPr lang="ko-KR" altLang="en-US" dirty="0"/>
              <a:t>이론에 사용되는 가정</a:t>
            </a:r>
            <a:endParaRPr lang="en-US" altLang="ko-KR" dirty="0"/>
          </a:p>
          <a:p>
            <a:pPr lvl="2"/>
            <a:r>
              <a:rPr lang="ko-KR" altLang="en-US" dirty="0"/>
              <a:t>회전하는 </a:t>
            </a:r>
            <a:r>
              <a:rPr lang="en-US" altLang="ko-KR" dirty="0"/>
              <a:t>frame</a:t>
            </a:r>
            <a:r>
              <a:rPr lang="ko-KR" altLang="en-US" dirty="0"/>
              <a:t>에 대해 동일한 궤도를 따르는 </a:t>
            </a:r>
            <a:r>
              <a:rPr lang="en-US" altLang="ko-KR" dirty="0"/>
              <a:t>N</a:t>
            </a:r>
            <a:r>
              <a:rPr lang="ko-KR" altLang="en-US" dirty="0"/>
              <a:t>개의 위성의 집합으로 정의</a:t>
            </a:r>
            <a:endParaRPr lang="en-US" altLang="ko-KR" dirty="0"/>
          </a:p>
          <a:p>
            <a:pPr lvl="2"/>
            <a:r>
              <a:rPr lang="ko-KR" altLang="en-US" dirty="0"/>
              <a:t>다음과 같은 세</a:t>
            </a:r>
            <a:r>
              <a:rPr lang="en-US" altLang="ko-KR" dirty="0"/>
              <a:t> </a:t>
            </a:r>
            <a:r>
              <a:rPr lang="ko-KR" altLang="en-US" dirty="0"/>
              <a:t>가지 조건이 필요</a:t>
            </a:r>
            <a:endParaRPr lang="en-US" altLang="ko-KR" dirty="0"/>
          </a:p>
          <a:p>
            <a:pPr lvl="3"/>
            <a:r>
              <a:rPr lang="ko-KR" altLang="en-US" dirty="0"/>
              <a:t>각 위성의 공전 주기는 회전 </a:t>
            </a:r>
            <a:r>
              <a:rPr lang="en-US" altLang="ko-KR" dirty="0"/>
              <a:t>frame </a:t>
            </a:r>
            <a:r>
              <a:rPr lang="ko-KR" altLang="en-US" dirty="0"/>
              <a:t>주기의 배수</a:t>
            </a:r>
            <a:endParaRPr lang="en-US" altLang="ko-KR" dirty="0"/>
          </a:p>
          <a:p>
            <a:pPr lvl="3"/>
            <a:r>
              <a:rPr lang="ko-KR" altLang="en-US" dirty="0" err="1"/>
              <a:t>장반경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𝑎)</a:t>
            </a:r>
            <a:r>
              <a:rPr lang="en-US" altLang="ko-KR" dirty="0"/>
              <a:t>, </a:t>
            </a:r>
            <a:r>
              <a:rPr lang="ko-KR" altLang="en-US" dirty="0" err="1"/>
              <a:t>이심율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𝑒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altLang="ko-KR" dirty="0"/>
              <a:t>), </a:t>
            </a:r>
            <a:r>
              <a:rPr lang="ko-KR" altLang="en-US" dirty="0"/>
              <a:t>기울기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</a:t>
            </a:r>
            <a:r>
              <a:rPr lang="en-US" altLang="ko-KR" dirty="0"/>
              <a:t>), </a:t>
            </a:r>
            <a:r>
              <a:rPr lang="ko-KR" altLang="en-US" dirty="0"/>
              <a:t>근지점인수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𝜔</a:t>
            </a:r>
            <a:r>
              <a:rPr lang="en-US" altLang="ko-KR" dirty="0"/>
              <a:t>)</a:t>
            </a:r>
            <a:r>
              <a:rPr lang="ko-KR" altLang="en-US" dirty="0"/>
              <a:t>는 모든 궤도에서 동일</a:t>
            </a:r>
            <a:endParaRPr lang="en-US" altLang="ko-KR" dirty="0"/>
          </a:p>
          <a:p>
            <a:pPr lvl="3"/>
            <a:r>
              <a:rPr lang="ko-KR" altLang="en-US" dirty="0"/>
              <a:t>각 위성의 </a:t>
            </a:r>
            <a:r>
              <a:rPr lang="en-US" altLang="ko-KR" dirty="0"/>
              <a:t>ascending node(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mean anomaly(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는 다음을 만족</a:t>
            </a:r>
            <a:endParaRPr lang="en-US" altLang="ko-KR" dirty="0"/>
          </a:p>
          <a:p>
            <a:pPr lvl="4"/>
            <a:r>
              <a:rPr lang="en-US" altLang="ko-KR" sz="1600" i="1" spc="1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spc="4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4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+</a:t>
            </a:r>
            <a:r>
              <a:rPr lang="en-US" altLang="ko-KR" sz="1600" spc="-6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i="1" spc="2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z="1600" spc="-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z="1600" spc="1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</a:t>
            </a:r>
            <a:r>
              <a:rPr lang="en-US" altLang="ko-KR" sz="1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tant</a:t>
            </a:r>
            <a:r>
              <a:rPr lang="en-US" altLang="ko-KR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</a:t>
            </a:r>
            <a:r>
              <a:rPr lang="en-US" altLang="ko-KR" sz="16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spc="35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spc="2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sz="1600" i="1" spc="3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𝜋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ko-KR" altLang="en-US" dirty="0"/>
              <a:t>본 논문에서는 위성의 궤도를 원형 또는 임계 타원형</a:t>
            </a:r>
            <a:r>
              <a:rPr lang="en-US" altLang="ko-KR" dirty="0"/>
              <a:t>(</a:t>
            </a:r>
            <a:r>
              <a:rPr lang="ko-KR" altLang="en-US" dirty="0"/>
              <a:t>𝑖 </a:t>
            </a:r>
            <a:r>
              <a:rPr lang="en-US" altLang="ko-KR" dirty="0"/>
              <a:t>= 63.4° or 116.6°)</a:t>
            </a:r>
            <a:r>
              <a:rPr lang="ko-KR" altLang="en-US" dirty="0"/>
              <a:t>으로 제한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213712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Circular Convolution Formulation</a:t>
            </a:r>
          </a:p>
          <a:p>
            <a:pPr lvl="1"/>
            <a:r>
              <a:rPr lang="en-US" altLang="ko-KR" dirty="0"/>
              <a:t>Circular Convolution :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주로 위성 시스템의 신호 처리와 관련된 문제를 해결하기 위한 수학적인 표현이</a:t>
            </a:r>
            <a:r>
              <a:rPr lang="ko-KR" altLang="en-US" dirty="0">
                <a:solidFill>
                  <a:srgbClr val="374151"/>
                </a:solidFill>
                <a:latin typeface="Söhne"/>
              </a:rPr>
              <a:t>며</a:t>
            </a:r>
            <a:r>
              <a:rPr lang="en-US" altLang="ko-KR" dirty="0">
                <a:solidFill>
                  <a:srgbClr val="374151"/>
                </a:solidFill>
                <a:latin typeface="Söhne"/>
              </a:rPr>
              <a:t>,</a:t>
            </a:r>
            <a:r>
              <a:rPr lang="ko-KR" alt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주기적인 신호를 다른 신호와 합성하는 연산을 말함</a:t>
            </a:r>
            <a:endParaRPr lang="en-US" altLang="ko-KR" dirty="0"/>
          </a:p>
          <a:p>
            <a:pPr lvl="1"/>
            <a:r>
              <a:rPr lang="en-US" altLang="ko-KR" dirty="0"/>
              <a:t>Circular Convolution </a:t>
            </a:r>
            <a:r>
              <a:rPr lang="ko-KR" altLang="en-US" dirty="0"/>
              <a:t>현상의 도출은 시간 이산화</a:t>
            </a:r>
            <a:r>
              <a:rPr lang="en-US" altLang="ko-KR" dirty="0"/>
              <a:t>(</a:t>
            </a:r>
            <a:r>
              <a:rPr lang="en-US" altLang="ko-K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 discretization</a:t>
            </a:r>
            <a:r>
              <a:rPr lang="en-US" altLang="ko-KR" dirty="0"/>
              <a:t>)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반복 기간이 커버리지 요구조건의 반복기간의 정수배인 경우를 고려함</a:t>
            </a:r>
            <a:endParaRPr lang="en-US" altLang="ko-KR" dirty="0"/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-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4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𝐿𝑡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endParaRPr lang="en-US" altLang="ko-KR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simulation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altLang="ko-KR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horizon</a:t>
            </a:r>
            <a:endParaRPr lang="en-US" altLang="ko-KR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the repeat period of the orbit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512620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58DBF1-876C-D29A-6508-5D61373C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5" y="1379294"/>
            <a:ext cx="1859643" cy="2612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B173F9-98F8-5243-06CD-301EC7BC1C4D}"/>
              </a:ext>
            </a:extLst>
          </p:cNvPr>
          <p:cNvSpPr txBox="1"/>
          <p:nvPr/>
        </p:nvSpPr>
        <p:spPr>
          <a:xfrm>
            <a:off x="322448" y="482965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600" i="1" spc="24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(</a:t>
            </a:r>
            <a:r>
              <a:rPr lang="ko-KR" altLang="en-US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∵ 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Rotation of the Earth)</a:t>
            </a:r>
            <a:r>
              <a:rPr lang="en-US" altLang="ko-KR" sz="16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66F51-F896-EBF9-F990-B4188788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233" y="1379294"/>
            <a:ext cx="5108088" cy="3984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B168EB-3FBA-B678-7527-465B8D5C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07" y="4204433"/>
            <a:ext cx="2838450" cy="5429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B5A6DF-A937-EBE7-E1F4-DB93C2EC3648}"/>
              </a:ext>
            </a:extLst>
          </p:cNvPr>
          <p:cNvSpPr txBox="1"/>
          <p:nvPr/>
        </p:nvSpPr>
        <p:spPr>
          <a:xfrm>
            <a:off x="3609040" y="5463322"/>
            <a:ext cx="5330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위성의 고도가 임무 제한조건에 의해 결정되는 최소 </a:t>
            </a:r>
            <a:r>
              <a:rPr lang="ko-KR" altLang="en-US" sz="1400" dirty="0" err="1"/>
              <a:t>고도각</a:t>
            </a:r>
            <a:r>
              <a:rPr lang="en-US" altLang="ko-KR" sz="1400" dirty="0"/>
              <a:t>(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</a:t>
            </a:r>
            <a:r>
              <a:rPr lang="en-US" altLang="ko-KR" sz="1400" dirty="0"/>
              <a:t>)</a:t>
            </a:r>
            <a:r>
              <a:rPr lang="ko-KR" altLang="en-US" sz="1400" dirty="0"/>
              <a:t> 이상일 때 목표 지점에서 가시적이거나 접근</a:t>
            </a:r>
            <a:r>
              <a:rPr lang="en-US" altLang="ko-KR" sz="1400" dirty="0"/>
              <a:t>(Access) 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29538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r>
              <a:rPr lang="ko-KR" altLang="en-US" dirty="0"/>
              <a:t>𝜀</a:t>
            </a:r>
            <a:r>
              <a:rPr lang="en-US" altLang="ko-KR" dirty="0"/>
              <a:t>(</a:t>
            </a:r>
            <a:r>
              <a:rPr lang="ko-KR" altLang="en-US" dirty="0"/>
              <a:t>𝑡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ko-KR" altLang="en-US" dirty="0"/>
              <a:t>마다 샘플링 되어 길이가 </a:t>
            </a:r>
            <a:r>
              <a:rPr lang="en-US" altLang="ko-KR" dirty="0"/>
              <a:t>L</a:t>
            </a:r>
            <a:r>
              <a:rPr lang="ko-KR" altLang="en-US" dirty="0"/>
              <a:t>인 이산 시간 </a:t>
            </a:r>
            <a:r>
              <a:rPr lang="ko-KR" altLang="en-US" dirty="0" err="1"/>
              <a:t>고도각</a:t>
            </a:r>
            <a:r>
              <a:rPr lang="ko-KR" altLang="en-US" dirty="0"/>
              <a:t> 함수 𝜀</a:t>
            </a:r>
            <a:r>
              <a:rPr lang="en-US" altLang="ko-KR" dirty="0"/>
              <a:t>[n]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k = </a:t>
            </a:r>
            <a:r>
              <a:rPr lang="ko-KR" altLang="en-US" dirty="0"/>
              <a:t>위성 수 </a:t>
            </a:r>
            <a:r>
              <a:rPr lang="en-US" altLang="ko-KR" dirty="0"/>
              <a:t>(k</a:t>
            </a:r>
            <a:r>
              <a:rPr lang="ko-KR" altLang="en-US" dirty="0"/>
              <a:t>번째 위성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US" altLang="ko-KR" dirty="0"/>
          </a:p>
          <a:p>
            <a:pPr lvl="2"/>
            <a:r>
              <a:rPr lang="en-US" altLang="ko-KR" dirty="0"/>
              <a:t>j = </a:t>
            </a:r>
            <a:r>
              <a:rPr lang="ko-KR" altLang="en-US" dirty="0"/>
              <a:t>목표 지점의 수 </a:t>
            </a:r>
            <a:r>
              <a:rPr lang="en-US" altLang="ko-KR" dirty="0"/>
              <a:t>(j</a:t>
            </a:r>
            <a:r>
              <a:rPr lang="ko-KR" altLang="en-US" dirty="0"/>
              <a:t>번째 목표 지점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 = </a:t>
            </a:r>
            <a:r>
              <a:rPr lang="ko-KR" altLang="en-US" dirty="0"/>
              <a:t>이산 시간 </a:t>
            </a:r>
            <a:r>
              <a:rPr lang="en-US" altLang="ko-KR" dirty="0"/>
              <a:t>(</a:t>
            </a:r>
            <a:r>
              <a:rPr lang="ko-KR" altLang="en-US" dirty="0"/>
              <a:t>각각의 이산 시간 </a:t>
            </a:r>
            <a:r>
              <a:rPr lang="en-US" altLang="ko-KR" dirty="0"/>
              <a:t>:</a:t>
            </a:r>
            <a:r>
              <a:rPr lang="ko-KR" altLang="en-US" dirty="0"/>
              <a:t> 𝑛 ∈ </a:t>
            </a:r>
            <a:r>
              <a:rPr lang="en-US" altLang="ko-KR" dirty="0"/>
              <a:t>{0, …, </a:t>
            </a:r>
            <a:r>
              <a:rPr lang="ko-KR" altLang="en-US" dirty="0"/>
              <a:t>𝐿 − </a:t>
            </a:r>
            <a:r>
              <a:rPr lang="en-US" altLang="ko-KR" dirty="0"/>
              <a:t>1})</a:t>
            </a:r>
          </a:p>
          <a:p>
            <a:pPr lvl="1"/>
            <a:r>
              <a:rPr lang="ko-KR" altLang="en-US" dirty="0"/>
              <a:t>주어진 위성 대상에 대해 적어도 하나의 </a:t>
            </a:r>
            <a:r>
              <a:rPr lang="en-US" altLang="ko-KR" dirty="0"/>
              <a:t>access interval</a:t>
            </a:r>
            <a:r>
              <a:rPr lang="ko-KR" altLang="en-US" dirty="0"/>
              <a:t>이 있어야 함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프로필은 </a:t>
            </a:r>
            <a:r>
              <a:rPr lang="en-US" altLang="ko-KR" dirty="0"/>
              <a:t>0</a:t>
            </a:r>
            <a:r>
              <a:rPr lang="ko-KR" altLang="en-US" dirty="0"/>
              <a:t>이 아닌 벡터여야 함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 </a:t>
            </a:r>
            <a:r>
              <a:rPr lang="en-US" altLang="ko-KR" dirty="0"/>
              <a:t>: </a:t>
            </a:r>
            <a:r>
              <a:rPr lang="ko-KR" altLang="en-US" dirty="0"/>
              <a:t>위성군에 대해 </a:t>
            </a:r>
            <a:r>
              <a:rPr lang="en-US" altLang="ko-KR" dirty="0"/>
              <a:t>reference</a:t>
            </a:r>
            <a:r>
              <a:rPr lang="ko-KR" altLang="en-US" dirty="0"/>
              <a:t> 궤도 정보를 전달하는 가상의 위성</a:t>
            </a:r>
            <a:endParaRPr lang="en-US" altLang="ko-KR" dirty="0"/>
          </a:p>
          <a:p>
            <a:pPr lvl="2"/>
            <a:r>
              <a:rPr lang="ko-KR" altLang="en-US" dirty="0" err="1"/>
              <a:t>시드</a:t>
            </a:r>
            <a:r>
              <a:rPr lang="ko-KR" altLang="en-US" dirty="0"/>
              <a:t> 위성 궤도 요소 벡터 </a:t>
            </a:r>
            <a:r>
              <a:rPr lang="en-US" altLang="ko-KR" dirty="0"/>
              <a:t>: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œ0 = [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𝜏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𝑒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𝑖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ω,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𝑇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𝑀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0]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2"/>
            <a:r>
              <a:rPr lang="ko-KR" altLang="en-US" dirty="0"/>
              <a:t>가상의 위성이기 때문에 실제 위치는 고려되지 않음</a:t>
            </a:r>
            <a:endParaRPr lang="en-US" altLang="ko-KR" dirty="0"/>
          </a:p>
          <a:p>
            <a:pPr lvl="3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4EE408-0769-9B24-1F35-5FD57BF3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" y="1815539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990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Timeline</a:t>
            </a:r>
          </a:p>
          <a:p>
            <a:pPr lvl="1"/>
            <a:r>
              <a:rPr lang="ko-KR" altLang="en-US" dirty="0"/>
              <a:t>위성군에는 여러 위성이 있기 때문에 목표 지점에 대한 커버리지 타임라인을 만들기 위해 액세스 프로필이 서로 맞물려야 함</a:t>
            </a:r>
            <a:endParaRPr lang="en-US" altLang="ko-KR" dirty="0"/>
          </a:p>
          <a:p>
            <a:pPr lvl="1"/>
            <a:r>
              <a:rPr lang="ko-KR" altLang="en-US" dirty="0"/>
              <a:t>따라서 커버리지 타임라인 </a:t>
            </a:r>
            <a:r>
              <a:rPr lang="en-US" altLang="ko-KR" dirty="0"/>
              <a:t>b</a:t>
            </a:r>
            <a:r>
              <a:rPr lang="ko-KR" altLang="en-US" dirty="0"/>
              <a:t>는 여러 위성들과 </a:t>
            </a:r>
            <a:r>
              <a:rPr lang="en-US" altLang="ko-KR" dirty="0"/>
              <a:t>j</a:t>
            </a:r>
            <a:r>
              <a:rPr lang="ko-KR" altLang="en-US" dirty="0"/>
              <a:t>번째 목표 지점 사이의 접근 프로필임</a:t>
            </a:r>
            <a:endParaRPr lang="en-US" altLang="ko-KR" dirty="0"/>
          </a:p>
          <a:p>
            <a:pPr lvl="1"/>
            <a:r>
              <a:rPr lang="ko-KR" altLang="en-US" dirty="0"/>
              <a:t>이산 시간 순간 </a:t>
            </a:r>
            <a:r>
              <a:rPr lang="en-US" altLang="ko-KR" dirty="0"/>
              <a:t>n</a:t>
            </a:r>
            <a:r>
              <a:rPr lang="ko-KR" altLang="en-US" dirty="0"/>
              <a:t>에서 보이는 위성 수에 대한 정보를 저장함 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위성은 가상이기 때문에 액세스 프로필은 커버리지 타임라인에서 고려되지 않음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24DC4-AF50-25B1-1213-60BEEC55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3597442"/>
            <a:ext cx="2562864" cy="2553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699D7-A416-5F1A-AB80-7B9689CDA394}"/>
              </a:ext>
            </a:extLst>
          </p:cNvPr>
          <p:cNvSpPr txBox="1"/>
          <p:nvPr/>
        </p:nvSpPr>
        <p:spPr>
          <a:xfrm>
            <a:off x="3446921" y="359310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Seed Satellite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3F4E52-6813-921D-D176-2B78D3D51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974" y="4421545"/>
            <a:ext cx="2009101" cy="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1938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Requirement</a:t>
            </a:r>
          </a:p>
          <a:p>
            <a:pPr lvl="1"/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관심 지역이 여러 개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4CB1BA-999B-FFC2-F172-865DC796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1" y="1715432"/>
            <a:ext cx="4603844" cy="12375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B63E46-752F-C20D-FF9A-5770E642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8" y="3521344"/>
            <a:ext cx="3093980" cy="123759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C76706A-DE80-A532-2120-D951560FB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821" y="3739770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5925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3. Constellation Pattern Vector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번째 위성은 </a:t>
            </a:r>
            <a:r>
              <a:rPr lang="ko-KR" altLang="en-US" dirty="0" err="1"/>
              <a:t>시드</a:t>
            </a:r>
            <a:r>
              <a:rPr lang="ko-KR" altLang="en-US" dirty="0"/>
              <a:t> 위성과 비교하여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Δ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𝑛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/>
              <a:t>만큼 시간 지연이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672F9F-8A0B-B1D2-66BA-3A5084CA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1" y="1446797"/>
            <a:ext cx="6657975" cy="240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8391B8-28B3-606D-1972-15455B28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70" y="4423663"/>
            <a:ext cx="2426317" cy="1329489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4F3E765-7FBA-365C-B83D-86E78A4C3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5590" y="4691353"/>
          <a:ext cx="137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5" imgW="1371600" imgH="876240" progId="Paint.Picture">
                  <p:embed/>
                </p:oleObj>
              </mc:Choice>
              <mc:Fallback>
                <p:oleObj name="비트맵 이미지" r:id="rId5" imgW="1371600" imgH="876240" progId="Paint.Pictur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4F3E765-7FBA-365C-B83D-86E78A4C3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5590" y="4691353"/>
                        <a:ext cx="1371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2B0C31B-701F-FC19-93E2-F78076577BD3}"/>
              </a:ext>
            </a:extLst>
          </p:cNvPr>
          <p:cNvSpPr/>
          <p:nvPr/>
        </p:nvSpPr>
        <p:spPr bwMode="auto">
          <a:xfrm>
            <a:off x="3524036" y="4901715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5484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4. Circular Convolution Phenomenon</a:t>
            </a:r>
          </a:p>
          <a:p>
            <a:pPr lvl="1"/>
            <a:r>
              <a:rPr lang="ko-KR" altLang="en-US" dirty="0"/>
              <a:t>앞에서 정의한 함수들을 종합하여 다음 식과 같이 정리할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열의 인덱스 𝛼</a:t>
            </a:r>
            <a:r>
              <a:rPr lang="en-US" altLang="ko-KR" dirty="0"/>
              <a:t>, β (</a:t>
            </a:r>
            <a:r>
              <a:rPr lang="ko-KR" altLang="en-US" dirty="0"/>
              <a:t>∈ </a:t>
            </a:r>
            <a:r>
              <a:rPr lang="en-US" altLang="ko-KR" dirty="0"/>
              <a:t>{0, 1, · · · , </a:t>
            </a:r>
            <a:r>
              <a:rPr lang="ko-KR" altLang="en-US" dirty="0"/>
              <a:t>𝐿 − </a:t>
            </a:r>
            <a:r>
              <a:rPr lang="en-US" altLang="ko-KR" dirty="0"/>
              <a:t>1}) </a:t>
            </a:r>
            <a:r>
              <a:rPr lang="ko-KR" altLang="en-US" dirty="0"/>
              <a:t>에 따라 정리된 최종 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BBA6A-27B1-630D-ED1C-B4334C00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6" y="1829220"/>
            <a:ext cx="5466885" cy="1595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60F13E-8AAC-4AB6-8B9B-CDC34E15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66" y="2288801"/>
            <a:ext cx="1943100" cy="676275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38245E6-4BF6-66E0-D3C3-266C1CB6B11C}"/>
              </a:ext>
            </a:extLst>
          </p:cNvPr>
          <p:cNvSpPr/>
          <p:nvPr/>
        </p:nvSpPr>
        <p:spPr bwMode="auto">
          <a:xfrm>
            <a:off x="6408060" y="2452277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5942EB-3122-E5BD-7C04-8EC024255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265032"/>
            <a:ext cx="3892199" cy="51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797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4. Circular Convolution Phenomenon</a:t>
                </a:r>
              </a:p>
              <a:p>
                <a:pPr lvl="1"/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œ = [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𝜏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 =𝑁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altLang="ko-KR" dirty="0">
                    <a:effectLst/>
                    <a:latin typeface="Lucida Sans Unicode" panose="020B060203050402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𝑒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𝑖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ω,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𝑇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𝑀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2"/>
                <a:r>
                  <a:rPr lang="fr-FR" altLang="ko-KR" dirty="0"/>
                  <a:t>œ1 = [4/1, 0, 50°, 0°, 350.2°,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</a:p>
              <a:p>
                <a:pPr lvl="2"/>
                <a:r>
                  <a:rPr lang="fr-FR" altLang="ko-KR" dirty="0"/>
                  <a:t>œ2 = [4/1, 0, 50°, 0°, 170.2°,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CB9ADDC-4DFB-32AE-BAD4-E9DC9627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39" y="2958956"/>
            <a:ext cx="3140616" cy="31243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8CD91-909F-E558-698B-8D9FD9033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004" y="3040947"/>
            <a:ext cx="3827214" cy="3042352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1BB2516-A5D9-4013-351D-6AD6163C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95425"/>
              </p:ext>
            </p:extLst>
          </p:nvPr>
        </p:nvGraphicFramePr>
        <p:xfrm>
          <a:off x="4171004" y="1718917"/>
          <a:ext cx="471591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817321279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3004374232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36.7°N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0, 360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8116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r>
              <a:rPr lang="ko-KR" altLang="en-US" dirty="0"/>
              <a:t>공통의 닫힌 궤적을 따라 균일한 시간 간격으로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</a:t>
            </a:r>
            <a:endParaRPr lang="en-US" altLang="ko-KR" dirty="0"/>
          </a:p>
          <a:p>
            <a:pPr lvl="1"/>
            <a:r>
              <a:rPr lang="ko-KR" altLang="en-US" dirty="0"/>
              <a:t>위성간 균일 시간간격 상수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정수일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정수가 아닐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B2D6B7-B056-89EC-2F7B-1DE13BE5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95" y="2196280"/>
            <a:ext cx="923109" cy="711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82BA1-8085-704D-6E0F-3C0054466982}"/>
              </a:ext>
            </a:extLst>
          </p:cNvPr>
          <p:cNvSpPr txBox="1"/>
          <p:nvPr/>
        </p:nvSpPr>
        <p:spPr>
          <a:xfrm>
            <a:off x="1735015" y="2364392"/>
            <a:ext cx="7151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(L : </a:t>
            </a:r>
            <a:r>
              <a:rPr lang="ko-KR" altLang="en-US" dirty="0" err="1"/>
              <a:t>위성군</a:t>
            </a:r>
            <a:r>
              <a:rPr lang="en-US" altLang="ko-KR" dirty="0"/>
              <a:t> </a:t>
            </a:r>
            <a:r>
              <a:rPr lang="ko-KR" altLang="en-US" dirty="0"/>
              <a:t>패턴 벡터의 길이</a:t>
            </a:r>
            <a:r>
              <a:rPr lang="en-US" altLang="ko-KR" dirty="0"/>
              <a:t>, N : </a:t>
            </a:r>
            <a:r>
              <a:rPr lang="ko-KR" altLang="en-US" dirty="0"/>
              <a:t>시간지연이 발생한 위성의 수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88415A-30F9-5594-CF9F-965C4D7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927" y="3305974"/>
            <a:ext cx="4066667" cy="10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A62C1E0-FEA8-01AE-206A-7758CF5BE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885" y="4691946"/>
            <a:ext cx="4476190" cy="1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65E93-C8A4-7D8C-DF86-20A0DDF9B4F8}"/>
              </a:ext>
            </a:extLst>
          </p:cNvPr>
          <p:cNvSpPr txBox="1"/>
          <p:nvPr/>
        </p:nvSpPr>
        <p:spPr>
          <a:xfrm>
            <a:off x="3034002" y="59510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</a:t>
            </a:r>
            <a:r>
              <a:rPr lang="en-US" altLang="ko-KR" sz="1400" dirty="0" err="1"/>
              <a:t>nint</a:t>
            </a:r>
            <a:r>
              <a:rPr lang="en-US" altLang="ko-KR" sz="1400" dirty="0"/>
              <a:t> is the nearest integer function)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918525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2F082E-E08B-A0F8-A905-9BD0D384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6" y="1726457"/>
            <a:ext cx="5229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2124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Quasi method</a:t>
            </a:r>
            <a:r>
              <a:rPr lang="ko-KR" altLang="en-US" dirty="0"/>
              <a:t>와 다르게 대칭을 가정하지 않으며 더 엄격하고 일반적인 방식으로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을 최적화 하기 위한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9A4254-C37B-D82C-195C-C4E7620C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32901"/>
            <a:ext cx="1371429" cy="5523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5839B18-F4A2-6784-616A-F5B161D5A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2855199"/>
            <a:ext cx="6571429" cy="1580952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1C85674-D4E8-8B95-02B1-17CF0903946C}"/>
              </a:ext>
            </a:extLst>
          </p:cNvPr>
          <p:cNvSpPr/>
          <p:nvPr/>
        </p:nvSpPr>
        <p:spPr bwMode="auto">
          <a:xfrm>
            <a:off x="4345969" y="4623371"/>
            <a:ext cx="513708" cy="6061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1680B24-DEF5-B500-2AC2-75899CFD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814" y="5567842"/>
            <a:ext cx="3180952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1162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f</a:t>
            </a:r>
            <a:r>
              <a:rPr lang="ko-KR" altLang="en-US" dirty="0"/>
              <a:t>를 만족시키는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를 찾을 수 있음 </a:t>
            </a:r>
            <a:endParaRPr lang="en-US" altLang="ko-KR" dirty="0"/>
          </a:p>
          <a:p>
            <a:pPr lvl="1"/>
            <a:r>
              <a:rPr lang="ko-KR" altLang="en-US" dirty="0"/>
              <a:t>하지만 이 과정에서 얻은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는 반드시 </a:t>
            </a:r>
            <a:r>
              <a:rPr lang="en-US" altLang="ko-KR" dirty="0"/>
              <a:t>binary vector</a:t>
            </a:r>
            <a:r>
              <a:rPr lang="ko-KR" altLang="en-US" dirty="0"/>
              <a:t>는 아님</a:t>
            </a:r>
            <a:endParaRPr lang="en-US" altLang="ko-KR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특성을 위반</a:t>
            </a:r>
            <a:endParaRPr lang="en-US" altLang="ko-KR" dirty="0"/>
          </a:p>
          <a:p>
            <a:pPr lvl="1"/>
            <a:r>
              <a:rPr lang="ko-KR" altLang="en-US" dirty="0"/>
              <a:t>따라서 네 단계를 통해 이진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F3FF73-57B8-8906-0E6D-BABD599D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726" y="2967039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2445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ko-KR" altLang="en-US" dirty="0"/>
              <a:t>이진 정수 선형 프로그래밍</a:t>
            </a:r>
            <a:r>
              <a:rPr lang="en-US" altLang="ko-KR" dirty="0"/>
              <a:t>(BILP) </a:t>
            </a:r>
            <a:r>
              <a:rPr lang="ko-KR" altLang="en-US" dirty="0"/>
              <a:t>과정</a:t>
            </a:r>
            <a:endParaRPr lang="en-US" altLang="ko-KR" dirty="0"/>
          </a:p>
          <a:p>
            <a:pPr lvl="2"/>
            <a:r>
              <a:rPr lang="en-US" altLang="ko-KR" dirty="0"/>
              <a:t>1. Multiple Target Points : target point</a:t>
            </a:r>
            <a:r>
              <a:rPr lang="ko-KR" altLang="en-US" dirty="0"/>
              <a:t>를 </a:t>
            </a:r>
            <a:r>
              <a:rPr lang="en-US" altLang="ko-KR" dirty="0"/>
              <a:t>0~J</a:t>
            </a:r>
            <a:r>
              <a:rPr lang="ko-KR" altLang="en-US" dirty="0"/>
              <a:t>번째 까지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2.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: </a:t>
            </a:r>
            <a:r>
              <a:rPr lang="ko-KR" altLang="en-US" dirty="0"/>
              <a:t>서로 다른 </a:t>
            </a:r>
            <a:r>
              <a:rPr lang="ko-KR" altLang="en-US" dirty="0" err="1"/>
              <a:t>시드</a:t>
            </a:r>
            <a:r>
              <a:rPr lang="ko-KR" altLang="en-US" dirty="0"/>
              <a:t> 위성의</a:t>
            </a:r>
            <a:r>
              <a:rPr lang="en-US" altLang="ko-KR" dirty="0"/>
              <a:t> access profile</a:t>
            </a:r>
            <a:r>
              <a:rPr lang="ko-KR" altLang="en-US" dirty="0"/>
              <a:t>로 하위 위성군을 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926313-ABC0-A8F6-D439-BBB835BE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101" y="2082783"/>
            <a:ext cx="1840190" cy="12165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3C0A4B-02C1-FE69-B582-BAD35DC3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01" y="3858641"/>
            <a:ext cx="3021361" cy="13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6921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93133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2"/>
            <a:r>
              <a:rPr lang="en-US" altLang="ko-KR" dirty="0"/>
              <a:t>3. System of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for Multiple Target Points : 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혼합하여 일반화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4. BILP Problem Formulation : </a:t>
            </a:r>
            <a:r>
              <a:rPr lang="ko-KR" altLang="en-US" dirty="0"/>
              <a:t>원하는 횟수 이상으로 커버하는 최소 위성 수 도출 </a:t>
            </a:r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FEDBCD-4B98-5F21-05B7-86B828CA0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98" y="1774305"/>
            <a:ext cx="3838095" cy="14571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96013B-4829-3EF4-D9BB-59E0F5728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859" y="2131447"/>
            <a:ext cx="2457143" cy="7428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DBCBC86-B6FE-8467-2825-BEE458E5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98" y="4417403"/>
            <a:ext cx="3323809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2301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8A08-5053-D739-462D-EE53EB17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2717"/>
            <a:ext cx="9144000" cy="329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831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1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/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32716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1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A95EE2-3067-E498-31FF-51D337A81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9" y="4715835"/>
            <a:ext cx="7852111" cy="13432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407062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2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b="0" dirty="0"/>
              <a:t> Coverage over a </a:t>
            </a:r>
            <a:r>
              <a:rPr lang="en-US" altLang="ko-KR" b="1" u="sng" dirty="0"/>
              <a:t>Single Target </a:t>
            </a:r>
            <a:r>
              <a:rPr lang="en-US" altLang="ko-KR" b="0" dirty="0"/>
              <a:t>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290790"/>
              </p:ext>
            </p:extLst>
          </p:nvPr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Time varying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71911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2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b="0" dirty="0"/>
              <a:t> Coverage over a </a:t>
            </a:r>
            <a:r>
              <a:rPr lang="en-US" altLang="ko-KR" b="1" u="sng" dirty="0"/>
              <a:t>Single Target </a:t>
            </a:r>
            <a:r>
              <a:rPr lang="en-US" altLang="ko-KR" b="0" dirty="0"/>
              <a:t>Point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79099F-9A8F-73EA-7094-6EAEF61B7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78" y="1968478"/>
            <a:ext cx="3110478" cy="25361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03FE94-72C8-822A-3D86-2D62F2A3E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266" y="2017979"/>
            <a:ext cx="5497647" cy="23601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95E563-EE3D-53CB-931C-9F6E8EAFA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289" y="4822322"/>
            <a:ext cx="4342857" cy="12857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1C826B7-7738-3640-436D-797E45676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892" y="1330205"/>
            <a:ext cx="2338932" cy="5656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49F1B5B-2F71-E05E-5EBC-D2E771C1BF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89" y="4727084"/>
            <a:ext cx="7828571" cy="1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0831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3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</a:t>
            </a:r>
            <a:r>
              <a:rPr lang="en-US" altLang="ko-KR" b="1" u="sng" dirty="0"/>
              <a:t>Multiple Target </a:t>
            </a:r>
            <a:r>
              <a:rPr lang="en-US" altLang="ko-KR" b="0" dirty="0"/>
              <a:t>Points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26157"/>
              </p:ext>
            </p:extLst>
          </p:nvPr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[5/1, 0.41, 63.435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Antarctica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718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DDA5E6E2-9C14-47F4-1EF9-86339A34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51" y="2807744"/>
            <a:ext cx="3667225" cy="34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9002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3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</a:t>
            </a:r>
            <a:r>
              <a:rPr lang="en-US" altLang="ko-KR" b="1" u="sng" dirty="0"/>
              <a:t>Multiple Target </a:t>
            </a:r>
            <a:r>
              <a:rPr lang="en-US" altLang="ko-KR" b="0" dirty="0"/>
              <a:t>Points</a:t>
            </a:r>
            <a:endParaRPr lang="en-US" altLang="ko-KR" dirty="0"/>
          </a:p>
          <a:p>
            <a:pPr lvl="1"/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FDF107-0A38-737F-6CAC-5E91C81F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90" y="1839000"/>
            <a:ext cx="5777126" cy="2839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A4E986-2DB4-92B2-21AC-D0DB29092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90" y="4796633"/>
            <a:ext cx="4580952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29363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21852"/>
              </p:ext>
            </p:extLst>
          </p:nvPr>
        </p:nvGraphicFramePr>
        <p:xfrm>
          <a:off x="657772" y="1828640"/>
          <a:ext cx="758409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[83/6, 0, 99.2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J1 = Amazon River basin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J2 = Nile River basin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Time varying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Spatially varying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4200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123.4s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99791C5-1B72-01F9-7959-F0B1836BD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76" y="2838987"/>
            <a:ext cx="6019048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64818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Required satellites &amp; Computational cost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0260"/>
              </p:ext>
            </p:extLst>
          </p:nvPr>
        </p:nvGraphicFramePr>
        <p:xfrm>
          <a:off x="555030" y="2570690"/>
          <a:ext cx="4614227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117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463993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Quasi-symmetric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BILP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96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29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Computational cost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 486.7 s 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7.7 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0006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1FFC7CE9-2B32-9933-D9DC-DCEC649F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0" y="3935364"/>
            <a:ext cx="5790476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63007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9BBDF-68C2-123B-78C8-71DEF636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72" y="1817077"/>
            <a:ext cx="5896855" cy="440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051FFC-9FB6-E620-DD5E-28D2021D67DD}"/>
              </a:ext>
            </a:extLst>
          </p:cNvPr>
          <p:cNvSpPr txBox="1"/>
          <p:nvPr/>
        </p:nvSpPr>
        <p:spPr>
          <a:xfrm>
            <a:off x="99574" y="1830113"/>
            <a:ext cx="1623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Amazon River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5694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9BBDF-68C2-123B-78C8-71DEF636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72" y="1817077"/>
            <a:ext cx="5896855" cy="440178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91E337-6DDA-D13A-99DA-9B3976292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436" y="1852246"/>
            <a:ext cx="6069079" cy="4366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C2D994-1F69-7204-5E45-D582BFFD79F6}"/>
              </a:ext>
            </a:extLst>
          </p:cNvPr>
          <p:cNvSpPr txBox="1"/>
          <p:nvPr/>
        </p:nvSpPr>
        <p:spPr>
          <a:xfrm>
            <a:off x="99575" y="1830113"/>
            <a:ext cx="1213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Nile River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846931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dirty="0"/>
              <a:t>A System of </a:t>
            </a:r>
            <a:r>
              <a:rPr lang="en-US" altLang="ko-KR" b="1" u="sng" dirty="0"/>
              <a:t>Multiple </a:t>
            </a:r>
            <a:r>
              <a:rPr lang="en-US" altLang="ko-KR" b="1" u="sng" dirty="0" err="1"/>
              <a:t>Subconstellations</a:t>
            </a:r>
            <a:r>
              <a:rPr lang="en-US" altLang="ko-KR" b="1" u="sng" dirty="0"/>
              <a:t> </a:t>
            </a:r>
            <a:r>
              <a:rPr lang="en-US" altLang="ko-KR" dirty="0"/>
              <a:t>over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41125"/>
              </p:ext>
            </p:extLst>
          </p:nvPr>
        </p:nvGraphicFramePr>
        <p:xfrm>
          <a:off x="657772" y="1828640"/>
          <a:ext cx="812638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1039304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œ0^(1) = [8/1, 0, 70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œ0^(2) = [6/1, 0, 47.915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l-GR" altLang="ko-KR" sz="1200" dirty="0"/>
                        <a:t>ε1</a:t>
                      </a:r>
                      <a:r>
                        <a:rPr lang="en-US" altLang="ko-KR" sz="1200" dirty="0"/>
                        <a:t> = 15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1200" dirty="0"/>
                        <a:t>ε</a:t>
                      </a:r>
                      <a:r>
                        <a:rPr lang="en-US" altLang="ko-KR" sz="1200" dirty="0"/>
                        <a:t>2 = 10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64.14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19.07°N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21.94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72.87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26BF50C-4C5C-C88D-3CF1-AA3D08F1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22" y="2904682"/>
            <a:ext cx="6911325" cy="308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11182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E8E532-89EE-F35B-4A83-71D8A1D49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01" y="1881924"/>
            <a:ext cx="7198797" cy="3094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688796-4357-ECFE-1BE5-210E59B9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01" y="5086606"/>
            <a:ext cx="4238095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85541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Coverage and required, satellites &amp; Computational cost</a:t>
            </a:r>
          </a:p>
          <a:p>
            <a:pPr lvl="1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0401B85-B621-2022-DA14-73BB109A0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91134"/>
              </p:ext>
            </p:extLst>
          </p:nvPr>
        </p:nvGraphicFramePr>
        <p:xfrm>
          <a:off x="555030" y="2570690"/>
          <a:ext cx="4675506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559">
                  <a:extLst>
                    <a:ext uri="{9D8B030D-6E8A-4147-A177-3AD203B41FA5}">
                      <a16:colId xmlns:a16="http://schemas.microsoft.com/office/drawing/2014/main" val="1905580505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580833">
                  <a:extLst>
                    <a:ext uri="{9D8B030D-6E8A-4147-A177-3AD203B41FA5}">
                      <a16:colId xmlns:a16="http://schemas.microsoft.com/office/drawing/2014/main" val="327496118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1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Coverage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j = 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65.0%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53.7%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089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j = 2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87.0%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37.1%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972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82215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Computational cost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5298.7s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8748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F42498-DF99-929B-DF8D-6CBC0FEB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96652"/>
              </p:ext>
            </p:extLst>
          </p:nvPr>
        </p:nvGraphicFramePr>
        <p:xfrm>
          <a:off x="555030" y="4539627"/>
          <a:ext cx="4675506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580833">
                  <a:extLst>
                    <a:ext uri="{9D8B030D-6E8A-4147-A177-3AD203B41FA5}">
                      <a16:colId xmlns:a16="http://schemas.microsoft.com/office/drawing/2014/main" val="3274961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1 (only)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2 (only)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82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02475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커버리지에</a:t>
            </a:r>
            <a:r>
              <a:rPr lang="ko-KR" altLang="en-US" dirty="0"/>
              <a:t> 대한 새로운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방법으로 두 가지를 소개</a:t>
            </a:r>
            <a:endParaRPr lang="en-US" altLang="ko-KR" dirty="0"/>
          </a:p>
          <a:p>
            <a:pPr lvl="3"/>
            <a:r>
              <a:rPr lang="en-US" altLang="ko-KR" dirty="0"/>
              <a:t>Baseline: Quasi-Symmetric Method</a:t>
            </a:r>
          </a:p>
          <a:p>
            <a:pPr lvl="3"/>
            <a:r>
              <a:rPr lang="en-US" altLang="ko-KR" dirty="0"/>
              <a:t>New Method: Binary Integer Linear Programming (BILP)</a:t>
            </a:r>
          </a:p>
          <a:p>
            <a:pPr lvl="2"/>
            <a:r>
              <a:rPr lang="ko-KR" altLang="en-US" dirty="0"/>
              <a:t>위의 두 방법의</a:t>
            </a:r>
            <a:r>
              <a:rPr lang="en-US" altLang="ko-KR" dirty="0"/>
              <a:t> </a:t>
            </a:r>
            <a:r>
              <a:rPr lang="ko-KR" altLang="en-US" dirty="0"/>
              <a:t>장단점을 비교하여 효율적으로 </a:t>
            </a:r>
            <a:r>
              <a:rPr lang="ko-KR" altLang="en-US" dirty="0" err="1"/>
              <a:t>위성군</a:t>
            </a:r>
            <a:r>
              <a:rPr lang="ko-KR" altLang="en-US" dirty="0"/>
              <a:t> 운용하는 방법을 연구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204858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84576</TotalTime>
  <Words>4883</Words>
  <Application>Microsoft Office PowerPoint</Application>
  <PresentationFormat>화면 슬라이드 쇼(4:3)</PresentationFormat>
  <Paragraphs>997</Paragraphs>
  <Slides>67</Slides>
  <Notes>64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81" baseType="lpstr">
      <vt:lpstr>noto</vt:lpstr>
      <vt:lpstr>Söhne</vt:lpstr>
      <vt:lpstr>맑은 고딕</vt:lpstr>
      <vt:lpstr>Arial</vt:lpstr>
      <vt:lpstr>Calibri</vt:lpstr>
      <vt:lpstr>Cambria Math</vt:lpstr>
      <vt:lpstr>Lucida Sans Unicode</vt:lpstr>
      <vt:lpstr>Microsoft Sans Serif</vt:lpstr>
      <vt:lpstr>Sitka Heading</vt:lpstr>
      <vt:lpstr>times</vt:lpstr>
      <vt:lpstr>Times New Roman</vt:lpstr>
      <vt:lpstr>Wingdings</vt:lpstr>
      <vt:lpstr>Office 테마</vt:lpstr>
      <vt:lpstr>비트맵 이미지</vt:lpstr>
      <vt:lpstr>이종위성군 성능 분석 및 설계/최적화</vt:lpstr>
      <vt:lpstr>목차</vt:lpstr>
      <vt:lpstr>IP(Integer Programming)</vt:lpstr>
      <vt:lpstr>Integer Programming</vt:lpstr>
      <vt:lpstr>Integer Programming</vt:lpstr>
      <vt:lpstr>Integer Programming</vt:lpstr>
      <vt:lpstr>Integer Programming</vt:lpstr>
      <vt:lpstr>Integer Programming</vt:lpstr>
      <vt:lpstr>Integer Programming</vt:lpstr>
      <vt:lpstr>Integer Programming</vt:lpstr>
      <vt:lpstr>Integer Programming</vt:lpstr>
      <vt:lpstr>Integer Programming</vt:lpstr>
      <vt:lpstr>Matlab code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결론</vt:lpstr>
      <vt:lpstr>결론</vt:lpstr>
      <vt:lpstr>경청해 주셔서 감사합니다.</vt:lpstr>
      <vt:lpstr>서론</vt:lpstr>
      <vt:lpstr>서론</vt:lpstr>
      <vt:lpstr>서론</vt:lpstr>
      <vt:lpstr>관련 연구</vt:lpstr>
      <vt:lpstr>관련 연구 </vt:lpstr>
      <vt:lpstr>관련 연구</vt:lpstr>
      <vt:lpstr>위성군 모델</vt:lpstr>
      <vt:lpstr>위성군 모델</vt:lpstr>
      <vt:lpstr>위성군 모델</vt:lpstr>
      <vt:lpstr>Circular Convolution Formulation</vt:lpstr>
      <vt:lpstr>APC decomposition</vt:lpstr>
      <vt:lpstr>APC decomposition</vt:lpstr>
      <vt:lpstr>APC decomposition</vt:lpstr>
      <vt:lpstr>APC decomposition</vt:lpstr>
      <vt:lpstr>APC decomposition</vt:lpstr>
      <vt:lpstr>Circular Convolution Formulation</vt:lpstr>
      <vt:lpstr>Circular Convolution Formulation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결론</vt:lpstr>
      <vt:lpstr>결론 및 보완이 필요한 부분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4537</cp:revision>
  <dcterms:created xsi:type="dcterms:W3CDTF">2018-01-29T02:45:56Z</dcterms:created>
  <dcterms:modified xsi:type="dcterms:W3CDTF">2023-07-14T06:46:09Z</dcterms:modified>
</cp:coreProperties>
</file>