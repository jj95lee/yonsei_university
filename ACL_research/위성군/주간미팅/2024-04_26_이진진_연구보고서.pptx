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50" r:id="rId2"/>
    <p:sldId id="2239" r:id="rId3"/>
    <p:sldId id="2554" r:id="rId4"/>
    <p:sldId id="2565" r:id="rId5"/>
    <p:sldId id="2706" r:id="rId6"/>
    <p:sldId id="2647" r:id="rId7"/>
    <p:sldId id="2726" r:id="rId8"/>
    <p:sldId id="2727" r:id="rId9"/>
    <p:sldId id="2730" r:id="rId10"/>
    <p:sldId id="2729" r:id="rId11"/>
    <p:sldId id="2728" r:id="rId12"/>
    <p:sldId id="2609" r:id="rId13"/>
    <p:sldId id="2724" r:id="rId14"/>
    <p:sldId id="2510" r:id="rId15"/>
    <p:sldId id="2718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E46"/>
    <a:srgbClr val="FFFFFF"/>
    <a:srgbClr val="404040"/>
    <a:srgbClr val="FF000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1" autoAdjust="0"/>
    <p:restoredTop sz="82161" autoAdjust="0"/>
  </p:normalViewPr>
  <p:slideViewPr>
    <p:cSldViewPr snapToGrid="0" showGuides="1">
      <p:cViewPr varScale="1">
        <p:scale>
          <a:sx n="93" d="100"/>
          <a:sy n="93" d="100"/>
        </p:scale>
        <p:origin x="226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69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2598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838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788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642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8428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A8E88-307B-9E87-16B3-0577C22A5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A0F59D5A-5813-6897-EAA2-770D8D03263B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2B8A9F4C-CF34-872C-CE28-EC229E6A5C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4BFCFEA9-7DD9-4607-7F66-5D014E603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2608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38C9-A80A-A541-89E7-7948C6A5A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C2118-7D5C-AF06-8106-D03A98F81D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2B08D0-B046-BC0A-BCE8-0870908F95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A4F46E-56E1-B6B5-C6FA-E1973809D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09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2024-04-11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8471931"/>
              </p:ext>
            </p:extLst>
          </p:nvPr>
        </p:nvGraphicFramePr>
        <p:xfrm>
          <a:off x="1568900" y="1984287"/>
          <a:ext cx="7318019" cy="3869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Example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검증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Example 5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국내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설정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Example 5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검증</a:t>
            </a:r>
          </a:p>
        </p:txBody>
      </p:sp>
    </p:spTree>
    <p:extLst>
      <p:ext uri="{BB962C8B-B14F-4D97-AF65-F5344CB8AC3E}">
        <p14:creationId xmlns:p14="http://schemas.microsoft.com/office/powerpoint/2010/main" val="438357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Iceland</a:t>
            </a: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dirty="0"/>
              <a:t>Target 2 : India</a:t>
            </a: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120481"/>
              </p:ext>
            </p:extLst>
          </p:nvPr>
        </p:nvGraphicFramePr>
        <p:xfrm>
          <a:off x="100830" y="1778562"/>
          <a:ext cx="8942340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64.14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21.94°W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10527.34km</a:t>
                      </a:r>
                      <a:r>
                        <a:rPr lang="en-US" altLang="ko-KR" sz="1200" dirty="0"/>
                        <a:t>, 0, 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[65, 144, 285, 36]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12758.44km</a:t>
                      </a:r>
                      <a:r>
                        <a:rPr lang="en-US" altLang="ko-KR" sz="1200" dirty="0"/>
                        <a:t>, 0, 47.915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[208, 428, 523, 608, 634, 702]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F3EAEB5D-4149-A013-5352-DADE0BE71C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80406"/>
              </p:ext>
            </p:extLst>
          </p:nvPr>
        </p:nvGraphicFramePr>
        <p:xfrm>
          <a:off x="100830" y="3821407"/>
          <a:ext cx="8942340" cy="150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19.07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72.87°E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717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10527.34km</a:t>
                      </a:r>
                      <a:r>
                        <a:rPr lang="en-US" altLang="ko-KR" sz="1200" dirty="0"/>
                        <a:t>, 0, 70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[65, 144, 285, 36]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12758.44km</a:t>
                      </a:r>
                      <a:r>
                        <a:rPr lang="en-US" altLang="ko-KR" sz="1200" dirty="0"/>
                        <a:t>, 0, 47.915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[208, 428, 523, 608, 634, 702]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5161C457-3133-6EBE-6607-25D9D7C7A8C3}"/>
              </a:ext>
            </a:extLst>
          </p:cNvPr>
          <p:cNvGrpSpPr/>
          <p:nvPr/>
        </p:nvGrpSpPr>
        <p:grpSpPr>
          <a:xfrm>
            <a:off x="100830" y="3851097"/>
            <a:ext cx="2579012" cy="722150"/>
            <a:chOff x="100830" y="1808252"/>
            <a:chExt cx="2579012" cy="722150"/>
          </a:xfrm>
        </p:grpSpPr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2A2E0D5A-EE7E-D544-2474-69BBE2A33B73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D2414B05-3FBD-94DE-58BB-877D73190AC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5CA61DB7-013A-5D39-87FD-7DD6335A5EF3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4507344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Iceland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총 위성 수</a:t>
            </a:r>
            <a:r>
              <a:rPr lang="en-US" altLang="ko-KR" dirty="0"/>
              <a:t>(10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4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6</a:t>
            </a:r>
            <a:r>
              <a:rPr lang="ko-KR" altLang="en-US" dirty="0"/>
              <a:t>대</a:t>
            </a:r>
            <a:endParaRPr lang="en-US" altLang="ko-KR" dirty="0"/>
          </a:p>
          <a:p>
            <a:pPr marL="3105000" lvl="7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E5BB80-F552-5826-E2F7-843C21695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406" y="1615755"/>
            <a:ext cx="4150773" cy="31130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5634780-EAE4-3DC6-3EBF-F7A7995CA96B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altLang="ko-KR" sz="1400" dirty="0" err="1"/>
              <a:t>Matlab</a:t>
            </a:r>
            <a:r>
              <a:rPr lang="ko-KR" altLang="en-US" sz="1400" dirty="0"/>
              <a:t>의 결과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9F3D7-B73A-26AA-DD2D-DD27BE0EC2BA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참고문헌의 결과</a:t>
            </a:r>
            <a:endParaRPr lang="en-US" altLang="ko-KR" sz="1400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5A58A6C-9E57-41A4-C858-FF43A106F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618" y="1627932"/>
            <a:ext cx="3670403" cy="302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2143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: India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총 위성 수</a:t>
            </a:r>
            <a:r>
              <a:rPr lang="en-US" altLang="ko-KR" dirty="0"/>
              <a:t>(10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4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6</a:t>
            </a:r>
            <a:r>
              <a:rPr lang="ko-KR" altLang="en-US" dirty="0"/>
              <a:t>대</a:t>
            </a: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5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2647800" lvl="6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E814D4-9BDB-37BA-23B8-A97E1DFA9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00" y="1717389"/>
            <a:ext cx="3586124" cy="2911853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28BA5352-C212-AB74-5072-59036A77438C}"/>
              </a:ext>
            </a:extLst>
          </p:cNvPr>
          <p:cNvGrpSpPr/>
          <p:nvPr/>
        </p:nvGrpSpPr>
        <p:grpSpPr>
          <a:xfrm>
            <a:off x="4304140" y="1598578"/>
            <a:ext cx="4214597" cy="3151523"/>
            <a:chOff x="4282130" y="1918652"/>
            <a:chExt cx="4214597" cy="3151523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0E38094B-C437-3D1B-B76A-A8594719C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82130" y="1918652"/>
              <a:ext cx="4214597" cy="3151523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6E4566C7-0044-4CAF-5023-F4D456113D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44784" y="1995906"/>
              <a:ext cx="3461526" cy="973325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F7B6AC1-1695-042A-8B95-F06A6FF929A6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참고문헌의 결과</a:t>
            </a:r>
            <a:endParaRPr lang="en-US" altLang="ko-KR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DC1BE4-7D3C-4959-7468-FD85FE04AA29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en-US" altLang="ko-KR" sz="1400" dirty="0" err="1"/>
              <a:t>Matlab</a:t>
            </a:r>
            <a:r>
              <a:rPr lang="ko-KR" altLang="en-US" sz="1400" dirty="0"/>
              <a:t>의 결과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5119419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1 : India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하나의 궤도만을 운용했을 때 필요한 최소 위성 수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9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11</a:t>
            </a:r>
            <a:r>
              <a:rPr lang="ko-KR" altLang="en-US" dirty="0"/>
              <a:t>대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74CF3-FFB7-20D5-5179-2C40543E9830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저궤도만 운용</a:t>
            </a: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34780-EAE4-3DC6-3EBF-F7A7995CA96B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고궤도만 운용</a:t>
            </a:r>
            <a:endParaRPr lang="en-US" altLang="ko-KR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772AFA5-AE03-1FB8-C194-5C986AA5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17" y="1634427"/>
            <a:ext cx="4254853" cy="319114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9078E87-45F0-062B-54FA-B551BBE1D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2245" y="1636918"/>
            <a:ext cx="4240098" cy="3180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584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 method (Example 5)</a:t>
            </a:r>
          </a:p>
          <a:p>
            <a:pPr lvl="1">
              <a:defRPr/>
            </a:pPr>
            <a:r>
              <a:rPr lang="en-US" altLang="ko-KR" dirty="0"/>
              <a:t>Target 2 : Iceland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ko-KR" altLang="en-US" dirty="0"/>
              <a:t>하나의 궤도만을 운용했을 때 필요한 최소 위성 수</a:t>
            </a:r>
            <a:endParaRPr lang="en-US" altLang="ko-KR" dirty="0"/>
          </a:p>
          <a:p>
            <a:pPr lvl="2">
              <a:defRPr/>
            </a:pPr>
            <a:r>
              <a:rPr lang="ko-KR" altLang="en-US" dirty="0"/>
              <a:t>저궤도</a:t>
            </a:r>
            <a:r>
              <a:rPr lang="en-US" altLang="ko-KR" dirty="0"/>
              <a:t>(4149.2km) : 11</a:t>
            </a:r>
            <a:r>
              <a:rPr lang="ko-KR" altLang="en-US" dirty="0"/>
              <a:t>대</a:t>
            </a:r>
            <a:endParaRPr lang="en-US" altLang="ko-KR" dirty="0"/>
          </a:p>
          <a:p>
            <a:pPr lvl="2">
              <a:defRPr/>
            </a:pPr>
            <a:r>
              <a:rPr lang="ko-KR" altLang="en-US" dirty="0" err="1"/>
              <a:t>고궤도</a:t>
            </a:r>
            <a:r>
              <a:rPr lang="en-US" altLang="ko-KR" dirty="0"/>
              <a:t>(6380.3km) : 9</a:t>
            </a:r>
            <a:r>
              <a:rPr lang="ko-KR" altLang="en-US" dirty="0"/>
              <a:t>대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4CC8543-4B4E-AC72-5643-A25EFCA01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17" y="1630714"/>
            <a:ext cx="4254855" cy="3191141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 method </a:t>
            </a:r>
            <a:r>
              <a:rPr lang="ko-KR" altLang="en-US" dirty="0"/>
              <a:t>참고문헌 예시 검증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E5BB80-F552-5826-E2F7-843C21695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406" y="1615755"/>
            <a:ext cx="4150773" cy="31130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674CF3-FFB7-20D5-5179-2C40543E9830}"/>
              </a:ext>
            </a:extLst>
          </p:cNvPr>
          <p:cNvSpPr txBox="1"/>
          <p:nvPr/>
        </p:nvSpPr>
        <p:spPr>
          <a:xfrm>
            <a:off x="884057" y="4665037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저궤도만 운용</a:t>
            </a:r>
            <a:endParaRPr lang="en-US" altLang="ko-KR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634780-EAE4-3DC6-3EBF-F7A7995CA96B}"/>
              </a:ext>
            </a:extLst>
          </p:cNvPr>
          <p:cNvSpPr txBox="1"/>
          <p:nvPr/>
        </p:nvSpPr>
        <p:spPr>
          <a:xfrm>
            <a:off x="4938815" y="4614524"/>
            <a:ext cx="292395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defRPr/>
            </a:pPr>
            <a:r>
              <a:rPr lang="ko-KR" altLang="en-US" sz="1400" dirty="0"/>
              <a:t>고궤도만 운용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8365364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13449-E00A-9418-0D24-B39365CD0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E4F5CFCB-22D4-F8EB-81A4-3D1389305E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Example 5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국내 </a:t>
            </a:r>
            <a:r>
              <a:rPr lang="ko-KR" altLang="en-US" sz="4000" b="1" dirty="0" err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지상국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설정</a:t>
            </a:r>
          </a:p>
        </p:txBody>
      </p:sp>
    </p:spTree>
    <p:extLst>
      <p:ext uri="{BB962C8B-B14F-4D97-AF65-F5344CB8AC3E}">
        <p14:creationId xmlns:p14="http://schemas.microsoft.com/office/powerpoint/2010/main" val="117650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C2028C06-A0E8-D77F-2DDE-4D41EF330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Method </a:t>
            </a: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수학적 계산 결과와 시뮬레이션의 결과가 상이함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</a:rPr>
              <a:t>논문에서 제시하지 않은 </a:t>
            </a:r>
            <a:r>
              <a:rPr lang="en-US" altLang="ko-KR" dirty="0">
                <a:solidFill>
                  <a:srgbClr val="1F2328"/>
                </a:solidFill>
              </a:rPr>
              <a:t>Epoch Time</a:t>
            </a:r>
            <a:r>
              <a:rPr lang="ko-KR" altLang="en-US" dirty="0">
                <a:solidFill>
                  <a:srgbClr val="1F2328"/>
                </a:solidFill>
              </a:rPr>
              <a:t>을 계산하여 새로운 </a:t>
            </a:r>
            <a:r>
              <a:rPr lang="en-US" altLang="ko-KR" dirty="0">
                <a:solidFill>
                  <a:srgbClr val="1F2328"/>
                </a:solidFill>
              </a:rPr>
              <a:t>Epoch Time </a:t>
            </a:r>
            <a:r>
              <a:rPr lang="ko-KR" altLang="en-US" dirty="0">
                <a:solidFill>
                  <a:srgbClr val="1F2328"/>
                </a:solidFill>
              </a:rPr>
              <a:t>설정 완료</a:t>
            </a:r>
            <a:endParaRPr lang="en-US" altLang="ko-KR" dirty="0">
              <a:solidFill>
                <a:srgbClr val="1F2328"/>
              </a:solidFill>
            </a:endParaRPr>
          </a:p>
          <a:p>
            <a:pPr lvl="2">
              <a:defRPr/>
            </a:pPr>
            <a:r>
              <a:rPr lang="ko-KR" altLang="en-US" dirty="0">
                <a:solidFill>
                  <a:srgbClr val="1F2328"/>
                </a:solidFill>
              </a:rPr>
              <a:t> </a:t>
            </a:r>
            <a:r>
              <a:rPr lang="en-US" altLang="ko-KR" dirty="0">
                <a:solidFill>
                  <a:srgbClr val="1F2328"/>
                </a:solidFill>
              </a:rPr>
              <a:t>Example 1</a:t>
            </a:r>
            <a:r>
              <a:rPr lang="ko-KR" altLang="en-US" dirty="0">
                <a:solidFill>
                  <a:srgbClr val="1F2328"/>
                </a:solidFill>
              </a:rPr>
              <a:t>과 </a:t>
            </a:r>
            <a:r>
              <a:rPr lang="en-US" altLang="ko-KR" dirty="0">
                <a:solidFill>
                  <a:srgbClr val="1F2328"/>
                </a:solidFill>
              </a:rPr>
              <a:t>2</a:t>
            </a:r>
            <a:r>
              <a:rPr lang="ko-KR" altLang="en-US" dirty="0">
                <a:solidFill>
                  <a:srgbClr val="1F2328"/>
                </a:solidFill>
              </a:rPr>
              <a:t>의 해를 대입하여 </a:t>
            </a:r>
            <a:r>
              <a:rPr lang="en-US" altLang="ko-KR" dirty="0">
                <a:solidFill>
                  <a:srgbClr val="1F2328"/>
                </a:solidFill>
              </a:rPr>
              <a:t>Epoch Time </a:t>
            </a:r>
            <a:r>
              <a:rPr lang="ko-KR" altLang="en-US" dirty="0">
                <a:solidFill>
                  <a:srgbClr val="1F2328"/>
                </a:solidFill>
              </a:rPr>
              <a:t>검증 완료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</a:t>
            </a:r>
            <a:r>
              <a:rPr lang="ko-KR" altLang="en-US" dirty="0">
                <a:solidFill>
                  <a:srgbClr val="1F2328"/>
                </a:solidFill>
              </a:rPr>
              <a:t> 이론을 학습 후 알고리즘에 따라 코딩 작성 완료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r>
              <a:rPr lang="ko-KR" altLang="en-US" dirty="0"/>
              <a:t>논문에서 제시한 해 이외에도 여러가지 해를 도출 완료</a:t>
            </a:r>
            <a:endParaRPr lang="en-US" altLang="ko-KR" dirty="0"/>
          </a:p>
          <a:p>
            <a:pPr lvl="2">
              <a:defRPr/>
            </a:pPr>
            <a:r>
              <a:rPr lang="ko-KR" altLang="en-US"/>
              <a:t>예상과 같이 다양한 구성의 해를 구할 수 있었음</a:t>
            </a:r>
            <a:endParaRPr lang="en-US" altLang="ko-KR" dirty="0"/>
          </a:p>
          <a:p>
            <a:pPr lvl="2">
              <a:defRPr/>
            </a:pPr>
            <a:r>
              <a:rPr lang="ko-KR" altLang="en-US" b="0" i="0" dirty="0">
                <a:solidFill>
                  <a:srgbClr val="1F2328"/>
                </a:solidFill>
                <a:effectLst/>
              </a:rPr>
              <a:t>수학적 계산결과 및 실제 시뮬레이션 결과를 통해 </a:t>
            </a:r>
            <a:r>
              <a:rPr lang="en-US" altLang="ko-KR" b="0" i="0" dirty="0">
                <a:solidFill>
                  <a:srgbClr val="1F2328"/>
                </a:solidFill>
                <a:effectLst/>
              </a:rPr>
              <a:t>coverage 100%</a:t>
            </a:r>
            <a:r>
              <a:rPr lang="ko-KR" altLang="en-US" b="0" i="0" dirty="0">
                <a:solidFill>
                  <a:srgbClr val="1F2328"/>
                </a:solidFill>
                <a:effectLst/>
              </a:rPr>
              <a:t>에 근접하게 달성</a:t>
            </a:r>
            <a:endParaRPr lang="en-US" altLang="ko-KR" b="0" i="0" dirty="0">
              <a:solidFill>
                <a:srgbClr val="1F2328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0DCD5-0B64-3C4F-2DAA-49B7AEF5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881EA79-3BDA-B5D6-7C9D-A6291033A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42A6AE70-F7DA-B1D4-6435-15C0EF5E6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BILP 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8BF6F732-CA20-B7DB-EB30-79D5E6543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39, 73, 79, 89, 170, 184, 234, 250, 331, 341, 347, 492, 502, 542, 638, 648, 654, 663</a:t>
            </a: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endParaRPr lang="en-US" altLang="ko-KR" dirty="0">
              <a:latin typeface="Menlo"/>
            </a:endParaRPr>
          </a:p>
          <a:p>
            <a:pPr lvl="1">
              <a:defRPr/>
            </a:pPr>
            <a:r>
              <a:rPr lang="en-US" altLang="ko-KR" sz="1800" b="0" i="0" dirty="0">
                <a:effectLst/>
                <a:latin typeface="Menlo"/>
              </a:rPr>
              <a:t>142 143 144 145 146 147 148 149 150 151 152 (11)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200 201 202 203 204 205 206 207 208 209 210 211 (12)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260 261 262 263 264 265 266 (7)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  <a:p>
            <a:pPr lvl="1">
              <a:defRPr/>
            </a:pPr>
            <a:r>
              <a:rPr lang="en-US" altLang="ko-KR" dirty="0"/>
              <a:t>428 429 430 431 432 433 434 (7)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483 484 485 486 487 488 489 490 491 492 493 494 (12)</a:t>
            </a:r>
          </a:p>
          <a:p>
            <a:pPr lvl="1">
              <a:defRPr/>
            </a:pPr>
            <a:endParaRPr lang="en-US" altLang="ko-KR" dirty="0"/>
          </a:p>
          <a:p>
            <a:pPr lvl="1">
              <a:defRPr/>
            </a:pPr>
            <a:r>
              <a:rPr lang="en-US" altLang="ko-KR" dirty="0"/>
              <a:t>543 544 545 546 547 548 549 550 551 552 (10)</a:t>
            </a:r>
          </a:p>
          <a:p>
            <a:pPr lvl="1">
              <a:defRPr/>
            </a:pPr>
            <a:endParaRPr lang="en-US" altLang="ko-KR" b="0" i="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14722874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101851</TotalTime>
  <Words>726</Words>
  <Application>Microsoft Office PowerPoint</Application>
  <PresentationFormat>화면 슬라이드 쇼(4:3)</PresentationFormat>
  <Paragraphs>197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-apple-system</vt:lpstr>
      <vt:lpstr>Menlo</vt:lpstr>
      <vt:lpstr>맑은 고딕</vt:lpstr>
      <vt:lpstr>Arial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Example 5 검증</vt:lpstr>
      <vt:lpstr>BILP method 참고문헌 예시</vt:lpstr>
      <vt:lpstr>BILP method 참고문헌 예시 검증</vt:lpstr>
      <vt:lpstr>BILP method 참고문헌 예시 검증</vt:lpstr>
      <vt:lpstr>BILP method 참고문헌 예시 검증</vt:lpstr>
      <vt:lpstr>BILP method 참고문헌 예시 검증</vt:lpstr>
      <vt:lpstr>Example 5 국내 지상국 설정</vt:lpstr>
      <vt:lpstr>결론</vt:lpstr>
      <vt:lpstr>결론</vt:lpstr>
      <vt:lpstr>경청해 주셔서 감사합니다.</vt:lpstr>
      <vt:lpstr>BILP method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4618</cp:revision>
  <dcterms:created xsi:type="dcterms:W3CDTF">2018-01-29T02:45:56Z</dcterms:created>
  <dcterms:modified xsi:type="dcterms:W3CDTF">2024-04-28T12:33:38Z</dcterms:modified>
</cp:coreProperties>
</file>