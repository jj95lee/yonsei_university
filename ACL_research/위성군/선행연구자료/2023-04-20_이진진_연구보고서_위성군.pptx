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229" r:id="rId2"/>
    <p:sldId id="2387" r:id="rId3"/>
    <p:sldId id="2297" r:id="rId4"/>
    <p:sldId id="2373" r:id="rId5"/>
    <p:sldId id="2358" r:id="rId6"/>
    <p:sldId id="2407" r:id="rId7"/>
    <p:sldId id="2408" r:id="rId8"/>
    <p:sldId id="2409" r:id="rId9"/>
    <p:sldId id="2405" r:id="rId10"/>
    <p:sldId id="2411" r:id="rId11"/>
    <p:sldId id="2412" r:id="rId12"/>
    <p:sldId id="2410" r:id="rId13"/>
    <p:sldId id="2413" r:id="rId14"/>
    <p:sldId id="2375" r:id="rId15"/>
    <p:sldId id="2416" r:id="rId16"/>
    <p:sldId id="2414" r:id="rId17"/>
    <p:sldId id="2415" r:id="rId18"/>
    <p:sldId id="2404" r:id="rId19"/>
    <p:sldId id="2386" r:id="rId20"/>
    <p:sldId id="273" r:id="rId2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B021"/>
    <a:srgbClr val="D9541A"/>
    <a:srgbClr val="404040"/>
    <a:srgbClr val="FFFFFF"/>
    <a:srgbClr val="001E46"/>
    <a:srgbClr val="000A1E"/>
    <a:srgbClr val="FFCCCC"/>
    <a:srgbClr val="001432"/>
    <a:srgbClr val="FF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82161" autoAdjust="0"/>
  </p:normalViewPr>
  <p:slideViewPr>
    <p:cSldViewPr snapToGrid="0" showGuides="1">
      <p:cViewPr varScale="1">
        <p:scale>
          <a:sx n="88" d="100"/>
          <a:sy n="88" d="100"/>
        </p:scale>
        <p:origin x="207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2023-04-20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보고서 작성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62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하이브리드 </a:t>
            </a:r>
            <a:r>
              <a:rPr lang="ko-KR" altLang="en-US" dirty="0" err="1"/>
              <a:t>서치</a:t>
            </a:r>
            <a:r>
              <a:rPr lang="ko-KR" altLang="en-US" dirty="0"/>
              <a:t> 알고리즘에 관한 논문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 err="1"/>
              <a:t>Optisar</a:t>
            </a:r>
            <a:r>
              <a:rPr lang="ko-KR" altLang="en-US" dirty="0"/>
              <a:t>처럼 운용 시나리오에 따른 </a:t>
            </a:r>
            <a:r>
              <a:rPr lang="en-US" altLang="ko-KR" dirty="0"/>
              <a:t>Scheduling</a:t>
            </a:r>
            <a:r>
              <a:rPr lang="ko-KR" altLang="en-US" dirty="0"/>
              <a:t>에 대해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Mission Scheduling : </a:t>
            </a:r>
            <a:r>
              <a:rPr lang="ko-KR" altLang="en-US" dirty="0"/>
              <a:t>불필요한 탐지를 제한하여 최적의 임무 시간을 확보하는 것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여기에 초점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이종위성군의 특징이 상대적으로 약함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80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크게</a:t>
            </a:r>
            <a:r>
              <a:rPr lang="en-US" altLang="ko-KR" dirty="0"/>
              <a:t> </a:t>
            </a:r>
            <a:r>
              <a:rPr lang="ko-KR" altLang="en-US" dirty="0"/>
              <a:t>세 단계 </a:t>
            </a:r>
            <a:r>
              <a:rPr lang="en-US" altLang="ko-KR" dirty="0"/>
              <a:t>(1. Mission Data Preprocessing, 2. Model Deconflict, 3. Algorithm Optimization)</a:t>
            </a:r>
          </a:p>
          <a:p>
            <a:r>
              <a:rPr lang="en-US" altLang="ko-KR" dirty="0"/>
              <a:t>1</a:t>
            </a:r>
            <a:r>
              <a:rPr lang="ko-KR" altLang="en-US" dirty="0"/>
              <a:t>에는 두 종류의 </a:t>
            </a:r>
            <a:r>
              <a:rPr lang="en-US" altLang="ko-KR" dirty="0"/>
              <a:t>data</a:t>
            </a:r>
            <a:r>
              <a:rPr lang="ko-KR" altLang="en-US" dirty="0"/>
              <a:t>가 </a:t>
            </a:r>
            <a:r>
              <a:rPr lang="en-US" altLang="ko-KR" dirty="0"/>
              <a:t>Design Variable</a:t>
            </a:r>
            <a:r>
              <a:rPr lang="ko-KR" altLang="en-US" dirty="0"/>
              <a:t>로 하여 </a:t>
            </a:r>
            <a:r>
              <a:rPr lang="ko-KR" altLang="en-US" dirty="0" err="1"/>
              <a:t>들어감</a:t>
            </a:r>
            <a:r>
              <a:rPr lang="ko-KR" altLang="en-US" dirty="0"/>
              <a:t> 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en-US" altLang="ko-KR" dirty="0"/>
              <a:t>(</a:t>
            </a:r>
            <a:r>
              <a:rPr lang="ko-KR" altLang="en-US" dirty="0"/>
              <a:t>스케줄링 시간 정보</a:t>
            </a:r>
            <a:r>
              <a:rPr lang="en-US" altLang="ko-KR" dirty="0"/>
              <a:t>, </a:t>
            </a:r>
            <a:r>
              <a:rPr lang="ko-KR" altLang="en-US" dirty="0"/>
              <a:t>궤도 및 </a:t>
            </a:r>
            <a:r>
              <a:rPr lang="ko-KR" altLang="en-US" dirty="0" err="1"/>
              <a:t>탑재체</a:t>
            </a:r>
            <a:r>
              <a:rPr lang="ko-KR" altLang="en-US" dirty="0"/>
              <a:t> 정보</a:t>
            </a:r>
            <a:r>
              <a:rPr lang="en-US" altLang="ko-KR" dirty="0"/>
              <a:t>)</a:t>
            </a:r>
            <a:r>
              <a:rPr lang="ko-KR" altLang="en-US" dirty="0"/>
              <a:t>등 스케줄링에 영향을 주는 </a:t>
            </a:r>
            <a:r>
              <a:rPr lang="en-US" altLang="ko-KR" dirty="0"/>
              <a:t>Pre-Set Data</a:t>
            </a:r>
            <a:r>
              <a:rPr lang="ko-KR" altLang="en-US" dirty="0"/>
              <a:t>와 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타겟의 위치 등의 관측 요구사항 등의 </a:t>
            </a:r>
            <a:r>
              <a:rPr lang="en-US" altLang="ko-KR" dirty="0"/>
              <a:t>Dynamical Data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이렇게 위성궤도 및 관측 시간이 계산되면 상충되는 데이터를 거르는 과정이 </a:t>
            </a:r>
            <a:r>
              <a:rPr lang="en-US" altLang="ko-KR" dirty="0"/>
              <a:t>Model Deconflict. </a:t>
            </a:r>
            <a:r>
              <a:rPr lang="ko-KR" altLang="en-US" dirty="0"/>
              <a:t>문제의 규모를 줄이고 해결 속도를 높임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마지막으로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noto"/>
              </a:rPr>
              <a:t>전처리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 된 데이터가 모델로 전송되고 최적의 솔루션을 찾기 위해 알고리즘이 활성화됨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marL="0" indent="0">
              <a:buNone/>
            </a:pP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0" indent="0">
              <a:buNone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이를 통해 스케줄링 결과 즉 관측 시간정보를 알 수 있음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691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427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스케줄링 문제를 묘사하기 위한 수학적 모델을 제안하며 다음과 같은 제한조건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0" indent="0">
              <a:buNone/>
            </a:pP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0" indent="0">
              <a:buNone/>
            </a:pP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Window duration : </a:t>
            </a:r>
            <a:r>
              <a:rPr lang="ko-KR" altLang="en-US" b="0" i="0" dirty="0">
                <a:solidFill>
                  <a:srgbClr val="374151"/>
                </a:solidFill>
                <a:effectLst/>
                <a:latin typeface="Söhne"/>
              </a:rPr>
              <a:t>일정 시간 동안 수집된 데이터를 처리하거나 분석하는 데 사용되는 시간</a:t>
            </a:r>
            <a:endParaRPr lang="en-US" altLang="ko-KR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buNone/>
            </a:pPr>
            <a:endParaRPr lang="en-US" altLang="ko-KR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높은 우선순위의 대상과 높은 작업 완료율을 모두 관측하는 솔루션을 얻기 위해 위와 같이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알파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베타를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weight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로 두고 선형적으로 계산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76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논문에는 다음과 같이 크게 세가지의 알고리즘을 소개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GA(</a:t>
            </a:r>
            <a:r>
              <a:rPr lang="ko-KR" altLang="en-US" dirty="0"/>
              <a:t>유전 알고리즘</a:t>
            </a:r>
            <a:r>
              <a:rPr lang="en-US" altLang="ko-KR" dirty="0"/>
              <a:t>)</a:t>
            </a:r>
            <a:r>
              <a:rPr lang="ko-KR" altLang="en-US" dirty="0"/>
              <a:t>는 환경에 잘 적응한 개체가 좀 더 많은 자손을 남길 수 있다 는 ‘</a:t>
            </a:r>
            <a:r>
              <a:rPr lang="ko-KR" altLang="en-US" dirty="0" err="1"/>
              <a:t>자연선택설’과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유전시의 변화를 통해서 개체가 좋은 방향으로 발전해 나간다는 ‘</a:t>
            </a:r>
            <a:r>
              <a:rPr lang="ko-KR" altLang="en-US" dirty="0" err="1"/>
              <a:t>자연진화설’을</a:t>
            </a:r>
            <a:r>
              <a:rPr lang="ko-KR" altLang="en-US" dirty="0"/>
              <a:t> 모방한 최적화 알고리즘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염색체</a:t>
            </a:r>
            <a:r>
              <a:rPr lang="en-US" altLang="ko-KR" dirty="0"/>
              <a:t> (</a:t>
            </a:r>
            <a:r>
              <a:rPr lang="ko-KR" altLang="en-US" dirty="0" err="1"/>
              <a:t>크로모좀</a:t>
            </a:r>
            <a:r>
              <a:rPr lang="en-US" altLang="ko-KR" dirty="0"/>
              <a:t>)</a:t>
            </a:r>
            <a:r>
              <a:rPr lang="ko-KR" altLang="en-US" dirty="0"/>
              <a:t> 형태로 표현하여 최적해를 </a:t>
            </a:r>
            <a:r>
              <a:rPr lang="ko-KR" altLang="en-US" dirty="0" err="1"/>
              <a:t>찾아감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 err="1"/>
              <a:t>전처리</a:t>
            </a:r>
            <a:r>
              <a:rPr lang="ko-KR" altLang="en-US" dirty="0"/>
              <a:t> 단계에서 계산한 </a:t>
            </a:r>
            <a:r>
              <a:rPr lang="en-US" altLang="ko-KR" dirty="0"/>
              <a:t>window</a:t>
            </a:r>
            <a:r>
              <a:rPr lang="ko-KR" altLang="en-US" dirty="0"/>
              <a:t>를 저장하고</a:t>
            </a:r>
            <a:r>
              <a:rPr lang="en-US" altLang="ko-KR" dirty="0"/>
              <a:t>, </a:t>
            </a:r>
            <a:r>
              <a:rPr lang="ko-KR" altLang="en-US" dirty="0" err="1"/>
              <a:t>탑재체</a:t>
            </a:r>
            <a:r>
              <a:rPr lang="ko-KR" altLang="en-US" dirty="0"/>
              <a:t> 종류에 따라 각 </a:t>
            </a:r>
            <a:r>
              <a:rPr lang="en-US" altLang="ko-KR" dirty="0"/>
              <a:t>window</a:t>
            </a:r>
            <a:r>
              <a:rPr lang="ko-KR" altLang="en-US" dirty="0"/>
              <a:t>별로 </a:t>
            </a:r>
            <a:r>
              <a:rPr lang="en-US" altLang="ko-KR" dirty="0"/>
              <a:t>ID </a:t>
            </a:r>
            <a:r>
              <a:rPr lang="ko-KR" altLang="en-US" dirty="0"/>
              <a:t>순서로 정렬</a:t>
            </a:r>
            <a:endParaRPr lang="en-US" altLang="ko-KR" dirty="0"/>
          </a:p>
          <a:p>
            <a:r>
              <a:rPr lang="en-US" altLang="ko-KR" dirty="0"/>
              <a:t>2. binary code </a:t>
            </a:r>
            <a:r>
              <a:rPr lang="ko-KR" altLang="en-US" dirty="0"/>
              <a:t>형태로</a:t>
            </a:r>
            <a:r>
              <a:rPr lang="en-US" altLang="ko-KR" dirty="0"/>
              <a:t> 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은 해당 임무의 수행여부 </a:t>
            </a:r>
            <a:r>
              <a:rPr lang="en-US" altLang="ko-KR" dirty="0"/>
              <a:t>(0</a:t>
            </a:r>
            <a:r>
              <a:rPr lang="ko-KR" altLang="en-US" dirty="0"/>
              <a:t>이면 스케줄링 시 선택되지 않을 예정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임무의 수행 순서에 따라 재배열 </a:t>
            </a:r>
            <a:r>
              <a:rPr lang="en-US" altLang="ko-KR" dirty="0"/>
              <a:t>(m</a:t>
            </a:r>
            <a:r>
              <a:rPr lang="ko-KR" altLang="en-US" dirty="0"/>
              <a:t>개를 수행하는 시간에 맞추어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28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선택연산 </a:t>
            </a:r>
            <a:r>
              <a:rPr lang="en-US" altLang="ko-KR" dirty="0"/>
              <a:t>: </a:t>
            </a:r>
            <a:r>
              <a:rPr lang="ko-KR" altLang="en-US" dirty="0"/>
              <a:t>부모에 해당하는 해를 골라내 다음 세대의 해를 만듦</a:t>
            </a:r>
            <a:endParaRPr lang="en-US" altLang="ko-KR" dirty="0"/>
          </a:p>
          <a:p>
            <a:r>
              <a:rPr lang="ko-KR" altLang="en-US" dirty="0"/>
              <a:t>교배연산 </a:t>
            </a:r>
            <a:r>
              <a:rPr lang="en-US" altLang="ko-KR" dirty="0"/>
              <a:t>: </a:t>
            </a:r>
            <a:r>
              <a:rPr lang="ko-KR" altLang="en-US" dirty="0"/>
              <a:t>두 부모 염색체를 조합하여 다음 세대의 해를 만듦</a:t>
            </a:r>
            <a:endParaRPr lang="en-US" altLang="ko-KR" dirty="0"/>
          </a:p>
          <a:p>
            <a:r>
              <a:rPr lang="ko-KR" altLang="en-US" dirty="0"/>
              <a:t>돌연변이 </a:t>
            </a:r>
            <a:r>
              <a:rPr lang="en-US" altLang="ko-KR" dirty="0"/>
              <a:t>: </a:t>
            </a:r>
            <a:r>
              <a:rPr lang="ko-KR" altLang="en-US" dirty="0"/>
              <a:t>염색체를 무작위로 변화시켜 다음 세대의 해를 만듦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509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언스케줄된</a:t>
            </a:r>
            <a:r>
              <a:rPr lang="ko-KR" altLang="en-US" dirty="0"/>
              <a:t> </a:t>
            </a:r>
            <a:r>
              <a:rPr lang="en-US" altLang="ko-KR" dirty="0"/>
              <a:t>task, </a:t>
            </a:r>
            <a:r>
              <a:rPr lang="ko-KR" altLang="en-US" dirty="0"/>
              <a:t>즉 방문하지 않은 경로를 기준으로 이웃 해를 생성</a:t>
            </a:r>
            <a:endParaRPr lang="en-US" altLang="ko-KR" dirty="0"/>
          </a:p>
          <a:p>
            <a:r>
              <a:rPr lang="ko-KR" altLang="en-US" dirty="0"/>
              <a:t>이미 방문한 경로를 배제하여 불필요한 </a:t>
            </a:r>
            <a:r>
              <a:rPr lang="en-US" altLang="ko-KR" dirty="0"/>
              <a:t>schedule</a:t>
            </a:r>
            <a:r>
              <a:rPr lang="ko-KR" altLang="en-US" dirty="0"/>
              <a:t>을 최소화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978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Terminate</a:t>
            </a:r>
            <a:r>
              <a:rPr lang="ko-KR" altLang="en-US" dirty="0"/>
              <a:t> </a:t>
            </a:r>
            <a:r>
              <a:rPr lang="en-US" altLang="ko-KR" dirty="0"/>
              <a:t>criterion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현재 해의 작업완료율이 기대에 미치지 못하면</a:t>
            </a:r>
            <a:endParaRPr lang="en-US" altLang="ko-KR" dirty="0"/>
          </a:p>
          <a:p>
            <a:r>
              <a:rPr lang="en-US" altLang="ko-KR" dirty="0"/>
              <a:t>Global iteration : </a:t>
            </a:r>
            <a:r>
              <a:rPr lang="ko-KR" altLang="en-US" dirty="0"/>
              <a:t>최대 반복 횟수에 도달하면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9023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True anomaly </a:t>
            </a:r>
            <a:r>
              <a:rPr lang="ko-KR" altLang="en-US" dirty="0"/>
              <a:t>증분 </a:t>
            </a:r>
            <a:r>
              <a:rPr lang="en-US" altLang="ko-KR" dirty="0"/>
              <a:t>: 2deg</a:t>
            </a:r>
          </a:p>
          <a:p>
            <a:r>
              <a:rPr lang="en-US" altLang="ko-KR" dirty="0"/>
              <a:t>RAAN </a:t>
            </a:r>
            <a:r>
              <a:rPr lang="ko-KR" altLang="en-US" dirty="0"/>
              <a:t>증분 </a:t>
            </a:r>
            <a:r>
              <a:rPr lang="en-US" altLang="ko-KR" dirty="0"/>
              <a:t>: 4.5deg</a:t>
            </a:r>
          </a:p>
          <a:p>
            <a:endParaRPr lang="en-US" altLang="ko-KR" dirty="0"/>
          </a:p>
          <a:p>
            <a:r>
              <a:rPr lang="ko-KR" altLang="en-US" dirty="0"/>
              <a:t>궤도면의 위성 수와 궤도면 번호를 조정하여 시나리오의 규모를 수정 가능</a:t>
            </a:r>
            <a:endParaRPr lang="en-US" altLang="ko-KR" dirty="0"/>
          </a:p>
          <a:p>
            <a:r>
              <a:rPr lang="ko-KR" altLang="en-US" dirty="0" err="1"/>
              <a:t>탑재체</a:t>
            </a:r>
            <a:r>
              <a:rPr lang="ko-KR" altLang="en-US" dirty="0"/>
              <a:t> 유형도 무작위로 생성</a:t>
            </a:r>
            <a:endParaRPr lang="en-US" altLang="ko-KR" dirty="0"/>
          </a:p>
          <a:p>
            <a:r>
              <a:rPr lang="ko-KR" altLang="en-US" dirty="0"/>
              <a:t>전 세계적으로 </a:t>
            </a:r>
            <a:r>
              <a:rPr lang="ko-KR" altLang="en-US" dirty="0" err="1"/>
              <a:t>랜덤한</a:t>
            </a:r>
            <a:r>
              <a:rPr lang="ko-KR" altLang="en-US" dirty="0"/>
              <a:t> 균일 분포에 생성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Local max - TS</a:t>
            </a:r>
            <a:r>
              <a:rPr lang="ko-KR" altLang="en-US" dirty="0"/>
              <a:t>호출시간에 따라 설정됨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69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True anomaly </a:t>
            </a:r>
            <a:r>
              <a:rPr lang="ko-KR" altLang="en-US" dirty="0"/>
              <a:t>증분 </a:t>
            </a:r>
            <a:r>
              <a:rPr lang="en-US" altLang="ko-KR" dirty="0"/>
              <a:t>: 2deg</a:t>
            </a:r>
          </a:p>
          <a:p>
            <a:r>
              <a:rPr lang="en-US" altLang="ko-KR" dirty="0"/>
              <a:t>RAAN </a:t>
            </a:r>
            <a:r>
              <a:rPr lang="ko-KR" altLang="en-US" dirty="0"/>
              <a:t>증분 </a:t>
            </a:r>
            <a:r>
              <a:rPr lang="en-US" altLang="ko-KR" dirty="0"/>
              <a:t>: 4.5deg</a:t>
            </a:r>
          </a:p>
          <a:p>
            <a:endParaRPr lang="en-US" altLang="ko-KR" dirty="0"/>
          </a:p>
          <a:p>
            <a:r>
              <a:rPr lang="ko-KR" altLang="en-US" dirty="0"/>
              <a:t>궤도면의 위성 수와 궤도면 번호를 조정하여 시나리오의 규모를 수정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탑재체</a:t>
            </a:r>
            <a:r>
              <a:rPr lang="ko-KR" altLang="en-US" dirty="0"/>
              <a:t> 유형도 무작위로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 세계적으로 </a:t>
            </a:r>
            <a:r>
              <a:rPr lang="ko-KR" altLang="en-US" dirty="0" err="1"/>
              <a:t>랜덤한</a:t>
            </a:r>
            <a:r>
              <a:rPr lang="ko-KR" altLang="en-US" dirty="0"/>
              <a:t> 균일 분포에 생성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222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각</a:t>
            </a:r>
            <a:r>
              <a:rPr lang="en-US" altLang="ko-KR" dirty="0"/>
              <a:t> </a:t>
            </a:r>
            <a:r>
              <a:rPr lang="ko-KR" altLang="en-US" dirty="0"/>
              <a:t>위성의 평균 수와 타겟을 지나는 평균 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변수가 무작위이기 때문에 서로 다른 시나리오에서 해의 성능을 비교하기 어려움</a:t>
            </a:r>
            <a:endParaRPr lang="en-US" altLang="ko-KR" dirty="0"/>
          </a:p>
          <a:p>
            <a:r>
              <a:rPr lang="ko-KR" altLang="en-US" dirty="0"/>
              <a:t>따라서 작업 완료율로 해의 전체 성능을 판단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No 3~5 </a:t>
            </a:r>
            <a:r>
              <a:rPr lang="ko-KR" altLang="en-US" dirty="0"/>
              <a:t>비교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577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규모가 확장되면 단일 </a:t>
            </a:r>
            <a:r>
              <a:rPr lang="en-US" altLang="ko-KR" dirty="0"/>
              <a:t>GA, TS</a:t>
            </a:r>
            <a:r>
              <a:rPr lang="ko-KR" altLang="en-US" dirty="0"/>
              <a:t>의 평균 실행 시간은 빠르게 증가</a:t>
            </a:r>
            <a:r>
              <a:rPr lang="en-US" altLang="ko-KR" dirty="0"/>
              <a:t>(</a:t>
            </a:r>
            <a:r>
              <a:rPr lang="ko-KR" altLang="en-US" dirty="0"/>
              <a:t>곡선</a:t>
            </a:r>
            <a:r>
              <a:rPr lang="en-US" altLang="ko-KR" dirty="0"/>
              <a:t>) 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충돌 제거 과정이 </a:t>
            </a:r>
            <a:r>
              <a:rPr lang="ko-KR" altLang="en-US" dirty="0" err="1"/>
              <a:t>복잡해져서</a:t>
            </a:r>
            <a:r>
              <a:rPr lang="ko-KR" altLang="en-US" dirty="0"/>
              <a:t> 시간은 더 많이 소요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r>
              <a:rPr lang="ko-KR" altLang="en-US" dirty="0"/>
              <a:t>이에 따라 수렴생성계수는 증가하다가 감소</a:t>
            </a:r>
            <a:r>
              <a:rPr lang="en-US" altLang="ko-KR" dirty="0"/>
              <a:t>(</a:t>
            </a:r>
            <a:r>
              <a:rPr lang="ko-KR" altLang="en-US" dirty="0"/>
              <a:t>막대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작은 규모일수록 빠르게 수렴되어 좋은 품질 해를 얻음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Trade – off</a:t>
            </a:r>
          </a:p>
          <a:p>
            <a:endParaRPr lang="en-US" altLang="ko-KR" dirty="0"/>
          </a:p>
          <a:p>
            <a:r>
              <a:rPr lang="ko-KR" altLang="en-US" dirty="0"/>
              <a:t>규모를 확장하면</a:t>
            </a:r>
            <a:endParaRPr lang="en-US" altLang="ko-KR" dirty="0"/>
          </a:p>
          <a:p>
            <a:r>
              <a:rPr lang="ko-KR" altLang="en-US" dirty="0"/>
              <a:t>최적화 상태가 더욱 악화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49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항목 추가할 것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논문의 결론에 더해</a:t>
            </a:r>
            <a:r>
              <a:rPr lang="en-US" altLang="ko-KR" sz="1200" dirty="0"/>
              <a:t>, </a:t>
            </a:r>
            <a:r>
              <a:rPr lang="ko-KR" altLang="en-US" sz="1200" dirty="0"/>
              <a:t>본 논문의 내용 중 어떤 부분을 본인의 연구에 어떻게 적용할 수 있는지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99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3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2023-04-20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이종위성군 선행연구자료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b="1" dirty="0"/>
              <a:t>프로젝트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작성 일자 </a:t>
            </a:r>
            <a:r>
              <a:rPr lang="en-US" altLang="ko-KR" sz="1800" dirty="0"/>
              <a:t>: 2023.04.20</a:t>
            </a:r>
          </a:p>
          <a:p>
            <a:pPr lvl="1"/>
            <a:r>
              <a:rPr lang="ko-KR" altLang="en-US" sz="1800" b="1" dirty="0"/>
              <a:t>작성자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연세대학교 우주비행제어 연구실 </a:t>
            </a:r>
            <a:r>
              <a:rPr lang="en-US" altLang="ko-KR" sz="1800" dirty="0"/>
              <a:t>(</a:t>
            </a:r>
            <a:r>
              <a:rPr lang="ko-KR" altLang="en-US" sz="1800" dirty="0"/>
              <a:t>이진진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800" b="1" dirty="0"/>
              <a:t>연구목표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감시</a:t>
            </a:r>
            <a:r>
              <a:rPr lang="en-US" altLang="ko-KR" sz="1800" dirty="0"/>
              <a:t>/</a:t>
            </a:r>
            <a:r>
              <a:rPr lang="ko-KR" altLang="en-US" sz="1800" dirty="0"/>
              <a:t>정찰 임무 수행을 위한 이종 위성군의 설계 최적화 및 운용 개념 도출</a:t>
            </a:r>
            <a:endParaRPr lang="en-US" altLang="ko-KR" sz="1800" dirty="0"/>
          </a:p>
          <a:p>
            <a:pPr lvl="1"/>
            <a:r>
              <a:rPr lang="ko-KR" altLang="en-US" sz="1800" b="1" dirty="0"/>
              <a:t>연구자료 요약 </a:t>
            </a:r>
            <a:r>
              <a:rPr lang="en-US" altLang="ko-KR" sz="1800" dirty="0"/>
              <a:t>: </a:t>
            </a:r>
            <a:r>
              <a:rPr lang="ko-KR" altLang="en-US" sz="1800" dirty="0"/>
              <a:t>위의 연구목표를 달성하기 위해 이종위성군 설계와 관련된 해외 문헌 조사를 하였으며</a:t>
            </a:r>
            <a:r>
              <a:rPr lang="en-US" altLang="ko-KR" sz="1800" dirty="0"/>
              <a:t>, </a:t>
            </a:r>
            <a:r>
              <a:rPr lang="ko-KR" altLang="en-US" sz="1800" dirty="0"/>
              <a:t>조사한 여러 문헌들 가운데 한반도를 관심지역으로 설정한 본 프로젝트의 연구 방향에 가장 적합하며 의미 있을 것으로 판단되는 세 편의 논문을 아래와 같이 선별함</a:t>
            </a:r>
            <a:endParaRPr lang="en-US" altLang="ko-KR" sz="1800" dirty="0"/>
          </a:p>
          <a:p>
            <a:pPr lvl="2"/>
            <a:r>
              <a:rPr lang="en-US" altLang="ko-KR" dirty="0"/>
              <a:t>A Framework for Heterogeneous Satellite Constellation Design for Rapid Response Earth Observations, 2019, Ibrahim Sanad and David</a:t>
            </a:r>
            <a:r>
              <a:rPr lang="ko-KR" altLang="en-US" dirty="0"/>
              <a:t> </a:t>
            </a:r>
            <a:r>
              <a:rPr lang="en-US" altLang="ko-KR" dirty="0"/>
              <a:t>G</a:t>
            </a:r>
            <a:r>
              <a:rPr lang="ko-KR" altLang="en-US" dirty="0"/>
              <a:t> </a:t>
            </a:r>
            <a:r>
              <a:rPr lang="en-US" altLang="ko-KR" dirty="0"/>
              <a:t>Michelson</a:t>
            </a:r>
          </a:p>
          <a:p>
            <a:pPr lvl="2"/>
            <a:r>
              <a:rPr lang="en-US" altLang="ko-KR" dirty="0"/>
              <a:t>The UrtheCast SAR-XL Multi-Band, Multi-Aperture, 2017, Peter Fox, Keith Beckett</a:t>
            </a:r>
          </a:p>
          <a:p>
            <a:pPr lvl="2"/>
            <a:r>
              <a:rPr lang="en-US" altLang="ko-KR" b="1" dirty="0"/>
              <a:t>Research on a Heterogeneous Multi-satellite Mission Scheduling Model for Earth Observation Based on Adaptive Genetic-Tabu Hybrid Search Algorithm, 2021, </a:t>
            </a:r>
            <a:r>
              <a:rPr lang="en-US" altLang="ko-KR" b="1" dirty="0" err="1"/>
              <a:t>Lihao</a:t>
            </a:r>
            <a:r>
              <a:rPr lang="en-US" altLang="ko-KR" b="1" dirty="0"/>
              <a:t> Liu, </a:t>
            </a:r>
            <a:r>
              <a:rPr lang="en-US" altLang="ko-KR" b="1" dirty="0" err="1"/>
              <a:t>Zhenghong</a:t>
            </a:r>
            <a:r>
              <a:rPr lang="en-US" altLang="ko-KR" b="1" dirty="0"/>
              <a:t> Dong, </a:t>
            </a:r>
            <a:r>
              <a:rPr lang="en-US" altLang="ko-KR" b="1" dirty="0" err="1"/>
              <a:t>Haoxiang</a:t>
            </a:r>
            <a:r>
              <a:rPr lang="en-US" altLang="ko-KR" b="1" dirty="0"/>
              <a:t> </a:t>
            </a:r>
            <a:r>
              <a:rPr lang="en-US" altLang="ko-KR" b="1" dirty="0" err="1"/>
              <a:t>Su</a:t>
            </a:r>
            <a:r>
              <a:rPr lang="en-US" altLang="ko-KR" b="1" dirty="0"/>
              <a:t>, </a:t>
            </a:r>
            <a:r>
              <a:rPr lang="en-US" altLang="ko-KR" b="1" dirty="0" err="1"/>
              <a:t>Dingzhan</a:t>
            </a:r>
            <a:r>
              <a:rPr lang="en-US" altLang="ko-KR" b="1" dirty="0"/>
              <a:t> Yu and Yu Lin</a:t>
            </a:r>
          </a:p>
          <a:p>
            <a:pPr lvl="4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505912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0" y="1820659"/>
            <a:ext cx="9144000" cy="4024969"/>
          </a:xfrm>
        </p:spPr>
        <p:txBody>
          <a:bodyPr>
            <a:normAutofit/>
          </a:bodyPr>
          <a:lstStyle/>
          <a:p>
            <a:r>
              <a:rPr lang="en-US" altLang="ko-KR" b="1" dirty="0"/>
              <a:t>Research on a Heterogeneous Multi-satellite Mission Scheduling Model for Earth Observation Based on Adaptive Genetic-Tabu Hybrid Search Algorithm, 2021, </a:t>
            </a:r>
            <a:r>
              <a:rPr lang="en-US" altLang="ko-KR" b="1" dirty="0" err="1"/>
              <a:t>Lihao</a:t>
            </a:r>
            <a:r>
              <a:rPr lang="en-US" altLang="ko-KR" b="1" dirty="0"/>
              <a:t> Liu, </a:t>
            </a:r>
            <a:r>
              <a:rPr lang="en-US" altLang="ko-KR" b="1" dirty="0" err="1"/>
              <a:t>Zhenghong</a:t>
            </a:r>
            <a:r>
              <a:rPr lang="en-US" altLang="ko-KR" b="1" dirty="0"/>
              <a:t> Dong, </a:t>
            </a:r>
            <a:r>
              <a:rPr lang="en-US" altLang="ko-KR" b="1" dirty="0" err="1"/>
              <a:t>Haoxiang</a:t>
            </a:r>
            <a:r>
              <a:rPr lang="en-US" altLang="ko-KR" b="1" dirty="0"/>
              <a:t> </a:t>
            </a:r>
            <a:r>
              <a:rPr lang="en-US" altLang="ko-KR" b="1" dirty="0" err="1"/>
              <a:t>Su</a:t>
            </a:r>
            <a:r>
              <a:rPr lang="en-US" altLang="ko-KR" b="1" dirty="0"/>
              <a:t>, </a:t>
            </a:r>
            <a:r>
              <a:rPr lang="en-US" altLang="ko-KR" b="1" dirty="0" err="1"/>
              <a:t>Dingzhan</a:t>
            </a:r>
            <a:r>
              <a:rPr lang="en-US" altLang="ko-KR" b="1" dirty="0"/>
              <a:t> Yu and Yu Lin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77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보다 효율적이고 확장 가능한 방식으로 </a:t>
            </a:r>
            <a:r>
              <a:rPr lang="en-US" altLang="ko-KR" dirty="0"/>
              <a:t>Mission schedule</a:t>
            </a:r>
            <a:r>
              <a:rPr lang="ko-KR" altLang="en-US" dirty="0"/>
              <a:t>을 최적화하기 위해 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(Visible Camera, SAR)</a:t>
            </a:r>
            <a:r>
              <a:rPr lang="ko-KR" altLang="en-US" dirty="0"/>
              <a:t>을 동시에 운용함 </a:t>
            </a:r>
            <a:endParaRPr lang="en-US" altLang="ko-KR" dirty="0"/>
          </a:p>
          <a:p>
            <a:pPr lvl="1"/>
            <a:r>
              <a:rPr lang="en-US" altLang="ko-KR" dirty="0"/>
              <a:t>Mission</a:t>
            </a:r>
            <a:r>
              <a:rPr lang="ko-KR" altLang="en-US" dirty="0"/>
              <a:t> </a:t>
            </a:r>
            <a:r>
              <a:rPr lang="en-US" altLang="ko-KR" dirty="0"/>
              <a:t>schedule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위성에게 요구된 작업들과 그에 따른 제한사항 및 다양한 변수들을 종합적으로 고려하여 상호간의 시간</a:t>
            </a:r>
            <a:r>
              <a:rPr lang="en-US" altLang="ko-KR" dirty="0"/>
              <a:t>, </a:t>
            </a:r>
            <a:r>
              <a:rPr lang="ko-KR" altLang="en-US" dirty="0"/>
              <a:t>조건 등의 충돌을 회피함과 동시에 위성의 자원을 최대한 활용하여 운용할 수 있는 최적의 작업시간을 생성하는 것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6597969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임무의 </a:t>
            </a:r>
            <a:r>
              <a:rPr lang="en-US" altLang="ko-KR" dirty="0"/>
              <a:t>Schedule Stage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3A9BE4-E5BB-A00B-38DB-2CF678A9C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310" y="1428004"/>
            <a:ext cx="6425211" cy="463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81036625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임무의 </a:t>
            </a:r>
            <a:r>
              <a:rPr lang="en-US" altLang="ko-KR" dirty="0"/>
              <a:t>Schedule Stage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3A9BE4-E5BB-A00B-38DB-2CF678A9C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310" y="1428004"/>
            <a:ext cx="6425211" cy="463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17263875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임무의 </a:t>
            </a:r>
            <a:r>
              <a:rPr lang="en-US" altLang="ko-KR" dirty="0"/>
              <a:t>Scheduling</a:t>
            </a:r>
            <a:r>
              <a:rPr lang="ko-KR" altLang="en-US" dirty="0"/>
              <a:t>을 위한 가정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서로 다른 유형의 탑재체를 사용하여 지상의 점 표적을 관측하며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대상은 한 번만 관측하면 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하나의 위성은 오직 하나의 탑재체를 운반한다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위성은 한 번에 한 가지 임무만 수행한다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일단 임무가 시작되면 중단은 고려되지 않는다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 궤도 기동의 상황은 고려되지 않는다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.</a:t>
            </a:r>
            <a:br>
              <a:rPr lang="ko-KR" altLang="en-US" dirty="0"/>
            </a:br>
            <a:br>
              <a:rPr lang="ko-KR" altLang="en-US" dirty="0"/>
            </a:b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26931735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임무의 제한조건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 </a:t>
                </a:r>
                <a:r>
                  <a:rPr lang="en-US" altLang="ko-KR" dirty="0"/>
                  <a:t>Visible window constraint : </a:t>
                </a:r>
                <a:r>
                  <a:rPr lang="ko-KR" altLang="en-US" dirty="0"/>
                  <a:t>위성의 탑재체는 타겟을 볼 수 있어야 하고 </a:t>
                </a:r>
                <a:r>
                  <a:rPr lang="en-US" altLang="ko-KR" dirty="0"/>
                  <a:t>Window Duration</a:t>
                </a:r>
                <a:r>
                  <a:rPr lang="ko-KR" altLang="en-US" dirty="0"/>
                  <a:t>은 임무 관측 시간보다 길어야 함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Task preparation time constraints : </a:t>
                </a:r>
                <a:r>
                  <a:rPr lang="ko-KR" altLang="en-US" dirty="0"/>
                  <a:t>위성의 관측이 끝난 후 다음 위성이 관측을 시작할 때 까지의 시간 간격은 탑재체의 준비 시간보다 길어야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Energy constraints : </a:t>
                </a:r>
                <a:r>
                  <a:rPr lang="ko-KR" altLang="en-US" dirty="0"/>
                  <a:t>각 위성에서 사용되는 총 에너지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소비량은 저장된 에너지 양의 상한선을 넘지 않아야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Lighting constraints : </a:t>
                </a:r>
                <a:r>
                  <a:rPr lang="ko-KR" altLang="en-US" dirty="0"/>
                  <a:t>광학 위성은 </a:t>
                </a:r>
                <a:r>
                  <a:rPr lang="en-US" altLang="ko-KR" dirty="0"/>
                  <a:t>Sun angle(</a:t>
                </a:r>
                <a:r>
                  <a:rPr lang="ko-KR" altLang="en-US" dirty="0"/>
                  <a:t>태양 고도 각도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내에 있어야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Payload type constraints :</a:t>
                </a:r>
                <a:r>
                  <a:rPr lang="ko-KR" altLang="en-US" dirty="0"/>
                  <a:t> 대상을 필요한 유형의 탑재체로 관측해야 함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임무의 최적화 목표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관측의 우선순위를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수를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α *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+ β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(α =0.6, β =0.4)</a:t>
                </a:r>
                <a:br>
                  <a:rPr lang="ko-KR" altLang="en-US" dirty="0"/>
                </a:br>
                <a:endParaRPr lang="ko-KR" altLang="en-US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398A19-5489-0733-1846-EE6021BC0C44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</p:spTree>
    <p:extLst>
      <p:ext uri="{BB962C8B-B14F-4D97-AF65-F5344CB8AC3E}">
        <p14:creationId xmlns:p14="http://schemas.microsoft.com/office/powerpoint/2010/main" val="17321595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Genetic Algorithm Design Concept(GA)</a:t>
            </a:r>
          </a:p>
          <a:p>
            <a:pPr lvl="2"/>
            <a:r>
              <a:rPr lang="en-US" altLang="ko-KR" dirty="0"/>
              <a:t>Chromosome coding design</a:t>
            </a:r>
          </a:p>
          <a:p>
            <a:pPr lvl="2"/>
            <a:r>
              <a:rPr lang="en-US" altLang="ko-KR" dirty="0"/>
              <a:t>Genetic algorithm procedure</a:t>
            </a:r>
          </a:p>
          <a:p>
            <a:pPr lvl="1"/>
            <a:r>
              <a:rPr lang="en-US" altLang="ko-KR" dirty="0"/>
              <a:t>Tabu Search Algorithm Design Concept(TS)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Hybrid Algorithm Design Concept(GA + TS)</a:t>
            </a:r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유전 알고리즘으로 모집단 전체를 검색하여 여러 세대 진화 후 수렴하는 해를 찾음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타부</a:t>
            </a:r>
            <a:r>
              <a:rPr lang="ko-KR" altLang="en-US" dirty="0"/>
              <a:t> 알고리즘으로 부족한 부분을 개선하여 최적 해를 찾음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DF5686F-7670-D346-B3C8-9D0A746D3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114106"/>
              </p:ext>
            </p:extLst>
          </p:nvPr>
        </p:nvGraphicFramePr>
        <p:xfrm>
          <a:off x="504755" y="2753159"/>
          <a:ext cx="789157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Algorithm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Genetic Algorithm(GA)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Tabu Search Algorithm(TS)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생물의 진화 원리를 모방하여 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최적화 문제를 해결하는데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최적해를 찾은 뒤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탐색이 불가능한 지역 탐색법의 단점을 보완하기 위해 개발된 알고리즘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03738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대규모 문제 해결에 유용함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초기 조건의 종류에 상관없이 작동 가능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병렬 처리로 여러 개의 해를 찾는 것도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지역 최적점을 벗어나기에 효율적임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이미 찾은 국지점이 있더라도 그 값을 저장하고 주변의 탐색을 다시 허용하여 전역 최적해를 찾을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최적해에 빠지기 쉬움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초기 해에 크게 의존하여 초기 해가 부정확하면 수렴 속도가 느려짐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99740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Genetic Algorithm Design Concept</a:t>
            </a:r>
          </a:p>
          <a:p>
            <a:pPr lvl="1"/>
            <a:r>
              <a:rPr lang="en-US" altLang="ko-KR" dirty="0"/>
              <a:t>Chromosome coding design</a:t>
            </a:r>
          </a:p>
          <a:p>
            <a:pPr marL="216000" lvl="1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D963127F-B289-6FE7-D1DA-C89B98F5E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8296"/>
            <a:ext cx="9144000" cy="21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6187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Genetic Algorithm Design Concept</a:t>
            </a:r>
          </a:p>
          <a:p>
            <a:pPr lvl="1"/>
            <a:r>
              <a:rPr lang="en-US" altLang="ko-KR" dirty="0"/>
              <a:t>Genetic algorithm procedure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17EADD4-C64D-837D-70C9-99E4409D5AC1}"/>
              </a:ext>
            </a:extLst>
          </p:cNvPr>
          <p:cNvGrpSpPr/>
          <p:nvPr/>
        </p:nvGrpSpPr>
        <p:grpSpPr>
          <a:xfrm>
            <a:off x="0" y="1975982"/>
            <a:ext cx="9144000" cy="3282375"/>
            <a:chOff x="0" y="1727401"/>
            <a:chExt cx="9144000" cy="32823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F477574-C8A5-FAF5-D74A-E5BCF8DC0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48223"/>
              <a:ext cx="9144000" cy="316155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4CD99E-DCAD-278E-2AE6-77A9A923AB35}"/>
                </a:ext>
              </a:extLst>
            </p:cNvPr>
            <p:cNvSpPr txBox="1"/>
            <p:nvPr/>
          </p:nvSpPr>
          <p:spPr>
            <a:xfrm>
              <a:off x="990600" y="3228944"/>
              <a:ext cx="11125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초기 해를 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무작위로 생성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A48BC8-7D8C-BBFF-22AA-E40B40FE5824}"/>
                </a:ext>
              </a:extLst>
            </p:cNvPr>
            <p:cNvSpPr txBox="1"/>
            <p:nvPr/>
          </p:nvSpPr>
          <p:spPr>
            <a:xfrm>
              <a:off x="3779758" y="2081344"/>
              <a:ext cx="1257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적합도 함수 계산</a:t>
              </a:r>
              <a:endParaRPr lang="en-US" altLang="ko-KR" sz="1000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76619C-CBA2-FE8D-4A22-560D16B7247A}"/>
                </a:ext>
              </a:extLst>
            </p:cNvPr>
            <p:cNvSpPr txBox="1"/>
            <p:nvPr/>
          </p:nvSpPr>
          <p:spPr>
            <a:xfrm>
              <a:off x="2377440" y="4465819"/>
              <a:ext cx="12573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최적해 도출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1E81EA-B02C-3302-8C3C-5022B1151728}"/>
                </a:ext>
              </a:extLst>
            </p:cNvPr>
            <p:cNvSpPr txBox="1"/>
            <p:nvPr/>
          </p:nvSpPr>
          <p:spPr>
            <a:xfrm>
              <a:off x="4290129" y="4265764"/>
              <a:ext cx="97686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성능 향상 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가능성 판단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2BD3B1-17C1-F413-8CD8-10C74444919A}"/>
                </a:ext>
              </a:extLst>
            </p:cNvPr>
            <p:cNvSpPr txBox="1"/>
            <p:nvPr/>
          </p:nvSpPr>
          <p:spPr>
            <a:xfrm>
              <a:off x="5231227" y="4388184"/>
              <a:ext cx="118109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TS</a:t>
              </a:r>
              <a:r>
                <a:rPr lang="ko-KR" altLang="en-US" sz="1000" dirty="0">
                  <a:solidFill>
                    <a:srgbClr val="FF0000"/>
                  </a:solidFill>
                </a:rPr>
                <a:t> 알고리즘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C735A1C-EEE1-2FD4-B001-93C7B9C1D8B6}"/>
                </a:ext>
              </a:extLst>
            </p:cNvPr>
            <p:cNvSpPr txBox="1"/>
            <p:nvPr/>
          </p:nvSpPr>
          <p:spPr>
            <a:xfrm>
              <a:off x="7131415" y="4385113"/>
              <a:ext cx="9162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Scheduling </a:t>
              </a:r>
              <a:r>
                <a:rPr lang="ko-KR" altLang="en-US" sz="1000" dirty="0">
                  <a:solidFill>
                    <a:srgbClr val="FF0000"/>
                  </a:solidFill>
                </a:rPr>
                <a:t>결과 도출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A079DD-2E7C-1CEE-1974-A469E0798CCA}"/>
                </a:ext>
              </a:extLst>
            </p:cNvPr>
            <p:cNvSpPr txBox="1"/>
            <p:nvPr/>
          </p:nvSpPr>
          <p:spPr>
            <a:xfrm>
              <a:off x="5153168" y="1881736"/>
              <a:ext cx="133721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선택연산 </a:t>
              </a:r>
              <a:r>
                <a:rPr lang="en-US" altLang="ko-KR" sz="1000" dirty="0">
                  <a:solidFill>
                    <a:srgbClr val="FF0000"/>
                  </a:solidFill>
                </a:rPr>
                <a:t>:</a:t>
              </a: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적합도 함수를 기반으로 개체를 선택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61B051-9D56-6F81-F444-09580B8F2E9D}"/>
                </a:ext>
              </a:extLst>
            </p:cNvPr>
            <p:cNvSpPr txBox="1"/>
            <p:nvPr/>
          </p:nvSpPr>
          <p:spPr>
            <a:xfrm>
              <a:off x="6482763" y="1878299"/>
              <a:ext cx="140960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교배연산 </a:t>
              </a:r>
              <a:r>
                <a:rPr lang="en-US" altLang="ko-KR" sz="1000" dirty="0">
                  <a:solidFill>
                    <a:srgbClr val="FF0000"/>
                  </a:solidFill>
                </a:rPr>
                <a:t>:</a:t>
              </a: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부모 개체에서 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자식 개체를 생성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D1A4B0-A949-7892-D3ED-6F39137B7306}"/>
                </a:ext>
              </a:extLst>
            </p:cNvPr>
            <p:cNvSpPr txBox="1"/>
            <p:nvPr/>
          </p:nvSpPr>
          <p:spPr>
            <a:xfrm>
              <a:off x="7863793" y="1727401"/>
              <a:ext cx="12573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돌연변이 연산 </a:t>
              </a:r>
              <a:r>
                <a:rPr lang="en-US" altLang="ko-KR" sz="1000" dirty="0">
                  <a:solidFill>
                    <a:srgbClr val="FF0000"/>
                  </a:solidFill>
                </a:rPr>
                <a:t>:</a:t>
              </a:r>
            </a:p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개체의 유전자를 무작위로 변경하여 다양성 유지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2FCA71F-73A6-9079-924F-4B00EFD9DC27}"/>
                </a:ext>
              </a:extLst>
            </p:cNvPr>
            <p:cNvSpPr txBox="1"/>
            <p:nvPr/>
          </p:nvSpPr>
          <p:spPr>
            <a:xfrm>
              <a:off x="2288285" y="2037081"/>
              <a:ext cx="12573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FF0000"/>
                  </a:solidFill>
                </a:rPr>
                <a:t>적합성 판단</a:t>
              </a:r>
              <a:endParaRPr lang="en-US" altLang="ko-KR" sz="10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rgbClr val="FF0000"/>
                  </a:solidFill>
                </a:rPr>
                <a:t>(</a:t>
              </a:r>
              <a:r>
                <a:rPr lang="ko-KR" altLang="en-US" sz="1000" dirty="0">
                  <a:solidFill>
                    <a:srgbClr val="FF0000"/>
                  </a:solidFill>
                </a:rPr>
                <a:t>인공위성의 성능</a:t>
              </a:r>
              <a:r>
                <a:rPr lang="en-US" altLang="ko-KR" sz="1000" dirty="0">
                  <a:solidFill>
                    <a:srgbClr val="FF0000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47574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Tabu Search Algorithm Design Concept</a:t>
            </a:r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C89C48-9F8E-68E4-38E5-AEE4DD89C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4922"/>
            <a:ext cx="9144000" cy="254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5304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Tabu Search Algorithm Design Concept</a:t>
            </a:r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EE853-A050-CF40-0324-A80B1A71350F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Research on a Heterogeneous Multi-satellite Mission Scheduling Model for Earth Observation Based on Adaptive Genetic-Tabu Hybrid Search Algorithm, 2021, </a:t>
            </a:r>
            <a:r>
              <a:rPr lang="en-US" altLang="ko-KR" sz="1000" b="1" dirty="0" err="1"/>
              <a:t>Lihao</a:t>
            </a:r>
            <a:r>
              <a:rPr lang="en-US" altLang="ko-KR" sz="1000" b="1" dirty="0"/>
              <a:t> Liu, </a:t>
            </a:r>
            <a:r>
              <a:rPr lang="en-US" altLang="ko-KR" sz="1000" b="1" dirty="0" err="1"/>
              <a:t>Zhenghong</a:t>
            </a:r>
            <a:r>
              <a:rPr lang="en-US" altLang="ko-KR" sz="1000" b="1" dirty="0"/>
              <a:t> Dong, </a:t>
            </a:r>
            <a:r>
              <a:rPr lang="en-US" altLang="ko-KR" sz="1000" b="1" dirty="0" err="1"/>
              <a:t>Haoxiang</a:t>
            </a:r>
            <a:r>
              <a:rPr lang="en-US" altLang="ko-KR" sz="1000" b="1" dirty="0"/>
              <a:t> </a:t>
            </a:r>
            <a:r>
              <a:rPr lang="en-US" altLang="ko-KR" sz="1000" b="1" dirty="0" err="1"/>
              <a:t>Su</a:t>
            </a:r>
            <a:r>
              <a:rPr lang="en-US" altLang="ko-KR" sz="1000" b="1" dirty="0"/>
              <a:t>, </a:t>
            </a:r>
            <a:r>
              <a:rPr lang="en-US" altLang="ko-KR" sz="1000" b="1" dirty="0" err="1"/>
              <a:t>Dingzhan</a:t>
            </a:r>
            <a:r>
              <a:rPr lang="en-US" altLang="ko-KR" sz="1000" b="1" dirty="0"/>
              <a:t> Yu and Yu Lin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F44310-991F-1D05-2096-FD2B62B1F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9473"/>
            <a:ext cx="9144000" cy="1719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AACBEA-ABF0-46EC-5131-387F6EA8ACFD}"/>
              </a:ext>
            </a:extLst>
          </p:cNvPr>
          <p:cNvSpPr txBox="1"/>
          <p:nvPr/>
        </p:nvSpPr>
        <p:spPr>
          <a:xfrm>
            <a:off x="327797" y="2396667"/>
            <a:ext cx="1112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유전 알고리즘 해를 입력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5FBA1-642C-0FAB-76AE-205763DD5495}"/>
              </a:ext>
            </a:extLst>
          </p:cNvPr>
          <p:cNvSpPr txBox="1"/>
          <p:nvPr/>
        </p:nvSpPr>
        <p:spPr>
          <a:xfrm>
            <a:off x="704850" y="3405231"/>
            <a:ext cx="163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현재 해에 따라 </a:t>
            </a:r>
            <a:r>
              <a:rPr lang="en-US" altLang="ko-KR" sz="1000" dirty="0">
                <a:solidFill>
                  <a:srgbClr val="FF0000"/>
                </a:solidFill>
              </a:rPr>
              <a:t>TS</a:t>
            </a:r>
            <a:r>
              <a:rPr lang="ko-KR" altLang="en-US" sz="1000" dirty="0">
                <a:solidFill>
                  <a:srgbClr val="FF0000"/>
                </a:solidFill>
              </a:rPr>
              <a:t>구조 및 검색전략을 갱신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3AFB7-DC82-9572-E3F6-3408B1B67084}"/>
              </a:ext>
            </a:extLst>
          </p:cNvPr>
          <p:cNvSpPr txBox="1"/>
          <p:nvPr/>
        </p:nvSpPr>
        <p:spPr>
          <a:xfrm>
            <a:off x="3320527" y="2155739"/>
            <a:ext cx="1322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최대 반복 횟수에 도달하면 작동 중지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B433148-EDEB-4667-3BB0-793EA1BF8FF9}"/>
              </a:ext>
            </a:extLst>
          </p:cNvPr>
          <p:cNvCxnSpPr/>
          <p:nvPr/>
        </p:nvCxnSpPr>
        <p:spPr>
          <a:xfrm flipV="1">
            <a:off x="3350938" y="2596722"/>
            <a:ext cx="471762" cy="3242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52A2B3A-04F3-F0DD-B401-26F5D5B4A691}"/>
              </a:ext>
            </a:extLst>
          </p:cNvPr>
          <p:cNvCxnSpPr>
            <a:cxnSpLocks/>
          </p:cNvCxnSpPr>
          <p:nvPr/>
        </p:nvCxnSpPr>
        <p:spPr>
          <a:xfrm flipH="1" flipV="1">
            <a:off x="4103438" y="2623971"/>
            <a:ext cx="582861" cy="2970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CA714BF-8234-48FF-F081-E0B26EEE18FB}"/>
              </a:ext>
            </a:extLst>
          </p:cNvPr>
          <p:cNvSpPr txBox="1"/>
          <p:nvPr/>
        </p:nvSpPr>
        <p:spPr>
          <a:xfrm>
            <a:off x="3227434" y="3428999"/>
            <a:ext cx="163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FF0000"/>
                </a:solidFill>
              </a:rPr>
              <a:t>타부</a:t>
            </a:r>
            <a:r>
              <a:rPr lang="ko-KR" altLang="en-US" sz="1000" dirty="0">
                <a:solidFill>
                  <a:srgbClr val="FF0000"/>
                </a:solidFill>
              </a:rPr>
              <a:t> 리스트 및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다른 변수를 초기화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9F077E-1E66-F261-F69B-77F80DF2A585}"/>
              </a:ext>
            </a:extLst>
          </p:cNvPr>
          <p:cNvSpPr txBox="1"/>
          <p:nvPr/>
        </p:nvSpPr>
        <p:spPr>
          <a:xfrm>
            <a:off x="4801554" y="2355738"/>
            <a:ext cx="13226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이웃 해를 생성하고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적합도 함수를 계산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85C026-0E5B-48A3-2605-ED902AE215B4}"/>
              </a:ext>
            </a:extLst>
          </p:cNvPr>
          <p:cNvSpPr txBox="1"/>
          <p:nvPr/>
        </p:nvSpPr>
        <p:spPr>
          <a:xfrm>
            <a:off x="6111378" y="2500860"/>
            <a:ext cx="9916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이웃해를 저장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2C9DE7-C3E5-CC67-27A9-41CF5A63B29F}"/>
              </a:ext>
            </a:extLst>
          </p:cNvPr>
          <p:cNvSpPr txBox="1"/>
          <p:nvPr/>
        </p:nvSpPr>
        <p:spPr>
          <a:xfrm>
            <a:off x="5683475" y="3996525"/>
            <a:ext cx="1542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목표기준을 만족하면 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업데이트된 해로 대체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C20E80-B080-9327-5F30-57D84D776008}"/>
              </a:ext>
            </a:extLst>
          </p:cNvPr>
          <p:cNvSpPr txBox="1"/>
          <p:nvPr/>
        </p:nvSpPr>
        <p:spPr>
          <a:xfrm>
            <a:off x="7103070" y="2349297"/>
            <a:ext cx="1854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목표기준을 만족하지 않으면 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기존의 해가 유지</a:t>
            </a:r>
          </a:p>
        </p:txBody>
      </p:sp>
    </p:spTree>
    <p:extLst>
      <p:ext uri="{BB962C8B-B14F-4D97-AF65-F5344CB8AC3E}">
        <p14:creationId xmlns:p14="http://schemas.microsoft.com/office/powerpoint/2010/main" val="328739767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설정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4ECE0C0-E171-6115-36F8-4137C4D1A0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555244"/>
              </p:ext>
            </p:extLst>
          </p:nvPr>
        </p:nvGraphicFramePr>
        <p:xfrm>
          <a:off x="363693" y="1527900"/>
          <a:ext cx="4476866" cy="3946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117">
                  <a:extLst>
                    <a:ext uri="{9D8B030D-6E8A-4147-A177-3AD203B41FA5}">
                      <a16:colId xmlns:a16="http://schemas.microsoft.com/office/drawing/2014/main" val="3687457586"/>
                    </a:ext>
                  </a:extLst>
                </a:gridCol>
                <a:gridCol w="1883918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25806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Sun-synchronous orbit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2020.06.08 16:00:00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2020.06.09 16:00:00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27154"/>
                  </a:ext>
                </a:extLst>
              </a:tr>
              <a:tr h="3871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수치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설계 및 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궤도전파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STK Software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22474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데이터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MATLAB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465013"/>
                  </a:ext>
                </a:extLst>
              </a:tr>
              <a:tr h="30968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CCD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Sensor Type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원뿔형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84221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FOV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32838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Lighting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sunAng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&gt;15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62390"/>
                  </a:ext>
                </a:extLst>
              </a:tr>
              <a:tr h="30968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Min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15.2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305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</a:rPr>
                        <a:t>Max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51.9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519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7E867A7-6114-363F-BDF6-06F0EA66C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662985"/>
              </p:ext>
            </p:extLst>
          </p:nvPr>
        </p:nvGraphicFramePr>
        <p:xfrm>
          <a:off x="5270212" y="1527900"/>
          <a:ext cx="271293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702632630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874337334"/>
                    </a:ext>
                  </a:extLst>
                </a:gridCol>
              </a:tblGrid>
              <a:tr h="13716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타겟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70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No.1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No.3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64343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No.4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19303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50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시행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15648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Crossover(%)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4422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Mutation(%)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8957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Global maximum iteration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7356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무작위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유형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타겟의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76434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설정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971BB3-6C8D-8B5D-2866-33D06A7D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70" y="1759965"/>
            <a:ext cx="4561725" cy="193157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C94859F-6295-E7D6-E6AD-36ED65E5E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570" y="1759965"/>
            <a:ext cx="3623560" cy="378242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A6E7683-C7FE-AF5C-5EBD-C2B4CB4092EA}"/>
              </a:ext>
            </a:extLst>
          </p:cNvPr>
          <p:cNvCxnSpPr/>
          <p:nvPr/>
        </p:nvCxnSpPr>
        <p:spPr>
          <a:xfrm>
            <a:off x="7975092" y="3763457"/>
            <a:ext cx="6678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86E497E-62EB-433A-6C9B-32D1F133D589}"/>
              </a:ext>
            </a:extLst>
          </p:cNvPr>
          <p:cNvCxnSpPr>
            <a:cxnSpLocks/>
          </p:cNvCxnSpPr>
          <p:nvPr/>
        </p:nvCxnSpPr>
        <p:spPr>
          <a:xfrm>
            <a:off x="5219906" y="3967228"/>
            <a:ext cx="34230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BC7A2E4-EF1D-74D3-4FFD-978C33F4B31E}"/>
              </a:ext>
            </a:extLst>
          </p:cNvPr>
          <p:cNvCxnSpPr>
            <a:cxnSpLocks/>
          </p:cNvCxnSpPr>
          <p:nvPr/>
        </p:nvCxnSpPr>
        <p:spPr>
          <a:xfrm>
            <a:off x="7749061" y="4172711"/>
            <a:ext cx="8938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A56D507-4821-59A1-F262-B178B023BF78}"/>
              </a:ext>
            </a:extLst>
          </p:cNvPr>
          <p:cNvCxnSpPr>
            <a:cxnSpLocks/>
          </p:cNvCxnSpPr>
          <p:nvPr/>
        </p:nvCxnSpPr>
        <p:spPr>
          <a:xfrm>
            <a:off x="5209632" y="4366207"/>
            <a:ext cx="27654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956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281DEF4-D10A-ACA0-5CDD-7C14F8C14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02" y="1595437"/>
            <a:ext cx="7160948" cy="39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1906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941D5-BE80-C429-B82B-063E05B87222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BDEC07-E393-1C8A-C5E8-09A4043E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19970"/>
            <a:ext cx="9144000" cy="321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3197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D82B09E-88BE-37DA-C537-8C0B00C6F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50034C-9420-5AEC-A375-2A11FD1454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162925" y="6327775"/>
            <a:ext cx="981075" cy="360363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6320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 </a:t>
            </a:r>
            <a:endParaRPr lang="en-US" altLang="ko-KR" dirty="0"/>
          </a:p>
          <a:p>
            <a:pPr lvl="1"/>
            <a:r>
              <a:rPr lang="ko-KR" altLang="en-US" dirty="0"/>
              <a:t>해의 성능과 연산 시간 사이에는 </a:t>
            </a:r>
            <a:r>
              <a:rPr lang="en-US" altLang="ko-KR" dirty="0"/>
              <a:t>Trade-off </a:t>
            </a:r>
            <a:r>
              <a:rPr lang="ko-KR" altLang="en-US" dirty="0"/>
              <a:t>관계가 있음</a:t>
            </a:r>
            <a:endParaRPr lang="en-US" altLang="ko-KR" dirty="0"/>
          </a:p>
          <a:p>
            <a:pPr lvl="1"/>
            <a:r>
              <a:rPr lang="ko-KR" altLang="en-US" dirty="0"/>
              <a:t>위성의 운용환경에 따라 둘 중 어떤 부분에 중점을 두어야 하는 지 결정될 것</a:t>
            </a:r>
            <a:endParaRPr lang="en-US" altLang="ko-KR" sz="1800" dirty="0"/>
          </a:p>
          <a:p>
            <a:pPr lvl="1"/>
            <a:r>
              <a:rPr lang="ko-KR" altLang="en-US" dirty="0"/>
              <a:t>고려해야 할 변수 및 제한 조건의 수에 따라 두 알고리즘</a:t>
            </a:r>
            <a:r>
              <a:rPr lang="en-US" altLang="ko-KR" dirty="0"/>
              <a:t>(</a:t>
            </a:r>
            <a:r>
              <a:rPr lang="ko-KR" altLang="en-US" dirty="0"/>
              <a:t>또는 혼합</a:t>
            </a:r>
            <a:r>
              <a:rPr lang="en-US" altLang="ko-KR" dirty="0"/>
              <a:t>) </a:t>
            </a:r>
            <a:r>
              <a:rPr lang="ko-KR" altLang="en-US" dirty="0"/>
              <a:t>중 어떤 것을 사용할지 판단해야 함 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8021F-0476-4294-6537-2828CFAA05C5}"/>
              </a:ext>
            </a:extLst>
          </p:cNvPr>
          <p:cNvSpPr txBox="1"/>
          <p:nvPr/>
        </p:nvSpPr>
        <p:spPr>
          <a:xfrm>
            <a:off x="139700" y="6088826"/>
            <a:ext cx="8412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2000" lvl="2">
              <a:defRPr/>
            </a:pPr>
            <a:r>
              <a:rPr lang="ko-KR" altLang="en-US" sz="1000" b="1" dirty="0"/>
              <a:t>출처 </a:t>
            </a:r>
            <a:r>
              <a:rPr lang="en-US" altLang="ko-KR" sz="1000" b="1" dirty="0"/>
              <a:t>: (A Framework for Heterogeneous Satellite Constellation Design for Rapid Response Earth Observations, 2019, Ibrahim Sanad and David G Michelson)</a:t>
            </a:r>
          </a:p>
        </p:txBody>
      </p:sp>
    </p:spTree>
    <p:extLst>
      <p:ext uri="{BB962C8B-B14F-4D97-AF65-F5344CB8AC3E}">
        <p14:creationId xmlns:p14="http://schemas.microsoft.com/office/powerpoint/2010/main" val="397237522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84516</TotalTime>
  <Words>1931</Words>
  <Application>Microsoft Office PowerPoint</Application>
  <PresentationFormat>화면 슬라이드 쇼(4:3)</PresentationFormat>
  <Paragraphs>319</Paragraphs>
  <Slides>20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noto</vt:lpstr>
      <vt:lpstr>Söhne</vt:lpstr>
      <vt:lpstr>맑은 고딕</vt:lpstr>
      <vt:lpstr>Arial</vt:lpstr>
      <vt:lpstr>Cambria Math</vt:lpstr>
      <vt:lpstr>times</vt:lpstr>
      <vt:lpstr>Wingdings</vt:lpstr>
      <vt:lpstr>Office 테마</vt:lpstr>
      <vt:lpstr>이종위성군 선행연구자료</vt:lpstr>
      <vt:lpstr>이종위성군 선행연구자료</vt:lpstr>
      <vt:lpstr>Research on a Heterogeneous Multi-satellite Mission Scheduling Model for Earth Observation Based on Adaptive Genetic-Tabu Hybrid Search Algorithm, 2021, Lihao Liu, Zhenghong Dong, Haoxiang Su, Dingzhan Yu and Yu Lin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이종위성군 선행연구자료</vt:lpstr>
      <vt:lpstr>결론</vt:lpstr>
      <vt:lpstr>이종위성군 선행연구자료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4627</cp:revision>
  <dcterms:created xsi:type="dcterms:W3CDTF">2018-01-29T02:45:56Z</dcterms:created>
  <dcterms:modified xsi:type="dcterms:W3CDTF">2023-04-20T05:57:18Z</dcterms:modified>
</cp:coreProperties>
</file>