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229" r:id="rId2"/>
    <p:sldId id="2303" r:id="rId3"/>
    <p:sldId id="2297" r:id="rId4"/>
    <p:sldId id="2302" r:id="rId5"/>
    <p:sldId id="2304" r:id="rId6"/>
    <p:sldId id="2314" r:id="rId7"/>
    <p:sldId id="2317" r:id="rId8"/>
    <p:sldId id="2315" r:id="rId9"/>
    <p:sldId id="2316" r:id="rId10"/>
    <p:sldId id="2318" r:id="rId11"/>
    <p:sldId id="2320" r:id="rId12"/>
    <p:sldId id="2319" r:id="rId13"/>
    <p:sldId id="2321" r:id="rId14"/>
    <p:sldId id="2322" r:id="rId15"/>
    <p:sldId id="2323" r:id="rId16"/>
    <p:sldId id="2324" r:id="rId17"/>
    <p:sldId id="2325" r:id="rId18"/>
    <p:sldId id="2326" r:id="rId19"/>
    <p:sldId id="2327" r:id="rId20"/>
    <p:sldId id="2337" r:id="rId21"/>
    <p:sldId id="2328" r:id="rId22"/>
    <p:sldId id="2329" r:id="rId23"/>
    <p:sldId id="2330" r:id="rId24"/>
    <p:sldId id="2331" r:id="rId25"/>
    <p:sldId id="2332" r:id="rId26"/>
    <p:sldId id="2333" r:id="rId27"/>
    <p:sldId id="2334" r:id="rId28"/>
    <p:sldId id="2335" r:id="rId29"/>
    <p:sldId id="2339" r:id="rId30"/>
    <p:sldId id="2338" r:id="rId31"/>
    <p:sldId id="2341" r:id="rId32"/>
    <p:sldId id="2343" r:id="rId33"/>
    <p:sldId id="2354" r:id="rId34"/>
    <p:sldId id="2232" r:id="rId35"/>
    <p:sldId id="2347" r:id="rId36"/>
    <p:sldId id="2346" r:id="rId37"/>
    <p:sldId id="2348" r:id="rId38"/>
    <p:sldId id="2349" r:id="rId39"/>
    <p:sldId id="2352" r:id="rId40"/>
    <p:sldId id="2351" r:id="rId41"/>
    <p:sldId id="2353" r:id="rId42"/>
    <p:sldId id="2355" r:id="rId43"/>
    <p:sldId id="2345" r:id="rId4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82161" autoAdjust="0"/>
  </p:normalViewPr>
  <p:slideViewPr>
    <p:cSldViewPr snapToGrid="0" showGuides="1">
      <p:cViewPr varScale="1">
        <p:scale>
          <a:sx n="88" d="100"/>
          <a:sy n="88" d="100"/>
        </p:scale>
        <p:origin x="22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참고문헌 표기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참고문헌 표기 시</a:t>
            </a:r>
            <a:r>
              <a:rPr lang="en-US" altLang="ko-KR" sz="1200" dirty="0"/>
              <a:t>, </a:t>
            </a:r>
            <a:r>
              <a:rPr lang="ko-KR" altLang="en-US" sz="1200" dirty="0"/>
              <a:t>저자와 </a:t>
            </a:r>
            <a:r>
              <a:rPr lang="ko-KR" altLang="en-US" sz="1200" dirty="0" err="1"/>
              <a:t>출판년도</a:t>
            </a:r>
            <a:r>
              <a:rPr lang="ko-KR" altLang="en-US" sz="1200" dirty="0"/>
              <a:t> 사이에 콤마 삽입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저자가 </a:t>
            </a:r>
            <a:r>
              <a:rPr lang="ko-KR" altLang="en-US" sz="1200" dirty="0" err="1"/>
              <a:t>여러명인</a:t>
            </a:r>
            <a:r>
              <a:rPr lang="ko-KR" altLang="en-US" sz="1200" dirty="0"/>
              <a:t> 경우</a:t>
            </a:r>
            <a:r>
              <a:rPr lang="en-US" altLang="ko-KR" sz="1200" dirty="0"/>
              <a:t> </a:t>
            </a:r>
            <a:r>
              <a:rPr lang="ko-KR" altLang="en-US" sz="1200" dirty="0"/>
              <a:t>표기하는 방법에 대해서는 팀미팅에서 여러 번 언급하였으므로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수정할 것</a:t>
            </a:r>
            <a:r>
              <a:rPr lang="en-US" altLang="ko-KR" sz="1200" dirty="0"/>
              <a:t>.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참고문헌 표기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참고문헌 표기 시</a:t>
            </a:r>
            <a:r>
              <a:rPr lang="en-US" altLang="ko-KR" sz="1200" dirty="0"/>
              <a:t>, </a:t>
            </a:r>
            <a:r>
              <a:rPr lang="ko-KR" altLang="en-US" sz="1200" dirty="0"/>
              <a:t>저자와 </a:t>
            </a:r>
            <a:r>
              <a:rPr lang="ko-KR" altLang="en-US" sz="1200" dirty="0" err="1"/>
              <a:t>출판년도</a:t>
            </a:r>
            <a:r>
              <a:rPr lang="ko-KR" altLang="en-US" sz="1200" dirty="0"/>
              <a:t> 사이에 콤마 삽입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저자가 </a:t>
            </a:r>
            <a:r>
              <a:rPr lang="ko-KR" altLang="en-US" sz="1200" dirty="0" err="1"/>
              <a:t>여러명인</a:t>
            </a:r>
            <a:r>
              <a:rPr lang="ko-KR" altLang="en-US" sz="1200" dirty="0"/>
              <a:t> 경우</a:t>
            </a:r>
            <a:r>
              <a:rPr lang="en-US" altLang="ko-KR" sz="1200" dirty="0"/>
              <a:t> </a:t>
            </a:r>
            <a:r>
              <a:rPr lang="ko-KR" altLang="en-US" sz="1200" dirty="0"/>
              <a:t>표기하는 방법에 대해서는 팀미팅에서 여러 번 언급하였으므로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수정할 것</a:t>
            </a:r>
            <a:r>
              <a:rPr lang="en-US" altLang="ko-KR" sz="1200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47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본 논문의 </a:t>
            </a:r>
            <a:r>
              <a:rPr lang="en-US" altLang="ko-KR" sz="1200" dirty="0"/>
              <a:t>‘Heterogeneous constellation’</a:t>
            </a:r>
            <a:r>
              <a:rPr lang="ko-KR" altLang="en-US" sz="1200" dirty="0"/>
              <a:t>의 정의는 무엇인지</a:t>
            </a:r>
            <a:r>
              <a:rPr lang="en-US" altLang="ko-KR" sz="1200" dirty="0"/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동일한 내용이 반복되는데</a:t>
            </a:r>
            <a:r>
              <a:rPr lang="en-US" altLang="ko-KR" sz="1200" dirty="0"/>
              <a:t>, </a:t>
            </a:r>
            <a:r>
              <a:rPr lang="ko-KR" altLang="en-US" sz="1200" dirty="0"/>
              <a:t>한 슬라이드로 요약할 것</a:t>
            </a:r>
            <a:r>
              <a:rPr lang="en-US" altLang="ko-KR" sz="1200" dirty="0"/>
              <a:t>(p4~9)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872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dirty="0"/>
              <a:t>한 개의 슬라이드에 요약하여 정리할 것</a:t>
            </a:r>
            <a:r>
              <a:rPr lang="en-US" altLang="ko-KR" sz="1200" dirty="0"/>
              <a:t>.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논문에서 표로 표현되었다는 것은</a:t>
            </a:r>
            <a:r>
              <a:rPr lang="en-US" altLang="ko-KR" sz="1200" dirty="0"/>
              <a:t>, </a:t>
            </a:r>
            <a:r>
              <a:rPr lang="ko-KR" altLang="en-US" sz="1200" dirty="0"/>
              <a:t>표로 표현해야 가독성이 높은 내용이라는 뜻임</a:t>
            </a:r>
            <a:r>
              <a:rPr lang="en-US" altLang="ko-KR" sz="1200" dirty="0"/>
              <a:t>. 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표는 발표자료에도 표로 옮기고</a:t>
            </a:r>
            <a:r>
              <a:rPr lang="en-US" altLang="ko-KR" sz="1200" dirty="0"/>
              <a:t>, </a:t>
            </a:r>
            <a:r>
              <a:rPr lang="ko-KR" altLang="en-US" sz="1200" dirty="0"/>
              <a:t>출처를 표기할 것</a:t>
            </a:r>
            <a:r>
              <a:rPr lang="en-US" altLang="ko-KR" sz="1200" dirty="0"/>
              <a:t>. 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동일한 내용이 반복되는데</a:t>
            </a:r>
            <a:r>
              <a:rPr lang="en-US" altLang="ko-KR" sz="1200" dirty="0"/>
              <a:t>, </a:t>
            </a:r>
            <a:r>
              <a:rPr lang="ko-KR" altLang="en-US" sz="1200" dirty="0"/>
              <a:t>한 슬라이드로 요약할 것</a:t>
            </a:r>
            <a:r>
              <a:rPr lang="en-US" altLang="ko-KR" sz="1200" dirty="0"/>
              <a:t>(p4~9)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063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dirty="0"/>
              <a:t>한 개의 슬라이드에 요약하여 정리할 것</a:t>
            </a:r>
            <a:r>
              <a:rPr lang="en-US" altLang="ko-KR" sz="1200" dirty="0"/>
              <a:t>.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논문에서 표로 표현되었다는 것은</a:t>
            </a:r>
            <a:r>
              <a:rPr lang="en-US" altLang="ko-KR" sz="1200" dirty="0"/>
              <a:t>, </a:t>
            </a:r>
            <a:r>
              <a:rPr lang="ko-KR" altLang="en-US" sz="1200" dirty="0"/>
              <a:t>표로 표현해야 가독성이 높은 내용이라는 뜻임</a:t>
            </a:r>
            <a:r>
              <a:rPr lang="en-US" altLang="ko-KR" sz="1200" dirty="0"/>
              <a:t>. 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표는 발표자료에도 표로 옮기고</a:t>
            </a:r>
            <a:r>
              <a:rPr lang="en-US" altLang="ko-KR" sz="1200" dirty="0"/>
              <a:t>, </a:t>
            </a:r>
            <a:r>
              <a:rPr lang="ko-KR" altLang="en-US" sz="1200" dirty="0"/>
              <a:t>출처를 표기할 것</a:t>
            </a:r>
            <a:r>
              <a:rPr lang="en-US" altLang="ko-KR" sz="1200" dirty="0"/>
              <a:t>. 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동일한 내용이 반복되는데</a:t>
            </a:r>
            <a:r>
              <a:rPr lang="en-US" altLang="ko-KR" sz="1200" dirty="0"/>
              <a:t>, </a:t>
            </a:r>
            <a:r>
              <a:rPr lang="ko-KR" altLang="en-US" sz="1200" dirty="0"/>
              <a:t>한 슬라이드로 요약할 것</a:t>
            </a:r>
            <a:r>
              <a:rPr lang="en-US" altLang="ko-KR" sz="1200" dirty="0"/>
              <a:t>(p4~9)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527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‘LEO</a:t>
            </a:r>
            <a:r>
              <a:rPr lang="ko-KR" altLang="en-US" sz="1200" dirty="0"/>
              <a:t>원격감지 시스템의 명령전달 및 데이터 복구를 다루는 이 논문의 접근 방법은 </a:t>
            </a:r>
            <a:r>
              <a:rPr lang="en-US" altLang="ko-KR" sz="1200" dirty="0"/>
              <a:t>STK</a:t>
            </a:r>
            <a:r>
              <a:rPr lang="ko-KR" altLang="en-US" sz="1200" dirty="0"/>
              <a:t>에 분석에 적합함</a:t>
            </a:r>
            <a:r>
              <a:rPr lang="en-US" altLang="ko-KR" sz="1200" dirty="0"/>
              <a:t>’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본인이 수행할 연구목표에 적합한지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결론에 동일한 문장이 있는데</a:t>
            </a:r>
            <a:r>
              <a:rPr lang="en-US" altLang="ko-KR" sz="1200" dirty="0"/>
              <a:t>, </a:t>
            </a:r>
            <a:r>
              <a:rPr lang="ko-KR" altLang="en-US" sz="1200" dirty="0"/>
              <a:t>옳게 작성된 문장인지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dirty="0"/>
              <a:t>Coverage, AWB, STK Analyzer</a:t>
            </a:r>
            <a:r>
              <a:rPr lang="ko-KR" altLang="en-US" sz="1200" dirty="0"/>
              <a:t>가 서로 다른 소프트웨어인지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DV</a:t>
            </a:r>
            <a:r>
              <a:rPr lang="ko-KR" altLang="en-US" sz="1200" dirty="0"/>
              <a:t>와 </a:t>
            </a:r>
            <a:r>
              <a:rPr lang="en-US" altLang="ko-KR" sz="1200" dirty="0"/>
              <a:t>MOP</a:t>
            </a:r>
            <a:r>
              <a:rPr lang="ko-KR" altLang="en-US" sz="1200" dirty="0"/>
              <a:t>의 정의가 무엇인지</a:t>
            </a:r>
            <a:r>
              <a:rPr lang="en-US" altLang="ko-KR" sz="1200" dirty="0"/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동일한 내용이 반복되는데</a:t>
            </a:r>
            <a:r>
              <a:rPr lang="en-US" altLang="ko-KR" sz="1200" dirty="0"/>
              <a:t>, </a:t>
            </a:r>
            <a:r>
              <a:rPr lang="ko-KR" altLang="en-US" sz="1200" dirty="0"/>
              <a:t>한 슬라이드로 요약할 것</a:t>
            </a:r>
            <a:r>
              <a:rPr lang="en-US" altLang="ko-KR" sz="1200" dirty="0"/>
              <a:t>(p4~9)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19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동일한 내용이 반복되는데</a:t>
            </a:r>
            <a:r>
              <a:rPr lang="en-US" altLang="ko-KR" sz="1200" dirty="0"/>
              <a:t>, </a:t>
            </a:r>
            <a:r>
              <a:rPr lang="ko-KR" altLang="en-US" sz="1200" dirty="0"/>
              <a:t>한 슬라이드로 요약할 것</a:t>
            </a:r>
            <a:r>
              <a:rPr lang="en-US" altLang="ko-KR" sz="1200" dirty="0"/>
              <a:t>(p4~9)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900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동일한 내용이 반복되는데</a:t>
            </a:r>
            <a:r>
              <a:rPr lang="en-US" altLang="ko-KR" sz="1200" dirty="0"/>
              <a:t>, </a:t>
            </a:r>
            <a:r>
              <a:rPr lang="ko-KR" altLang="en-US" sz="1200" dirty="0"/>
              <a:t>한 슬라이드로 요약할 것</a:t>
            </a:r>
            <a:r>
              <a:rPr lang="en-US" altLang="ko-KR" sz="1200" dirty="0"/>
              <a:t>(p4~9)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077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가장 주요한 </a:t>
            </a:r>
            <a:r>
              <a:rPr lang="en-US" altLang="ko-KR" sz="1200" dirty="0"/>
              <a:t>(</a:t>
            </a:r>
            <a:r>
              <a:rPr lang="ko-KR" altLang="en-US" sz="1200" dirty="0"/>
              <a:t>본 논문의 핵심이 되는 </a:t>
            </a:r>
            <a:r>
              <a:rPr lang="en-US" altLang="ko-KR" sz="1200" dirty="0"/>
              <a:t>or </a:t>
            </a:r>
            <a:r>
              <a:rPr lang="ko-KR" altLang="en-US" sz="1200" dirty="0"/>
              <a:t>본인의 연구에 적용할 수 있는</a:t>
            </a:r>
            <a:r>
              <a:rPr lang="en-US" altLang="ko-KR" sz="1200" dirty="0"/>
              <a:t>) figure</a:t>
            </a:r>
            <a:r>
              <a:rPr lang="ko-KR" altLang="en-US" sz="1200" dirty="0"/>
              <a:t>를 </a:t>
            </a:r>
            <a:r>
              <a:rPr lang="en-US" altLang="ko-KR" sz="1200" dirty="0"/>
              <a:t>3</a:t>
            </a:r>
            <a:r>
              <a:rPr lang="ko-KR" altLang="en-US" sz="1200" dirty="0"/>
              <a:t>개 이내로 정리할 것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194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가장 주요한 </a:t>
            </a:r>
            <a:r>
              <a:rPr lang="en-US" altLang="ko-KR" sz="1200" dirty="0"/>
              <a:t>(</a:t>
            </a:r>
            <a:r>
              <a:rPr lang="ko-KR" altLang="en-US" sz="1200" dirty="0"/>
              <a:t>본 논문의 핵심이 되는 </a:t>
            </a:r>
            <a:r>
              <a:rPr lang="en-US" altLang="ko-KR" sz="1200" dirty="0"/>
              <a:t>or </a:t>
            </a:r>
            <a:r>
              <a:rPr lang="ko-KR" altLang="en-US" sz="1200" dirty="0"/>
              <a:t>본인의 연구에 적용할 수 있는</a:t>
            </a:r>
            <a:r>
              <a:rPr lang="en-US" altLang="ko-KR" sz="1200" dirty="0"/>
              <a:t>) figure</a:t>
            </a:r>
            <a:r>
              <a:rPr lang="ko-KR" altLang="en-US" sz="1200" dirty="0"/>
              <a:t>를 </a:t>
            </a:r>
            <a:r>
              <a:rPr lang="en-US" altLang="ko-KR" sz="1200" dirty="0"/>
              <a:t>3</a:t>
            </a:r>
            <a:r>
              <a:rPr lang="ko-KR" altLang="en-US" sz="1200" dirty="0"/>
              <a:t>개 이내로 정리할 것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794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가장 주요한 </a:t>
            </a:r>
            <a:r>
              <a:rPr lang="en-US" altLang="ko-KR" sz="1200" dirty="0"/>
              <a:t>(</a:t>
            </a:r>
            <a:r>
              <a:rPr lang="ko-KR" altLang="en-US" sz="1200" dirty="0"/>
              <a:t>본 논문의 핵심이 되는 </a:t>
            </a:r>
            <a:r>
              <a:rPr lang="en-US" altLang="ko-KR" sz="1200" dirty="0"/>
              <a:t>or </a:t>
            </a:r>
            <a:r>
              <a:rPr lang="ko-KR" altLang="en-US" sz="1200" dirty="0"/>
              <a:t>본인의 연구에 적용할 수 있는</a:t>
            </a:r>
            <a:r>
              <a:rPr lang="en-US" altLang="ko-KR" sz="1200" dirty="0"/>
              <a:t>) figure</a:t>
            </a:r>
            <a:r>
              <a:rPr lang="ko-KR" altLang="en-US" sz="1200" dirty="0"/>
              <a:t>를 </a:t>
            </a:r>
            <a:r>
              <a:rPr lang="en-US" altLang="ko-KR" sz="1200" dirty="0"/>
              <a:t>3</a:t>
            </a:r>
            <a:r>
              <a:rPr lang="ko-KR" altLang="en-US" sz="1200" dirty="0"/>
              <a:t>개 이내로 정리할 것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721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가장 주요한 </a:t>
            </a:r>
            <a:r>
              <a:rPr lang="en-US" altLang="ko-KR" sz="1200" dirty="0"/>
              <a:t>(</a:t>
            </a:r>
            <a:r>
              <a:rPr lang="ko-KR" altLang="en-US" sz="1200" dirty="0"/>
              <a:t>본 논문의 핵심이 되는 </a:t>
            </a:r>
            <a:r>
              <a:rPr lang="en-US" altLang="ko-KR" sz="1200" dirty="0"/>
              <a:t>or </a:t>
            </a:r>
            <a:r>
              <a:rPr lang="ko-KR" altLang="en-US" sz="1200" dirty="0"/>
              <a:t>본인의 연구에 적용할 수 있는</a:t>
            </a:r>
            <a:r>
              <a:rPr lang="en-US" altLang="ko-KR" sz="1200" dirty="0"/>
              <a:t>) figure</a:t>
            </a:r>
            <a:r>
              <a:rPr lang="ko-KR" altLang="en-US" sz="1200" dirty="0"/>
              <a:t>를 </a:t>
            </a:r>
            <a:r>
              <a:rPr lang="en-US" altLang="ko-KR" sz="1200" dirty="0"/>
              <a:t>3</a:t>
            </a:r>
            <a:r>
              <a:rPr lang="ko-KR" altLang="en-US" sz="1200" dirty="0"/>
              <a:t>개 이내로 정리할 것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996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가장 주요한 </a:t>
            </a:r>
            <a:r>
              <a:rPr lang="en-US" altLang="ko-KR" sz="1200" dirty="0"/>
              <a:t>(</a:t>
            </a:r>
            <a:r>
              <a:rPr lang="ko-KR" altLang="en-US" sz="1200" dirty="0"/>
              <a:t>본 논문의 핵심이 되는 </a:t>
            </a:r>
            <a:r>
              <a:rPr lang="en-US" altLang="ko-KR" sz="1200" dirty="0"/>
              <a:t>or </a:t>
            </a:r>
            <a:r>
              <a:rPr lang="ko-KR" altLang="en-US" sz="1200" dirty="0"/>
              <a:t>본인의 연구에 적용할 수 있는</a:t>
            </a:r>
            <a:r>
              <a:rPr lang="en-US" altLang="ko-KR" sz="1200" dirty="0"/>
              <a:t>) figure</a:t>
            </a:r>
            <a:r>
              <a:rPr lang="ko-KR" altLang="en-US" sz="1200" dirty="0"/>
              <a:t>를 </a:t>
            </a:r>
            <a:r>
              <a:rPr lang="en-US" altLang="ko-KR" sz="1200" dirty="0"/>
              <a:t>3</a:t>
            </a:r>
            <a:r>
              <a:rPr lang="ko-KR" altLang="en-US" sz="1200" dirty="0"/>
              <a:t>개 이내로 정리할 것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857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가장 주요한 </a:t>
            </a:r>
            <a:r>
              <a:rPr lang="en-US" altLang="ko-KR" sz="1200" dirty="0"/>
              <a:t>(</a:t>
            </a:r>
            <a:r>
              <a:rPr lang="ko-KR" altLang="en-US" sz="1200" dirty="0"/>
              <a:t>본 논문의 핵심이 되는 </a:t>
            </a:r>
            <a:r>
              <a:rPr lang="en-US" altLang="ko-KR" sz="1200" dirty="0"/>
              <a:t>or </a:t>
            </a:r>
            <a:r>
              <a:rPr lang="ko-KR" altLang="en-US" sz="1200" dirty="0"/>
              <a:t>본인의 연구에 적용할 수 있는</a:t>
            </a:r>
            <a:r>
              <a:rPr lang="en-US" altLang="ko-KR" sz="1200" dirty="0"/>
              <a:t>) figure</a:t>
            </a:r>
            <a:r>
              <a:rPr lang="ko-KR" altLang="en-US" sz="1200" dirty="0"/>
              <a:t>를 </a:t>
            </a:r>
            <a:r>
              <a:rPr lang="en-US" altLang="ko-KR" sz="1200" dirty="0"/>
              <a:t>3</a:t>
            </a:r>
            <a:r>
              <a:rPr lang="ko-KR" altLang="en-US" sz="1200" dirty="0"/>
              <a:t>개 이내로 정리할 것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47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가장 주요한 </a:t>
            </a:r>
            <a:r>
              <a:rPr lang="en-US" altLang="ko-KR" sz="1200" dirty="0"/>
              <a:t>(</a:t>
            </a:r>
            <a:r>
              <a:rPr lang="ko-KR" altLang="en-US" sz="1200" dirty="0"/>
              <a:t>본 논문의 핵심이 되는 </a:t>
            </a:r>
            <a:r>
              <a:rPr lang="en-US" altLang="ko-KR" sz="1200" dirty="0"/>
              <a:t>or </a:t>
            </a:r>
            <a:r>
              <a:rPr lang="ko-KR" altLang="en-US" sz="1200" dirty="0"/>
              <a:t>본인의 연구에 적용할 수 있는</a:t>
            </a:r>
            <a:r>
              <a:rPr lang="en-US" altLang="ko-KR" sz="1200" dirty="0"/>
              <a:t>) figure</a:t>
            </a:r>
            <a:r>
              <a:rPr lang="ko-KR" altLang="en-US" sz="1200" dirty="0"/>
              <a:t>를 </a:t>
            </a:r>
            <a:r>
              <a:rPr lang="en-US" altLang="ko-KR" sz="1200" dirty="0"/>
              <a:t>3</a:t>
            </a:r>
            <a:r>
              <a:rPr lang="ko-KR" altLang="en-US" sz="1200" dirty="0"/>
              <a:t>개 이내로 정리할 것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13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가장 주요한 </a:t>
            </a:r>
            <a:r>
              <a:rPr lang="en-US" altLang="ko-KR" sz="1200" dirty="0"/>
              <a:t>(</a:t>
            </a:r>
            <a:r>
              <a:rPr lang="ko-KR" altLang="en-US" sz="1200" dirty="0"/>
              <a:t>본 논문의 핵심이 되는 </a:t>
            </a:r>
            <a:r>
              <a:rPr lang="en-US" altLang="ko-KR" sz="1200" dirty="0"/>
              <a:t>or </a:t>
            </a:r>
            <a:r>
              <a:rPr lang="ko-KR" altLang="en-US" sz="1200" dirty="0"/>
              <a:t>본인의 연구에 적용할 수 있는</a:t>
            </a:r>
            <a:r>
              <a:rPr lang="en-US" altLang="ko-KR" sz="1200" dirty="0"/>
              <a:t>) figure</a:t>
            </a:r>
            <a:r>
              <a:rPr lang="ko-KR" altLang="en-US" sz="1200" dirty="0"/>
              <a:t>를 </a:t>
            </a:r>
            <a:r>
              <a:rPr lang="en-US" altLang="ko-KR" sz="1200" dirty="0"/>
              <a:t>3</a:t>
            </a:r>
            <a:r>
              <a:rPr lang="ko-KR" altLang="en-US" sz="1200" dirty="0"/>
              <a:t>개 이내로 정리할 것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67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논문의 결론에 더해</a:t>
            </a:r>
            <a:r>
              <a:rPr lang="en-US" altLang="ko-KR" sz="1200" dirty="0"/>
              <a:t>, </a:t>
            </a:r>
            <a:r>
              <a:rPr lang="ko-KR" altLang="en-US" sz="1200" dirty="0"/>
              <a:t>본 논문의 내용 중 어떤 부분을 본인의 연구에 어떻게 적용할 수 있는지</a:t>
            </a:r>
            <a:r>
              <a:rPr lang="en-US" altLang="ko-KR" sz="1200" dirty="0"/>
              <a:t>?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31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참고문헌 표기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참고문헌 표기 시</a:t>
            </a:r>
            <a:r>
              <a:rPr lang="en-US" altLang="ko-KR" sz="1200" dirty="0"/>
              <a:t>, </a:t>
            </a:r>
            <a:r>
              <a:rPr lang="ko-KR" altLang="en-US" sz="1200" dirty="0"/>
              <a:t>저자와 </a:t>
            </a:r>
            <a:r>
              <a:rPr lang="ko-KR" altLang="en-US" sz="1200" dirty="0" err="1"/>
              <a:t>출판년도</a:t>
            </a:r>
            <a:r>
              <a:rPr lang="ko-KR" altLang="en-US" sz="1200" dirty="0"/>
              <a:t> 사이에 콤마 삽입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저자가 </a:t>
            </a:r>
            <a:r>
              <a:rPr lang="ko-KR" altLang="en-US" sz="1200" dirty="0" err="1"/>
              <a:t>여러명인</a:t>
            </a:r>
            <a:r>
              <a:rPr lang="ko-KR" altLang="en-US" sz="1200" dirty="0"/>
              <a:t> 경우</a:t>
            </a:r>
            <a:r>
              <a:rPr lang="en-US" altLang="ko-KR" sz="1200" dirty="0"/>
              <a:t> </a:t>
            </a:r>
            <a:r>
              <a:rPr lang="ko-KR" altLang="en-US" sz="1200" dirty="0"/>
              <a:t>표기하는 방법에 대해서는 팀미팅에서 여러 번 언급하였으므로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수정할 것</a:t>
            </a:r>
            <a:r>
              <a:rPr lang="en-US" altLang="ko-KR" sz="1200" dirty="0"/>
              <a:t>.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참고문헌 표기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참고문헌 표기 시</a:t>
            </a:r>
            <a:r>
              <a:rPr lang="en-US" altLang="ko-KR" sz="1200" dirty="0"/>
              <a:t>, </a:t>
            </a:r>
            <a:r>
              <a:rPr lang="ko-KR" altLang="en-US" sz="1200" dirty="0"/>
              <a:t>저자와 </a:t>
            </a:r>
            <a:r>
              <a:rPr lang="ko-KR" altLang="en-US" sz="1200" dirty="0" err="1"/>
              <a:t>출판년도</a:t>
            </a:r>
            <a:r>
              <a:rPr lang="ko-KR" altLang="en-US" sz="1200" dirty="0"/>
              <a:t> 사이에 콤마 삽입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저자가 </a:t>
            </a:r>
            <a:r>
              <a:rPr lang="ko-KR" altLang="en-US" sz="1200" dirty="0" err="1"/>
              <a:t>여러명인</a:t>
            </a:r>
            <a:r>
              <a:rPr lang="ko-KR" altLang="en-US" sz="1200" dirty="0"/>
              <a:t> 경우</a:t>
            </a:r>
            <a:r>
              <a:rPr lang="en-US" altLang="ko-KR" sz="1200" dirty="0"/>
              <a:t> </a:t>
            </a:r>
            <a:r>
              <a:rPr lang="ko-KR" altLang="en-US" sz="1200" dirty="0"/>
              <a:t>표기하는 방법에 대해서는 팀미팅에서 여러 번 언급하였으므로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수정할 것</a:t>
            </a:r>
            <a:r>
              <a:rPr lang="en-US" altLang="ko-KR" sz="1200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207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본 논문의 </a:t>
            </a:r>
            <a:r>
              <a:rPr lang="en-US" altLang="ko-KR" sz="1200" dirty="0"/>
              <a:t>‘Heterogeneous constellation’</a:t>
            </a:r>
            <a:r>
              <a:rPr lang="ko-KR" altLang="en-US" sz="1200" dirty="0"/>
              <a:t>의 정의는 무엇인지</a:t>
            </a:r>
            <a:r>
              <a:rPr lang="en-US" altLang="ko-KR" sz="1200" dirty="0"/>
              <a:t>?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105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dirty="0"/>
              <a:t>논문의 핵심이 표현되는 그래프</a:t>
            </a:r>
            <a:r>
              <a:rPr lang="en-US" altLang="ko-KR" sz="1200" dirty="0"/>
              <a:t>, </a:t>
            </a:r>
            <a:r>
              <a:rPr lang="ko-KR" altLang="en-US" sz="1200" dirty="0"/>
              <a:t>표</a:t>
            </a:r>
            <a:r>
              <a:rPr lang="en-US" altLang="ko-KR" sz="1200" dirty="0"/>
              <a:t>, </a:t>
            </a:r>
            <a:r>
              <a:rPr lang="ko-KR" altLang="en-US" sz="1200" dirty="0"/>
              <a:t>그림 등이 자료에 없음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핵심이 무엇인지 </a:t>
            </a:r>
            <a:r>
              <a:rPr lang="en-US" altLang="ko-KR" sz="1200" dirty="0"/>
              <a:t>(</a:t>
            </a:r>
            <a:r>
              <a:rPr lang="ko-KR" altLang="en-US" sz="1200" dirty="0"/>
              <a:t>그림으로 표현</a:t>
            </a:r>
            <a:r>
              <a:rPr lang="en-US" altLang="ko-KR" sz="1200" dirty="0"/>
              <a:t>)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시뮬레이션 결과가 있다면</a:t>
            </a:r>
            <a:r>
              <a:rPr lang="en-US" altLang="ko-KR" sz="1200" dirty="0"/>
              <a:t> </a:t>
            </a:r>
            <a:r>
              <a:rPr lang="ko-KR" altLang="en-US" sz="1200" dirty="0"/>
              <a:t>자료에 포함할 것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방법론만을 리뷰한 논문이라면 논문에서 인용한 참고문헌을 포함할 것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44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dirty="0"/>
              <a:t>논문의 핵심이 표현되는 그래프</a:t>
            </a:r>
            <a:r>
              <a:rPr lang="en-US" altLang="ko-KR" sz="1200" dirty="0"/>
              <a:t>, </a:t>
            </a:r>
            <a:r>
              <a:rPr lang="ko-KR" altLang="en-US" sz="1200" dirty="0"/>
              <a:t>표</a:t>
            </a:r>
            <a:r>
              <a:rPr lang="en-US" altLang="ko-KR" sz="1200" dirty="0"/>
              <a:t>, </a:t>
            </a:r>
            <a:r>
              <a:rPr lang="ko-KR" altLang="en-US" sz="1200" dirty="0"/>
              <a:t>그림 등이 자료에 없음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핵심이 무엇인지 </a:t>
            </a:r>
            <a:r>
              <a:rPr lang="en-US" altLang="ko-KR" sz="1200" dirty="0"/>
              <a:t>(</a:t>
            </a:r>
            <a:r>
              <a:rPr lang="ko-KR" altLang="en-US" sz="1200" dirty="0"/>
              <a:t>그림으로 표현</a:t>
            </a:r>
            <a:r>
              <a:rPr lang="en-US" altLang="ko-KR" sz="1200" dirty="0"/>
              <a:t>)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시뮬레이션 결과가 있다면</a:t>
            </a:r>
            <a:r>
              <a:rPr lang="en-US" altLang="ko-KR" sz="1200" dirty="0"/>
              <a:t> </a:t>
            </a:r>
            <a:r>
              <a:rPr lang="ko-KR" altLang="en-US" sz="1200" dirty="0"/>
              <a:t>자료에 포함할 것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방법론만을 리뷰한 논문이라면 논문에서 인용한 참고문헌을 포함할 것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843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dirty="0"/>
              <a:t>논문의 핵심이 표현되는 그래프</a:t>
            </a:r>
            <a:r>
              <a:rPr lang="en-US" altLang="ko-KR" sz="1200" dirty="0"/>
              <a:t>, </a:t>
            </a:r>
            <a:r>
              <a:rPr lang="ko-KR" altLang="en-US" sz="1200" dirty="0"/>
              <a:t>표</a:t>
            </a:r>
            <a:r>
              <a:rPr lang="en-US" altLang="ko-KR" sz="1200" dirty="0"/>
              <a:t>, </a:t>
            </a:r>
            <a:r>
              <a:rPr lang="ko-KR" altLang="en-US" sz="1200" dirty="0"/>
              <a:t>그림 등이 자료에 없음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핵심이 무엇인지 </a:t>
            </a:r>
            <a:r>
              <a:rPr lang="en-US" altLang="ko-KR" sz="1200" dirty="0"/>
              <a:t>(</a:t>
            </a:r>
            <a:r>
              <a:rPr lang="ko-KR" altLang="en-US" sz="1200" dirty="0"/>
              <a:t>그림으로 표현</a:t>
            </a:r>
            <a:r>
              <a:rPr lang="en-US" altLang="ko-KR" sz="1200" dirty="0"/>
              <a:t>)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시뮬레이션 결과가 있다면</a:t>
            </a:r>
            <a:r>
              <a:rPr lang="en-US" altLang="ko-KR" sz="1200" dirty="0"/>
              <a:t> </a:t>
            </a:r>
            <a:r>
              <a:rPr lang="ko-KR" altLang="en-US" sz="1200" dirty="0"/>
              <a:t>자료에 포함할 것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방법론만을 리뷰한 논문이라면 논문에서 인용한 참고문헌을 포함할 것</a:t>
            </a:r>
            <a:endParaRPr lang="en-US" altLang="ko-KR" sz="1200" dirty="0"/>
          </a:p>
          <a:p>
            <a:endParaRPr lang="en-US" altLang="ko-KR" dirty="0"/>
          </a:p>
          <a:p>
            <a:pPr latinLnBrk="1"/>
            <a:r>
              <a:rPr lang="ko-KR" altLang="en-US" sz="1200" dirty="0"/>
              <a:t>한 개의 슬라이드에 요약하여 정리할 것</a:t>
            </a:r>
            <a:r>
              <a:rPr lang="en-US" altLang="ko-KR" sz="1200" dirty="0"/>
              <a:t>.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논문에서 표로 표현되었다는 것은</a:t>
            </a:r>
            <a:r>
              <a:rPr lang="en-US" altLang="ko-KR" sz="1200" dirty="0"/>
              <a:t>, </a:t>
            </a:r>
            <a:r>
              <a:rPr lang="ko-KR" altLang="en-US" sz="1200" dirty="0"/>
              <a:t>표로 표현해야 가독성이 높은 내용이라는 뜻임</a:t>
            </a:r>
            <a:r>
              <a:rPr lang="en-US" altLang="ko-KR" sz="1200" dirty="0"/>
              <a:t>. 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표는 발표자료에도 표로 옮기고</a:t>
            </a:r>
            <a:r>
              <a:rPr lang="en-US" altLang="ko-KR" sz="1200" dirty="0"/>
              <a:t>, </a:t>
            </a:r>
            <a:r>
              <a:rPr lang="ko-KR" altLang="en-US" sz="1200" dirty="0"/>
              <a:t>출처를 표기할 것</a:t>
            </a:r>
            <a:r>
              <a:rPr lang="en-US" altLang="ko-KR" sz="1200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3856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dirty="0"/>
              <a:t>논문의 핵심이 표현되는 그래프</a:t>
            </a:r>
            <a:r>
              <a:rPr lang="en-US" altLang="ko-KR" sz="1200" dirty="0"/>
              <a:t>, </a:t>
            </a:r>
            <a:r>
              <a:rPr lang="ko-KR" altLang="en-US" sz="1200" dirty="0"/>
              <a:t>표</a:t>
            </a:r>
            <a:r>
              <a:rPr lang="en-US" altLang="ko-KR" sz="1200" dirty="0"/>
              <a:t>, </a:t>
            </a:r>
            <a:r>
              <a:rPr lang="ko-KR" altLang="en-US" sz="1200" dirty="0"/>
              <a:t>그림 등이 자료에 없음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핵심이 무엇인지 </a:t>
            </a:r>
            <a:r>
              <a:rPr lang="en-US" altLang="ko-KR" sz="1200" dirty="0"/>
              <a:t>(</a:t>
            </a:r>
            <a:r>
              <a:rPr lang="ko-KR" altLang="en-US" sz="1200" dirty="0"/>
              <a:t>그림으로 표현</a:t>
            </a:r>
            <a:r>
              <a:rPr lang="en-US" altLang="ko-KR" sz="1200" dirty="0"/>
              <a:t>)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시뮬레이션 결과가 있다면</a:t>
            </a:r>
            <a:r>
              <a:rPr lang="en-US" altLang="ko-KR" sz="1200" dirty="0"/>
              <a:t> </a:t>
            </a:r>
            <a:r>
              <a:rPr lang="ko-KR" altLang="en-US" sz="1200" dirty="0"/>
              <a:t>자료에 포함할 것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방법론만을 리뷰한 논문이라면 논문에서 인용한 참고문헌을 포함할 것</a:t>
            </a:r>
            <a:endParaRPr lang="en-US" altLang="ko-KR" sz="1200" dirty="0"/>
          </a:p>
          <a:p>
            <a:endParaRPr lang="en-US" altLang="ko-KR" dirty="0"/>
          </a:p>
          <a:p>
            <a:pPr latinLnBrk="1"/>
            <a:r>
              <a:rPr lang="ko-KR" altLang="en-US" sz="1200" dirty="0"/>
              <a:t>한 개의 슬라이드에 요약하여 정리할 것</a:t>
            </a:r>
            <a:r>
              <a:rPr lang="en-US" altLang="ko-KR" sz="1200" dirty="0"/>
              <a:t>.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논문에서 표로 표현되었다는 것은</a:t>
            </a:r>
            <a:r>
              <a:rPr lang="en-US" altLang="ko-KR" sz="1200" dirty="0"/>
              <a:t>, </a:t>
            </a:r>
            <a:r>
              <a:rPr lang="ko-KR" altLang="en-US" sz="1200" dirty="0"/>
              <a:t>표로 표현해야 가독성이 높은 내용이라는 뜻임</a:t>
            </a:r>
            <a:r>
              <a:rPr lang="en-US" altLang="ko-KR" sz="1200" dirty="0"/>
              <a:t>. 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표는 발표자료에도 표로 옮기고</a:t>
            </a:r>
            <a:r>
              <a:rPr lang="en-US" altLang="ko-KR" sz="1200" dirty="0"/>
              <a:t>, </a:t>
            </a:r>
            <a:r>
              <a:rPr lang="ko-KR" altLang="en-US" sz="1200" dirty="0"/>
              <a:t>출처를 표기할 것</a:t>
            </a:r>
            <a:r>
              <a:rPr lang="en-US" altLang="ko-KR" sz="1200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234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dirty="0"/>
              <a:t>논문의 핵심이 표현되는 그래프</a:t>
            </a:r>
            <a:r>
              <a:rPr lang="en-US" altLang="ko-KR" sz="1200" dirty="0"/>
              <a:t>, </a:t>
            </a:r>
            <a:r>
              <a:rPr lang="ko-KR" altLang="en-US" sz="1200" dirty="0"/>
              <a:t>표</a:t>
            </a:r>
            <a:r>
              <a:rPr lang="en-US" altLang="ko-KR" sz="1200" dirty="0"/>
              <a:t>, </a:t>
            </a:r>
            <a:r>
              <a:rPr lang="ko-KR" altLang="en-US" sz="1200" dirty="0"/>
              <a:t>그림 등이 자료에 없음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핵심이 무엇인지 </a:t>
            </a:r>
            <a:r>
              <a:rPr lang="en-US" altLang="ko-KR" sz="1200" dirty="0"/>
              <a:t>(</a:t>
            </a:r>
            <a:r>
              <a:rPr lang="ko-KR" altLang="en-US" sz="1200" dirty="0"/>
              <a:t>그림으로 표현</a:t>
            </a:r>
            <a:r>
              <a:rPr lang="en-US" altLang="ko-KR" sz="1200" dirty="0"/>
              <a:t>)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시뮬레이션 결과가 있다면</a:t>
            </a:r>
            <a:r>
              <a:rPr lang="en-US" altLang="ko-KR" sz="1200" dirty="0"/>
              <a:t> </a:t>
            </a:r>
            <a:r>
              <a:rPr lang="ko-KR" altLang="en-US" sz="1200" dirty="0"/>
              <a:t>자료에 포함할 것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방법론만을 리뷰한 논문이라면 논문에서 인용한 참고문헌을 포함할 것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9513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dirty="0"/>
              <a:t>논문의 핵심이 표현되는 그래프</a:t>
            </a:r>
            <a:r>
              <a:rPr lang="en-US" altLang="ko-KR" sz="1200" dirty="0"/>
              <a:t>, </a:t>
            </a:r>
            <a:r>
              <a:rPr lang="ko-KR" altLang="en-US" sz="1200" dirty="0"/>
              <a:t>표</a:t>
            </a:r>
            <a:r>
              <a:rPr lang="en-US" altLang="ko-KR" sz="1200" dirty="0"/>
              <a:t>, </a:t>
            </a:r>
            <a:r>
              <a:rPr lang="ko-KR" altLang="en-US" sz="1200" dirty="0"/>
              <a:t>그림 등이 자료에 없음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핵심이 무엇인지 </a:t>
            </a:r>
            <a:r>
              <a:rPr lang="en-US" altLang="ko-KR" sz="1200" dirty="0"/>
              <a:t>(</a:t>
            </a:r>
            <a:r>
              <a:rPr lang="ko-KR" altLang="en-US" sz="1200" dirty="0"/>
              <a:t>그림으로 표현</a:t>
            </a:r>
            <a:r>
              <a:rPr lang="en-US" altLang="ko-KR" sz="1200" dirty="0"/>
              <a:t>)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시뮬레이션 결과가 있다면</a:t>
            </a:r>
            <a:r>
              <a:rPr lang="en-US" altLang="ko-KR" sz="1200" dirty="0"/>
              <a:t> </a:t>
            </a:r>
            <a:r>
              <a:rPr lang="ko-KR" altLang="en-US" sz="1200" dirty="0"/>
              <a:t>자료에 포함할 것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방법론만을 리뷰한 논문이라면 논문에서 인용한 참고문헌을 포함할 것</a:t>
            </a:r>
            <a:endParaRPr lang="en-US" altLang="ko-KR" sz="1200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‘</a:t>
            </a:r>
            <a:r>
              <a:rPr lang="ko-KR" altLang="en-US" sz="1200" dirty="0"/>
              <a:t>하지만 재구성 설계에 대한 모델 및 지표가 없는 것이 한계</a:t>
            </a:r>
            <a:r>
              <a:rPr lang="en-US" altLang="ko-KR" sz="1200" dirty="0"/>
              <a:t>’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 err="1"/>
              <a:t>를</a:t>
            </a:r>
            <a:r>
              <a:rPr lang="ko-KR" altLang="en-US" sz="1200" dirty="0"/>
              <a:t> 어떻게 극복하여 본인의 연구에 적용할 수 있을지</a:t>
            </a:r>
            <a:r>
              <a:rPr lang="en-US" altLang="ko-KR" sz="120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4695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0583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8493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0334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참고문헌 표기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참고문헌 표기 시</a:t>
            </a:r>
            <a:r>
              <a:rPr lang="en-US" altLang="ko-KR" sz="1200" dirty="0"/>
              <a:t>, </a:t>
            </a:r>
            <a:r>
              <a:rPr lang="ko-KR" altLang="en-US" sz="1200" dirty="0"/>
              <a:t>저자와 </a:t>
            </a:r>
            <a:r>
              <a:rPr lang="ko-KR" altLang="en-US" sz="1200" dirty="0" err="1"/>
              <a:t>출판년도</a:t>
            </a:r>
            <a:r>
              <a:rPr lang="ko-KR" altLang="en-US" sz="1200" dirty="0"/>
              <a:t> 사이에 콤마 삽입</a:t>
            </a:r>
            <a:endParaRPr lang="en-US" altLang="ko-KR" sz="1200" dirty="0"/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/>
              <a:t>저자가 </a:t>
            </a:r>
            <a:r>
              <a:rPr lang="ko-KR" altLang="en-US" sz="1200" dirty="0" err="1"/>
              <a:t>여러명인</a:t>
            </a:r>
            <a:r>
              <a:rPr lang="ko-KR" altLang="en-US" sz="1200" dirty="0"/>
              <a:t> 경우</a:t>
            </a:r>
            <a:r>
              <a:rPr lang="en-US" altLang="ko-KR" sz="1200" dirty="0"/>
              <a:t> </a:t>
            </a:r>
            <a:r>
              <a:rPr lang="ko-KR" altLang="en-US" sz="1200" dirty="0"/>
              <a:t>표기하는 방법에 대해서는 팀미팅에서 여러 번 언급하였으므로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수정할 것</a:t>
            </a:r>
            <a:r>
              <a:rPr lang="en-US" altLang="ko-KR" sz="1200" dirty="0"/>
              <a:t>.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04841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706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GSD(ground sample distance) :  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영상의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픽셀이 지상에서 가지는 실제 거리</a:t>
            </a:r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X-band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dirty="0"/>
              <a:t>8.5 ~ 10.4 GHz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L-band(</a:t>
            </a:r>
            <a:r>
              <a:rPr lang="en-US" altLang="ko-KR" dirty="0"/>
              <a:t>40~60 GHz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Push broom : device for obtaining images with </a:t>
            </a:r>
            <a:r>
              <a:rPr lang="en-US" altLang="ko-KR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spectroscopic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sensors.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253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AIS : </a:t>
            </a:r>
            <a:r>
              <a:rPr lang="ko-KR" altLang="en-US" dirty="0"/>
              <a:t>항공정보</a:t>
            </a:r>
            <a:r>
              <a:rPr lang="en-US" altLang="ko-KR" dirty="0"/>
              <a:t>, </a:t>
            </a:r>
            <a:r>
              <a:rPr lang="ko-KR" altLang="en-US" dirty="0"/>
              <a:t>선박자동식별장치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농작물 모니터링</a:t>
            </a:r>
            <a:r>
              <a:rPr lang="en-US" altLang="ko-KR" dirty="0"/>
              <a:t>, </a:t>
            </a:r>
            <a:r>
              <a:rPr lang="ko-KR" altLang="en-US" dirty="0"/>
              <a:t>산림 구조 모델링</a:t>
            </a:r>
            <a:r>
              <a:rPr lang="en-US" altLang="ko-KR" dirty="0"/>
              <a:t>, biomass </a:t>
            </a:r>
            <a:r>
              <a:rPr lang="ko-KR" altLang="en-US" dirty="0"/>
              <a:t>추정</a:t>
            </a:r>
            <a:r>
              <a:rPr lang="en-US" altLang="ko-KR" dirty="0"/>
              <a:t>, </a:t>
            </a:r>
            <a:r>
              <a:rPr lang="ko-KR" altLang="en-US" dirty="0"/>
              <a:t>토양 수분 탐지 및 선박 탐지 등 고해상도 감시 및 광범위한 해양 감시 등의 프로그램 제공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MIMO (Multi-Input Multi-Output)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6507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 NESZ : noise equivalent sigma zero (SAR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시스템 민감도에 관한 지표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4790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21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2023-04-06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04727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프로젝트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이종위성군 성능 분석 및 설계</a:t>
            </a:r>
            <a:r>
              <a:rPr lang="en-US" altLang="ko-KR" sz="1600" dirty="0"/>
              <a:t>/</a:t>
            </a:r>
            <a:r>
              <a:rPr lang="ko-KR" altLang="en-US" sz="1600" dirty="0"/>
              <a:t>최적화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작성 일자 </a:t>
            </a:r>
            <a:r>
              <a:rPr lang="en-US" altLang="ko-KR" sz="1600" dirty="0"/>
              <a:t>: 2023.04.04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작성자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연세대학교 우주비행제어 연구실 </a:t>
            </a:r>
            <a:r>
              <a:rPr lang="en-US" altLang="ko-KR" sz="1600" dirty="0"/>
              <a:t>(</a:t>
            </a:r>
            <a:r>
              <a:rPr lang="ko-KR" altLang="en-US" sz="1600" dirty="0"/>
              <a:t>이진진</a:t>
            </a:r>
            <a:r>
              <a:rPr lang="en-US" altLang="ko-KR" sz="1600" dirty="0"/>
              <a:t>)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연구목표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감시</a:t>
            </a:r>
            <a:r>
              <a:rPr lang="en-US" altLang="ko-KR" sz="1600" dirty="0"/>
              <a:t>/</a:t>
            </a:r>
            <a:r>
              <a:rPr lang="ko-KR" altLang="en-US" sz="1600" dirty="0"/>
              <a:t>정찰 임무 수행을 위한 이종 위성군의 설계 최적화 및 운용 개념 도출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연구자료 요약 </a:t>
            </a:r>
            <a:r>
              <a:rPr lang="en-US" altLang="ko-KR" sz="1600" dirty="0"/>
              <a:t>: </a:t>
            </a:r>
            <a:r>
              <a:rPr lang="ko-KR" altLang="en-US" sz="1600" dirty="0"/>
              <a:t>위의 연구목표를 달성하기 위해 이종위성군 설계와 관련된 해외 문헌 조사를 하였으며</a:t>
            </a:r>
            <a:r>
              <a:rPr lang="en-US" altLang="ko-KR" sz="1600" dirty="0"/>
              <a:t>, </a:t>
            </a:r>
            <a:r>
              <a:rPr lang="ko-KR" altLang="en-US" sz="1600" dirty="0"/>
              <a:t>조사한 여러 문헌들 가운데 한반도를 관심지역으로 설정한 본 프로젝트의 연구 방향에 가장 적합하며 의미 있을 것으로 판단되는 두 편의 논문을 아래와 같이 선별함</a:t>
            </a:r>
            <a:endParaRPr lang="en-US" altLang="ko-KR" sz="1600" dirty="0"/>
          </a:p>
          <a:p>
            <a:pPr lvl="1">
              <a:defRPr/>
            </a:pPr>
            <a:endParaRPr lang="en-US" altLang="ko-KR" sz="1600" dirty="0"/>
          </a:p>
          <a:p>
            <a:pPr marL="774900" lvl="2" indent="-342900">
              <a:buAutoNum type="arabicParenBoth"/>
              <a:defRPr/>
            </a:pPr>
            <a:r>
              <a:rPr lang="en-US" altLang="ko-KR" b="1" dirty="0"/>
              <a:t>A Framework for Heterogeneous Satellite Constellation Design for Rapid Response Earth Observations, 2019, Ibrahim Sanad and David</a:t>
            </a:r>
            <a:r>
              <a:rPr lang="ko-KR" altLang="en-US" b="1" dirty="0"/>
              <a:t> </a:t>
            </a:r>
            <a:r>
              <a:rPr lang="en-US" altLang="ko-KR" b="1" dirty="0"/>
              <a:t>G</a:t>
            </a:r>
            <a:r>
              <a:rPr lang="ko-KR" altLang="en-US" b="1" dirty="0"/>
              <a:t> </a:t>
            </a:r>
            <a:r>
              <a:rPr lang="en-US" altLang="ko-KR" b="1" dirty="0"/>
              <a:t>Michelson</a:t>
            </a:r>
          </a:p>
          <a:p>
            <a:pPr marL="774900" lvl="2" indent="-342900">
              <a:buAutoNum type="arabicParenBoth"/>
              <a:defRPr/>
            </a:pPr>
            <a:r>
              <a:rPr lang="en-US" altLang="ko-KR" b="1" dirty="0"/>
              <a:t>Research on the configuration design method of heterogeneous constellation reconstruction under the multiple objective and multiple constraint, 2017, Shuang Zhao, </a:t>
            </a:r>
            <a:r>
              <a:rPr lang="en-US" altLang="ko-KR" b="1" dirty="0" err="1"/>
              <a:t>Yanli</a:t>
            </a:r>
            <a:r>
              <a:rPr lang="en-US" altLang="ko-KR" b="1" dirty="0"/>
              <a:t> Xu and </a:t>
            </a:r>
            <a:r>
              <a:rPr lang="en-US" altLang="ko-KR" b="1" dirty="0" err="1"/>
              <a:t>Huayu</a:t>
            </a:r>
            <a:r>
              <a:rPr lang="en-US" altLang="ko-KR" b="1" dirty="0"/>
              <a:t> Dai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0866182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(1) A Framework for Heterogeneous Satellite Constellation Design for Rapid Response Earth Observations, 2019, Ibrahim Sanad and David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G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Michelson</a:t>
            </a:r>
            <a:br>
              <a:rPr lang="en-US" altLang="ko-KR" b="1" dirty="0"/>
            </a:br>
            <a:br>
              <a:rPr lang="en-US" altLang="ko-KR" b="1" dirty="0"/>
            </a:b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950819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 dirty="0"/>
              <a:t>2019, Ibrahim Sanad and David G Michelson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200" b="1" dirty="0"/>
              <a:t>논문 주요내용 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이종 위성군의 운용목표인 신속성과 직결되는 </a:t>
            </a:r>
            <a:r>
              <a:rPr lang="en-US" altLang="ko-KR" sz="1600" dirty="0"/>
              <a:t>SRT</a:t>
            </a:r>
            <a:r>
              <a:rPr lang="ko-KR" altLang="en-US" sz="1600" dirty="0"/>
              <a:t>의 개념</a:t>
            </a:r>
            <a:r>
              <a:rPr lang="en-US" altLang="ko-KR" sz="1600" dirty="0"/>
              <a:t>, </a:t>
            </a:r>
            <a:r>
              <a:rPr lang="ko-KR" altLang="en-US" sz="1600" dirty="0"/>
              <a:t>구성요소 및 단축 방법 등에 대한 내용을 기술한 후 이를 바탕으로 한 위성군의 설계 방법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해당 방법을 적용하여 시뮬레이션 하였을 때 파라미터의 값에 따른 성능 지수의 변화 결과 및 향후 작업에 대한 권고사항을 포함한다</a:t>
            </a:r>
            <a:r>
              <a:rPr lang="en-US" altLang="ko-KR" sz="1600" dirty="0"/>
              <a:t>. </a:t>
            </a:r>
          </a:p>
          <a:p>
            <a:pPr lvl="1">
              <a:defRPr/>
            </a:pP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[1] </a:t>
            </a:r>
            <a:r>
              <a:rPr lang="ko-KR" altLang="en-US" sz="2200" b="1" dirty="0"/>
              <a:t>연구목표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자연재해 등 국방 및 자연안보와 관련된 사항에 신속하게 대응하기 위해 </a:t>
            </a:r>
            <a:r>
              <a:rPr lang="en-US" altLang="ko-KR" sz="1600" dirty="0"/>
              <a:t>SRT(System Response Time)</a:t>
            </a:r>
            <a:r>
              <a:rPr lang="ko-KR" altLang="en-US" sz="1600" dirty="0"/>
              <a:t>를 최대한 줄일 수 있는 이종위성군 설계</a:t>
            </a:r>
            <a:endParaRPr lang="en-US" altLang="ko-KR" sz="1600" dirty="0"/>
          </a:p>
          <a:p>
            <a:pPr lvl="1">
              <a:defRPr/>
            </a:pPr>
            <a:endParaRPr lang="en-US" altLang="ko-KR" sz="1600" dirty="0"/>
          </a:p>
          <a:p>
            <a:pPr lvl="4">
              <a:defRPr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BE6D5-8456-DDCD-42CC-FE56966F708D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386593321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[2] </a:t>
            </a:r>
            <a:r>
              <a:rPr lang="ko-KR" altLang="en-US" sz="2200" b="1" dirty="0" err="1"/>
              <a:t>위성군</a:t>
            </a:r>
            <a:r>
              <a:rPr lang="ko-KR" altLang="en-US" sz="2200" b="1" dirty="0"/>
              <a:t> 종류 및 주요기능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Imaging</a:t>
            </a:r>
            <a:r>
              <a:rPr lang="ko-KR" altLang="en-US" sz="1600" dirty="0"/>
              <a:t> </a:t>
            </a:r>
            <a:r>
              <a:rPr lang="en-US" altLang="ko-KR" sz="1600" dirty="0"/>
              <a:t>Constellation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고해상도 영상을 촬영함</a:t>
            </a:r>
            <a:endParaRPr lang="en-US" altLang="ko-KR" sz="14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Relay</a:t>
            </a:r>
            <a:r>
              <a:rPr lang="ko-KR" altLang="en-US" sz="1600" dirty="0"/>
              <a:t> </a:t>
            </a:r>
            <a:r>
              <a:rPr lang="en-US" altLang="ko-KR" sz="1600" dirty="0"/>
              <a:t>Constellation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Uplink</a:t>
            </a:r>
            <a:r>
              <a:rPr lang="ko-KR" altLang="en-US" sz="1400" dirty="0"/>
              <a:t>를 통해 지상국에서부터 위성으로 명령을 전달함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Downlink</a:t>
            </a:r>
            <a:r>
              <a:rPr lang="ko-KR" altLang="en-US" sz="1400" dirty="0"/>
              <a:t>를 통해 위성에서부터 지상국으로 </a:t>
            </a:r>
            <a:r>
              <a:rPr lang="en-US" altLang="ko-KR" sz="1400" dirty="0"/>
              <a:t>Data</a:t>
            </a:r>
            <a:r>
              <a:rPr lang="ko-KR" altLang="en-US" sz="1400" dirty="0"/>
              <a:t>를 전송함 </a:t>
            </a:r>
            <a:endParaRPr lang="en-US" altLang="ko-KR" sz="14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E49BE-D45D-6C05-EE6C-0283B4CA8DF4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D2A722-D643-878E-61F9-F35F2B8EE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2505260"/>
            <a:ext cx="35909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86704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[3] </a:t>
            </a:r>
            <a:r>
              <a:rPr lang="en-US" altLang="ko-KR" sz="2200" dirty="0"/>
              <a:t>SRT</a:t>
            </a:r>
            <a:r>
              <a:rPr lang="ko-KR" altLang="en-US" sz="2200" dirty="0"/>
              <a:t>의 구성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SRT(</a:t>
            </a:r>
            <a:r>
              <a:rPr lang="ko-KR" altLang="en-US" sz="1600" dirty="0"/>
              <a:t>시스템 처리 시간</a:t>
            </a:r>
            <a:r>
              <a:rPr lang="en-US" altLang="ko-KR" sz="1600" dirty="0"/>
              <a:t>)</a:t>
            </a:r>
            <a:r>
              <a:rPr lang="ko-KR" altLang="en-US" sz="1600" dirty="0"/>
              <a:t>은 시스템 요청 제출 시점부터 생성된 이미지를 사용할 수 있을 때까지의 시간 간격을 정의하며 다음과 </a:t>
            </a:r>
            <a:r>
              <a:rPr lang="en-US" altLang="ko-KR" sz="1600" dirty="0"/>
              <a:t>7</a:t>
            </a:r>
            <a:r>
              <a:rPr lang="ko-KR" altLang="en-US" sz="1600" dirty="0"/>
              <a:t>가지 </a:t>
            </a:r>
            <a:r>
              <a:rPr lang="en-US" altLang="ko-KR" sz="1600" dirty="0"/>
              <a:t>delay</a:t>
            </a:r>
            <a:r>
              <a:rPr lang="ko-KR" altLang="en-US" sz="1600" dirty="0"/>
              <a:t>로 구성</a:t>
            </a:r>
            <a:endParaRPr lang="en-US" altLang="ko-KR" sz="1600" dirty="0"/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Command Preparation Time(T1) – </a:t>
            </a:r>
            <a:r>
              <a:rPr lang="en-US" altLang="ko-KR" sz="1400" dirty="0"/>
              <a:t>Fixed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Command uplink delay Time(T2) – </a:t>
            </a:r>
            <a:r>
              <a:rPr lang="en-US" altLang="ko-KR" sz="1400" dirty="0">
                <a:solidFill>
                  <a:srgbClr val="FF0000"/>
                </a:solidFill>
              </a:rPr>
              <a:t>Dynamic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Command time and pre-collect Time(T3) – </a:t>
            </a:r>
            <a:r>
              <a:rPr lang="en-US" altLang="ko-KR" sz="1400" dirty="0"/>
              <a:t>Fixed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Intrinsic Response Time(IRT)(T4) – </a:t>
            </a:r>
            <a:r>
              <a:rPr lang="en-US" altLang="ko-KR" sz="1400" dirty="0">
                <a:solidFill>
                  <a:srgbClr val="FF0000"/>
                </a:solidFill>
              </a:rPr>
              <a:t>Dynamic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Imaging and post processing Time(T5) – </a:t>
            </a:r>
            <a:r>
              <a:rPr lang="en-US" altLang="ko-KR" sz="1400" dirty="0"/>
              <a:t>Fixed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Data downlink delay Time(T6) – </a:t>
            </a:r>
            <a:r>
              <a:rPr lang="en-US" altLang="ko-KR" sz="1400" dirty="0">
                <a:solidFill>
                  <a:srgbClr val="FF0000"/>
                </a:solidFill>
              </a:rPr>
              <a:t>Dynamic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Downlink Time(T7) – </a:t>
            </a:r>
            <a:r>
              <a:rPr lang="en-US" altLang="ko-KR" sz="1400" dirty="0"/>
              <a:t>Fixed</a:t>
            </a:r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744596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[3] </a:t>
            </a:r>
            <a:r>
              <a:rPr lang="en-US" altLang="ko-KR" sz="2200" dirty="0"/>
              <a:t>SRT</a:t>
            </a:r>
            <a:r>
              <a:rPr lang="ko-KR" altLang="en-US" sz="2200" dirty="0"/>
              <a:t>의 구성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Uplink </a:t>
            </a:r>
            <a:r>
              <a:rPr lang="ko-KR" altLang="en-US" sz="1600" dirty="0"/>
              <a:t>지연시간</a:t>
            </a:r>
            <a:r>
              <a:rPr lang="en-US" altLang="ko-KR" sz="1600" dirty="0"/>
              <a:t>(T2) </a:t>
            </a:r>
            <a:r>
              <a:rPr lang="ko-KR" altLang="en-US" sz="1600" dirty="0"/>
              <a:t>및 </a:t>
            </a:r>
            <a:r>
              <a:rPr lang="en-US" altLang="ko-KR" sz="1600" dirty="0"/>
              <a:t>Downlink </a:t>
            </a:r>
            <a:r>
              <a:rPr lang="ko-KR" altLang="en-US" sz="1600" dirty="0"/>
              <a:t>지연시간</a:t>
            </a:r>
            <a:r>
              <a:rPr lang="en-US" altLang="ko-KR" sz="1600" dirty="0"/>
              <a:t>(T6)</a:t>
            </a:r>
            <a:r>
              <a:rPr lang="ko-KR" altLang="en-US" sz="1600" dirty="0"/>
              <a:t>으로 인해 과도한 </a:t>
            </a:r>
            <a:r>
              <a:rPr lang="en-US" altLang="ko-KR" sz="1600" dirty="0"/>
              <a:t>SRT</a:t>
            </a:r>
            <a:r>
              <a:rPr lang="ko-KR" altLang="en-US" sz="1600" dirty="0"/>
              <a:t>가 발생할 수 있음</a:t>
            </a:r>
            <a:r>
              <a:rPr lang="en-US" altLang="ko-KR" sz="1600" dirty="0"/>
              <a:t>  </a:t>
            </a:r>
            <a:r>
              <a:rPr lang="ko-KR" altLang="en-US" sz="1600" dirty="0"/>
              <a:t>이상적인 경우는 모든 지연시간이 </a:t>
            </a:r>
            <a:r>
              <a:rPr lang="en-US" altLang="ko-KR" sz="1600" dirty="0"/>
              <a:t>0</a:t>
            </a:r>
            <a:r>
              <a:rPr lang="ko-KR" altLang="en-US" sz="1600" dirty="0"/>
              <a:t>일 때이며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 때 </a:t>
            </a:r>
            <a:r>
              <a:rPr lang="en-US" altLang="ko-KR" sz="1600" dirty="0"/>
              <a:t>SRT=IRT(T4)</a:t>
            </a:r>
            <a:r>
              <a:rPr lang="ko-KR" altLang="en-US" sz="1600" dirty="0"/>
              <a:t>가 됨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Imaging </a:t>
            </a:r>
            <a:r>
              <a:rPr lang="ko-KR" altLang="en-US" sz="1400" dirty="0"/>
              <a:t>위성과 </a:t>
            </a:r>
            <a:r>
              <a:rPr lang="en-US" altLang="ko-KR" sz="1400" dirty="0"/>
              <a:t>upper layer </a:t>
            </a:r>
            <a:r>
              <a:rPr lang="ko-KR" altLang="en-US" sz="1400" dirty="0"/>
              <a:t>위성 배치 사이에 양방향 </a:t>
            </a:r>
            <a:r>
              <a:rPr lang="en-US" altLang="ko-KR" sz="1400" dirty="0"/>
              <a:t>ISL</a:t>
            </a:r>
            <a:r>
              <a:rPr lang="ko-KR" altLang="en-US" sz="1400" dirty="0"/>
              <a:t>을 이용하여 </a:t>
            </a:r>
            <a:r>
              <a:rPr lang="en-US" altLang="ko-KR" sz="1400" dirty="0"/>
              <a:t>T2</a:t>
            </a:r>
            <a:r>
              <a:rPr lang="ko-KR" altLang="en-US" sz="1400" dirty="0"/>
              <a:t>와 </a:t>
            </a:r>
            <a:r>
              <a:rPr lang="en-US" altLang="ko-KR" sz="1400" dirty="0"/>
              <a:t>T6</a:t>
            </a:r>
            <a:r>
              <a:rPr lang="ko-KR" altLang="en-US" sz="1400" dirty="0"/>
              <a:t>을 줄임으로써 </a:t>
            </a:r>
            <a:r>
              <a:rPr lang="en-US" altLang="ko-KR" sz="1400" dirty="0"/>
              <a:t>SRT</a:t>
            </a:r>
            <a:r>
              <a:rPr lang="ko-KR" altLang="en-US" sz="1400" dirty="0"/>
              <a:t>를 크게 줄일 수 있음</a:t>
            </a: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400" dirty="0"/>
          </a:p>
          <a:p>
            <a:pPr marL="432000" lvl="2" indent="0">
              <a:lnSpc>
                <a:spcPct val="150000"/>
              </a:lnSpc>
              <a:buNone/>
              <a:defRPr/>
            </a:pPr>
            <a:endParaRPr lang="ko-KR" altLang="en-US" sz="14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C5DA69-E9F9-347A-93A4-4C8CD078F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203" y="1715791"/>
            <a:ext cx="6373318" cy="2424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13523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7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[4] </a:t>
            </a:r>
            <a:r>
              <a:rPr lang="en-US" altLang="ko-KR" sz="2200" dirty="0"/>
              <a:t>STK </a:t>
            </a:r>
            <a:r>
              <a:rPr lang="ko-KR" altLang="en-US" sz="2200" dirty="0"/>
              <a:t>분석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LEO</a:t>
            </a:r>
            <a:r>
              <a:rPr lang="ko-KR" altLang="en-US" sz="1600" dirty="0"/>
              <a:t>원격감지 시스템의 명령전달 및 데이터 복구를 다루는 이 논문의 접근 방법은 </a:t>
            </a:r>
            <a:r>
              <a:rPr lang="en-US" altLang="ko-KR" sz="1600" dirty="0"/>
              <a:t>STK</a:t>
            </a:r>
            <a:r>
              <a:rPr lang="ko-KR" altLang="en-US" sz="1600" dirty="0"/>
              <a:t>에 분석에 적합함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Coverage, Analysis Workbench, STK Analyzer </a:t>
            </a:r>
            <a:r>
              <a:rPr lang="ko-KR" altLang="en-US" sz="1400" dirty="0"/>
              <a:t>등의 소프트웨어를 이용할 수 있음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DV(predefined Design Value)</a:t>
            </a:r>
            <a:r>
              <a:rPr lang="ko-KR" altLang="en-US" sz="1400" dirty="0"/>
              <a:t>가 실행되면 이와 연관된 </a:t>
            </a:r>
            <a:r>
              <a:rPr lang="en-US" altLang="ko-KR" sz="1400" dirty="0"/>
              <a:t>MOP(Measure of Performances)</a:t>
            </a:r>
            <a:r>
              <a:rPr lang="ko-KR" altLang="en-US" sz="1400" dirty="0"/>
              <a:t>가 각각 수집됨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이 분석으로 </a:t>
            </a:r>
            <a:r>
              <a:rPr lang="en-US" altLang="ko-KR" sz="1400" dirty="0"/>
              <a:t>DV</a:t>
            </a:r>
            <a:r>
              <a:rPr lang="ko-KR" altLang="en-US" sz="1400" dirty="0"/>
              <a:t>의 변경이 </a:t>
            </a:r>
            <a:r>
              <a:rPr lang="en-US" altLang="ko-KR" sz="1400" dirty="0"/>
              <a:t>MOP</a:t>
            </a:r>
            <a:r>
              <a:rPr lang="ko-KR" altLang="en-US" sz="1400" dirty="0"/>
              <a:t>에 어떻게 영향을 주는지 볼 수 있음</a:t>
            </a:r>
            <a:r>
              <a:rPr lang="en-US" altLang="ko-KR" sz="1400" dirty="0"/>
              <a:t>(curve </a:t>
            </a:r>
            <a:r>
              <a:rPr lang="ko-KR" altLang="en-US" sz="1400" dirty="0"/>
              <a:t>등의 그래프 제시</a:t>
            </a:r>
            <a:r>
              <a:rPr lang="en-US" altLang="ko-KR" sz="1400" dirty="0"/>
              <a:t>)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[5] </a:t>
            </a:r>
            <a:r>
              <a:rPr lang="ko-KR" altLang="en-US" sz="2200" b="1" dirty="0"/>
              <a:t>위성 운용의 목표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24</a:t>
            </a:r>
            <a:r>
              <a:rPr lang="ko-KR" altLang="en-US" sz="1600" dirty="0"/>
              <a:t>시간</a:t>
            </a:r>
            <a:r>
              <a:rPr lang="en-US" altLang="ko-KR" sz="1600" dirty="0"/>
              <a:t> 100% </a:t>
            </a:r>
            <a:r>
              <a:rPr lang="ko-KR" altLang="en-US" sz="1600" dirty="0"/>
              <a:t>커버를 달성하는 광학 위성군을 설계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특정 공간 해상도를 달성하는데 필요한 </a:t>
            </a:r>
            <a:r>
              <a:rPr lang="ko-KR" altLang="en-US" sz="1600" dirty="0" err="1"/>
              <a:t>탑재체</a:t>
            </a:r>
            <a:r>
              <a:rPr lang="ko-KR" altLang="en-US" sz="1600" dirty="0"/>
              <a:t> 파라미터 지정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SRT</a:t>
            </a:r>
            <a:r>
              <a:rPr lang="ko-KR" altLang="en-US" sz="1600" dirty="0"/>
              <a:t>를 줄이기 위한 적도 평면에서의 최상의 </a:t>
            </a:r>
            <a:r>
              <a:rPr lang="en-US" altLang="ko-KR" sz="1600" dirty="0"/>
              <a:t>relay </a:t>
            </a:r>
            <a:r>
              <a:rPr lang="ko-KR" altLang="en-US" sz="1600" dirty="0"/>
              <a:t>위성군을 설정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신호를 수신 및 전송할 수 있는 지상국의 위치 설정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2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7542104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[6] </a:t>
            </a:r>
            <a:r>
              <a:rPr lang="ko-KR" altLang="en-US" sz="2200" b="1" dirty="0"/>
              <a:t>궤도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[5]</a:t>
            </a:r>
            <a:r>
              <a:rPr lang="ko-KR" altLang="en-US" sz="1600" dirty="0"/>
              <a:t>를 만족하도록 하는 </a:t>
            </a:r>
            <a:r>
              <a:rPr lang="en-US" altLang="ko-KR" sz="1600" dirty="0"/>
              <a:t>DV </a:t>
            </a:r>
            <a:r>
              <a:rPr lang="ko-KR" altLang="en-US" sz="1600" dirty="0"/>
              <a:t>및 </a:t>
            </a:r>
            <a:r>
              <a:rPr lang="en-US" altLang="ko-KR" sz="1600" dirty="0"/>
              <a:t>MOP </a:t>
            </a:r>
            <a:r>
              <a:rPr lang="ko-KR" altLang="en-US" sz="1600" dirty="0"/>
              <a:t>범위에서 도출된 다음의 세 가지 궤도 유형을 사용함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b="1" dirty="0"/>
              <a:t>LEO</a:t>
            </a:r>
            <a:r>
              <a:rPr lang="en-US" altLang="ko-KR" sz="1400" dirty="0"/>
              <a:t> (Imaging constellation</a:t>
            </a:r>
            <a:r>
              <a:rPr lang="ko-KR" altLang="en-US" sz="1400" dirty="0"/>
              <a:t>에 사용</a:t>
            </a:r>
            <a:r>
              <a:rPr lang="en-US" altLang="ko-KR" sz="1400" dirty="0"/>
              <a:t>)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ko-KR" sz="1200" dirty="0"/>
              <a:t>Sun Synchronous Orbit(SSO) – 600km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ko-KR" sz="1200" dirty="0"/>
              <a:t>Mid Inclined Orbit(MIO) – 575km</a:t>
            </a:r>
            <a:endParaRPr lang="ko-KR" altLang="en-US" sz="12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b="1" dirty="0"/>
              <a:t>Circular MEO on Equatorial plane </a:t>
            </a:r>
            <a:r>
              <a:rPr lang="en-US" altLang="ko-KR" sz="1400" dirty="0"/>
              <a:t>(Relay constellation</a:t>
            </a:r>
            <a:r>
              <a:rPr lang="ko-KR" altLang="en-US" sz="1400" dirty="0"/>
              <a:t>에 사용</a:t>
            </a:r>
            <a:r>
              <a:rPr lang="en-US" altLang="ko-KR" sz="1400" dirty="0"/>
              <a:t>)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ko-KR" sz="1200" dirty="0"/>
              <a:t>Mid Inclined Orbit(MIO) – 8,000km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37005860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[7] </a:t>
            </a:r>
            <a:r>
              <a:rPr lang="ko-KR" altLang="en-US" sz="2200" b="1" dirty="0"/>
              <a:t>이종 </a:t>
            </a:r>
            <a:r>
              <a:rPr lang="ko-KR" altLang="en-US" sz="2200" b="1" dirty="0" err="1"/>
              <a:t>위성군</a:t>
            </a:r>
            <a:r>
              <a:rPr lang="ko-KR" altLang="en-US" sz="2200" b="1" dirty="0"/>
              <a:t> 설계 방법의 요약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FOV, </a:t>
            </a:r>
            <a:r>
              <a:rPr lang="ko-KR" altLang="en-US" sz="1600" dirty="0"/>
              <a:t>초점거리</a:t>
            </a:r>
            <a:r>
              <a:rPr lang="en-US" altLang="ko-KR" sz="1600" dirty="0"/>
              <a:t>(f), detector pitch(DP) </a:t>
            </a:r>
            <a:r>
              <a:rPr lang="ko-KR" altLang="en-US" sz="1600" dirty="0"/>
              <a:t>등의 다양한 파라미터를 조정하여 커버리지 비율에 따라 </a:t>
            </a:r>
            <a:r>
              <a:rPr lang="en-US" altLang="ko-KR" sz="1600" dirty="0"/>
              <a:t>SSO</a:t>
            </a:r>
            <a:r>
              <a:rPr lang="ko-KR" altLang="en-US" sz="1600" dirty="0"/>
              <a:t>에 광학 위성군을 설계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광학 </a:t>
            </a:r>
            <a:r>
              <a:rPr lang="ko-KR" altLang="en-US" sz="1600" dirty="0" err="1"/>
              <a:t>탑재체</a:t>
            </a:r>
            <a:r>
              <a:rPr lang="ko-KR" altLang="en-US" sz="1600" dirty="0"/>
              <a:t> 파라미터와 그에 따른 커버리지 및 공간 해상도의 영향을 설계 및 최적화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SSO </a:t>
            </a:r>
            <a:r>
              <a:rPr lang="ko-KR" altLang="en-US" sz="1600" dirty="0"/>
              <a:t>위성군의 </a:t>
            </a:r>
            <a:r>
              <a:rPr lang="ko-KR" altLang="en-US" sz="1600" dirty="0" err="1"/>
              <a:t>커버리지를</a:t>
            </a:r>
            <a:r>
              <a:rPr lang="ko-KR" altLang="en-US" sz="1600" dirty="0"/>
              <a:t> 분석 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MIO </a:t>
            </a:r>
            <a:r>
              <a:rPr lang="ko-KR" altLang="en-US" sz="1400" dirty="0"/>
              <a:t>궤도에 </a:t>
            </a:r>
            <a:r>
              <a:rPr lang="en-US" altLang="ko-KR" sz="1400" dirty="0"/>
              <a:t>Imaging constellation</a:t>
            </a:r>
            <a:r>
              <a:rPr lang="ko-KR" altLang="en-US" sz="1400" dirty="0"/>
              <a:t>을 추가하여 중위도 지역의 재방문 주기 및 커버리지 증가율 분석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Imaging</a:t>
            </a:r>
            <a:r>
              <a:rPr lang="ko-KR" altLang="en-US" sz="1600" dirty="0"/>
              <a:t>과 </a:t>
            </a:r>
            <a:r>
              <a:rPr lang="en-US" altLang="ko-KR" sz="1600" dirty="0"/>
              <a:t>relay constellation </a:t>
            </a:r>
            <a:r>
              <a:rPr lang="ko-KR" altLang="en-US" sz="1600" dirty="0"/>
              <a:t>간의 </a:t>
            </a:r>
            <a:r>
              <a:rPr lang="en-US" altLang="ko-KR" sz="1600" dirty="0"/>
              <a:t>ISL </a:t>
            </a:r>
            <a:r>
              <a:rPr lang="ko-KR" altLang="en-US" sz="1600" dirty="0"/>
              <a:t>성능 차이를 통해 접근 기간을 늘리도록 </a:t>
            </a:r>
            <a:r>
              <a:rPr lang="en-US" altLang="ko-KR" sz="1600" dirty="0"/>
              <a:t>relay constellation</a:t>
            </a:r>
            <a:r>
              <a:rPr lang="ko-KR" altLang="en-US" sz="1600" dirty="0"/>
              <a:t>의 위성군을 구성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Imaging </a:t>
            </a:r>
            <a:r>
              <a:rPr lang="ko-KR" altLang="en-US" sz="1600" dirty="0"/>
              <a:t>위성군과 비교하여 </a:t>
            </a:r>
            <a:r>
              <a:rPr lang="en-US" altLang="ko-KR" sz="1600" dirty="0"/>
              <a:t>SRT </a:t>
            </a:r>
            <a:r>
              <a:rPr lang="ko-KR" altLang="en-US" sz="1600" dirty="0"/>
              <a:t>측면에서 이종 위성군의 성능을 분석 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00942544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ko-KR" sz="1600" b="1" dirty="0"/>
              <a:t>FOV</a:t>
            </a:r>
            <a:r>
              <a:rPr lang="ko-KR" altLang="en-US" sz="1600" b="1" dirty="0"/>
              <a:t>에 따른 센서의 감지 폭과 위성의 고도의 관계</a:t>
            </a:r>
            <a:endParaRPr lang="en-US" altLang="ko-KR" sz="1600" b="1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E25061-BD9A-0FA8-C1C9-E02EF2A26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0" y="1736495"/>
            <a:ext cx="3976099" cy="301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9454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5956D54E-E034-CF1B-3D6B-664B36426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18" y="1708621"/>
            <a:ext cx="4210050" cy="3038475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b="1" dirty="0"/>
              <a:t>위성 수에 따른 낮 시간 동안의 커버리지 비율과 </a:t>
            </a:r>
            <a:r>
              <a:rPr lang="en-US" altLang="ko-KR" sz="1600" b="1" dirty="0"/>
              <a:t>SSO</a:t>
            </a:r>
            <a:r>
              <a:rPr lang="ko-KR" altLang="en-US" sz="1600" b="1" dirty="0"/>
              <a:t>의 고도의 관계</a:t>
            </a:r>
            <a:endParaRPr lang="en-US" altLang="ko-KR" sz="1600" b="1" dirty="0"/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FOV : 20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˚</a:t>
            </a:r>
            <a:endParaRPr lang="en-US" altLang="ko-KR" sz="1400" dirty="0">
              <a:solidFill>
                <a:srgbClr val="000000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endParaRPr lang="en-US" altLang="ko-KR" sz="10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11859199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b="1" dirty="0"/>
              <a:t>위성 수에 따른 낮 시간 동안의 커버리지 비율과 </a:t>
            </a:r>
            <a:r>
              <a:rPr lang="en-US" altLang="ko-KR" sz="1600" b="1" dirty="0"/>
              <a:t>FOV</a:t>
            </a:r>
            <a:r>
              <a:rPr lang="ko-KR" altLang="en-US" sz="1600" b="1" dirty="0"/>
              <a:t>의 관계</a:t>
            </a:r>
            <a:endParaRPr lang="en-US" altLang="ko-KR" sz="1600" b="1" dirty="0"/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고도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: 600km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911FF4-A8DB-FAEF-5B49-47075EB22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33" y="1709031"/>
            <a:ext cx="4238625" cy="302895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363547800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847CA64-70B7-47A6-B52D-7EEA6899D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33" y="1664287"/>
            <a:ext cx="4248782" cy="3097890"/>
          </a:xfrm>
          <a:prstGeom prst="rect">
            <a:avLst/>
          </a:prstGeom>
        </p:spPr>
      </p:pic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ko-KR" sz="1600" dirty="0"/>
              <a:t>FOV</a:t>
            </a:r>
            <a:r>
              <a:rPr lang="ko-KR" altLang="en-US" sz="1600" dirty="0"/>
              <a:t>에 따른 낮 시간 동안의 커버리지 비율과 초점거리</a:t>
            </a:r>
            <a:r>
              <a:rPr lang="en-US" altLang="ko-KR" sz="1600" dirty="0"/>
              <a:t>(f)</a:t>
            </a:r>
            <a:r>
              <a:rPr lang="ko-KR" altLang="en-US" sz="1600" dirty="0"/>
              <a:t>의 관계</a:t>
            </a:r>
            <a:endParaRPr lang="en-US" altLang="ko-KR" sz="1600" dirty="0"/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μm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 센서</a:t>
            </a:r>
            <a:r>
              <a:rPr lang="en-US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DP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 이용하여</a:t>
            </a:r>
            <a:r>
              <a:rPr lang="en-US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5m GSD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 달성하기 위한 초점거리</a:t>
            </a:r>
            <a:endParaRPr lang="en-US" altLang="ko-KR" sz="1400" dirty="0">
              <a:solidFill>
                <a:srgbClr val="000000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위성의 고도 </a:t>
            </a:r>
            <a:r>
              <a:rPr lang="en-US" altLang="ko-KR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600km / SSO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위성군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4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대</a:t>
            </a:r>
            <a:endParaRPr lang="en-US" altLang="ko-KR" sz="1400" dirty="0"/>
          </a:p>
          <a:p>
            <a:pPr marL="396000" lvl="2" indent="0">
              <a:lnSpc>
                <a:spcPct val="150000"/>
              </a:lnSpc>
              <a:buNone/>
              <a:defRPr/>
            </a:pPr>
            <a:endParaRPr lang="ko-KR" altLang="en-US" sz="1400" dirty="0"/>
          </a:p>
          <a:p>
            <a:pPr lvl="2">
              <a:defRPr/>
            </a:pPr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92121438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847CA64-70B7-47A6-B52D-7EEA6899D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33" y="1664287"/>
            <a:ext cx="4248782" cy="3097890"/>
          </a:xfrm>
          <a:prstGeom prst="rect">
            <a:avLst/>
          </a:prstGeom>
        </p:spPr>
      </p:pic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ko-KR" sz="1600" dirty="0"/>
              <a:t>FOV</a:t>
            </a:r>
            <a:r>
              <a:rPr lang="ko-KR" altLang="en-US" sz="1600" dirty="0"/>
              <a:t>에 따른 낮 시간 동안의 커버리지 비율과 초점거리</a:t>
            </a:r>
            <a:r>
              <a:rPr lang="en-US" altLang="ko-KR" sz="1600" dirty="0"/>
              <a:t>(f)</a:t>
            </a:r>
            <a:r>
              <a:rPr lang="ko-KR" altLang="en-US" sz="1600" dirty="0"/>
              <a:t>의 관계</a:t>
            </a:r>
            <a:endParaRPr lang="en-US" altLang="ko-KR" sz="1600" dirty="0"/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μm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 센서</a:t>
            </a:r>
            <a:r>
              <a:rPr lang="en-US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DP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 이용하여</a:t>
            </a:r>
            <a:r>
              <a:rPr lang="en-US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0.5m GSD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 달성하기 위한 초점거리</a:t>
            </a:r>
            <a:endParaRPr lang="en-US" altLang="ko-KR" sz="1400" dirty="0">
              <a:solidFill>
                <a:srgbClr val="000000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위성의 고도 </a:t>
            </a:r>
            <a:r>
              <a:rPr lang="en-US" altLang="ko-KR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600km / SSO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위성군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4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대</a:t>
            </a:r>
            <a:endParaRPr lang="en-US" altLang="ko-KR" sz="1400" dirty="0"/>
          </a:p>
          <a:p>
            <a:pPr marL="396000" lvl="2" indent="0">
              <a:lnSpc>
                <a:spcPct val="150000"/>
              </a:lnSpc>
              <a:buNone/>
              <a:defRPr/>
            </a:pPr>
            <a:endParaRPr lang="ko-KR" altLang="en-US" sz="1400" dirty="0"/>
          </a:p>
          <a:p>
            <a:pPr lvl="2">
              <a:defRPr/>
            </a:pPr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807B14-F418-E102-8BDC-59E45EF99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37" y="1605621"/>
            <a:ext cx="4127611" cy="309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1655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위성 수에 따른 </a:t>
            </a:r>
            <a:r>
              <a:rPr lang="en-US" altLang="ko-KR" sz="1600" dirty="0"/>
              <a:t>MIO</a:t>
            </a:r>
            <a:r>
              <a:rPr lang="ko-KR" altLang="en-US" sz="1600" dirty="0"/>
              <a:t>의 고도와 </a:t>
            </a:r>
            <a:r>
              <a:rPr lang="en-US" altLang="ko-KR" sz="1600" dirty="0"/>
              <a:t>SSO</a:t>
            </a:r>
            <a:r>
              <a:rPr lang="ko-KR" altLang="en-US" sz="1600" dirty="0"/>
              <a:t>에 영향을 미치는 커버리지 비율의 관계</a:t>
            </a:r>
            <a:endParaRPr lang="ko-KR" altLang="en-US" sz="1400" dirty="0"/>
          </a:p>
          <a:p>
            <a:pPr lvl="2">
              <a:defRPr/>
            </a:pPr>
            <a:endParaRPr lang="en-US" altLang="ko-KR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63AC035-6131-5852-09C6-46EC98EB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3" y="1767772"/>
            <a:ext cx="3987767" cy="2890919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419221081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(Relay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위성 수에 따른 지상국의 위도와 </a:t>
            </a:r>
            <a:r>
              <a:rPr lang="en-US" altLang="ko-KR" sz="1600" dirty="0"/>
              <a:t>24</a:t>
            </a:r>
            <a:r>
              <a:rPr lang="ko-KR" altLang="en-US" sz="1600" dirty="0"/>
              <a:t>시간 커버리지 비율의 관계</a:t>
            </a:r>
            <a:endParaRPr lang="ko-KR" altLang="en-US" sz="1400" dirty="0"/>
          </a:p>
          <a:p>
            <a:pPr lvl="2">
              <a:defRPr/>
            </a:pP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E163D7-EB3A-FCDB-7AB2-0DC0E041C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21" y="1814419"/>
            <a:ext cx="3987767" cy="309818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8312D-F4A6-4F4E-854F-8C4DD8D61DF6}"/>
              </a:ext>
            </a:extLst>
          </p:cNvPr>
          <p:cNvSpPr txBox="1"/>
          <p:nvPr/>
        </p:nvSpPr>
        <p:spPr>
          <a:xfrm>
            <a:off x="4334762" y="1915505"/>
            <a:ext cx="48211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What is the number of satellites on an Equatorial orbit that achieve continuous coverage of a GS?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위도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0~34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˚까지는 모든 지상국에서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MEO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위성군에서 관측 가능한 위성이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개 이상으로 구성되어 있다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∵위성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대 이상일 때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100%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커버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ko-KR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What is the GS latitude?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: 34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˚ 이하로 지정하는 것이 좋다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ko-KR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3789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(Relay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ko-KR" sz="1600" dirty="0"/>
              <a:t>Imaging </a:t>
            </a:r>
            <a:r>
              <a:rPr lang="ko-KR" altLang="en-US" sz="1600" dirty="0"/>
              <a:t>위성군만 운용하였을 때와 이종 위성군을 운용하였을 때</a:t>
            </a:r>
            <a:r>
              <a:rPr lang="en-US" altLang="ko-KR" sz="1600" dirty="0"/>
              <a:t>, </a:t>
            </a:r>
            <a:r>
              <a:rPr lang="ko-KR" altLang="en-US" sz="1600" dirty="0"/>
              <a:t>목표 위도와 최대 </a:t>
            </a:r>
            <a:r>
              <a:rPr lang="en-US" altLang="ko-KR" sz="1600" dirty="0"/>
              <a:t>SRT</a:t>
            </a:r>
            <a:r>
              <a:rPr lang="ko-KR" altLang="en-US" sz="1600" dirty="0"/>
              <a:t>의 평균값의 관계</a:t>
            </a:r>
            <a:endParaRPr lang="en-US" altLang="ko-KR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954FB1-DCD0-EF8B-E8A4-7EDBC59B6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84" y="1896253"/>
            <a:ext cx="4192898" cy="2820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F9A38C-E3E4-877A-DED6-9511A9417B86}"/>
              </a:ext>
            </a:extLst>
          </p:cNvPr>
          <p:cNvSpPr txBox="1"/>
          <p:nvPr/>
        </p:nvSpPr>
        <p:spPr>
          <a:xfrm>
            <a:off x="4337951" y="1912947"/>
            <a:ext cx="47298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What will be the effect of using this MEO constellation with its GS on the maximum SRT?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슬라이드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쪽을 참고하여 두 그래프를 비교하면 이종 위성군을</a:t>
            </a:r>
            <a:endParaRPr lang="en-US" altLang="ko-KR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운용하였을 경우에 최대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SRT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가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20hr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가량 감소하는 것을 볼 수 있다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lang="en-US" altLang="ko-KR" sz="12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4808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[9] </a:t>
            </a:r>
            <a:r>
              <a:rPr lang="ko-KR" altLang="en-US" sz="2200" b="1" dirty="0"/>
              <a:t>결론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LEO</a:t>
            </a:r>
            <a:r>
              <a:rPr lang="ko-KR" altLang="en-US" sz="1600" dirty="0"/>
              <a:t>원격감지 시스템의 명령전달 및 데이터 복구를 다루는 이 논문의 접근 방법은 </a:t>
            </a:r>
            <a:r>
              <a:rPr lang="en-US" altLang="ko-KR" sz="1600" dirty="0"/>
              <a:t>STK</a:t>
            </a:r>
            <a:r>
              <a:rPr lang="ko-KR" altLang="en-US" sz="1600" dirty="0"/>
              <a:t>에 분석에 적합함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 err="1"/>
              <a:t>위성군</a:t>
            </a:r>
            <a:r>
              <a:rPr lang="ko-KR" altLang="en-US" sz="1600" dirty="0"/>
              <a:t> 설계의 목표 및 제한조건은 위성군의 궤도 구성을 결정하는 주요 요소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지구 관측 위성의 </a:t>
            </a:r>
            <a:r>
              <a:rPr lang="en-US" altLang="ko-KR" sz="1600" dirty="0"/>
              <a:t>SRT </a:t>
            </a:r>
            <a:r>
              <a:rPr lang="ko-KR" altLang="en-US" sz="1600" dirty="0"/>
              <a:t>개선은 재해 위험 감소 및 국가 보안에 중요한 관심사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위성의 고도</a:t>
            </a:r>
            <a:r>
              <a:rPr lang="en-US" altLang="ko-KR" sz="1600" dirty="0"/>
              <a:t>, </a:t>
            </a:r>
            <a:r>
              <a:rPr lang="ko-KR" altLang="en-US" sz="1600" dirty="0"/>
              <a:t>궤도 평면 및 평면당 위성 수 등 위성군의 특성에 따라 시스템 가용성이 달라지고 이는 이종 위성군의 구성에 큰 영향을 줌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이종 위성군의 최상의 구성을 위해서는 여러 조합을 연구해야 함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endParaRPr lang="en-US" altLang="ko-KR" sz="12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300502149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(2) Research on the configuration design method of heterogeneous constellation reconstruction under the multiple objective and multiple constraint, 2017, Shuang Zhao, </a:t>
            </a:r>
            <a:r>
              <a:rPr lang="en-US" altLang="ko-KR" sz="2000" b="1" dirty="0" err="1"/>
              <a:t>Yanli</a:t>
            </a:r>
            <a:r>
              <a:rPr lang="en-US" altLang="ko-KR" sz="2000" b="1" dirty="0"/>
              <a:t> Xu and </a:t>
            </a:r>
            <a:r>
              <a:rPr lang="en-US" altLang="ko-KR" sz="2000" b="1" dirty="0" err="1"/>
              <a:t>Huayu</a:t>
            </a:r>
            <a:r>
              <a:rPr lang="en-US" altLang="ko-KR" sz="2000" b="1" dirty="0"/>
              <a:t> Dai</a:t>
            </a:r>
            <a:br>
              <a:rPr lang="en-US" altLang="ko-KR" sz="2000" b="1" dirty="0"/>
            </a:br>
            <a:br>
              <a:rPr lang="ko-KR" altLang="en-US" sz="2000" b="1" dirty="0"/>
            </a:b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950819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 dirty="0"/>
              <a:t>2017, Shuang Zhao, </a:t>
            </a:r>
            <a:r>
              <a:rPr lang="en-US" altLang="ko-KR" dirty="0" err="1"/>
              <a:t>Yanli</a:t>
            </a:r>
            <a:r>
              <a:rPr lang="en-US" altLang="ko-KR" dirty="0"/>
              <a:t> Xu and </a:t>
            </a:r>
            <a:r>
              <a:rPr lang="en-US" altLang="ko-KR" dirty="0" err="1"/>
              <a:t>Huayu</a:t>
            </a:r>
            <a:r>
              <a:rPr lang="en-US" altLang="ko-KR" dirty="0"/>
              <a:t> Dai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200" b="1" dirty="0"/>
              <a:t>논문 주요내용 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다중 목적 및 다중 제한 조건에 기초한 이종 위성군의 설계방법에 대해 다룬다</a:t>
            </a:r>
            <a:r>
              <a:rPr lang="en-US" altLang="ko-KR" sz="1600" dirty="0"/>
              <a:t>. </a:t>
            </a:r>
            <a:r>
              <a:rPr lang="ko-KR" altLang="en-US" sz="1600" dirty="0"/>
              <a:t>또한</a:t>
            </a:r>
            <a:r>
              <a:rPr lang="en-US" altLang="ko-KR" sz="1600" dirty="0"/>
              <a:t>, </a:t>
            </a:r>
            <a:r>
              <a:rPr lang="ko-KR" altLang="en-US" sz="1600" dirty="0"/>
              <a:t>기존의 대표적인 설계 방법인 </a:t>
            </a:r>
            <a:r>
              <a:rPr lang="en-US" altLang="ko-KR" sz="1600" dirty="0"/>
              <a:t>Phase position uniformity method </a:t>
            </a:r>
            <a:r>
              <a:rPr lang="ko-KR" altLang="en-US" sz="1600" dirty="0"/>
              <a:t>와 </a:t>
            </a:r>
            <a:r>
              <a:rPr lang="en-US" altLang="ko-KR" sz="1600" dirty="0"/>
              <a:t>Reconstruction configuration design method (based in optimization algorithm)</a:t>
            </a:r>
            <a:r>
              <a:rPr lang="ko-KR" altLang="en-US" sz="1600" dirty="0"/>
              <a:t>을 비교한다</a:t>
            </a:r>
            <a:r>
              <a:rPr lang="en-US" altLang="ko-KR" sz="1600" dirty="0"/>
              <a:t>. </a:t>
            </a:r>
            <a:r>
              <a:rPr lang="ko-KR" altLang="en-US" sz="1600" dirty="0"/>
              <a:t>마지막으로 다양한 재구성 설계 방법의 장단점을 분석하고 재구성 지수 시스템에 대한 생각과 최적 변수 선택 및 구성 최적화 설계의 제한 조건 설정을 제시한다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4">
              <a:defRPr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BE6D5-8456-DDCD-42CC-FE56966F708D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9272815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[1] </a:t>
            </a:r>
            <a:r>
              <a:rPr lang="ko-KR" altLang="en-US" sz="2200" b="1" dirty="0"/>
              <a:t>이종 위성군의 정의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위성군은 명확한 임무 요건을 가지고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위성은 동일한 특정 임무를 중심으로 회전함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위성군은 상대적으로 고정된 공간 기하학적 구조를 가짐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위성군의 공간구조는 워커와 동일한 </a:t>
            </a:r>
            <a:r>
              <a:rPr lang="ko-KR" altLang="en-US" sz="1600" dirty="0" err="1"/>
              <a:t>균일성</a:t>
            </a:r>
            <a:r>
              <a:rPr lang="ko-KR" altLang="en-US" sz="1600" dirty="0"/>
              <a:t> 및 대칭성을 가지지 않음</a:t>
            </a:r>
            <a:endParaRPr lang="en-US" altLang="ko-KR" sz="12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AB7E2-219F-F4F7-4746-8EFA1A021B3E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423656251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[2] </a:t>
            </a:r>
            <a:r>
              <a:rPr lang="ko-KR" altLang="en-US" sz="2200" b="1" dirty="0"/>
              <a:t>이종 위성군의 종류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전 지구적 이종 </a:t>
            </a:r>
            <a:r>
              <a:rPr lang="ko-KR" altLang="en-US" sz="1600" dirty="0" err="1"/>
              <a:t>위성군</a:t>
            </a:r>
            <a:endParaRPr lang="ko-KR" altLang="en-US" sz="1600" dirty="0"/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경도 </a:t>
            </a:r>
            <a:r>
              <a:rPr lang="en-US" altLang="ko-KR" sz="1400" dirty="0"/>
              <a:t>-180~180</a:t>
            </a:r>
            <a:r>
              <a:rPr lang="ko-KR" altLang="en-US" sz="1400" dirty="0"/>
              <a:t>˚</a:t>
            </a:r>
            <a:r>
              <a:rPr lang="en-US" altLang="ko-KR" sz="1400" dirty="0"/>
              <a:t>, </a:t>
            </a:r>
            <a:r>
              <a:rPr lang="ko-KR" altLang="en-US" sz="1400" dirty="0"/>
              <a:t>위도 </a:t>
            </a:r>
            <a:r>
              <a:rPr lang="en-US" altLang="ko-KR" sz="1400" dirty="0"/>
              <a:t>-90~90</a:t>
            </a:r>
            <a:r>
              <a:rPr lang="ko-KR" altLang="en-US" sz="1400" dirty="0"/>
              <a:t>˚</a:t>
            </a: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다른 종류의 궤도를 포함하며 다른 궤도의 위성 수는 다름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Ex. </a:t>
            </a:r>
            <a:r>
              <a:rPr lang="ko-KR" altLang="en-US" sz="1400" dirty="0"/>
              <a:t>타원 궤도와 적도 궤도는 통신 도는 조기 경보 </a:t>
            </a:r>
            <a:r>
              <a:rPr lang="ko-KR" altLang="en-US" sz="1400" dirty="0" err="1"/>
              <a:t>위성군</a:t>
            </a:r>
            <a:r>
              <a:rPr lang="en-US" altLang="ko-KR" sz="1400" dirty="0"/>
              <a:t>,</a:t>
            </a:r>
          </a:p>
          <a:p>
            <a:pPr marL="432000" lvl="2" indent="0">
              <a:lnSpc>
                <a:spcPct val="150000"/>
              </a:lnSpc>
              <a:buNone/>
              <a:defRPr/>
            </a:pPr>
            <a:r>
              <a:rPr lang="en-US" altLang="ko-KR" sz="1400" dirty="0"/>
              <a:t>             IGSO, GEO, MEO </a:t>
            </a:r>
            <a:r>
              <a:rPr lang="ko-KR" altLang="en-US" sz="1400" dirty="0"/>
              <a:t>궤도는 항법 위성군에 이용 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지역 이종 </a:t>
            </a:r>
            <a:r>
              <a:rPr lang="ko-KR" altLang="en-US" sz="1600" dirty="0" err="1"/>
              <a:t>위성군</a:t>
            </a:r>
            <a:endParaRPr lang="ko-KR" altLang="en-US" sz="1600" dirty="0"/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지구 표면의 특정 영역을 포함하도록 설계됨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다른 위성들 사이의 상대적 거리가 가깝고 각 위성은 위성군에서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같은 임무를 수행</a:t>
            </a:r>
            <a:r>
              <a:rPr lang="en-US" altLang="ko-KR" sz="1400" dirty="0"/>
              <a:t>(Ex. </a:t>
            </a:r>
            <a:r>
              <a:rPr lang="en-US" altLang="ko-KR" sz="1400" dirty="0" err="1"/>
              <a:t>Molniya</a:t>
            </a:r>
            <a:r>
              <a:rPr lang="en-US" altLang="ko-KR" sz="1400" dirty="0"/>
              <a:t> constellation)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36ECF-A947-A28E-4D18-967A958418F3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9994471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[3] </a:t>
            </a:r>
            <a:r>
              <a:rPr lang="ko-KR" altLang="en-US" sz="2200" b="1" dirty="0"/>
              <a:t>이종 위성군의 </a:t>
            </a:r>
            <a:r>
              <a:rPr lang="ko-KR" altLang="en-US" sz="2200" dirty="0"/>
              <a:t>재구성</a:t>
            </a:r>
            <a:r>
              <a:rPr lang="en-US" altLang="ko-KR" sz="2200" dirty="0"/>
              <a:t>(Reconstruction)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시스템 장애</a:t>
            </a:r>
            <a:r>
              <a:rPr lang="en-US" altLang="ko-KR" sz="1600" dirty="0"/>
              <a:t>, </a:t>
            </a:r>
            <a:r>
              <a:rPr lang="ko-KR" altLang="en-US" sz="1600" dirty="0"/>
              <a:t>환경 문제 등에 직면하여 기존의 구성을 조정함으로써 위성군의 성능을 개선 및 새로운 요구 사항을 충족하는 일종의 방법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ko-KR" altLang="ko-KR" sz="1600" dirty="0">
                <a:effectLst/>
                <a:latin typeface="Arial Unicode MS"/>
                <a:ea typeface="맑은 고딕" panose="020B0503020000020004" pitchFamily="50" charset="-127"/>
                <a:cs typeface="Arial Unicode MS"/>
              </a:rPr>
              <a:t>위성군의 재구성은 다양한 적용 시나리오에 따라 다음으로 분류</a:t>
            </a: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Satellite failure reconstruction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Ground mission change reconstruction</a:t>
            </a:r>
            <a:endParaRPr lang="ko-KR" altLang="en-US" sz="14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위성군의 재구성은 과정의 단계에 따라 다음으로 분류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b="1" dirty="0"/>
              <a:t>Reconstruction configuration design(</a:t>
            </a:r>
            <a:r>
              <a:rPr lang="ko-KR" altLang="en-US" sz="1400" b="1" dirty="0"/>
              <a:t>본 논문에서 주로 다룸</a:t>
            </a:r>
            <a:r>
              <a:rPr lang="en-US" altLang="ko-KR" sz="1400" b="1" dirty="0"/>
              <a:t>)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Reconstruction process control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2CA3-9EB4-BED3-40D6-B3571CD7228B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6655733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86227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[4] Configuration Design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기존의 지표와 방법을 사용하여 재구성의 수학적 모델을 설정하고 다양한 재구성 시나리오에 따라 최종 구성을 얻는 과정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 dirty="0">
                <a:effectLst/>
                <a:latin typeface="times" panose="02020603050405020304" pitchFamily="18" charset="0"/>
                <a:ea typeface="맑은 고딕" panose="020B0503020000020004" pitchFamily="50" charset="-127"/>
                <a:cs typeface="times" panose="02020603050405020304" pitchFamily="18" charset="0"/>
              </a:rPr>
              <a:t>Phase uniformity method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 err="1"/>
              <a:t>위성군</a:t>
            </a:r>
            <a:r>
              <a:rPr lang="ko-KR" altLang="en-US" sz="1600" dirty="0"/>
              <a:t> 내 위성의 위상각을 조정하여 성능을 향상시키기 위해 위성 고장을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600" dirty="0"/>
              <a:t>Single, Multi coplanar, Multi non-coplanar failure</a:t>
            </a:r>
            <a:r>
              <a:rPr lang="ko-KR" altLang="en-US" sz="1600" dirty="0"/>
              <a:t>로 분류됨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 dirty="0"/>
              <a:t>Reconstruction Configuration design method (Based on Optimization Algorithm) 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효과적인 재구성 전략이 결정되며 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재구성 설계의 수학적 모델을 설정하고 기존의 최적화 알고리즘을 사용하여 모델의 최적 해를 얻음 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600" dirty="0"/>
              <a:t>Satellite failure </a:t>
            </a:r>
            <a:r>
              <a:rPr lang="ko-KR" altLang="en-US" sz="1600" dirty="0"/>
              <a:t>뿐만 아니라 </a:t>
            </a:r>
            <a:r>
              <a:rPr lang="en-US" altLang="ko-KR" sz="1600" dirty="0"/>
              <a:t>Ground mission change </a:t>
            </a:r>
            <a:r>
              <a:rPr lang="ko-KR" altLang="en-US" sz="1600" dirty="0"/>
              <a:t>재구성도 해결할 수 있음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4CDF5-426E-5C9A-46CA-1E6AFE3A72A7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83732851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[4] Configuration Design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기존의 지표와 방법을 사용하여 재구성의 수학적 모델을 설정하고 다양한 재구성 시나리오에 따라 최종 구성을 얻는 과정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 dirty="0">
                <a:effectLst/>
                <a:latin typeface="times" panose="02020603050405020304" pitchFamily="18" charset="0"/>
                <a:ea typeface="맑은 고딕" panose="020B0503020000020004" pitchFamily="50" charset="-127"/>
                <a:cs typeface="times" panose="02020603050405020304" pitchFamily="18" charset="0"/>
              </a:rPr>
              <a:t>Phase uniformity method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에너지 절약</a:t>
            </a:r>
            <a:r>
              <a:rPr lang="en-US" altLang="ko-KR" sz="1600" dirty="0"/>
              <a:t>, </a:t>
            </a:r>
            <a:r>
              <a:rPr lang="ko-KR" altLang="en-US" sz="1600" dirty="0"/>
              <a:t>구현 단순성</a:t>
            </a:r>
            <a:r>
              <a:rPr lang="en-US" altLang="ko-KR" sz="1600" dirty="0"/>
              <a:t>, </a:t>
            </a:r>
            <a:r>
              <a:rPr lang="ko-KR" altLang="en-US" sz="1600" dirty="0"/>
              <a:t>간단한 과정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위성 고장 재구성에만 적용</a:t>
            </a:r>
            <a:r>
              <a:rPr lang="en-US" altLang="ko-KR" sz="1600" dirty="0"/>
              <a:t>, </a:t>
            </a:r>
            <a:r>
              <a:rPr lang="ko-KR" altLang="en-US" sz="1600" dirty="0"/>
              <a:t>최적성을 보장 불가능</a:t>
            </a:r>
            <a:endParaRPr lang="en-US" altLang="ko-KR" sz="1600" dirty="0">
              <a:effectLst/>
              <a:latin typeface="times" panose="02020603050405020304" pitchFamily="18" charset="0"/>
              <a:ea typeface="맑은 고딕" panose="020B0503020000020004" pitchFamily="50" charset="-127"/>
              <a:cs typeface="times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 dirty="0"/>
              <a:t>Reconstruction Configuration design method (Based on Optimization Algorithm) 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범용성이 좋음</a:t>
            </a:r>
            <a:r>
              <a:rPr lang="en-US" altLang="ko-KR" sz="1600" dirty="0"/>
              <a:t>, </a:t>
            </a:r>
            <a:r>
              <a:rPr lang="ko-KR" altLang="en-US" sz="1600" dirty="0"/>
              <a:t>재구성에 대한 특별한 요구사항 없음</a:t>
            </a:r>
          </a:p>
          <a:p>
            <a:pPr marL="432000" lvl="2" indent="0">
              <a:lnSpc>
                <a:spcPct val="150000"/>
              </a:lnSpc>
              <a:buNone/>
              <a:defRPr/>
            </a:pPr>
            <a:r>
              <a:rPr lang="ko-KR" altLang="en-US" sz="1600" dirty="0"/>
              <a:t>                 최종 구성의 최적성을 보장 가능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수학적 모델 및 구체적인 재구성 지표가 부족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EF427-2D71-2E00-A975-F8CA21F86088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246980964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[5] </a:t>
            </a:r>
            <a:r>
              <a:rPr lang="ko-KR" altLang="en-US" sz="2200" b="1" dirty="0"/>
              <a:t>이종 </a:t>
            </a:r>
            <a:r>
              <a:rPr lang="ko-KR" altLang="en-US" sz="2200" b="1" dirty="0" err="1"/>
              <a:t>위성군</a:t>
            </a:r>
            <a:r>
              <a:rPr lang="ko-KR" altLang="en-US" sz="2200" b="1" dirty="0"/>
              <a:t> </a:t>
            </a:r>
            <a:r>
              <a:rPr lang="ko-KR" altLang="en-US" sz="2200" dirty="0"/>
              <a:t>재구성의 제한조건</a:t>
            </a:r>
            <a:endParaRPr lang="en-US" altLang="ko-KR" sz="2200" b="1" dirty="0"/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재구성에 따른 </a:t>
            </a:r>
            <a:r>
              <a:rPr lang="ko-KR" altLang="en-US" sz="1600" dirty="0" err="1"/>
              <a:t>위성군</a:t>
            </a:r>
            <a:r>
              <a:rPr lang="ko-KR" altLang="en-US" sz="1600" dirty="0"/>
              <a:t> 성능저하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운용 위성의 수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재구성의 복구 능력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재구성 에너지의 분배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재구성 비용의 손실</a:t>
            </a: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2CA3-9EB4-BED3-40D6-B3571CD7228B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144766356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[6] </a:t>
            </a:r>
            <a:r>
              <a:rPr lang="ko-KR" altLang="en-US" sz="2200" b="1" dirty="0"/>
              <a:t>이종 </a:t>
            </a:r>
            <a:r>
              <a:rPr lang="ko-KR" altLang="en-US" sz="2200" b="1" dirty="0" err="1"/>
              <a:t>위성군</a:t>
            </a:r>
            <a:r>
              <a:rPr lang="ko-KR" altLang="en-US" sz="2200" b="1" dirty="0"/>
              <a:t> </a:t>
            </a:r>
            <a:r>
              <a:rPr lang="ko-KR" altLang="en-US" sz="2200" dirty="0"/>
              <a:t>재구성의 목적함수</a:t>
            </a:r>
            <a:endParaRPr lang="en-US" altLang="ko-KR" sz="2200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일반적으로 목적함수는 재방문 시간</a:t>
            </a:r>
            <a:r>
              <a:rPr lang="en-US" altLang="ko-KR" sz="1600" dirty="0"/>
              <a:t>, </a:t>
            </a:r>
            <a:r>
              <a:rPr lang="ko-KR" altLang="en-US" sz="1600" dirty="0"/>
              <a:t>응답 시간</a:t>
            </a:r>
            <a:r>
              <a:rPr lang="en-US" altLang="ko-KR" sz="1600" dirty="0"/>
              <a:t>, </a:t>
            </a:r>
            <a:r>
              <a:rPr lang="ko-KR" altLang="en-US" sz="1600" dirty="0"/>
              <a:t>커버리지 비율 등의 </a:t>
            </a:r>
            <a:r>
              <a:rPr lang="ko-KR" altLang="en-US" sz="1600" dirty="0" err="1"/>
              <a:t>위성군</a:t>
            </a:r>
            <a:r>
              <a:rPr lang="ko-KR" altLang="en-US" sz="1600" dirty="0"/>
              <a:t> 성능 지수로 구성됨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목적함수의 정해진 패턴 및 공식은 없으며 위성군의 유형에 따라 성능지수의 중요도 또한 다름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[7] </a:t>
            </a:r>
            <a:r>
              <a:rPr lang="ko-KR" altLang="en-US" sz="2200" dirty="0"/>
              <a:t>결론</a:t>
            </a:r>
            <a:endParaRPr lang="en-US" altLang="ko-KR" sz="2200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이종 위성군의 재구성 설계에 대한 연구는 복잡하지만 변경 가능한 지상 임무를 처리하는 능력을 향상시키고 기존 우주 임무의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신뢰성 및 유연성을 키울 수 있음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전략적 중요성과 응용 가치가 높음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하지만 재구성 설계에 대한 모델 및 지표가 없는 것이 한계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endParaRPr lang="en-US" altLang="ko-KR" sz="1600" dirty="0"/>
          </a:p>
          <a:p>
            <a:pPr marL="432000" lvl="2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2CA3-9EB4-BED3-40D6-B3571CD7228B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188514253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82B09E-88BE-37DA-C537-8C0B00C6F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코멘트</a:t>
            </a:r>
            <a:br>
              <a:rPr lang="en-US" altLang="ko-KR" dirty="0"/>
            </a:b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50034C-9420-5AEC-A375-2A11FD1454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1928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문서양식</a:t>
            </a:r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601155"/>
          <a:ext cx="862965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글상자</a:t>
                      </a:r>
                      <a:r>
                        <a:rPr lang="ko-KR" altLang="en-US" sz="1400" dirty="0"/>
                        <a:t> 위치를 양식에 따를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줄간격</a:t>
                      </a:r>
                      <a:r>
                        <a:rPr lang="ko-KR" altLang="en-US" sz="1400" dirty="0"/>
                        <a:t> 등을 양식에 따를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폰트 크기 등을 양식에 따를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참고문헌 표기 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131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그림 등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왜곡된 비율의 그림은 수정하여 자료에 삽입할 것</a:t>
                      </a:r>
                      <a:r>
                        <a:rPr lang="en-US" altLang="ko-KR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446936"/>
                  </a:ext>
                </a:extLst>
              </a:tr>
              <a:tr h="131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회의록 양식과 유사도가 상당히 높은데</a:t>
                      </a:r>
                      <a:r>
                        <a:rPr lang="en-US" altLang="ko-KR" sz="1400" dirty="0"/>
                        <a:t>, ‘</a:t>
                      </a:r>
                      <a:r>
                        <a:rPr lang="ko-KR" altLang="en-US" sz="1400" dirty="0"/>
                        <a:t>내용과 양식을 모두 그대로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복사 붙여넣기 한 것은 아닌지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3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942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Reference (1)</a:t>
            </a:r>
            <a:endParaRPr lang="ko-KR" altLang="en-US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366730"/>
          <a:ext cx="862965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1947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50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p.2, 3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 3-18 </a:t>
                      </a:r>
                      <a:r>
                        <a:rPr lang="ko-KR" altLang="en-US" sz="1400" dirty="0"/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참고문헌 표기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참고문헌 표기 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저자와 </a:t>
                      </a:r>
                      <a:r>
                        <a:rPr lang="ko-KR" altLang="en-US" sz="1400" dirty="0" err="1"/>
                        <a:t>출판년도</a:t>
                      </a:r>
                      <a:r>
                        <a:rPr lang="ko-KR" altLang="en-US" sz="1400" dirty="0"/>
                        <a:t> 사이에 콤마 삽입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저자가 </a:t>
                      </a:r>
                      <a:r>
                        <a:rPr lang="ko-KR" altLang="en-US" sz="1400" dirty="0" err="1"/>
                        <a:t>여러명인</a:t>
                      </a:r>
                      <a:r>
                        <a:rPr lang="ko-KR" altLang="en-US" sz="1400" dirty="0"/>
                        <a:t> 경우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표기하는 방법에 대해서는 팀미팅에서 여러 번 언급하였으므로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본 논문의 </a:t>
                      </a:r>
                      <a:r>
                        <a:rPr lang="en-US" altLang="ko-KR" sz="1400" dirty="0"/>
                        <a:t>‘Heterogeneous constellation’</a:t>
                      </a:r>
                      <a:r>
                        <a:rPr lang="ko-KR" altLang="en-US" sz="1400" dirty="0"/>
                        <a:t>의 정의는 무엇인지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50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p.5-6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 개의 슬라이드에 요약하여 정리할 것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논문에서 표로 표현되었다는 것은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표로 표현해야 가독성이 높은 내용이라는 뜻임</a:t>
                      </a:r>
                      <a:r>
                        <a:rPr lang="en-US" altLang="ko-KR" sz="1400" dirty="0"/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논문의 표는 발표자료에도 표로 옮기고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출처를 표기할 것</a:t>
                      </a:r>
                      <a:r>
                        <a:rPr lang="en-US" altLang="ko-KR" sz="1400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6168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‘LEO</a:t>
                      </a:r>
                      <a:r>
                        <a:rPr lang="ko-KR" altLang="en-US" sz="1400" dirty="0"/>
                        <a:t>원격감지 시스템의 명령전달 및 데이터 복구를 다루는 이 논문의 접근 방법은 </a:t>
                      </a:r>
                      <a:r>
                        <a:rPr lang="en-US" altLang="ko-KR" sz="1400" dirty="0"/>
                        <a:t>STK</a:t>
                      </a:r>
                      <a:r>
                        <a:rPr lang="ko-KR" altLang="en-US" sz="1400" dirty="0"/>
                        <a:t>에 분석에 적합함</a:t>
                      </a:r>
                      <a:r>
                        <a:rPr lang="en-US" altLang="ko-KR" sz="1400" dirty="0"/>
                        <a:t>’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본인이 수행할 연구목표에 적합한지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결론에 동일한 문장이 있는데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옳게 작성된 문장인지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400" dirty="0"/>
                        <a:t>Coverage, AWB, STK Analyzer</a:t>
                      </a:r>
                      <a:r>
                        <a:rPr lang="ko-KR" altLang="en-US" sz="1400" dirty="0"/>
                        <a:t>가 서로 다른 소프트웨어인지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DV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/>
                        <a:t>MOP</a:t>
                      </a:r>
                      <a:r>
                        <a:rPr lang="ko-KR" altLang="en-US" sz="1400" dirty="0"/>
                        <a:t>의 정의가 무엇인지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10463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p.4-9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동일한 내용이 반복되는데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한 슬라이드로 요약할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446936"/>
                  </a:ext>
                </a:extLst>
              </a:tr>
              <a:tr h="2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p.10-17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가장 주요한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본 논문의 핵심이 되는 </a:t>
                      </a:r>
                      <a:r>
                        <a:rPr lang="en-US" altLang="ko-KR" sz="1400" dirty="0"/>
                        <a:t>or </a:t>
                      </a:r>
                      <a:r>
                        <a:rPr lang="ko-KR" altLang="en-US" sz="1400" dirty="0"/>
                        <a:t>본인의 연구에 적용할 수 있는</a:t>
                      </a:r>
                      <a:r>
                        <a:rPr lang="en-US" altLang="ko-KR" sz="1400" dirty="0"/>
                        <a:t>) figure</a:t>
                      </a:r>
                      <a:r>
                        <a:rPr lang="ko-KR" altLang="en-US" sz="1400" dirty="0"/>
                        <a:t>를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개 이내로 정리할 것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3145"/>
                  </a:ext>
                </a:extLst>
              </a:tr>
              <a:tr h="2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논문의 결론에 더해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본 논문의 내용 중 어떤 부분을 본인의 연구에 어떻게 적용할 수 있는지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1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225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Reference (2)</a:t>
            </a:r>
            <a:endParaRPr lang="ko-KR" altLang="en-US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366730"/>
          <a:ext cx="862965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1372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p.19, 20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 20-27</a:t>
                      </a:r>
                      <a:r>
                        <a:rPr lang="ko-KR" altLang="en-US" sz="1400" dirty="0"/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참고문헌 표기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참고문헌 표기 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저자와 </a:t>
                      </a:r>
                      <a:r>
                        <a:rPr lang="ko-KR" altLang="en-US" sz="1400" dirty="0" err="1"/>
                        <a:t>출판년도</a:t>
                      </a:r>
                      <a:r>
                        <a:rPr lang="ko-KR" altLang="en-US" sz="1400" dirty="0"/>
                        <a:t> 사이에 콤마 삽입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저자가 </a:t>
                      </a:r>
                      <a:r>
                        <a:rPr lang="ko-KR" altLang="en-US" sz="1400" dirty="0" err="1"/>
                        <a:t>여러명인</a:t>
                      </a:r>
                      <a:r>
                        <a:rPr lang="ko-KR" altLang="en-US" sz="1400" dirty="0"/>
                        <a:t> 경우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표기하는 방법에 대해서는 팀미팅에서 여러 번 언급하였으므로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본 논문의 </a:t>
                      </a:r>
                      <a:r>
                        <a:rPr lang="en-US" altLang="ko-KR" sz="1400" dirty="0"/>
                        <a:t>‘Heterogeneous constellation’</a:t>
                      </a:r>
                      <a:r>
                        <a:rPr lang="ko-KR" altLang="en-US" sz="1400" dirty="0"/>
                        <a:t>의 정의는 무엇인지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p.22-27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논문의 핵심이 표현되는 그래프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그림 등이 자료에 없음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논문의 핵심이 무엇인지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그림으로 표현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시뮬레이션 결과가 있다면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자료에 포함할 것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방법론만을 리뷰한 논문이라면 논문에서 인용한 참고문헌을 포함할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p.24-25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Reference (1)</a:t>
                      </a:r>
                      <a:r>
                        <a:rPr lang="ko-KR" altLang="en-US" sz="1400" dirty="0"/>
                        <a:t>의 </a:t>
                      </a:r>
                      <a:r>
                        <a:rPr lang="en-US" altLang="ko-KR" sz="1400" dirty="0"/>
                        <a:t>p.5-6</a:t>
                      </a:r>
                      <a:r>
                        <a:rPr lang="ko-KR" altLang="en-US" sz="1400" dirty="0"/>
                        <a:t>에 대한 코멘트와 동일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하지만 재구성 설계에 대한 모델 및 지표가 없는 것이 한계</a:t>
                      </a:r>
                      <a:r>
                        <a:rPr lang="en-US" altLang="ko-KR" sz="1400" dirty="0"/>
                        <a:t>’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 err="1"/>
                        <a:t>를</a:t>
                      </a:r>
                      <a:r>
                        <a:rPr lang="ko-KR" altLang="en-US" sz="1400" dirty="0"/>
                        <a:t> 어떻게 극복하여 본인의 연구에 적용할 수 있을지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10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795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(3) </a:t>
            </a:r>
            <a:r>
              <a:rPr lang="en-US" altLang="ko-KR" dirty="0"/>
              <a:t>The UrtheCast SAR-XL Multi-Band, Multi-Aperture, 2017, Peter Fox, Keith Beckett</a:t>
            </a:r>
            <a:br>
              <a:rPr lang="en-US" altLang="ko-KR" sz="1200" dirty="0"/>
            </a:br>
            <a:br>
              <a:rPr lang="en-US" altLang="ko-KR" sz="2000" b="1" dirty="0"/>
            </a:br>
            <a:br>
              <a:rPr lang="ko-KR" altLang="en-US" sz="2000" b="1" dirty="0"/>
            </a:b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3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The UrtheCast SAR-XL Multi-Band, Multi-Aperture, 2017, Peter Fox, Keith Beckett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/>
            <a:r>
              <a:rPr lang="en-US" altLang="ko-KR" dirty="0"/>
              <a:t>SAR</a:t>
            </a:r>
            <a:r>
              <a:rPr lang="ko-KR" altLang="en-US" dirty="0"/>
              <a:t>와 광학 위성이 각각 </a:t>
            </a:r>
            <a:r>
              <a:rPr lang="en-US" altLang="ko-KR" dirty="0"/>
              <a:t>1</a:t>
            </a:r>
            <a:r>
              <a:rPr lang="ko-KR" altLang="en-US" dirty="0"/>
              <a:t>대 씩 짝을 지어 </a:t>
            </a:r>
            <a:r>
              <a:rPr lang="en-US" altLang="ko-KR" dirty="0"/>
              <a:t>4</a:t>
            </a:r>
            <a:r>
              <a:rPr lang="ko-KR" altLang="en-US" dirty="0"/>
              <a:t> 쌍으로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대로 구성됨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대의 위성이 두 개의 궤도 평면에</a:t>
            </a:r>
            <a:r>
              <a:rPr lang="en-US" altLang="ko-KR" dirty="0"/>
              <a:t> </a:t>
            </a:r>
            <a:r>
              <a:rPr lang="ko-KR" altLang="en-US" dirty="0"/>
              <a:t>배치되며</a:t>
            </a:r>
            <a:endParaRPr lang="en-US" altLang="ko-KR" dirty="0"/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그 후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096" y="3036007"/>
            <a:ext cx="4137807" cy="280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Two Orbit(450km altitude)</a:t>
            </a:r>
          </a:p>
          <a:p>
            <a:pPr lvl="1"/>
            <a:r>
              <a:rPr lang="en-US" altLang="ko-KR" dirty="0"/>
              <a:t>SSO(Sun-Synchronous Orbit)</a:t>
            </a:r>
          </a:p>
          <a:p>
            <a:pPr lvl="2"/>
            <a:r>
              <a:rPr lang="en-US" altLang="ko-KR" dirty="0"/>
              <a:t>LTAN 10:30</a:t>
            </a:r>
          </a:p>
          <a:p>
            <a:pPr lvl="2"/>
            <a:r>
              <a:rPr lang="ko-KR" altLang="en-US" dirty="0"/>
              <a:t>지구</a:t>
            </a:r>
            <a:r>
              <a:rPr lang="en-US" altLang="ko-KR" dirty="0"/>
              <a:t> </a:t>
            </a:r>
            <a:r>
              <a:rPr lang="ko-KR" altLang="en-US" dirty="0"/>
              <a:t>관측 임무에 사용되는 궤도 </a:t>
            </a:r>
            <a:endParaRPr lang="en-US" altLang="ko-KR" dirty="0"/>
          </a:p>
          <a:p>
            <a:pPr lvl="1"/>
            <a:r>
              <a:rPr lang="en-US" altLang="ko-KR" dirty="0"/>
              <a:t>MIO(Mid-Inclination Orbit)</a:t>
            </a:r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45deg</a:t>
            </a:r>
            <a:r>
              <a:rPr lang="ko-KR" altLang="en-US" dirty="0"/>
              <a:t>의 경사를 가짐</a:t>
            </a:r>
            <a:endParaRPr lang="en-US" altLang="ko-KR" dirty="0"/>
          </a:p>
          <a:p>
            <a:pPr lvl="2"/>
            <a:r>
              <a:rPr lang="ko-KR" altLang="en-US" dirty="0"/>
              <a:t>중위도 지역에서 높은 재방문을 제공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D4C399-0A8B-F019-725F-4C9883C4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790" y="3308889"/>
            <a:ext cx="6514420" cy="25338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605290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Composition  of Constellation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en-US" altLang="ko-KR" dirty="0"/>
              <a:t>UrtheCast’s SAR-XL </a:t>
            </a:r>
            <a:r>
              <a:rPr lang="ko-KR" altLang="en-US" dirty="0"/>
              <a:t>기술을 이용한 </a:t>
            </a:r>
            <a:r>
              <a:rPr lang="ko-KR" altLang="en-US" dirty="0" err="1"/>
              <a:t>듀얼밴드</a:t>
            </a:r>
            <a:r>
              <a:rPr lang="ko-KR" altLang="en-US" dirty="0"/>
              <a:t> 사용</a:t>
            </a:r>
            <a:r>
              <a:rPr lang="en-US" altLang="ko-KR" dirty="0"/>
              <a:t>(6</a:t>
            </a:r>
            <a:r>
              <a:rPr lang="ko-KR" altLang="en-US" dirty="0"/>
              <a:t>개의 독립 </a:t>
            </a:r>
            <a:r>
              <a:rPr lang="en-US" altLang="ko-KR" dirty="0"/>
              <a:t>aperture</a:t>
            </a:r>
            <a:r>
              <a:rPr lang="ko-KR" altLang="en-US" dirty="0"/>
              <a:t>로 구성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X-band(1m class)</a:t>
            </a:r>
          </a:p>
          <a:p>
            <a:pPr lvl="3"/>
            <a:r>
              <a:rPr lang="en-US" altLang="ko-KR" dirty="0"/>
              <a:t>L-band(5m class)</a:t>
            </a:r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고해상도</a:t>
            </a:r>
            <a:r>
              <a:rPr lang="en-US" altLang="ko-KR" dirty="0"/>
              <a:t>(0.5m GSD)</a:t>
            </a:r>
            <a:r>
              <a:rPr lang="ko-KR" altLang="en-US" dirty="0"/>
              <a:t>의 </a:t>
            </a:r>
            <a:r>
              <a:rPr lang="ko-KR" altLang="en-US" dirty="0" err="1"/>
              <a:t>듀얼모드</a:t>
            </a:r>
            <a:r>
              <a:rPr lang="ko-KR" altLang="en-US" dirty="0"/>
              <a:t> 광학 카메라 사용</a:t>
            </a:r>
            <a:endParaRPr lang="en-US" altLang="ko-KR" dirty="0"/>
          </a:p>
          <a:p>
            <a:pPr lvl="3"/>
            <a:r>
              <a:rPr lang="en-US" altLang="ko-KR" dirty="0"/>
              <a:t>Multi-spectral </a:t>
            </a:r>
            <a:r>
              <a:rPr lang="en-US" altLang="ko-KR" dirty="0" err="1"/>
              <a:t>pushbroom</a:t>
            </a:r>
            <a:endParaRPr lang="en-US" altLang="ko-KR" dirty="0"/>
          </a:p>
          <a:p>
            <a:pPr lvl="3"/>
            <a:r>
              <a:rPr lang="en-US" altLang="ko-KR" dirty="0"/>
              <a:t>RGB color video</a:t>
            </a:r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57956164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Instrument Description</a:t>
            </a:r>
          </a:p>
          <a:p>
            <a:pPr lvl="1"/>
            <a:r>
              <a:rPr lang="ko-KR" altLang="en-US" dirty="0"/>
              <a:t>세계 최초의 이중 주파수</a:t>
            </a:r>
            <a:r>
              <a:rPr lang="en-US" altLang="ko-KR" dirty="0"/>
              <a:t>, </a:t>
            </a:r>
            <a:r>
              <a:rPr lang="ko-KR" altLang="en-US" dirty="0" err="1"/>
              <a:t>쿼드</a:t>
            </a:r>
            <a:r>
              <a:rPr lang="ko-KR" altLang="en-US" dirty="0"/>
              <a:t> 편광</a:t>
            </a:r>
            <a:r>
              <a:rPr lang="en-US" altLang="ko-KR" dirty="0"/>
              <a:t>, multi aperture, </a:t>
            </a:r>
            <a:r>
              <a:rPr lang="ko-KR" altLang="en-US" dirty="0"/>
              <a:t>완전 활성 위상 배열 및 공간 기반 디지털 빔 형성 </a:t>
            </a:r>
            <a:r>
              <a:rPr lang="en-US" altLang="ko-KR" dirty="0"/>
              <a:t>SAR</a:t>
            </a:r>
          </a:p>
          <a:p>
            <a:pPr lvl="1"/>
            <a:r>
              <a:rPr lang="ko-KR" altLang="en-US" dirty="0"/>
              <a:t>필요한 성능을 달성하도록 하는 안테나 크기 조정에 매우 유연함</a:t>
            </a:r>
            <a:endParaRPr lang="en-US" altLang="ko-KR" dirty="0"/>
          </a:p>
          <a:p>
            <a:pPr lvl="1"/>
            <a:r>
              <a:rPr lang="ko-KR" altLang="en-US" dirty="0"/>
              <a:t>선택된 수의 개별 </a:t>
            </a:r>
            <a:r>
              <a:rPr lang="en-US" altLang="ko-KR" dirty="0"/>
              <a:t>aperture</a:t>
            </a:r>
            <a:r>
              <a:rPr lang="ko-KR" altLang="en-US" dirty="0"/>
              <a:t>에 따라 </a:t>
            </a:r>
            <a:r>
              <a:rPr lang="en-US" altLang="ko-KR" dirty="0"/>
              <a:t>SAR </a:t>
            </a:r>
            <a:r>
              <a:rPr lang="ko-KR" altLang="en-US" dirty="0"/>
              <a:t>안테나가 구성됨</a:t>
            </a:r>
            <a:endParaRPr lang="en-US" altLang="ko-KR" dirty="0"/>
          </a:p>
          <a:p>
            <a:pPr lvl="1"/>
            <a:r>
              <a:rPr lang="en-US" altLang="ko-KR" dirty="0"/>
              <a:t>Aperture</a:t>
            </a:r>
          </a:p>
          <a:p>
            <a:pPr lvl="2"/>
            <a:r>
              <a:rPr lang="ko-KR" altLang="en-US" dirty="0"/>
              <a:t>안테나의 </a:t>
            </a:r>
            <a:r>
              <a:rPr lang="en-US" altLang="ko-KR" dirty="0"/>
              <a:t>Aperture</a:t>
            </a:r>
            <a:r>
              <a:rPr lang="ko-KR" altLang="en-US" dirty="0"/>
              <a:t>는 </a:t>
            </a:r>
            <a:r>
              <a:rPr lang="en-US" altLang="ko-KR" dirty="0"/>
              <a:t>1.8m(elevation) * 1.0m(azimuth) </a:t>
            </a:r>
            <a:r>
              <a:rPr lang="ko-KR" altLang="en-US" dirty="0"/>
              <a:t>크기</a:t>
            </a:r>
            <a:endParaRPr lang="en-US" altLang="ko-KR" dirty="0"/>
          </a:p>
          <a:p>
            <a:pPr lvl="2"/>
            <a:r>
              <a:rPr lang="en-US" altLang="ko-KR" dirty="0"/>
              <a:t>6</a:t>
            </a:r>
            <a:r>
              <a:rPr lang="ko-KR" altLang="en-US" dirty="0"/>
              <a:t>개의 이중 주파수 </a:t>
            </a:r>
            <a:r>
              <a:rPr lang="en-US" altLang="ko-KR" dirty="0"/>
              <a:t>aperture</a:t>
            </a:r>
            <a:r>
              <a:rPr lang="ko-KR" altLang="en-US" dirty="0"/>
              <a:t>를 사용하지만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수용 가능</a:t>
            </a:r>
            <a:endParaRPr lang="en-US" altLang="ko-KR" dirty="0"/>
          </a:p>
          <a:p>
            <a:pPr lvl="2"/>
            <a:r>
              <a:rPr lang="ko-KR" altLang="en-US" dirty="0"/>
              <a:t>디지털 방식으로 결합되어 방위각과 고도에 대한 </a:t>
            </a:r>
            <a:r>
              <a:rPr lang="en-US" altLang="ko-KR" dirty="0"/>
              <a:t>transmit </a:t>
            </a:r>
            <a:r>
              <a:rPr lang="ko-KR" altLang="en-US" dirty="0"/>
              <a:t>및 </a:t>
            </a:r>
            <a:r>
              <a:rPr lang="en-US" altLang="ko-KR" dirty="0"/>
              <a:t>receive beam</a:t>
            </a:r>
            <a:r>
              <a:rPr lang="ko-KR" altLang="en-US" dirty="0"/>
              <a:t>을 형상</a:t>
            </a:r>
            <a:endParaRPr lang="en-US" altLang="ko-KR" dirty="0"/>
          </a:p>
          <a:p>
            <a:pPr lvl="2"/>
            <a:r>
              <a:rPr lang="en-US" altLang="ko-KR" dirty="0" err="1"/>
              <a:t>Spotlight,StripMap</a:t>
            </a:r>
            <a:r>
              <a:rPr lang="en-US" altLang="ko-KR" dirty="0"/>
              <a:t>, </a:t>
            </a:r>
            <a:r>
              <a:rPr lang="en-US" altLang="ko-KR" dirty="0" err="1"/>
              <a:t>ScanSAR</a:t>
            </a:r>
            <a:r>
              <a:rPr lang="en-US" altLang="ko-KR" dirty="0"/>
              <a:t> </a:t>
            </a:r>
            <a:r>
              <a:rPr lang="ko-KR" altLang="en-US" dirty="0"/>
              <a:t>모드 등을 독립적으로 조정하여 해상도를 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94669618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r>
              <a:rPr lang="ko-KR" altLang="en-US" dirty="0"/>
              <a:t>다중 입력</a:t>
            </a:r>
            <a:r>
              <a:rPr lang="en-US" altLang="ko-KR" dirty="0"/>
              <a:t>-</a:t>
            </a:r>
            <a:r>
              <a:rPr lang="ko-KR" altLang="en-US" dirty="0"/>
              <a:t>다중 출력</a:t>
            </a:r>
            <a:r>
              <a:rPr lang="en-US" altLang="ko-KR" dirty="0"/>
              <a:t>(MIMO)</a:t>
            </a:r>
            <a:r>
              <a:rPr lang="ko-KR" altLang="en-US" dirty="0"/>
              <a:t> 기능을 갖춘 다중 </a:t>
            </a:r>
            <a:r>
              <a:rPr lang="en-US" altLang="ko-KR" dirty="0"/>
              <a:t>aperture-</a:t>
            </a:r>
            <a:r>
              <a:rPr lang="ko-KR" altLang="en-US" dirty="0"/>
              <a:t>다중 주파수 기술</a:t>
            </a:r>
            <a:endParaRPr lang="en-US" altLang="ko-KR" dirty="0"/>
          </a:p>
          <a:p>
            <a:pPr lvl="2"/>
            <a:r>
              <a:rPr lang="ko-KR" altLang="en-US" dirty="0"/>
              <a:t>같은 </a:t>
            </a:r>
            <a:r>
              <a:rPr lang="en-US" altLang="ko-KR" dirty="0"/>
              <a:t>aperture</a:t>
            </a:r>
            <a:r>
              <a:rPr lang="ko-KR" altLang="en-US" dirty="0"/>
              <a:t>에서 </a:t>
            </a:r>
            <a:r>
              <a:rPr lang="en-US" altLang="ko-KR" dirty="0"/>
              <a:t>2</a:t>
            </a:r>
            <a:r>
              <a:rPr lang="ko-KR" altLang="en-US" dirty="0"/>
              <a:t>개의 주파수에 모두 방위각 및 고도의 빔을 형성</a:t>
            </a:r>
            <a:endParaRPr lang="en-US" altLang="ko-KR" dirty="0"/>
          </a:p>
          <a:p>
            <a:pPr lvl="2"/>
            <a:r>
              <a:rPr lang="ko-KR" altLang="en-US" dirty="0"/>
              <a:t>공간의</a:t>
            </a:r>
            <a:r>
              <a:rPr lang="en-US" altLang="ko-KR" dirty="0"/>
              <a:t> </a:t>
            </a:r>
            <a:r>
              <a:rPr lang="ko-KR" altLang="en-US" dirty="0"/>
              <a:t>차원성을 더욱 확장함</a:t>
            </a:r>
            <a:endParaRPr lang="en-US" altLang="ko-KR" dirty="0"/>
          </a:p>
          <a:p>
            <a:pPr lvl="2"/>
            <a:r>
              <a:rPr lang="ko-KR" altLang="en-US" dirty="0"/>
              <a:t>작은 안테나가 넓은 범위의 감시 모드 요구사항도 충족할 수 있음</a:t>
            </a:r>
            <a:endParaRPr lang="en-US" altLang="ko-KR" dirty="0"/>
          </a:p>
          <a:p>
            <a:pPr lvl="1"/>
            <a:r>
              <a:rPr lang="ko-KR" altLang="en-US" dirty="0"/>
              <a:t>송신 신호</a:t>
            </a:r>
            <a:endParaRPr lang="en-US" altLang="ko-KR" dirty="0"/>
          </a:p>
          <a:p>
            <a:pPr lvl="2"/>
            <a:r>
              <a:rPr lang="ko-KR" altLang="en-US" dirty="0"/>
              <a:t>선형과 비선형의 </a:t>
            </a:r>
            <a:r>
              <a:rPr lang="en-US" altLang="ko-KR" dirty="0"/>
              <a:t>FM </a:t>
            </a:r>
            <a:r>
              <a:rPr lang="ko-KR" altLang="en-US" dirty="0"/>
              <a:t>신호를 모두 지원</a:t>
            </a:r>
            <a:endParaRPr lang="en-US" altLang="ko-KR" dirty="0"/>
          </a:p>
          <a:p>
            <a:pPr lvl="2"/>
            <a:r>
              <a:rPr lang="en-US" altLang="ko-KR" dirty="0"/>
              <a:t>NESZ</a:t>
            </a:r>
            <a:r>
              <a:rPr lang="ko-KR" altLang="en-US" dirty="0"/>
              <a:t>에서 손실없이 향상된 범위의 신호 응답이 가능</a:t>
            </a:r>
            <a:endParaRPr lang="en-US" altLang="ko-KR" dirty="0"/>
          </a:p>
          <a:p>
            <a:pPr lvl="2"/>
            <a:r>
              <a:rPr lang="ko-KR" altLang="en-US" dirty="0"/>
              <a:t>단일</a:t>
            </a:r>
            <a:r>
              <a:rPr lang="en-US" altLang="ko-KR" dirty="0"/>
              <a:t>, </a:t>
            </a:r>
            <a:r>
              <a:rPr lang="ko-KR" altLang="en-US" dirty="0"/>
              <a:t>이중</a:t>
            </a:r>
            <a:r>
              <a:rPr lang="en-US" altLang="ko-KR" dirty="0"/>
              <a:t>, </a:t>
            </a:r>
            <a:r>
              <a:rPr lang="ko-KR" altLang="en-US" dirty="0"/>
              <a:t>경사</a:t>
            </a:r>
            <a:r>
              <a:rPr lang="en-US" altLang="ko-KR" dirty="0"/>
              <a:t>, </a:t>
            </a:r>
            <a:r>
              <a:rPr lang="ko-KR" altLang="en-US" dirty="0"/>
              <a:t>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수신 신호</a:t>
            </a:r>
            <a:endParaRPr lang="en-US" altLang="ko-KR" dirty="0"/>
          </a:p>
          <a:p>
            <a:pPr lvl="2"/>
            <a:r>
              <a:rPr lang="ko-KR" altLang="en-US" dirty="0"/>
              <a:t>넓은 </a:t>
            </a:r>
            <a:r>
              <a:rPr lang="en-US" altLang="ko-KR" dirty="0"/>
              <a:t>swath </a:t>
            </a:r>
            <a:r>
              <a:rPr lang="ko-KR" altLang="en-US" dirty="0"/>
              <a:t>감시에 사용</a:t>
            </a:r>
            <a:endParaRPr lang="en-US" altLang="ko-KR" dirty="0"/>
          </a:p>
          <a:p>
            <a:pPr lvl="2"/>
            <a:r>
              <a:rPr lang="ko-KR" altLang="en-US" dirty="0"/>
              <a:t>선형 및 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송수신 모듈</a:t>
            </a:r>
            <a:endParaRPr lang="en-US" altLang="ko-KR" dirty="0"/>
          </a:p>
          <a:p>
            <a:pPr lvl="2"/>
            <a:r>
              <a:rPr lang="ko-KR" altLang="en-US" dirty="0"/>
              <a:t>위상 편이가 없다는 점에서 파격적임</a:t>
            </a:r>
            <a:endParaRPr lang="en-US" altLang="ko-KR" dirty="0"/>
          </a:p>
          <a:p>
            <a:pPr lvl="2"/>
            <a:r>
              <a:rPr lang="ko-KR" altLang="en-US" dirty="0"/>
              <a:t>모든 위상 편이 및 보정은 디지털로 수행됨</a:t>
            </a:r>
            <a:endParaRPr lang="en-US" altLang="ko-KR" dirty="0"/>
          </a:p>
          <a:p>
            <a:pPr lvl="2"/>
            <a:r>
              <a:rPr lang="ko-KR" altLang="en-US" dirty="0"/>
              <a:t>고도 및 방위각에서 동시에 빔 형성이 가능하므로 새로운 실험 모드를 지원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04348952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Beams And Modes Specifications</a:t>
            </a:r>
          </a:p>
          <a:p>
            <a:pPr lvl="1"/>
            <a:r>
              <a:rPr lang="en-US" altLang="ko-KR" dirty="0" err="1"/>
              <a:t>SpotLight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Multi-Aperture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Dual-Band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 err="1"/>
              <a:t>ScanSAR</a:t>
            </a:r>
            <a:r>
              <a:rPr lang="en-US" altLang="ko-KR" dirty="0"/>
              <a:t> Mode products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SAR-XL Extendable Architecture</a:t>
            </a:r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확장하여 </a:t>
            </a:r>
            <a:r>
              <a:rPr lang="en-US" altLang="ko-KR" dirty="0"/>
              <a:t>16m </a:t>
            </a:r>
            <a:r>
              <a:rPr lang="ko-KR" altLang="en-US" dirty="0"/>
              <a:t>길이의 안테나를 임무에 사용할 수 있음</a:t>
            </a:r>
            <a:endParaRPr lang="en-US" altLang="ko-KR" dirty="0"/>
          </a:p>
          <a:p>
            <a:pPr lvl="1"/>
            <a:r>
              <a:rPr lang="ko-KR" altLang="en-US" dirty="0"/>
              <a:t>안테나 인터페이스 및 제어 장치를 수정하여 더 많은 </a:t>
            </a:r>
            <a:r>
              <a:rPr lang="en-US" altLang="ko-KR" dirty="0"/>
              <a:t>aperture</a:t>
            </a:r>
            <a:r>
              <a:rPr lang="ko-KR" altLang="en-US" dirty="0"/>
              <a:t>를 만들 수 있음</a:t>
            </a:r>
            <a:endParaRPr lang="en-US" altLang="ko-KR" dirty="0"/>
          </a:p>
          <a:p>
            <a:pPr lvl="1"/>
            <a:r>
              <a:rPr lang="ko-KR" altLang="en-US" dirty="0"/>
              <a:t>기술적인 비용을 크게 줄일 수 있는 기본 모듈의 설계 요소 사용 가능</a:t>
            </a:r>
            <a:endParaRPr lang="en-US" altLang="ko-KR" dirty="0"/>
          </a:p>
          <a:p>
            <a:pPr lvl="1"/>
            <a:r>
              <a:rPr lang="ko-KR" altLang="en-US" dirty="0"/>
              <a:t>더 많은 </a:t>
            </a:r>
            <a:r>
              <a:rPr lang="en-US" altLang="ko-KR" dirty="0"/>
              <a:t>aperture</a:t>
            </a:r>
            <a:r>
              <a:rPr lang="ko-KR" altLang="en-US" dirty="0"/>
              <a:t>를 사용하면 해상도의 정밀도 및</a:t>
            </a:r>
            <a:r>
              <a:rPr lang="en-US" altLang="ko-KR" dirty="0"/>
              <a:t> swath </a:t>
            </a:r>
            <a:r>
              <a:rPr lang="ko-KR" altLang="en-US" dirty="0"/>
              <a:t>폭 증가</a:t>
            </a:r>
            <a:r>
              <a:rPr lang="en-US" altLang="ko-KR" dirty="0"/>
              <a:t>, ambiguity ratio </a:t>
            </a:r>
            <a:r>
              <a:rPr lang="ko-KR" altLang="en-US" dirty="0"/>
              <a:t>및 </a:t>
            </a:r>
            <a:r>
              <a:rPr lang="en-US" altLang="ko-KR" dirty="0"/>
              <a:t>NESZ </a:t>
            </a:r>
            <a:r>
              <a:rPr lang="ko-KR" altLang="en-US" dirty="0"/>
              <a:t>감소 등의 효과를 얻을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4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83457649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기본 국문 </a:t>
            </a:r>
            <a:r>
              <a:rPr lang="en-US" altLang="ko-KR" dirty="0"/>
              <a:t>“</a:t>
            </a:r>
            <a:r>
              <a:rPr lang="ko-KR" altLang="en-US" dirty="0" err="1"/>
              <a:t>개조식</a:t>
            </a:r>
            <a:r>
              <a:rPr lang="en-US" altLang="ko-KR" dirty="0"/>
              <a:t>”</a:t>
            </a:r>
            <a:r>
              <a:rPr lang="ko-KR" altLang="en-US" dirty="0"/>
              <a:t> 작성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본문 텍스트 상자 위치</a:t>
            </a:r>
            <a:r>
              <a:rPr lang="en-US" altLang="ko-KR" dirty="0"/>
              <a:t>/</a:t>
            </a:r>
            <a:r>
              <a:rPr lang="ko-KR" altLang="en-US" dirty="0"/>
              <a:t>크기 임의로 조절하지 말 것</a:t>
            </a:r>
            <a:endParaRPr lang="en-US" altLang="ko-KR" dirty="0"/>
          </a:p>
          <a:p>
            <a:pPr lvl="1"/>
            <a:r>
              <a:rPr lang="ko-KR" altLang="en-US" dirty="0"/>
              <a:t>페이지 번호</a:t>
            </a:r>
            <a:r>
              <a:rPr lang="en-US" altLang="ko-KR" dirty="0"/>
              <a:t>, </a:t>
            </a:r>
            <a:r>
              <a:rPr lang="ko-KR" altLang="en-US" dirty="0"/>
              <a:t>로고 영역 침범하지 말 것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Times, </a:t>
            </a:r>
            <a:r>
              <a:rPr lang="ko-KR" altLang="en-US" dirty="0"/>
              <a:t>굵게</a:t>
            </a:r>
            <a:r>
              <a:rPr lang="en-US" altLang="ko-KR" dirty="0"/>
              <a:t>, 24 pts (</a:t>
            </a:r>
            <a:r>
              <a:rPr lang="ko-KR" altLang="en-US" dirty="0"/>
              <a:t>전치사 외 첫 단어 대문자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Times</a:t>
            </a:r>
            <a:r>
              <a:rPr lang="ko-KR" altLang="en-US" dirty="0"/>
              <a:t> 본문</a:t>
            </a:r>
            <a:r>
              <a:rPr lang="en-US" altLang="ko-KR" dirty="0"/>
              <a:t>, 18 pts</a:t>
            </a:r>
          </a:p>
          <a:p>
            <a:pPr lvl="2"/>
            <a:r>
              <a:rPr lang="en-US" altLang="ko-KR" dirty="0"/>
              <a:t>Times</a:t>
            </a:r>
            <a:r>
              <a:rPr lang="ko-KR" altLang="en-US" dirty="0"/>
              <a:t> 본문</a:t>
            </a:r>
            <a:r>
              <a:rPr lang="en-US" altLang="ko-KR" dirty="0"/>
              <a:t>, 16 pts</a:t>
            </a:r>
          </a:p>
          <a:p>
            <a:pPr lvl="3"/>
            <a:r>
              <a:rPr lang="en-US" altLang="ko-KR" dirty="0"/>
              <a:t>Times</a:t>
            </a:r>
            <a:r>
              <a:rPr lang="ko-KR" altLang="en-US" dirty="0"/>
              <a:t> 본문</a:t>
            </a:r>
            <a:r>
              <a:rPr lang="en-US" altLang="ko-KR" dirty="0"/>
              <a:t>, 14 pts</a:t>
            </a:r>
          </a:p>
          <a:p>
            <a:pPr lvl="4"/>
            <a:r>
              <a:rPr lang="en-US" altLang="ko-KR" dirty="0"/>
              <a:t>Times, 14 pts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페이지 번호 </a:t>
            </a:r>
            <a:r>
              <a:rPr lang="en-US" altLang="ko-KR" dirty="0"/>
              <a:t>(Times </a:t>
            </a:r>
            <a:r>
              <a:rPr lang="ko-KR" altLang="en-US" dirty="0"/>
              <a:t>본문</a:t>
            </a:r>
            <a:r>
              <a:rPr lang="en-US" altLang="ko-KR" dirty="0"/>
              <a:t>, 14 pts)</a:t>
            </a:r>
          </a:p>
          <a:p>
            <a:pPr lvl="1"/>
            <a:r>
              <a:rPr lang="ko-KR" altLang="en-US" dirty="0"/>
              <a:t>현재 페이지 </a:t>
            </a:r>
            <a:r>
              <a:rPr lang="en-US" altLang="ko-KR" dirty="0"/>
              <a:t>**</a:t>
            </a:r>
            <a:r>
              <a:rPr lang="ko-KR" altLang="en-US" dirty="0"/>
              <a:t>양식 내 위치 옮기지 말 것</a:t>
            </a:r>
            <a:r>
              <a:rPr lang="en-US" altLang="ko-KR" dirty="0"/>
              <a:t>!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88975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82798</TotalTime>
  <Words>4536</Words>
  <Application>Microsoft Office PowerPoint</Application>
  <PresentationFormat>화면 슬라이드 쇼(4:3)</PresentationFormat>
  <Paragraphs>685</Paragraphs>
  <Slides>43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1" baseType="lpstr">
      <vt:lpstr>Arial Unicode MS</vt:lpstr>
      <vt:lpstr>맑은 고딕</vt:lpstr>
      <vt:lpstr>Arial</vt:lpstr>
      <vt:lpstr>Open sans</vt:lpstr>
      <vt:lpstr>times</vt:lpstr>
      <vt:lpstr>Times New Roman</vt:lpstr>
      <vt:lpstr>Wingdings</vt:lpstr>
      <vt:lpstr>Office 테마</vt:lpstr>
      <vt:lpstr>이종위성군 선행연구자료</vt:lpstr>
      <vt:lpstr>이종위성군 선행연구자료</vt:lpstr>
      <vt:lpstr>(1) A Framework for Heterogeneous Satellite Constellation Design for Rapid Response Earth Observations, 2019, Ibrahim Sanad and David G Michelson  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(2) Research on the configuration design method of heterogeneous constellation reconstruction under the multiple objective and multiple constraint, 2017, Shuang Zhao, Yanli Xu and Huayu Dai  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코멘트 (2023.04.05)</vt:lpstr>
      <vt:lpstr>코멘트 (2023.04.05)</vt:lpstr>
      <vt:lpstr>코멘트 (2023.04.05)</vt:lpstr>
      <vt:lpstr>코멘트 (2023.04.05)</vt:lpstr>
      <vt:lpstr>(3) The UrtheCast SAR-XL Multi-Band, Multi-Aperture, 2017, Peter Fox, Keith Beckett   </vt:lpstr>
      <vt:lpstr>(3) The UrtheCast SAR-XL Multi-Band, Multi-Aperture, 2017, Peter Fox, Keith Beckett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4613</cp:revision>
  <dcterms:created xsi:type="dcterms:W3CDTF">2018-01-29T02:45:56Z</dcterms:created>
  <dcterms:modified xsi:type="dcterms:W3CDTF">2023-04-12T02:41:23Z</dcterms:modified>
</cp:coreProperties>
</file>