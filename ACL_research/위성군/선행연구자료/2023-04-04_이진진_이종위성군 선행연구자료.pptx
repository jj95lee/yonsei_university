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229" r:id="rId2"/>
    <p:sldId id="2303" r:id="rId3"/>
    <p:sldId id="2302" r:id="rId4"/>
    <p:sldId id="2304" r:id="rId5"/>
    <p:sldId id="2305" r:id="rId6"/>
    <p:sldId id="2306" r:id="rId7"/>
    <p:sldId id="2307" r:id="rId8"/>
    <p:sldId id="2308" r:id="rId9"/>
    <p:sldId id="2309" r:id="rId10"/>
    <p:sldId id="2310" r:id="rId11"/>
    <p:sldId id="2311" r:id="rId12"/>
    <p:sldId id="2312" r:id="rId13"/>
    <p:sldId id="2313" r:id="rId14"/>
    <p:sldId id="2297" r:id="rId15"/>
    <p:sldId id="2298" r:id="rId16"/>
    <p:sldId id="268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6" d="100"/>
          <a:sy n="86" d="100"/>
        </p:scale>
        <p:origin x="9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6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2023-04-04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  <a:br>
              <a:rPr lang="en-US" altLang="ko-KR" dirty="0"/>
            </a:br>
            <a:r>
              <a:rPr lang="ko-KR" altLang="en-US" dirty="0"/>
              <a:t>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 </a:t>
            </a: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sz="1600" dirty="0"/>
              <a:t>A Framework for Heterogeneous Satellite Constellation Design for Rapid Response Earth Observations, 2019, Ibrahim</a:t>
            </a:r>
            <a:r>
              <a:rPr lang="ko-KR" altLang="en-US" sz="1600" dirty="0"/>
              <a:t> </a:t>
            </a:r>
            <a:r>
              <a:rPr lang="en-US" altLang="ko-KR" sz="1600" dirty="0"/>
              <a:t>Sanad</a:t>
            </a:r>
          </a:p>
          <a:p>
            <a:pPr lvl="2">
              <a:defRPr/>
            </a:pPr>
            <a:r>
              <a:rPr lang="ko-KR" altLang="en-US" sz="1400" dirty="0"/>
              <a:t>자연재해 등 국방 및 자연안보와 관련된 문제에 대한 신속 대응하기 위한 이종위성군 설계</a:t>
            </a: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  <a:p>
            <a:pPr lvl="1">
              <a:defRPr/>
            </a:pPr>
            <a:r>
              <a:rPr lang="en-US" altLang="ko-KR" sz="1600" dirty="0"/>
              <a:t>Model-based heterogeneous optimal space constellation design, 2018, Katherine Mott</a:t>
            </a:r>
          </a:p>
          <a:p>
            <a:pPr lvl="2">
              <a:defRPr/>
            </a:pPr>
            <a:r>
              <a:rPr lang="ko-KR" altLang="en-US" sz="1400" dirty="0"/>
              <a:t>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설계를 위한 새로운 요구조건을 바탕의 새로운 </a:t>
            </a:r>
            <a:r>
              <a:rPr lang="ko-KR" altLang="en-US" sz="1400" dirty="0" err="1"/>
              <a:t>모듈식</a:t>
            </a:r>
            <a:r>
              <a:rPr lang="ko-KR" altLang="en-US" sz="1400" dirty="0"/>
              <a:t> 툴 개발</a:t>
            </a:r>
            <a:endParaRPr lang="en-US" altLang="ko-KR" sz="1400" dirty="0"/>
          </a:p>
          <a:p>
            <a:pPr lvl="2">
              <a:defRPr/>
            </a:pPr>
            <a:endParaRPr lang="en-US" altLang="ko-KR" sz="1600" dirty="0"/>
          </a:p>
          <a:p>
            <a:pPr lvl="1">
              <a:defRPr/>
            </a:pPr>
            <a:r>
              <a:rPr lang="en-US" altLang="ko-KR" sz="1600" dirty="0"/>
              <a:t>Research on the Configuration Design Method of Heterogeneous Constellation Reconstruction under the Multiple Objective and Multiple Constraint, 2017, Shuang Zhao</a:t>
            </a:r>
          </a:p>
          <a:p>
            <a:pPr marL="777150" lvl="2" indent="-285750">
              <a:defRPr/>
            </a:pPr>
            <a:r>
              <a:rPr lang="ko-KR" altLang="en-US" sz="1400" dirty="0"/>
              <a:t>다중 요구조건에 기초한 이종 위성군의 설계 방법을 제안</a:t>
            </a:r>
            <a:endParaRPr lang="en-US" altLang="ko-KR" sz="1400" dirty="0"/>
          </a:p>
          <a:p>
            <a:pPr marL="777150" lvl="2" indent="-285750">
              <a:defRPr/>
            </a:pPr>
            <a:r>
              <a:rPr lang="ko-KR" altLang="en-US" sz="1400" dirty="0"/>
              <a:t>기존 설계 설계 방법의 장단점을 비교하여 최적화 알고리즘을 선택한 새로운 설계 방법 재구성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086618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1">
              <a:defRPr/>
            </a:pPr>
            <a:r>
              <a:rPr lang="en-US" altLang="ko-KR" sz="1600" dirty="0"/>
              <a:t>1. A Framework for Heterogeneous Satellite Constellation Design for Rapid Response Earth Observations, 2019, Ibrahim</a:t>
            </a:r>
            <a:r>
              <a:rPr lang="ko-KR" altLang="en-US" sz="1600" dirty="0"/>
              <a:t> </a:t>
            </a:r>
            <a:r>
              <a:rPr lang="en-US" altLang="ko-KR" sz="1600" dirty="0"/>
              <a:t>Sanad</a:t>
            </a:r>
          </a:p>
          <a:p>
            <a:pPr lvl="2">
              <a:defRPr/>
            </a:pPr>
            <a:r>
              <a:rPr lang="ko-KR" altLang="en-US" sz="1400" dirty="0"/>
              <a:t>자연재해 등 국방 및 자연안보와 관련된 문제에 대한 신속 대응하기 위한 이종위성군 설계</a:t>
            </a: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Abstract : </a:t>
            </a:r>
            <a:r>
              <a:rPr lang="ko-KR" altLang="en-US" sz="1400" dirty="0"/>
              <a:t>재연재해</a:t>
            </a:r>
            <a:r>
              <a:rPr lang="en-US" altLang="ko-KR" sz="1400" dirty="0"/>
              <a:t>, </a:t>
            </a:r>
            <a:r>
              <a:rPr lang="ko-KR" altLang="en-US" sz="1400" dirty="0"/>
              <a:t>인재</a:t>
            </a:r>
            <a:r>
              <a:rPr lang="en-US" altLang="ko-KR" sz="1400" dirty="0"/>
              <a:t>, </a:t>
            </a:r>
            <a:r>
              <a:rPr lang="ko-KR" altLang="en-US" sz="1400" dirty="0"/>
              <a:t>국방 및 자연안보와 관련된 사항에 신속한 대응을 하기 위해 지구 관측 위성의 응답시간 </a:t>
            </a:r>
            <a:r>
              <a:rPr lang="en-US" altLang="ko-KR" sz="1400" dirty="0"/>
              <a:t>SRT</a:t>
            </a:r>
            <a:r>
              <a:rPr lang="ko-KR" altLang="en-US" sz="1400" dirty="0"/>
              <a:t>를 줄이는데 연구를 해왔다</a:t>
            </a:r>
            <a:r>
              <a:rPr lang="en-US" altLang="ko-KR" sz="1400" dirty="0"/>
              <a:t>.</a:t>
            </a:r>
          </a:p>
          <a:p>
            <a:pPr lvl="2">
              <a:defRPr/>
            </a:pPr>
            <a:r>
              <a:rPr lang="en-US" altLang="ko-KR" sz="1400" dirty="0"/>
              <a:t>SRT : </a:t>
            </a:r>
            <a:r>
              <a:rPr lang="ko-KR" altLang="en-US" sz="1400" dirty="0"/>
              <a:t>요청제출 후 생성된 이미지를 사용할 수 있을 때까지의 시간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이 </a:t>
            </a:r>
            <a:r>
              <a:rPr lang="en-US" altLang="ko-KR" sz="1400" dirty="0"/>
              <a:t>SRT</a:t>
            </a:r>
            <a:r>
              <a:rPr lang="ko-KR" altLang="en-US" sz="1400" dirty="0"/>
              <a:t>를 개선하기 위해 가장 좋은 방법은 두 가지의 서로 다른 위성군을 이용하는 것 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1. </a:t>
            </a:r>
            <a:r>
              <a:rPr lang="ko-KR" altLang="en-US" sz="1400" dirty="0"/>
              <a:t>이미징을 위한 위성 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2. </a:t>
            </a:r>
            <a:r>
              <a:rPr lang="ko-KR" altLang="en-US" sz="1400" dirty="0"/>
              <a:t>통신을 위한 위성 </a:t>
            </a:r>
            <a:r>
              <a:rPr lang="en-US" altLang="ko-KR" sz="1400" dirty="0"/>
              <a:t>: </a:t>
            </a:r>
            <a:r>
              <a:rPr lang="ko-KR" altLang="en-US" sz="1400" dirty="0"/>
              <a:t>지상국에서 이미징 위성으로 명령을 전달하고 중계하고 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en-US" altLang="ko-KR" sz="1400" dirty="0"/>
              <a:t>                                            </a:t>
            </a:r>
            <a:r>
              <a:rPr lang="ko-KR" altLang="en-US" sz="1400" dirty="0"/>
              <a:t>이미징 위성에서 지상국으로 데이터 수집을 하는 역할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ko-KR" altLang="en-US" sz="1400" dirty="0"/>
              <a:t>하지만 가장 좋은 결과를 내기 위해서는 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</a:t>
            </a:r>
            <a:r>
              <a:rPr lang="en-US" altLang="ko-KR" sz="1400" dirty="0"/>
              <a:t>combination</a:t>
            </a:r>
            <a:r>
              <a:rPr lang="ko-KR" altLang="en-US" sz="1400" dirty="0"/>
              <a:t>의 연구가 필요하므로 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ko-KR" altLang="en-US" sz="1400" dirty="0"/>
              <a:t>이 연구에서는 사전 정의된 설계 변수 범위를 기반으로 하여 수천개의 이종위성군 구성을 생성하고 사전 정의된 성능 측정 측면에서 이 구성의 크기를 조정할 수 있는 프레임워크를 제시함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ko-KR" altLang="en-US" sz="1400" dirty="0"/>
              <a:t>이러한 해결책 중 하나는 </a:t>
            </a:r>
            <a:r>
              <a:rPr lang="en-US" altLang="ko-KR" sz="1400" dirty="0"/>
              <a:t>SSO</a:t>
            </a:r>
            <a:r>
              <a:rPr lang="ko-KR" altLang="en-US" sz="1400" dirty="0"/>
              <a:t>와 </a:t>
            </a:r>
            <a:r>
              <a:rPr lang="en-US" altLang="ko-KR" sz="1400" dirty="0"/>
              <a:t>MIO </a:t>
            </a:r>
            <a:r>
              <a:rPr lang="ko-KR" altLang="en-US" sz="1400" dirty="0"/>
              <a:t>두 개의 서로 다른 평면에 동일하게 분포된 </a:t>
            </a:r>
            <a:r>
              <a:rPr lang="en-US" altLang="ko-KR" sz="1400" dirty="0"/>
              <a:t>8</a:t>
            </a:r>
            <a:r>
              <a:rPr lang="ko-KR" altLang="en-US" sz="1400" dirty="0"/>
              <a:t>개의 위성군을 배치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ko-KR" altLang="en-US" sz="1400" dirty="0"/>
              <a:t>→ 글로벌 데일리 커버리지</a:t>
            </a:r>
            <a:r>
              <a:rPr lang="en-US" altLang="ko-KR" sz="1400" dirty="0"/>
              <a:t>, </a:t>
            </a:r>
            <a:r>
              <a:rPr lang="ko-KR" altLang="en-US" sz="1400" dirty="0"/>
              <a:t>광학 센서 성능지수를 기반으로 위성군을 선택</a:t>
            </a:r>
            <a:endParaRPr lang="en-US" altLang="ko-KR" sz="1400" dirty="0"/>
          </a:p>
          <a:p>
            <a:pPr marL="432000" lvl="2" indent="0">
              <a:buNone/>
              <a:defRPr/>
            </a:pPr>
            <a:r>
              <a:rPr lang="ko-KR" altLang="en-US" sz="1400" dirty="0"/>
              <a:t>최대 </a:t>
            </a:r>
            <a:r>
              <a:rPr lang="en-US" altLang="ko-KR" sz="1400" dirty="0"/>
              <a:t>SRT</a:t>
            </a:r>
            <a:r>
              <a:rPr lang="ko-KR" altLang="en-US" sz="1400" dirty="0"/>
              <a:t>를 줄이기 위해서는 적도면의 중간 지구 궤도에서 릴레이 </a:t>
            </a:r>
            <a:r>
              <a:rPr lang="ko-KR" altLang="en-US" sz="1400" dirty="0" err="1"/>
              <a:t>위성군</a:t>
            </a:r>
            <a:r>
              <a:rPr lang="en-US" altLang="ko-KR" sz="1400" dirty="0"/>
              <a:t>, GS</a:t>
            </a:r>
            <a:r>
              <a:rPr lang="ko-KR" altLang="en-US" sz="1400" dirty="0"/>
              <a:t>의 위치를 선택</a:t>
            </a: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659332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en-US" altLang="ko-KR" sz="1400" dirty="0"/>
              <a:t>Introduction : SRT</a:t>
            </a:r>
            <a:r>
              <a:rPr lang="ko-KR" altLang="en-US" sz="1400" dirty="0"/>
              <a:t>는 궤도</a:t>
            </a:r>
            <a:r>
              <a:rPr lang="en-US" altLang="ko-KR" sz="1400" dirty="0"/>
              <a:t>, </a:t>
            </a:r>
            <a:r>
              <a:rPr lang="ko-KR" altLang="en-US" sz="1400" dirty="0"/>
              <a:t>접근영역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지상국</a:t>
            </a:r>
            <a:r>
              <a:rPr lang="ko-KR" altLang="en-US" sz="1400" dirty="0"/>
              <a:t> 분포 등 시스템의 기하학적 구성과 데이터 처리하는 시간 스케줄링에 따라 달라짐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자연 재해에 대한 신속 대응을 위해 </a:t>
            </a:r>
            <a:r>
              <a:rPr lang="en-US" altLang="ko-KR" sz="1400" dirty="0"/>
              <a:t>SRT</a:t>
            </a:r>
            <a:r>
              <a:rPr lang="ko-KR" altLang="en-US" sz="1400" dirty="0"/>
              <a:t>를 최소화하려는 스케줄링 최적화 문제를 </a:t>
            </a:r>
            <a:r>
              <a:rPr lang="ko-KR" altLang="en-US" sz="1400" dirty="0" err="1"/>
              <a:t>다루어보았지만</a:t>
            </a:r>
            <a:r>
              <a:rPr lang="ko-KR" altLang="en-US" sz="1400" dirty="0"/>
              <a:t> 미션 제약 조건 및 위성 리소스를 기반으로 이미지 획득</a:t>
            </a:r>
            <a:r>
              <a:rPr lang="en-US" altLang="ko-KR" sz="1400" dirty="0"/>
              <a:t>, </a:t>
            </a:r>
            <a:r>
              <a:rPr lang="ko-KR" altLang="en-US" sz="1400" dirty="0"/>
              <a:t>다운로드 시작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기간만 최적화할 수 있었다</a:t>
            </a:r>
            <a:r>
              <a:rPr lang="en-US" altLang="ko-KR" sz="1400" dirty="0"/>
              <a:t>. </a:t>
            </a:r>
            <a:r>
              <a:rPr lang="ko-KR" altLang="en-US" sz="1400" dirty="0"/>
              <a:t>지상국과 이미징 위성 사이의 연결 격차를 줄일 수는 없었음 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궁극적으로 </a:t>
            </a:r>
            <a:r>
              <a:rPr lang="en-US" altLang="ko-KR" sz="1400" dirty="0"/>
              <a:t>SRT</a:t>
            </a:r>
            <a:r>
              <a:rPr lang="ko-KR" altLang="en-US" sz="1400" dirty="0"/>
              <a:t>를 줄이기 위해서는 </a:t>
            </a:r>
            <a:r>
              <a:rPr lang="en-US" altLang="ko-KR" sz="1400" dirty="0"/>
              <a:t>ISL</a:t>
            </a:r>
            <a:r>
              <a:rPr lang="ko-KR" altLang="en-US" sz="1400" dirty="0"/>
              <a:t>을 사용하여 명령을 이미징 위성에 보내야 하고 가능하면 수신하는 지상국에 다시 보내야 한다</a:t>
            </a:r>
            <a:r>
              <a:rPr lang="en-US" altLang="ko-KR" sz="1400" dirty="0"/>
              <a:t>.</a:t>
            </a:r>
          </a:p>
          <a:p>
            <a:pPr lvl="2">
              <a:defRPr/>
            </a:pPr>
            <a:r>
              <a:rPr lang="en-US" altLang="ko-KR" sz="1400" dirty="0"/>
              <a:t> TTNC</a:t>
            </a:r>
            <a:r>
              <a:rPr lang="ko-KR" altLang="en-US" sz="1400" dirty="0"/>
              <a:t>를 지원하기 위해 첫번째 제안으로는 </a:t>
            </a:r>
            <a:r>
              <a:rPr lang="en-US" altLang="ko-KR" sz="1400" dirty="0"/>
              <a:t>GEO </a:t>
            </a:r>
            <a:r>
              <a:rPr lang="ko-KR" altLang="en-US" sz="1400" dirty="0"/>
              <a:t>통신 위성을 사용했다</a:t>
            </a:r>
            <a:r>
              <a:rPr lang="en-US" altLang="ko-KR" sz="1400" dirty="0"/>
              <a:t>.</a:t>
            </a:r>
          </a:p>
          <a:p>
            <a:pPr lvl="2">
              <a:defRPr/>
            </a:pPr>
            <a:r>
              <a:rPr lang="ko-KR" altLang="en-US" sz="1400" dirty="0"/>
              <a:t>하지만 제한된 예산으로 지원되는 소형 위성 또는 장거리 통신을 장비를 갖추지 않은 위성에겐 비싸다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LEO</a:t>
            </a:r>
            <a:r>
              <a:rPr lang="ko-KR" altLang="en-US" sz="1400" dirty="0"/>
              <a:t>나 </a:t>
            </a:r>
            <a:r>
              <a:rPr lang="en-US" altLang="ko-KR" sz="1400" dirty="0"/>
              <a:t>MEO</a:t>
            </a:r>
            <a:r>
              <a:rPr lang="ko-KR" altLang="en-US" sz="1400" dirty="0"/>
              <a:t>는 발사비용 더 낮고 링크 거리가 짧기 때문에 더 저렴하다</a:t>
            </a:r>
            <a:r>
              <a:rPr lang="en-US" altLang="ko-KR" sz="1400" dirty="0"/>
              <a:t>. </a:t>
            </a:r>
            <a:r>
              <a:rPr lang="ko-KR" altLang="en-US" sz="1400" dirty="0"/>
              <a:t>이는 필요한 안테나 크기 및 링크 예산 제약을 줄일 수 있다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. MEO</a:t>
            </a:r>
            <a:r>
              <a:rPr lang="ko-KR" altLang="en-US" sz="1400" dirty="0"/>
              <a:t>는 </a:t>
            </a:r>
            <a:r>
              <a:rPr lang="en-US" altLang="ko-KR" sz="1400" dirty="0"/>
              <a:t>LEO </a:t>
            </a:r>
            <a:r>
              <a:rPr lang="ko-KR" altLang="en-US" sz="1400" dirty="0"/>
              <a:t>관측 위성을 제공하기 위한 것을 가장 잘 나타낸다 </a:t>
            </a:r>
            <a:r>
              <a:rPr lang="en-US" altLang="ko-KR" sz="1400" dirty="0"/>
              <a:t>. GEO</a:t>
            </a:r>
            <a:r>
              <a:rPr lang="ko-KR" altLang="en-US" sz="1400" dirty="0"/>
              <a:t>와 </a:t>
            </a:r>
            <a:r>
              <a:rPr lang="en-US" altLang="ko-KR" sz="1400" dirty="0"/>
              <a:t>LEO</a:t>
            </a:r>
            <a:r>
              <a:rPr lang="ko-KR" altLang="en-US" sz="1400" dirty="0"/>
              <a:t>의 특성 을 둘 다 가진다</a:t>
            </a:r>
            <a:r>
              <a:rPr lang="en-US" altLang="ko-KR" sz="1400" dirty="0"/>
              <a:t>.</a:t>
            </a:r>
          </a:p>
          <a:p>
            <a:pPr lvl="2">
              <a:defRPr/>
            </a:pPr>
            <a:r>
              <a:rPr lang="en-US" altLang="ko-KR" sz="1400" dirty="0"/>
              <a:t>LEO/MEO </a:t>
            </a:r>
            <a:r>
              <a:rPr lang="ko-KR" altLang="en-US" sz="1400" dirty="0" err="1"/>
              <a:t>이중층</a:t>
            </a:r>
            <a:r>
              <a:rPr lang="ko-KR" altLang="en-US" sz="1400" dirty="0"/>
              <a:t> 위성 네트워크는 왕복 지연이 짧고 전송 전력 요구사항이 낮아서 글로벌 위성 통신 시스템에 자주 사용됨</a:t>
            </a: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908670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400" dirty="0"/>
              <a:t>본 논문에서는 여러 </a:t>
            </a:r>
            <a:r>
              <a:rPr lang="en-US" altLang="ko-KR" sz="1400" dirty="0"/>
              <a:t>STK </a:t>
            </a:r>
            <a:r>
              <a:rPr lang="ko-KR" altLang="en-US" sz="1400" dirty="0"/>
              <a:t>시뮬레이션을 사용하여 설계 변수 </a:t>
            </a:r>
            <a:r>
              <a:rPr lang="en-US" altLang="ko-KR" sz="1400" dirty="0"/>
              <a:t>DV </a:t>
            </a:r>
            <a:r>
              <a:rPr lang="ko-KR" altLang="en-US" sz="1400" dirty="0"/>
              <a:t>요소와</a:t>
            </a:r>
            <a:r>
              <a:rPr lang="en-US" altLang="ko-KR" sz="1400" dirty="0"/>
              <a:t>, </a:t>
            </a:r>
            <a:r>
              <a:rPr lang="ko-KR" altLang="en-US" sz="1400" dirty="0"/>
              <a:t>성능 측정 </a:t>
            </a:r>
            <a:r>
              <a:rPr lang="en-US" altLang="ko-KR" sz="1400" dirty="0"/>
              <a:t>MOP</a:t>
            </a:r>
            <a:r>
              <a:rPr lang="ko-KR" altLang="en-US" sz="1400" dirty="0"/>
              <a:t>간의 균형을 달성하여 특정 요구 사항을 충족하는 솔루션을 얻는다</a:t>
            </a:r>
            <a:r>
              <a:rPr lang="en-US" altLang="ko-KR" sz="1400" dirty="0"/>
              <a:t>.</a:t>
            </a:r>
          </a:p>
          <a:p>
            <a:pPr lvl="2">
              <a:defRPr/>
            </a:pPr>
            <a:r>
              <a:rPr lang="en-US" altLang="ko-KR" sz="1400" dirty="0"/>
              <a:t>0.5m </a:t>
            </a:r>
            <a:r>
              <a:rPr lang="ko-KR" altLang="en-US" sz="1400" dirty="0"/>
              <a:t>공간해상도 달성하는 매개변수로 하루 만에 전역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달성하는 이미징 위성군을 설계</a:t>
            </a:r>
            <a:endParaRPr lang="en-US" altLang="ko-KR" sz="1400" dirty="0"/>
          </a:p>
          <a:p>
            <a:pPr lvl="2">
              <a:defRPr/>
            </a:pPr>
            <a:r>
              <a:rPr lang="en-US" altLang="ko-KR" sz="1400" dirty="0"/>
              <a:t>SRT</a:t>
            </a:r>
            <a:r>
              <a:rPr lang="ko-KR" altLang="en-US" sz="1400" dirty="0"/>
              <a:t>를 줄이기위해 지상국의 </a:t>
            </a:r>
            <a:r>
              <a:rPr lang="en-US" altLang="ko-KR" sz="1400" dirty="0"/>
              <a:t>relay </a:t>
            </a:r>
            <a:r>
              <a:rPr lang="ko-KR" altLang="en-US" sz="1400" dirty="0"/>
              <a:t>위성군과 위도를 선택 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마지막으로 이종 위성군을 분석하여 </a:t>
            </a:r>
            <a:r>
              <a:rPr lang="en-US" altLang="ko-KR" sz="1400" dirty="0"/>
              <a:t>relay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없이 이미징 위성군의 </a:t>
            </a:r>
            <a:r>
              <a:rPr lang="en-US" altLang="ko-KR" sz="1400" dirty="0"/>
              <a:t>SRT</a:t>
            </a:r>
            <a:r>
              <a:rPr lang="ko-KR" altLang="en-US" sz="1400" dirty="0"/>
              <a:t>와 비교하여 </a:t>
            </a:r>
            <a:r>
              <a:rPr lang="en-US" altLang="ko-KR" sz="1400" dirty="0"/>
              <a:t>SRT </a:t>
            </a:r>
            <a:r>
              <a:rPr lang="ko-KR" altLang="en-US" sz="1400" dirty="0"/>
              <a:t>향상을 평가함</a:t>
            </a: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섹션 </a:t>
            </a:r>
            <a:r>
              <a:rPr lang="en-US" altLang="ko-KR" sz="1400" dirty="0"/>
              <a:t>2</a:t>
            </a:r>
            <a:r>
              <a:rPr lang="ko-KR" altLang="en-US" sz="1400" dirty="0"/>
              <a:t>는 </a:t>
            </a:r>
            <a:r>
              <a:rPr lang="en-US" altLang="ko-KR" sz="1400" dirty="0"/>
              <a:t>SRT </a:t>
            </a:r>
            <a:r>
              <a:rPr lang="ko-KR" altLang="en-US" sz="1400" dirty="0"/>
              <a:t>구성요소와 원격 감지 임무를 위한 이종 위성군의 필요성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섹션 </a:t>
            </a:r>
            <a:r>
              <a:rPr lang="en-US" altLang="ko-KR" sz="1400" dirty="0"/>
              <a:t>3</a:t>
            </a:r>
            <a:r>
              <a:rPr lang="ko-KR" altLang="en-US" sz="1400" dirty="0"/>
              <a:t>은 이종 위성군을 설계하는데 사용되는 방법론 </a:t>
            </a:r>
            <a:r>
              <a:rPr lang="en-US" altLang="ko-KR" sz="1400" dirty="0"/>
              <a:t>– </a:t>
            </a:r>
            <a:r>
              <a:rPr lang="ko-KR" altLang="en-US" sz="1400" dirty="0"/>
              <a:t>프레임 워크를 소개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섹션 </a:t>
            </a:r>
            <a:r>
              <a:rPr lang="en-US" altLang="ko-KR" sz="1400" dirty="0"/>
              <a:t>4</a:t>
            </a:r>
            <a:r>
              <a:rPr lang="ko-KR" altLang="en-US" sz="1400" dirty="0"/>
              <a:t>는 프레임워크의 시뮬레이션 결과를 제시 및 논의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섹션 </a:t>
            </a:r>
            <a:r>
              <a:rPr lang="en-US" altLang="ko-KR" sz="1400" dirty="0"/>
              <a:t>5</a:t>
            </a:r>
            <a:r>
              <a:rPr lang="ko-KR" altLang="en-US" sz="1400" dirty="0"/>
              <a:t>는 향후 작업에 대한 </a:t>
            </a:r>
            <a:r>
              <a:rPr lang="ko-KR" altLang="en-US" sz="1400" dirty="0" err="1"/>
              <a:t>결곤</a:t>
            </a:r>
            <a:r>
              <a:rPr lang="ko-KR" altLang="en-US" sz="1400" dirty="0"/>
              <a:t> 및 권고사항</a:t>
            </a: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793098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400" dirty="0"/>
              <a:t>섹션 </a:t>
            </a:r>
            <a:r>
              <a:rPr lang="en-US" altLang="ko-KR" sz="1400" dirty="0"/>
              <a:t>2 : SRT</a:t>
            </a:r>
            <a:r>
              <a:rPr lang="ko-KR" altLang="en-US" sz="1400" dirty="0"/>
              <a:t>의 구성요소는 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영상 위성에 대해 수집 요청을 받는데 지연</a:t>
            </a:r>
            <a:r>
              <a:rPr lang="en-US" altLang="ko-KR" sz="1400" dirty="0"/>
              <a:t>, </a:t>
            </a:r>
          </a:p>
          <a:p>
            <a:pPr lvl="2">
              <a:defRPr/>
            </a:pPr>
            <a:r>
              <a:rPr lang="ko-KR" altLang="en-US" sz="1400" dirty="0"/>
              <a:t>수집된 데이터를 지상국으로 전송하는데 지연</a:t>
            </a:r>
            <a:r>
              <a:rPr lang="en-US" altLang="ko-KR" sz="1400" dirty="0"/>
              <a:t>, </a:t>
            </a:r>
          </a:p>
          <a:p>
            <a:pPr lvl="2">
              <a:defRPr/>
            </a:pPr>
            <a:r>
              <a:rPr lang="ko-KR" altLang="en-US" sz="1400" dirty="0"/>
              <a:t>그 사이의 몇 초 또는 몇 분의 고정된 기간 지연을 설명함</a:t>
            </a:r>
            <a:endParaRPr lang="en-US" altLang="ko-KR" sz="1400" dirty="0"/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A36EB8-A6F9-13A6-EC10-EBF3FB2C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57" y="2708909"/>
            <a:ext cx="7275070" cy="335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921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400" dirty="0"/>
              <a:t>원격 감지 위성군을 위한 설계 방법은 대부분 특정 지역에 걸쳐 대상 간 커버리지 접근의 간격 지속 시간인 재방문 시간을 최소화 </a:t>
            </a:r>
            <a:r>
              <a:rPr lang="ko-KR" altLang="en-US" sz="1400" dirty="0" err="1"/>
              <a:t>하는것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하지만 명령 </a:t>
            </a:r>
            <a:r>
              <a:rPr lang="en-US" altLang="ko-KR" sz="1400" dirty="0"/>
              <a:t>uplink </a:t>
            </a:r>
            <a:r>
              <a:rPr lang="ko-KR" altLang="en-US" sz="1400" dirty="0"/>
              <a:t>지연 및 데이터 </a:t>
            </a:r>
            <a:r>
              <a:rPr lang="en-US" altLang="ko-KR" sz="1400" dirty="0"/>
              <a:t>downlink </a:t>
            </a:r>
            <a:r>
              <a:rPr lang="ko-KR" altLang="en-US" sz="1400" dirty="0"/>
              <a:t>지연 시간의 두 요소로 인해 과도한 </a:t>
            </a:r>
            <a:r>
              <a:rPr lang="en-US" altLang="ko-KR" sz="1400" dirty="0"/>
              <a:t>SRT</a:t>
            </a:r>
            <a:r>
              <a:rPr lang="ko-KR" altLang="en-US" sz="1400" dirty="0"/>
              <a:t>도 발생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이상적인 경우에는 두 지연시간이 거의 </a:t>
            </a:r>
            <a:r>
              <a:rPr lang="en-US" altLang="ko-KR" sz="1400" dirty="0"/>
              <a:t>0</a:t>
            </a:r>
            <a:r>
              <a:rPr lang="ko-KR" altLang="en-US" sz="1400" dirty="0"/>
              <a:t>이 되고 이 경우는 </a:t>
            </a:r>
            <a:r>
              <a:rPr lang="en-US" altLang="ko-KR" sz="1400" dirty="0"/>
              <a:t>SRT = IRT</a:t>
            </a:r>
          </a:p>
          <a:p>
            <a:pPr lvl="2">
              <a:defRPr/>
            </a:pP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원격 감지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 과정은 임무 요구 사항에 따라 임무 목표와 요구 조건을 설정하는 것부터 시작</a:t>
            </a:r>
            <a:endParaRPr lang="en-US" altLang="ko-KR" sz="1400" dirty="0"/>
          </a:p>
          <a:p>
            <a:pPr lvl="2">
              <a:defRPr/>
            </a:pPr>
            <a:r>
              <a:rPr lang="ko-KR" altLang="en-US" sz="1400" dirty="0"/>
              <a:t>원격 감지 센서 개발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임무의 장점 수치화</a:t>
            </a:r>
            <a:r>
              <a:rPr lang="en-US" altLang="ko-KR" sz="1400" dirty="0"/>
              <a:t>, </a:t>
            </a:r>
            <a:r>
              <a:rPr lang="ko-KR" altLang="en-US" sz="1400" dirty="0"/>
              <a:t>시뮬레이션 방법 및 궤도 역학 법칙에 기초하여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궤도 구성 및 위성 수 등</a:t>
            </a:r>
            <a:endParaRPr lang="en-US" altLang="ko-KR" sz="1400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05120D-A2E8-A562-5E41-1C1AE8EC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3938587"/>
            <a:ext cx="45053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49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400" dirty="0"/>
              <a:t>궤도 파라미터 선택은 임무 요건을 충족하는데 가장 중요한 요소</a:t>
            </a:r>
            <a:endParaRPr lang="en-US" altLang="ko-KR" sz="1400" dirty="0"/>
          </a:p>
          <a:p>
            <a:pPr lvl="2">
              <a:defRPr/>
            </a:pPr>
            <a:r>
              <a:rPr lang="ko-KR" altLang="en-US" dirty="0"/>
              <a:t>하지만 파라미터 선택을 위한 간단한 접근법은 없으므로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시간</a:t>
            </a:r>
            <a:r>
              <a:rPr lang="en-US" altLang="ko-KR" dirty="0"/>
              <a:t>, </a:t>
            </a:r>
            <a:r>
              <a:rPr lang="ko-KR" altLang="en-US" dirty="0"/>
              <a:t>센서 분해능</a:t>
            </a:r>
            <a:r>
              <a:rPr lang="en-US" altLang="ko-KR" dirty="0"/>
              <a:t>, </a:t>
            </a:r>
            <a:r>
              <a:rPr lang="ko-KR" altLang="en-US" dirty="0"/>
              <a:t>수집된 데이터 용량</a:t>
            </a:r>
            <a:r>
              <a:rPr lang="en-US" altLang="ko-KR" dirty="0"/>
              <a:t>, </a:t>
            </a:r>
            <a:r>
              <a:rPr lang="ko-KR" altLang="en-US" dirty="0" err="1"/>
              <a:t>스왓</a:t>
            </a:r>
            <a:r>
              <a:rPr lang="ko-KR" altLang="en-US" dirty="0"/>
              <a:t> 폭</a:t>
            </a:r>
            <a:r>
              <a:rPr lang="en-US" altLang="ko-KR" dirty="0"/>
              <a:t>, </a:t>
            </a:r>
            <a:r>
              <a:rPr lang="ko-KR" altLang="en-US" dirty="0"/>
              <a:t>관심 스펙트럼 범위</a:t>
            </a:r>
            <a:r>
              <a:rPr lang="en-US" altLang="ko-KR" dirty="0"/>
              <a:t>, </a:t>
            </a:r>
            <a:r>
              <a:rPr lang="ko-KR" altLang="en-US" dirty="0"/>
              <a:t>시스템 응답 시간 등 다양한 파라미터와 해당 </a:t>
            </a:r>
            <a:r>
              <a:rPr lang="en-US" altLang="ko-KR" dirty="0"/>
              <a:t>MOP </a:t>
            </a:r>
            <a:r>
              <a:rPr lang="ko-KR" altLang="en-US" dirty="0"/>
              <a:t>간의 절충이 필요한 과정을 따라야 함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원격 감지를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설계는 두 개의 서로 다른 위성군인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1. </a:t>
            </a:r>
            <a:r>
              <a:rPr lang="ko-KR" altLang="en-US" dirty="0"/>
              <a:t>원격 감지 위성군과 </a:t>
            </a:r>
            <a:r>
              <a:rPr lang="en-US" altLang="ko-KR" dirty="0"/>
              <a:t>2. </a:t>
            </a:r>
            <a:r>
              <a:rPr lang="ko-KR" altLang="en-US" dirty="0"/>
              <a:t>데이터를 지상국으로 전달 및 </a:t>
            </a:r>
            <a:r>
              <a:rPr lang="ko-KR" altLang="en-US" dirty="0" err="1"/>
              <a:t>위성군</a:t>
            </a:r>
            <a:r>
              <a:rPr lang="ko-KR" altLang="en-US" dirty="0"/>
              <a:t> 사이에서 </a:t>
            </a:r>
            <a:r>
              <a:rPr lang="en-US" altLang="ko-KR" dirty="0"/>
              <a:t>ISL</a:t>
            </a:r>
            <a:r>
              <a:rPr lang="ko-KR" altLang="en-US" dirty="0"/>
              <a:t>을 사용하는 작은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시기적절함이</a:t>
            </a:r>
            <a:r>
              <a:rPr lang="ko-KR" altLang="en-US" dirty="0"/>
              <a:t> 중요하기 때문에 신속 대응 및 데이터 제공의 필요성은 </a:t>
            </a:r>
            <a:r>
              <a:rPr lang="ko-KR" altLang="en-US" dirty="0" err="1"/>
              <a:t>위성군</a:t>
            </a:r>
            <a:r>
              <a:rPr lang="ko-KR" altLang="en-US" dirty="0"/>
              <a:t> 설계의 새로운 단계의 복잡성 및 기회로 이어진다</a:t>
            </a:r>
            <a:r>
              <a:rPr lang="en-US" altLang="ko-KR" dirty="0"/>
              <a:t>. </a:t>
            </a:r>
            <a:r>
              <a:rPr lang="ko-KR" altLang="en-US" dirty="0"/>
              <a:t>영상 위성과 상층 위성 배치 사이의 양방향 </a:t>
            </a:r>
            <a:r>
              <a:rPr lang="en-US" altLang="ko-KR" dirty="0"/>
              <a:t>ISL</a:t>
            </a:r>
            <a:r>
              <a:rPr lang="ko-KR" altLang="en-US" dirty="0"/>
              <a:t>을 통해 두 지연 시간을 줄이면 </a:t>
            </a:r>
            <a:r>
              <a:rPr lang="en-US" altLang="ko-KR" dirty="0"/>
              <a:t>SRT</a:t>
            </a:r>
            <a:r>
              <a:rPr lang="ko-KR" altLang="en-US" dirty="0"/>
              <a:t>를 크게 줄일 수 있다</a:t>
            </a:r>
            <a:r>
              <a:rPr lang="en-US" altLang="ko-KR" dirty="0"/>
              <a:t>.</a:t>
            </a:r>
          </a:p>
          <a:p>
            <a:pPr lvl="2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722922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섹션 </a:t>
            </a:r>
            <a:r>
              <a:rPr lang="en-US" altLang="ko-KR" sz="1600" dirty="0"/>
              <a:t>3: LEO </a:t>
            </a:r>
            <a:r>
              <a:rPr lang="ko-KR" altLang="en-US" sz="1600" dirty="0"/>
              <a:t>원격 감지 시스템의 제어 및 데이터 복구를 지원하는 이 논문의 접근 방식은 </a:t>
            </a:r>
            <a:r>
              <a:rPr lang="en-US" altLang="ko-KR" sz="1600" dirty="0"/>
              <a:t>STK</a:t>
            </a:r>
            <a:r>
              <a:rPr lang="ko-KR" altLang="en-US" sz="1600" dirty="0"/>
              <a:t>분석에 매우 적합하다</a:t>
            </a:r>
            <a:r>
              <a:rPr lang="en-US" altLang="ko-KR" sz="1600" dirty="0"/>
              <a:t>.</a:t>
            </a:r>
          </a:p>
          <a:p>
            <a:pPr lvl="2">
              <a:defRPr/>
            </a:pPr>
            <a:r>
              <a:rPr lang="en-US" altLang="ko-KR" sz="1600" dirty="0"/>
              <a:t>STK </a:t>
            </a:r>
            <a:r>
              <a:rPr lang="ko-KR" altLang="en-US" sz="1600" dirty="0"/>
              <a:t>자동화에 사용되는 커버리지</a:t>
            </a:r>
            <a:r>
              <a:rPr lang="en-US" altLang="ko-KR" sz="1600" dirty="0"/>
              <a:t>, </a:t>
            </a:r>
            <a:r>
              <a:rPr lang="ko-KR" altLang="en-US" sz="1600" dirty="0"/>
              <a:t>분석 워크 벤치 및 </a:t>
            </a:r>
            <a:r>
              <a:rPr lang="en-US" altLang="ko-KR" sz="1600" dirty="0"/>
              <a:t>STK </a:t>
            </a:r>
            <a:r>
              <a:rPr lang="ko-KR" altLang="en-US" sz="1600" dirty="0"/>
              <a:t>분석기와 같은 일부 모듈과 함께 파라미터 연구를 실행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하나 또는 두개의 </a:t>
            </a:r>
            <a:r>
              <a:rPr lang="en-US" altLang="ko-KR" sz="1600" dirty="0"/>
              <a:t>DV</a:t>
            </a:r>
            <a:r>
              <a:rPr lang="ko-KR" altLang="en-US" sz="1600" dirty="0"/>
              <a:t>가 실행되고 각 값에서 </a:t>
            </a:r>
            <a:r>
              <a:rPr lang="en-US" altLang="ko-KR" sz="1600" dirty="0"/>
              <a:t>MOP</a:t>
            </a:r>
            <a:r>
              <a:rPr lang="ko-KR" altLang="en-US" sz="1600" dirty="0"/>
              <a:t>가 실행됨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이 분석을 통해 </a:t>
            </a:r>
            <a:r>
              <a:rPr lang="en-US" altLang="ko-KR" sz="1600" dirty="0"/>
              <a:t>DV</a:t>
            </a:r>
            <a:r>
              <a:rPr lang="ko-KR" altLang="en-US" sz="1600" dirty="0"/>
              <a:t>를 변경하는 것이 </a:t>
            </a:r>
            <a:r>
              <a:rPr lang="en-US" altLang="ko-KR" sz="1600" dirty="0"/>
              <a:t>MOP</a:t>
            </a:r>
            <a:r>
              <a:rPr lang="ko-KR" altLang="en-US" sz="1600" dirty="0"/>
              <a:t>에 어떻게 영향을 주는지 볼 수 있다</a:t>
            </a:r>
            <a:r>
              <a:rPr lang="en-US" altLang="ko-KR" sz="1600" dirty="0"/>
              <a:t>.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이 논문에서 이종위성군 구성을 위해 트레이드 오프 설계 곡선의 흐름을 제시한다</a:t>
            </a:r>
            <a:r>
              <a:rPr lang="en-US" altLang="ko-KR" sz="1600" dirty="0"/>
              <a:t>.</a:t>
            </a:r>
          </a:p>
          <a:p>
            <a:pPr lvl="2">
              <a:defRPr/>
            </a:pP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목표는 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1. </a:t>
            </a:r>
            <a:r>
              <a:rPr lang="ko-KR" altLang="en-US" sz="1600" dirty="0"/>
              <a:t>일일 전역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달성하는 </a:t>
            </a:r>
            <a:r>
              <a:rPr lang="en-US" altLang="ko-KR" sz="1600" dirty="0"/>
              <a:t>EO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설계와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2. </a:t>
            </a:r>
            <a:r>
              <a:rPr lang="ko-KR" altLang="en-US" sz="1600" dirty="0"/>
              <a:t>특정 공간 해상도를 달성하는데 필요한 파라미터를 지정</a:t>
            </a:r>
            <a:r>
              <a:rPr lang="en-US" altLang="ko-KR" sz="1600" dirty="0"/>
              <a:t>,</a:t>
            </a:r>
          </a:p>
          <a:p>
            <a:pPr lvl="2">
              <a:defRPr/>
            </a:pPr>
            <a:r>
              <a:rPr lang="en-US" altLang="ko-KR" sz="1600" dirty="0"/>
              <a:t>3. SRT</a:t>
            </a:r>
            <a:r>
              <a:rPr lang="ko-KR" altLang="en-US" sz="1600" dirty="0"/>
              <a:t>를 줄이기 위한 적도 평면에서의 최고의 </a:t>
            </a:r>
            <a:r>
              <a:rPr lang="en-US" altLang="ko-KR" sz="1600" dirty="0"/>
              <a:t>relay </a:t>
            </a:r>
            <a:r>
              <a:rPr lang="ko-KR" altLang="en-US" sz="1600" dirty="0"/>
              <a:t>위성군을 찾고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4. </a:t>
            </a:r>
            <a:r>
              <a:rPr lang="ko-KR" altLang="en-US" sz="1600" dirty="0"/>
              <a:t>지구상의 장소를 수신 및 전송할 수 있는 지상국의 위치 설정 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500648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이를 위해 세 가지의 궤도 유형을 사용함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1. SSO – </a:t>
            </a:r>
            <a:r>
              <a:rPr lang="ko-KR" altLang="en-US" sz="1600" dirty="0"/>
              <a:t>이미징 </a:t>
            </a:r>
            <a:r>
              <a:rPr lang="ko-KR" altLang="en-US" sz="1600" dirty="0" err="1"/>
              <a:t>위성군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2. MIO – </a:t>
            </a:r>
            <a:r>
              <a:rPr lang="ko-KR" altLang="en-US" sz="1600" dirty="0"/>
              <a:t>이미징 </a:t>
            </a:r>
            <a:r>
              <a:rPr lang="ko-KR" altLang="en-US" sz="1600" dirty="0" err="1"/>
              <a:t>위성군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3. MEO – relay </a:t>
            </a:r>
            <a:r>
              <a:rPr lang="ko-KR" altLang="en-US" sz="1600" dirty="0" err="1"/>
              <a:t>위성군</a:t>
            </a:r>
            <a:endParaRPr lang="en-US" altLang="ko-KR" sz="1600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신속한 대응을 위한 방법을 다음으로 요약 가능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1. FOV, f, </a:t>
            </a:r>
            <a:r>
              <a:rPr lang="ko-KR" altLang="en-US" sz="1600" dirty="0"/>
              <a:t>검출기 피치 </a:t>
            </a:r>
            <a:r>
              <a:rPr lang="en-US" altLang="ko-KR" sz="1600" dirty="0"/>
              <a:t>DP</a:t>
            </a:r>
            <a:r>
              <a:rPr lang="ko-KR" altLang="en-US" sz="1600" dirty="0"/>
              <a:t> 등</a:t>
            </a:r>
            <a:r>
              <a:rPr lang="en-US" altLang="ko-KR" sz="1600" dirty="0"/>
              <a:t> </a:t>
            </a:r>
            <a:r>
              <a:rPr lang="ko-KR" altLang="en-US" sz="1600" dirty="0"/>
              <a:t>다양한 센서 매개변수에서 전체 커버리지 비율을 기반으로 </a:t>
            </a:r>
            <a:r>
              <a:rPr lang="en-US" altLang="ko-KR" sz="1600" dirty="0"/>
              <a:t>SSO</a:t>
            </a:r>
            <a:r>
              <a:rPr lang="ko-KR" altLang="en-US" sz="1600" dirty="0"/>
              <a:t>에 광학 위성군을 설계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2. </a:t>
            </a:r>
            <a:r>
              <a:rPr lang="ko-KR" altLang="en-US" sz="1600" dirty="0"/>
              <a:t>광학 페이로드 매개변수와 이것이 커버리지 및 공간 해상도에 미치는 영향을 최적화하여 설계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3. MIO</a:t>
            </a:r>
            <a:r>
              <a:rPr lang="ko-KR" altLang="en-US" sz="1600" dirty="0"/>
              <a:t>에 경사 이미징 위성군을 추가하면 재방문 시간과 중위도에서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어떻게 향상시킬 수 있는지 알기 위한 </a:t>
            </a:r>
            <a:r>
              <a:rPr lang="en-US" altLang="ko-KR" sz="1600" dirty="0"/>
              <a:t>SSO </a:t>
            </a:r>
            <a:r>
              <a:rPr lang="ko-KR" altLang="en-US" sz="1600" dirty="0"/>
              <a:t>위성군을 분석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4. </a:t>
            </a:r>
            <a:r>
              <a:rPr lang="ko-KR" altLang="en-US" sz="1600" dirty="0"/>
              <a:t>두 궤도면에서 두 위성군으로 구성된 선택된 영상 위성군을 기반으로 </a:t>
            </a:r>
            <a:r>
              <a:rPr lang="en-US" altLang="ko-KR" sz="1600" dirty="0"/>
              <a:t>ISL</a:t>
            </a:r>
            <a:r>
              <a:rPr lang="ko-KR" altLang="en-US" sz="1600" dirty="0"/>
              <a:t>을 이용하여 영상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접근 지속 시간을 증가시키도록 </a:t>
            </a:r>
            <a:r>
              <a:rPr lang="en-US" altLang="ko-KR" sz="1600" dirty="0"/>
              <a:t>relay </a:t>
            </a:r>
            <a:r>
              <a:rPr lang="ko-KR" altLang="en-US" sz="1600" dirty="0"/>
              <a:t>위성군을 구성한다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Relay </a:t>
            </a:r>
            <a:r>
              <a:rPr lang="ko-KR" altLang="en-US" sz="1600" dirty="0"/>
              <a:t>위성군은 적도면에 있도록 선택</a:t>
            </a:r>
            <a:r>
              <a:rPr lang="en-US" altLang="ko-KR" sz="1600" dirty="0"/>
              <a:t>. </a:t>
            </a:r>
            <a:r>
              <a:rPr lang="ko-KR" altLang="en-US" sz="1600" dirty="0"/>
              <a:t>미지의 </a:t>
            </a:r>
            <a:r>
              <a:rPr lang="en-US" altLang="ko-KR" sz="1600" dirty="0"/>
              <a:t>DV</a:t>
            </a:r>
            <a:r>
              <a:rPr lang="ko-KR" altLang="en-US" sz="1600" dirty="0"/>
              <a:t>는 위성의 수가 될 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지속적인 적용 범위가 달성될 수 있는 특정 </a:t>
            </a:r>
            <a:r>
              <a:rPr lang="en-US" altLang="ko-KR" sz="1600" dirty="0"/>
              <a:t>GS </a:t>
            </a:r>
            <a:r>
              <a:rPr lang="ko-KR" altLang="en-US" sz="1600" dirty="0"/>
              <a:t>위도를 기반으로 설계됨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5. SRT</a:t>
            </a:r>
            <a:r>
              <a:rPr lang="ko-KR" altLang="en-US" sz="1600" dirty="0"/>
              <a:t>측면에서 이종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성능 분석은 영상 위성군의 성능과 비교한다</a:t>
            </a:r>
            <a:r>
              <a:rPr lang="en-US" altLang="ko-KR" sz="1600" dirty="0"/>
              <a:t>. </a:t>
            </a:r>
          </a:p>
          <a:p>
            <a:pPr lvl="2">
              <a:defRPr/>
            </a:pPr>
            <a:endParaRPr lang="en-US" altLang="ko-KR" sz="1600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731825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원격 감지 탑재체는 고도와 </a:t>
            </a:r>
            <a:r>
              <a:rPr lang="en-US" altLang="ko-KR" sz="1600" dirty="0"/>
              <a:t>FOV</a:t>
            </a:r>
            <a:r>
              <a:rPr lang="ko-KR" altLang="en-US" sz="1600" dirty="0"/>
              <a:t>에 의해 센서가 촬영한 정보의 세부 정보와 총 면적을 결정한다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높은 고도의 센서는 일반적으로 더 넓은 영역을 볼 수 있지만 해상도는 떨어진다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위성 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탑재체</a:t>
            </a:r>
            <a:r>
              <a:rPr lang="ko-KR" altLang="en-US" sz="1600" dirty="0"/>
              <a:t> 성능</a:t>
            </a:r>
            <a:r>
              <a:rPr lang="en-US" altLang="ko-KR" sz="1600" dirty="0"/>
              <a:t>, </a:t>
            </a:r>
            <a:r>
              <a:rPr lang="ko-KR" altLang="en-US" sz="1600" dirty="0"/>
              <a:t>전 지구 </a:t>
            </a:r>
            <a:r>
              <a:rPr lang="ko-KR" altLang="en-US" sz="1600" dirty="0" err="1"/>
              <a:t>커버리지에</a:t>
            </a:r>
            <a:r>
              <a:rPr lang="ko-KR" altLang="en-US" sz="1600" dirty="0"/>
              <a:t> 미치는 영향 등의 관계를 설계자에게 제공하기 위해 따라서 </a:t>
            </a:r>
            <a:r>
              <a:rPr lang="en-US" altLang="ko-KR" sz="1600" dirty="0"/>
              <a:t>SSO </a:t>
            </a:r>
            <a:r>
              <a:rPr lang="ko-KR" altLang="en-US" sz="1600" dirty="0"/>
              <a:t>위성군에 대한 설계 곡선을 생성</a:t>
            </a:r>
            <a:endParaRPr lang="en-US" altLang="ko-KR" sz="1600" dirty="0"/>
          </a:p>
          <a:p>
            <a:pPr lvl="2">
              <a:defRPr/>
            </a:pP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그 이후에 공간 해상도의 척도로 </a:t>
            </a:r>
            <a:r>
              <a:rPr lang="en-US" altLang="ko-KR" sz="1600" dirty="0"/>
              <a:t>0.5m </a:t>
            </a:r>
            <a:r>
              <a:rPr lang="ko-KR" altLang="en-US" sz="1600" dirty="0"/>
              <a:t>거리로 하루 동안의 </a:t>
            </a:r>
            <a:r>
              <a:rPr lang="en-US" altLang="ko-KR" sz="1600" dirty="0"/>
              <a:t>100%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달성하는 </a:t>
            </a:r>
            <a:r>
              <a:rPr lang="en-US" altLang="ko-KR" sz="1600" dirty="0"/>
              <a:t>SSO</a:t>
            </a:r>
            <a:r>
              <a:rPr lang="ko-KR" altLang="en-US" sz="1600" dirty="0"/>
              <a:t>위성군의 고도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위성 및 센서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선택할 수 있다</a:t>
            </a:r>
            <a:r>
              <a:rPr lang="en-US" altLang="ko-KR" sz="1600" dirty="0"/>
              <a:t>.</a:t>
            </a:r>
          </a:p>
          <a:p>
            <a:pPr lvl="2">
              <a:defRPr/>
            </a:pPr>
            <a:r>
              <a:rPr lang="ko-KR" altLang="en-US" sz="1600" dirty="0"/>
              <a:t> 센서 </a:t>
            </a:r>
            <a:r>
              <a:rPr lang="en-US" altLang="ko-KR" sz="1600" dirty="0"/>
              <a:t>FOV</a:t>
            </a:r>
            <a:r>
              <a:rPr lang="ko-KR" altLang="en-US" sz="1600" dirty="0"/>
              <a:t>와 궤도 고도는 무관하지만 </a:t>
            </a:r>
            <a:r>
              <a:rPr lang="en-US" altLang="ko-KR" sz="1600" dirty="0"/>
              <a:t>Swath</a:t>
            </a:r>
            <a:r>
              <a:rPr lang="ko-KR" altLang="en-US" sz="1600" dirty="0"/>
              <a:t>와는 관계가 있다</a:t>
            </a:r>
            <a:r>
              <a:rPr lang="en-US" altLang="ko-KR" sz="1600" dirty="0"/>
              <a:t>. FOV</a:t>
            </a:r>
            <a:r>
              <a:rPr lang="ko-KR" altLang="en-US" sz="1600" dirty="0"/>
              <a:t>를 높이면 같은 고도에서 </a:t>
            </a:r>
            <a:r>
              <a:rPr lang="en-US" altLang="ko-KR" sz="1600" dirty="0"/>
              <a:t>SW</a:t>
            </a:r>
            <a:r>
              <a:rPr lang="ko-KR" altLang="en-US" sz="1600" dirty="0"/>
              <a:t>가 증가하고 궤도 고도를 높이면 같은 </a:t>
            </a:r>
            <a:r>
              <a:rPr lang="en-US" altLang="ko-KR" sz="1600" dirty="0"/>
              <a:t>FOV</a:t>
            </a:r>
            <a:r>
              <a:rPr lang="ko-KR" altLang="en-US" sz="1600" dirty="0"/>
              <a:t>에서 </a:t>
            </a:r>
            <a:r>
              <a:rPr lang="en-US" altLang="ko-KR" sz="1600" dirty="0"/>
              <a:t>SW</a:t>
            </a:r>
            <a:r>
              <a:rPr lang="ko-KR" altLang="en-US" sz="1600" dirty="0"/>
              <a:t>가 증가한다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lvl="2">
              <a:defRPr/>
            </a:pPr>
            <a:r>
              <a:rPr lang="en-US" altLang="ko-KR" sz="1600" dirty="0"/>
              <a:t>SSO </a:t>
            </a:r>
            <a:r>
              <a:rPr lang="ko-KR" altLang="en-US" sz="1600" dirty="0"/>
              <a:t>영상 위성군고도와 </a:t>
            </a:r>
            <a:r>
              <a:rPr lang="en-US" altLang="ko-KR" sz="1600" dirty="0"/>
              <a:t>FOV</a:t>
            </a:r>
            <a:r>
              <a:rPr lang="ko-KR" altLang="en-US" sz="1600" dirty="0"/>
              <a:t>를 모두 높이면 해상도 제약 조건에 도달할 때 까지 커버리지 기능이 향상되고 초점거리 및 피치와 같은 파라미터를 변경하면 높은 고도에서 더 잘 </a:t>
            </a:r>
            <a:r>
              <a:rPr lang="ko-KR" altLang="en-US" sz="1600" dirty="0" err="1"/>
              <a:t>볼수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  <a:p>
            <a:pPr lvl="2">
              <a:defRPr/>
            </a:pPr>
            <a:endParaRPr lang="en-US" altLang="ko-KR" sz="1600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156720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광학센서가 필요한 적용 범위와 공간해상도를 달성할 수 있는지 결장한 다음 최상의 </a:t>
            </a:r>
            <a:r>
              <a:rPr lang="ko-KR" altLang="en-US" sz="1600" dirty="0" err="1"/>
              <a:t>이미저</a:t>
            </a:r>
            <a:r>
              <a:rPr lang="ko-KR" altLang="en-US" sz="1600" dirty="0"/>
              <a:t> 파라미터와 위성 수 및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고도를 선택하는 작업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궤도 트랙 간격은 위도에 따라 다르며 재방문율에 영향을 미친다</a:t>
            </a:r>
            <a:r>
              <a:rPr lang="en-US" altLang="ko-KR" sz="1600" dirty="0"/>
              <a:t>. </a:t>
            </a:r>
            <a:r>
              <a:rPr lang="ko-KR" altLang="en-US" sz="1600" dirty="0"/>
              <a:t>중위도 지역이 가장 많이 </a:t>
            </a:r>
            <a:endParaRPr lang="en-US" altLang="ko-KR" sz="1600" dirty="0"/>
          </a:p>
          <a:p>
            <a:pPr marL="432000" lvl="2" indent="0">
              <a:buNone/>
              <a:defRPr/>
            </a:pPr>
            <a:r>
              <a:rPr lang="ko-KR" altLang="en-US" dirty="0"/>
              <a:t>최상의 구성을 결정하기 위해서는 여러 </a:t>
            </a:r>
            <a:r>
              <a:rPr lang="ko-KR" altLang="en-US" dirty="0" err="1"/>
              <a:t>위성군</a:t>
            </a:r>
            <a:r>
              <a:rPr lang="ko-KR" altLang="en-US" dirty="0"/>
              <a:t> 조합을 </a:t>
            </a:r>
            <a:r>
              <a:rPr lang="ko-KR" altLang="en-US" dirty="0" err="1"/>
              <a:t>연구해야한다</a:t>
            </a:r>
            <a:r>
              <a:rPr lang="en-US" altLang="ko-KR" dirty="0"/>
              <a:t>. </a:t>
            </a:r>
            <a:r>
              <a:rPr lang="ko-KR" altLang="en-US" dirty="0"/>
              <a:t>양방향 층간 </a:t>
            </a:r>
            <a:r>
              <a:rPr lang="en-US" altLang="ko-KR" dirty="0"/>
              <a:t>ISL</a:t>
            </a:r>
            <a:r>
              <a:rPr lang="ko-KR" altLang="en-US" dirty="0"/>
              <a:t>을 사용하여 명령을 전달하고 관측 위성에서 데이터를 수집할 수 있는 </a:t>
            </a:r>
            <a:r>
              <a:rPr lang="en-US" altLang="ko-KR" dirty="0"/>
              <a:t>MEO </a:t>
            </a:r>
            <a:r>
              <a:rPr lang="ko-KR" altLang="en-US" dirty="0"/>
              <a:t>위성군을 제안</a:t>
            </a:r>
            <a:endParaRPr lang="en-US" altLang="ko-KR" dirty="0"/>
          </a:p>
          <a:p>
            <a:pPr marL="432000" lvl="2" indent="0">
              <a:buNone/>
              <a:defRPr/>
            </a:pPr>
            <a:r>
              <a:rPr lang="en-US" altLang="ko-KR" dirty="0"/>
              <a:t>8000km</a:t>
            </a:r>
            <a:r>
              <a:rPr lang="ko-KR" altLang="en-US" dirty="0"/>
              <a:t>의 적도면에 </a:t>
            </a:r>
            <a:r>
              <a:rPr lang="en-US" altLang="ko-KR" dirty="0"/>
              <a:t>relay </a:t>
            </a:r>
            <a:r>
              <a:rPr lang="ko-KR" altLang="en-US" dirty="0"/>
              <a:t>위성을 제안하고 있으며 위성 수는 미지수이다</a:t>
            </a:r>
            <a:r>
              <a:rPr lang="en-US" altLang="ko-KR" dirty="0"/>
              <a:t>. </a:t>
            </a:r>
            <a:r>
              <a:rPr lang="ko-KR" altLang="en-US" dirty="0"/>
              <a:t>송수신에 사용되는 지상국의 위도를 </a:t>
            </a:r>
            <a:r>
              <a:rPr lang="ko-KR" altLang="en-US" dirty="0" err="1"/>
              <a:t>설정해야한다</a:t>
            </a:r>
            <a:r>
              <a:rPr lang="en-US" altLang="ko-KR" dirty="0"/>
              <a:t>.</a:t>
            </a:r>
          </a:p>
          <a:p>
            <a:pPr marL="432000" lvl="2" indent="0">
              <a:buNone/>
              <a:defRPr/>
            </a:pPr>
            <a:r>
              <a:rPr lang="en-US" altLang="ko-KR" dirty="0"/>
              <a:t>IRT </a:t>
            </a:r>
            <a:r>
              <a:rPr lang="ko-KR" altLang="en-US" dirty="0"/>
              <a:t>계산되는 설명</a:t>
            </a:r>
            <a:endParaRPr lang="en-US" altLang="ko-KR" dirty="0"/>
          </a:p>
          <a:p>
            <a:pPr lvl="2"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7874373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문헌조사</a:t>
            </a:r>
            <a:endParaRPr lang="en-US" altLang="ko-KR" dirty="0"/>
          </a:p>
          <a:p>
            <a:pPr lvl="2">
              <a:defRPr/>
            </a:pPr>
            <a:r>
              <a:rPr lang="ko-KR" altLang="en-US" sz="1600" dirty="0"/>
              <a:t>초기에는 대부분 위성군이 하나의 위성으로 구성</a:t>
            </a:r>
            <a:endParaRPr lang="en-US" altLang="ko-KR" sz="1600" dirty="0"/>
          </a:p>
          <a:p>
            <a:pPr lvl="2">
              <a:defRPr/>
            </a:pPr>
            <a:r>
              <a:rPr lang="ko-KR" altLang="en-US" dirty="0"/>
              <a:t>우주 임무의 다양화 및 복잡성으로 인해 초점은 점차 세계에서 지역으로 이동</a:t>
            </a:r>
            <a:endParaRPr lang="en-US" altLang="ko-KR" dirty="0"/>
          </a:p>
          <a:p>
            <a:pPr lvl="2">
              <a:defRPr/>
            </a:pPr>
            <a:r>
              <a:rPr lang="ko-KR" altLang="en-US" sz="1600"/>
              <a:t>위성들의 분포 모드 또한 균일화에서 개인화로 이동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1554282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연구목적 및 향후계획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본 연구와 가장 방향성이 같은 이종 </a:t>
            </a:r>
            <a:r>
              <a:rPr lang="ko-KR" altLang="en-US" dirty="0" err="1"/>
              <a:t>위성군</a:t>
            </a:r>
            <a:r>
              <a:rPr lang="ko-KR" altLang="en-US" dirty="0"/>
              <a:t> 선행 기술 추가로 조사</a:t>
            </a:r>
            <a:endParaRPr lang="en-US" altLang="ko-KR" dirty="0"/>
          </a:p>
          <a:p>
            <a:pPr lvl="1"/>
            <a:r>
              <a:rPr lang="ko-KR" altLang="en-US" dirty="0"/>
              <a:t>논문 조사를 통해 다양한 툴 개발에 대한 내용 파악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6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81585</TotalTime>
  <Words>1413</Words>
  <Application>Microsoft Office PowerPoint</Application>
  <PresentationFormat>화면 슬라이드 쇼(4:3)</PresentationFormat>
  <Paragraphs>157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times</vt:lpstr>
      <vt:lpstr>Wingdings</vt:lpstr>
      <vt:lpstr>Office 테마</vt:lpstr>
      <vt:lpstr>이종위성군 성능 분석 및 설계/최적화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4518</cp:revision>
  <dcterms:created xsi:type="dcterms:W3CDTF">2018-01-29T02:45:56Z</dcterms:created>
  <dcterms:modified xsi:type="dcterms:W3CDTF">2023-04-04T02:15:10Z</dcterms:modified>
</cp:coreProperties>
</file>