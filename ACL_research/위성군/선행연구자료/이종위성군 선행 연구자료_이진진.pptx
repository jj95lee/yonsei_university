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62"/>
  </p:notesMasterIdLst>
  <p:handoutMasterIdLst>
    <p:handoutMasterId r:id="rId63"/>
  </p:handoutMasterIdLst>
  <p:sldIdLst>
    <p:sldId id="2229" r:id="rId2"/>
    <p:sldId id="2356" r:id="rId3"/>
    <p:sldId id="2297" r:id="rId4"/>
    <p:sldId id="2358" r:id="rId5"/>
    <p:sldId id="2359" r:id="rId6"/>
    <p:sldId id="2372" r:id="rId7"/>
    <p:sldId id="2405" r:id="rId8"/>
    <p:sldId id="2375" r:id="rId9"/>
    <p:sldId id="2374" r:id="rId10"/>
    <p:sldId id="2376" r:id="rId11"/>
    <p:sldId id="2378" r:id="rId12"/>
    <p:sldId id="2380" r:id="rId13"/>
    <p:sldId id="2377" r:id="rId14"/>
    <p:sldId id="2382" r:id="rId15"/>
    <p:sldId id="2383" r:id="rId16"/>
    <p:sldId id="2384" r:id="rId17"/>
    <p:sldId id="2385" r:id="rId18"/>
    <p:sldId id="2407" r:id="rId19"/>
    <p:sldId id="2365" r:id="rId20"/>
    <p:sldId id="2430" r:id="rId21"/>
    <p:sldId id="2337" r:id="rId22"/>
    <p:sldId id="2366" r:id="rId23"/>
    <p:sldId id="2367" r:id="rId24"/>
    <p:sldId id="2368" r:id="rId25"/>
    <p:sldId id="2426" r:id="rId26"/>
    <p:sldId id="2428" r:id="rId27"/>
    <p:sldId id="2369" r:id="rId28"/>
    <p:sldId id="2429" r:id="rId29"/>
    <p:sldId id="2427" r:id="rId30"/>
    <p:sldId id="2370" r:id="rId31"/>
    <p:sldId id="2371" r:id="rId32"/>
    <p:sldId id="2431" r:id="rId33"/>
    <p:sldId id="2232" r:id="rId34"/>
    <p:sldId id="2406" r:id="rId35"/>
    <p:sldId id="2347" r:id="rId36"/>
    <p:sldId id="2346" r:id="rId37"/>
    <p:sldId id="2348" r:id="rId38"/>
    <p:sldId id="2349" r:id="rId39"/>
    <p:sldId id="2352" r:id="rId40"/>
    <p:sldId id="2351" r:id="rId41"/>
    <p:sldId id="2353" r:id="rId42"/>
    <p:sldId id="2355" r:id="rId43"/>
    <p:sldId id="2386" r:id="rId44"/>
    <p:sldId id="2425" r:id="rId45"/>
    <p:sldId id="2408" r:id="rId46"/>
    <p:sldId id="2373" r:id="rId47"/>
    <p:sldId id="2409" r:id="rId48"/>
    <p:sldId id="2411" r:id="rId49"/>
    <p:sldId id="2412" r:id="rId50"/>
    <p:sldId id="2413" r:id="rId51"/>
    <p:sldId id="2414" r:id="rId52"/>
    <p:sldId id="2415" r:id="rId53"/>
    <p:sldId id="2416" r:id="rId54"/>
    <p:sldId id="2417" r:id="rId55"/>
    <p:sldId id="2418" r:id="rId56"/>
    <p:sldId id="2419" r:id="rId57"/>
    <p:sldId id="2420" r:id="rId58"/>
    <p:sldId id="2421" r:id="rId59"/>
    <p:sldId id="2423" r:id="rId60"/>
    <p:sldId id="2424" r:id="rId6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EDB021"/>
    <a:srgbClr val="D9541A"/>
    <a:srgbClr val="404040"/>
    <a:srgbClr val="FFFFFF"/>
    <a:srgbClr val="001E46"/>
    <a:srgbClr val="000A1E"/>
    <a:srgbClr val="FFCCCC"/>
    <a:srgbClr val="001432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53" autoAdjust="0"/>
    <p:restoredTop sz="82161" autoAdjust="0"/>
  </p:normalViewPr>
  <p:slideViewPr>
    <p:cSldViewPr snapToGrid="0" showGuides="1">
      <p:cViewPr varScale="1">
        <p:scale>
          <a:sx n="93" d="100"/>
          <a:sy n="93" d="100"/>
        </p:scale>
        <p:origin x="228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2023-04-24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2023-04-24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r>
              <a:rPr lang="en-US" altLang="ko-KR" sz="1800" b="0" i="0" u="none" strike="noStrike" baseline="0" dirty="0">
                <a:latin typeface="TimesNewRoman,Italic"/>
              </a:rPr>
              <a:t>IEEE Aerospace Conference Proceedings</a:t>
            </a:r>
            <a:endParaRPr lang="ko-KR" altLang="en-US" b="0" i="0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873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824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873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566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69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7664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633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13156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1337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9667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8930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0919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8257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5626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7222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 err="1"/>
              <a:t>Aerosp</a:t>
            </a:r>
            <a:r>
              <a:rPr lang="en-US" altLang="ko-KR" sz="1200" dirty="0"/>
              <a:t>. Sci. Technol</a:t>
            </a:r>
            <a:endParaRPr lang="ko-KR" altLang="en-US" sz="1200" dirty="0"/>
          </a:p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5130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 err="1"/>
              <a:t>Aerosp</a:t>
            </a:r>
            <a:r>
              <a:rPr lang="en-US" altLang="ko-KR" sz="1200" dirty="0"/>
              <a:t>. Sci. Technol</a:t>
            </a:r>
            <a:endParaRPr lang="ko-KR" altLang="en-US" sz="1200" dirty="0"/>
          </a:p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3950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AIP Conference Proceeding</a:t>
            </a: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13832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2404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1616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6601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39530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62293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7737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2789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7874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9063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8976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/>
              <a:t>Journal of Physics: Conference Series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46751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8874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6415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7068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30253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65100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19552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65071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4790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52193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49969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31</a:t>
            </a:r>
            <a:r>
              <a:rPr lang="en-US" altLang="ko-KR" baseline="30000" dirty="0"/>
              <a:t>st</a:t>
            </a:r>
            <a:r>
              <a:rPr lang="en-US" altLang="ko-KR" dirty="0"/>
              <a:t> Annual AIAA/USU Conference on Small Satellite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15393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i="0" u="none" strike="noStrike" baseline="0" dirty="0">
                <a:latin typeface="TimesNewRoman,Italic"/>
              </a:rPr>
              <a:t>IEEE Aerospace Conference Proceedings</a:t>
            </a:r>
            <a:endParaRPr lang="ko-KR" altLang="en-US" b="0" i="0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48001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87335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42741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77618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56619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92826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50934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97867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90238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6997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22280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57786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74942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65182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한국항공우주학회지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Disaster Risk Reduction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998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3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2023-04-24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이종위성군 선행연구자료</a:t>
            </a:r>
          </a:p>
        </p:txBody>
      </p:sp>
    </p:spTree>
    <p:extLst>
      <p:ext uri="{BB962C8B-B14F-4D97-AF65-F5344CB8AC3E}">
        <p14:creationId xmlns:p14="http://schemas.microsoft.com/office/powerpoint/2010/main" val="189475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 dirty="0"/>
              <a:t>이종위성군 우주 감시정찰 기술 </a:t>
            </a:r>
            <a:endParaRPr lang="en-US" altLang="ko-KR" dirty="0"/>
          </a:p>
          <a:p>
            <a:pPr lvl="1"/>
            <a:r>
              <a:rPr lang="ko-KR" altLang="en-US" sz="1800" b="1" dirty="0"/>
              <a:t>프로젝트</a:t>
            </a:r>
            <a:r>
              <a:rPr lang="ko-KR" altLang="en-US" sz="1800" dirty="0"/>
              <a:t> </a:t>
            </a:r>
            <a:r>
              <a:rPr lang="en-US" altLang="ko-KR" sz="1800" dirty="0"/>
              <a:t>: </a:t>
            </a:r>
            <a:r>
              <a:rPr lang="ko-KR" altLang="en-US" sz="1800" dirty="0"/>
              <a:t>이종위성군 성능 분석 및 설계</a:t>
            </a:r>
            <a:r>
              <a:rPr lang="en-US" altLang="ko-KR" sz="1800" dirty="0"/>
              <a:t>/</a:t>
            </a:r>
            <a:r>
              <a:rPr lang="ko-KR" altLang="en-US" sz="1800" dirty="0"/>
              <a:t>최적화</a:t>
            </a:r>
            <a:endParaRPr lang="en-US" altLang="ko-KR" sz="1800" dirty="0"/>
          </a:p>
          <a:p>
            <a:pPr lvl="1"/>
            <a:r>
              <a:rPr lang="ko-KR" altLang="en-US" sz="1800" b="1" dirty="0"/>
              <a:t>작성 일자 </a:t>
            </a:r>
            <a:r>
              <a:rPr lang="en-US" altLang="ko-KR" sz="1800" dirty="0"/>
              <a:t>: 2023.04.02 ~ 04.24</a:t>
            </a:r>
          </a:p>
          <a:p>
            <a:pPr lvl="1"/>
            <a:r>
              <a:rPr lang="ko-KR" altLang="en-US" sz="1800" b="1" dirty="0"/>
              <a:t>작성자</a:t>
            </a:r>
            <a:r>
              <a:rPr lang="ko-KR" altLang="en-US" sz="1800" dirty="0"/>
              <a:t> </a:t>
            </a:r>
            <a:r>
              <a:rPr lang="en-US" altLang="ko-KR" sz="1800" dirty="0"/>
              <a:t>: </a:t>
            </a:r>
            <a:r>
              <a:rPr lang="ko-KR" altLang="en-US" sz="1800" dirty="0"/>
              <a:t>연세대학교 우주비행제어 연구실 </a:t>
            </a:r>
            <a:r>
              <a:rPr lang="en-US" altLang="ko-KR" sz="1800" dirty="0"/>
              <a:t>(</a:t>
            </a:r>
            <a:r>
              <a:rPr lang="ko-KR" altLang="en-US" sz="1800" dirty="0"/>
              <a:t>이진진</a:t>
            </a:r>
            <a:r>
              <a:rPr lang="en-US" altLang="ko-KR" sz="1800" dirty="0"/>
              <a:t>)</a:t>
            </a:r>
          </a:p>
          <a:p>
            <a:pPr lvl="1"/>
            <a:r>
              <a:rPr lang="ko-KR" altLang="en-US" sz="1800" b="1" dirty="0"/>
              <a:t>연구목표</a:t>
            </a:r>
            <a:r>
              <a:rPr lang="ko-KR" altLang="en-US" sz="1800" dirty="0"/>
              <a:t> </a:t>
            </a:r>
            <a:r>
              <a:rPr lang="en-US" altLang="ko-KR" sz="1800" dirty="0"/>
              <a:t>: </a:t>
            </a:r>
            <a:r>
              <a:rPr lang="ko-KR" altLang="en-US" sz="1800" dirty="0"/>
              <a:t>감시</a:t>
            </a:r>
            <a:r>
              <a:rPr lang="en-US" altLang="ko-KR" sz="1800" dirty="0"/>
              <a:t>/</a:t>
            </a:r>
            <a:r>
              <a:rPr lang="ko-KR" altLang="en-US" sz="1800" dirty="0"/>
              <a:t>정찰 임무 수행을 위한 이종위성군의 설계 최적화 및 운용개념 도출</a:t>
            </a:r>
            <a:endParaRPr lang="en-US" altLang="ko-KR" sz="1800" dirty="0"/>
          </a:p>
          <a:p>
            <a:pPr lvl="1"/>
            <a:r>
              <a:rPr lang="ko-KR" altLang="en-US" sz="1800" b="1" dirty="0"/>
              <a:t>연구자료 요약 </a:t>
            </a:r>
            <a:r>
              <a:rPr lang="en-US" altLang="ko-KR" sz="1800" dirty="0"/>
              <a:t>: </a:t>
            </a:r>
            <a:r>
              <a:rPr lang="ko-KR" altLang="en-US" sz="1800" dirty="0"/>
              <a:t>위의 연구목표를 달성하기 위해 이종위성군 설계와 관련된 해외 문헌 조사를 하였으며</a:t>
            </a:r>
            <a:r>
              <a:rPr lang="en-US" altLang="ko-KR" sz="1800" dirty="0"/>
              <a:t>, </a:t>
            </a:r>
            <a:r>
              <a:rPr lang="ko-KR" altLang="en-US" sz="1800" dirty="0"/>
              <a:t>조사한 여러 문헌들 가운데 한반도를 관심지역으로 설정한 본 프로젝트의 연구 방향에 가장 적합하며 의미 있을 것으로 판단되는 논문을 아래와 같이 선별함</a:t>
            </a:r>
            <a:endParaRPr lang="en-US" altLang="ko-KR" sz="1800" dirty="0"/>
          </a:p>
          <a:p>
            <a:pPr lvl="2"/>
            <a:r>
              <a:rPr lang="en-US" altLang="ko-KR" dirty="0"/>
              <a:t>(1) A Framework for Heterogeneous Satellite Constellation Design for Rapid Response Earth Observations, 2019, Ibrahim Sanad and David</a:t>
            </a:r>
            <a:r>
              <a:rPr lang="ko-KR" altLang="en-US" dirty="0"/>
              <a:t> </a:t>
            </a:r>
            <a:r>
              <a:rPr lang="en-US" altLang="ko-KR" dirty="0"/>
              <a:t>G</a:t>
            </a:r>
            <a:r>
              <a:rPr lang="ko-KR" altLang="en-US" dirty="0"/>
              <a:t> </a:t>
            </a:r>
            <a:r>
              <a:rPr lang="en-US" altLang="ko-KR" dirty="0"/>
              <a:t>Michelson</a:t>
            </a:r>
          </a:p>
          <a:p>
            <a:pPr lvl="2"/>
            <a:r>
              <a:rPr lang="en-US" altLang="ko-KR" dirty="0"/>
              <a:t>(2) Research on the configuration design method of heterogeneous constellation reconstruction under the multiple objective and multiple constraint, 2017, Shuang Zhao, </a:t>
            </a:r>
            <a:r>
              <a:rPr lang="en-US" altLang="ko-KR" dirty="0" err="1"/>
              <a:t>Yanli</a:t>
            </a:r>
            <a:r>
              <a:rPr lang="en-US" altLang="ko-KR" dirty="0"/>
              <a:t> Xu and </a:t>
            </a:r>
            <a:r>
              <a:rPr lang="en-US" altLang="ko-KR" dirty="0" err="1"/>
              <a:t>Huayu</a:t>
            </a:r>
            <a:r>
              <a:rPr lang="en-US" altLang="ko-KR" dirty="0"/>
              <a:t> Dai</a:t>
            </a:r>
            <a:endParaRPr lang="ko-KR" altLang="en-US" dirty="0"/>
          </a:p>
          <a:p>
            <a:pPr lvl="2"/>
            <a:r>
              <a:rPr lang="en-US" altLang="ko-KR" dirty="0"/>
              <a:t>(3) The UrtheCast SAR-XL Multi-Band, Multi-Aperture, 2017, Peter Fox, Keith Beckett</a:t>
            </a:r>
            <a:endParaRPr lang="en-US" altLang="ko-KR" b="1" dirty="0"/>
          </a:p>
          <a:p>
            <a:pPr lvl="2"/>
            <a:r>
              <a:rPr lang="en-US" altLang="ko-KR" dirty="0"/>
              <a:t>(4) Research on a Heterogeneous Multi-satellite Mission Scheduling Model for Earth Observation Based on Adaptive Genetic-Tabu Hybrid Search Algorithm, 2021, </a:t>
            </a:r>
            <a:r>
              <a:rPr lang="en-US" altLang="ko-KR" dirty="0" err="1"/>
              <a:t>Lihao</a:t>
            </a:r>
            <a:r>
              <a:rPr lang="en-US" altLang="ko-KR" dirty="0"/>
              <a:t> Liu, </a:t>
            </a:r>
            <a:r>
              <a:rPr lang="en-US" altLang="ko-KR" dirty="0" err="1"/>
              <a:t>Zhenghong</a:t>
            </a:r>
            <a:r>
              <a:rPr lang="en-US" altLang="ko-KR" dirty="0"/>
              <a:t> Dong, </a:t>
            </a:r>
            <a:r>
              <a:rPr lang="en-US" altLang="ko-KR" dirty="0" err="1"/>
              <a:t>Haoxiang</a:t>
            </a:r>
            <a:r>
              <a:rPr lang="en-US" altLang="ko-KR" dirty="0"/>
              <a:t> </a:t>
            </a:r>
            <a:r>
              <a:rPr lang="en-US" altLang="ko-KR" dirty="0" err="1"/>
              <a:t>Su</a:t>
            </a:r>
            <a:r>
              <a:rPr lang="en-US" altLang="ko-KR" dirty="0"/>
              <a:t>, </a:t>
            </a:r>
            <a:r>
              <a:rPr lang="en-US" altLang="ko-KR" dirty="0" err="1"/>
              <a:t>Dingzhan</a:t>
            </a:r>
            <a:r>
              <a:rPr lang="en-US" altLang="ko-KR" dirty="0"/>
              <a:t> Yu and Yu Lin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564548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(1) A Framework for Heterogeneous Satellite Constellation Design for Rapid Response Earth Observations, 2019, Ibrahim Sanad and David</a:t>
            </a:r>
            <a:r>
              <a:rPr lang="ko-KR" altLang="en-US" b="1" dirty="0"/>
              <a:t> </a:t>
            </a:r>
            <a:r>
              <a:rPr lang="en-US" altLang="ko-KR" b="1" dirty="0"/>
              <a:t>G</a:t>
            </a:r>
            <a:r>
              <a:rPr lang="ko-KR" altLang="en-US" b="1" dirty="0"/>
              <a:t> </a:t>
            </a:r>
            <a:r>
              <a:rPr lang="en-US" altLang="ko-KR" b="1" dirty="0"/>
              <a:t>Michelson</a:t>
            </a:r>
            <a:endParaRPr lang="ko-KR" alt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97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논문 주요내용 </a:t>
            </a:r>
          </a:p>
          <a:p>
            <a:pPr lvl="1"/>
            <a:r>
              <a:rPr lang="ko-KR" altLang="en-US" dirty="0"/>
              <a:t>이종 위성군의 운용목표인 신속성과 직결되는 </a:t>
            </a:r>
            <a:r>
              <a:rPr lang="en-US" altLang="ko-KR" dirty="0"/>
              <a:t>SRT</a:t>
            </a:r>
            <a:r>
              <a:rPr lang="ko-KR" altLang="en-US" dirty="0"/>
              <a:t>의 개념</a:t>
            </a:r>
            <a:r>
              <a:rPr lang="en-US" altLang="ko-KR" dirty="0"/>
              <a:t>, </a:t>
            </a:r>
            <a:r>
              <a:rPr lang="ko-KR" altLang="en-US" dirty="0"/>
              <a:t>구성요소 및 단축 방법 등에 대한 내용을 기술한 후 이를 바탕으로 한 위성군의 설계 방법</a:t>
            </a:r>
            <a:r>
              <a:rPr lang="en-US" altLang="ko-KR" dirty="0"/>
              <a:t>, </a:t>
            </a:r>
            <a:r>
              <a:rPr lang="ko-KR" altLang="en-US" dirty="0"/>
              <a:t>그리고 해당 방법을 적용하여 시뮬레이션 하였을 때 파라미터의 값에 따른 성능 지수의 변화 결과 및 향후 작업에 대한 권고사항을 포함한다</a:t>
            </a:r>
            <a:r>
              <a:rPr lang="en-US" altLang="ko-KR" dirty="0"/>
              <a:t>. 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연구목표</a:t>
            </a:r>
          </a:p>
          <a:p>
            <a:pPr lvl="1"/>
            <a:r>
              <a:rPr lang="ko-KR" altLang="en-US" dirty="0"/>
              <a:t>자연재해 등 국방 및 자연안보와 관련된 사항에 신속하게 대응하기 위해 </a:t>
            </a:r>
            <a:r>
              <a:rPr lang="en-US" altLang="ko-KR" dirty="0"/>
              <a:t>SRT(System Response Time)</a:t>
            </a:r>
            <a:r>
              <a:rPr lang="ko-KR" altLang="en-US" dirty="0"/>
              <a:t>를 최대한 줄일 수 있는 이종위성군 설계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en-US" altLang="ko-KR" dirty="0"/>
              <a:t>SRT </a:t>
            </a:r>
            <a:r>
              <a:rPr lang="ko-KR" altLang="en-US" dirty="0"/>
              <a:t>성능을 향상시키기 위해 서로 다른 기능을 하는 두 종류의 위성</a:t>
            </a:r>
            <a:r>
              <a:rPr lang="en-US" altLang="ko-KR" dirty="0"/>
              <a:t>(Imaging</a:t>
            </a:r>
            <a:r>
              <a:rPr lang="ko-KR" altLang="en-US" dirty="0"/>
              <a:t> 위성과 </a:t>
            </a:r>
            <a:r>
              <a:rPr lang="en-US" altLang="ko-KR" dirty="0"/>
              <a:t>Relay</a:t>
            </a:r>
            <a:r>
              <a:rPr lang="ko-KR" altLang="en-US" dirty="0"/>
              <a:t> 위성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en-US" altLang="ko-KR" dirty="0"/>
              <a:t>Cross-Link</a:t>
            </a:r>
            <a:r>
              <a:rPr lang="ko-KR" altLang="en-US" dirty="0"/>
              <a:t>하여 운용함</a:t>
            </a:r>
            <a:r>
              <a:rPr lang="en-US" altLang="ko-KR" dirty="0"/>
              <a:t>. </a:t>
            </a:r>
            <a:r>
              <a:rPr lang="ko-KR" altLang="en-US" dirty="0"/>
              <a:t>이 중</a:t>
            </a:r>
            <a:r>
              <a:rPr lang="en-US" altLang="ko-KR" dirty="0"/>
              <a:t>, Imaging</a:t>
            </a:r>
            <a:r>
              <a:rPr lang="ko-KR" altLang="en-US" dirty="0"/>
              <a:t> 위성에 대해서는 고도가 다른 두 궤도에 각각 배치함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81036625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SRT</a:t>
            </a:r>
            <a:r>
              <a:rPr lang="ko-KR" altLang="en-US" dirty="0"/>
              <a:t>의 구성</a:t>
            </a:r>
            <a:endParaRPr lang="en-US" altLang="ko-KR" dirty="0"/>
          </a:p>
          <a:p>
            <a:pPr lvl="1"/>
            <a:r>
              <a:rPr lang="en-US" altLang="ko-KR" dirty="0"/>
              <a:t>SRT(</a:t>
            </a:r>
            <a:r>
              <a:rPr lang="ko-KR" altLang="en-US" dirty="0"/>
              <a:t>시스템 처리 시간</a:t>
            </a:r>
            <a:r>
              <a:rPr lang="en-US" altLang="ko-KR" dirty="0"/>
              <a:t>)</a:t>
            </a:r>
            <a:r>
              <a:rPr lang="ko-KR" altLang="en-US" dirty="0"/>
              <a:t>은 시스템 요청 제출 시점부터 생성된 이미지를 사용할 수 있을 때까지의 시간 간격을 정의하며 다음의 </a:t>
            </a:r>
            <a:r>
              <a:rPr lang="en-US" altLang="ko-KR" dirty="0"/>
              <a:t>7</a:t>
            </a:r>
            <a:r>
              <a:rPr lang="ko-KR" altLang="en-US" dirty="0"/>
              <a:t>가지 </a:t>
            </a:r>
            <a:r>
              <a:rPr lang="en-US" altLang="ko-KR" dirty="0"/>
              <a:t>delay</a:t>
            </a:r>
            <a:r>
              <a:rPr lang="ko-KR" altLang="en-US" dirty="0"/>
              <a:t>로 구성</a:t>
            </a:r>
            <a:endParaRPr lang="en-US" altLang="ko-KR" dirty="0"/>
          </a:p>
          <a:p>
            <a:pPr lvl="1"/>
            <a:r>
              <a:rPr lang="en-US" altLang="ko-KR" dirty="0"/>
              <a:t>Imaging </a:t>
            </a:r>
            <a:r>
              <a:rPr lang="ko-KR" altLang="en-US" dirty="0"/>
              <a:t>위성과 </a:t>
            </a:r>
            <a:r>
              <a:rPr lang="en-US" altLang="ko-KR" dirty="0"/>
              <a:t>Relay</a:t>
            </a:r>
            <a:r>
              <a:rPr lang="ko-KR" altLang="en-US" dirty="0"/>
              <a:t> 위성 사이에 양방향 </a:t>
            </a:r>
            <a:r>
              <a:rPr lang="en-US" altLang="ko-KR" dirty="0"/>
              <a:t>ISL</a:t>
            </a:r>
            <a:r>
              <a:rPr lang="ko-KR" altLang="en-US" dirty="0"/>
              <a:t>을 이용하여 </a:t>
            </a:r>
            <a:r>
              <a:rPr lang="en-US" altLang="ko-KR" dirty="0"/>
              <a:t>T2</a:t>
            </a:r>
            <a:r>
              <a:rPr lang="ko-KR" altLang="en-US" dirty="0"/>
              <a:t>와 </a:t>
            </a:r>
            <a:r>
              <a:rPr lang="en-US" altLang="ko-KR" dirty="0"/>
              <a:t>T6</a:t>
            </a:r>
            <a:r>
              <a:rPr lang="ko-KR" altLang="en-US" dirty="0"/>
              <a:t>을 줄임으로써 </a:t>
            </a:r>
            <a:r>
              <a:rPr lang="en-US" altLang="ko-KR" dirty="0"/>
              <a:t>SRT</a:t>
            </a:r>
            <a:r>
              <a:rPr lang="ko-KR" altLang="en-US" dirty="0"/>
              <a:t>를 크게 줄일 수 있음</a:t>
            </a:r>
          </a:p>
          <a:p>
            <a:pPr lvl="1"/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AAF35A6-D401-E0F9-E0C2-89502E430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32141"/>
              </p:ext>
            </p:extLst>
          </p:nvPr>
        </p:nvGraphicFramePr>
        <p:xfrm>
          <a:off x="486122" y="2583626"/>
          <a:ext cx="8171756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367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71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Time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Definition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Value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97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 Preparation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(T1)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지상국에서부터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Imaging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위성까지 명령을 전달하기 전에 명령을 수집하는데 걸리는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요청 및 처리 지연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,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시스템 프로그래밍 및 명령 컴파일이 포함됨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 Uplink Delay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(T2)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위성과 지상국이 접속할 때 까지의 시간 지연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Dynamic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Commanding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(T3-1st)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지상국에서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위성으로 수집된 명령을 전달하는데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784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Pre-collection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(T3-2nd)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이미지 획들을 위해 명령을 수신한 후 대상의 접속 시간을 구성하는 데 필요한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필요한 운용 모드로 탑재체를 스위칭 하는 데 필요한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784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Intrinsic Response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(T4)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관심 지역에 대한 커버리지 요청과 커버리지가 달성되는 시간 간격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 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위성군의 재방문 시간에 완전히 의존함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Dynamic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4509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(T5-1st)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위성이 타겟의 이미지를 수집하는 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19693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Post 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(T5-2nd)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Downlink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에 대한 수신 지상국을 구성하는 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18721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Data Downlink Delay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(T6)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위성과 수신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지상국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사이이 접속할 때까지의 시간 지연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Dynamic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821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Downlink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(T7)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생성된 데이터를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Downlink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하는 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 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69973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038021F-0476-4294-6537-2828CFAA05C5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27056444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임무의 디자인 과정 </a:t>
            </a:r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78E0DC1-8279-79E8-6701-7CD127EC4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70194"/>
            <a:ext cx="9144000" cy="34939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2B189E-DC46-E69E-EFBD-9F3E0758E038}"/>
              </a:ext>
            </a:extLst>
          </p:cNvPr>
          <p:cNvSpPr txBox="1"/>
          <p:nvPr/>
        </p:nvSpPr>
        <p:spPr>
          <a:xfrm>
            <a:off x="139700" y="1663395"/>
            <a:ext cx="445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(1)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C917C6-EFA8-9B1E-5BA4-C18D134BDC5C}"/>
              </a:ext>
            </a:extLst>
          </p:cNvPr>
          <p:cNvSpPr txBox="1"/>
          <p:nvPr/>
        </p:nvSpPr>
        <p:spPr>
          <a:xfrm>
            <a:off x="1740756" y="3340971"/>
            <a:ext cx="445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(2)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FD4704-FE8B-0C1E-7B1D-108D26E6DE3F}"/>
              </a:ext>
            </a:extLst>
          </p:cNvPr>
          <p:cNvSpPr txBox="1"/>
          <p:nvPr/>
        </p:nvSpPr>
        <p:spPr>
          <a:xfrm>
            <a:off x="2787006" y="4377807"/>
            <a:ext cx="445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(4)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498F6A-80D3-4979-28E0-84F9880EDF57}"/>
              </a:ext>
            </a:extLst>
          </p:cNvPr>
          <p:cNvSpPr txBox="1"/>
          <p:nvPr/>
        </p:nvSpPr>
        <p:spPr>
          <a:xfrm>
            <a:off x="5939461" y="4378832"/>
            <a:ext cx="445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(3)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21EED1-5953-B105-63ED-2DB925C778C5}"/>
              </a:ext>
            </a:extLst>
          </p:cNvPr>
          <p:cNvSpPr txBox="1"/>
          <p:nvPr/>
        </p:nvSpPr>
        <p:spPr>
          <a:xfrm>
            <a:off x="2869198" y="1609711"/>
            <a:ext cx="445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(5)</a:t>
            </a:r>
            <a:endParaRPr lang="ko-KR" alt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748C22-1B23-770B-607E-8C4B3C0EBCA1}"/>
              </a:ext>
            </a:extLst>
          </p:cNvPr>
          <p:cNvSpPr txBox="1"/>
          <p:nvPr/>
        </p:nvSpPr>
        <p:spPr>
          <a:xfrm>
            <a:off x="6162424" y="1612095"/>
            <a:ext cx="445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(6)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15395382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(1) Mission Objectives</a:t>
            </a:r>
          </a:p>
          <a:p>
            <a:pPr lvl="1"/>
            <a:r>
              <a:rPr lang="en-US" altLang="ko-KR" dirty="0"/>
              <a:t>Global Coverage 100% </a:t>
            </a:r>
            <a:r>
              <a:rPr lang="ko-KR" altLang="en-US" dirty="0"/>
              <a:t>커버를 달성하는 광학</a:t>
            </a:r>
            <a:r>
              <a:rPr lang="en-US" altLang="ko-KR" dirty="0"/>
              <a:t> imaging </a:t>
            </a:r>
            <a:r>
              <a:rPr lang="ko-KR" altLang="en-US" dirty="0"/>
              <a:t>위성군을 설계</a:t>
            </a:r>
            <a:endParaRPr lang="en-US" altLang="ko-KR" dirty="0"/>
          </a:p>
          <a:p>
            <a:pPr lvl="1"/>
            <a:r>
              <a:rPr lang="ko-KR" altLang="en-US" dirty="0"/>
              <a:t>특정 공간 해상도를 달성하는데 필요한 </a:t>
            </a:r>
            <a:r>
              <a:rPr lang="ko-KR" altLang="en-US" dirty="0" err="1"/>
              <a:t>탑재체</a:t>
            </a:r>
            <a:r>
              <a:rPr lang="ko-KR" altLang="en-US" dirty="0"/>
              <a:t> 파라미터 지정</a:t>
            </a:r>
            <a:endParaRPr lang="en-US" altLang="ko-KR" dirty="0"/>
          </a:p>
          <a:p>
            <a:pPr lvl="1"/>
            <a:r>
              <a:rPr lang="en-US" altLang="ko-KR" dirty="0"/>
              <a:t>SRT</a:t>
            </a:r>
            <a:r>
              <a:rPr lang="ko-KR" altLang="en-US" dirty="0"/>
              <a:t>를 줄이기 위한 최상의 적도 평면 상의 </a:t>
            </a:r>
            <a:r>
              <a:rPr lang="en-US" altLang="ko-KR" dirty="0"/>
              <a:t>Relay </a:t>
            </a:r>
            <a:r>
              <a:rPr lang="ko-KR" altLang="en-US" dirty="0"/>
              <a:t>위성군을 설계</a:t>
            </a:r>
            <a:endParaRPr lang="en-US" altLang="ko-KR" dirty="0"/>
          </a:p>
          <a:p>
            <a:pPr lvl="1"/>
            <a:r>
              <a:rPr lang="ko-KR" altLang="en-US" dirty="0"/>
              <a:t>신호 송수신을 위한 지상국의 위치 설정</a:t>
            </a:r>
            <a:endParaRPr lang="en-US" altLang="ko-KR" dirty="0"/>
          </a:p>
          <a:p>
            <a:r>
              <a:rPr lang="en-US" altLang="ko-KR" dirty="0"/>
              <a:t>Constraints</a:t>
            </a:r>
          </a:p>
          <a:p>
            <a:pPr lvl="1"/>
            <a:r>
              <a:rPr lang="en-US" altLang="ko-KR" dirty="0"/>
              <a:t>SSO : 200~1200km (Imaging </a:t>
            </a:r>
            <a:r>
              <a:rPr lang="ko-KR" altLang="en-US" dirty="0" err="1"/>
              <a:t>위성군</a:t>
            </a:r>
            <a:r>
              <a:rPr lang="ko-KR" altLang="en-US" dirty="0"/>
              <a:t> 배치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MEO : 8000km (Relay </a:t>
            </a:r>
            <a:r>
              <a:rPr lang="ko-KR" altLang="en-US" dirty="0" err="1"/>
              <a:t>위성군</a:t>
            </a:r>
            <a:r>
              <a:rPr lang="ko-KR" altLang="en-US" dirty="0"/>
              <a:t> 배치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평면 당 위성의</a:t>
            </a:r>
            <a:r>
              <a:rPr lang="en-US" altLang="ko-KR" dirty="0"/>
              <a:t> </a:t>
            </a:r>
            <a:r>
              <a:rPr lang="ko-KR" altLang="en-US" dirty="0"/>
              <a:t>수 </a:t>
            </a:r>
            <a:r>
              <a:rPr lang="en-US" altLang="ko-KR" dirty="0"/>
              <a:t>: 2~6</a:t>
            </a:r>
            <a:r>
              <a:rPr lang="ko-KR" altLang="en-US" dirty="0"/>
              <a:t>대</a:t>
            </a:r>
            <a:endParaRPr lang="en-US" altLang="ko-KR" dirty="0"/>
          </a:p>
          <a:p>
            <a:pPr lvl="1"/>
            <a:r>
              <a:rPr lang="ko-KR" altLang="en-US" dirty="0" err="1"/>
              <a:t>지상국</a:t>
            </a:r>
            <a:r>
              <a:rPr lang="ko-KR" altLang="en-US" dirty="0"/>
              <a:t> 고도 </a:t>
            </a:r>
            <a:r>
              <a:rPr lang="en-US" altLang="ko-KR" dirty="0"/>
              <a:t>: 10</a:t>
            </a:r>
            <a:r>
              <a:rPr lang="ko-KR" altLang="en-US" dirty="0"/>
              <a:t>˚ 이상</a:t>
            </a:r>
            <a:endParaRPr lang="en-US" altLang="ko-KR" dirty="0"/>
          </a:p>
          <a:p>
            <a:pPr lvl="1"/>
            <a:r>
              <a:rPr lang="en-US" altLang="ko-KR" dirty="0"/>
              <a:t>Detector Pitch(DP) :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1 </a:t>
            </a:r>
            <a:r>
              <a:rPr lang="el-GR" altLang="ko-KR" sz="1800" dirty="0"/>
              <a:t>μ</a:t>
            </a:r>
            <a:r>
              <a:rPr lang="en-US" altLang="ko-KR" sz="1800" dirty="0"/>
              <a:t>m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402599740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(2) Remote Sensing Sensor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4ECE0C0-E171-6115-36F8-4137C4D1A0AB}"/>
              </a:ext>
            </a:extLst>
          </p:cNvPr>
          <p:cNvGraphicFramePr>
            <a:graphicFrameLocks noGrp="1"/>
          </p:cNvGraphicFramePr>
          <p:nvPr/>
        </p:nvGraphicFramePr>
        <p:xfrm>
          <a:off x="643497" y="1754681"/>
          <a:ext cx="3122866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478">
                  <a:extLst>
                    <a:ext uri="{9D8B030D-6E8A-4147-A177-3AD203B41FA5}">
                      <a16:colId xmlns:a16="http://schemas.microsoft.com/office/drawing/2014/main" val="1881032504"/>
                    </a:ext>
                  </a:extLst>
                </a:gridCol>
                <a:gridCol w="1040955">
                  <a:extLst>
                    <a:ext uri="{9D8B030D-6E8A-4147-A177-3AD203B41FA5}">
                      <a16:colId xmlns:a16="http://schemas.microsoft.com/office/drawing/2014/main" val="400930265"/>
                    </a:ext>
                  </a:extLst>
                </a:gridCol>
                <a:gridCol w="1040955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682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GSD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0.5m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5m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Focal length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1.2~1.4m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0.12~0.14m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DP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 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90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FOV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20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212 km (@600km altitude)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309454"/>
                  </a:ext>
                </a:extLst>
              </a:tr>
              <a:tr h="2319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40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473 km (@600km altitude)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304945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61CEE2D5-7E40-9833-470A-DA0C07B60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777" y="1745507"/>
            <a:ext cx="4743450" cy="3743325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DC48A2C-062A-4A00-08CF-1B06FE6227DD}"/>
                  </a:ext>
                </a:extLst>
              </p:cNvPr>
              <p:cNvSpPr txBox="1"/>
              <p:nvPr/>
            </p:nvSpPr>
            <p:spPr>
              <a:xfrm>
                <a:off x="966231" y="3756755"/>
                <a:ext cx="2229328" cy="603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dirty="0"/>
                  <a:t>GSD </a:t>
                </a:r>
                <a14:m>
                  <m:oMath xmlns:m="http://schemas.openxmlformats.org/officeDocument/2006/math">
                    <m:r>
                      <a:rPr lang="en-US" altLang="ko-KR" sz="2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𝐷𝑃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ad>
                          <m:radPr>
                            <m:degHide m:val="on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 altLang="ko-KR" sz="2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𝑒𝑙𝑒𝑣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DC48A2C-062A-4A00-08CF-1B06FE622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231" y="3756755"/>
                <a:ext cx="2229328" cy="603370"/>
              </a:xfrm>
              <a:prstGeom prst="rect">
                <a:avLst/>
              </a:prstGeom>
              <a:blipFill>
                <a:blip r:embed="rId4"/>
                <a:stretch>
                  <a:fillRect l="-65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276434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(3) Orbital Mechanics and Simulate method</a:t>
            </a:r>
          </a:p>
          <a:p>
            <a:pPr lvl="1"/>
            <a:r>
              <a:rPr lang="en-US" altLang="ko-KR" dirty="0"/>
              <a:t>STK</a:t>
            </a:r>
            <a:r>
              <a:rPr lang="ko-KR" altLang="en-US" dirty="0"/>
              <a:t> 소프트웨어 및 그 안에 포함된 </a:t>
            </a:r>
            <a:r>
              <a:rPr lang="en-US" altLang="ko-KR" dirty="0"/>
              <a:t>Coverage, STK Analyzer </a:t>
            </a:r>
            <a:r>
              <a:rPr lang="ko-KR" altLang="en-US" dirty="0"/>
              <a:t>등의 모듈을 사용하여 분석함</a:t>
            </a:r>
            <a:r>
              <a:rPr lang="en-US" altLang="ko-KR" dirty="0"/>
              <a:t>.</a:t>
            </a:r>
            <a:r>
              <a:rPr lang="ko-KR" altLang="en-US" dirty="0"/>
              <a:t> 또는 </a:t>
            </a:r>
            <a:r>
              <a:rPr lang="en-US" altLang="ko-KR" dirty="0"/>
              <a:t>STK</a:t>
            </a:r>
            <a:r>
              <a:rPr lang="ko-KR" altLang="en-US" dirty="0"/>
              <a:t>와 다른 소프트웨어인 </a:t>
            </a:r>
            <a:r>
              <a:rPr lang="en-US" altLang="ko-KR" dirty="0"/>
              <a:t>AWB(Analysis Workbench)</a:t>
            </a:r>
            <a:r>
              <a:rPr lang="ko-KR" altLang="en-US" dirty="0"/>
              <a:t>를 사용함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하나 또는 두개의 </a:t>
            </a:r>
            <a:r>
              <a:rPr lang="en-US" altLang="ko-KR" dirty="0"/>
              <a:t>DV</a:t>
            </a:r>
            <a:r>
              <a:rPr lang="ko-KR" altLang="en-US" dirty="0"/>
              <a:t>를 실행시키면 각 값에서 </a:t>
            </a:r>
            <a:r>
              <a:rPr lang="en-US" altLang="ko-KR" dirty="0"/>
              <a:t>MOP</a:t>
            </a:r>
            <a:r>
              <a:rPr lang="ko-KR" altLang="en-US" dirty="0"/>
              <a:t> 통계가 수집됨  </a:t>
            </a:r>
            <a:endParaRPr lang="en-US" altLang="ko-KR" dirty="0"/>
          </a:p>
          <a:p>
            <a:pPr lvl="2"/>
            <a:r>
              <a:rPr lang="en-US" altLang="ko-KR" dirty="0"/>
              <a:t>DV(Design Variable) : </a:t>
            </a:r>
            <a:r>
              <a:rPr lang="ko-KR" altLang="en-US" dirty="0"/>
              <a:t>위성군을 설계하는데 있어 </a:t>
            </a:r>
            <a:r>
              <a:rPr lang="en-US" altLang="ko-KR" dirty="0"/>
              <a:t>input</a:t>
            </a:r>
            <a:r>
              <a:rPr lang="ko-KR" altLang="en-US" dirty="0"/>
              <a:t>으로 적용되는 설계 변수로</a:t>
            </a:r>
            <a:r>
              <a:rPr lang="en-US" altLang="ko-KR" dirty="0"/>
              <a:t>, </a:t>
            </a:r>
            <a:r>
              <a:rPr lang="ko-KR" altLang="en-US" dirty="0"/>
              <a:t>최적화를 위해 값을 조정하여 입력</a:t>
            </a:r>
            <a:endParaRPr lang="en-US" altLang="ko-KR" dirty="0"/>
          </a:p>
          <a:p>
            <a:pPr lvl="2"/>
            <a:r>
              <a:rPr lang="en-US" altLang="ko-KR" dirty="0"/>
              <a:t>MOP(Measures of Performances) : </a:t>
            </a:r>
            <a:r>
              <a:rPr lang="ko-KR" altLang="en-US" dirty="0"/>
              <a:t>설계변수</a:t>
            </a:r>
            <a:r>
              <a:rPr lang="en-US" altLang="ko-KR" dirty="0"/>
              <a:t>(DV)</a:t>
            </a:r>
            <a:r>
              <a:rPr lang="ko-KR" altLang="en-US" dirty="0"/>
              <a:t>에 따라 얻을 수 있는 최종 성능지표</a:t>
            </a:r>
            <a:r>
              <a:rPr lang="en-US" altLang="ko-KR" dirty="0"/>
              <a:t>(ex. </a:t>
            </a:r>
            <a:r>
              <a:rPr lang="ko-KR" altLang="en-US" dirty="0"/>
              <a:t>커버리지</a:t>
            </a:r>
            <a:r>
              <a:rPr lang="en-US" altLang="ko-KR" dirty="0"/>
              <a:t>, </a:t>
            </a:r>
            <a:r>
              <a:rPr lang="ko-KR" altLang="en-US" dirty="0"/>
              <a:t>재방문 주기</a:t>
            </a:r>
            <a:r>
              <a:rPr lang="en-US" altLang="ko-KR" dirty="0"/>
              <a:t>, </a:t>
            </a:r>
            <a:r>
              <a:rPr lang="ko-KR" altLang="en-US" dirty="0"/>
              <a:t>센서의 해상도 등</a:t>
            </a:r>
            <a:r>
              <a:rPr lang="en-US" altLang="ko-KR" dirty="0"/>
              <a:t>)</a:t>
            </a:r>
          </a:p>
          <a:p>
            <a:pPr lvl="2"/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3650ABF-6465-7406-9E97-F431DCDBC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050" y="2042130"/>
            <a:ext cx="5295900" cy="22151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2228260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(4) Orbit types</a:t>
            </a:r>
          </a:p>
          <a:p>
            <a:pPr lvl="1">
              <a:defRPr/>
            </a:pPr>
            <a:r>
              <a:rPr lang="en-US" altLang="ko-KR" b="1" dirty="0"/>
              <a:t>LEO</a:t>
            </a:r>
            <a:r>
              <a:rPr lang="en-US" altLang="ko-KR" dirty="0"/>
              <a:t> (Imaging constellation</a:t>
            </a:r>
            <a:r>
              <a:rPr lang="ko-KR" altLang="en-US" dirty="0"/>
              <a:t>에 사용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en-US" altLang="ko-KR" dirty="0"/>
              <a:t>Sun Synchronous Orbit(SSO) </a:t>
            </a:r>
          </a:p>
          <a:p>
            <a:pPr lvl="2">
              <a:defRPr/>
            </a:pPr>
            <a:r>
              <a:rPr lang="en-US" altLang="ko-KR" dirty="0"/>
              <a:t>Mid Inclined Orbit(MIO) </a:t>
            </a:r>
            <a:endParaRPr lang="ko-KR" altLang="en-US" dirty="0"/>
          </a:p>
          <a:p>
            <a:pPr lvl="1">
              <a:defRPr/>
            </a:pPr>
            <a:r>
              <a:rPr lang="en-US" altLang="ko-KR" b="1" dirty="0"/>
              <a:t>Circular MEO on Equatorial plane </a:t>
            </a:r>
            <a:r>
              <a:rPr lang="en-US" altLang="ko-KR" dirty="0"/>
              <a:t>(Relay constellation</a:t>
            </a:r>
            <a:r>
              <a:rPr lang="ko-KR" altLang="en-US" dirty="0"/>
              <a:t>에 사용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en-US" altLang="ko-KR" dirty="0"/>
              <a:t>Medium Earth Orbit(MEO) – 8,000km</a:t>
            </a:r>
          </a:p>
          <a:p>
            <a:r>
              <a:rPr lang="en-US" altLang="ko-KR" dirty="0"/>
              <a:t>Constellation Concept</a:t>
            </a:r>
          </a:p>
          <a:p>
            <a:pPr lvl="1"/>
            <a:r>
              <a:rPr lang="en-US" altLang="ko-KR" dirty="0"/>
              <a:t>SSO </a:t>
            </a:r>
            <a:r>
              <a:rPr lang="ko-KR" altLang="en-US" dirty="0"/>
              <a:t>궤도에 </a:t>
            </a:r>
            <a:r>
              <a:rPr lang="en-US" altLang="ko-KR" dirty="0"/>
              <a:t>Imaging </a:t>
            </a:r>
            <a:r>
              <a:rPr lang="ko-KR" altLang="en-US" dirty="0" err="1"/>
              <a:t>위성군</a:t>
            </a:r>
            <a:r>
              <a:rPr lang="ko-KR" altLang="en-US" dirty="0"/>
              <a:t> 배치</a:t>
            </a:r>
            <a:endParaRPr lang="en-US" altLang="ko-KR" dirty="0"/>
          </a:p>
          <a:p>
            <a:pPr lvl="1"/>
            <a:r>
              <a:rPr lang="ko-KR" altLang="en-US" dirty="0"/>
              <a:t>중위도 지역 커버를 위한 </a:t>
            </a:r>
            <a:r>
              <a:rPr lang="en-US" altLang="ko-KR" dirty="0"/>
              <a:t>MIO </a:t>
            </a:r>
            <a:r>
              <a:rPr lang="ko-KR" altLang="en-US" dirty="0"/>
              <a:t>궤도에 </a:t>
            </a:r>
            <a:r>
              <a:rPr lang="en-US" altLang="ko-KR" dirty="0"/>
              <a:t>Imaging </a:t>
            </a:r>
            <a:r>
              <a:rPr lang="ko-KR" altLang="en-US" dirty="0" err="1"/>
              <a:t>위성군</a:t>
            </a:r>
            <a:r>
              <a:rPr lang="ko-KR" altLang="en-US" dirty="0"/>
              <a:t> 배치</a:t>
            </a:r>
            <a:endParaRPr lang="en-US" altLang="ko-KR" dirty="0"/>
          </a:p>
          <a:p>
            <a:pPr lvl="1"/>
            <a:r>
              <a:rPr lang="ko-KR" altLang="en-US" dirty="0"/>
              <a:t>배치한 </a:t>
            </a:r>
            <a:r>
              <a:rPr lang="en-US" altLang="ko-KR" dirty="0"/>
              <a:t>Imaging </a:t>
            </a:r>
            <a:r>
              <a:rPr lang="ko-KR" altLang="en-US" dirty="0"/>
              <a:t>위성군에 기반하여 </a:t>
            </a:r>
            <a:r>
              <a:rPr lang="en-US" altLang="ko-KR" dirty="0"/>
              <a:t>ISL</a:t>
            </a:r>
            <a:r>
              <a:rPr lang="ko-KR" altLang="en-US" dirty="0"/>
              <a:t>을 고려한 </a:t>
            </a:r>
            <a:r>
              <a:rPr lang="en-US" altLang="ko-KR" dirty="0"/>
              <a:t>MEO</a:t>
            </a:r>
            <a:r>
              <a:rPr lang="ko-KR" altLang="en-US" dirty="0"/>
              <a:t>궤도의 </a:t>
            </a:r>
            <a:r>
              <a:rPr lang="en-US" altLang="ko-KR" dirty="0"/>
              <a:t>Relay </a:t>
            </a:r>
            <a:r>
              <a:rPr lang="ko-KR" altLang="en-US" dirty="0" err="1"/>
              <a:t>위성군</a:t>
            </a:r>
            <a:r>
              <a:rPr lang="ko-KR" altLang="en-US" dirty="0"/>
              <a:t> 배치</a:t>
            </a:r>
            <a:endParaRPr lang="en-US" altLang="ko-KR" dirty="0"/>
          </a:p>
          <a:p>
            <a:pPr lvl="1"/>
            <a:r>
              <a:rPr lang="ko-KR" altLang="en-US" dirty="0"/>
              <a:t>이종 위성군을 이용한 </a:t>
            </a:r>
            <a:r>
              <a:rPr lang="en-US" altLang="ko-KR" dirty="0"/>
              <a:t>SRT</a:t>
            </a:r>
            <a:r>
              <a:rPr lang="ko-KR" altLang="en-US" dirty="0"/>
              <a:t> 성능 분석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241392716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(5) Satellite Constellation Design[1] – Imaging Constellation</a:t>
            </a:r>
          </a:p>
          <a:p>
            <a:pPr lvl="1"/>
            <a:r>
              <a:rPr lang="en-US" altLang="ko-KR" dirty="0"/>
              <a:t>FOV </a:t>
            </a:r>
            <a:r>
              <a:rPr lang="ko-KR" altLang="en-US" dirty="0"/>
              <a:t>및 </a:t>
            </a:r>
            <a:r>
              <a:rPr lang="en-US" altLang="ko-KR" dirty="0"/>
              <a:t>GSD</a:t>
            </a:r>
            <a:r>
              <a:rPr lang="ko-KR" altLang="en-US" dirty="0"/>
              <a:t>를 조정하며 </a:t>
            </a:r>
            <a:r>
              <a:rPr lang="en-US" altLang="ko-KR" dirty="0"/>
              <a:t>DV</a:t>
            </a:r>
            <a:r>
              <a:rPr lang="ko-KR" altLang="en-US" dirty="0"/>
              <a:t>를 입력</a:t>
            </a:r>
            <a:r>
              <a:rPr lang="en-US" altLang="ko-KR" dirty="0"/>
              <a:t>(</a:t>
            </a:r>
            <a:r>
              <a:rPr lang="ko-KR" altLang="en-US" dirty="0"/>
              <a:t>논문에서는 </a:t>
            </a:r>
            <a:r>
              <a:rPr lang="en-US" altLang="ko-KR" dirty="0"/>
              <a:t>FOV = 20, GSD = 0.5m</a:t>
            </a:r>
            <a:r>
              <a:rPr lang="ko-KR" altLang="en-US" dirty="0"/>
              <a:t>로 설정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DV(SSO</a:t>
            </a:r>
            <a:r>
              <a:rPr lang="ko-KR" altLang="en-US" dirty="0"/>
              <a:t>궤도의 고도</a:t>
            </a:r>
            <a:r>
              <a:rPr lang="en-US" altLang="ko-KR" dirty="0"/>
              <a:t>, </a:t>
            </a:r>
            <a:r>
              <a:rPr lang="ko-KR" altLang="en-US" dirty="0"/>
              <a:t>평면 당 </a:t>
            </a:r>
            <a:r>
              <a:rPr lang="en-US" altLang="ko-KR" dirty="0"/>
              <a:t>Imaging </a:t>
            </a:r>
            <a:r>
              <a:rPr lang="ko-KR" altLang="en-US" dirty="0"/>
              <a:t>위성의 수</a:t>
            </a:r>
            <a:r>
              <a:rPr lang="en-US" altLang="ko-KR" dirty="0"/>
              <a:t>) </a:t>
            </a:r>
            <a:r>
              <a:rPr lang="ko-KR" altLang="en-US" dirty="0"/>
              <a:t>→ </a:t>
            </a:r>
            <a:r>
              <a:rPr lang="en-US" altLang="ko-KR" dirty="0"/>
              <a:t>MOP(SSO </a:t>
            </a:r>
            <a:r>
              <a:rPr lang="ko-KR" altLang="en-US" dirty="0"/>
              <a:t>커버리지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en-US" altLang="ko-KR" dirty="0"/>
              <a:t>SSO</a:t>
            </a:r>
            <a:r>
              <a:rPr lang="ko-KR" altLang="en-US" dirty="0"/>
              <a:t>궤도의 고도가 높을수록</a:t>
            </a:r>
            <a:r>
              <a:rPr lang="en-US" altLang="ko-KR" dirty="0"/>
              <a:t>, </a:t>
            </a:r>
            <a:r>
              <a:rPr lang="ko-KR" altLang="en-US" dirty="0"/>
              <a:t>위성의 수가 많을수록 커버리지 비율 상승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75F535-FC1D-9FE1-3FF3-9719390F9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2240247"/>
            <a:ext cx="4027188" cy="29085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0602302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(5) Satellite Constellation Design[1] – Imaging Constellation</a:t>
            </a:r>
          </a:p>
          <a:p>
            <a:pPr lvl="1"/>
            <a:r>
              <a:rPr lang="ko-KR" altLang="en-US" dirty="0"/>
              <a:t>앞에서 얻은 결과 중</a:t>
            </a:r>
            <a:r>
              <a:rPr lang="en-US" altLang="ko-KR" dirty="0"/>
              <a:t>, 600km</a:t>
            </a:r>
            <a:r>
              <a:rPr lang="ko-KR" altLang="en-US" dirty="0"/>
              <a:t>고도에 </a:t>
            </a:r>
            <a:r>
              <a:rPr lang="en-US" altLang="ko-KR" dirty="0"/>
              <a:t>4</a:t>
            </a:r>
            <a:r>
              <a:rPr lang="ko-KR" altLang="en-US" dirty="0"/>
              <a:t>개의 위성으로 설정한 후 </a:t>
            </a:r>
            <a:r>
              <a:rPr lang="en-US" altLang="ko-KR" dirty="0"/>
              <a:t>DV</a:t>
            </a:r>
            <a:r>
              <a:rPr lang="ko-KR" altLang="en-US" dirty="0"/>
              <a:t>를 입력</a:t>
            </a:r>
            <a:endParaRPr lang="en-US" altLang="ko-KR" dirty="0"/>
          </a:p>
          <a:p>
            <a:pPr lvl="1"/>
            <a:r>
              <a:rPr lang="en-US" altLang="ko-KR" dirty="0"/>
              <a:t>DV(FOV, </a:t>
            </a:r>
            <a:r>
              <a:rPr lang="ko-KR" altLang="en-US" dirty="0"/>
              <a:t>초점거리</a:t>
            </a:r>
            <a:r>
              <a:rPr lang="en-US" altLang="ko-KR" dirty="0"/>
              <a:t>) </a:t>
            </a:r>
            <a:r>
              <a:rPr lang="ko-KR" altLang="en-US" dirty="0"/>
              <a:t>→ </a:t>
            </a:r>
            <a:r>
              <a:rPr lang="en-US" altLang="ko-KR" dirty="0"/>
              <a:t>MOP(SSO </a:t>
            </a:r>
            <a:r>
              <a:rPr lang="ko-KR" altLang="en-US" dirty="0"/>
              <a:t>커버리지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ko-KR" altLang="en-US" dirty="0"/>
              <a:t>초점거리가 길수록</a:t>
            </a:r>
            <a:r>
              <a:rPr lang="en-US" altLang="ko-KR" dirty="0"/>
              <a:t>, FOV</a:t>
            </a:r>
            <a:r>
              <a:rPr lang="ko-KR" altLang="en-US" dirty="0"/>
              <a:t>가 클수록 커버리지 비율이 증가함</a:t>
            </a:r>
            <a:endParaRPr lang="en-US" altLang="ko-KR" dirty="0"/>
          </a:p>
          <a:p>
            <a:pPr lvl="2"/>
            <a:r>
              <a:rPr lang="ko-KR" altLang="en-US" dirty="0"/>
              <a:t>하지만 일정수준 이상으로는 커버리지 비율이 일정하므로 초점거리 늘릴 필요 없음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6E006D4-D423-A6B2-BAD5-FA55A0519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2199388"/>
            <a:ext cx="3715856" cy="29263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103266-EBAE-C1F0-EAF5-4417603CDB3F}"/>
              </a:ext>
            </a:extLst>
          </p:cNvPr>
          <p:cNvSpPr txBox="1"/>
          <p:nvPr/>
        </p:nvSpPr>
        <p:spPr>
          <a:xfrm>
            <a:off x="1973433" y="5140649"/>
            <a:ext cx="22102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(DP = </a:t>
            </a:r>
            <a:r>
              <a:rPr lang="el-GR" altLang="ko-KR" sz="1000" dirty="0"/>
              <a:t>1 μ</a:t>
            </a:r>
            <a:r>
              <a:rPr lang="en-US" altLang="ko-KR" sz="1000" dirty="0"/>
              <a:t>m, GSD</a:t>
            </a:r>
            <a:r>
              <a:rPr lang="ko-KR" altLang="en-US" sz="1000" dirty="0"/>
              <a:t> </a:t>
            </a:r>
            <a:r>
              <a:rPr lang="en-US" altLang="ko-KR" sz="1000" dirty="0"/>
              <a:t>=</a:t>
            </a:r>
            <a:r>
              <a:rPr lang="ko-KR" altLang="en-US" sz="1000" dirty="0"/>
              <a:t> </a:t>
            </a:r>
            <a:r>
              <a:rPr lang="en-US" altLang="ko-KR" sz="1000" dirty="0"/>
              <a:t>0.5m)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79408450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(5) Satellite Constellation Design[2] – Imaging Constellation</a:t>
            </a:r>
          </a:p>
          <a:p>
            <a:pPr lvl="1"/>
            <a:r>
              <a:rPr lang="ko-KR" altLang="en-US" dirty="0"/>
              <a:t>앞의 내용과 같이 </a:t>
            </a:r>
            <a:r>
              <a:rPr lang="en-US" altLang="ko-KR" dirty="0"/>
              <a:t>SSO</a:t>
            </a:r>
            <a:r>
              <a:rPr lang="ko-KR" altLang="en-US" dirty="0"/>
              <a:t> </a:t>
            </a:r>
            <a:r>
              <a:rPr lang="ko-KR" altLang="en-US" dirty="0" err="1"/>
              <a:t>위성군</a:t>
            </a:r>
            <a:r>
              <a:rPr lang="ko-KR" altLang="en-US" dirty="0"/>
              <a:t> 배치를 최적화할 수 있지만</a:t>
            </a:r>
            <a:r>
              <a:rPr lang="en-US" altLang="ko-KR" dirty="0"/>
              <a:t> SSO</a:t>
            </a:r>
            <a:r>
              <a:rPr lang="ko-KR" altLang="en-US" dirty="0"/>
              <a:t>궤도만으로는 중위도 지역을 커버하지 못하는 부분이 많음</a:t>
            </a:r>
            <a:endParaRPr lang="en-US" altLang="ko-KR" dirty="0"/>
          </a:p>
          <a:p>
            <a:pPr lvl="1"/>
            <a:r>
              <a:rPr lang="ko-KR" altLang="en-US" dirty="0"/>
              <a:t>따라서 기존 위성군에서 </a:t>
            </a:r>
            <a:r>
              <a:rPr lang="en-US" altLang="ko-KR" dirty="0"/>
              <a:t>MIO</a:t>
            </a:r>
            <a:r>
              <a:rPr lang="ko-KR" altLang="en-US" dirty="0"/>
              <a:t>궤도에 </a:t>
            </a:r>
            <a:r>
              <a:rPr lang="en-US" altLang="ko-KR" dirty="0"/>
              <a:t>Imaging</a:t>
            </a:r>
            <a:r>
              <a:rPr lang="ko-KR" altLang="en-US" dirty="0"/>
              <a:t>위성군을 추가하여 중위도 지역의 재방문 주기 및 커버리지 증가율 분석</a:t>
            </a:r>
            <a:r>
              <a:rPr lang="en-US" altLang="ko-KR" dirty="0"/>
              <a:t>(SSO </a:t>
            </a:r>
            <a:r>
              <a:rPr lang="ko-KR" altLang="en-US" dirty="0"/>
              <a:t>궤도와 같은 파라미터</a:t>
            </a:r>
            <a:r>
              <a:rPr lang="en-US" altLang="ko-KR" dirty="0"/>
              <a:t> </a:t>
            </a:r>
            <a:r>
              <a:rPr lang="ko-KR" altLang="en-US" dirty="0"/>
              <a:t>값 적용</a:t>
            </a:r>
            <a:r>
              <a:rPr lang="en-US" altLang="ko-KR" dirty="0"/>
              <a:t>)                          </a:t>
            </a:r>
          </a:p>
          <a:p>
            <a:pPr lvl="1"/>
            <a:r>
              <a:rPr lang="en-US" altLang="ko-KR" dirty="0"/>
              <a:t>DV(MIO</a:t>
            </a:r>
            <a:r>
              <a:rPr lang="ko-KR" altLang="en-US" dirty="0"/>
              <a:t>궤도의 고도</a:t>
            </a:r>
            <a:r>
              <a:rPr lang="en-US" altLang="ko-KR" dirty="0"/>
              <a:t>, </a:t>
            </a:r>
            <a:r>
              <a:rPr lang="ko-KR" altLang="en-US" dirty="0"/>
              <a:t>평면 당 </a:t>
            </a:r>
            <a:r>
              <a:rPr lang="en-US" altLang="ko-KR" dirty="0"/>
              <a:t>Imaging </a:t>
            </a:r>
            <a:r>
              <a:rPr lang="ko-KR" altLang="en-US" dirty="0"/>
              <a:t>위성의 수</a:t>
            </a:r>
            <a:r>
              <a:rPr lang="en-US" altLang="ko-KR" dirty="0"/>
              <a:t>) </a:t>
            </a:r>
            <a:r>
              <a:rPr lang="ko-KR" altLang="en-US" dirty="0"/>
              <a:t>→ </a:t>
            </a:r>
            <a:r>
              <a:rPr lang="en-US" altLang="ko-KR" dirty="0"/>
              <a:t>MOP(SSO </a:t>
            </a:r>
            <a:r>
              <a:rPr lang="ko-KR" altLang="en-US" dirty="0"/>
              <a:t>커버리지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lvl="2"/>
            <a:r>
              <a:rPr lang="en-US" altLang="ko-KR" dirty="0"/>
              <a:t>MIO</a:t>
            </a:r>
            <a:r>
              <a:rPr lang="ko-KR" altLang="en-US" dirty="0"/>
              <a:t>궤도의 고도와 커버리지 비율은 별다른 관계가 없음</a:t>
            </a:r>
            <a:endParaRPr lang="en-US" altLang="ko-KR" dirty="0"/>
          </a:p>
          <a:p>
            <a:pPr lvl="2"/>
            <a:r>
              <a:rPr lang="en-US" altLang="ko-KR" dirty="0"/>
              <a:t>575km</a:t>
            </a:r>
            <a:r>
              <a:rPr lang="ko-KR" altLang="en-US" dirty="0" err="1"/>
              <a:t>일때</a:t>
            </a:r>
            <a:r>
              <a:rPr lang="ko-KR" altLang="en-US" dirty="0"/>
              <a:t> 최대 커버리지 비율 </a:t>
            </a:r>
            <a:r>
              <a:rPr lang="en-US" altLang="ko-KR" dirty="0"/>
              <a:t>98.75% </a:t>
            </a:r>
            <a:r>
              <a:rPr lang="ko-KR" altLang="en-US" dirty="0"/>
              <a:t>커버 달성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C217E4B-A53F-880C-F8A4-C2E3C4850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8" y="2984689"/>
            <a:ext cx="3513282" cy="25355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5814700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(5) Satellite Constellation Design – Imaging Constellation</a:t>
            </a:r>
          </a:p>
          <a:p>
            <a:pPr lvl="1"/>
            <a:r>
              <a:rPr lang="en-US" altLang="ko-KR" dirty="0"/>
              <a:t>Imaging </a:t>
            </a:r>
            <a:r>
              <a:rPr lang="ko-KR" altLang="en-US" dirty="0"/>
              <a:t>위성군의 최적의 결과 요약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90ABEBC-145F-9503-B511-1679EBAB0BB2}"/>
              </a:ext>
            </a:extLst>
          </p:cNvPr>
          <p:cNvGraphicFramePr>
            <a:graphicFrameLocks noGrp="1"/>
          </p:cNvGraphicFramePr>
          <p:nvPr/>
        </p:nvGraphicFramePr>
        <p:xfrm>
          <a:off x="884057" y="1968305"/>
          <a:ext cx="3221991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2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843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 type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SSO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MIO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Orbital altitude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600km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575km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Number of satellites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FOV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Swath Width(SW)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437km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Focal length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1.35m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4509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Detector pitch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 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1969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GSD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0.5m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1872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Daylight global coverage %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98.75%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821"/>
                  </a:ext>
                </a:extLst>
              </a:tr>
            </a:tbl>
          </a:graphicData>
        </a:graphic>
      </p:graphicFrame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A5F3727-93E7-80FA-2074-4DA3D5BDB286}"/>
              </a:ext>
            </a:extLst>
          </p:cNvPr>
          <p:cNvCxnSpPr/>
          <p:nvPr/>
        </p:nvCxnSpPr>
        <p:spPr>
          <a:xfrm>
            <a:off x="4572000" y="2405743"/>
            <a:ext cx="3265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7542B08-AB7E-1D7B-9E48-AFDF35CDF2E7}"/>
              </a:ext>
            </a:extLst>
          </p:cNvPr>
          <p:cNvCxnSpPr/>
          <p:nvPr/>
        </p:nvCxnSpPr>
        <p:spPr>
          <a:xfrm>
            <a:off x="4582886" y="2775857"/>
            <a:ext cx="32657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C80A8A9-D076-DF6A-594D-67F019C0EFA7}"/>
              </a:ext>
            </a:extLst>
          </p:cNvPr>
          <p:cNvSpPr txBox="1"/>
          <p:nvPr/>
        </p:nvSpPr>
        <p:spPr>
          <a:xfrm>
            <a:off x="4907322" y="2226041"/>
            <a:ext cx="25602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: </a:t>
            </a:r>
            <a:r>
              <a:rPr lang="ko-KR" altLang="en-US" sz="1400" dirty="0"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논문에서 임의로 </a:t>
            </a:r>
            <a:r>
              <a:rPr lang="ko-KR" altLang="en-US" sz="1400" dirty="0">
                <a:latin typeface="times" panose="02020603050405020304" pitchFamily="18" charset="0"/>
                <a:cs typeface="times" panose="02020603050405020304" pitchFamily="18" charset="0"/>
              </a:rPr>
              <a:t>설정</a:t>
            </a:r>
            <a:r>
              <a:rPr lang="ko-KR" altLang="en-US" sz="1400" dirty="0"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한 값</a:t>
            </a:r>
            <a:endParaRPr lang="ko-KR" alt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9AB81A-1ED9-97E8-6E55-72E8433EAE71}"/>
              </a:ext>
            </a:extLst>
          </p:cNvPr>
          <p:cNvSpPr txBox="1"/>
          <p:nvPr/>
        </p:nvSpPr>
        <p:spPr>
          <a:xfrm>
            <a:off x="4924829" y="2621968"/>
            <a:ext cx="28502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: </a:t>
            </a:r>
            <a:r>
              <a:rPr lang="ko-KR" altLang="en-US" sz="1400" dirty="0">
                <a:solidFill>
                  <a:srgbClr val="FF0000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시뮬레이션을 통해 얻은 값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52519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(5) Satellite Constellation Design[3] – Relay Constellation</a:t>
            </a:r>
          </a:p>
          <a:p>
            <a:pPr lvl="1"/>
            <a:r>
              <a:rPr lang="en-US" altLang="ko-KR" dirty="0"/>
              <a:t>Imaging</a:t>
            </a:r>
            <a:r>
              <a:rPr lang="ko-KR" altLang="en-US" dirty="0"/>
              <a:t>과 </a:t>
            </a:r>
            <a:r>
              <a:rPr lang="en-US" altLang="ko-KR" dirty="0"/>
              <a:t>relay constellation </a:t>
            </a:r>
            <a:r>
              <a:rPr lang="ko-KR" altLang="en-US" dirty="0"/>
              <a:t>간의 </a:t>
            </a:r>
            <a:r>
              <a:rPr lang="en-US" altLang="ko-KR" dirty="0"/>
              <a:t>ISL </a:t>
            </a:r>
            <a:r>
              <a:rPr lang="ko-KR" altLang="en-US" dirty="0"/>
              <a:t>접속을</a:t>
            </a:r>
            <a:r>
              <a:rPr lang="en-US" altLang="ko-KR" dirty="0"/>
              <a:t> </a:t>
            </a:r>
            <a:r>
              <a:rPr lang="ko-KR" altLang="en-US" dirty="0"/>
              <a:t>위해 </a:t>
            </a:r>
            <a:r>
              <a:rPr lang="en-US" altLang="ko-KR" dirty="0"/>
              <a:t>MEO</a:t>
            </a:r>
            <a:r>
              <a:rPr lang="ko-KR" altLang="en-US" dirty="0"/>
              <a:t>궤도에 </a:t>
            </a:r>
            <a:r>
              <a:rPr lang="en-US" altLang="ko-KR" dirty="0"/>
              <a:t>relay constellation</a:t>
            </a:r>
            <a:r>
              <a:rPr lang="ko-KR" altLang="en-US" dirty="0"/>
              <a:t>의 위성군을 구성</a:t>
            </a:r>
            <a:r>
              <a:rPr lang="en-US" altLang="ko-KR" dirty="0"/>
              <a:t>(MEO</a:t>
            </a:r>
            <a:r>
              <a:rPr lang="ko-KR" altLang="en-US" dirty="0"/>
              <a:t>궤도 중 가장 낮은 고도인 </a:t>
            </a:r>
            <a:r>
              <a:rPr lang="en-US" altLang="ko-KR" dirty="0"/>
              <a:t>8000km</a:t>
            </a:r>
            <a:r>
              <a:rPr lang="ko-KR" altLang="en-US" dirty="0"/>
              <a:t>로 설정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2"/>
            <a:r>
              <a:rPr lang="ko-KR" altLang="en-US" dirty="0"/>
              <a:t>위성의 수가 많을수록</a:t>
            </a:r>
            <a:r>
              <a:rPr lang="en-US" altLang="ko-KR" dirty="0"/>
              <a:t>, </a:t>
            </a:r>
            <a:r>
              <a:rPr lang="ko-KR" altLang="en-US" dirty="0"/>
              <a:t>지상국의 위도가 낮을수록 커버리지 비율이 증가함</a:t>
            </a:r>
            <a:endParaRPr lang="en-US" altLang="ko-KR" dirty="0"/>
          </a:p>
          <a:p>
            <a:pPr lvl="2"/>
            <a:r>
              <a:rPr lang="ko-KR" altLang="en-US" dirty="0"/>
              <a:t>지상국의 위치는 </a:t>
            </a:r>
            <a:r>
              <a:rPr lang="en-US" altLang="ko-KR" dirty="0"/>
              <a:t>0~34</a:t>
            </a:r>
            <a:r>
              <a:rPr lang="ko-KR" altLang="en-US" dirty="0"/>
              <a:t>˚</a:t>
            </a:r>
            <a:r>
              <a:rPr lang="en-US" altLang="ko-KR" dirty="0"/>
              <a:t>, </a:t>
            </a:r>
            <a:r>
              <a:rPr lang="ko-KR" altLang="en-US" dirty="0"/>
              <a:t>위성 수는 </a:t>
            </a:r>
            <a:r>
              <a:rPr lang="en-US" altLang="ko-KR" dirty="0"/>
              <a:t>4</a:t>
            </a:r>
            <a:r>
              <a:rPr lang="ko-KR" altLang="en-US" dirty="0"/>
              <a:t>대 이상이 좋음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48C3523-0E86-3235-3EAE-9D742A225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2019491"/>
            <a:ext cx="3638773" cy="28190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8762796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(5) Satellite Constellation Design[4] – SRT</a:t>
            </a:r>
          </a:p>
          <a:p>
            <a:pPr lvl="1"/>
            <a:r>
              <a:rPr lang="en-US" altLang="ko-KR" dirty="0"/>
              <a:t>SRT </a:t>
            </a:r>
            <a:r>
              <a:rPr lang="ko-KR" altLang="en-US" dirty="0"/>
              <a:t>측면에서의 이종 위성군의 성능을 </a:t>
            </a:r>
            <a:r>
              <a:rPr lang="en-US" altLang="ko-KR" dirty="0"/>
              <a:t>Imaging </a:t>
            </a:r>
            <a:r>
              <a:rPr lang="ko-KR" altLang="en-US" dirty="0"/>
              <a:t>위성군과 비교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lvl="2"/>
            <a:r>
              <a:rPr lang="ko-KR" altLang="en-US" dirty="0"/>
              <a:t>최대 </a:t>
            </a:r>
            <a:r>
              <a:rPr lang="en-US" altLang="ko-KR" dirty="0"/>
              <a:t>SRT</a:t>
            </a:r>
            <a:r>
              <a:rPr lang="ko-KR" altLang="en-US" dirty="0"/>
              <a:t>의 평균값은 이종위성군으로 구성했을 때 </a:t>
            </a:r>
            <a:r>
              <a:rPr lang="en-US" altLang="ko-KR" dirty="0"/>
              <a:t>Imaging </a:t>
            </a:r>
            <a:r>
              <a:rPr lang="ko-KR" altLang="en-US" dirty="0"/>
              <a:t>위성군만 운용했을 때 보다 성능이 좋음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0C7B143-750D-AF43-6B2A-92CFB6C8F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498" y="1779267"/>
            <a:ext cx="4706731" cy="32088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A1A565-5EE0-2DA3-86B5-B035A91304C7}"/>
              </a:ext>
            </a:extLst>
          </p:cNvPr>
          <p:cNvSpPr txBox="1"/>
          <p:nvPr/>
        </p:nvSpPr>
        <p:spPr>
          <a:xfrm>
            <a:off x="2608451" y="5009724"/>
            <a:ext cx="22102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(</a:t>
            </a:r>
            <a:r>
              <a:rPr lang="ko-KR" altLang="en-US" sz="1000" dirty="0"/>
              <a:t>지상국의 위도 </a:t>
            </a:r>
            <a:r>
              <a:rPr lang="en-US" altLang="ko-KR" sz="1000" dirty="0"/>
              <a:t>: 30</a:t>
            </a:r>
            <a:r>
              <a:rPr lang="ko-KR" altLang="en-US" sz="1000" dirty="0"/>
              <a:t>˚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05666482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(6) Figure of Merits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F0A7C54-38F9-4C03-2C4A-E5BC289E8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452957"/>
              </p:ext>
            </p:extLst>
          </p:nvPr>
        </p:nvGraphicFramePr>
        <p:xfrm>
          <a:off x="808897" y="1699001"/>
          <a:ext cx="4001288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2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035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  <a:gridCol w="721043">
                  <a:extLst>
                    <a:ext uri="{9D8B030D-6E8A-4147-A177-3AD203B41FA5}">
                      <a16:colId xmlns:a16="http://schemas.microsoft.com/office/drawing/2014/main" val="3647112933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Constellation type</a:t>
                      </a:r>
                      <a:endParaRPr lang="ko-KR" altLang="en-US" sz="1400" b="1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Imaging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Relay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189452"/>
                  </a:ext>
                </a:extLst>
              </a:tr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 Type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SSO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MIO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MEO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Orbital altitude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600km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575km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8000km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Number of satellites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FOV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Swath Width(SW)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437km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Focal length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1.35m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4509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Detector pitch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 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1969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GSD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0.5m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1872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Daylight global coverage %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98.75%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82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 latitude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30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~34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176279"/>
                  </a:ext>
                </a:extLst>
              </a:tr>
            </a:tbl>
          </a:graphicData>
        </a:graphic>
      </p:graphicFrame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312B602-44F1-3677-B3CC-E2366602805F}"/>
              </a:ext>
            </a:extLst>
          </p:cNvPr>
          <p:cNvCxnSpPr/>
          <p:nvPr/>
        </p:nvCxnSpPr>
        <p:spPr>
          <a:xfrm>
            <a:off x="5203374" y="2405743"/>
            <a:ext cx="3265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10B7299-4B28-1335-B1DA-7D3F6280F4CD}"/>
              </a:ext>
            </a:extLst>
          </p:cNvPr>
          <p:cNvCxnSpPr/>
          <p:nvPr/>
        </p:nvCxnSpPr>
        <p:spPr>
          <a:xfrm>
            <a:off x="5214260" y="2775857"/>
            <a:ext cx="32657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5596568-AA4F-04E5-1411-2ADE690FDD43}"/>
              </a:ext>
            </a:extLst>
          </p:cNvPr>
          <p:cNvSpPr txBox="1"/>
          <p:nvPr/>
        </p:nvSpPr>
        <p:spPr>
          <a:xfrm>
            <a:off x="5538696" y="2226041"/>
            <a:ext cx="25602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: </a:t>
            </a:r>
            <a:r>
              <a:rPr lang="ko-KR" altLang="en-US" sz="1400" dirty="0"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논문에서 임의로 </a:t>
            </a:r>
            <a:r>
              <a:rPr lang="ko-KR" altLang="en-US" sz="1400" dirty="0">
                <a:latin typeface="times" panose="02020603050405020304" pitchFamily="18" charset="0"/>
                <a:cs typeface="times" panose="02020603050405020304" pitchFamily="18" charset="0"/>
              </a:rPr>
              <a:t>설정</a:t>
            </a:r>
            <a:r>
              <a:rPr lang="ko-KR" altLang="en-US" sz="1400" dirty="0"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한 값</a:t>
            </a:r>
            <a:endParaRPr lang="ko-KR" alt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724713-6E87-E68B-992B-1CBAB783D7B2}"/>
              </a:ext>
            </a:extLst>
          </p:cNvPr>
          <p:cNvSpPr txBox="1"/>
          <p:nvPr/>
        </p:nvSpPr>
        <p:spPr>
          <a:xfrm>
            <a:off x="5556203" y="2621968"/>
            <a:ext cx="28502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: </a:t>
            </a:r>
            <a:r>
              <a:rPr lang="ko-KR" altLang="en-US" sz="1400" dirty="0">
                <a:solidFill>
                  <a:srgbClr val="FF0000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시뮬레이션을 통해 얻은 값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449401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1"/>
            <a:r>
              <a:rPr lang="ko-KR" altLang="en-US" dirty="0" err="1"/>
              <a:t>위성군</a:t>
            </a:r>
            <a:r>
              <a:rPr lang="ko-KR" altLang="en-US" dirty="0"/>
              <a:t> 설계의 목표 및 제한조건은 위성군의 궤도 구성을 결정하는 중요한 요소</a:t>
            </a:r>
            <a:endParaRPr lang="en-US" altLang="ko-KR" dirty="0"/>
          </a:p>
          <a:p>
            <a:pPr lvl="1"/>
            <a:r>
              <a:rPr lang="ko-KR" altLang="en-US" sz="1800" dirty="0"/>
              <a:t>지구 관측 위성의 </a:t>
            </a:r>
            <a:r>
              <a:rPr lang="en-US" altLang="ko-KR" sz="1800" dirty="0"/>
              <a:t>SRT </a:t>
            </a:r>
            <a:r>
              <a:rPr lang="ko-KR" altLang="en-US" sz="1800" dirty="0"/>
              <a:t>개선은 재해 위험 감소 및 국가 보안에 중요한 관심사</a:t>
            </a:r>
            <a:endParaRPr lang="en-US" altLang="ko-KR" sz="1800" dirty="0"/>
          </a:p>
          <a:p>
            <a:pPr lvl="1"/>
            <a:r>
              <a:rPr lang="ko-KR" altLang="en-US" sz="1800" dirty="0"/>
              <a:t>위성의 고도</a:t>
            </a:r>
            <a:r>
              <a:rPr lang="en-US" altLang="ko-KR" sz="1800" dirty="0"/>
              <a:t>, </a:t>
            </a:r>
            <a:r>
              <a:rPr lang="ko-KR" altLang="en-US" sz="1800" dirty="0"/>
              <a:t>궤도 평면 및 평면 당 위성 수 등 위성군의 특성에 따라 시스템 가용성이 달라지고 이는 이종 위성군의 구성에 큰 영향을 줌</a:t>
            </a:r>
            <a:endParaRPr lang="en-US" altLang="ko-KR" sz="1800" dirty="0"/>
          </a:p>
          <a:p>
            <a:pPr lvl="1"/>
            <a:r>
              <a:rPr lang="ko-KR" altLang="en-US" sz="1800" dirty="0"/>
              <a:t>이종 위성군의 최상의 구성을 위해서는 여러 조합을 연구해야 함</a:t>
            </a:r>
            <a:endParaRPr lang="en-US" altLang="ko-KR" sz="1800" dirty="0"/>
          </a:p>
          <a:p>
            <a:pPr lvl="1"/>
            <a:endParaRPr lang="en-US" altLang="ko-KR" b="1" dirty="0"/>
          </a:p>
          <a:p>
            <a:r>
              <a:rPr lang="ko-KR" altLang="en-US" dirty="0"/>
              <a:t>논문 내용 중 아쉬운 점</a:t>
            </a:r>
            <a:endParaRPr lang="en-US" altLang="ko-KR" dirty="0"/>
          </a:p>
          <a:p>
            <a:pPr lvl="1"/>
            <a:r>
              <a:rPr lang="en-US" altLang="ko-KR" dirty="0"/>
              <a:t>STK </a:t>
            </a:r>
            <a:r>
              <a:rPr lang="ko-KR" altLang="en-US" dirty="0"/>
              <a:t>소프트웨어를 통한 구체적인 시뮬레이션 과정이 포함되어 있지 않음 </a:t>
            </a:r>
            <a:endParaRPr lang="en-US" altLang="ko-KR" dirty="0"/>
          </a:p>
          <a:p>
            <a:pPr lvl="1"/>
            <a:r>
              <a:rPr lang="ko-KR" altLang="en-US" dirty="0"/>
              <a:t>그래프의 경향성에 대한 이유 및 분석 </a:t>
            </a:r>
            <a:r>
              <a:rPr lang="ko-KR" altLang="en-US" sz="1800" dirty="0"/>
              <a:t>등의 구체적인 내용 없이 시뮬레이션 결과만 기술되어 있어 이해하기 까다로움</a:t>
            </a:r>
            <a:endParaRPr lang="en-US" altLang="ko-KR" sz="1800" dirty="0"/>
          </a:p>
          <a:p>
            <a:pPr lvl="1"/>
            <a:r>
              <a:rPr lang="en-US" altLang="ko-KR" sz="1800" dirty="0"/>
              <a:t>Imaging </a:t>
            </a:r>
            <a:r>
              <a:rPr lang="ko-KR" altLang="en-US" sz="1800" dirty="0"/>
              <a:t>위성군과 </a:t>
            </a:r>
            <a:r>
              <a:rPr lang="en-US" altLang="ko-KR" sz="1800" dirty="0"/>
              <a:t>Relay </a:t>
            </a:r>
            <a:r>
              <a:rPr lang="ko-KR" altLang="en-US" sz="1800" dirty="0" err="1"/>
              <a:t>위성군</a:t>
            </a:r>
            <a:r>
              <a:rPr lang="ko-KR" altLang="en-US" sz="1800" dirty="0"/>
              <a:t> 간의 </a:t>
            </a:r>
            <a:r>
              <a:rPr lang="en-US" altLang="ko-KR" sz="1800" dirty="0"/>
              <a:t>ISL</a:t>
            </a:r>
            <a:r>
              <a:rPr lang="ko-KR" altLang="en-US" sz="1800" dirty="0"/>
              <a:t> </a:t>
            </a:r>
            <a:r>
              <a:rPr lang="ko-KR" altLang="en-US" dirty="0"/>
              <a:t>통신에 대한 내용이 빈약함</a:t>
            </a:r>
            <a:endParaRPr lang="en-US" altLang="ko-KR" sz="1800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8021F-0476-4294-6537-2828CFAA05C5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250880288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본 논문 중 연구에 적용하면 좋을 내용</a:t>
            </a:r>
            <a:endParaRPr lang="en-US" altLang="ko-KR" dirty="0"/>
          </a:p>
          <a:p>
            <a:pPr lvl="1"/>
            <a:r>
              <a:rPr lang="ko-KR" altLang="en-US" sz="1800" dirty="0"/>
              <a:t>이종 위성군을 이루는 두 종류의 </a:t>
            </a:r>
            <a:r>
              <a:rPr lang="ko-KR" altLang="en-US" sz="1800" dirty="0" err="1"/>
              <a:t>위성군</a:t>
            </a:r>
            <a:r>
              <a:rPr lang="ko-KR" altLang="en-US" sz="1800" dirty="0"/>
              <a:t> 중</a:t>
            </a:r>
            <a:r>
              <a:rPr lang="en-US" altLang="ko-KR" sz="1800" dirty="0"/>
              <a:t>,</a:t>
            </a:r>
            <a:r>
              <a:rPr lang="ko-KR" altLang="en-US" sz="1800" dirty="0"/>
              <a:t> </a:t>
            </a:r>
            <a:r>
              <a:rPr lang="ko-KR" altLang="en-US" dirty="0"/>
              <a:t>하나의 </a:t>
            </a:r>
            <a:r>
              <a:rPr lang="ko-KR" altLang="en-US" dirty="0" err="1"/>
              <a:t>위성군</a:t>
            </a:r>
            <a:r>
              <a:rPr lang="ko-KR" altLang="en-US" dirty="0"/>
              <a:t> 안에 또 다른 이종 위성군으로의 구성이</a:t>
            </a:r>
            <a:r>
              <a:rPr lang="en-US" altLang="ko-KR" dirty="0"/>
              <a:t> </a:t>
            </a:r>
            <a:r>
              <a:rPr lang="ko-KR" altLang="en-US" dirty="0"/>
              <a:t>가능한지에 대한 연구</a:t>
            </a:r>
            <a:endParaRPr lang="en-US" altLang="ko-KR" dirty="0"/>
          </a:p>
          <a:p>
            <a:pPr lvl="2"/>
            <a:r>
              <a:rPr lang="ko-KR" altLang="en-US" dirty="0"/>
              <a:t>본 논문에서는 </a:t>
            </a:r>
            <a:r>
              <a:rPr lang="en-US" altLang="ko-KR" dirty="0"/>
              <a:t>Imaging constellation</a:t>
            </a:r>
            <a:r>
              <a:rPr lang="ko-KR" altLang="en-US" dirty="0"/>
              <a:t>을 다시 </a:t>
            </a:r>
            <a:r>
              <a:rPr lang="en-US" altLang="ko-KR" dirty="0"/>
              <a:t>SSO, MIO</a:t>
            </a:r>
            <a:r>
              <a:rPr lang="ko-KR" altLang="en-US" dirty="0"/>
              <a:t>궤도로 나누어 배치함</a:t>
            </a:r>
            <a:endParaRPr lang="en-US" altLang="ko-KR" dirty="0"/>
          </a:p>
          <a:p>
            <a:pPr lvl="1"/>
            <a:r>
              <a:rPr lang="en-US" altLang="ko-KR" dirty="0"/>
              <a:t>FOV </a:t>
            </a:r>
            <a:r>
              <a:rPr lang="ko-KR" altLang="en-US" dirty="0"/>
              <a:t>값에 따른 </a:t>
            </a:r>
            <a:r>
              <a:rPr lang="en-US" altLang="ko-KR" dirty="0"/>
              <a:t>GSD</a:t>
            </a:r>
            <a:r>
              <a:rPr lang="ko-KR" altLang="en-US" dirty="0"/>
              <a:t>의</a:t>
            </a:r>
            <a:r>
              <a:rPr lang="en-US" altLang="ko-KR" dirty="0"/>
              <a:t> maximum global coverage percentage</a:t>
            </a:r>
            <a:r>
              <a:rPr lang="ko-KR" altLang="en-US" dirty="0"/>
              <a:t>에 대한 연구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/>
              <a:t>초점거리</a:t>
            </a:r>
            <a:r>
              <a:rPr lang="en-US" altLang="ko-KR" dirty="0"/>
              <a:t>(f)</a:t>
            </a:r>
            <a:r>
              <a:rPr lang="ko-KR" altLang="en-US" dirty="0"/>
              <a:t>와 </a:t>
            </a:r>
            <a:r>
              <a:rPr lang="en-US" altLang="ko-KR" dirty="0"/>
              <a:t>GSD</a:t>
            </a:r>
            <a:r>
              <a:rPr lang="ko-KR" altLang="en-US" dirty="0"/>
              <a:t>의 관계에 따른 </a:t>
            </a:r>
            <a:r>
              <a:rPr lang="en-US" altLang="ko-KR" dirty="0"/>
              <a:t>Imaging </a:t>
            </a:r>
            <a:r>
              <a:rPr lang="ko-KR" altLang="en-US" dirty="0"/>
              <a:t>위성의 </a:t>
            </a:r>
            <a:r>
              <a:rPr lang="ko-KR" altLang="en-US" dirty="0" err="1"/>
              <a:t>탑재체</a:t>
            </a:r>
            <a:r>
              <a:rPr lang="ko-KR" altLang="en-US" dirty="0"/>
              <a:t> 성능</a:t>
            </a:r>
            <a:r>
              <a:rPr lang="en-US" altLang="ko-KR" dirty="0"/>
              <a:t>(</a:t>
            </a:r>
            <a:r>
              <a:rPr lang="ko-KR" altLang="en-US" dirty="0"/>
              <a:t>해상도</a:t>
            </a:r>
            <a:r>
              <a:rPr lang="en-US" altLang="ko-KR" dirty="0"/>
              <a:t>)</a:t>
            </a:r>
            <a:r>
              <a:rPr lang="ko-KR" altLang="en-US" dirty="0"/>
              <a:t>에 대한 연구</a:t>
            </a:r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8021F-0476-4294-6537-2828CFAA05C5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204067805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추가 참고문헌 </a:t>
            </a:r>
            <a:endParaRPr lang="en-US" altLang="ko-KR" dirty="0"/>
          </a:p>
          <a:p>
            <a:pPr lvl="1"/>
            <a:r>
              <a:rPr lang="en-US" altLang="ko-K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Mission scheduling optimization of SAR satellite constellation for minimizing system response time, 2015, H. Kim and Y. K. Chang</a:t>
            </a:r>
            <a:endParaRPr lang="ko-KR" altLang="en-US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8021F-0476-4294-6537-2828CFAA05C5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992238007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(2) Research on the configuration design method of heterogeneous constellation reconstruction under the multiple objective and multiple constraint, 2017, Shuang Zhao, </a:t>
            </a:r>
            <a:r>
              <a:rPr lang="en-US" altLang="ko-KR" b="1" dirty="0" err="1"/>
              <a:t>Yanli</a:t>
            </a:r>
            <a:r>
              <a:rPr lang="en-US" altLang="ko-KR" b="1" dirty="0"/>
              <a:t> Xu and </a:t>
            </a:r>
            <a:r>
              <a:rPr lang="en-US" altLang="ko-KR" b="1" dirty="0" err="1"/>
              <a:t>Huayu</a:t>
            </a:r>
            <a:r>
              <a:rPr lang="en-US" altLang="ko-KR" b="1" dirty="0"/>
              <a:t> Dai</a:t>
            </a:r>
            <a:endParaRPr lang="ko-KR" altLang="en-US" sz="2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897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논문 주요내용</a:t>
            </a:r>
            <a:endParaRPr lang="en-US" altLang="ko-KR" dirty="0"/>
          </a:p>
          <a:p>
            <a:pPr lvl="1"/>
            <a:r>
              <a:rPr lang="ko-KR" altLang="en-US" sz="1800" dirty="0"/>
              <a:t>다중 목적 및 다중 제한 조건에 기초한 이종 위성군의 설계방법에 대해 다루기 위해 우선 이종 위성군의 정의와</a:t>
            </a:r>
            <a:r>
              <a:rPr lang="en-US" altLang="ko-KR" sz="1800" dirty="0"/>
              <a:t> </a:t>
            </a:r>
            <a:r>
              <a:rPr lang="ko-KR" altLang="en-US" sz="1800" dirty="0"/>
              <a:t>종류에 대해 소개한다</a:t>
            </a:r>
            <a:r>
              <a:rPr lang="en-US" altLang="ko-KR" sz="1800" dirty="0"/>
              <a:t>. </a:t>
            </a:r>
            <a:r>
              <a:rPr lang="ko-KR" altLang="en-US" sz="1800" dirty="0"/>
              <a:t>또한</a:t>
            </a:r>
            <a:r>
              <a:rPr lang="en-US" altLang="ko-KR" sz="1800" dirty="0"/>
              <a:t>, </a:t>
            </a:r>
            <a:r>
              <a:rPr lang="ko-KR" altLang="en-US" sz="1800" dirty="0"/>
              <a:t>기존의 대표적인 설계 방법인 </a:t>
            </a:r>
            <a:r>
              <a:rPr lang="en-US" altLang="ko-KR" sz="1800" dirty="0"/>
              <a:t>Phase position uniformity method </a:t>
            </a:r>
            <a:r>
              <a:rPr lang="ko-KR" altLang="en-US" sz="1800" dirty="0"/>
              <a:t>와 </a:t>
            </a:r>
            <a:r>
              <a:rPr lang="en-US" altLang="ko-KR" sz="1800" dirty="0"/>
              <a:t>Reconstruction configuration design method (based in optimization algorithm)</a:t>
            </a:r>
            <a:r>
              <a:rPr lang="ko-KR" altLang="en-US" sz="1800" dirty="0"/>
              <a:t>를 비교한다</a:t>
            </a:r>
            <a:r>
              <a:rPr lang="en-US" altLang="ko-KR" sz="1800" dirty="0"/>
              <a:t>. </a:t>
            </a:r>
            <a:r>
              <a:rPr lang="ko-KR" altLang="en-US" sz="1800" dirty="0"/>
              <a:t>마지막으로</a:t>
            </a:r>
            <a:r>
              <a:rPr lang="en-US" altLang="ko-KR" sz="1800" dirty="0"/>
              <a:t>,</a:t>
            </a:r>
            <a:r>
              <a:rPr lang="ko-KR" altLang="en-US" sz="1800" dirty="0"/>
              <a:t> 다양한 재구성 설계 방법의 장단점을 분석하고 재구성 최적화 설계의 제한 조건 및 목적함수 설정을 제시한다</a:t>
            </a:r>
            <a:r>
              <a:rPr lang="en-US" altLang="ko-KR" sz="1800" dirty="0"/>
              <a:t>.</a:t>
            </a:r>
          </a:p>
          <a:p>
            <a:pPr lvl="1"/>
            <a:endParaRPr lang="en-US" altLang="ko-KR" sz="1800" b="1" dirty="0"/>
          </a:p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ko-KR" altLang="en-US" dirty="0"/>
              <a:t>위성군은 명확한 임무 요건 즉</a:t>
            </a:r>
            <a:r>
              <a:rPr lang="en-US" altLang="ko-KR" dirty="0"/>
              <a:t>, </a:t>
            </a:r>
            <a:r>
              <a:rPr lang="ko-KR" altLang="en-US" dirty="0"/>
              <a:t>모든 위성이 동일한 특정 임무를 중심으로 회전하는 명확한 임무 요건을 가지고 있음</a:t>
            </a:r>
            <a:r>
              <a:rPr lang="en-US" altLang="ko-KR" dirty="0"/>
              <a:t>. </a:t>
            </a:r>
            <a:r>
              <a:rPr lang="ko-KR" altLang="en-US" dirty="0"/>
              <a:t>또한 위성군은 상대적으로 고정된 공간 기하학적 구조를 가지며 이 공간구조는 워커와 동일한 </a:t>
            </a:r>
            <a:r>
              <a:rPr lang="ko-KR" altLang="en-US" dirty="0" err="1"/>
              <a:t>균일성</a:t>
            </a:r>
            <a:r>
              <a:rPr lang="ko-KR" altLang="en-US" dirty="0"/>
              <a:t> 및 대칭성을 가지지 않음</a:t>
            </a:r>
            <a:r>
              <a:rPr lang="en-US" altLang="ko-KR" dirty="0"/>
              <a:t>.</a:t>
            </a:r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</p:spTree>
    <p:extLst>
      <p:ext uri="{BB962C8B-B14F-4D97-AF65-F5344CB8AC3E}">
        <p14:creationId xmlns:p14="http://schemas.microsoft.com/office/powerpoint/2010/main" val="39281546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이종 위성군의 종류</a:t>
            </a:r>
            <a:endParaRPr lang="en-US" altLang="ko-KR" dirty="0"/>
          </a:p>
          <a:p>
            <a:pPr lvl="2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E871346-715C-1199-C0DF-334B3D451E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373173"/>
              </p:ext>
            </p:extLst>
          </p:nvPr>
        </p:nvGraphicFramePr>
        <p:xfrm>
          <a:off x="575409" y="1587137"/>
          <a:ext cx="7330342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5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5171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Global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Heterogeneous Constellation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Regional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Heterogeneous Constellation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경도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-180~180˚,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위도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-90~90˚</a:t>
                      </a:r>
                    </a:p>
                    <a:p>
                      <a:pPr algn="l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서로 다른 종류의 궤도를 가지며 각 궤도의 위성 수는 서로 다름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algn="l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타원궤도와 적도궤도는 통신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조기경보위성군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, IGSO, GEO, MEO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궤도는 항법 위성군에 이용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지구 표면의 특정 지역의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coverage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를 달성하기 위해 설계됨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위성군의 각 위성은 함께 임무 수행을 하며 위성 간 상대거리는 가까움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075803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이종 위성군의 재구성</a:t>
            </a:r>
            <a:r>
              <a:rPr lang="en-US" altLang="ko-KR" dirty="0"/>
              <a:t>(Reconstruction)</a:t>
            </a:r>
          </a:p>
          <a:p>
            <a:pPr lvl="1"/>
            <a:r>
              <a:rPr lang="ko-KR" altLang="en-US" sz="1800" dirty="0"/>
              <a:t>시스템 장애</a:t>
            </a:r>
            <a:r>
              <a:rPr lang="en-US" altLang="ko-KR" sz="1800" dirty="0"/>
              <a:t>, </a:t>
            </a:r>
            <a:r>
              <a:rPr lang="ko-KR" altLang="en-US" sz="1800" dirty="0"/>
              <a:t>환경 문제 등에 직면하여 기존의 구성을 조정함으로써 위성군의 성능을 개선 및 새로운 요구 사항을 충족하는 일종의 방법</a:t>
            </a:r>
            <a:endParaRPr lang="en-US" altLang="ko-KR" sz="1600" dirty="0"/>
          </a:p>
          <a:p>
            <a:pPr lvl="2">
              <a:defRPr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7B9E789-E60D-2C2A-0F21-FD759DF68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236" y="2069153"/>
            <a:ext cx="6651564" cy="37573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5A87862-7820-99A1-0692-5C8BEB3FAAE1}"/>
              </a:ext>
            </a:extLst>
          </p:cNvPr>
          <p:cNvSpPr txBox="1"/>
          <p:nvPr/>
        </p:nvSpPr>
        <p:spPr>
          <a:xfrm>
            <a:off x="13070" y="2963370"/>
            <a:ext cx="426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(1)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2E626A0-0B0A-3F8F-25E8-CDD5B03D9D58}"/>
              </a:ext>
            </a:extLst>
          </p:cNvPr>
          <p:cNvSpPr/>
          <p:nvPr/>
        </p:nvSpPr>
        <p:spPr bwMode="auto">
          <a:xfrm>
            <a:off x="1764970" y="2758634"/>
            <a:ext cx="700828" cy="94327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A405B57-383E-519F-C154-25E904893DD6}"/>
              </a:ext>
            </a:extLst>
          </p:cNvPr>
          <p:cNvSpPr/>
          <p:nvPr/>
        </p:nvSpPr>
        <p:spPr bwMode="auto">
          <a:xfrm>
            <a:off x="2729092" y="2248895"/>
            <a:ext cx="5250790" cy="3488680"/>
          </a:xfrm>
          <a:prstGeom prst="rect">
            <a:avLst/>
          </a:prstGeom>
          <a:noFill/>
          <a:ln w="19050">
            <a:solidFill>
              <a:srgbClr val="0066FF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>
              <a:ln>
                <a:solidFill>
                  <a:srgbClr val="0066FF"/>
                </a:solidFill>
              </a:ln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7D9E33-D637-1228-0BD4-AB7B5AA66A0E}"/>
              </a:ext>
            </a:extLst>
          </p:cNvPr>
          <p:cNvSpPr txBox="1"/>
          <p:nvPr/>
        </p:nvSpPr>
        <p:spPr>
          <a:xfrm>
            <a:off x="3655191" y="1967312"/>
            <a:ext cx="426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66FF"/>
                </a:solidFill>
              </a:rPr>
              <a:t>(2)</a:t>
            </a:r>
            <a:endParaRPr lang="ko-KR" altLang="en-US" sz="1400" dirty="0">
              <a:solidFill>
                <a:srgbClr val="0066FF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B1C107-1B6B-7115-5CFA-F28A61724C3D}"/>
              </a:ext>
            </a:extLst>
          </p:cNvPr>
          <p:cNvSpPr txBox="1"/>
          <p:nvPr/>
        </p:nvSpPr>
        <p:spPr>
          <a:xfrm>
            <a:off x="257080" y="2978927"/>
            <a:ext cx="16152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Phase Uniformity </a:t>
            </a:r>
          </a:p>
          <a:p>
            <a:r>
              <a:rPr lang="en-US" altLang="ko-KR" sz="1400" dirty="0">
                <a:solidFill>
                  <a:srgbClr val="FF0000"/>
                </a:solidFill>
              </a:rPr>
              <a:t>Method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5D0E20-A876-926F-87A3-8AEF5FC22A2F}"/>
              </a:ext>
            </a:extLst>
          </p:cNvPr>
          <p:cNvSpPr txBox="1"/>
          <p:nvPr/>
        </p:nvSpPr>
        <p:spPr>
          <a:xfrm>
            <a:off x="3893210" y="1969567"/>
            <a:ext cx="34837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66FF"/>
                </a:solidFill>
              </a:rPr>
              <a:t>Reconstruction Configuration</a:t>
            </a:r>
            <a:endParaRPr lang="ko-KR" altLang="en-US" sz="1400" dirty="0">
              <a:solidFill>
                <a:srgbClr val="0066FF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60C173F-3B3C-12B8-C28A-0F724C53BF1A}"/>
              </a:ext>
            </a:extLst>
          </p:cNvPr>
          <p:cNvSpPr/>
          <p:nvPr/>
        </p:nvSpPr>
        <p:spPr bwMode="auto">
          <a:xfrm>
            <a:off x="3954853" y="2302668"/>
            <a:ext cx="2374028" cy="3358393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30FEC8-9A77-2E52-5B9B-6AE82F8AF11B}"/>
              </a:ext>
            </a:extLst>
          </p:cNvPr>
          <p:cNvSpPr txBox="1"/>
          <p:nvPr/>
        </p:nvSpPr>
        <p:spPr>
          <a:xfrm>
            <a:off x="6318734" y="2609472"/>
            <a:ext cx="15798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Optimization algorithm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94108153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(1) Phase Uniformity Method</a:t>
            </a:r>
            <a:endParaRPr lang="en-US" altLang="ko-KR" dirty="0"/>
          </a:p>
          <a:p>
            <a:pPr lvl="1"/>
            <a:r>
              <a:rPr lang="ko-KR" altLang="en-US" sz="1800" dirty="0"/>
              <a:t>위성군의 재구성은 시나리오에 따라 다음으로 분류</a:t>
            </a:r>
          </a:p>
          <a:p>
            <a:pPr lvl="2">
              <a:defRPr/>
            </a:pPr>
            <a:r>
              <a:rPr lang="en-US" altLang="ko-KR" sz="1600" dirty="0"/>
              <a:t>Satellite failure reconstruction</a:t>
            </a:r>
          </a:p>
          <a:p>
            <a:pPr lvl="2">
              <a:defRPr/>
            </a:pPr>
            <a:r>
              <a:rPr lang="en-US" altLang="ko-KR" sz="1600" dirty="0"/>
              <a:t>Ground mission change reconstruction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본 논문에서는 위의 두 가지의 </a:t>
            </a:r>
            <a:r>
              <a:rPr lang="en-US" altLang="ko-KR" dirty="0"/>
              <a:t>reconstruction</a:t>
            </a:r>
            <a:r>
              <a:rPr lang="ko-KR" altLang="en-US" dirty="0"/>
              <a:t> 중에 </a:t>
            </a:r>
            <a:r>
              <a:rPr lang="en-US" altLang="ko-KR" dirty="0"/>
              <a:t>Satellite failure reconstruction</a:t>
            </a:r>
            <a:r>
              <a:rPr lang="ko-KR" altLang="en-US" dirty="0"/>
              <a:t>에 대한 내용을 다루었으며 다음 세 가지로 다시 분류됨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Single Satellite failure : </a:t>
            </a:r>
            <a:r>
              <a:rPr lang="ko-KR" altLang="en-US" dirty="0"/>
              <a:t>인접 위성과의 위상각을 조정</a:t>
            </a:r>
            <a:r>
              <a:rPr lang="en-US" altLang="ko-KR" dirty="0"/>
              <a:t> </a:t>
            </a:r>
          </a:p>
          <a:p>
            <a:pPr lvl="2">
              <a:defRPr/>
            </a:pPr>
            <a:r>
              <a:rPr lang="en-US" altLang="ko-KR" dirty="0"/>
              <a:t>Multi coplanar Satellite failure : </a:t>
            </a:r>
            <a:r>
              <a:rPr lang="ko-KR" altLang="en-US" dirty="0"/>
              <a:t>같은 평면의 모든 위성과의 위상각을 조정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Multi non-coplanar Satellite failure : </a:t>
            </a:r>
            <a:r>
              <a:rPr lang="ko-KR" altLang="en-US" dirty="0"/>
              <a:t>위성군의 모든 위성과의 위상각을 조정</a:t>
            </a:r>
            <a:endParaRPr lang="en-US" altLang="ko-KR" dirty="0"/>
          </a:p>
          <a:p>
            <a:pPr lvl="3">
              <a:defRPr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</p:spTree>
    <p:extLst>
      <p:ext uri="{BB962C8B-B14F-4D97-AF65-F5344CB8AC3E}">
        <p14:creationId xmlns:p14="http://schemas.microsoft.com/office/powerpoint/2010/main" val="3855162392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(1) Phase Uniformity Method</a:t>
            </a:r>
            <a:endParaRPr lang="en-US" altLang="ko-KR" dirty="0"/>
          </a:p>
          <a:p>
            <a:pPr marL="648000" lvl="3" indent="0">
              <a:buNone/>
              <a:defRPr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AFAE283-7CB8-B767-40A6-D9FD05D71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777" y="1645000"/>
            <a:ext cx="5810446" cy="40925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70391211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(2) Reconstruction Configuration Design Method</a:t>
            </a:r>
          </a:p>
          <a:p>
            <a:pPr lvl="1"/>
            <a:r>
              <a:rPr lang="ko-KR" altLang="en-US" dirty="0"/>
              <a:t>기존의 지표와 방법을 사용하여 수학적 모델을 설정하고 다양한 재구성 시나리오에 따라 최종 구성을 얻는 과정으로 시나리오 및 요구조건에 따라 재구성 전략이 결정</a:t>
            </a:r>
          </a:p>
          <a:p>
            <a:pPr lvl="1"/>
            <a:r>
              <a:rPr lang="en-US" altLang="ko-KR" dirty="0"/>
              <a:t>Reconstruction</a:t>
            </a:r>
            <a:r>
              <a:rPr lang="ko-KR" altLang="en-US" dirty="0"/>
              <a:t> </a:t>
            </a:r>
            <a:r>
              <a:rPr lang="en-US" altLang="ko-KR" dirty="0"/>
              <a:t>purpose : </a:t>
            </a:r>
            <a:r>
              <a:rPr lang="ko-KR" altLang="en-US" dirty="0"/>
              <a:t>재구성에 따라 예상되는 결과</a:t>
            </a:r>
            <a:r>
              <a:rPr lang="en-US" altLang="ko-KR" dirty="0"/>
              <a:t>. </a:t>
            </a:r>
            <a:r>
              <a:rPr lang="ko-KR" altLang="en-US" dirty="0"/>
              <a:t>기존 문헌에서 하나 이상의 커버리지 성능지수 또는 새로운 요구조건 등을 </a:t>
            </a:r>
            <a:r>
              <a:rPr lang="en-US" altLang="ko-KR" dirty="0"/>
              <a:t>purpose</a:t>
            </a:r>
            <a:r>
              <a:rPr lang="ko-KR" altLang="en-US" dirty="0"/>
              <a:t>로 사용함</a:t>
            </a:r>
            <a:endParaRPr lang="en-US" altLang="ko-KR" dirty="0"/>
          </a:p>
          <a:p>
            <a:pPr lvl="1"/>
            <a:r>
              <a:rPr lang="en-US" altLang="ko-KR" dirty="0"/>
              <a:t>Reconstruction</a:t>
            </a:r>
            <a:r>
              <a:rPr lang="ko-KR" altLang="en-US" dirty="0"/>
              <a:t> </a:t>
            </a:r>
            <a:r>
              <a:rPr lang="en-US" altLang="ko-KR" dirty="0"/>
              <a:t>method : </a:t>
            </a:r>
            <a:r>
              <a:rPr lang="ko-KR" altLang="en-US" dirty="0"/>
              <a:t>새로운 위성을 보완할 것인지</a:t>
            </a:r>
            <a:r>
              <a:rPr lang="en-US" altLang="ko-KR" dirty="0"/>
              <a:t>, </a:t>
            </a:r>
            <a:r>
              <a:rPr lang="ko-KR" altLang="en-US" dirty="0"/>
              <a:t>궤도 상의 위성을 어떻게 조종할 것인지</a:t>
            </a:r>
            <a:r>
              <a:rPr lang="en-US" altLang="ko-KR" dirty="0"/>
              <a:t>, </a:t>
            </a:r>
            <a:r>
              <a:rPr lang="ko-KR" altLang="en-US" dirty="0"/>
              <a:t>어떤 위성을 조정해야 하는지</a:t>
            </a:r>
            <a:r>
              <a:rPr lang="en-US" altLang="ko-KR" dirty="0"/>
              <a:t>, </a:t>
            </a:r>
            <a:r>
              <a:rPr lang="ko-KR" altLang="en-US" dirty="0"/>
              <a:t>어떤 변수를 변경해야 하는지 </a:t>
            </a:r>
            <a:r>
              <a:rPr lang="ko-KR" altLang="en-US" dirty="0" err="1"/>
              <a:t>등방법</a:t>
            </a:r>
            <a:r>
              <a:rPr lang="ko-KR" altLang="en-US" dirty="0"/>
              <a:t> 및 수단</a:t>
            </a:r>
            <a:endParaRPr lang="en-US" altLang="ko-KR" dirty="0"/>
          </a:p>
          <a:p>
            <a:pPr lvl="1"/>
            <a:r>
              <a:rPr lang="en-US" altLang="ko-KR" dirty="0"/>
              <a:t>Reconstruction</a:t>
            </a:r>
            <a:r>
              <a:rPr lang="ko-KR" altLang="en-US" dirty="0"/>
              <a:t> </a:t>
            </a:r>
            <a:r>
              <a:rPr lang="en-US" altLang="ko-KR" dirty="0"/>
              <a:t>constraint : </a:t>
            </a:r>
            <a:r>
              <a:rPr lang="ko-KR" altLang="en-US" dirty="0"/>
              <a:t>재구성 시간 및 에너지 비용 등의 제한조건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lvl="2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</p:spTree>
    <p:extLst>
      <p:ext uri="{BB962C8B-B14F-4D97-AF65-F5344CB8AC3E}">
        <p14:creationId xmlns:p14="http://schemas.microsoft.com/office/powerpoint/2010/main" val="1711756003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(2) Reconstruction Configuration Design Method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lvl="2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5E08A4F-F07A-F431-C83A-9E867576C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066" y="1614146"/>
            <a:ext cx="4951867" cy="41850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35084601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Comparison of the two </a:t>
            </a:r>
            <a:r>
              <a:rPr lang="en-US" altLang="ko-KR" dirty="0"/>
              <a:t>Methods</a:t>
            </a:r>
          </a:p>
          <a:p>
            <a:pPr lvl="1"/>
            <a:r>
              <a:rPr lang="ko-KR" altLang="en-US" dirty="0"/>
              <a:t>기존의 지표와 방법을 사용하여 수학적 모델을 설정하고 다양한 재구성 시나리오에 따라 최종 구성을 얻는 과정</a:t>
            </a:r>
          </a:p>
          <a:p>
            <a:pPr lvl="1"/>
            <a:endParaRPr lang="en-US" altLang="ko-KR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lvl="2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559C2EB-1ADE-52E4-EF59-6DC2A3A36043}"/>
              </a:ext>
            </a:extLst>
          </p:cNvPr>
          <p:cNvGraphicFramePr>
            <a:graphicFrameLocks noGrp="1"/>
          </p:cNvGraphicFramePr>
          <p:nvPr/>
        </p:nvGraphicFramePr>
        <p:xfrm>
          <a:off x="625407" y="2096151"/>
          <a:ext cx="8261511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0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7835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Method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Phase uniformity method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Reconstruction Configuration 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design method(Based on Optimization Algorithm)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Explain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내 위성의 위상각을 조정하여 성능을 향상시키기 위해 위성의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failure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를 발생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1200" dirty="0" err="1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고장난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위성 및 그 위성의 궤도에 따라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single, multi coplanar, multi non-coplanar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로 분류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재구성 설계의 수학적 모델을 설정하고 기존의 최적화 알고리즘을 사용하여 모델의 최적 해를 얻음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Advantage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에너지 절약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구현의 단순성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간단한 과정이 가능하고 기존 구성에 대한 손상이 거의 없으며 복구 능력이 강력함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범용성이 좋음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재구성에 대한 특별한 요구사항이 없음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최종 구성의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최적성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보장 가능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Disadvantage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failure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재구성에만 적용되며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coplanar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의 다중 위성에만 적용됨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최종 구성의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최적성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보장 불가능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수학적 모델 및 구체적인 재구성 지표가 부족하며 그 과정에 복잡하고 실현하기 어려움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233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6289395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재구성의 제한조건</a:t>
            </a:r>
            <a:endParaRPr lang="en-US" altLang="ko-KR" dirty="0"/>
          </a:p>
          <a:p>
            <a:pPr lvl="1"/>
            <a:r>
              <a:rPr lang="ko-KR" altLang="en-US" sz="1800" dirty="0"/>
              <a:t>재구성에 따른 </a:t>
            </a:r>
            <a:r>
              <a:rPr lang="ko-KR" altLang="en-US" sz="1800" dirty="0" err="1"/>
              <a:t>위성군</a:t>
            </a:r>
            <a:r>
              <a:rPr lang="ko-KR" altLang="en-US" sz="1800" dirty="0"/>
              <a:t> 성능저하</a:t>
            </a:r>
            <a:endParaRPr lang="en-US" altLang="ko-KR" sz="1800" dirty="0"/>
          </a:p>
          <a:p>
            <a:pPr lvl="1"/>
            <a:r>
              <a:rPr lang="ko-KR" altLang="en-US" dirty="0"/>
              <a:t>운용 위성의 수</a:t>
            </a:r>
            <a:endParaRPr lang="en-US" altLang="ko-KR" dirty="0"/>
          </a:p>
          <a:p>
            <a:pPr lvl="1"/>
            <a:r>
              <a:rPr lang="ko-KR" altLang="en-US" dirty="0"/>
              <a:t>재구성의 복구 능력</a:t>
            </a:r>
            <a:endParaRPr lang="en-US" altLang="ko-KR" dirty="0"/>
          </a:p>
          <a:p>
            <a:pPr lvl="1"/>
            <a:r>
              <a:rPr lang="ko-KR" altLang="en-US" dirty="0"/>
              <a:t>재구성 에너지의 분배</a:t>
            </a:r>
            <a:endParaRPr lang="en-US" altLang="ko-KR" dirty="0"/>
          </a:p>
          <a:p>
            <a:pPr lvl="1"/>
            <a:r>
              <a:rPr lang="ko-KR" altLang="en-US" dirty="0"/>
              <a:t>재구성 비용의 손실</a:t>
            </a:r>
            <a:endParaRPr lang="en-US" altLang="ko-KR" dirty="0"/>
          </a:p>
          <a:p>
            <a:pPr marL="216000" lvl="1" indent="0">
              <a:buNone/>
            </a:pPr>
            <a:endParaRPr lang="en-US" altLang="ko-KR" b="1" dirty="0"/>
          </a:p>
          <a:p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재구성의 목적함수</a:t>
            </a:r>
            <a:endParaRPr lang="en-US" altLang="ko-KR" dirty="0"/>
          </a:p>
          <a:p>
            <a:pPr lvl="1"/>
            <a:r>
              <a:rPr lang="ko-KR" altLang="en-US" sz="1800" dirty="0"/>
              <a:t>일반적으로 목적함수는 재방문 시간</a:t>
            </a:r>
            <a:r>
              <a:rPr lang="en-US" altLang="ko-KR" sz="1800" dirty="0"/>
              <a:t>, </a:t>
            </a:r>
            <a:r>
              <a:rPr lang="ko-KR" altLang="en-US" sz="1800" dirty="0"/>
              <a:t>응답 시간</a:t>
            </a:r>
            <a:r>
              <a:rPr lang="en-US" altLang="ko-KR" sz="1800" dirty="0"/>
              <a:t>, </a:t>
            </a:r>
            <a:r>
              <a:rPr lang="ko-KR" altLang="en-US" sz="1800" dirty="0"/>
              <a:t>커버리지 비율 등의 </a:t>
            </a:r>
            <a:r>
              <a:rPr lang="ko-KR" altLang="en-US" sz="1800" dirty="0" err="1"/>
              <a:t>위성군</a:t>
            </a:r>
            <a:r>
              <a:rPr lang="ko-KR" altLang="en-US" sz="1800" dirty="0"/>
              <a:t> 성능 지수로 구성됨</a:t>
            </a:r>
            <a:endParaRPr lang="en-US" altLang="ko-KR" sz="1800" dirty="0"/>
          </a:p>
          <a:p>
            <a:pPr lvl="1"/>
            <a:r>
              <a:rPr lang="ko-KR" altLang="en-US" dirty="0"/>
              <a:t>목적함수의 정해진 패턴 및 공식은 없으며 위성군의 유형에 따라 성능지수의 중요도 또한 다름</a:t>
            </a:r>
            <a:endParaRPr lang="en-US" altLang="ko-KR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</p:spTree>
    <p:extLst>
      <p:ext uri="{BB962C8B-B14F-4D97-AF65-F5344CB8AC3E}">
        <p14:creationId xmlns:p14="http://schemas.microsoft.com/office/powerpoint/2010/main" val="3177898015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1"/>
            <a:r>
              <a:rPr lang="ko-KR" altLang="en-US" sz="1800" dirty="0"/>
              <a:t>이종 위성군의 재구성 설계에 대한 연구는 복잡하지만 변경 가능한 지상 임무를 처리하는 능력을 향상시킬 수 있으며</a:t>
            </a:r>
            <a:r>
              <a:rPr lang="en-US" altLang="ko-KR" sz="1800" dirty="0"/>
              <a:t>,</a:t>
            </a:r>
            <a:r>
              <a:rPr lang="ko-KR" altLang="en-US" sz="1800" dirty="0"/>
              <a:t> 기존 우주 임무의 안정성</a:t>
            </a:r>
            <a:r>
              <a:rPr lang="en-US" altLang="ko-KR" sz="1800" dirty="0"/>
              <a:t>, </a:t>
            </a:r>
            <a:r>
              <a:rPr lang="ko-KR" altLang="en-US" sz="1800" dirty="0"/>
              <a:t>신뢰성 및 유연성을 키울 수 있고 전략적 중요성과 응용 가치가 높음</a:t>
            </a:r>
          </a:p>
          <a:p>
            <a:pPr lvl="1"/>
            <a:r>
              <a:rPr lang="ko-KR" altLang="en-US" sz="1800" dirty="0"/>
              <a:t>하지만 재구성 설계에 대한 기존의 모델 및 지표가 없는 것이 한계</a:t>
            </a:r>
            <a:endParaRPr lang="en-US" altLang="ko-KR" sz="1800" dirty="0"/>
          </a:p>
          <a:p>
            <a:pPr lvl="1">
              <a:lnSpc>
                <a:spcPct val="110000"/>
              </a:lnSpc>
            </a:pPr>
            <a:r>
              <a:rPr lang="ko-KR" altLang="en-US" sz="1800" dirty="0"/>
              <a:t>본 논문에 소개된 </a:t>
            </a:r>
            <a:r>
              <a:rPr lang="en-US" altLang="ko-KR" sz="1800" dirty="0"/>
              <a:t>Method</a:t>
            </a:r>
            <a:r>
              <a:rPr lang="ko-KR" altLang="en-US" sz="1800" dirty="0"/>
              <a:t>에 따라 다양한 변수를 조정해가며 여러 조합을 구성하고 가장 최적화된 경우를 찾아보는 것으로 </a:t>
            </a:r>
            <a:r>
              <a:rPr lang="ko-KR" altLang="en-US" dirty="0"/>
              <a:t>위의</a:t>
            </a:r>
            <a:r>
              <a:rPr lang="ko-KR" altLang="en-US" sz="1800" dirty="0"/>
              <a:t> 한계를 극복할 필요가 있음 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논문 내용 중 아쉬운 점</a:t>
            </a:r>
            <a:endParaRPr lang="en-US" altLang="ko-KR" dirty="0"/>
          </a:p>
          <a:p>
            <a:pPr lvl="1"/>
            <a:r>
              <a:rPr lang="ko-KR" altLang="en-US" dirty="0"/>
              <a:t>방법론적인 연구만을 다룬 논문으로</a:t>
            </a:r>
            <a:r>
              <a:rPr lang="en-US" altLang="ko-KR" dirty="0"/>
              <a:t>, </a:t>
            </a:r>
            <a:r>
              <a:rPr lang="ko-KR" altLang="en-US" dirty="0"/>
              <a:t>자세한 설계 방법 및 시뮬레이션의 결과 등 구체적인 내용이 포함되어 있지 않음</a:t>
            </a:r>
            <a:endParaRPr lang="en-US" altLang="ko-KR" dirty="0"/>
          </a:p>
          <a:p>
            <a:pPr lvl="1"/>
            <a:r>
              <a:rPr lang="en-US" altLang="ko-KR" dirty="0"/>
              <a:t>Satellite failure reconstruction</a:t>
            </a:r>
            <a:r>
              <a:rPr lang="ko-KR" altLang="en-US" dirty="0"/>
              <a:t>과 관련한 그림 및 그래프 등의 시각자료가 부족하여 해당 전략에 대해 직관적으로 이해하기엔 다소 어려움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본 논문 중 연구에 적용하면 좋을 내용</a:t>
            </a:r>
            <a:endParaRPr lang="en-US" altLang="ko-KR" dirty="0"/>
          </a:p>
          <a:p>
            <a:pPr lvl="1"/>
            <a:r>
              <a:rPr lang="ko-KR" altLang="en-US" dirty="0"/>
              <a:t>두 가지 </a:t>
            </a:r>
            <a:r>
              <a:rPr lang="en-US" altLang="ko-KR" dirty="0"/>
              <a:t>Method</a:t>
            </a:r>
            <a:r>
              <a:rPr lang="ko-KR" altLang="en-US" dirty="0"/>
              <a:t>의 장점만을 살려 새로운 위성군을 구성할 수 있는 지에 대한 연구</a:t>
            </a:r>
            <a:endParaRPr lang="en-US" altLang="ko-KR" dirty="0"/>
          </a:p>
          <a:p>
            <a:pPr lvl="1"/>
            <a:r>
              <a:rPr lang="ko-KR" altLang="en-US" dirty="0"/>
              <a:t>또는 각 </a:t>
            </a:r>
            <a:r>
              <a:rPr lang="en-US" altLang="ko-KR" dirty="0"/>
              <a:t>Method</a:t>
            </a:r>
            <a:r>
              <a:rPr lang="ko-KR" altLang="en-US" dirty="0"/>
              <a:t>의 단점을 극복하여 이종위성군 성능 향상에 도움이 될 수 있는 방법 조사  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244854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</p:spTree>
    <p:extLst>
      <p:ext uri="{BB962C8B-B14F-4D97-AF65-F5344CB8AC3E}">
        <p14:creationId xmlns:p14="http://schemas.microsoft.com/office/powerpoint/2010/main" val="3386506103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추가 참고문헌 </a:t>
            </a:r>
            <a:endParaRPr lang="en-US" altLang="ko-KR" dirty="0"/>
          </a:p>
          <a:p>
            <a:pPr lvl="1"/>
            <a:r>
              <a:rPr lang="en-US" altLang="ko-KR" dirty="0"/>
              <a:t>The Research on Global Navigation Constellation Reconfiguration Based on Genetic Algorithm</a:t>
            </a:r>
            <a:r>
              <a:rPr lang="en-US" altLang="ko-K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2008, </a:t>
            </a:r>
            <a:r>
              <a:rPr lang="en-US" altLang="ko-KR" dirty="0">
                <a:solidFill>
                  <a:srgbClr val="000000"/>
                </a:solidFill>
                <a:latin typeface="Times New Roman" panose="02020603050405020304" pitchFamily="18" charset="0"/>
              </a:rPr>
              <a:t>Hu</a:t>
            </a:r>
            <a:r>
              <a:rPr lang="ko-KR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Times New Roman" panose="02020603050405020304" pitchFamily="18" charset="0"/>
              </a:rPr>
              <a:t>Wei and Wang Jie</a:t>
            </a:r>
            <a:endParaRPr lang="ko-KR" altLang="en-US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8076D5-7504-BD91-219E-17E1752466B5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</p:spTree>
    <p:extLst>
      <p:ext uri="{BB962C8B-B14F-4D97-AF65-F5344CB8AC3E}">
        <p14:creationId xmlns:p14="http://schemas.microsoft.com/office/powerpoint/2010/main" val="616687914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(3) The UrtheCast SAR-XL Multi-Band, Multi-Aperture, 2017, Peter Fox and Keith Beckett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97866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논문 주요내용 </a:t>
            </a:r>
          </a:p>
          <a:p>
            <a:pPr lvl="1"/>
            <a:r>
              <a:rPr lang="ko-KR" altLang="en-US" dirty="0"/>
              <a:t>광학위성과 </a:t>
            </a:r>
            <a:r>
              <a:rPr lang="en-US" altLang="ko-KR" dirty="0"/>
              <a:t>SAR</a:t>
            </a:r>
            <a:r>
              <a:rPr lang="ko-KR" altLang="en-US" dirty="0"/>
              <a:t> 위성을 혼합하여 만든 새로운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 err="1"/>
              <a:t>OptiSAR</a:t>
            </a:r>
            <a:r>
              <a:rPr lang="ko-KR" altLang="en-US" dirty="0"/>
              <a:t>의 궤도 설계 및 운용개념에 대해 소개하고 </a:t>
            </a:r>
            <a:r>
              <a:rPr lang="en-US" altLang="ko-KR" dirty="0"/>
              <a:t>SAR </a:t>
            </a:r>
            <a:r>
              <a:rPr lang="ko-KR" altLang="en-US" dirty="0"/>
              <a:t>위성에 포함된 </a:t>
            </a:r>
            <a:r>
              <a:rPr lang="en-US" altLang="ko-KR" dirty="0"/>
              <a:t>dual band</a:t>
            </a:r>
            <a:r>
              <a:rPr lang="ko-KR" altLang="en-US" dirty="0"/>
              <a:t>의 상세한 내용과 그에 따른 기술적 효과를 기술하였다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ko-KR" altLang="en-US" dirty="0"/>
              <a:t>서로 다른 기능을 하는 두 종류의 위성</a:t>
            </a:r>
            <a:r>
              <a:rPr lang="en-US" altLang="ko-KR" dirty="0"/>
              <a:t>(</a:t>
            </a:r>
            <a:r>
              <a:rPr lang="ko-KR" altLang="en-US" dirty="0"/>
              <a:t>광학위성과 </a:t>
            </a:r>
            <a:r>
              <a:rPr lang="en-US" altLang="ko-KR" dirty="0"/>
              <a:t>SAR</a:t>
            </a:r>
            <a:r>
              <a:rPr lang="ko-KR" altLang="en-US" dirty="0"/>
              <a:t>위성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en-US" altLang="ko-KR" dirty="0"/>
              <a:t>Cross-Cueing</a:t>
            </a:r>
            <a:r>
              <a:rPr lang="ko-KR" altLang="en-US" dirty="0"/>
              <a:t>하여 운용함</a:t>
            </a:r>
            <a:r>
              <a:rPr lang="en-US" altLang="ko-KR" dirty="0"/>
              <a:t>. </a:t>
            </a:r>
            <a:r>
              <a:rPr lang="ko-KR" altLang="en-US" dirty="0"/>
              <a:t>각각의</a:t>
            </a:r>
            <a:r>
              <a:rPr lang="en-US" altLang="ko-KR" dirty="0"/>
              <a:t> </a:t>
            </a:r>
            <a:r>
              <a:rPr lang="ko-KR" altLang="en-US" dirty="0"/>
              <a:t>기능과 장점만을 이용하여 최적화된 동선</a:t>
            </a:r>
            <a:r>
              <a:rPr lang="en-US" altLang="ko-KR" dirty="0"/>
              <a:t>(Schedule)</a:t>
            </a:r>
            <a:r>
              <a:rPr lang="ko-KR" altLang="en-US" dirty="0"/>
              <a:t> 파악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FAB1EB-7860-3BF2-0051-B210F57AA639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 and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2833343792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OptiSAR</a:t>
            </a:r>
            <a:r>
              <a:rPr lang="en-US" altLang="ko-KR" dirty="0"/>
              <a:t> Constellation</a:t>
            </a:r>
          </a:p>
          <a:p>
            <a:pPr lvl="1"/>
            <a:r>
              <a:rPr lang="en-US" altLang="ko-KR" dirty="0"/>
              <a:t>SAR</a:t>
            </a:r>
            <a:r>
              <a:rPr lang="ko-KR" altLang="en-US" dirty="0"/>
              <a:t>와 광학 위성이 각각 </a:t>
            </a:r>
            <a:r>
              <a:rPr lang="en-US" altLang="ko-KR" dirty="0"/>
              <a:t>1</a:t>
            </a:r>
            <a:r>
              <a:rPr lang="ko-KR" altLang="en-US" dirty="0"/>
              <a:t>대 씩 짝을 지어 </a:t>
            </a:r>
            <a:r>
              <a:rPr lang="en-US" altLang="ko-KR" dirty="0"/>
              <a:t>4</a:t>
            </a:r>
            <a:r>
              <a:rPr lang="ko-KR" altLang="en-US" dirty="0"/>
              <a:t> 쌍으로</a:t>
            </a:r>
            <a:r>
              <a:rPr lang="en-US" altLang="ko-KR" dirty="0"/>
              <a:t>, </a:t>
            </a:r>
            <a:r>
              <a:rPr lang="ko-KR" altLang="en-US" dirty="0"/>
              <a:t>총 </a:t>
            </a:r>
            <a:r>
              <a:rPr lang="en-US" altLang="ko-KR" dirty="0"/>
              <a:t>8</a:t>
            </a:r>
            <a:r>
              <a:rPr lang="ko-KR" altLang="en-US" dirty="0"/>
              <a:t>대로 구성됨</a:t>
            </a:r>
            <a:endParaRPr lang="en-US" altLang="ko-KR" dirty="0"/>
          </a:p>
          <a:p>
            <a:pPr lvl="1"/>
            <a:r>
              <a:rPr lang="ko-KR" altLang="en-US" dirty="0"/>
              <a:t>총 </a:t>
            </a:r>
            <a:r>
              <a:rPr lang="en-US" altLang="ko-KR" dirty="0"/>
              <a:t>8</a:t>
            </a:r>
            <a:r>
              <a:rPr lang="ko-KR" altLang="en-US" dirty="0"/>
              <a:t>대의 위성이 두 개의 궤도 평면에</a:t>
            </a:r>
            <a:r>
              <a:rPr lang="en-US" altLang="ko-KR" dirty="0"/>
              <a:t> </a:t>
            </a:r>
            <a:r>
              <a:rPr lang="ko-KR" altLang="en-US" dirty="0"/>
              <a:t>배치되며</a:t>
            </a:r>
            <a:endParaRPr lang="en-US" altLang="ko-KR" dirty="0"/>
          </a:p>
          <a:p>
            <a:pPr lvl="1"/>
            <a:r>
              <a:rPr lang="ko-KR" altLang="en-US" dirty="0"/>
              <a:t>네 쌍의</a:t>
            </a:r>
            <a:r>
              <a:rPr lang="en-US" altLang="ko-KR" dirty="0"/>
              <a:t> </a:t>
            </a:r>
            <a:r>
              <a:rPr lang="ko-KR" altLang="en-US" dirty="0"/>
              <a:t>위성들은 궤도면 주위에 등간격으로 배치</a:t>
            </a:r>
            <a:endParaRPr lang="en-US" altLang="ko-KR" dirty="0"/>
          </a:p>
          <a:p>
            <a:pPr lvl="1"/>
            <a:r>
              <a:rPr lang="en-US" altLang="ko-KR" dirty="0"/>
              <a:t>SAR-XL </a:t>
            </a:r>
            <a:r>
              <a:rPr lang="ko-KR" altLang="en-US" dirty="0"/>
              <a:t>기술을 사용하는 </a:t>
            </a:r>
            <a:r>
              <a:rPr lang="en-US" altLang="ko-KR" dirty="0"/>
              <a:t>SAR</a:t>
            </a:r>
            <a:r>
              <a:rPr lang="ko-KR" altLang="en-US" dirty="0"/>
              <a:t>위성과 그 후 </a:t>
            </a:r>
            <a:r>
              <a:rPr lang="en-US" altLang="ko-KR" dirty="0"/>
              <a:t>2</a:t>
            </a:r>
            <a:r>
              <a:rPr lang="ko-KR" altLang="en-US" dirty="0"/>
              <a:t>분 뒤에 따라오는 광학 위성으로 구성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 and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295534C-CAEB-12D0-D171-DEB9EE1E7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096" y="3036007"/>
            <a:ext cx="4137807" cy="28067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53467669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Two Orbit(450km altitude)</a:t>
            </a:r>
          </a:p>
          <a:p>
            <a:pPr lvl="1"/>
            <a:r>
              <a:rPr lang="en-US" altLang="ko-KR" dirty="0"/>
              <a:t>SSO(Sun-Synchronous Orbit)</a:t>
            </a:r>
          </a:p>
          <a:p>
            <a:pPr lvl="2"/>
            <a:r>
              <a:rPr lang="en-US" altLang="ko-KR" dirty="0"/>
              <a:t>LTAN 10:30</a:t>
            </a:r>
          </a:p>
          <a:p>
            <a:pPr lvl="2"/>
            <a:r>
              <a:rPr lang="ko-KR" altLang="en-US" dirty="0"/>
              <a:t>지구</a:t>
            </a:r>
            <a:r>
              <a:rPr lang="en-US" altLang="ko-KR" dirty="0"/>
              <a:t> </a:t>
            </a:r>
            <a:r>
              <a:rPr lang="ko-KR" altLang="en-US" dirty="0"/>
              <a:t>관측 임무에 사용되는 궤도 </a:t>
            </a:r>
            <a:endParaRPr lang="en-US" altLang="ko-KR" dirty="0"/>
          </a:p>
          <a:p>
            <a:pPr lvl="1"/>
            <a:r>
              <a:rPr lang="en-US" altLang="ko-KR" dirty="0"/>
              <a:t>MIO(Mid-Inclination Orbit)</a:t>
            </a:r>
          </a:p>
          <a:p>
            <a:pPr lvl="2"/>
            <a:r>
              <a:rPr lang="ko-KR" altLang="en-US" dirty="0"/>
              <a:t>최대 </a:t>
            </a:r>
            <a:r>
              <a:rPr lang="en-US" altLang="ko-KR" dirty="0"/>
              <a:t>45deg</a:t>
            </a:r>
            <a:r>
              <a:rPr lang="ko-KR" altLang="en-US" dirty="0"/>
              <a:t>의 경사를 가짐</a:t>
            </a:r>
            <a:endParaRPr lang="en-US" altLang="ko-KR" dirty="0"/>
          </a:p>
          <a:p>
            <a:pPr lvl="2"/>
            <a:r>
              <a:rPr lang="ko-KR" altLang="en-US" dirty="0"/>
              <a:t>중위도 지역에서 높은 재방문을 제공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 and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DD4C399-0A8B-F019-725F-4C9883C4A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790" y="3308889"/>
            <a:ext cx="6514420" cy="25338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66052904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Composition  of Constellation</a:t>
            </a:r>
          </a:p>
          <a:p>
            <a:pPr lvl="1"/>
            <a:r>
              <a:rPr lang="en-US" altLang="ko-KR" dirty="0"/>
              <a:t>SAR</a:t>
            </a:r>
          </a:p>
          <a:p>
            <a:pPr lvl="2"/>
            <a:r>
              <a:rPr lang="en-US" altLang="ko-KR" dirty="0"/>
              <a:t>UrtheCast’s SAR-XL </a:t>
            </a:r>
            <a:r>
              <a:rPr lang="ko-KR" altLang="en-US" dirty="0"/>
              <a:t>기술을 이용한 </a:t>
            </a:r>
            <a:r>
              <a:rPr lang="ko-KR" altLang="en-US" dirty="0" err="1"/>
              <a:t>듀얼밴드</a:t>
            </a:r>
            <a:r>
              <a:rPr lang="ko-KR" altLang="en-US" dirty="0"/>
              <a:t> 사용</a:t>
            </a:r>
            <a:r>
              <a:rPr lang="en-US" altLang="ko-KR" dirty="0"/>
              <a:t>(6</a:t>
            </a:r>
            <a:r>
              <a:rPr lang="ko-KR" altLang="en-US" dirty="0"/>
              <a:t>개의 독립 </a:t>
            </a:r>
            <a:r>
              <a:rPr lang="en-US" altLang="ko-KR" dirty="0"/>
              <a:t>aperture</a:t>
            </a:r>
            <a:r>
              <a:rPr lang="ko-KR" altLang="en-US" dirty="0"/>
              <a:t>로 구성</a:t>
            </a:r>
            <a:r>
              <a:rPr lang="en-US" altLang="ko-KR" dirty="0"/>
              <a:t>)</a:t>
            </a:r>
          </a:p>
          <a:p>
            <a:pPr lvl="3"/>
            <a:r>
              <a:rPr lang="en-US" altLang="ko-KR" dirty="0"/>
              <a:t>X-band(1m class)</a:t>
            </a:r>
          </a:p>
          <a:p>
            <a:pPr lvl="3"/>
            <a:r>
              <a:rPr lang="en-US" altLang="ko-KR" dirty="0"/>
              <a:t>L-band(5m class)</a:t>
            </a:r>
          </a:p>
          <a:p>
            <a:pPr lvl="1"/>
            <a:r>
              <a:rPr lang="ko-KR" altLang="en-US" dirty="0"/>
              <a:t>광학 위성</a:t>
            </a:r>
            <a:endParaRPr lang="en-US" altLang="ko-KR" dirty="0"/>
          </a:p>
          <a:p>
            <a:pPr lvl="2"/>
            <a:r>
              <a:rPr lang="ko-KR" altLang="en-US" dirty="0"/>
              <a:t>고해상도</a:t>
            </a:r>
            <a:r>
              <a:rPr lang="en-US" altLang="ko-KR" dirty="0"/>
              <a:t>(0.5m GSD)</a:t>
            </a:r>
            <a:r>
              <a:rPr lang="ko-KR" altLang="en-US" dirty="0"/>
              <a:t>의 </a:t>
            </a:r>
            <a:r>
              <a:rPr lang="ko-KR" altLang="en-US" dirty="0" err="1"/>
              <a:t>듀얼모드</a:t>
            </a:r>
            <a:r>
              <a:rPr lang="ko-KR" altLang="en-US" dirty="0"/>
              <a:t> 광학 카메라 사용</a:t>
            </a:r>
            <a:endParaRPr lang="en-US" altLang="ko-KR" dirty="0"/>
          </a:p>
          <a:p>
            <a:pPr lvl="3"/>
            <a:r>
              <a:rPr lang="en-US" altLang="ko-KR" dirty="0"/>
              <a:t>Multi-spectral </a:t>
            </a:r>
            <a:r>
              <a:rPr lang="en-US" altLang="ko-KR" dirty="0" err="1"/>
              <a:t>pushbroom</a:t>
            </a:r>
            <a:endParaRPr lang="en-US" altLang="ko-KR" dirty="0"/>
          </a:p>
          <a:p>
            <a:pPr lvl="3"/>
            <a:r>
              <a:rPr lang="en-US" altLang="ko-KR" dirty="0"/>
              <a:t>RGB color video</a:t>
            </a:r>
          </a:p>
          <a:p>
            <a:pPr lvl="3"/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 and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1579561646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Cross-cueing</a:t>
            </a:r>
          </a:p>
          <a:p>
            <a:pPr lvl="1"/>
            <a:r>
              <a:rPr lang="en-US" altLang="ko-KR" dirty="0"/>
              <a:t>SAR</a:t>
            </a:r>
          </a:p>
          <a:p>
            <a:pPr lvl="2"/>
            <a:r>
              <a:rPr lang="ko-KR" altLang="en-US" dirty="0"/>
              <a:t>광범위한 감시 모드를 가진 후 </a:t>
            </a:r>
            <a:r>
              <a:rPr lang="en-US" altLang="ko-KR" dirty="0"/>
              <a:t>Onboard Process</a:t>
            </a:r>
            <a:r>
              <a:rPr lang="ko-KR" altLang="en-US" dirty="0"/>
              <a:t>로 관심 대상을 감지하고 분류함</a:t>
            </a:r>
            <a:endParaRPr lang="en-US" altLang="ko-KR" dirty="0"/>
          </a:p>
          <a:p>
            <a:pPr lvl="1"/>
            <a:r>
              <a:rPr lang="ko-KR" altLang="en-US" dirty="0"/>
              <a:t>광학 위성</a:t>
            </a:r>
            <a:endParaRPr lang="en-US" altLang="ko-KR" dirty="0"/>
          </a:p>
          <a:p>
            <a:pPr lvl="2"/>
            <a:r>
              <a:rPr lang="ko-KR" altLang="en-US" dirty="0"/>
              <a:t>관심 대상의 고해상도 이미지 또는 영상을 촬영하도록 지시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 and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03F4872-83C9-F9E7-DEBC-257B09351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243" y="2721515"/>
            <a:ext cx="5021513" cy="31211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78369882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Cross-cueing</a:t>
            </a:r>
          </a:p>
          <a:p>
            <a:pPr lvl="1"/>
            <a:r>
              <a:rPr lang="en-US" altLang="ko-KR" dirty="0"/>
              <a:t>1. </a:t>
            </a:r>
            <a:r>
              <a:rPr lang="ko-KR" altLang="en-US" dirty="0"/>
              <a:t>지상국에서 </a:t>
            </a:r>
            <a:r>
              <a:rPr lang="en-US" altLang="ko-KR" dirty="0"/>
              <a:t>SAR</a:t>
            </a:r>
            <a:r>
              <a:rPr lang="ko-KR" altLang="en-US" dirty="0"/>
              <a:t>위성에게 최적 구름 상태의 사진 촬영 및 이미지 전송 지시</a:t>
            </a:r>
            <a:endParaRPr lang="en-US" altLang="ko-KR" dirty="0"/>
          </a:p>
          <a:p>
            <a:pPr lvl="1"/>
            <a:r>
              <a:rPr lang="en-US" altLang="ko-KR" dirty="0"/>
              <a:t>2. </a:t>
            </a:r>
            <a:r>
              <a:rPr lang="ko-KR" altLang="en-US" dirty="0"/>
              <a:t>구름 카메라 및 </a:t>
            </a:r>
            <a:r>
              <a:rPr lang="en-US" altLang="ko-KR" dirty="0"/>
              <a:t>on-board processor</a:t>
            </a:r>
            <a:r>
              <a:rPr lang="ko-KR" altLang="en-US" dirty="0"/>
              <a:t>에서 구름 사진을 </a:t>
            </a:r>
            <a:r>
              <a:rPr lang="en-US" altLang="ko-KR" dirty="0"/>
              <a:t>mapping</a:t>
            </a:r>
          </a:p>
          <a:p>
            <a:pPr lvl="1"/>
            <a:r>
              <a:rPr lang="en-US" altLang="ko-KR" dirty="0"/>
              <a:t>3. SAR</a:t>
            </a:r>
            <a:r>
              <a:rPr lang="ko-KR" altLang="en-US" dirty="0"/>
              <a:t>가 관심지역의 넓은 부분을 스캔</a:t>
            </a:r>
            <a:endParaRPr lang="en-US" altLang="ko-KR" dirty="0"/>
          </a:p>
          <a:p>
            <a:pPr lvl="1"/>
            <a:r>
              <a:rPr lang="en-US" altLang="ko-KR" dirty="0"/>
              <a:t>4. AIS </a:t>
            </a:r>
            <a:r>
              <a:rPr lang="ko-KR" altLang="en-US" dirty="0"/>
              <a:t>수신기에서 선박으로 부터 받은 </a:t>
            </a:r>
            <a:r>
              <a:rPr lang="en-US" altLang="ko-KR" dirty="0"/>
              <a:t>AIS </a:t>
            </a:r>
            <a:r>
              <a:rPr lang="ko-KR" altLang="en-US" dirty="0"/>
              <a:t>신호를 해독</a:t>
            </a:r>
            <a:endParaRPr lang="en-US" altLang="ko-KR" dirty="0"/>
          </a:p>
          <a:p>
            <a:pPr lvl="1"/>
            <a:r>
              <a:rPr lang="en-US" altLang="ko-KR" dirty="0"/>
              <a:t>5. On-board processor</a:t>
            </a:r>
            <a:r>
              <a:rPr lang="ko-KR" altLang="en-US" dirty="0"/>
              <a:t>에서 </a:t>
            </a:r>
            <a:r>
              <a:rPr lang="en-US" altLang="ko-KR" dirty="0"/>
              <a:t>SAR</a:t>
            </a:r>
            <a:r>
              <a:rPr lang="ko-KR" altLang="en-US" dirty="0"/>
              <a:t>의 이미지를 형상화</a:t>
            </a:r>
            <a:endParaRPr lang="en-US" altLang="ko-KR" dirty="0"/>
          </a:p>
          <a:p>
            <a:pPr lvl="1"/>
            <a:r>
              <a:rPr lang="en-US" altLang="ko-KR" dirty="0"/>
              <a:t>6. On-board processor</a:t>
            </a:r>
            <a:r>
              <a:rPr lang="ko-KR" altLang="en-US" dirty="0"/>
              <a:t>에서 형상된 이미지 및 </a:t>
            </a:r>
            <a:r>
              <a:rPr lang="en-US" altLang="ko-KR" dirty="0"/>
              <a:t>AIS </a:t>
            </a:r>
            <a:r>
              <a:rPr lang="ko-KR" altLang="en-US" dirty="0"/>
              <a:t>신호에 기반한 잠재적 지역을 선택</a:t>
            </a:r>
            <a:endParaRPr lang="en-US" altLang="ko-KR" dirty="0"/>
          </a:p>
          <a:p>
            <a:pPr lvl="1"/>
            <a:r>
              <a:rPr lang="en-US" altLang="ko-KR" dirty="0"/>
              <a:t>7. </a:t>
            </a:r>
            <a:r>
              <a:rPr lang="ko-KR" altLang="en-US" dirty="0"/>
              <a:t>앞서가는 위성이 뒤따라오는 위성에게 </a:t>
            </a:r>
            <a:r>
              <a:rPr lang="en-US" altLang="ko-KR" dirty="0"/>
              <a:t>cloud mask</a:t>
            </a:r>
            <a:r>
              <a:rPr lang="ko-KR" altLang="en-US" dirty="0"/>
              <a:t>와 잠재적 관심지역을 전송</a:t>
            </a:r>
            <a:endParaRPr lang="en-US" altLang="ko-KR" dirty="0"/>
          </a:p>
          <a:p>
            <a:pPr lvl="1"/>
            <a:r>
              <a:rPr lang="en-US" altLang="ko-KR" dirty="0"/>
              <a:t>8. On-board processor</a:t>
            </a:r>
            <a:r>
              <a:rPr lang="ko-KR" altLang="en-US" dirty="0"/>
              <a:t>에서 최적의 </a:t>
            </a:r>
            <a:r>
              <a:rPr lang="en-US" altLang="ko-KR" dirty="0"/>
              <a:t>cloud mask </a:t>
            </a:r>
            <a:r>
              <a:rPr lang="ko-KR" altLang="en-US" dirty="0"/>
              <a:t>및 타겟 정보에 기반한 최적의 동선을 생성</a:t>
            </a:r>
            <a:endParaRPr lang="en-US" altLang="ko-KR" dirty="0"/>
          </a:p>
          <a:p>
            <a:pPr lvl="1"/>
            <a:r>
              <a:rPr lang="en-US" altLang="ko-KR" dirty="0"/>
              <a:t>9. </a:t>
            </a:r>
            <a:r>
              <a:rPr lang="ko-KR" altLang="en-US" dirty="0"/>
              <a:t>광학 위성은 최적화된 동선에 따라 구름을 피해 고해상도 이미지를 수집</a:t>
            </a:r>
            <a:endParaRPr lang="en-US" altLang="ko-KR" dirty="0"/>
          </a:p>
          <a:p>
            <a:pPr lvl="1"/>
            <a:r>
              <a:rPr lang="en-US" altLang="ko-KR" dirty="0"/>
              <a:t>10. </a:t>
            </a:r>
            <a:r>
              <a:rPr lang="ko-KR" altLang="en-US" dirty="0"/>
              <a:t>광학 위성은 지상국으로 비디오 및 이미지를 전송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 and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1202080041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SAR-XL Instrument Description</a:t>
            </a:r>
          </a:p>
          <a:p>
            <a:pPr lvl="1"/>
            <a:r>
              <a:rPr lang="ko-KR" altLang="en-US" dirty="0"/>
              <a:t>세계 최초의 이중 주파수</a:t>
            </a:r>
            <a:r>
              <a:rPr lang="en-US" altLang="ko-KR" dirty="0"/>
              <a:t>, </a:t>
            </a:r>
            <a:r>
              <a:rPr lang="ko-KR" altLang="en-US" dirty="0" err="1"/>
              <a:t>쿼드</a:t>
            </a:r>
            <a:r>
              <a:rPr lang="ko-KR" altLang="en-US" dirty="0"/>
              <a:t> 편광</a:t>
            </a:r>
            <a:r>
              <a:rPr lang="en-US" altLang="ko-KR" dirty="0"/>
              <a:t>, multi aperture, </a:t>
            </a:r>
            <a:r>
              <a:rPr lang="ko-KR" altLang="en-US" dirty="0"/>
              <a:t>완전 활성 위상 배열 및 공간 기반 디지털 빔 형성 </a:t>
            </a:r>
            <a:r>
              <a:rPr lang="en-US" altLang="ko-KR" dirty="0"/>
              <a:t>SAR</a:t>
            </a:r>
          </a:p>
          <a:p>
            <a:pPr lvl="1"/>
            <a:r>
              <a:rPr lang="ko-KR" altLang="en-US" dirty="0"/>
              <a:t>필요한 성능을 달성하도록 하는 안테나 크기 조정에 매우 유연함</a:t>
            </a:r>
            <a:endParaRPr lang="en-US" altLang="ko-KR" dirty="0"/>
          </a:p>
          <a:p>
            <a:pPr lvl="1"/>
            <a:r>
              <a:rPr lang="ko-KR" altLang="en-US" dirty="0"/>
              <a:t>선택된 수의 개별 </a:t>
            </a:r>
            <a:r>
              <a:rPr lang="en-US" altLang="ko-KR" dirty="0"/>
              <a:t>aperture</a:t>
            </a:r>
            <a:r>
              <a:rPr lang="ko-KR" altLang="en-US" dirty="0"/>
              <a:t>에 따라 </a:t>
            </a:r>
            <a:r>
              <a:rPr lang="en-US" altLang="ko-KR" dirty="0"/>
              <a:t>SAR </a:t>
            </a:r>
            <a:r>
              <a:rPr lang="ko-KR" altLang="en-US" dirty="0"/>
              <a:t>안테나가 구성됨</a:t>
            </a:r>
            <a:endParaRPr lang="en-US" altLang="ko-KR" dirty="0"/>
          </a:p>
          <a:p>
            <a:pPr lvl="1"/>
            <a:r>
              <a:rPr lang="en-US" altLang="ko-KR" dirty="0"/>
              <a:t>Aperture</a:t>
            </a:r>
          </a:p>
          <a:p>
            <a:pPr lvl="2"/>
            <a:r>
              <a:rPr lang="ko-KR" altLang="en-US" dirty="0"/>
              <a:t>안테나의 </a:t>
            </a:r>
            <a:r>
              <a:rPr lang="en-US" altLang="ko-KR" dirty="0"/>
              <a:t>Aperture</a:t>
            </a:r>
            <a:r>
              <a:rPr lang="ko-KR" altLang="en-US" dirty="0"/>
              <a:t>는 </a:t>
            </a:r>
            <a:r>
              <a:rPr lang="en-US" altLang="ko-KR" dirty="0"/>
              <a:t>1.8m(elevation) * 1.0m(azimuth) </a:t>
            </a:r>
            <a:r>
              <a:rPr lang="ko-KR" altLang="en-US" dirty="0"/>
              <a:t>크기</a:t>
            </a:r>
            <a:endParaRPr lang="en-US" altLang="ko-KR" dirty="0"/>
          </a:p>
          <a:p>
            <a:pPr lvl="2"/>
            <a:r>
              <a:rPr lang="en-US" altLang="ko-KR" dirty="0"/>
              <a:t>6</a:t>
            </a:r>
            <a:r>
              <a:rPr lang="ko-KR" altLang="en-US" dirty="0"/>
              <a:t>개의 이중 주파수 </a:t>
            </a:r>
            <a:r>
              <a:rPr lang="en-US" altLang="ko-KR" dirty="0"/>
              <a:t>aperture</a:t>
            </a:r>
            <a:r>
              <a:rPr lang="ko-KR" altLang="en-US" dirty="0"/>
              <a:t>를 사용하지만 </a:t>
            </a:r>
            <a:r>
              <a:rPr lang="en-US" altLang="ko-KR" dirty="0"/>
              <a:t>16</a:t>
            </a:r>
            <a:r>
              <a:rPr lang="ko-KR" altLang="en-US" dirty="0"/>
              <a:t>개의 </a:t>
            </a:r>
            <a:r>
              <a:rPr lang="en-US" altLang="ko-KR" dirty="0"/>
              <a:t>aperture</a:t>
            </a:r>
            <a:r>
              <a:rPr lang="ko-KR" altLang="en-US" dirty="0"/>
              <a:t>까지 수용 가능</a:t>
            </a:r>
            <a:endParaRPr lang="en-US" altLang="ko-KR" dirty="0"/>
          </a:p>
          <a:p>
            <a:pPr lvl="2"/>
            <a:r>
              <a:rPr lang="ko-KR" altLang="en-US" dirty="0"/>
              <a:t>디지털 방식으로 결합되어 방위각과 고도에 대한 </a:t>
            </a:r>
            <a:r>
              <a:rPr lang="en-US" altLang="ko-KR" dirty="0"/>
              <a:t>transmit </a:t>
            </a:r>
            <a:r>
              <a:rPr lang="ko-KR" altLang="en-US" dirty="0"/>
              <a:t>및 </a:t>
            </a:r>
            <a:r>
              <a:rPr lang="en-US" altLang="ko-KR" dirty="0"/>
              <a:t>receive beam</a:t>
            </a:r>
            <a:r>
              <a:rPr lang="ko-KR" altLang="en-US" dirty="0"/>
              <a:t>을 형상</a:t>
            </a:r>
            <a:endParaRPr lang="en-US" altLang="ko-KR" dirty="0"/>
          </a:p>
          <a:p>
            <a:pPr lvl="2"/>
            <a:r>
              <a:rPr lang="en-US" altLang="ko-KR" dirty="0"/>
              <a:t>Spotlight, </a:t>
            </a:r>
            <a:r>
              <a:rPr lang="en-US" altLang="ko-KR" dirty="0" err="1"/>
              <a:t>StripMap</a:t>
            </a:r>
            <a:r>
              <a:rPr lang="en-US" altLang="ko-KR" dirty="0"/>
              <a:t>, </a:t>
            </a:r>
            <a:r>
              <a:rPr lang="en-US" altLang="ko-KR" dirty="0" err="1"/>
              <a:t>ScanSAR</a:t>
            </a:r>
            <a:r>
              <a:rPr lang="en-US" altLang="ko-KR" dirty="0"/>
              <a:t> </a:t>
            </a:r>
            <a:r>
              <a:rPr lang="ko-KR" altLang="en-US" dirty="0"/>
              <a:t>모드 등을 독립적으로 조정하여 해상도를 생성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3"/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 and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1946696181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1"/>
            <a:r>
              <a:rPr lang="ko-KR" altLang="en-US" dirty="0"/>
              <a:t>다중 입력</a:t>
            </a:r>
            <a:r>
              <a:rPr lang="en-US" altLang="ko-KR" dirty="0"/>
              <a:t>-</a:t>
            </a:r>
            <a:r>
              <a:rPr lang="ko-KR" altLang="en-US" dirty="0"/>
              <a:t>다중 출력</a:t>
            </a:r>
            <a:r>
              <a:rPr lang="en-US" altLang="ko-KR" dirty="0"/>
              <a:t>(MIMO)</a:t>
            </a:r>
            <a:r>
              <a:rPr lang="ko-KR" altLang="en-US" dirty="0"/>
              <a:t> 기능을 갖춘 다중 </a:t>
            </a:r>
            <a:r>
              <a:rPr lang="en-US" altLang="ko-KR" dirty="0"/>
              <a:t>aperture-</a:t>
            </a:r>
            <a:r>
              <a:rPr lang="ko-KR" altLang="en-US" dirty="0"/>
              <a:t>다중 주파수 기술</a:t>
            </a:r>
            <a:endParaRPr lang="en-US" altLang="ko-KR" dirty="0"/>
          </a:p>
          <a:p>
            <a:pPr lvl="2"/>
            <a:r>
              <a:rPr lang="ko-KR" altLang="en-US" dirty="0"/>
              <a:t>같은 </a:t>
            </a:r>
            <a:r>
              <a:rPr lang="en-US" altLang="ko-KR" dirty="0"/>
              <a:t>aperture</a:t>
            </a:r>
            <a:r>
              <a:rPr lang="ko-KR" altLang="en-US" dirty="0"/>
              <a:t>에서 </a:t>
            </a:r>
            <a:r>
              <a:rPr lang="en-US" altLang="ko-KR" dirty="0"/>
              <a:t>2</a:t>
            </a:r>
            <a:r>
              <a:rPr lang="ko-KR" altLang="en-US" dirty="0"/>
              <a:t>개의 주파수에 모두 방위각 및 고도의 빔을 형성하여 공간의</a:t>
            </a:r>
            <a:r>
              <a:rPr lang="en-US" altLang="ko-KR" dirty="0"/>
              <a:t> </a:t>
            </a:r>
            <a:r>
              <a:rPr lang="ko-KR" altLang="en-US" dirty="0"/>
              <a:t>차원성을 더욱 확장함</a:t>
            </a:r>
            <a:endParaRPr lang="en-US" altLang="ko-KR" dirty="0"/>
          </a:p>
          <a:p>
            <a:pPr lvl="2"/>
            <a:r>
              <a:rPr lang="ko-KR" altLang="en-US" dirty="0"/>
              <a:t>작은 안테나가 넓은 범위의 감시 모드 요구사항도 충족할 수 있음</a:t>
            </a:r>
            <a:endParaRPr lang="en-US" altLang="ko-KR" dirty="0"/>
          </a:p>
          <a:p>
            <a:pPr lvl="1"/>
            <a:r>
              <a:rPr lang="ko-KR" altLang="en-US" dirty="0"/>
              <a:t>송신 신호</a:t>
            </a:r>
            <a:endParaRPr lang="en-US" altLang="ko-KR" dirty="0"/>
          </a:p>
          <a:p>
            <a:pPr lvl="2"/>
            <a:r>
              <a:rPr lang="ko-KR" altLang="en-US" dirty="0"/>
              <a:t>선형과 비선형의 </a:t>
            </a:r>
            <a:r>
              <a:rPr lang="en-US" altLang="ko-KR" dirty="0"/>
              <a:t>FM </a:t>
            </a:r>
            <a:r>
              <a:rPr lang="ko-KR" altLang="en-US" dirty="0"/>
              <a:t>신호를 모두 지원</a:t>
            </a:r>
            <a:endParaRPr lang="en-US" altLang="ko-KR" dirty="0"/>
          </a:p>
          <a:p>
            <a:pPr lvl="2"/>
            <a:r>
              <a:rPr lang="en-US" altLang="ko-KR" dirty="0"/>
              <a:t>NESZ</a:t>
            </a:r>
            <a:r>
              <a:rPr lang="ko-KR" altLang="en-US" dirty="0"/>
              <a:t>에서 손실없이 향상된 범위의 신호 응답이 가능</a:t>
            </a:r>
            <a:endParaRPr lang="en-US" altLang="ko-KR" dirty="0"/>
          </a:p>
          <a:p>
            <a:pPr lvl="2"/>
            <a:r>
              <a:rPr lang="ko-KR" altLang="en-US" dirty="0"/>
              <a:t>단일</a:t>
            </a:r>
            <a:r>
              <a:rPr lang="en-US" altLang="ko-KR" dirty="0"/>
              <a:t>, </a:t>
            </a:r>
            <a:r>
              <a:rPr lang="ko-KR" altLang="en-US" dirty="0"/>
              <a:t>이중</a:t>
            </a:r>
            <a:r>
              <a:rPr lang="en-US" altLang="ko-KR" dirty="0"/>
              <a:t>, </a:t>
            </a:r>
            <a:r>
              <a:rPr lang="ko-KR" altLang="en-US" dirty="0"/>
              <a:t>경사</a:t>
            </a:r>
            <a:r>
              <a:rPr lang="en-US" altLang="ko-KR" dirty="0"/>
              <a:t>, </a:t>
            </a:r>
            <a:r>
              <a:rPr lang="ko-KR" altLang="en-US" dirty="0"/>
              <a:t>원형 편광 옵션을 지원</a:t>
            </a:r>
            <a:endParaRPr lang="en-US" altLang="ko-KR" dirty="0"/>
          </a:p>
          <a:p>
            <a:pPr lvl="1"/>
            <a:r>
              <a:rPr lang="ko-KR" altLang="en-US" dirty="0"/>
              <a:t>수신 신호</a:t>
            </a:r>
            <a:endParaRPr lang="en-US" altLang="ko-KR" dirty="0"/>
          </a:p>
          <a:p>
            <a:pPr lvl="2"/>
            <a:r>
              <a:rPr lang="ko-KR" altLang="en-US" dirty="0"/>
              <a:t>넓은 </a:t>
            </a:r>
            <a:r>
              <a:rPr lang="en-US" altLang="ko-KR" dirty="0"/>
              <a:t>swath </a:t>
            </a:r>
            <a:r>
              <a:rPr lang="ko-KR" altLang="en-US" dirty="0"/>
              <a:t>감시에 사용</a:t>
            </a:r>
            <a:endParaRPr lang="en-US" altLang="ko-KR" dirty="0"/>
          </a:p>
          <a:p>
            <a:pPr lvl="2"/>
            <a:r>
              <a:rPr lang="ko-KR" altLang="en-US" dirty="0"/>
              <a:t>선형 및 원형 편광 옵션을 지원</a:t>
            </a:r>
            <a:endParaRPr lang="en-US" altLang="ko-KR" dirty="0"/>
          </a:p>
          <a:p>
            <a:pPr lvl="1"/>
            <a:r>
              <a:rPr lang="ko-KR" altLang="en-US" dirty="0"/>
              <a:t>송수신 모듈</a:t>
            </a:r>
            <a:endParaRPr lang="en-US" altLang="ko-KR" dirty="0"/>
          </a:p>
          <a:p>
            <a:pPr lvl="2"/>
            <a:r>
              <a:rPr lang="ko-KR" altLang="en-US" dirty="0"/>
              <a:t>위상 편이가 없다는 점에서 파격적임</a:t>
            </a:r>
            <a:endParaRPr lang="en-US" altLang="ko-KR" dirty="0"/>
          </a:p>
          <a:p>
            <a:pPr lvl="2"/>
            <a:r>
              <a:rPr lang="ko-KR" altLang="en-US" dirty="0"/>
              <a:t>모든 위상 편이 및 보정은 디지털로 수행됨</a:t>
            </a:r>
            <a:endParaRPr lang="en-US" altLang="ko-KR" dirty="0"/>
          </a:p>
          <a:p>
            <a:pPr lvl="2"/>
            <a:r>
              <a:rPr lang="ko-KR" altLang="en-US" dirty="0"/>
              <a:t>고도 및 방위각에서 동시에 빔 형성이 가능하므로 새로운 실험 모드를 지원</a:t>
            </a:r>
            <a:endParaRPr lang="en-US" altLang="ko-KR" dirty="0"/>
          </a:p>
          <a:p>
            <a:pPr lvl="3"/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 and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1043489524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SAR-XL Beams And Modes Specifications</a:t>
            </a:r>
          </a:p>
          <a:p>
            <a:pPr lvl="1"/>
            <a:r>
              <a:rPr lang="en-US" altLang="ko-KR" dirty="0" err="1"/>
              <a:t>SpotLight</a:t>
            </a:r>
            <a:r>
              <a:rPr lang="en-US" altLang="ko-KR" dirty="0"/>
              <a:t> Mode products</a:t>
            </a:r>
          </a:p>
          <a:p>
            <a:pPr lvl="1"/>
            <a:r>
              <a:rPr lang="en-US" altLang="ko-KR" dirty="0"/>
              <a:t>Multi-Aperture </a:t>
            </a:r>
            <a:r>
              <a:rPr lang="en-US" altLang="ko-KR" dirty="0" err="1"/>
              <a:t>StripMap</a:t>
            </a:r>
            <a:r>
              <a:rPr lang="en-US" altLang="ko-KR" dirty="0"/>
              <a:t> Mode products</a:t>
            </a:r>
          </a:p>
          <a:p>
            <a:pPr lvl="1"/>
            <a:r>
              <a:rPr lang="en-US" altLang="ko-KR" dirty="0"/>
              <a:t>Dual-Band </a:t>
            </a:r>
            <a:r>
              <a:rPr lang="en-US" altLang="ko-KR" dirty="0" err="1"/>
              <a:t>StripMap</a:t>
            </a:r>
            <a:r>
              <a:rPr lang="en-US" altLang="ko-KR" dirty="0"/>
              <a:t> Mode products</a:t>
            </a:r>
          </a:p>
          <a:p>
            <a:pPr lvl="1"/>
            <a:r>
              <a:rPr lang="en-US" altLang="ko-KR" dirty="0" err="1"/>
              <a:t>ScanSAR</a:t>
            </a:r>
            <a:r>
              <a:rPr lang="en-US" altLang="ko-KR" dirty="0"/>
              <a:t> Mode products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SAR-XL Extendable Architecture</a:t>
            </a:r>
          </a:p>
          <a:p>
            <a:pPr lvl="1"/>
            <a:r>
              <a:rPr lang="ko-KR" altLang="en-US" dirty="0"/>
              <a:t>최대 </a:t>
            </a:r>
            <a:r>
              <a:rPr lang="en-US" altLang="ko-KR" dirty="0"/>
              <a:t>16</a:t>
            </a:r>
            <a:r>
              <a:rPr lang="ko-KR" altLang="en-US" dirty="0"/>
              <a:t>개의 </a:t>
            </a:r>
            <a:r>
              <a:rPr lang="en-US" altLang="ko-KR" dirty="0"/>
              <a:t>aperture</a:t>
            </a:r>
            <a:r>
              <a:rPr lang="ko-KR" altLang="en-US" dirty="0"/>
              <a:t>까지 확장하여 </a:t>
            </a:r>
            <a:r>
              <a:rPr lang="en-US" altLang="ko-KR" dirty="0"/>
              <a:t>16m </a:t>
            </a:r>
            <a:r>
              <a:rPr lang="ko-KR" altLang="en-US" dirty="0"/>
              <a:t>길이의 안테나를 임무에 사용할 수 있음</a:t>
            </a:r>
            <a:endParaRPr lang="en-US" altLang="ko-KR" dirty="0"/>
          </a:p>
          <a:p>
            <a:pPr lvl="1"/>
            <a:r>
              <a:rPr lang="ko-KR" altLang="en-US" dirty="0"/>
              <a:t>안테나 인터페이스 및 제어 장치를 수정하여 더 많은 </a:t>
            </a:r>
            <a:r>
              <a:rPr lang="en-US" altLang="ko-KR" dirty="0"/>
              <a:t>aperture</a:t>
            </a:r>
            <a:r>
              <a:rPr lang="ko-KR" altLang="en-US" dirty="0"/>
              <a:t>를 만들 수 있음</a:t>
            </a:r>
            <a:endParaRPr lang="en-US" altLang="ko-KR" dirty="0"/>
          </a:p>
          <a:p>
            <a:pPr lvl="1"/>
            <a:r>
              <a:rPr lang="ko-KR" altLang="en-US" dirty="0"/>
              <a:t>기술적인 비용을 크게 줄일 수 있는 기본 모듈의 설계 요소 사용 가능</a:t>
            </a:r>
            <a:endParaRPr lang="en-US" altLang="ko-KR" dirty="0"/>
          </a:p>
          <a:p>
            <a:pPr lvl="1"/>
            <a:r>
              <a:rPr lang="ko-KR" altLang="en-US" dirty="0"/>
              <a:t>더 많은 </a:t>
            </a:r>
            <a:r>
              <a:rPr lang="en-US" altLang="ko-KR" dirty="0"/>
              <a:t>aperture</a:t>
            </a:r>
            <a:r>
              <a:rPr lang="ko-KR" altLang="en-US" dirty="0"/>
              <a:t>를 사용하면 해상도의 정밀도 및</a:t>
            </a:r>
            <a:r>
              <a:rPr lang="en-US" altLang="ko-KR" dirty="0"/>
              <a:t> swath </a:t>
            </a:r>
            <a:r>
              <a:rPr lang="ko-KR" altLang="en-US" dirty="0"/>
              <a:t>폭 증가</a:t>
            </a:r>
            <a:r>
              <a:rPr lang="en-US" altLang="ko-KR" dirty="0"/>
              <a:t>, ambiguity ratio </a:t>
            </a:r>
            <a:r>
              <a:rPr lang="ko-KR" altLang="en-US" dirty="0"/>
              <a:t>및 </a:t>
            </a:r>
            <a:r>
              <a:rPr lang="en-US" altLang="ko-KR" dirty="0"/>
              <a:t>NESZ </a:t>
            </a:r>
            <a:r>
              <a:rPr lang="ko-KR" altLang="en-US" dirty="0"/>
              <a:t>감소 등의 효과를 얻을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3"/>
            <a:endParaRPr lang="en-US" altLang="ko-KR" dirty="0"/>
          </a:p>
          <a:p>
            <a:pPr lvl="4"/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 and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2834576497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결론</a:t>
            </a:r>
            <a:endParaRPr lang="en-US" altLang="ko-KR" sz="1800" b="0" dirty="0"/>
          </a:p>
          <a:p>
            <a:pPr lvl="1"/>
            <a:r>
              <a:rPr lang="ko-KR" altLang="en-US" dirty="0"/>
              <a:t>광학위성 및 </a:t>
            </a:r>
            <a:r>
              <a:rPr lang="en-US" altLang="ko-KR" dirty="0"/>
              <a:t>SAR </a:t>
            </a:r>
            <a:r>
              <a:rPr lang="ko-KR" altLang="en-US" dirty="0"/>
              <a:t>위성의 </a:t>
            </a:r>
            <a:r>
              <a:rPr lang="en-US" altLang="ko-KR" dirty="0"/>
              <a:t>Cross-cueing </a:t>
            </a:r>
            <a:r>
              <a:rPr lang="ko-KR" altLang="en-US" dirty="0"/>
              <a:t>방법을</a:t>
            </a:r>
            <a:r>
              <a:rPr lang="en-US" altLang="ko-KR" dirty="0"/>
              <a:t> </a:t>
            </a:r>
            <a:r>
              <a:rPr lang="ko-KR" altLang="en-US" dirty="0"/>
              <a:t>통해 각 탑재체의 장점만을 이용한 </a:t>
            </a:r>
            <a:r>
              <a:rPr lang="ko-KR" altLang="en-US" dirty="0" err="1"/>
              <a:t>위성군</a:t>
            </a:r>
            <a:r>
              <a:rPr lang="ko-KR" altLang="en-US" dirty="0"/>
              <a:t> 운용이 가능함</a:t>
            </a:r>
            <a:endParaRPr lang="en-US" altLang="ko-KR" dirty="0"/>
          </a:p>
          <a:p>
            <a:pPr lvl="1"/>
            <a:r>
              <a:rPr lang="ko-KR" altLang="en-US" dirty="0"/>
              <a:t>이종 위성군의 개발을 위한 </a:t>
            </a:r>
            <a:r>
              <a:rPr lang="en-US" altLang="ko-KR" dirty="0"/>
              <a:t>SAR-XL </a:t>
            </a:r>
            <a:r>
              <a:rPr lang="ko-KR" altLang="en-US" dirty="0"/>
              <a:t>기술은 세계 최초의 성과를 확립하는 혁신 기술임</a:t>
            </a:r>
            <a:endParaRPr lang="en-US" altLang="ko-KR" dirty="0"/>
          </a:p>
          <a:p>
            <a:pPr lvl="1"/>
            <a:r>
              <a:rPr lang="ko-KR" altLang="en-US" dirty="0"/>
              <a:t>고해상도 및 넓은 범위의 영상에 대한 근본적인 과제를 해결하기 위해서는 더 많은 연구가 필요함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논문 내용 중 아쉬운 점</a:t>
            </a:r>
            <a:endParaRPr lang="en-US" altLang="ko-KR" dirty="0"/>
          </a:p>
          <a:p>
            <a:pPr lvl="1"/>
            <a:r>
              <a:rPr lang="ko-KR" altLang="en-US" dirty="0"/>
              <a:t>시뮬레이션의 결과 및 기대되는 효과에 대한 내용이 포함되어 있지 않음</a:t>
            </a:r>
            <a:endParaRPr lang="en-US" altLang="ko-KR" dirty="0"/>
          </a:p>
          <a:p>
            <a:pPr lvl="1"/>
            <a:r>
              <a:rPr lang="ko-KR" altLang="en-US" dirty="0"/>
              <a:t>논문의 </a:t>
            </a:r>
            <a:r>
              <a:rPr lang="ko-KR" altLang="en-US" dirty="0" err="1"/>
              <a:t>중후반부부터는</a:t>
            </a:r>
            <a:r>
              <a:rPr lang="ko-KR" altLang="en-US" dirty="0"/>
              <a:t> </a:t>
            </a:r>
            <a:r>
              <a:rPr lang="en-US" altLang="ko-KR" dirty="0"/>
              <a:t>SAR </a:t>
            </a:r>
            <a:r>
              <a:rPr lang="ko-KR" altLang="en-US" dirty="0"/>
              <a:t>탑재체의 신기술인 </a:t>
            </a:r>
            <a:r>
              <a:rPr lang="en-US" altLang="ko-KR" dirty="0"/>
              <a:t>SAR-XL</a:t>
            </a:r>
            <a:r>
              <a:rPr lang="ko-KR" altLang="en-US" dirty="0"/>
              <a:t>에 대해 다소 전문적인 내용을 다루었으며 이종 </a:t>
            </a:r>
            <a:r>
              <a:rPr lang="ko-KR" altLang="en-US" dirty="0" err="1"/>
              <a:t>위성군</a:t>
            </a:r>
            <a:r>
              <a:rPr lang="ko-KR" altLang="en-US" dirty="0"/>
              <a:t> 설계와의 직접적인 연관성은 부족함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본 논문 중 연구에 적용하면 좋을 내용</a:t>
            </a:r>
            <a:endParaRPr lang="en-US" altLang="ko-KR" dirty="0"/>
          </a:p>
          <a:p>
            <a:pPr lvl="1"/>
            <a:r>
              <a:rPr lang="ko-KR" altLang="en-US" dirty="0"/>
              <a:t>논문에서 다룬 위성 외에 다른 종류의 탑재체에 </a:t>
            </a:r>
            <a:r>
              <a:rPr lang="en-US" altLang="ko-KR" dirty="0"/>
              <a:t>Cross-cueing</a:t>
            </a:r>
            <a:r>
              <a:rPr lang="ko-KR" altLang="en-US" dirty="0"/>
              <a:t> 방법을 적용하여 얻을 수 있는 기대효과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b="1" dirty="0"/>
          </a:p>
          <a:p>
            <a:pPr lvl="1"/>
            <a:endParaRPr lang="en-US" altLang="ko-KR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95A819-3BAD-958C-6609-3274D6DA54A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 and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3972375220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추가 참고문헌 </a:t>
            </a:r>
            <a:endParaRPr lang="en-US" altLang="ko-KR" dirty="0"/>
          </a:p>
          <a:p>
            <a:pPr lvl="1"/>
            <a:r>
              <a:rPr lang="en-US" altLang="ko-KR" dirty="0"/>
              <a:t>Rich data, Cheap Satellite , 2017, Luis Gomes, </a:t>
            </a:r>
            <a:r>
              <a:rPr lang="en-US" altLang="ko-KR" dirty="0" err="1"/>
              <a:t>Nimal</a:t>
            </a:r>
            <a:r>
              <a:rPr lang="en-US" altLang="ko-KR" dirty="0"/>
              <a:t> </a:t>
            </a:r>
            <a:r>
              <a:rPr lang="en-US" altLang="ko-KR" dirty="0" err="1"/>
              <a:t>Navarthinam</a:t>
            </a:r>
            <a:r>
              <a:rPr lang="en-US" altLang="ko-KR" dirty="0"/>
              <a:t>, Andrew </a:t>
            </a:r>
            <a:r>
              <a:rPr lang="en-US" altLang="ko-KR" dirty="0" err="1"/>
              <a:t>Cawthorne</a:t>
            </a:r>
            <a:r>
              <a:rPr lang="en-US" altLang="ko-KR" dirty="0"/>
              <a:t> and Alex da Silva Curiel</a:t>
            </a:r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C992EF-123B-58C1-5A09-469C182B7D70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 and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2598974091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0" y="1820659"/>
            <a:ext cx="9144000" cy="4024969"/>
          </a:xfrm>
        </p:spPr>
        <p:txBody>
          <a:bodyPr>
            <a:normAutofit/>
          </a:bodyPr>
          <a:lstStyle/>
          <a:p>
            <a:r>
              <a:rPr lang="en-US" altLang="ko-KR" b="1" dirty="0"/>
              <a:t>(4)Research on a Heterogeneous Multi-satellite Mission Scheduling Model for Earth Observation Based on Adaptive Genetic-Tabu Hybrid Search Algorithm, 2021, </a:t>
            </a:r>
            <a:r>
              <a:rPr lang="en-US" altLang="ko-KR" b="1" dirty="0" err="1"/>
              <a:t>Lihao</a:t>
            </a:r>
            <a:r>
              <a:rPr lang="en-US" altLang="ko-KR" b="1" dirty="0"/>
              <a:t> Liu, </a:t>
            </a:r>
            <a:r>
              <a:rPr lang="en-US" altLang="ko-KR" b="1" dirty="0" err="1"/>
              <a:t>Zhenghong</a:t>
            </a:r>
            <a:r>
              <a:rPr lang="en-US" altLang="ko-KR" b="1" dirty="0"/>
              <a:t> Dong, </a:t>
            </a:r>
            <a:r>
              <a:rPr lang="en-US" altLang="ko-KR" b="1" dirty="0" err="1"/>
              <a:t>Haoxiang</a:t>
            </a:r>
            <a:r>
              <a:rPr lang="en-US" altLang="ko-KR" b="1" dirty="0"/>
              <a:t> </a:t>
            </a:r>
            <a:r>
              <a:rPr lang="en-US" altLang="ko-KR" b="1" dirty="0" err="1"/>
              <a:t>Su</a:t>
            </a:r>
            <a:r>
              <a:rPr lang="en-US" altLang="ko-KR" b="1" dirty="0"/>
              <a:t>, </a:t>
            </a:r>
            <a:r>
              <a:rPr lang="en-US" altLang="ko-KR" b="1" dirty="0" err="1"/>
              <a:t>Dingzhan</a:t>
            </a:r>
            <a:r>
              <a:rPr lang="en-US" altLang="ko-KR" b="1" dirty="0"/>
              <a:t> Yu and Yu Lin</a:t>
            </a:r>
            <a:endParaRPr lang="ko-KR" alt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624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논문 주요내용 </a:t>
            </a:r>
          </a:p>
          <a:p>
            <a:pPr lvl="1"/>
            <a:r>
              <a:rPr lang="en-US" altLang="ko-KR" dirty="0"/>
              <a:t>Genetic Algorithm(GA)</a:t>
            </a:r>
            <a:r>
              <a:rPr lang="ko-KR" altLang="en-US" dirty="0"/>
              <a:t>과 </a:t>
            </a:r>
            <a:r>
              <a:rPr lang="en-US" altLang="ko-KR" dirty="0"/>
              <a:t>Tabu Search Algorithm(TS)</a:t>
            </a:r>
            <a:r>
              <a:rPr lang="ko-KR" altLang="en-US" dirty="0"/>
              <a:t>을 혼합한 </a:t>
            </a:r>
            <a:r>
              <a:rPr lang="en-US" altLang="ko-KR" dirty="0"/>
              <a:t>Hybrid Algorithm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이용하여 최적화된 </a:t>
            </a:r>
            <a:r>
              <a:rPr lang="en-US" altLang="ko-KR" dirty="0"/>
              <a:t>Scheduling</a:t>
            </a:r>
            <a:r>
              <a:rPr lang="ko-KR" altLang="en-US" dirty="0"/>
              <a:t>의 해를 찾는 방법을 주요 목표로 한다</a:t>
            </a:r>
            <a:r>
              <a:rPr lang="en-US" altLang="ko-KR" dirty="0"/>
              <a:t>. </a:t>
            </a:r>
            <a:r>
              <a:rPr lang="ko-KR" altLang="en-US" dirty="0"/>
              <a:t>그에 대한 결과로 시나리오의 규모</a:t>
            </a:r>
            <a:r>
              <a:rPr lang="en-US" altLang="ko-KR" dirty="0"/>
              <a:t>(</a:t>
            </a:r>
            <a:r>
              <a:rPr lang="ko-KR" altLang="en-US" dirty="0"/>
              <a:t>위성 및 </a:t>
            </a:r>
            <a:r>
              <a:rPr lang="en-US" altLang="ko-KR" dirty="0"/>
              <a:t>target</a:t>
            </a:r>
            <a:r>
              <a:rPr lang="ko-KR" altLang="en-US" dirty="0"/>
              <a:t>의 수</a:t>
            </a:r>
            <a:r>
              <a:rPr lang="en-US" altLang="ko-KR" dirty="0"/>
              <a:t>)</a:t>
            </a:r>
            <a:r>
              <a:rPr lang="ko-KR" altLang="en-US" dirty="0"/>
              <a:t>를 조정하여 최적의 조건을 찾고 결과에 영향을 주는 요소들의 관계에 대해 소개한다</a:t>
            </a:r>
            <a:r>
              <a:rPr lang="en-US" altLang="ko-KR" dirty="0"/>
              <a:t>.  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ko-KR" altLang="en-US" dirty="0"/>
              <a:t>보다 효율적이고 확장 가능한 방식으로 </a:t>
            </a:r>
            <a:r>
              <a:rPr lang="en-US" altLang="ko-KR" dirty="0"/>
              <a:t>Mission schedule</a:t>
            </a:r>
            <a:r>
              <a:rPr lang="ko-KR" altLang="en-US" dirty="0"/>
              <a:t>을 최적화하기 위해 두 종류의 </a:t>
            </a:r>
            <a:r>
              <a:rPr lang="ko-KR" altLang="en-US" dirty="0" err="1"/>
              <a:t>위성군</a:t>
            </a:r>
            <a:r>
              <a:rPr lang="en-US" altLang="ko-KR" dirty="0"/>
              <a:t>(Visible Camera, SAR)</a:t>
            </a:r>
            <a:r>
              <a:rPr lang="ko-KR" altLang="en-US" dirty="0"/>
              <a:t>을 동시에 운용함 </a:t>
            </a:r>
            <a:endParaRPr lang="en-US" altLang="ko-KR" dirty="0"/>
          </a:p>
          <a:p>
            <a:pPr lvl="1"/>
            <a:r>
              <a:rPr lang="en-US" altLang="ko-KR" dirty="0"/>
              <a:t>Mission</a:t>
            </a:r>
            <a:r>
              <a:rPr lang="ko-KR" altLang="en-US" dirty="0"/>
              <a:t> </a:t>
            </a:r>
            <a:r>
              <a:rPr lang="en-US" altLang="ko-KR" dirty="0"/>
              <a:t>schedule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위성에게 요구된 작업들과 그에 따른 제한사항 및 다양한 변수들을 종합적으로 고려하여 상호간의 시간</a:t>
            </a:r>
            <a:r>
              <a:rPr lang="en-US" altLang="ko-KR" dirty="0"/>
              <a:t>, </a:t>
            </a:r>
            <a:r>
              <a:rPr lang="ko-KR" altLang="en-US" dirty="0"/>
              <a:t>조건 등의 충돌을 회피함과 동시에 위성의 자원을 최대한 활용하여 운용할 수 있는 최적의 작업시간을 생성하는 것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</p:spTree>
    <p:extLst>
      <p:ext uri="{BB962C8B-B14F-4D97-AF65-F5344CB8AC3E}">
        <p14:creationId xmlns:p14="http://schemas.microsoft.com/office/powerpoint/2010/main" val="65979690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임무의 </a:t>
            </a:r>
            <a:r>
              <a:rPr lang="en-US" altLang="ko-KR" dirty="0"/>
              <a:t>Schedule Stage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43A9BE4-E5BB-A00B-38DB-2CF678A9C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310" y="1428004"/>
            <a:ext cx="6425211" cy="4638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398A19-5489-0733-1846-EE6021BC0C44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</p:spTree>
    <p:extLst>
      <p:ext uri="{BB962C8B-B14F-4D97-AF65-F5344CB8AC3E}">
        <p14:creationId xmlns:p14="http://schemas.microsoft.com/office/powerpoint/2010/main" val="941187548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임무의 </a:t>
            </a:r>
            <a:r>
              <a:rPr lang="en-US" altLang="ko-KR" dirty="0"/>
              <a:t>Scheduling</a:t>
            </a:r>
            <a:r>
              <a:rPr lang="ko-KR" altLang="en-US" dirty="0"/>
              <a:t>을 위한 가정</a:t>
            </a:r>
            <a:endParaRPr lang="en-US" altLang="ko-KR" dirty="0"/>
          </a:p>
          <a:p>
            <a:pPr lvl="1"/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서로 다른 유형의 탑재체를 사용하여 지상의 점 표적을 관측하며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대상은 한 번만 관측하면 된다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.</a:t>
            </a:r>
          </a:p>
          <a:p>
            <a:pPr lvl="1"/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하나의 위성은 오직 하나의 탑재체를 운반한다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위성은 한 번에 한 가지 임무만 수행한다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일단 임무가 시작되면 중단은 고려되지 않는다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.</a:t>
            </a:r>
          </a:p>
          <a:p>
            <a:pPr lvl="1"/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위성 궤도 기동의 상황은 고려되지 않는다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.</a:t>
            </a:r>
            <a:br>
              <a:rPr lang="ko-KR" altLang="en-US" dirty="0"/>
            </a:br>
            <a:br>
              <a:rPr lang="ko-KR" altLang="en-US" dirty="0"/>
            </a:b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398A19-5489-0733-1846-EE6021BC0C44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</p:spTree>
    <p:extLst>
      <p:ext uri="{BB962C8B-B14F-4D97-AF65-F5344CB8AC3E}">
        <p14:creationId xmlns:p14="http://schemas.microsoft.com/office/powerpoint/2010/main" val="269317359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r>
                  <a:rPr lang="ko-KR" altLang="en-US" dirty="0"/>
                  <a:t>임무의 제한조건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 </a:t>
                </a:r>
                <a:r>
                  <a:rPr lang="en-US" altLang="ko-KR" dirty="0"/>
                  <a:t>Visible window constraint : </a:t>
                </a:r>
                <a:r>
                  <a:rPr lang="ko-KR" altLang="en-US" dirty="0"/>
                  <a:t>위성의 탑재체는 타겟을 볼 수 있어야 하고 </a:t>
                </a:r>
                <a:r>
                  <a:rPr lang="en-US" altLang="ko-KR" dirty="0"/>
                  <a:t>Window Duration</a:t>
                </a:r>
                <a:r>
                  <a:rPr lang="ko-KR" altLang="en-US" dirty="0"/>
                  <a:t>은 임무 관측 시간보다 길어야 함 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Task preparation time constraints : </a:t>
                </a:r>
                <a:r>
                  <a:rPr lang="ko-KR" altLang="en-US" dirty="0"/>
                  <a:t>위성의 관측이 끝난 후 다음 위성이 관측을 시작할 때 까지의 시간 간격은 탑재체의 준비 시간보다 길어야 함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Energy constraints : </a:t>
                </a:r>
                <a:r>
                  <a:rPr lang="ko-KR" altLang="en-US" dirty="0"/>
                  <a:t>각 위성에서 사용되는 총 에너지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소비량은 저장된 에너지 양의 상한선을 넘지 않아야 함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Lighting constraints : </a:t>
                </a:r>
                <a:r>
                  <a:rPr lang="ko-KR" altLang="en-US" dirty="0"/>
                  <a:t>광학 위성은 </a:t>
                </a:r>
                <a:r>
                  <a:rPr lang="en-US" altLang="ko-KR" dirty="0"/>
                  <a:t>Sun angle(</a:t>
                </a:r>
                <a:r>
                  <a:rPr lang="ko-KR" altLang="en-US" dirty="0"/>
                  <a:t>태양 고도 각도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 내에 있어야 함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Payload type constraints :</a:t>
                </a:r>
                <a:r>
                  <a:rPr lang="ko-KR" altLang="en-US" dirty="0"/>
                  <a:t> 대상을 필요한 유형의 탑재체로 관측해야 함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r>
                  <a:rPr lang="ko-KR" altLang="en-US" dirty="0"/>
                  <a:t>임무의 최적화 목표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</a:t>
                </a:r>
                <a:r>
                  <a:rPr lang="ko-KR" altLang="en-US" dirty="0"/>
                  <a:t>목표물 관측의 우선순위를 최대화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</a:t>
                </a:r>
                <a:r>
                  <a:rPr lang="ko-KR" altLang="en-US" dirty="0"/>
                  <a:t>목표물 수를 최대화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= α *</a:t>
                </a:r>
                <a:r>
                  <a:rPr lang="en-US" altLang="ko-KR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+ β 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(α =0.6, β =0.4)</a:t>
                </a:r>
                <a:br>
                  <a:rPr lang="ko-KR" altLang="en-US" dirty="0"/>
                </a:br>
                <a:endParaRPr lang="ko-KR" altLang="en-US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398A19-5489-0733-1846-EE6021BC0C44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</p:spTree>
    <p:extLst>
      <p:ext uri="{BB962C8B-B14F-4D97-AF65-F5344CB8AC3E}">
        <p14:creationId xmlns:p14="http://schemas.microsoft.com/office/powerpoint/2010/main" val="1732159515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Algorithm</a:t>
            </a:r>
          </a:p>
          <a:p>
            <a:pPr lvl="1"/>
            <a:r>
              <a:rPr lang="en-US" altLang="ko-KR" dirty="0"/>
              <a:t>Genetic Algorithm Design Concept(GA)</a:t>
            </a:r>
          </a:p>
          <a:p>
            <a:pPr lvl="2"/>
            <a:r>
              <a:rPr lang="en-US" altLang="ko-KR" dirty="0"/>
              <a:t>Chromosome coding design</a:t>
            </a:r>
          </a:p>
          <a:p>
            <a:pPr lvl="2"/>
            <a:r>
              <a:rPr lang="en-US" altLang="ko-KR" dirty="0"/>
              <a:t>Genetic algorithm procedure</a:t>
            </a:r>
          </a:p>
          <a:p>
            <a:pPr lvl="1"/>
            <a:r>
              <a:rPr lang="en-US" altLang="ko-KR" dirty="0"/>
              <a:t>Tabu Search Algorithm Design Concept(TS)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Hybrid Algorithm Design Concept(GA + TS)</a:t>
            </a:r>
          </a:p>
          <a:p>
            <a:pPr lvl="2"/>
            <a:r>
              <a:rPr lang="en-US" altLang="ko-KR" dirty="0"/>
              <a:t>(1) </a:t>
            </a:r>
            <a:r>
              <a:rPr lang="ko-KR" altLang="en-US" dirty="0"/>
              <a:t>유전 알고리즘으로 모집단 전체를 검색하여 여러 세대 진화 후 수렴하는 해를 찾음</a:t>
            </a:r>
            <a:endParaRPr lang="en-US" altLang="ko-KR" dirty="0"/>
          </a:p>
          <a:p>
            <a:pPr lvl="2"/>
            <a:r>
              <a:rPr lang="en-US" altLang="ko-KR" dirty="0"/>
              <a:t>(2) </a:t>
            </a:r>
            <a:r>
              <a:rPr lang="ko-KR" altLang="en-US" dirty="0" err="1"/>
              <a:t>타부</a:t>
            </a:r>
            <a:r>
              <a:rPr lang="ko-KR" altLang="en-US" dirty="0"/>
              <a:t> 알고리즘으로 부족한 부분을 개선하여 최적 해를 찾음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DEE853-A050-CF40-0324-A80B1A71350F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DF5686F-7670-D346-B3C8-9D0A746D3EFC}"/>
              </a:ext>
            </a:extLst>
          </p:cNvPr>
          <p:cNvGraphicFramePr>
            <a:graphicFrameLocks noGrp="1"/>
          </p:cNvGraphicFramePr>
          <p:nvPr/>
        </p:nvGraphicFramePr>
        <p:xfrm>
          <a:off x="504755" y="2753159"/>
          <a:ext cx="7891579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7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7631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Algorithm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Genetic Algorithm(GA)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Tabu Search Algorithm(TS)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생물의 진화 원리를 모방하여 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최적화 문제를 해결하는데 사용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국지적 최적해를 찾은 뒤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탐색이 불가능한 지역 탐색법의 단점을 보완하기 위해 개발된 알고리즘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03738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장점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대규모 문제 해결에 유용함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초기 조건의 종류에 상관없이 작동 가능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병렬 처리로 여러 개의 해를 찾는 것도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지역 최적점을 벗어나기에 효율적임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이미 찾은 국지점이 있더라도 그 값을 저장하고 주변의 탐색을 다시 허용하여 전역 최적해를 찾을 수 있음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단점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국지적 최적해에 빠지기 쉬움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초기 해에 크게 의존하여 초기 해가 부정확하면 수렴 속도가 느려짐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8951647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Genetic Algorithm Design Concept</a:t>
            </a:r>
          </a:p>
          <a:p>
            <a:pPr lvl="1"/>
            <a:r>
              <a:rPr lang="en-US" altLang="ko-KR" dirty="0"/>
              <a:t>Chromosome coding design</a:t>
            </a:r>
          </a:p>
          <a:p>
            <a:pPr marL="216000" lvl="1" indent="0">
              <a:buNone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DEE853-A050-CF40-0324-A80B1A71350F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D963127F-B289-6FE7-D1DA-C89B98F5E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48296"/>
            <a:ext cx="9144000" cy="216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261877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Genetic Algorithm Design Concept</a:t>
            </a:r>
          </a:p>
          <a:p>
            <a:pPr lvl="1"/>
            <a:r>
              <a:rPr lang="en-US" altLang="ko-KR" dirty="0"/>
              <a:t>Genetic algorithm procedure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DEE853-A050-CF40-0324-A80B1A71350F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17EADD4-C64D-837D-70C9-99E4409D5AC1}"/>
              </a:ext>
            </a:extLst>
          </p:cNvPr>
          <p:cNvGrpSpPr/>
          <p:nvPr/>
        </p:nvGrpSpPr>
        <p:grpSpPr>
          <a:xfrm>
            <a:off x="0" y="1975982"/>
            <a:ext cx="9144000" cy="3282375"/>
            <a:chOff x="0" y="1727401"/>
            <a:chExt cx="9144000" cy="328237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F477574-C8A5-FAF5-D74A-E5BCF8DC0E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848223"/>
              <a:ext cx="9144000" cy="316155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74CD99E-DCAD-278E-2AE6-77A9A923AB35}"/>
                </a:ext>
              </a:extLst>
            </p:cNvPr>
            <p:cNvSpPr txBox="1"/>
            <p:nvPr/>
          </p:nvSpPr>
          <p:spPr>
            <a:xfrm>
              <a:off x="990600" y="3228944"/>
              <a:ext cx="111252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초기 해를 </a:t>
              </a:r>
              <a:endParaRPr lang="en-US" altLang="ko-KR" sz="1000" dirty="0">
                <a:solidFill>
                  <a:srgbClr val="FF0000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무작위로 생성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FA48BC8-7D8C-BBFF-22AA-E40B40FE5824}"/>
                </a:ext>
              </a:extLst>
            </p:cNvPr>
            <p:cNvSpPr txBox="1"/>
            <p:nvPr/>
          </p:nvSpPr>
          <p:spPr>
            <a:xfrm>
              <a:off x="3779758" y="2081344"/>
              <a:ext cx="12573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적합도 함수 계산</a:t>
              </a:r>
              <a:endParaRPr lang="en-US" altLang="ko-KR" sz="1000" dirty="0">
                <a:solidFill>
                  <a:srgbClr val="FF0000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476619C-CBA2-FE8D-4A22-560D16B7247A}"/>
                </a:ext>
              </a:extLst>
            </p:cNvPr>
            <p:cNvSpPr txBox="1"/>
            <p:nvPr/>
          </p:nvSpPr>
          <p:spPr>
            <a:xfrm>
              <a:off x="2377440" y="4465819"/>
              <a:ext cx="12573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최적해 도출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71E81EA-B02C-3302-8C3C-5022B1151728}"/>
                </a:ext>
              </a:extLst>
            </p:cNvPr>
            <p:cNvSpPr txBox="1"/>
            <p:nvPr/>
          </p:nvSpPr>
          <p:spPr>
            <a:xfrm>
              <a:off x="4290129" y="4265764"/>
              <a:ext cx="97686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성능 향상 </a:t>
              </a:r>
              <a:endParaRPr lang="en-US" altLang="ko-KR" sz="1000" dirty="0">
                <a:solidFill>
                  <a:srgbClr val="FF0000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가능성 판단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C2BD3B1-17C1-F413-8CD8-10C74444919A}"/>
                </a:ext>
              </a:extLst>
            </p:cNvPr>
            <p:cNvSpPr txBox="1"/>
            <p:nvPr/>
          </p:nvSpPr>
          <p:spPr>
            <a:xfrm>
              <a:off x="5231227" y="4388184"/>
              <a:ext cx="118109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FF0000"/>
                  </a:solidFill>
                </a:rPr>
                <a:t>TS</a:t>
              </a:r>
              <a:r>
                <a:rPr lang="ko-KR" altLang="en-US" sz="1000" dirty="0">
                  <a:solidFill>
                    <a:srgbClr val="FF0000"/>
                  </a:solidFill>
                </a:rPr>
                <a:t> 알고리즘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C735A1C-EEE1-2FD4-B001-93C7B9C1D8B6}"/>
                </a:ext>
              </a:extLst>
            </p:cNvPr>
            <p:cNvSpPr txBox="1"/>
            <p:nvPr/>
          </p:nvSpPr>
          <p:spPr>
            <a:xfrm>
              <a:off x="7131415" y="4385113"/>
              <a:ext cx="91621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FF0000"/>
                  </a:solidFill>
                </a:rPr>
                <a:t>Scheduling </a:t>
              </a:r>
              <a:r>
                <a:rPr lang="ko-KR" altLang="en-US" sz="1000" dirty="0">
                  <a:solidFill>
                    <a:srgbClr val="FF0000"/>
                  </a:solidFill>
                </a:rPr>
                <a:t>결과 도출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8A079DD-2E7C-1CEE-1974-A469E0798CCA}"/>
                </a:ext>
              </a:extLst>
            </p:cNvPr>
            <p:cNvSpPr txBox="1"/>
            <p:nvPr/>
          </p:nvSpPr>
          <p:spPr>
            <a:xfrm>
              <a:off x="5153168" y="1881736"/>
              <a:ext cx="1337215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선택연산 </a:t>
              </a:r>
              <a:r>
                <a:rPr lang="en-US" altLang="ko-KR" sz="1000" dirty="0">
                  <a:solidFill>
                    <a:srgbClr val="FF0000"/>
                  </a:solidFill>
                </a:rPr>
                <a:t>:</a:t>
              </a:r>
            </a:p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적합도 함수를 기반으로 개체를 선택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061B051-9D56-6F81-F444-09580B8F2E9D}"/>
                </a:ext>
              </a:extLst>
            </p:cNvPr>
            <p:cNvSpPr txBox="1"/>
            <p:nvPr/>
          </p:nvSpPr>
          <p:spPr>
            <a:xfrm>
              <a:off x="6482763" y="1878299"/>
              <a:ext cx="1409605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교배연산 </a:t>
              </a:r>
              <a:r>
                <a:rPr lang="en-US" altLang="ko-KR" sz="1000" dirty="0">
                  <a:solidFill>
                    <a:srgbClr val="FF0000"/>
                  </a:solidFill>
                </a:rPr>
                <a:t>:</a:t>
              </a:r>
            </a:p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부모 개체에서 </a:t>
              </a:r>
              <a:endParaRPr lang="en-US" altLang="ko-KR" sz="1000" dirty="0">
                <a:solidFill>
                  <a:srgbClr val="FF0000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자식 개체를 생성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8D1A4B0-A949-7892-D3ED-6F39137B7306}"/>
                </a:ext>
              </a:extLst>
            </p:cNvPr>
            <p:cNvSpPr txBox="1"/>
            <p:nvPr/>
          </p:nvSpPr>
          <p:spPr>
            <a:xfrm>
              <a:off x="7863793" y="1727401"/>
              <a:ext cx="125730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돌연변이 연산 </a:t>
              </a:r>
              <a:r>
                <a:rPr lang="en-US" altLang="ko-KR" sz="1000" dirty="0">
                  <a:solidFill>
                    <a:srgbClr val="FF0000"/>
                  </a:solidFill>
                </a:rPr>
                <a:t>:</a:t>
              </a:r>
            </a:p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개체의 유전자를 무작위로 변경하여 다양성 유지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2FCA71F-73A6-9079-924F-4B00EFD9DC27}"/>
                </a:ext>
              </a:extLst>
            </p:cNvPr>
            <p:cNvSpPr txBox="1"/>
            <p:nvPr/>
          </p:nvSpPr>
          <p:spPr>
            <a:xfrm>
              <a:off x="2288285" y="2037081"/>
              <a:ext cx="12573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적합성 판단</a:t>
              </a:r>
              <a:endParaRPr lang="en-US" altLang="ko-KR" sz="1000" dirty="0">
                <a:solidFill>
                  <a:srgbClr val="FF0000"/>
                </a:solidFill>
              </a:endParaRPr>
            </a:p>
            <a:p>
              <a:pPr algn="ctr"/>
              <a:r>
                <a:rPr lang="en-US" altLang="ko-KR" sz="1000" dirty="0">
                  <a:solidFill>
                    <a:srgbClr val="FF0000"/>
                  </a:solidFill>
                </a:rPr>
                <a:t>(</a:t>
              </a:r>
              <a:r>
                <a:rPr lang="ko-KR" altLang="en-US" sz="1000" dirty="0">
                  <a:solidFill>
                    <a:srgbClr val="FF0000"/>
                  </a:solidFill>
                </a:rPr>
                <a:t>인공위성의 성능</a:t>
              </a:r>
              <a:r>
                <a:rPr lang="en-US" altLang="ko-KR" sz="1000" dirty="0">
                  <a:solidFill>
                    <a:srgbClr val="FF0000"/>
                  </a:solidFill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8475747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Tabu Search Algorithm Design Concept</a:t>
            </a:r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DEE853-A050-CF40-0324-A80B1A71350F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9C89C48-9F8E-68E4-38E5-AEE4DD89C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54922"/>
            <a:ext cx="9144000" cy="254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953046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Tabu Search Algorithm Design Concept</a:t>
            </a:r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DEE853-A050-CF40-0324-A80B1A71350F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9F44310-991F-1D05-2096-FD2B62B1F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69473"/>
            <a:ext cx="9144000" cy="17190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AACBEA-ABF0-46EC-5131-387F6EA8ACFD}"/>
              </a:ext>
            </a:extLst>
          </p:cNvPr>
          <p:cNvSpPr txBox="1"/>
          <p:nvPr/>
        </p:nvSpPr>
        <p:spPr>
          <a:xfrm>
            <a:off x="327797" y="2396667"/>
            <a:ext cx="1112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유전 알고리즘 해를 입력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55FBA1-642C-0FAB-76AE-205763DD5495}"/>
              </a:ext>
            </a:extLst>
          </p:cNvPr>
          <p:cNvSpPr txBox="1"/>
          <p:nvPr/>
        </p:nvSpPr>
        <p:spPr>
          <a:xfrm>
            <a:off x="704850" y="3405231"/>
            <a:ext cx="16377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현재 해에 따라 </a:t>
            </a:r>
            <a:r>
              <a:rPr lang="en-US" altLang="ko-KR" sz="1000" dirty="0">
                <a:solidFill>
                  <a:srgbClr val="FF0000"/>
                </a:solidFill>
              </a:rPr>
              <a:t>TS</a:t>
            </a:r>
            <a:r>
              <a:rPr lang="ko-KR" altLang="en-US" sz="1000" dirty="0">
                <a:solidFill>
                  <a:srgbClr val="FF0000"/>
                </a:solidFill>
              </a:rPr>
              <a:t>구조 및 검색전략을 갱신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33AFB7-DC82-9572-E3F6-3408B1B67084}"/>
              </a:ext>
            </a:extLst>
          </p:cNvPr>
          <p:cNvSpPr txBox="1"/>
          <p:nvPr/>
        </p:nvSpPr>
        <p:spPr>
          <a:xfrm>
            <a:off x="3320527" y="2155739"/>
            <a:ext cx="13226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최대 반복 횟수에 도달하면 작동 중지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B433148-EDEB-4667-3BB0-793EA1BF8FF9}"/>
              </a:ext>
            </a:extLst>
          </p:cNvPr>
          <p:cNvCxnSpPr/>
          <p:nvPr/>
        </p:nvCxnSpPr>
        <p:spPr>
          <a:xfrm flipV="1">
            <a:off x="3350938" y="2596722"/>
            <a:ext cx="471762" cy="32427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52A2B3A-04F3-F0DD-B401-26F5D5B4A691}"/>
              </a:ext>
            </a:extLst>
          </p:cNvPr>
          <p:cNvCxnSpPr>
            <a:cxnSpLocks/>
          </p:cNvCxnSpPr>
          <p:nvPr/>
        </p:nvCxnSpPr>
        <p:spPr>
          <a:xfrm flipH="1" flipV="1">
            <a:off x="4103438" y="2623971"/>
            <a:ext cx="582861" cy="29702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CA714BF-8234-48FF-F081-E0B26EEE18FB}"/>
              </a:ext>
            </a:extLst>
          </p:cNvPr>
          <p:cNvSpPr txBox="1"/>
          <p:nvPr/>
        </p:nvSpPr>
        <p:spPr>
          <a:xfrm>
            <a:off x="3227434" y="3428999"/>
            <a:ext cx="16377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 err="1">
                <a:solidFill>
                  <a:srgbClr val="FF0000"/>
                </a:solidFill>
              </a:rPr>
              <a:t>타부</a:t>
            </a:r>
            <a:r>
              <a:rPr lang="ko-KR" altLang="en-US" sz="1000" dirty="0">
                <a:solidFill>
                  <a:srgbClr val="FF0000"/>
                </a:solidFill>
              </a:rPr>
              <a:t> 리스트 및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다른 변수를 초기화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9F077E-1E66-F261-F69B-77F80DF2A585}"/>
              </a:ext>
            </a:extLst>
          </p:cNvPr>
          <p:cNvSpPr txBox="1"/>
          <p:nvPr/>
        </p:nvSpPr>
        <p:spPr>
          <a:xfrm>
            <a:off x="4801554" y="2355738"/>
            <a:ext cx="13226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이웃 해를 생성하고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적합도 함수를 계산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85C026-0E5B-48A3-2605-ED902AE215B4}"/>
              </a:ext>
            </a:extLst>
          </p:cNvPr>
          <p:cNvSpPr txBox="1"/>
          <p:nvPr/>
        </p:nvSpPr>
        <p:spPr>
          <a:xfrm>
            <a:off x="6111378" y="2500860"/>
            <a:ext cx="9916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이웃해를 저장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2C9DE7-C3E5-CC67-27A9-41CF5A63B29F}"/>
              </a:ext>
            </a:extLst>
          </p:cNvPr>
          <p:cNvSpPr txBox="1"/>
          <p:nvPr/>
        </p:nvSpPr>
        <p:spPr>
          <a:xfrm>
            <a:off x="5683475" y="3996525"/>
            <a:ext cx="15428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목표기준을 만족하면 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업데이트된 해로 대체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C20E80-B080-9327-5F30-57D84D776008}"/>
              </a:ext>
            </a:extLst>
          </p:cNvPr>
          <p:cNvSpPr txBox="1"/>
          <p:nvPr/>
        </p:nvSpPr>
        <p:spPr>
          <a:xfrm>
            <a:off x="7103070" y="2349297"/>
            <a:ext cx="18545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목표기준을 만족하지 않으면 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기존의 해가 유지</a:t>
            </a:r>
          </a:p>
        </p:txBody>
      </p:sp>
    </p:spTree>
    <p:extLst>
      <p:ext uri="{BB962C8B-B14F-4D97-AF65-F5344CB8AC3E}">
        <p14:creationId xmlns:p14="http://schemas.microsoft.com/office/powerpoint/2010/main" val="3287397679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시뮬레이션 설정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4ECE0C0-E171-6115-36F8-4137C4D1A0AB}"/>
              </a:ext>
            </a:extLst>
          </p:cNvPr>
          <p:cNvGraphicFramePr>
            <a:graphicFrameLocks noGrp="1"/>
          </p:cNvGraphicFramePr>
          <p:nvPr/>
        </p:nvGraphicFramePr>
        <p:xfrm>
          <a:off x="363693" y="1527900"/>
          <a:ext cx="4476866" cy="3946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8117">
                  <a:extLst>
                    <a:ext uri="{9D8B030D-6E8A-4147-A177-3AD203B41FA5}">
                      <a16:colId xmlns:a16="http://schemas.microsoft.com/office/drawing/2014/main" val="3687457586"/>
                    </a:ext>
                  </a:extLst>
                </a:gridCol>
                <a:gridCol w="1883918">
                  <a:extLst>
                    <a:ext uri="{9D8B030D-6E8A-4147-A177-3AD203B41FA5}">
                      <a16:colId xmlns:a16="http://schemas.microsoft.com/office/drawing/2014/main" val="400930265"/>
                    </a:ext>
                  </a:extLst>
                </a:gridCol>
              </a:tblGrid>
              <a:tr h="258067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시뮬레이션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26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궤도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Sun-synchronous orbit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213701"/>
                  </a:ext>
                </a:extLst>
              </a:tr>
              <a:tr h="23226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고도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600km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791625"/>
                  </a:ext>
                </a:extLst>
              </a:tr>
              <a:tr h="23226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시뮬레이션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시작시각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2020.06.08 16:00:00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26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종료시각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2020.06.09 16:00:00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627154"/>
                  </a:ext>
                </a:extLst>
              </a:tr>
              <a:tr h="38710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수치</a:t>
                      </a: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시뮬레이션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 설계 및 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궤도전파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STK Software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22474"/>
                  </a:ext>
                </a:extLst>
              </a:tr>
              <a:tr h="2322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데이터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MATLAB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465013"/>
                  </a:ext>
                </a:extLst>
              </a:tr>
              <a:tr h="309681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CCD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탑재체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Sensor Type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원뿔형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842215"/>
                  </a:ext>
                </a:extLst>
              </a:tr>
              <a:tr h="3096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FOV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5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532838"/>
                  </a:ext>
                </a:extLst>
              </a:tr>
              <a:tr h="3096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Lighting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sunAng</a:t>
                      </a: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&gt;15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62390"/>
                  </a:ext>
                </a:extLst>
              </a:tr>
              <a:tr h="30968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SAR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탑재체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Min Elevation Angle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15.2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23055"/>
                  </a:ext>
                </a:extLst>
              </a:tr>
              <a:tr h="3096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</a:rPr>
                        <a:t>Max Elevation Angle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51.9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351987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7E867A7-6114-363F-BDF6-06F0EA66C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410058"/>
              </p:ext>
            </p:extLst>
          </p:nvPr>
        </p:nvGraphicFramePr>
        <p:xfrm>
          <a:off x="5270212" y="1527900"/>
          <a:ext cx="271293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0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372">
                  <a:extLst>
                    <a:ext uri="{9D8B030D-6E8A-4147-A177-3AD203B41FA5}">
                      <a16:colId xmlns:a16="http://schemas.microsoft.com/office/drawing/2014/main" val="1702632630"/>
                    </a:ext>
                  </a:extLst>
                </a:gridCol>
                <a:gridCol w="731372">
                  <a:extLst>
                    <a:ext uri="{9D8B030D-6E8A-4147-A177-3AD203B41FA5}">
                      <a16:colId xmlns:a16="http://schemas.microsoft.com/office/drawing/2014/main" val="1874337334"/>
                    </a:ext>
                  </a:extLst>
                </a:gridCol>
              </a:tblGrid>
              <a:tr h="13716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시나리오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시나리오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타겟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57096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No.1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5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30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213701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No.2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8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50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791625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No.3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8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100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643435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No.4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16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200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193030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No.5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16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300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35002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시행 횟수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각 </a:t>
                      </a: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10</a:t>
                      </a:r>
                      <a:r>
                        <a:rPr lang="ko-KR" altLang="en-US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회씩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315648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Crossover(%)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0.8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144220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Mutation(%)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0.2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895796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Global maximum iteration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150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735602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무작위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탑재체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 유형</a:t>
                      </a: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타겟의 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55578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C8E9CE3-331A-9435-1B48-B671D60D3AED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</p:spTree>
    <p:extLst>
      <p:ext uri="{BB962C8B-B14F-4D97-AF65-F5344CB8AC3E}">
        <p14:creationId xmlns:p14="http://schemas.microsoft.com/office/powerpoint/2010/main" val="2081374123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시뮬레이션 결과</a:t>
            </a:r>
            <a:endParaRPr lang="en-US" altLang="ko-KR" dirty="0"/>
          </a:p>
          <a:p>
            <a:pPr lvl="1"/>
            <a:r>
              <a:rPr lang="ko-KR" altLang="en-US" dirty="0"/>
              <a:t>아래 그림과 같이 전세계적으로 </a:t>
            </a:r>
            <a:r>
              <a:rPr lang="ko-KR" altLang="en-US" dirty="0" err="1"/>
              <a:t>랜덤한</a:t>
            </a:r>
            <a:r>
              <a:rPr lang="ko-KR" altLang="en-US" dirty="0"/>
              <a:t> 균일 분포에 </a:t>
            </a:r>
            <a:r>
              <a:rPr lang="en-US" altLang="ko-KR" dirty="0"/>
              <a:t>target </a:t>
            </a:r>
            <a:r>
              <a:rPr lang="ko-KR" altLang="en-US" dirty="0"/>
              <a:t>생성</a:t>
            </a:r>
            <a:endParaRPr lang="en-US" altLang="ko-KR" dirty="0"/>
          </a:p>
          <a:p>
            <a:pPr lvl="1"/>
            <a:r>
              <a:rPr lang="ko-KR" altLang="en-US" dirty="0"/>
              <a:t>궤도 수와 궤도면의 위성 수를 조정하여 시나리오의 규모를 수정 가능</a:t>
            </a:r>
            <a:endParaRPr lang="en-US" altLang="ko-KR" dirty="0"/>
          </a:p>
          <a:p>
            <a:pPr lvl="1"/>
            <a:r>
              <a:rPr lang="ko-KR" altLang="en-US" dirty="0" err="1"/>
              <a:t>탑재체</a:t>
            </a:r>
            <a:r>
              <a:rPr lang="ko-KR" altLang="en-US" dirty="0"/>
              <a:t> 유형도 무작위로 생성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B971BB3-6C8D-8B5D-2866-33D06A7D8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98" y="2575183"/>
            <a:ext cx="6669646" cy="28241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7C2B18-7653-F06B-015C-47B6BF7BE06C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</p:spTree>
    <p:extLst>
      <p:ext uri="{BB962C8B-B14F-4D97-AF65-F5344CB8AC3E}">
        <p14:creationId xmlns:p14="http://schemas.microsoft.com/office/powerpoint/2010/main" val="20939569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시뮬레이션 결과</a:t>
            </a:r>
            <a:endParaRPr lang="en-US" altLang="ko-KR" dirty="0"/>
          </a:p>
          <a:p>
            <a:pPr lvl="1"/>
            <a:r>
              <a:rPr lang="ko-KR" altLang="en-US" dirty="0"/>
              <a:t>변수가 무작위로 적용되었기 때문에 서로 다른 시나리오 간의 해의 성능은 비교하기 어려움</a:t>
            </a:r>
            <a:endParaRPr lang="en-US" altLang="ko-KR" dirty="0"/>
          </a:p>
          <a:p>
            <a:pPr lvl="1"/>
            <a:r>
              <a:rPr lang="ko-KR" altLang="en-US" dirty="0"/>
              <a:t>따라서 작업 완료율로 해의 전체 성능을 판단해야 함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281DEF4-D10A-ACA0-5CDD-7C14F8C14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2492828"/>
            <a:ext cx="5911444" cy="32670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42091C-7BA4-0F47-F825-DEEAEE611BB4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438045D-0008-CA3E-361F-CC2F8BE30365}"/>
              </a:ext>
            </a:extLst>
          </p:cNvPr>
          <p:cNvSpPr/>
          <p:nvPr/>
        </p:nvSpPr>
        <p:spPr bwMode="auto">
          <a:xfrm>
            <a:off x="1077686" y="2971800"/>
            <a:ext cx="5453743" cy="522514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4D4980D-936E-CEB2-725E-41EBDCD9996D}"/>
              </a:ext>
            </a:extLst>
          </p:cNvPr>
          <p:cNvSpPr/>
          <p:nvPr/>
        </p:nvSpPr>
        <p:spPr bwMode="auto">
          <a:xfrm>
            <a:off x="1077685" y="3561980"/>
            <a:ext cx="5453743" cy="52251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09DFFF-8D1B-DBF4-4087-C295AF192CE7}"/>
              </a:ext>
            </a:extLst>
          </p:cNvPr>
          <p:cNvSpPr txBox="1"/>
          <p:nvPr/>
        </p:nvSpPr>
        <p:spPr>
          <a:xfrm>
            <a:off x="6531428" y="3012868"/>
            <a:ext cx="22457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랜덤으로 설정된 각 </a:t>
            </a:r>
            <a:r>
              <a:rPr lang="ko-KR" altLang="en-US" sz="1200" dirty="0" err="1">
                <a:solidFill>
                  <a:srgbClr val="FF0000"/>
                </a:solidFill>
              </a:rPr>
              <a:t>탑재체</a:t>
            </a:r>
            <a:r>
              <a:rPr lang="ko-KR" altLang="en-US" sz="1200" dirty="0">
                <a:solidFill>
                  <a:srgbClr val="FF0000"/>
                </a:solidFill>
              </a:rPr>
              <a:t> 별 위성의 수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평균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1DCE12-1251-FE10-126C-D67D431C8202}"/>
              </a:ext>
            </a:extLst>
          </p:cNvPr>
          <p:cNvSpPr txBox="1"/>
          <p:nvPr/>
        </p:nvSpPr>
        <p:spPr>
          <a:xfrm>
            <a:off x="6549935" y="3682485"/>
            <a:ext cx="27029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accent5"/>
                </a:solidFill>
              </a:rPr>
              <a:t>각 </a:t>
            </a:r>
            <a:r>
              <a:rPr lang="ko-KR" altLang="en-US" sz="1200" dirty="0" err="1">
                <a:solidFill>
                  <a:schemeClr val="accent5"/>
                </a:solidFill>
              </a:rPr>
              <a:t>탑재체</a:t>
            </a:r>
            <a:r>
              <a:rPr lang="ko-KR" altLang="en-US" sz="1200" dirty="0">
                <a:solidFill>
                  <a:schemeClr val="accent5"/>
                </a:solidFill>
              </a:rPr>
              <a:t> 별 </a:t>
            </a:r>
            <a:r>
              <a:rPr lang="en-US" altLang="ko-KR" sz="1200" dirty="0">
                <a:solidFill>
                  <a:schemeClr val="accent5"/>
                </a:solidFill>
              </a:rPr>
              <a:t>Target</a:t>
            </a:r>
            <a:r>
              <a:rPr lang="ko-KR" altLang="en-US" sz="1200" dirty="0">
                <a:solidFill>
                  <a:schemeClr val="accent5"/>
                </a:solidFill>
              </a:rPr>
              <a:t> 방문 횟수</a:t>
            </a:r>
            <a:r>
              <a:rPr lang="en-US" altLang="ko-KR" sz="1200" dirty="0">
                <a:solidFill>
                  <a:schemeClr val="accent5"/>
                </a:solidFill>
              </a:rPr>
              <a:t>(</a:t>
            </a:r>
            <a:r>
              <a:rPr lang="ko-KR" altLang="en-US" sz="1200" dirty="0">
                <a:solidFill>
                  <a:schemeClr val="accent5"/>
                </a:solidFill>
              </a:rPr>
              <a:t>평균</a:t>
            </a:r>
            <a:r>
              <a:rPr lang="en-US" altLang="ko-KR" sz="1200" dirty="0">
                <a:solidFill>
                  <a:schemeClr val="accent5"/>
                </a:solidFill>
              </a:rPr>
              <a:t>)</a:t>
            </a:r>
            <a:endParaRPr lang="ko-KR" altLang="en-US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6219062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시뮬레이션 결과</a:t>
            </a:r>
            <a:endParaRPr lang="en-US" altLang="ko-KR" dirty="0"/>
          </a:p>
          <a:p>
            <a:pPr lvl="1"/>
            <a:r>
              <a:rPr lang="ko-KR" altLang="en-US" dirty="0"/>
              <a:t>시나리오의 규모가 확장되면 충돌 제거 과정이 </a:t>
            </a:r>
            <a:r>
              <a:rPr lang="ko-KR" altLang="en-US" dirty="0" err="1"/>
              <a:t>복잡해져서</a:t>
            </a:r>
            <a:r>
              <a:rPr lang="ko-KR" altLang="en-US" dirty="0"/>
              <a:t> 단일 </a:t>
            </a:r>
            <a:r>
              <a:rPr lang="en-US" altLang="ko-KR" dirty="0"/>
              <a:t>GA, TS</a:t>
            </a:r>
            <a:r>
              <a:rPr lang="ko-KR" altLang="en-US" dirty="0"/>
              <a:t>의 평균 실행 시간은 빠르게 증가</a:t>
            </a:r>
            <a:r>
              <a:rPr lang="en-US" altLang="ko-KR" dirty="0"/>
              <a:t>(</a:t>
            </a:r>
            <a:r>
              <a:rPr lang="ko-KR" altLang="en-US" dirty="0"/>
              <a:t>곡선 그래프</a:t>
            </a:r>
            <a:r>
              <a:rPr lang="en-US" altLang="ko-KR" dirty="0"/>
              <a:t>) </a:t>
            </a:r>
          </a:p>
          <a:p>
            <a:pPr lvl="1"/>
            <a:r>
              <a:rPr lang="ko-KR" altLang="en-US" dirty="0"/>
              <a:t>이에 따라 수렴생성계수는 증가하다가 감소</a:t>
            </a:r>
            <a:r>
              <a:rPr lang="en-US" altLang="ko-KR" dirty="0"/>
              <a:t>(</a:t>
            </a:r>
            <a:r>
              <a:rPr lang="ko-KR" altLang="en-US" dirty="0"/>
              <a:t>막대 그래프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작은 규모일수록 빠르게 수렴되어 좋은 해를 얻음</a:t>
            </a:r>
          </a:p>
          <a:p>
            <a:pPr lvl="1"/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FBDEC07-E393-1C8A-C5E8-09A4043E2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00" y="2958006"/>
            <a:ext cx="7557799" cy="26598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F0BD4C-BB2D-DDEB-F695-1071A9BAEB2C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</p:spTree>
    <p:extLst>
      <p:ext uri="{BB962C8B-B14F-4D97-AF65-F5344CB8AC3E}">
        <p14:creationId xmlns:p14="http://schemas.microsoft.com/office/powerpoint/2010/main" val="1112531974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 </a:t>
            </a:r>
            <a:endParaRPr lang="en-US" altLang="ko-KR" dirty="0"/>
          </a:p>
          <a:p>
            <a:pPr lvl="1"/>
            <a:r>
              <a:rPr lang="ko-KR" altLang="en-US" dirty="0"/>
              <a:t>해의 성능과 연산 시간 사이에는 </a:t>
            </a:r>
            <a:r>
              <a:rPr lang="en-US" altLang="ko-KR" dirty="0"/>
              <a:t>Trade-off </a:t>
            </a:r>
            <a:r>
              <a:rPr lang="ko-KR" altLang="en-US" dirty="0"/>
              <a:t>관계가 있음</a:t>
            </a:r>
            <a:endParaRPr lang="en-US" altLang="ko-KR" dirty="0"/>
          </a:p>
          <a:p>
            <a:pPr lvl="1"/>
            <a:r>
              <a:rPr lang="ko-KR" altLang="en-US" dirty="0"/>
              <a:t>위성의 운용환경에 따라 둘 중 어떤 부분에 중점을 두어야 하는 지 결정될 것</a:t>
            </a:r>
            <a:endParaRPr lang="en-US" altLang="ko-KR" sz="1800" dirty="0"/>
          </a:p>
          <a:p>
            <a:pPr lvl="1"/>
            <a:r>
              <a:rPr lang="ko-KR" altLang="en-US" dirty="0"/>
              <a:t>고려해야 할 변수 및 제한 조건의 수에 따라 두 알고리즘</a:t>
            </a:r>
            <a:r>
              <a:rPr lang="en-US" altLang="ko-KR" dirty="0"/>
              <a:t>(</a:t>
            </a:r>
            <a:r>
              <a:rPr lang="ko-KR" altLang="en-US" dirty="0"/>
              <a:t>또는 혼합</a:t>
            </a:r>
            <a:r>
              <a:rPr lang="en-US" altLang="ko-KR" dirty="0"/>
              <a:t>) </a:t>
            </a:r>
            <a:r>
              <a:rPr lang="ko-KR" altLang="en-US" dirty="0"/>
              <a:t>중 어떤 것을 사용할지 판단해야 함 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논문 내용 중 아쉬운 점</a:t>
            </a:r>
            <a:endParaRPr lang="en-US" altLang="ko-KR" dirty="0"/>
          </a:p>
          <a:p>
            <a:pPr lvl="1"/>
            <a:r>
              <a:rPr lang="ko-KR" altLang="en-US" dirty="0"/>
              <a:t>이종 위성군의 설계에 대한 내용이 아닌 </a:t>
            </a:r>
            <a:r>
              <a:rPr lang="en-US" altLang="ko-KR" dirty="0"/>
              <a:t>scheduling</a:t>
            </a:r>
            <a:r>
              <a:rPr lang="ko-KR" altLang="en-US" dirty="0"/>
              <a:t>을 위한 알고리즘 내용을 중점적으로 다루었으며 다른 논문에 비해 이종위성군의 특징이 상대적으로 약함</a:t>
            </a:r>
            <a:endParaRPr lang="en-US" altLang="ko-KR" dirty="0"/>
          </a:p>
          <a:p>
            <a:pPr lvl="1"/>
            <a:r>
              <a:rPr lang="ko-KR" altLang="en-US" dirty="0"/>
              <a:t>특정 값이 아닌 무작위 값에 의존한 변수가 많으며 시뮬레이션 결과에 대한 설명이 매우 빈약함</a:t>
            </a:r>
            <a:endParaRPr lang="en-US" altLang="ko-KR" dirty="0"/>
          </a:p>
          <a:p>
            <a:pPr lvl="1"/>
            <a:r>
              <a:rPr lang="ko-KR" altLang="en-US" dirty="0"/>
              <a:t>그래프</a:t>
            </a:r>
            <a:r>
              <a:rPr lang="en-US" altLang="ko-KR" dirty="0"/>
              <a:t>, </a:t>
            </a:r>
            <a:r>
              <a:rPr lang="ko-KR" altLang="en-US" dirty="0"/>
              <a:t>그림 등 시각자료의 해상도가 매우 낮음 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본 논문 중 연구에 적용하면 좋을 내용</a:t>
            </a:r>
            <a:endParaRPr lang="en-US" altLang="ko-KR" dirty="0"/>
          </a:p>
          <a:p>
            <a:pPr lvl="1"/>
            <a:r>
              <a:rPr lang="en-US" altLang="ko-KR" dirty="0"/>
              <a:t>GA</a:t>
            </a:r>
            <a:r>
              <a:rPr lang="ko-KR" altLang="en-US" dirty="0"/>
              <a:t>와 </a:t>
            </a:r>
            <a:r>
              <a:rPr lang="en-US" altLang="ko-KR" dirty="0"/>
              <a:t>TS</a:t>
            </a:r>
            <a:r>
              <a:rPr lang="ko-KR" altLang="en-US" dirty="0"/>
              <a:t> 두 알고리즘 각각의 장점만을 혼합하여 최적의 경로 구하는 방법 연구</a:t>
            </a:r>
            <a:endParaRPr lang="en-US" altLang="ko-KR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6D85E2-306B-84DA-E4D9-0E302432307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</p:spTree>
    <p:extLst>
      <p:ext uri="{BB962C8B-B14F-4D97-AF65-F5344CB8AC3E}">
        <p14:creationId xmlns:p14="http://schemas.microsoft.com/office/powerpoint/2010/main" val="1380952094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추가 참고문헌 </a:t>
            </a:r>
            <a:endParaRPr lang="en-US" altLang="ko-KR" dirty="0"/>
          </a:p>
          <a:p>
            <a:pPr lvl="1"/>
            <a:r>
              <a:rPr lang="en-US" altLang="ko-KR" dirty="0"/>
              <a:t>A Comparison of Scheduling Optimization Algorithm for the Efficient Satellite Mission Scheduling Operation, 2010, Seung-Woo Baek, </a:t>
            </a:r>
            <a:r>
              <a:rPr lang="en-US" altLang="ko-KR" dirty="0" err="1"/>
              <a:t>Kyeum</a:t>
            </a:r>
            <a:r>
              <a:rPr lang="en-US" altLang="ko-KR" dirty="0"/>
              <a:t>-Rae Cho, Dae-Woo Lee and </a:t>
            </a:r>
            <a:r>
              <a:rPr lang="en-US" altLang="ko-KR" dirty="0" err="1"/>
              <a:t>Hae</a:t>
            </a:r>
            <a:r>
              <a:rPr lang="en-US" altLang="ko-KR" dirty="0"/>
              <a:t>-Dong Kim</a:t>
            </a:r>
          </a:p>
          <a:p>
            <a:pPr lvl="1"/>
            <a:r>
              <a:rPr lang="en-US" altLang="ko-KR" b="0" i="0" dirty="0">
                <a:solidFill>
                  <a:srgbClr val="2E2E2E"/>
                </a:solidFill>
                <a:effectLst/>
                <a:latin typeface="ElsevierGulliver"/>
              </a:rPr>
              <a:t>Satellite scheduling of large areal tasks for rapid response to natural disaster using a multi-objective genetic algorithm, </a:t>
            </a:r>
            <a:r>
              <a:rPr lang="en-US" altLang="ko-KR" b="0" i="0" dirty="0" err="1">
                <a:solidFill>
                  <a:srgbClr val="2E2E2E"/>
                </a:solidFill>
                <a:effectLst/>
                <a:latin typeface="ElsevierGulliver"/>
              </a:rPr>
              <a:t>Xiaonan</a:t>
            </a:r>
            <a:r>
              <a:rPr lang="en-US" altLang="ko-KR" b="0" i="0" dirty="0">
                <a:solidFill>
                  <a:srgbClr val="2E2E2E"/>
                </a:solidFill>
                <a:effectLst/>
                <a:latin typeface="ElsevierGulliver"/>
              </a:rPr>
              <a:t> </a:t>
            </a:r>
            <a:r>
              <a:rPr lang="en-US" altLang="ko-KR" b="0" i="0" dirty="0" err="1">
                <a:solidFill>
                  <a:srgbClr val="2E2E2E"/>
                </a:solidFill>
                <a:effectLst/>
                <a:latin typeface="ElsevierGulliver"/>
              </a:rPr>
              <a:t>Niu</a:t>
            </a:r>
            <a:r>
              <a:rPr lang="en-US" altLang="ko-KR" b="0" i="0" dirty="0">
                <a:solidFill>
                  <a:srgbClr val="2E2E2E"/>
                </a:solidFill>
                <a:effectLst/>
                <a:latin typeface="ElsevierGulliver"/>
              </a:rPr>
              <a:t>, 2018, Hong Tang and </a:t>
            </a:r>
            <a:r>
              <a:rPr lang="en-US" altLang="ko-KR" b="0" i="0" dirty="0" err="1">
                <a:solidFill>
                  <a:srgbClr val="2E2E2E"/>
                </a:solidFill>
                <a:effectLst/>
                <a:latin typeface="ElsevierGulliver"/>
              </a:rPr>
              <a:t>Lixin</a:t>
            </a:r>
            <a:r>
              <a:rPr lang="en-US" altLang="ko-KR" b="0" i="0" dirty="0">
                <a:solidFill>
                  <a:srgbClr val="2E2E2E"/>
                </a:solidFill>
                <a:effectLst/>
                <a:latin typeface="ElsevierGulliver"/>
              </a:rPr>
              <a:t> Wu</a:t>
            </a:r>
          </a:p>
          <a:p>
            <a:pPr lvl="1"/>
            <a:endParaRPr lang="en-US" altLang="ko-KR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6D85E2-306B-84DA-E4D9-0E302432307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</p:spTree>
    <p:extLst>
      <p:ext uri="{BB962C8B-B14F-4D97-AF65-F5344CB8AC3E}">
        <p14:creationId xmlns:p14="http://schemas.microsoft.com/office/powerpoint/2010/main" val="203128408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83928</TotalTime>
  <Words>5797</Words>
  <Application>Microsoft Office PowerPoint</Application>
  <PresentationFormat>화면 슬라이드 쇼(4:3)</PresentationFormat>
  <Paragraphs>929</Paragraphs>
  <Slides>60</Slides>
  <Notes>57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60</vt:i4>
      </vt:variant>
    </vt:vector>
  </HeadingPairs>
  <TitlesOfParts>
    <vt:vector size="70" baseType="lpstr">
      <vt:lpstr>ElsevierGulliver</vt:lpstr>
      <vt:lpstr>noto</vt:lpstr>
      <vt:lpstr>TimesNewRoman,Italic</vt:lpstr>
      <vt:lpstr>맑은 고딕</vt:lpstr>
      <vt:lpstr>Arial</vt:lpstr>
      <vt:lpstr>Cambria Math</vt:lpstr>
      <vt:lpstr>times</vt:lpstr>
      <vt:lpstr>Times New Roman</vt:lpstr>
      <vt:lpstr>Wingdings</vt:lpstr>
      <vt:lpstr>Office 테마</vt:lpstr>
      <vt:lpstr>이종위성군 선행연구자료</vt:lpstr>
      <vt:lpstr>이종위성군 선행연구자료</vt:lpstr>
      <vt:lpstr>(1) A Framework for Heterogeneous Satellite Constellation Design for Rapid Response Earth Observations, 2019, Ibrahim Sanad and David G Michelson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(2) Research on the configuration design method of heterogeneous constellation reconstruction under the multiple objective and multiple constraint, 2017, Shuang Zhao, Yanli Xu and Huayu Dai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(3) The UrtheCast SAR-XL Multi-Band, Multi-Aperture, 2017, Peter Fox and Keith Beckett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(4)Research on a Heterogeneous Multi-satellite Mission Scheduling Model for Earth Observation Based on Adaptive Genetic-Tabu Hybrid Search Algorithm, 2021, Lihao Liu, Zhenghong Dong, Haoxiang Su, Dingzhan Yu and Yu Lin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4624</cp:revision>
  <dcterms:created xsi:type="dcterms:W3CDTF">2018-01-29T02:45:56Z</dcterms:created>
  <dcterms:modified xsi:type="dcterms:W3CDTF">2023-04-24T11:29:01Z</dcterms:modified>
</cp:coreProperties>
</file>