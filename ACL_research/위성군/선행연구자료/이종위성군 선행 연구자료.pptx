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60" r:id="rId1"/>
  </p:sldMasterIdLst>
  <p:notesMasterIdLst>
    <p:notesMasterId r:id="rId41"/>
  </p:notesMasterIdLst>
  <p:handoutMasterIdLst>
    <p:handoutMasterId r:id="rId42"/>
  </p:handoutMasterIdLst>
  <p:sldIdLst>
    <p:sldId id="2229" r:id="rId2"/>
    <p:sldId id="2356" r:id="rId3"/>
    <p:sldId id="2297" r:id="rId4"/>
    <p:sldId id="2438" r:id="rId5"/>
    <p:sldId id="2359" r:id="rId6"/>
    <p:sldId id="2372" r:id="rId7"/>
    <p:sldId id="2405" r:id="rId8"/>
    <p:sldId id="2374" r:id="rId9"/>
    <p:sldId id="2378" r:id="rId10"/>
    <p:sldId id="2377" r:id="rId11"/>
    <p:sldId id="2383" r:id="rId12"/>
    <p:sldId id="2385" r:id="rId13"/>
    <p:sldId id="2407" r:id="rId14"/>
    <p:sldId id="2365" r:id="rId15"/>
    <p:sldId id="2337" r:id="rId16"/>
    <p:sldId id="2366" r:id="rId17"/>
    <p:sldId id="2368" r:id="rId18"/>
    <p:sldId id="2426" r:id="rId19"/>
    <p:sldId id="2369" r:id="rId20"/>
    <p:sldId id="2427" r:id="rId21"/>
    <p:sldId id="2370" r:id="rId22"/>
    <p:sldId id="2371" r:id="rId23"/>
    <p:sldId id="2439" r:id="rId24"/>
    <p:sldId id="2232" r:id="rId25"/>
    <p:sldId id="2406" r:id="rId26"/>
    <p:sldId id="2347" r:id="rId27"/>
    <p:sldId id="2349" r:id="rId28"/>
    <p:sldId id="2352" r:id="rId29"/>
    <p:sldId id="2386" r:id="rId30"/>
    <p:sldId id="2408" r:id="rId31"/>
    <p:sldId id="2373" r:id="rId32"/>
    <p:sldId id="2409" r:id="rId33"/>
    <p:sldId id="2411" r:id="rId34"/>
    <p:sldId id="2412" r:id="rId35"/>
    <p:sldId id="2413" r:id="rId36"/>
    <p:sldId id="2418" r:id="rId37"/>
    <p:sldId id="2419" r:id="rId38"/>
    <p:sldId id="2421" r:id="rId39"/>
    <p:sldId id="2423" r:id="rId40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김극남" initials="김" lastIdx="0" clrIdx="0">
    <p:extLst>
      <p:ext uri="{19B8F6BF-5375-455C-9EA6-DF929625EA0E}">
        <p15:presenceInfo xmlns:p15="http://schemas.microsoft.com/office/powerpoint/2012/main" userId="김극남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B021"/>
    <a:srgbClr val="33CCCC"/>
    <a:srgbClr val="001E46"/>
    <a:srgbClr val="0066FF"/>
    <a:srgbClr val="D9541A"/>
    <a:srgbClr val="404040"/>
    <a:srgbClr val="FFFFFF"/>
    <a:srgbClr val="000A1E"/>
    <a:srgbClr val="FFCCCC"/>
    <a:srgbClr val="0014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33DE33E-25D4-47BD-8B71-4122D63DEB96}" v="327" dt="2023-04-28T12:36:11.41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69" autoAdjust="0"/>
    <p:restoredTop sz="78588" autoAdjust="0"/>
  </p:normalViewPr>
  <p:slideViewPr>
    <p:cSldViewPr snapToGrid="0" showGuides="1">
      <p:cViewPr varScale="1">
        <p:scale>
          <a:sx n="78" d="100"/>
          <a:sy n="78" d="100"/>
        </p:scale>
        <p:origin x="1194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2299" y="3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handoutMaster" Target="handoutMasters/handoutMaster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commentAuthors" Target="commentAuthors.xml"/><Relationship Id="rId48" Type="http://schemas.microsoft.com/office/2015/10/relationships/revisionInfo" Target="revisionInfo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E49D1F-15B2-4B9C-8076-11C3A082C32A}" type="datetimeFigureOut">
              <a:rPr lang="ko-KR" altLang="en-US" smtClean="0"/>
              <a:t>2023-04-28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A8452A-AED7-4144-8B8B-DADFF71C57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899186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DDD8DE-5D7B-4A4B-9949-78C9C314FE9D}" type="datetimeFigureOut">
              <a:rPr lang="ko-KR" altLang="en-US" smtClean="0"/>
              <a:t>2023-04-28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463564-01E7-4F87-AE00-59478FEE8A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001258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65029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l"/>
            <a:endParaRPr lang="ko-KR" altLang="en-US" b="0" i="0" dirty="0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D463564-01E7-4F87-AE00-59478FEE8A8F}" type="slidenum">
              <a:rPr lang="en-US" altLang="en-US"/>
              <a:pPr lvl="0">
                <a:defRPr/>
              </a:pPr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109343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4822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28248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28733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95661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47664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131567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696673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809194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456262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sz="12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272222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sz="12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85130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 dirty="0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D463564-01E7-4F87-AE00-59478FEE8A8F}" type="slidenum">
              <a:rPr lang="en-US" altLang="en-US"/>
              <a:pPr lvl="0">
                <a:defRPr/>
              </a:pPr>
              <a:t>14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9138324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924040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0066012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739530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9777379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778743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590634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889769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362000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488741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064151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465100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619552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sz="12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549969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ko-KR" altLang="en-US" b="0" i="0" dirty="0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D463564-01E7-4F87-AE00-59478FEE8A8F}" type="slidenum">
              <a:rPr lang="en-US" altLang="en-US"/>
              <a:pPr lvl="0">
                <a:defRPr/>
              </a:pPr>
              <a:t>29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1093433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448001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287335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442741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877618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956619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36997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422280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74942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sz="12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38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86518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jpe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jpe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143000" y="4419136"/>
            <a:ext cx="6858000" cy="133978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 b="1">
                <a:latin typeface="times" panose="02020603050405020304" pitchFamily="18" charset="0"/>
                <a:cs typeface="times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이름</a:t>
            </a:r>
            <a:endParaRPr lang="en-US" altLang="ko-KR" dirty="0"/>
          </a:p>
          <a:p>
            <a:r>
              <a:rPr lang="ko-KR" altLang="en-US" dirty="0"/>
              <a:t>소속</a:t>
            </a:r>
            <a:endParaRPr lang="en-US" altLang="ko-KR" dirty="0"/>
          </a:p>
          <a:p>
            <a:r>
              <a:rPr lang="ko-KR" altLang="en-US" dirty="0"/>
              <a:t>발표장소</a:t>
            </a:r>
            <a:r>
              <a:rPr lang="en-US" altLang="ko-KR" dirty="0"/>
              <a:t>/</a:t>
            </a:r>
            <a:r>
              <a:rPr lang="ko-KR" altLang="en-US" dirty="0"/>
              <a:t>발표일</a:t>
            </a:r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8B88FB9-8488-4F3A-9179-85AF22A058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1935331"/>
            <a:ext cx="9144000" cy="2226189"/>
          </a:xfrm>
        </p:spPr>
        <p:txBody>
          <a:bodyPr anchor="ctr">
            <a:normAutofit/>
          </a:bodyPr>
          <a:lstStyle>
            <a:lvl1pPr algn="ctr">
              <a:defRPr sz="40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발표제목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국</a:t>
            </a:r>
            <a:r>
              <a:rPr lang="en-US" altLang="ko-KR" dirty="0"/>
              <a:t>/</a:t>
            </a:r>
            <a:r>
              <a:rPr lang="ko-KR" altLang="en-US" dirty="0"/>
              <a:t>영문</a:t>
            </a:r>
            <a:r>
              <a:rPr lang="en-US" altLang="ko-KR" dirty="0"/>
              <a:t>, Times, 40 pts)</a:t>
            </a:r>
            <a:endParaRPr lang="en-US" dirty="0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80F818A9-523E-49E6-8353-F8A3A0FF3B05}"/>
              </a:ext>
            </a:extLst>
          </p:cNvPr>
          <p:cNvGrpSpPr/>
          <p:nvPr userDrawn="1"/>
        </p:nvGrpSpPr>
        <p:grpSpPr>
          <a:xfrm>
            <a:off x="3097294" y="6017853"/>
            <a:ext cx="3389530" cy="720000"/>
            <a:chOff x="3167632" y="6062339"/>
            <a:chExt cx="3389530" cy="720000"/>
          </a:xfrm>
        </p:grpSpPr>
        <p:pic>
          <p:nvPicPr>
            <p:cNvPr id="4" name="그림 3" descr="그리기, 플레이트, 음식, 방이(가) 표시된 사진&#10;&#10;자동 생성된 설명">
              <a:extLst>
                <a:ext uri="{FF2B5EF4-FFF2-40B4-BE49-F238E27FC236}">
                  <a16:creationId xmlns:a16="http://schemas.microsoft.com/office/drawing/2014/main" id="{E63BAE71-441C-4804-B8BC-2FBAFD2A509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67632" y="6062339"/>
              <a:ext cx="720000" cy="720000"/>
            </a:xfrm>
            <a:prstGeom prst="rect">
              <a:avLst/>
            </a:prstGeom>
          </p:spPr>
        </p:pic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215EB456-78DB-470E-AB3C-3A934AB3135F}"/>
                </a:ext>
              </a:extLst>
            </p:cNvPr>
            <p:cNvSpPr/>
            <p:nvPr userDrawn="1"/>
          </p:nvSpPr>
          <p:spPr>
            <a:xfrm>
              <a:off x="3846292" y="6114563"/>
              <a:ext cx="2710870" cy="61555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000" b="1" spc="100" baseline="0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우주비행제어연구실</a:t>
              </a:r>
              <a:endParaRPr lang="en-US" altLang="ko-KR" sz="2000" b="1" spc="100" baseline="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endParaRPr>
            </a:p>
            <a:p>
              <a:r>
                <a:rPr lang="en-US" altLang="ko-KR" sz="1400" b="1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Astrodynamics and Control Lab.</a:t>
              </a:r>
            </a:p>
          </p:txBody>
        </p:sp>
      </p:grpSp>
      <p:pic>
        <p:nvPicPr>
          <p:cNvPr id="15" name="그림 14">
            <a:extLst>
              <a:ext uri="{FF2B5EF4-FFF2-40B4-BE49-F238E27FC236}">
                <a16:creationId xmlns:a16="http://schemas.microsoft.com/office/drawing/2014/main" id="{B0D7EE89-F264-41E4-AEC5-73770F7D8FD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b="50000"/>
          <a:stretch/>
        </p:blipFill>
        <p:spPr>
          <a:xfrm>
            <a:off x="7031115" y="4108252"/>
            <a:ext cx="2133955" cy="2761589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FD783890-A54B-4809-84F6-B7736A2B63C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t="5510" b="52178"/>
          <a:stretch/>
        </p:blipFill>
        <p:spPr>
          <a:xfrm flipH="1">
            <a:off x="-21070" y="4419136"/>
            <a:ext cx="2212357" cy="2438864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EA08DBB2-FE6A-40A8-BAA8-F4DFAEEBA3FF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0565" y="89661"/>
            <a:ext cx="720000" cy="720000"/>
          </a:xfrm>
          <a:prstGeom prst="rect">
            <a:avLst/>
          </a:prstGeom>
        </p:spPr>
      </p:pic>
      <p:pic>
        <p:nvPicPr>
          <p:cNvPr id="12" name="Picture 8">
            <a:extLst>
              <a:ext uri="{FF2B5EF4-FFF2-40B4-BE49-F238E27FC236}">
                <a16:creationId xmlns:a16="http://schemas.microsoft.com/office/drawing/2014/main" id="{6A115575-BE6D-40AD-B231-D68D8B4912A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8645" y="89661"/>
            <a:ext cx="720000" cy="72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17918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4.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DD644064-7FF7-4F6F-ADA3-1626B4D81BCB}"/>
              </a:ext>
            </a:extLst>
          </p:cNvPr>
          <p:cNvCxnSpPr>
            <a:cxnSpLocks/>
          </p:cNvCxnSpPr>
          <p:nvPr userDrawn="1"/>
        </p:nvCxnSpPr>
        <p:spPr>
          <a:xfrm>
            <a:off x="619125" y="876300"/>
            <a:ext cx="7575550" cy="0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itle 1">
            <a:extLst>
              <a:ext uri="{FF2B5EF4-FFF2-40B4-BE49-F238E27FC236}">
                <a16:creationId xmlns:a16="http://schemas.microsoft.com/office/drawing/2014/main" id="{9EEAC6FF-2CB2-4248-942E-A23DF1B6BE2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4057" y="71055"/>
            <a:ext cx="6705464" cy="687714"/>
          </a:xfrm>
        </p:spPr>
        <p:txBody>
          <a:bodyPr>
            <a:normAutofit/>
          </a:bodyPr>
          <a:lstStyle>
            <a:lvl1pPr algn="ctr">
              <a:defRPr sz="2800" b="1">
                <a:solidFill>
                  <a:schemeClr val="tx1"/>
                </a:solidFill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마스터 제목 스타일 편집 </a:t>
            </a:r>
            <a:r>
              <a:rPr lang="en-US" altLang="ko-KR" dirty="0"/>
              <a:t>(28 pts)</a:t>
            </a:r>
            <a:endParaRPr lang="en-US" dirty="0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ABD5D053-347B-45C0-B24B-C511B6215BC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3646" r="9900"/>
          <a:stretch/>
        </p:blipFill>
        <p:spPr>
          <a:xfrm>
            <a:off x="7554954" y="1"/>
            <a:ext cx="1589045" cy="1029956"/>
          </a:xfrm>
          <a:prstGeom prst="rect">
            <a:avLst/>
          </a:prstGeom>
        </p:spPr>
      </p:pic>
      <p:sp>
        <p:nvSpPr>
          <p:cNvPr id="26" name="직사각형 25">
            <a:extLst>
              <a:ext uri="{FF2B5EF4-FFF2-40B4-BE49-F238E27FC236}">
                <a16:creationId xmlns:a16="http://schemas.microsoft.com/office/drawing/2014/main" id="{CDF2725A-2EAD-4828-8A48-CF4B69244C83}"/>
              </a:ext>
            </a:extLst>
          </p:cNvPr>
          <p:cNvSpPr/>
          <p:nvPr userDrawn="1"/>
        </p:nvSpPr>
        <p:spPr>
          <a:xfrm>
            <a:off x="260193" y="6331061"/>
            <a:ext cx="34336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800" b="1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rPr>
              <a:t>Astrodynamics and Control Lab.</a:t>
            </a:r>
          </a:p>
        </p:txBody>
      </p:sp>
      <p:sp>
        <p:nvSpPr>
          <p:cNvPr id="27" name="슬라이드 번호 개체 틀 4">
            <a:extLst>
              <a:ext uri="{FF2B5EF4-FFF2-40B4-BE49-F238E27FC236}">
                <a16:creationId xmlns:a16="http://schemas.microsoft.com/office/drawing/2014/main" id="{116EEB02-C842-4201-B314-07D2C2222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05750" y="6327787"/>
            <a:ext cx="981169" cy="360000"/>
          </a:xfrm>
          <a:prstGeom prst="rect">
            <a:avLst/>
          </a:prstGeom>
        </p:spPr>
        <p:txBody>
          <a:bodyPr anchor="ctr"/>
          <a:lstStyle>
            <a:lvl1pPr algn="r">
              <a:defRPr sz="1400" b="1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defRPr>
            </a:lvl1pPr>
          </a:lstStyle>
          <a:p>
            <a:fld id="{397DD3AE-C24E-49FC-B527-05061A0348E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823B068E-A8D6-4389-87D7-7224E5B251E9}"/>
              </a:ext>
            </a:extLst>
          </p:cNvPr>
          <p:cNvGrpSpPr/>
          <p:nvPr userDrawn="1"/>
        </p:nvGrpSpPr>
        <p:grpSpPr>
          <a:xfrm>
            <a:off x="695141" y="1187583"/>
            <a:ext cx="698862" cy="4535814"/>
            <a:chOff x="695141" y="1187583"/>
            <a:chExt cx="698862" cy="4535814"/>
          </a:xfrm>
        </p:grpSpPr>
        <p:sp>
          <p:nvSpPr>
            <p:cNvPr id="12" name="타원 11">
              <a:extLst>
                <a:ext uri="{FF2B5EF4-FFF2-40B4-BE49-F238E27FC236}">
                  <a16:creationId xmlns:a16="http://schemas.microsoft.com/office/drawing/2014/main" id="{FB63AC01-59A1-4839-880A-52A4371FE19E}"/>
                </a:ext>
              </a:extLst>
            </p:cNvPr>
            <p:cNvSpPr/>
            <p:nvPr/>
          </p:nvSpPr>
          <p:spPr>
            <a:xfrm>
              <a:off x="701313" y="1187583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I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E40572AD-6701-4266-9752-13DC1E63AA2C}"/>
                </a:ext>
              </a:extLst>
            </p:cNvPr>
            <p:cNvSpPr/>
            <p:nvPr/>
          </p:nvSpPr>
          <p:spPr>
            <a:xfrm>
              <a:off x="695141" y="2149608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II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262E28C8-6768-42E9-BCF0-6BF7AA2C69D1}"/>
                </a:ext>
              </a:extLst>
            </p:cNvPr>
            <p:cNvSpPr/>
            <p:nvPr/>
          </p:nvSpPr>
          <p:spPr>
            <a:xfrm>
              <a:off x="695141" y="3111633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III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51C8E578-E54B-4F6C-8319-D77A1971F286}"/>
                </a:ext>
              </a:extLst>
            </p:cNvPr>
            <p:cNvSpPr/>
            <p:nvPr/>
          </p:nvSpPr>
          <p:spPr>
            <a:xfrm>
              <a:off x="695141" y="4073658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IV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0F52A207-95C0-475F-A6D7-1FCB68CF92B4}"/>
                </a:ext>
              </a:extLst>
            </p:cNvPr>
            <p:cNvSpPr/>
            <p:nvPr/>
          </p:nvSpPr>
          <p:spPr>
            <a:xfrm>
              <a:off x="695141" y="5035683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V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</p:grpSp>
      <p:graphicFrame>
        <p:nvGraphicFramePr>
          <p:cNvPr id="18" name="표 18">
            <a:extLst>
              <a:ext uri="{FF2B5EF4-FFF2-40B4-BE49-F238E27FC236}">
                <a16:creationId xmlns:a16="http://schemas.microsoft.com/office/drawing/2014/main" id="{5B07531E-AAB8-40A5-B3D0-4F0F6D12E2F0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95206933"/>
              </p:ext>
            </p:extLst>
          </p:nvPr>
        </p:nvGraphicFramePr>
        <p:xfrm>
          <a:off x="1454505" y="1029970"/>
          <a:ext cx="7318019" cy="48291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8019">
                  <a:extLst>
                    <a:ext uri="{9D8B030D-6E8A-4147-A177-3AD203B41FA5}">
                      <a16:colId xmlns:a16="http://schemas.microsoft.com/office/drawing/2014/main" val="2719041385"/>
                    </a:ext>
                  </a:extLst>
                </a:gridCol>
              </a:tblGrid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7413000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4167346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5247919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1284267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5405283"/>
                  </a:ext>
                </a:extLst>
              </a:tr>
            </a:tbl>
          </a:graphicData>
        </a:graphic>
      </p:graphicFrame>
      <p:pic>
        <p:nvPicPr>
          <p:cNvPr id="23" name="그림 22" descr="그리기, 플레이트, 음식, 방이(가) 표시된 사진&#10;&#10;자동 생성된 설명">
            <a:extLst>
              <a:ext uri="{FF2B5EF4-FFF2-40B4-BE49-F238E27FC236}">
                <a16:creationId xmlns:a16="http://schemas.microsoft.com/office/drawing/2014/main" id="{FEF37F4A-64D8-493C-A65A-762B21FB975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423" y="100133"/>
            <a:ext cx="720000" cy="720000"/>
          </a:xfrm>
          <a:prstGeom prst="rect">
            <a:avLst/>
          </a:prstGeom>
        </p:spPr>
      </p:pic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6567B15C-EDC8-4FDB-86E3-588E3F4B38B8}"/>
              </a:ext>
            </a:extLst>
          </p:cNvPr>
          <p:cNvCxnSpPr>
            <a:cxnSpLocks/>
          </p:cNvCxnSpPr>
          <p:nvPr userDrawn="1"/>
        </p:nvCxnSpPr>
        <p:spPr>
          <a:xfrm>
            <a:off x="781050" y="803275"/>
            <a:ext cx="6732270" cy="0"/>
          </a:xfrm>
          <a:prstGeom prst="line">
            <a:avLst/>
          </a:prstGeom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64869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직사각형 23">
            <a:extLst>
              <a:ext uri="{FF2B5EF4-FFF2-40B4-BE49-F238E27FC236}">
                <a16:creationId xmlns:a16="http://schemas.microsoft.com/office/drawing/2014/main" id="{B04D5D09-A2FC-4C8B-A3FF-CD7464225194}"/>
              </a:ext>
            </a:extLst>
          </p:cNvPr>
          <p:cNvSpPr/>
          <p:nvPr userDrawn="1"/>
        </p:nvSpPr>
        <p:spPr>
          <a:xfrm>
            <a:off x="260193" y="6331061"/>
            <a:ext cx="34336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800" b="1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rPr>
              <a:t>Astrodynamics and Control Lab.</a:t>
            </a:r>
          </a:p>
        </p:txBody>
      </p:sp>
      <p:sp>
        <p:nvSpPr>
          <p:cNvPr id="25" name="슬라이드 번호 개체 틀 4">
            <a:extLst>
              <a:ext uri="{FF2B5EF4-FFF2-40B4-BE49-F238E27FC236}">
                <a16:creationId xmlns:a16="http://schemas.microsoft.com/office/drawing/2014/main" id="{631309A5-660A-4E14-8195-3A2515234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05750" y="6327787"/>
            <a:ext cx="981169" cy="360000"/>
          </a:xfrm>
          <a:prstGeom prst="rect">
            <a:avLst/>
          </a:prstGeom>
        </p:spPr>
        <p:txBody>
          <a:bodyPr anchor="ctr"/>
          <a:lstStyle>
            <a:lvl1pPr algn="r">
              <a:defRPr sz="1400" b="1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defRPr>
            </a:lvl1pPr>
          </a:lstStyle>
          <a:p>
            <a:fld id="{397DD3AE-C24E-49FC-B527-05061A0348E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7540F519-A5D5-4C17-A8B9-7371A3A841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Autofit/>
          </a:bodyPr>
          <a:lstStyle>
            <a:lvl1pPr marL="228600" indent="-360000">
              <a:lnSpc>
                <a:spcPct val="100000"/>
              </a:lnSpc>
              <a:buFont typeface="Wingdings" panose="05000000000000000000" pitchFamily="2" charset="2"/>
              <a:buChar char="v"/>
              <a:defRPr sz="2400" b="1">
                <a:latin typeface="times" panose="02020603050405020304" pitchFamily="18" charset="0"/>
                <a:cs typeface="times" panose="02020603050405020304" pitchFamily="18" charset="0"/>
              </a:defRPr>
            </a:lvl1pPr>
            <a:lvl2pPr marL="540000" indent="-324000">
              <a:lnSpc>
                <a:spcPct val="100000"/>
              </a:lnSpc>
              <a:buFont typeface="Wingdings" panose="05000000000000000000" pitchFamily="2" charset="2"/>
              <a:buChar char="u"/>
              <a:defRPr sz="1800" b="0">
                <a:latin typeface="times" panose="02020603050405020304" pitchFamily="18" charset="0"/>
                <a:cs typeface="times" panose="02020603050405020304" pitchFamily="18" charset="0"/>
              </a:defRPr>
            </a:lvl2pPr>
            <a:lvl3pPr marL="720000" indent="-288000">
              <a:lnSpc>
                <a:spcPct val="100000"/>
              </a:lnSpc>
              <a:buFont typeface="Wingdings" panose="05000000000000000000" pitchFamily="2" charset="2"/>
              <a:buChar char="Ø"/>
              <a:defRPr sz="1600">
                <a:latin typeface="times" panose="02020603050405020304" pitchFamily="18" charset="0"/>
                <a:cs typeface="times" panose="02020603050405020304" pitchFamily="18" charset="0"/>
              </a:defRPr>
            </a:lvl3pPr>
            <a:lvl4pPr marL="900000" indent="-252000">
              <a:lnSpc>
                <a:spcPct val="100000"/>
              </a:lnSpc>
              <a:buFont typeface="Wingdings" panose="05000000000000000000" pitchFamily="2" charset="2"/>
              <a:buChar char="ü"/>
              <a:defRPr sz="1400">
                <a:latin typeface="times" panose="02020603050405020304" pitchFamily="18" charset="0"/>
                <a:cs typeface="times" panose="02020603050405020304" pitchFamily="18" charset="0"/>
              </a:defRPr>
            </a:lvl4pPr>
            <a:lvl5pPr marL="1080000" indent="-252000">
              <a:lnSpc>
                <a:spcPct val="100000"/>
              </a:lnSpc>
              <a:defRPr sz="1400">
                <a:latin typeface="times" panose="02020603050405020304" pitchFamily="18" charset="0"/>
                <a:cs typeface="times" panose="02020603050405020304" pitchFamily="18" charset="0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78361285-D5CA-4434-A351-5343035FD0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4057" y="71055"/>
            <a:ext cx="6705464" cy="687714"/>
          </a:xfrm>
        </p:spPr>
        <p:txBody>
          <a:bodyPr>
            <a:normAutofit/>
          </a:bodyPr>
          <a:lstStyle>
            <a:lvl1pPr algn="ctr">
              <a:defRPr sz="2800" b="1">
                <a:solidFill>
                  <a:schemeClr val="tx1"/>
                </a:solidFill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마스터 제목 스타일 편집 </a:t>
            </a:r>
            <a:r>
              <a:rPr lang="en-US" altLang="ko-KR" dirty="0"/>
              <a:t>(28 pts)</a:t>
            </a:r>
            <a:endParaRPr lang="en-US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15C7FC81-20F4-4FC2-B40D-A9FF1F52076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3646" r="9900"/>
          <a:stretch/>
        </p:blipFill>
        <p:spPr>
          <a:xfrm>
            <a:off x="7554954" y="1"/>
            <a:ext cx="1589045" cy="1029956"/>
          </a:xfrm>
          <a:prstGeom prst="rect">
            <a:avLst/>
          </a:prstGeom>
        </p:spPr>
      </p:pic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4D14EEDE-3F58-409A-8C98-F099C099E03A}"/>
              </a:ext>
            </a:extLst>
          </p:cNvPr>
          <p:cNvCxnSpPr>
            <a:cxnSpLocks/>
          </p:cNvCxnSpPr>
          <p:nvPr userDrawn="1"/>
        </p:nvCxnSpPr>
        <p:spPr>
          <a:xfrm>
            <a:off x="619125" y="876300"/>
            <a:ext cx="7575550" cy="0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그림 14" descr="그리기, 플레이트, 음식, 방이(가) 표시된 사진&#10;&#10;자동 생성된 설명">
            <a:extLst>
              <a:ext uri="{FF2B5EF4-FFF2-40B4-BE49-F238E27FC236}">
                <a16:creationId xmlns:a16="http://schemas.microsoft.com/office/drawing/2014/main" id="{D6923843-3AE5-4E5F-BACA-DFA2C5600B2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423" y="100133"/>
            <a:ext cx="720000" cy="720000"/>
          </a:xfrm>
          <a:prstGeom prst="rect">
            <a:avLst/>
          </a:prstGeom>
        </p:spPr>
      </p:pic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04926874-7DA7-4D84-BD23-06EAC42705A1}"/>
              </a:ext>
            </a:extLst>
          </p:cNvPr>
          <p:cNvCxnSpPr>
            <a:cxnSpLocks/>
          </p:cNvCxnSpPr>
          <p:nvPr userDrawn="1"/>
        </p:nvCxnSpPr>
        <p:spPr>
          <a:xfrm>
            <a:off x="781050" y="803275"/>
            <a:ext cx="6732270" cy="0"/>
          </a:xfrm>
          <a:prstGeom prst="line">
            <a:avLst/>
          </a:prstGeom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28288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8B88FB9-8488-4F3A-9179-85AF22A058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1820660"/>
            <a:ext cx="9144000" cy="3180446"/>
          </a:xfrm>
        </p:spPr>
        <p:txBody>
          <a:bodyPr anchor="ctr">
            <a:normAutofit/>
          </a:bodyPr>
          <a:lstStyle>
            <a:lvl1pPr algn="ctr">
              <a:defRPr sz="40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질의응답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국</a:t>
            </a:r>
            <a:r>
              <a:rPr lang="en-US" altLang="ko-KR" dirty="0"/>
              <a:t>/</a:t>
            </a:r>
            <a:r>
              <a:rPr lang="ko-KR" altLang="en-US" dirty="0"/>
              <a:t>영문</a:t>
            </a:r>
            <a:r>
              <a:rPr lang="en-US" altLang="ko-KR" dirty="0"/>
              <a:t>, Times, 40 pts)</a:t>
            </a:r>
            <a:endParaRPr lang="en-US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4FBB211E-0AA6-4FE2-9E18-B081DCF3E19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3000" y="4543424"/>
            <a:ext cx="6858000" cy="1339783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latin typeface="times" panose="02020603050405020304" pitchFamily="18" charset="0"/>
                <a:cs typeface="times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이름</a:t>
            </a:r>
            <a:endParaRPr lang="en-US" altLang="ko-KR" dirty="0"/>
          </a:p>
          <a:p>
            <a:r>
              <a:rPr lang="ko-KR" altLang="en-US" dirty="0"/>
              <a:t>소속</a:t>
            </a:r>
            <a:endParaRPr lang="en-US" altLang="ko-KR" dirty="0"/>
          </a:p>
          <a:p>
            <a:r>
              <a:rPr lang="ko-KR" altLang="en-US" dirty="0"/>
              <a:t>연락처</a:t>
            </a:r>
            <a:endParaRPr 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22319A21-8E7C-4790-9643-94CC1925297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0565" y="6048339"/>
            <a:ext cx="720000" cy="720000"/>
          </a:xfrm>
          <a:prstGeom prst="rect">
            <a:avLst/>
          </a:prstGeom>
        </p:spPr>
      </p:pic>
      <p:pic>
        <p:nvPicPr>
          <p:cNvPr id="14" name="Picture 8">
            <a:extLst>
              <a:ext uri="{FF2B5EF4-FFF2-40B4-BE49-F238E27FC236}">
                <a16:creationId xmlns:a16="http://schemas.microsoft.com/office/drawing/2014/main" id="{46F0A41C-6A01-44CA-A626-55476509C76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8645" y="6048339"/>
            <a:ext cx="720000" cy="72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5" name="그룹 24">
            <a:extLst>
              <a:ext uri="{FF2B5EF4-FFF2-40B4-BE49-F238E27FC236}">
                <a16:creationId xmlns:a16="http://schemas.microsoft.com/office/drawing/2014/main" id="{6E63BBB4-44C3-4C69-9162-763FE81E6FBD}"/>
              </a:ext>
            </a:extLst>
          </p:cNvPr>
          <p:cNvGrpSpPr/>
          <p:nvPr userDrawn="1"/>
        </p:nvGrpSpPr>
        <p:grpSpPr>
          <a:xfrm>
            <a:off x="122423" y="99901"/>
            <a:ext cx="3389530" cy="720000"/>
            <a:chOff x="3167632" y="6062339"/>
            <a:chExt cx="3389530" cy="720000"/>
          </a:xfrm>
        </p:grpSpPr>
        <p:pic>
          <p:nvPicPr>
            <p:cNvPr id="26" name="그림 25" descr="그리기, 플레이트, 음식, 방이(가) 표시된 사진&#10;&#10;자동 생성된 설명">
              <a:extLst>
                <a:ext uri="{FF2B5EF4-FFF2-40B4-BE49-F238E27FC236}">
                  <a16:creationId xmlns:a16="http://schemas.microsoft.com/office/drawing/2014/main" id="{58F4BD04-EF90-4931-B1B3-0FDABC5889E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67632" y="6062339"/>
              <a:ext cx="720000" cy="720000"/>
            </a:xfrm>
            <a:prstGeom prst="rect">
              <a:avLst/>
            </a:prstGeom>
          </p:spPr>
        </p:pic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727BC293-2715-43CE-819C-216F1B960AEE}"/>
                </a:ext>
              </a:extLst>
            </p:cNvPr>
            <p:cNvSpPr/>
            <p:nvPr userDrawn="1"/>
          </p:nvSpPr>
          <p:spPr>
            <a:xfrm>
              <a:off x="3846292" y="6114563"/>
              <a:ext cx="2710870" cy="61555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000" b="1" spc="100" baseline="0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우주비행제어연구실</a:t>
              </a:r>
              <a:endParaRPr lang="en-US" altLang="ko-KR" sz="2000" b="1" spc="100" baseline="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endParaRPr>
            </a:p>
            <a:p>
              <a:r>
                <a:rPr lang="en-US" altLang="ko-KR" sz="1400" b="1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Astrodynamics and Control Lab.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457699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8B88FB9-8488-4F3A-9179-85AF22A058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1820660"/>
            <a:ext cx="9144000" cy="3180446"/>
          </a:xfrm>
        </p:spPr>
        <p:txBody>
          <a:bodyPr anchor="ctr">
            <a:normAutofit/>
          </a:bodyPr>
          <a:lstStyle>
            <a:lvl1pPr algn="ctr">
              <a:defRPr sz="40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간지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국</a:t>
            </a:r>
            <a:r>
              <a:rPr lang="en-US" altLang="ko-KR" dirty="0"/>
              <a:t>/</a:t>
            </a:r>
            <a:r>
              <a:rPr lang="ko-KR" altLang="en-US" dirty="0"/>
              <a:t>영문</a:t>
            </a:r>
            <a:r>
              <a:rPr lang="en-US" altLang="ko-KR" dirty="0"/>
              <a:t>, Times, 40 pts)</a:t>
            </a:r>
            <a:endParaRPr 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0F02479-4D4E-48F6-A414-FD2BEFAB596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0565" y="6048339"/>
            <a:ext cx="720000" cy="720000"/>
          </a:xfrm>
          <a:prstGeom prst="rect">
            <a:avLst/>
          </a:prstGeom>
        </p:spPr>
      </p:pic>
      <p:pic>
        <p:nvPicPr>
          <p:cNvPr id="10" name="Picture 8">
            <a:extLst>
              <a:ext uri="{FF2B5EF4-FFF2-40B4-BE49-F238E27FC236}">
                <a16:creationId xmlns:a16="http://schemas.microsoft.com/office/drawing/2014/main" id="{93518514-EB1D-4173-98C0-35F88CF32D6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8645" y="6048339"/>
            <a:ext cx="720000" cy="72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1" name="그룹 10">
            <a:extLst>
              <a:ext uri="{FF2B5EF4-FFF2-40B4-BE49-F238E27FC236}">
                <a16:creationId xmlns:a16="http://schemas.microsoft.com/office/drawing/2014/main" id="{6A8B2090-A0C2-4296-B39A-3CF2073B64CD}"/>
              </a:ext>
            </a:extLst>
          </p:cNvPr>
          <p:cNvGrpSpPr/>
          <p:nvPr userDrawn="1"/>
        </p:nvGrpSpPr>
        <p:grpSpPr>
          <a:xfrm>
            <a:off x="122423" y="99901"/>
            <a:ext cx="3389530" cy="720000"/>
            <a:chOff x="3167632" y="6062339"/>
            <a:chExt cx="3389530" cy="720000"/>
          </a:xfrm>
        </p:grpSpPr>
        <p:pic>
          <p:nvPicPr>
            <p:cNvPr id="12" name="그림 11" descr="그리기, 플레이트, 음식, 방이(가) 표시된 사진&#10;&#10;자동 생성된 설명">
              <a:extLst>
                <a:ext uri="{FF2B5EF4-FFF2-40B4-BE49-F238E27FC236}">
                  <a16:creationId xmlns:a16="http://schemas.microsoft.com/office/drawing/2014/main" id="{D4A8645E-E578-4994-ACFB-E636079E422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67632" y="6062339"/>
              <a:ext cx="720000" cy="720000"/>
            </a:xfrm>
            <a:prstGeom prst="rect">
              <a:avLst/>
            </a:prstGeom>
          </p:spPr>
        </p:pic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869595E0-FFC1-42B0-845F-81DEAB14A06B}"/>
                </a:ext>
              </a:extLst>
            </p:cNvPr>
            <p:cNvSpPr/>
            <p:nvPr userDrawn="1"/>
          </p:nvSpPr>
          <p:spPr>
            <a:xfrm>
              <a:off x="3846292" y="6114563"/>
              <a:ext cx="2710870" cy="61555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000" b="1" spc="100" baseline="0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우주비행제어연구실</a:t>
              </a:r>
              <a:endParaRPr lang="en-US" altLang="ko-KR" sz="2000" b="1" spc="100" baseline="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endParaRPr>
            </a:p>
            <a:p>
              <a:r>
                <a:rPr lang="en-US" altLang="ko-KR" sz="1400" b="1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Astrodynamics and Control Lab.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286937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46300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EB3741-4917-4953-934B-4EF1C3CF7792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날짜 개체 틀 7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9" name="바닥글 개체 틀 8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2694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77" r:id="rId2"/>
    <p:sldLayoutId id="2147483662" r:id="rId3"/>
    <p:sldLayoutId id="2147483679" r:id="rId4"/>
    <p:sldLayoutId id="2147483678" r:id="rId5"/>
    <p:sldLayoutId id="2147483667" r:id="rId6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gif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5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부제목 1">
            <a:extLst>
              <a:ext uri="{FF2B5EF4-FFF2-40B4-BE49-F238E27FC236}">
                <a16:creationId xmlns:a16="http://schemas.microsoft.com/office/drawing/2014/main" id="{007FD355-926D-4297-AA2A-AA0058A0703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/>
              <a:t>이진진</a:t>
            </a:r>
            <a:endParaRPr lang="en-US" altLang="ko-KR" dirty="0"/>
          </a:p>
          <a:p>
            <a:r>
              <a:rPr lang="ko-KR" altLang="en-US" dirty="0"/>
              <a:t>석사과정 </a:t>
            </a:r>
            <a:r>
              <a:rPr lang="en-US" altLang="ko-KR" dirty="0"/>
              <a:t>3</a:t>
            </a:r>
            <a:r>
              <a:rPr lang="ko-KR" altLang="en-US" dirty="0"/>
              <a:t>학기</a:t>
            </a:r>
            <a:endParaRPr lang="en-US" altLang="ko-KR" dirty="0"/>
          </a:p>
          <a:p>
            <a:r>
              <a:rPr lang="en-US" altLang="ko-KR" dirty="0"/>
              <a:t>2023-04-28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9F47A90A-3F95-4B77-93ED-98D75036845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이종위성군 선행연구자료</a:t>
            </a:r>
          </a:p>
        </p:txBody>
      </p:sp>
    </p:spTree>
    <p:extLst>
      <p:ext uri="{BB962C8B-B14F-4D97-AF65-F5344CB8AC3E}">
        <p14:creationId xmlns:p14="http://schemas.microsoft.com/office/powerpoint/2010/main" val="18947571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</a:t>
            </a:fld>
            <a:endParaRPr lang="en-US" altLang="en-US" dirty="0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연구 목표 및 자료조사에 참고한 논문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 lvl="0">
              <a:defRPr/>
            </a:pPr>
            <a:r>
              <a:rPr lang="ko-KR" altLang="en-US" dirty="0"/>
              <a:t>이종위성군 우주 감시정찰 기술 </a:t>
            </a:r>
            <a:endParaRPr lang="en-US" altLang="ko-KR" dirty="0"/>
          </a:p>
          <a:p>
            <a:pPr lvl="1"/>
            <a:r>
              <a:rPr lang="ko-KR" altLang="en-US" sz="1800" dirty="0"/>
              <a:t>선행연구 목표</a:t>
            </a:r>
            <a:r>
              <a:rPr lang="en-US" altLang="ko-KR" sz="1800" dirty="0"/>
              <a:t> : </a:t>
            </a:r>
            <a:r>
              <a:rPr lang="ko-KR" altLang="en-US" sz="1800" dirty="0"/>
              <a:t>이종위성군 성능 분석 및 설계</a:t>
            </a:r>
            <a:r>
              <a:rPr lang="en-US" altLang="ko-KR" sz="1800" dirty="0"/>
              <a:t>/</a:t>
            </a:r>
            <a:r>
              <a:rPr lang="ko-KR" altLang="en-US" sz="1800" dirty="0"/>
              <a:t>최적화를 위한 자료수집 </a:t>
            </a:r>
            <a:endParaRPr lang="en-US" altLang="ko-KR" sz="1800" dirty="0"/>
          </a:p>
          <a:p>
            <a:pPr lvl="1"/>
            <a:r>
              <a:rPr lang="ko-KR" altLang="en-US" dirty="0"/>
              <a:t>논문 선정 기준 </a:t>
            </a:r>
            <a:r>
              <a:rPr lang="en-US" altLang="ko-KR" dirty="0"/>
              <a:t>: </a:t>
            </a:r>
            <a:r>
              <a:rPr lang="ko-KR" altLang="en-US" sz="1800" dirty="0"/>
              <a:t>한반도를 관심지역으로 설정한 본 프로젝트의 연구 방향에 가장 적합하며 의미 있을 것으로 판단되는 논문을 아래와 같이 선별함</a:t>
            </a:r>
            <a:endParaRPr lang="en-US" altLang="ko-KR" sz="1800" dirty="0"/>
          </a:p>
          <a:p>
            <a:pPr lvl="2"/>
            <a:r>
              <a:rPr lang="en-US" altLang="ko-KR" dirty="0"/>
              <a:t>(1) I. Sanad and D. G. Michelson, "A Framework for Heterogeneous Satellite Constellation Design for Rapid Response Earth Observations," 2019 IEEE Aerospace Conference, Big Sky, MT, USA, 2019, pp. 1-10, </a:t>
            </a:r>
            <a:r>
              <a:rPr lang="en-US" altLang="ko-KR" dirty="0" err="1"/>
              <a:t>doi</a:t>
            </a:r>
            <a:r>
              <a:rPr lang="en-US" altLang="ko-KR" dirty="0"/>
              <a:t>: 10.1109/AERO.2019.8741813. </a:t>
            </a:r>
          </a:p>
          <a:p>
            <a:pPr lvl="2"/>
            <a:r>
              <a:rPr lang="en-US" altLang="ko-KR" dirty="0"/>
              <a:t>(2) S. Zhao, Y. Xu, H. Dai; Research on the configuration design method of heterogeneous constellation reconstruction under the multiple objective and multiple constraint. AIP Conference Proceedings 8 May 2017; 1839 (1): 020083.</a:t>
            </a:r>
          </a:p>
          <a:p>
            <a:pPr lvl="2"/>
            <a:r>
              <a:rPr lang="en-US" altLang="ko-KR" dirty="0"/>
              <a:t>(3) P. Fox, G. </a:t>
            </a:r>
            <a:r>
              <a:rPr lang="en-US" altLang="ko-KR" dirty="0" err="1"/>
              <a:t>Tyc</a:t>
            </a:r>
            <a:r>
              <a:rPr lang="en-US" altLang="ko-KR" dirty="0"/>
              <a:t>, and K. Beckett, “The UrtheCast SAR-XL multi-band, multi-aperture spaceborne SAR system,” 2017 IEEE Radar Conference (</a:t>
            </a:r>
            <a:r>
              <a:rPr lang="en-US" altLang="ko-KR" dirty="0" err="1"/>
              <a:t>RadarConf</a:t>
            </a:r>
            <a:r>
              <a:rPr lang="en-US" altLang="ko-KR" dirty="0"/>
              <a:t>), pp. 1761–1764, May 2017.</a:t>
            </a:r>
          </a:p>
          <a:p>
            <a:pPr lvl="2"/>
            <a:r>
              <a:rPr lang="en-US" altLang="ko-KR" dirty="0"/>
              <a:t>(4) L. Liu, Z. Dong, H. </a:t>
            </a:r>
            <a:r>
              <a:rPr lang="en-US" altLang="ko-KR" dirty="0" err="1"/>
              <a:t>Su</a:t>
            </a:r>
            <a:r>
              <a:rPr lang="en-US" altLang="ko-KR" dirty="0"/>
              <a:t>, D. Yu and Y. Lin, "Research on a Heterogeneous Multi-satellite Mission Scheduling Model for Earth Observation Based on Adaptive Genetic-Tabu Hybrid Search Algorithm," 2021 IEEE 5th Advanced Information Technology, Electronic and Automation Control Conference (IAEAC), Chongqing, China, 2021, pp. 1684-1690, </a:t>
            </a:r>
            <a:r>
              <a:rPr lang="en-US" altLang="ko-KR" dirty="0" err="1"/>
              <a:t>doi</a:t>
            </a:r>
            <a:r>
              <a:rPr lang="en-US" altLang="ko-KR" dirty="0"/>
              <a:t>: 10.1109/IAEAC50856.2021.9390990.</a:t>
            </a:r>
          </a:p>
          <a:p>
            <a:pPr lvl="1"/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35645488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b="1" dirty="0"/>
              <a:t>(1) </a:t>
            </a:r>
            <a:r>
              <a:rPr lang="en-US" altLang="ko-KR" dirty="0"/>
              <a:t>I. Sanad and D. G. Michelson, "A Framework for Heterogeneous Satellite Constellation Design for Rapid Response Earth Observations," 2019 IEEE Aerospace Conference, Big Sky, MT, USA, 2019, pp. 1-10, </a:t>
            </a:r>
            <a:r>
              <a:rPr lang="en-US" altLang="ko-KR" dirty="0" err="1"/>
              <a:t>doi</a:t>
            </a:r>
            <a:r>
              <a:rPr lang="en-US" altLang="ko-KR" dirty="0"/>
              <a:t>: 10.1109/AERO.2019.8741813. </a:t>
            </a:r>
            <a:endParaRPr lang="ko-KR" altLang="en-US" b="1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59774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3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연구목표 및 이종위성군의 정의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ko-KR" altLang="en-US" dirty="0"/>
              <a:t>연구목표</a:t>
            </a:r>
          </a:p>
          <a:p>
            <a:pPr lvl="1"/>
            <a:r>
              <a:rPr lang="ko-KR" altLang="en-US" dirty="0"/>
              <a:t>자연재해 등 국방 및 자연안보에 신속하게 대응 </a:t>
            </a:r>
            <a:endParaRPr lang="en-US" altLang="ko-KR" dirty="0"/>
          </a:p>
          <a:p>
            <a:pPr lvl="1"/>
            <a:r>
              <a:rPr lang="en-US" altLang="ko-KR" dirty="0"/>
              <a:t>SRT(System Response Time)</a:t>
            </a:r>
            <a:r>
              <a:rPr lang="ko-KR" altLang="en-US" dirty="0"/>
              <a:t>를 최대한 줄일 수 있는 이종위성군 설계</a:t>
            </a:r>
            <a:endParaRPr lang="en-US" altLang="ko-KR" dirty="0"/>
          </a:p>
          <a:p>
            <a:pPr marL="216000" lvl="1" indent="0">
              <a:buNone/>
            </a:pPr>
            <a:endParaRPr lang="ko-KR" altLang="en-US" dirty="0"/>
          </a:p>
          <a:p>
            <a:r>
              <a:rPr lang="ko-KR" altLang="en-US" dirty="0"/>
              <a:t>본 논문에서의 </a:t>
            </a:r>
            <a:r>
              <a:rPr lang="en-US" altLang="ko-KR" dirty="0"/>
              <a:t>Heterogeneous Constellation</a:t>
            </a:r>
            <a:r>
              <a:rPr lang="ko-KR" altLang="en-US" dirty="0"/>
              <a:t>의 정의</a:t>
            </a:r>
          </a:p>
          <a:p>
            <a:pPr lvl="1"/>
            <a:r>
              <a:rPr lang="en-US" altLang="ko-KR" dirty="0"/>
              <a:t>SRT </a:t>
            </a:r>
            <a:r>
              <a:rPr lang="ko-KR" altLang="en-US" dirty="0"/>
              <a:t>성능을 향상시키기 위해 서로 다른 기능을 하는 두 종류의 위성</a:t>
            </a:r>
            <a:r>
              <a:rPr lang="en-US" altLang="ko-KR" dirty="0"/>
              <a:t>(Imaging</a:t>
            </a:r>
            <a:r>
              <a:rPr lang="ko-KR" altLang="en-US" dirty="0"/>
              <a:t> 위성과 </a:t>
            </a:r>
            <a:r>
              <a:rPr lang="en-US" altLang="ko-KR" dirty="0"/>
              <a:t>Relay</a:t>
            </a:r>
            <a:r>
              <a:rPr lang="ko-KR" altLang="en-US" dirty="0"/>
              <a:t> 위성</a:t>
            </a:r>
            <a:r>
              <a:rPr lang="en-US" altLang="ko-KR" dirty="0"/>
              <a:t>)</a:t>
            </a:r>
            <a:r>
              <a:rPr lang="ko-KR" altLang="en-US" dirty="0"/>
              <a:t>을 </a:t>
            </a:r>
            <a:r>
              <a:rPr lang="en-US" altLang="ko-KR" dirty="0"/>
              <a:t>Cross-Link</a:t>
            </a:r>
            <a:r>
              <a:rPr lang="ko-KR" altLang="en-US" dirty="0"/>
              <a:t>하여 운용함</a:t>
            </a:r>
            <a:endParaRPr lang="en-US" altLang="ko-KR" dirty="0"/>
          </a:p>
          <a:p>
            <a:pPr lvl="1"/>
            <a:r>
              <a:rPr lang="ko-KR" altLang="en-US" dirty="0"/>
              <a:t>이 중</a:t>
            </a:r>
            <a:r>
              <a:rPr lang="en-US" altLang="ko-KR" dirty="0"/>
              <a:t>, Imaging</a:t>
            </a:r>
            <a:r>
              <a:rPr lang="ko-KR" altLang="en-US" dirty="0"/>
              <a:t> 위성에 대해서는 고도가 다른 두 궤도에 각각 배치함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607627868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4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SRT</a:t>
            </a:r>
            <a:r>
              <a:rPr lang="ko-KR" altLang="en-US" dirty="0"/>
              <a:t>의 정의 및 구성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SRT</a:t>
            </a:r>
            <a:r>
              <a:rPr lang="ko-KR" altLang="en-US" dirty="0"/>
              <a:t>의 구성</a:t>
            </a:r>
            <a:endParaRPr lang="en-US" altLang="ko-KR" dirty="0"/>
          </a:p>
          <a:p>
            <a:pPr lvl="1"/>
            <a:r>
              <a:rPr lang="en-US" altLang="ko-KR" dirty="0"/>
              <a:t>SRT(</a:t>
            </a:r>
            <a:r>
              <a:rPr lang="ko-KR" altLang="en-US" dirty="0"/>
              <a:t>시스템 처리 시간</a:t>
            </a:r>
            <a:r>
              <a:rPr lang="en-US" altLang="ko-KR" dirty="0"/>
              <a:t>)</a:t>
            </a:r>
            <a:r>
              <a:rPr lang="ko-KR" altLang="en-US" dirty="0"/>
              <a:t>은 시스템 요청 제출 시점부터 생성된 이미지를 사용할 수 있을 때까지의 시간 간격을 정의하며 다음의 </a:t>
            </a:r>
            <a:r>
              <a:rPr lang="en-US" altLang="ko-KR" dirty="0"/>
              <a:t>7</a:t>
            </a:r>
            <a:r>
              <a:rPr lang="ko-KR" altLang="en-US" dirty="0"/>
              <a:t>가지 </a:t>
            </a:r>
            <a:r>
              <a:rPr lang="en-US" altLang="ko-KR" dirty="0"/>
              <a:t>delay</a:t>
            </a:r>
            <a:r>
              <a:rPr lang="ko-KR" altLang="en-US" dirty="0"/>
              <a:t>로 구성</a:t>
            </a:r>
            <a:endParaRPr lang="en-US" altLang="ko-KR" dirty="0"/>
          </a:p>
          <a:p>
            <a:pPr lvl="1"/>
            <a:r>
              <a:rPr lang="en-US" altLang="ko-KR" dirty="0"/>
              <a:t>Imaging </a:t>
            </a:r>
            <a:r>
              <a:rPr lang="ko-KR" altLang="en-US" dirty="0"/>
              <a:t>위성과 </a:t>
            </a:r>
            <a:r>
              <a:rPr lang="en-US" altLang="ko-KR" dirty="0"/>
              <a:t>Relay</a:t>
            </a:r>
            <a:r>
              <a:rPr lang="ko-KR" altLang="en-US" dirty="0"/>
              <a:t> 위성 사이에 양방향 </a:t>
            </a:r>
            <a:r>
              <a:rPr lang="en-US" altLang="ko-KR" dirty="0"/>
              <a:t>ISL</a:t>
            </a:r>
            <a:r>
              <a:rPr lang="ko-KR" altLang="en-US" dirty="0"/>
              <a:t>을 이용하여 </a:t>
            </a:r>
            <a:r>
              <a:rPr lang="en-US" altLang="ko-KR" dirty="0"/>
              <a:t>T2</a:t>
            </a:r>
            <a:r>
              <a:rPr lang="ko-KR" altLang="en-US" dirty="0"/>
              <a:t>와 </a:t>
            </a:r>
            <a:r>
              <a:rPr lang="en-US" altLang="ko-KR" dirty="0"/>
              <a:t>T6</a:t>
            </a:r>
            <a:r>
              <a:rPr lang="ko-KR" altLang="en-US" dirty="0"/>
              <a:t>을 줄임으로써 </a:t>
            </a:r>
            <a:r>
              <a:rPr lang="en-US" altLang="ko-KR" dirty="0"/>
              <a:t>SRT</a:t>
            </a:r>
            <a:r>
              <a:rPr lang="ko-KR" altLang="en-US" dirty="0"/>
              <a:t>를 크게 줄일 수 있음</a:t>
            </a:r>
          </a:p>
          <a:p>
            <a:pPr lvl="1"/>
            <a:endParaRPr lang="ko-KR" altLang="en-US" dirty="0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AAAF35A6-D401-E0F9-E0C2-89502E430E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9989569"/>
              </p:ext>
            </p:extLst>
          </p:nvPr>
        </p:nvGraphicFramePr>
        <p:xfrm>
          <a:off x="486122" y="2605142"/>
          <a:ext cx="8171756" cy="3505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459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444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1367">
                  <a:extLst>
                    <a:ext uri="{9D8B030D-6E8A-4147-A177-3AD203B41FA5}">
                      <a16:colId xmlns:a16="http://schemas.microsoft.com/office/drawing/2014/main" val="3978487964"/>
                    </a:ext>
                  </a:extLst>
                </a:gridCol>
              </a:tblGrid>
              <a:tr h="27118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Time</a:t>
                      </a:r>
                      <a:endParaRPr lang="ko-KR" altLang="en-US" sz="14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Definition</a:t>
                      </a:r>
                      <a:endParaRPr lang="ko-KR" altLang="en-US" sz="14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Value</a:t>
                      </a:r>
                      <a:endParaRPr lang="ko-KR" altLang="en-US" sz="14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9497"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1200" b="1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Command Preparation Time</a:t>
                      </a:r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(T1)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지상국에서부터 </a:t>
                      </a:r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Imaging </a:t>
                      </a:r>
                      <a:r>
                        <a:rPr lang="ko-KR" altLang="en-US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위성까지 명령을 전달하기 전에 명령을 수집하는데 걸리는 시간</a:t>
                      </a:r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. </a:t>
                      </a:r>
                      <a:r>
                        <a:rPr lang="ko-KR" altLang="en-US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요청 및 처리 지연 시간</a:t>
                      </a:r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, </a:t>
                      </a:r>
                      <a:r>
                        <a:rPr lang="ko-KR" altLang="en-US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시스템 프로그래밍 및 명령 컴파일이 포함됨</a:t>
                      </a:r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.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Fixed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4070"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1200" b="1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Command Uplink Delay Time</a:t>
                      </a:r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(T2)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Imaging 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위성과 지상국이 접속할 때 까지의 시간 지연</a:t>
                      </a: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.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Dynamic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4070"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1200" b="1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Commanding Time</a:t>
                      </a:r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(T3-1st)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지상국에서 </a:t>
                      </a: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Imaging 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위성으로 수집된 명령을 전달하는데 필요한 시간</a:t>
                      </a: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.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Fixed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784"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1200" b="1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Pre-collection Time</a:t>
                      </a:r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(T3-2nd)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이미지 획들을 위해 명령을 수신한 후 대상의 접속 시간을 구성하는 데 필요한 시간</a:t>
                      </a:r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. </a:t>
                      </a:r>
                      <a:r>
                        <a:rPr lang="ko-KR" altLang="en-US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필요한 운용 모드로 탑재체를 스위칭 하는 데 필요한 시간</a:t>
                      </a:r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.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Fixed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6784"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1200" b="1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Intrinsic Response Time</a:t>
                      </a:r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(T4)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관심 지역에 대한 커버리지 요청과 커버리지가 달성되는 시간 간격</a:t>
                      </a: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. Imaging 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위성군의 재방문 시간에 완전히 의존함</a:t>
                      </a: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.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Dynamic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24509"/>
                  </a:ext>
                </a:extLst>
              </a:tr>
              <a:tr h="244070"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1200" b="1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Collection Time</a:t>
                      </a:r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(T5-1st)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Imaging 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위성이 타겟의 이미지를 수집하는 데 필요한 시간</a:t>
                      </a: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.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Fixed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7019693"/>
                  </a:ext>
                </a:extLst>
              </a:tr>
              <a:tr h="244070"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1200" b="1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Post collection time</a:t>
                      </a:r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(T5-2nd)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Downlink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에 대한 수신 지상국을 구성하는 데 필요한 시간</a:t>
                      </a: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.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Fixed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718721"/>
                  </a:ext>
                </a:extLst>
              </a:tr>
              <a:tr h="244070"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1200" b="1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Data Downlink Delay Time</a:t>
                      </a:r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(T6)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Imaging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위성과 수신 </a:t>
                      </a:r>
                      <a:r>
                        <a:rPr kumimoji="0" lang="ko-KR" alt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지상국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 사이이 접속할 때까지의 시간 지연</a:t>
                      </a: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.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Dynamic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40821"/>
                  </a:ext>
                </a:extLst>
              </a:tr>
              <a:tr h="244070"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1200" b="1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Downlink Time</a:t>
                      </a:r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(T7)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생성된 데이터를 </a:t>
                      </a: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Downlink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하는 데 필요한 시간</a:t>
                      </a: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. 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Fixed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76997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0564447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ko-KR" altLang="en-US" dirty="0"/>
              <a:t>연구방법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lvl="1"/>
            <a:r>
              <a:rPr lang="en-US" altLang="ko-KR" dirty="0"/>
              <a:t>(1) </a:t>
            </a:r>
            <a:r>
              <a:rPr lang="ko-KR" altLang="en-US" dirty="0"/>
              <a:t>임무목적과 제한조건을 설정</a:t>
            </a:r>
            <a:endParaRPr lang="en-US" altLang="ko-KR" dirty="0"/>
          </a:p>
          <a:p>
            <a:pPr lvl="1"/>
            <a:r>
              <a:rPr lang="en-US" altLang="ko-KR" dirty="0"/>
              <a:t>(2) EO </a:t>
            </a:r>
            <a:r>
              <a:rPr lang="ko-KR" altLang="en-US" dirty="0"/>
              <a:t>탑재체의 성능 결정</a:t>
            </a:r>
            <a:endParaRPr lang="en-US" altLang="ko-KR" dirty="0"/>
          </a:p>
          <a:p>
            <a:pPr lvl="1"/>
            <a:r>
              <a:rPr lang="en-US" altLang="ko-KR" dirty="0"/>
              <a:t>(3) </a:t>
            </a:r>
            <a:r>
              <a:rPr lang="ko-KR" altLang="en-US" dirty="0"/>
              <a:t>궤도역학에 기반한</a:t>
            </a:r>
            <a:r>
              <a:rPr lang="en-US" altLang="ko-KR" dirty="0"/>
              <a:t> STK </a:t>
            </a:r>
            <a:r>
              <a:rPr lang="ko-KR" altLang="en-US" dirty="0"/>
              <a:t>소프트웨어 시뮬레이션</a:t>
            </a:r>
            <a:endParaRPr lang="en-US" altLang="ko-KR" dirty="0"/>
          </a:p>
          <a:p>
            <a:pPr lvl="1"/>
            <a:r>
              <a:rPr lang="en-US" altLang="ko-KR" dirty="0"/>
              <a:t>(4) </a:t>
            </a:r>
            <a:r>
              <a:rPr lang="ko-KR" altLang="en-US" dirty="0"/>
              <a:t>궤도정보 및 </a:t>
            </a:r>
            <a:r>
              <a:rPr lang="ko-KR" altLang="en-US" dirty="0" err="1"/>
              <a:t>위성군</a:t>
            </a:r>
            <a:r>
              <a:rPr lang="ko-KR" altLang="en-US" dirty="0"/>
              <a:t> 운용 개념 결정</a:t>
            </a:r>
            <a:endParaRPr lang="en-US" altLang="ko-KR" dirty="0"/>
          </a:p>
          <a:p>
            <a:pPr lvl="1"/>
            <a:r>
              <a:rPr lang="en-US" altLang="ko-KR" dirty="0"/>
              <a:t>(5) </a:t>
            </a:r>
            <a:r>
              <a:rPr lang="ko-KR" altLang="en-US" dirty="0" err="1"/>
              <a:t>위성군</a:t>
            </a:r>
            <a:r>
              <a:rPr lang="ko-KR" altLang="en-US" dirty="0"/>
              <a:t> 설계</a:t>
            </a:r>
            <a:endParaRPr lang="en-US" altLang="ko-KR" dirty="0"/>
          </a:p>
          <a:p>
            <a:pPr lvl="1"/>
            <a:r>
              <a:rPr lang="en-US" altLang="ko-KR" dirty="0"/>
              <a:t>(6) </a:t>
            </a:r>
            <a:r>
              <a:rPr lang="ko-KR" altLang="en-US" dirty="0"/>
              <a:t>최적의 결과를 내는 성능지수 도출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5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단계별 연구방법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CBABF09C-C3AA-875F-66EE-3594CC1F60B1}"/>
              </a:ext>
            </a:extLst>
          </p:cNvPr>
          <p:cNvGrpSpPr/>
          <p:nvPr/>
        </p:nvGrpSpPr>
        <p:grpSpPr>
          <a:xfrm>
            <a:off x="287902" y="1547104"/>
            <a:ext cx="5887955" cy="2121437"/>
            <a:chOff x="279751" y="1524723"/>
            <a:chExt cx="5360761" cy="1931488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778E0DC1-8279-79E8-6701-7CD127EC41D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85627" y="1524723"/>
              <a:ext cx="5054885" cy="1931488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02B189E-DC46-E69E-EFBD-9F3E0758E038}"/>
                </a:ext>
              </a:extLst>
            </p:cNvPr>
            <p:cNvSpPr txBox="1"/>
            <p:nvPr/>
          </p:nvSpPr>
          <p:spPr>
            <a:xfrm>
              <a:off x="279751" y="1568615"/>
              <a:ext cx="445927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/>
                <a:t>(1)</a:t>
              </a:r>
              <a:endParaRPr lang="ko-KR" altLang="en-US" sz="1200" b="1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8C917C6-EFA8-9B1E-5BA4-C18D134BDC5C}"/>
                </a:ext>
              </a:extLst>
            </p:cNvPr>
            <p:cNvSpPr txBox="1"/>
            <p:nvPr/>
          </p:nvSpPr>
          <p:spPr>
            <a:xfrm>
              <a:off x="1494176" y="2285386"/>
              <a:ext cx="445927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/>
                <a:t>(2)</a:t>
              </a:r>
              <a:endParaRPr lang="ko-KR" altLang="en-US" sz="1200" b="1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6FD4704-FE8B-0C1E-7B1D-108D26E6DE3F}"/>
                </a:ext>
              </a:extLst>
            </p:cNvPr>
            <p:cNvSpPr txBox="1"/>
            <p:nvPr/>
          </p:nvSpPr>
          <p:spPr>
            <a:xfrm>
              <a:off x="2074409" y="2884779"/>
              <a:ext cx="445927" cy="2521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/>
                <a:t>(4)</a:t>
              </a:r>
              <a:endParaRPr lang="ko-KR" altLang="en-US" sz="1200" b="1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CA21EED1-5953-B105-63ED-2DB925C778C5}"/>
                </a:ext>
              </a:extLst>
            </p:cNvPr>
            <p:cNvSpPr txBox="1"/>
            <p:nvPr/>
          </p:nvSpPr>
          <p:spPr>
            <a:xfrm>
              <a:off x="1885947" y="1540926"/>
              <a:ext cx="445927" cy="2521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/>
                <a:t>(5)</a:t>
              </a:r>
              <a:endParaRPr lang="ko-KR" altLang="en-US" sz="1200" b="1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D0748C22-1B23-770B-607E-8C4B3C0EBCA1}"/>
                </a:ext>
              </a:extLst>
            </p:cNvPr>
            <p:cNvSpPr txBox="1"/>
            <p:nvPr/>
          </p:nvSpPr>
          <p:spPr>
            <a:xfrm>
              <a:off x="3720920" y="1569601"/>
              <a:ext cx="445927" cy="2521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/>
                <a:t>(6)</a:t>
              </a:r>
              <a:endParaRPr lang="ko-KR" altLang="en-US" sz="1200" b="1" dirty="0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ACEE1002-5A46-31F7-41C2-6DF0883DCFBF}"/>
              </a:ext>
            </a:extLst>
          </p:cNvPr>
          <p:cNvSpPr txBox="1"/>
          <p:nvPr/>
        </p:nvSpPr>
        <p:spPr>
          <a:xfrm>
            <a:off x="4151171" y="3032901"/>
            <a:ext cx="48978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 dirty="0"/>
              <a:t>(3)</a:t>
            </a:r>
            <a:endParaRPr lang="ko-KR" alt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4153953825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(1) Mission Objectives and</a:t>
            </a:r>
            <a:r>
              <a:rPr lang="ko-KR" altLang="en-US" dirty="0"/>
              <a:t> </a:t>
            </a:r>
            <a:r>
              <a:rPr lang="en-US" altLang="ko-KR" dirty="0"/>
              <a:t>Constraints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r>
              <a:rPr lang="en-US" altLang="ko-KR" dirty="0"/>
              <a:t>(2) Remote Sensing Sensor</a:t>
            </a:r>
          </a:p>
          <a:p>
            <a:endParaRPr lang="en-US" altLang="ko-KR" dirty="0"/>
          </a:p>
          <a:p>
            <a:pPr lvl="1"/>
            <a:endParaRPr lang="en-US" altLang="ko-KR" dirty="0"/>
          </a:p>
          <a:p>
            <a:endParaRPr lang="ko-KR" altLang="en-US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6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>
              <a:defRPr/>
            </a:pPr>
            <a:r>
              <a:rPr lang="ko-KR" altLang="en-US" dirty="0"/>
              <a:t>임무 목적 및 제한조건과 </a:t>
            </a:r>
            <a:r>
              <a:rPr lang="ko-KR" altLang="en-US" dirty="0" err="1"/>
              <a:t>탑재체</a:t>
            </a:r>
            <a:r>
              <a:rPr lang="ko-KR" altLang="en-US" dirty="0"/>
              <a:t> 성능 결정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E3F103E3-69C3-6850-2071-B6FE1CA0FA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7648207"/>
              </p:ext>
            </p:extLst>
          </p:nvPr>
        </p:nvGraphicFramePr>
        <p:xfrm>
          <a:off x="750760" y="1424372"/>
          <a:ext cx="6125211" cy="2773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44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7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63583">
                  <a:extLst>
                    <a:ext uri="{9D8B030D-6E8A-4147-A177-3AD203B41FA5}">
                      <a16:colId xmlns:a16="http://schemas.microsoft.com/office/drawing/2014/main" val="1211919237"/>
                    </a:ext>
                  </a:extLst>
                </a:gridCol>
              </a:tblGrid>
              <a:tr h="26799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Step</a:t>
                      </a:r>
                      <a:endParaRPr lang="ko-KR" altLang="en-US" sz="14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Explain</a:t>
                      </a:r>
                      <a:endParaRPr lang="ko-KR" altLang="en-US" sz="14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191"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Mission</a:t>
                      </a:r>
                      <a:r>
                        <a:rPr lang="ko-KR" altLang="en-US" sz="1200" b="1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 </a:t>
                      </a:r>
                      <a:r>
                        <a:rPr lang="en-US" altLang="ko-KR" sz="1200" b="1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Objectives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Global Coverage 100% </a:t>
                      </a:r>
                      <a:r>
                        <a:rPr lang="ko-KR" altLang="en-US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커버를 달성하는 광학 </a:t>
                      </a:r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imaging </a:t>
                      </a:r>
                      <a:r>
                        <a:rPr lang="ko-KR" altLang="en-US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위성군을 설계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191">
                <a:tc vMerge="1">
                  <a:txBody>
                    <a:bodyPr/>
                    <a:lstStyle/>
                    <a:p>
                      <a:pPr algn="just" latinLnBrk="1"/>
                      <a:r>
                        <a:rPr lang="en-US" altLang="ko-KR" sz="1200" b="1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Command Uplink Delay Time</a:t>
                      </a:r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(T2)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특정 공간 해상도를 달성하는데 필요한 </a:t>
                      </a:r>
                      <a:r>
                        <a:rPr kumimoji="0" lang="ko-KR" alt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탑재체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 파라미터 지정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1191">
                <a:tc vMerge="1">
                  <a:txBody>
                    <a:bodyPr/>
                    <a:lstStyle/>
                    <a:p>
                      <a:pPr algn="just" latinLnBrk="1"/>
                      <a:r>
                        <a:rPr lang="en-US" altLang="ko-KR" sz="1200" b="1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Commanding Time</a:t>
                      </a:r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(T3-1st)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SRT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를 줄이기 위한 최상의 적도 평면 상의 </a:t>
                      </a: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Relay 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위성군을 설계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191">
                <a:tc vMerge="1">
                  <a:txBody>
                    <a:bodyPr/>
                    <a:lstStyle/>
                    <a:p>
                      <a:pPr algn="just" latinLnBrk="1"/>
                      <a:r>
                        <a:rPr lang="en-US" altLang="ko-KR" sz="1200" b="1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Pre-collection Time</a:t>
                      </a:r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(T3-2nd)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신호 송수신을 위한 지상국의 위치 설정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1191">
                <a:tc rowSpan="5"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Constraints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SSO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200~1,200km (Imaging </a:t>
                      </a:r>
                      <a:r>
                        <a:rPr kumimoji="0" lang="ko-KR" alt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위성군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 배치</a:t>
                      </a: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)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24509"/>
                  </a:ext>
                </a:extLst>
              </a:tr>
              <a:tr h="241191">
                <a:tc vMerge="1">
                  <a:txBody>
                    <a:bodyPr/>
                    <a:lstStyle/>
                    <a:p>
                      <a:pPr algn="just" latinLnBrk="1"/>
                      <a:r>
                        <a:rPr lang="en-US" altLang="ko-KR" sz="1200" b="1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Collection Time</a:t>
                      </a:r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(T5-1st)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MEO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8,000km (Relay </a:t>
                      </a:r>
                      <a:r>
                        <a:rPr kumimoji="0" lang="ko-KR" alt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위성군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 배치</a:t>
                      </a: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)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7019693"/>
                  </a:ext>
                </a:extLst>
              </a:tr>
              <a:tr h="241191">
                <a:tc vMerge="1">
                  <a:txBody>
                    <a:bodyPr/>
                    <a:lstStyle/>
                    <a:p>
                      <a:pPr algn="just" latinLnBrk="1"/>
                      <a:r>
                        <a:rPr lang="en-US" altLang="ko-KR" sz="1200" b="1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Post collection time</a:t>
                      </a:r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(T5-2nd)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평면 당 위성의 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2~6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718721"/>
                  </a:ext>
                </a:extLst>
              </a:tr>
              <a:tr h="241191">
                <a:tc vMerge="1">
                  <a:txBody>
                    <a:bodyPr/>
                    <a:lstStyle/>
                    <a:p>
                      <a:pPr algn="just" latinLnBrk="1"/>
                      <a:r>
                        <a:rPr lang="en-US" altLang="ko-KR" sz="1200" b="1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Data Downlink Delay Time</a:t>
                      </a:r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(T6)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지상국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 고도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10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˚ 이상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4082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just" latinLnBrk="1"/>
                      <a:r>
                        <a:rPr lang="en-US" altLang="ko-KR" sz="1200" b="1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Downlink Time</a:t>
                      </a:r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(T7)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 Detector Pitch(DP)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1 </a:t>
                      </a:r>
                      <a:r>
                        <a:rPr lang="el-GR" altLang="ko-KR" sz="1200" dirty="0"/>
                        <a:t>μ</a:t>
                      </a:r>
                      <a:r>
                        <a:rPr lang="en-US" altLang="ko-KR" sz="1200" dirty="0"/>
                        <a:t>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7699734"/>
                  </a:ext>
                </a:extLst>
              </a:tr>
            </a:tbl>
          </a:graphicData>
        </a:graphic>
      </p:graphicFrame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F1FBA166-D59A-D7DA-31F3-D3A18048B8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3149111"/>
              </p:ext>
            </p:extLst>
          </p:nvPr>
        </p:nvGraphicFramePr>
        <p:xfrm>
          <a:off x="750760" y="4903574"/>
          <a:ext cx="3122866" cy="140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04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0478">
                  <a:extLst>
                    <a:ext uri="{9D8B030D-6E8A-4147-A177-3AD203B41FA5}">
                      <a16:colId xmlns:a16="http://schemas.microsoft.com/office/drawing/2014/main" val="1881032504"/>
                    </a:ext>
                  </a:extLst>
                </a:gridCol>
                <a:gridCol w="1040955">
                  <a:extLst>
                    <a:ext uri="{9D8B030D-6E8A-4147-A177-3AD203B41FA5}">
                      <a16:colId xmlns:a16="http://schemas.microsoft.com/office/drawing/2014/main" val="400930265"/>
                    </a:ext>
                  </a:extLst>
                </a:gridCol>
                <a:gridCol w="1040955">
                  <a:extLst>
                    <a:ext uri="{9D8B030D-6E8A-4147-A177-3AD203B41FA5}">
                      <a16:colId xmlns:a16="http://schemas.microsoft.com/office/drawing/2014/main" val="3978487964"/>
                    </a:ext>
                  </a:extLst>
                </a:gridCol>
              </a:tblGrid>
              <a:tr h="19693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GSD</a:t>
                      </a:r>
                      <a:endParaRPr lang="ko-KR" altLang="en-US" sz="14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0.5m</a:t>
                      </a:r>
                      <a:endParaRPr lang="ko-KR" altLang="en-US" sz="14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5m</a:t>
                      </a:r>
                      <a:endParaRPr lang="ko-KR" altLang="en-US" sz="14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Focal length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1.2~1.4m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0.12~0.14m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DP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1 </a:t>
                      </a:r>
                      <a:r>
                        <a:rPr lang="el-GR" altLang="ko-KR" sz="1200" dirty="0"/>
                        <a:t>μ</a:t>
                      </a:r>
                      <a:r>
                        <a:rPr lang="en-US" altLang="ko-KR" sz="1200" dirty="0"/>
                        <a:t>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1</a:t>
                      </a:r>
                      <a:r>
                        <a:rPr lang="el-GR" altLang="ko-KR" sz="1200" dirty="0"/>
                        <a:t>μ</a:t>
                      </a:r>
                      <a:r>
                        <a:rPr lang="en-US" altLang="ko-KR" sz="1200" dirty="0"/>
                        <a:t>m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1908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FOV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20</a:t>
                      </a:r>
                      <a:r>
                        <a:rPr lang="ko-KR" altLang="en-US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212 km (@600km altitude)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3309454"/>
                  </a:ext>
                </a:extLst>
              </a:tr>
              <a:tr h="23190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40</a:t>
                      </a:r>
                      <a:r>
                        <a:rPr lang="ko-KR" altLang="en-US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473 km (@600km altitude)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5304945"/>
                  </a:ext>
                </a:extLst>
              </a:tr>
            </a:tbl>
          </a:graphicData>
        </a:graphic>
      </p:graphicFrame>
      <p:pic>
        <p:nvPicPr>
          <p:cNvPr id="8" name="그림 7">
            <a:extLst>
              <a:ext uri="{FF2B5EF4-FFF2-40B4-BE49-F238E27FC236}">
                <a16:creationId xmlns:a16="http://schemas.microsoft.com/office/drawing/2014/main" id="{A043772B-BCE6-0E42-B27D-5A2B8EB756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1546" y="4903574"/>
            <a:ext cx="2218431" cy="1750690"/>
          </a:xfrm>
          <a:prstGeom prst="rect">
            <a:avLst/>
          </a:prstGeom>
          <a:ln>
            <a:solidFill>
              <a:schemeClr val="tx1"/>
            </a:solidFill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CDB69AD-3490-DAAC-3FBB-D72669CDDDA8}"/>
                  </a:ext>
                </a:extLst>
              </p:cNvPr>
              <p:cNvSpPr txBox="1"/>
              <p:nvPr/>
            </p:nvSpPr>
            <p:spPr>
              <a:xfrm>
                <a:off x="6513784" y="5454176"/>
                <a:ext cx="2229328" cy="60337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altLang="ko-KR" dirty="0"/>
                  <a:t>GSD </a:t>
                </a:r>
                <a14:m>
                  <m:oMath xmlns:m="http://schemas.openxmlformats.org/officeDocument/2006/math">
                    <m:r>
                      <a:rPr lang="en-US" altLang="ko-KR" sz="240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𝐷𝑃</m:t>
                        </m:r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  <m:rad>
                          <m:radPr>
                            <m:degHide m:val="on"/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m:rPr>
                                <m:sty m:val="p"/>
                              </m:rPr>
                              <a:rPr lang="en-US" altLang="ko-KR" sz="2400" b="0" i="0" smtClean="0"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⁡(</m:t>
                            </m:r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𝑒𝑙𝑒𝑣</m:t>
                            </m:r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rad>
                      </m:den>
                    </m:f>
                  </m:oMath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CDB69AD-3490-DAAC-3FBB-D72669CDDD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3784" y="5454176"/>
                <a:ext cx="2229328" cy="603370"/>
              </a:xfrm>
              <a:prstGeom prst="rect">
                <a:avLst/>
              </a:prstGeom>
              <a:blipFill>
                <a:blip r:embed="rId4"/>
                <a:stretch>
                  <a:fillRect l="-657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25997403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 fontScale="92500" lnSpcReduction="20000"/>
          </a:bodyPr>
          <a:lstStyle/>
          <a:p>
            <a:r>
              <a:rPr lang="en-US" altLang="ko-KR" dirty="0"/>
              <a:t>(3) Orbital</a:t>
            </a:r>
            <a:r>
              <a:rPr lang="ko-KR" altLang="en-US" dirty="0"/>
              <a:t> </a:t>
            </a:r>
            <a:r>
              <a:rPr lang="en-US" altLang="ko-KR" dirty="0"/>
              <a:t>Mechanics and simulation method</a:t>
            </a:r>
          </a:p>
          <a:p>
            <a:pPr lvl="1"/>
            <a:r>
              <a:rPr lang="en-US" altLang="ko-KR" dirty="0"/>
              <a:t>STK</a:t>
            </a:r>
            <a:r>
              <a:rPr lang="ko-KR" altLang="en-US" dirty="0"/>
              <a:t> 소프트웨어 및 그에 포함된 </a:t>
            </a:r>
            <a:r>
              <a:rPr lang="en-US" altLang="ko-KR" dirty="0"/>
              <a:t>Coverage, STK Analyzer </a:t>
            </a:r>
            <a:r>
              <a:rPr lang="ko-KR" altLang="en-US" dirty="0"/>
              <a:t>등의 모듈을 사용하여 분석</a:t>
            </a:r>
            <a:endParaRPr lang="en-US" altLang="ko-KR" dirty="0"/>
          </a:p>
          <a:p>
            <a:pPr lvl="1"/>
            <a:r>
              <a:rPr lang="ko-KR" altLang="en-US" dirty="0"/>
              <a:t>또는 </a:t>
            </a:r>
            <a:r>
              <a:rPr lang="en-US" altLang="ko-KR" dirty="0"/>
              <a:t>STK</a:t>
            </a:r>
            <a:r>
              <a:rPr lang="ko-KR" altLang="en-US" dirty="0"/>
              <a:t>와 다른 소프트웨어인 </a:t>
            </a:r>
            <a:r>
              <a:rPr lang="en-US" altLang="ko-KR" dirty="0"/>
              <a:t>AWB(Analysis Workbench)</a:t>
            </a:r>
            <a:r>
              <a:rPr lang="ko-KR" altLang="en-US" dirty="0"/>
              <a:t>를 사용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marL="216000" lvl="1" indent="0">
              <a:buNone/>
            </a:pPr>
            <a:endParaRPr lang="en-US" altLang="ko-KR" dirty="0"/>
          </a:p>
          <a:p>
            <a:pPr marL="216000" lvl="1" indent="0">
              <a:buNone/>
            </a:pPr>
            <a:endParaRPr lang="en-US" altLang="ko-KR" dirty="0"/>
          </a:p>
          <a:p>
            <a:r>
              <a:rPr lang="en-US" altLang="ko-KR" dirty="0"/>
              <a:t>(4) Orbit types and Constellation Concept</a:t>
            </a:r>
          </a:p>
          <a:p>
            <a:pPr lvl="1"/>
            <a:r>
              <a:rPr lang="en-US" altLang="ko-KR" dirty="0"/>
              <a:t>SSO </a:t>
            </a:r>
            <a:r>
              <a:rPr lang="ko-KR" altLang="en-US" dirty="0"/>
              <a:t>궤도에 </a:t>
            </a:r>
            <a:r>
              <a:rPr lang="en-US" altLang="ko-KR" dirty="0"/>
              <a:t>Imaging </a:t>
            </a:r>
            <a:r>
              <a:rPr lang="ko-KR" altLang="en-US" dirty="0" err="1"/>
              <a:t>위성군</a:t>
            </a:r>
            <a:r>
              <a:rPr lang="ko-KR" altLang="en-US" dirty="0"/>
              <a:t> 배치</a:t>
            </a:r>
            <a:endParaRPr lang="en-US" altLang="ko-KR" dirty="0"/>
          </a:p>
          <a:p>
            <a:pPr lvl="1"/>
            <a:r>
              <a:rPr lang="en-US" altLang="ko-KR" dirty="0"/>
              <a:t>MIO </a:t>
            </a:r>
            <a:r>
              <a:rPr lang="ko-KR" altLang="en-US" dirty="0"/>
              <a:t>궤도에 </a:t>
            </a:r>
            <a:r>
              <a:rPr lang="en-US" altLang="ko-KR" dirty="0"/>
              <a:t>Imaging </a:t>
            </a:r>
            <a:r>
              <a:rPr lang="ko-KR" altLang="en-US" dirty="0" err="1"/>
              <a:t>위성군</a:t>
            </a:r>
            <a:r>
              <a:rPr lang="ko-KR" altLang="en-US" dirty="0"/>
              <a:t> 배치</a:t>
            </a:r>
            <a:endParaRPr lang="en-US" altLang="ko-KR" dirty="0"/>
          </a:p>
          <a:p>
            <a:pPr lvl="2"/>
            <a:r>
              <a:rPr lang="ko-KR" altLang="en-US" dirty="0"/>
              <a:t>중위도 지역 커버 목적</a:t>
            </a:r>
            <a:endParaRPr lang="en-US" altLang="ko-KR" dirty="0"/>
          </a:p>
          <a:p>
            <a:pPr lvl="1"/>
            <a:r>
              <a:rPr lang="en-US" altLang="ko-KR" dirty="0"/>
              <a:t>MEO</a:t>
            </a:r>
            <a:r>
              <a:rPr lang="ko-KR" altLang="en-US" dirty="0"/>
              <a:t>궤도에 </a:t>
            </a:r>
            <a:r>
              <a:rPr lang="en-US" altLang="ko-KR" dirty="0"/>
              <a:t>Relay </a:t>
            </a:r>
            <a:r>
              <a:rPr lang="ko-KR" altLang="en-US" dirty="0" err="1"/>
              <a:t>위성군</a:t>
            </a:r>
            <a:r>
              <a:rPr lang="ko-KR" altLang="en-US" dirty="0"/>
              <a:t> 배치</a:t>
            </a:r>
          </a:p>
          <a:p>
            <a:pPr lvl="2"/>
            <a:r>
              <a:rPr lang="en-US" altLang="ko-KR" dirty="0"/>
              <a:t>Imaging </a:t>
            </a:r>
            <a:r>
              <a:rPr lang="ko-KR" altLang="en-US" dirty="0"/>
              <a:t>위성군과의 </a:t>
            </a:r>
            <a:r>
              <a:rPr lang="en-US" altLang="ko-KR" dirty="0"/>
              <a:t>ISL</a:t>
            </a:r>
            <a:r>
              <a:rPr lang="ko-KR" altLang="en-US" dirty="0"/>
              <a:t> 통신 목적</a:t>
            </a:r>
          </a:p>
          <a:p>
            <a:pPr lvl="1"/>
            <a:r>
              <a:rPr lang="ko-KR" altLang="en-US" dirty="0"/>
              <a:t>이종 위성군을 이용한 </a:t>
            </a:r>
            <a:r>
              <a:rPr lang="en-US" altLang="ko-KR" dirty="0"/>
              <a:t>SRT</a:t>
            </a:r>
            <a:r>
              <a:rPr lang="ko-KR" altLang="en-US" dirty="0"/>
              <a:t> 성능분석</a:t>
            </a:r>
          </a:p>
          <a:p>
            <a:pPr lvl="2"/>
            <a:r>
              <a:rPr lang="ko-KR" altLang="en-US" dirty="0"/>
              <a:t>이종위성군 </a:t>
            </a:r>
            <a:r>
              <a:rPr lang="en-US" altLang="ko-KR" dirty="0"/>
              <a:t>vs Imaging</a:t>
            </a:r>
            <a:r>
              <a:rPr lang="ko-KR" altLang="en-US" dirty="0"/>
              <a:t> 위성군을 비교</a:t>
            </a:r>
            <a:endParaRPr lang="en-US" altLang="ko-KR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7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ko-KR" altLang="en-US" dirty="0"/>
              <a:t>사용된 </a:t>
            </a:r>
            <a:r>
              <a:rPr lang="en-US" altLang="ko-KR" dirty="0"/>
              <a:t>SW</a:t>
            </a:r>
            <a:r>
              <a:rPr lang="ko-KR" altLang="en-US" dirty="0"/>
              <a:t>및 궤도정보 및 운용개념 결정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93650ABF-6465-7406-9E97-F431DCDBC4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605" y="1894794"/>
            <a:ext cx="3687943" cy="1542566"/>
          </a:xfrm>
          <a:prstGeom prst="rect">
            <a:avLst/>
          </a:prstGeom>
          <a:ln>
            <a:solidFill>
              <a:schemeClr val="tx1"/>
            </a:solidFill>
          </a:ln>
        </p:spPr>
      </p:pic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9A483391-5840-00D5-4390-A1B22A7447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4585961"/>
              </p:ext>
            </p:extLst>
          </p:nvPr>
        </p:nvGraphicFramePr>
        <p:xfrm>
          <a:off x="4801717" y="1884520"/>
          <a:ext cx="4075044" cy="1604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59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59071">
                  <a:extLst>
                    <a:ext uri="{9D8B030D-6E8A-4147-A177-3AD203B41FA5}">
                      <a16:colId xmlns:a16="http://schemas.microsoft.com/office/drawing/2014/main" val="400930265"/>
                    </a:ext>
                  </a:extLst>
                </a:gridCol>
              </a:tblGrid>
              <a:tr h="16890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Term</a:t>
                      </a:r>
                      <a:endParaRPr lang="ko-KR" altLang="en-US" sz="15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Explain</a:t>
                      </a:r>
                      <a:endParaRPr lang="ko-KR" altLang="en-US" sz="15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898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DV</a:t>
                      </a:r>
                      <a:endParaRPr lang="ko-KR" altLang="en-US" sz="13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dirty="0"/>
                        <a:t>위성군을 설계할 때 </a:t>
                      </a:r>
                      <a:r>
                        <a:rPr lang="en-US" altLang="ko-KR" sz="1300" dirty="0"/>
                        <a:t>input</a:t>
                      </a:r>
                      <a:r>
                        <a:rPr lang="ko-KR" altLang="en-US" sz="1300" dirty="0"/>
                        <a:t>으로 적용되는 설계변수로</a:t>
                      </a:r>
                      <a:r>
                        <a:rPr lang="en-US" altLang="ko-KR" sz="1300" dirty="0"/>
                        <a:t>, </a:t>
                      </a:r>
                      <a:r>
                        <a:rPr lang="ko-KR" altLang="en-US" sz="1300" dirty="0"/>
                        <a:t>최적화를 위해 값을 조정 가능</a:t>
                      </a:r>
                      <a:endParaRPr lang="en-US" altLang="ko-KR" sz="1300" dirty="0"/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3309454"/>
                  </a:ext>
                </a:extLst>
              </a:tr>
              <a:tr h="3589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MOP</a:t>
                      </a:r>
                      <a:endParaRPr lang="ko-KR" altLang="en-US" sz="13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dirty="0"/>
                        <a:t>설계변수에 따라 얻을 수 있는 최종 성능지표 </a:t>
                      </a:r>
                      <a:r>
                        <a:rPr lang="en-US" altLang="ko-KR" sz="1300" dirty="0"/>
                        <a:t>(ex. </a:t>
                      </a:r>
                      <a:r>
                        <a:rPr lang="ko-KR" altLang="en-US" sz="1300" dirty="0"/>
                        <a:t>커버리지</a:t>
                      </a:r>
                      <a:r>
                        <a:rPr lang="en-US" altLang="ko-KR" sz="1300" dirty="0"/>
                        <a:t>, </a:t>
                      </a:r>
                      <a:r>
                        <a:rPr lang="ko-KR" altLang="en-US" sz="1300" dirty="0"/>
                        <a:t>재방문 주기</a:t>
                      </a:r>
                      <a:r>
                        <a:rPr lang="en-US" altLang="ko-KR" sz="1300" dirty="0"/>
                        <a:t>,</a:t>
                      </a:r>
                      <a:r>
                        <a:rPr lang="ko-KR" altLang="en-US" sz="1300" dirty="0"/>
                        <a:t> 해상도 등</a:t>
                      </a:r>
                      <a:r>
                        <a:rPr lang="en-US" altLang="ko-KR" sz="1300" dirty="0"/>
                        <a:t>)</a:t>
                      </a: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5304945"/>
                  </a:ext>
                </a:extLst>
              </a:tr>
              <a:tr h="153061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1~2</a:t>
                      </a:r>
                      <a:r>
                        <a:rPr lang="ko-KR" altLang="en-US" sz="13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개의 </a:t>
                      </a:r>
                      <a:r>
                        <a:rPr lang="en-US" altLang="ko-KR" sz="13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DV</a:t>
                      </a:r>
                      <a:r>
                        <a:rPr lang="ko-KR" altLang="en-US" sz="13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를 실행시키면 각 값에서 </a:t>
                      </a:r>
                      <a:r>
                        <a:rPr lang="en-US" altLang="ko-KR" sz="13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MOP</a:t>
                      </a:r>
                      <a:r>
                        <a:rPr lang="ko-KR" altLang="en-US" sz="13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가 수집됨 </a:t>
                      </a: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300" dirty="0"/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4620658"/>
                  </a:ext>
                </a:extLst>
              </a:tr>
            </a:tbl>
          </a:graphicData>
        </a:graphic>
      </p:graphicFrame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2F26E239-51ED-F7D9-A93B-C81443685F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946892"/>
              </p:ext>
            </p:extLst>
          </p:nvPr>
        </p:nvGraphicFramePr>
        <p:xfrm>
          <a:off x="4401062" y="4567064"/>
          <a:ext cx="4475699" cy="13102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6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13683">
                  <a:extLst>
                    <a:ext uri="{9D8B030D-6E8A-4147-A177-3AD203B41FA5}">
                      <a16:colId xmlns:a16="http://schemas.microsoft.com/office/drawing/2014/main" val="400930265"/>
                    </a:ext>
                  </a:extLst>
                </a:gridCol>
                <a:gridCol w="1705683">
                  <a:extLst>
                    <a:ext uri="{9D8B030D-6E8A-4147-A177-3AD203B41FA5}">
                      <a16:colId xmlns:a16="http://schemas.microsoft.com/office/drawing/2014/main" val="1375582816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Orbit</a:t>
                      </a: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Orbit</a:t>
                      </a:r>
                      <a:endParaRPr lang="ko-KR" altLang="en-US" sz="15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Constellation</a:t>
                      </a:r>
                      <a:endParaRPr lang="ko-KR" altLang="en-US" sz="15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5379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LEO</a:t>
                      </a:r>
                      <a:endParaRPr lang="ko-KR" altLang="en-US" sz="13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SSO(Sun-Synchronous Orbit)</a:t>
                      </a: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Imaging Constellation</a:t>
                      </a: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3309454"/>
                  </a:ext>
                </a:extLst>
              </a:tr>
              <a:tr h="34537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MIO(Mid-inclination Orbit)</a:t>
                      </a: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3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2336657"/>
                  </a:ext>
                </a:extLst>
              </a:tr>
              <a:tr h="289194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MEO(</a:t>
                      </a:r>
                      <a:r>
                        <a:rPr lang="en-US" altLang="ko-KR" sz="13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Medium Earth Orbit)</a:t>
                      </a: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dirty="0"/>
                        <a:t>Medium Earth Orbit</a:t>
                      </a: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Relay Constellation</a:t>
                      </a: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53049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22282609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(5) Satellite Constellation Design (Imaging Constellation)</a:t>
            </a:r>
          </a:p>
          <a:p>
            <a:pPr lvl="1"/>
            <a:r>
              <a:rPr lang="en-US" altLang="ko-KR" dirty="0"/>
              <a:t>FOV </a:t>
            </a:r>
            <a:r>
              <a:rPr lang="ko-KR" altLang="en-US" dirty="0"/>
              <a:t>및 </a:t>
            </a:r>
            <a:r>
              <a:rPr lang="en-US" altLang="ko-KR" dirty="0"/>
              <a:t>GSD</a:t>
            </a:r>
            <a:r>
              <a:rPr lang="ko-KR" altLang="en-US" dirty="0"/>
              <a:t>를 조정하며 </a:t>
            </a:r>
            <a:r>
              <a:rPr lang="en-US" altLang="ko-KR" dirty="0"/>
              <a:t>DV</a:t>
            </a:r>
            <a:r>
              <a:rPr lang="ko-KR" altLang="en-US" dirty="0"/>
              <a:t>를 입력</a:t>
            </a:r>
            <a:endParaRPr lang="en-US" altLang="ko-KR" dirty="0"/>
          </a:p>
          <a:p>
            <a:pPr lvl="2"/>
            <a:r>
              <a:rPr lang="en-US" altLang="ko-KR" dirty="0"/>
              <a:t>(</a:t>
            </a:r>
            <a:r>
              <a:rPr lang="ko-KR" altLang="en-US" dirty="0"/>
              <a:t>논문에서는 </a:t>
            </a:r>
            <a:r>
              <a:rPr lang="en-US" altLang="ko-KR" dirty="0"/>
              <a:t>FOV = 20, GSD = 0.5m</a:t>
            </a:r>
            <a:r>
              <a:rPr lang="ko-KR" altLang="en-US" dirty="0"/>
              <a:t>로 설정</a:t>
            </a:r>
            <a:r>
              <a:rPr lang="en-US" altLang="ko-KR" dirty="0"/>
              <a:t>)</a:t>
            </a:r>
          </a:p>
          <a:p>
            <a:pPr lvl="1"/>
            <a:r>
              <a:rPr lang="en-US" altLang="ko-KR" dirty="0"/>
              <a:t>DV(SSO</a:t>
            </a:r>
            <a:r>
              <a:rPr lang="ko-KR" altLang="en-US" dirty="0"/>
              <a:t>궤도의 고도</a:t>
            </a:r>
            <a:r>
              <a:rPr lang="en-US" altLang="ko-KR" dirty="0"/>
              <a:t>, Imaging </a:t>
            </a:r>
            <a:r>
              <a:rPr lang="ko-KR" altLang="en-US" dirty="0"/>
              <a:t>위성의 수</a:t>
            </a:r>
            <a:r>
              <a:rPr lang="en-US" altLang="ko-KR" dirty="0"/>
              <a:t>) </a:t>
            </a:r>
          </a:p>
          <a:p>
            <a:pPr marL="216000" lvl="1" indent="0">
              <a:buNone/>
            </a:pPr>
            <a:r>
              <a:rPr lang="ko-KR" altLang="en-US" dirty="0"/>
              <a:t>      → </a:t>
            </a:r>
            <a:r>
              <a:rPr lang="en-US" altLang="ko-KR" dirty="0"/>
              <a:t>MOP(Daylight Global Coverage)</a:t>
            </a:r>
          </a:p>
          <a:p>
            <a:pPr lvl="1"/>
            <a:r>
              <a:rPr lang="en-US" altLang="ko-KR" dirty="0"/>
              <a:t>SSO</a:t>
            </a:r>
            <a:r>
              <a:rPr lang="ko-KR" altLang="en-US" dirty="0"/>
              <a:t>궤도의 고도가 높을수록</a:t>
            </a:r>
            <a:r>
              <a:rPr lang="en-US" altLang="ko-KR" dirty="0"/>
              <a:t>, </a:t>
            </a:r>
            <a:r>
              <a:rPr lang="ko-KR" altLang="en-US" dirty="0"/>
              <a:t>위성의 수가 </a:t>
            </a:r>
            <a:endParaRPr lang="en-US" altLang="ko-KR" dirty="0"/>
          </a:p>
          <a:p>
            <a:pPr marL="216000" lvl="1" indent="0">
              <a:buNone/>
            </a:pPr>
            <a:r>
              <a:rPr lang="ko-KR" altLang="en-US" dirty="0"/>
              <a:t>      많을수록 커버리지 비율 상승</a:t>
            </a:r>
            <a:endParaRPr lang="en-US" altLang="ko-KR" dirty="0"/>
          </a:p>
          <a:p>
            <a:pPr marL="216000" lvl="1" indent="0">
              <a:buNone/>
            </a:pPr>
            <a:endParaRPr lang="en-US" altLang="ko-KR" dirty="0"/>
          </a:p>
          <a:p>
            <a:pPr marL="216000" lvl="1" indent="0">
              <a:buNone/>
            </a:pPr>
            <a:endParaRPr lang="en-US" altLang="ko-KR" dirty="0"/>
          </a:p>
          <a:p>
            <a:pPr lvl="1"/>
            <a:r>
              <a:rPr lang="ko-KR" altLang="en-US" dirty="0"/>
              <a:t>위의 결과 중</a:t>
            </a:r>
            <a:r>
              <a:rPr lang="en-US" altLang="ko-KR" dirty="0"/>
              <a:t> </a:t>
            </a:r>
            <a:r>
              <a:rPr lang="ko-KR" altLang="en-US" dirty="0"/>
              <a:t>고도 </a:t>
            </a:r>
            <a:r>
              <a:rPr lang="en-US" altLang="ko-KR" dirty="0"/>
              <a:t>600km,</a:t>
            </a:r>
            <a:r>
              <a:rPr lang="ko-KR" altLang="en-US" dirty="0"/>
              <a:t> 위성 </a:t>
            </a:r>
            <a:r>
              <a:rPr lang="en-US" altLang="ko-KR" dirty="0"/>
              <a:t>4</a:t>
            </a:r>
            <a:r>
              <a:rPr lang="ko-KR" altLang="en-US" dirty="0"/>
              <a:t>개로 설정</a:t>
            </a:r>
            <a:endParaRPr lang="en-US" altLang="ko-KR" dirty="0"/>
          </a:p>
          <a:p>
            <a:pPr lvl="1"/>
            <a:r>
              <a:rPr lang="en-US" altLang="ko-KR" dirty="0"/>
              <a:t>DV(FOV, f) </a:t>
            </a:r>
            <a:r>
              <a:rPr lang="ko-KR" altLang="en-US" dirty="0"/>
              <a:t>→ </a:t>
            </a:r>
            <a:r>
              <a:rPr lang="en-US" altLang="ko-KR" dirty="0"/>
              <a:t>MOP(Daylight  Global Coverage)</a:t>
            </a:r>
          </a:p>
          <a:p>
            <a:pPr lvl="1"/>
            <a:r>
              <a:rPr lang="ko-KR" altLang="en-US" dirty="0"/>
              <a:t>초점거리가 길수록</a:t>
            </a:r>
            <a:r>
              <a:rPr lang="en-US" altLang="ko-KR" dirty="0"/>
              <a:t>, FOV</a:t>
            </a:r>
            <a:r>
              <a:rPr lang="ko-KR" altLang="en-US" dirty="0"/>
              <a:t>가 클수록 커버리지 </a:t>
            </a:r>
            <a:endParaRPr lang="en-US" altLang="ko-KR" dirty="0"/>
          </a:p>
          <a:p>
            <a:pPr marL="216000" lvl="1" indent="0">
              <a:buNone/>
            </a:pPr>
            <a:r>
              <a:rPr lang="en-US" altLang="ko-KR" dirty="0"/>
              <a:t>      </a:t>
            </a:r>
            <a:r>
              <a:rPr lang="ko-KR" altLang="en-US" dirty="0"/>
              <a:t>비율이 증가함</a:t>
            </a:r>
            <a:endParaRPr lang="en-US" altLang="ko-KR" dirty="0"/>
          </a:p>
          <a:p>
            <a:pPr lvl="1"/>
            <a:r>
              <a:rPr lang="ko-KR" altLang="en-US" dirty="0"/>
              <a:t>하지만 일정수준 이상으로는 커버리지 비율이</a:t>
            </a:r>
            <a:endParaRPr lang="en-US" altLang="ko-KR" dirty="0"/>
          </a:p>
          <a:p>
            <a:pPr marL="216000" lvl="1" indent="0">
              <a:buNone/>
            </a:pPr>
            <a:r>
              <a:rPr lang="ko-KR" altLang="en-US" dirty="0"/>
              <a:t>      일정하므로 초점거리 늘릴 필요 없음</a:t>
            </a:r>
            <a:endParaRPr lang="en-US" altLang="ko-KR" dirty="0"/>
          </a:p>
          <a:p>
            <a:pPr marL="216000" lvl="1" indent="0">
              <a:buNone/>
            </a:pPr>
            <a:endParaRPr lang="en-US" altLang="ko-KR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8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Imaging</a:t>
            </a:r>
            <a:r>
              <a:rPr lang="ko-KR" altLang="en-US" dirty="0"/>
              <a:t> </a:t>
            </a:r>
            <a:r>
              <a:rPr lang="ko-KR" altLang="en-US" dirty="0" err="1"/>
              <a:t>위성군</a:t>
            </a:r>
            <a:r>
              <a:rPr lang="ko-KR" altLang="en-US" dirty="0"/>
              <a:t> 시뮬레이션 결과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6175F535-FC1D-9FE1-3FF3-9719390F9C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4280" y="1416753"/>
            <a:ext cx="3122637" cy="225523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40968C5E-D7E5-412B-0749-78675B5CD5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4279" y="3981600"/>
            <a:ext cx="3122637" cy="245920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506023023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(5) Satellite Constellation Design (Imaging Constellation)</a:t>
            </a:r>
          </a:p>
          <a:p>
            <a:pPr lvl="1"/>
            <a:r>
              <a:rPr lang="en-US" altLang="ko-KR" dirty="0"/>
              <a:t>SSO</a:t>
            </a:r>
            <a:r>
              <a:rPr lang="ko-KR" altLang="en-US" dirty="0"/>
              <a:t>궤도만으로는 중위도 지역 </a:t>
            </a:r>
            <a:r>
              <a:rPr lang="en-US" altLang="ko-KR" dirty="0"/>
              <a:t>100% </a:t>
            </a:r>
            <a:r>
              <a:rPr lang="ko-KR" altLang="en-US" dirty="0"/>
              <a:t>커버 불가</a:t>
            </a:r>
            <a:endParaRPr lang="en-US" altLang="ko-KR" dirty="0"/>
          </a:p>
          <a:p>
            <a:pPr lvl="1"/>
            <a:r>
              <a:rPr lang="en-US" altLang="ko-KR" dirty="0"/>
              <a:t>MIO</a:t>
            </a:r>
            <a:r>
              <a:rPr lang="ko-KR" altLang="en-US" dirty="0"/>
              <a:t>궤도에 </a:t>
            </a:r>
            <a:r>
              <a:rPr lang="en-US" altLang="ko-KR" dirty="0"/>
              <a:t>Imaging</a:t>
            </a:r>
            <a:r>
              <a:rPr lang="ko-KR" altLang="en-US" dirty="0"/>
              <a:t>위성군을 추가</a:t>
            </a:r>
            <a:endParaRPr lang="en-US" altLang="ko-KR" dirty="0"/>
          </a:p>
          <a:p>
            <a:pPr lvl="1"/>
            <a:r>
              <a:rPr lang="en-US" altLang="ko-KR" dirty="0"/>
              <a:t>DV(MIO</a:t>
            </a:r>
            <a:r>
              <a:rPr lang="ko-KR" altLang="en-US" dirty="0"/>
              <a:t>궤도의 고도</a:t>
            </a:r>
            <a:r>
              <a:rPr lang="en-US" altLang="ko-KR" dirty="0"/>
              <a:t>, Imaging </a:t>
            </a:r>
            <a:r>
              <a:rPr lang="ko-KR" altLang="en-US" dirty="0"/>
              <a:t>위성의 수</a:t>
            </a:r>
            <a:r>
              <a:rPr lang="en-US" altLang="ko-KR" dirty="0"/>
              <a:t>)</a:t>
            </a:r>
          </a:p>
          <a:p>
            <a:pPr marL="216000" lvl="1" indent="0">
              <a:buNone/>
            </a:pPr>
            <a:r>
              <a:rPr lang="en-US" altLang="ko-KR" dirty="0"/>
              <a:t>      </a:t>
            </a:r>
            <a:r>
              <a:rPr lang="ko-KR" altLang="en-US" dirty="0"/>
              <a:t>→ </a:t>
            </a:r>
            <a:r>
              <a:rPr lang="en-US" altLang="ko-KR" dirty="0"/>
              <a:t>MOP(Global Coverage)</a:t>
            </a:r>
          </a:p>
          <a:p>
            <a:pPr lvl="1"/>
            <a:r>
              <a:rPr lang="en-US" altLang="ko-KR" dirty="0"/>
              <a:t>MIO</a:t>
            </a:r>
            <a:r>
              <a:rPr lang="ko-KR" altLang="en-US" dirty="0"/>
              <a:t>궤도의 고도와 커버리지 비율은 별다른 </a:t>
            </a:r>
            <a:endParaRPr lang="en-US" altLang="ko-KR" dirty="0"/>
          </a:p>
          <a:p>
            <a:pPr marL="216000" lvl="1" indent="0">
              <a:buNone/>
            </a:pPr>
            <a:r>
              <a:rPr lang="en-US" altLang="ko-KR" dirty="0"/>
              <a:t>     </a:t>
            </a:r>
            <a:r>
              <a:rPr lang="ko-KR" altLang="en-US" dirty="0"/>
              <a:t>관계가 없음</a:t>
            </a:r>
            <a:endParaRPr lang="en-US" altLang="ko-KR" dirty="0"/>
          </a:p>
          <a:p>
            <a:pPr lvl="1"/>
            <a:r>
              <a:rPr lang="en-US" altLang="ko-KR" dirty="0"/>
              <a:t>575km</a:t>
            </a:r>
            <a:r>
              <a:rPr lang="ko-KR" altLang="en-US" dirty="0"/>
              <a:t>일 때 최대 커버리지 비율 </a:t>
            </a:r>
            <a:r>
              <a:rPr lang="en-US" altLang="ko-KR" dirty="0"/>
              <a:t>98.75% </a:t>
            </a:r>
            <a:r>
              <a:rPr lang="ko-KR" altLang="en-US" dirty="0"/>
              <a:t>달성</a:t>
            </a:r>
            <a:endParaRPr lang="en-US" altLang="ko-KR" dirty="0"/>
          </a:p>
          <a:p>
            <a:pPr lvl="1"/>
            <a:endParaRPr lang="en-US" altLang="ko-KR" dirty="0"/>
          </a:p>
          <a:p>
            <a:pPr marL="216000" lvl="1" indent="0">
              <a:buNone/>
            </a:pP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marL="432000" lvl="2" indent="0">
              <a:buNone/>
            </a:pP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9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Imaging</a:t>
            </a:r>
            <a:r>
              <a:rPr lang="ko-KR" altLang="en-US" dirty="0"/>
              <a:t> </a:t>
            </a:r>
            <a:r>
              <a:rPr lang="ko-KR" altLang="en-US" dirty="0" err="1"/>
              <a:t>위성군</a:t>
            </a:r>
            <a:r>
              <a:rPr lang="ko-KR" altLang="en-US" dirty="0"/>
              <a:t> 시뮬레이션 결과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557C819-D4DC-152E-F42B-84E11E2A46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2045" y="1416754"/>
            <a:ext cx="3124867" cy="225523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158147004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 lnSpcReduction="10000"/>
          </a:bodyPr>
          <a:lstStyle/>
          <a:p>
            <a:r>
              <a:rPr lang="en-US" altLang="ko-KR" dirty="0"/>
              <a:t>(5) Satellite Constellation (Relay Constellation and SRT result)</a:t>
            </a:r>
          </a:p>
          <a:p>
            <a:pPr lvl="1"/>
            <a:r>
              <a:rPr lang="en-US" altLang="ko-KR" dirty="0"/>
              <a:t>Imaging</a:t>
            </a:r>
            <a:r>
              <a:rPr lang="ko-KR" altLang="en-US" dirty="0"/>
              <a:t>과 </a:t>
            </a:r>
            <a:r>
              <a:rPr lang="en-US" altLang="ko-KR" dirty="0"/>
              <a:t>relay constellation </a:t>
            </a:r>
            <a:r>
              <a:rPr lang="ko-KR" altLang="en-US" dirty="0"/>
              <a:t>간의 </a:t>
            </a:r>
            <a:r>
              <a:rPr lang="en-US" altLang="ko-KR" dirty="0"/>
              <a:t>ISL </a:t>
            </a:r>
            <a:r>
              <a:rPr lang="ko-KR" altLang="en-US" dirty="0"/>
              <a:t>통신 목적</a:t>
            </a:r>
            <a:endParaRPr lang="en-US" altLang="ko-KR" dirty="0"/>
          </a:p>
          <a:p>
            <a:pPr lvl="1"/>
            <a:r>
              <a:rPr lang="en-US" altLang="ko-KR" dirty="0"/>
              <a:t>MEO</a:t>
            </a:r>
            <a:r>
              <a:rPr lang="ko-KR" altLang="en-US" dirty="0"/>
              <a:t>궤도에 </a:t>
            </a:r>
            <a:r>
              <a:rPr lang="en-US" altLang="ko-KR" dirty="0"/>
              <a:t>relay constellation</a:t>
            </a:r>
            <a:r>
              <a:rPr lang="ko-KR" altLang="en-US" dirty="0"/>
              <a:t>의 위성군을 구성</a:t>
            </a:r>
            <a:endParaRPr lang="en-US" altLang="ko-KR" dirty="0"/>
          </a:p>
          <a:p>
            <a:pPr lvl="2"/>
            <a:r>
              <a:rPr lang="en-US" altLang="ko-KR" dirty="0"/>
              <a:t>MEO</a:t>
            </a:r>
            <a:r>
              <a:rPr lang="ko-KR" altLang="en-US" dirty="0"/>
              <a:t>궤도 중 가장 낮은 고도인 </a:t>
            </a:r>
            <a:r>
              <a:rPr lang="en-US" altLang="ko-KR" dirty="0"/>
              <a:t>8,000km</a:t>
            </a:r>
            <a:r>
              <a:rPr lang="ko-KR" altLang="en-US" dirty="0"/>
              <a:t>로 설정</a:t>
            </a:r>
            <a:endParaRPr lang="en-US" altLang="ko-KR" dirty="0"/>
          </a:p>
          <a:p>
            <a:pPr lvl="1"/>
            <a:r>
              <a:rPr lang="en-US" altLang="ko-KR" dirty="0"/>
              <a:t>DV(</a:t>
            </a:r>
            <a:r>
              <a:rPr lang="ko-KR" altLang="en-US" dirty="0"/>
              <a:t>지상국의 위도</a:t>
            </a:r>
            <a:r>
              <a:rPr lang="en-US" altLang="ko-KR" dirty="0"/>
              <a:t>, Relay</a:t>
            </a:r>
            <a:r>
              <a:rPr lang="ko-KR" altLang="en-US" dirty="0"/>
              <a:t> 위성의 수</a:t>
            </a:r>
            <a:r>
              <a:rPr lang="en-US" altLang="ko-KR" dirty="0"/>
              <a:t>) </a:t>
            </a:r>
          </a:p>
          <a:p>
            <a:pPr marL="216000" lvl="1" indent="0">
              <a:buNone/>
            </a:pPr>
            <a:r>
              <a:rPr lang="ko-KR" altLang="en-US" dirty="0"/>
              <a:t>      → </a:t>
            </a:r>
            <a:r>
              <a:rPr lang="en-US" altLang="ko-KR" dirty="0"/>
              <a:t>MOP(Daily</a:t>
            </a:r>
            <a:r>
              <a:rPr lang="ko-KR" altLang="en-US" dirty="0"/>
              <a:t> </a:t>
            </a:r>
            <a:r>
              <a:rPr lang="en-US" altLang="ko-KR" dirty="0"/>
              <a:t>Global Coverage)</a:t>
            </a:r>
          </a:p>
          <a:p>
            <a:pPr lvl="1"/>
            <a:r>
              <a:rPr lang="ko-KR" altLang="en-US" dirty="0"/>
              <a:t>위성의 수가 많을수록</a:t>
            </a:r>
            <a:r>
              <a:rPr lang="en-US" altLang="ko-KR" dirty="0"/>
              <a:t>, </a:t>
            </a:r>
            <a:r>
              <a:rPr lang="ko-KR" altLang="en-US" dirty="0"/>
              <a:t>지상국의 위도가 낮을수록 </a:t>
            </a:r>
            <a:endParaRPr lang="en-US" altLang="ko-KR" dirty="0"/>
          </a:p>
          <a:p>
            <a:pPr marL="216000" lvl="1" indent="0">
              <a:buNone/>
            </a:pPr>
            <a:r>
              <a:rPr lang="en-US" altLang="ko-KR" dirty="0"/>
              <a:t>      </a:t>
            </a:r>
            <a:r>
              <a:rPr lang="ko-KR" altLang="en-US" dirty="0"/>
              <a:t>커버리지 비율이 증가함</a:t>
            </a:r>
            <a:endParaRPr lang="en-US" altLang="ko-KR" dirty="0"/>
          </a:p>
          <a:p>
            <a:pPr lvl="1"/>
            <a:r>
              <a:rPr lang="ko-KR" altLang="en-US" dirty="0"/>
              <a:t>지상국의 위치는 </a:t>
            </a:r>
            <a:r>
              <a:rPr lang="en-US" altLang="ko-KR" dirty="0"/>
              <a:t>0~34</a:t>
            </a:r>
            <a:r>
              <a:rPr lang="ko-KR" altLang="en-US" dirty="0"/>
              <a:t>˚</a:t>
            </a:r>
            <a:r>
              <a:rPr lang="en-US" altLang="ko-KR" dirty="0"/>
              <a:t>, </a:t>
            </a:r>
            <a:r>
              <a:rPr lang="ko-KR" altLang="en-US" dirty="0"/>
              <a:t>위성 수는 </a:t>
            </a:r>
            <a:r>
              <a:rPr lang="en-US" altLang="ko-KR" dirty="0"/>
              <a:t>4</a:t>
            </a:r>
            <a:r>
              <a:rPr lang="ko-KR" altLang="en-US" dirty="0"/>
              <a:t>대 이상이 좋음</a:t>
            </a:r>
            <a:endParaRPr lang="en-US" altLang="ko-KR" dirty="0"/>
          </a:p>
          <a:p>
            <a:pPr lvl="1"/>
            <a:endParaRPr lang="en-US" altLang="ko-KR" dirty="0"/>
          </a:p>
          <a:p>
            <a:pPr marL="216000" lvl="1" indent="0">
              <a:buNone/>
            </a:pPr>
            <a:endParaRPr lang="en-US" altLang="ko-KR" dirty="0"/>
          </a:p>
          <a:p>
            <a:pPr lvl="1"/>
            <a:r>
              <a:rPr lang="en-US" altLang="ko-KR" dirty="0"/>
              <a:t>SRT </a:t>
            </a:r>
            <a:r>
              <a:rPr lang="ko-KR" altLang="en-US" dirty="0"/>
              <a:t>측면에서의 이종 위성군의 성능을</a:t>
            </a:r>
            <a:r>
              <a:rPr lang="en-US" altLang="ko-KR" dirty="0"/>
              <a:t> </a:t>
            </a:r>
            <a:r>
              <a:rPr lang="ko-KR" altLang="en-US" dirty="0"/>
              <a:t> </a:t>
            </a:r>
            <a:r>
              <a:rPr lang="en-US" altLang="ko-KR" dirty="0"/>
              <a:t>Imaging </a:t>
            </a:r>
          </a:p>
          <a:p>
            <a:pPr marL="216000" lvl="1" indent="0">
              <a:buNone/>
            </a:pPr>
            <a:r>
              <a:rPr lang="ko-KR" altLang="en-US" dirty="0"/>
              <a:t>     위성군과 비교</a:t>
            </a:r>
            <a:endParaRPr lang="en-US" altLang="ko-KR" dirty="0"/>
          </a:p>
          <a:p>
            <a:pPr lvl="1"/>
            <a:r>
              <a:rPr lang="ko-KR" altLang="en-US" dirty="0"/>
              <a:t>최대 </a:t>
            </a:r>
            <a:r>
              <a:rPr lang="en-US" altLang="ko-KR" dirty="0"/>
              <a:t>SRT</a:t>
            </a:r>
            <a:r>
              <a:rPr lang="ko-KR" altLang="en-US" dirty="0"/>
              <a:t>의 평균값은 </a:t>
            </a:r>
            <a:r>
              <a:rPr lang="en-US" altLang="ko-KR" dirty="0"/>
              <a:t>Imaging </a:t>
            </a:r>
            <a:r>
              <a:rPr lang="ko-KR" altLang="en-US" dirty="0"/>
              <a:t>위성군만 운용했을 </a:t>
            </a:r>
            <a:endParaRPr lang="en-US" altLang="ko-KR" dirty="0"/>
          </a:p>
          <a:p>
            <a:pPr marL="216000" lvl="1" indent="0">
              <a:buNone/>
            </a:pPr>
            <a:r>
              <a:rPr lang="en-US" altLang="ko-KR" dirty="0"/>
              <a:t>     </a:t>
            </a:r>
            <a:r>
              <a:rPr lang="ko-KR" altLang="en-US" dirty="0"/>
              <a:t>때 보다 이종위성군으로 구성했을 때의 성능이 더 </a:t>
            </a:r>
            <a:endParaRPr lang="en-US" altLang="ko-KR" dirty="0"/>
          </a:p>
          <a:p>
            <a:pPr marL="216000" lvl="1" indent="0">
              <a:buNone/>
            </a:pPr>
            <a:r>
              <a:rPr lang="ko-KR" altLang="en-US" dirty="0"/>
              <a:t>     좋음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marL="216000" lvl="1" indent="0">
              <a:buNone/>
            </a:pPr>
            <a:endParaRPr lang="en-US" altLang="ko-KR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 smtClean="0"/>
              <a:pPr lvl="0">
                <a:defRPr/>
              </a:pPr>
              <a:t>10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Relay</a:t>
            </a:r>
            <a:r>
              <a:rPr lang="ko-KR" altLang="en-US" dirty="0"/>
              <a:t> </a:t>
            </a:r>
            <a:r>
              <a:rPr lang="ko-KR" altLang="en-US" dirty="0" err="1"/>
              <a:t>위성군</a:t>
            </a:r>
            <a:r>
              <a:rPr lang="ko-KR" altLang="en-US" dirty="0"/>
              <a:t> 및 </a:t>
            </a:r>
            <a:r>
              <a:rPr lang="en-US" altLang="ko-KR" dirty="0"/>
              <a:t>SRT</a:t>
            </a:r>
            <a:r>
              <a:rPr lang="ko-KR" altLang="en-US" dirty="0"/>
              <a:t> 시뮬레이션 결과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C7945C6-59FB-8773-2C5B-554EAC456B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5859" y="1416756"/>
            <a:ext cx="2911050" cy="225523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A9CC8EC7-5FA1-A2CC-8841-10016C53BB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3675" y="4353078"/>
            <a:ext cx="3013241" cy="205426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F01CFF6-93D6-9E09-6651-870845ECDDAB}"/>
              </a:ext>
            </a:extLst>
          </p:cNvPr>
          <p:cNvSpPr txBox="1"/>
          <p:nvPr/>
        </p:nvSpPr>
        <p:spPr>
          <a:xfrm>
            <a:off x="6785595" y="6422568"/>
            <a:ext cx="221028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dirty="0"/>
              <a:t>(</a:t>
            </a:r>
            <a:r>
              <a:rPr lang="ko-KR" altLang="en-US" sz="1000" dirty="0"/>
              <a:t>지상국의 위도 </a:t>
            </a:r>
            <a:r>
              <a:rPr lang="en-US" altLang="ko-KR" sz="1000" dirty="0"/>
              <a:t>: 30</a:t>
            </a:r>
            <a:r>
              <a:rPr lang="ko-KR" altLang="en-US" sz="1000" dirty="0"/>
              <a:t>˚</a:t>
            </a:r>
            <a:r>
              <a:rPr lang="en-US" altLang="ko-KR" sz="1000" dirty="0"/>
              <a:t>)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1787627969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(6) Figure of Merits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lvl="1"/>
            <a:r>
              <a:rPr lang="ko-KR" altLang="en-US" dirty="0"/>
              <a:t>앞의 시뮬레이션 결과로부터 얻게 된 성능지수 값 요약</a:t>
            </a:r>
            <a:endParaRPr lang="en-US" altLang="ko-KR" dirty="0"/>
          </a:p>
          <a:p>
            <a:endParaRPr lang="en-US" altLang="ko-KR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11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결과로부터 얻은 최종 성능지수 값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4F0A7C54-38F9-4C03-2C4A-E5BC289E86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023394"/>
              </p:ext>
            </p:extLst>
          </p:nvPr>
        </p:nvGraphicFramePr>
        <p:xfrm>
          <a:off x="721658" y="1441818"/>
          <a:ext cx="4001288" cy="3352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23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79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0035">
                  <a:extLst>
                    <a:ext uri="{9D8B030D-6E8A-4147-A177-3AD203B41FA5}">
                      <a16:colId xmlns:a16="http://schemas.microsoft.com/office/drawing/2014/main" val="3978487964"/>
                    </a:ext>
                  </a:extLst>
                </a:gridCol>
                <a:gridCol w="721043">
                  <a:extLst>
                    <a:ext uri="{9D8B030D-6E8A-4147-A177-3AD203B41FA5}">
                      <a16:colId xmlns:a16="http://schemas.microsoft.com/office/drawing/2014/main" val="3647112933"/>
                    </a:ext>
                  </a:extLst>
                </a:gridCol>
              </a:tblGrid>
              <a:tr h="21821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Constellation type</a:t>
                      </a:r>
                      <a:endParaRPr lang="ko-KR" altLang="en-US" sz="1400" b="1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Imaging</a:t>
                      </a:r>
                      <a:endParaRPr lang="ko-KR" altLang="en-US" sz="1400" b="1" dirty="0">
                        <a:solidFill>
                          <a:schemeClr val="bg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solidFill>
                          <a:schemeClr val="bg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Relay</a:t>
                      </a:r>
                      <a:endParaRPr lang="ko-KR" altLang="en-US" sz="1400" b="1" dirty="0">
                        <a:solidFill>
                          <a:schemeClr val="bg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8189452"/>
                  </a:ext>
                </a:extLst>
              </a:tr>
              <a:tr h="21821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Orbit Type</a:t>
                      </a:r>
                      <a:endParaRPr lang="ko-KR" altLang="en-US" sz="1400" b="1" dirty="0">
                        <a:solidFill>
                          <a:schemeClr val="bg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SSO</a:t>
                      </a:r>
                      <a:endParaRPr lang="ko-KR" altLang="en-US" sz="1400" b="1" dirty="0">
                        <a:solidFill>
                          <a:schemeClr val="bg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MIO</a:t>
                      </a:r>
                      <a:endParaRPr lang="ko-KR" altLang="en-US" sz="1400" b="1" dirty="0">
                        <a:solidFill>
                          <a:schemeClr val="bg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MEO</a:t>
                      </a:r>
                      <a:endParaRPr lang="ko-KR" altLang="en-US" sz="1400" b="1" dirty="0">
                        <a:solidFill>
                          <a:schemeClr val="bg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639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Orbital altitude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600km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575km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8,000km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639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Number of satellites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4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4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4 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639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Inclination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98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45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0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5764873"/>
                  </a:ext>
                </a:extLst>
              </a:tr>
              <a:tr h="19639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Sensor FOV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40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-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639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Swath Width(SW)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437km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-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639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Sensor Focal length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1.35m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-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24509"/>
                  </a:ext>
                </a:extLst>
              </a:tr>
              <a:tr h="19639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Sensor Detector pitch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1 </a:t>
                      </a:r>
                      <a:r>
                        <a:rPr lang="el-GR" altLang="ko-KR" sz="1200" dirty="0">
                          <a:solidFill>
                            <a:schemeClr val="tx1"/>
                          </a:solidFill>
                        </a:rPr>
                        <a:t>μ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m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-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7019693"/>
                  </a:ext>
                </a:extLst>
              </a:tr>
              <a:tr h="19639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GSD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0.5m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-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718721"/>
                  </a:ext>
                </a:extLst>
              </a:tr>
              <a:tr h="19639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Daylight global coverage %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98.75%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-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40821"/>
                  </a:ext>
                </a:extLst>
              </a:tr>
              <a:tr h="19639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GS latitude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30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˚</a:t>
                      </a: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~34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81762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34494015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12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결론 및 보완이 필요한 부분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ko-KR" altLang="en-US" dirty="0"/>
              <a:t>결론</a:t>
            </a:r>
            <a:endParaRPr lang="en-US" altLang="ko-KR" dirty="0"/>
          </a:p>
          <a:p>
            <a:pPr lvl="1"/>
            <a:r>
              <a:rPr lang="ko-KR" altLang="en-US" b="1" u="sng" dirty="0" err="1"/>
              <a:t>위성군</a:t>
            </a:r>
            <a:r>
              <a:rPr lang="ko-KR" altLang="en-US" b="1" u="sng" dirty="0"/>
              <a:t> 설계의 임무목적 및 제한조건은</a:t>
            </a:r>
            <a:r>
              <a:rPr lang="ko-KR" altLang="en-US" dirty="0"/>
              <a:t> 궤도 구성을 결정하는 중요한 요소</a:t>
            </a:r>
            <a:endParaRPr lang="en-US" altLang="ko-KR" dirty="0"/>
          </a:p>
          <a:p>
            <a:pPr lvl="1"/>
            <a:r>
              <a:rPr lang="en-US" altLang="ko-KR" sz="1800" dirty="0"/>
              <a:t>SRT </a:t>
            </a:r>
            <a:r>
              <a:rPr lang="ko-KR" altLang="en-US" sz="1800" dirty="0"/>
              <a:t>개선은 </a:t>
            </a:r>
            <a:r>
              <a:rPr lang="ko-KR" altLang="en-US" dirty="0"/>
              <a:t>재해 위험 감소</a:t>
            </a:r>
            <a:r>
              <a:rPr lang="en-US" altLang="ko-KR" dirty="0"/>
              <a:t>,</a:t>
            </a:r>
            <a:r>
              <a:rPr lang="ko-KR" altLang="en-US" dirty="0"/>
              <a:t> 국가 보안에 중요한 관심사</a:t>
            </a:r>
            <a:endParaRPr lang="en-US" altLang="ko-KR" dirty="0"/>
          </a:p>
          <a:p>
            <a:pPr lvl="1"/>
            <a:r>
              <a:rPr lang="ko-KR" altLang="en-US" sz="1800" dirty="0"/>
              <a:t>위성군의 특성</a:t>
            </a:r>
            <a:endParaRPr lang="en-US" altLang="ko-KR" sz="1800" dirty="0"/>
          </a:p>
          <a:p>
            <a:pPr lvl="2"/>
            <a:r>
              <a:rPr lang="ko-KR" altLang="en-US" dirty="0"/>
              <a:t>위성의 </a:t>
            </a:r>
            <a:r>
              <a:rPr lang="ko-KR" altLang="en-US" b="1" u="sng" dirty="0"/>
              <a:t>고도</a:t>
            </a:r>
            <a:r>
              <a:rPr lang="en-US" altLang="ko-KR" b="1" u="sng" dirty="0"/>
              <a:t>, </a:t>
            </a:r>
            <a:r>
              <a:rPr lang="ko-KR" altLang="en-US" b="1" u="sng" dirty="0"/>
              <a:t>궤도 평면 및 평면 당 위성 수</a:t>
            </a:r>
            <a:r>
              <a:rPr lang="ko-KR" altLang="en-US" dirty="0"/>
              <a:t> 등 </a:t>
            </a:r>
            <a:endParaRPr lang="en-US" altLang="ko-KR" dirty="0"/>
          </a:p>
          <a:p>
            <a:pPr lvl="2"/>
            <a:r>
              <a:rPr lang="ko-KR" altLang="en-US" dirty="0"/>
              <a:t>시스템 가용성이 달라지고 </a:t>
            </a:r>
            <a:r>
              <a:rPr lang="ko-KR" altLang="en-US" b="1" u="sng" dirty="0"/>
              <a:t>이종 위성군의 구성에 큰 영향</a:t>
            </a:r>
            <a:r>
              <a:rPr lang="ko-KR" altLang="en-US" dirty="0"/>
              <a:t>을 줌</a:t>
            </a:r>
            <a:endParaRPr lang="en-US" altLang="ko-KR" dirty="0"/>
          </a:p>
          <a:p>
            <a:pPr lvl="1"/>
            <a:r>
              <a:rPr lang="ko-KR" altLang="en-US" sz="1800" dirty="0"/>
              <a:t>이종 위성군의 최상의 구성을 위해서는 여러 조합을 연구해야 함</a:t>
            </a:r>
            <a:endParaRPr lang="en-US" altLang="ko-KR" sz="1800" dirty="0"/>
          </a:p>
          <a:p>
            <a:pPr lvl="1"/>
            <a:endParaRPr lang="en-US" altLang="ko-KR" b="1" dirty="0"/>
          </a:p>
          <a:p>
            <a:r>
              <a:rPr lang="ko-KR" altLang="en-US" dirty="0"/>
              <a:t>논문의 내용 중 보완이 필요한 부분</a:t>
            </a:r>
            <a:endParaRPr lang="en-US" altLang="ko-KR" dirty="0"/>
          </a:p>
          <a:p>
            <a:pPr lvl="1"/>
            <a:r>
              <a:rPr lang="en-US" altLang="ko-KR" dirty="0"/>
              <a:t>STK </a:t>
            </a:r>
            <a:r>
              <a:rPr lang="ko-KR" altLang="en-US" dirty="0"/>
              <a:t>소프트웨어를 통한 구체적인 시뮬레이션 과정</a:t>
            </a:r>
            <a:endParaRPr lang="en-US" altLang="ko-KR" dirty="0"/>
          </a:p>
          <a:p>
            <a:pPr lvl="1"/>
            <a:r>
              <a:rPr lang="ko-KR" altLang="en-US" dirty="0"/>
              <a:t>그래프의 경향성에 대한 이유 및 분석 </a:t>
            </a:r>
            <a:r>
              <a:rPr lang="ko-KR" altLang="en-US" sz="1800" dirty="0"/>
              <a:t>등의 구체적인 내용</a:t>
            </a:r>
            <a:endParaRPr lang="en-US" altLang="ko-KR" sz="1800" dirty="0"/>
          </a:p>
          <a:p>
            <a:pPr lvl="1"/>
            <a:r>
              <a:rPr lang="en-US" altLang="ko-KR" sz="1800" dirty="0"/>
              <a:t>Imaging </a:t>
            </a:r>
            <a:r>
              <a:rPr lang="ko-KR" altLang="en-US" sz="1800" dirty="0"/>
              <a:t>위성군과 </a:t>
            </a:r>
            <a:r>
              <a:rPr lang="en-US" altLang="ko-KR" sz="1800" dirty="0"/>
              <a:t>Relay </a:t>
            </a:r>
            <a:r>
              <a:rPr lang="ko-KR" altLang="en-US" sz="1800" dirty="0" err="1"/>
              <a:t>위성군</a:t>
            </a:r>
            <a:r>
              <a:rPr lang="ko-KR" altLang="en-US" sz="1800" dirty="0"/>
              <a:t> 간의 </a:t>
            </a:r>
            <a:r>
              <a:rPr lang="en-US" altLang="ko-KR" sz="1800" dirty="0"/>
              <a:t>ISL</a:t>
            </a:r>
            <a:r>
              <a:rPr lang="ko-KR" altLang="en-US" sz="1800" dirty="0"/>
              <a:t> </a:t>
            </a:r>
            <a:r>
              <a:rPr lang="ko-KR" altLang="en-US" dirty="0"/>
              <a:t>통신에 대한 구체적인 내용</a:t>
            </a:r>
            <a:endParaRPr lang="en-US" altLang="ko-KR" dirty="0"/>
          </a:p>
          <a:p>
            <a:pPr lvl="1"/>
            <a:r>
              <a:rPr lang="en-US" altLang="ko-KR" dirty="0"/>
              <a:t>Walker </a:t>
            </a:r>
            <a:r>
              <a:rPr lang="ko-KR" altLang="en-US" dirty="0"/>
              <a:t>위성군과 해당 논문에서 설계한 위성군의 결과를 비교한 자료</a:t>
            </a:r>
            <a:endParaRPr lang="en-US" altLang="ko-KR" dirty="0"/>
          </a:p>
          <a:p>
            <a:pPr lvl="1"/>
            <a:endParaRPr lang="en-US" altLang="ko-KR" sz="1800" b="1" dirty="0"/>
          </a:p>
          <a:p>
            <a:pPr lvl="1"/>
            <a:endParaRPr lang="en-US" altLang="ko-KR" b="1" dirty="0"/>
          </a:p>
          <a:p>
            <a:pPr lvl="1"/>
            <a:endParaRPr lang="en-US" altLang="ko-KR" sz="1800" b="1" dirty="0"/>
          </a:p>
          <a:p>
            <a:pPr lvl="1"/>
            <a:endParaRPr lang="en-US" altLang="ko-KR" b="1" dirty="0"/>
          </a:p>
          <a:p>
            <a:pPr marL="216000" lvl="1" indent="0">
              <a:buNone/>
            </a:pPr>
            <a:endParaRPr lang="en-US" altLang="ko-KR" b="1" dirty="0"/>
          </a:p>
          <a:p>
            <a:pPr marL="216000" lvl="1" indent="0">
              <a:buNone/>
            </a:pPr>
            <a:endParaRPr lang="en-US" altLang="ko-KR" b="1" dirty="0"/>
          </a:p>
          <a:p>
            <a:pPr marL="216000" lvl="1" indent="0">
              <a:buNone/>
            </a:pPr>
            <a:endParaRPr lang="en-US" altLang="ko-KR" b="1" dirty="0"/>
          </a:p>
          <a:p>
            <a:pPr lvl="1"/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508802884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13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연구에 적용할 만한 내용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ko-KR" altLang="en-US" dirty="0"/>
              <a:t>본 논문 중 연구에 적용하면 좋을 내용</a:t>
            </a:r>
            <a:endParaRPr lang="en-US" altLang="ko-KR" dirty="0"/>
          </a:p>
          <a:p>
            <a:pPr lvl="1"/>
            <a:r>
              <a:rPr lang="ko-KR" altLang="en-US" dirty="0"/>
              <a:t>하나의 </a:t>
            </a:r>
            <a:r>
              <a:rPr lang="ko-KR" altLang="en-US" dirty="0" err="1"/>
              <a:t>위성군</a:t>
            </a:r>
            <a:r>
              <a:rPr lang="ko-KR" altLang="en-US" dirty="0"/>
              <a:t> 안에 </a:t>
            </a:r>
            <a:r>
              <a:rPr lang="ko-KR" altLang="en-US" b="1" u="sng" dirty="0"/>
              <a:t>또 다른 이종 위성군으로의 구성</a:t>
            </a:r>
            <a:r>
              <a:rPr lang="ko-KR" altLang="en-US" dirty="0"/>
              <a:t>이</a:t>
            </a:r>
            <a:r>
              <a:rPr lang="en-US" altLang="ko-KR" dirty="0"/>
              <a:t> </a:t>
            </a:r>
            <a:r>
              <a:rPr lang="ko-KR" altLang="en-US" dirty="0"/>
              <a:t>가능한지에 대한 연구</a:t>
            </a:r>
            <a:endParaRPr lang="en-US" altLang="ko-KR" dirty="0"/>
          </a:p>
          <a:p>
            <a:pPr lvl="2"/>
            <a:r>
              <a:rPr lang="ko-KR" altLang="en-US" dirty="0"/>
              <a:t>본 논문에서는 </a:t>
            </a:r>
            <a:r>
              <a:rPr lang="en-US" altLang="ko-KR" dirty="0"/>
              <a:t>Imaging constellation</a:t>
            </a:r>
            <a:r>
              <a:rPr lang="ko-KR" altLang="en-US" dirty="0"/>
              <a:t>을 다시 </a:t>
            </a:r>
            <a:r>
              <a:rPr lang="en-US" altLang="ko-KR" dirty="0"/>
              <a:t>SSO, MIO</a:t>
            </a:r>
            <a:r>
              <a:rPr lang="ko-KR" altLang="en-US" dirty="0"/>
              <a:t>궤도로 나누어 배치함</a:t>
            </a:r>
            <a:endParaRPr lang="en-US" altLang="ko-KR" dirty="0"/>
          </a:p>
          <a:p>
            <a:pPr lvl="1"/>
            <a:r>
              <a:rPr lang="en-US" altLang="ko-KR" dirty="0"/>
              <a:t>FOV </a:t>
            </a:r>
            <a:r>
              <a:rPr lang="ko-KR" altLang="en-US" dirty="0"/>
              <a:t>값에 따른 </a:t>
            </a:r>
            <a:r>
              <a:rPr lang="en-US" altLang="ko-KR" dirty="0"/>
              <a:t>GSD</a:t>
            </a:r>
            <a:r>
              <a:rPr lang="ko-KR" altLang="en-US" dirty="0"/>
              <a:t>의</a:t>
            </a:r>
            <a:r>
              <a:rPr lang="en-US" altLang="ko-KR" dirty="0"/>
              <a:t> </a:t>
            </a:r>
            <a:r>
              <a:rPr lang="en-US" altLang="ko-KR" b="1" u="sng" dirty="0"/>
              <a:t>Maximum global coverage percentage</a:t>
            </a:r>
            <a:r>
              <a:rPr lang="ko-KR" altLang="en-US" dirty="0"/>
              <a:t>에 대한 연구</a:t>
            </a:r>
            <a:r>
              <a:rPr lang="en-US" altLang="ko-KR" dirty="0"/>
              <a:t> </a:t>
            </a:r>
          </a:p>
          <a:p>
            <a:pPr lvl="1"/>
            <a:r>
              <a:rPr lang="ko-KR" altLang="en-US" dirty="0"/>
              <a:t>초점거리</a:t>
            </a:r>
            <a:r>
              <a:rPr lang="en-US" altLang="ko-KR" dirty="0"/>
              <a:t>(f)</a:t>
            </a:r>
            <a:r>
              <a:rPr lang="ko-KR" altLang="en-US" dirty="0"/>
              <a:t>와 </a:t>
            </a:r>
            <a:r>
              <a:rPr lang="en-US" altLang="ko-KR" dirty="0"/>
              <a:t>GSD</a:t>
            </a:r>
            <a:r>
              <a:rPr lang="ko-KR" altLang="en-US" dirty="0"/>
              <a:t>의 관계에 따른 </a:t>
            </a:r>
            <a:r>
              <a:rPr lang="en-US" altLang="ko-KR" b="1" u="sng" dirty="0"/>
              <a:t>Imaging </a:t>
            </a:r>
            <a:r>
              <a:rPr lang="ko-KR" altLang="en-US" b="1" u="sng" dirty="0"/>
              <a:t>위성의 </a:t>
            </a:r>
            <a:r>
              <a:rPr lang="ko-KR" altLang="en-US" b="1" u="sng" dirty="0" err="1"/>
              <a:t>탑재체</a:t>
            </a:r>
            <a:r>
              <a:rPr lang="ko-KR" altLang="en-US" b="1" u="sng" dirty="0"/>
              <a:t> 성능</a:t>
            </a:r>
            <a:r>
              <a:rPr lang="en-US" altLang="ko-KR" b="1" u="sng" dirty="0"/>
              <a:t>(</a:t>
            </a:r>
            <a:r>
              <a:rPr lang="ko-KR" altLang="en-US" b="1" u="sng" dirty="0"/>
              <a:t>해상도</a:t>
            </a:r>
            <a:r>
              <a:rPr lang="en-US" altLang="ko-KR" b="1" u="sng" dirty="0"/>
              <a:t>)</a:t>
            </a:r>
            <a:r>
              <a:rPr lang="ko-KR" altLang="en-US" dirty="0"/>
              <a:t> 연구</a:t>
            </a:r>
            <a:endParaRPr lang="en-US" altLang="ko-KR" sz="1800" b="1" dirty="0"/>
          </a:p>
          <a:p>
            <a:pPr lvl="1"/>
            <a:endParaRPr lang="en-US" altLang="ko-KR" b="1" dirty="0"/>
          </a:p>
          <a:p>
            <a:pPr lvl="1"/>
            <a:endParaRPr lang="en-US" altLang="ko-KR" sz="1800" b="1" dirty="0"/>
          </a:p>
          <a:p>
            <a:pPr lvl="1"/>
            <a:endParaRPr lang="en-US" altLang="ko-KR" b="1" dirty="0"/>
          </a:p>
          <a:p>
            <a:pPr marL="216000" lvl="1" indent="0">
              <a:buNone/>
            </a:pPr>
            <a:endParaRPr lang="en-US" altLang="ko-KR" b="1" dirty="0"/>
          </a:p>
          <a:p>
            <a:pPr marL="216000" lvl="1" indent="0">
              <a:buNone/>
            </a:pPr>
            <a:endParaRPr lang="en-US" altLang="ko-KR" b="1" dirty="0"/>
          </a:p>
          <a:p>
            <a:pPr marL="216000" lvl="1" indent="0">
              <a:buNone/>
            </a:pPr>
            <a:endParaRPr lang="en-US" altLang="ko-KR" b="1" dirty="0"/>
          </a:p>
          <a:p>
            <a:pPr lvl="1"/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040678053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b="1" dirty="0"/>
              <a:t>(2) </a:t>
            </a:r>
            <a:r>
              <a:rPr lang="en-US" altLang="ko-KR" dirty="0"/>
              <a:t>S. Zhao, Y. Xu, H. Dai; Research on the configuration design method of heterogeneous constellation reconstruction under the multiple objective and multiple constraint. AIP Conference Proceedings 8 May 2017; 1839 (1): 020083.</a:t>
            </a:r>
            <a:br>
              <a:rPr lang="en-US" altLang="ko-KR" dirty="0"/>
            </a:br>
            <a:endParaRPr lang="ko-KR" altLang="en-US" sz="2000" b="1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38971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15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연구목표와 방법 및 이종위성군의 정의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ko-KR" altLang="en-US" dirty="0"/>
              <a:t>연구목표</a:t>
            </a:r>
            <a:endParaRPr lang="en-US" altLang="ko-KR" dirty="0"/>
          </a:p>
          <a:p>
            <a:pPr lvl="1"/>
            <a:r>
              <a:rPr lang="ko-KR" altLang="en-US" dirty="0"/>
              <a:t>다음 두 가지의 </a:t>
            </a:r>
            <a:r>
              <a:rPr lang="ko-KR" altLang="en-US" sz="1800" dirty="0"/>
              <a:t>재구성 방법을 조합하여 최적화된 최종 구성을 얻는 것 </a:t>
            </a:r>
            <a:endParaRPr lang="en-US" altLang="ko-KR" sz="1800" dirty="0"/>
          </a:p>
          <a:p>
            <a:pPr lvl="2"/>
            <a:r>
              <a:rPr lang="en-US" altLang="ko-KR" dirty="0"/>
              <a:t>Phase position uniformity method </a:t>
            </a:r>
            <a:r>
              <a:rPr lang="ko-KR" altLang="en-US" dirty="0"/>
              <a:t> </a:t>
            </a:r>
            <a:endParaRPr lang="en-US" altLang="ko-KR" dirty="0"/>
          </a:p>
          <a:p>
            <a:pPr lvl="2"/>
            <a:r>
              <a:rPr lang="en-US" altLang="ko-KR" dirty="0"/>
              <a:t>Reconstruction configuration design method (based in optimization algorithm)</a:t>
            </a:r>
          </a:p>
          <a:p>
            <a:pPr lvl="1"/>
            <a:endParaRPr lang="en-US" altLang="ko-KR" sz="1800" b="1" dirty="0"/>
          </a:p>
          <a:p>
            <a:r>
              <a:rPr lang="ko-KR" altLang="en-US" dirty="0"/>
              <a:t>연구 방법</a:t>
            </a:r>
            <a:endParaRPr lang="en-US" altLang="ko-KR" dirty="0"/>
          </a:p>
          <a:p>
            <a:pPr lvl="1"/>
            <a:r>
              <a:rPr lang="ko-KR" altLang="en-US" dirty="0"/>
              <a:t>위의 두 가지 재구성 설계 방법의 장단점을 분석</a:t>
            </a:r>
            <a:endParaRPr lang="en-US" altLang="ko-KR" dirty="0"/>
          </a:p>
          <a:p>
            <a:pPr lvl="1"/>
            <a:r>
              <a:rPr lang="ko-KR" altLang="en-US" dirty="0"/>
              <a:t>각각의 방법에 대한 장점을 조합</a:t>
            </a:r>
            <a:endParaRPr lang="en-US" altLang="ko-KR" dirty="0"/>
          </a:p>
          <a:p>
            <a:pPr lvl="1"/>
            <a:r>
              <a:rPr lang="ko-KR" altLang="en-US" sz="1800" dirty="0"/>
              <a:t>다중 목적 및 다중 제한 조건에 기초한 이종 위성군의 설계방법을 달성</a:t>
            </a:r>
            <a:endParaRPr lang="en-US" altLang="ko-KR" sz="1800" dirty="0"/>
          </a:p>
          <a:p>
            <a:pPr lvl="1"/>
            <a:endParaRPr lang="en-US" altLang="ko-KR" b="1" dirty="0"/>
          </a:p>
          <a:p>
            <a:r>
              <a:rPr lang="ko-KR" altLang="en-US" dirty="0"/>
              <a:t>본 논문에서의 </a:t>
            </a:r>
            <a:r>
              <a:rPr lang="en-US" altLang="ko-KR" dirty="0"/>
              <a:t>Heterogeneous Constellation</a:t>
            </a:r>
            <a:r>
              <a:rPr lang="ko-KR" altLang="en-US" dirty="0"/>
              <a:t>의 정의</a:t>
            </a:r>
          </a:p>
          <a:p>
            <a:pPr lvl="1"/>
            <a:r>
              <a:rPr lang="ko-KR" altLang="en-US" dirty="0"/>
              <a:t>모든 위성이 동일한 임무를 중심으로 회전</a:t>
            </a:r>
            <a:endParaRPr lang="en-US" altLang="ko-KR" dirty="0"/>
          </a:p>
          <a:p>
            <a:pPr lvl="1"/>
            <a:r>
              <a:rPr lang="ko-KR" altLang="en-US" dirty="0"/>
              <a:t>상대적으로 고정된 공간구조를 가짐 </a:t>
            </a:r>
            <a:endParaRPr lang="en-US" altLang="ko-KR" dirty="0"/>
          </a:p>
          <a:p>
            <a:pPr lvl="1"/>
            <a:r>
              <a:rPr lang="ko-KR" altLang="en-US" dirty="0"/>
              <a:t>이 공간구조는 워커와 동일한 </a:t>
            </a:r>
            <a:r>
              <a:rPr lang="ko-KR" altLang="en-US" dirty="0" err="1"/>
              <a:t>균일성</a:t>
            </a:r>
            <a:r>
              <a:rPr lang="ko-KR" altLang="en-US" dirty="0"/>
              <a:t> 및 대칭성을 가지지 않음</a:t>
            </a:r>
            <a:endParaRPr lang="en-US" altLang="ko-KR" b="1" dirty="0"/>
          </a:p>
          <a:p>
            <a:pPr lvl="1"/>
            <a:endParaRPr lang="en-US" altLang="ko-KR" sz="1800" b="1" dirty="0"/>
          </a:p>
          <a:p>
            <a:pPr lvl="1"/>
            <a:endParaRPr lang="en-US" altLang="ko-KR" b="1" dirty="0"/>
          </a:p>
          <a:p>
            <a:pPr lvl="1"/>
            <a:endParaRPr lang="en-US" altLang="ko-KR" sz="1800" b="1" dirty="0"/>
          </a:p>
          <a:p>
            <a:pPr lvl="1"/>
            <a:endParaRPr lang="en-US" altLang="ko-KR" b="1" dirty="0"/>
          </a:p>
          <a:p>
            <a:pPr marL="216000" lvl="1" indent="0">
              <a:buNone/>
            </a:pPr>
            <a:endParaRPr lang="en-US" altLang="ko-KR" b="1" dirty="0"/>
          </a:p>
          <a:p>
            <a:pPr marL="216000" lvl="1" indent="0">
              <a:buNone/>
            </a:pPr>
            <a:endParaRPr lang="en-US" altLang="ko-KR" b="1" dirty="0"/>
          </a:p>
          <a:p>
            <a:pPr marL="216000" lvl="1" indent="0">
              <a:buNone/>
            </a:pPr>
            <a:endParaRPr lang="en-US" altLang="ko-KR" b="1" dirty="0"/>
          </a:p>
          <a:p>
            <a:pPr lvl="1"/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92815462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16</a:t>
            </a:fld>
            <a:endParaRPr lang="en-US" altLang="en-US" dirty="0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>
              <a:defRPr/>
            </a:pPr>
            <a:r>
              <a:rPr lang="en-US" altLang="ko-KR" dirty="0"/>
              <a:t>Reconstruction</a:t>
            </a:r>
            <a:r>
              <a:rPr lang="ko-KR" altLang="en-US" dirty="0"/>
              <a:t>의 정의 및 전체적인 구성도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ko-KR" altLang="en-US" dirty="0"/>
              <a:t>위성군의 재구성</a:t>
            </a:r>
            <a:r>
              <a:rPr lang="en-US" altLang="ko-KR" dirty="0"/>
              <a:t>(Reconstruction) : </a:t>
            </a:r>
          </a:p>
          <a:p>
            <a:pPr lvl="1"/>
            <a:r>
              <a:rPr lang="ko-KR" altLang="en-US" dirty="0"/>
              <a:t>시스템 장애</a:t>
            </a:r>
            <a:r>
              <a:rPr lang="en-US" altLang="ko-KR" dirty="0"/>
              <a:t>, </a:t>
            </a:r>
            <a:r>
              <a:rPr lang="ko-KR" altLang="en-US" dirty="0"/>
              <a:t>환경 문제 등에 직면하여 기존의 구성을 조정 </a:t>
            </a:r>
            <a:endParaRPr lang="en-US" altLang="ko-KR" dirty="0"/>
          </a:p>
          <a:p>
            <a:pPr lvl="2"/>
            <a:r>
              <a:rPr lang="ko-KR" altLang="en-US" dirty="0"/>
              <a:t>위성군의 성능 개선 및 새로운 요구 사항을 충족하는 방법</a:t>
            </a:r>
            <a:endParaRPr lang="en-US" altLang="ko-KR" sz="1400" dirty="0"/>
          </a:p>
          <a:p>
            <a:pPr lvl="3">
              <a:defRPr/>
            </a:pPr>
            <a:endParaRPr lang="en-US" altLang="ko-KR" b="1" dirty="0"/>
          </a:p>
          <a:p>
            <a:pPr marL="576000" lvl="3" indent="0">
              <a:buNone/>
            </a:pPr>
            <a:endParaRPr lang="en-US" altLang="ko-KR" b="1" dirty="0"/>
          </a:p>
          <a:p>
            <a:pPr marL="576000" lvl="3" indent="0">
              <a:buNone/>
            </a:pPr>
            <a:endParaRPr lang="en-US" altLang="ko-KR" b="1" dirty="0"/>
          </a:p>
          <a:p>
            <a:pPr marL="576000" lvl="3" indent="0">
              <a:buNone/>
            </a:pPr>
            <a:endParaRPr lang="en-US" altLang="ko-KR" b="1" dirty="0"/>
          </a:p>
          <a:p>
            <a:pPr lvl="3"/>
            <a:endParaRPr lang="en-US" altLang="ko-KR" dirty="0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8F1D8DC4-A201-9116-C1A7-E6D73A8C2099}"/>
              </a:ext>
            </a:extLst>
          </p:cNvPr>
          <p:cNvGrpSpPr/>
          <p:nvPr/>
        </p:nvGrpSpPr>
        <p:grpSpPr>
          <a:xfrm>
            <a:off x="109140" y="2070151"/>
            <a:ext cx="8038730" cy="3859163"/>
            <a:chOff x="13070" y="1967312"/>
            <a:chExt cx="8038730" cy="3859163"/>
          </a:xfrm>
        </p:grpSpPr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0F6B91C8-9B29-4F93-0913-4B9FA4097CD0}"/>
                </a:ext>
              </a:extLst>
            </p:cNvPr>
            <p:cNvGrpSpPr/>
            <p:nvPr/>
          </p:nvGrpSpPr>
          <p:grpSpPr>
            <a:xfrm>
              <a:off x="13070" y="1967312"/>
              <a:ext cx="8038730" cy="3859163"/>
              <a:chOff x="13070" y="1967312"/>
              <a:chExt cx="8038730" cy="3859163"/>
            </a:xfrm>
          </p:grpSpPr>
          <p:grpSp>
            <p:nvGrpSpPr>
              <p:cNvPr id="5" name="그룹 4">
                <a:extLst>
                  <a:ext uri="{FF2B5EF4-FFF2-40B4-BE49-F238E27FC236}">
                    <a16:creationId xmlns:a16="http://schemas.microsoft.com/office/drawing/2014/main" id="{F6CDD187-BB25-BBDD-B9B2-6D28677B5E86}"/>
                  </a:ext>
                </a:extLst>
              </p:cNvPr>
              <p:cNvGrpSpPr/>
              <p:nvPr/>
            </p:nvGrpSpPr>
            <p:grpSpPr>
              <a:xfrm>
                <a:off x="13070" y="1967312"/>
                <a:ext cx="8038730" cy="3859163"/>
                <a:chOff x="13070" y="1967312"/>
                <a:chExt cx="8038730" cy="3859163"/>
              </a:xfrm>
            </p:grpSpPr>
            <p:grpSp>
              <p:nvGrpSpPr>
                <p:cNvPr id="3" name="그룹 2">
                  <a:extLst>
                    <a:ext uri="{FF2B5EF4-FFF2-40B4-BE49-F238E27FC236}">
                      <a16:creationId xmlns:a16="http://schemas.microsoft.com/office/drawing/2014/main" id="{46364213-74C0-BA4B-EB94-DC6139BFEB4F}"/>
                    </a:ext>
                  </a:extLst>
                </p:cNvPr>
                <p:cNvGrpSpPr/>
                <p:nvPr/>
              </p:nvGrpSpPr>
              <p:grpSpPr>
                <a:xfrm>
                  <a:off x="257080" y="1979837"/>
                  <a:ext cx="7794720" cy="3846638"/>
                  <a:chOff x="257080" y="1979837"/>
                  <a:chExt cx="7794720" cy="3846638"/>
                </a:xfrm>
              </p:grpSpPr>
              <p:pic>
                <p:nvPicPr>
                  <p:cNvPr id="9" name="그림 8">
                    <a:extLst>
                      <a:ext uri="{FF2B5EF4-FFF2-40B4-BE49-F238E27FC236}">
                        <a16:creationId xmlns:a16="http://schemas.microsoft.com/office/drawing/2014/main" id="{E7B9E789-E60D-2C2A-0F21-FD759DF68A2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1400236" y="2069153"/>
                    <a:ext cx="6651564" cy="3757322"/>
                  </a:xfrm>
                  <a:prstGeom prst="rect">
                    <a:avLst/>
                  </a:prstGeom>
                  <a:ln>
                    <a:solidFill>
                      <a:schemeClr val="tx1"/>
                    </a:solidFill>
                  </a:ln>
                </p:spPr>
              </p:pic>
              <p:sp>
                <p:nvSpPr>
                  <p:cNvPr id="13" name="직사각형 12">
                    <a:extLst>
                      <a:ext uri="{FF2B5EF4-FFF2-40B4-BE49-F238E27FC236}">
                        <a16:creationId xmlns:a16="http://schemas.microsoft.com/office/drawing/2014/main" id="{B2E626A0-0B0A-3F8F-25E8-CDD5B03D9D58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764970" y="2758634"/>
                    <a:ext cx="700828" cy="943278"/>
                  </a:xfrm>
                  <a:prstGeom prst="rect">
                    <a:avLst/>
                  </a:prstGeom>
                  <a:noFill/>
                  <a:ln w="19050">
                    <a:solidFill>
                      <a:srgbClr val="FF0000"/>
                    </a:solidFill>
                  </a:ln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algn="l"/>
                    <a:endParaRPr lang="ko-KR" altLang="en-US" dirty="0"/>
                  </a:p>
                </p:txBody>
              </p:sp>
              <p:sp>
                <p:nvSpPr>
                  <p:cNvPr id="14" name="직사각형 13">
                    <a:extLst>
                      <a:ext uri="{FF2B5EF4-FFF2-40B4-BE49-F238E27FC236}">
                        <a16:creationId xmlns:a16="http://schemas.microsoft.com/office/drawing/2014/main" id="{5A405B57-383E-519F-C154-25E904893DD6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729092" y="2248895"/>
                    <a:ext cx="5250790" cy="3488680"/>
                  </a:xfrm>
                  <a:prstGeom prst="rect">
                    <a:avLst/>
                  </a:prstGeom>
                  <a:noFill/>
                  <a:ln w="19050">
                    <a:solidFill>
                      <a:srgbClr val="0066FF"/>
                    </a:solidFill>
                  </a:ln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algn="l"/>
                    <a:endParaRPr lang="ko-KR" altLang="en-US" dirty="0">
                      <a:ln>
                        <a:solidFill>
                          <a:srgbClr val="0066FF"/>
                        </a:solidFill>
                      </a:ln>
                    </a:endParaRPr>
                  </a:p>
                </p:txBody>
              </p:sp>
              <p:sp>
                <p:nvSpPr>
                  <p:cNvPr id="16" name="TextBox 15">
                    <a:extLst>
                      <a:ext uri="{FF2B5EF4-FFF2-40B4-BE49-F238E27FC236}">
                        <a16:creationId xmlns:a16="http://schemas.microsoft.com/office/drawing/2014/main" id="{86B1C107-1B6B-7115-5CFA-F28A61724C3D}"/>
                      </a:ext>
                    </a:extLst>
                  </p:cNvPr>
                  <p:cNvSpPr txBox="1"/>
                  <p:nvPr/>
                </p:nvSpPr>
                <p:spPr>
                  <a:xfrm>
                    <a:off x="257080" y="2978927"/>
                    <a:ext cx="1615281" cy="52322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rgbClr val="FF0000"/>
                        </a:solidFill>
                      </a:rPr>
                      <a:t>Phase Uniformity </a:t>
                    </a:r>
                  </a:p>
                  <a:p>
                    <a:r>
                      <a:rPr lang="en-US" altLang="ko-KR" sz="1400" dirty="0">
                        <a:solidFill>
                          <a:srgbClr val="FF0000"/>
                        </a:solidFill>
                      </a:rPr>
                      <a:t>Method</a:t>
                    </a:r>
                    <a:endParaRPr lang="ko-KR" altLang="en-US" sz="1400" dirty="0">
                      <a:solidFill>
                        <a:srgbClr val="FF0000"/>
                      </a:solidFill>
                    </a:endParaRPr>
                  </a:p>
                </p:txBody>
              </p:sp>
              <p:sp>
                <p:nvSpPr>
                  <p:cNvPr id="17" name="TextBox 16">
                    <a:extLst>
                      <a:ext uri="{FF2B5EF4-FFF2-40B4-BE49-F238E27FC236}">
                        <a16:creationId xmlns:a16="http://schemas.microsoft.com/office/drawing/2014/main" id="{605D0E20-A876-926F-87A3-8AEF5FC22A2F}"/>
                      </a:ext>
                    </a:extLst>
                  </p:cNvPr>
                  <p:cNvSpPr txBox="1"/>
                  <p:nvPr/>
                </p:nvSpPr>
                <p:spPr>
                  <a:xfrm>
                    <a:off x="3893210" y="1979837"/>
                    <a:ext cx="3483728" cy="307777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rgbClr val="0066FF"/>
                        </a:solidFill>
                      </a:rPr>
                      <a:t>Reconstruction Configuration</a:t>
                    </a:r>
                    <a:endParaRPr lang="ko-KR" altLang="en-US" sz="1400" dirty="0">
                      <a:solidFill>
                        <a:srgbClr val="0066FF"/>
                      </a:solidFill>
                    </a:endParaRPr>
                  </a:p>
                </p:txBody>
              </p:sp>
            </p:grpSp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A5A87862-7820-99A1-0692-5C8BEB3FAAE1}"/>
                    </a:ext>
                  </a:extLst>
                </p:cNvPr>
                <p:cNvSpPr txBox="1"/>
                <p:nvPr/>
              </p:nvSpPr>
              <p:spPr>
                <a:xfrm>
                  <a:off x="13070" y="2963370"/>
                  <a:ext cx="426378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rgbClr val="FF0000"/>
                      </a:solidFill>
                    </a:rPr>
                    <a:t>(1)</a:t>
                  </a:r>
                  <a:endParaRPr lang="ko-KR" altLang="en-US" sz="1400" dirty="0">
                    <a:solidFill>
                      <a:srgbClr val="FF0000"/>
                    </a:solidFill>
                  </a:endParaRPr>
                </a:p>
              </p:txBody>
            </p:sp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AD7D9E33-D637-1228-0BD4-AB7B5AA66A0E}"/>
                    </a:ext>
                  </a:extLst>
                </p:cNvPr>
                <p:cNvSpPr txBox="1"/>
                <p:nvPr/>
              </p:nvSpPr>
              <p:spPr>
                <a:xfrm>
                  <a:off x="3655191" y="1967312"/>
                  <a:ext cx="426378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rgbClr val="0066FF"/>
                      </a:solidFill>
                    </a:rPr>
                    <a:t>(2)</a:t>
                  </a:r>
                  <a:endParaRPr lang="ko-KR" altLang="en-US" sz="1400" dirty="0">
                    <a:solidFill>
                      <a:srgbClr val="0066FF"/>
                    </a:solidFill>
                  </a:endParaRPr>
                </a:p>
              </p:txBody>
            </p:sp>
          </p:grpSp>
          <p:sp>
            <p:nvSpPr>
              <p:cNvPr id="18" name="직사각형 17">
                <a:extLst>
                  <a:ext uri="{FF2B5EF4-FFF2-40B4-BE49-F238E27FC236}">
                    <a16:creationId xmlns:a16="http://schemas.microsoft.com/office/drawing/2014/main" id="{860C173F-3B3C-12B8-C28A-0F724C53BF1A}"/>
                  </a:ext>
                </a:extLst>
              </p:cNvPr>
              <p:cNvSpPr/>
              <p:nvPr/>
            </p:nvSpPr>
            <p:spPr bwMode="auto">
              <a:xfrm>
                <a:off x="3954853" y="2302668"/>
                <a:ext cx="2374028" cy="3358393"/>
              </a:xfrm>
              <a:prstGeom prst="rect">
                <a:avLst/>
              </a:prstGeom>
              <a:noFill/>
              <a:ln w="19050">
                <a:solidFill>
                  <a:srgbClr val="002060"/>
                </a:solidFill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l"/>
                <a:endParaRPr lang="ko-KR" altLang="en-US" dirty="0"/>
              </a:p>
            </p:txBody>
          </p:sp>
        </p:grp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3530FEC8-9A77-2E52-5B9B-6AE82F8AF11B}"/>
                </a:ext>
              </a:extLst>
            </p:cNvPr>
            <p:cNvSpPr txBox="1"/>
            <p:nvPr/>
          </p:nvSpPr>
          <p:spPr>
            <a:xfrm>
              <a:off x="6318734" y="2609472"/>
              <a:ext cx="1579878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400" dirty="0"/>
                <a:t>Optimization algorithm</a:t>
              </a:r>
              <a:endParaRPr lang="ko-KR" altLang="en-US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2594108153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17</a:t>
            </a:fld>
            <a:endParaRPr lang="en-US" altLang="en-US" dirty="0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Phase</a:t>
            </a:r>
            <a:r>
              <a:rPr lang="ko-KR" altLang="en-US" dirty="0"/>
              <a:t> </a:t>
            </a:r>
            <a:r>
              <a:rPr lang="en-US" altLang="ko-KR" dirty="0"/>
              <a:t>Uniformity</a:t>
            </a:r>
            <a:r>
              <a:rPr lang="ko-KR" altLang="en-US" dirty="0"/>
              <a:t> </a:t>
            </a:r>
            <a:r>
              <a:rPr lang="en-US" altLang="ko-KR" dirty="0"/>
              <a:t>Method</a:t>
            </a:r>
            <a:endParaRPr lang="ko-KR" altLang="en-US" dirty="0"/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sz="2400" dirty="0"/>
              <a:t>(1) Phase Uniformity Method</a:t>
            </a:r>
            <a:endParaRPr lang="en-US" altLang="ko-KR" dirty="0"/>
          </a:p>
          <a:p>
            <a:pPr lvl="1"/>
            <a:r>
              <a:rPr lang="ko-KR" altLang="en-US" sz="1800" dirty="0"/>
              <a:t>위성군의 성능 향상을 위해 위성의 </a:t>
            </a:r>
            <a:r>
              <a:rPr lang="en-US" altLang="ko-KR" dirty="0"/>
              <a:t>failure</a:t>
            </a:r>
            <a:r>
              <a:rPr lang="ko-KR" altLang="en-US" sz="1800" dirty="0"/>
              <a:t>에 초점을 맞춘 재구성 전략</a:t>
            </a:r>
            <a:endParaRPr lang="en-US" altLang="ko-KR" sz="1800" dirty="0"/>
          </a:p>
          <a:p>
            <a:pPr lvl="1"/>
            <a:r>
              <a:rPr lang="ko-KR" altLang="en-US" sz="1800" dirty="0"/>
              <a:t>시나리오에 따라 다음으로 분류</a:t>
            </a:r>
          </a:p>
          <a:p>
            <a:pPr lvl="2">
              <a:defRPr/>
            </a:pPr>
            <a:r>
              <a:rPr lang="en-US" altLang="ko-KR" sz="1600" dirty="0"/>
              <a:t>Satellite failure reconstruction</a:t>
            </a:r>
          </a:p>
          <a:p>
            <a:pPr lvl="2">
              <a:defRPr/>
            </a:pPr>
            <a:r>
              <a:rPr lang="en-US" altLang="ko-KR" sz="1600" dirty="0"/>
              <a:t>Ground mission change reconstruction</a:t>
            </a:r>
            <a:endParaRPr lang="en-US" altLang="ko-KR" dirty="0"/>
          </a:p>
          <a:p>
            <a:pPr lvl="1">
              <a:defRPr/>
            </a:pPr>
            <a:r>
              <a:rPr lang="ko-KR" altLang="en-US" dirty="0"/>
              <a:t>본 논문에서는 </a:t>
            </a:r>
            <a:r>
              <a:rPr lang="en-US" altLang="ko-KR" dirty="0"/>
              <a:t>Satellite failure</a:t>
            </a:r>
            <a:r>
              <a:rPr lang="ko-KR" altLang="en-US" dirty="0"/>
              <a:t>에 대한 내용만을 다루었으며 다음으로 다시 분류</a:t>
            </a:r>
            <a:endParaRPr lang="en-US" altLang="ko-KR" dirty="0"/>
          </a:p>
          <a:p>
            <a:pPr lvl="2">
              <a:defRPr/>
            </a:pPr>
            <a:r>
              <a:rPr lang="en-US" altLang="ko-KR" dirty="0"/>
              <a:t>Single Satellite failure : </a:t>
            </a:r>
            <a:r>
              <a:rPr lang="ko-KR" altLang="en-US" dirty="0"/>
              <a:t>인접 위성과의 위상각을 조정</a:t>
            </a:r>
            <a:r>
              <a:rPr lang="en-US" altLang="ko-KR" dirty="0"/>
              <a:t> </a:t>
            </a:r>
          </a:p>
          <a:p>
            <a:pPr lvl="2">
              <a:defRPr/>
            </a:pPr>
            <a:r>
              <a:rPr lang="en-US" altLang="ko-KR" dirty="0"/>
              <a:t>Multi coplanar Satellite failure : </a:t>
            </a:r>
            <a:r>
              <a:rPr lang="ko-KR" altLang="en-US" dirty="0"/>
              <a:t>같은 평면의 모든 위성과의 위상각을 조정</a:t>
            </a:r>
            <a:endParaRPr lang="en-US" altLang="ko-KR" dirty="0"/>
          </a:p>
          <a:p>
            <a:pPr lvl="2">
              <a:defRPr/>
            </a:pPr>
            <a:r>
              <a:rPr lang="en-US" altLang="ko-KR" dirty="0"/>
              <a:t>Multi non-coplanar Satellite failure : </a:t>
            </a:r>
            <a:r>
              <a:rPr lang="ko-KR" altLang="en-US" dirty="0"/>
              <a:t>위성군의 모든 위성과의 위상각을 조정</a:t>
            </a:r>
            <a:endParaRPr lang="en-US" altLang="ko-KR" dirty="0"/>
          </a:p>
          <a:p>
            <a:pPr lvl="3">
              <a:defRPr/>
            </a:pPr>
            <a:endParaRPr lang="en-US" altLang="ko-KR" b="1" dirty="0"/>
          </a:p>
          <a:p>
            <a:pPr marL="216000" lvl="1" indent="0">
              <a:buNone/>
            </a:pPr>
            <a:endParaRPr lang="en-US" altLang="ko-KR" b="1" dirty="0"/>
          </a:p>
          <a:p>
            <a:pPr marL="216000" lvl="1" indent="0">
              <a:buNone/>
            </a:pPr>
            <a:endParaRPr lang="en-US" altLang="ko-KR" b="1" dirty="0"/>
          </a:p>
          <a:p>
            <a:pPr marL="216000" lvl="1" indent="0">
              <a:buNone/>
            </a:pPr>
            <a:endParaRPr lang="en-US" altLang="ko-KR" b="1" dirty="0"/>
          </a:p>
          <a:p>
            <a:pPr lvl="1"/>
            <a:endParaRPr lang="en-US" altLang="ko-KR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822E1DB-351B-43C5-08AD-252A8F226E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7624" y="3958389"/>
            <a:ext cx="4045894" cy="284971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855162392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18</a:t>
            </a:fld>
            <a:endParaRPr lang="en-US" altLang="en-US" dirty="0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Reconstruction Configuration Design Method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(2) Reconstruction Configuration Design Method</a:t>
            </a:r>
          </a:p>
          <a:p>
            <a:pPr lvl="1"/>
            <a:r>
              <a:rPr lang="ko-KR" altLang="en-US" dirty="0"/>
              <a:t>다양한 재구성 시나리오에 따라 최종 구성을 얻는 과정</a:t>
            </a:r>
            <a:endParaRPr lang="en-US" altLang="ko-KR" dirty="0"/>
          </a:p>
          <a:p>
            <a:pPr lvl="1"/>
            <a:r>
              <a:rPr lang="ko-KR" altLang="en-US" dirty="0"/>
              <a:t>시나리오 및 요구조건에 따라 재구성 전략이 결정</a:t>
            </a:r>
          </a:p>
          <a:p>
            <a:pPr lvl="2"/>
            <a:r>
              <a:rPr lang="en-US" altLang="ko-KR" dirty="0"/>
              <a:t>Reconstruction</a:t>
            </a:r>
            <a:r>
              <a:rPr lang="ko-KR" altLang="en-US" dirty="0"/>
              <a:t> </a:t>
            </a:r>
            <a:r>
              <a:rPr lang="en-US" altLang="ko-KR" dirty="0"/>
              <a:t>purpose : </a:t>
            </a:r>
            <a:r>
              <a:rPr lang="ko-KR" altLang="en-US" dirty="0"/>
              <a:t>재구성에 따라 예상되는 결과</a:t>
            </a:r>
            <a:r>
              <a:rPr lang="en-US" altLang="ko-KR" dirty="0"/>
              <a:t>. </a:t>
            </a:r>
            <a:r>
              <a:rPr lang="ko-KR" altLang="en-US" dirty="0"/>
              <a:t>기존 문헌에서 하나 이상의 커버리지 성능지수 또는 새로운 요구조건 등을 </a:t>
            </a:r>
            <a:r>
              <a:rPr lang="en-US" altLang="ko-KR" dirty="0"/>
              <a:t>purpose</a:t>
            </a:r>
            <a:r>
              <a:rPr lang="ko-KR" altLang="en-US" dirty="0"/>
              <a:t>로 사용함</a:t>
            </a:r>
            <a:endParaRPr lang="en-US" altLang="ko-KR" dirty="0"/>
          </a:p>
          <a:p>
            <a:pPr lvl="2"/>
            <a:r>
              <a:rPr lang="en-US" altLang="ko-KR" dirty="0"/>
              <a:t>Reconstruction</a:t>
            </a:r>
            <a:r>
              <a:rPr lang="ko-KR" altLang="en-US" dirty="0"/>
              <a:t> </a:t>
            </a:r>
            <a:r>
              <a:rPr lang="en-US" altLang="ko-KR" dirty="0"/>
              <a:t>method : </a:t>
            </a:r>
            <a:r>
              <a:rPr lang="ko-KR" altLang="en-US" dirty="0"/>
              <a:t>새로운 위성을 보완할 것인지</a:t>
            </a:r>
            <a:r>
              <a:rPr lang="en-US" altLang="ko-KR" dirty="0"/>
              <a:t>, </a:t>
            </a:r>
            <a:r>
              <a:rPr lang="ko-KR" altLang="en-US" dirty="0"/>
              <a:t>궤도 상의 위성을 어떻게 조종할 것인지</a:t>
            </a:r>
            <a:r>
              <a:rPr lang="en-US" altLang="ko-KR" dirty="0"/>
              <a:t>, </a:t>
            </a:r>
            <a:r>
              <a:rPr lang="ko-KR" altLang="en-US" dirty="0"/>
              <a:t>어떤 위성을 조정해야 하는지</a:t>
            </a:r>
            <a:r>
              <a:rPr lang="en-US" altLang="ko-KR" dirty="0"/>
              <a:t>, </a:t>
            </a:r>
            <a:r>
              <a:rPr lang="ko-KR" altLang="en-US" dirty="0"/>
              <a:t>어떤 변수를 변경해야 하는지 등 방법 및 수단</a:t>
            </a:r>
            <a:endParaRPr lang="en-US" altLang="ko-KR" dirty="0"/>
          </a:p>
          <a:p>
            <a:pPr lvl="2"/>
            <a:r>
              <a:rPr lang="en-US" altLang="ko-KR" dirty="0"/>
              <a:t>Reconstruction</a:t>
            </a:r>
            <a:r>
              <a:rPr lang="ko-KR" altLang="en-US" dirty="0"/>
              <a:t> </a:t>
            </a:r>
            <a:r>
              <a:rPr lang="en-US" altLang="ko-KR" dirty="0"/>
              <a:t>constraint : </a:t>
            </a:r>
            <a:r>
              <a:rPr lang="ko-KR" altLang="en-US" dirty="0"/>
              <a:t>재구성 시간 및 에너지 비용 등의 제한조건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marL="396000" lvl="2" indent="0">
              <a:buNone/>
            </a:pPr>
            <a:endParaRPr lang="en-US" altLang="ko-KR" b="1" dirty="0"/>
          </a:p>
          <a:p>
            <a:pPr marL="396000" lvl="2" indent="0">
              <a:buNone/>
            </a:pPr>
            <a:endParaRPr lang="en-US" altLang="ko-KR" b="1" dirty="0"/>
          </a:p>
          <a:p>
            <a:pPr marL="396000" lvl="2" indent="0">
              <a:buNone/>
            </a:pPr>
            <a:endParaRPr lang="en-US" altLang="ko-KR" b="1" dirty="0"/>
          </a:p>
          <a:p>
            <a:pPr lvl="2"/>
            <a:endParaRPr lang="en-US" altLang="ko-KR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2ECDA20-1923-91C5-DAE5-9717257D79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8712" y="3477128"/>
            <a:ext cx="3937432" cy="332768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711756003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19</a:t>
            </a:fld>
            <a:endParaRPr lang="en-US" altLang="en-US" dirty="0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두 가지 방법의 장단점 비교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sz="2400" dirty="0"/>
              <a:t>Comparison of the two </a:t>
            </a:r>
            <a:r>
              <a:rPr lang="en-US" altLang="ko-KR" dirty="0"/>
              <a:t>Methods</a:t>
            </a:r>
          </a:p>
          <a:p>
            <a:pPr lvl="1"/>
            <a:r>
              <a:rPr lang="ko-KR" altLang="en-US" dirty="0"/>
              <a:t>기존의 지표와 방법을 사용하여 수학적 모델을 설정하고 다양한 재구성 시나리오에 따라 최종 구성을 얻는 과정</a:t>
            </a:r>
          </a:p>
          <a:p>
            <a:pPr lvl="1"/>
            <a:endParaRPr lang="en-US" altLang="ko-KR" dirty="0"/>
          </a:p>
          <a:p>
            <a:pPr marL="396000" lvl="2" indent="0">
              <a:buNone/>
            </a:pPr>
            <a:endParaRPr lang="en-US" altLang="ko-KR" b="1" dirty="0"/>
          </a:p>
          <a:p>
            <a:pPr marL="396000" lvl="2" indent="0">
              <a:buNone/>
            </a:pPr>
            <a:endParaRPr lang="en-US" altLang="ko-KR" b="1" dirty="0"/>
          </a:p>
          <a:p>
            <a:pPr marL="396000" lvl="2" indent="0">
              <a:buNone/>
            </a:pPr>
            <a:endParaRPr lang="en-US" altLang="ko-KR" b="1" dirty="0"/>
          </a:p>
          <a:p>
            <a:pPr lvl="2"/>
            <a:endParaRPr lang="en-US" altLang="ko-KR" dirty="0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C559C2EB-1ADE-52E4-EF59-6DC2A3A360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7596838"/>
              </p:ext>
            </p:extLst>
          </p:nvPr>
        </p:nvGraphicFramePr>
        <p:xfrm>
          <a:off x="625407" y="2096151"/>
          <a:ext cx="8261511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49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71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49434">
                  <a:extLst>
                    <a:ext uri="{9D8B030D-6E8A-4147-A177-3AD203B41FA5}">
                      <a16:colId xmlns:a16="http://schemas.microsoft.com/office/drawing/2014/main" val="3978487964"/>
                    </a:ext>
                  </a:extLst>
                </a:gridCol>
              </a:tblGrid>
              <a:tr h="21821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Method</a:t>
                      </a:r>
                      <a:endParaRPr lang="ko-KR" altLang="en-US" sz="14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Phase uniformity method</a:t>
                      </a:r>
                      <a:endParaRPr lang="ko-KR" altLang="en-US" sz="14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Reconstruction Configuration </a:t>
                      </a:r>
                    </a:p>
                    <a:p>
                      <a:pPr algn="ctr" latinLnBrk="1"/>
                      <a:r>
                        <a:rPr lang="en-US" altLang="ko-KR" sz="14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design method</a:t>
                      </a:r>
                    </a:p>
                    <a:p>
                      <a:pPr algn="ctr" latinLnBrk="1"/>
                      <a:r>
                        <a:rPr lang="en-US" altLang="ko-KR" sz="14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(Based on Optimization Algorithm)</a:t>
                      </a:r>
                      <a:endParaRPr lang="ko-KR" altLang="en-US" sz="14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639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Explain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- </a:t>
                      </a:r>
                      <a:r>
                        <a:rPr lang="ko-KR" altLang="en-US" sz="1200" dirty="0" err="1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위성군</a:t>
                      </a:r>
                      <a:r>
                        <a:rPr lang="ko-KR" altLang="en-US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 내 위성의 위상각을 조정하여 성능을 향상시키기 위해 위성의 </a:t>
                      </a:r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failure</a:t>
                      </a:r>
                      <a:r>
                        <a:rPr lang="ko-KR" altLang="en-US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에 초점을 맞춘 재구성 전력 방법</a:t>
                      </a:r>
                      <a:endParaRPr lang="en-US" altLang="ko-KR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  <a:p>
                      <a:pPr marL="0" indent="0" algn="l" latinLnBrk="1">
                        <a:buFontTx/>
                        <a:buNone/>
                      </a:pPr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- </a:t>
                      </a:r>
                      <a:r>
                        <a:rPr lang="ko-KR" altLang="en-US" sz="1200" dirty="0" err="1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고장난</a:t>
                      </a:r>
                      <a:r>
                        <a:rPr lang="ko-KR" altLang="en-US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 위성 및 그 위성의 궤도에 따라 </a:t>
                      </a:r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single, multi coplanar, multi non-coplanar</a:t>
                      </a:r>
                      <a:r>
                        <a:rPr lang="ko-KR" altLang="en-US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로 분류</a:t>
                      </a:r>
                      <a:endParaRPr lang="en-US" altLang="ko-KR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- 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재구성 설계의 수학적 모델을 설정하고 기존의 최적화 알고리즘을 사용하여 모델의 최적 해를 얻는 과정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639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Advantage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- 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에너지 절약</a:t>
                      </a: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, 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구현의 단순성</a:t>
                      </a: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, 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간단한 과정</a:t>
                      </a: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, 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기존 구성에 대해 적은 손상</a:t>
                      </a: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,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 강력한 복구 능력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- 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높은 범용성</a:t>
                      </a: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, 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재구성에 대한 특별한 요구사항이 없음</a:t>
                      </a: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 - 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최종 구성의 최적성을 보장 가능</a:t>
                      </a:r>
                      <a:endParaRPr kumimoji="0" lang="en-US" altLang="ko-KR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639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Disadvantage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- 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위성 </a:t>
                      </a: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failure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 재구성에만 적용됨</a:t>
                      </a: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- Coplanar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의 다중 위성에만 적용됨</a:t>
                      </a:r>
                      <a:endParaRPr kumimoji="0" lang="en-US" altLang="ko-KR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- 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최종 구성의 최적성은 보장 불가능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- 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수학적 모델 및 구체적인 재구성 지표가 부족함 </a:t>
                      </a:r>
                      <a:endParaRPr kumimoji="0" lang="en-US" altLang="ko-KR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- 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복잡하고 실현하기 어려움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72338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26289395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20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>
              <a:defRPr/>
            </a:pPr>
            <a:r>
              <a:rPr lang="ko-KR" altLang="en-US" dirty="0"/>
              <a:t>이종위성군 재구성의 제한조건 및 목적함수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ko-KR" altLang="en-US" dirty="0"/>
              <a:t>이종 </a:t>
            </a:r>
            <a:r>
              <a:rPr lang="ko-KR" altLang="en-US" dirty="0" err="1"/>
              <a:t>위성군</a:t>
            </a:r>
            <a:r>
              <a:rPr lang="ko-KR" altLang="en-US" dirty="0"/>
              <a:t> 재구성의 제한조건</a:t>
            </a:r>
            <a:endParaRPr lang="en-US" altLang="ko-KR" dirty="0"/>
          </a:p>
          <a:p>
            <a:pPr lvl="1"/>
            <a:r>
              <a:rPr lang="ko-KR" altLang="en-US" sz="1800" dirty="0"/>
              <a:t>재구성에 따른 위성군의 성능저하</a:t>
            </a:r>
            <a:endParaRPr lang="en-US" altLang="ko-KR" sz="1800" dirty="0"/>
          </a:p>
          <a:p>
            <a:pPr lvl="1"/>
            <a:r>
              <a:rPr lang="ko-KR" altLang="en-US" dirty="0"/>
              <a:t>운용 위성의 수</a:t>
            </a:r>
            <a:endParaRPr lang="en-US" altLang="ko-KR" dirty="0"/>
          </a:p>
          <a:p>
            <a:pPr lvl="1"/>
            <a:r>
              <a:rPr lang="ko-KR" altLang="en-US" dirty="0"/>
              <a:t>재구성의 복구 능력</a:t>
            </a:r>
            <a:endParaRPr lang="en-US" altLang="ko-KR" dirty="0"/>
          </a:p>
          <a:p>
            <a:pPr lvl="1"/>
            <a:r>
              <a:rPr lang="ko-KR" altLang="en-US" dirty="0"/>
              <a:t>재구성 에너지의 분배</a:t>
            </a:r>
            <a:endParaRPr lang="en-US" altLang="ko-KR" dirty="0"/>
          </a:p>
          <a:p>
            <a:pPr lvl="1"/>
            <a:r>
              <a:rPr lang="ko-KR" altLang="en-US" dirty="0"/>
              <a:t>재구성 비용의 손실</a:t>
            </a:r>
            <a:endParaRPr lang="en-US" altLang="ko-KR" dirty="0"/>
          </a:p>
          <a:p>
            <a:pPr marL="216000" lvl="1" indent="0">
              <a:buNone/>
            </a:pPr>
            <a:endParaRPr lang="en-US" altLang="ko-KR" b="1" dirty="0"/>
          </a:p>
          <a:p>
            <a:r>
              <a:rPr lang="ko-KR" altLang="en-US" dirty="0"/>
              <a:t>이종 </a:t>
            </a:r>
            <a:r>
              <a:rPr lang="ko-KR" altLang="en-US" dirty="0" err="1"/>
              <a:t>위성군</a:t>
            </a:r>
            <a:r>
              <a:rPr lang="ko-KR" altLang="en-US" dirty="0"/>
              <a:t> 재구성의 목적함수</a:t>
            </a:r>
            <a:endParaRPr lang="en-US" altLang="ko-KR" dirty="0"/>
          </a:p>
          <a:p>
            <a:pPr lvl="1"/>
            <a:r>
              <a:rPr lang="ko-KR" altLang="en-US" dirty="0"/>
              <a:t>위성군의 유형에 따라 성능지수의 중요도 또한 다르며 다음으로 구성됨</a:t>
            </a:r>
            <a:endParaRPr lang="en-US" altLang="ko-KR" dirty="0"/>
          </a:p>
          <a:p>
            <a:pPr lvl="2"/>
            <a:r>
              <a:rPr lang="ko-KR" altLang="en-US" dirty="0"/>
              <a:t>재방문 시간</a:t>
            </a:r>
            <a:r>
              <a:rPr lang="en-US" altLang="ko-KR" dirty="0"/>
              <a:t> </a:t>
            </a:r>
          </a:p>
          <a:p>
            <a:pPr lvl="2"/>
            <a:r>
              <a:rPr lang="ko-KR" altLang="en-US" dirty="0"/>
              <a:t>응답 시간</a:t>
            </a:r>
            <a:endParaRPr lang="en-US" altLang="ko-KR" dirty="0"/>
          </a:p>
          <a:p>
            <a:pPr lvl="2"/>
            <a:r>
              <a:rPr lang="ko-KR" altLang="en-US" dirty="0"/>
              <a:t>커버리지 비율</a:t>
            </a:r>
            <a:endParaRPr lang="en-US" altLang="ko-KR" dirty="0"/>
          </a:p>
          <a:p>
            <a:pPr lvl="1"/>
            <a:r>
              <a:rPr lang="ko-KR" altLang="en-US" dirty="0"/>
              <a:t>목적함수의 정해진 패턴 및 공식은 없음</a:t>
            </a:r>
            <a:endParaRPr lang="en-US" altLang="ko-KR" dirty="0"/>
          </a:p>
          <a:p>
            <a:pPr lvl="1"/>
            <a:endParaRPr lang="en-US" altLang="ko-KR" dirty="0"/>
          </a:p>
          <a:p>
            <a:pPr marL="216000" lvl="1" indent="0">
              <a:buNone/>
            </a:pPr>
            <a:endParaRPr lang="en-US" altLang="ko-KR" b="1" dirty="0"/>
          </a:p>
          <a:p>
            <a:pPr marL="216000" lvl="1" indent="0">
              <a:buNone/>
            </a:pPr>
            <a:endParaRPr lang="en-US" altLang="ko-KR" b="1" dirty="0"/>
          </a:p>
          <a:p>
            <a:pPr lvl="1"/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177898015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21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결론 및 보완이 필요한 부분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ko-KR" altLang="en-US" dirty="0"/>
              <a:t>결론</a:t>
            </a:r>
            <a:endParaRPr lang="en-US" altLang="ko-KR" dirty="0"/>
          </a:p>
          <a:p>
            <a:pPr lvl="1"/>
            <a:r>
              <a:rPr lang="ko-KR" altLang="en-US" sz="1800" dirty="0"/>
              <a:t>이종 위성군의 재구성 설계에 대한 연구</a:t>
            </a:r>
            <a:endParaRPr lang="en-US" altLang="ko-KR" sz="1800" dirty="0"/>
          </a:p>
          <a:p>
            <a:pPr lvl="2"/>
            <a:r>
              <a:rPr lang="ko-KR" altLang="en-US" dirty="0"/>
              <a:t>복잡하지만 변경 가능한 지상 임무를 처리하는 능력 향상 가능 </a:t>
            </a:r>
            <a:endParaRPr lang="en-US" altLang="ko-KR" dirty="0"/>
          </a:p>
          <a:p>
            <a:pPr lvl="2"/>
            <a:r>
              <a:rPr lang="ko-KR" altLang="en-US" dirty="0"/>
              <a:t>기존 우주 임무의 안정성</a:t>
            </a:r>
            <a:r>
              <a:rPr lang="en-US" altLang="ko-KR" dirty="0"/>
              <a:t>, </a:t>
            </a:r>
            <a:r>
              <a:rPr lang="ko-KR" altLang="en-US" dirty="0"/>
              <a:t>신뢰성 및 유연성을 키울 수 있음 </a:t>
            </a:r>
            <a:endParaRPr lang="en-US" altLang="ko-KR" dirty="0"/>
          </a:p>
          <a:p>
            <a:pPr lvl="2"/>
            <a:r>
              <a:rPr lang="ko-KR" altLang="en-US" b="1" u="sng" dirty="0"/>
              <a:t>전략적 중요성과 응용 가치가 높음</a:t>
            </a:r>
          </a:p>
          <a:p>
            <a:pPr lvl="1"/>
            <a:r>
              <a:rPr lang="ko-KR" altLang="en-US" dirty="0"/>
              <a:t>연구의 한계</a:t>
            </a:r>
            <a:endParaRPr lang="en-US" altLang="ko-KR" dirty="0"/>
          </a:p>
          <a:p>
            <a:pPr lvl="2"/>
            <a:r>
              <a:rPr lang="ko-KR" altLang="en-US" dirty="0"/>
              <a:t>재구성 설계에 대한 </a:t>
            </a:r>
            <a:r>
              <a:rPr lang="ko-KR" altLang="en-US" b="1" u="sng" dirty="0"/>
              <a:t>기존의 모델 및 지표가 없는 것이 한계</a:t>
            </a:r>
            <a:endParaRPr lang="en-US" altLang="ko-KR" sz="1800" b="1" u="sng" dirty="0"/>
          </a:p>
          <a:p>
            <a:pPr lvl="1">
              <a:lnSpc>
                <a:spcPct val="110000"/>
              </a:lnSpc>
            </a:pPr>
            <a:r>
              <a:rPr lang="ko-KR" altLang="en-US" sz="1800" dirty="0"/>
              <a:t>한계 극복 방안</a:t>
            </a:r>
            <a:endParaRPr lang="en-US" altLang="ko-KR" sz="1800" dirty="0"/>
          </a:p>
          <a:p>
            <a:pPr lvl="2">
              <a:lnSpc>
                <a:spcPct val="110000"/>
              </a:lnSpc>
            </a:pPr>
            <a:r>
              <a:rPr lang="ko-KR" altLang="en-US" dirty="0"/>
              <a:t>본 논문에 소개된 </a:t>
            </a:r>
            <a:r>
              <a:rPr lang="en-US" altLang="ko-KR" dirty="0"/>
              <a:t>Method</a:t>
            </a:r>
            <a:r>
              <a:rPr lang="ko-KR" altLang="en-US" dirty="0"/>
              <a:t>에 따라 </a:t>
            </a:r>
            <a:r>
              <a:rPr lang="ko-KR" altLang="en-US" b="1" u="sng" dirty="0"/>
              <a:t>다양한 조합 구성</a:t>
            </a:r>
            <a:endParaRPr lang="en-US" altLang="ko-KR" b="1" u="sng" dirty="0"/>
          </a:p>
          <a:p>
            <a:pPr lvl="2">
              <a:lnSpc>
                <a:spcPct val="110000"/>
              </a:lnSpc>
            </a:pPr>
            <a:r>
              <a:rPr lang="ko-KR" altLang="en-US" dirty="0"/>
              <a:t>변수를 조정해가며 직접 시뮬레이션 진행 후 가장 </a:t>
            </a:r>
            <a:r>
              <a:rPr lang="ko-KR" altLang="en-US" b="1" u="sng" dirty="0"/>
              <a:t>최적의 경우를 찾기</a:t>
            </a:r>
            <a:endParaRPr lang="en-US" altLang="ko-KR" b="1" u="sng" dirty="0"/>
          </a:p>
          <a:p>
            <a:pPr lvl="1"/>
            <a:endParaRPr lang="en-US" altLang="ko-KR" dirty="0"/>
          </a:p>
          <a:p>
            <a:r>
              <a:rPr lang="ko-KR" altLang="en-US" dirty="0"/>
              <a:t>논문 내용 중 보완이 필요한 부분</a:t>
            </a:r>
            <a:endParaRPr lang="en-US" altLang="ko-KR" dirty="0"/>
          </a:p>
          <a:p>
            <a:pPr lvl="1"/>
            <a:r>
              <a:rPr lang="ko-KR" altLang="en-US" dirty="0"/>
              <a:t>자세한 설계 방법 및 시뮬레이션의 결과 등 구체적인 내용</a:t>
            </a:r>
            <a:endParaRPr lang="en-US" altLang="ko-KR" dirty="0"/>
          </a:p>
          <a:p>
            <a:pPr lvl="2"/>
            <a:r>
              <a:rPr lang="ko-KR" altLang="en-US" dirty="0"/>
              <a:t>방법론적인 연구만을 다룬 논문으로</a:t>
            </a:r>
            <a:r>
              <a:rPr lang="en-US" altLang="ko-KR" dirty="0"/>
              <a:t>, </a:t>
            </a:r>
            <a:r>
              <a:rPr lang="ko-KR" altLang="en-US" dirty="0"/>
              <a:t>시뮬레이션 진행 과정이 없음</a:t>
            </a:r>
            <a:endParaRPr lang="en-US" altLang="ko-KR" dirty="0"/>
          </a:p>
          <a:p>
            <a:pPr lvl="1"/>
            <a:r>
              <a:rPr lang="en-US" altLang="ko-KR" dirty="0"/>
              <a:t>Satellite failure reconstruction </a:t>
            </a:r>
            <a:r>
              <a:rPr lang="ko-KR" altLang="en-US" dirty="0"/>
              <a:t>과정의 이해를 위한 그림 및 그래프 등의 시각자료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386506103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22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연구에 적용할 만한 내용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ko-KR" altLang="en-US" dirty="0"/>
              <a:t>본 논문 중 연구에 적용하면 좋을 내용</a:t>
            </a:r>
          </a:p>
          <a:p>
            <a:pPr lvl="1"/>
            <a:r>
              <a:rPr lang="en-US" altLang="ko-KR" dirty="0"/>
              <a:t>Satellite failure Reconstruction</a:t>
            </a:r>
            <a:r>
              <a:rPr lang="ko-KR" altLang="en-US" dirty="0"/>
              <a:t>을 통한</a:t>
            </a:r>
            <a:r>
              <a:rPr lang="en-US" altLang="ko-KR" dirty="0"/>
              <a:t> </a:t>
            </a:r>
            <a:r>
              <a:rPr lang="ko-KR" altLang="en-US" dirty="0"/>
              <a:t>단순성 유지 및 에너지 절약 방법 연구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379846350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B49133EF-F552-4618-8A24-449D405ACA1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(3) P. Fox, G. </a:t>
            </a:r>
            <a:r>
              <a:rPr lang="en-US" altLang="ko-KR" dirty="0" err="1"/>
              <a:t>Tyc</a:t>
            </a:r>
            <a:r>
              <a:rPr lang="en-US" altLang="ko-KR" dirty="0"/>
              <a:t>, and K. Beckett, “The UrtheCast SAR-XL multi-band, multi-aperture spaceborne SAR system,” 2017 IEEE Radar Conference (</a:t>
            </a:r>
            <a:r>
              <a:rPr lang="en-US" altLang="ko-KR" dirty="0" err="1"/>
              <a:t>RadarConf</a:t>
            </a:r>
            <a:r>
              <a:rPr lang="en-US" altLang="ko-KR" dirty="0"/>
              <a:t>), pp. 1761–1764, May 2017.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4978666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ko-KR" altLang="en-US" dirty="0"/>
              <a:t>연구목표 </a:t>
            </a:r>
          </a:p>
          <a:p>
            <a:pPr lvl="1"/>
            <a:r>
              <a:rPr lang="ko-KR" altLang="en-US" dirty="0"/>
              <a:t>두 가지 </a:t>
            </a:r>
            <a:r>
              <a:rPr lang="ko-KR" altLang="en-US" dirty="0" err="1"/>
              <a:t>위성군</a:t>
            </a:r>
            <a:r>
              <a:rPr lang="en-US" altLang="ko-KR" dirty="0"/>
              <a:t>(</a:t>
            </a:r>
            <a:r>
              <a:rPr lang="ko-KR" altLang="en-US" dirty="0"/>
              <a:t>광학위성과 </a:t>
            </a:r>
            <a:r>
              <a:rPr lang="en-US" altLang="ko-KR" dirty="0"/>
              <a:t>SAR</a:t>
            </a:r>
            <a:r>
              <a:rPr lang="ko-KR" altLang="en-US" dirty="0"/>
              <a:t> 위성</a:t>
            </a:r>
            <a:r>
              <a:rPr lang="en-US" altLang="ko-KR" dirty="0"/>
              <a:t>)</a:t>
            </a:r>
            <a:r>
              <a:rPr lang="ko-KR" altLang="en-US" dirty="0"/>
              <a:t>을 혼합한 이종위성군 </a:t>
            </a:r>
            <a:r>
              <a:rPr lang="en-US" altLang="ko-KR" dirty="0" err="1"/>
              <a:t>OptiSAR</a:t>
            </a:r>
            <a:r>
              <a:rPr lang="ko-KR" altLang="en-US" dirty="0"/>
              <a:t>를</a:t>
            </a:r>
            <a:r>
              <a:rPr lang="en-US" altLang="ko-KR" dirty="0"/>
              <a:t> </a:t>
            </a:r>
            <a:r>
              <a:rPr lang="ko-KR" altLang="en-US" dirty="0"/>
              <a:t>구성</a:t>
            </a:r>
            <a:endParaRPr lang="en-US" altLang="ko-KR" dirty="0"/>
          </a:p>
          <a:p>
            <a:pPr lvl="1"/>
            <a:r>
              <a:rPr lang="ko-KR" altLang="en-US" dirty="0"/>
              <a:t> 이종위성군 </a:t>
            </a:r>
            <a:r>
              <a:rPr lang="en-US" altLang="ko-KR" dirty="0" err="1"/>
              <a:t>OptiSAR</a:t>
            </a:r>
            <a:r>
              <a:rPr lang="ko-KR" altLang="en-US" dirty="0"/>
              <a:t>를 운용하여 얻을 수 있는 기대효과 예측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dirty="0"/>
              <a:t>연구방법</a:t>
            </a:r>
          </a:p>
          <a:p>
            <a:pPr lvl="1"/>
            <a:r>
              <a:rPr lang="ko-KR" altLang="en-US" dirty="0"/>
              <a:t>두 종류의 </a:t>
            </a:r>
            <a:r>
              <a:rPr lang="ko-KR" altLang="en-US" dirty="0" err="1"/>
              <a:t>위성군</a:t>
            </a:r>
            <a:r>
              <a:rPr lang="en-US" altLang="ko-KR" dirty="0"/>
              <a:t>(</a:t>
            </a:r>
            <a:r>
              <a:rPr lang="ko-KR" altLang="en-US" dirty="0"/>
              <a:t>광학위성과 </a:t>
            </a:r>
            <a:r>
              <a:rPr lang="en-US" altLang="ko-KR" dirty="0"/>
              <a:t>SAR</a:t>
            </a:r>
            <a:r>
              <a:rPr lang="ko-KR" altLang="en-US" dirty="0"/>
              <a:t> 위성</a:t>
            </a:r>
            <a:r>
              <a:rPr lang="en-US" altLang="ko-KR" dirty="0"/>
              <a:t>)</a:t>
            </a:r>
            <a:r>
              <a:rPr lang="ko-KR" altLang="en-US" dirty="0"/>
              <a:t>의 궤도 및 탑재체의 특성 분석</a:t>
            </a:r>
            <a:endParaRPr lang="en-US" altLang="ko-KR" dirty="0"/>
          </a:p>
          <a:p>
            <a:pPr lvl="1"/>
            <a:r>
              <a:rPr lang="ko-KR" altLang="en-US" dirty="0"/>
              <a:t>제한조건 및 운용개념에 따라 궤도 설계</a:t>
            </a:r>
            <a:endParaRPr lang="en-US" altLang="ko-KR" dirty="0"/>
          </a:p>
          <a:p>
            <a:pPr lvl="1"/>
            <a:r>
              <a:rPr lang="ko-KR" altLang="en-US" dirty="0"/>
              <a:t>두 </a:t>
            </a:r>
            <a:r>
              <a:rPr lang="ko-KR" altLang="en-US" dirty="0" err="1"/>
              <a:t>위성군</a:t>
            </a:r>
            <a:r>
              <a:rPr lang="ko-KR" altLang="en-US" dirty="0"/>
              <a:t> 간의 상호 보완으로 </a:t>
            </a:r>
            <a:r>
              <a:rPr lang="en-US" altLang="ko-KR" dirty="0" err="1"/>
              <a:t>OptiSAR</a:t>
            </a:r>
            <a:r>
              <a:rPr lang="ko-KR" altLang="en-US" dirty="0"/>
              <a:t>의 성능 최대화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dirty="0"/>
              <a:t>본 논문에서의 </a:t>
            </a:r>
            <a:r>
              <a:rPr lang="en-US" altLang="ko-KR" dirty="0"/>
              <a:t>Heterogeneous Constellation</a:t>
            </a:r>
            <a:r>
              <a:rPr lang="ko-KR" altLang="en-US" dirty="0"/>
              <a:t>의 정의</a:t>
            </a:r>
          </a:p>
          <a:p>
            <a:pPr lvl="1"/>
            <a:r>
              <a:rPr lang="ko-KR" altLang="en-US" dirty="0"/>
              <a:t>서로 다른 기능을 하는 두 종류의 위성군을 </a:t>
            </a:r>
            <a:r>
              <a:rPr lang="en-US" altLang="ko-KR" dirty="0"/>
              <a:t>Cross-Cueing</a:t>
            </a:r>
            <a:r>
              <a:rPr lang="ko-KR" altLang="en-US" dirty="0"/>
              <a:t>하여 운용함</a:t>
            </a:r>
            <a:endParaRPr lang="en-US" altLang="ko-KR" dirty="0"/>
          </a:p>
          <a:p>
            <a:pPr lvl="1"/>
            <a:r>
              <a:rPr lang="ko-KR" altLang="en-US" dirty="0"/>
              <a:t>각각의</a:t>
            </a:r>
            <a:r>
              <a:rPr lang="en-US" altLang="ko-KR" dirty="0"/>
              <a:t> </a:t>
            </a:r>
            <a:r>
              <a:rPr lang="ko-KR" altLang="en-US" dirty="0"/>
              <a:t>기능의 장점만을 이용하여 최적화된 동선</a:t>
            </a:r>
            <a:r>
              <a:rPr lang="en-US" altLang="ko-KR" dirty="0"/>
              <a:t>(Schedule)</a:t>
            </a:r>
            <a:r>
              <a:rPr lang="ko-KR" altLang="en-US" dirty="0"/>
              <a:t> 파악</a:t>
            </a:r>
            <a:endParaRPr lang="en-US" altLang="ko-KR" dirty="0"/>
          </a:p>
          <a:p>
            <a:pPr lvl="1"/>
            <a:endParaRPr lang="en-US" altLang="ko-KR" dirty="0"/>
          </a:p>
          <a:p>
            <a:endParaRPr lang="ko-KR" altLang="en-US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24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ko-KR" altLang="en-US" dirty="0"/>
              <a:t>연구목표와 방법 및 이종위성군의 정의</a:t>
            </a:r>
          </a:p>
        </p:txBody>
      </p:sp>
    </p:spTree>
    <p:extLst>
      <p:ext uri="{BB962C8B-B14F-4D97-AF65-F5344CB8AC3E}">
        <p14:creationId xmlns:p14="http://schemas.microsoft.com/office/powerpoint/2010/main" val="2833343792"/>
      </p:ext>
    </p:extLst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25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이종위성군의 구성 및 궤도 정보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1" y="916979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 err="1"/>
              <a:t>OptiSAR</a:t>
            </a:r>
            <a:r>
              <a:rPr lang="en-US" altLang="ko-KR" dirty="0"/>
              <a:t> </a:t>
            </a:r>
            <a:r>
              <a:rPr lang="ko-KR" altLang="en-US" dirty="0" err="1"/>
              <a:t>위성군</a:t>
            </a:r>
            <a:endParaRPr lang="en-US" altLang="ko-KR" dirty="0"/>
          </a:p>
          <a:p>
            <a:pPr lvl="1"/>
            <a:r>
              <a:rPr lang="en-US" altLang="ko-KR" dirty="0"/>
              <a:t>SAR-XL </a:t>
            </a:r>
            <a:r>
              <a:rPr lang="ko-KR" altLang="en-US" dirty="0"/>
              <a:t>기술을 사용하는 </a:t>
            </a:r>
            <a:r>
              <a:rPr lang="en-US" altLang="ko-KR" dirty="0"/>
              <a:t>SAR</a:t>
            </a:r>
            <a:r>
              <a:rPr lang="ko-KR" altLang="en-US" dirty="0"/>
              <a:t>위성과 </a:t>
            </a:r>
            <a:r>
              <a:rPr lang="en-US" altLang="ko-KR" dirty="0"/>
              <a:t>2</a:t>
            </a:r>
            <a:r>
              <a:rPr lang="ko-KR" altLang="en-US" dirty="0"/>
              <a:t>분 뒤에 따라오는 광학 위성으로 구성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marL="216000" lvl="1" indent="0">
              <a:buNone/>
            </a:pPr>
            <a:endParaRPr lang="en-US" altLang="ko-KR" dirty="0"/>
          </a:p>
          <a:p>
            <a:r>
              <a:rPr lang="ko-KR" altLang="en-US" dirty="0"/>
              <a:t>궤도 정보</a:t>
            </a:r>
          </a:p>
          <a:p>
            <a:pPr lvl="1"/>
            <a:r>
              <a:rPr lang="ko-KR" altLang="en-US" dirty="0"/>
              <a:t>네 쌍의</a:t>
            </a:r>
            <a:r>
              <a:rPr lang="en-US" altLang="ko-KR" dirty="0"/>
              <a:t> </a:t>
            </a:r>
            <a:r>
              <a:rPr lang="ko-KR" altLang="en-US" dirty="0"/>
              <a:t>위성들은 궤도면 주위에 등간격으로 배치</a:t>
            </a:r>
            <a:endParaRPr lang="en-US" altLang="ko-KR" dirty="0"/>
          </a:p>
          <a:p>
            <a:pPr lvl="1"/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295534C-CAEB-12D0-D171-DEB9EE1E7A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9518" y="1769540"/>
            <a:ext cx="2283318" cy="1548790"/>
          </a:xfrm>
          <a:prstGeom prst="rect">
            <a:avLst/>
          </a:prstGeom>
          <a:ln>
            <a:solidFill>
              <a:schemeClr val="tx1"/>
            </a:solidFill>
          </a:ln>
        </p:spPr>
      </p:pic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24333172-9340-865B-E35A-39EE6B6976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0339657"/>
              </p:ext>
            </p:extLst>
          </p:nvPr>
        </p:nvGraphicFramePr>
        <p:xfrm>
          <a:off x="585456" y="4255294"/>
          <a:ext cx="6014217" cy="16809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4446">
                  <a:extLst>
                    <a:ext uri="{9D8B030D-6E8A-4147-A177-3AD203B41FA5}">
                      <a16:colId xmlns:a16="http://schemas.microsoft.com/office/drawing/2014/main" val="1934110007"/>
                    </a:ext>
                  </a:extLst>
                </a:gridCol>
                <a:gridCol w="1748546">
                  <a:extLst>
                    <a:ext uri="{9D8B030D-6E8A-4147-A177-3AD203B41FA5}">
                      <a16:colId xmlns:a16="http://schemas.microsoft.com/office/drawing/2014/main" val="3433304667"/>
                    </a:ext>
                  </a:extLst>
                </a:gridCol>
                <a:gridCol w="1129421">
                  <a:extLst>
                    <a:ext uri="{9D8B030D-6E8A-4147-A177-3AD203B41FA5}">
                      <a16:colId xmlns:a16="http://schemas.microsoft.com/office/drawing/2014/main" val="4117600169"/>
                    </a:ext>
                  </a:extLst>
                </a:gridCol>
                <a:gridCol w="730958">
                  <a:extLst>
                    <a:ext uri="{9D8B030D-6E8A-4147-A177-3AD203B41FA5}">
                      <a16:colId xmlns:a16="http://schemas.microsoft.com/office/drawing/2014/main" val="3732205989"/>
                    </a:ext>
                  </a:extLst>
                </a:gridCol>
                <a:gridCol w="721682">
                  <a:extLst>
                    <a:ext uri="{9D8B030D-6E8A-4147-A177-3AD203B41FA5}">
                      <a16:colId xmlns:a16="http://schemas.microsoft.com/office/drawing/2014/main" val="2187101292"/>
                    </a:ext>
                  </a:extLst>
                </a:gridCol>
                <a:gridCol w="499220">
                  <a:extLst>
                    <a:ext uri="{9D8B030D-6E8A-4147-A177-3AD203B41FA5}">
                      <a16:colId xmlns:a16="http://schemas.microsoft.com/office/drawing/2014/main" val="992958570"/>
                    </a:ext>
                  </a:extLst>
                </a:gridCol>
                <a:gridCol w="489944">
                  <a:extLst>
                    <a:ext uri="{9D8B030D-6E8A-4147-A177-3AD203B41FA5}">
                      <a16:colId xmlns:a16="http://schemas.microsoft.com/office/drawing/2014/main" val="2977512495"/>
                    </a:ext>
                  </a:extLst>
                </a:gridCol>
              </a:tblGrid>
              <a:tr h="162499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Orbit</a:t>
                      </a: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Function</a:t>
                      </a: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Inclination</a:t>
                      </a: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1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Number</a:t>
                      </a:r>
                      <a:r>
                        <a:rPr lang="ko-KR" altLang="en-US" sz="1500" b="1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 </a:t>
                      </a:r>
                      <a:r>
                        <a:rPr lang="en-US" altLang="ko-KR" sz="1500" b="1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of</a:t>
                      </a:r>
                      <a:r>
                        <a:rPr lang="ko-KR" altLang="en-US" sz="1500" b="1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 </a:t>
                      </a:r>
                      <a:r>
                        <a:rPr lang="en-US" altLang="ko-KR" sz="1500" b="1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Satellite</a:t>
                      </a: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500" b="0" dirty="0">
                        <a:solidFill>
                          <a:schemeClr val="bg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7946841"/>
                  </a:ext>
                </a:extLst>
              </a:tr>
              <a:tr h="16249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Optics</a:t>
                      </a: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SAR</a:t>
                      </a: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Total</a:t>
                      </a: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7594251"/>
                  </a:ext>
                </a:extLst>
              </a:tr>
              <a:tr h="41767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SSO</a:t>
                      </a: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지구 관측 임무 </a:t>
                      </a:r>
                      <a:endParaRPr lang="en-US" altLang="ko-KR" sz="14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(LTAN 10:30)</a:t>
                      </a: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98</a:t>
                      </a:r>
                      <a:r>
                        <a:rPr lang="ko-KR" altLang="en-US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˚</a:t>
                      </a:r>
                      <a:endParaRPr lang="en-US" altLang="ko-KR" sz="14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4</a:t>
                      </a: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4</a:t>
                      </a: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8</a:t>
                      </a: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16</a:t>
                      </a: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372325"/>
                  </a:ext>
                </a:extLst>
              </a:tr>
              <a:tr h="41767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MIO</a:t>
                      </a: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중위도 지역의 </a:t>
                      </a:r>
                      <a:endParaRPr lang="en-US" altLang="ko-KR" sz="14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  <a:p>
                      <a:pPr algn="ctr" latinLnBrk="1"/>
                      <a:r>
                        <a:rPr lang="ko-KR" altLang="en-US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높은 재방문율 허용</a:t>
                      </a:r>
                      <a:endParaRPr lang="en-US" altLang="ko-KR" sz="14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45</a:t>
                      </a:r>
                      <a:r>
                        <a:rPr lang="ko-KR" altLang="en-US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˚</a:t>
                      </a:r>
                      <a:endParaRPr lang="en-US" altLang="ko-KR" sz="14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4</a:t>
                      </a: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4</a:t>
                      </a: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8</a:t>
                      </a: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en-US" altLang="ko-KR" sz="14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2024666"/>
                  </a:ext>
                </a:extLst>
              </a:tr>
            </a:tbl>
          </a:graphicData>
        </a:graphic>
      </p:graphicFrame>
      <p:graphicFrame>
        <p:nvGraphicFramePr>
          <p:cNvPr id="21" name="표 20">
            <a:extLst>
              <a:ext uri="{FF2B5EF4-FFF2-40B4-BE49-F238E27FC236}">
                <a16:creationId xmlns:a16="http://schemas.microsoft.com/office/drawing/2014/main" id="{6D5A17C8-ED43-B10B-F86A-3401BC530D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7825304"/>
              </p:ext>
            </p:extLst>
          </p:nvPr>
        </p:nvGraphicFramePr>
        <p:xfrm>
          <a:off x="585456" y="1739205"/>
          <a:ext cx="5275687" cy="15487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8434">
                  <a:extLst>
                    <a:ext uri="{9D8B030D-6E8A-4147-A177-3AD203B41FA5}">
                      <a16:colId xmlns:a16="http://schemas.microsoft.com/office/drawing/2014/main" val="1914817558"/>
                    </a:ext>
                  </a:extLst>
                </a:gridCol>
                <a:gridCol w="2089858">
                  <a:extLst>
                    <a:ext uri="{9D8B030D-6E8A-4147-A177-3AD203B41FA5}">
                      <a16:colId xmlns:a16="http://schemas.microsoft.com/office/drawing/2014/main" val="816440905"/>
                    </a:ext>
                  </a:extLst>
                </a:gridCol>
                <a:gridCol w="2337395">
                  <a:extLst>
                    <a:ext uri="{9D8B030D-6E8A-4147-A177-3AD203B41FA5}">
                      <a16:colId xmlns:a16="http://schemas.microsoft.com/office/drawing/2014/main" val="3531733101"/>
                    </a:ext>
                  </a:extLst>
                </a:gridCol>
              </a:tblGrid>
              <a:tr h="17011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Payload</a:t>
                      </a: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Dual mode Cam/Band</a:t>
                      </a: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5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30524"/>
                  </a:ext>
                </a:extLst>
              </a:tr>
              <a:tr h="246319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Optics</a:t>
                      </a:r>
                      <a:endParaRPr lang="ko-KR" altLang="en-US" sz="1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Multi-spectral </a:t>
                      </a:r>
                      <a:r>
                        <a:rPr lang="en-US" altLang="ko-KR" sz="1400" dirty="0" err="1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pushbroom</a:t>
                      </a:r>
                      <a:endParaRPr lang="en-US" altLang="ko-KR" sz="14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SAR-XL </a:t>
                      </a:r>
                      <a:r>
                        <a:rPr lang="ko-KR" altLang="en-US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기술을 이용한 </a:t>
                      </a:r>
                      <a:endParaRPr lang="en-US" altLang="ko-KR" sz="14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 err="1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듀얼밴드</a:t>
                      </a:r>
                      <a:r>
                        <a:rPr lang="ko-KR" altLang="en-US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 사용</a:t>
                      </a:r>
                      <a:endParaRPr lang="en-US" altLang="ko-KR" sz="14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1463829"/>
                  </a:ext>
                </a:extLst>
              </a:tr>
              <a:tr h="24631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RGB color video</a:t>
                      </a: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en-US" altLang="ko-KR" sz="13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96398" marR="96398" marT="48199" marB="48199" anchor="ctr"/>
                </a:tc>
                <a:extLst>
                  <a:ext uri="{0D108BD9-81ED-4DB2-BD59-A6C34878D82A}">
                    <a16:rowId xmlns:a16="http://schemas.microsoft.com/office/drawing/2014/main" val="2605333760"/>
                  </a:ext>
                </a:extLst>
              </a:tr>
              <a:tr h="246319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SAR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X-band(1m class)</a:t>
                      </a: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고해상도</a:t>
                      </a:r>
                      <a:r>
                        <a:rPr lang="en-US" altLang="ko-KR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(0.5m GSD)</a:t>
                      </a:r>
                      <a:r>
                        <a:rPr lang="ko-KR" altLang="en-US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의 </a:t>
                      </a:r>
                      <a:endParaRPr lang="en-US" altLang="ko-KR" sz="14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  <a:p>
                      <a:pPr algn="ctr" latinLnBrk="1"/>
                      <a:r>
                        <a:rPr lang="ko-KR" altLang="en-US" sz="1400" dirty="0" err="1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듀얼모드</a:t>
                      </a:r>
                      <a:r>
                        <a:rPr lang="ko-KR" altLang="en-US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 광학 카메라 사용</a:t>
                      </a:r>
                      <a:endParaRPr lang="en-US" altLang="ko-KR" sz="14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0095560"/>
                  </a:ext>
                </a:extLst>
              </a:tr>
              <a:tr h="24631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L-band(5m class)</a:t>
                      </a: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en-US" altLang="ko-KR" sz="13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96398" marR="96398" marT="48199" marB="48199" anchor="ctr"/>
                </a:tc>
                <a:extLst>
                  <a:ext uri="{0D108BD9-81ED-4DB2-BD59-A6C34878D82A}">
                    <a16:rowId xmlns:a16="http://schemas.microsoft.com/office/drawing/2014/main" val="4050504015"/>
                  </a:ext>
                </a:extLst>
              </a:tr>
            </a:tbl>
          </a:graphicData>
        </a:graphic>
      </p:graphicFrame>
      <p:pic>
        <p:nvPicPr>
          <p:cNvPr id="25" name="그림 24">
            <a:extLst>
              <a:ext uri="{FF2B5EF4-FFF2-40B4-BE49-F238E27FC236}">
                <a16:creationId xmlns:a16="http://schemas.microsoft.com/office/drawing/2014/main" id="{AC4FC3C2-F1AB-398E-8099-0525C3B355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6554" y="3476540"/>
            <a:ext cx="1922435" cy="128799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5FDFFD92-F060-7007-EF2A-A7BB12EE79D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36554" y="4822805"/>
            <a:ext cx="1922435" cy="155022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853467669"/>
      </p:ext>
    </p:extLst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26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Cross-Cueing</a:t>
            </a:r>
            <a:r>
              <a:rPr lang="ko-KR" altLang="en-US" dirty="0"/>
              <a:t> </a:t>
            </a:r>
            <a:r>
              <a:rPr lang="en-US" altLang="ko-KR" dirty="0"/>
              <a:t>–</a:t>
            </a:r>
            <a:r>
              <a:rPr lang="ko-KR" altLang="en-US" dirty="0"/>
              <a:t> 각 탑재체의 역할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Cross-cueing</a:t>
            </a:r>
          </a:p>
          <a:p>
            <a:pPr lvl="1"/>
            <a:r>
              <a:rPr lang="en-US" altLang="ko-KR" dirty="0"/>
              <a:t>SAR</a:t>
            </a:r>
          </a:p>
          <a:p>
            <a:pPr lvl="2"/>
            <a:r>
              <a:rPr lang="ko-KR" altLang="en-US" dirty="0"/>
              <a:t>광범위한 감시 모드를 가진 후 </a:t>
            </a:r>
            <a:r>
              <a:rPr lang="en-US" altLang="ko-KR" dirty="0"/>
              <a:t>Onboard Process</a:t>
            </a:r>
            <a:r>
              <a:rPr lang="ko-KR" altLang="en-US" dirty="0"/>
              <a:t>로 관심 대상을 감지하고 분류함</a:t>
            </a:r>
            <a:endParaRPr lang="en-US" altLang="ko-KR" dirty="0"/>
          </a:p>
          <a:p>
            <a:pPr lvl="1"/>
            <a:r>
              <a:rPr lang="ko-KR" altLang="en-US" dirty="0"/>
              <a:t>광학 위성</a:t>
            </a:r>
            <a:endParaRPr lang="en-US" altLang="ko-KR" dirty="0"/>
          </a:p>
          <a:p>
            <a:pPr lvl="2"/>
            <a:r>
              <a:rPr lang="ko-KR" altLang="en-US" dirty="0"/>
              <a:t>관심 대상의 고해상도 이미지 또는 영상을 촬영하도록 지시</a:t>
            </a:r>
            <a:endParaRPr lang="en-US" altLang="ko-KR" dirty="0"/>
          </a:p>
          <a:p>
            <a:pPr lvl="3"/>
            <a:endParaRPr lang="en-US" altLang="ko-KR" dirty="0"/>
          </a:p>
          <a:p>
            <a:pPr lvl="3"/>
            <a:endParaRPr lang="en-US" altLang="ko-KR" dirty="0"/>
          </a:p>
          <a:p>
            <a:pPr lvl="1"/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03F4872-83C9-F9E7-DEBC-257B09351A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1243" y="2721515"/>
            <a:ext cx="5021513" cy="312119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678369882"/>
      </p:ext>
    </p:extLst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27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Cross-Cueing</a:t>
            </a:r>
            <a:r>
              <a:rPr lang="ko-KR" altLang="en-US" dirty="0"/>
              <a:t> </a:t>
            </a:r>
            <a:r>
              <a:rPr lang="en-US" altLang="ko-KR" dirty="0"/>
              <a:t>–</a:t>
            </a:r>
            <a:r>
              <a:rPr lang="ko-KR" altLang="en-US" dirty="0"/>
              <a:t> 단계별 과정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Cross-cueing</a:t>
            </a:r>
          </a:p>
          <a:p>
            <a:pPr lvl="1"/>
            <a:r>
              <a:rPr lang="en-US" altLang="ko-KR" dirty="0"/>
              <a:t>1. </a:t>
            </a:r>
            <a:r>
              <a:rPr lang="ko-KR" altLang="en-US" dirty="0"/>
              <a:t>지상국에서 </a:t>
            </a:r>
            <a:r>
              <a:rPr lang="en-US" altLang="ko-KR" dirty="0"/>
              <a:t>SAR</a:t>
            </a:r>
            <a:r>
              <a:rPr lang="ko-KR" altLang="en-US" dirty="0"/>
              <a:t>위성에게 최적 구름 상태의 사진 촬영 및 이미지 전송 지시</a:t>
            </a:r>
            <a:endParaRPr lang="en-US" altLang="ko-KR" dirty="0"/>
          </a:p>
          <a:p>
            <a:pPr lvl="1"/>
            <a:r>
              <a:rPr lang="en-US" altLang="ko-KR" dirty="0"/>
              <a:t>2. </a:t>
            </a:r>
            <a:r>
              <a:rPr lang="ko-KR" altLang="en-US" dirty="0"/>
              <a:t>구름 카메라 및 </a:t>
            </a:r>
            <a:r>
              <a:rPr lang="en-US" altLang="ko-KR" dirty="0"/>
              <a:t>on-board processor</a:t>
            </a:r>
            <a:r>
              <a:rPr lang="ko-KR" altLang="en-US" dirty="0"/>
              <a:t>에서 구름 사진을 </a:t>
            </a:r>
            <a:r>
              <a:rPr lang="en-US" altLang="ko-KR" dirty="0"/>
              <a:t>mapping</a:t>
            </a:r>
          </a:p>
          <a:p>
            <a:pPr lvl="1"/>
            <a:r>
              <a:rPr lang="en-US" altLang="ko-KR" dirty="0"/>
              <a:t>3. SAR</a:t>
            </a:r>
            <a:r>
              <a:rPr lang="ko-KR" altLang="en-US" dirty="0"/>
              <a:t>가 관심지역의 넓은 부분을 스캔</a:t>
            </a:r>
            <a:endParaRPr lang="en-US" altLang="ko-KR" dirty="0"/>
          </a:p>
          <a:p>
            <a:pPr lvl="1"/>
            <a:r>
              <a:rPr lang="en-US" altLang="ko-KR" dirty="0"/>
              <a:t>4. AIS </a:t>
            </a:r>
            <a:r>
              <a:rPr lang="ko-KR" altLang="en-US" dirty="0"/>
              <a:t>수신기에서 선박으로 부터 받은 </a:t>
            </a:r>
            <a:r>
              <a:rPr lang="en-US" altLang="ko-KR" dirty="0"/>
              <a:t>AIS </a:t>
            </a:r>
            <a:r>
              <a:rPr lang="ko-KR" altLang="en-US" dirty="0"/>
              <a:t>신호를 해독</a:t>
            </a:r>
            <a:endParaRPr lang="en-US" altLang="ko-KR" dirty="0"/>
          </a:p>
          <a:p>
            <a:pPr lvl="1"/>
            <a:r>
              <a:rPr lang="en-US" altLang="ko-KR" dirty="0"/>
              <a:t>5. On-board processor</a:t>
            </a:r>
            <a:r>
              <a:rPr lang="ko-KR" altLang="en-US" dirty="0"/>
              <a:t>에서 </a:t>
            </a:r>
            <a:r>
              <a:rPr lang="en-US" altLang="ko-KR" dirty="0"/>
              <a:t>SAR</a:t>
            </a:r>
            <a:r>
              <a:rPr lang="ko-KR" altLang="en-US" dirty="0"/>
              <a:t>의 이미지를 형상화</a:t>
            </a:r>
            <a:endParaRPr lang="en-US" altLang="ko-KR" dirty="0"/>
          </a:p>
          <a:p>
            <a:pPr lvl="1"/>
            <a:r>
              <a:rPr lang="en-US" altLang="ko-KR" dirty="0"/>
              <a:t>6. On-board processor</a:t>
            </a:r>
            <a:r>
              <a:rPr lang="ko-KR" altLang="en-US" dirty="0"/>
              <a:t>에서 형상된 이미지 및 </a:t>
            </a:r>
            <a:r>
              <a:rPr lang="en-US" altLang="ko-KR" dirty="0"/>
              <a:t>AIS </a:t>
            </a:r>
            <a:r>
              <a:rPr lang="ko-KR" altLang="en-US" dirty="0"/>
              <a:t>신호에 기반한 잠재적 지역을 선택</a:t>
            </a:r>
            <a:endParaRPr lang="en-US" altLang="ko-KR" dirty="0"/>
          </a:p>
          <a:p>
            <a:pPr lvl="1"/>
            <a:r>
              <a:rPr lang="en-US" altLang="ko-KR" dirty="0"/>
              <a:t>7. </a:t>
            </a:r>
            <a:r>
              <a:rPr lang="ko-KR" altLang="en-US" dirty="0"/>
              <a:t>앞서가는 위성이 뒤따라오는 위성에게 </a:t>
            </a:r>
            <a:r>
              <a:rPr lang="en-US" altLang="ko-KR" dirty="0"/>
              <a:t>cloud mask</a:t>
            </a:r>
            <a:r>
              <a:rPr lang="ko-KR" altLang="en-US" dirty="0"/>
              <a:t>와 잠재적 관심지역을 전송</a:t>
            </a:r>
            <a:endParaRPr lang="en-US" altLang="ko-KR" dirty="0"/>
          </a:p>
          <a:p>
            <a:pPr lvl="1"/>
            <a:r>
              <a:rPr lang="en-US" altLang="ko-KR" dirty="0"/>
              <a:t>8. On-board processor</a:t>
            </a:r>
            <a:r>
              <a:rPr lang="ko-KR" altLang="en-US" dirty="0"/>
              <a:t>에서 최적의 </a:t>
            </a:r>
            <a:r>
              <a:rPr lang="en-US" altLang="ko-KR" dirty="0"/>
              <a:t>cloud mask </a:t>
            </a:r>
            <a:r>
              <a:rPr lang="ko-KR" altLang="en-US" dirty="0"/>
              <a:t>및 타겟 정보에 기반한 최적의 동선을 생성</a:t>
            </a:r>
            <a:endParaRPr lang="en-US" altLang="ko-KR" dirty="0"/>
          </a:p>
          <a:p>
            <a:pPr lvl="1"/>
            <a:r>
              <a:rPr lang="en-US" altLang="ko-KR" dirty="0"/>
              <a:t>9. </a:t>
            </a:r>
            <a:r>
              <a:rPr lang="ko-KR" altLang="en-US" dirty="0"/>
              <a:t>광학 위성은 최적화된 동선에 따라 구름을 피해 고해상도 이미지를 수집</a:t>
            </a:r>
            <a:endParaRPr lang="en-US" altLang="ko-KR" dirty="0"/>
          </a:p>
          <a:p>
            <a:pPr lvl="1"/>
            <a:r>
              <a:rPr lang="en-US" altLang="ko-KR" dirty="0"/>
              <a:t>10. </a:t>
            </a:r>
            <a:r>
              <a:rPr lang="ko-KR" altLang="en-US" dirty="0"/>
              <a:t>광학 위성은 지상국으로 비디오 및 이미지를 전송</a:t>
            </a:r>
          </a:p>
        </p:txBody>
      </p:sp>
    </p:spTree>
    <p:extLst>
      <p:ext uri="{BB962C8B-B14F-4D97-AF65-F5344CB8AC3E}">
        <p14:creationId xmlns:p14="http://schemas.microsoft.com/office/powerpoint/2010/main" val="1202080041"/>
      </p:ext>
    </p:extLst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28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>
              <a:defRPr/>
            </a:pPr>
            <a:r>
              <a:rPr lang="ko-KR" altLang="en-US" dirty="0"/>
              <a:t>결론 및 보완점과 연구에 적용할 만한 내용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ko-KR" altLang="en-US" dirty="0"/>
              <a:t>결론</a:t>
            </a:r>
            <a:endParaRPr lang="en-US" altLang="ko-KR" sz="1800" b="0" dirty="0"/>
          </a:p>
          <a:p>
            <a:pPr lvl="1"/>
            <a:r>
              <a:rPr lang="ko-KR" altLang="en-US" dirty="0"/>
              <a:t>광학위성 및 </a:t>
            </a:r>
            <a:r>
              <a:rPr lang="en-US" altLang="ko-KR" dirty="0"/>
              <a:t>SAR </a:t>
            </a:r>
            <a:r>
              <a:rPr lang="ko-KR" altLang="en-US" dirty="0"/>
              <a:t>위성의 </a:t>
            </a:r>
            <a:r>
              <a:rPr lang="en-US" altLang="ko-KR" dirty="0"/>
              <a:t>Cross-cueing </a:t>
            </a:r>
            <a:r>
              <a:rPr lang="ko-KR" altLang="en-US" dirty="0"/>
              <a:t>방법</a:t>
            </a:r>
            <a:endParaRPr lang="en-US" altLang="ko-KR" dirty="0"/>
          </a:p>
          <a:p>
            <a:pPr lvl="2"/>
            <a:r>
              <a:rPr lang="ko-KR" altLang="en-US" b="1" u="sng" dirty="0"/>
              <a:t>각 탑재체의 장점만을 이용</a:t>
            </a:r>
            <a:r>
              <a:rPr lang="ko-KR" altLang="en-US" dirty="0"/>
              <a:t>한 </a:t>
            </a:r>
            <a:r>
              <a:rPr lang="ko-KR" altLang="en-US" dirty="0" err="1"/>
              <a:t>위성군</a:t>
            </a:r>
            <a:r>
              <a:rPr lang="ko-KR" altLang="en-US" dirty="0"/>
              <a:t> 운용 가능</a:t>
            </a:r>
            <a:endParaRPr lang="en-US" altLang="ko-KR" dirty="0"/>
          </a:p>
          <a:p>
            <a:pPr lvl="1"/>
            <a:r>
              <a:rPr lang="ko-KR" altLang="en-US" dirty="0"/>
              <a:t>고해상도 및 넓은 범위의 영상에 대한 근본적인 과제를 해결하기 위해서는 더 많은 연구가 필요함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dirty="0"/>
              <a:t>논문 내용 중 보완이 필요한</a:t>
            </a:r>
            <a:r>
              <a:rPr lang="en-US" altLang="ko-KR" dirty="0"/>
              <a:t> </a:t>
            </a:r>
            <a:r>
              <a:rPr lang="ko-KR" altLang="en-US" dirty="0"/>
              <a:t>부분</a:t>
            </a:r>
            <a:endParaRPr lang="en-US" altLang="ko-KR" dirty="0"/>
          </a:p>
          <a:p>
            <a:pPr lvl="1"/>
            <a:r>
              <a:rPr lang="ko-KR" altLang="en-US" dirty="0"/>
              <a:t>시뮬레이션의 결과 및 이종위성군의 기대 효과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dirty="0"/>
              <a:t>본 논문 중 연구에 적용하면 좋을 내용</a:t>
            </a:r>
            <a:endParaRPr lang="en-US" altLang="ko-KR" dirty="0"/>
          </a:p>
          <a:p>
            <a:pPr lvl="1"/>
            <a:r>
              <a:rPr lang="ko-KR" altLang="en-US" dirty="0"/>
              <a:t>논문에서 다룬 위성 외에 다른 종류의 탑재체에 </a:t>
            </a:r>
            <a:r>
              <a:rPr lang="en-US" altLang="ko-KR" dirty="0"/>
              <a:t>Cross-cueing</a:t>
            </a:r>
            <a:r>
              <a:rPr lang="ko-KR" altLang="en-US" dirty="0"/>
              <a:t> 방법을 적용하여 얻을 수 있는 기대효과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b="1" dirty="0"/>
          </a:p>
          <a:p>
            <a:pPr lvl="1"/>
            <a:endParaRPr lang="en-US" altLang="ko-KR" b="1" dirty="0"/>
          </a:p>
          <a:p>
            <a:pPr lvl="1"/>
            <a:endParaRPr lang="en-US" altLang="ko-KR" b="1" dirty="0"/>
          </a:p>
          <a:p>
            <a:pPr marL="216000" lvl="1" indent="0">
              <a:buNone/>
            </a:pPr>
            <a:endParaRPr lang="en-US" altLang="ko-KR" b="1" dirty="0"/>
          </a:p>
          <a:p>
            <a:pPr marL="216000" lvl="1" indent="0">
              <a:buNone/>
            </a:pPr>
            <a:endParaRPr lang="en-US" altLang="ko-KR" b="1" dirty="0"/>
          </a:p>
          <a:p>
            <a:pPr marL="216000" lvl="1" indent="0">
              <a:buNone/>
            </a:pPr>
            <a:endParaRPr lang="en-US" altLang="ko-KR" b="1" dirty="0"/>
          </a:p>
          <a:p>
            <a:pPr lvl="1"/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972375220"/>
      </p:ext>
    </p:extLst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ctrTitle"/>
          </p:nvPr>
        </p:nvSpPr>
        <p:spPr>
          <a:xfrm>
            <a:off x="0" y="1820659"/>
            <a:ext cx="9144000" cy="4024969"/>
          </a:xfrm>
        </p:spPr>
        <p:txBody>
          <a:bodyPr>
            <a:normAutofit fontScale="90000"/>
          </a:bodyPr>
          <a:lstStyle/>
          <a:p>
            <a:r>
              <a:rPr lang="en-US" altLang="ko-KR" b="1" dirty="0"/>
              <a:t>(4) L. Liu, Z. Dong, H. </a:t>
            </a:r>
            <a:r>
              <a:rPr lang="en-US" altLang="ko-KR" b="1" dirty="0" err="1"/>
              <a:t>Su</a:t>
            </a:r>
            <a:r>
              <a:rPr lang="en-US" altLang="ko-KR" b="1" dirty="0"/>
              <a:t>, D. Yu and Y. Lin, "Research on a Heterogeneous Multi-satellite Mission Scheduling Model for Earth Observation Based on Adaptive Genetic-Tabu Hybrid Search Algorithm," 2021 IEEE 5th Advanced Information Technology, Electronic and Automation Control Conference (IAEAC), Chongqing, China, 2021, pp. 1684-1690, </a:t>
            </a:r>
            <a:r>
              <a:rPr lang="en-US" altLang="ko-KR" b="1" dirty="0" err="1"/>
              <a:t>doi</a:t>
            </a:r>
            <a:r>
              <a:rPr lang="en-US" altLang="ko-KR" b="1" dirty="0"/>
              <a:t>: 10.1109/IAEAC50856.2021.9390990.</a:t>
            </a:r>
            <a:endParaRPr lang="ko-KR" altLang="en-US" b="1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36244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ko-KR" altLang="en-US" dirty="0"/>
              <a:t>연구목표 </a:t>
            </a:r>
          </a:p>
          <a:p>
            <a:pPr lvl="1"/>
            <a:r>
              <a:rPr lang="ko-KR" altLang="en-US" dirty="0"/>
              <a:t>아래의 두 가지 알고리즘을 혼합한  </a:t>
            </a:r>
            <a:r>
              <a:rPr lang="en-US" altLang="ko-KR" dirty="0"/>
              <a:t>Hybrid Algorithm </a:t>
            </a:r>
            <a:r>
              <a:rPr lang="ko-KR" altLang="en-US" dirty="0"/>
              <a:t>구성</a:t>
            </a:r>
            <a:endParaRPr lang="en-US" altLang="ko-KR" dirty="0"/>
          </a:p>
          <a:p>
            <a:pPr lvl="2"/>
            <a:r>
              <a:rPr lang="en-US" altLang="ko-KR" dirty="0"/>
              <a:t>Genetic Algorithm(GA)</a:t>
            </a:r>
          </a:p>
          <a:p>
            <a:pPr lvl="2"/>
            <a:r>
              <a:rPr lang="en-US" altLang="ko-KR" dirty="0"/>
              <a:t>Tabu Search Algorithm(TS)</a:t>
            </a:r>
          </a:p>
          <a:p>
            <a:pPr lvl="1"/>
            <a:r>
              <a:rPr lang="en-US" altLang="ko-KR" dirty="0"/>
              <a:t>Hybrid Algorithm</a:t>
            </a:r>
            <a:r>
              <a:rPr lang="ko-KR" altLang="en-US" dirty="0"/>
              <a:t>을 이용하여 최적화된 </a:t>
            </a:r>
            <a:r>
              <a:rPr lang="en-US" altLang="ko-KR" dirty="0"/>
              <a:t>Scheduling</a:t>
            </a:r>
            <a:r>
              <a:rPr lang="ko-KR" altLang="en-US" dirty="0"/>
              <a:t>의 </a:t>
            </a:r>
            <a:r>
              <a:rPr lang="en-US" altLang="ko-KR" dirty="0"/>
              <a:t>solution</a:t>
            </a:r>
            <a:r>
              <a:rPr lang="ko-KR" altLang="en-US" dirty="0"/>
              <a:t> 도출 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dirty="0"/>
              <a:t>본 논문에서의 </a:t>
            </a:r>
            <a:r>
              <a:rPr lang="en-US" altLang="ko-KR" dirty="0"/>
              <a:t>Heterogeneous Constellation</a:t>
            </a:r>
            <a:r>
              <a:rPr lang="ko-KR" altLang="en-US" dirty="0"/>
              <a:t>의 정의</a:t>
            </a:r>
          </a:p>
          <a:p>
            <a:pPr lvl="1"/>
            <a:r>
              <a:rPr lang="en-US" altLang="ko-KR" dirty="0"/>
              <a:t>Mission schedule</a:t>
            </a:r>
            <a:r>
              <a:rPr lang="ko-KR" altLang="en-US" dirty="0"/>
              <a:t>을 최적화 목표</a:t>
            </a:r>
            <a:endParaRPr lang="en-US" altLang="ko-KR" dirty="0"/>
          </a:p>
          <a:p>
            <a:pPr lvl="1"/>
            <a:r>
              <a:rPr lang="ko-KR" altLang="en-US" dirty="0"/>
              <a:t>두 종류의 </a:t>
            </a:r>
            <a:r>
              <a:rPr lang="ko-KR" altLang="en-US" dirty="0" err="1"/>
              <a:t>위성군</a:t>
            </a:r>
            <a:r>
              <a:rPr lang="en-US" altLang="ko-KR" dirty="0"/>
              <a:t>(Visible Camera, SAR)</a:t>
            </a:r>
            <a:r>
              <a:rPr lang="ko-KR" altLang="en-US" dirty="0"/>
              <a:t>을 동시에 운용함 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30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연구목표 및 이종 위성군의 정의</a:t>
            </a:r>
          </a:p>
        </p:txBody>
      </p:sp>
    </p:spTree>
    <p:extLst>
      <p:ext uri="{BB962C8B-B14F-4D97-AF65-F5344CB8AC3E}">
        <p14:creationId xmlns:p14="http://schemas.microsoft.com/office/powerpoint/2010/main" val="65979690"/>
      </p:ext>
    </p:extLst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ko-KR" altLang="en-US" dirty="0"/>
              <a:t>연구방법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ko-KR" altLang="en-US" dirty="0"/>
          </a:p>
          <a:p>
            <a:pPr lvl="1"/>
            <a:r>
              <a:rPr lang="en-US" altLang="ko-KR" dirty="0"/>
              <a:t>Pre-Set data</a:t>
            </a:r>
            <a:r>
              <a:rPr lang="ko-KR" altLang="en-US" dirty="0"/>
              <a:t>와 </a:t>
            </a:r>
            <a:r>
              <a:rPr lang="en-US" altLang="ko-KR" dirty="0"/>
              <a:t>Dynamical</a:t>
            </a:r>
            <a:r>
              <a:rPr lang="ko-KR" altLang="en-US" dirty="0"/>
              <a:t> </a:t>
            </a:r>
            <a:r>
              <a:rPr lang="en-US" altLang="ko-KR" dirty="0"/>
              <a:t>data</a:t>
            </a:r>
            <a:r>
              <a:rPr lang="ko-KR" altLang="en-US" dirty="0"/>
              <a:t>를 </a:t>
            </a:r>
            <a:r>
              <a:rPr lang="en-US" altLang="ko-KR" dirty="0"/>
              <a:t>Design Variable</a:t>
            </a:r>
            <a:r>
              <a:rPr lang="ko-KR" altLang="en-US" dirty="0"/>
              <a:t>로 입력</a:t>
            </a:r>
            <a:endParaRPr lang="en-US" altLang="ko-KR" dirty="0"/>
          </a:p>
          <a:p>
            <a:pPr lvl="1"/>
            <a:r>
              <a:rPr lang="en-US" altLang="ko-KR" dirty="0"/>
              <a:t>Model</a:t>
            </a:r>
            <a:r>
              <a:rPr lang="ko-KR" altLang="en-US" dirty="0"/>
              <a:t> </a:t>
            </a:r>
            <a:r>
              <a:rPr lang="en-US" altLang="ko-KR" dirty="0"/>
              <a:t>Deconflict </a:t>
            </a:r>
            <a:r>
              <a:rPr lang="ko-KR" altLang="en-US" dirty="0"/>
              <a:t>과정을 통해 상충되는 데이터를 제거  </a:t>
            </a:r>
            <a:endParaRPr lang="en-US" altLang="ko-KR" dirty="0"/>
          </a:p>
          <a:p>
            <a:pPr lvl="1"/>
            <a:r>
              <a:rPr lang="ko-KR" altLang="en-US" dirty="0"/>
              <a:t>최적의 해를 찾기 위해 알고리즘이 활성화</a:t>
            </a:r>
            <a:endParaRPr lang="en-US" altLang="ko-KR" dirty="0"/>
          </a:p>
          <a:p>
            <a:pPr lvl="1"/>
            <a:r>
              <a:rPr lang="ko-KR" altLang="en-US" dirty="0"/>
              <a:t>관측시간 정보 등의 </a:t>
            </a:r>
            <a:r>
              <a:rPr lang="en-US" altLang="ko-KR" dirty="0"/>
              <a:t>Scheduling</a:t>
            </a:r>
            <a:r>
              <a:rPr lang="ko-KR" altLang="en-US" dirty="0"/>
              <a:t>의 </a:t>
            </a:r>
            <a:r>
              <a:rPr lang="en-US" altLang="ko-KR" dirty="0"/>
              <a:t>solution </a:t>
            </a:r>
            <a:r>
              <a:rPr lang="ko-KR" altLang="en-US" dirty="0"/>
              <a:t>결과 도출</a:t>
            </a:r>
            <a:endParaRPr lang="en-US" altLang="ko-KR" dirty="0"/>
          </a:p>
          <a:p>
            <a:pPr lvl="1"/>
            <a:endParaRPr lang="ko-KR" altLang="en-US" dirty="0"/>
          </a:p>
          <a:p>
            <a:endParaRPr lang="ko-KR" altLang="en-US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31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altLang="ko-KR" dirty="0"/>
              <a:t>Schedule Stage</a:t>
            </a:r>
            <a:r>
              <a:rPr lang="ko-KR" altLang="en-US" dirty="0"/>
              <a:t>에 따른 연구방법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43A9BE4-E5BB-A00B-38DB-2CF678A9C9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4762" y="1428004"/>
            <a:ext cx="4618070" cy="3334021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41187548"/>
      </p:ext>
    </p:extLst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ko-KR" altLang="en-US" dirty="0"/>
              <a:t>임무의 </a:t>
            </a:r>
            <a:r>
              <a:rPr lang="en-US" altLang="ko-KR" dirty="0"/>
              <a:t>Scheduling</a:t>
            </a:r>
            <a:r>
              <a:rPr lang="ko-KR" altLang="en-US" dirty="0"/>
              <a:t>을 위한 가정</a:t>
            </a:r>
            <a:endParaRPr lang="en-US" altLang="ko-KR" dirty="0"/>
          </a:p>
          <a:p>
            <a:pPr lvl="1"/>
            <a:r>
              <a:rPr lang="ko-KR" altLang="en-US" b="0" i="0" dirty="0">
                <a:solidFill>
                  <a:srgbClr val="000000"/>
                </a:solidFill>
                <a:effectLst/>
                <a:latin typeface="noto"/>
              </a:rPr>
              <a:t>서로 다른 유형의 탑재체를 사용</a:t>
            </a:r>
            <a:endParaRPr lang="en-US" altLang="ko-KR" b="0" i="0" dirty="0">
              <a:solidFill>
                <a:srgbClr val="000000"/>
              </a:solidFill>
              <a:effectLst/>
              <a:latin typeface="noto"/>
            </a:endParaRPr>
          </a:p>
          <a:p>
            <a:pPr lvl="1"/>
            <a:r>
              <a:rPr lang="ko-KR" altLang="en-US" b="0" i="0" dirty="0">
                <a:solidFill>
                  <a:srgbClr val="000000"/>
                </a:solidFill>
                <a:effectLst/>
                <a:latin typeface="noto"/>
              </a:rPr>
              <a:t>지상의 점 표적을 관측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noto"/>
              </a:rPr>
              <a:t> </a:t>
            </a:r>
          </a:p>
          <a:p>
            <a:pPr lvl="1"/>
            <a:r>
              <a:rPr lang="ko-KR" altLang="en-US" b="0" i="0" dirty="0">
                <a:solidFill>
                  <a:srgbClr val="000000"/>
                </a:solidFill>
                <a:effectLst/>
                <a:latin typeface="noto"/>
              </a:rPr>
              <a:t>대상은 한 번만 관측해도 됨</a:t>
            </a:r>
            <a:endParaRPr lang="en-US" altLang="ko-KR" b="0" i="0" dirty="0">
              <a:solidFill>
                <a:srgbClr val="000000"/>
              </a:solidFill>
              <a:effectLst/>
              <a:latin typeface="noto"/>
            </a:endParaRPr>
          </a:p>
          <a:p>
            <a:pPr lvl="1"/>
            <a:r>
              <a:rPr lang="ko-KR" altLang="en-US" b="0" i="0" dirty="0">
                <a:solidFill>
                  <a:srgbClr val="000000"/>
                </a:solidFill>
                <a:effectLst/>
                <a:latin typeface="noto"/>
              </a:rPr>
              <a:t>하나의 위성은 오직 하나의 탑재체를 운반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noto"/>
              </a:rPr>
              <a:t> </a:t>
            </a:r>
          </a:p>
          <a:p>
            <a:pPr lvl="1"/>
            <a:r>
              <a:rPr lang="ko-KR" altLang="en-US" b="0" i="0" dirty="0">
                <a:solidFill>
                  <a:srgbClr val="000000"/>
                </a:solidFill>
                <a:effectLst/>
                <a:latin typeface="noto"/>
              </a:rPr>
              <a:t>위성은 한 번에 한 가지 임무만 수행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noto"/>
              </a:rPr>
              <a:t> </a:t>
            </a:r>
            <a:endParaRPr lang="en-US" altLang="ko-KR" dirty="0">
              <a:solidFill>
                <a:srgbClr val="000000"/>
              </a:solidFill>
              <a:latin typeface="noto"/>
            </a:endParaRPr>
          </a:p>
          <a:p>
            <a:pPr lvl="1"/>
            <a:r>
              <a:rPr lang="ko-KR" altLang="en-US" b="0" i="0" dirty="0">
                <a:solidFill>
                  <a:srgbClr val="000000"/>
                </a:solidFill>
                <a:effectLst/>
                <a:latin typeface="noto"/>
              </a:rPr>
              <a:t>임무가 시작되면 중단은 고려되지 않음</a:t>
            </a:r>
            <a:endParaRPr lang="en-US" altLang="ko-KR" b="0" i="0" dirty="0">
              <a:solidFill>
                <a:srgbClr val="000000"/>
              </a:solidFill>
              <a:effectLst/>
              <a:latin typeface="noto"/>
            </a:endParaRPr>
          </a:p>
          <a:p>
            <a:pPr lvl="1"/>
            <a:r>
              <a:rPr lang="ko-KR" altLang="en-US" b="0" i="0" dirty="0">
                <a:solidFill>
                  <a:srgbClr val="000000"/>
                </a:solidFill>
                <a:effectLst/>
                <a:latin typeface="noto"/>
              </a:rPr>
              <a:t>위성 궤도 기동의 상황은 고려되지 않음</a:t>
            </a:r>
            <a:br>
              <a:rPr lang="ko-KR" altLang="en-US" dirty="0"/>
            </a:br>
            <a:br>
              <a:rPr lang="ko-KR" altLang="en-US" dirty="0"/>
            </a:br>
            <a:endParaRPr lang="ko-KR" altLang="en-US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32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Scheduling</a:t>
            </a:r>
            <a:r>
              <a:rPr lang="ko-KR" altLang="en-US" dirty="0"/>
              <a:t>의 가정</a:t>
            </a:r>
          </a:p>
        </p:txBody>
      </p:sp>
    </p:spTree>
    <p:extLst>
      <p:ext uri="{BB962C8B-B14F-4D97-AF65-F5344CB8AC3E}">
        <p14:creationId xmlns:p14="http://schemas.microsoft.com/office/powerpoint/2010/main" val="269317359"/>
      </p:ext>
    </p:extLst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내용 개체 틀 1">
                <a:extLst>
                  <a:ext uri="{FF2B5EF4-FFF2-40B4-BE49-F238E27FC236}">
                    <a16:creationId xmlns:a16="http://schemas.microsoft.com/office/drawing/2014/main" id="{AA33FD4D-E8EB-E5CA-49D5-D206DAC5F91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7082" y="928686"/>
                <a:ext cx="8629838" cy="5376968"/>
              </a:xfrm>
            </p:spPr>
            <p:txBody>
              <a:bodyPr>
                <a:normAutofit/>
              </a:bodyPr>
              <a:lstStyle/>
              <a:p>
                <a:r>
                  <a:rPr lang="ko-KR" altLang="en-US" dirty="0"/>
                  <a:t>임무의 제한조건</a:t>
                </a:r>
                <a:endParaRPr lang="en-US" altLang="ko-KR" dirty="0"/>
              </a:p>
              <a:p>
                <a:pPr lvl="1"/>
                <a:r>
                  <a:rPr lang="ko-KR" altLang="en-US" dirty="0"/>
                  <a:t> </a:t>
                </a:r>
                <a:r>
                  <a:rPr lang="en-US" altLang="ko-KR" dirty="0"/>
                  <a:t>Visible window constraint : </a:t>
                </a:r>
                <a:r>
                  <a:rPr lang="ko-KR" altLang="en-US" dirty="0"/>
                  <a:t>위성의 탑재체는 타겟을 볼 수 있어야 하고 </a:t>
                </a:r>
                <a:r>
                  <a:rPr lang="en-US" altLang="ko-KR" dirty="0"/>
                  <a:t>Window Duration</a:t>
                </a:r>
                <a:r>
                  <a:rPr lang="ko-KR" altLang="en-US" dirty="0"/>
                  <a:t>은 임무 관측 시간보다 길어야 함 </a:t>
                </a:r>
                <a:endParaRPr lang="en-US" altLang="ko-KR" dirty="0"/>
              </a:p>
              <a:p>
                <a:pPr lvl="1"/>
                <a:r>
                  <a:rPr lang="en-US" altLang="ko-KR" dirty="0"/>
                  <a:t>Task preparation time constraints : </a:t>
                </a:r>
                <a:r>
                  <a:rPr lang="ko-KR" altLang="en-US" dirty="0"/>
                  <a:t>위성의 관측이 끝난 후 다음 위성이 관측을 시작할 때 까지의 시간 간격은 탑재체의 준비 시간보다 길어야 함</a:t>
                </a:r>
                <a:endParaRPr lang="en-US" altLang="ko-KR" dirty="0"/>
              </a:p>
              <a:p>
                <a:pPr lvl="1"/>
                <a:r>
                  <a:rPr lang="en-US" altLang="ko-KR" dirty="0"/>
                  <a:t>Energy constraints : </a:t>
                </a:r>
                <a:r>
                  <a:rPr lang="ko-KR" altLang="en-US" dirty="0"/>
                  <a:t>각 위성에서 사용되는 총 에너지</a:t>
                </a:r>
                <a:r>
                  <a:rPr lang="en-US" altLang="ko-KR" dirty="0"/>
                  <a:t> </a:t>
                </a:r>
                <a:r>
                  <a:rPr lang="ko-KR" altLang="en-US" dirty="0"/>
                  <a:t>소비량은 저장된 에너지 양의 상한선을 넘지 않아야 함</a:t>
                </a:r>
                <a:endParaRPr lang="en-US" altLang="ko-KR" dirty="0"/>
              </a:p>
              <a:p>
                <a:pPr lvl="1"/>
                <a:r>
                  <a:rPr lang="en-US" altLang="ko-KR" dirty="0"/>
                  <a:t>Lighting constraints : </a:t>
                </a:r>
                <a:r>
                  <a:rPr lang="ko-KR" altLang="en-US" dirty="0"/>
                  <a:t>광학 위성은 </a:t>
                </a:r>
                <a:r>
                  <a:rPr lang="en-US" altLang="ko-KR" dirty="0"/>
                  <a:t>Sun angle(</a:t>
                </a:r>
                <a:r>
                  <a:rPr lang="ko-KR" altLang="en-US" dirty="0"/>
                  <a:t>태양 고도 각도</a:t>
                </a:r>
                <a:r>
                  <a:rPr lang="en-US" altLang="ko-KR" dirty="0"/>
                  <a:t>)</a:t>
                </a:r>
                <a:r>
                  <a:rPr lang="ko-KR" altLang="en-US" dirty="0"/>
                  <a:t> 내에 있어야 함</a:t>
                </a:r>
                <a:endParaRPr lang="en-US" altLang="ko-KR" dirty="0"/>
              </a:p>
              <a:p>
                <a:pPr lvl="1"/>
                <a:r>
                  <a:rPr lang="en-US" altLang="ko-KR" dirty="0"/>
                  <a:t>Payload type constraints :</a:t>
                </a:r>
                <a:r>
                  <a:rPr lang="ko-KR" altLang="en-US" dirty="0"/>
                  <a:t> 대상을 필요한 유형의 탑재체로 관측해야 함</a:t>
                </a:r>
                <a:endParaRPr lang="en-US" altLang="ko-KR" dirty="0"/>
              </a:p>
              <a:p>
                <a:pPr lvl="1"/>
                <a:endParaRPr lang="en-US" altLang="ko-KR" dirty="0"/>
              </a:p>
              <a:p>
                <a:r>
                  <a:rPr lang="ko-KR" altLang="en-US" dirty="0"/>
                  <a:t>임무의 최적화 목표</a:t>
                </a:r>
                <a:endParaRPr lang="en-US" altLang="ko-KR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= </a:t>
                </a:r>
                <a:r>
                  <a:rPr lang="ko-KR" altLang="en-US" dirty="0"/>
                  <a:t>목표물 관측의 우선순위를 최대화</a:t>
                </a:r>
                <a:endParaRPr lang="en-US" altLang="ko-KR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= </a:t>
                </a:r>
                <a:r>
                  <a:rPr lang="ko-KR" altLang="en-US" dirty="0"/>
                  <a:t>목표물 수를 최대화</a:t>
                </a:r>
                <a:endParaRPr lang="en-US" altLang="ko-KR" dirty="0"/>
              </a:p>
              <a:p>
                <a:pPr lvl="1"/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dirty="0"/>
                  <a:t>= α *</a:t>
                </a:r>
                <a:r>
                  <a:rPr lang="en-US" altLang="ko-KR" b="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ko-KR" dirty="0"/>
                  <a:t> + β *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(α =0.6, β =0.4)</a:t>
                </a:r>
                <a:br>
                  <a:rPr lang="ko-KR" altLang="en-US" dirty="0"/>
                </a:br>
                <a:endParaRPr lang="ko-KR" altLang="en-US" dirty="0"/>
              </a:p>
            </p:txBody>
          </p:sp>
        </mc:Choice>
        <mc:Fallback xmlns="">
          <p:sp>
            <p:nvSpPr>
              <p:cNvPr id="6" name="내용 개체 틀 1">
                <a:extLst>
                  <a:ext uri="{FF2B5EF4-FFF2-40B4-BE49-F238E27FC236}">
                    <a16:creationId xmlns:a16="http://schemas.microsoft.com/office/drawing/2014/main" id="{AA33FD4D-E8EB-E5CA-49D5-D206DAC5F9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7082" y="928686"/>
                <a:ext cx="8629838" cy="5376968"/>
              </a:xfrm>
              <a:blipFill>
                <a:blip r:embed="rId3"/>
                <a:stretch>
                  <a:fillRect l="-918" t="-102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33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제한조건 및 최적화 목표</a:t>
            </a:r>
          </a:p>
        </p:txBody>
      </p:sp>
    </p:spTree>
    <p:extLst>
      <p:ext uri="{BB962C8B-B14F-4D97-AF65-F5344CB8AC3E}">
        <p14:creationId xmlns:p14="http://schemas.microsoft.com/office/powerpoint/2010/main" val="1732159515"/>
      </p:ext>
    </p:extLst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Algorithm</a:t>
            </a:r>
          </a:p>
          <a:p>
            <a:pPr lvl="1"/>
            <a:r>
              <a:rPr lang="en-US" altLang="ko-KR" dirty="0"/>
              <a:t>Genetic Algorithm Design Concept(GA)</a:t>
            </a:r>
          </a:p>
          <a:p>
            <a:pPr lvl="2"/>
            <a:r>
              <a:rPr lang="en-US" altLang="ko-KR" dirty="0"/>
              <a:t>Chromosome coding design</a:t>
            </a:r>
          </a:p>
          <a:p>
            <a:pPr lvl="2"/>
            <a:r>
              <a:rPr lang="en-US" altLang="ko-KR" dirty="0"/>
              <a:t>Genetic algorithm procedure</a:t>
            </a:r>
          </a:p>
          <a:p>
            <a:pPr lvl="1"/>
            <a:r>
              <a:rPr lang="en-US" altLang="ko-KR" dirty="0"/>
              <a:t>Tabu Search Algorithm Design Concept(TS)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en-US" altLang="ko-KR" dirty="0"/>
              <a:t>Hybrid Algorithm Design Concept(GA + TS)</a:t>
            </a:r>
          </a:p>
          <a:p>
            <a:pPr lvl="2"/>
            <a:r>
              <a:rPr lang="en-US" altLang="ko-KR" dirty="0"/>
              <a:t>(1) </a:t>
            </a:r>
            <a:r>
              <a:rPr lang="ko-KR" altLang="en-US" dirty="0"/>
              <a:t>유전 알고리즘으로 모집단 전체를 검색하여 여러 세대 진화 후 수렴하는 해를 찾음</a:t>
            </a:r>
            <a:endParaRPr lang="en-US" altLang="ko-KR" dirty="0"/>
          </a:p>
          <a:p>
            <a:pPr lvl="2"/>
            <a:r>
              <a:rPr lang="en-US" altLang="ko-KR" dirty="0"/>
              <a:t>(2) </a:t>
            </a:r>
            <a:r>
              <a:rPr lang="ko-KR" altLang="en-US" dirty="0" err="1"/>
              <a:t>타부</a:t>
            </a:r>
            <a:r>
              <a:rPr lang="ko-KR" altLang="en-US" dirty="0"/>
              <a:t> 알고리즘으로 부족한 부분을 개선하여 최적 해를 찾음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34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Algorithm</a:t>
            </a:r>
            <a:r>
              <a:rPr lang="ko-KR" altLang="en-US" dirty="0"/>
              <a:t>의 종류 및 장단점 비교</a:t>
            </a: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DDF5686F-7670-D346-B3C8-9D0A746D3EFC}"/>
              </a:ext>
            </a:extLst>
          </p:cNvPr>
          <p:cNvGraphicFramePr>
            <a:graphicFrameLocks noGrp="1"/>
          </p:cNvGraphicFramePr>
          <p:nvPr/>
        </p:nvGraphicFramePr>
        <p:xfrm>
          <a:off x="504755" y="2753159"/>
          <a:ext cx="7891579" cy="204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3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376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37631">
                  <a:extLst>
                    <a:ext uri="{9D8B030D-6E8A-4147-A177-3AD203B41FA5}">
                      <a16:colId xmlns:a16="http://schemas.microsoft.com/office/drawing/2014/main" val="3978487964"/>
                    </a:ext>
                  </a:extLst>
                </a:gridCol>
              </a:tblGrid>
              <a:tr h="21821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Algorithm</a:t>
                      </a:r>
                      <a:endParaRPr lang="ko-KR" altLang="en-US" sz="14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Genetic Algorithm(GA)</a:t>
                      </a:r>
                      <a:endParaRPr lang="ko-KR" altLang="en-US" sz="14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Tabu Search Algorithm(TS)</a:t>
                      </a:r>
                      <a:endParaRPr lang="ko-KR" altLang="en-US" sz="14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639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생물의 진화 원리를 모방하여 </a:t>
                      </a:r>
                      <a:endParaRPr lang="en-US" altLang="ko-KR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  <a:p>
                      <a:pPr algn="ctr" latinLnBrk="1"/>
                      <a:r>
                        <a:rPr lang="ko-KR" altLang="en-US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최적화 문제를 해결하는데 사용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국지적 최적해를 찾은 뒤</a:t>
                      </a: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,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 탐색이 불가능한 지역 탐색법의 단점을 보완하기 위해 개발된 알고리즘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3037381"/>
                  </a:ext>
                </a:extLst>
              </a:tr>
              <a:tr h="19639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장점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대규모 문제 해결에 유용함</a:t>
                      </a:r>
                      <a:endParaRPr lang="en-US" altLang="ko-KR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  <a:p>
                      <a:pPr algn="ctr" latinLnBrk="1"/>
                      <a:r>
                        <a:rPr lang="ko-KR" altLang="en-US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초기 조건의 종류에 상관없이 작동 가능</a:t>
                      </a:r>
                      <a:endParaRPr lang="en-US" altLang="ko-KR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  <a:p>
                      <a:pPr algn="ctr" latinLnBrk="1"/>
                      <a:r>
                        <a:rPr lang="ko-KR" altLang="en-US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병렬 처리로 여러 개의 해를 찾는 것도 가능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지역 최적점을 벗어나기에 효율적임</a:t>
                      </a:r>
                      <a:endParaRPr kumimoji="0" lang="en-US" altLang="ko-KR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이미 찾은 국지점이 있더라도 그 값을 저장하고 주변의 탐색을 다시 허용하여 전역 최적해를 찾을 수 있음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639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단점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국지적 최적해에 빠지기 쉬움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초기 해에 크게 의존하여 초기 해가 부정확하면 수렴 속도가 느려짐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58951647"/>
      </p:ext>
    </p:extLst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ko-KR" altLang="en-US" dirty="0"/>
              <a:t>시뮬레이션 설정</a:t>
            </a:r>
            <a:endParaRPr lang="en-US" altLang="ko-KR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35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시뮬레이션 설정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84ECE0C0-E171-6115-36F8-4137C4D1A0AB}"/>
              </a:ext>
            </a:extLst>
          </p:cNvPr>
          <p:cNvGraphicFramePr>
            <a:graphicFrameLocks noGrp="1"/>
          </p:cNvGraphicFramePr>
          <p:nvPr/>
        </p:nvGraphicFramePr>
        <p:xfrm>
          <a:off x="363693" y="1527900"/>
          <a:ext cx="4476866" cy="39465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48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8117">
                  <a:extLst>
                    <a:ext uri="{9D8B030D-6E8A-4147-A177-3AD203B41FA5}">
                      <a16:colId xmlns:a16="http://schemas.microsoft.com/office/drawing/2014/main" val="3687457586"/>
                    </a:ext>
                  </a:extLst>
                </a:gridCol>
                <a:gridCol w="1883918">
                  <a:extLst>
                    <a:ext uri="{9D8B030D-6E8A-4147-A177-3AD203B41FA5}">
                      <a16:colId xmlns:a16="http://schemas.microsoft.com/office/drawing/2014/main" val="400930265"/>
                    </a:ext>
                  </a:extLst>
                </a:gridCol>
              </a:tblGrid>
              <a:tr h="258067"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시뮬레이션 설정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2261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궤도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Sun-synchronous orbit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4213701"/>
                  </a:ext>
                </a:extLst>
              </a:tr>
              <a:tr h="232261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고도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600km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9791625"/>
                  </a:ext>
                </a:extLst>
              </a:tr>
              <a:tr h="232261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시뮬레이션 시간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시작시각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2020.06.08 16:00:00</a:t>
                      </a:r>
                      <a:endParaRPr lang="ko-KR" altLang="en-US" sz="1200" b="1" dirty="0">
                        <a:latin typeface="+mn-lt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2261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종료시각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2020.06.09 16:00:00</a:t>
                      </a:r>
                      <a:endParaRPr lang="ko-KR" altLang="en-US" sz="1200" b="1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7627154"/>
                  </a:ext>
                </a:extLst>
              </a:tr>
              <a:tr h="387101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수치</a:t>
                      </a:r>
                      <a:r>
                        <a:rPr lang="en-US" altLang="ko-KR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 </a:t>
                      </a:r>
                      <a:r>
                        <a:rPr lang="ko-KR" altLang="en-US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시뮬레이션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 err="1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위성군</a:t>
                      </a:r>
                      <a:r>
                        <a:rPr lang="ko-KR" altLang="en-US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 설계 및 </a:t>
                      </a:r>
                      <a:endParaRPr lang="en-US" altLang="ko-KR" sz="1200" b="1" dirty="0">
                        <a:latin typeface="+mn-lt"/>
                        <a:ea typeface="+mn-ea"/>
                        <a:cs typeface="times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궤도전파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STK Software</a:t>
                      </a:r>
                      <a:endParaRPr lang="ko-KR" altLang="en-US" sz="1200" b="1" dirty="0">
                        <a:latin typeface="+mn-lt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1322474"/>
                  </a:ext>
                </a:extLst>
              </a:tr>
              <a:tr h="23226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데이터 분석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MATLAB</a:t>
                      </a:r>
                      <a:endParaRPr lang="ko-KR" altLang="en-US" sz="1200" b="1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7465013"/>
                  </a:ext>
                </a:extLst>
              </a:tr>
              <a:tr h="309681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CCD</a:t>
                      </a:r>
                      <a:r>
                        <a:rPr lang="ko-KR" altLang="en-US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 </a:t>
                      </a:r>
                      <a:r>
                        <a:rPr lang="ko-KR" altLang="en-US" sz="1200" b="1" dirty="0" err="1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탑재체</a:t>
                      </a:r>
                      <a:endParaRPr lang="ko-KR" altLang="en-US" sz="1200" b="1" dirty="0">
                        <a:latin typeface="+mn-lt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latin typeface="+mn-lt"/>
                        </a:rPr>
                        <a:t>Sensor Type</a:t>
                      </a:r>
                      <a:endParaRPr lang="ko-KR" altLang="en-US" sz="1200" b="1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원뿔형</a:t>
                      </a:r>
                      <a:endParaRPr lang="en-US" altLang="ko-KR" sz="1200" b="1" dirty="0">
                        <a:latin typeface="+mn-lt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1842215"/>
                  </a:ext>
                </a:extLst>
              </a:tr>
              <a:tr h="30968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latin typeface="+mn-lt"/>
                        </a:rPr>
                        <a:t>FOV</a:t>
                      </a:r>
                      <a:endParaRPr lang="ko-KR" altLang="en-US" sz="1200" b="1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5</a:t>
                      </a:r>
                      <a:r>
                        <a:rPr lang="ko-KR" altLang="en-US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˚</a:t>
                      </a:r>
                      <a:endParaRPr lang="en-US" altLang="ko-KR" sz="1200" b="1" dirty="0">
                        <a:latin typeface="+mn-lt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3532838"/>
                  </a:ext>
                </a:extLst>
              </a:tr>
              <a:tr h="30968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latin typeface="+mn-lt"/>
                        </a:rPr>
                        <a:t>Lighting</a:t>
                      </a:r>
                      <a:endParaRPr lang="ko-KR" altLang="en-US" sz="1200" b="1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 err="1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sunAng</a:t>
                      </a:r>
                      <a:r>
                        <a:rPr lang="en-US" altLang="ko-KR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&gt;15</a:t>
                      </a:r>
                      <a:r>
                        <a:rPr lang="ko-KR" altLang="en-US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˚</a:t>
                      </a:r>
                      <a:endParaRPr lang="en-US" altLang="ko-KR" sz="1200" b="1" dirty="0">
                        <a:latin typeface="+mn-lt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462390"/>
                  </a:ext>
                </a:extLst>
              </a:tr>
              <a:tr h="309681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SAR</a:t>
                      </a:r>
                      <a:r>
                        <a:rPr lang="ko-KR" altLang="en-US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 </a:t>
                      </a:r>
                      <a:r>
                        <a:rPr lang="ko-KR" altLang="en-US" sz="1200" b="1" dirty="0" err="1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탑재체</a:t>
                      </a:r>
                      <a:endParaRPr lang="ko-KR" altLang="en-US" sz="1200" b="1" dirty="0">
                        <a:latin typeface="+mn-lt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latin typeface="+mn-lt"/>
                        </a:rPr>
                        <a:t>Min Elevation Angle</a:t>
                      </a:r>
                      <a:endParaRPr lang="ko-KR" altLang="en-US" sz="1200" b="1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15.2</a:t>
                      </a:r>
                      <a:r>
                        <a:rPr lang="ko-KR" altLang="en-US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˚</a:t>
                      </a:r>
                      <a:endParaRPr lang="en-US" altLang="ko-KR" sz="1200" b="1" dirty="0">
                        <a:latin typeface="+mn-lt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023055"/>
                  </a:ext>
                </a:extLst>
              </a:tr>
              <a:tr h="30968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latin typeface="+mn-lt"/>
                        </a:rPr>
                        <a:t>Max Elevation Angle</a:t>
                      </a:r>
                      <a:endParaRPr lang="ko-KR" altLang="en-US" sz="1200" b="1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51.9</a:t>
                      </a:r>
                      <a:r>
                        <a:rPr lang="ko-KR" altLang="en-US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˚</a:t>
                      </a:r>
                      <a:endParaRPr lang="en-US" altLang="ko-KR" sz="1200" b="1" dirty="0">
                        <a:latin typeface="+mn-lt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5351987"/>
                  </a:ext>
                </a:extLst>
              </a:tr>
            </a:tbl>
          </a:graphicData>
        </a:graphic>
      </p:graphicFrame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57E867A7-6114-363F-BDF6-06F0EA66C8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8410058"/>
              </p:ext>
            </p:extLst>
          </p:nvPr>
        </p:nvGraphicFramePr>
        <p:xfrm>
          <a:off x="5270212" y="1527900"/>
          <a:ext cx="2712932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01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372">
                  <a:extLst>
                    <a:ext uri="{9D8B030D-6E8A-4147-A177-3AD203B41FA5}">
                      <a16:colId xmlns:a16="http://schemas.microsoft.com/office/drawing/2014/main" val="1702632630"/>
                    </a:ext>
                  </a:extLst>
                </a:gridCol>
                <a:gridCol w="731372">
                  <a:extLst>
                    <a:ext uri="{9D8B030D-6E8A-4147-A177-3AD203B41FA5}">
                      <a16:colId xmlns:a16="http://schemas.microsoft.com/office/drawing/2014/main" val="1874337334"/>
                    </a:ext>
                  </a:extLst>
                </a:gridCol>
              </a:tblGrid>
              <a:tr h="137160"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시나리오 설정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716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시나리오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위성 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타겟 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857096"/>
                  </a:ext>
                </a:extLst>
              </a:tr>
              <a:tr h="23226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No.1</a:t>
                      </a:r>
                      <a:endParaRPr lang="ko-KR" altLang="en-US" sz="1200" b="1" dirty="0">
                        <a:latin typeface="+mn-lt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5</a:t>
                      </a:r>
                      <a:endParaRPr lang="ko-KR" altLang="en-US" sz="1200" b="1" dirty="0">
                        <a:latin typeface="+mn-lt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30</a:t>
                      </a:r>
                      <a:endParaRPr lang="ko-KR" altLang="en-US" sz="1200" b="1" dirty="0">
                        <a:latin typeface="+mn-lt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4213701"/>
                  </a:ext>
                </a:extLst>
              </a:tr>
              <a:tr h="23226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No.2</a:t>
                      </a:r>
                      <a:endParaRPr lang="ko-KR" altLang="en-US" sz="1200" b="1" dirty="0">
                        <a:latin typeface="+mn-lt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8</a:t>
                      </a:r>
                      <a:endParaRPr lang="ko-KR" altLang="en-US" sz="1200" b="1" dirty="0">
                        <a:latin typeface="+mn-lt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50</a:t>
                      </a:r>
                      <a:endParaRPr lang="ko-KR" altLang="en-US" sz="1200" b="1" dirty="0">
                        <a:latin typeface="+mn-lt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9791625"/>
                  </a:ext>
                </a:extLst>
              </a:tr>
              <a:tr h="23226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No.3</a:t>
                      </a:r>
                      <a:endParaRPr lang="ko-KR" altLang="en-US" sz="1200" b="1" dirty="0">
                        <a:latin typeface="+mn-lt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8</a:t>
                      </a:r>
                      <a:endParaRPr lang="ko-KR" altLang="en-US" sz="1200" b="1" dirty="0">
                        <a:latin typeface="+mn-lt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100</a:t>
                      </a:r>
                      <a:endParaRPr lang="ko-KR" altLang="en-US" sz="1200" b="1" dirty="0">
                        <a:latin typeface="+mn-lt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0643435"/>
                  </a:ext>
                </a:extLst>
              </a:tr>
              <a:tr h="23226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No.4</a:t>
                      </a:r>
                      <a:endParaRPr lang="ko-KR" altLang="en-US" sz="1200" b="1" dirty="0">
                        <a:latin typeface="+mn-lt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16</a:t>
                      </a:r>
                      <a:endParaRPr lang="ko-KR" altLang="en-US" sz="1200" b="1" dirty="0">
                        <a:latin typeface="+mn-lt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200</a:t>
                      </a:r>
                      <a:endParaRPr lang="ko-KR" altLang="en-US" sz="1200" b="1" dirty="0">
                        <a:latin typeface="+mn-lt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193030"/>
                  </a:ext>
                </a:extLst>
              </a:tr>
              <a:tr h="23226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No.5</a:t>
                      </a:r>
                      <a:endParaRPr lang="ko-KR" altLang="en-US" sz="1200" b="1" dirty="0">
                        <a:latin typeface="+mn-lt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16</a:t>
                      </a:r>
                      <a:endParaRPr lang="ko-KR" altLang="en-US" sz="1200" b="1" dirty="0">
                        <a:latin typeface="+mn-lt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300</a:t>
                      </a:r>
                      <a:endParaRPr lang="ko-KR" altLang="en-US" sz="1200" b="1" dirty="0">
                        <a:latin typeface="+mn-lt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135002"/>
                  </a:ext>
                </a:extLst>
              </a:tr>
              <a:tr h="23226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시행 횟수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각 </a:t>
                      </a:r>
                      <a:r>
                        <a:rPr lang="en-US" altLang="ko-KR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10</a:t>
                      </a:r>
                      <a:r>
                        <a:rPr lang="ko-KR" altLang="en-US" sz="1200" b="1" dirty="0" err="1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회씩</a:t>
                      </a:r>
                      <a:endParaRPr lang="ko-KR" altLang="en-US" sz="1200" b="1" dirty="0">
                        <a:latin typeface="+mn-lt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2315648"/>
                  </a:ext>
                </a:extLst>
              </a:tr>
              <a:tr h="23226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Crossover(%)</a:t>
                      </a:r>
                      <a:endParaRPr lang="ko-KR" altLang="en-US" sz="1200" b="1" dirty="0">
                        <a:latin typeface="+mn-lt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0.8</a:t>
                      </a:r>
                      <a:endParaRPr lang="ko-KR" altLang="en-US" sz="1200" b="1" dirty="0">
                        <a:latin typeface="+mn-lt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5144220"/>
                  </a:ext>
                </a:extLst>
              </a:tr>
              <a:tr h="23226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Mutation(%)</a:t>
                      </a:r>
                      <a:endParaRPr lang="ko-KR" altLang="en-US" sz="1200" b="1" dirty="0">
                        <a:latin typeface="+mn-lt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0.2</a:t>
                      </a:r>
                      <a:endParaRPr lang="ko-KR" altLang="en-US" sz="1200" b="1" dirty="0">
                        <a:latin typeface="+mn-lt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9895796"/>
                  </a:ext>
                </a:extLst>
              </a:tr>
              <a:tr h="23226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Global maximum iteration</a:t>
                      </a:r>
                      <a:endParaRPr lang="ko-KR" altLang="en-US" sz="1200" b="1" dirty="0">
                        <a:latin typeface="+mn-lt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150</a:t>
                      </a:r>
                      <a:endParaRPr lang="ko-KR" altLang="en-US" sz="1200" b="1" dirty="0">
                        <a:latin typeface="+mn-lt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2735602"/>
                  </a:ext>
                </a:extLst>
              </a:tr>
              <a:tr h="23226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무작위 생성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 err="1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탑재체</a:t>
                      </a:r>
                      <a:r>
                        <a:rPr lang="ko-KR" altLang="en-US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 유형</a:t>
                      </a:r>
                      <a:r>
                        <a:rPr lang="en-US" altLang="ko-KR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,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타겟의 위치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1" dirty="0">
                        <a:latin typeface="+mn-lt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45557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81374123"/>
      </p:ext>
    </p:extLst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ko-KR" altLang="en-US" dirty="0"/>
              <a:t>시뮬레이션 결과</a:t>
            </a:r>
            <a:endParaRPr lang="en-US" altLang="ko-KR" dirty="0"/>
          </a:p>
          <a:p>
            <a:pPr lvl="1"/>
            <a:r>
              <a:rPr lang="ko-KR" altLang="en-US" dirty="0"/>
              <a:t>오른쪽 그림과 같이 전세계적으로 </a:t>
            </a:r>
            <a:endParaRPr lang="en-US" altLang="ko-KR" dirty="0"/>
          </a:p>
          <a:p>
            <a:pPr marL="216000" lvl="1" indent="0">
              <a:buNone/>
            </a:pPr>
            <a:r>
              <a:rPr lang="en-US" altLang="ko-KR" dirty="0"/>
              <a:t>      </a:t>
            </a:r>
            <a:r>
              <a:rPr lang="ko-KR" altLang="en-US" dirty="0" err="1"/>
              <a:t>랜덤한</a:t>
            </a:r>
            <a:r>
              <a:rPr lang="ko-KR" altLang="en-US" dirty="0"/>
              <a:t> 균일 분포에 </a:t>
            </a:r>
            <a:r>
              <a:rPr lang="en-US" altLang="ko-KR" dirty="0"/>
              <a:t>target </a:t>
            </a:r>
            <a:r>
              <a:rPr lang="ko-KR" altLang="en-US" dirty="0"/>
              <a:t>생성</a:t>
            </a:r>
            <a:endParaRPr lang="en-US" altLang="ko-KR" dirty="0"/>
          </a:p>
          <a:p>
            <a:pPr lvl="1"/>
            <a:r>
              <a:rPr lang="ko-KR" altLang="en-US" dirty="0"/>
              <a:t>궤도 수와 궤도면의 위성 수를 조정</a:t>
            </a:r>
            <a:endParaRPr lang="en-US" altLang="ko-KR" dirty="0"/>
          </a:p>
          <a:p>
            <a:pPr marL="216000" lvl="1" indent="0">
              <a:buNone/>
            </a:pPr>
            <a:r>
              <a:rPr lang="en-US" altLang="ko-KR" dirty="0"/>
              <a:t>      </a:t>
            </a:r>
            <a:r>
              <a:rPr lang="ko-KR" altLang="en-US" dirty="0"/>
              <a:t>하여</a:t>
            </a:r>
            <a:r>
              <a:rPr lang="en-US" altLang="ko-KR" dirty="0"/>
              <a:t> </a:t>
            </a:r>
            <a:r>
              <a:rPr lang="ko-KR" altLang="en-US" dirty="0"/>
              <a:t>시나리오의 규모 수정 가능</a:t>
            </a:r>
            <a:endParaRPr lang="en-US" altLang="ko-KR" dirty="0"/>
          </a:p>
          <a:p>
            <a:pPr lvl="1"/>
            <a:r>
              <a:rPr lang="ko-KR" altLang="en-US" dirty="0" err="1"/>
              <a:t>탑재체</a:t>
            </a:r>
            <a:r>
              <a:rPr lang="ko-KR" altLang="en-US" dirty="0"/>
              <a:t> 유형도 무작위로 생성</a:t>
            </a:r>
            <a:endParaRPr lang="en-US" altLang="ko-KR" dirty="0"/>
          </a:p>
          <a:p>
            <a:pPr lvl="1"/>
            <a:endParaRPr lang="en-US" altLang="ko-KR" dirty="0"/>
          </a:p>
          <a:p>
            <a:pPr marL="216000" lvl="1" indent="0">
              <a:buNone/>
            </a:pPr>
            <a:endParaRPr lang="en-US" altLang="ko-KR" dirty="0"/>
          </a:p>
          <a:p>
            <a:pPr lvl="1"/>
            <a:r>
              <a:rPr lang="ko-KR" altLang="en-US" dirty="0"/>
              <a:t>변수가 무작위로 적용되었기 때문에 </a:t>
            </a:r>
            <a:endParaRPr lang="en-US" altLang="ko-KR" dirty="0"/>
          </a:p>
          <a:p>
            <a:pPr marL="216000" lvl="1" indent="0">
              <a:buNone/>
            </a:pPr>
            <a:r>
              <a:rPr lang="ko-KR" altLang="en-US" dirty="0"/>
              <a:t>     서로 다른 시나리오 간의 해의 성능은</a:t>
            </a:r>
            <a:endParaRPr lang="en-US" altLang="ko-KR" dirty="0"/>
          </a:p>
          <a:p>
            <a:pPr marL="216000" lvl="1" indent="0">
              <a:buNone/>
            </a:pPr>
            <a:r>
              <a:rPr lang="ko-KR" altLang="en-US" dirty="0"/>
              <a:t>     비교하기 어려움</a:t>
            </a:r>
            <a:endParaRPr lang="en-US" altLang="ko-KR" dirty="0"/>
          </a:p>
          <a:p>
            <a:pPr lvl="1"/>
            <a:r>
              <a:rPr lang="ko-KR" altLang="en-US" dirty="0"/>
              <a:t>따라서 작업 완료율로 해의 전체 성능</a:t>
            </a:r>
            <a:endParaRPr lang="en-US" altLang="ko-KR" dirty="0"/>
          </a:p>
          <a:p>
            <a:pPr marL="216000" lvl="1" indent="0">
              <a:buNone/>
            </a:pPr>
            <a:r>
              <a:rPr lang="ko-KR" altLang="en-US" dirty="0"/>
              <a:t>     을 판단해야 함</a:t>
            </a:r>
            <a:endParaRPr lang="en-US" altLang="ko-KR" dirty="0"/>
          </a:p>
          <a:p>
            <a:pPr lvl="1"/>
            <a:endParaRPr lang="en-US" altLang="ko-KR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36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시뮬레이션 결과</a:t>
            </a:r>
            <a:r>
              <a:rPr lang="en-US" altLang="ko-KR" dirty="0"/>
              <a:t>(table)</a:t>
            </a:r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CB971BB3-6C8D-8B5D-2866-33D06A7D88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0498" y="1322186"/>
            <a:ext cx="4401075" cy="1863549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C2386C35-70BB-C0BD-BE8B-D8EBA5AC98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2855" y="3682329"/>
            <a:ext cx="4401074" cy="243234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0939569"/>
      </p:ext>
    </p:extLst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ko-KR" altLang="en-US" dirty="0"/>
              <a:t>시뮬레이션 결과</a:t>
            </a:r>
            <a:endParaRPr lang="en-US" altLang="ko-KR" dirty="0"/>
          </a:p>
          <a:p>
            <a:pPr lvl="1"/>
            <a:r>
              <a:rPr lang="ko-KR" altLang="en-US" dirty="0"/>
              <a:t>시나리오의 규모가 확장되면 충돌 제거 과정이 복잡해짐 </a:t>
            </a:r>
            <a:endParaRPr lang="en-US" altLang="ko-KR" dirty="0"/>
          </a:p>
          <a:p>
            <a:pPr lvl="2"/>
            <a:r>
              <a:rPr lang="ko-KR" altLang="en-US" dirty="0"/>
              <a:t>단일 </a:t>
            </a:r>
            <a:r>
              <a:rPr lang="en-US" altLang="ko-KR" dirty="0"/>
              <a:t>GA, TS</a:t>
            </a:r>
            <a:r>
              <a:rPr lang="ko-KR" altLang="en-US" dirty="0"/>
              <a:t>의 평균 실행 시간은 빠르게 증가</a:t>
            </a:r>
            <a:r>
              <a:rPr lang="en-US" altLang="ko-KR" dirty="0"/>
              <a:t>(</a:t>
            </a:r>
            <a:r>
              <a:rPr lang="ko-KR" altLang="en-US" dirty="0"/>
              <a:t>곡선 그래프</a:t>
            </a:r>
            <a:r>
              <a:rPr lang="en-US" altLang="ko-KR" dirty="0"/>
              <a:t>) </a:t>
            </a:r>
          </a:p>
          <a:p>
            <a:pPr lvl="2"/>
            <a:r>
              <a:rPr lang="ko-KR" altLang="en-US" dirty="0"/>
              <a:t>이에 따라 수렴생성계수는 증가하다가 감소</a:t>
            </a:r>
            <a:r>
              <a:rPr lang="en-US" altLang="ko-KR" dirty="0"/>
              <a:t>(</a:t>
            </a:r>
            <a:r>
              <a:rPr lang="ko-KR" altLang="en-US" dirty="0"/>
              <a:t>막대 그래프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/>
              <a:t>작은 규모일수록 빠르게 수렴되어 좋은 해를 얻음</a:t>
            </a:r>
          </a:p>
          <a:p>
            <a:pPr lvl="1"/>
            <a:endParaRPr lang="en-US" altLang="ko-KR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37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시뮬레이션 결과</a:t>
            </a:r>
            <a:r>
              <a:rPr lang="en-US" altLang="ko-KR" dirty="0"/>
              <a:t>(Plot)</a:t>
            </a:r>
            <a:endParaRPr lang="ko-KR" alt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2FBDEC07-E393-1C8A-C5E8-09A4043E22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127" y="2980139"/>
            <a:ext cx="7557799" cy="265982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BF19E353-5043-D0E5-73E6-1869AD071F68}"/>
              </a:ext>
            </a:extLst>
          </p:cNvPr>
          <p:cNvSpPr/>
          <p:nvPr/>
        </p:nvSpPr>
        <p:spPr bwMode="auto">
          <a:xfrm>
            <a:off x="1063789" y="3125429"/>
            <a:ext cx="369333" cy="2277627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E5C5F0-6448-242C-5C86-96E26DA1A7B4}"/>
              </a:ext>
            </a:extLst>
          </p:cNvPr>
          <p:cNvSpPr txBox="1"/>
          <p:nvPr/>
        </p:nvSpPr>
        <p:spPr>
          <a:xfrm rot="10800000">
            <a:off x="964223" y="2995379"/>
            <a:ext cx="369332" cy="2522447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ko-KR" sz="1200" b="1" dirty="0">
                <a:solidFill>
                  <a:srgbClr val="33CCCC"/>
                </a:solidFill>
              </a:rPr>
              <a:t>Convergence Generation(average)</a:t>
            </a:r>
            <a:endParaRPr lang="ko-KR" altLang="en-US" sz="1200" b="1" dirty="0">
              <a:solidFill>
                <a:srgbClr val="33CCCC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2B88BA8-5C8D-47C7-5D8F-3CBB47F6348B}"/>
              </a:ext>
            </a:extLst>
          </p:cNvPr>
          <p:cNvSpPr txBox="1"/>
          <p:nvPr/>
        </p:nvSpPr>
        <p:spPr>
          <a:xfrm>
            <a:off x="1172739" y="3131281"/>
            <a:ext cx="397669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solidFill>
                  <a:srgbClr val="33CCCC"/>
                </a:solidFill>
              </a:rPr>
              <a:t>100</a:t>
            </a:r>
            <a:endParaRPr lang="ko-KR" altLang="en-US" sz="700" dirty="0">
              <a:solidFill>
                <a:srgbClr val="33CCCC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A8EF19-0CC5-AB4A-EE35-4E08508C461A}"/>
              </a:ext>
            </a:extLst>
          </p:cNvPr>
          <p:cNvSpPr txBox="1"/>
          <p:nvPr/>
        </p:nvSpPr>
        <p:spPr>
          <a:xfrm>
            <a:off x="1220364" y="3337188"/>
            <a:ext cx="397669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solidFill>
                  <a:srgbClr val="33CCCC"/>
                </a:solidFill>
              </a:rPr>
              <a:t>90</a:t>
            </a:r>
            <a:endParaRPr lang="ko-KR" altLang="en-US" sz="700" dirty="0">
              <a:solidFill>
                <a:srgbClr val="33CCCC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BDB2813-028F-A161-B970-4F78477935FD}"/>
              </a:ext>
            </a:extLst>
          </p:cNvPr>
          <p:cNvSpPr txBox="1"/>
          <p:nvPr/>
        </p:nvSpPr>
        <p:spPr>
          <a:xfrm>
            <a:off x="1216435" y="3551529"/>
            <a:ext cx="397669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solidFill>
                  <a:srgbClr val="33CCCC"/>
                </a:solidFill>
              </a:rPr>
              <a:t>80</a:t>
            </a:r>
            <a:endParaRPr lang="ko-KR" altLang="en-US" sz="700" dirty="0">
              <a:solidFill>
                <a:srgbClr val="33CCCC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0D6186A-C2A4-3697-3661-0F6F0D2E5C3A}"/>
              </a:ext>
            </a:extLst>
          </p:cNvPr>
          <p:cNvSpPr txBox="1"/>
          <p:nvPr/>
        </p:nvSpPr>
        <p:spPr>
          <a:xfrm>
            <a:off x="1216434" y="3765870"/>
            <a:ext cx="397669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solidFill>
                  <a:srgbClr val="33CCCC"/>
                </a:solidFill>
              </a:rPr>
              <a:t>70</a:t>
            </a:r>
            <a:endParaRPr lang="ko-KR" altLang="en-US" sz="700" dirty="0">
              <a:solidFill>
                <a:srgbClr val="33CCCC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66D9B56-BF5A-8503-E6AA-29751EE8891F}"/>
              </a:ext>
            </a:extLst>
          </p:cNvPr>
          <p:cNvSpPr txBox="1"/>
          <p:nvPr/>
        </p:nvSpPr>
        <p:spPr>
          <a:xfrm>
            <a:off x="1219643" y="3975444"/>
            <a:ext cx="397669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solidFill>
                  <a:srgbClr val="33CCCC"/>
                </a:solidFill>
              </a:rPr>
              <a:t>60</a:t>
            </a:r>
            <a:endParaRPr lang="ko-KR" altLang="en-US" sz="700" dirty="0">
              <a:solidFill>
                <a:srgbClr val="33CCCC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33E67D1-815B-A276-9E3B-4179D62C65A0}"/>
              </a:ext>
            </a:extLst>
          </p:cNvPr>
          <p:cNvSpPr txBox="1"/>
          <p:nvPr/>
        </p:nvSpPr>
        <p:spPr>
          <a:xfrm>
            <a:off x="1216434" y="4189769"/>
            <a:ext cx="397669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solidFill>
                  <a:srgbClr val="33CCCC"/>
                </a:solidFill>
              </a:rPr>
              <a:t>50</a:t>
            </a:r>
            <a:endParaRPr lang="ko-KR" altLang="en-US" sz="700" dirty="0">
              <a:solidFill>
                <a:srgbClr val="33CCCC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6FDB98A-C225-E8C5-8D70-E8715901971C}"/>
              </a:ext>
            </a:extLst>
          </p:cNvPr>
          <p:cNvSpPr txBox="1"/>
          <p:nvPr/>
        </p:nvSpPr>
        <p:spPr>
          <a:xfrm>
            <a:off x="1216911" y="4405935"/>
            <a:ext cx="397669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solidFill>
                  <a:srgbClr val="33CCCC"/>
                </a:solidFill>
              </a:rPr>
              <a:t>40</a:t>
            </a:r>
            <a:endParaRPr lang="ko-KR" altLang="en-US" sz="700" dirty="0">
              <a:solidFill>
                <a:srgbClr val="33CCCC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30CA670-87BE-6F95-C654-A895C196F14A}"/>
              </a:ext>
            </a:extLst>
          </p:cNvPr>
          <p:cNvSpPr txBox="1"/>
          <p:nvPr/>
        </p:nvSpPr>
        <p:spPr>
          <a:xfrm>
            <a:off x="1216434" y="4615849"/>
            <a:ext cx="397669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solidFill>
                  <a:srgbClr val="33CCCC"/>
                </a:solidFill>
              </a:rPr>
              <a:t>30</a:t>
            </a:r>
            <a:endParaRPr lang="ko-KR" altLang="en-US" sz="700" dirty="0">
              <a:solidFill>
                <a:srgbClr val="33CCCC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EE1F99B-5BCF-BAD0-33C8-94840F3D9FA3}"/>
              </a:ext>
            </a:extLst>
          </p:cNvPr>
          <p:cNvSpPr txBox="1"/>
          <p:nvPr/>
        </p:nvSpPr>
        <p:spPr>
          <a:xfrm>
            <a:off x="1216434" y="4829283"/>
            <a:ext cx="397669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solidFill>
                  <a:srgbClr val="33CCCC"/>
                </a:solidFill>
              </a:rPr>
              <a:t>20</a:t>
            </a:r>
            <a:endParaRPr lang="ko-KR" altLang="en-US" sz="700" dirty="0">
              <a:solidFill>
                <a:srgbClr val="33CCCC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9053C4B-4BDC-920B-750F-338BEBE0A647}"/>
              </a:ext>
            </a:extLst>
          </p:cNvPr>
          <p:cNvSpPr txBox="1"/>
          <p:nvPr/>
        </p:nvSpPr>
        <p:spPr>
          <a:xfrm>
            <a:off x="1216434" y="5047545"/>
            <a:ext cx="397669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solidFill>
                  <a:srgbClr val="33CCCC"/>
                </a:solidFill>
              </a:rPr>
              <a:t>10</a:t>
            </a:r>
            <a:endParaRPr lang="ko-KR" altLang="en-US" sz="700" dirty="0">
              <a:solidFill>
                <a:srgbClr val="33CCCC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ABF25AE-E577-3184-5831-9324393E15FF}"/>
              </a:ext>
            </a:extLst>
          </p:cNvPr>
          <p:cNvSpPr txBox="1"/>
          <p:nvPr/>
        </p:nvSpPr>
        <p:spPr>
          <a:xfrm>
            <a:off x="1268459" y="5255632"/>
            <a:ext cx="397669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solidFill>
                  <a:srgbClr val="33CCCC"/>
                </a:solidFill>
              </a:rPr>
              <a:t>0</a:t>
            </a:r>
            <a:endParaRPr lang="ko-KR" altLang="en-US" sz="700" dirty="0">
              <a:solidFill>
                <a:srgbClr val="33CCCC"/>
              </a:solidFill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EBDC7417-9DA2-3586-AE61-D8A0C367ED5A}"/>
              </a:ext>
            </a:extLst>
          </p:cNvPr>
          <p:cNvSpPr/>
          <p:nvPr/>
        </p:nvSpPr>
        <p:spPr bwMode="auto">
          <a:xfrm>
            <a:off x="4328160" y="5455687"/>
            <a:ext cx="967740" cy="122153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C0A0240-F243-B411-85FE-893B2F554B8C}"/>
              </a:ext>
            </a:extLst>
          </p:cNvPr>
          <p:cNvSpPr txBox="1"/>
          <p:nvPr/>
        </p:nvSpPr>
        <p:spPr>
          <a:xfrm>
            <a:off x="4145280" y="5403056"/>
            <a:ext cx="359664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/>
              <a:t>Scenario Number</a:t>
            </a:r>
            <a:endParaRPr lang="ko-KR" altLang="en-US" sz="1050" dirty="0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B0E70347-EE3D-1D6D-D0C8-DB121CFBE933}"/>
              </a:ext>
            </a:extLst>
          </p:cNvPr>
          <p:cNvSpPr/>
          <p:nvPr/>
        </p:nvSpPr>
        <p:spPr bwMode="auto">
          <a:xfrm>
            <a:off x="8166063" y="3131281"/>
            <a:ext cx="423863" cy="2293832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93A4FDD-DF43-7649-3FC7-F02F2FF8F70C}"/>
              </a:ext>
            </a:extLst>
          </p:cNvPr>
          <p:cNvSpPr txBox="1"/>
          <p:nvPr/>
        </p:nvSpPr>
        <p:spPr>
          <a:xfrm rot="10800000">
            <a:off x="8276254" y="2814247"/>
            <a:ext cx="369332" cy="2522447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ko-KR" sz="1200" b="1" dirty="0">
                <a:solidFill>
                  <a:srgbClr val="EDB021"/>
                </a:solidFill>
              </a:rPr>
              <a:t>Convergence Time(average)</a:t>
            </a:r>
            <a:endParaRPr lang="ko-KR" altLang="en-US" sz="1200" b="1" dirty="0">
              <a:solidFill>
                <a:srgbClr val="EDB021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BCD822E-B2B5-D217-9527-04A5A4631D6D}"/>
              </a:ext>
            </a:extLst>
          </p:cNvPr>
          <p:cNvSpPr txBox="1"/>
          <p:nvPr/>
        </p:nvSpPr>
        <p:spPr>
          <a:xfrm>
            <a:off x="8102629" y="3123048"/>
            <a:ext cx="423863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solidFill>
                  <a:srgbClr val="EDB021"/>
                </a:solidFill>
              </a:rPr>
              <a:t>350</a:t>
            </a:r>
            <a:endParaRPr lang="ko-KR" altLang="en-US" sz="700" dirty="0">
              <a:solidFill>
                <a:srgbClr val="EDB021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6153D5B-07F6-08B2-F9A8-102FA98B19D9}"/>
              </a:ext>
            </a:extLst>
          </p:cNvPr>
          <p:cNvSpPr txBox="1"/>
          <p:nvPr/>
        </p:nvSpPr>
        <p:spPr>
          <a:xfrm>
            <a:off x="8105057" y="3426366"/>
            <a:ext cx="423863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solidFill>
                  <a:srgbClr val="EDB021"/>
                </a:solidFill>
              </a:rPr>
              <a:t>300</a:t>
            </a:r>
            <a:endParaRPr lang="ko-KR" altLang="en-US" sz="700" dirty="0">
              <a:solidFill>
                <a:srgbClr val="EDB021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2CC49E9-7D70-FE56-620D-D9B34934A90D}"/>
              </a:ext>
            </a:extLst>
          </p:cNvPr>
          <p:cNvSpPr txBox="1"/>
          <p:nvPr/>
        </p:nvSpPr>
        <p:spPr>
          <a:xfrm>
            <a:off x="8109492" y="3729684"/>
            <a:ext cx="423863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solidFill>
                  <a:srgbClr val="EDB021"/>
                </a:solidFill>
              </a:rPr>
              <a:t>250</a:t>
            </a:r>
            <a:endParaRPr lang="ko-KR" altLang="en-US" sz="700" dirty="0">
              <a:solidFill>
                <a:srgbClr val="EDB02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DE92718-2687-EE8C-8C05-E6B8A600FF76}"/>
              </a:ext>
            </a:extLst>
          </p:cNvPr>
          <p:cNvSpPr txBox="1"/>
          <p:nvPr/>
        </p:nvSpPr>
        <p:spPr>
          <a:xfrm>
            <a:off x="8098555" y="4041730"/>
            <a:ext cx="423863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solidFill>
                  <a:srgbClr val="EDB021"/>
                </a:solidFill>
              </a:rPr>
              <a:t>200</a:t>
            </a:r>
            <a:endParaRPr lang="ko-KR" altLang="en-US" sz="700" dirty="0">
              <a:solidFill>
                <a:srgbClr val="EDB021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EBD6D7A-05AD-8279-8A7C-20BBFBB8F8AB}"/>
              </a:ext>
            </a:extLst>
          </p:cNvPr>
          <p:cNvSpPr txBox="1"/>
          <p:nvPr/>
        </p:nvSpPr>
        <p:spPr>
          <a:xfrm>
            <a:off x="8102629" y="4344252"/>
            <a:ext cx="423863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solidFill>
                  <a:srgbClr val="EDB021"/>
                </a:solidFill>
              </a:rPr>
              <a:t>150</a:t>
            </a:r>
            <a:endParaRPr lang="ko-KR" altLang="en-US" sz="700" dirty="0">
              <a:solidFill>
                <a:srgbClr val="EDB021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68D11AB-1501-8E37-1BD3-30E8ABDCA0C0}"/>
              </a:ext>
            </a:extLst>
          </p:cNvPr>
          <p:cNvSpPr txBox="1"/>
          <p:nvPr/>
        </p:nvSpPr>
        <p:spPr>
          <a:xfrm>
            <a:off x="8109539" y="4644393"/>
            <a:ext cx="423863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solidFill>
                  <a:srgbClr val="EDB021"/>
                </a:solidFill>
              </a:rPr>
              <a:t>100</a:t>
            </a:r>
            <a:endParaRPr lang="ko-KR" altLang="en-US" sz="700" dirty="0">
              <a:solidFill>
                <a:srgbClr val="EDB021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51D7229-7A50-1234-41E6-E1F8AD3D4B3B}"/>
              </a:ext>
            </a:extLst>
          </p:cNvPr>
          <p:cNvSpPr txBox="1"/>
          <p:nvPr/>
        </p:nvSpPr>
        <p:spPr>
          <a:xfrm>
            <a:off x="8100799" y="4949296"/>
            <a:ext cx="423863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solidFill>
                  <a:srgbClr val="EDB021"/>
                </a:solidFill>
              </a:rPr>
              <a:t>50</a:t>
            </a:r>
            <a:endParaRPr lang="ko-KR" altLang="en-US" sz="700" dirty="0">
              <a:solidFill>
                <a:srgbClr val="EDB021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3C8ED94-52DC-38CF-BE7D-6369798D384E}"/>
              </a:ext>
            </a:extLst>
          </p:cNvPr>
          <p:cNvSpPr txBox="1"/>
          <p:nvPr/>
        </p:nvSpPr>
        <p:spPr>
          <a:xfrm>
            <a:off x="8107111" y="5249714"/>
            <a:ext cx="423863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solidFill>
                  <a:srgbClr val="EDB021"/>
                </a:solidFill>
              </a:rPr>
              <a:t>0</a:t>
            </a:r>
            <a:endParaRPr lang="ko-KR" altLang="en-US" sz="700" dirty="0">
              <a:solidFill>
                <a:srgbClr val="EDB02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2531974"/>
      </p:ext>
    </p:extLst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38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 lnSpcReduction="10000"/>
          </a:bodyPr>
          <a:lstStyle/>
          <a:p>
            <a:r>
              <a:rPr lang="ko-KR" altLang="en-US" dirty="0"/>
              <a:t>결론 </a:t>
            </a:r>
            <a:endParaRPr lang="en-US" altLang="ko-KR" dirty="0"/>
          </a:p>
          <a:p>
            <a:pPr lvl="1"/>
            <a:r>
              <a:rPr lang="ko-KR" altLang="en-US" b="1" u="sng" dirty="0"/>
              <a:t>해의 성능과 연산 시간 사이에는 </a:t>
            </a:r>
            <a:r>
              <a:rPr lang="en-US" altLang="ko-KR" b="1" u="sng" dirty="0"/>
              <a:t>Trade-off </a:t>
            </a:r>
            <a:r>
              <a:rPr lang="ko-KR" altLang="en-US" b="1" u="sng" dirty="0"/>
              <a:t>관계</a:t>
            </a:r>
            <a:r>
              <a:rPr lang="ko-KR" altLang="en-US" dirty="0"/>
              <a:t>가 있음</a:t>
            </a:r>
            <a:endParaRPr lang="en-US" altLang="ko-KR" dirty="0"/>
          </a:p>
          <a:p>
            <a:pPr lvl="1"/>
            <a:r>
              <a:rPr lang="ko-KR" altLang="en-US" dirty="0"/>
              <a:t>위성의 운용환경에 따라 둘 중 </a:t>
            </a:r>
            <a:r>
              <a:rPr lang="ko-KR" altLang="en-US" b="1" u="sng" dirty="0"/>
              <a:t>어떤 부분에 중점을 두어야 하는 지</a:t>
            </a:r>
            <a:r>
              <a:rPr lang="ko-KR" altLang="en-US" dirty="0"/>
              <a:t> 결정될 것</a:t>
            </a:r>
            <a:endParaRPr lang="en-US" altLang="ko-KR" sz="1800" dirty="0"/>
          </a:p>
          <a:p>
            <a:pPr lvl="1"/>
            <a:r>
              <a:rPr lang="ko-KR" altLang="en-US" dirty="0"/>
              <a:t>고려해야 할 </a:t>
            </a:r>
            <a:r>
              <a:rPr lang="ko-KR" altLang="en-US" b="1" u="sng" dirty="0"/>
              <a:t>변수 및 제한 조건의 수</a:t>
            </a:r>
            <a:r>
              <a:rPr lang="ko-KR" altLang="en-US" dirty="0"/>
              <a:t>에 따라 두 알고리즘</a:t>
            </a:r>
            <a:r>
              <a:rPr lang="en-US" altLang="ko-KR" dirty="0"/>
              <a:t>(</a:t>
            </a:r>
            <a:r>
              <a:rPr lang="ko-KR" altLang="en-US" dirty="0"/>
              <a:t>또는 혼합</a:t>
            </a:r>
            <a:r>
              <a:rPr lang="en-US" altLang="ko-KR" dirty="0"/>
              <a:t>) </a:t>
            </a:r>
            <a:r>
              <a:rPr lang="ko-KR" altLang="en-US" dirty="0"/>
              <a:t>중 어떤 것을 사용할지 판단해야 함 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dirty="0"/>
              <a:t>논문 내용 중 보완이 필요한 부분</a:t>
            </a:r>
            <a:endParaRPr lang="en-US" altLang="ko-KR" dirty="0"/>
          </a:p>
          <a:p>
            <a:pPr lvl="1"/>
            <a:r>
              <a:rPr lang="ko-KR" altLang="en-US" dirty="0"/>
              <a:t>다른 논문에 비해 이종위성군의 특징이 상대적으로 약함</a:t>
            </a:r>
            <a:endParaRPr lang="en-US" altLang="ko-KR" dirty="0"/>
          </a:p>
          <a:p>
            <a:pPr lvl="2"/>
            <a:r>
              <a:rPr lang="ko-KR" altLang="en-US" dirty="0"/>
              <a:t>이종 위성군의 설계에 대한 내용이 아닌 </a:t>
            </a:r>
            <a:r>
              <a:rPr lang="en-US" altLang="ko-KR" dirty="0"/>
              <a:t>scheduling</a:t>
            </a:r>
            <a:r>
              <a:rPr lang="ko-KR" altLang="en-US" dirty="0"/>
              <a:t>을 위한 알고리즘을 중점적으로 다룸</a:t>
            </a:r>
            <a:endParaRPr lang="en-US" altLang="ko-KR" dirty="0"/>
          </a:p>
          <a:p>
            <a:pPr lvl="2"/>
            <a:r>
              <a:rPr lang="ko-KR" altLang="en-US" dirty="0"/>
              <a:t>이종위성군의 특징에 대해 구체화 필요</a:t>
            </a:r>
            <a:endParaRPr lang="en-US" altLang="ko-KR" dirty="0"/>
          </a:p>
          <a:p>
            <a:pPr lvl="1"/>
            <a:r>
              <a:rPr lang="ko-KR" altLang="en-US" dirty="0"/>
              <a:t>시뮬레이션 결과에 대한 구체적인 설명</a:t>
            </a:r>
            <a:endParaRPr lang="en-US" altLang="ko-KR" dirty="0"/>
          </a:p>
          <a:p>
            <a:pPr lvl="2"/>
            <a:r>
              <a:rPr lang="ko-KR" altLang="en-US" dirty="0"/>
              <a:t>특정 값이 아닌 무작위 값에 의존한 변수가 많음</a:t>
            </a:r>
            <a:endParaRPr lang="en-US" altLang="ko-KR" dirty="0"/>
          </a:p>
          <a:p>
            <a:pPr lvl="1"/>
            <a:r>
              <a:rPr lang="ko-KR" altLang="en-US" dirty="0"/>
              <a:t>그래프</a:t>
            </a:r>
            <a:r>
              <a:rPr lang="en-US" altLang="ko-KR" dirty="0"/>
              <a:t>, </a:t>
            </a:r>
            <a:r>
              <a:rPr lang="ko-KR" altLang="en-US" dirty="0"/>
              <a:t>그림 등 시각자료의 해상도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dirty="0"/>
              <a:t>본 논문 중 연구에 적용하면 좋을 내용</a:t>
            </a:r>
            <a:endParaRPr lang="en-US" altLang="ko-KR" dirty="0"/>
          </a:p>
          <a:p>
            <a:pPr lvl="1"/>
            <a:r>
              <a:rPr lang="en-US" altLang="ko-KR" dirty="0"/>
              <a:t>GA</a:t>
            </a:r>
            <a:r>
              <a:rPr lang="ko-KR" altLang="en-US" dirty="0"/>
              <a:t>와 </a:t>
            </a:r>
            <a:r>
              <a:rPr lang="en-US" altLang="ko-KR" dirty="0"/>
              <a:t>TS</a:t>
            </a:r>
            <a:r>
              <a:rPr lang="ko-KR" altLang="en-US" dirty="0"/>
              <a:t> 두 알고리즘 각각의 장점만을 혼합하여 최적의 경로 구하는 방법 연구</a:t>
            </a:r>
            <a:endParaRPr lang="en-US" altLang="ko-KR" b="1" dirty="0"/>
          </a:p>
          <a:p>
            <a:pPr marL="216000" lvl="1" indent="0">
              <a:buNone/>
            </a:pPr>
            <a:endParaRPr lang="en-US" altLang="ko-KR" b="1" dirty="0"/>
          </a:p>
          <a:p>
            <a:pPr marL="216000" lvl="1" indent="0">
              <a:buNone/>
            </a:pPr>
            <a:endParaRPr lang="en-US" altLang="ko-KR" b="1" dirty="0"/>
          </a:p>
          <a:p>
            <a:pPr marL="216000" lvl="1" indent="0">
              <a:buNone/>
            </a:pPr>
            <a:endParaRPr lang="en-US" altLang="ko-KR" b="1" dirty="0"/>
          </a:p>
          <a:p>
            <a:pPr lvl="1"/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380952094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solidFill>
          <a:srgbClr val="FFFFFF"/>
        </a:solidFill>
        <a:ln>
          <a:noFill/>
        </a:ln>
        <a:extLst>
          <a:ext uri="{91240B29-F687-4F45-9708-019B960494DF}">
            <a14:hiddenLine xmlns:a14="http://schemas.microsoft.com/office/drawing/2010/main" w="9525">
              <a:solidFill>
                <a:srgbClr val="000000"/>
              </a:solidFill>
              <a:miter lim="800000"/>
              <a:headEnd/>
              <a:tailEnd/>
            </a14:hiddenLine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algn="l">
          <a:defRPr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84521</TotalTime>
  <Words>3510</Words>
  <Application>Microsoft Office PowerPoint</Application>
  <PresentationFormat>화면 슬라이드 쇼(4:3)</PresentationFormat>
  <Paragraphs>772</Paragraphs>
  <Slides>39</Slides>
  <Notes>37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39</vt:i4>
      </vt:variant>
    </vt:vector>
  </HeadingPairs>
  <TitlesOfParts>
    <vt:vector size="46" baseType="lpstr">
      <vt:lpstr>noto</vt:lpstr>
      <vt:lpstr>맑은 고딕</vt:lpstr>
      <vt:lpstr>Arial</vt:lpstr>
      <vt:lpstr>Cambria Math</vt:lpstr>
      <vt:lpstr>times</vt:lpstr>
      <vt:lpstr>Wingdings</vt:lpstr>
      <vt:lpstr>Office 테마</vt:lpstr>
      <vt:lpstr>이종위성군 선행연구자료</vt:lpstr>
      <vt:lpstr>연구 목표 및 자료조사에 참고한 논문</vt:lpstr>
      <vt:lpstr>(1) I. Sanad and D. G. Michelson, "A Framework for Heterogeneous Satellite Constellation Design for Rapid Response Earth Observations," 2019 IEEE Aerospace Conference, Big Sky, MT, USA, 2019, pp. 1-10, doi: 10.1109/AERO.2019.8741813. </vt:lpstr>
      <vt:lpstr>연구목표 및 이종위성군의 정의</vt:lpstr>
      <vt:lpstr>SRT의 정의 및 구성</vt:lpstr>
      <vt:lpstr>단계별 연구방법</vt:lpstr>
      <vt:lpstr>임무 목적 및 제한조건과 탑재체 성능 결정</vt:lpstr>
      <vt:lpstr>사용된 SW및 궤도정보 및 운용개념 결정</vt:lpstr>
      <vt:lpstr>Imaging 위성군 시뮬레이션 결과</vt:lpstr>
      <vt:lpstr>Imaging 위성군 시뮬레이션 결과</vt:lpstr>
      <vt:lpstr>Relay 위성군 및 SRT 시뮬레이션 결과</vt:lpstr>
      <vt:lpstr>결과로부터 얻은 최종 성능지수 값</vt:lpstr>
      <vt:lpstr>결론 및 보완이 필요한 부분</vt:lpstr>
      <vt:lpstr>연구에 적용할 만한 내용</vt:lpstr>
      <vt:lpstr>(2) S. Zhao, Y. Xu, H. Dai; Research on the configuration design method of heterogeneous constellation reconstruction under the multiple objective and multiple constraint. AIP Conference Proceedings 8 May 2017; 1839 (1): 020083. </vt:lpstr>
      <vt:lpstr>연구목표와 방법 및 이종위성군의 정의</vt:lpstr>
      <vt:lpstr>Reconstruction의 정의 및 전체적인 구성도</vt:lpstr>
      <vt:lpstr>Phase Uniformity Method</vt:lpstr>
      <vt:lpstr>Reconstruction Configuration Design Method</vt:lpstr>
      <vt:lpstr>두 가지 방법의 장단점 비교</vt:lpstr>
      <vt:lpstr>이종위성군 재구성의 제한조건 및 목적함수</vt:lpstr>
      <vt:lpstr>결론 및 보완이 필요한 부분</vt:lpstr>
      <vt:lpstr>연구에 적용할 만한 내용</vt:lpstr>
      <vt:lpstr>(3) P. Fox, G. Tyc, and K. Beckett, “The UrtheCast SAR-XL multi-band, multi-aperture spaceborne SAR system,” 2017 IEEE Radar Conference (RadarConf), pp. 1761–1764, May 2017.</vt:lpstr>
      <vt:lpstr>연구목표와 방법 및 이종위성군의 정의</vt:lpstr>
      <vt:lpstr>이종위성군의 구성 및 궤도 정보</vt:lpstr>
      <vt:lpstr>Cross-Cueing – 각 탑재체의 역할</vt:lpstr>
      <vt:lpstr>Cross-Cueing – 단계별 과정</vt:lpstr>
      <vt:lpstr>결론 및 보완점과 연구에 적용할 만한 내용</vt:lpstr>
      <vt:lpstr>(4) L. Liu, Z. Dong, H. Su, D. Yu and Y. Lin, "Research on a Heterogeneous Multi-satellite Mission Scheduling Model for Earth Observation Based on Adaptive Genetic-Tabu Hybrid Search Algorithm," 2021 IEEE 5th Advanced Information Technology, Electronic and Automation Control Conference (IAEAC), Chongqing, China, 2021, pp. 1684-1690, doi: 10.1109/IAEAC50856.2021.9390990.</vt:lpstr>
      <vt:lpstr>연구목표 및 이종 위성군의 정의</vt:lpstr>
      <vt:lpstr>Schedule Stage에 따른 연구방법</vt:lpstr>
      <vt:lpstr>Scheduling의 가정</vt:lpstr>
      <vt:lpstr>제한조건 및 최적화 목표</vt:lpstr>
      <vt:lpstr>Algorithm의 종류 및 장단점 비교</vt:lpstr>
      <vt:lpstr>시뮬레이션 설정</vt:lpstr>
      <vt:lpstr>시뮬레이션 결과(table)</vt:lpstr>
      <vt:lpstr>시뮬레이션 결과(Plot)</vt:lpstr>
      <vt:lpstr>이종위성군 선행연구자료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KimGeuk-Nam</dc:creator>
  <cp:lastModifiedBy>이진진</cp:lastModifiedBy>
  <cp:revision>4681</cp:revision>
  <dcterms:created xsi:type="dcterms:W3CDTF">2018-01-29T02:45:56Z</dcterms:created>
  <dcterms:modified xsi:type="dcterms:W3CDTF">2023-04-28T12:42:06Z</dcterms:modified>
</cp:coreProperties>
</file>