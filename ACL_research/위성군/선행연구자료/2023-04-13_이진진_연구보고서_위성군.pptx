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67"/>
  </p:notesMasterIdLst>
  <p:handoutMasterIdLst>
    <p:handoutMasterId r:id="rId68"/>
  </p:handoutMasterIdLst>
  <p:sldIdLst>
    <p:sldId id="2229" r:id="rId2"/>
    <p:sldId id="2387" r:id="rId3"/>
    <p:sldId id="2297" r:id="rId4"/>
    <p:sldId id="2373" r:id="rId5"/>
    <p:sldId id="2358" r:id="rId6"/>
    <p:sldId id="2405" r:id="rId7"/>
    <p:sldId id="2375" r:id="rId8"/>
    <p:sldId id="2374" r:id="rId9"/>
    <p:sldId id="2376" r:id="rId10"/>
    <p:sldId id="2378" r:id="rId11"/>
    <p:sldId id="2380" r:id="rId12"/>
    <p:sldId id="2377" r:id="rId13"/>
    <p:sldId id="2382" r:id="rId14"/>
    <p:sldId id="2383" r:id="rId15"/>
    <p:sldId id="2384" r:id="rId16"/>
    <p:sldId id="2385" r:id="rId17"/>
    <p:sldId id="2232" r:id="rId18"/>
    <p:sldId id="2406" r:id="rId19"/>
    <p:sldId id="2347" r:id="rId20"/>
    <p:sldId id="2346" r:id="rId21"/>
    <p:sldId id="2348" r:id="rId22"/>
    <p:sldId id="2349" r:id="rId23"/>
    <p:sldId id="2352" r:id="rId24"/>
    <p:sldId id="2351" r:id="rId25"/>
    <p:sldId id="2353" r:id="rId26"/>
    <p:sldId id="2355" r:id="rId27"/>
    <p:sldId id="2404" r:id="rId28"/>
    <p:sldId id="2386" r:id="rId29"/>
    <p:sldId id="273" r:id="rId30"/>
    <p:sldId id="2339" r:id="rId31"/>
    <p:sldId id="2338" r:id="rId32"/>
    <p:sldId id="2341" r:id="rId33"/>
    <p:sldId id="2343" r:id="rId34"/>
    <p:sldId id="2388" r:id="rId35"/>
    <p:sldId id="2356" r:id="rId36"/>
    <p:sldId id="2389" r:id="rId37"/>
    <p:sldId id="2390" r:id="rId38"/>
    <p:sldId id="2357" r:id="rId39"/>
    <p:sldId id="2359" r:id="rId40"/>
    <p:sldId id="2360" r:id="rId41"/>
    <p:sldId id="2361" r:id="rId42"/>
    <p:sldId id="2362" r:id="rId43"/>
    <p:sldId id="2363" r:id="rId44"/>
    <p:sldId id="2364" r:id="rId45"/>
    <p:sldId id="2365" r:id="rId46"/>
    <p:sldId id="2337" r:id="rId47"/>
    <p:sldId id="2366" r:id="rId48"/>
    <p:sldId id="2367" r:id="rId49"/>
    <p:sldId id="2368" r:id="rId50"/>
    <p:sldId id="2369" r:id="rId51"/>
    <p:sldId id="2370" r:id="rId52"/>
    <p:sldId id="2371" r:id="rId53"/>
    <p:sldId id="2391" r:id="rId54"/>
    <p:sldId id="2392" r:id="rId55"/>
    <p:sldId id="2393" r:id="rId56"/>
    <p:sldId id="2394" r:id="rId57"/>
    <p:sldId id="2395" r:id="rId58"/>
    <p:sldId id="2396" r:id="rId59"/>
    <p:sldId id="2397" r:id="rId60"/>
    <p:sldId id="2398" r:id="rId61"/>
    <p:sldId id="2399" r:id="rId62"/>
    <p:sldId id="2400" r:id="rId63"/>
    <p:sldId id="2401" r:id="rId64"/>
    <p:sldId id="2402" r:id="rId65"/>
    <p:sldId id="2403" r:id="rId6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82161" autoAdjust="0"/>
  </p:normalViewPr>
  <p:slideViewPr>
    <p:cSldViewPr snapToGrid="0" showGuides="1">
      <p:cViewPr varScale="1">
        <p:scale>
          <a:sx n="88" d="100"/>
          <a:sy n="88" d="100"/>
        </p:scale>
        <p:origin x="37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Constellation design process </a:t>
            </a:r>
            <a:r>
              <a:rPr lang="ko-KR" altLang="en-US" dirty="0"/>
              <a:t>구성도에 기반하여</a:t>
            </a:r>
            <a:r>
              <a:rPr lang="en-US" altLang="ko-KR" dirty="0"/>
              <a:t> </a:t>
            </a:r>
            <a:r>
              <a:rPr lang="ko-KR" altLang="en-US" dirty="0"/>
              <a:t>단계별로 학습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임무 목표는 다음과 같이 크게 네 개로 구성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이에 따른 제한조건은 궤도의 고도</a:t>
            </a:r>
            <a:r>
              <a:rPr lang="en-US" altLang="ko-KR" dirty="0"/>
              <a:t>, </a:t>
            </a:r>
            <a:r>
              <a:rPr lang="ko-KR" altLang="en-US" dirty="0"/>
              <a:t>평면당 배치되는 위성 수</a:t>
            </a:r>
            <a:r>
              <a:rPr lang="en-US" altLang="ko-KR" dirty="0"/>
              <a:t>, </a:t>
            </a:r>
            <a:r>
              <a:rPr lang="ko-KR" altLang="en-US" dirty="0" err="1"/>
              <a:t>지상국</a:t>
            </a:r>
            <a:r>
              <a:rPr lang="ko-KR" altLang="en-US" dirty="0"/>
              <a:t> 고도 제한조건</a:t>
            </a:r>
            <a:r>
              <a:rPr lang="en-US" altLang="ko-KR" dirty="0"/>
              <a:t>, DP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고도나 평면 당 위성의 수 같은 경우에는 </a:t>
            </a:r>
            <a:r>
              <a:rPr lang="ko-KR" altLang="en-US" dirty="0" err="1"/>
              <a:t>제한조건이라기</a:t>
            </a:r>
            <a:r>
              <a:rPr lang="ko-KR" altLang="en-US" dirty="0"/>
              <a:t> 보단 시뮬레이션 진행할 때</a:t>
            </a:r>
            <a:r>
              <a:rPr lang="en-US" altLang="ko-KR" dirty="0"/>
              <a:t>, </a:t>
            </a:r>
            <a:r>
              <a:rPr lang="ko-KR" altLang="en-US" dirty="0"/>
              <a:t>논문에서 설정한 숫자범위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두번째로 </a:t>
            </a:r>
            <a:r>
              <a:rPr lang="en-US" altLang="ko-KR" dirty="0"/>
              <a:t>Sensor</a:t>
            </a:r>
            <a:r>
              <a:rPr lang="ko-KR" altLang="en-US" dirty="0"/>
              <a:t>의 특성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DP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el-GR" altLang="ko-KR" sz="1200" dirty="0"/>
              <a:t>μ</a:t>
            </a:r>
            <a:r>
              <a:rPr lang="en-US" altLang="ko-KR" sz="1200" dirty="0"/>
              <a:t>m</a:t>
            </a:r>
            <a:r>
              <a:rPr lang="ko-KR" altLang="en-US" sz="1200" dirty="0"/>
              <a:t>로 고정되었을 경우 </a:t>
            </a:r>
            <a:r>
              <a:rPr lang="en-US" altLang="ko-KR" sz="1200" dirty="0"/>
              <a:t>Focal length</a:t>
            </a:r>
            <a:r>
              <a:rPr lang="ko-KR" altLang="en-US" sz="1200" dirty="0"/>
              <a:t>를 조정하여 </a:t>
            </a:r>
            <a:r>
              <a:rPr lang="en-US" altLang="ko-KR" sz="1200" dirty="0"/>
              <a:t>GSD</a:t>
            </a:r>
            <a:r>
              <a:rPr lang="ko-KR" altLang="en-US" sz="1200" dirty="0"/>
              <a:t> 영역 설정 가능</a:t>
            </a:r>
            <a:endParaRPr lang="en-US" altLang="ko-KR" sz="1200" dirty="0"/>
          </a:p>
          <a:p>
            <a:endParaRPr lang="en-US" altLang="ko-KR" dirty="0"/>
          </a:p>
          <a:p>
            <a:r>
              <a:rPr lang="en-US" altLang="ko-KR" dirty="0"/>
              <a:t>FOV</a:t>
            </a:r>
            <a:r>
              <a:rPr lang="ko-KR" altLang="en-US" dirty="0"/>
              <a:t>는 다음과 같이 두 종류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시뮬레이션 방법에는</a:t>
            </a:r>
            <a:r>
              <a:rPr lang="en-US" altLang="ko-KR" dirty="0"/>
              <a:t>, </a:t>
            </a:r>
            <a:r>
              <a:rPr lang="ko-KR" altLang="en-US" dirty="0"/>
              <a:t>사용한 소프트웨어에</a:t>
            </a:r>
            <a:r>
              <a:rPr lang="en-US" altLang="ko-KR" dirty="0"/>
              <a:t> </a:t>
            </a:r>
            <a:r>
              <a:rPr lang="ko-KR" altLang="en-US" dirty="0"/>
              <a:t>대한 설명 외에는 자세히 나와있지 않음</a:t>
            </a:r>
            <a:endParaRPr lang="en-US" altLang="ko-KR" dirty="0"/>
          </a:p>
          <a:p>
            <a:r>
              <a:rPr lang="en-US" altLang="ko-KR" dirty="0"/>
              <a:t>STK </a:t>
            </a:r>
            <a:r>
              <a:rPr lang="ko-KR" altLang="en-US" dirty="0"/>
              <a:t>시뮬레이션 진행 </a:t>
            </a:r>
            <a:r>
              <a:rPr lang="en-US" altLang="ko-KR" dirty="0"/>
              <a:t>-&gt; 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분석 </a:t>
            </a:r>
            <a:r>
              <a:rPr lang="en-US" altLang="ko-KR" dirty="0"/>
              <a:t>-&gt; data</a:t>
            </a:r>
          </a:p>
          <a:p>
            <a:endParaRPr lang="en-US" altLang="ko-KR" dirty="0"/>
          </a:p>
          <a:p>
            <a:r>
              <a:rPr lang="ko-KR" altLang="en-US" dirty="0"/>
              <a:t>이 방법을 이용하여 </a:t>
            </a:r>
            <a:r>
              <a:rPr lang="en-US" altLang="ko-KR" dirty="0"/>
              <a:t>(4)</a:t>
            </a:r>
            <a:r>
              <a:rPr lang="ko-KR" altLang="en-US" dirty="0"/>
              <a:t>에서 궤도를 결정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임무 목표 달성을 위해 다음 </a:t>
            </a:r>
            <a:r>
              <a:rPr lang="en-US" altLang="ko-KR" dirty="0"/>
              <a:t>3</a:t>
            </a:r>
            <a:r>
              <a:rPr lang="ko-KR" altLang="en-US" dirty="0"/>
              <a:t>가지의 궤도를 설정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아래의 운용개념에 따라 각각의 성능지수를 도출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SSO</a:t>
            </a:r>
          </a:p>
          <a:p>
            <a:pPr marL="228600" indent="-228600">
              <a:buAutoNum type="arabicPeriod"/>
            </a:pPr>
            <a:r>
              <a:rPr lang="en-US" altLang="ko-KR" dirty="0"/>
              <a:t>MIO</a:t>
            </a:r>
          </a:p>
          <a:p>
            <a:pPr marL="228600" indent="-228600">
              <a:buAutoNum type="arabicPeriod"/>
            </a:pPr>
            <a:r>
              <a:rPr lang="en-US" altLang="ko-KR" dirty="0"/>
              <a:t>MEO</a:t>
            </a:r>
          </a:p>
          <a:p>
            <a:pPr marL="228600" indent="-228600">
              <a:buAutoNum type="arabicPeriod"/>
            </a:pPr>
            <a:r>
              <a:rPr lang="en-US" altLang="ko-KR" dirty="0"/>
              <a:t>SRT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3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Imaging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</a:t>
            </a:r>
            <a:r>
              <a:rPr lang="ko-KR" altLang="en-US" dirty="0"/>
              <a:t>고도</a:t>
            </a:r>
            <a:r>
              <a:rPr lang="en-US" altLang="ko-KR" dirty="0"/>
              <a:t>, </a:t>
            </a:r>
            <a:r>
              <a:rPr lang="ko-KR" altLang="en-US" dirty="0"/>
              <a:t>위성수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(FOV, </a:t>
            </a:r>
            <a:r>
              <a:rPr lang="ko-KR" altLang="en-US" dirty="0"/>
              <a:t>초점거리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133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(FOV, </a:t>
            </a:r>
            <a:r>
              <a:rPr lang="ko-KR" altLang="en-US" dirty="0"/>
              <a:t>초점거리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3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(FOV, </a:t>
            </a:r>
            <a:r>
              <a:rPr lang="ko-KR" altLang="en-US" dirty="0"/>
              <a:t>초점거리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(FOV, </a:t>
            </a:r>
            <a:r>
              <a:rPr lang="ko-KR" altLang="en-US" dirty="0"/>
              <a:t>초점거리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825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커버리지에</a:t>
            </a:r>
            <a:r>
              <a:rPr lang="ko-KR" altLang="en-US" dirty="0"/>
              <a:t> 영향주는 요소 </a:t>
            </a:r>
            <a:r>
              <a:rPr lang="en-US" altLang="ko-KR" dirty="0"/>
              <a:t>(FOV, </a:t>
            </a:r>
            <a:r>
              <a:rPr lang="ko-KR" altLang="en-US" dirty="0"/>
              <a:t>초점거리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앞의 논문에서는 글로벌 커버리지 비율 및 </a:t>
            </a:r>
            <a:r>
              <a:rPr lang="en-US" altLang="ko-KR" dirty="0"/>
              <a:t>SRT</a:t>
            </a:r>
            <a:r>
              <a:rPr lang="ko-KR" altLang="en-US" dirty="0"/>
              <a:t>성능 향상이 주 목적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여기서는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093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211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GSD(ground sample distance) :  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영상의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픽셀이 지상에서 가지는 실제 거리</a:t>
            </a:r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X-band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dirty="0"/>
              <a:t>8.5 ~ 10.4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L-band(</a:t>
            </a:r>
            <a:r>
              <a:rPr lang="en-US" altLang="ko-KR" dirty="0"/>
              <a:t>40~60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Push broom : device for obtaining images with </a:t>
            </a:r>
            <a:r>
              <a:rPr lang="en-US" altLang="ko-KR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spectroscopic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sensors.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4826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AIS : </a:t>
            </a:r>
            <a:r>
              <a:rPr lang="ko-KR" altLang="en-US" dirty="0"/>
              <a:t>항공정보</a:t>
            </a:r>
            <a:r>
              <a:rPr lang="en-US" altLang="ko-KR" dirty="0"/>
              <a:t>, </a:t>
            </a:r>
            <a:r>
              <a:rPr lang="ko-KR" altLang="en-US" dirty="0"/>
              <a:t>선박자동식별장치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5412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572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농작물 모니터링</a:t>
            </a:r>
            <a:r>
              <a:rPr lang="en-US" altLang="ko-KR" dirty="0"/>
              <a:t>, </a:t>
            </a:r>
            <a:r>
              <a:rPr lang="ko-KR" altLang="en-US" dirty="0"/>
              <a:t>산림 구조 모델링</a:t>
            </a:r>
            <a:r>
              <a:rPr lang="en-US" altLang="ko-KR" dirty="0"/>
              <a:t>, biomass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/>
              <a:t>토양 수분 탐지 및 선박 탐지 등 고해상도 감시 및 광범위한 해양 감시 등의 프로그램 제공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MIMO (Multi-Input Multi-Output)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482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 NESZ : noise equivalent sigma zero (SAR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시스템 민감도에 관한 지표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1297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06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항목 추가할 것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논문의 결론에 더해</a:t>
            </a:r>
            <a:r>
              <a:rPr lang="en-US" altLang="ko-KR" sz="1200" dirty="0"/>
              <a:t>, </a:t>
            </a:r>
            <a:r>
              <a:rPr lang="ko-KR" altLang="en-US" sz="1200" dirty="0"/>
              <a:t>본 논문의 내용 중 어떤 부분을 본인의 연구에 어떻게 적용할 수 있는지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953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294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44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827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36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7662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2169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1493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항목 추가할 것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논문의 결론에 더해</a:t>
            </a:r>
            <a:r>
              <a:rPr lang="en-US" altLang="ko-KR" sz="1200" dirty="0"/>
              <a:t>, </a:t>
            </a:r>
            <a:r>
              <a:rPr lang="ko-KR" altLang="en-US" sz="1200" dirty="0"/>
              <a:t>본 논문의 내용 중 어떤 부분을 본인의 연구에 어떻게 적용할 수 있는지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문서양식 수정 완료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내용 보완 및 다음 사항 추가 할 것</a:t>
            </a:r>
            <a:endParaRPr lang="en-US" altLang="ko-KR" dirty="0"/>
          </a:p>
          <a:p>
            <a:endParaRPr lang="en-US" altLang="ko-KR" dirty="0"/>
          </a:p>
          <a:p>
            <a:pPr latinLnBrk="1"/>
            <a:r>
              <a:rPr lang="ko-KR" altLang="en-US" sz="1200" dirty="0"/>
              <a:t>논문의 핵심이 표현되는 그래프</a:t>
            </a:r>
            <a:r>
              <a:rPr lang="en-US" altLang="ko-KR" sz="1200" dirty="0"/>
              <a:t>, </a:t>
            </a:r>
            <a:r>
              <a:rPr lang="ko-KR" altLang="en-US" sz="1200" dirty="0"/>
              <a:t>표</a:t>
            </a:r>
            <a:r>
              <a:rPr lang="en-US" altLang="ko-KR" sz="1200" dirty="0"/>
              <a:t>, </a:t>
            </a:r>
            <a:r>
              <a:rPr lang="ko-KR" altLang="en-US" sz="1200" dirty="0"/>
              <a:t>그림 등이 자료에 없음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논문의 핵심이 무엇인지 </a:t>
            </a:r>
            <a:r>
              <a:rPr lang="en-US" altLang="ko-KR" sz="1200" dirty="0"/>
              <a:t>(</a:t>
            </a:r>
            <a:r>
              <a:rPr lang="ko-KR" altLang="en-US" sz="1200" dirty="0"/>
              <a:t>그림으로 표현</a:t>
            </a:r>
            <a:r>
              <a:rPr lang="en-US" altLang="ko-KR" sz="1200" dirty="0"/>
              <a:t>)</a:t>
            </a:r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시뮬레이션 결과가 있다면</a:t>
            </a:r>
            <a:r>
              <a:rPr lang="en-US" altLang="ko-KR" sz="1200" dirty="0"/>
              <a:t> </a:t>
            </a:r>
            <a:r>
              <a:rPr lang="ko-KR" altLang="en-US" sz="1200" dirty="0"/>
              <a:t>자료에 포함할 것</a:t>
            </a:r>
            <a:endParaRPr lang="en-US" altLang="ko-KR" sz="1200" dirty="0"/>
          </a:p>
          <a:p>
            <a:pPr marL="285750" indent="-285750" latinLnBrk="1">
              <a:buFontTx/>
              <a:buChar char="-"/>
            </a:pPr>
            <a:r>
              <a:rPr lang="ko-KR" altLang="en-US" sz="1200" dirty="0"/>
              <a:t>방법론만을 리뷰한 논문이라면 논문에서 인용한 참고문헌을 포함할 것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616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다음 사항 추가할 것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‘</a:t>
            </a:r>
            <a:r>
              <a:rPr lang="ko-KR" altLang="en-US" sz="1200" dirty="0"/>
              <a:t>하지만 재구성 설계에 대한 모델 및 지표가 없는 것이 한계</a:t>
            </a:r>
            <a:r>
              <a:rPr lang="en-US" altLang="ko-KR" sz="1200" dirty="0"/>
              <a:t>’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200" dirty="0" err="1"/>
              <a:t>를</a:t>
            </a:r>
            <a:r>
              <a:rPr lang="ko-KR" altLang="en-US" sz="1200" dirty="0"/>
              <a:t> 어떻게 극복하여 본인의 연구에 적용할 수 있을지</a:t>
            </a:r>
            <a:r>
              <a:rPr lang="en-US" altLang="ko-KR" sz="1200" dirty="0"/>
              <a:t>?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9706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GSD(ground sample distance) :  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영상의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픽셀이 지상에서 가지는 실제 거리</a:t>
            </a:r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X-band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ko-KR" dirty="0"/>
              <a:t>8.5 ~ 10.4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L-band(</a:t>
            </a:r>
            <a:r>
              <a:rPr lang="en-US" altLang="ko-KR" dirty="0"/>
              <a:t>40~60 GHz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endParaRPr lang="en-US" altLang="ko-KR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Push broom : device for obtaining images with </a:t>
            </a:r>
            <a:r>
              <a:rPr lang="en-US" altLang="ko-KR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</a:rPr>
              <a:t>spectroscopic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sensors.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0253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AIS : </a:t>
            </a:r>
            <a:r>
              <a:rPr lang="ko-KR" altLang="en-US" dirty="0"/>
              <a:t>항공정보</a:t>
            </a:r>
            <a:r>
              <a:rPr lang="en-US" altLang="ko-KR" dirty="0"/>
              <a:t>, </a:t>
            </a:r>
            <a:r>
              <a:rPr lang="ko-KR" altLang="en-US" dirty="0"/>
              <a:t>선박자동식별장치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농작물 모니터링</a:t>
            </a:r>
            <a:r>
              <a:rPr lang="en-US" altLang="ko-KR" dirty="0"/>
              <a:t>, </a:t>
            </a:r>
            <a:r>
              <a:rPr lang="ko-KR" altLang="en-US" dirty="0"/>
              <a:t>산림 구조 모델링</a:t>
            </a:r>
            <a:r>
              <a:rPr lang="en-US" altLang="ko-KR" dirty="0"/>
              <a:t>, biomass </a:t>
            </a:r>
            <a:r>
              <a:rPr lang="ko-KR" altLang="en-US" dirty="0"/>
              <a:t>추정</a:t>
            </a:r>
            <a:r>
              <a:rPr lang="en-US" altLang="ko-KR" dirty="0"/>
              <a:t>, </a:t>
            </a:r>
            <a:r>
              <a:rPr lang="ko-KR" altLang="en-US" dirty="0"/>
              <a:t>토양 수분 탐지 및 선박 탐지 등 고해상도 감시 및 광범위한 해양 감시 등의 프로그램 제공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MIMO (Multi-Input Multi-Output)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6507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 NESZ : noise equivalent sigma zero (SAR </a:t>
            </a:r>
            <a:r>
              <a:rPr lang="ko-KR" altLang="en-US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시스템 민감도에 관한 지표</a:t>
            </a:r>
            <a:r>
              <a:rPr lang="en-US" altLang="ko-KR" b="0" i="0" dirty="0">
                <a:solidFill>
                  <a:srgbClr val="444444"/>
                </a:solidFill>
                <a:effectLst/>
                <a:latin typeface="Open sans" panose="020B0604020202020204" pitchFamily="34" charset="0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4790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52193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953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2946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24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2023-04-13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2023.04.13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 위성군의 설계 최적화 및 운용 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세 편의 논문을 아래와 같이 선별함</a:t>
            </a:r>
            <a:endParaRPr lang="en-US" altLang="ko-KR" sz="1800" dirty="0"/>
          </a:p>
          <a:p>
            <a:pPr lvl="2"/>
            <a:r>
              <a:rPr lang="en-US" altLang="ko-KR" b="1" dirty="0"/>
              <a:t>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</a:p>
          <a:p>
            <a:pPr lvl="2"/>
            <a:r>
              <a:rPr lang="en-US" altLang="ko-KR" dirty="0"/>
              <a:t>Research on the configuration design method of heterogeneous constellation reconstruction under the multiple objective and multiple constraint, 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  <a:endParaRPr lang="ko-KR" altLang="en-US" dirty="0"/>
          </a:p>
          <a:p>
            <a:pPr lvl="2"/>
            <a:r>
              <a:rPr lang="en-US" altLang="ko-KR" b="1" dirty="0"/>
              <a:t>The UrtheCast SAR-XL Multi-Band, Multi-Aperture, 2017, Peter Fox, Keith Beckett</a:t>
            </a:r>
          </a:p>
          <a:p>
            <a:pPr lvl="4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505912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(1) 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디자인 과정 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8E0DC1-8279-79E8-6701-7CD127EC4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0194"/>
            <a:ext cx="9144000" cy="3493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B189E-DC46-E69E-EFBD-9F3E0758E038}"/>
              </a:ext>
            </a:extLst>
          </p:cNvPr>
          <p:cNvSpPr txBox="1"/>
          <p:nvPr/>
        </p:nvSpPr>
        <p:spPr>
          <a:xfrm>
            <a:off x="139700" y="16633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C917C6-EFA8-9B1E-5BA4-C18D134BDC5C}"/>
              </a:ext>
            </a:extLst>
          </p:cNvPr>
          <p:cNvSpPr txBox="1"/>
          <p:nvPr/>
        </p:nvSpPr>
        <p:spPr>
          <a:xfrm>
            <a:off x="1740756" y="334097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D4704-FE8B-0C1E-7B1D-108D26E6DE3F}"/>
              </a:ext>
            </a:extLst>
          </p:cNvPr>
          <p:cNvSpPr txBox="1"/>
          <p:nvPr/>
        </p:nvSpPr>
        <p:spPr>
          <a:xfrm>
            <a:off x="2787006" y="4377807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(4)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498F6A-80D3-4979-28E0-84F9880EDF57}"/>
              </a:ext>
            </a:extLst>
          </p:cNvPr>
          <p:cNvSpPr txBox="1"/>
          <p:nvPr/>
        </p:nvSpPr>
        <p:spPr>
          <a:xfrm>
            <a:off x="5939461" y="4378832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(3)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21EED1-5953-B105-63ED-2DB925C778C5}"/>
              </a:ext>
            </a:extLst>
          </p:cNvPr>
          <p:cNvSpPr txBox="1"/>
          <p:nvPr/>
        </p:nvSpPr>
        <p:spPr>
          <a:xfrm>
            <a:off x="2869198" y="1609711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(5)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48C22-1B23-770B-607E-8C4B3C0EBCA1}"/>
              </a:ext>
            </a:extLst>
          </p:cNvPr>
          <p:cNvSpPr txBox="1"/>
          <p:nvPr/>
        </p:nvSpPr>
        <p:spPr>
          <a:xfrm>
            <a:off x="6162424" y="1612095"/>
            <a:ext cx="445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(6)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103662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</a:t>
            </a:r>
          </a:p>
          <a:p>
            <a:pPr lvl="1"/>
            <a:r>
              <a:rPr lang="en-US" altLang="ko-KR" dirty="0"/>
              <a:t>Global Coverage 100% </a:t>
            </a:r>
            <a:r>
              <a:rPr lang="ko-KR" altLang="en-US" dirty="0"/>
              <a:t>커버를 달성하는 광학</a:t>
            </a:r>
            <a:r>
              <a:rPr lang="en-US" altLang="ko-KR" dirty="0"/>
              <a:t> imaging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특정 공간 해상도를 달성하는데 필요한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 지정</a:t>
            </a:r>
            <a:endParaRPr lang="en-US" altLang="ko-KR" dirty="0"/>
          </a:p>
          <a:p>
            <a:pPr lvl="1"/>
            <a:r>
              <a:rPr lang="en-US" altLang="ko-KR" dirty="0"/>
              <a:t>SRT</a:t>
            </a:r>
            <a:r>
              <a:rPr lang="ko-KR" altLang="en-US" dirty="0"/>
              <a:t>를 줄이기 위한 최상의 적도 평면 상의 </a:t>
            </a:r>
            <a:r>
              <a:rPr lang="en-US" altLang="ko-KR" dirty="0"/>
              <a:t>Relay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신호 송수신을 위한 지상국의 위치 설정</a:t>
            </a:r>
            <a:endParaRPr lang="en-US" altLang="ko-KR" dirty="0"/>
          </a:p>
          <a:p>
            <a:r>
              <a:rPr lang="en-US" altLang="ko-KR" dirty="0"/>
              <a:t>Constraints</a:t>
            </a:r>
          </a:p>
          <a:p>
            <a:pPr lvl="1"/>
            <a:r>
              <a:rPr lang="en-US" altLang="ko-KR" dirty="0"/>
              <a:t>SSO : 200~1200km (Imaging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MEO : 8000km (Relay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평면 당 위성의</a:t>
            </a:r>
            <a:r>
              <a:rPr lang="en-US" altLang="ko-KR" dirty="0"/>
              <a:t> </a:t>
            </a:r>
            <a:r>
              <a:rPr lang="ko-KR" altLang="en-US" dirty="0"/>
              <a:t>수 </a:t>
            </a:r>
            <a:r>
              <a:rPr lang="en-US" altLang="ko-KR" dirty="0"/>
              <a:t>: 2~6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/>
            <a:r>
              <a:rPr lang="ko-KR" altLang="en-US" dirty="0" err="1"/>
              <a:t>지상국</a:t>
            </a:r>
            <a:r>
              <a:rPr lang="ko-KR" altLang="en-US" dirty="0"/>
              <a:t> 고도 </a:t>
            </a:r>
            <a:r>
              <a:rPr lang="en-US" altLang="ko-KR" dirty="0"/>
              <a:t>: 10</a:t>
            </a:r>
            <a:r>
              <a:rPr lang="ko-KR" altLang="en-US" dirty="0"/>
              <a:t>˚ 이상</a:t>
            </a:r>
            <a:endParaRPr lang="en-US" altLang="ko-KR" dirty="0"/>
          </a:p>
          <a:p>
            <a:pPr lvl="1"/>
            <a:r>
              <a:rPr lang="en-US" altLang="ko-KR" dirty="0"/>
              <a:t>Detector Pitch(DP) :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times" panose="02020603050405020304" pitchFamily="18" charset="0"/>
              </a:rPr>
              <a:t>1 </a:t>
            </a:r>
            <a:r>
              <a:rPr lang="el-GR" altLang="ko-KR" sz="1800" dirty="0"/>
              <a:t>μ</a:t>
            </a:r>
            <a:r>
              <a:rPr lang="en-US" altLang="ko-KR" sz="1800" dirty="0"/>
              <a:t>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Remote Sensing Sensor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643497" y="1754681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682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1CEE2D5-7E40-9833-470A-DA0C07B6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77" y="1745507"/>
            <a:ext cx="4743450" cy="37433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276434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(3) Orbital Mechanics and Simulate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 안에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분석함</a:t>
            </a:r>
            <a:r>
              <a:rPr lang="en-US" altLang="ko-KR" dirty="0"/>
              <a:t>.</a:t>
            </a:r>
            <a:r>
              <a:rPr lang="ko-KR" altLang="en-US" dirty="0"/>
              <a:t> 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또는 두개의 </a:t>
            </a:r>
            <a:r>
              <a:rPr lang="en-US" altLang="ko-KR" dirty="0"/>
              <a:t>DV</a:t>
            </a:r>
            <a:r>
              <a:rPr lang="ko-KR" altLang="en-US" dirty="0"/>
              <a:t>를 실행시키면 각 값에서 </a:t>
            </a:r>
            <a:r>
              <a:rPr lang="en-US" altLang="ko-KR" dirty="0"/>
              <a:t>MOP</a:t>
            </a:r>
            <a:r>
              <a:rPr lang="ko-KR" altLang="en-US" dirty="0"/>
              <a:t> 통계가 수집됨  </a:t>
            </a:r>
            <a:endParaRPr lang="en-US" altLang="ko-KR" dirty="0"/>
          </a:p>
          <a:p>
            <a:pPr lvl="2"/>
            <a:r>
              <a:rPr lang="en-US" altLang="ko-KR" dirty="0"/>
              <a:t>DV(Design Variable) : </a:t>
            </a:r>
            <a:r>
              <a:rPr lang="ko-KR" altLang="en-US" dirty="0"/>
              <a:t>위성군을 설계하는데 있어 </a:t>
            </a:r>
            <a:r>
              <a:rPr lang="en-US" altLang="ko-KR" dirty="0"/>
              <a:t>input</a:t>
            </a:r>
            <a:r>
              <a:rPr lang="ko-KR" altLang="en-US" dirty="0"/>
              <a:t>으로 적용되는 설계 변수로</a:t>
            </a:r>
            <a:r>
              <a:rPr lang="en-US" altLang="ko-KR" dirty="0"/>
              <a:t>, </a:t>
            </a:r>
            <a:r>
              <a:rPr lang="ko-KR" altLang="en-US" dirty="0"/>
              <a:t>최적화를 위해 값을 조정하여 입력</a:t>
            </a:r>
            <a:endParaRPr lang="en-US" altLang="ko-KR" dirty="0"/>
          </a:p>
          <a:p>
            <a:pPr lvl="2"/>
            <a:r>
              <a:rPr lang="en-US" altLang="ko-KR" dirty="0"/>
              <a:t>MOP(Measures of Performances) : </a:t>
            </a:r>
            <a:r>
              <a:rPr lang="ko-KR" altLang="en-US" dirty="0"/>
              <a:t>설계변수</a:t>
            </a:r>
            <a:r>
              <a:rPr lang="en-US" altLang="ko-KR" dirty="0"/>
              <a:t>(DV)</a:t>
            </a:r>
            <a:r>
              <a:rPr lang="ko-KR" altLang="en-US" dirty="0"/>
              <a:t>에 따라 얻을 수 있는 최종 성능지표</a:t>
            </a:r>
            <a:r>
              <a:rPr lang="en-US" altLang="ko-KR" dirty="0"/>
              <a:t>(ex. </a:t>
            </a: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재방문 주기</a:t>
            </a:r>
            <a:r>
              <a:rPr lang="en-US" altLang="ko-KR" dirty="0"/>
              <a:t>, </a:t>
            </a:r>
            <a:r>
              <a:rPr lang="ko-KR" altLang="en-US" dirty="0"/>
              <a:t>센서의 해상도 등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42130"/>
            <a:ext cx="5295900" cy="2215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(4) Orbit types</a:t>
            </a:r>
          </a:p>
          <a:p>
            <a:pPr lvl="1">
              <a:defRPr/>
            </a:pPr>
            <a:r>
              <a:rPr lang="en-US" altLang="ko-KR" b="1" dirty="0"/>
              <a:t>LEO</a:t>
            </a:r>
            <a:r>
              <a:rPr lang="en-US" altLang="ko-KR" dirty="0"/>
              <a:t> (Imaging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Sun Synchronous Orbit(SSO) </a:t>
            </a:r>
          </a:p>
          <a:p>
            <a:pPr lvl="2">
              <a:defRPr/>
            </a:pPr>
            <a:r>
              <a:rPr lang="en-US" altLang="ko-KR" dirty="0"/>
              <a:t>Mid Inclined Orbit(MIO) </a:t>
            </a:r>
            <a:endParaRPr lang="ko-KR" altLang="en-US" dirty="0"/>
          </a:p>
          <a:p>
            <a:pPr lvl="1">
              <a:defRPr/>
            </a:pPr>
            <a:r>
              <a:rPr lang="en-US" altLang="ko-KR" b="1" dirty="0"/>
              <a:t>Circular MEO on Equatorial plane </a:t>
            </a:r>
            <a:r>
              <a:rPr lang="en-US" altLang="ko-KR" dirty="0"/>
              <a:t>(Relay constellation</a:t>
            </a:r>
            <a:r>
              <a:rPr lang="ko-KR" altLang="en-US" dirty="0"/>
              <a:t>에 사용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Medium Earth Orbit(MEO) – 8,000km</a:t>
            </a:r>
          </a:p>
          <a:p>
            <a:r>
              <a:rPr lang="en-US" altLang="ko-KR" dirty="0"/>
              <a:t>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중위도 지역 커버를 위한 </a:t>
            </a:r>
            <a:r>
              <a:rPr lang="en-US" altLang="ko-KR" dirty="0"/>
              <a:t>MEO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배치한 </a:t>
            </a:r>
            <a:r>
              <a:rPr lang="en-US" altLang="ko-KR" dirty="0"/>
              <a:t>Imaging </a:t>
            </a:r>
            <a:r>
              <a:rPr lang="ko-KR" altLang="en-US" dirty="0"/>
              <a:t>위성군에 기반하여 </a:t>
            </a:r>
            <a:r>
              <a:rPr lang="en-US" altLang="ko-KR" dirty="0"/>
              <a:t>ISL</a:t>
            </a:r>
            <a:r>
              <a:rPr lang="ko-KR" altLang="en-US" dirty="0"/>
              <a:t>을 고려한 </a:t>
            </a:r>
            <a:r>
              <a:rPr lang="en-US" altLang="ko-KR" dirty="0"/>
              <a:t>MIO</a:t>
            </a:r>
            <a:r>
              <a:rPr lang="ko-KR" altLang="en-US" dirty="0"/>
              <a:t>궤도의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 분석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4139271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많을수록 커버리지 비율 상승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240247"/>
            <a:ext cx="4027188" cy="29085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Design[1] – Imaging Constellation</a:t>
            </a:r>
          </a:p>
          <a:p>
            <a:pPr lvl="1"/>
            <a:r>
              <a:rPr lang="ko-KR" altLang="en-US" dirty="0"/>
              <a:t>앞에서 얻은 결과 중</a:t>
            </a:r>
            <a:r>
              <a:rPr lang="en-US" altLang="ko-KR" dirty="0"/>
              <a:t>, 600km</a:t>
            </a:r>
            <a:r>
              <a:rPr lang="ko-KR" altLang="en-US" dirty="0"/>
              <a:t>고도에 </a:t>
            </a:r>
            <a:r>
              <a:rPr lang="en-US" altLang="ko-KR" dirty="0"/>
              <a:t>4</a:t>
            </a:r>
            <a:r>
              <a:rPr lang="ko-KR" altLang="en-US" dirty="0"/>
              <a:t>개의 위성으로 설정한 후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1"/>
            <a:r>
              <a:rPr lang="en-US" altLang="ko-KR" dirty="0"/>
              <a:t>DV(FOV, </a:t>
            </a:r>
            <a:r>
              <a:rPr lang="ko-KR" altLang="en-US" dirty="0"/>
              <a:t>초점거리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하지만 일정수준 이상으로는 커버리지 비율이 일정하므로 초점거리 늘릴 필요 없음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E006D4-D423-A6B2-BAD5-FA55A051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199388"/>
            <a:ext cx="3715856" cy="29263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103266-EBAE-C1F0-EAF5-4417603CDB3F}"/>
              </a:ext>
            </a:extLst>
          </p:cNvPr>
          <p:cNvSpPr txBox="1"/>
          <p:nvPr/>
        </p:nvSpPr>
        <p:spPr>
          <a:xfrm>
            <a:off x="1973433" y="5140649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(DP = </a:t>
            </a:r>
            <a:r>
              <a:rPr lang="el-GR" altLang="ko-KR" sz="1000" dirty="0"/>
              <a:t>1 μ</a:t>
            </a:r>
            <a:r>
              <a:rPr lang="en-US" altLang="ko-KR" sz="1000" dirty="0"/>
              <a:t>m, GSD</a:t>
            </a:r>
            <a:r>
              <a:rPr lang="ko-KR" altLang="en-US" sz="1000" dirty="0"/>
              <a:t> </a:t>
            </a:r>
            <a:r>
              <a:rPr lang="en-US" altLang="ko-KR" sz="1000" dirty="0"/>
              <a:t>=</a:t>
            </a:r>
            <a:r>
              <a:rPr lang="ko-KR" altLang="en-US" sz="1000" dirty="0"/>
              <a:t> </a:t>
            </a:r>
            <a:r>
              <a:rPr lang="en-US" altLang="ko-KR" sz="1000" dirty="0"/>
              <a:t>5m)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9408450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Design[2] – Imaging Constellation</a:t>
            </a:r>
          </a:p>
          <a:p>
            <a:pPr lvl="1"/>
            <a:r>
              <a:rPr lang="ko-KR" altLang="en-US" dirty="0"/>
              <a:t>앞의 내용과 같이 </a:t>
            </a:r>
            <a:r>
              <a:rPr lang="en-US" altLang="ko-KR" dirty="0"/>
              <a:t>SSO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배치를 최적화할 수 있지만</a:t>
            </a:r>
            <a:r>
              <a:rPr lang="en-US" altLang="ko-KR" dirty="0"/>
              <a:t> SSO</a:t>
            </a:r>
            <a:r>
              <a:rPr lang="ko-KR" altLang="en-US" dirty="0"/>
              <a:t>궤도만으로는 중위도 지역을 커버하지 못하는 부분이 많음</a:t>
            </a:r>
            <a:endParaRPr lang="en-US" altLang="ko-KR" dirty="0"/>
          </a:p>
          <a:p>
            <a:pPr lvl="1"/>
            <a:r>
              <a:rPr lang="ko-KR" altLang="en-US" dirty="0"/>
              <a:t>따라서 기존 위성군에서 </a:t>
            </a:r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추가하여 중위도 지역의 재방문 주기 및 커버리지 증가율 분석</a:t>
            </a:r>
            <a:r>
              <a:rPr lang="en-US" altLang="ko-KR" dirty="0"/>
              <a:t>(SSO </a:t>
            </a:r>
            <a:r>
              <a:rPr lang="ko-KR" altLang="en-US" dirty="0"/>
              <a:t>궤도와 같은 파라미터</a:t>
            </a:r>
            <a:r>
              <a:rPr lang="en-US" altLang="ko-KR" dirty="0"/>
              <a:t> </a:t>
            </a:r>
            <a:r>
              <a:rPr lang="ko-KR" altLang="en-US" dirty="0"/>
              <a:t>값 적용</a:t>
            </a:r>
            <a:r>
              <a:rPr lang="en-US" altLang="ko-KR" dirty="0"/>
              <a:t>)                          </a:t>
            </a:r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</a:t>
            </a:r>
            <a:r>
              <a:rPr lang="ko-KR" altLang="en-US" dirty="0"/>
              <a:t>평면 당 </a:t>
            </a:r>
            <a:r>
              <a:rPr lang="en-US" altLang="ko-KR" dirty="0"/>
              <a:t>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  <a:r>
              <a:rPr lang="ko-KR" altLang="en-US" dirty="0"/>
              <a:t>→ </a:t>
            </a:r>
            <a:r>
              <a:rPr lang="en-US" altLang="ko-KR" dirty="0"/>
              <a:t>MOP(SSO </a:t>
            </a:r>
            <a:r>
              <a:rPr lang="ko-KR" altLang="en-US" dirty="0"/>
              <a:t>커버리지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관계가 없음</a:t>
            </a:r>
            <a:endParaRPr lang="en-US" altLang="ko-KR" dirty="0"/>
          </a:p>
          <a:p>
            <a:pPr lvl="2"/>
            <a:r>
              <a:rPr lang="en-US" altLang="ko-KR" dirty="0"/>
              <a:t>575km</a:t>
            </a:r>
            <a:r>
              <a:rPr lang="ko-KR" altLang="en-US" dirty="0" err="1"/>
              <a:t>일때</a:t>
            </a:r>
            <a:r>
              <a:rPr lang="ko-KR" altLang="en-US" dirty="0"/>
              <a:t>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커버 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C217E4B-A53F-880C-F8A4-C2E3C485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2984689"/>
            <a:ext cx="3513282" cy="2535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– Imaging Constellation</a:t>
            </a:r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위성군의 최적의 결과 요약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0ABEBC-145F-9503-B511-1679EBAB0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66107"/>
              </p:ext>
            </p:extLst>
          </p:nvPr>
        </p:nvGraphicFramePr>
        <p:xfrm>
          <a:off x="884057" y="1968305"/>
          <a:ext cx="322199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52519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Design[3] – Relay Constellation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접속을</a:t>
            </a:r>
            <a:r>
              <a:rPr lang="en-US" altLang="ko-KR" dirty="0"/>
              <a:t> </a:t>
            </a:r>
            <a:r>
              <a:rPr lang="ko-KR" altLang="en-US" dirty="0"/>
              <a:t>위해 </a:t>
            </a:r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r>
              <a:rPr lang="en-US" altLang="ko-KR" dirty="0"/>
              <a:t>(MEO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8000km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커버리지 비율이 증가함</a:t>
            </a:r>
            <a:endParaRPr lang="en-US" altLang="ko-KR" dirty="0"/>
          </a:p>
          <a:p>
            <a:pPr lvl="2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48C3523-0E86-3235-3EAE-9D742A225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2019491"/>
            <a:ext cx="3638773" cy="2819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Design[4] – SRT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 </a:t>
            </a:r>
            <a:r>
              <a:rPr lang="en-US" altLang="ko-KR" dirty="0"/>
              <a:t>Imaging </a:t>
            </a:r>
            <a:r>
              <a:rPr lang="ko-KR" altLang="en-US" dirty="0"/>
              <a:t>위성군과 비교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이종위성군으로 구성했을 때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때 보다 성능이 좋음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C7B143-750D-AF43-6B2A-92CFB6C8F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98" y="1779267"/>
            <a:ext cx="4706731" cy="32088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A1A565-5EE0-2DA3-86B5-B035A91304C7}"/>
              </a:ext>
            </a:extLst>
          </p:cNvPr>
          <p:cNvSpPr txBox="1"/>
          <p:nvPr/>
        </p:nvSpPr>
        <p:spPr>
          <a:xfrm>
            <a:off x="2608451" y="5009724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05666482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758193"/>
              </p:ext>
            </p:extLst>
          </p:nvPr>
        </p:nvGraphicFramePr>
        <p:xfrm>
          <a:off x="808897" y="1699001"/>
          <a:ext cx="4001288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&lt;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Fox,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1525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기능과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FAB1EB-7860-3BF2-0051-B210F57AA639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5892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68374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9164852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488676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72674004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 err="1"/>
              <a:t>Spotlight,StripMap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63493390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형성하여 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3920035137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37637819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320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 및 향후 연구계획</a:t>
            </a:r>
            <a:endParaRPr lang="en-US" altLang="ko-KR" dirty="0"/>
          </a:p>
          <a:p>
            <a:pPr lvl="1"/>
            <a:r>
              <a:rPr lang="ko-KR" altLang="en-US" dirty="0"/>
              <a:t>각 논문마다 </a:t>
            </a:r>
            <a:r>
              <a:rPr lang="en-US" altLang="ko-KR" dirty="0"/>
              <a:t>Heterogeneous Constellation</a:t>
            </a:r>
            <a:r>
              <a:rPr lang="ko-KR" altLang="en-US" dirty="0"/>
              <a:t>에 대한 정의가 다르므로 이종 위성군의 정확한 정의 파악 및 내용 이해가 필요함</a:t>
            </a:r>
            <a:endParaRPr lang="en-US" altLang="ko-KR" dirty="0"/>
          </a:p>
          <a:p>
            <a:pPr lvl="1"/>
            <a:r>
              <a:rPr lang="ko-KR" altLang="en-US" dirty="0"/>
              <a:t>논문에서 인용한 레퍼런스를 참고하여 구체적인 시뮬레이션 과정 학습</a:t>
            </a:r>
            <a:endParaRPr lang="en-US" altLang="ko-KR" dirty="0"/>
          </a:p>
          <a:p>
            <a:pPr lvl="1"/>
            <a:r>
              <a:rPr lang="ko-KR" altLang="en-US" dirty="0"/>
              <a:t>소프트웨어를 직접 다루어 보면서 </a:t>
            </a:r>
            <a:r>
              <a:rPr lang="en-US" altLang="ko-KR" dirty="0"/>
              <a:t>DV</a:t>
            </a:r>
            <a:r>
              <a:rPr lang="ko-KR" altLang="en-US" dirty="0"/>
              <a:t>에 따른 </a:t>
            </a:r>
            <a:r>
              <a:rPr lang="en-US" altLang="ko-KR" dirty="0"/>
              <a:t>MOP</a:t>
            </a:r>
            <a:r>
              <a:rPr lang="ko-KR" altLang="en-US" dirty="0"/>
              <a:t>가 어떻게 달라지는지 학습</a:t>
            </a:r>
            <a:endParaRPr lang="en-US" altLang="ko-KR" dirty="0"/>
          </a:p>
          <a:p>
            <a:pPr lvl="1"/>
            <a:r>
              <a:rPr lang="ko-KR" altLang="en-US" dirty="0"/>
              <a:t>살펴본 논문 중 연구에 적용하면 좋을 내용 정리</a:t>
            </a:r>
            <a:endParaRPr lang="en-US" altLang="ko-KR" dirty="0"/>
          </a:p>
          <a:p>
            <a:pPr lvl="1"/>
            <a:r>
              <a:rPr lang="ko-KR" altLang="en-US" dirty="0"/>
              <a:t>이종 위성군에 대한 추가 논문 조사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코멘트</a:t>
            </a:r>
            <a:br>
              <a:rPr lang="en-US" altLang="ko-KR" dirty="0"/>
            </a:b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3290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문서양식</a:t>
            </a:r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601155"/>
          <a:ext cx="862965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글상자</a:t>
                      </a:r>
                      <a:r>
                        <a:rPr lang="ko-KR" altLang="en-US" sz="1400" dirty="0"/>
                        <a:t> 위치를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줄간격</a:t>
                      </a:r>
                      <a:r>
                        <a:rPr lang="ko-KR" altLang="en-US" sz="1400" dirty="0"/>
                        <a:t> 등을 양식에 따를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폰트 크기 등을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참고문헌 표기 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왜곡된 비율의 그림은 수정하여 자료에 삽입할 것</a:t>
                      </a:r>
                      <a:r>
                        <a:rPr lang="en-US" altLang="ko-KR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회의록 양식과 유사도가 상당히 높은데</a:t>
                      </a:r>
                      <a:r>
                        <a:rPr lang="en-US" altLang="ko-KR" sz="1400" dirty="0"/>
                        <a:t>, ‘</a:t>
                      </a:r>
                      <a:r>
                        <a:rPr lang="ko-KR" altLang="en-US" sz="1400" dirty="0"/>
                        <a:t>내용과 양식을 모두 그대로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복사 붙여넣기 한 것은 아닌지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282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(1)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1947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p.2, 3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3-18 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p.5-6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 개의 슬라이드에 요약하여 정리할 것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논문에서 표로 표현되었다는 것은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표로 표현해야 가독성이 높은 내용이라는 뜻임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표는 발표자료에도 표로 옮기고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출처를 표기할 것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6168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‘LEO</a:t>
                      </a:r>
                      <a:r>
                        <a:rPr lang="ko-KR" altLang="en-US" sz="1400" dirty="0"/>
                        <a:t>원격감지 시스템의 명령전달 및 데이터 복구를 다루는 이 논문의 접근 방법은 </a:t>
                      </a:r>
                      <a:r>
                        <a:rPr lang="en-US" altLang="ko-KR" sz="1400" dirty="0"/>
                        <a:t>STK</a:t>
                      </a:r>
                      <a:r>
                        <a:rPr lang="ko-KR" altLang="en-US" sz="1400" dirty="0"/>
                        <a:t>에 분석에 적합함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본인이 수행할 연구목표에 적합한지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결론에 동일한 문장이 있는데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옳게 작성된 문장인지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400" dirty="0"/>
                        <a:t>Coverage, AWB, STK Analyzer</a:t>
                      </a:r>
                      <a:r>
                        <a:rPr lang="ko-KR" altLang="en-US" sz="1400" dirty="0"/>
                        <a:t>가 서로 다른 소프트웨어인지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DV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/>
                        <a:t>MOP</a:t>
                      </a:r>
                      <a:r>
                        <a:rPr lang="ko-KR" altLang="en-US" sz="1400" dirty="0"/>
                        <a:t>의 정의가 무엇인지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p.4-9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동일한 내용이 반복되는데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한 슬라이드로 요약할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p.10-17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가장 주요한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본 논문의 핵심이 되는 </a:t>
                      </a:r>
                      <a:r>
                        <a:rPr lang="en-US" altLang="ko-KR" sz="1400" dirty="0"/>
                        <a:t>or </a:t>
                      </a:r>
                      <a:r>
                        <a:rPr lang="ko-KR" altLang="en-US" sz="1400" dirty="0"/>
                        <a:t>본인의 연구에 적용할 수 있는</a:t>
                      </a:r>
                      <a:r>
                        <a:rPr lang="en-US" altLang="ko-KR" sz="1400" dirty="0"/>
                        <a:t>) figure</a:t>
                      </a:r>
                      <a:r>
                        <a:rPr lang="ko-KR" altLang="en-US" sz="1400" dirty="0"/>
                        <a:t>를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개 이내로 정리할 것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결론에 더해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본 논문의 내용 중 어떤 부분을 본인의 연구에 어떻게 적용할 수 있는지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1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113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(2)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1372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p.19, 20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20-27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p.22-27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핵심이 표현되는 그래프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등이 자료에 없음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핵심이 무엇인지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그림으로 표현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시뮬레이션 결과가 있다면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자료에 포함할 것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방법론만을 리뷰한 논문이라면 논문에서 인용한 참고문헌을 포함할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p.24-25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Reference (1)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p.5-6</a:t>
                      </a:r>
                      <a:r>
                        <a:rPr lang="ko-KR" altLang="en-US" sz="1400" dirty="0"/>
                        <a:t>에 대한 코멘트와 동일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하지만 재구성 설계에 대한 모델 및 지표가 없는 것이 한계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어떻게 극복하여 본인의 연구에 적용할 수 있을지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684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2023-04-12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2866166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2023.04.12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 위성군의 설계 최적화 및 운용 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세 편의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A Framework for Heterogeneous Satellite Constellation Design for Rapid Response Earth Observations, 2019, Ibrahim Sanad and David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Michelson</a:t>
            </a:r>
          </a:p>
          <a:p>
            <a:pPr lvl="2"/>
            <a:r>
              <a:rPr lang="en-US" altLang="ko-KR" dirty="0"/>
              <a:t>Research on the configuration design method of heterogeneous constellation reconstruction under the multiple objective and multiple constraint, 2017, Shuang Zhao, </a:t>
            </a:r>
            <a:r>
              <a:rPr lang="en-US" altLang="ko-KR" dirty="0" err="1"/>
              <a:t>Yanli</a:t>
            </a:r>
            <a:r>
              <a:rPr lang="en-US" altLang="ko-KR" dirty="0"/>
              <a:t> Xu and </a:t>
            </a:r>
            <a:r>
              <a:rPr lang="en-US" altLang="ko-KR" dirty="0" err="1"/>
              <a:t>Huayu</a:t>
            </a:r>
            <a:r>
              <a:rPr lang="en-US" altLang="ko-KR" dirty="0"/>
              <a:t> Dai</a:t>
            </a:r>
            <a:endParaRPr lang="ko-KR" altLang="en-US" dirty="0"/>
          </a:p>
          <a:p>
            <a:pPr lvl="2"/>
            <a:r>
              <a:rPr lang="en-US" altLang="ko-KR" dirty="0"/>
              <a:t>The UrtheCast SAR-XL Multi-Band, Multi-Aperture, 2017, Peter Fox, Keith Beckett</a:t>
            </a:r>
            <a:endParaRPr lang="en-US" altLang="ko-KR" b="1" dirty="0"/>
          </a:p>
          <a:p>
            <a:pPr lvl="4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(1) A Framework for Heterogeneous Satellite Constellation Design for Rapid Response Earth Observations, 2019, Ibrahim Sanad and David</a:t>
            </a:r>
            <a:r>
              <a:rPr lang="ko-KR" altLang="en-US" b="1" dirty="0"/>
              <a:t> </a:t>
            </a:r>
            <a:r>
              <a:rPr lang="en-US" altLang="ko-KR" b="1" dirty="0"/>
              <a:t>G</a:t>
            </a:r>
            <a:r>
              <a:rPr lang="ko-KR" altLang="en-US" b="1" dirty="0"/>
              <a:t> </a:t>
            </a:r>
            <a:r>
              <a:rPr lang="en-US" altLang="ko-KR" b="1" dirty="0"/>
              <a:t>Michelson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23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 </a:t>
            </a:r>
          </a:p>
          <a:p>
            <a:pPr lvl="1"/>
            <a:r>
              <a:rPr lang="ko-KR" altLang="en-US" dirty="0"/>
              <a:t>이종 위성군의 운용목표인 신속성과 직결되는 </a:t>
            </a:r>
            <a:r>
              <a:rPr lang="en-US" altLang="ko-KR" dirty="0"/>
              <a:t>SRT</a:t>
            </a:r>
            <a:r>
              <a:rPr lang="ko-KR" altLang="en-US" dirty="0"/>
              <a:t>의 개념</a:t>
            </a:r>
            <a:r>
              <a:rPr lang="en-US" altLang="ko-KR" dirty="0"/>
              <a:t>, </a:t>
            </a:r>
            <a:r>
              <a:rPr lang="ko-KR" altLang="en-US" dirty="0"/>
              <a:t>구성요소 및 단축 방법 등에 대한 내용을 기술한 후 이를 바탕으로 한 위성군의 설계 방법</a:t>
            </a:r>
            <a:r>
              <a:rPr lang="en-US" altLang="ko-KR" dirty="0"/>
              <a:t>, </a:t>
            </a:r>
            <a:r>
              <a:rPr lang="ko-KR" altLang="en-US" dirty="0"/>
              <a:t>그리고 해당 방법을 적용하여 시뮬레이션 하였을 때 파라미터의 값에 따른 성능 지수의 변화 결과 및 향후 작업에 대한 권고사항을 포함한다</a:t>
            </a:r>
            <a:r>
              <a:rPr lang="en-US" altLang="ko-KR" dirty="0"/>
              <a:t>. 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자연안보와 관련된 사항에 신속하게 대응하기 위해 </a:t>
            </a:r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r>
              <a:rPr lang="en-US" altLang="ko-KR" dirty="0"/>
              <a:t>. </a:t>
            </a:r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166240900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종류 및 주요기능</a:t>
            </a:r>
          </a:p>
          <a:p>
            <a:pPr lvl="1"/>
            <a:r>
              <a:rPr lang="en-US" altLang="ko-KR" dirty="0"/>
              <a:t>Imaging constellation</a:t>
            </a:r>
          </a:p>
          <a:p>
            <a:pPr lvl="2"/>
            <a:r>
              <a:rPr lang="ko-KR" altLang="en-US" dirty="0"/>
              <a:t>고해상도 영상을 촬영함</a:t>
            </a:r>
            <a:endParaRPr lang="en-US" altLang="ko-KR" dirty="0"/>
          </a:p>
          <a:p>
            <a:pPr lvl="2"/>
            <a:r>
              <a:rPr lang="en-US" altLang="ko-KR" dirty="0"/>
              <a:t>SSO(Sun Synchronous Orbit)</a:t>
            </a:r>
            <a:r>
              <a:rPr lang="ko-KR" altLang="en-US" dirty="0"/>
              <a:t>와 </a:t>
            </a:r>
            <a:r>
              <a:rPr lang="en-US" altLang="ko-KR" dirty="0"/>
              <a:t>MIO(Mid Inclined Orbit)</a:t>
            </a:r>
            <a:r>
              <a:rPr lang="ko-KR" altLang="en-US" dirty="0"/>
              <a:t>에 배치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Relay constellation</a:t>
            </a:r>
          </a:p>
          <a:p>
            <a:pPr lvl="2"/>
            <a:r>
              <a:rPr lang="en-US" altLang="ko-KR" dirty="0"/>
              <a:t>Uplink</a:t>
            </a:r>
            <a:r>
              <a:rPr lang="ko-KR" altLang="en-US" dirty="0"/>
              <a:t>를 통해 지상국에서부터 위성으로 명령을 전달함</a:t>
            </a:r>
            <a:endParaRPr lang="en-US" altLang="ko-KR" dirty="0"/>
          </a:p>
          <a:p>
            <a:pPr lvl="2"/>
            <a:r>
              <a:rPr lang="en-US" altLang="ko-KR" dirty="0"/>
              <a:t>Downlink</a:t>
            </a:r>
            <a:r>
              <a:rPr lang="ko-KR" altLang="en-US" dirty="0"/>
              <a:t>를 통해 위성에서부터 지상국으로 </a:t>
            </a:r>
            <a:r>
              <a:rPr lang="en-US" altLang="ko-KR" dirty="0"/>
              <a:t>Data</a:t>
            </a:r>
            <a:r>
              <a:rPr lang="ko-KR" altLang="en-US" dirty="0"/>
              <a:t>를 전송함</a:t>
            </a:r>
            <a:endParaRPr lang="en-US" altLang="ko-KR" dirty="0"/>
          </a:p>
          <a:p>
            <a:pPr lvl="2"/>
            <a:r>
              <a:rPr lang="ko-KR" altLang="en-US" dirty="0"/>
              <a:t>적도</a:t>
            </a:r>
            <a:r>
              <a:rPr lang="en-US" altLang="ko-KR" dirty="0"/>
              <a:t> </a:t>
            </a:r>
            <a:r>
              <a:rPr lang="ko-KR" altLang="en-US" dirty="0"/>
              <a:t>평면상의 </a:t>
            </a:r>
            <a:r>
              <a:rPr lang="en-US" altLang="ko-KR" dirty="0"/>
              <a:t>MEO(Medium Earth Orbit)</a:t>
            </a:r>
            <a:r>
              <a:rPr lang="ko-KR" altLang="en-US" dirty="0"/>
              <a:t>에 배치 </a:t>
            </a:r>
            <a:r>
              <a:rPr lang="en-US" altLang="ko-KR" dirty="0"/>
              <a:t>– altitude : 8000km</a:t>
            </a:r>
          </a:p>
          <a:p>
            <a:pPr lvl="3">
              <a:lnSpc>
                <a:spcPct val="150000"/>
              </a:lnSpc>
              <a:defRPr/>
            </a:pP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0AB72EB-4E56-F94E-D3EA-2C053615AFFA}"/>
              </a:ext>
            </a:extLst>
          </p:cNvPr>
          <p:cNvGraphicFramePr>
            <a:graphicFrameLocks noGrp="1"/>
          </p:cNvGraphicFramePr>
          <p:nvPr/>
        </p:nvGraphicFramePr>
        <p:xfrm>
          <a:off x="1073240" y="2325450"/>
          <a:ext cx="3221991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843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C00884-D0E0-DE28-3155-181143B4FE90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25191392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upper layer </a:t>
            </a:r>
            <a:r>
              <a:rPr lang="ko-KR" altLang="en-US" dirty="0"/>
              <a:t>위성 배치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/>
        </p:nvGraphicFramePr>
        <p:xfrm>
          <a:off x="486122" y="2583626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STK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 안에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분석함</a:t>
            </a:r>
            <a:r>
              <a:rPr lang="en-US" altLang="ko-KR" dirty="0"/>
              <a:t>.</a:t>
            </a:r>
            <a:r>
              <a:rPr lang="ko-KR" altLang="en-US" dirty="0"/>
              <a:t> 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하나 또는 두개의 </a:t>
            </a:r>
            <a:r>
              <a:rPr lang="en-US" altLang="ko-KR" dirty="0"/>
              <a:t>DV</a:t>
            </a:r>
            <a:r>
              <a:rPr lang="ko-KR" altLang="en-US" dirty="0"/>
              <a:t>를 실행시키면 각 값에서 </a:t>
            </a:r>
            <a:r>
              <a:rPr lang="en-US" altLang="ko-KR" dirty="0"/>
              <a:t>MOP</a:t>
            </a:r>
            <a:r>
              <a:rPr lang="ko-KR" altLang="en-US" dirty="0"/>
              <a:t> 통계가 수집됨  </a:t>
            </a:r>
            <a:endParaRPr lang="en-US" altLang="ko-KR" dirty="0"/>
          </a:p>
          <a:p>
            <a:pPr lvl="2"/>
            <a:r>
              <a:rPr lang="en-US" altLang="ko-KR" dirty="0"/>
              <a:t>DV(Design Variable) : </a:t>
            </a:r>
            <a:r>
              <a:rPr lang="ko-KR" altLang="en-US" dirty="0"/>
              <a:t>위성군을 설계하는데 있어 </a:t>
            </a:r>
            <a:r>
              <a:rPr lang="en-US" altLang="ko-KR" dirty="0"/>
              <a:t>input</a:t>
            </a:r>
            <a:r>
              <a:rPr lang="ko-KR" altLang="en-US" dirty="0"/>
              <a:t>으로 적용되는 변수로</a:t>
            </a:r>
            <a:r>
              <a:rPr lang="en-US" altLang="ko-KR" dirty="0"/>
              <a:t>, </a:t>
            </a:r>
            <a:r>
              <a:rPr lang="ko-KR" altLang="en-US" dirty="0"/>
              <a:t>최적화를 위해 값을 조정하는 것이 가능함</a:t>
            </a:r>
            <a:endParaRPr lang="en-US" altLang="ko-KR" dirty="0"/>
          </a:p>
          <a:p>
            <a:pPr lvl="2"/>
            <a:r>
              <a:rPr lang="en-US" altLang="ko-KR" dirty="0"/>
              <a:t>MOP(Measures of Performances) : </a:t>
            </a:r>
            <a:r>
              <a:rPr lang="ko-KR" altLang="en-US" dirty="0"/>
              <a:t>설계변수</a:t>
            </a:r>
            <a:r>
              <a:rPr lang="en-US" altLang="ko-KR" dirty="0"/>
              <a:t>(DV)</a:t>
            </a:r>
            <a:r>
              <a:rPr lang="ko-KR" altLang="en-US" dirty="0"/>
              <a:t>에 따라 얻을 수 있는 최종 성능지표</a:t>
            </a:r>
            <a:r>
              <a:rPr lang="en-US" altLang="ko-KR" dirty="0"/>
              <a:t>(ex. </a:t>
            </a:r>
            <a:r>
              <a:rPr lang="ko-KR" altLang="en-US" dirty="0"/>
              <a:t>커버리지</a:t>
            </a:r>
            <a:r>
              <a:rPr lang="en-US" altLang="ko-KR" dirty="0"/>
              <a:t>, </a:t>
            </a:r>
            <a:r>
              <a:rPr lang="ko-KR" altLang="en-US" dirty="0"/>
              <a:t>재방문 주기</a:t>
            </a:r>
            <a:r>
              <a:rPr lang="en-US" altLang="ko-KR" dirty="0"/>
              <a:t>, </a:t>
            </a:r>
            <a:r>
              <a:rPr lang="ko-KR" altLang="en-US" dirty="0"/>
              <a:t>센서의 해상도 등</a:t>
            </a:r>
            <a:r>
              <a:rPr lang="en-US" altLang="ko-KR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1E892B-7F9C-D806-B8AE-93DFF4C5B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2042130"/>
            <a:ext cx="5295900" cy="2215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341940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위성 운용의 목표</a:t>
            </a:r>
          </a:p>
          <a:p>
            <a:pPr lvl="1"/>
            <a:r>
              <a:rPr lang="en-US" altLang="ko-KR" dirty="0"/>
              <a:t>24</a:t>
            </a:r>
            <a:r>
              <a:rPr lang="ko-KR" altLang="en-US" dirty="0"/>
              <a:t>시간 </a:t>
            </a:r>
            <a:r>
              <a:rPr lang="en-US" altLang="ko-KR" dirty="0"/>
              <a:t>100% </a:t>
            </a:r>
            <a:r>
              <a:rPr lang="ko-KR" altLang="en-US" dirty="0"/>
              <a:t>커버를 달성하는 광학</a:t>
            </a:r>
            <a:r>
              <a:rPr lang="en-US" altLang="ko-KR" dirty="0"/>
              <a:t> imaging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특정 공간 해상도를 달성하는데 필요한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 지정</a:t>
            </a:r>
            <a:endParaRPr lang="en-US" altLang="ko-KR" dirty="0"/>
          </a:p>
          <a:p>
            <a:pPr lvl="1"/>
            <a:r>
              <a:rPr lang="en-US" altLang="ko-KR" dirty="0"/>
              <a:t>SRT</a:t>
            </a:r>
            <a:r>
              <a:rPr lang="ko-KR" altLang="en-US" dirty="0"/>
              <a:t>를 줄이기 위한 최상의 </a:t>
            </a:r>
            <a:r>
              <a:rPr lang="en-US" altLang="ko-KR" dirty="0"/>
              <a:t>Relay </a:t>
            </a:r>
            <a:r>
              <a:rPr lang="ko-KR" altLang="en-US" dirty="0"/>
              <a:t>위성군을 설계</a:t>
            </a:r>
            <a:endParaRPr lang="en-US" altLang="ko-KR" dirty="0"/>
          </a:p>
          <a:p>
            <a:pPr lvl="1"/>
            <a:r>
              <a:rPr lang="ko-KR" altLang="en-US" dirty="0"/>
              <a:t>신호 송수신을 위한 지상국의 위치 설정</a:t>
            </a:r>
            <a:endParaRPr lang="en-US" altLang="ko-KR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</a:t>
            </a:r>
          </a:p>
          <a:p>
            <a:pPr lvl="1"/>
            <a:r>
              <a:rPr lang="en-US" altLang="ko-KR" dirty="0"/>
              <a:t>FOV, </a:t>
            </a:r>
            <a:r>
              <a:rPr lang="ko-KR" altLang="en-US" dirty="0"/>
              <a:t>초점거리</a:t>
            </a:r>
            <a:r>
              <a:rPr lang="en-US" altLang="ko-KR" dirty="0"/>
              <a:t>(f), detector pitch(DP) </a:t>
            </a:r>
            <a:r>
              <a:rPr lang="ko-KR" altLang="en-US" dirty="0"/>
              <a:t>등의 다양한 파라미터를 조정하여 커버리지 비율에 따라 </a:t>
            </a:r>
            <a:r>
              <a:rPr lang="en-US" altLang="ko-KR" dirty="0"/>
              <a:t>SSO</a:t>
            </a:r>
            <a:r>
              <a:rPr lang="ko-KR" altLang="en-US" dirty="0"/>
              <a:t>에 광학 위성군을 설계</a:t>
            </a:r>
            <a:endParaRPr lang="en-US" altLang="ko-KR" dirty="0"/>
          </a:p>
          <a:p>
            <a:pPr lvl="1"/>
            <a:r>
              <a:rPr lang="ko-KR" altLang="en-US" dirty="0"/>
              <a:t>광학 </a:t>
            </a:r>
            <a:r>
              <a:rPr lang="ko-KR" altLang="en-US" dirty="0" err="1"/>
              <a:t>탑재체</a:t>
            </a:r>
            <a:r>
              <a:rPr lang="ko-KR" altLang="en-US" dirty="0"/>
              <a:t> 파라미터와 그에 따른 커버리지 및 공간 해상도에 주는 영향을 설계 및 최적화</a:t>
            </a:r>
            <a:endParaRPr lang="en-US" altLang="ko-KR" dirty="0"/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위성군의 </a:t>
            </a:r>
            <a:r>
              <a:rPr lang="ko-KR" altLang="en-US" dirty="0" err="1"/>
              <a:t>커버리지를</a:t>
            </a:r>
            <a:r>
              <a:rPr lang="ko-KR" altLang="en-US" dirty="0"/>
              <a:t> 분석</a:t>
            </a:r>
            <a:endParaRPr lang="en-US" altLang="ko-KR" dirty="0"/>
          </a:p>
          <a:p>
            <a:pPr lvl="2"/>
            <a:r>
              <a:rPr lang="ko-KR" altLang="en-US" dirty="0"/>
              <a:t>커버리지 성능에 따라 </a:t>
            </a:r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/>
              <a:t>위성군을 추가하면 중위도 지역의 재방문 주기 및 커버리지 증가율이 어떻게 변화하는지 분석</a:t>
            </a:r>
            <a:endParaRPr lang="en-US" altLang="ko-KR" dirty="0"/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성능 차이를 통해 접근 기간을 늘리도록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위성군과 비교하여 </a:t>
            </a:r>
            <a:r>
              <a:rPr lang="en-US" altLang="ko-KR" dirty="0"/>
              <a:t>SRT </a:t>
            </a:r>
            <a:r>
              <a:rPr lang="ko-KR" altLang="en-US" dirty="0"/>
              <a:t>측면에서 이종 위성군의 성능을 분석</a:t>
            </a:r>
          </a:p>
          <a:p>
            <a:pPr lvl="2"/>
            <a:endParaRPr lang="ko-KR" altLang="en-US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1650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90970574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(Imaging Constellation)</a:t>
            </a:r>
          </a:p>
          <a:p>
            <a:pPr lvl="1"/>
            <a:r>
              <a:rPr lang="en-US" altLang="ko-KR" sz="1800" dirty="0"/>
              <a:t>SSO</a:t>
            </a:r>
            <a:r>
              <a:rPr lang="ko-KR" altLang="en-US" sz="1800" dirty="0"/>
              <a:t>의 고도에</a:t>
            </a:r>
            <a:r>
              <a:rPr lang="en-US" altLang="ko-KR" sz="1800" dirty="0"/>
              <a:t> </a:t>
            </a:r>
            <a:r>
              <a:rPr lang="ko-KR" altLang="en-US" sz="1800" dirty="0"/>
              <a:t>따른 낮 시간 동안의 커버리지 비율의 관계</a:t>
            </a:r>
            <a:r>
              <a:rPr lang="en-US" altLang="ko-KR" sz="1800" dirty="0"/>
              <a:t>(FOV = 20</a:t>
            </a:r>
            <a:r>
              <a:rPr lang="ko-KR" altLang="en-US" sz="1800" dirty="0"/>
              <a:t>˚</a:t>
            </a:r>
            <a:r>
              <a:rPr lang="en-US" altLang="ko-KR" sz="1800" dirty="0"/>
              <a:t>)</a:t>
            </a:r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B7A9A1-B650-63CE-75DE-A1A37CAB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1826410"/>
            <a:ext cx="5037772" cy="36882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469563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(Imaging Constellation)</a:t>
            </a:r>
          </a:p>
          <a:p>
            <a:pPr lvl="1"/>
            <a:r>
              <a:rPr lang="ko-KR" altLang="en-US" sz="1800" dirty="0"/>
              <a:t>센서의 초점거리</a:t>
            </a:r>
            <a:r>
              <a:rPr lang="en-US" altLang="ko-KR" sz="1800" dirty="0"/>
              <a:t>(f)</a:t>
            </a:r>
            <a:r>
              <a:rPr lang="ko-KR" altLang="en-US" sz="1800" dirty="0"/>
              <a:t>에 따른 낮 시간 동안의 커버리지 비율의 관계</a:t>
            </a:r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2"/>
            <a:r>
              <a:rPr lang="en-US" altLang="ko-KR" dirty="0"/>
              <a:t>1 </a:t>
            </a:r>
            <a:r>
              <a:rPr lang="en-US" altLang="ko-KR" dirty="0" err="1"/>
              <a:t>μm</a:t>
            </a:r>
            <a:r>
              <a:rPr lang="ko-KR" altLang="en-US" dirty="0"/>
              <a:t>의 센서 </a:t>
            </a:r>
            <a:r>
              <a:rPr lang="en-US" altLang="ko-KR" dirty="0"/>
              <a:t>DP</a:t>
            </a:r>
            <a:r>
              <a:rPr lang="ko-KR" altLang="en-US" dirty="0"/>
              <a:t>를 이용하여 </a:t>
            </a:r>
            <a:r>
              <a:rPr lang="en-US" altLang="ko-KR" dirty="0"/>
              <a:t>0.5m GSD</a:t>
            </a:r>
            <a:r>
              <a:rPr lang="ko-KR" altLang="en-US" dirty="0"/>
              <a:t>를 달성하기 위한 초점거리</a:t>
            </a:r>
            <a:endParaRPr lang="en-US" altLang="ko-KR" dirty="0"/>
          </a:p>
          <a:p>
            <a:pPr lvl="2"/>
            <a:r>
              <a:rPr lang="ko-KR" altLang="en-US" dirty="0"/>
              <a:t>위성의 고도 </a:t>
            </a:r>
            <a:r>
              <a:rPr lang="en-US" altLang="ko-KR" dirty="0"/>
              <a:t>: 600km / SSO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: 4</a:t>
            </a:r>
            <a:r>
              <a:rPr lang="ko-KR" altLang="en-US" dirty="0"/>
              <a:t>대</a:t>
            </a:r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1B8D29-9B9B-200B-C942-60C125FC9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5275"/>
            <a:ext cx="5266372" cy="35864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287839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결과 분석</a:t>
            </a:r>
            <a:r>
              <a:rPr lang="en-US" altLang="ko-KR" dirty="0"/>
              <a:t>(Relay Constellation)</a:t>
            </a:r>
          </a:p>
          <a:p>
            <a:pPr lvl="1"/>
            <a:r>
              <a:rPr lang="ko-KR" altLang="en-US" dirty="0"/>
              <a:t>위성 수에 따른 지상국의 위도와 커버리지 비율의 관계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9BD844-0936-CBE4-1856-47AE1BD1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8" y="1825275"/>
            <a:ext cx="4732972" cy="35916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538427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 err="1"/>
              <a:t>위성군</a:t>
            </a:r>
            <a:r>
              <a:rPr lang="ko-KR" altLang="en-US" dirty="0"/>
              <a:t> 설계의 목표 및 제한조건은 위성군의 궤도 구성을 결정하는 중요한 요소</a:t>
            </a:r>
            <a:endParaRPr lang="en-US" altLang="ko-KR" dirty="0"/>
          </a:p>
          <a:p>
            <a:pPr lvl="1"/>
            <a:r>
              <a:rPr lang="ko-KR" altLang="en-US" sz="1800" dirty="0"/>
              <a:t>지구 관측 위성의 </a:t>
            </a:r>
            <a:r>
              <a:rPr lang="en-US" altLang="ko-KR" sz="1800" dirty="0"/>
              <a:t>SRT </a:t>
            </a:r>
            <a:r>
              <a:rPr lang="ko-KR" altLang="en-US" sz="1800" dirty="0"/>
              <a:t>개선은 재해 위험 감소 및 국가 보안에 중요한 관심사</a:t>
            </a:r>
            <a:endParaRPr lang="en-US" altLang="ko-KR" sz="1800" dirty="0"/>
          </a:p>
          <a:p>
            <a:pPr lvl="1"/>
            <a:r>
              <a:rPr lang="ko-KR" altLang="en-US" sz="1800" dirty="0"/>
              <a:t>위성의 고도</a:t>
            </a:r>
            <a:r>
              <a:rPr lang="en-US" altLang="ko-KR" sz="1800" dirty="0"/>
              <a:t>, </a:t>
            </a:r>
            <a:r>
              <a:rPr lang="ko-KR" altLang="en-US" sz="1800" dirty="0"/>
              <a:t>궤도 평면 및 평면 당 위성 수 등 위성군의 특성에 따라 시스템 가용성이 달라지고 이는 이종 위성군의 구성에 큰 영향을 줌</a:t>
            </a:r>
            <a:endParaRPr lang="en-US" altLang="ko-KR" sz="1800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(2) Research on the configuration design method of heterogeneous constellation reconstruction under the multiple objective and multiple constraint, 2017, Shuang Zhao, </a:t>
            </a:r>
            <a:r>
              <a:rPr lang="en-US" altLang="ko-KR" b="1" dirty="0" err="1"/>
              <a:t>Yanli</a:t>
            </a:r>
            <a:r>
              <a:rPr lang="en-US" altLang="ko-KR" b="1" dirty="0"/>
              <a:t> Xu and </a:t>
            </a:r>
            <a:r>
              <a:rPr lang="en-US" altLang="ko-KR" b="1" dirty="0" err="1"/>
              <a:t>Huayu</a:t>
            </a:r>
            <a:r>
              <a:rPr lang="en-US" altLang="ko-KR" b="1" dirty="0"/>
              <a:t> Dai</a:t>
            </a: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논문 주요내용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설계방법에 대해 다룬다</a:t>
            </a:r>
            <a:r>
              <a:rPr lang="en-US" altLang="ko-KR" sz="1800" dirty="0"/>
              <a:t>. </a:t>
            </a:r>
            <a:r>
              <a:rPr lang="ko-KR" altLang="en-US" sz="1800" dirty="0"/>
              <a:t>또한</a:t>
            </a:r>
            <a:r>
              <a:rPr lang="en-US" altLang="ko-KR" sz="1800" dirty="0"/>
              <a:t>, </a:t>
            </a:r>
            <a:r>
              <a:rPr lang="ko-KR" altLang="en-US" sz="1800" dirty="0"/>
              <a:t>기존의 대표적인 설계 방법인 </a:t>
            </a:r>
            <a:r>
              <a:rPr lang="en-US" altLang="ko-KR" sz="1800" dirty="0"/>
              <a:t>Phase position uniformity method </a:t>
            </a:r>
            <a:r>
              <a:rPr lang="ko-KR" altLang="en-US" sz="1800" dirty="0"/>
              <a:t>와 </a:t>
            </a:r>
            <a:r>
              <a:rPr lang="en-US" altLang="ko-KR" sz="1800" dirty="0"/>
              <a:t>Reconstruction configuration design method (based in optimization algorithm)</a:t>
            </a:r>
            <a:r>
              <a:rPr lang="ko-KR" altLang="en-US" sz="1800" dirty="0"/>
              <a:t>을 비교한다</a:t>
            </a:r>
            <a:r>
              <a:rPr lang="en-US" altLang="ko-KR" sz="1800" dirty="0"/>
              <a:t>. </a:t>
            </a:r>
            <a:r>
              <a:rPr lang="ko-KR" altLang="en-US" sz="1800" dirty="0"/>
              <a:t>마지막으로 다양한 재구성 설계 방법의 장단점을 분석하고 재구성 지수 시스템에 대한 생각과 최적 변수 선택 및 구성 최적화 설계의 제한 조건 설정을 제시한다</a:t>
            </a:r>
            <a:r>
              <a:rPr lang="en-US" altLang="ko-KR" sz="1800" dirty="0"/>
              <a:t>.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모든 위성이 동일한 특정 임무를 중심으로 회전하는 명확한 임무 요건을 가지고 있음</a:t>
            </a:r>
            <a:r>
              <a:rPr lang="en-US" altLang="ko-KR" dirty="0"/>
              <a:t>. </a:t>
            </a:r>
            <a:r>
              <a:rPr lang="ko-KR" altLang="en-US" dirty="0"/>
              <a:t>또한 위성군은 상대적으로 고정된 공간 기하학적 구조를 가지며 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r>
              <a:rPr lang="en-US" altLang="ko-KR" dirty="0"/>
              <a:t>.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종류</a:t>
            </a:r>
            <a:endParaRPr lang="en-US" altLang="ko-KR" dirty="0"/>
          </a:p>
          <a:p>
            <a:pPr lvl="1"/>
            <a:r>
              <a:rPr lang="ko-KR" altLang="en-US" sz="1800" dirty="0"/>
              <a:t>전 지구적 이종 </a:t>
            </a:r>
            <a:r>
              <a:rPr lang="ko-KR" altLang="en-US" sz="1800" dirty="0" err="1"/>
              <a:t>위성군</a:t>
            </a:r>
            <a:endParaRPr lang="en-US" altLang="ko-KR" sz="1800" dirty="0"/>
          </a:p>
          <a:p>
            <a:pPr lvl="2">
              <a:defRPr/>
            </a:pPr>
            <a:r>
              <a:rPr lang="ko-KR" altLang="en-US" sz="1600" dirty="0"/>
              <a:t>경도 </a:t>
            </a:r>
            <a:r>
              <a:rPr lang="en-US" altLang="ko-KR" sz="1600" dirty="0"/>
              <a:t>-180~180</a:t>
            </a:r>
            <a:r>
              <a:rPr lang="ko-KR" altLang="en-US" sz="1600" dirty="0"/>
              <a:t>˚</a:t>
            </a:r>
            <a:r>
              <a:rPr lang="en-US" altLang="ko-KR" sz="1600" dirty="0"/>
              <a:t>, </a:t>
            </a:r>
            <a:r>
              <a:rPr lang="ko-KR" altLang="en-US" sz="1600" dirty="0"/>
              <a:t>위도 </a:t>
            </a:r>
            <a:r>
              <a:rPr lang="en-US" altLang="ko-KR" sz="1600" dirty="0"/>
              <a:t>-90~90</a:t>
            </a:r>
            <a:r>
              <a:rPr lang="ko-KR" altLang="en-US" sz="1600" dirty="0"/>
              <a:t>˚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다른 종류의 궤도를 포함하며 다른 궤도의 위성 수는 다름</a:t>
            </a:r>
          </a:p>
          <a:p>
            <a:pPr lvl="2">
              <a:defRPr/>
            </a:pPr>
            <a:r>
              <a:rPr lang="en-US" altLang="ko-KR" sz="1600" dirty="0"/>
              <a:t>Ex. </a:t>
            </a:r>
            <a:r>
              <a:rPr lang="ko-KR" altLang="en-US" sz="1600" dirty="0"/>
              <a:t>타원 궤도와 적도 궤도는 통신 도는 조기 경보 </a:t>
            </a:r>
            <a:r>
              <a:rPr lang="ko-KR" altLang="en-US" sz="1600" dirty="0" err="1"/>
              <a:t>위성군</a:t>
            </a:r>
            <a:r>
              <a:rPr lang="en-US" altLang="ko-KR" sz="1600" dirty="0"/>
              <a:t>, IGSO, GEO, MEO </a:t>
            </a:r>
            <a:r>
              <a:rPr lang="ko-KR" altLang="en-US" sz="1600" dirty="0"/>
              <a:t>궤도는 항법 위성군에 이용 </a:t>
            </a:r>
            <a:endParaRPr lang="en-US" altLang="ko-KR" sz="1600" dirty="0"/>
          </a:p>
          <a:p>
            <a:pPr lvl="1"/>
            <a:r>
              <a:rPr lang="ko-KR" altLang="en-US" sz="1800" dirty="0"/>
              <a:t>전 지구적 이종 </a:t>
            </a:r>
            <a:r>
              <a:rPr lang="ko-KR" altLang="en-US" sz="1800" dirty="0" err="1"/>
              <a:t>위성군</a:t>
            </a:r>
            <a:endParaRPr lang="en-US" altLang="ko-KR" sz="1800" dirty="0"/>
          </a:p>
          <a:p>
            <a:pPr lvl="2">
              <a:defRPr/>
            </a:pPr>
            <a:r>
              <a:rPr lang="ko-KR" altLang="en-US" sz="1600" dirty="0"/>
              <a:t>경도 </a:t>
            </a:r>
            <a:r>
              <a:rPr lang="en-US" altLang="ko-KR" sz="1600" dirty="0"/>
              <a:t>-180~180</a:t>
            </a:r>
            <a:r>
              <a:rPr lang="ko-KR" altLang="en-US" sz="1600" dirty="0"/>
              <a:t>˚</a:t>
            </a:r>
            <a:r>
              <a:rPr lang="en-US" altLang="ko-KR" sz="1600" dirty="0"/>
              <a:t>, </a:t>
            </a:r>
            <a:r>
              <a:rPr lang="ko-KR" altLang="en-US" sz="1600" dirty="0"/>
              <a:t>위도 </a:t>
            </a:r>
            <a:r>
              <a:rPr lang="en-US" altLang="ko-KR" sz="1600" dirty="0"/>
              <a:t>-90~90</a:t>
            </a:r>
            <a:r>
              <a:rPr lang="ko-KR" altLang="en-US" sz="1600" dirty="0"/>
              <a:t>˚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다른 종류의 궤도를 포함하며 다른 궤도의 위성 수는 다름</a:t>
            </a:r>
          </a:p>
          <a:p>
            <a:pPr lvl="2">
              <a:defRPr/>
            </a:pPr>
            <a:r>
              <a:rPr lang="en-US" altLang="ko-KR" sz="1600" dirty="0"/>
              <a:t>Ex. </a:t>
            </a:r>
            <a:r>
              <a:rPr lang="ko-KR" altLang="en-US" sz="1600" dirty="0"/>
              <a:t>타원 궤도와 적도 궤도는 통신 도는 조기 경보 </a:t>
            </a:r>
            <a:r>
              <a:rPr lang="ko-KR" altLang="en-US" sz="1600" dirty="0" err="1"/>
              <a:t>위성군</a:t>
            </a:r>
            <a:r>
              <a:rPr lang="en-US" altLang="ko-KR" sz="1600" dirty="0"/>
              <a:t>, IGSO, GEO, MEO </a:t>
            </a:r>
            <a:r>
              <a:rPr lang="ko-KR" altLang="en-US" sz="1600" dirty="0"/>
              <a:t>궤도는 항법 위성군에 이용 </a:t>
            </a:r>
          </a:p>
          <a:p>
            <a:pPr lvl="2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400758035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위성군의 재구성</a:t>
            </a:r>
            <a:r>
              <a:rPr lang="en-US" altLang="ko-KR" dirty="0"/>
              <a:t>(Reconstruction)</a:t>
            </a:r>
          </a:p>
          <a:p>
            <a:pPr lvl="1"/>
            <a:r>
              <a:rPr lang="ko-KR" altLang="en-US" sz="1800" dirty="0"/>
              <a:t>시스템 장애</a:t>
            </a:r>
            <a:r>
              <a:rPr lang="en-US" altLang="ko-KR" sz="1800" dirty="0"/>
              <a:t>, </a:t>
            </a:r>
            <a:r>
              <a:rPr lang="ko-KR" altLang="en-US" sz="1800" dirty="0"/>
              <a:t>환경 문제 등에 직면하여 기존의 구성을 조정함으로써 위성군의 성능을 개선 및 새로운 요구 사항을 충족하는 일종의 방법</a:t>
            </a:r>
            <a:endParaRPr lang="en-US" altLang="ko-KR" sz="1600" dirty="0"/>
          </a:p>
          <a:p>
            <a:pPr lvl="1"/>
            <a:r>
              <a:rPr lang="ko-KR" altLang="en-US" sz="1800" dirty="0"/>
              <a:t>위성군의 재구성은 다양한 적용 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</a:p>
          <a:p>
            <a:pPr lvl="1">
              <a:defRPr/>
            </a:pPr>
            <a:r>
              <a:rPr lang="ko-KR" altLang="en-US" dirty="0"/>
              <a:t>위성군의 재구성은 과정의 단계에 따라 다음으로 분류</a:t>
            </a:r>
            <a:endParaRPr lang="en-US" altLang="ko-KR" dirty="0"/>
          </a:p>
          <a:p>
            <a:pPr lvl="2">
              <a:defRPr/>
            </a:pPr>
            <a:r>
              <a:rPr lang="en-US" altLang="ko-KR" b="1" dirty="0"/>
              <a:t>Reconstruction configuration design(</a:t>
            </a:r>
            <a:r>
              <a:rPr lang="ko-KR" altLang="en-US" b="1" dirty="0"/>
              <a:t>본 논문에서 주로 다룸</a:t>
            </a:r>
            <a:r>
              <a:rPr lang="en-US" altLang="ko-KR" b="1" dirty="0"/>
              <a:t>)</a:t>
            </a:r>
          </a:p>
          <a:p>
            <a:pPr lvl="2">
              <a:defRPr/>
            </a:pPr>
            <a:r>
              <a:rPr lang="en-US" altLang="ko-KR" b="1" dirty="0"/>
              <a:t>Reconstruction process control</a:t>
            </a:r>
          </a:p>
          <a:p>
            <a:pPr lvl="2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Configuration Design</a:t>
            </a:r>
          </a:p>
          <a:p>
            <a:pPr lvl="1"/>
            <a:r>
              <a:rPr lang="ko-KR" altLang="en-US" dirty="0"/>
              <a:t>기존의 지표와 방법을 사용하여 재구성의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/>
        </p:nvGraphicFramePr>
        <p:xfrm>
          <a:off x="558525" y="2299351"/>
          <a:ext cx="799318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099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범용성이 좋음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고장 재구성에만 적용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최적성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sz="1800" dirty="0"/>
              <a:t>일반적으로 목적함수는 재방문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응답 시간</a:t>
            </a:r>
            <a:r>
              <a:rPr lang="en-US" altLang="ko-KR" sz="1800" dirty="0"/>
              <a:t>, </a:t>
            </a:r>
            <a:r>
              <a:rPr lang="ko-KR" altLang="en-US" sz="1800" dirty="0"/>
              <a:t>커버리지 비율 등의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성능 지수로 구성됨</a:t>
            </a:r>
            <a:endParaRPr lang="en-US" altLang="ko-KR" sz="1800" dirty="0"/>
          </a:p>
          <a:p>
            <a:pPr lvl="1"/>
            <a:r>
              <a:rPr lang="ko-KR" altLang="en-US" dirty="0"/>
              <a:t>목적함수의 정해진 패턴 및 공식은 없으며 위성군의 유형에 따라 성능지수의 중요도 또한 다름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연구는 복잡하지만 변경 가능한 지상 임무를 처리하는 능력을 향상시키고 기존 우주 임무의 안정성</a:t>
            </a:r>
            <a:r>
              <a:rPr lang="en-US" altLang="ko-KR" sz="1800" dirty="0"/>
              <a:t>, </a:t>
            </a:r>
            <a:r>
              <a:rPr lang="ko-KR" altLang="en-US" sz="1800" dirty="0"/>
              <a:t>신뢰성 및 유연성을 키울 수 있음</a:t>
            </a:r>
          </a:p>
          <a:p>
            <a:pPr lvl="1"/>
            <a:r>
              <a:rPr lang="ko-KR" altLang="en-US" sz="1800" dirty="0"/>
              <a:t>전략적 중요성과 응용 가치가 높음</a:t>
            </a:r>
          </a:p>
          <a:p>
            <a:pPr lvl="1"/>
            <a:r>
              <a:rPr lang="ko-KR" altLang="en-US" sz="1800" dirty="0"/>
              <a:t>하지만 재구성 설계에 대한 모델 및 지표가 없는 것이 한계</a:t>
            </a:r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F0633-6DBD-5D48-531E-CD4B9F6A5A0A}"/>
              </a:ext>
            </a:extLst>
          </p:cNvPr>
          <p:cNvSpPr txBox="1"/>
          <p:nvPr/>
        </p:nvSpPr>
        <p:spPr>
          <a:xfrm>
            <a:off x="-78130" y="6012626"/>
            <a:ext cx="86298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(Research on the configuration design method of heterogeneous constellation reconstruction under the multiple objective and multiple constraint, 2017, Shuang Zhao, </a:t>
            </a:r>
            <a:r>
              <a:rPr lang="en-US" altLang="ko-KR" sz="1000" b="1" dirty="0" err="1"/>
              <a:t>Yanli</a:t>
            </a:r>
            <a:r>
              <a:rPr lang="en-US" altLang="ko-KR" sz="1000" b="1" dirty="0"/>
              <a:t> Xu and </a:t>
            </a:r>
            <a:r>
              <a:rPr lang="en-US" altLang="ko-KR" sz="1000" b="1" dirty="0" err="1"/>
              <a:t>Huayu</a:t>
            </a:r>
            <a:r>
              <a:rPr lang="en-US" altLang="ko-KR" sz="1000" b="1" dirty="0"/>
              <a:t> Dai)</a:t>
            </a:r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The UrtheCast SAR-XL Multi-Band, Multi-Aperture, 2017, Peter Fox, Keith Beckett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Constellation</a:t>
            </a:r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와 광학 위성이 각각 </a:t>
            </a:r>
            <a:r>
              <a:rPr lang="en-US" altLang="ko-KR" dirty="0"/>
              <a:t>1</a:t>
            </a:r>
            <a:r>
              <a:rPr lang="ko-KR" altLang="en-US" dirty="0"/>
              <a:t>대 씩 짝을 지어 </a:t>
            </a:r>
            <a:r>
              <a:rPr lang="en-US" altLang="ko-KR" dirty="0"/>
              <a:t>4</a:t>
            </a:r>
            <a:r>
              <a:rPr lang="ko-KR" altLang="en-US" dirty="0"/>
              <a:t> 쌍으로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대로 구성됨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8</a:t>
            </a:r>
            <a:r>
              <a:rPr lang="ko-KR" altLang="en-US" dirty="0"/>
              <a:t>대의 위성이 두 개의 궤도 평면에</a:t>
            </a:r>
            <a:r>
              <a:rPr lang="en-US" altLang="ko-KR" dirty="0"/>
              <a:t> </a:t>
            </a:r>
            <a:r>
              <a:rPr lang="ko-KR" altLang="en-US" dirty="0"/>
              <a:t>배치되며</a:t>
            </a:r>
            <a:endParaRPr lang="en-US" altLang="ko-KR" dirty="0"/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그 후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96" y="3036007"/>
            <a:ext cx="4137807" cy="28067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Two Orbit(450km altitude)</a:t>
            </a:r>
          </a:p>
          <a:p>
            <a:pPr lvl="1"/>
            <a:r>
              <a:rPr lang="en-US" altLang="ko-KR" dirty="0"/>
              <a:t>SSO(Sun-Synchronous Orbit)</a:t>
            </a:r>
          </a:p>
          <a:p>
            <a:pPr lvl="2"/>
            <a:r>
              <a:rPr lang="en-US" altLang="ko-KR" dirty="0"/>
              <a:t>LTAN 10:30</a:t>
            </a:r>
          </a:p>
          <a:p>
            <a:pPr lvl="2"/>
            <a:r>
              <a:rPr lang="ko-KR" altLang="en-US" dirty="0"/>
              <a:t>지구</a:t>
            </a:r>
            <a:r>
              <a:rPr lang="en-US" altLang="ko-KR" dirty="0"/>
              <a:t> </a:t>
            </a:r>
            <a:r>
              <a:rPr lang="ko-KR" altLang="en-US" dirty="0"/>
              <a:t>관측 임무에 사용되는 궤도 </a:t>
            </a:r>
            <a:endParaRPr lang="en-US" altLang="ko-KR" dirty="0"/>
          </a:p>
          <a:p>
            <a:pPr lvl="1"/>
            <a:r>
              <a:rPr lang="en-US" altLang="ko-KR" dirty="0"/>
              <a:t>MIO(Mid-Inclination Orbit)</a:t>
            </a:r>
          </a:p>
          <a:p>
            <a:pPr lvl="2"/>
            <a:r>
              <a:rPr lang="ko-KR" altLang="en-US" dirty="0"/>
              <a:t>최대 </a:t>
            </a:r>
            <a:r>
              <a:rPr lang="en-US" altLang="ko-KR" dirty="0"/>
              <a:t>45deg</a:t>
            </a:r>
            <a:r>
              <a:rPr lang="ko-KR" altLang="en-US" dirty="0"/>
              <a:t>의 경사를 가짐</a:t>
            </a:r>
            <a:endParaRPr lang="en-US" altLang="ko-KR" dirty="0"/>
          </a:p>
          <a:p>
            <a:pPr lvl="2"/>
            <a:r>
              <a:rPr lang="ko-KR" altLang="en-US" dirty="0"/>
              <a:t>중위도 지역에서 높은 재방문을 제공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D4C399-0A8B-F019-725F-4C9883C4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790" y="3308889"/>
            <a:ext cx="6514420" cy="25338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66052904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Composition  of Constellation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en-US" altLang="ko-KR" dirty="0"/>
              <a:t>UrtheCast’s SAR-XL </a:t>
            </a:r>
            <a:r>
              <a:rPr lang="ko-KR" altLang="en-US" dirty="0"/>
              <a:t>기술을 이용한 </a:t>
            </a:r>
            <a:r>
              <a:rPr lang="ko-KR" altLang="en-US" dirty="0" err="1"/>
              <a:t>듀얼밴드</a:t>
            </a:r>
            <a:r>
              <a:rPr lang="ko-KR" altLang="en-US" dirty="0"/>
              <a:t> 사용</a:t>
            </a:r>
            <a:r>
              <a:rPr lang="en-US" altLang="ko-KR" dirty="0"/>
              <a:t>(6</a:t>
            </a:r>
            <a:r>
              <a:rPr lang="ko-KR" altLang="en-US" dirty="0"/>
              <a:t>개의 독립 </a:t>
            </a:r>
            <a:r>
              <a:rPr lang="en-US" altLang="ko-KR" dirty="0"/>
              <a:t>aperture</a:t>
            </a:r>
            <a:r>
              <a:rPr lang="ko-KR" altLang="en-US" dirty="0"/>
              <a:t>로 구성</a:t>
            </a:r>
            <a:r>
              <a:rPr lang="en-US" altLang="ko-KR" dirty="0"/>
              <a:t>)</a:t>
            </a:r>
          </a:p>
          <a:p>
            <a:pPr lvl="3"/>
            <a:r>
              <a:rPr lang="en-US" altLang="ko-KR" dirty="0"/>
              <a:t>X-band(1m class)</a:t>
            </a:r>
          </a:p>
          <a:p>
            <a:pPr lvl="3"/>
            <a:r>
              <a:rPr lang="en-US" altLang="ko-KR" dirty="0"/>
              <a:t>L-band(5m class)</a:t>
            </a:r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고해상도</a:t>
            </a:r>
            <a:r>
              <a:rPr lang="en-US" altLang="ko-KR" dirty="0"/>
              <a:t>(0.5m GSD)</a:t>
            </a:r>
            <a:r>
              <a:rPr lang="ko-KR" altLang="en-US" dirty="0"/>
              <a:t>의 </a:t>
            </a:r>
            <a:r>
              <a:rPr lang="ko-KR" altLang="en-US" dirty="0" err="1"/>
              <a:t>듀얼모드</a:t>
            </a:r>
            <a:r>
              <a:rPr lang="ko-KR" altLang="en-US" dirty="0"/>
              <a:t> 광학 카메라 사용</a:t>
            </a:r>
            <a:endParaRPr lang="en-US" altLang="ko-KR" dirty="0"/>
          </a:p>
          <a:p>
            <a:pPr lvl="3"/>
            <a:r>
              <a:rPr lang="en-US" altLang="ko-KR" dirty="0"/>
              <a:t>Multi-spectral </a:t>
            </a:r>
            <a:r>
              <a:rPr lang="en-US" altLang="ko-KR" dirty="0" err="1"/>
              <a:t>pushbroom</a:t>
            </a:r>
            <a:endParaRPr lang="en-US" altLang="ko-KR" dirty="0"/>
          </a:p>
          <a:p>
            <a:pPr lvl="3"/>
            <a:r>
              <a:rPr lang="en-US" altLang="ko-KR" dirty="0"/>
              <a:t>RGB color video</a:t>
            </a:r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579561646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Instrument Description</a:t>
            </a:r>
          </a:p>
          <a:p>
            <a:pPr lvl="1"/>
            <a:r>
              <a:rPr lang="ko-KR" altLang="en-US" dirty="0"/>
              <a:t>세계 최초의 이중 주파수</a:t>
            </a:r>
            <a:r>
              <a:rPr lang="en-US" altLang="ko-KR" dirty="0"/>
              <a:t>, </a:t>
            </a:r>
            <a:r>
              <a:rPr lang="ko-KR" altLang="en-US" dirty="0" err="1"/>
              <a:t>쿼드</a:t>
            </a:r>
            <a:r>
              <a:rPr lang="ko-KR" altLang="en-US" dirty="0"/>
              <a:t> 편광</a:t>
            </a:r>
            <a:r>
              <a:rPr lang="en-US" altLang="ko-KR" dirty="0"/>
              <a:t>, multi aperture, </a:t>
            </a:r>
            <a:r>
              <a:rPr lang="ko-KR" altLang="en-US" dirty="0"/>
              <a:t>완전 활성 위상 배열 및 공간 기반 디지털 빔 형성 </a:t>
            </a:r>
            <a:r>
              <a:rPr lang="en-US" altLang="ko-KR" dirty="0"/>
              <a:t>SAR</a:t>
            </a:r>
          </a:p>
          <a:p>
            <a:pPr lvl="1"/>
            <a:r>
              <a:rPr lang="ko-KR" altLang="en-US" dirty="0"/>
              <a:t>필요한 성능을 달성하도록 하는 안테나 크기 조정에 매우 유연함</a:t>
            </a:r>
            <a:endParaRPr lang="en-US" altLang="ko-KR" dirty="0"/>
          </a:p>
          <a:p>
            <a:pPr lvl="1"/>
            <a:r>
              <a:rPr lang="ko-KR" altLang="en-US" dirty="0"/>
              <a:t>선택된 수의 개별 </a:t>
            </a:r>
            <a:r>
              <a:rPr lang="en-US" altLang="ko-KR" dirty="0"/>
              <a:t>aperture</a:t>
            </a:r>
            <a:r>
              <a:rPr lang="ko-KR" altLang="en-US" dirty="0"/>
              <a:t>에 따라 </a:t>
            </a:r>
            <a:r>
              <a:rPr lang="en-US" altLang="ko-KR" dirty="0"/>
              <a:t>SAR </a:t>
            </a:r>
            <a:r>
              <a:rPr lang="ko-KR" altLang="en-US" dirty="0"/>
              <a:t>안테나가 구성됨</a:t>
            </a:r>
            <a:endParaRPr lang="en-US" altLang="ko-KR" dirty="0"/>
          </a:p>
          <a:p>
            <a:pPr lvl="1"/>
            <a:r>
              <a:rPr lang="en-US" altLang="ko-KR" dirty="0"/>
              <a:t>Aperture</a:t>
            </a:r>
          </a:p>
          <a:p>
            <a:pPr lvl="2"/>
            <a:r>
              <a:rPr lang="ko-KR" altLang="en-US" dirty="0"/>
              <a:t>안테나의 </a:t>
            </a:r>
            <a:r>
              <a:rPr lang="en-US" altLang="ko-KR" dirty="0"/>
              <a:t>Aperture</a:t>
            </a:r>
            <a:r>
              <a:rPr lang="ko-KR" altLang="en-US" dirty="0"/>
              <a:t>는 </a:t>
            </a:r>
            <a:r>
              <a:rPr lang="en-US" altLang="ko-KR" dirty="0"/>
              <a:t>1.8m(elevation) * 1.0m(azimuth) </a:t>
            </a:r>
            <a:r>
              <a:rPr lang="ko-KR" altLang="en-US" dirty="0"/>
              <a:t>크기</a:t>
            </a:r>
            <a:endParaRPr lang="en-US" altLang="ko-KR" dirty="0"/>
          </a:p>
          <a:p>
            <a:pPr lvl="2"/>
            <a:r>
              <a:rPr lang="en-US" altLang="ko-KR" dirty="0"/>
              <a:t>6</a:t>
            </a:r>
            <a:r>
              <a:rPr lang="ko-KR" altLang="en-US" dirty="0"/>
              <a:t>개의 이중 주파수 </a:t>
            </a:r>
            <a:r>
              <a:rPr lang="en-US" altLang="ko-KR" dirty="0"/>
              <a:t>aperture</a:t>
            </a:r>
            <a:r>
              <a:rPr lang="ko-KR" altLang="en-US" dirty="0"/>
              <a:t>를 사용하지만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수용 가능</a:t>
            </a:r>
            <a:endParaRPr lang="en-US" altLang="ko-KR" dirty="0"/>
          </a:p>
          <a:p>
            <a:pPr lvl="2"/>
            <a:r>
              <a:rPr lang="ko-KR" altLang="en-US" dirty="0"/>
              <a:t>디지털 방식으로 결합되어 방위각과 고도에 대한 </a:t>
            </a:r>
            <a:r>
              <a:rPr lang="en-US" altLang="ko-KR" dirty="0"/>
              <a:t>transmit </a:t>
            </a:r>
            <a:r>
              <a:rPr lang="ko-KR" altLang="en-US" dirty="0"/>
              <a:t>및 </a:t>
            </a:r>
            <a:r>
              <a:rPr lang="en-US" altLang="ko-KR" dirty="0"/>
              <a:t>receive beam</a:t>
            </a:r>
            <a:r>
              <a:rPr lang="ko-KR" altLang="en-US" dirty="0"/>
              <a:t>을 형상</a:t>
            </a:r>
            <a:endParaRPr lang="en-US" altLang="ko-KR" dirty="0"/>
          </a:p>
          <a:p>
            <a:pPr lvl="2"/>
            <a:r>
              <a:rPr lang="en-US" altLang="ko-KR" dirty="0" err="1"/>
              <a:t>Spotlight,StripMap</a:t>
            </a:r>
            <a:r>
              <a:rPr lang="en-US" altLang="ko-KR" dirty="0"/>
              <a:t>, </a:t>
            </a:r>
            <a:r>
              <a:rPr lang="en-US" altLang="ko-KR" dirty="0" err="1"/>
              <a:t>ScanSAR</a:t>
            </a:r>
            <a:r>
              <a:rPr lang="en-US" altLang="ko-KR" dirty="0"/>
              <a:t> </a:t>
            </a:r>
            <a:r>
              <a:rPr lang="ko-KR" altLang="en-US" dirty="0"/>
              <a:t>모드 등을 독립적으로 조정하여 해상도를 생성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94669618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r>
              <a:rPr lang="ko-KR" altLang="en-US" dirty="0"/>
              <a:t>다중 입력</a:t>
            </a:r>
            <a:r>
              <a:rPr lang="en-US" altLang="ko-KR" dirty="0"/>
              <a:t>-</a:t>
            </a:r>
            <a:r>
              <a:rPr lang="ko-KR" altLang="en-US" dirty="0"/>
              <a:t>다중 출력</a:t>
            </a:r>
            <a:r>
              <a:rPr lang="en-US" altLang="ko-KR" dirty="0"/>
              <a:t>(MIMO)</a:t>
            </a:r>
            <a:r>
              <a:rPr lang="ko-KR" altLang="en-US" dirty="0"/>
              <a:t> 기능을 갖춘 다중 </a:t>
            </a:r>
            <a:r>
              <a:rPr lang="en-US" altLang="ko-KR" dirty="0"/>
              <a:t>aperture-</a:t>
            </a:r>
            <a:r>
              <a:rPr lang="ko-KR" altLang="en-US" dirty="0"/>
              <a:t>다중 주파수 기술</a:t>
            </a:r>
            <a:endParaRPr lang="en-US" altLang="ko-KR" dirty="0"/>
          </a:p>
          <a:p>
            <a:pPr lvl="2"/>
            <a:r>
              <a:rPr lang="ko-KR" altLang="en-US" dirty="0"/>
              <a:t>같은 </a:t>
            </a:r>
            <a:r>
              <a:rPr lang="en-US" altLang="ko-KR" dirty="0"/>
              <a:t>aperture</a:t>
            </a:r>
            <a:r>
              <a:rPr lang="ko-KR" altLang="en-US" dirty="0"/>
              <a:t>에서 </a:t>
            </a:r>
            <a:r>
              <a:rPr lang="en-US" altLang="ko-KR" dirty="0"/>
              <a:t>2</a:t>
            </a:r>
            <a:r>
              <a:rPr lang="ko-KR" altLang="en-US" dirty="0"/>
              <a:t>개의 주파수에 모두 방위각 및 고도의 빔을 형성하여 공간의</a:t>
            </a:r>
            <a:r>
              <a:rPr lang="en-US" altLang="ko-KR" dirty="0"/>
              <a:t> </a:t>
            </a:r>
            <a:r>
              <a:rPr lang="ko-KR" altLang="en-US" dirty="0"/>
              <a:t>차원성을 더욱 확장함</a:t>
            </a:r>
            <a:endParaRPr lang="en-US" altLang="ko-KR" dirty="0"/>
          </a:p>
          <a:p>
            <a:pPr lvl="2"/>
            <a:r>
              <a:rPr lang="ko-KR" altLang="en-US" dirty="0"/>
              <a:t>작은 안테나가 넓은 범위의 감시 모드 요구사항도 충족할 수 있음</a:t>
            </a:r>
            <a:endParaRPr lang="en-US" altLang="ko-KR" dirty="0"/>
          </a:p>
          <a:p>
            <a:pPr lvl="1"/>
            <a:r>
              <a:rPr lang="ko-KR" altLang="en-US" dirty="0"/>
              <a:t>송신 신호</a:t>
            </a:r>
            <a:endParaRPr lang="en-US" altLang="ko-KR" dirty="0"/>
          </a:p>
          <a:p>
            <a:pPr lvl="2"/>
            <a:r>
              <a:rPr lang="ko-KR" altLang="en-US" dirty="0"/>
              <a:t>선형과 비선형의 </a:t>
            </a:r>
            <a:r>
              <a:rPr lang="en-US" altLang="ko-KR" dirty="0"/>
              <a:t>FM </a:t>
            </a:r>
            <a:r>
              <a:rPr lang="ko-KR" altLang="en-US" dirty="0"/>
              <a:t>신호를 모두 지원</a:t>
            </a:r>
            <a:endParaRPr lang="en-US" altLang="ko-KR" dirty="0"/>
          </a:p>
          <a:p>
            <a:pPr lvl="2"/>
            <a:r>
              <a:rPr lang="en-US" altLang="ko-KR" dirty="0"/>
              <a:t>NESZ</a:t>
            </a:r>
            <a:r>
              <a:rPr lang="ko-KR" altLang="en-US" dirty="0"/>
              <a:t>에서 손실없이 향상된 범위의 신호 응답이 가능</a:t>
            </a:r>
            <a:endParaRPr lang="en-US" altLang="ko-KR" dirty="0"/>
          </a:p>
          <a:p>
            <a:pPr lvl="2"/>
            <a:r>
              <a:rPr lang="ko-KR" altLang="en-US" dirty="0"/>
              <a:t>단일</a:t>
            </a:r>
            <a:r>
              <a:rPr lang="en-US" altLang="ko-KR" dirty="0"/>
              <a:t>, </a:t>
            </a:r>
            <a:r>
              <a:rPr lang="ko-KR" altLang="en-US" dirty="0"/>
              <a:t>이중</a:t>
            </a:r>
            <a:r>
              <a:rPr lang="en-US" altLang="ko-KR" dirty="0"/>
              <a:t>, </a:t>
            </a:r>
            <a:r>
              <a:rPr lang="ko-KR" altLang="en-US" dirty="0"/>
              <a:t>경사</a:t>
            </a:r>
            <a:r>
              <a:rPr lang="en-US" altLang="ko-KR" dirty="0"/>
              <a:t>, </a:t>
            </a:r>
            <a:r>
              <a:rPr lang="ko-KR" altLang="en-US" dirty="0"/>
              <a:t>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수신 신호</a:t>
            </a:r>
            <a:endParaRPr lang="en-US" altLang="ko-KR" dirty="0"/>
          </a:p>
          <a:p>
            <a:pPr lvl="2"/>
            <a:r>
              <a:rPr lang="ko-KR" altLang="en-US" dirty="0"/>
              <a:t>넓은 </a:t>
            </a:r>
            <a:r>
              <a:rPr lang="en-US" altLang="ko-KR" dirty="0"/>
              <a:t>swath </a:t>
            </a:r>
            <a:r>
              <a:rPr lang="ko-KR" altLang="en-US" dirty="0"/>
              <a:t>감시에 사용</a:t>
            </a:r>
            <a:endParaRPr lang="en-US" altLang="ko-KR" dirty="0"/>
          </a:p>
          <a:p>
            <a:pPr lvl="2"/>
            <a:r>
              <a:rPr lang="ko-KR" altLang="en-US" dirty="0"/>
              <a:t>선형 및 원형 편광 옵션을 지원</a:t>
            </a:r>
            <a:endParaRPr lang="en-US" altLang="ko-KR" dirty="0"/>
          </a:p>
          <a:p>
            <a:pPr lvl="1"/>
            <a:r>
              <a:rPr lang="ko-KR" altLang="en-US" dirty="0"/>
              <a:t>송수신 모듈</a:t>
            </a:r>
            <a:endParaRPr lang="en-US" altLang="ko-KR" dirty="0"/>
          </a:p>
          <a:p>
            <a:pPr lvl="2"/>
            <a:r>
              <a:rPr lang="ko-KR" altLang="en-US" dirty="0"/>
              <a:t>위상 편이가 없다는 점에서 파격적임</a:t>
            </a:r>
            <a:endParaRPr lang="en-US" altLang="ko-KR" dirty="0"/>
          </a:p>
          <a:p>
            <a:pPr lvl="2"/>
            <a:r>
              <a:rPr lang="ko-KR" altLang="en-US" dirty="0"/>
              <a:t>모든 위상 편이 및 보정은 디지털로 수행됨</a:t>
            </a:r>
            <a:endParaRPr lang="en-US" altLang="ko-KR" dirty="0"/>
          </a:p>
          <a:p>
            <a:pPr lvl="2"/>
            <a:r>
              <a:rPr lang="ko-KR" altLang="en-US" dirty="0"/>
              <a:t>고도 및 방위각에서 동시에 빔 형성이 가능하므로 새로운 실험 모드를 지원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1043489524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SAR-XL Beams And Modes Specifications</a:t>
            </a:r>
          </a:p>
          <a:p>
            <a:pPr lvl="1"/>
            <a:r>
              <a:rPr lang="en-US" altLang="ko-KR" dirty="0" err="1"/>
              <a:t>SpotLight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Multi-Aperture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/>
              <a:t>Dual-Band </a:t>
            </a:r>
            <a:r>
              <a:rPr lang="en-US" altLang="ko-KR" dirty="0" err="1"/>
              <a:t>StripMap</a:t>
            </a:r>
            <a:r>
              <a:rPr lang="en-US" altLang="ko-KR" dirty="0"/>
              <a:t> Mode products</a:t>
            </a:r>
          </a:p>
          <a:p>
            <a:pPr lvl="1"/>
            <a:r>
              <a:rPr lang="en-US" altLang="ko-KR" dirty="0" err="1"/>
              <a:t>ScanSAR</a:t>
            </a:r>
            <a:r>
              <a:rPr lang="en-US" altLang="ko-KR" dirty="0"/>
              <a:t> Mode products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SAR-XL Extendable Architecture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16</a:t>
            </a:r>
            <a:r>
              <a:rPr lang="ko-KR" altLang="en-US" dirty="0"/>
              <a:t>개의 </a:t>
            </a:r>
            <a:r>
              <a:rPr lang="en-US" altLang="ko-KR" dirty="0"/>
              <a:t>aperture</a:t>
            </a:r>
            <a:r>
              <a:rPr lang="ko-KR" altLang="en-US" dirty="0"/>
              <a:t>까지 확장하여 </a:t>
            </a:r>
            <a:r>
              <a:rPr lang="en-US" altLang="ko-KR" dirty="0"/>
              <a:t>16m </a:t>
            </a:r>
            <a:r>
              <a:rPr lang="ko-KR" altLang="en-US" dirty="0"/>
              <a:t>길이의 안테나를 임무에 사용할 수 있음</a:t>
            </a:r>
            <a:endParaRPr lang="en-US" altLang="ko-KR" dirty="0"/>
          </a:p>
          <a:p>
            <a:pPr lvl="1"/>
            <a:r>
              <a:rPr lang="ko-KR" altLang="en-US" dirty="0"/>
              <a:t>안테나 인터페이스 및 제어 장치를 수정하여 더 많은 </a:t>
            </a:r>
            <a:r>
              <a:rPr lang="en-US" altLang="ko-KR" dirty="0"/>
              <a:t>aperture</a:t>
            </a:r>
            <a:r>
              <a:rPr lang="ko-KR" altLang="en-US" dirty="0"/>
              <a:t>를 만들 수 있음</a:t>
            </a:r>
            <a:endParaRPr lang="en-US" altLang="ko-KR" dirty="0"/>
          </a:p>
          <a:p>
            <a:pPr lvl="1"/>
            <a:r>
              <a:rPr lang="ko-KR" altLang="en-US" dirty="0"/>
              <a:t>기술적인 비용을 크게 줄일 수 있는 기본 모듈의 설계 요소 사용 가능</a:t>
            </a:r>
            <a:endParaRPr lang="en-US" altLang="ko-KR" dirty="0"/>
          </a:p>
          <a:p>
            <a:pPr lvl="1"/>
            <a:r>
              <a:rPr lang="ko-KR" altLang="en-US" dirty="0"/>
              <a:t>더 많은 </a:t>
            </a:r>
            <a:r>
              <a:rPr lang="en-US" altLang="ko-KR" dirty="0"/>
              <a:t>aperture</a:t>
            </a:r>
            <a:r>
              <a:rPr lang="ko-KR" altLang="en-US" dirty="0"/>
              <a:t>를 사용하면 해상도의 정밀도 및</a:t>
            </a:r>
            <a:r>
              <a:rPr lang="en-US" altLang="ko-KR" dirty="0"/>
              <a:t> swath </a:t>
            </a:r>
            <a:r>
              <a:rPr lang="ko-KR" altLang="en-US" dirty="0"/>
              <a:t>폭 증가</a:t>
            </a:r>
            <a:r>
              <a:rPr lang="en-US" altLang="ko-KR" dirty="0"/>
              <a:t>, ambiguity ratio </a:t>
            </a:r>
            <a:r>
              <a:rPr lang="ko-KR" altLang="en-US" dirty="0"/>
              <a:t>및 </a:t>
            </a:r>
            <a:r>
              <a:rPr lang="en-US" altLang="ko-KR" dirty="0"/>
              <a:t>NESZ </a:t>
            </a:r>
            <a:r>
              <a:rPr lang="ko-KR" altLang="en-US" dirty="0"/>
              <a:t>감소 등의 효과를 얻을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4"/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57FDC-58D5-9409-9B97-49472054810F}"/>
              </a:ext>
            </a:extLst>
          </p:cNvPr>
          <p:cNvSpPr txBox="1"/>
          <p:nvPr/>
        </p:nvSpPr>
        <p:spPr>
          <a:xfrm>
            <a:off x="-78130" y="6012626"/>
            <a:ext cx="86298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(The UrtheCast SAR-XL Multi-Band, Multi-Aperture, 2017, Peter Fox, Keith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Beckett)</a:t>
            </a:r>
          </a:p>
        </p:txBody>
      </p:sp>
    </p:spTree>
    <p:extLst>
      <p:ext uri="{BB962C8B-B14F-4D97-AF65-F5344CB8AC3E}">
        <p14:creationId xmlns:p14="http://schemas.microsoft.com/office/powerpoint/2010/main" val="2834576497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코멘트</a:t>
            </a:r>
            <a:br>
              <a:rPr lang="en-US" altLang="ko-KR" dirty="0"/>
            </a:b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5295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문서양식</a:t>
            </a:r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601155"/>
          <a:ext cx="862965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글상자</a:t>
                      </a:r>
                      <a:r>
                        <a:rPr lang="ko-KR" altLang="en-US" sz="1400" dirty="0"/>
                        <a:t> 위치를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줄간격</a:t>
                      </a:r>
                      <a:r>
                        <a:rPr lang="ko-KR" altLang="en-US" sz="1400" dirty="0"/>
                        <a:t> 등을 양식에 따를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폰트 크기 등을 양식에 따를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참고문헌 표기 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왜곡된 비율의 그림은 수정하여 자료에 삽입할 것</a:t>
                      </a:r>
                      <a:r>
                        <a:rPr lang="en-US" altLang="ko-KR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131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All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회의록 양식과 유사도가 상당히 높은데</a:t>
                      </a:r>
                      <a:r>
                        <a:rPr lang="en-US" altLang="ko-KR" sz="1400" dirty="0"/>
                        <a:t>, ‘</a:t>
                      </a:r>
                      <a:r>
                        <a:rPr lang="ko-KR" altLang="en-US" sz="1400" dirty="0"/>
                        <a:t>내용과 양식을 모두 그대로</a:t>
                      </a:r>
                      <a:r>
                        <a:rPr lang="en-US" altLang="ko-KR" sz="1400" dirty="0"/>
                        <a:t>’</a:t>
                      </a:r>
                      <a:r>
                        <a:rPr lang="ko-KR" altLang="en-US" sz="1400" dirty="0"/>
                        <a:t> 복사 붙여넣기 한 것은 아닌지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9066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(1)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1947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p.2, 3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3-18 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503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p.5-6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한 개의 슬라이드에 요약하여 정리할 것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논문에서 표로 표현되었다는 것은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표로 표현해야 가독성이 높은 내용이라는 뜻임</a:t>
                      </a:r>
                      <a:r>
                        <a:rPr lang="en-US" altLang="ko-KR" sz="1400" dirty="0"/>
                        <a:t>. 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표는 발표자료에도 표로 옮기고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출처를 표기할 것</a:t>
                      </a:r>
                      <a:r>
                        <a:rPr lang="en-US" altLang="ko-KR" sz="1400" dirty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6168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‘LEO</a:t>
                      </a:r>
                      <a:r>
                        <a:rPr lang="ko-KR" altLang="en-US" sz="1400" dirty="0"/>
                        <a:t>원격감지 시스템의 명령전달 및 데이터 복구를 다루는 이 논문의 접근 방법은 </a:t>
                      </a:r>
                      <a:r>
                        <a:rPr lang="en-US" altLang="ko-KR" sz="1400" dirty="0"/>
                        <a:t>STK</a:t>
                      </a:r>
                      <a:r>
                        <a:rPr lang="ko-KR" altLang="en-US" sz="1400" dirty="0"/>
                        <a:t>에 분석에 적합함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본인이 수행할 연구목표에 적합한지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결론에 동일한 문장이 있는데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옳게 작성된 문장인지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400" dirty="0"/>
                        <a:t>Coverage, AWB, STK Analyzer</a:t>
                      </a:r>
                      <a:r>
                        <a:rPr lang="ko-KR" altLang="en-US" sz="1400" dirty="0"/>
                        <a:t>가 서로 다른 소프트웨어인지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DV</a:t>
                      </a:r>
                      <a:r>
                        <a:rPr lang="ko-KR" altLang="en-US" sz="1400" dirty="0"/>
                        <a:t>와 </a:t>
                      </a:r>
                      <a:r>
                        <a:rPr lang="en-US" altLang="ko-KR" sz="1400" dirty="0"/>
                        <a:t>MOP</a:t>
                      </a:r>
                      <a:r>
                        <a:rPr lang="ko-KR" altLang="en-US" sz="1400" dirty="0"/>
                        <a:t>의 정의가 무엇인지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  <a:tr h="1623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p.4-9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동일한 내용이 반복되는데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한 슬라이드로 요약할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446936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p.10-17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가장 주요한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본 논문의 핵심이 되는 </a:t>
                      </a:r>
                      <a:r>
                        <a:rPr lang="en-US" altLang="ko-KR" sz="1400" dirty="0"/>
                        <a:t>or </a:t>
                      </a:r>
                      <a:r>
                        <a:rPr lang="ko-KR" altLang="en-US" sz="1400" dirty="0"/>
                        <a:t>본인의 연구에 적용할 수 있는</a:t>
                      </a:r>
                      <a:r>
                        <a:rPr lang="en-US" altLang="ko-KR" sz="1400" dirty="0"/>
                        <a:t>) figure</a:t>
                      </a:r>
                      <a:r>
                        <a:rPr lang="ko-KR" altLang="en-US" sz="1400" dirty="0"/>
                        <a:t>를 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개 이내로 정리할 것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3145"/>
                  </a:ext>
                </a:extLst>
              </a:tr>
              <a:tr h="275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p.18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결론에 더해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본 논문의 내용 중 어떤 부분을 본인의 연구에 어떻게 적용할 수 있는지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1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00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1D875A9-DAEB-FA46-D312-FC74043A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D3AE-C24E-49FC-B527-05061A0348E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E95D976-E846-4B63-EAC4-C47855D0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코멘트 </a:t>
            </a:r>
            <a:r>
              <a:rPr lang="en-US" altLang="ko-KR" dirty="0"/>
              <a:t>(2023.04.05)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0452C8F-6DB4-7420-E345-336142300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Reference (2)</a:t>
            </a:r>
            <a:endParaRPr lang="ko-KR" altLang="en-US" dirty="0"/>
          </a:p>
        </p:txBody>
      </p:sp>
      <p:graphicFrame>
        <p:nvGraphicFramePr>
          <p:cNvPr id="8" name="표 5">
            <a:extLst>
              <a:ext uri="{FF2B5EF4-FFF2-40B4-BE49-F238E27FC236}">
                <a16:creationId xmlns:a16="http://schemas.microsoft.com/office/drawing/2014/main" id="{E288449F-ABF3-C46B-C893-7578798C4624}"/>
              </a:ext>
            </a:extLst>
          </p:cNvPr>
          <p:cNvGraphicFramePr>
            <a:graphicFrameLocks/>
          </p:cNvGraphicFramePr>
          <p:nvPr/>
        </p:nvGraphicFramePr>
        <p:xfrm>
          <a:off x="257268" y="1366730"/>
          <a:ext cx="86296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882">
                  <a:extLst>
                    <a:ext uri="{9D8B030D-6E8A-4147-A177-3AD203B41FA5}">
                      <a16:colId xmlns:a16="http://schemas.microsoft.com/office/drawing/2014/main" val="513523145"/>
                    </a:ext>
                  </a:extLst>
                </a:gridCol>
                <a:gridCol w="6564086">
                  <a:extLst>
                    <a:ext uri="{9D8B030D-6E8A-4147-A177-3AD203B41FA5}">
                      <a16:colId xmlns:a16="http://schemas.microsoft.com/office/drawing/2014/main" val="2718144965"/>
                    </a:ext>
                  </a:extLst>
                </a:gridCol>
                <a:gridCol w="994682">
                  <a:extLst>
                    <a:ext uri="{9D8B030D-6E8A-4147-A177-3AD203B41FA5}">
                      <a16:colId xmlns:a16="http://schemas.microsoft.com/office/drawing/2014/main" val="921121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55047"/>
                  </a:ext>
                </a:extLst>
              </a:tr>
              <a:tr h="1372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p.19, 20 </a:t>
                      </a: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 20-27</a:t>
                      </a:r>
                      <a:r>
                        <a:rPr lang="ko-KR" altLang="en-US" sz="1400" dirty="0"/>
                        <a:t>하단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참고문헌 표기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참고문헌 표기 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저자와 </a:t>
                      </a:r>
                      <a:r>
                        <a:rPr lang="ko-KR" altLang="en-US" sz="1400" dirty="0" err="1"/>
                        <a:t>출판년도</a:t>
                      </a:r>
                      <a:r>
                        <a:rPr lang="ko-KR" altLang="en-US" sz="1400" dirty="0"/>
                        <a:t> 사이에 콤마 삽입</a:t>
                      </a:r>
                      <a:endParaRPr lang="en-US" altLang="ko-KR" sz="14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/>
                        <a:t>저자가 </a:t>
                      </a:r>
                      <a:r>
                        <a:rPr lang="ko-KR" altLang="en-US" sz="1400" dirty="0" err="1"/>
                        <a:t>여러명인</a:t>
                      </a:r>
                      <a:r>
                        <a:rPr lang="ko-KR" altLang="en-US" sz="1400" dirty="0"/>
                        <a:t> 경우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표기하는 방법에 대해서는 팀미팅에서 여러 번 언급하였으므로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수정할 것</a:t>
                      </a:r>
                      <a:r>
                        <a:rPr lang="en-US" altLang="ko-KR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ko-KR" altLang="en-US" sz="1400" dirty="0"/>
                        <a:t>중복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069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본 논문의 </a:t>
                      </a:r>
                      <a:r>
                        <a:rPr lang="en-US" altLang="ko-KR" sz="1400" dirty="0"/>
                        <a:t>‘Heterogeneous constellation’</a:t>
                      </a:r>
                      <a:r>
                        <a:rPr lang="ko-KR" altLang="en-US" sz="1400" dirty="0"/>
                        <a:t>의 정의는 무엇인지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6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p.22-27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논문의 핵심이 표현되는 그래프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그림 등이 자료에 없음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논문의 핵심이 무엇인지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그림으로 표현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시뮬레이션 결과가 있다면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자료에 포함할 것</a:t>
                      </a:r>
                      <a:endParaRPr lang="en-US" altLang="ko-KR" sz="14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400" dirty="0"/>
                        <a:t>방법론만을 리뷰한 논문이라면 논문에서 인용한 참고문헌을 포함할 것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77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p.24-25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Reference (1)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p.5-6</a:t>
                      </a:r>
                      <a:r>
                        <a:rPr lang="ko-KR" altLang="en-US" sz="1400" dirty="0"/>
                        <a:t>에 대한 코멘트와 동일</a:t>
                      </a: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28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p.27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‘</a:t>
                      </a:r>
                      <a:r>
                        <a:rPr lang="ko-KR" altLang="en-US" sz="1400" dirty="0"/>
                        <a:t>하지만 재구성 설계에 대한 모델 및 지표가 없는 것이 한계</a:t>
                      </a:r>
                      <a:r>
                        <a:rPr lang="en-US" altLang="ko-KR" sz="1400" dirty="0"/>
                        <a:t>’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400" dirty="0" err="1"/>
                        <a:t>를</a:t>
                      </a:r>
                      <a:r>
                        <a:rPr lang="ko-KR" altLang="en-US" sz="1400" dirty="0"/>
                        <a:t> 어떻게 극복하여 본인의 연구에 적용할 수 있을지</a:t>
                      </a:r>
                      <a:r>
                        <a:rPr lang="en-US" altLang="ko-KR" sz="1400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104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70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83792</TotalTime>
  <Words>6212</Words>
  <Application>Microsoft Office PowerPoint</Application>
  <PresentationFormat>화면 슬라이드 쇼(4:3)</PresentationFormat>
  <Paragraphs>1068</Paragraphs>
  <Slides>65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1" baseType="lpstr">
      <vt:lpstr>맑은 고딕</vt:lpstr>
      <vt:lpstr>Arial</vt:lpstr>
      <vt:lpstr>Open sans</vt:lpstr>
      <vt:lpstr>times</vt:lpstr>
      <vt:lpstr>Wingdings</vt:lpstr>
      <vt:lpstr>Office 테마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(3) The UrtheCast SAR-XL Multi-Band, Multi-Aperture, 2017, Peter Fox,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결론</vt:lpstr>
      <vt:lpstr>이종위성군 선행연구자료</vt:lpstr>
      <vt:lpstr>경청해 주셔서 감사합니다.</vt:lpstr>
      <vt:lpstr>코멘트 (2023.04.05)</vt:lpstr>
      <vt:lpstr>코멘트 (2023.04.05)</vt:lpstr>
      <vt:lpstr>코멘트 (2023.04.05)</vt:lpstr>
      <vt:lpstr>코멘트 (2023.04.05)</vt:lpstr>
      <vt:lpstr>이종위성군 선행연구자료</vt:lpstr>
      <vt:lpstr>이종위성군 선행연구자료</vt:lpstr>
      <vt:lpstr>(1) A Framework for Heterogeneous Satellite Constellation Design for Rapid Response Earth Observations, 2019, Ibrahim Sanad and David G Michelson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(2) Research on the configuration design method of heterogeneous constellation reconstruction under the multiple objective and multiple constraint, 2017, Shuang Zhao, Yanli Xu and Huayu Dai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(3) The UrtheCast SAR-XL Multi-Band, Multi-Aperture, 2017, Peter Fox, Keith Beckett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코멘트 (2023.04.05)</vt:lpstr>
      <vt:lpstr>코멘트 (2023.04.05)</vt:lpstr>
      <vt:lpstr>코멘트 (2023.04.05)</vt:lpstr>
      <vt:lpstr>코멘트 (2023.04.05)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4624</cp:revision>
  <dcterms:created xsi:type="dcterms:W3CDTF">2018-01-29T02:45:56Z</dcterms:created>
  <dcterms:modified xsi:type="dcterms:W3CDTF">2023-04-13T05:58:33Z</dcterms:modified>
</cp:coreProperties>
</file>