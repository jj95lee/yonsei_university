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229" r:id="rId2"/>
    <p:sldId id="2356" r:id="rId3"/>
    <p:sldId id="2297" r:id="rId4"/>
    <p:sldId id="2358" r:id="rId5"/>
    <p:sldId id="2357" r:id="rId6"/>
    <p:sldId id="2359" r:id="rId7"/>
    <p:sldId id="2360" r:id="rId8"/>
    <p:sldId id="2361" r:id="rId9"/>
    <p:sldId id="2362" r:id="rId10"/>
    <p:sldId id="2363" r:id="rId11"/>
    <p:sldId id="2364" r:id="rId12"/>
    <p:sldId id="2365" r:id="rId13"/>
    <p:sldId id="2337" r:id="rId14"/>
    <p:sldId id="2366" r:id="rId15"/>
    <p:sldId id="2367" r:id="rId16"/>
    <p:sldId id="2368" r:id="rId17"/>
    <p:sldId id="2369" r:id="rId18"/>
    <p:sldId id="2370" r:id="rId19"/>
    <p:sldId id="2371" r:id="rId20"/>
    <p:sldId id="2232" r:id="rId21"/>
    <p:sldId id="2347" r:id="rId22"/>
    <p:sldId id="2346" r:id="rId23"/>
    <p:sldId id="2348" r:id="rId24"/>
    <p:sldId id="2349" r:id="rId25"/>
    <p:sldId id="2352" r:id="rId26"/>
    <p:sldId id="2351" r:id="rId27"/>
    <p:sldId id="2353" r:id="rId28"/>
    <p:sldId id="2355" r:id="rId29"/>
    <p:sldId id="2339" r:id="rId30"/>
    <p:sldId id="2338" r:id="rId31"/>
    <p:sldId id="2341" r:id="rId32"/>
    <p:sldId id="2343" r:id="rId3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82161" autoAdjust="0"/>
  </p:normalViewPr>
  <p:slideViewPr>
    <p:cSldViewPr snapToGrid="0" showGuides="1">
      <p:cViewPr varScale="1">
        <p:scale>
          <a:sx n="88" d="100"/>
          <a:sy n="88" d="100"/>
        </p:scale>
        <p:origin x="10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2023-04-12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24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827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36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766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216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149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항목 추가할 것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논문의 결론에 더해</a:t>
            </a:r>
            <a:r>
              <a:rPr lang="en-US" altLang="ko-KR" sz="1200" dirty="0"/>
              <a:t>, </a:t>
            </a:r>
            <a:r>
              <a:rPr lang="ko-KR" altLang="en-US" sz="1200" dirty="0"/>
              <a:t>본 논문의 내용 중 어떤 부분을 본인의 연구에 어떻게 적용할 수 있는지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13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40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문서양식 수정 완료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내용 보완 및 다음 사항 추가 할 것</a:t>
            </a:r>
            <a:endParaRPr lang="en-US" altLang="ko-KR" dirty="0"/>
          </a:p>
          <a:p>
            <a:endParaRPr lang="en-US" altLang="ko-KR" dirty="0"/>
          </a:p>
          <a:p>
            <a:pPr latinLnBrk="1"/>
            <a:r>
              <a:rPr lang="ko-KR" altLang="en-US" sz="1200" dirty="0"/>
              <a:t>논문의 핵심이 표현되는 그래프</a:t>
            </a:r>
            <a:r>
              <a:rPr lang="en-US" altLang="ko-KR" sz="1200" dirty="0"/>
              <a:t>, </a:t>
            </a:r>
            <a:r>
              <a:rPr lang="ko-KR" altLang="en-US" sz="1200" dirty="0"/>
              <a:t>표</a:t>
            </a:r>
            <a:r>
              <a:rPr lang="en-US" altLang="ko-KR" sz="1200" dirty="0"/>
              <a:t>, </a:t>
            </a:r>
            <a:r>
              <a:rPr lang="ko-KR" altLang="en-US" sz="1200" dirty="0"/>
              <a:t>그림 등이 자료에 없음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핵심이 무엇인지 </a:t>
            </a:r>
            <a:r>
              <a:rPr lang="en-US" altLang="ko-KR" sz="1200" dirty="0"/>
              <a:t>(</a:t>
            </a:r>
            <a:r>
              <a:rPr lang="ko-KR" altLang="en-US" sz="1200" dirty="0"/>
              <a:t>그림으로 표현</a:t>
            </a:r>
            <a:r>
              <a:rPr lang="en-US" altLang="ko-KR" sz="1200" dirty="0"/>
              <a:t>)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시뮬레이션 결과가 있다면</a:t>
            </a:r>
            <a:r>
              <a:rPr lang="en-US" altLang="ko-KR" sz="1200" dirty="0"/>
              <a:t> </a:t>
            </a:r>
            <a:r>
              <a:rPr lang="ko-KR" altLang="en-US" sz="1200" dirty="0"/>
              <a:t>자료에 포함할 것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방법론만을 리뷰한 논문이라면 논문에서 인용한 참고문헌을 포함할 것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161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60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73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906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다음 사항 추가할 것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‘</a:t>
            </a:r>
            <a:r>
              <a:rPr lang="ko-KR" altLang="en-US" sz="1200" dirty="0"/>
              <a:t>하지만 재구성 설계에 대한 모델 및 지표가 없는 것이 한계</a:t>
            </a:r>
            <a:r>
              <a:rPr lang="en-US" altLang="ko-KR" sz="1200" dirty="0"/>
              <a:t>’</a:t>
            </a: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 err="1"/>
              <a:t>를</a:t>
            </a:r>
            <a:r>
              <a:rPr lang="ko-KR" altLang="en-US" sz="1200" dirty="0"/>
              <a:t> 어떻게 극복하여 본인의 연구에 적용할 수 있을지</a:t>
            </a:r>
            <a:r>
              <a:rPr lang="en-US" altLang="ko-KR" sz="1200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8976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706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GSD(ground sample distance) :  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영상의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픽셀이 지상에서 가지는 실제 거리</a:t>
            </a:r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X-band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dirty="0"/>
              <a:t>8.5 ~ 10.4 GHz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L-band(</a:t>
            </a:r>
            <a:r>
              <a:rPr lang="en-US" altLang="ko-KR" dirty="0"/>
              <a:t>40~60 GHz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Push broom : device for obtaining images with </a:t>
            </a:r>
            <a:r>
              <a:rPr lang="en-US" altLang="ko-KR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spectroscopic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sensors.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25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AIS : </a:t>
            </a:r>
            <a:r>
              <a:rPr lang="ko-KR" altLang="en-US" dirty="0"/>
              <a:t>항공정보</a:t>
            </a:r>
            <a:r>
              <a:rPr lang="en-US" altLang="ko-KR" dirty="0"/>
              <a:t>, </a:t>
            </a:r>
            <a:r>
              <a:rPr lang="ko-KR" altLang="en-US" dirty="0"/>
              <a:t>선박자동식별장치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10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955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농작물 모니터링</a:t>
            </a:r>
            <a:r>
              <a:rPr lang="en-US" altLang="ko-KR" dirty="0"/>
              <a:t>, </a:t>
            </a:r>
            <a:r>
              <a:rPr lang="ko-KR" altLang="en-US" dirty="0"/>
              <a:t>산림 구조 모델링</a:t>
            </a:r>
            <a:r>
              <a:rPr lang="en-US" altLang="ko-KR" dirty="0"/>
              <a:t>, biomass </a:t>
            </a:r>
            <a:r>
              <a:rPr lang="ko-KR" altLang="en-US" dirty="0"/>
              <a:t>추정</a:t>
            </a:r>
            <a:r>
              <a:rPr lang="en-US" altLang="ko-KR" dirty="0"/>
              <a:t>, </a:t>
            </a:r>
            <a:r>
              <a:rPr lang="ko-KR" altLang="en-US" dirty="0"/>
              <a:t>토양 수분 탐지 및 선박 탐지 등 고해상도 감시 및 광범위한 해양 감시 등의 프로그램 제공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MIMO (Multi-Input Multi-Output)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6507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 NESZ : noise equivalent sigma zero (SAR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시스템 민감도에 관한 지표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479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5219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953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294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24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2023-04-12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b="1" dirty="0"/>
              <a:t>프로젝트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작성 일자 </a:t>
            </a:r>
            <a:r>
              <a:rPr lang="en-US" altLang="ko-KR" sz="1800" dirty="0"/>
              <a:t>: 2023.04.12</a:t>
            </a:r>
          </a:p>
          <a:p>
            <a:pPr lvl="1"/>
            <a:r>
              <a:rPr lang="ko-KR" altLang="en-US" sz="1800" b="1" dirty="0"/>
              <a:t>작성자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연세대학교 우주비행제어 연구실 </a:t>
            </a:r>
            <a:r>
              <a:rPr lang="en-US" altLang="ko-KR" sz="1800" dirty="0"/>
              <a:t>(</a:t>
            </a:r>
            <a:r>
              <a:rPr lang="ko-KR" altLang="en-US" sz="1800" dirty="0"/>
              <a:t>이진진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b="1" dirty="0"/>
              <a:t>연구목표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감시</a:t>
            </a:r>
            <a:r>
              <a:rPr lang="en-US" altLang="ko-KR" sz="1800" dirty="0"/>
              <a:t>/</a:t>
            </a:r>
            <a:r>
              <a:rPr lang="ko-KR" altLang="en-US" sz="1800" dirty="0"/>
              <a:t>정찰 임무 수행을 위한 이종 위성군의 설계 최적화 및 운용 개념 도출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연구자료 요약 </a:t>
            </a:r>
            <a:r>
              <a:rPr lang="en-US" altLang="ko-KR" sz="1800" dirty="0"/>
              <a:t>: </a:t>
            </a:r>
            <a:r>
              <a:rPr lang="ko-KR" altLang="en-US" sz="1800" dirty="0"/>
              <a:t>위의 연구목표를 달성하기 위해 이종위성군 설계와 관련된 해외 문헌 조사를 하였으며</a:t>
            </a:r>
            <a:r>
              <a:rPr lang="en-US" altLang="ko-KR" sz="1800" dirty="0"/>
              <a:t>, </a:t>
            </a:r>
            <a:r>
              <a:rPr lang="ko-KR" altLang="en-US" sz="1800" dirty="0"/>
              <a:t>조사한 여러 문헌들 가운데 한반도를 관심지역으로 설정한 본 프로젝트의 연구 방향에 가장 적합하며 의미 있을 것으로 판단되는 세 편의 논문을 아래와 같이 선별함</a:t>
            </a:r>
            <a:endParaRPr lang="en-US" altLang="ko-KR" sz="1800" dirty="0"/>
          </a:p>
          <a:p>
            <a:pPr lvl="2"/>
            <a:r>
              <a:rPr lang="en-US" altLang="ko-KR" dirty="0"/>
              <a:t>A Framework for Heterogeneous Satellite Constellation Design for Rapid Response Earth Observations, 2019, Ibrahim Sanad and David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/>
              <a:t> </a:t>
            </a:r>
            <a:r>
              <a:rPr lang="en-US" altLang="ko-KR" dirty="0"/>
              <a:t>Michelson</a:t>
            </a:r>
          </a:p>
          <a:p>
            <a:pPr lvl="2"/>
            <a:r>
              <a:rPr lang="en-US" altLang="ko-KR" dirty="0"/>
              <a:t>Research on the configuration design method of heterogeneous constellation reconstruction under the multiple objective and multiple constraint, 2017, Shuang Zhao, </a:t>
            </a:r>
            <a:r>
              <a:rPr lang="en-US" altLang="ko-KR" dirty="0" err="1"/>
              <a:t>Yanli</a:t>
            </a:r>
            <a:r>
              <a:rPr lang="en-US" altLang="ko-KR" dirty="0"/>
              <a:t> Xu and </a:t>
            </a:r>
            <a:r>
              <a:rPr lang="en-US" altLang="ko-KR" dirty="0" err="1"/>
              <a:t>Huayu</a:t>
            </a:r>
            <a:r>
              <a:rPr lang="en-US" altLang="ko-KR" dirty="0"/>
              <a:t> Dai</a:t>
            </a:r>
            <a:endParaRPr lang="ko-KR" altLang="en-US" dirty="0"/>
          </a:p>
          <a:p>
            <a:pPr lvl="2"/>
            <a:r>
              <a:rPr lang="en-US" altLang="ko-KR" dirty="0"/>
              <a:t>The UrtheCast SAR-XL Multi-Band, Multi-Aperture, 2017, Peter Fox, Keith Beckett</a:t>
            </a:r>
            <a:endParaRPr lang="en-US" altLang="ko-KR" b="1" dirty="0"/>
          </a:p>
          <a:p>
            <a:pPr lvl="4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64548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(1) A Framework for Heterogeneous Satellite Constellation Design for Rapid Response Earth Observations, 2019, Ibrahim Sanad and David</a:t>
            </a:r>
            <a:r>
              <a:rPr lang="ko-KR" altLang="en-US" b="1" dirty="0"/>
              <a:t> </a:t>
            </a:r>
            <a:r>
              <a:rPr lang="en-US" altLang="ko-KR" b="1" dirty="0"/>
              <a:t>G</a:t>
            </a:r>
            <a:r>
              <a:rPr lang="ko-KR" altLang="en-US" b="1" dirty="0"/>
              <a:t> </a:t>
            </a:r>
            <a:r>
              <a:rPr lang="en-US" altLang="ko-KR" b="1" dirty="0"/>
              <a:t>Michelson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 </a:t>
            </a:r>
          </a:p>
          <a:p>
            <a:pPr lvl="1"/>
            <a:r>
              <a:rPr lang="ko-KR" altLang="en-US" dirty="0"/>
              <a:t>이종 위성군의 운용목표인 신속성과 직결되는 </a:t>
            </a:r>
            <a:r>
              <a:rPr lang="en-US" altLang="ko-KR" dirty="0"/>
              <a:t>SRT</a:t>
            </a:r>
            <a:r>
              <a:rPr lang="ko-KR" altLang="en-US" dirty="0"/>
              <a:t>의 개념</a:t>
            </a:r>
            <a:r>
              <a:rPr lang="en-US" altLang="ko-KR" dirty="0"/>
              <a:t>, </a:t>
            </a:r>
            <a:r>
              <a:rPr lang="ko-KR" altLang="en-US" dirty="0"/>
              <a:t>구성요소 및 단축 방법 등에 대한 내용을 기술한 후 이를 바탕으로 한 위성군의 설계 방법</a:t>
            </a:r>
            <a:r>
              <a:rPr lang="en-US" altLang="ko-KR" dirty="0"/>
              <a:t>, </a:t>
            </a:r>
            <a:r>
              <a:rPr lang="ko-KR" altLang="en-US" dirty="0"/>
              <a:t>그리고 해당 방법을 적용하여 시뮬레이션 하였을 때 파라미터의 값에 따른 성능 지수의 변화 결과 및 향후 작업에 대한 권고사항을 포함한다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자연재해 등 국방 및 자연안보와 관련된 사항에 신속하게 대응하기 위해 </a:t>
            </a:r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성능을 향상시키기 위해 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r>
              <a:rPr lang="en-US" altLang="ko-KR" dirty="0"/>
              <a:t>. </a:t>
            </a:r>
            <a:r>
              <a:rPr lang="ko-KR" altLang="en-US" dirty="0"/>
              <a:t>이 중</a:t>
            </a:r>
            <a:r>
              <a:rPr lang="en-US" altLang="ko-KR" dirty="0"/>
              <a:t>, Imaging</a:t>
            </a:r>
            <a:r>
              <a:rPr lang="ko-KR" altLang="en-US" dirty="0"/>
              <a:t> 위성에 대해서는 고도가 다른 두 궤도에 각각 배치함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8103662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종류 및 주요기능</a:t>
            </a:r>
          </a:p>
          <a:p>
            <a:pPr lvl="1"/>
            <a:r>
              <a:rPr lang="en-US" altLang="ko-KR" dirty="0"/>
              <a:t>Imaging constellation</a:t>
            </a:r>
          </a:p>
          <a:p>
            <a:pPr lvl="2"/>
            <a:r>
              <a:rPr lang="ko-KR" altLang="en-US" dirty="0"/>
              <a:t>고해상도 영상을 촬영함</a:t>
            </a:r>
            <a:endParaRPr lang="en-US" altLang="ko-KR" dirty="0"/>
          </a:p>
          <a:p>
            <a:pPr lvl="2"/>
            <a:r>
              <a:rPr lang="en-US" altLang="ko-KR" dirty="0"/>
              <a:t>SSO(Sun Synchronous Orbit)</a:t>
            </a:r>
            <a:r>
              <a:rPr lang="ko-KR" altLang="en-US" dirty="0"/>
              <a:t>와 </a:t>
            </a:r>
            <a:r>
              <a:rPr lang="en-US" altLang="ko-KR" dirty="0"/>
              <a:t>MIO(Mid Inclined Orbit)</a:t>
            </a:r>
            <a:r>
              <a:rPr lang="ko-KR" altLang="en-US" dirty="0"/>
              <a:t>에 배치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Relay constellation</a:t>
            </a:r>
          </a:p>
          <a:p>
            <a:pPr lvl="2"/>
            <a:r>
              <a:rPr lang="en-US" altLang="ko-KR" dirty="0"/>
              <a:t>Uplink</a:t>
            </a:r>
            <a:r>
              <a:rPr lang="ko-KR" altLang="en-US" dirty="0"/>
              <a:t>를 통해 지상국에서부터 위성으로 명령을 전달함</a:t>
            </a:r>
            <a:endParaRPr lang="en-US" altLang="ko-KR" dirty="0"/>
          </a:p>
          <a:p>
            <a:pPr lvl="2"/>
            <a:r>
              <a:rPr lang="en-US" altLang="ko-KR" dirty="0"/>
              <a:t>Downlink</a:t>
            </a:r>
            <a:r>
              <a:rPr lang="ko-KR" altLang="en-US" dirty="0"/>
              <a:t>를 통해 위성에서부터 지상국으로 </a:t>
            </a:r>
            <a:r>
              <a:rPr lang="en-US" altLang="ko-KR" dirty="0"/>
              <a:t>Data</a:t>
            </a:r>
            <a:r>
              <a:rPr lang="ko-KR" altLang="en-US" dirty="0"/>
              <a:t>를 전송함</a:t>
            </a:r>
            <a:endParaRPr lang="en-US" altLang="ko-KR" dirty="0"/>
          </a:p>
          <a:p>
            <a:pPr lvl="2"/>
            <a:r>
              <a:rPr lang="ko-KR" altLang="en-US" dirty="0"/>
              <a:t>적도</a:t>
            </a:r>
            <a:r>
              <a:rPr lang="en-US" altLang="ko-KR" dirty="0"/>
              <a:t> </a:t>
            </a:r>
            <a:r>
              <a:rPr lang="ko-KR" altLang="en-US" dirty="0"/>
              <a:t>평면상의 </a:t>
            </a:r>
            <a:r>
              <a:rPr lang="en-US" altLang="ko-KR" dirty="0"/>
              <a:t>MEO(Medium Earth Orbit)</a:t>
            </a:r>
            <a:r>
              <a:rPr lang="ko-KR" altLang="en-US" dirty="0"/>
              <a:t>에 배치 </a:t>
            </a:r>
            <a:r>
              <a:rPr lang="en-US" altLang="ko-KR" dirty="0"/>
              <a:t>– altitude : 8000km</a:t>
            </a:r>
          </a:p>
          <a:p>
            <a:pPr lvl="3">
              <a:lnSpc>
                <a:spcPct val="150000"/>
              </a:lnSpc>
              <a:defRPr/>
            </a:pP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0AB72EB-4E56-F94E-D3EA-2C053615A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510354"/>
              </p:ext>
            </p:extLst>
          </p:nvPr>
        </p:nvGraphicFramePr>
        <p:xfrm>
          <a:off x="1073240" y="2325450"/>
          <a:ext cx="3221991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6C00884-D0E0-DE28-3155-181143B4FE90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32519139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SRT</a:t>
            </a:r>
            <a:r>
              <a:rPr lang="ko-KR" altLang="en-US" dirty="0"/>
              <a:t>의 구성</a:t>
            </a:r>
            <a:endParaRPr lang="en-US" altLang="ko-KR" dirty="0"/>
          </a:p>
          <a:p>
            <a:pPr lvl="1"/>
            <a:r>
              <a:rPr lang="en-US" altLang="ko-KR" dirty="0"/>
              <a:t>SRT(</a:t>
            </a:r>
            <a:r>
              <a:rPr lang="ko-KR" altLang="en-US" dirty="0"/>
              <a:t>시스템 처리 시간</a:t>
            </a:r>
            <a:r>
              <a:rPr lang="en-US" altLang="ko-KR" dirty="0"/>
              <a:t>)</a:t>
            </a:r>
            <a:r>
              <a:rPr lang="ko-KR" altLang="en-US" dirty="0"/>
              <a:t>은 시스템 요청 제출 시점부터 생성된 이미지를 사용할 수 있을 때까지의 시간 간격을 정의하며 다음의 </a:t>
            </a:r>
            <a:r>
              <a:rPr lang="en-US" altLang="ko-KR" dirty="0"/>
              <a:t>7</a:t>
            </a:r>
            <a:r>
              <a:rPr lang="ko-KR" altLang="en-US" dirty="0"/>
              <a:t>가지 </a:t>
            </a:r>
            <a:r>
              <a:rPr lang="en-US" altLang="ko-KR" dirty="0"/>
              <a:t>delay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위성과 </a:t>
            </a:r>
            <a:r>
              <a:rPr lang="en-US" altLang="ko-KR" dirty="0"/>
              <a:t>upper layer </a:t>
            </a:r>
            <a:r>
              <a:rPr lang="ko-KR" altLang="en-US" dirty="0"/>
              <a:t>위성 배치 사이에 양방향 </a:t>
            </a:r>
            <a:r>
              <a:rPr lang="en-US" altLang="ko-KR" dirty="0"/>
              <a:t>ISL</a:t>
            </a:r>
            <a:r>
              <a:rPr lang="ko-KR" altLang="en-US" dirty="0"/>
              <a:t>을 이용하여 </a:t>
            </a:r>
            <a:r>
              <a:rPr lang="en-US" altLang="ko-KR" dirty="0"/>
              <a:t>T2</a:t>
            </a:r>
            <a:r>
              <a:rPr lang="ko-KR" altLang="en-US" dirty="0"/>
              <a:t>와 </a:t>
            </a:r>
            <a:r>
              <a:rPr lang="en-US" altLang="ko-KR" dirty="0"/>
              <a:t>T6</a:t>
            </a:r>
            <a:r>
              <a:rPr lang="ko-KR" altLang="en-US" dirty="0"/>
              <a:t>을 줄임으로써 </a:t>
            </a:r>
            <a:r>
              <a:rPr lang="en-US" altLang="ko-KR" dirty="0"/>
              <a:t>SRT</a:t>
            </a:r>
            <a:r>
              <a:rPr lang="ko-KR" altLang="en-US" dirty="0"/>
              <a:t>를 크게 줄일 수 있음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AF35A6-D401-E0F9-E0C2-89502E430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32141"/>
              </p:ext>
            </p:extLst>
          </p:nvPr>
        </p:nvGraphicFramePr>
        <p:xfrm>
          <a:off x="486122" y="2583626"/>
          <a:ext cx="817175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67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71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Time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Definition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9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Preparation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(T1)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지상국에서부터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위성까지 명령을 전달하기 전에 명령을 수집하는데 걸리는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요청 및 처리 지연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시스템 프로그래밍 및 명령 컴파일이 포함됨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지상국이 접속할 때 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지상국에서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위성으로 수집된 명령을 전달하는데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이미지 획들을 위해 명령을 수신한 후 대상의 접속 시간을 구성하는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필요한 운용 모드로 탑재체를 스위칭 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Intrinsic Response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(T4)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관심 지역에 대한 커버리지 요청과 커버리지가 달성되는 시간 간격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재방문 시간에 완전히 의존함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위성이 타겟의 이미지를 수집하는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 대한 수신 지상국을 구성하는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수신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사이이 접속할 때까지의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생성된 데이터를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705644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STK </a:t>
            </a:r>
            <a:r>
              <a:rPr lang="ko-KR" altLang="en-US" dirty="0"/>
              <a:t>분석</a:t>
            </a:r>
            <a:endParaRPr lang="en-US" altLang="ko-KR" dirty="0"/>
          </a:p>
          <a:p>
            <a:pPr lvl="1"/>
            <a:r>
              <a:rPr lang="en-US" altLang="ko-KR" dirty="0"/>
              <a:t>STK</a:t>
            </a:r>
            <a:r>
              <a:rPr lang="ko-KR" altLang="en-US" dirty="0"/>
              <a:t> 소프트웨어 및 그 안에 포함된 </a:t>
            </a:r>
            <a:r>
              <a:rPr lang="en-US" altLang="ko-KR" dirty="0"/>
              <a:t>Coverage, STK Analyzer </a:t>
            </a:r>
            <a:r>
              <a:rPr lang="ko-KR" altLang="en-US" dirty="0"/>
              <a:t>등의 모듈을 사용하여 분석함</a:t>
            </a:r>
            <a:r>
              <a:rPr lang="en-US" altLang="ko-KR" dirty="0"/>
              <a:t>.</a:t>
            </a:r>
            <a:r>
              <a:rPr lang="ko-KR" altLang="en-US" dirty="0"/>
              <a:t> 또는 </a:t>
            </a:r>
            <a:r>
              <a:rPr lang="en-US" altLang="ko-KR" dirty="0"/>
              <a:t>STK</a:t>
            </a:r>
            <a:r>
              <a:rPr lang="ko-KR" altLang="en-US" dirty="0"/>
              <a:t>와 다른 소프트웨어인 </a:t>
            </a:r>
            <a:r>
              <a:rPr lang="en-US" altLang="ko-KR" dirty="0"/>
              <a:t>AWB(Analysis Workbench)</a:t>
            </a:r>
            <a:r>
              <a:rPr lang="ko-KR" altLang="en-US" dirty="0"/>
              <a:t>를 사용함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하나 또는 두개의 </a:t>
            </a:r>
            <a:r>
              <a:rPr lang="en-US" altLang="ko-KR" dirty="0"/>
              <a:t>DV</a:t>
            </a:r>
            <a:r>
              <a:rPr lang="ko-KR" altLang="en-US" dirty="0"/>
              <a:t>를 실행시키면 각 값에서 </a:t>
            </a:r>
            <a:r>
              <a:rPr lang="en-US" altLang="ko-KR" dirty="0"/>
              <a:t>MOP</a:t>
            </a:r>
            <a:r>
              <a:rPr lang="ko-KR" altLang="en-US" dirty="0"/>
              <a:t> 통계가 수집됨  </a:t>
            </a:r>
            <a:endParaRPr lang="en-US" altLang="ko-KR" dirty="0"/>
          </a:p>
          <a:p>
            <a:pPr lvl="2"/>
            <a:r>
              <a:rPr lang="en-US" altLang="ko-KR" dirty="0"/>
              <a:t>DV(Design Variable) : </a:t>
            </a:r>
            <a:r>
              <a:rPr lang="ko-KR" altLang="en-US" dirty="0"/>
              <a:t>위성군을 설계하는데 있어 </a:t>
            </a:r>
            <a:r>
              <a:rPr lang="en-US" altLang="ko-KR" dirty="0"/>
              <a:t>input</a:t>
            </a:r>
            <a:r>
              <a:rPr lang="ko-KR" altLang="en-US" dirty="0"/>
              <a:t>으로 적용되는 변수로</a:t>
            </a:r>
            <a:r>
              <a:rPr lang="en-US" altLang="ko-KR" dirty="0"/>
              <a:t>, </a:t>
            </a:r>
            <a:r>
              <a:rPr lang="ko-KR" altLang="en-US" dirty="0"/>
              <a:t>최적화를 위해 값을 조정하는 것이 가능함</a:t>
            </a:r>
            <a:endParaRPr lang="en-US" altLang="ko-KR" dirty="0"/>
          </a:p>
          <a:p>
            <a:pPr lvl="2"/>
            <a:r>
              <a:rPr lang="en-US" altLang="ko-KR" dirty="0"/>
              <a:t>MOP(Measures of Performances) : </a:t>
            </a:r>
            <a:r>
              <a:rPr lang="ko-KR" altLang="en-US" dirty="0"/>
              <a:t>설계변수</a:t>
            </a:r>
            <a:r>
              <a:rPr lang="en-US" altLang="ko-KR" dirty="0"/>
              <a:t>(DV)</a:t>
            </a:r>
            <a:r>
              <a:rPr lang="ko-KR" altLang="en-US" dirty="0"/>
              <a:t>에 따라 얻을 수 있는 최종 성능지표</a:t>
            </a:r>
            <a:r>
              <a:rPr lang="en-US" altLang="ko-KR" dirty="0"/>
              <a:t>(ex. </a:t>
            </a:r>
            <a:r>
              <a:rPr lang="ko-KR" altLang="en-US" dirty="0"/>
              <a:t>커버리지</a:t>
            </a:r>
            <a:r>
              <a:rPr lang="en-US" altLang="ko-KR" dirty="0"/>
              <a:t>, </a:t>
            </a:r>
            <a:r>
              <a:rPr lang="ko-KR" altLang="en-US" dirty="0"/>
              <a:t>재방문 주기</a:t>
            </a:r>
            <a:r>
              <a:rPr lang="en-US" altLang="ko-KR" dirty="0"/>
              <a:t>, </a:t>
            </a:r>
            <a:r>
              <a:rPr lang="ko-KR" altLang="en-US" dirty="0"/>
              <a:t>센서의 해상도 등</a:t>
            </a:r>
            <a:r>
              <a:rPr lang="en-US" altLang="ko-KR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1E892B-7F9C-D806-B8AE-93DFF4C5B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2042130"/>
            <a:ext cx="5295900" cy="2215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34194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위성 운용의 목표</a:t>
            </a:r>
          </a:p>
          <a:p>
            <a:pPr lvl="1"/>
            <a:r>
              <a:rPr lang="en-US" altLang="ko-KR" dirty="0"/>
              <a:t>24</a:t>
            </a:r>
            <a:r>
              <a:rPr lang="ko-KR" altLang="en-US" dirty="0"/>
              <a:t>시간 </a:t>
            </a:r>
            <a:r>
              <a:rPr lang="en-US" altLang="ko-KR" dirty="0"/>
              <a:t>100% </a:t>
            </a:r>
            <a:r>
              <a:rPr lang="ko-KR" altLang="en-US" dirty="0"/>
              <a:t>커버를 달성하는 광학</a:t>
            </a:r>
            <a:r>
              <a:rPr lang="en-US" altLang="ko-KR" dirty="0"/>
              <a:t> imaging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특정 공간 해상도를 달성하는데 필요한 </a:t>
            </a:r>
            <a:r>
              <a:rPr lang="ko-KR" altLang="en-US" dirty="0" err="1"/>
              <a:t>탑재체</a:t>
            </a:r>
            <a:r>
              <a:rPr lang="ko-KR" altLang="en-US" dirty="0"/>
              <a:t> 파라미터 지정</a:t>
            </a:r>
            <a:endParaRPr lang="en-US" altLang="ko-KR" dirty="0"/>
          </a:p>
          <a:p>
            <a:pPr lvl="1"/>
            <a:r>
              <a:rPr lang="en-US" altLang="ko-KR" dirty="0"/>
              <a:t>SRT</a:t>
            </a:r>
            <a:r>
              <a:rPr lang="ko-KR" altLang="en-US" dirty="0"/>
              <a:t>를 줄이기 위한 최상의 </a:t>
            </a:r>
            <a:r>
              <a:rPr lang="en-US" altLang="ko-KR" dirty="0"/>
              <a:t>Relay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신호 송수신을 위한 지상국의 위치 설정</a:t>
            </a:r>
            <a:endParaRPr lang="en-US" altLang="ko-KR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</a:t>
            </a:r>
          </a:p>
          <a:p>
            <a:pPr lvl="1"/>
            <a:r>
              <a:rPr lang="en-US" altLang="ko-KR" dirty="0"/>
              <a:t>FOV, </a:t>
            </a:r>
            <a:r>
              <a:rPr lang="ko-KR" altLang="en-US" dirty="0"/>
              <a:t>초점거리</a:t>
            </a:r>
            <a:r>
              <a:rPr lang="en-US" altLang="ko-KR" dirty="0"/>
              <a:t>(f), detector pitch(DP) </a:t>
            </a:r>
            <a:r>
              <a:rPr lang="ko-KR" altLang="en-US" dirty="0"/>
              <a:t>등의 다양한 파라미터를 조정하여 커버리지 비율에 따라 </a:t>
            </a:r>
            <a:r>
              <a:rPr lang="en-US" altLang="ko-KR" dirty="0"/>
              <a:t>SSO</a:t>
            </a:r>
            <a:r>
              <a:rPr lang="ko-KR" altLang="en-US" dirty="0"/>
              <a:t>에 광학 위성군을 설계</a:t>
            </a:r>
            <a:endParaRPr lang="en-US" altLang="ko-KR" dirty="0"/>
          </a:p>
          <a:p>
            <a:pPr lvl="1"/>
            <a:r>
              <a:rPr lang="ko-KR" altLang="en-US" dirty="0"/>
              <a:t>광학 </a:t>
            </a:r>
            <a:r>
              <a:rPr lang="ko-KR" altLang="en-US" dirty="0" err="1"/>
              <a:t>탑재체</a:t>
            </a:r>
            <a:r>
              <a:rPr lang="ko-KR" altLang="en-US" dirty="0"/>
              <a:t> 파라미터와 그에 따른 커버리지 및 공간 해상도에 주는 영향을 설계 및 최적화</a:t>
            </a:r>
            <a:endParaRPr lang="en-US" altLang="ko-KR" dirty="0"/>
          </a:p>
          <a:p>
            <a:pPr lvl="1"/>
            <a:r>
              <a:rPr lang="en-US" altLang="ko-KR" dirty="0"/>
              <a:t>SSO </a:t>
            </a:r>
            <a:r>
              <a:rPr lang="ko-KR" altLang="en-US" dirty="0"/>
              <a:t>위성군의 </a:t>
            </a:r>
            <a:r>
              <a:rPr lang="ko-KR" altLang="en-US" dirty="0" err="1"/>
              <a:t>커버리지를</a:t>
            </a:r>
            <a:r>
              <a:rPr lang="ko-KR" altLang="en-US" dirty="0"/>
              <a:t> 분석</a:t>
            </a:r>
            <a:endParaRPr lang="en-US" altLang="ko-KR" dirty="0"/>
          </a:p>
          <a:p>
            <a:pPr lvl="2"/>
            <a:r>
              <a:rPr lang="ko-KR" altLang="en-US" dirty="0"/>
              <a:t>커버리지 성능에 따라 </a:t>
            </a:r>
            <a:r>
              <a:rPr lang="en-US" altLang="ko-KR" dirty="0"/>
              <a:t>MIO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/>
              <a:t>위성군을 추가하면 중위도 지역의 재방문 주기 및 커버리지 증가율이 어떻게 변화하는지 분석</a:t>
            </a:r>
            <a:endParaRPr lang="en-US" altLang="ko-KR" dirty="0"/>
          </a:p>
          <a:p>
            <a:pPr lvl="1"/>
            <a:r>
              <a:rPr lang="en-US" altLang="ko-KR" dirty="0"/>
              <a:t>Imaging</a:t>
            </a:r>
            <a:r>
              <a:rPr lang="ko-KR" altLang="en-US" dirty="0"/>
              <a:t>과 </a:t>
            </a:r>
            <a:r>
              <a:rPr lang="en-US" altLang="ko-KR" dirty="0"/>
              <a:t>relay constellation </a:t>
            </a:r>
            <a:r>
              <a:rPr lang="ko-KR" altLang="en-US" dirty="0"/>
              <a:t>간의 </a:t>
            </a:r>
            <a:r>
              <a:rPr lang="en-US" altLang="ko-KR" dirty="0"/>
              <a:t>ISL </a:t>
            </a:r>
            <a:r>
              <a:rPr lang="ko-KR" altLang="en-US" dirty="0"/>
              <a:t>성능 차이를 통해 접근 기간을 늘리도록 </a:t>
            </a:r>
            <a:r>
              <a:rPr lang="en-US" altLang="ko-KR" dirty="0"/>
              <a:t>relay constellation</a:t>
            </a:r>
            <a:r>
              <a:rPr lang="ko-KR" altLang="en-US" dirty="0"/>
              <a:t>의 위성군을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위성군과 비교하여 </a:t>
            </a:r>
            <a:r>
              <a:rPr lang="en-US" altLang="ko-KR" dirty="0"/>
              <a:t>SRT </a:t>
            </a:r>
            <a:r>
              <a:rPr lang="ko-KR" altLang="en-US" dirty="0"/>
              <a:t>측면에서 이종 위성군의 성능을 분석</a:t>
            </a:r>
          </a:p>
          <a:p>
            <a:pPr lvl="2"/>
            <a:endParaRPr lang="ko-KR" altLang="en-US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1650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90970574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결과 분석</a:t>
            </a:r>
            <a:r>
              <a:rPr lang="en-US" altLang="ko-KR" dirty="0"/>
              <a:t>(Imaging Constellation)</a:t>
            </a:r>
          </a:p>
          <a:p>
            <a:pPr lvl="1"/>
            <a:r>
              <a:rPr lang="en-US" altLang="ko-KR" sz="1800" dirty="0"/>
              <a:t>SSO</a:t>
            </a:r>
            <a:r>
              <a:rPr lang="ko-KR" altLang="en-US" sz="1800" dirty="0"/>
              <a:t>의 고도에</a:t>
            </a:r>
            <a:r>
              <a:rPr lang="en-US" altLang="ko-KR" sz="1800" dirty="0"/>
              <a:t> </a:t>
            </a:r>
            <a:r>
              <a:rPr lang="ko-KR" altLang="en-US" sz="1800" dirty="0"/>
              <a:t>따른 낮 시간 동안의 커버리지 비율의 관계</a:t>
            </a:r>
            <a:r>
              <a:rPr lang="en-US" altLang="ko-KR" sz="1800" dirty="0"/>
              <a:t>(FOV = 20</a:t>
            </a:r>
            <a:r>
              <a:rPr lang="ko-KR" altLang="en-US" sz="1800" dirty="0"/>
              <a:t>˚</a:t>
            </a:r>
            <a:r>
              <a:rPr lang="en-US" altLang="ko-KR" sz="1800" dirty="0"/>
              <a:t>)</a:t>
            </a:r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B7A9A1-B650-63CE-75DE-A1A37CAB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8" y="1826410"/>
            <a:ext cx="5037772" cy="36882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469563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결과 분석</a:t>
            </a:r>
            <a:r>
              <a:rPr lang="en-US" altLang="ko-KR" dirty="0"/>
              <a:t>(Imaging Constellation)</a:t>
            </a:r>
          </a:p>
          <a:p>
            <a:pPr lvl="1"/>
            <a:r>
              <a:rPr lang="ko-KR" altLang="en-US" sz="1800" dirty="0"/>
              <a:t>센서의 초점거리</a:t>
            </a:r>
            <a:r>
              <a:rPr lang="en-US" altLang="ko-KR" sz="1800" dirty="0"/>
              <a:t>(f)</a:t>
            </a:r>
            <a:r>
              <a:rPr lang="ko-KR" altLang="en-US" sz="1800" dirty="0"/>
              <a:t>에 따른 낮 시간 동안의 커버리지 비율의 관계</a:t>
            </a:r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2"/>
            <a:r>
              <a:rPr lang="en-US" altLang="ko-KR" dirty="0"/>
              <a:t>1 </a:t>
            </a:r>
            <a:r>
              <a:rPr lang="en-US" altLang="ko-KR" dirty="0" err="1"/>
              <a:t>μm</a:t>
            </a:r>
            <a:r>
              <a:rPr lang="ko-KR" altLang="en-US" dirty="0"/>
              <a:t>의 센서 </a:t>
            </a:r>
            <a:r>
              <a:rPr lang="en-US" altLang="ko-KR" dirty="0"/>
              <a:t>DP</a:t>
            </a:r>
            <a:r>
              <a:rPr lang="ko-KR" altLang="en-US" dirty="0"/>
              <a:t>를 이용하여 </a:t>
            </a:r>
            <a:r>
              <a:rPr lang="en-US" altLang="ko-KR" dirty="0"/>
              <a:t>0.5m GSD</a:t>
            </a:r>
            <a:r>
              <a:rPr lang="ko-KR" altLang="en-US" dirty="0"/>
              <a:t>를 달성하기 위한 초점거리</a:t>
            </a:r>
            <a:endParaRPr lang="en-US" altLang="ko-KR" dirty="0"/>
          </a:p>
          <a:p>
            <a:pPr lvl="2"/>
            <a:r>
              <a:rPr lang="ko-KR" altLang="en-US" dirty="0"/>
              <a:t>위성의 고도 </a:t>
            </a:r>
            <a:r>
              <a:rPr lang="en-US" altLang="ko-KR" dirty="0"/>
              <a:t>: 600km / SSO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: 4</a:t>
            </a:r>
            <a:r>
              <a:rPr lang="ko-KR" altLang="en-US" dirty="0"/>
              <a:t>대</a:t>
            </a:r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1B8D29-9B9B-200B-C942-60C125FC9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5275"/>
            <a:ext cx="5266372" cy="35864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28783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결과 분석</a:t>
            </a:r>
            <a:r>
              <a:rPr lang="en-US" altLang="ko-KR" dirty="0"/>
              <a:t>(Relay Constellation)</a:t>
            </a:r>
          </a:p>
          <a:p>
            <a:pPr lvl="1"/>
            <a:r>
              <a:rPr lang="ko-KR" altLang="en-US" dirty="0"/>
              <a:t>위성 수에 따른 지상국의 위도와 커버리지 비율의 관계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9BD844-0936-CBE4-1856-47AE1BD1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8" y="1825275"/>
            <a:ext cx="4732972" cy="35916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53842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설계의 목표 및 제한조건은 위성군의 궤도 구성을 결정하는 중요한 요소</a:t>
            </a:r>
            <a:endParaRPr lang="en-US" altLang="ko-KR" dirty="0"/>
          </a:p>
          <a:p>
            <a:pPr lvl="1"/>
            <a:r>
              <a:rPr lang="ko-KR" altLang="en-US" sz="1800" dirty="0"/>
              <a:t>지구 관측 위성의 </a:t>
            </a:r>
            <a:r>
              <a:rPr lang="en-US" altLang="ko-KR" sz="1800" dirty="0"/>
              <a:t>SRT </a:t>
            </a:r>
            <a:r>
              <a:rPr lang="ko-KR" altLang="en-US" sz="1800" dirty="0"/>
              <a:t>개선은 재해 위험 감소 및 국가 보안에 중요한 관심사</a:t>
            </a:r>
            <a:endParaRPr lang="en-US" altLang="ko-KR" sz="1800" dirty="0"/>
          </a:p>
          <a:p>
            <a:pPr lvl="1"/>
            <a:r>
              <a:rPr lang="ko-KR" altLang="en-US" sz="1800" dirty="0"/>
              <a:t>위성의 고도</a:t>
            </a:r>
            <a:r>
              <a:rPr lang="en-US" altLang="ko-KR" sz="1800" dirty="0"/>
              <a:t>, </a:t>
            </a:r>
            <a:r>
              <a:rPr lang="ko-KR" altLang="en-US" sz="1800" dirty="0"/>
              <a:t>궤도 평면 및 평면 당 위성 수 등 위성군의 특성에 따라 시스템 가용성이 달라지고 이는 이종 위성군의 구성에 큰 영향을 줌</a:t>
            </a:r>
            <a:endParaRPr lang="en-US" altLang="ko-KR" sz="1800" dirty="0"/>
          </a:p>
          <a:p>
            <a:pPr lvl="1"/>
            <a:r>
              <a:rPr lang="ko-KR" altLang="en-US" sz="1800" dirty="0"/>
              <a:t>이종 위성군의 최상의 구성을 위해서는 여러 조합을 연구해야 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04067805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(2) Research on the configuration design method of heterogeneous constellation reconstruction under the multiple objective and multiple constraint, 2017, Shuang Zhao, </a:t>
            </a:r>
            <a:r>
              <a:rPr lang="en-US" altLang="ko-KR" b="1" dirty="0" err="1"/>
              <a:t>Yanli</a:t>
            </a:r>
            <a:r>
              <a:rPr lang="en-US" altLang="ko-KR" b="1" dirty="0"/>
              <a:t> Xu and </a:t>
            </a:r>
            <a:r>
              <a:rPr lang="en-US" altLang="ko-KR" b="1" dirty="0" err="1"/>
              <a:t>Huayu</a:t>
            </a:r>
            <a:r>
              <a:rPr lang="en-US" altLang="ko-KR" b="1" dirty="0"/>
              <a:t> Dai</a:t>
            </a: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</a:t>
            </a:r>
            <a:endParaRPr lang="en-US" altLang="ko-KR" dirty="0"/>
          </a:p>
          <a:p>
            <a:pPr lvl="1"/>
            <a:r>
              <a:rPr lang="ko-KR" altLang="en-US" sz="1800" dirty="0"/>
              <a:t>다중 목적 및 다중 제한 조건에 기초한 이종 위성군의 설계방법에 대해 다룬다</a:t>
            </a:r>
            <a:r>
              <a:rPr lang="en-US" altLang="ko-KR" sz="1800" dirty="0"/>
              <a:t>. </a:t>
            </a:r>
            <a:r>
              <a:rPr lang="ko-KR" altLang="en-US" sz="1800" dirty="0"/>
              <a:t>또한</a:t>
            </a:r>
            <a:r>
              <a:rPr lang="en-US" altLang="ko-KR" sz="1800" dirty="0"/>
              <a:t>, </a:t>
            </a:r>
            <a:r>
              <a:rPr lang="ko-KR" altLang="en-US" sz="1800" dirty="0"/>
              <a:t>기존의 대표적인 설계 방법인 </a:t>
            </a:r>
            <a:r>
              <a:rPr lang="en-US" altLang="ko-KR" sz="1800" dirty="0"/>
              <a:t>Phase position uniformity method </a:t>
            </a:r>
            <a:r>
              <a:rPr lang="ko-KR" altLang="en-US" sz="1800" dirty="0"/>
              <a:t>와 </a:t>
            </a:r>
            <a:r>
              <a:rPr lang="en-US" altLang="ko-KR" sz="1800" dirty="0"/>
              <a:t>Reconstruction configuration design method (based in optimization algorithm)</a:t>
            </a:r>
            <a:r>
              <a:rPr lang="ko-KR" altLang="en-US" sz="1800" dirty="0"/>
              <a:t>을 비교한다</a:t>
            </a:r>
            <a:r>
              <a:rPr lang="en-US" altLang="ko-KR" sz="1800" dirty="0"/>
              <a:t>. </a:t>
            </a:r>
            <a:r>
              <a:rPr lang="ko-KR" altLang="en-US" sz="1800" dirty="0"/>
              <a:t>마지막으로 다양한 재구성 설계 방법의 장단점을 분석하고 재구성 지수 시스템에 대한 생각과 최적 변수 선택 및 구성 최적화 설계의 제한 조건 설정을 제시한다</a:t>
            </a:r>
            <a:r>
              <a:rPr lang="en-US" altLang="ko-KR" sz="1800" dirty="0"/>
              <a:t>.</a:t>
            </a:r>
          </a:p>
          <a:p>
            <a:pPr lvl="1"/>
            <a:endParaRPr lang="en-US" altLang="ko-KR" sz="1800" b="1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모든 위성이 동일한 특정 임무를 중심으로 회전하는 명확한 임무 요건을 가지고 있음</a:t>
            </a:r>
            <a:r>
              <a:rPr lang="en-US" altLang="ko-KR" dirty="0"/>
              <a:t>. </a:t>
            </a:r>
            <a:r>
              <a:rPr lang="ko-KR" altLang="en-US" dirty="0"/>
              <a:t>또한 위성군은 상대적으로 고정된 공간 기하학적 구조를 가지며 이 공간구조는 워커와 동일한 </a:t>
            </a:r>
            <a:r>
              <a:rPr lang="ko-KR" altLang="en-US" dirty="0" err="1"/>
              <a:t>균일성</a:t>
            </a:r>
            <a:r>
              <a:rPr lang="ko-KR" altLang="en-US" dirty="0"/>
              <a:t> 및 대칭성을 가지지 않음</a:t>
            </a:r>
            <a:r>
              <a:rPr lang="en-US" altLang="ko-KR" dirty="0"/>
              <a:t>.</a:t>
            </a:r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9281546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위성군의 종류</a:t>
            </a:r>
            <a:endParaRPr lang="en-US" altLang="ko-KR" dirty="0"/>
          </a:p>
          <a:p>
            <a:pPr lvl="1"/>
            <a:r>
              <a:rPr lang="ko-KR" altLang="en-US" sz="1800" dirty="0"/>
              <a:t>전 지구적 이종 </a:t>
            </a:r>
            <a:r>
              <a:rPr lang="ko-KR" altLang="en-US" sz="1800" dirty="0" err="1"/>
              <a:t>위성군</a:t>
            </a:r>
            <a:endParaRPr lang="en-US" altLang="ko-KR" sz="1800" dirty="0"/>
          </a:p>
          <a:p>
            <a:pPr lvl="2">
              <a:defRPr/>
            </a:pPr>
            <a:r>
              <a:rPr lang="ko-KR" altLang="en-US" sz="1600" dirty="0"/>
              <a:t>경도 </a:t>
            </a:r>
            <a:r>
              <a:rPr lang="en-US" altLang="ko-KR" sz="1600" dirty="0"/>
              <a:t>-180~180</a:t>
            </a:r>
            <a:r>
              <a:rPr lang="ko-KR" altLang="en-US" sz="1600" dirty="0"/>
              <a:t>˚</a:t>
            </a:r>
            <a:r>
              <a:rPr lang="en-US" altLang="ko-KR" sz="1600" dirty="0"/>
              <a:t>, </a:t>
            </a:r>
            <a:r>
              <a:rPr lang="ko-KR" altLang="en-US" sz="1600" dirty="0"/>
              <a:t>위도 </a:t>
            </a:r>
            <a:r>
              <a:rPr lang="en-US" altLang="ko-KR" sz="1600" dirty="0"/>
              <a:t>-90~90</a:t>
            </a:r>
            <a:r>
              <a:rPr lang="ko-KR" altLang="en-US" sz="1600" dirty="0"/>
              <a:t>˚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다른 종류의 궤도를 포함하며 다른 궤도의 위성 수는 다름</a:t>
            </a:r>
          </a:p>
          <a:p>
            <a:pPr lvl="2">
              <a:defRPr/>
            </a:pPr>
            <a:r>
              <a:rPr lang="en-US" altLang="ko-KR" sz="1600" dirty="0"/>
              <a:t>Ex. </a:t>
            </a:r>
            <a:r>
              <a:rPr lang="ko-KR" altLang="en-US" sz="1600" dirty="0"/>
              <a:t>타원 궤도와 적도 궤도는 통신 도는 조기 경보 </a:t>
            </a:r>
            <a:r>
              <a:rPr lang="ko-KR" altLang="en-US" sz="1600" dirty="0" err="1"/>
              <a:t>위성군</a:t>
            </a:r>
            <a:r>
              <a:rPr lang="en-US" altLang="ko-KR" sz="1600" dirty="0"/>
              <a:t>, IGSO, GEO, MEO </a:t>
            </a:r>
            <a:r>
              <a:rPr lang="ko-KR" altLang="en-US" sz="1600" dirty="0"/>
              <a:t>궤도는 항법 위성군에 이용 </a:t>
            </a:r>
            <a:endParaRPr lang="en-US" altLang="ko-KR" sz="1600" dirty="0"/>
          </a:p>
          <a:p>
            <a:pPr lvl="1"/>
            <a:r>
              <a:rPr lang="ko-KR" altLang="en-US" sz="1800" dirty="0"/>
              <a:t>전 지구적 이종 </a:t>
            </a:r>
            <a:r>
              <a:rPr lang="ko-KR" altLang="en-US" sz="1800" dirty="0" err="1"/>
              <a:t>위성군</a:t>
            </a:r>
            <a:endParaRPr lang="en-US" altLang="ko-KR" sz="1800" dirty="0"/>
          </a:p>
          <a:p>
            <a:pPr lvl="2">
              <a:defRPr/>
            </a:pPr>
            <a:r>
              <a:rPr lang="ko-KR" altLang="en-US" sz="1600" dirty="0"/>
              <a:t>경도 </a:t>
            </a:r>
            <a:r>
              <a:rPr lang="en-US" altLang="ko-KR" sz="1600" dirty="0"/>
              <a:t>-180~180</a:t>
            </a:r>
            <a:r>
              <a:rPr lang="ko-KR" altLang="en-US" sz="1600" dirty="0"/>
              <a:t>˚</a:t>
            </a:r>
            <a:r>
              <a:rPr lang="en-US" altLang="ko-KR" sz="1600" dirty="0"/>
              <a:t>, </a:t>
            </a:r>
            <a:r>
              <a:rPr lang="ko-KR" altLang="en-US" sz="1600" dirty="0"/>
              <a:t>위도 </a:t>
            </a:r>
            <a:r>
              <a:rPr lang="en-US" altLang="ko-KR" sz="1600" dirty="0"/>
              <a:t>-90~90</a:t>
            </a:r>
            <a:r>
              <a:rPr lang="ko-KR" altLang="en-US" sz="1600" dirty="0"/>
              <a:t>˚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다른 종류의 궤도를 포함하며 다른 궤도의 위성 수는 다름</a:t>
            </a:r>
          </a:p>
          <a:p>
            <a:pPr lvl="2">
              <a:defRPr/>
            </a:pPr>
            <a:r>
              <a:rPr lang="en-US" altLang="ko-KR" sz="1600" dirty="0"/>
              <a:t>Ex. </a:t>
            </a:r>
            <a:r>
              <a:rPr lang="ko-KR" altLang="en-US" sz="1600" dirty="0"/>
              <a:t>타원 궤도와 적도 궤도는 통신 도는 조기 경보 </a:t>
            </a:r>
            <a:r>
              <a:rPr lang="ko-KR" altLang="en-US" sz="1600" dirty="0" err="1"/>
              <a:t>위성군</a:t>
            </a:r>
            <a:r>
              <a:rPr lang="en-US" altLang="ko-KR" sz="1600" dirty="0"/>
              <a:t>, IGSO, GEO, MEO </a:t>
            </a:r>
            <a:r>
              <a:rPr lang="ko-KR" altLang="en-US" sz="1600" dirty="0"/>
              <a:t>궤도는 항법 위성군에 이용 </a:t>
            </a:r>
          </a:p>
          <a:p>
            <a:pPr lvl="2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40075803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위성군의 재구성</a:t>
            </a:r>
            <a:r>
              <a:rPr lang="en-US" altLang="ko-KR" dirty="0"/>
              <a:t>(Reconstruction)</a:t>
            </a:r>
          </a:p>
          <a:p>
            <a:pPr lvl="1"/>
            <a:r>
              <a:rPr lang="ko-KR" altLang="en-US" sz="1800" dirty="0"/>
              <a:t>시스템 장애</a:t>
            </a:r>
            <a:r>
              <a:rPr lang="en-US" altLang="ko-KR" sz="1800" dirty="0"/>
              <a:t>, </a:t>
            </a:r>
            <a:r>
              <a:rPr lang="ko-KR" altLang="en-US" sz="1800" dirty="0"/>
              <a:t>환경 문제 등에 직면하여 기존의 구성을 조정함으로써 위성군의 성능을 개선 및 새로운 요구 사항을 충족하는 일종의 방법</a:t>
            </a:r>
            <a:endParaRPr lang="en-US" altLang="ko-KR" sz="1600" dirty="0"/>
          </a:p>
          <a:p>
            <a:pPr lvl="1"/>
            <a:r>
              <a:rPr lang="ko-KR" altLang="en-US" sz="1800" dirty="0"/>
              <a:t>위성군의 재구성은 다양한 적용 시나리오에 따라 다음으로 분류</a:t>
            </a:r>
          </a:p>
          <a:p>
            <a:pPr lvl="2">
              <a:defRPr/>
            </a:pPr>
            <a:r>
              <a:rPr lang="en-US" altLang="ko-KR" sz="1600" dirty="0"/>
              <a:t>Satellite failure reconstruction</a:t>
            </a:r>
          </a:p>
          <a:p>
            <a:pPr lvl="2">
              <a:defRPr/>
            </a:pPr>
            <a:r>
              <a:rPr lang="en-US" altLang="ko-KR" sz="1600" dirty="0"/>
              <a:t>Ground mission change reconstruction</a:t>
            </a:r>
          </a:p>
          <a:p>
            <a:pPr lvl="1">
              <a:defRPr/>
            </a:pPr>
            <a:r>
              <a:rPr lang="ko-KR" altLang="en-US" dirty="0"/>
              <a:t>위성군의 재구성은 과정의 단계에 따라 다음으로 분류</a:t>
            </a:r>
            <a:endParaRPr lang="en-US" altLang="ko-KR" dirty="0"/>
          </a:p>
          <a:p>
            <a:pPr lvl="2">
              <a:defRPr/>
            </a:pPr>
            <a:r>
              <a:rPr lang="en-US" altLang="ko-KR" b="1" dirty="0"/>
              <a:t>Reconstruction configuration design(</a:t>
            </a:r>
            <a:r>
              <a:rPr lang="ko-KR" altLang="en-US" b="1" dirty="0"/>
              <a:t>본 논문에서 주로 다룸</a:t>
            </a:r>
            <a:r>
              <a:rPr lang="en-US" altLang="ko-KR" b="1" dirty="0"/>
              <a:t>)</a:t>
            </a:r>
          </a:p>
          <a:p>
            <a:pPr lvl="2">
              <a:defRPr/>
            </a:pPr>
            <a:r>
              <a:rPr lang="en-US" altLang="ko-KR" b="1" dirty="0"/>
              <a:t>Reconstruction process control</a:t>
            </a:r>
          </a:p>
          <a:p>
            <a:pPr lvl="2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259410815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Configuration Design</a:t>
            </a:r>
          </a:p>
          <a:p>
            <a:pPr lvl="1"/>
            <a:r>
              <a:rPr lang="ko-KR" altLang="en-US" dirty="0"/>
              <a:t>기존의 지표와 방법을 사용하여 재구성의 수학적 모델을 설정하고 다양한 재구성 시나리오에 따라 최종 구성을 얻는 과정</a:t>
            </a:r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59C2EB-1ADE-52E4-EF59-6DC2A3A36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51023"/>
              </p:ext>
            </p:extLst>
          </p:nvPr>
        </p:nvGraphicFramePr>
        <p:xfrm>
          <a:off x="558525" y="2299351"/>
          <a:ext cx="7993182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099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Phase uniformity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Reconstruction Configuration 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design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내 위성의 위상각을 조정하여 성능을 향상시키기 위해 위성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failure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 설계의 수학적 모델을 설정하고 기존의 최적화 알고리즘을 사용하여 모델의 최적 해를 얻음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에너지 절약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구현 단순성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간단한 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범용성이 좋음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재구성에 대한 특별한 요구사항이 없음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최적성을 보장 가능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Disadvantage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 고장 재구성에만 적용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최적성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보장 불가능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수학적 모델 및 구체적인 재구성 지표가 부족함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3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75600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제한조건</a:t>
            </a:r>
            <a:endParaRPr lang="en-US" altLang="ko-KR" dirty="0"/>
          </a:p>
          <a:p>
            <a:pPr lvl="1"/>
            <a:r>
              <a:rPr lang="ko-KR" altLang="en-US" sz="1800" dirty="0"/>
              <a:t>재구성에 따른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성능저하</a:t>
            </a:r>
            <a:endParaRPr lang="en-US" altLang="ko-KR" sz="1800" dirty="0"/>
          </a:p>
          <a:p>
            <a:pPr lvl="1"/>
            <a:r>
              <a:rPr lang="ko-KR" altLang="en-US" dirty="0"/>
              <a:t>운용 위성의 수</a:t>
            </a:r>
            <a:endParaRPr lang="en-US" altLang="ko-KR" dirty="0"/>
          </a:p>
          <a:p>
            <a:pPr lvl="1"/>
            <a:r>
              <a:rPr lang="ko-KR" altLang="en-US" dirty="0"/>
              <a:t>재구성의 복구 능력</a:t>
            </a:r>
            <a:endParaRPr lang="en-US" altLang="ko-KR" dirty="0"/>
          </a:p>
          <a:p>
            <a:pPr lvl="1"/>
            <a:r>
              <a:rPr lang="ko-KR" altLang="en-US" dirty="0"/>
              <a:t>재구성 에너지의 분배</a:t>
            </a:r>
            <a:endParaRPr lang="en-US" altLang="ko-KR" dirty="0"/>
          </a:p>
          <a:p>
            <a:pPr lvl="1"/>
            <a:r>
              <a:rPr lang="ko-KR" altLang="en-US" dirty="0"/>
              <a:t>재구성 비용의 손실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목적함수</a:t>
            </a:r>
            <a:endParaRPr lang="en-US" altLang="ko-KR" dirty="0"/>
          </a:p>
          <a:p>
            <a:pPr lvl="1"/>
            <a:r>
              <a:rPr lang="ko-KR" altLang="en-US" sz="1800" dirty="0"/>
              <a:t>일반적으로 목적함수는 재방문 시간</a:t>
            </a:r>
            <a:r>
              <a:rPr lang="en-US" altLang="ko-KR" sz="1800" dirty="0"/>
              <a:t>, </a:t>
            </a:r>
            <a:r>
              <a:rPr lang="ko-KR" altLang="en-US" sz="1800" dirty="0"/>
              <a:t>응답 시간</a:t>
            </a:r>
            <a:r>
              <a:rPr lang="en-US" altLang="ko-KR" sz="1800" dirty="0"/>
              <a:t>, </a:t>
            </a:r>
            <a:r>
              <a:rPr lang="ko-KR" altLang="en-US" sz="1800" dirty="0"/>
              <a:t>커버리지 비율 등의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성능 지수로 구성됨</a:t>
            </a:r>
            <a:endParaRPr lang="en-US" altLang="ko-KR" sz="1800" dirty="0"/>
          </a:p>
          <a:p>
            <a:pPr lvl="1"/>
            <a:r>
              <a:rPr lang="ko-KR" altLang="en-US" dirty="0"/>
              <a:t>목적함수의 정해진 패턴 및 공식은 없으며 위성군의 유형에 따라 성능지수의 중요도 또한 다름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17789801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재구성 설계에 대한 연구는 복잡하지만 변경 가능한 지상 임무를 처리하는 능력을 향상시키고 기존 우주 임무의 안정성</a:t>
            </a:r>
            <a:r>
              <a:rPr lang="en-US" altLang="ko-KR" sz="1800" dirty="0"/>
              <a:t>, </a:t>
            </a:r>
            <a:r>
              <a:rPr lang="ko-KR" altLang="en-US" sz="1800" dirty="0"/>
              <a:t>신뢰성 및 유연성을 키울 수 있음</a:t>
            </a:r>
          </a:p>
          <a:p>
            <a:pPr lvl="1"/>
            <a:r>
              <a:rPr lang="ko-KR" altLang="en-US" sz="1800" dirty="0"/>
              <a:t>전략적 중요성과 응용 가치가 높음</a:t>
            </a:r>
          </a:p>
          <a:p>
            <a:pPr lvl="1"/>
            <a:r>
              <a:rPr lang="ko-KR" altLang="en-US" sz="1800" dirty="0"/>
              <a:t>하지만 재구성 설계에 대한 모델 및 지표가 없는 것이 한계</a:t>
            </a:r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38650610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(3) The UrtheCast SAR-XL Multi-Band, Multi-Aperture, 2017, Peter Fox, Keith Beckett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786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/>
            <a:r>
              <a:rPr lang="en-US" altLang="ko-KR" dirty="0"/>
              <a:t>SAR</a:t>
            </a:r>
            <a:r>
              <a:rPr lang="ko-KR" altLang="en-US" dirty="0"/>
              <a:t>와 광학 위성이 각각 </a:t>
            </a:r>
            <a:r>
              <a:rPr lang="en-US" altLang="ko-KR" dirty="0"/>
              <a:t>1</a:t>
            </a:r>
            <a:r>
              <a:rPr lang="ko-KR" altLang="en-US" dirty="0"/>
              <a:t>대 씩 짝을 지어 </a:t>
            </a:r>
            <a:r>
              <a:rPr lang="en-US" altLang="ko-KR" dirty="0"/>
              <a:t>4</a:t>
            </a:r>
            <a:r>
              <a:rPr lang="ko-KR" altLang="en-US" dirty="0"/>
              <a:t> 쌍으로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대로 구성됨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대의 위성이 두 개의 궤도 평면에</a:t>
            </a:r>
            <a:r>
              <a:rPr lang="en-US" altLang="ko-KR" dirty="0"/>
              <a:t> </a:t>
            </a:r>
            <a:r>
              <a:rPr lang="ko-KR" altLang="en-US" dirty="0"/>
              <a:t>배치되며</a:t>
            </a:r>
            <a:endParaRPr lang="en-US" altLang="ko-KR" dirty="0"/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그 후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096" y="3036007"/>
            <a:ext cx="4137807" cy="280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Two Orbit(450km altitude)</a:t>
            </a:r>
          </a:p>
          <a:p>
            <a:pPr lvl="1"/>
            <a:r>
              <a:rPr lang="en-US" altLang="ko-KR" dirty="0"/>
              <a:t>SSO(Sun-Synchronous Orbit)</a:t>
            </a:r>
          </a:p>
          <a:p>
            <a:pPr lvl="2"/>
            <a:r>
              <a:rPr lang="en-US" altLang="ko-KR" dirty="0"/>
              <a:t>LTAN 10:30</a:t>
            </a:r>
          </a:p>
          <a:p>
            <a:pPr lvl="2"/>
            <a:r>
              <a:rPr lang="ko-KR" altLang="en-US" dirty="0"/>
              <a:t>지구</a:t>
            </a:r>
            <a:r>
              <a:rPr lang="en-US" altLang="ko-KR" dirty="0"/>
              <a:t> </a:t>
            </a:r>
            <a:r>
              <a:rPr lang="ko-KR" altLang="en-US" dirty="0"/>
              <a:t>관측 임무에 사용되는 궤도 </a:t>
            </a:r>
            <a:endParaRPr lang="en-US" altLang="ko-KR" dirty="0"/>
          </a:p>
          <a:p>
            <a:pPr lvl="1"/>
            <a:r>
              <a:rPr lang="en-US" altLang="ko-KR" dirty="0"/>
              <a:t>MIO(Mid-Inclination Orbit)</a:t>
            </a:r>
          </a:p>
          <a:p>
            <a:pPr lvl="2"/>
            <a:r>
              <a:rPr lang="ko-KR" altLang="en-US" dirty="0"/>
              <a:t>최대 </a:t>
            </a:r>
            <a:r>
              <a:rPr lang="en-US" altLang="ko-KR" dirty="0"/>
              <a:t>45deg</a:t>
            </a:r>
            <a:r>
              <a:rPr lang="ko-KR" altLang="en-US" dirty="0"/>
              <a:t>의 경사를 가짐</a:t>
            </a:r>
            <a:endParaRPr lang="en-US" altLang="ko-KR" dirty="0"/>
          </a:p>
          <a:p>
            <a:pPr lvl="2"/>
            <a:r>
              <a:rPr lang="ko-KR" altLang="en-US" dirty="0"/>
              <a:t>중위도 지역에서 높은 재방문을 제공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D4C399-0A8B-F019-725F-4C9883C4A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790" y="3308889"/>
            <a:ext cx="6514420" cy="25338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605290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Composition  of Constellation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en-US" altLang="ko-KR" dirty="0"/>
              <a:t>UrtheCast’s SAR-XL </a:t>
            </a:r>
            <a:r>
              <a:rPr lang="ko-KR" altLang="en-US" dirty="0"/>
              <a:t>기술을 이용한 </a:t>
            </a:r>
            <a:r>
              <a:rPr lang="ko-KR" altLang="en-US" dirty="0" err="1"/>
              <a:t>듀얼밴드</a:t>
            </a:r>
            <a:r>
              <a:rPr lang="ko-KR" altLang="en-US" dirty="0"/>
              <a:t> 사용</a:t>
            </a:r>
            <a:r>
              <a:rPr lang="en-US" altLang="ko-KR" dirty="0"/>
              <a:t>(6</a:t>
            </a:r>
            <a:r>
              <a:rPr lang="ko-KR" altLang="en-US" dirty="0"/>
              <a:t>개의 독립 </a:t>
            </a:r>
            <a:r>
              <a:rPr lang="en-US" altLang="ko-KR" dirty="0"/>
              <a:t>aperture</a:t>
            </a:r>
            <a:r>
              <a:rPr lang="ko-KR" altLang="en-US" dirty="0"/>
              <a:t>로 구성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X-band(1m class)</a:t>
            </a:r>
          </a:p>
          <a:p>
            <a:pPr lvl="3"/>
            <a:r>
              <a:rPr lang="en-US" altLang="ko-KR" dirty="0"/>
              <a:t>L-band(5m class)</a:t>
            </a:r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고해상도</a:t>
            </a:r>
            <a:r>
              <a:rPr lang="en-US" altLang="ko-KR" dirty="0"/>
              <a:t>(0.5m GSD)</a:t>
            </a:r>
            <a:r>
              <a:rPr lang="ko-KR" altLang="en-US" dirty="0"/>
              <a:t>의 </a:t>
            </a:r>
            <a:r>
              <a:rPr lang="ko-KR" altLang="en-US" dirty="0" err="1"/>
              <a:t>듀얼모드</a:t>
            </a:r>
            <a:r>
              <a:rPr lang="ko-KR" altLang="en-US" dirty="0"/>
              <a:t> 광학 카메라 사용</a:t>
            </a:r>
            <a:endParaRPr lang="en-US" altLang="ko-KR" dirty="0"/>
          </a:p>
          <a:p>
            <a:pPr lvl="3"/>
            <a:r>
              <a:rPr lang="en-US" altLang="ko-KR" dirty="0"/>
              <a:t>Multi-spectral </a:t>
            </a:r>
            <a:r>
              <a:rPr lang="en-US" altLang="ko-KR" dirty="0" err="1"/>
              <a:t>pushbroom</a:t>
            </a:r>
            <a:endParaRPr lang="en-US" altLang="ko-KR" dirty="0"/>
          </a:p>
          <a:p>
            <a:pPr lvl="3"/>
            <a:r>
              <a:rPr lang="en-US" altLang="ko-KR" dirty="0"/>
              <a:t>RGB color video</a:t>
            </a:r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57956164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836988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20208004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Instrument Description</a:t>
            </a:r>
          </a:p>
          <a:p>
            <a:pPr lvl="1"/>
            <a:r>
              <a:rPr lang="ko-KR" altLang="en-US" dirty="0"/>
              <a:t>세계 최초의 이중 주파수</a:t>
            </a:r>
            <a:r>
              <a:rPr lang="en-US" altLang="ko-KR" dirty="0"/>
              <a:t>, </a:t>
            </a:r>
            <a:r>
              <a:rPr lang="ko-KR" altLang="en-US" dirty="0" err="1"/>
              <a:t>쿼드</a:t>
            </a:r>
            <a:r>
              <a:rPr lang="ko-KR" altLang="en-US" dirty="0"/>
              <a:t> 편광</a:t>
            </a:r>
            <a:r>
              <a:rPr lang="en-US" altLang="ko-KR" dirty="0"/>
              <a:t>, multi aperture, </a:t>
            </a:r>
            <a:r>
              <a:rPr lang="ko-KR" altLang="en-US" dirty="0"/>
              <a:t>완전 활성 위상 배열 및 공간 기반 디지털 빔 형성 </a:t>
            </a:r>
            <a:r>
              <a:rPr lang="en-US" altLang="ko-KR" dirty="0"/>
              <a:t>SAR</a:t>
            </a:r>
          </a:p>
          <a:p>
            <a:pPr lvl="1"/>
            <a:r>
              <a:rPr lang="ko-KR" altLang="en-US" dirty="0"/>
              <a:t>필요한 성능을 달성하도록 하는 안테나 크기 조정에 매우 유연함</a:t>
            </a:r>
            <a:endParaRPr lang="en-US" altLang="ko-KR" dirty="0"/>
          </a:p>
          <a:p>
            <a:pPr lvl="1"/>
            <a:r>
              <a:rPr lang="ko-KR" altLang="en-US" dirty="0"/>
              <a:t>선택된 수의 개별 </a:t>
            </a:r>
            <a:r>
              <a:rPr lang="en-US" altLang="ko-KR" dirty="0"/>
              <a:t>aperture</a:t>
            </a:r>
            <a:r>
              <a:rPr lang="ko-KR" altLang="en-US" dirty="0"/>
              <a:t>에 따라 </a:t>
            </a:r>
            <a:r>
              <a:rPr lang="en-US" altLang="ko-KR" dirty="0"/>
              <a:t>SAR </a:t>
            </a:r>
            <a:r>
              <a:rPr lang="ko-KR" altLang="en-US" dirty="0"/>
              <a:t>안테나가 구성됨</a:t>
            </a:r>
            <a:endParaRPr lang="en-US" altLang="ko-KR" dirty="0"/>
          </a:p>
          <a:p>
            <a:pPr lvl="1"/>
            <a:r>
              <a:rPr lang="en-US" altLang="ko-KR" dirty="0"/>
              <a:t>Aperture</a:t>
            </a:r>
          </a:p>
          <a:p>
            <a:pPr lvl="2"/>
            <a:r>
              <a:rPr lang="ko-KR" altLang="en-US" dirty="0"/>
              <a:t>안테나의 </a:t>
            </a:r>
            <a:r>
              <a:rPr lang="en-US" altLang="ko-KR" dirty="0"/>
              <a:t>Aperture</a:t>
            </a:r>
            <a:r>
              <a:rPr lang="ko-KR" altLang="en-US" dirty="0"/>
              <a:t>는 </a:t>
            </a:r>
            <a:r>
              <a:rPr lang="en-US" altLang="ko-KR" dirty="0"/>
              <a:t>1.8m(elevation) * 1.0m(azimuth) </a:t>
            </a:r>
            <a:r>
              <a:rPr lang="ko-KR" altLang="en-US" dirty="0"/>
              <a:t>크기</a:t>
            </a:r>
            <a:endParaRPr lang="en-US" altLang="ko-KR" dirty="0"/>
          </a:p>
          <a:p>
            <a:pPr lvl="2"/>
            <a:r>
              <a:rPr lang="en-US" altLang="ko-KR" dirty="0"/>
              <a:t>6</a:t>
            </a:r>
            <a:r>
              <a:rPr lang="ko-KR" altLang="en-US" dirty="0"/>
              <a:t>개의 이중 주파수 </a:t>
            </a:r>
            <a:r>
              <a:rPr lang="en-US" altLang="ko-KR" dirty="0"/>
              <a:t>aperture</a:t>
            </a:r>
            <a:r>
              <a:rPr lang="ko-KR" altLang="en-US" dirty="0"/>
              <a:t>를 사용하지만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수용 가능</a:t>
            </a:r>
            <a:endParaRPr lang="en-US" altLang="ko-KR" dirty="0"/>
          </a:p>
          <a:p>
            <a:pPr lvl="2"/>
            <a:r>
              <a:rPr lang="ko-KR" altLang="en-US" dirty="0"/>
              <a:t>디지털 방식으로 결합되어 방위각과 고도에 대한 </a:t>
            </a:r>
            <a:r>
              <a:rPr lang="en-US" altLang="ko-KR" dirty="0"/>
              <a:t>transmit </a:t>
            </a:r>
            <a:r>
              <a:rPr lang="ko-KR" altLang="en-US" dirty="0"/>
              <a:t>및 </a:t>
            </a:r>
            <a:r>
              <a:rPr lang="en-US" altLang="ko-KR" dirty="0"/>
              <a:t>receive beam</a:t>
            </a:r>
            <a:r>
              <a:rPr lang="ko-KR" altLang="en-US" dirty="0"/>
              <a:t>을 형상</a:t>
            </a:r>
            <a:endParaRPr lang="en-US" altLang="ko-KR" dirty="0"/>
          </a:p>
          <a:p>
            <a:pPr lvl="2"/>
            <a:r>
              <a:rPr lang="en-US" altLang="ko-KR" dirty="0" err="1"/>
              <a:t>Spotlight,StripMap</a:t>
            </a:r>
            <a:r>
              <a:rPr lang="en-US" altLang="ko-KR" dirty="0"/>
              <a:t>, </a:t>
            </a:r>
            <a:r>
              <a:rPr lang="en-US" altLang="ko-KR" dirty="0" err="1"/>
              <a:t>ScanSAR</a:t>
            </a:r>
            <a:r>
              <a:rPr lang="en-US" altLang="ko-KR" dirty="0"/>
              <a:t> </a:t>
            </a:r>
            <a:r>
              <a:rPr lang="ko-KR" altLang="en-US" dirty="0"/>
              <a:t>모드 등을 독립적으로 조정하여 해상도를 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94669618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r>
              <a:rPr lang="ko-KR" altLang="en-US" dirty="0"/>
              <a:t>다중 입력</a:t>
            </a:r>
            <a:r>
              <a:rPr lang="en-US" altLang="ko-KR" dirty="0"/>
              <a:t>-</a:t>
            </a:r>
            <a:r>
              <a:rPr lang="ko-KR" altLang="en-US" dirty="0"/>
              <a:t>다중 출력</a:t>
            </a:r>
            <a:r>
              <a:rPr lang="en-US" altLang="ko-KR" dirty="0"/>
              <a:t>(MIMO)</a:t>
            </a:r>
            <a:r>
              <a:rPr lang="ko-KR" altLang="en-US" dirty="0"/>
              <a:t> 기능을 갖춘 다중 </a:t>
            </a:r>
            <a:r>
              <a:rPr lang="en-US" altLang="ko-KR" dirty="0"/>
              <a:t>aperture-</a:t>
            </a:r>
            <a:r>
              <a:rPr lang="ko-KR" altLang="en-US" dirty="0"/>
              <a:t>다중 주파수 기술</a:t>
            </a:r>
            <a:endParaRPr lang="en-US" altLang="ko-KR" dirty="0"/>
          </a:p>
          <a:p>
            <a:pPr lvl="2"/>
            <a:r>
              <a:rPr lang="ko-KR" altLang="en-US" dirty="0"/>
              <a:t>같은 </a:t>
            </a:r>
            <a:r>
              <a:rPr lang="en-US" altLang="ko-KR" dirty="0"/>
              <a:t>aperture</a:t>
            </a:r>
            <a:r>
              <a:rPr lang="ko-KR" altLang="en-US" dirty="0"/>
              <a:t>에서 </a:t>
            </a:r>
            <a:r>
              <a:rPr lang="en-US" altLang="ko-KR" dirty="0"/>
              <a:t>2</a:t>
            </a:r>
            <a:r>
              <a:rPr lang="ko-KR" altLang="en-US" dirty="0"/>
              <a:t>개의 주파수에 모두 방위각 및 고도의 빔을 형성하여 공간의</a:t>
            </a:r>
            <a:r>
              <a:rPr lang="en-US" altLang="ko-KR" dirty="0"/>
              <a:t> </a:t>
            </a:r>
            <a:r>
              <a:rPr lang="ko-KR" altLang="en-US" dirty="0"/>
              <a:t>차원성을 더욱 확장함</a:t>
            </a:r>
            <a:endParaRPr lang="en-US" altLang="ko-KR" dirty="0"/>
          </a:p>
          <a:p>
            <a:pPr lvl="2"/>
            <a:r>
              <a:rPr lang="ko-KR" altLang="en-US" dirty="0"/>
              <a:t>작은 안테나가 넓은 범위의 감시 모드 요구사항도 충족할 수 있음</a:t>
            </a:r>
            <a:endParaRPr lang="en-US" altLang="ko-KR" dirty="0"/>
          </a:p>
          <a:p>
            <a:pPr lvl="1"/>
            <a:r>
              <a:rPr lang="ko-KR" altLang="en-US" dirty="0"/>
              <a:t>송신 신호</a:t>
            </a:r>
            <a:endParaRPr lang="en-US" altLang="ko-KR" dirty="0"/>
          </a:p>
          <a:p>
            <a:pPr lvl="2"/>
            <a:r>
              <a:rPr lang="ko-KR" altLang="en-US" dirty="0"/>
              <a:t>선형과 비선형의 </a:t>
            </a:r>
            <a:r>
              <a:rPr lang="en-US" altLang="ko-KR" dirty="0"/>
              <a:t>FM </a:t>
            </a:r>
            <a:r>
              <a:rPr lang="ko-KR" altLang="en-US" dirty="0"/>
              <a:t>신호를 모두 지원</a:t>
            </a:r>
            <a:endParaRPr lang="en-US" altLang="ko-KR" dirty="0"/>
          </a:p>
          <a:p>
            <a:pPr lvl="2"/>
            <a:r>
              <a:rPr lang="en-US" altLang="ko-KR" dirty="0"/>
              <a:t>NESZ</a:t>
            </a:r>
            <a:r>
              <a:rPr lang="ko-KR" altLang="en-US" dirty="0"/>
              <a:t>에서 손실없이 향상된 범위의 신호 응답이 가능</a:t>
            </a:r>
            <a:endParaRPr lang="en-US" altLang="ko-KR" dirty="0"/>
          </a:p>
          <a:p>
            <a:pPr lvl="2"/>
            <a:r>
              <a:rPr lang="ko-KR" altLang="en-US" dirty="0"/>
              <a:t>단일</a:t>
            </a:r>
            <a:r>
              <a:rPr lang="en-US" altLang="ko-KR" dirty="0"/>
              <a:t>, </a:t>
            </a:r>
            <a:r>
              <a:rPr lang="ko-KR" altLang="en-US" dirty="0"/>
              <a:t>이중</a:t>
            </a:r>
            <a:r>
              <a:rPr lang="en-US" altLang="ko-KR" dirty="0"/>
              <a:t>, </a:t>
            </a:r>
            <a:r>
              <a:rPr lang="ko-KR" altLang="en-US" dirty="0"/>
              <a:t>경사</a:t>
            </a:r>
            <a:r>
              <a:rPr lang="en-US" altLang="ko-KR" dirty="0"/>
              <a:t>, </a:t>
            </a:r>
            <a:r>
              <a:rPr lang="ko-KR" altLang="en-US" dirty="0"/>
              <a:t>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수신 신호</a:t>
            </a:r>
            <a:endParaRPr lang="en-US" altLang="ko-KR" dirty="0"/>
          </a:p>
          <a:p>
            <a:pPr lvl="2"/>
            <a:r>
              <a:rPr lang="ko-KR" altLang="en-US" dirty="0"/>
              <a:t>넓은 </a:t>
            </a:r>
            <a:r>
              <a:rPr lang="en-US" altLang="ko-KR" dirty="0"/>
              <a:t>swath </a:t>
            </a:r>
            <a:r>
              <a:rPr lang="ko-KR" altLang="en-US" dirty="0"/>
              <a:t>감시에 사용</a:t>
            </a:r>
            <a:endParaRPr lang="en-US" altLang="ko-KR" dirty="0"/>
          </a:p>
          <a:p>
            <a:pPr lvl="2"/>
            <a:r>
              <a:rPr lang="ko-KR" altLang="en-US" dirty="0"/>
              <a:t>선형 및 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송수신 모듈</a:t>
            </a:r>
            <a:endParaRPr lang="en-US" altLang="ko-KR" dirty="0"/>
          </a:p>
          <a:p>
            <a:pPr lvl="2"/>
            <a:r>
              <a:rPr lang="ko-KR" altLang="en-US" dirty="0"/>
              <a:t>위상 편이가 없다는 점에서 파격적임</a:t>
            </a:r>
            <a:endParaRPr lang="en-US" altLang="ko-KR" dirty="0"/>
          </a:p>
          <a:p>
            <a:pPr lvl="2"/>
            <a:r>
              <a:rPr lang="ko-KR" altLang="en-US" dirty="0"/>
              <a:t>모든 위상 편이 및 보정은 디지털로 수행됨</a:t>
            </a:r>
            <a:endParaRPr lang="en-US" altLang="ko-KR" dirty="0"/>
          </a:p>
          <a:p>
            <a:pPr lvl="2"/>
            <a:r>
              <a:rPr lang="ko-KR" altLang="en-US" dirty="0"/>
              <a:t>고도 및 방위각에서 동시에 빔 형성이 가능하므로 새로운 실험 모드를 지원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04348952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Beams And Modes Specifications</a:t>
            </a:r>
          </a:p>
          <a:p>
            <a:pPr lvl="1"/>
            <a:r>
              <a:rPr lang="en-US" altLang="ko-KR" dirty="0" err="1"/>
              <a:t>SpotLight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Multi-Aperture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Dual-Band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 err="1"/>
              <a:t>ScanSAR</a:t>
            </a:r>
            <a:r>
              <a:rPr lang="en-US" altLang="ko-KR" dirty="0"/>
              <a:t> Mode products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SAR-XL Extendable Architecture</a:t>
            </a:r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확장하여 </a:t>
            </a:r>
            <a:r>
              <a:rPr lang="en-US" altLang="ko-KR" dirty="0"/>
              <a:t>16m </a:t>
            </a:r>
            <a:r>
              <a:rPr lang="ko-KR" altLang="en-US" dirty="0"/>
              <a:t>길이의 안테나를 임무에 사용할 수 있음</a:t>
            </a:r>
            <a:endParaRPr lang="en-US" altLang="ko-KR" dirty="0"/>
          </a:p>
          <a:p>
            <a:pPr lvl="1"/>
            <a:r>
              <a:rPr lang="ko-KR" altLang="en-US" dirty="0"/>
              <a:t>안테나 인터페이스 및 제어 장치를 수정하여 더 많은 </a:t>
            </a:r>
            <a:r>
              <a:rPr lang="en-US" altLang="ko-KR" dirty="0"/>
              <a:t>aperture</a:t>
            </a:r>
            <a:r>
              <a:rPr lang="ko-KR" altLang="en-US" dirty="0"/>
              <a:t>를 만들 수 있음</a:t>
            </a:r>
            <a:endParaRPr lang="en-US" altLang="ko-KR" dirty="0"/>
          </a:p>
          <a:p>
            <a:pPr lvl="1"/>
            <a:r>
              <a:rPr lang="ko-KR" altLang="en-US" dirty="0"/>
              <a:t>기술적인 비용을 크게 줄일 수 있는 기본 모듈의 설계 요소 사용 가능</a:t>
            </a:r>
            <a:endParaRPr lang="en-US" altLang="ko-KR" dirty="0"/>
          </a:p>
          <a:p>
            <a:pPr lvl="1"/>
            <a:r>
              <a:rPr lang="ko-KR" altLang="en-US" dirty="0"/>
              <a:t>더 많은 </a:t>
            </a:r>
            <a:r>
              <a:rPr lang="en-US" altLang="ko-KR" dirty="0"/>
              <a:t>aperture</a:t>
            </a:r>
            <a:r>
              <a:rPr lang="ko-KR" altLang="en-US" dirty="0"/>
              <a:t>를 사용하면 해상도의 정밀도 및</a:t>
            </a:r>
            <a:r>
              <a:rPr lang="en-US" altLang="ko-KR" dirty="0"/>
              <a:t> swath </a:t>
            </a:r>
            <a:r>
              <a:rPr lang="ko-KR" altLang="en-US" dirty="0"/>
              <a:t>폭 증가</a:t>
            </a:r>
            <a:r>
              <a:rPr lang="en-US" altLang="ko-KR" dirty="0"/>
              <a:t>, ambiguity ratio </a:t>
            </a:r>
            <a:r>
              <a:rPr lang="ko-KR" altLang="en-US" dirty="0"/>
              <a:t>및 </a:t>
            </a:r>
            <a:r>
              <a:rPr lang="en-US" altLang="ko-KR" dirty="0"/>
              <a:t>NESZ </a:t>
            </a:r>
            <a:r>
              <a:rPr lang="ko-KR" altLang="en-US" dirty="0"/>
              <a:t>감소 등의 효과를 얻을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4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83457649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82B09E-88BE-37DA-C537-8C0B00C6F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코멘트</a:t>
            </a:r>
            <a:br>
              <a:rPr lang="en-US" altLang="ko-KR" dirty="0"/>
            </a:b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50034C-9420-5AEC-A375-2A11FD1454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3290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문서양식</a:t>
            </a:r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601155"/>
          <a:ext cx="862965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글상자</a:t>
                      </a:r>
                      <a:r>
                        <a:rPr lang="ko-KR" altLang="en-US" sz="1400" dirty="0"/>
                        <a:t> 위치를 양식에 따를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줄간격</a:t>
                      </a:r>
                      <a:r>
                        <a:rPr lang="ko-KR" altLang="en-US" sz="1400" dirty="0"/>
                        <a:t> 등을 양식에 따를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폰트 크기 등을 양식에 따를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참고문헌 표기 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131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그림 등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왜곡된 비율의 그림은 수정하여 자료에 삽입할 것</a:t>
                      </a:r>
                      <a:r>
                        <a:rPr lang="en-US" altLang="ko-KR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446936"/>
                  </a:ext>
                </a:extLst>
              </a:tr>
              <a:tr h="131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회의록 양식과 유사도가 상당히 높은데</a:t>
                      </a:r>
                      <a:r>
                        <a:rPr lang="en-US" altLang="ko-KR" sz="1400" dirty="0"/>
                        <a:t>, ‘</a:t>
                      </a:r>
                      <a:r>
                        <a:rPr lang="ko-KR" altLang="en-US" sz="1400" dirty="0"/>
                        <a:t>내용과 양식을 모두 그대로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복사 붙여넣기 한 것은 아닌지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23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282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Reference (1)</a:t>
            </a:r>
            <a:endParaRPr lang="ko-KR" altLang="en-US" dirty="0"/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366730"/>
          <a:ext cx="862965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1947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503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p.2, 3 </a:t>
                      </a: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, 3-18 </a:t>
                      </a:r>
                      <a:r>
                        <a:rPr lang="ko-KR" altLang="en-US" sz="1400" dirty="0"/>
                        <a:t>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참고문헌 표기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참고문헌 표기 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저자와 </a:t>
                      </a:r>
                      <a:r>
                        <a:rPr lang="ko-KR" altLang="en-US" sz="1400" dirty="0" err="1"/>
                        <a:t>출판년도</a:t>
                      </a:r>
                      <a:r>
                        <a:rPr lang="ko-KR" altLang="en-US" sz="1400" dirty="0"/>
                        <a:t> 사이에 콤마 삽입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저자가 </a:t>
                      </a:r>
                      <a:r>
                        <a:rPr lang="ko-KR" altLang="en-US" sz="1400" dirty="0" err="1"/>
                        <a:t>여러명인</a:t>
                      </a:r>
                      <a:r>
                        <a:rPr lang="ko-KR" altLang="en-US" sz="1400" dirty="0"/>
                        <a:t> 경우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표기하는 방법에 대해서는 팀미팅에서 여러 번 언급하였으므로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본 논문의 </a:t>
                      </a:r>
                      <a:r>
                        <a:rPr lang="en-US" altLang="ko-KR" sz="1400" dirty="0"/>
                        <a:t>‘Heterogeneous constellation’</a:t>
                      </a:r>
                      <a:r>
                        <a:rPr lang="ko-KR" altLang="en-US" sz="1400" dirty="0"/>
                        <a:t>의 정의는 무엇인지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503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p.5-6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 개의 슬라이드에 요약하여 정리할 것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논문에서 표로 표현되었다는 것은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표로 표현해야 가독성이 높은 내용이라는 뜻임</a:t>
                      </a:r>
                      <a:r>
                        <a:rPr lang="en-US" altLang="ko-KR" sz="1400" dirty="0"/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논문의 표는 발표자료에도 표로 옮기고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출처를 표기할 것</a:t>
                      </a:r>
                      <a:r>
                        <a:rPr lang="en-US" altLang="ko-KR" sz="1400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61683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‘LEO</a:t>
                      </a:r>
                      <a:r>
                        <a:rPr lang="ko-KR" altLang="en-US" sz="1400" dirty="0"/>
                        <a:t>원격감지 시스템의 명령전달 및 데이터 복구를 다루는 이 논문의 접근 방법은 </a:t>
                      </a:r>
                      <a:r>
                        <a:rPr lang="en-US" altLang="ko-KR" sz="1400" dirty="0"/>
                        <a:t>STK</a:t>
                      </a:r>
                      <a:r>
                        <a:rPr lang="ko-KR" altLang="en-US" sz="1400" dirty="0"/>
                        <a:t>에 분석에 적합함</a:t>
                      </a:r>
                      <a:r>
                        <a:rPr lang="en-US" altLang="ko-KR" sz="1400" dirty="0"/>
                        <a:t>’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본인이 수행할 연구목표에 적합한지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결론에 동일한 문장이 있는데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옳게 작성된 문장인지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400" dirty="0"/>
                        <a:t>Coverage, AWB, STK Analyzer</a:t>
                      </a:r>
                      <a:r>
                        <a:rPr lang="ko-KR" altLang="en-US" sz="1400" dirty="0"/>
                        <a:t>가 서로 다른 소프트웨어인지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DV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altLang="ko-KR" sz="1400" dirty="0"/>
                        <a:t>MOP</a:t>
                      </a:r>
                      <a:r>
                        <a:rPr lang="ko-KR" altLang="en-US" sz="1400" dirty="0"/>
                        <a:t>의 정의가 무엇인지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104639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p.4-9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동일한 내용이 반복되는데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한 슬라이드로 요약할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446936"/>
                  </a:ext>
                </a:extLst>
              </a:tr>
              <a:tr h="27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p.10-17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가장 주요한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본 논문의 핵심이 되는 </a:t>
                      </a:r>
                      <a:r>
                        <a:rPr lang="en-US" altLang="ko-KR" sz="1400" dirty="0"/>
                        <a:t>or </a:t>
                      </a:r>
                      <a:r>
                        <a:rPr lang="ko-KR" altLang="en-US" sz="1400" dirty="0"/>
                        <a:t>본인의 연구에 적용할 수 있는</a:t>
                      </a:r>
                      <a:r>
                        <a:rPr lang="en-US" altLang="ko-KR" sz="1400" dirty="0"/>
                        <a:t>) figure</a:t>
                      </a:r>
                      <a:r>
                        <a:rPr lang="ko-KR" altLang="en-US" sz="1400" dirty="0"/>
                        <a:t>를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개 이내로 정리할 것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23145"/>
                  </a:ext>
                </a:extLst>
              </a:tr>
              <a:tr h="27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논문의 결론에 더해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본 논문의 내용 중 어떤 부분을 본인의 연구에 어떻게 적용할 수 있는지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10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11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Reference (2)</a:t>
            </a:r>
            <a:endParaRPr lang="ko-KR" altLang="en-US" dirty="0"/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366730"/>
          <a:ext cx="862965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1372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p.19, 20 </a:t>
                      </a: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, 20-27</a:t>
                      </a:r>
                      <a:r>
                        <a:rPr lang="ko-KR" altLang="en-US" sz="1400" dirty="0"/>
                        <a:t>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참고문헌 표기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참고문헌 표기 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저자와 </a:t>
                      </a:r>
                      <a:r>
                        <a:rPr lang="ko-KR" altLang="en-US" sz="1400" dirty="0" err="1"/>
                        <a:t>출판년도</a:t>
                      </a:r>
                      <a:r>
                        <a:rPr lang="ko-KR" altLang="en-US" sz="1400" dirty="0"/>
                        <a:t> 사이에 콤마 삽입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저자가 </a:t>
                      </a:r>
                      <a:r>
                        <a:rPr lang="ko-KR" altLang="en-US" sz="1400" dirty="0" err="1"/>
                        <a:t>여러명인</a:t>
                      </a:r>
                      <a:r>
                        <a:rPr lang="ko-KR" altLang="en-US" sz="1400" dirty="0"/>
                        <a:t> 경우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표기하는 방법에 대해서는 팀미팅에서 여러 번 언급하였으므로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본 논문의 </a:t>
                      </a:r>
                      <a:r>
                        <a:rPr lang="en-US" altLang="ko-KR" sz="1400" dirty="0"/>
                        <a:t>‘Heterogeneous constellation’</a:t>
                      </a:r>
                      <a:r>
                        <a:rPr lang="ko-KR" altLang="en-US" sz="1400" dirty="0"/>
                        <a:t>의 정의는 무엇인지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p.22-27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논문의 핵심이 표현되는 그래프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그림 등이 자료에 없음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논문의 핵심이 무엇인지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그림으로 표현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시뮬레이션 결과가 있다면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자료에 포함할 것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방법론만을 리뷰한 논문이라면 논문에서 인용한 참고문헌을 포함할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p.24-25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Reference (1)</a:t>
                      </a:r>
                      <a:r>
                        <a:rPr lang="ko-KR" altLang="en-US" sz="1400" dirty="0"/>
                        <a:t>의 </a:t>
                      </a:r>
                      <a:r>
                        <a:rPr lang="en-US" altLang="ko-KR" sz="1400" dirty="0"/>
                        <a:t>p.5-6</a:t>
                      </a:r>
                      <a:r>
                        <a:rPr lang="ko-KR" altLang="en-US" sz="1400" dirty="0"/>
                        <a:t>에 대한 코멘트와 동일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하지만 재구성 설계에 대한 모델 및 지표가 없는 것이 한계</a:t>
                      </a:r>
                      <a:r>
                        <a:rPr lang="en-US" altLang="ko-KR" sz="1400" dirty="0"/>
                        <a:t>’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 err="1"/>
                        <a:t>를</a:t>
                      </a:r>
                      <a:r>
                        <a:rPr lang="ko-KR" altLang="en-US" sz="1400" dirty="0"/>
                        <a:t> 어떻게 극복하여 본인의 연구에 적용할 수 있을지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10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68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83484</TotalTime>
  <Words>3256</Words>
  <Application>Microsoft Office PowerPoint</Application>
  <PresentationFormat>화면 슬라이드 쇼(4:3)</PresentationFormat>
  <Paragraphs>525</Paragraphs>
  <Slides>32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맑은 고딕</vt:lpstr>
      <vt:lpstr>Arial</vt:lpstr>
      <vt:lpstr>Open sans</vt:lpstr>
      <vt:lpstr>times</vt:lpstr>
      <vt:lpstr>Wingdings</vt:lpstr>
      <vt:lpstr>Office 테마</vt:lpstr>
      <vt:lpstr>이종위성군 선행연구자료</vt:lpstr>
      <vt:lpstr>이종위성군 선행연구자료</vt:lpstr>
      <vt:lpstr>(1) A Framework for Heterogeneous Satellite Constellation Design for Rapid Response Earth Observations, 2019, Ibrahim Sanad and David G Michelson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(2) Research on the configuration design method of heterogeneous constellation reconstruction under the multiple objective and multiple constraint, 2017, Shuang Zhao, Yanli Xu and Huayu Dai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(3) The UrtheCast SAR-XL Multi-Band, Multi-Aperture, 2017, Peter Fox, Keith Beckett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코멘트 (2023.04.05)</vt:lpstr>
      <vt:lpstr>코멘트 (2023.04.05)</vt:lpstr>
      <vt:lpstr>코멘트 (2023.04.05)</vt:lpstr>
      <vt:lpstr>코멘트 (2023.04.05)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4617</cp:revision>
  <dcterms:created xsi:type="dcterms:W3CDTF">2018-01-29T02:45:56Z</dcterms:created>
  <dcterms:modified xsi:type="dcterms:W3CDTF">2023-04-12T14:59:43Z</dcterms:modified>
</cp:coreProperties>
</file>