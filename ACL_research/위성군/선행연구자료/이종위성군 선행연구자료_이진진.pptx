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aveSubsetFonts="1">
  <p:sldMasterIdLst>
    <p:sldMasterId id="2147483660" r:id="rId1"/>
  </p:sldMasterIdLst>
  <p:notesMasterIdLst>
    <p:notesMasterId r:id="rId30"/>
  </p:notesMasterIdLst>
  <p:handoutMasterIdLst>
    <p:handoutMasterId r:id="rId31"/>
  </p:handoutMasterIdLst>
  <p:sldIdLst>
    <p:sldId id="2229" r:id="rId2"/>
    <p:sldId id="2303" r:id="rId3"/>
    <p:sldId id="2297" r:id="rId4"/>
    <p:sldId id="2302" r:id="rId5"/>
    <p:sldId id="2304" r:id="rId6"/>
    <p:sldId id="2314" r:id="rId7"/>
    <p:sldId id="2317" r:id="rId8"/>
    <p:sldId id="2315" r:id="rId9"/>
    <p:sldId id="2316" r:id="rId10"/>
    <p:sldId id="2318" r:id="rId11"/>
    <p:sldId id="2320" r:id="rId12"/>
    <p:sldId id="2319" r:id="rId13"/>
    <p:sldId id="2321" r:id="rId14"/>
    <p:sldId id="2322" r:id="rId15"/>
    <p:sldId id="2323" r:id="rId16"/>
    <p:sldId id="2324" r:id="rId17"/>
    <p:sldId id="2325" r:id="rId18"/>
    <p:sldId id="2326" r:id="rId19"/>
    <p:sldId id="2327" r:id="rId20"/>
    <p:sldId id="2337" r:id="rId21"/>
    <p:sldId id="2328" r:id="rId22"/>
    <p:sldId id="2329" r:id="rId23"/>
    <p:sldId id="2330" r:id="rId24"/>
    <p:sldId id="2331" r:id="rId25"/>
    <p:sldId id="2332" r:id="rId26"/>
    <p:sldId id="2333" r:id="rId27"/>
    <p:sldId id="2334" r:id="rId28"/>
    <p:sldId id="2335" r:id="rId29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김극남" initials="김" lastIdx="0" clrIdx="0">
    <p:extLst>
      <p:ext uri="{19B8F6BF-5375-455C-9EA6-DF929625EA0E}">
        <p15:presenceInfo xmlns:p15="http://schemas.microsoft.com/office/powerpoint/2012/main" userId="김극남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DB021"/>
    <a:srgbClr val="D9541A"/>
    <a:srgbClr val="404040"/>
    <a:srgbClr val="FFFFFF"/>
    <a:srgbClr val="001E46"/>
    <a:srgbClr val="000A1E"/>
    <a:srgbClr val="FFCCCC"/>
    <a:srgbClr val="001432"/>
    <a:srgbClr val="FFCCFF"/>
    <a:srgbClr val="CC99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E9639D4-E3E2-4D34-9284-5A2195B3D0D7}" styleName="밝은 스타일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793D81CF-94F2-401A-BA57-92F5A7B2D0C5}" styleName="보통 스타일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231" autoAdjust="0"/>
    <p:restoredTop sz="82161" autoAdjust="0"/>
  </p:normalViewPr>
  <p:slideViewPr>
    <p:cSldViewPr snapToGrid="0" showGuides="1">
      <p:cViewPr varScale="1">
        <p:scale>
          <a:sx n="88" d="100"/>
          <a:sy n="88" d="100"/>
        </p:scale>
        <p:origin x="102" y="19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 snapToGrid="0">
      <p:cViewPr varScale="1">
        <p:scale>
          <a:sx n="65" d="100"/>
          <a:sy n="65" d="100"/>
        </p:scale>
        <p:origin x="2299" y="3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commentAuthors" Target="commentAuthor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1E49D1F-15B2-4B9C-8076-11C3A082C32A}" type="datetimeFigureOut">
              <a:rPr lang="ko-KR" altLang="en-US" smtClean="0"/>
              <a:t>2023-04-04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3A8452A-AED7-4144-8B8B-DADFF71C57C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28991862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6DDD8DE-5D7B-4A4B-9949-78C9C314FE9D}" type="datetimeFigureOut">
              <a:rPr lang="ko-KR" altLang="en-US" smtClean="0"/>
              <a:t>2023-04-04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D463564-01E7-4F87-AE00-59478FEE8A8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50012581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ED463564-01E7-4F87-AE00-59478FEE8A8F}" type="slidenum">
              <a:rPr lang="en-US" altLang="en-US"/>
              <a:pPr lvl="0">
                <a:defRPr/>
              </a:pPr>
              <a:t>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1093433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ED463564-01E7-4F87-AE00-59478FEE8A8F}" type="slidenum">
              <a:rPr lang="en-US" altLang="en-US"/>
              <a:pPr lvl="0">
                <a:defRPr/>
              </a:pPr>
              <a:t>19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9138324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27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034695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jpe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jpeg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143000" y="4419136"/>
            <a:ext cx="6858000" cy="133978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 b="1">
                <a:latin typeface="times" panose="02020603050405020304" pitchFamily="18" charset="0"/>
                <a:cs typeface="times" panose="02020603050405020304" pitchFamily="18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dirty="0"/>
              <a:t>이름</a:t>
            </a:r>
            <a:endParaRPr lang="en-US" altLang="ko-KR" dirty="0"/>
          </a:p>
          <a:p>
            <a:r>
              <a:rPr lang="ko-KR" altLang="en-US" dirty="0"/>
              <a:t>소속</a:t>
            </a:r>
            <a:endParaRPr lang="en-US" altLang="ko-KR" dirty="0"/>
          </a:p>
          <a:p>
            <a:r>
              <a:rPr lang="ko-KR" altLang="en-US" dirty="0"/>
              <a:t>발표장소</a:t>
            </a:r>
            <a:r>
              <a:rPr lang="en-US" altLang="ko-KR" dirty="0"/>
              <a:t>/</a:t>
            </a:r>
            <a:r>
              <a:rPr lang="ko-KR" altLang="en-US" dirty="0"/>
              <a:t>발표일</a:t>
            </a:r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88B88FB9-8488-4F3A-9179-85AF22A058C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0" y="1935331"/>
            <a:ext cx="9144000" cy="2226189"/>
          </a:xfrm>
        </p:spPr>
        <p:txBody>
          <a:bodyPr anchor="ctr">
            <a:normAutofit/>
          </a:bodyPr>
          <a:lstStyle>
            <a:lvl1pPr algn="ctr">
              <a:defRPr sz="4000" b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" panose="02020603050405020304" pitchFamily="18" charset="0"/>
                <a:ea typeface="+mj-ea"/>
                <a:cs typeface="times" panose="02020603050405020304" pitchFamily="18" charset="0"/>
              </a:defRPr>
            </a:lvl1pPr>
          </a:lstStyle>
          <a:p>
            <a:r>
              <a:rPr lang="ko-KR" altLang="en-US" dirty="0"/>
              <a:t>발표제목</a:t>
            </a:r>
            <a:br>
              <a:rPr lang="en-US" altLang="ko-KR" dirty="0"/>
            </a:br>
            <a:r>
              <a:rPr lang="en-US" altLang="ko-KR" dirty="0"/>
              <a:t>(</a:t>
            </a:r>
            <a:r>
              <a:rPr lang="ko-KR" altLang="en-US" dirty="0"/>
              <a:t>국</a:t>
            </a:r>
            <a:r>
              <a:rPr lang="en-US" altLang="ko-KR" dirty="0"/>
              <a:t>/</a:t>
            </a:r>
            <a:r>
              <a:rPr lang="ko-KR" altLang="en-US" dirty="0"/>
              <a:t>영문</a:t>
            </a:r>
            <a:r>
              <a:rPr lang="en-US" altLang="ko-KR" dirty="0"/>
              <a:t>, Times, 40 pts)</a:t>
            </a:r>
            <a:endParaRPr lang="en-US" dirty="0"/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80F818A9-523E-49E6-8353-F8A3A0FF3B05}"/>
              </a:ext>
            </a:extLst>
          </p:cNvPr>
          <p:cNvGrpSpPr/>
          <p:nvPr userDrawn="1"/>
        </p:nvGrpSpPr>
        <p:grpSpPr>
          <a:xfrm>
            <a:off x="3097294" y="6017853"/>
            <a:ext cx="3389530" cy="720000"/>
            <a:chOff x="3167632" y="6062339"/>
            <a:chExt cx="3389530" cy="720000"/>
          </a:xfrm>
        </p:grpSpPr>
        <p:pic>
          <p:nvPicPr>
            <p:cNvPr id="4" name="그림 3" descr="그리기, 플레이트, 음식, 방이(가) 표시된 사진&#10;&#10;자동 생성된 설명">
              <a:extLst>
                <a:ext uri="{FF2B5EF4-FFF2-40B4-BE49-F238E27FC236}">
                  <a16:creationId xmlns:a16="http://schemas.microsoft.com/office/drawing/2014/main" id="{E63BAE71-441C-4804-B8BC-2FBAFD2A509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167632" y="6062339"/>
              <a:ext cx="720000" cy="720000"/>
            </a:xfrm>
            <a:prstGeom prst="rect">
              <a:avLst/>
            </a:prstGeom>
          </p:spPr>
        </p:pic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215EB456-78DB-470E-AB3C-3A934AB3135F}"/>
                </a:ext>
              </a:extLst>
            </p:cNvPr>
            <p:cNvSpPr/>
            <p:nvPr userDrawn="1"/>
          </p:nvSpPr>
          <p:spPr>
            <a:xfrm>
              <a:off x="3846292" y="6114563"/>
              <a:ext cx="2710870" cy="615553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ko-KR" altLang="en-US" sz="2000" b="1" spc="100" baseline="0" dirty="0">
                  <a:solidFill>
                    <a:schemeClr val="accent5">
                      <a:lumMod val="7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" panose="02020603050405020304" pitchFamily="18" charset="0"/>
                  <a:cs typeface="times" panose="02020603050405020304" pitchFamily="18" charset="0"/>
                </a:rPr>
                <a:t>우주비행제어연구실</a:t>
              </a:r>
              <a:endParaRPr lang="en-US" altLang="ko-KR" sz="2000" b="1" spc="100" baseline="0" dirty="0"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" panose="02020603050405020304" pitchFamily="18" charset="0"/>
                <a:cs typeface="times" panose="02020603050405020304" pitchFamily="18" charset="0"/>
              </a:endParaRPr>
            </a:p>
            <a:p>
              <a:r>
                <a:rPr lang="en-US" altLang="ko-KR" sz="1400" b="1" dirty="0">
                  <a:solidFill>
                    <a:schemeClr val="accent5">
                      <a:lumMod val="7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" panose="02020603050405020304" pitchFamily="18" charset="0"/>
                  <a:cs typeface="times" panose="02020603050405020304" pitchFamily="18" charset="0"/>
                </a:rPr>
                <a:t>Astrodynamics and Control Lab.</a:t>
              </a:r>
            </a:p>
          </p:txBody>
        </p:sp>
      </p:grpSp>
      <p:pic>
        <p:nvPicPr>
          <p:cNvPr id="15" name="그림 14">
            <a:extLst>
              <a:ext uri="{FF2B5EF4-FFF2-40B4-BE49-F238E27FC236}">
                <a16:creationId xmlns:a16="http://schemas.microsoft.com/office/drawing/2014/main" id="{B0D7EE89-F264-41E4-AEC5-73770F7D8FD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b="50000"/>
          <a:stretch/>
        </p:blipFill>
        <p:spPr>
          <a:xfrm>
            <a:off x="7031115" y="4108252"/>
            <a:ext cx="2133955" cy="2761589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FD783890-A54B-4809-84F6-B7736A2B63C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/>
          <a:srcRect t="5510" b="52178"/>
          <a:stretch/>
        </p:blipFill>
        <p:spPr>
          <a:xfrm flipH="1">
            <a:off x="-21070" y="4419136"/>
            <a:ext cx="2212357" cy="2438864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EA08DBB2-FE6A-40A8-BAA8-F4DFAEEBA3FF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70565" y="89661"/>
            <a:ext cx="720000" cy="720000"/>
          </a:xfrm>
          <a:prstGeom prst="rect">
            <a:avLst/>
          </a:prstGeom>
        </p:spPr>
      </p:pic>
      <p:pic>
        <p:nvPicPr>
          <p:cNvPr id="12" name="Picture 8">
            <a:extLst>
              <a:ext uri="{FF2B5EF4-FFF2-40B4-BE49-F238E27FC236}">
                <a16:creationId xmlns:a16="http://schemas.microsoft.com/office/drawing/2014/main" id="{6A115575-BE6D-40AD-B231-D68D8B4912A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6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38645" y="89661"/>
            <a:ext cx="720000" cy="72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6179185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4. 본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9" name="직선 연결선 48">
            <a:extLst>
              <a:ext uri="{FF2B5EF4-FFF2-40B4-BE49-F238E27FC236}">
                <a16:creationId xmlns:a16="http://schemas.microsoft.com/office/drawing/2014/main" id="{DD644064-7FF7-4F6F-ADA3-1626B4D81BCB}"/>
              </a:ext>
            </a:extLst>
          </p:cNvPr>
          <p:cNvCxnSpPr>
            <a:cxnSpLocks/>
          </p:cNvCxnSpPr>
          <p:nvPr userDrawn="1"/>
        </p:nvCxnSpPr>
        <p:spPr>
          <a:xfrm>
            <a:off x="619125" y="876300"/>
            <a:ext cx="7575550" cy="0"/>
          </a:xfrm>
          <a:prstGeom prst="line">
            <a:avLst/>
          </a:prstGeom>
          <a:ln w="28575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itle 1">
            <a:extLst>
              <a:ext uri="{FF2B5EF4-FFF2-40B4-BE49-F238E27FC236}">
                <a16:creationId xmlns:a16="http://schemas.microsoft.com/office/drawing/2014/main" id="{9EEAC6FF-2CB2-4248-942E-A23DF1B6BE2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84057" y="71055"/>
            <a:ext cx="6705464" cy="687714"/>
          </a:xfrm>
        </p:spPr>
        <p:txBody>
          <a:bodyPr>
            <a:normAutofit/>
          </a:bodyPr>
          <a:lstStyle>
            <a:lvl1pPr algn="ctr">
              <a:defRPr sz="2800" b="1">
                <a:solidFill>
                  <a:schemeClr val="tx1"/>
                </a:solidFill>
                <a:latin typeface="times" panose="02020603050405020304" pitchFamily="18" charset="0"/>
                <a:ea typeface="+mj-ea"/>
                <a:cs typeface="times" panose="02020603050405020304" pitchFamily="18" charset="0"/>
              </a:defRPr>
            </a:lvl1pPr>
          </a:lstStyle>
          <a:p>
            <a:r>
              <a:rPr lang="ko-KR" altLang="en-US" dirty="0"/>
              <a:t>마스터 제목 스타일 편집 </a:t>
            </a:r>
            <a:r>
              <a:rPr lang="en-US" altLang="ko-KR" dirty="0"/>
              <a:t>(28 pts)</a:t>
            </a:r>
            <a:endParaRPr lang="en-US" dirty="0"/>
          </a:p>
        </p:txBody>
      </p:sp>
      <p:pic>
        <p:nvPicPr>
          <p:cNvPr id="19" name="그림 18">
            <a:extLst>
              <a:ext uri="{FF2B5EF4-FFF2-40B4-BE49-F238E27FC236}">
                <a16:creationId xmlns:a16="http://schemas.microsoft.com/office/drawing/2014/main" id="{ABD5D053-347B-45C0-B24B-C511B6215BC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3646" r="9900"/>
          <a:stretch/>
        </p:blipFill>
        <p:spPr>
          <a:xfrm>
            <a:off x="7554954" y="1"/>
            <a:ext cx="1589045" cy="1029956"/>
          </a:xfrm>
          <a:prstGeom prst="rect">
            <a:avLst/>
          </a:prstGeom>
        </p:spPr>
      </p:pic>
      <p:sp>
        <p:nvSpPr>
          <p:cNvPr id="26" name="직사각형 25">
            <a:extLst>
              <a:ext uri="{FF2B5EF4-FFF2-40B4-BE49-F238E27FC236}">
                <a16:creationId xmlns:a16="http://schemas.microsoft.com/office/drawing/2014/main" id="{CDF2725A-2EAD-4828-8A48-CF4B69244C83}"/>
              </a:ext>
            </a:extLst>
          </p:cNvPr>
          <p:cNvSpPr/>
          <p:nvPr userDrawn="1"/>
        </p:nvSpPr>
        <p:spPr>
          <a:xfrm>
            <a:off x="260193" y="6331061"/>
            <a:ext cx="343363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800" b="1" dirty="0"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" panose="02020603050405020304" pitchFamily="18" charset="0"/>
                <a:cs typeface="times" panose="02020603050405020304" pitchFamily="18" charset="0"/>
              </a:rPr>
              <a:t>Astrodynamics and Control Lab.</a:t>
            </a:r>
          </a:p>
        </p:txBody>
      </p:sp>
      <p:sp>
        <p:nvSpPr>
          <p:cNvPr id="27" name="슬라이드 번호 개체 틀 4">
            <a:extLst>
              <a:ext uri="{FF2B5EF4-FFF2-40B4-BE49-F238E27FC236}">
                <a16:creationId xmlns:a16="http://schemas.microsoft.com/office/drawing/2014/main" id="{116EEB02-C842-4201-B314-07D2C2222D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905750" y="6327787"/>
            <a:ext cx="981169" cy="360000"/>
          </a:xfrm>
          <a:prstGeom prst="rect">
            <a:avLst/>
          </a:prstGeom>
        </p:spPr>
        <p:txBody>
          <a:bodyPr anchor="ctr"/>
          <a:lstStyle>
            <a:lvl1pPr algn="r">
              <a:defRPr sz="1400" b="1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defRPr>
            </a:lvl1pPr>
          </a:lstStyle>
          <a:p>
            <a:fld id="{397DD3AE-C24E-49FC-B527-05061A0348E6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823B068E-A8D6-4389-87D7-7224E5B251E9}"/>
              </a:ext>
            </a:extLst>
          </p:cNvPr>
          <p:cNvGrpSpPr/>
          <p:nvPr userDrawn="1"/>
        </p:nvGrpSpPr>
        <p:grpSpPr>
          <a:xfrm>
            <a:off x="695141" y="1187583"/>
            <a:ext cx="698862" cy="4535814"/>
            <a:chOff x="695141" y="1187583"/>
            <a:chExt cx="698862" cy="4535814"/>
          </a:xfrm>
        </p:grpSpPr>
        <p:sp>
          <p:nvSpPr>
            <p:cNvPr id="12" name="타원 11">
              <a:extLst>
                <a:ext uri="{FF2B5EF4-FFF2-40B4-BE49-F238E27FC236}">
                  <a16:creationId xmlns:a16="http://schemas.microsoft.com/office/drawing/2014/main" id="{FB63AC01-59A1-4839-880A-52A4371FE19E}"/>
                </a:ext>
              </a:extLst>
            </p:cNvPr>
            <p:cNvSpPr/>
            <p:nvPr/>
          </p:nvSpPr>
          <p:spPr>
            <a:xfrm>
              <a:off x="701313" y="1187583"/>
              <a:ext cx="692690" cy="687714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solidFill>
                    <a:schemeClr val="tx1"/>
                  </a:solidFill>
                  <a:latin typeface="times" panose="02020603050405020304" pitchFamily="18" charset="0"/>
                  <a:cs typeface="times" panose="02020603050405020304" pitchFamily="18" charset="0"/>
                </a:rPr>
                <a:t>I</a:t>
              </a:r>
              <a:endParaRPr lang="ko-KR" altLang="en-US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endParaRPr>
            </a:p>
          </p:txBody>
        </p:sp>
        <p:sp>
          <p:nvSpPr>
            <p:cNvPr id="13" name="타원 12">
              <a:extLst>
                <a:ext uri="{FF2B5EF4-FFF2-40B4-BE49-F238E27FC236}">
                  <a16:creationId xmlns:a16="http://schemas.microsoft.com/office/drawing/2014/main" id="{E40572AD-6701-4266-9752-13DC1E63AA2C}"/>
                </a:ext>
              </a:extLst>
            </p:cNvPr>
            <p:cNvSpPr/>
            <p:nvPr/>
          </p:nvSpPr>
          <p:spPr>
            <a:xfrm>
              <a:off x="695141" y="2149608"/>
              <a:ext cx="692690" cy="687714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solidFill>
                    <a:schemeClr val="tx1"/>
                  </a:solidFill>
                  <a:latin typeface="times" panose="02020603050405020304" pitchFamily="18" charset="0"/>
                  <a:cs typeface="times" panose="02020603050405020304" pitchFamily="18" charset="0"/>
                </a:rPr>
                <a:t>II</a:t>
              </a:r>
              <a:endParaRPr lang="ko-KR" altLang="en-US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endParaRPr>
            </a:p>
          </p:txBody>
        </p:sp>
        <p:sp>
          <p:nvSpPr>
            <p:cNvPr id="15" name="타원 14">
              <a:extLst>
                <a:ext uri="{FF2B5EF4-FFF2-40B4-BE49-F238E27FC236}">
                  <a16:creationId xmlns:a16="http://schemas.microsoft.com/office/drawing/2014/main" id="{262E28C8-6768-42E9-BCF0-6BF7AA2C69D1}"/>
                </a:ext>
              </a:extLst>
            </p:cNvPr>
            <p:cNvSpPr/>
            <p:nvPr/>
          </p:nvSpPr>
          <p:spPr>
            <a:xfrm>
              <a:off x="695141" y="3111633"/>
              <a:ext cx="692690" cy="687714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solidFill>
                    <a:schemeClr val="tx1"/>
                  </a:solidFill>
                  <a:latin typeface="times" panose="02020603050405020304" pitchFamily="18" charset="0"/>
                  <a:cs typeface="times" panose="02020603050405020304" pitchFamily="18" charset="0"/>
                </a:rPr>
                <a:t>III</a:t>
              </a:r>
              <a:endParaRPr lang="ko-KR" altLang="en-US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endParaRPr>
            </a:p>
          </p:txBody>
        </p:sp>
        <p:sp>
          <p:nvSpPr>
            <p:cNvPr id="16" name="타원 15">
              <a:extLst>
                <a:ext uri="{FF2B5EF4-FFF2-40B4-BE49-F238E27FC236}">
                  <a16:creationId xmlns:a16="http://schemas.microsoft.com/office/drawing/2014/main" id="{51C8E578-E54B-4F6C-8319-D77A1971F286}"/>
                </a:ext>
              </a:extLst>
            </p:cNvPr>
            <p:cNvSpPr/>
            <p:nvPr/>
          </p:nvSpPr>
          <p:spPr>
            <a:xfrm>
              <a:off x="695141" y="4073658"/>
              <a:ext cx="692690" cy="687714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solidFill>
                    <a:schemeClr val="tx1"/>
                  </a:solidFill>
                  <a:latin typeface="times" panose="02020603050405020304" pitchFamily="18" charset="0"/>
                  <a:cs typeface="times" panose="02020603050405020304" pitchFamily="18" charset="0"/>
                </a:rPr>
                <a:t>IV</a:t>
              </a:r>
              <a:endParaRPr lang="ko-KR" altLang="en-US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endParaRPr>
            </a:p>
          </p:txBody>
        </p:sp>
        <p:sp>
          <p:nvSpPr>
            <p:cNvPr id="17" name="타원 16">
              <a:extLst>
                <a:ext uri="{FF2B5EF4-FFF2-40B4-BE49-F238E27FC236}">
                  <a16:creationId xmlns:a16="http://schemas.microsoft.com/office/drawing/2014/main" id="{0F52A207-95C0-475F-A6D7-1FCB68CF92B4}"/>
                </a:ext>
              </a:extLst>
            </p:cNvPr>
            <p:cNvSpPr/>
            <p:nvPr/>
          </p:nvSpPr>
          <p:spPr>
            <a:xfrm>
              <a:off x="695141" y="5035683"/>
              <a:ext cx="692690" cy="687714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solidFill>
                    <a:schemeClr val="tx1"/>
                  </a:solidFill>
                  <a:latin typeface="times" panose="02020603050405020304" pitchFamily="18" charset="0"/>
                  <a:cs typeface="times" panose="02020603050405020304" pitchFamily="18" charset="0"/>
                </a:rPr>
                <a:t>V</a:t>
              </a:r>
              <a:endParaRPr lang="ko-KR" altLang="en-US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endParaRPr>
            </a:p>
          </p:txBody>
        </p:sp>
      </p:grpSp>
      <p:graphicFrame>
        <p:nvGraphicFramePr>
          <p:cNvPr id="18" name="표 18">
            <a:extLst>
              <a:ext uri="{FF2B5EF4-FFF2-40B4-BE49-F238E27FC236}">
                <a16:creationId xmlns:a16="http://schemas.microsoft.com/office/drawing/2014/main" id="{5B07531E-AAB8-40A5-B3D0-4F0F6D12E2F0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295206933"/>
              </p:ext>
            </p:extLst>
          </p:nvPr>
        </p:nvGraphicFramePr>
        <p:xfrm>
          <a:off x="1454505" y="1029970"/>
          <a:ext cx="7318019" cy="48291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8019">
                  <a:extLst>
                    <a:ext uri="{9D8B030D-6E8A-4147-A177-3AD203B41FA5}">
                      <a16:colId xmlns:a16="http://schemas.microsoft.com/office/drawing/2014/main" val="2719041385"/>
                    </a:ext>
                  </a:extLst>
                </a:gridCol>
              </a:tblGrid>
              <a:tr h="965835">
                <a:tc>
                  <a:txBody>
                    <a:bodyPr/>
                    <a:lstStyle/>
                    <a:p>
                      <a:pPr latinLnBrk="1"/>
                      <a:endParaRPr lang="ko-KR" altLang="en-US" sz="2000" b="1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77413000"/>
                  </a:ext>
                </a:extLst>
              </a:tr>
              <a:tr h="965835">
                <a:tc>
                  <a:txBody>
                    <a:bodyPr/>
                    <a:lstStyle/>
                    <a:p>
                      <a:pPr latinLnBrk="1"/>
                      <a:endParaRPr lang="ko-KR" altLang="en-US" sz="2000" b="1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04167346"/>
                  </a:ext>
                </a:extLst>
              </a:tr>
              <a:tr h="965835">
                <a:tc>
                  <a:txBody>
                    <a:bodyPr/>
                    <a:lstStyle/>
                    <a:p>
                      <a:pPr latinLnBrk="1"/>
                      <a:endParaRPr lang="ko-KR" altLang="en-US" sz="2000" b="1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45247919"/>
                  </a:ext>
                </a:extLst>
              </a:tr>
              <a:tr h="965835">
                <a:tc>
                  <a:txBody>
                    <a:bodyPr/>
                    <a:lstStyle/>
                    <a:p>
                      <a:pPr latinLnBrk="1"/>
                      <a:endParaRPr lang="ko-KR" altLang="en-US" sz="2000" b="1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81284267"/>
                  </a:ext>
                </a:extLst>
              </a:tr>
              <a:tr h="965835">
                <a:tc>
                  <a:txBody>
                    <a:bodyPr/>
                    <a:lstStyle/>
                    <a:p>
                      <a:pPr latinLnBrk="1"/>
                      <a:endParaRPr lang="ko-KR" altLang="en-US" sz="2000" b="1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35405283"/>
                  </a:ext>
                </a:extLst>
              </a:tr>
            </a:tbl>
          </a:graphicData>
        </a:graphic>
      </p:graphicFrame>
      <p:pic>
        <p:nvPicPr>
          <p:cNvPr id="23" name="그림 22" descr="그리기, 플레이트, 음식, 방이(가) 표시된 사진&#10;&#10;자동 생성된 설명">
            <a:extLst>
              <a:ext uri="{FF2B5EF4-FFF2-40B4-BE49-F238E27FC236}">
                <a16:creationId xmlns:a16="http://schemas.microsoft.com/office/drawing/2014/main" id="{FEF37F4A-64D8-493C-A65A-762B21FB975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423" y="100133"/>
            <a:ext cx="720000" cy="720000"/>
          </a:xfrm>
          <a:prstGeom prst="rect">
            <a:avLst/>
          </a:prstGeom>
        </p:spPr>
      </p:pic>
      <p:cxnSp>
        <p:nvCxnSpPr>
          <p:cNvPr id="24" name="직선 연결선 23">
            <a:extLst>
              <a:ext uri="{FF2B5EF4-FFF2-40B4-BE49-F238E27FC236}">
                <a16:creationId xmlns:a16="http://schemas.microsoft.com/office/drawing/2014/main" id="{6567B15C-EDC8-4FDB-86E3-588E3F4B38B8}"/>
              </a:ext>
            </a:extLst>
          </p:cNvPr>
          <p:cNvCxnSpPr>
            <a:cxnSpLocks/>
          </p:cNvCxnSpPr>
          <p:nvPr userDrawn="1"/>
        </p:nvCxnSpPr>
        <p:spPr>
          <a:xfrm>
            <a:off x="781050" y="803275"/>
            <a:ext cx="6732270" cy="0"/>
          </a:xfrm>
          <a:prstGeom prst="line">
            <a:avLst/>
          </a:prstGeom>
          <a:ln w="28575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764869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. 본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직사각형 23">
            <a:extLst>
              <a:ext uri="{FF2B5EF4-FFF2-40B4-BE49-F238E27FC236}">
                <a16:creationId xmlns:a16="http://schemas.microsoft.com/office/drawing/2014/main" id="{B04D5D09-A2FC-4C8B-A3FF-CD7464225194}"/>
              </a:ext>
            </a:extLst>
          </p:cNvPr>
          <p:cNvSpPr/>
          <p:nvPr userDrawn="1"/>
        </p:nvSpPr>
        <p:spPr>
          <a:xfrm>
            <a:off x="260193" y="6331061"/>
            <a:ext cx="343363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800" b="1" dirty="0"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" panose="02020603050405020304" pitchFamily="18" charset="0"/>
                <a:cs typeface="times" panose="02020603050405020304" pitchFamily="18" charset="0"/>
              </a:rPr>
              <a:t>Astrodynamics and Control Lab.</a:t>
            </a:r>
          </a:p>
        </p:txBody>
      </p:sp>
      <p:sp>
        <p:nvSpPr>
          <p:cNvPr id="25" name="슬라이드 번호 개체 틀 4">
            <a:extLst>
              <a:ext uri="{FF2B5EF4-FFF2-40B4-BE49-F238E27FC236}">
                <a16:creationId xmlns:a16="http://schemas.microsoft.com/office/drawing/2014/main" id="{631309A5-660A-4E14-8195-3A25152345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905750" y="6327787"/>
            <a:ext cx="981169" cy="360000"/>
          </a:xfrm>
          <a:prstGeom prst="rect">
            <a:avLst/>
          </a:prstGeom>
        </p:spPr>
        <p:txBody>
          <a:bodyPr anchor="ctr"/>
          <a:lstStyle>
            <a:lvl1pPr algn="r">
              <a:defRPr sz="1400" b="1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defRPr>
            </a:lvl1pPr>
          </a:lstStyle>
          <a:p>
            <a:fld id="{397DD3AE-C24E-49FC-B527-05061A0348E6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27" name="Content Placeholder 2">
            <a:extLst>
              <a:ext uri="{FF2B5EF4-FFF2-40B4-BE49-F238E27FC236}">
                <a16:creationId xmlns:a16="http://schemas.microsoft.com/office/drawing/2014/main" id="{7540F519-A5D5-4C17-A8B9-7371A3A841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Autofit/>
          </a:bodyPr>
          <a:lstStyle>
            <a:lvl1pPr marL="228600" indent="-360000">
              <a:lnSpc>
                <a:spcPct val="100000"/>
              </a:lnSpc>
              <a:buFont typeface="Wingdings" panose="05000000000000000000" pitchFamily="2" charset="2"/>
              <a:buChar char="v"/>
              <a:defRPr sz="2400" b="1">
                <a:latin typeface="times" panose="02020603050405020304" pitchFamily="18" charset="0"/>
                <a:cs typeface="times" panose="02020603050405020304" pitchFamily="18" charset="0"/>
              </a:defRPr>
            </a:lvl1pPr>
            <a:lvl2pPr marL="540000" indent="-324000">
              <a:lnSpc>
                <a:spcPct val="100000"/>
              </a:lnSpc>
              <a:buFont typeface="Wingdings" panose="05000000000000000000" pitchFamily="2" charset="2"/>
              <a:buChar char="u"/>
              <a:defRPr sz="1800" b="0">
                <a:latin typeface="times" panose="02020603050405020304" pitchFamily="18" charset="0"/>
                <a:cs typeface="times" panose="02020603050405020304" pitchFamily="18" charset="0"/>
              </a:defRPr>
            </a:lvl2pPr>
            <a:lvl3pPr marL="720000" indent="-288000">
              <a:lnSpc>
                <a:spcPct val="100000"/>
              </a:lnSpc>
              <a:buFont typeface="Wingdings" panose="05000000000000000000" pitchFamily="2" charset="2"/>
              <a:buChar char="Ø"/>
              <a:defRPr sz="1600">
                <a:latin typeface="times" panose="02020603050405020304" pitchFamily="18" charset="0"/>
                <a:cs typeface="times" panose="02020603050405020304" pitchFamily="18" charset="0"/>
              </a:defRPr>
            </a:lvl3pPr>
            <a:lvl4pPr marL="900000" indent="-252000">
              <a:lnSpc>
                <a:spcPct val="100000"/>
              </a:lnSpc>
              <a:buFont typeface="Wingdings" panose="05000000000000000000" pitchFamily="2" charset="2"/>
              <a:buChar char="ü"/>
              <a:defRPr sz="1400">
                <a:latin typeface="times" panose="02020603050405020304" pitchFamily="18" charset="0"/>
                <a:cs typeface="times" panose="02020603050405020304" pitchFamily="18" charset="0"/>
              </a:defRPr>
            </a:lvl4pPr>
            <a:lvl5pPr marL="1080000" indent="-252000">
              <a:lnSpc>
                <a:spcPct val="100000"/>
              </a:lnSpc>
              <a:defRPr sz="1400">
                <a:latin typeface="times" panose="02020603050405020304" pitchFamily="18" charset="0"/>
                <a:cs typeface="times" panose="02020603050405020304" pitchFamily="18" charset="0"/>
              </a:defRPr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  <a:endParaRPr lang="en-US" dirty="0"/>
          </a:p>
        </p:txBody>
      </p:sp>
      <p:sp>
        <p:nvSpPr>
          <p:cNvPr id="30" name="Title 1">
            <a:extLst>
              <a:ext uri="{FF2B5EF4-FFF2-40B4-BE49-F238E27FC236}">
                <a16:creationId xmlns:a16="http://schemas.microsoft.com/office/drawing/2014/main" id="{78361285-D5CA-4434-A351-5343035FD0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84057" y="71055"/>
            <a:ext cx="6705464" cy="687714"/>
          </a:xfrm>
        </p:spPr>
        <p:txBody>
          <a:bodyPr>
            <a:normAutofit/>
          </a:bodyPr>
          <a:lstStyle>
            <a:lvl1pPr algn="ctr">
              <a:defRPr sz="2800" b="1">
                <a:solidFill>
                  <a:schemeClr val="tx1"/>
                </a:solidFill>
                <a:latin typeface="times" panose="02020603050405020304" pitchFamily="18" charset="0"/>
                <a:ea typeface="+mj-ea"/>
                <a:cs typeface="times" panose="02020603050405020304" pitchFamily="18" charset="0"/>
              </a:defRPr>
            </a:lvl1pPr>
          </a:lstStyle>
          <a:p>
            <a:r>
              <a:rPr lang="ko-KR" altLang="en-US" dirty="0"/>
              <a:t>마스터 제목 스타일 편집 </a:t>
            </a:r>
            <a:r>
              <a:rPr lang="en-US" altLang="ko-KR" dirty="0"/>
              <a:t>(28 pts)</a:t>
            </a:r>
            <a:endParaRPr lang="en-US" dirty="0"/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15C7FC81-20F4-4FC2-B40D-A9FF1F52076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3646" r="9900"/>
          <a:stretch/>
        </p:blipFill>
        <p:spPr>
          <a:xfrm>
            <a:off x="7554954" y="1"/>
            <a:ext cx="1589045" cy="1029956"/>
          </a:xfrm>
          <a:prstGeom prst="rect">
            <a:avLst/>
          </a:prstGeom>
        </p:spPr>
      </p:pic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4D14EEDE-3F58-409A-8C98-F099C099E03A}"/>
              </a:ext>
            </a:extLst>
          </p:cNvPr>
          <p:cNvCxnSpPr>
            <a:cxnSpLocks/>
          </p:cNvCxnSpPr>
          <p:nvPr userDrawn="1"/>
        </p:nvCxnSpPr>
        <p:spPr>
          <a:xfrm>
            <a:off x="619125" y="876300"/>
            <a:ext cx="7575550" cy="0"/>
          </a:xfrm>
          <a:prstGeom prst="line">
            <a:avLst/>
          </a:prstGeom>
          <a:ln w="28575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그림 14" descr="그리기, 플레이트, 음식, 방이(가) 표시된 사진&#10;&#10;자동 생성된 설명">
            <a:extLst>
              <a:ext uri="{FF2B5EF4-FFF2-40B4-BE49-F238E27FC236}">
                <a16:creationId xmlns:a16="http://schemas.microsoft.com/office/drawing/2014/main" id="{D6923843-3AE5-4E5F-BACA-DFA2C5600B2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423" y="100133"/>
            <a:ext cx="720000" cy="720000"/>
          </a:xfrm>
          <a:prstGeom prst="rect">
            <a:avLst/>
          </a:prstGeom>
        </p:spPr>
      </p:pic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04926874-7DA7-4D84-BD23-06EAC42705A1}"/>
              </a:ext>
            </a:extLst>
          </p:cNvPr>
          <p:cNvCxnSpPr>
            <a:cxnSpLocks/>
          </p:cNvCxnSpPr>
          <p:nvPr userDrawn="1"/>
        </p:nvCxnSpPr>
        <p:spPr>
          <a:xfrm>
            <a:off x="781050" y="803275"/>
            <a:ext cx="6732270" cy="0"/>
          </a:xfrm>
          <a:prstGeom prst="line">
            <a:avLst/>
          </a:prstGeom>
          <a:ln w="28575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028288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88B88FB9-8488-4F3A-9179-85AF22A058C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0" y="1820660"/>
            <a:ext cx="9144000" cy="3180446"/>
          </a:xfrm>
        </p:spPr>
        <p:txBody>
          <a:bodyPr anchor="ctr">
            <a:normAutofit/>
          </a:bodyPr>
          <a:lstStyle>
            <a:lvl1pPr algn="ctr">
              <a:defRPr sz="4000" b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" panose="02020603050405020304" pitchFamily="18" charset="0"/>
                <a:ea typeface="+mj-ea"/>
                <a:cs typeface="times" panose="02020603050405020304" pitchFamily="18" charset="0"/>
              </a:defRPr>
            </a:lvl1pPr>
          </a:lstStyle>
          <a:p>
            <a:r>
              <a:rPr lang="ko-KR" altLang="en-US" dirty="0"/>
              <a:t>질의응답</a:t>
            </a:r>
            <a:br>
              <a:rPr lang="en-US" altLang="ko-KR" dirty="0"/>
            </a:br>
            <a:r>
              <a:rPr lang="en-US" altLang="ko-KR" dirty="0"/>
              <a:t>(</a:t>
            </a:r>
            <a:r>
              <a:rPr lang="ko-KR" altLang="en-US" dirty="0"/>
              <a:t>국</a:t>
            </a:r>
            <a:r>
              <a:rPr lang="en-US" altLang="ko-KR" dirty="0"/>
              <a:t>/</a:t>
            </a:r>
            <a:r>
              <a:rPr lang="ko-KR" altLang="en-US" dirty="0"/>
              <a:t>영문</a:t>
            </a:r>
            <a:r>
              <a:rPr lang="en-US" altLang="ko-KR" dirty="0"/>
              <a:t>, Times, 40 pts)</a:t>
            </a:r>
            <a:endParaRPr lang="en-US" dirty="0"/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4FBB211E-0AA6-4FE2-9E18-B081DCF3E19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43000" y="4543424"/>
            <a:ext cx="6858000" cy="1339783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 b="1">
                <a:latin typeface="times" panose="02020603050405020304" pitchFamily="18" charset="0"/>
                <a:cs typeface="times" panose="02020603050405020304" pitchFamily="18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dirty="0"/>
              <a:t>이름</a:t>
            </a:r>
            <a:endParaRPr lang="en-US" altLang="ko-KR" dirty="0"/>
          </a:p>
          <a:p>
            <a:r>
              <a:rPr lang="ko-KR" altLang="en-US" dirty="0"/>
              <a:t>소속</a:t>
            </a:r>
            <a:endParaRPr lang="en-US" altLang="ko-KR" dirty="0"/>
          </a:p>
          <a:p>
            <a:r>
              <a:rPr lang="ko-KR" altLang="en-US" dirty="0"/>
              <a:t>연락처</a:t>
            </a:r>
            <a:endParaRPr lang="en-US" dirty="0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22319A21-8E7C-4790-9643-94CC1925297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70565" y="6048339"/>
            <a:ext cx="720000" cy="720000"/>
          </a:xfrm>
          <a:prstGeom prst="rect">
            <a:avLst/>
          </a:prstGeom>
        </p:spPr>
      </p:pic>
      <p:pic>
        <p:nvPicPr>
          <p:cNvPr id="14" name="Picture 8">
            <a:extLst>
              <a:ext uri="{FF2B5EF4-FFF2-40B4-BE49-F238E27FC236}">
                <a16:creationId xmlns:a16="http://schemas.microsoft.com/office/drawing/2014/main" id="{46F0A41C-6A01-44CA-A626-55476509C76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38645" y="6048339"/>
            <a:ext cx="720000" cy="72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25" name="그룹 24">
            <a:extLst>
              <a:ext uri="{FF2B5EF4-FFF2-40B4-BE49-F238E27FC236}">
                <a16:creationId xmlns:a16="http://schemas.microsoft.com/office/drawing/2014/main" id="{6E63BBB4-44C3-4C69-9162-763FE81E6FBD}"/>
              </a:ext>
            </a:extLst>
          </p:cNvPr>
          <p:cNvGrpSpPr/>
          <p:nvPr userDrawn="1"/>
        </p:nvGrpSpPr>
        <p:grpSpPr>
          <a:xfrm>
            <a:off x="122423" y="99901"/>
            <a:ext cx="3389530" cy="720000"/>
            <a:chOff x="3167632" y="6062339"/>
            <a:chExt cx="3389530" cy="720000"/>
          </a:xfrm>
        </p:grpSpPr>
        <p:pic>
          <p:nvPicPr>
            <p:cNvPr id="26" name="그림 25" descr="그리기, 플레이트, 음식, 방이(가) 표시된 사진&#10;&#10;자동 생성된 설명">
              <a:extLst>
                <a:ext uri="{FF2B5EF4-FFF2-40B4-BE49-F238E27FC236}">
                  <a16:creationId xmlns:a16="http://schemas.microsoft.com/office/drawing/2014/main" id="{58F4BD04-EF90-4931-B1B3-0FDABC5889ED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167632" y="6062339"/>
              <a:ext cx="720000" cy="720000"/>
            </a:xfrm>
            <a:prstGeom prst="rect">
              <a:avLst/>
            </a:prstGeom>
          </p:spPr>
        </p:pic>
        <p:sp>
          <p:nvSpPr>
            <p:cNvPr id="27" name="직사각형 26">
              <a:extLst>
                <a:ext uri="{FF2B5EF4-FFF2-40B4-BE49-F238E27FC236}">
                  <a16:creationId xmlns:a16="http://schemas.microsoft.com/office/drawing/2014/main" id="{727BC293-2715-43CE-819C-216F1B960AEE}"/>
                </a:ext>
              </a:extLst>
            </p:cNvPr>
            <p:cNvSpPr/>
            <p:nvPr userDrawn="1"/>
          </p:nvSpPr>
          <p:spPr>
            <a:xfrm>
              <a:off x="3846292" y="6114563"/>
              <a:ext cx="2710870" cy="615553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ko-KR" altLang="en-US" sz="2000" b="1" spc="100" baseline="0" dirty="0">
                  <a:solidFill>
                    <a:schemeClr val="accent5">
                      <a:lumMod val="7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" panose="02020603050405020304" pitchFamily="18" charset="0"/>
                  <a:cs typeface="times" panose="02020603050405020304" pitchFamily="18" charset="0"/>
                </a:rPr>
                <a:t>우주비행제어연구실</a:t>
              </a:r>
              <a:endParaRPr lang="en-US" altLang="ko-KR" sz="2000" b="1" spc="100" baseline="0" dirty="0"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" panose="02020603050405020304" pitchFamily="18" charset="0"/>
                <a:cs typeface="times" panose="02020603050405020304" pitchFamily="18" charset="0"/>
              </a:endParaRPr>
            </a:p>
            <a:p>
              <a:r>
                <a:rPr lang="en-US" altLang="ko-KR" sz="1400" b="1" dirty="0">
                  <a:solidFill>
                    <a:schemeClr val="accent5">
                      <a:lumMod val="7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" panose="02020603050405020304" pitchFamily="18" charset="0"/>
                  <a:cs typeface="times" panose="02020603050405020304" pitchFamily="18" charset="0"/>
                </a:rPr>
                <a:t>Astrodynamics and Control Lab.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0457699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88B88FB9-8488-4F3A-9179-85AF22A058C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0" y="1820660"/>
            <a:ext cx="9144000" cy="3180446"/>
          </a:xfrm>
        </p:spPr>
        <p:txBody>
          <a:bodyPr anchor="ctr">
            <a:normAutofit/>
          </a:bodyPr>
          <a:lstStyle>
            <a:lvl1pPr algn="ctr">
              <a:defRPr sz="4000" b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" panose="02020603050405020304" pitchFamily="18" charset="0"/>
                <a:ea typeface="+mj-ea"/>
                <a:cs typeface="times" panose="02020603050405020304" pitchFamily="18" charset="0"/>
              </a:defRPr>
            </a:lvl1pPr>
          </a:lstStyle>
          <a:p>
            <a:r>
              <a:rPr lang="ko-KR" altLang="en-US" dirty="0"/>
              <a:t>간지</a:t>
            </a:r>
            <a:br>
              <a:rPr lang="en-US" altLang="ko-KR" dirty="0"/>
            </a:br>
            <a:r>
              <a:rPr lang="en-US" altLang="ko-KR" dirty="0"/>
              <a:t>(</a:t>
            </a:r>
            <a:r>
              <a:rPr lang="ko-KR" altLang="en-US" dirty="0"/>
              <a:t>국</a:t>
            </a:r>
            <a:r>
              <a:rPr lang="en-US" altLang="ko-KR" dirty="0"/>
              <a:t>/</a:t>
            </a:r>
            <a:r>
              <a:rPr lang="ko-KR" altLang="en-US" dirty="0"/>
              <a:t>영문</a:t>
            </a:r>
            <a:r>
              <a:rPr lang="en-US" altLang="ko-KR" dirty="0"/>
              <a:t>, Times, 40 pts)</a:t>
            </a:r>
            <a:endParaRPr lang="en-US" dirty="0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E0F02479-4D4E-48F6-A414-FD2BEFAB596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70565" y="6048339"/>
            <a:ext cx="720000" cy="720000"/>
          </a:xfrm>
          <a:prstGeom prst="rect">
            <a:avLst/>
          </a:prstGeom>
        </p:spPr>
      </p:pic>
      <p:pic>
        <p:nvPicPr>
          <p:cNvPr id="10" name="Picture 8">
            <a:extLst>
              <a:ext uri="{FF2B5EF4-FFF2-40B4-BE49-F238E27FC236}">
                <a16:creationId xmlns:a16="http://schemas.microsoft.com/office/drawing/2014/main" id="{93518514-EB1D-4173-98C0-35F88CF32D6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38645" y="6048339"/>
            <a:ext cx="720000" cy="72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1" name="그룹 10">
            <a:extLst>
              <a:ext uri="{FF2B5EF4-FFF2-40B4-BE49-F238E27FC236}">
                <a16:creationId xmlns:a16="http://schemas.microsoft.com/office/drawing/2014/main" id="{6A8B2090-A0C2-4296-B39A-3CF2073B64CD}"/>
              </a:ext>
            </a:extLst>
          </p:cNvPr>
          <p:cNvGrpSpPr/>
          <p:nvPr userDrawn="1"/>
        </p:nvGrpSpPr>
        <p:grpSpPr>
          <a:xfrm>
            <a:off x="122423" y="99901"/>
            <a:ext cx="3389530" cy="720000"/>
            <a:chOff x="3167632" y="6062339"/>
            <a:chExt cx="3389530" cy="720000"/>
          </a:xfrm>
        </p:grpSpPr>
        <p:pic>
          <p:nvPicPr>
            <p:cNvPr id="12" name="그림 11" descr="그리기, 플레이트, 음식, 방이(가) 표시된 사진&#10;&#10;자동 생성된 설명">
              <a:extLst>
                <a:ext uri="{FF2B5EF4-FFF2-40B4-BE49-F238E27FC236}">
                  <a16:creationId xmlns:a16="http://schemas.microsoft.com/office/drawing/2014/main" id="{D4A8645E-E578-4994-ACFB-E636079E422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167632" y="6062339"/>
              <a:ext cx="720000" cy="720000"/>
            </a:xfrm>
            <a:prstGeom prst="rect">
              <a:avLst/>
            </a:prstGeom>
          </p:spPr>
        </p:pic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869595E0-FFC1-42B0-845F-81DEAB14A06B}"/>
                </a:ext>
              </a:extLst>
            </p:cNvPr>
            <p:cNvSpPr/>
            <p:nvPr userDrawn="1"/>
          </p:nvSpPr>
          <p:spPr>
            <a:xfrm>
              <a:off x="3846292" y="6114563"/>
              <a:ext cx="2710870" cy="615553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ko-KR" altLang="en-US" sz="2000" b="1" spc="100" baseline="0" dirty="0">
                  <a:solidFill>
                    <a:schemeClr val="accent5">
                      <a:lumMod val="7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" panose="02020603050405020304" pitchFamily="18" charset="0"/>
                  <a:cs typeface="times" panose="02020603050405020304" pitchFamily="18" charset="0"/>
                </a:rPr>
                <a:t>우주비행제어연구실</a:t>
              </a:r>
              <a:endParaRPr lang="en-US" altLang="ko-KR" sz="2000" b="1" spc="100" baseline="0" dirty="0"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" panose="02020603050405020304" pitchFamily="18" charset="0"/>
                <a:cs typeface="times" panose="02020603050405020304" pitchFamily="18" charset="0"/>
              </a:endParaRPr>
            </a:p>
            <a:p>
              <a:r>
                <a:rPr lang="en-US" altLang="ko-KR" sz="1400" b="1" dirty="0">
                  <a:solidFill>
                    <a:schemeClr val="accent5">
                      <a:lumMod val="7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" panose="02020603050405020304" pitchFamily="18" charset="0"/>
                  <a:cs typeface="times" panose="02020603050405020304" pitchFamily="18" charset="0"/>
                </a:rPr>
                <a:t>Astrodynamics and Control Lab.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0286937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946300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4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EB3741-4917-4953-934B-4EF1C3CF7792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8" name="날짜 개체 틀 7"/>
          <p:cNvSpPr>
            <a:spLocks noGrp="1"/>
          </p:cNvSpPr>
          <p:nvPr>
            <p:ph type="dt" sz="half" idx="2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9" name="바닥글 개체 틀 8"/>
          <p:cNvSpPr>
            <a:spLocks noGrp="1"/>
          </p:cNvSpPr>
          <p:nvPr>
            <p:ph type="ftr" sz="quarter" idx="3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426940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0" r:id="rId1"/>
    <p:sldLayoutId id="2147483677" r:id="rId2"/>
    <p:sldLayoutId id="2147483662" r:id="rId3"/>
    <p:sldLayoutId id="2147483679" r:id="rId4"/>
    <p:sldLayoutId id="2147483678" r:id="rId5"/>
    <p:sldLayoutId id="2147483667" r:id="rId6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부제목 1">
            <a:extLst>
              <a:ext uri="{FF2B5EF4-FFF2-40B4-BE49-F238E27FC236}">
                <a16:creationId xmlns:a16="http://schemas.microsoft.com/office/drawing/2014/main" id="{007FD355-926D-4297-AA2A-AA0058A0703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 altLang="en-US" dirty="0"/>
              <a:t>이진진</a:t>
            </a:r>
            <a:endParaRPr lang="en-US" altLang="ko-KR" dirty="0"/>
          </a:p>
          <a:p>
            <a:r>
              <a:rPr lang="ko-KR" altLang="en-US" dirty="0"/>
              <a:t>석사과정 </a:t>
            </a:r>
            <a:r>
              <a:rPr lang="en-US" altLang="ko-KR" dirty="0"/>
              <a:t>3</a:t>
            </a:r>
            <a:r>
              <a:rPr lang="ko-KR" altLang="en-US" dirty="0"/>
              <a:t>학기</a:t>
            </a:r>
            <a:endParaRPr lang="en-US" altLang="ko-KR" dirty="0"/>
          </a:p>
          <a:p>
            <a:r>
              <a:rPr lang="en-US" altLang="ko-KR" dirty="0"/>
              <a:t>2023-04-04</a:t>
            </a: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9F47A90A-3F95-4B77-93ED-98D75036845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dirty="0"/>
              <a:t>이종위성군 선행연구자료</a:t>
            </a:r>
          </a:p>
        </p:txBody>
      </p:sp>
    </p:spTree>
    <p:extLst>
      <p:ext uri="{BB962C8B-B14F-4D97-AF65-F5344CB8AC3E}">
        <p14:creationId xmlns:p14="http://schemas.microsoft.com/office/powerpoint/2010/main" val="18947571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1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dirty="0"/>
              <a:t>이종위성군 선행연구자료</a:t>
            </a:r>
          </a:p>
        </p:txBody>
      </p:sp>
      <p:sp>
        <p:nvSpPr>
          <p:cNvPr id="10" name="내용 개체 틀 2"/>
          <p:cNvSpPr txBox="1"/>
          <p:nvPr/>
        </p:nvSpPr>
        <p:spPr>
          <a:xfrm>
            <a:off x="257080" y="1050263"/>
            <a:ext cx="8804727" cy="5376968"/>
          </a:xfrm>
          <a:prstGeom prst="rect">
            <a:avLst/>
          </a:prstGeom>
        </p:spPr>
        <p:txBody>
          <a:bodyPr vert="horz" lIns="91440" tIns="45720" rIns="91440" bIns="45720">
            <a:noAutofit/>
          </a:bodyPr>
          <a:lstStyle>
            <a:lvl1pPr marL="228600" indent="-360000" algn="l" defTabSz="914400" rtl="0" eaLnBrk="1" latinLnBrk="1" hangingPunct="1">
              <a:lnSpc>
                <a:spcPct val="100000"/>
              </a:lnSpc>
              <a:spcBef>
                <a:spcPts val="1000"/>
              </a:spcBef>
              <a:buFont typeface="Wingdings"/>
              <a:buChar char="v"/>
              <a:defRPr sz="2400" b="1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1pPr>
            <a:lvl2pPr marL="540000" indent="-324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Wingdings"/>
              <a:buChar char="u"/>
              <a:defRPr sz="1800" b="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2pPr>
            <a:lvl3pPr marL="720000" indent="-288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Wingdings"/>
              <a:buChar char="Ø"/>
              <a:defRPr sz="160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3pPr>
            <a:lvl4pPr marL="900000" indent="-252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Wingdings"/>
              <a:buChar char="ü"/>
              <a:defRPr sz="140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4pPr>
            <a:lvl5pPr marL="1080000" indent="-252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r>
              <a:rPr lang="ko-KR" altLang="en-US" dirty="0"/>
              <a:t>이종위성군 우주 감시정찰 기술 </a:t>
            </a:r>
            <a:endParaRPr lang="en-US" altLang="ko-KR" dirty="0"/>
          </a:p>
          <a:p>
            <a:pPr lvl="1">
              <a:lnSpc>
                <a:spcPct val="150000"/>
              </a:lnSpc>
              <a:defRPr/>
            </a:pPr>
            <a:r>
              <a:rPr lang="ko-KR" altLang="en-US" sz="1600" b="1" dirty="0"/>
              <a:t>프로젝트</a:t>
            </a:r>
            <a:r>
              <a:rPr lang="ko-KR" altLang="en-US" sz="1600" dirty="0"/>
              <a:t> </a:t>
            </a:r>
            <a:r>
              <a:rPr lang="en-US" altLang="ko-KR" sz="1600" dirty="0"/>
              <a:t>: </a:t>
            </a:r>
            <a:r>
              <a:rPr lang="ko-KR" altLang="en-US" sz="1600" dirty="0"/>
              <a:t>이종위성군 성능 분석 및 설계</a:t>
            </a:r>
            <a:r>
              <a:rPr lang="en-US" altLang="ko-KR" sz="1600" dirty="0"/>
              <a:t>/</a:t>
            </a:r>
            <a:r>
              <a:rPr lang="ko-KR" altLang="en-US" sz="1600" dirty="0"/>
              <a:t>최적화</a:t>
            </a:r>
            <a:endParaRPr lang="en-US" altLang="ko-KR" sz="1600" dirty="0"/>
          </a:p>
          <a:p>
            <a:pPr lvl="1">
              <a:lnSpc>
                <a:spcPct val="150000"/>
              </a:lnSpc>
              <a:defRPr/>
            </a:pPr>
            <a:r>
              <a:rPr lang="ko-KR" altLang="en-US" sz="1600" b="1" dirty="0"/>
              <a:t>작성 일자 </a:t>
            </a:r>
            <a:r>
              <a:rPr lang="en-US" altLang="ko-KR" sz="1600" dirty="0"/>
              <a:t>: 2023.04.04</a:t>
            </a:r>
          </a:p>
          <a:p>
            <a:pPr lvl="1">
              <a:lnSpc>
                <a:spcPct val="150000"/>
              </a:lnSpc>
              <a:defRPr/>
            </a:pPr>
            <a:r>
              <a:rPr lang="ko-KR" altLang="en-US" sz="1600" b="1" dirty="0"/>
              <a:t>작성자</a:t>
            </a:r>
            <a:r>
              <a:rPr lang="ko-KR" altLang="en-US" sz="1600" dirty="0"/>
              <a:t> </a:t>
            </a:r>
            <a:r>
              <a:rPr lang="en-US" altLang="ko-KR" sz="1600" dirty="0"/>
              <a:t>: </a:t>
            </a:r>
            <a:r>
              <a:rPr lang="ko-KR" altLang="en-US" sz="1600" dirty="0"/>
              <a:t>연세대학교 우주비행제어 연구실 </a:t>
            </a:r>
            <a:r>
              <a:rPr lang="en-US" altLang="ko-KR" sz="1600" dirty="0"/>
              <a:t>(</a:t>
            </a:r>
            <a:r>
              <a:rPr lang="ko-KR" altLang="en-US" sz="1600" dirty="0"/>
              <a:t>이진진</a:t>
            </a:r>
            <a:r>
              <a:rPr lang="en-US" altLang="ko-KR" sz="1600" dirty="0"/>
              <a:t>)</a:t>
            </a:r>
          </a:p>
          <a:p>
            <a:pPr lvl="1">
              <a:lnSpc>
                <a:spcPct val="150000"/>
              </a:lnSpc>
              <a:defRPr/>
            </a:pPr>
            <a:r>
              <a:rPr lang="ko-KR" altLang="en-US" sz="1600" b="1" dirty="0"/>
              <a:t>연구목표</a:t>
            </a:r>
            <a:r>
              <a:rPr lang="ko-KR" altLang="en-US" sz="1600" dirty="0"/>
              <a:t> </a:t>
            </a:r>
            <a:r>
              <a:rPr lang="en-US" altLang="ko-KR" sz="1600" dirty="0"/>
              <a:t>: </a:t>
            </a:r>
            <a:r>
              <a:rPr lang="ko-KR" altLang="en-US" sz="1600" dirty="0"/>
              <a:t>감시</a:t>
            </a:r>
            <a:r>
              <a:rPr lang="en-US" altLang="ko-KR" sz="1600" dirty="0"/>
              <a:t>/</a:t>
            </a:r>
            <a:r>
              <a:rPr lang="ko-KR" altLang="en-US" sz="1600" dirty="0"/>
              <a:t>정찰 임무 수행을 위한 이종 위성군의 설계 최적화 및 운용 개념 도출</a:t>
            </a:r>
            <a:endParaRPr lang="en-US" altLang="ko-KR" sz="1600" dirty="0"/>
          </a:p>
          <a:p>
            <a:pPr lvl="1">
              <a:lnSpc>
                <a:spcPct val="150000"/>
              </a:lnSpc>
              <a:defRPr/>
            </a:pPr>
            <a:r>
              <a:rPr lang="ko-KR" altLang="en-US" sz="1600" b="1" dirty="0"/>
              <a:t>연구자료 요약 </a:t>
            </a:r>
            <a:r>
              <a:rPr lang="en-US" altLang="ko-KR" sz="1600" dirty="0"/>
              <a:t>: </a:t>
            </a:r>
            <a:r>
              <a:rPr lang="ko-KR" altLang="en-US" sz="1600" dirty="0"/>
              <a:t>위의 연구목표를 달성하기 위해 이종위성군 설계와 관련된 해외 문헌 조사를 하였으며</a:t>
            </a:r>
            <a:r>
              <a:rPr lang="en-US" altLang="ko-KR" sz="1600" dirty="0"/>
              <a:t>, </a:t>
            </a:r>
            <a:r>
              <a:rPr lang="ko-KR" altLang="en-US" sz="1600" dirty="0"/>
              <a:t>조사한 여러 문헌들 가운데 한반도를 관심지역으로 설정한 본 프로젝트의 연구 방향에 가장 적합하며 의미 있을 것으로 판단되는 두 편의 논문을 아래와 같이 선별함</a:t>
            </a:r>
            <a:endParaRPr lang="en-US" altLang="ko-KR" sz="1600" dirty="0"/>
          </a:p>
          <a:p>
            <a:pPr lvl="1">
              <a:defRPr/>
            </a:pPr>
            <a:endParaRPr lang="en-US" altLang="ko-KR" sz="1600" dirty="0"/>
          </a:p>
          <a:p>
            <a:pPr marL="774900" lvl="2" indent="-342900">
              <a:buAutoNum type="arabicParenBoth"/>
              <a:defRPr/>
            </a:pPr>
            <a:r>
              <a:rPr lang="en-US" altLang="ko-KR" b="1" dirty="0"/>
              <a:t>A Framework for Heterogeneous Satellite Constellation Design for Rapid Response Earth Observations, 2019 Ibrahim Sanad</a:t>
            </a:r>
          </a:p>
          <a:p>
            <a:pPr marL="774900" lvl="2" indent="-342900">
              <a:buAutoNum type="arabicParenBoth"/>
              <a:defRPr/>
            </a:pPr>
            <a:r>
              <a:rPr lang="en-US" altLang="ko-KR" b="1" dirty="0"/>
              <a:t>Research on the configuration design method of heterogeneous constellation reconstruction under the multiple objective and multiple constraint, 2017 Shuang Zhao</a:t>
            </a:r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508661824"/>
      </p:ext>
    </p:extLst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ko-KR" sz="2400" b="1" dirty="0"/>
              <a:t>(1) A Framework for Heterogeneous Satellite Constellation Design for Rapid Response Earth Observations, 2019 Ibrahim Sanad</a:t>
            </a:r>
            <a:br>
              <a:rPr lang="en-US" altLang="ko-KR" b="1" dirty="0"/>
            </a:br>
            <a:endParaRPr lang="ko-KR" altLang="en-US" sz="4000" b="1" dirty="0">
              <a:solidFill>
                <a:schemeClr val="tx1"/>
              </a:solidFill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059774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3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dirty="0"/>
              <a:t>이종위성군 선행연구자료</a:t>
            </a:r>
          </a:p>
        </p:txBody>
      </p:sp>
      <p:sp>
        <p:nvSpPr>
          <p:cNvPr id="10" name="내용 개체 틀 2"/>
          <p:cNvSpPr txBox="1"/>
          <p:nvPr/>
        </p:nvSpPr>
        <p:spPr>
          <a:xfrm>
            <a:off x="257081" y="950819"/>
            <a:ext cx="8629838" cy="5376968"/>
          </a:xfrm>
          <a:prstGeom prst="rect">
            <a:avLst/>
          </a:prstGeom>
        </p:spPr>
        <p:txBody>
          <a:bodyPr vert="horz" lIns="91440" tIns="45720" rIns="91440" bIns="45720">
            <a:noAutofit/>
          </a:bodyPr>
          <a:lstStyle>
            <a:lvl1pPr marL="228600" indent="-360000" algn="l" defTabSz="914400" rtl="0" eaLnBrk="1" latinLnBrk="1" hangingPunct="1">
              <a:lnSpc>
                <a:spcPct val="100000"/>
              </a:lnSpc>
              <a:spcBef>
                <a:spcPts val="1000"/>
              </a:spcBef>
              <a:buFont typeface="Wingdings"/>
              <a:buChar char="v"/>
              <a:defRPr sz="2400" b="1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1pPr>
            <a:lvl2pPr marL="540000" indent="-324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Wingdings"/>
              <a:buChar char="u"/>
              <a:defRPr sz="1800" b="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2pPr>
            <a:lvl3pPr marL="720000" indent="-288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Wingdings"/>
              <a:buChar char="Ø"/>
              <a:defRPr sz="160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3pPr>
            <a:lvl4pPr marL="900000" indent="-252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Wingdings"/>
              <a:buChar char="ü"/>
              <a:defRPr sz="140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4pPr>
            <a:lvl5pPr marL="1080000" indent="-252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>
              <a:buNone/>
              <a:defRPr/>
            </a:pPr>
            <a:r>
              <a:rPr lang="en-US" altLang="ko-KR" dirty="0"/>
              <a:t>2019 Ibrahim Sanad</a:t>
            </a:r>
          </a:p>
          <a:p>
            <a:pPr>
              <a:lnSpc>
                <a:spcPct val="150000"/>
              </a:lnSpc>
              <a:defRPr/>
            </a:pPr>
            <a:r>
              <a:rPr lang="ko-KR" altLang="en-US" sz="2200" b="1" dirty="0"/>
              <a:t>논문 주요내용 </a:t>
            </a:r>
            <a:endParaRPr lang="en-US" altLang="ko-KR" sz="2200" b="1" dirty="0"/>
          </a:p>
          <a:p>
            <a:pPr lvl="1">
              <a:lnSpc>
                <a:spcPct val="150000"/>
              </a:lnSpc>
              <a:defRPr/>
            </a:pPr>
            <a:r>
              <a:rPr lang="ko-KR" altLang="en-US" sz="1600" dirty="0"/>
              <a:t>이종 위성군의 운용목표인 신속성과 직결되는 </a:t>
            </a:r>
            <a:r>
              <a:rPr lang="en-US" altLang="ko-KR" sz="1600" dirty="0"/>
              <a:t>SRT</a:t>
            </a:r>
            <a:r>
              <a:rPr lang="ko-KR" altLang="en-US" sz="1600" dirty="0"/>
              <a:t>의 개념</a:t>
            </a:r>
            <a:r>
              <a:rPr lang="en-US" altLang="ko-KR" sz="1600" dirty="0"/>
              <a:t>, </a:t>
            </a:r>
            <a:r>
              <a:rPr lang="ko-KR" altLang="en-US" sz="1600" dirty="0"/>
              <a:t>구성요소 및 단축 방법 등에 대한 내용을 기술한 후 이를 바탕으로 한 위성군의 설계 방법</a:t>
            </a:r>
            <a:r>
              <a:rPr lang="en-US" altLang="ko-KR" sz="1600" dirty="0"/>
              <a:t>, </a:t>
            </a:r>
            <a:r>
              <a:rPr lang="ko-KR" altLang="en-US" sz="1600" dirty="0"/>
              <a:t>그리고 해당 방법을 적용하여 시뮬레이션 하였을 때 파라미터의 값에 따른 성능 지수의 변화 결과 및 향후 작업에 대한 권고사항을 포함한다</a:t>
            </a:r>
            <a:r>
              <a:rPr lang="en-US" altLang="ko-KR" sz="1600" dirty="0"/>
              <a:t>. </a:t>
            </a:r>
          </a:p>
          <a:p>
            <a:pPr lvl="1">
              <a:defRPr/>
            </a:pPr>
            <a:endParaRPr lang="en-US" altLang="ko-KR" sz="1600" dirty="0"/>
          </a:p>
          <a:p>
            <a:pPr marL="0" indent="0">
              <a:lnSpc>
                <a:spcPct val="150000"/>
              </a:lnSpc>
              <a:buNone/>
              <a:defRPr/>
            </a:pPr>
            <a:r>
              <a:rPr lang="en-US" altLang="ko-KR" sz="2200" b="1" dirty="0"/>
              <a:t>[1] </a:t>
            </a:r>
            <a:r>
              <a:rPr lang="ko-KR" altLang="en-US" sz="2200" b="1" dirty="0"/>
              <a:t>연구목표</a:t>
            </a:r>
            <a:endParaRPr lang="en-US" altLang="ko-KR" sz="2200" b="1" dirty="0"/>
          </a:p>
          <a:p>
            <a:pPr lvl="1">
              <a:lnSpc>
                <a:spcPct val="150000"/>
              </a:lnSpc>
              <a:defRPr/>
            </a:pPr>
            <a:r>
              <a:rPr lang="ko-KR" altLang="en-US" sz="1600" dirty="0"/>
              <a:t>자연재해 등 국방 및 자연안보와 관련된 사항에 신속하게 대응하기 위해 </a:t>
            </a:r>
            <a:r>
              <a:rPr lang="en-US" altLang="ko-KR" sz="1600" dirty="0"/>
              <a:t>SRT(System Response Time)</a:t>
            </a:r>
            <a:r>
              <a:rPr lang="ko-KR" altLang="en-US" sz="1600" dirty="0"/>
              <a:t>를 최대한 줄일 수 있는 이종위성군 설계</a:t>
            </a:r>
            <a:endParaRPr lang="en-US" altLang="ko-KR" sz="1600" dirty="0"/>
          </a:p>
          <a:p>
            <a:pPr lvl="1">
              <a:defRPr/>
            </a:pPr>
            <a:endParaRPr lang="en-US" altLang="ko-KR" sz="1600" dirty="0"/>
          </a:p>
          <a:p>
            <a:pPr lvl="4">
              <a:defRPr/>
            </a:pPr>
            <a:endParaRPr lang="en-US" altLang="ko-KR" sz="1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C4BE6D5-8456-DDCD-42CC-FE56966F708D}"/>
              </a:ext>
            </a:extLst>
          </p:cNvPr>
          <p:cNvSpPr txBox="1"/>
          <p:nvPr/>
        </p:nvSpPr>
        <p:spPr>
          <a:xfrm>
            <a:off x="-78130" y="6012626"/>
            <a:ext cx="8629837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32000" lvl="2">
              <a:defRPr/>
            </a:pPr>
            <a:r>
              <a:rPr lang="ko-KR" altLang="en-US" sz="1000" b="1" dirty="0"/>
              <a:t>출처 </a:t>
            </a:r>
            <a:r>
              <a:rPr lang="en-US" altLang="ko-KR" sz="1000" b="1" dirty="0"/>
              <a:t>: (A Framework for Heterogeneous Satellite Constellation Design for Rapid Response Earth Observations, 2019 Ibrahim Sanad)</a:t>
            </a:r>
          </a:p>
        </p:txBody>
      </p:sp>
    </p:spTree>
    <p:extLst>
      <p:ext uri="{BB962C8B-B14F-4D97-AF65-F5344CB8AC3E}">
        <p14:creationId xmlns:p14="http://schemas.microsoft.com/office/powerpoint/2010/main" val="3865933211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4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dirty="0"/>
              <a:t>이종위성군 선행연구자료</a:t>
            </a:r>
          </a:p>
        </p:txBody>
      </p:sp>
      <p:sp>
        <p:nvSpPr>
          <p:cNvPr id="10" name="내용 개체 틀 2"/>
          <p:cNvSpPr txBox="1"/>
          <p:nvPr/>
        </p:nvSpPr>
        <p:spPr>
          <a:xfrm>
            <a:off x="257081" y="1050263"/>
            <a:ext cx="8629838" cy="5376968"/>
          </a:xfrm>
          <a:prstGeom prst="rect">
            <a:avLst/>
          </a:prstGeom>
        </p:spPr>
        <p:txBody>
          <a:bodyPr vert="horz" lIns="91440" tIns="45720" rIns="91440" bIns="45720">
            <a:noAutofit/>
          </a:bodyPr>
          <a:lstStyle>
            <a:lvl1pPr marL="228600" indent="-360000" algn="l" defTabSz="914400" rtl="0" eaLnBrk="1" latinLnBrk="1" hangingPunct="1">
              <a:lnSpc>
                <a:spcPct val="100000"/>
              </a:lnSpc>
              <a:spcBef>
                <a:spcPts val="1000"/>
              </a:spcBef>
              <a:buFont typeface="Wingdings"/>
              <a:buChar char="v"/>
              <a:defRPr sz="2400" b="1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1pPr>
            <a:lvl2pPr marL="540000" indent="-324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Wingdings"/>
              <a:buChar char="u"/>
              <a:defRPr sz="1800" b="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2pPr>
            <a:lvl3pPr marL="720000" indent="-288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Wingdings"/>
              <a:buChar char="Ø"/>
              <a:defRPr sz="160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3pPr>
            <a:lvl4pPr marL="900000" indent="-252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Wingdings"/>
              <a:buChar char="ü"/>
              <a:defRPr sz="140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4pPr>
            <a:lvl5pPr marL="1080000" indent="-252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  <a:defRPr/>
            </a:pPr>
            <a:r>
              <a:rPr lang="en-US" altLang="ko-KR" sz="2200" b="1" dirty="0"/>
              <a:t>[2] </a:t>
            </a:r>
            <a:r>
              <a:rPr lang="ko-KR" altLang="en-US" sz="2200" b="1" dirty="0" err="1"/>
              <a:t>위성군</a:t>
            </a:r>
            <a:r>
              <a:rPr lang="ko-KR" altLang="en-US" sz="2200" b="1" dirty="0"/>
              <a:t> 종류 및 주요기능</a:t>
            </a:r>
            <a:endParaRPr lang="en-US" altLang="ko-KR" sz="2200" b="1" dirty="0"/>
          </a:p>
          <a:p>
            <a:pPr lvl="1">
              <a:lnSpc>
                <a:spcPct val="150000"/>
              </a:lnSpc>
              <a:defRPr/>
            </a:pPr>
            <a:r>
              <a:rPr lang="en-US" altLang="ko-KR" sz="1600" dirty="0"/>
              <a:t>Imaging</a:t>
            </a:r>
            <a:r>
              <a:rPr lang="ko-KR" altLang="en-US" sz="1600" dirty="0"/>
              <a:t> </a:t>
            </a:r>
            <a:r>
              <a:rPr lang="en-US" altLang="ko-KR" sz="1600" dirty="0"/>
              <a:t>Constellation</a:t>
            </a:r>
          </a:p>
          <a:p>
            <a:pPr lvl="2">
              <a:lnSpc>
                <a:spcPct val="150000"/>
              </a:lnSpc>
              <a:defRPr/>
            </a:pPr>
            <a:r>
              <a:rPr lang="ko-KR" altLang="en-US" sz="1400" dirty="0"/>
              <a:t>고해상도 영상을 촬영함</a:t>
            </a:r>
            <a:endParaRPr lang="en-US" altLang="ko-KR" sz="1400" dirty="0"/>
          </a:p>
          <a:p>
            <a:pPr lvl="1">
              <a:lnSpc>
                <a:spcPct val="150000"/>
              </a:lnSpc>
              <a:defRPr/>
            </a:pPr>
            <a:endParaRPr lang="en-US" altLang="ko-KR" sz="1600" dirty="0"/>
          </a:p>
          <a:p>
            <a:pPr lvl="1">
              <a:lnSpc>
                <a:spcPct val="150000"/>
              </a:lnSpc>
              <a:defRPr/>
            </a:pPr>
            <a:endParaRPr lang="en-US" altLang="ko-KR" sz="1600" dirty="0"/>
          </a:p>
          <a:p>
            <a:pPr lvl="1">
              <a:lnSpc>
                <a:spcPct val="150000"/>
              </a:lnSpc>
              <a:defRPr/>
            </a:pPr>
            <a:endParaRPr lang="en-US" altLang="ko-KR" sz="1600" dirty="0"/>
          </a:p>
          <a:p>
            <a:pPr lvl="1">
              <a:lnSpc>
                <a:spcPct val="150000"/>
              </a:lnSpc>
              <a:defRPr/>
            </a:pPr>
            <a:endParaRPr lang="en-US" altLang="ko-KR" sz="1600" dirty="0"/>
          </a:p>
          <a:p>
            <a:pPr lvl="1">
              <a:lnSpc>
                <a:spcPct val="150000"/>
              </a:lnSpc>
              <a:defRPr/>
            </a:pPr>
            <a:endParaRPr lang="en-US" altLang="ko-KR" sz="1600" dirty="0"/>
          </a:p>
          <a:p>
            <a:pPr lvl="1">
              <a:lnSpc>
                <a:spcPct val="150000"/>
              </a:lnSpc>
              <a:defRPr/>
            </a:pPr>
            <a:r>
              <a:rPr lang="en-US" altLang="ko-KR" sz="1600" dirty="0"/>
              <a:t>Relay</a:t>
            </a:r>
            <a:r>
              <a:rPr lang="ko-KR" altLang="en-US" sz="1600" dirty="0"/>
              <a:t> </a:t>
            </a:r>
            <a:r>
              <a:rPr lang="en-US" altLang="ko-KR" sz="1600" dirty="0"/>
              <a:t>Constellation</a:t>
            </a:r>
            <a:r>
              <a:rPr lang="ko-KR" altLang="en-US" sz="1600" dirty="0"/>
              <a:t> </a:t>
            </a:r>
            <a:endParaRPr lang="en-US" altLang="ko-KR" sz="1600" dirty="0"/>
          </a:p>
          <a:p>
            <a:pPr lvl="2">
              <a:lnSpc>
                <a:spcPct val="150000"/>
              </a:lnSpc>
              <a:defRPr/>
            </a:pPr>
            <a:r>
              <a:rPr lang="en-US" altLang="ko-KR" sz="1400" dirty="0"/>
              <a:t>Uplink</a:t>
            </a:r>
            <a:r>
              <a:rPr lang="ko-KR" altLang="en-US" sz="1400" dirty="0"/>
              <a:t>를 통해 지상국에서부터 위성으로 명령을 전달함</a:t>
            </a:r>
          </a:p>
          <a:p>
            <a:pPr lvl="2">
              <a:lnSpc>
                <a:spcPct val="150000"/>
              </a:lnSpc>
              <a:defRPr/>
            </a:pPr>
            <a:r>
              <a:rPr lang="en-US" altLang="ko-KR" sz="1400" dirty="0"/>
              <a:t>Downlink</a:t>
            </a:r>
            <a:r>
              <a:rPr lang="ko-KR" altLang="en-US" sz="1400" dirty="0"/>
              <a:t>를 통해 위성에서부터 지상국으로 </a:t>
            </a:r>
            <a:r>
              <a:rPr lang="en-US" altLang="ko-KR" sz="1400" dirty="0"/>
              <a:t>Data</a:t>
            </a:r>
            <a:r>
              <a:rPr lang="ko-KR" altLang="en-US" sz="1400" dirty="0"/>
              <a:t>를 전송함 </a:t>
            </a:r>
            <a:endParaRPr lang="en-US" altLang="ko-KR" sz="1400" dirty="0"/>
          </a:p>
          <a:p>
            <a:pPr lvl="1">
              <a:defRPr/>
            </a:pPr>
            <a:endParaRPr lang="en-US" altLang="ko-KR" sz="16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4BE49BE-D45D-6C05-EE6C-0283B4CA8DF4}"/>
              </a:ext>
            </a:extLst>
          </p:cNvPr>
          <p:cNvSpPr txBox="1"/>
          <p:nvPr/>
        </p:nvSpPr>
        <p:spPr>
          <a:xfrm>
            <a:off x="-78130" y="6012626"/>
            <a:ext cx="8629837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32000" lvl="2">
              <a:defRPr/>
            </a:pPr>
            <a:r>
              <a:rPr lang="ko-KR" altLang="en-US" sz="1000" b="1" dirty="0"/>
              <a:t>출처 </a:t>
            </a:r>
            <a:r>
              <a:rPr lang="en-US" altLang="ko-KR" sz="1000" b="1" dirty="0"/>
              <a:t>: (A Framework for Heterogeneous Satellite Constellation Design for Rapid Response Earth Observations, 2019 Ibrahim Sanad)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6AD2A722-D643-878E-61F9-F35F2B8EE8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1075" y="2505260"/>
            <a:ext cx="3590925" cy="1990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0867041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5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dirty="0"/>
              <a:t>이종위성군 선행연구자료</a:t>
            </a:r>
          </a:p>
        </p:txBody>
      </p:sp>
      <p:sp>
        <p:nvSpPr>
          <p:cNvPr id="10" name="내용 개체 틀 2"/>
          <p:cNvSpPr txBox="1"/>
          <p:nvPr/>
        </p:nvSpPr>
        <p:spPr>
          <a:xfrm>
            <a:off x="257081" y="1050263"/>
            <a:ext cx="8629838" cy="5376968"/>
          </a:xfrm>
          <a:prstGeom prst="rect">
            <a:avLst/>
          </a:prstGeom>
        </p:spPr>
        <p:txBody>
          <a:bodyPr vert="horz" lIns="91440" tIns="45720" rIns="91440" bIns="45720">
            <a:noAutofit/>
          </a:bodyPr>
          <a:lstStyle>
            <a:lvl1pPr marL="228600" indent="-360000" algn="l" defTabSz="914400" rtl="0" eaLnBrk="1" latinLnBrk="1" hangingPunct="1">
              <a:lnSpc>
                <a:spcPct val="100000"/>
              </a:lnSpc>
              <a:spcBef>
                <a:spcPts val="1000"/>
              </a:spcBef>
              <a:buFont typeface="Wingdings"/>
              <a:buChar char="v"/>
              <a:defRPr sz="2400" b="1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1pPr>
            <a:lvl2pPr marL="540000" indent="-324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Wingdings"/>
              <a:buChar char="u"/>
              <a:defRPr sz="1800" b="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2pPr>
            <a:lvl3pPr marL="720000" indent="-288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Wingdings"/>
              <a:buChar char="Ø"/>
              <a:defRPr sz="160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3pPr>
            <a:lvl4pPr marL="900000" indent="-252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Wingdings"/>
              <a:buChar char="ü"/>
              <a:defRPr sz="140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4pPr>
            <a:lvl5pPr marL="1080000" indent="-252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  <a:defRPr/>
            </a:pPr>
            <a:r>
              <a:rPr lang="en-US" altLang="ko-KR" sz="2200" b="1" dirty="0"/>
              <a:t>[3] </a:t>
            </a:r>
            <a:r>
              <a:rPr lang="en-US" altLang="ko-KR" sz="2200" dirty="0"/>
              <a:t>SRT</a:t>
            </a:r>
            <a:r>
              <a:rPr lang="ko-KR" altLang="en-US" sz="2200" dirty="0"/>
              <a:t>의 구성</a:t>
            </a:r>
            <a:endParaRPr lang="en-US" altLang="ko-KR" sz="2200" b="1" dirty="0"/>
          </a:p>
          <a:p>
            <a:pPr lvl="1">
              <a:lnSpc>
                <a:spcPct val="150000"/>
              </a:lnSpc>
              <a:defRPr/>
            </a:pPr>
            <a:r>
              <a:rPr lang="en-US" altLang="ko-KR" sz="1600" dirty="0"/>
              <a:t>SRT(</a:t>
            </a:r>
            <a:r>
              <a:rPr lang="ko-KR" altLang="en-US" sz="1600" dirty="0"/>
              <a:t>시스템 처리 시간</a:t>
            </a:r>
            <a:r>
              <a:rPr lang="en-US" altLang="ko-KR" sz="1600" dirty="0"/>
              <a:t>)</a:t>
            </a:r>
            <a:r>
              <a:rPr lang="ko-KR" altLang="en-US" sz="1600" dirty="0"/>
              <a:t>은 시스템 요청 제출 시점부터 생성된 이미지를 사용할 수 있을 때까지의 시간 간격을 정의하며 다음과 </a:t>
            </a:r>
            <a:r>
              <a:rPr lang="en-US" altLang="ko-KR" sz="1600" dirty="0"/>
              <a:t>7</a:t>
            </a:r>
            <a:r>
              <a:rPr lang="ko-KR" altLang="en-US" sz="1600" dirty="0"/>
              <a:t>가지 </a:t>
            </a:r>
            <a:r>
              <a:rPr lang="en-US" altLang="ko-KR" sz="1600" dirty="0"/>
              <a:t>delay</a:t>
            </a:r>
            <a:r>
              <a:rPr lang="ko-KR" altLang="en-US" sz="1600" dirty="0"/>
              <a:t>로 구성</a:t>
            </a:r>
            <a:endParaRPr lang="en-US" altLang="ko-KR" sz="1600" dirty="0"/>
          </a:p>
          <a:p>
            <a:pPr marL="774900" lvl="2" indent="-342900">
              <a:lnSpc>
                <a:spcPct val="150000"/>
              </a:lnSpc>
              <a:buFont typeface="+mj-lt"/>
              <a:buAutoNum type="arabicParenR"/>
              <a:defRPr/>
            </a:pPr>
            <a:r>
              <a:rPr lang="en-US" altLang="ko-KR" sz="1400" b="1" dirty="0"/>
              <a:t>Command Preparation Time(T1) – </a:t>
            </a:r>
            <a:r>
              <a:rPr lang="en-US" altLang="ko-KR" sz="1400" dirty="0"/>
              <a:t>Fixed</a:t>
            </a:r>
          </a:p>
          <a:p>
            <a:pPr marL="774900" lvl="2" indent="-342900">
              <a:lnSpc>
                <a:spcPct val="150000"/>
              </a:lnSpc>
              <a:buFont typeface="+mj-lt"/>
              <a:buAutoNum type="arabicParenR"/>
              <a:defRPr/>
            </a:pPr>
            <a:r>
              <a:rPr lang="en-US" altLang="ko-KR" sz="1400" b="1" dirty="0"/>
              <a:t>Command uplink delay Time(T2) – </a:t>
            </a:r>
            <a:r>
              <a:rPr lang="en-US" altLang="ko-KR" sz="1400" dirty="0">
                <a:solidFill>
                  <a:srgbClr val="FF0000"/>
                </a:solidFill>
              </a:rPr>
              <a:t>Dynamic</a:t>
            </a:r>
          </a:p>
          <a:p>
            <a:pPr marL="774900" lvl="2" indent="-342900">
              <a:lnSpc>
                <a:spcPct val="150000"/>
              </a:lnSpc>
              <a:buFont typeface="+mj-lt"/>
              <a:buAutoNum type="arabicParenR"/>
              <a:defRPr/>
            </a:pPr>
            <a:r>
              <a:rPr lang="en-US" altLang="ko-KR" sz="1400" b="1" dirty="0"/>
              <a:t>Command time and pre-collect Time(T3) – </a:t>
            </a:r>
            <a:r>
              <a:rPr lang="en-US" altLang="ko-KR" sz="1400" dirty="0"/>
              <a:t>Fixed</a:t>
            </a:r>
          </a:p>
          <a:p>
            <a:pPr marL="774900" lvl="2" indent="-342900">
              <a:lnSpc>
                <a:spcPct val="150000"/>
              </a:lnSpc>
              <a:buFont typeface="+mj-lt"/>
              <a:buAutoNum type="arabicParenR"/>
              <a:defRPr/>
            </a:pPr>
            <a:r>
              <a:rPr lang="en-US" altLang="ko-KR" sz="1400" b="1" dirty="0"/>
              <a:t>Intrinsic Response Time(IRT)(T4) – </a:t>
            </a:r>
            <a:r>
              <a:rPr lang="en-US" altLang="ko-KR" sz="1400" dirty="0">
                <a:solidFill>
                  <a:srgbClr val="FF0000"/>
                </a:solidFill>
              </a:rPr>
              <a:t>Dynamic</a:t>
            </a:r>
          </a:p>
          <a:p>
            <a:pPr marL="774900" lvl="2" indent="-342900">
              <a:lnSpc>
                <a:spcPct val="150000"/>
              </a:lnSpc>
              <a:buFont typeface="+mj-lt"/>
              <a:buAutoNum type="arabicParenR"/>
              <a:defRPr/>
            </a:pPr>
            <a:r>
              <a:rPr lang="en-US" altLang="ko-KR" sz="1400" b="1" dirty="0"/>
              <a:t>Imaging and post processing Time(T5) – </a:t>
            </a:r>
            <a:r>
              <a:rPr lang="en-US" altLang="ko-KR" sz="1400" dirty="0"/>
              <a:t>Fixed</a:t>
            </a:r>
          </a:p>
          <a:p>
            <a:pPr marL="774900" lvl="2" indent="-342900">
              <a:lnSpc>
                <a:spcPct val="150000"/>
              </a:lnSpc>
              <a:buFont typeface="+mj-lt"/>
              <a:buAutoNum type="arabicParenR"/>
              <a:defRPr/>
            </a:pPr>
            <a:r>
              <a:rPr lang="en-US" altLang="ko-KR" sz="1400" b="1" dirty="0"/>
              <a:t>Data downlink delay Time(T6) – </a:t>
            </a:r>
            <a:r>
              <a:rPr lang="en-US" altLang="ko-KR" sz="1400" dirty="0">
                <a:solidFill>
                  <a:srgbClr val="FF0000"/>
                </a:solidFill>
              </a:rPr>
              <a:t>Dynamic</a:t>
            </a:r>
          </a:p>
          <a:p>
            <a:pPr marL="774900" lvl="2" indent="-342900">
              <a:lnSpc>
                <a:spcPct val="150000"/>
              </a:lnSpc>
              <a:buFont typeface="+mj-lt"/>
              <a:buAutoNum type="arabicParenR"/>
              <a:defRPr/>
            </a:pPr>
            <a:r>
              <a:rPr lang="en-US" altLang="ko-KR" sz="1400" b="1" dirty="0"/>
              <a:t>Downlink Time(T7) – </a:t>
            </a:r>
            <a:r>
              <a:rPr lang="en-US" altLang="ko-KR" sz="1400" dirty="0"/>
              <a:t>Fixed</a:t>
            </a:r>
          </a:p>
          <a:p>
            <a:pPr lvl="1">
              <a:defRPr/>
            </a:pPr>
            <a:endParaRPr lang="en-US" altLang="ko-KR" sz="16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E761730-F884-87F5-7ACF-A8572AF1E0B9}"/>
              </a:ext>
            </a:extLst>
          </p:cNvPr>
          <p:cNvSpPr txBox="1"/>
          <p:nvPr/>
        </p:nvSpPr>
        <p:spPr>
          <a:xfrm>
            <a:off x="-78130" y="6012626"/>
            <a:ext cx="8629837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32000" lvl="2">
              <a:defRPr/>
            </a:pPr>
            <a:r>
              <a:rPr lang="ko-KR" altLang="en-US" sz="1000" b="1" dirty="0"/>
              <a:t>출처 </a:t>
            </a:r>
            <a:r>
              <a:rPr lang="en-US" altLang="ko-KR" sz="1000" b="1" dirty="0"/>
              <a:t>: (A Framework for Heterogeneous Satellite Constellation Design for Rapid Response Earth Observations, 2019 Ibrahim Sanad)</a:t>
            </a:r>
          </a:p>
        </p:txBody>
      </p:sp>
    </p:spTree>
    <p:extLst>
      <p:ext uri="{BB962C8B-B14F-4D97-AF65-F5344CB8AC3E}">
        <p14:creationId xmlns:p14="http://schemas.microsoft.com/office/powerpoint/2010/main" val="274459690"/>
      </p:ext>
    </p:ext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6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dirty="0"/>
              <a:t>이종위성군 선행연구자료</a:t>
            </a:r>
          </a:p>
        </p:txBody>
      </p:sp>
      <p:sp>
        <p:nvSpPr>
          <p:cNvPr id="10" name="내용 개체 틀 2"/>
          <p:cNvSpPr txBox="1"/>
          <p:nvPr/>
        </p:nvSpPr>
        <p:spPr>
          <a:xfrm>
            <a:off x="257081" y="1050263"/>
            <a:ext cx="8629838" cy="5376968"/>
          </a:xfrm>
          <a:prstGeom prst="rect">
            <a:avLst/>
          </a:prstGeom>
        </p:spPr>
        <p:txBody>
          <a:bodyPr vert="horz" lIns="91440" tIns="45720" rIns="91440" bIns="45720">
            <a:noAutofit/>
          </a:bodyPr>
          <a:lstStyle>
            <a:lvl1pPr marL="228600" indent="-360000" algn="l" defTabSz="914400" rtl="0" eaLnBrk="1" latinLnBrk="1" hangingPunct="1">
              <a:lnSpc>
                <a:spcPct val="100000"/>
              </a:lnSpc>
              <a:spcBef>
                <a:spcPts val="1000"/>
              </a:spcBef>
              <a:buFont typeface="Wingdings"/>
              <a:buChar char="v"/>
              <a:defRPr sz="2400" b="1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1pPr>
            <a:lvl2pPr marL="540000" indent="-324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Wingdings"/>
              <a:buChar char="u"/>
              <a:defRPr sz="1800" b="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2pPr>
            <a:lvl3pPr marL="720000" indent="-288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Wingdings"/>
              <a:buChar char="Ø"/>
              <a:defRPr sz="160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3pPr>
            <a:lvl4pPr marL="900000" indent="-252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Wingdings"/>
              <a:buChar char="ü"/>
              <a:defRPr sz="140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4pPr>
            <a:lvl5pPr marL="1080000" indent="-252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  <a:defRPr/>
            </a:pPr>
            <a:r>
              <a:rPr lang="en-US" altLang="ko-KR" sz="2200" b="1" dirty="0"/>
              <a:t>[3] </a:t>
            </a:r>
            <a:r>
              <a:rPr lang="en-US" altLang="ko-KR" sz="2200" dirty="0"/>
              <a:t>SRT</a:t>
            </a:r>
            <a:r>
              <a:rPr lang="ko-KR" altLang="en-US" sz="2200" dirty="0"/>
              <a:t>의 구성</a:t>
            </a:r>
            <a:endParaRPr lang="en-US" altLang="ko-KR" sz="2200" b="1" dirty="0"/>
          </a:p>
          <a:p>
            <a:pPr lvl="1">
              <a:lnSpc>
                <a:spcPct val="150000"/>
              </a:lnSpc>
              <a:defRPr/>
            </a:pPr>
            <a:endParaRPr lang="en-US" altLang="ko-KR" sz="1600" dirty="0"/>
          </a:p>
          <a:p>
            <a:pPr lvl="1">
              <a:lnSpc>
                <a:spcPct val="150000"/>
              </a:lnSpc>
              <a:defRPr/>
            </a:pPr>
            <a:endParaRPr lang="en-US" altLang="ko-KR" sz="1600" dirty="0"/>
          </a:p>
          <a:p>
            <a:pPr lvl="1">
              <a:lnSpc>
                <a:spcPct val="150000"/>
              </a:lnSpc>
              <a:defRPr/>
            </a:pPr>
            <a:endParaRPr lang="en-US" altLang="ko-KR" sz="1600" dirty="0"/>
          </a:p>
          <a:p>
            <a:pPr lvl="1">
              <a:lnSpc>
                <a:spcPct val="150000"/>
              </a:lnSpc>
              <a:defRPr/>
            </a:pPr>
            <a:endParaRPr lang="en-US" altLang="ko-KR" sz="1600" dirty="0"/>
          </a:p>
          <a:p>
            <a:pPr lvl="1">
              <a:lnSpc>
                <a:spcPct val="150000"/>
              </a:lnSpc>
              <a:defRPr/>
            </a:pPr>
            <a:endParaRPr lang="en-US" altLang="ko-KR" sz="1600" dirty="0"/>
          </a:p>
          <a:p>
            <a:pPr marL="216000" lvl="1" indent="0">
              <a:lnSpc>
                <a:spcPct val="150000"/>
              </a:lnSpc>
              <a:buNone/>
              <a:defRPr/>
            </a:pPr>
            <a:endParaRPr lang="en-US" altLang="ko-KR" sz="1600" dirty="0"/>
          </a:p>
          <a:p>
            <a:pPr lvl="1">
              <a:lnSpc>
                <a:spcPct val="150000"/>
              </a:lnSpc>
              <a:defRPr/>
            </a:pPr>
            <a:r>
              <a:rPr lang="en-US" altLang="ko-KR" sz="1600" dirty="0"/>
              <a:t>Uplink </a:t>
            </a:r>
            <a:r>
              <a:rPr lang="ko-KR" altLang="en-US" sz="1600" dirty="0"/>
              <a:t>지연시간</a:t>
            </a:r>
            <a:r>
              <a:rPr lang="en-US" altLang="ko-KR" sz="1600" dirty="0"/>
              <a:t>(T2) </a:t>
            </a:r>
            <a:r>
              <a:rPr lang="ko-KR" altLang="en-US" sz="1600" dirty="0"/>
              <a:t>및 </a:t>
            </a:r>
            <a:r>
              <a:rPr lang="en-US" altLang="ko-KR" sz="1600" dirty="0"/>
              <a:t>Downlink </a:t>
            </a:r>
            <a:r>
              <a:rPr lang="ko-KR" altLang="en-US" sz="1600" dirty="0"/>
              <a:t>지연시간</a:t>
            </a:r>
            <a:r>
              <a:rPr lang="en-US" altLang="ko-KR" sz="1600" dirty="0"/>
              <a:t>(T6)</a:t>
            </a:r>
            <a:r>
              <a:rPr lang="ko-KR" altLang="en-US" sz="1600" dirty="0"/>
              <a:t>으로 인해 과도한 </a:t>
            </a:r>
            <a:r>
              <a:rPr lang="en-US" altLang="ko-KR" sz="1600" dirty="0"/>
              <a:t>SRT</a:t>
            </a:r>
            <a:r>
              <a:rPr lang="ko-KR" altLang="en-US" sz="1600" dirty="0"/>
              <a:t>가 발생할 수 있음</a:t>
            </a:r>
            <a:r>
              <a:rPr lang="en-US" altLang="ko-KR" sz="1600" dirty="0"/>
              <a:t>  </a:t>
            </a:r>
            <a:r>
              <a:rPr lang="ko-KR" altLang="en-US" sz="1600" dirty="0"/>
              <a:t>이상적인 경우는 모든 지연시간이 </a:t>
            </a:r>
            <a:r>
              <a:rPr lang="en-US" altLang="ko-KR" sz="1600" dirty="0"/>
              <a:t>0</a:t>
            </a:r>
            <a:r>
              <a:rPr lang="ko-KR" altLang="en-US" sz="1600" dirty="0"/>
              <a:t>일 때이며</a:t>
            </a:r>
            <a:r>
              <a:rPr lang="en-US" altLang="ko-KR" sz="1600" dirty="0"/>
              <a:t>, </a:t>
            </a:r>
            <a:r>
              <a:rPr lang="ko-KR" altLang="en-US" sz="1600" dirty="0"/>
              <a:t>이 때 </a:t>
            </a:r>
            <a:r>
              <a:rPr lang="en-US" altLang="ko-KR" sz="1600" dirty="0"/>
              <a:t>SRT=IRT(T4)</a:t>
            </a:r>
            <a:r>
              <a:rPr lang="ko-KR" altLang="en-US" sz="1600" dirty="0"/>
              <a:t>가 됨</a:t>
            </a:r>
          </a:p>
          <a:p>
            <a:pPr lvl="2">
              <a:lnSpc>
                <a:spcPct val="150000"/>
              </a:lnSpc>
              <a:defRPr/>
            </a:pPr>
            <a:r>
              <a:rPr lang="en-US" altLang="ko-KR" sz="1400" dirty="0"/>
              <a:t>Imaging </a:t>
            </a:r>
            <a:r>
              <a:rPr lang="ko-KR" altLang="en-US" sz="1400" dirty="0"/>
              <a:t>위성과 </a:t>
            </a:r>
            <a:r>
              <a:rPr lang="en-US" altLang="ko-KR" sz="1400" dirty="0"/>
              <a:t>upper layer </a:t>
            </a:r>
            <a:r>
              <a:rPr lang="ko-KR" altLang="en-US" sz="1400" dirty="0"/>
              <a:t>위성 배치 사이에 양방향 </a:t>
            </a:r>
            <a:r>
              <a:rPr lang="en-US" altLang="ko-KR" sz="1400" dirty="0"/>
              <a:t>ISL</a:t>
            </a:r>
            <a:r>
              <a:rPr lang="ko-KR" altLang="en-US" sz="1400" dirty="0"/>
              <a:t>을 이용하여 </a:t>
            </a:r>
            <a:r>
              <a:rPr lang="en-US" altLang="ko-KR" sz="1400" dirty="0"/>
              <a:t>T2</a:t>
            </a:r>
            <a:r>
              <a:rPr lang="ko-KR" altLang="en-US" sz="1400" dirty="0"/>
              <a:t>와 </a:t>
            </a:r>
            <a:r>
              <a:rPr lang="en-US" altLang="ko-KR" sz="1400" dirty="0"/>
              <a:t>T6</a:t>
            </a:r>
            <a:r>
              <a:rPr lang="ko-KR" altLang="en-US" sz="1400" dirty="0"/>
              <a:t>을 줄임으로써 </a:t>
            </a:r>
            <a:r>
              <a:rPr lang="en-US" altLang="ko-KR" sz="1400" dirty="0"/>
              <a:t>SRT</a:t>
            </a:r>
            <a:r>
              <a:rPr lang="ko-KR" altLang="en-US" sz="1400" dirty="0"/>
              <a:t>를 크게 줄일 수 있음</a:t>
            </a:r>
          </a:p>
          <a:p>
            <a:pPr lvl="1">
              <a:lnSpc>
                <a:spcPct val="150000"/>
              </a:lnSpc>
              <a:defRPr/>
            </a:pPr>
            <a:endParaRPr lang="en-US" altLang="ko-KR" sz="16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E761730-F884-87F5-7ACF-A8572AF1E0B9}"/>
              </a:ext>
            </a:extLst>
          </p:cNvPr>
          <p:cNvSpPr txBox="1"/>
          <p:nvPr/>
        </p:nvSpPr>
        <p:spPr>
          <a:xfrm>
            <a:off x="-78130" y="6012626"/>
            <a:ext cx="8629837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32000" lvl="2">
              <a:defRPr/>
            </a:pPr>
            <a:r>
              <a:rPr lang="ko-KR" altLang="en-US" sz="1000" b="1" dirty="0"/>
              <a:t>출처 </a:t>
            </a:r>
            <a:r>
              <a:rPr lang="en-US" altLang="ko-KR" sz="1000" b="1" dirty="0"/>
              <a:t>: (A Framework for Heterogeneous Satellite Constellation Design for Rapid Response Earth Observations, 2019 Ibrahim Sanad)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FDC5DA69-E9F9-347A-93A4-4C8CD078FE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6203" y="1715791"/>
            <a:ext cx="6373318" cy="242497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541352353"/>
      </p:ext>
    </p:extLst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7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dirty="0"/>
              <a:t>이종위성군 선행연구자료</a:t>
            </a:r>
          </a:p>
        </p:txBody>
      </p:sp>
      <p:sp>
        <p:nvSpPr>
          <p:cNvPr id="10" name="내용 개체 틀 2"/>
          <p:cNvSpPr txBox="1"/>
          <p:nvPr/>
        </p:nvSpPr>
        <p:spPr>
          <a:xfrm>
            <a:off x="257081" y="1050263"/>
            <a:ext cx="8629837" cy="5376968"/>
          </a:xfrm>
          <a:prstGeom prst="rect">
            <a:avLst/>
          </a:prstGeom>
        </p:spPr>
        <p:txBody>
          <a:bodyPr vert="horz" lIns="91440" tIns="45720" rIns="91440" bIns="45720">
            <a:noAutofit/>
          </a:bodyPr>
          <a:lstStyle>
            <a:lvl1pPr marL="228600" indent="-360000" algn="l" defTabSz="914400" rtl="0" eaLnBrk="1" latinLnBrk="1" hangingPunct="1">
              <a:lnSpc>
                <a:spcPct val="100000"/>
              </a:lnSpc>
              <a:spcBef>
                <a:spcPts val="1000"/>
              </a:spcBef>
              <a:buFont typeface="Wingdings"/>
              <a:buChar char="v"/>
              <a:defRPr sz="2400" b="1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1pPr>
            <a:lvl2pPr marL="540000" indent="-324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Wingdings"/>
              <a:buChar char="u"/>
              <a:defRPr sz="1800" b="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2pPr>
            <a:lvl3pPr marL="720000" indent="-288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Wingdings"/>
              <a:buChar char="Ø"/>
              <a:defRPr sz="160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3pPr>
            <a:lvl4pPr marL="900000" indent="-252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Wingdings"/>
              <a:buChar char="ü"/>
              <a:defRPr sz="140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4pPr>
            <a:lvl5pPr marL="1080000" indent="-252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  <a:defRPr/>
            </a:pPr>
            <a:r>
              <a:rPr lang="en-US" altLang="ko-KR" sz="2200" b="1" dirty="0"/>
              <a:t>[4] </a:t>
            </a:r>
            <a:r>
              <a:rPr lang="en-US" altLang="ko-KR" sz="2200" dirty="0"/>
              <a:t>STK </a:t>
            </a:r>
            <a:r>
              <a:rPr lang="ko-KR" altLang="en-US" sz="2200" dirty="0"/>
              <a:t>분석</a:t>
            </a:r>
            <a:endParaRPr lang="en-US" altLang="ko-KR" sz="2200" b="1" dirty="0"/>
          </a:p>
          <a:p>
            <a:pPr lvl="1">
              <a:lnSpc>
                <a:spcPct val="150000"/>
              </a:lnSpc>
              <a:defRPr/>
            </a:pPr>
            <a:r>
              <a:rPr lang="en-US" altLang="ko-KR" sz="1600" dirty="0"/>
              <a:t>LEO</a:t>
            </a:r>
            <a:r>
              <a:rPr lang="ko-KR" altLang="en-US" sz="1600" dirty="0"/>
              <a:t>원격감지 시스템의 명령전달 및 데이터 복구를 다루는 이 논문의 접근 방법은 </a:t>
            </a:r>
            <a:r>
              <a:rPr lang="en-US" altLang="ko-KR" sz="1600" dirty="0"/>
              <a:t>STK</a:t>
            </a:r>
            <a:r>
              <a:rPr lang="ko-KR" altLang="en-US" sz="1600" dirty="0"/>
              <a:t>에 분석에 적합함</a:t>
            </a:r>
            <a:endParaRPr lang="en-US" altLang="ko-KR" sz="1600" dirty="0"/>
          </a:p>
          <a:p>
            <a:pPr lvl="2">
              <a:lnSpc>
                <a:spcPct val="150000"/>
              </a:lnSpc>
              <a:defRPr/>
            </a:pPr>
            <a:r>
              <a:rPr lang="en-US" altLang="ko-KR" sz="1400" dirty="0"/>
              <a:t>Coverage, Analysis Workbench, STK Analyzer </a:t>
            </a:r>
            <a:r>
              <a:rPr lang="ko-KR" altLang="en-US" sz="1400" dirty="0"/>
              <a:t>등의 소프트웨어를 이용할 수 있음</a:t>
            </a:r>
          </a:p>
          <a:p>
            <a:pPr lvl="2">
              <a:lnSpc>
                <a:spcPct val="150000"/>
              </a:lnSpc>
              <a:defRPr/>
            </a:pPr>
            <a:r>
              <a:rPr lang="en-US" altLang="ko-KR" sz="1400" dirty="0"/>
              <a:t>DV(predefined Design Value)</a:t>
            </a:r>
            <a:r>
              <a:rPr lang="ko-KR" altLang="en-US" sz="1400" dirty="0"/>
              <a:t>가 실행되면 이와 연관된 </a:t>
            </a:r>
            <a:r>
              <a:rPr lang="en-US" altLang="ko-KR" sz="1400" dirty="0"/>
              <a:t>MOP(Measure of Performances)</a:t>
            </a:r>
            <a:r>
              <a:rPr lang="ko-KR" altLang="en-US" sz="1400" dirty="0"/>
              <a:t>가 각각 수집됨</a:t>
            </a:r>
          </a:p>
          <a:p>
            <a:pPr lvl="2">
              <a:lnSpc>
                <a:spcPct val="150000"/>
              </a:lnSpc>
              <a:defRPr/>
            </a:pPr>
            <a:r>
              <a:rPr lang="ko-KR" altLang="en-US" sz="1400" dirty="0"/>
              <a:t>이 분석으로 </a:t>
            </a:r>
            <a:r>
              <a:rPr lang="en-US" altLang="ko-KR" sz="1400" dirty="0"/>
              <a:t>DV</a:t>
            </a:r>
            <a:r>
              <a:rPr lang="ko-KR" altLang="en-US" sz="1400" dirty="0"/>
              <a:t>의 변경이 </a:t>
            </a:r>
            <a:r>
              <a:rPr lang="en-US" altLang="ko-KR" sz="1400" dirty="0"/>
              <a:t>MOP</a:t>
            </a:r>
            <a:r>
              <a:rPr lang="ko-KR" altLang="en-US" sz="1400" dirty="0"/>
              <a:t>에 어떻게 영향을 주는지 볼 수 있음</a:t>
            </a:r>
            <a:r>
              <a:rPr lang="en-US" altLang="ko-KR" sz="1400" dirty="0"/>
              <a:t>(curve </a:t>
            </a:r>
            <a:r>
              <a:rPr lang="ko-KR" altLang="en-US" sz="1400" dirty="0"/>
              <a:t>등의 그래프 제시</a:t>
            </a:r>
            <a:r>
              <a:rPr lang="en-US" altLang="ko-KR" sz="1400" dirty="0"/>
              <a:t>)</a:t>
            </a:r>
          </a:p>
          <a:p>
            <a:pPr marL="0" indent="0">
              <a:lnSpc>
                <a:spcPct val="150000"/>
              </a:lnSpc>
              <a:buNone/>
              <a:defRPr/>
            </a:pPr>
            <a:r>
              <a:rPr lang="en-US" altLang="ko-KR" sz="2200" b="1" dirty="0"/>
              <a:t>[5] </a:t>
            </a:r>
            <a:r>
              <a:rPr lang="ko-KR" altLang="en-US" sz="2200" b="1" dirty="0"/>
              <a:t>위성 운용의 목표</a:t>
            </a:r>
            <a:endParaRPr lang="en-US" altLang="ko-KR" sz="2200" b="1" dirty="0"/>
          </a:p>
          <a:p>
            <a:pPr lvl="1">
              <a:lnSpc>
                <a:spcPct val="150000"/>
              </a:lnSpc>
              <a:defRPr/>
            </a:pPr>
            <a:r>
              <a:rPr lang="en-US" altLang="ko-KR" sz="1600" dirty="0"/>
              <a:t>24</a:t>
            </a:r>
            <a:r>
              <a:rPr lang="ko-KR" altLang="en-US" sz="1600" dirty="0"/>
              <a:t>시간</a:t>
            </a:r>
            <a:r>
              <a:rPr lang="en-US" altLang="ko-KR" sz="1600" dirty="0"/>
              <a:t> 100% </a:t>
            </a:r>
            <a:r>
              <a:rPr lang="ko-KR" altLang="en-US" sz="1600" dirty="0"/>
              <a:t>커버를 달성하는 광학 위성군을 설계</a:t>
            </a:r>
          </a:p>
          <a:p>
            <a:pPr lvl="1">
              <a:lnSpc>
                <a:spcPct val="150000"/>
              </a:lnSpc>
              <a:defRPr/>
            </a:pPr>
            <a:r>
              <a:rPr lang="ko-KR" altLang="en-US" sz="1600" dirty="0"/>
              <a:t>특정 공간 해상도를 달성하는데 필요한 </a:t>
            </a:r>
            <a:r>
              <a:rPr lang="ko-KR" altLang="en-US" sz="1600" dirty="0" err="1"/>
              <a:t>탑재체</a:t>
            </a:r>
            <a:r>
              <a:rPr lang="ko-KR" altLang="en-US" sz="1600" dirty="0"/>
              <a:t> 파라미터 지정</a:t>
            </a:r>
          </a:p>
          <a:p>
            <a:pPr lvl="1">
              <a:lnSpc>
                <a:spcPct val="150000"/>
              </a:lnSpc>
              <a:defRPr/>
            </a:pPr>
            <a:r>
              <a:rPr lang="en-US" altLang="ko-KR" sz="1600" dirty="0"/>
              <a:t>SRT</a:t>
            </a:r>
            <a:r>
              <a:rPr lang="ko-KR" altLang="en-US" sz="1600" dirty="0"/>
              <a:t>를 줄이기 위한 적도 평면에서의 최상의 </a:t>
            </a:r>
            <a:r>
              <a:rPr lang="en-US" altLang="ko-KR" sz="1600" dirty="0"/>
              <a:t>relay </a:t>
            </a:r>
            <a:r>
              <a:rPr lang="ko-KR" altLang="en-US" sz="1600" dirty="0"/>
              <a:t>위성군을 설정</a:t>
            </a:r>
          </a:p>
          <a:p>
            <a:pPr lvl="1">
              <a:lnSpc>
                <a:spcPct val="150000"/>
              </a:lnSpc>
              <a:defRPr/>
            </a:pPr>
            <a:r>
              <a:rPr lang="ko-KR" altLang="en-US" sz="1600" dirty="0"/>
              <a:t>신호를 수신 및 전송할 수 있는 지상국의 위치 설정</a:t>
            </a:r>
          </a:p>
          <a:p>
            <a:pPr lvl="1">
              <a:lnSpc>
                <a:spcPct val="150000"/>
              </a:lnSpc>
              <a:defRPr/>
            </a:pPr>
            <a:endParaRPr lang="en-US" altLang="ko-KR" sz="1400" dirty="0"/>
          </a:p>
          <a:p>
            <a:pPr lvl="2">
              <a:lnSpc>
                <a:spcPct val="150000"/>
              </a:lnSpc>
              <a:defRPr/>
            </a:pPr>
            <a:endParaRPr lang="en-US" altLang="ko-KR" sz="1200" dirty="0"/>
          </a:p>
          <a:p>
            <a:pPr lvl="1">
              <a:lnSpc>
                <a:spcPct val="150000"/>
              </a:lnSpc>
              <a:defRPr/>
            </a:pPr>
            <a:endParaRPr lang="en-US" altLang="ko-KR" sz="1600" dirty="0"/>
          </a:p>
          <a:p>
            <a:pPr lvl="1">
              <a:lnSpc>
                <a:spcPct val="150000"/>
              </a:lnSpc>
              <a:defRPr/>
            </a:pPr>
            <a:endParaRPr lang="en-US" altLang="ko-KR" sz="1600" dirty="0"/>
          </a:p>
          <a:p>
            <a:pPr lvl="1">
              <a:lnSpc>
                <a:spcPct val="150000"/>
              </a:lnSpc>
              <a:defRPr/>
            </a:pPr>
            <a:endParaRPr lang="en-US" altLang="ko-KR" sz="1600" dirty="0"/>
          </a:p>
          <a:p>
            <a:pPr lvl="1">
              <a:lnSpc>
                <a:spcPct val="150000"/>
              </a:lnSpc>
              <a:defRPr/>
            </a:pPr>
            <a:endParaRPr lang="en-US" altLang="ko-KR" sz="1600" dirty="0"/>
          </a:p>
          <a:p>
            <a:pPr lvl="1">
              <a:lnSpc>
                <a:spcPct val="150000"/>
              </a:lnSpc>
              <a:defRPr/>
            </a:pPr>
            <a:endParaRPr lang="en-US" altLang="ko-KR" sz="1600" dirty="0"/>
          </a:p>
          <a:p>
            <a:pPr marL="216000" lvl="1" indent="0">
              <a:lnSpc>
                <a:spcPct val="150000"/>
              </a:lnSpc>
              <a:buNone/>
              <a:defRPr/>
            </a:pPr>
            <a:endParaRPr lang="en-US" altLang="ko-KR" sz="1600" dirty="0"/>
          </a:p>
          <a:p>
            <a:pPr lvl="1">
              <a:lnSpc>
                <a:spcPct val="150000"/>
              </a:lnSpc>
              <a:defRPr/>
            </a:pPr>
            <a:endParaRPr lang="ko-KR" altLang="en-US" sz="1600" dirty="0"/>
          </a:p>
          <a:p>
            <a:pPr lvl="1">
              <a:defRPr/>
            </a:pPr>
            <a:endParaRPr lang="en-US" altLang="ko-KR" sz="16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E761730-F884-87F5-7ACF-A8572AF1E0B9}"/>
              </a:ext>
            </a:extLst>
          </p:cNvPr>
          <p:cNvSpPr txBox="1"/>
          <p:nvPr/>
        </p:nvSpPr>
        <p:spPr>
          <a:xfrm>
            <a:off x="-78130" y="6012626"/>
            <a:ext cx="8629837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32000" lvl="2">
              <a:defRPr/>
            </a:pPr>
            <a:r>
              <a:rPr lang="ko-KR" altLang="en-US" sz="1000" b="1" dirty="0"/>
              <a:t>출처 </a:t>
            </a:r>
            <a:r>
              <a:rPr lang="en-US" altLang="ko-KR" sz="1000" b="1" dirty="0"/>
              <a:t>: (A Framework for Heterogeneous Satellite Constellation Design for Rapid Response Earth Observations, 2019 Ibrahim Sanad)</a:t>
            </a:r>
          </a:p>
        </p:txBody>
      </p:sp>
    </p:spTree>
    <p:extLst>
      <p:ext uri="{BB962C8B-B14F-4D97-AF65-F5344CB8AC3E}">
        <p14:creationId xmlns:p14="http://schemas.microsoft.com/office/powerpoint/2010/main" val="754210469"/>
      </p:ext>
    </p:extLst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8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dirty="0"/>
              <a:t>이종위성군 선행연구자료</a:t>
            </a:r>
          </a:p>
        </p:txBody>
      </p:sp>
      <p:sp>
        <p:nvSpPr>
          <p:cNvPr id="10" name="내용 개체 틀 2"/>
          <p:cNvSpPr txBox="1"/>
          <p:nvPr/>
        </p:nvSpPr>
        <p:spPr>
          <a:xfrm>
            <a:off x="257081" y="1050263"/>
            <a:ext cx="8465679" cy="5376968"/>
          </a:xfrm>
          <a:prstGeom prst="rect">
            <a:avLst/>
          </a:prstGeom>
        </p:spPr>
        <p:txBody>
          <a:bodyPr vert="horz" lIns="91440" tIns="45720" rIns="91440" bIns="45720">
            <a:noAutofit/>
          </a:bodyPr>
          <a:lstStyle>
            <a:lvl1pPr marL="228600" indent="-360000" algn="l" defTabSz="914400" rtl="0" eaLnBrk="1" latinLnBrk="1" hangingPunct="1">
              <a:lnSpc>
                <a:spcPct val="100000"/>
              </a:lnSpc>
              <a:spcBef>
                <a:spcPts val="1000"/>
              </a:spcBef>
              <a:buFont typeface="Wingdings"/>
              <a:buChar char="v"/>
              <a:defRPr sz="2400" b="1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1pPr>
            <a:lvl2pPr marL="540000" indent="-324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Wingdings"/>
              <a:buChar char="u"/>
              <a:defRPr sz="1800" b="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2pPr>
            <a:lvl3pPr marL="720000" indent="-288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Wingdings"/>
              <a:buChar char="Ø"/>
              <a:defRPr sz="160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3pPr>
            <a:lvl4pPr marL="900000" indent="-252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Wingdings"/>
              <a:buChar char="ü"/>
              <a:defRPr sz="140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4pPr>
            <a:lvl5pPr marL="1080000" indent="-252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  <a:defRPr/>
            </a:pPr>
            <a:r>
              <a:rPr lang="en-US" altLang="ko-KR" sz="2200" b="1" dirty="0"/>
              <a:t>[6] </a:t>
            </a:r>
            <a:r>
              <a:rPr lang="ko-KR" altLang="en-US" sz="2200" b="1" dirty="0"/>
              <a:t>궤도</a:t>
            </a:r>
            <a:endParaRPr lang="en-US" altLang="ko-KR" sz="2200" b="1" dirty="0"/>
          </a:p>
          <a:p>
            <a:pPr lvl="1">
              <a:lnSpc>
                <a:spcPct val="150000"/>
              </a:lnSpc>
              <a:defRPr/>
            </a:pPr>
            <a:r>
              <a:rPr lang="en-US" altLang="ko-KR" sz="1600" dirty="0"/>
              <a:t>[5]</a:t>
            </a:r>
            <a:r>
              <a:rPr lang="ko-KR" altLang="en-US" sz="1600" dirty="0"/>
              <a:t>를 만족하도록 하는 </a:t>
            </a:r>
            <a:r>
              <a:rPr lang="en-US" altLang="ko-KR" sz="1600" dirty="0"/>
              <a:t>DV </a:t>
            </a:r>
            <a:r>
              <a:rPr lang="ko-KR" altLang="en-US" sz="1600" dirty="0"/>
              <a:t>및 </a:t>
            </a:r>
            <a:r>
              <a:rPr lang="en-US" altLang="ko-KR" sz="1600" dirty="0"/>
              <a:t>MOP </a:t>
            </a:r>
            <a:r>
              <a:rPr lang="ko-KR" altLang="en-US" sz="1600" dirty="0"/>
              <a:t>범위에서 도출된 다음의 세 가지 궤도 유형을 사용함</a:t>
            </a:r>
            <a:endParaRPr lang="en-US" altLang="ko-KR" sz="1600" dirty="0"/>
          </a:p>
          <a:p>
            <a:pPr lvl="2">
              <a:lnSpc>
                <a:spcPct val="150000"/>
              </a:lnSpc>
              <a:defRPr/>
            </a:pPr>
            <a:r>
              <a:rPr lang="en-US" altLang="ko-KR" sz="1400" b="1" dirty="0"/>
              <a:t>LEO</a:t>
            </a:r>
            <a:r>
              <a:rPr lang="en-US" altLang="ko-KR" sz="1400" dirty="0"/>
              <a:t> (Imaging constellation</a:t>
            </a:r>
            <a:r>
              <a:rPr lang="ko-KR" altLang="en-US" sz="1400" dirty="0"/>
              <a:t>에 사용</a:t>
            </a:r>
            <a:r>
              <a:rPr lang="en-US" altLang="ko-KR" sz="1400" dirty="0"/>
              <a:t>)</a:t>
            </a:r>
          </a:p>
          <a:p>
            <a:pPr lvl="3">
              <a:lnSpc>
                <a:spcPct val="150000"/>
              </a:lnSpc>
              <a:defRPr/>
            </a:pPr>
            <a:r>
              <a:rPr lang="en-US" altLang="ko-KR" sz="1200" dirty="0"/>
              <a:t>Sun Synchronous Orbit(SSO) – 600km</a:t>
            </a:r>
          </a:p>
          <a:p>
            <a:pPr lvl="3">
              <a:lnSpc>
                <a:spcPct val="150000"/>
              </a:lnSpc>
              <a:defRPr/>
            </a:pPr>
            <a:r>
              <a:rPr lang="en-US" altLang="ko-KR" sz="1200" dirty="0"/>
              <a:t>Mid Inclined Orbit(MIO) – 575km</a:t>
            </a:r>
            <a:endParaRPr lang="ko-KR" altLang="en-US" sz="1200" dirty="0"/>
          </a:p>
          <a:p>
            <a:pPr lvl="2">
              <a:lnSpc>
                <a:spcPct val="150000"/>
              </a:lnSpc>
              <a:defRPr/>
            </a:pPr>
            <a:r>
              <a:rPr lang="en-US" altLang="ko-KR" sz="1400" b="1" dirty="0"/>
              <a:t>Circular MEO on Equatorial plane </a:t>
            </a:r>
            <a:r>
              <a:rPr lang="en-US" altLang="ko-KR" sz="1400" dirty="0"/>
              <a:t>(Relay constellation</a:t>
            </a:r>
            <a:r>
              <a:rPr lang="ko-KR" altLang="en-US" sz="1400" dirty="0"/>
              <a:t>에 사용</a:t>
            </a:r>
            <a:r>
              <a:rPr lang="en-US" altLang="ko-KR" sz="1400" dirty="0"/>
              <a:t>)</a:t>
            </a:r>
          </a:p>
          <a:p>
            <a:pPr lvl="3">
              <a:lnSpc>
                <a:spcPct val="150000"/>
              </a:lnSpc>
              <a:defRPr/>
            </a:pPr>
            <a:r>
              <a:rPr lang="en-US" altLang="ko-KR" sz="1200" dirty="0"/>
              <a:t>Mid Inclined Orbit(MIO) – 8,000km</a:t>
            </a:r>
          </a:p>
          <a:p>
            <a:pPr lvl="1">
              <a:lnSpc>
                <a:spcPct val="150000"/>
              </a:lnSpc>
              <a:defRPr/>
            </a:pPr>
            <a:endParaRPr lang="en-US" altLang="ko-KR" sz="1600" dirty="0"/>
          </a:p>
          <a:p>
            <a:pPr lvl="1">
              <a:lnSpc>
                <a:spcPct val="150000"/>
              </a:lnSpc>
              <a:defRPr/>
            </a:pPr>
            <a:endParaRPr lang="en-US" altLang="ko-KR" sz="1600" dirty="0"/>
          </a:p>
          <a:p>
            <a:pPr lvl="1">
              <a:lnSpc>
                <a:spcPct val="150000"/>
              </a:lnSpc>
              <a:defRPr/>
            </a:pPr>
            <a:endParaRPr lang="en-US" altLang="ko-KR" sz="1600" dirty="0"/>
          </a:p>
          <a:p>
            <a:pPr lvl="1">
              <a:lnSpc>
                <a:spcPct val="150000"/>
              </a:lnSpc>
              <a:defRPr/>
            </a:pPr>
            <a:endParaRPr lang="en-US" altLang="ko-KR" sz="1600" dirty="0"/>
          </a:p>
          <a:p>
            <a:pPr lvl="1">
              <a:lnSpc>
                <a:spcPct val="150000"/>
              </a:lnSpc>
              <a:defRPr/>
            </a:pPr>
            <a:endParaRPr lang="en-US" altLang="ko-KR" sz="1600" dirty="0"/>
          </a:p>
          <a:p>
            <a:pPr marL="216000" lvl="1" indent="0">
              <a:lnSpc>
                <a:spcPct val="150000"/>
              </a:lnSpc>
              <a:buNone/>
              <a:defRPr/>
            </a:pPr>
            <a:endParaRPr lang="en-US" altLang="ko-KR" sz="1600" dirty="0"/>
          </a:p>
          <a:p>
            <a:pPr lvl="1">
              <a:lnSpc>
                <a:spcPct val="150000"/>
              </a:lnSpc>
              <a:defRPr/>
            </a:pPr>
            <a:endParaRPr lang="ko-KR" altLang="en-US" sz="1600" dirty="0"/>
          </a:p>
          <a:p>
            <a:pPr lvl="1">
              <a:defRPr/>
            </a:pPr>
            <a:endParaRPr lang="en-US" altLang="ko-KR" sz="16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E761730-F884-87F5-7ACF-A8572AF1E0B9}"/>
              </a:ext>
            </a:extLst>
          </p:cNvPr>
          <p:cNvSpPr txBox="1"/>
          <p:nvPr/>
        </p:nvSpPr>
        <p:spPr>
          <a:xfrm>
            <a:off x="-78130" y="6012626"/>
            <a:ext cx="8629837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32000" lvl="2">
              <a:defRPr/>
            </a:pPr>
            <a:r>
              <a:rPr lang="ko-KR" altLang="en-US" sz="1000" b="1" dirty="0"/>
              <a:t>출처 </a:t>
            </a:r>
            <a:r>
              <a:rPr lang="en-US" altLang="ko-KR" sz="1000" b="1" dirty="0"/>
              <a:t>: (A Framework for Heterogeneous Satellite Constellation Design for Rapid Response Earth Observations, 2019 Ibrahim Sanad)</a:t>
            </a:r>
          </a:p>
        </p:txBody>
      </p:sp>
    </p:spTree>
    <p:extLst>
      <p:ext uri="{BB962C8B-B14F-4D97-AF65-F5344CB8AC3E}">
        <p14:creationId xmlns:p14="http://schemas.microsoft.com/office/powerpoint/2010/main" val="3700586040"/>
      </p:ext>
    </p:extLst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9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dirty="0"/>
              <a:t>이종위성군 선행연구자료</a:t>
            </a:r>
          </a:p>
        </p:txBody>
      </p:sp>
      <p:sp>
        <p:nvSpPr>
          <p:cNvPr id="10" name="내용 개체 틀 2"/>
          <p:cNvSpPr txBox="1"/>
          <p:nvPr/>
        </p:nvSpPr>
        <p:spPr>
          <a:xfrm>
            <a:off x="257081" y="1050263"/>
            <a:ext cx="8465679" cy="5376968"/>
          </a:xfrm>
          <a:prstGeom prst="rect">
            <a:avLst/>
          </a:prstGeom>
        </p:spPr>
        <p:txBody>
          <a:bodyPr vert="horz" lIns="91440" tIns="45720" rIns="91440" bIns="45720">
            <a:noAutofit/>
          </a:bodyPr>
          <a:lstStyle>
            <a:lvl1pPr marL="228600" indent="-360000" algn="l" defTabSz="914400" rtl="0" eaLnBrk="1" latinLnBrk="1" hangingPunct="1">
              <a:lnSpc>
                <a:spcPct val="100000"/>
              </a:lnSpc>
              <a:spcBef>
                <a:spcPts val="1000"/>
              </a:spcBef>
              <a:buFont typeface="Wingdings"/>
              <a:buChar char="v"/>
              <a:defRPr sz="2400" b="1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1pPr>
            <a:lvl2pPr marL="540000" indent="-324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Wingdings"/>
              <a:buChar char="u"/>
              <a:defRPr sz="1800" b="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2pPr>
            <a:lvl3pPr marL="720000" indent="-288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Wingdings"/>
              <a:buChar char="Ø"/>
              <a:defRPr sz="160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3pPr>
            <a:lvl4pPr marL="900000" indent="-252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Wingdings"/>
              <a:buChar char="ü"/>
              <a:defRPr sz="140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4pPr>
            <a:lvl5pPr marL="1080000" indent="-252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  <a:defRPr/>
            </a:pPr>
            <a:r>
              <a:rPr lang="en-US" altLang="ko-KR" sz="2200" b="1" dirty="0"/>
              <a:t>[7] </a:t>
            </a:r>
            <a:r>
              <a:rPr lang="ko-KR" altLang="en-US" sz="2200" b="1" dirty="0"/>
              <a:t>이종 </a:t>
            </a:r>
            <a:r>
              <a:rPr lang="ko-KR" altLang="en-US" sz="2200" b="1" dirty="0" err="1"/>
              <a:t>위성군</a:t>
            </a:r>
            <a:r>
              <a:rPr lang="ko-KR" altLang="en-US" sz="2200" b="1" dirty="0"/>
              <a:t> 설계 방법의 요약</a:t>
            </a:r>
            <a:endParaRPr lang="en-US" altLang="ko-KR" sz="2200" b="1" dirty="0"/>
          </a:p>
          <a:p>
            <a:pPr lvl="1">
              <a:lnSpc>
                <a:spcPct val="150000"/>
              </a:lnSpc>
              <a:defRPr/>
            </a:pPr>
            <a:r>
              <a:rPr lang="en-US" altLang="ko-KR" sz="1600" dirty="0"/>
              <a:t>FOV, </a:t>
            </a:r>
            <a:r>
              <a:rPr lang="ko-KR" altLang="en-US" sz="1600" dirty="0"/>
              <a:t>초점거리</a:t>
            </a:r>
            <a:r>
              <a:rPr lang="en-US" altLang="ko-KR" sz="1600" dirty="0"/>
              <a:t>(f), detector pitch(DP) </a:t>
            </a:r>
            <a:r>
              <a:rPr lang="ko-KR" altLang="en-US" sz="1600" dirty="0"/>
              <a:t>등의 다양한 파라미터를 조정하여 커버리지 비율에 따라 </a:t>
            </a:r>
            <a:r>
              <a:rPr lang="en-US" altLang="ko-KR" sz="1600" dirty="0"/>
              <a:t>SSO</a:t>
            </a:r>
            <a:r>
              <a:rPr lang="ko-KR" altLang="en-US" sz="1600" dirty="0"/>
              <a:t>에 광학 위성군을 설계</a:t>
            </a:r>
          </a:p>
          <a:p>
            <a:pPr lvl="1">
              <a:lnSpc>
                <a:spcPct val="150000"/>
              </a:lnSpc>
              <a:defRPr/>
            </a:pPr>
            <a:r>
              <a:rPr lang="ko-KR" altLang="en-US" sz="1600" dirty="0"/>
              <a:t>광학 </a:t>
            </a:r>
            <a:r>
              <a:rPr lang="ko-KR" altLang="en-US" sz="1600" dirty="0" err="1"/>
              <a:t>탑재체</a:t>
            </a:r>
            <a:r>
              <a:rPr lang="ko-KR" altLang="en-US" sz="1600" dirty="0"/>
              <a:t> 파라미터와 그에 따른 커버리지 및 공간 해상도의 영향을 설계 및 최적화</a:t>
            </a:r>
          </a:p>
          <a:p>
            <a:pPr lvl="1">
              <a:lnSpc>
                <a:spcPct val="150000"/>
              </a:lnSpc>
              <a:defRPr/>
            </a:pPr>
            <a:r>
              <a:rPr lang="en-US" altLang="ko-KR" sz="1600" dirty="0"/>
              <a:t>SSO </a:t>
            </a:r>
            <a:r>
              <a:rPr lang="ko-KR" altLang="en-US" sz="1600" dirty="0"/>
              <a:t>위성군의 </a:t>
            </a:r>
            <a:r>
              <a:rPr lang="ko-KR" altLang="en-US" sz="1600" dirty="0" err="1"/>
              <a:t>커버리지를</a:t>
            </a:r>
            <a:r>
              <a:rPr lang="ko-KR" altLang="en-US" sz="1600" dirty="0"/>
              <a:t> 분석 </a:t>
            </a:r>
            <a:endParaRPr lang="en-US" altLang="ko-KR" sz="1600" dirty="0"/>
          </a:p>
          <a:p>
            <a:pPr lvl="2">
              <a:lnSpc>
                <a:spcPct val="150000"/>
              </a:lnSpc>
              <a:defRPr/>
            </a:pPr>
            <a:r>
              <a:rPr lang="en-US" altLang="ko-KR" sz="1400" dirty="0"/>
              <a:t>MIO </a:t>
            </a:r>
            <a:r>
              <a:rPr lang="ko-KR" altLang="en-US" sz="1400" dirty="0"/>
              <a:t>궤도에 </a:t>
            </a:r>
            <a:r>
              <a:rPr lang="en-US" altLang="ko-KR" sz="1400" dirty="0"/>
              <a:t>Imaging constellation</a:t>
            </a:r>
            <a:r>
              <a:rPr lang="ko-KR" altLang="en-US" sz="1400" dirty="0"/>
              <a:t>을 추가하여 중위도 지역의 재방문 주기 및 커버리지 증가율 분석</a:t>
            </a:r>
          </a:p>
          <a:p>
            <a:pPr lvl="1">
              <a:lnSpc>
                <a:spcPct val="150000"/>
              </a:lnSpc>
              <a:defRPr/>
            </a:pPr>
            <a:r>
              <a:rPr lang="en-US" altLang="ko-KR" sz="1600" dirty="0"/>
              <a:t>Imaging</a:t>
            </a:r>
            <a:r>
              <a:rPr lang="ko-KR" altLang="en-US" sz="1600" dirty="0"/>
              <a:t>과 </a:t>
            </a:r>
            <a:r>
              <a:rPr lang="en-US" altLang="ko-KR" sz="1600" dirty="0"/>
              <a:t>relay constellation </a:t>
            </a:r>
            <a:r>
              <a:rPr lang="ko-KR" altLang="en-US" sz="1600" dirty="0"/>
              <a:t>간의 </a:t>
            </a:r>
            <a:r>
              <a:rPr lang="en-US" altLang="ko-KR" sz="1600" dirty="0"/>
              <a:t>ISL </a:t>
            </a:r>
            <a:r>
              <a:rPr lang="ko-KR" altLang="en-US" sz="1600" dirty="0"/>
              <a:t>성능 차이를 통해 접근 기간을 늘리도록 </a:t>
            </a:r>
            <a:r>
              <a:rPr lang="en-US" altLang="ko-KR" sz="1600" dirty="0"/>
              <a:t>relay constellation</a:t>
            </a:r>
            <a:r>
              <a:rPr lang="ko-KR" altLang="en-US" sz="1600" dirty="0"/>
              <a:t>의 위성군을 구성</a:t>
            </a:r>
          </a:p>
          <a:p>
            <a:pPr lvl="1">
              <a:lnSpc>
                <a:spcPct val="150000"/>
              </a:lnSpc>
              <a:defRPr/>
            </a:pPr>
            <a:r>
              <a:rPr lang="en-US" altLang="ko-KR" sz="1600" dirty="0"/>
              <a:t>Imaging </a:t>
            </a:r>
            <a:r>
              <a:rPr lang="ko-KR" altLang="en-US" sz="1600" dirty="0"/>
              <a:t>위성군과 비교하여 </a:t>
            </a:r>
            <a:r>
              <a:rPr lang="en-US" altLang="ko-KR" sz="1600" dirty="0"/>
              <a:t>SRT </a:t>
            </a:r>
            <a:r>
              <a:rPr lang="ko-KR" altLang="en-US" sz="1600" dirty="0"/>
              <a:t>측면에서 이종 위성군의 성능을 분석 </a:t>
            </a:r>
            <a:endParaRPr lang="en-US" altLang="ko-KR" sz="1600" dirty="0"/>
          </a:p>
          <a:p>
            <a:pPr lvl="1">
              <a:lnSpc>
                <a:spcPct val="150000"/>
              </a:lnSpc>
              <a:defRPr/>
            </a:pPr>
            <a:endParaRPr lang="en-US" altLang="ko-KR" sz="1600" dirty="0"/>
          </a:p>
          <a:p>
            <a:pPr lvl="1">
              <a:lnSpc>
                <a:spcPct val="150000"/>
              </a:lnSpc>
              <a:defRPr/>
            </a:pPr>
            <a:endParaRPr lang="en-US" altLang="ko-KR" sz="1600" dirty="0"/>
          </a:p>
          <a:p>
            <a:pPr lvl="1">
              <a:lnSpc>
                <a:spcPct val="150000"/>
              </a:lnSpc>
              <a:defRPr/>
            </a:pPr>
            <a:endParaRPr lang="en-US" altLang="ko-KR" sz="1600" dirty="0"/>
          </a:p>
          <a:p>
            <a:pPr lvl="1">
              <a:lnSpc>
                <a:spcPct val="150000"/>
              </a:lnSpc>
              <a:defRPr/>
            </a:pPr>
            <a:endParaRPr lang="en-US" altLang="ko-KR" sz="1600" dirty="0"/>
          </a:p>
          <a:p>
            <a:pPr marL="216000" lvl="1" indent="0">
              <a:lnSpc>
                <a:spcPct val="150000"/>
              </a:lnSpc>
              <a:buNone/>
              <a:defRPr/>
            </a:pPr>
            <a:endParaRPr lang="en-US" altLang="ko-KR" sz="1600" dirty="0"/>
          </a:p>
          <a:p>
            <a:pPr lvl="1">
              <a:lnSpc>
                <a:spcPct val="150000"/>
              </a:lnSpc>
              <a:defRPr/>
            </a:pPr>
            <a:endParaRPr lang="ko-KR" altLang="en-US" sz="1600" dirty="0"/>
          </a:p>
          <a:p>
            <a:pPr lvl="1">
              <a:defRPr/>
            </a:pPr>
            <a:endParaRPr lang="en-US" altLang="ko-KR" sz="16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E761730-F884-87F5-7ACF-A8572AF1E0B9}"/>
              </a:ext>
            </a:extLst>
          </p:cNvPr>
          <p:cNvSpPr txBox="1"/>
          <p:nvPr/>
        </p:nvSpPr>
        <p:spPr>
          <a:xfrm>
            <a:off x="-78130" y="6012626"/>
            <a:ext cx="8629837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32000" lvl="2">
              <a:defRPr/>
            </a:pPr>
            <a:r>
              <a:rPr lang="ko-KR" altLang="en-US" sz="1000" b="1" dirty="0"/>
              <a:t>출처 </a:t>
            </a:r>
            <a:r>
              <a:rPr lang="en-US" altLang="ko-KR" sz="1000" b="1" dirty="0"/>
              <a:t>: (A Framework for Heterogeneous Satellite Constellation Design for Rapid Response Earth Observations, 2019 Ibrahim Sanad)</a:t>
            </a:r>
          </a:p>
        </p:txBody>
      </p:sp>
    </p:spTree>
    <p:extLst>
      <p:ext uri="{BB962C8B-B14F-4D97-AF65-F5344CB8AC3E}">
        <p14:creationId xmlns:p14="http://schemas.microsoft.com/office/powerpoint/2010/main" val="2009425448"/>
      </p:ext>
    </p:extLst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10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dirty="0"/>
              <a:t>이종위성군 선행연구자료</a:t>
            </a:r>
          </a:p>
        </p:txBody>
      </p:sp>
      <p:sp>
        <p:nvSpPr>
          <p:cNvPr id="10" name="내용 개체 틀 2"/>
          <p:cNvSpPr txBox="1"/>
          <p:nvPr/>
        </p:nvSpPr>
        <p:spPr>
          <a:xfrm>
            <a:off x="257081" y="1050263"/>
            <a:ext cx="8465679" cy="5376968"/>
          </a:xfrm>
          <a:prstGeom prst="rect">
            <a:avLst/>
          </a:prstGeom>
        </p:spPr>
        <p:txBody>
          <a:bodyPr vert="horz" lIns="91440" tIns="45720" rIns="91440" bIns="45720">
            <a:noAutofit/>
          </a:bodyPr>
          <a:lstStyle>
            <a:lvl1pPr marL="228600" indent="-360000" algn="l" defTabSz="914400" rtl="0" eaLnBrk="1" latinLnBrk="1" hangingPunct="1">
              <a:lnSpc>
                <a:spcPct val="100000"/>
              </a:lnSpc>
              <a:spcBef>
                <a:spcPts val="1000"/>
              </a:spcBef>
              <a:buFont typeface="Wingdings"/>
              <a:buChar char="v"/>
              <a:defRPr sz="2400" b="1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1pPr>
            <a:lvl2pPr marL="540000" indent="-324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Wingdings"/>
              <a:buChar char="u"/>
              <a:defRPr sz="1800" b="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2pPr>
            <a:lvl3pPr marL="720000" indent="-288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Wingdings"/>
              <a:buChar char="Ø"/>
              <a:defRPr sz="160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3pPr>
            <a:lvl4pPr marL="900000" indent="-252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Wingdings"/>
              <a:buChar char="ü"/>
              <a:defRPr sz="140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4pPr>
            <a:lvl5pPr marL="1080000" indent="-252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  <a:defRPr/>
            </a:pPr>
            <a:r>
              <a:rPr lang="en-US" altLang="ko-KR" sz="2200" b="1" dirty="0"/>
              <a:t>[8] </a:t>
            </a:r>
            <a:r>
              <a:rPr lang="ko-KR" altLang="en-US" sz="2200" b="1" dirty="0"/>
              <a:t>결과 분석</a:t>
            </a:r>
            <a:r>
              <a:rPr lang="en-US" altLang="ko-KR" sz="2200" b="1" dirty="0"/>
              <a:t>(Imaging Constellation)</a:t>
            </a:r>
          </a:p>
          <a:p>
            <a:pPr marL="0" indent="0">
              <a:lnSpc>
                <a:spcPct val="150000"/>
              </a:lnSpc>
              <a:buNone/>
              <a:defRPr/>
            </a:pPr>
            <a:endParaRPr lang="en-US" altLang="ko-KR" sz="2200" dirty="0"/>
          </a:p>
          <a:p>
            <a:pPr marL="0" indent="0">
              <a:lnSpc>
                <a:spcPct val="150000"/>
              </a:lnSpc>
              <a:buNone/>
              <a:defRPr/>
            </a:pPr>
            <a:endParaRPr lang="en-US" altLang="ko-KR" sz="2200" b="1" dirty="0"/>
          </a:p>
          <a:p>
            <a:pPr marL="0" indent="0">
              <a:lnSpc>
                <a:spcPct val="150000"/>
              </a:lnSpc>
              <a:buNone/>
              <a:defRPr/>
            </a:pPr>
            <a:endParaRPr lang="en-US" altLang="ko-KR" sz="2200" dirty="0"/>
          </a:p>
          <a:p>
            <a:pPr marL="0" indent="0">
              <a:lnSpc>
                <a:spcPct val="150000"/>
              </a:lnSpc>
              <a:buNone/>
              <a:defRPr/>
            </a:pPr>
            <a:endParaRPr lang="en-US" altLang="ko-KR" sz="2200" b="1" dirty="0"/>
          </a:p>
          <a:p>
            <a:pPr marL="0" indent="0">
              <a:lnSpc>
                <a:spcPct val="150000"/>
              </a:lnSpc>
              <a:buNone/>
              <a:defRPr/>
            </a:pPr>
            <a:endParaRPr lang="en-US" altLang="ko-KR" sz="2200" b="1" dirty="0"/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u"/>
              <a:defRPr/>
            </a:pPr>
            <a:r>
              <a:rPr lang="en-US" altLang="ko-KR" sz="1600" b="1" dirty="0"/>
              <a:t>FOV</a:t>
            </a:r>
            <a:r>
              <a:rPr lang="ko-KR" altLang="en-US" sz="1600" b="1" dirty="0"/>
              <a:t>에 따른 센서의 감지 폭과 위성의 고도의 관계</a:t>
            </a:r>
            <a:endParaRPr lang="en-US" altLang="ko-KR" sz="1600" b="1" dirty="0"/>
          </a:p>
          <a:p>
            <a:pPr lvl="1">
              <a:lnSpc>
                <a:spcPct val="150000"/>
              </a:lnSpc>
              <a:defRPr/>
            </a:pPr>
            <a:endParaRPr lang="en-US" altLang="ko-KR" sz="1600" dirty="0"/>
          </a:p>
          <a:p>
            <a:pPr lvl="1">
              <a:lnSpc>
                <a:spcPct val="150000"/>
              </a:lnSpc>
              <a:defRPr/>
            </a:pPr>
            <a:endParaRPr lang="en-US" altLang="ko-KR" sz="1600" dirty="0"/>
          </a:p>
          <a:p>
            <a:pPr lvl="1">
              <a:lnSpc>
                <a:spcPct val="150000"/>
              </a:lnSpc>
              <a:defRPr/>
            </a:pPr>
            <a:endParaRPr lang="en-US" altLang="ko-KR" sz="1600" dirty="0"/>
          </a:p>
          <a:p>
            <a:pPr marL="216000" lvl="1" indent="0">
              <a:lnSpc>
                <a:spcPct val="150000"/>
              </a:lnSpc>
              <a:buNone/>
              <a:defRPr/>
            </a:pPr>
            <a:endParaRPr lang="en-US" altLang="ko-KR" sz="1600" dirty="0"/>
          </a:p>
          <a:p>
            <a:pPr lvl="1">
              <a:lnSpc>
                <a:spcPct val="150000"/>
              </a:lnSpc>
              <a:defRPr/>
            </a:pPr>
            <a:endParaRPr lang="ko-KR" altLang="en-US" sz="1600" dirty="0"/>
          </a:p>
          <a:p>
            <a:pPr lvl="1">
              <a:defRPr/>
            </a:pPr>
            <a:endParaRPr lang="en-US" altLang="ko-KR" sz="16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E761730-F884-87F5-7ACF-A8572AF1E0B9}"/>
              </a:ext>
            </a:extLst>
          </p:cNvPr>
          <p:cNvSpPr txBox="1"/>
          <p:nvPr/>
        </p:nvSpPr>
        <p:spPr>
          <a:xfrm>
            <a:off x="-78130" y="6012626"/>
            <a:ext cx="8629837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32000" lvl="2">
              <a:defRPr/>
            </a:pPr>
            <a:r>
              <a:rPr lang="ko-KR" altLang="en-US" sz="1000" b="1" dirty="0"/>
              <a:t>출처 </a:t>
            </a:r>
            <a:r>
              <a:rPr lang="en-US" altLang="ko-KR" sz="1000" b="1" dirty="0"/>
              <a:t>: (A Framework for Heterogeneous Satellite Constellation Design for Rapid Response Earth Observations, 2019 Ibrahim Sanad)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9EE25061-BD9A-0FA8-C1C9-E02EF2A267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3710" y="1736495"/>
            <a:ext cx="3976099" cy="30106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5394549"/>
      </p:ext>
    </p:extLst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그림 12">
            <a:extLst>
              <a:ext uri="{FF2B5EF4-FFF2-40B4-BE49-F238E27FC236}">
                <a16:creationId xmlns:a16="http://schemas.microsoft.com/office/drawing/2014/main" id="{5956D54E-E034-CF1B-3D6B-664B364260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1118" y="1708621"/>
            <a:ext cx="4210050" cy="3038475"/>
          </a:xfrm>
          <a:prstGeom prst="rect">
            <a:avLst/>
          </a:prstGeom>
        </p:spPr>
      </p:pic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11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dirty="0"/>
              <a:t>이종위성군 선행연구자료</a:t>
            </a:r>
          </a:p>
        </p:txBody>
      </p:sp>
      <p:sp>
        <p:nvSpPr>
          <p:cNvPr id="10" name="내용 개체 틀 2"/>
          <p:cNvSpPr txBox="1"/>
          <p:nvPr/>
        </p:nvSpPr>
        <p:spPr>
          <a:xfrm>
            <a:off x="257081" y="1050263"/>
            <a:ext cx="8465679" cy="5376968"/>
          </a:xfrm>
          <a:prstGeom prst="rect">
            <a:avLst/>
          </a:prstGeom>
        </p:spPr>
        <p:txBody>
          <a:bodyPr vert="horz" lIns="91440" tIns="45720" rIns="91440" bIns="45720">
            <a:noAutofit/>
          </a:bodyPr>
          <a:lstStyle>
            <a:lvl1pPr marL="228600" indent="-360000" algn="l" defTabSz="914400" rtl="0" eaLnBrk="1" latinLnBrk="1" hangingPunct="1">
              <a:lnSpc>
                <a:spcPct val="100000"/>
              </a:lnSpc>
              <a:spcBef>
                <a:spcPts val="1000"/>
              </a:spcBef>
              <a:buFont typeface="Wingdings"/>
              <a:buChar char="v"/>
              <a:defRPr sz="2400" b="1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1pPr>
            <a:lvl2pPr marL="540000" indent="-324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Wingdings"/>
              <a:buChar char="u"/>
              <a:defRPr sz="1800" b="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2pPr>
            <a:lvl3pPr marL="720000" indent="-288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Wingdings"/>
              <a:buChar char="Ø"/>
              <a:defRPr sz="160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3pPr>
            <a:lvl4pPr marL="900000" indent="-252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Wingdings"/>
              <a:buChar char="ü"/>
              <a:defRPr sz="140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4pPr>
            <a:lvl5pPr marL="1080000" indent="-252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  <a:defRPr/>
            </a:pPr>
            <a:r>
              <a:rPr lang="en-US" altLang="ko-KR" sz="2200" b="1" dirty="0"/>
              <a:t>[8] </a:t>
            </a:r>
            <a:r>
              <a:rPr lang="ko-KR" altLang="en-US" sz="2200" b="1" dirty="0"/>
              <a:t>결과 분석</a:t>
            </a:r>
            <a:r>
              <a:rPr lang="en-US" altLang="ko-KR" sz="2200" b="1" dirty="0"/>
              <a:t>(Imaging Constellation)</a:t>
            </a:r>
          </a:p>
          <a:p>
            <a:pPr marL="0" indent="0">
              <a:lnSpc>
                <a:spcPct val="150000"/>
              </a:lnSpc>
              <a:buNone/>
              <a:defRPr/>
            </a:pPr>
            <a:endParaRPr lang="en-US" altLang="ko-KR" sz="2200" dirty="0"/>
          </a:p>
          <a:p>
            <a:pPr marL="0" indent="0">
              <a:lnSpc>
                <a:spcPct val="150000"/>
              </a:lnSpc>
              <a:buNone/>
              <a:defRPr/>
            </a:pPr>
            <a:endParaRPr lang="en-US" altLang="ko-KR" sz="2200" b="1" dirty="0"/>
          </a:p>
          <a:p>
            <a:pPr marL="0" indent="0">
              <a:lnSpc>
                <a:spcPct val="150000"/>
              </a:lnSpc>
              <a:buNone/>
              <a:defRPr/>
            </a:pPr>
            <a:endParaRPr lang="en-US" altLang="ko-KR" sz="2200" dirty="0"/>
          </a:p>
          <a:p>
            <a:pPr marL="0" indent="0">
              <a:lnSpc>
                <a:spcPct val="150000"/>
              </a:lnSpc>
              <a:buNone/>
              <a:defRPr/>
            </a:pPr>
            <a:endParaRPr lang="en-US" altLang="ko-KR" sz="2200" b="1" dirty="0"/>
          </a:p>
          <a:p>
            <a:pPr marL="0" indent="0">
              <a:lnSpc>
                <a:spcPct val="150000"/>
              </a:lnSpc>
              <a:buNone/>
              <a:defRPr/>
            </a:pPr>
            <a:endParaRPr lang="en-US" altLang="ko-KR" sz="2200" b="1" dirty="0"/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u"/>
              <a:defRPr/>
            </a:pPr>
            <a:r>
              <a:rPr lang="ko-KR" altLang="en-US" sz="1600" b="1" dirty="0"/>
              <a:t>위성 수에 따른 낮 시간 동안의 커버리지 비율과 </a:t>
            </a:r>
            <a:r>
              <a:rPr lang="en-US" altLang="ko-KR" sz="1600" b="1" dirty="0"/>
              <a:t>SSO</a:t>
            </a:r>
            <a:r>
              <a:rPr lang="ko-KR" altLang="en-US" sz="1600" b="1" dirty="0"/>
              <a:t>의 고도의 관계</a:t>
            </a:r>
            <a:endParaRPr lang="en-US" altLang="ko-KR" sz="1600" b="1" dirty="0"/>
          </a:p>
          <a:p>
            <a:pPr marL="654300" lvl="1" indent="-342900">
              <a:lnSpc>
                <a:spcPct val="150000"/>
              </a:lnSpc>
              <a:buFont typeface="Wingdings" panose="05000000000000000000" pitchFamily="2" charset="2"/>
              <a:buChar char="Ø"/>
              <a:defRPr/>
            </a:pPr>
            <a:r>
              <a:rPr lang="en-US" altLang="ko-KR" sz="140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cs typeface="Times New Roman" panose="02020603050405020304" pitchFamily="18" charset="0"/>
              </a:rPr>
              <a:t>FOV : 20</a:t>
            </a:r>
            <a:r>
              <a:rPr lang="ko-KR" altLang="en-US" sz="1400" dirty="0">
                <a:solidFill>
                  <a:srgbClr val="000000"/>
                </a:solidFill>
                <a:latin typeface="맑은 고딕" panose="020B0503020000020004" pitchFamily="50" charset="-127"/>
                <a:cs typeface="Times New Roman" panose="02020603050405020304" pitchFamily="18" charset="0"/>
              </a:rPr>
              <a:t>˚</a:t>
            </a:r>
            <a:endParaRPr lang="en-US" altLang="ko-KR" sz="1400" dirty="0">
              <a:solidFill>
                <a:srgbClr val="000000"/>
              </a:solidFill>
              <a:effectLst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marL="654300" lvl="1" indent="-342900">
              <a:lnSpc>
                <a:spcPct val="150000"/>
              </a:lnSpc>
              <a:buFont typeface="Wingdings" panose="05000000000000000000" pitchFamily="2" charset="2"/>
              <a:buChar char="u"/>
              <a:defRPr/>
            </a:pPr>
            <a:endParaRPr lang="en-US" altLang="ko-KR" sz="1000" dirty="0"/>
          </a:p>
          <a:p>
            <a:pPr marL="0" indent="0">
              <a:lnSpc>
                <a:spcPct val="150000"/>
              </a:lnSpc>
              <a:buNone/>
              <a:defRPr/>
            </a:pPr>
            <a:endParaRPr lang="en-US" altLang="ko-KR" sz="1600" dirty="0"/>
          </a:p>
          <a:p>
            <a:pPr lvl="1">
              <a:lnSpc>
                <a:spcPct val="150000"/>
              </a:lnSpc>
              <a:defRPr/>
            </a:pPr>
            <a:endParaRPr lang="en-US" altLang="ko-KR" sz="1600" dirty="0"/>
          </a:p>
          <a:p>
            <a:pPr lvl="1">
              <a:lnSpc>
                <a:spcPct val="150000"/>
              </a:lnSpc>
              <a:defRPr/>
            </a:pPr>
            <a:endParaRPr lang="en-US" altLang="ko-KR" sz="1600" dirty="0"/>
          </a:p>
          <a:p>
            <a:pPr lvl="1">
              <a:lnSpc>
                <a:spcPct val="150000"/>
              </a:lnSpc>
              <a:defRPr/>
            </a:pPr>
            <a:endParaRPr lang="en-US" altLang="ko-KR" sz="1600" dirty="0"/>
          </a:p>
          <a:p>
            <a:pPr marL="216000" lvl="1" indent="0">
              <a:lnSpc>
                <a:spcPct val="150000"/>
              </a:lnSpc>
              <a:buNone/>
              <a:defRPr/>
            </a:pPr>
            <a:endParaRPr lang="en-US" altLang="ko-KR" sz="1600" dirty="0"/>
          </a:p>
          <a:p>
            <a:pPr lvl="1">
              <a:lnSpc>
                <a:spcPct val="150000"/>
              </a:lnSpc>
              <a:defRPr/>
            </a:pPr>
            <a:endParaRPr lang="ko-KR" altLang="en-US" sz="1600" dirty="0"/>
          </a:p>
          <a:p>
            <a:pPr lvl="1">
              <a:defRPr/>
            </a:pPr>
            <a:endParaRPr lang="en-US" altLang="ko-KR" sz="16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E761730-F884-87F5-7ACF-A8572AF1E0B9}"/>
              </a:ext>
            </a:extLst>
          </p:cNvPr>
          <p:cNvSpPr txBox="1"/>
          <p:nvPr/>
        </p:nvSpPr>
        <p:spPr>
          <a:xfrm>
            <a:off x="-78130" y="6012626"/>
            <a:ext cx="8629837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32000" lvl="2">
              <a:defRPr/>
            </a:pPr>
            <a:r>
              <a:rPr lang="ko-KR" altLang="en-US" sz="1000" b="1" dirty="0"/>
              <a:t>출처 </a:t>
            </a:r>
            <a:r>
              <a:rPr lang="en-US" altLang="ko-KR" sz="1000" b="1" dirty="0"/>
              <a:t>: (A Framework for Heterogeneous Satellite Constellation Design for Rapid Response Earth Observations, 2019 Ibrahim Sanad)</a:t>
            </a:r>
          </a:p>
        </p:txBody>
      </p:sp>
    </p:spTree>
    <p:extLst>
      <p:ext uri="{BB962C8B-B14F-4D97-AF65-F5344CB8AC3E}">
        <p14:creationId xmlns:p14="http://schemas.microsoft.com/office/powerpoint/2010/main" val="2118591995"/>
      </p:ext>
    </p:extLst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내용 개체 틀 2"/>
          <p:cNvSpPr txBox="1"/>
          <p:nvPr/>
        </p:nvSpPr>
        <p:spPr>
          <a:xfrm>
            <a:off x="257081" y="1050263"/>
            <a:ext cx="8465679" cy="5376968"/>
          </a:xfrm>
          <a:prstGeom prst="rect">
            <a:avLst/>
          </a:prstGeom>
        </p:spPr>
        <p:txBody>
          <a:bodyPr vert="horz" lIns="91440" tIns="45720" rIns="91440" bIns="45720">
            <a:noAutofit/>
          </a:bodyPr>
          <a:lstStyle>
            <a:lvl1pPr marL="228600" indent="-360000" algn="l" defTabSz="914400" rtl="0" eaLnBrk="1" latinLnBrk="1" hangingPunct="1">
              <a:lnSpc>
                <a:spcPct val="100000"/>
              </a:lnSpc>
              <a:spcBef>
                <a:spcPts val="1000"/>
              </a:spcBef>
              <a:buFont typeface="Wingdings"/>
              <a:buChar char="v"/>
              <a:defRPr sz="2400" b="1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1pPr>
            <a:lvl2pPr marL="540000" indent="-324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Wingdings"/>
              <a:buChar char="u"/>
              <a:defRPr sz="1800" b="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2pPr>
            <a:lvl3pPr marL="720000" indent="-288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Wingdings"/>
              <a:buChar char="Ø"/>
              <a:defRPr sz="160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3pPr>
            <a:lvl4pPr marL="900000" indent="-252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Wingdings"/>
              <a:buChar char="ü"/>
              <a:defRPr sz="140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4pPr>
            <a:lvl5pPr marL="1080000" indent="-252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  <a:defRPr/>
            </a:pPr>
            <a:r>
              <a:rPr lang="en-US" altLang="ko-KR" sz="2200" b="1" dirty="0"/>
              <a:t>[8] </a:t>
            </a:r>
            <a:r>
              <a:rPr lang="ko-KR" altLang="en-US" sz="2200" b="1" dirty="0"/>
              <a:t>결과 분석</a:t>
            </a:r>
            <a:r>
              <a:rPr lang="en-US" altLang="ko-KR" sz="2200" b="1" dirty="0"/>
              <a:t>(Imaging Constellation)</a:t>
            </a:r>
          </a:p>
          <a:p>
            <a:pPr marL="0" indent="0">
              <a:lnSpc>
                <a:spcPct val="150000"/>
              </a:lnSpc>
              <a:buNone/>
              <a:defRPr/>
            </a:pPr>
            <a:endParaRPr lang="en-US" altLang="ko-KR" sz="2200" dirty="0"/>
          </a:p>
          <a:p>
            <a:pPr marL="0" indent="0">
              <a:lnSpc>
                <a:spcPct val="150000"/>
              </a:lnSpc>
              <a:buNone/>
              <a:defRPr/>
            </a:pPr>
            <a:endParaRPr lang="en-US" altLang="ko-KR" sz="2200" b="1" dirty="0"/>
          </a:p>
          <a:p>
            <a:pPr marL="0" indent="0">
              <a:lnSpc>
                <a:spcPct val="150000"/>
              </a:lnSpc>
              <a:buNone/>
              <a:defRPr/>
            </a:pPr>
            <a:endParaRPr lang="en-US" altLang="ko-KR" sz="2200" dirty="0"/>
          </a:p>
          <a:p>
            <a:pPr marL="0" indent="0">
              <a:lnSpc>
                <a:spcPct val="150000"/>
              </a:lnSpc>
              <a:buNone/>
              <a:defRPr/>
            </a:pPr>
            <a:endParaRPr lang="en-US" altLang="ko-KR" sz="2200" b="1" dirty="0"/>
          </a:p>
          <a:p>
            <a:pPr marL="0" indent="0">
              <a:lnSpc>
                <a:spcPct val="150000"/>
              </a:lnSpc>
              <a:buNone/>
              <a:defRPr/>
            </a:pPr>
            <a:endParaRPr lang="en-US" altLang="ko-KR" sz="2200" b="1" dirty="0"/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u"/>
              <a:defRPr/>
            </a:pPr>
            <a:r>
              <a:rPr lang="ko-KR" altLang="en-US" sz="1600" b="1" dirty="0"/>
              <a:t>위성 수에 따른 낮 시간 동안의 커버리지 비율과 </a:t>
            </a:r>
            <a:r>
              <a:rPr lang="en-US" altLang="ko-KR" sz="1600" b="1" dirty="0"/>
              <a:t>FOV</a:t>
            </a:r>
            <a:r>
              <a:rPr lang="ko-KR" altLang="en-US" sz="1600" b="1" dirty="0"/>
              <a:t>의 관계</a:t>
            </a:r>
            <a:endParaRPr lang="en-US" altLang="ko-KR" sz="1600" b="1" dirty="0"/>
          </a:p>
          <a:p>
            <a:pPr marL="654300" lvl="1" indent="-342900">
              <a:lnSpc>
                <a:spcPct val="150000"/>
              </a:lnSpc>
              <a:buFont typeface="Wingdings" panose="05000000000000000000" pitchFamily="2" charset="2"/>
              <a:buChar char="Ø"/>
              <a:defRPr/>
            </a:pPr>
            <a:r>
              <a:rPr lang="ko-KR" altLang="en-US" sz="140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cs typeface="Times New Roman" panose="02020603050405020304" pitchFamily="18" charset="0"/>
              </a:rPr>
              <a:t>고도 </a:t>
            </a:r>
            <a:r>
              <a:rPr lang="en-US" altLang="ko-KR" sz="140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cs typeface="Times New Roman" panose="02020603050405020304" pitchFamily="18" charset="0"/>
              </a:rPr>
              <a:t>: 600km</a:t>
            </a:r>
            <a:endParaRPr lang="en-US" altLang="ko-KR" sz="1600" dirty="0"/>
          </a:p>
          <a:p>
            <a:pPr marL="0" indent="0">
              <a:lnSpc>
                <a:spcPct val="150000"/>
              </a:lnSpc>
              <a:buNone/>
              <a:defRPr/>
            </a:pPr>
            <a:endParaRPr lang="en-US" altLang="ko-KR" sz="1600" dirty="0"/>
          </a:p>
          <a:p>
            <a:pPr lvl="1">
              <a:lnSpc>
                <a:spcPct val="150000"/>
              </a:lnSpc>
              <a:defRPr/>
            </a:pPr>
            <a:endParaRPr lang="en-US" altLang="ko-KR" sz="1600" dirty="0"/>
          </a:p>
          <a:p>
            <a:pPr lvl="1">
              <a:lnSpc>
                <a:spcPct val="150000"/>
              </a:lnSpc>
              <a:defRPr/>
            </a:pPr>
            <a:endParaRPr lang="en-US" altLang="ko-KR" sz="1600" dirty="0"/>
          </a:p>
          <a:p>
            <a:pPr lvl="1">
              <a:lnSpc>
                <a:spcPct val="150000"/>
              </a:lnSpc>
              <a:defRPr/>
            </a:pPr>
            <a:endParaRPr lang="en-US" altLang="ko-KR" sz="1600" dirty="0"/>
          </a:p>
          <a:p>
            <a:pPr marL="216000" lvl="1" indent="0">
              <a:lnSpc>
                <a:spcPct val="150000"/>
              </a:lnSpc>
              <a:buNone/>
              <a:defRPr/>
            </a:pPr>
            <a:endParaRPr lang="en-US" altLang="ko-KR" sz="1600" dirty="0"/>
          </a:p>
          <a:p>
            <a:pPr lvl="1">
              <a:lnSpc>
                <a:spcPct val="150000"/>
              </a:lnSpc>
              <a:defRPr/>
            </a:pPr>
            <a:endParaRPr lang="ko-KR" altLang="en-US" sz="1600" dirty="0"/>
          </a:p>
          <a:p>
            <a:pPr lvl="1">
              <a:defRPr/>
            </a:pPr>
            <a:endParaRPr lang="en-US" altLang="ko-KR" sz="1600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F2911FF4-A8DB-FAEF-5B49-47075EB221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233" y="1709031"/>
            <a:ext cx="4238625" cy="3028950"/>
          </a:xfrm>
          <a:prstGeom prst="rect">
            <a:avLst/>
          </a:prstGeom>
        </p:spPr>
      </p:pic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12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dirty="0"/>
              <a:t>이종위성군 선행연구자료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E761730-F884-87F5-7ACF-A8572AF1E0B9}"/>
              </a:ext>
            </a:extLst>
          </p:cNvPr>
          <p:cNvSpPr txBox="1"/>
          <p:nvPr/>
        </p:nvSpPr>
        <p:spPr>
          <a:xfrm>
            <a:off x="-78130" y="6012626"/>
            <a:ext cx="8629837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32000" lvl="2">
              <a:defRPr/>
            </a:pPr>
            <a:r>
              <a:rPr lang="ko-KR" altLang="en-US" sz="1000" b="1" dirty="0"/>
              <a:t>출처 </a:t>
            </a:r>
            <a:r>
              <a:rPr lang="en-US" altLang="ko-KR" sz="1000" b="1" dirty="0"/>
              <a:t>: (A Framework for Heterogeneous Satellite Constellation Design for Rapid Response Earth Observations, 2019 Ibrahim Sanad)</a:t>
            </a:r>
          </a:p>
        </p:txBody>
      </p:sp>
    </p:spTree>
    <p:extLst>
      <p:ext uri="{BB962C8B-B14F-4D97-AF65-F5344CB8AC3E}">
        <p14:creationId xmlns:p14="http://schemas.microsoft.com/office/powerpoint/2010/main" val="3635478006"/>
      </p:ext>
    </p:extLst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>
            <a:extLst>
              <a:ext uri="{FF2B5EF4-FFF2-40B4-BE49-F238E27FC236}">
                <a16:creationId xmlns:a16="http://schemas.microsoft.com/office/drawing/2014/main" id="{F847CA64-70B7-47A6-B52D-7EEA6899DB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233" y="1664287"/>
            <a:ext cx="4248782" cy="3097890"/>
          </a:xfrm>
          <a:prstGeom prst="rect">
            <a:avLst/>
          </a:prstGeom>
        </p:spPr>
      </p:pic>
      <p:sp>
        <p:nvSpPr>
          <p:cNvPr id="10" name="내용 개체 틀 2"/>
          <p:cNvSpPr txBox="1"/>
          <p:nvPr/>
        </p:nvSpPr>
        <p:spPr>
          <a:xfrm>
            <a:off x="257081" y="1050263"/>
            <a:ext cx="8465679" cy="5376968"/>
          </a:xfrm>
          <a:prstGeom prst="rect">
            <a:avLst/>
          </a:prstGeom>
        </p:spPr>
        <p:txBody>
          <a:bodyPr vert="horz" lIns="91440" tIns="45720" rIns="91440" bIns="45720">
            <a:noAutofit/>
          </a:bodyPr>
          <a:lstStyle>
            <a:lvl1pPr marL="228600" indent="-360000" algn="l" defTabSz="914400" rtl="0" eaLnBrk="1" latinLnBrk="1" hangingPunct="1">
              <a:lnSpc>
                <a:spcPct val="100000"/>
              </a:lnSpc>
              <a:spcBef>
                <a:spcPts val="1000"/>
              </a:spcBef>
              <a:buFont typeface="Wingdings"/>
              <a:buChar char="v"/>
              <a:defRPr sz="2400" b="1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1pPr>
            <a:lvl2pPr marL="540000" indent="-324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Wingdings"/>
              <a:buChar char="u"/>
              <a:defRPr sz="1800" b="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2pPr>
            <a:lvl3pPr marL="720000" indent="-288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Wingdings"/>
              <a:buChar char="Ø"/>
              <a:defRPr sz="160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3pPr>
            <a:lvl4pPr marL="900000" indent="-252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Wingdings"/>
              <a:buChar char="ü"/>
              <a:defRPr sz="140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4pPr>
            <a:lvl5pPr marL="1080000" indent="-252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  <a:defRPr/>
            </a:pPr>
            <a:r>
              <a:rPr lang="en-US" altLang="ko-KR" sz="2200" b="1" dirty="0"/>
              <a:t>[8] </a:t>
            </a:r>
            <a:r>
              <a:rPr lang="ko-KR" altLang="en-US" sz="2200" b="1" dirty="0"/>
              <a:t>결과 분석</a:t>
            </a:r>
            <a:r>
              <a:rPr lang="en-US" altLang="ko-KR" sz="2200" b="1" dirty="0"/>
              <a:t>(Imaging Constellation)</a:t>
            </a:r>
          </a:p>
          <a:p>
            <a:pPr marL="0" indent="0">
              <a:lnSpc>
                <a:spcPct val="150000"/>
              </a:lnSpc>
              <a:buNone/>
              <a:defRPr/>
            </a:pPr>
            <a:endParaRPr lang="en-US" altLang="ko-KR" sz="2200" dirty="0"/>
          </a:p>
          <a:p>
            <a:pPr marL="0" indent="0">
              <a:lnSpc>
                <a:spcPct val="150000"/>
              </a:lnSpc>
              <a:buNone/>
              <a:defRPr/>
            </a:pPr>
            <a:endParaRPr lang="en-US" altLang="ko-KR" sz="2200" b="1" dirty="0"/>
          </a:p>
          <a:p>
            <a:pPr marL="0" indent="0">
              <a:lnSpc>
                <a:spcPct val="150000"/>
              </a:lnSpc>
              <a:buNone/>
              <a:defRPr/>
            </a:pPr>
            <a:endParaRPr lang="en-US" altLang="ko-KR" sz="2200" dirty="0"/>
          </a:p>
          <a:p>
            <a:pPr marL="0" indent="0">
              <a:lnSpc>
                <a:spcPct val="150000"/>
              </a:lnSpc>
              <a:buNone/>
              <a:defRPr/>
            </a:pPr>
            <a:endParaRPr lang="en-US" altLang="ko-KR" sz="2200" b="1" dirty="0"/>
          </a:p>
          <a:p>
            <a:pPr marL="0" indent="0">
              <a:lnSpc>
                <a:spcPct val="150000"/>
              </a:lnSpc>
              <a:buNone/>
              <a:defRPr/>
            </a:pPr>
            <a:endParaRPr lang="en-US" altLang="ko-KR" sz="2200" b="1" dirty="0"/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u"/>
              <a:defRPr/>
            </a:pPr>
            <a:r>
              <a:rPr lang="en-US" altLang="ko-KR" sz="1600" dirty="0"/>
              <a:t>FOV</a:t>
            </a:r>
            <a:r>
              <a:rPr lang="ko-KR" altLang="en-US" sz="1600" dirty="0"/>
              <a:t>에 따른 낮 시간 동안의 커버리지 비율과 초점거리</a:t>
            </a:r>
            <a:r>
              <a:rPr lang="en-US" altLang="ko-KR" sz="1600" dirty="0"/>
              <a:t>(f)</a:t>
            </a:r>
            <a:r>
              <a:rPr lang="ko-KR" altLang="en-US" sz="1600" dirty="0"/>
              <a:t>의 관계</a:t>
            </a:r>
            <a:endParaRPr lang="en-US" altLang="ko-KR" sz="1600" dirty="0"/>
          </a:p>
          <a:p>
            <a:pPr marL="654300" lvl="1" indent="-342900">
              <a:lnSpc>
                <a:spcPct val="150000"/>
              </a:lnSpc>
              <a:buFont typeface="Wingdings" panose="05000000000000000000" pitchFamily="2" charset="2"/>
              <a:buChar char="Ø"/>
              <a:defRPr/>
            </a:pPr>
            <a:r>
              <a:rPr lang="en-US" altLang="ko-KR" sz="140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cs typeface="Times New Roman" panose="02020603050405020304" pitchFamily="18" charset="0"/>
              </a:rPr>
              <a:t>1 </a:t>
            </a:r>
            <a:r>
              <a:rPr lang="en-US" altLang="ko-KR" sz="1400" dirty="0" err="1">
                <a:solidFill>
                  <a:srgbClr val="000000"/>
                </a:solidFill>
                <a:effectLst/>
                <a:latin typeface="맑은 고딕" panose="020B0503020000020004" pitchFamily="50" charset="-127"/>
                <a:cs typeface="Times New Roman" panose="02020603050405020304" pitchFamily="18" charset="0"/>
              </a:rPr>
              <a:t>μm</a:t>
            </a:r>
            <a:r>
              <a:rPr lang="ko-KR" altLang="ko-KR" sz="1400" dirty="0">
                <a:solidFill>
                  <a:srgbClr val="000000"/>
                </a:solidFill>
                <a:effectLst/>
                <a:ea typeface="맑은 고딕" panose="020B0503020000020004" pitchFamily="50" charset="-127"/>
                <a:cs typeface="Times New Roman" panose="02020603050405020304" pitchFamily="18" charset="0"/>
              </a:rPr>
              <a:t>의 센서</a:t>
            </a:r>
            <a:r>
              <a:rPr lang="en-US" altLang="ko-KR" sz="1400" dirty="0">
                <a:solidFill>
                  <a:srgbClr val="000000"/>
                </a:solidFill>
                <a:effectLst/>
                <a:ea typeface="맑은 고딕" panose="020B0503020000020004" pitchFamily="50" charset="-127"/>
                <a:cs typeface="Times New Roman" panose="02020603050405020304" pitchFamily="18" charset="0"/>
              </a:rPr>
              <a:t> DP</a:t>
            </a:r>
            <a:r>
              <a:rPr lang="ko-KR" altLang="ko-KR" sz="1400" dirty="0">
                <a:solidFill>
                  <a:srgbClr val="000000"/>
                </a:solidFill>
                <a:effectLst/>
                <a:ea typeface="맑은 고딕" panose="020B0503020000020004" pitchFamily="50" charset="-127"/>
                <a:cs typeface="Times New Roman" panose="02020603050405020304" pitchFamily="18" charset="0"/>
              </a:rPr>
              <a:t>를 이용하여</a:t>
            </a:r>
            <a:r>
              <a:rPr lang="en-US" altLang="ko-KR" sz="1400" dirty="0">
                <a:solidFill>
                  <a:srgbClr val="000000"/>
                </a:solidFill>
                <a:effectLst/>
                <a:ea typeface="맑은 고딕" panose="020B0503020000020004" pitchFamily="50" charset="-127"/>
                <a:cs typeface="Times New Roman" panose="02020603050405020304" pitchFamily="18" charset="0"/>
              </a:rPr>
              <a:t> 5m GSD</a:t>
            </a:r>
            <a:r>
              <a:rPr lang="ko-KR" altLang="ko-KR" sz="1400" dirty="0">
                <a:solidFill>
                  <a:srgbClr val="000000"/>
                </a:solidFill>
                <a:effectLst/>
                <a:ea typeface="맑은 고딕" panose="020B0503020000020004" pitchFamily="50" charset="-127"/>
                <a:cs typeface="Times New Roman" panose="02020603050405020304" pitchFamily="18" charset="0"/>
              </a:rPr>
              <a:t>를 달성하기 위한 초점거리</a:t>
            </a:r>
            <a:endParaRPr lang="en-US" altLang="ko-KR" sz="1400" dirty="0">
              <a:solidFill>
                <a:srgbClr val="000000"/>
              </a:solidFill>
              <a:effectLst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marL="654300" lvl="1" indent="-342900">
              <a:lnSpc>
                <a:spcPct val="150000"/>
              </a:lnSpc>
              <a:buFont typeface="Wingdings" panose="05000000000000000000" pitchFamily="2" charset="2"/>
              <a:buChar char="Ø"/>
              <a:defRPr/>
            </a:pPr>
            <a:r>
              <a:rPr lang="ko-KR" altLang="en-US" sz="1400" dirty="0">
                <a:solidFill>
                  <a:srgbClr val="000000"/>
                </a:solidFill>
                <a:ea typeface="맑은 고딕" panose="020B0503020000020004" pitchFamily="50" charset="-127"/>
                <a:cs typeface="Times New Roman" panose="02020603050405020304" pitchFamily="18" charset="0"/>
              </a:rPr>
              <a:t>위성의 고도 </a:t>
            </a:r>
            <a:r>
              <a:rPr lang="en-US" altLang="ko-KR" sz="1400" dirty="0">
                <a:solidFill>
                  <a:srgbClr val="000000"/>
                </a:solidFill>
                <a:ea typeface="맑은 고딕" panose="020B0503020000020004" pitchFamily="50" charset="-127"/>
                <a:cs typeface="Times New Roman" panose="02020603050405020304" pitchFamily="18" charset="0"/>
              </a:rPr>
              <a:t>: 600km / SSO</a:t>
            </a:r>
            <a:r>
              <a:rPr lang="ko-KR" altLang="en-US" sz="1400" dirty="0">
                <a:solidFill>
                  <a:srgbClr val="000000"/>
                </a:solidFill>
                <a:ea typeface="맑은 고딕" panose="020B0503020000020004" pitchFamily="50" charset="-127"/>
                <a:cs typeface="Times New Roman" panose="02020603050405020304" pitchFamily="18" charset="0"/>
              </a:rPr>
              <a:t> </a:t>
            </a:r>
            <a:r>
              <a:rPr lang="ko-KR" altLang="en-US" sz="1400" dirty="0" err="1">
                <a:solidFill>
                  <a:srgbClr val="000000"/>
                </a:solidFill>
                <a:ea typeface="맑은 고딕" panose="020B0503020000020004" pitchFamily="50" charset="-127"/>
                <a:cs typeface="Times New Roman" panose="02020603050405020304" pitchFamily="18" charset="0"/>
              </a:rPr>
              <a:t>위성군</a:t>
            </a:r>
            <a:r>
              <a:rPr lang="ko-KR" altLang="en-US" sz="1400" dirty="0">
                <a:solidFill>
                  <a:srgbClr val="000000"/>
                </a:solidFill>
                <a:ea typeface="맑은 고딕" panose="020B0503020000020004" pitchFamily="50" charset="-127"/>
                <a:cs typeface="Times New Roman" panose="02020603050405020304" pitchFamily="18" charset="0"/>
              </a:rPr>
              <a:t> </a:t>
            </a:r>
            <a:r>
              <a:rPr lang="en-US" altLang="ko-KR" sz="1400" dirty="0">
                <a:solidFill>
                  <a:srgbClr val="000000"/>
                </a:solidFill>
                <a:ea typeface="맑은 고딕" panose="020B0503020000020004" pitchFamily="50" charset="-127"/>
                <a:cs typeface="Times New Roman" panose="02020603050405020304" pitchFamily="18" charset="0"/>
              </a:rPr>
              <a:t>: 4</a:t>
            </a:r>
            <a:r>
              <a:rPr lang="ko-KR" altLang="en-US" sz="1400" dirty="0">
                <a:solidFill>
                  <a:srgbClr val="000000"/>
                </a:solidFill>
                <a:ea typeface="맑은 고딕" panose="020B0503020000020004" pitchFamily="50" charset="-127"/>
                <a:cs typeface="Times New Roman" panose="02020603050405020304" pitchFamily="18" charset="0"/>
              </a:rPr>
              <a:t>대</a:t>
            </a:r>
            <a:endParaRPr lang="en-US" altLang="ko-KR" sz="1400" dirty="0"/>
          </a:p>
          <a:p>
            <a:pPr marL="396000" lvl="2" indent="0">
              <a:lnSpc>
                <a:spcPct val="150000"/>
              </a:lnSpc>
              <a:buNone/>
              <a:defRPr/>
            </a:pPr>
            <a:endParaRPr lang="ko-KR" altLang="en-US" sz="1400" dirty="0"/>
          </a:p>
          <a:p>
            <a:pPr lvl="2">
              <a:defRPr/>
            </a:pPr>
            <a:endParaRPr lang="en-US" altLang="ko-KR" sz="1400" dirty="0"/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13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dirty="0"/>
              <a:t>이종위성군 선행연구자료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E761730-F884-87F5-7ACF-A8572AF1E0B9}"/>
              </a:ext>
            </a:extLst>
          </p:cNvPr>
          <p:cNvSpPr txBox="1"/>
          <p:nvPr/>
        </p:nvSpPr>
        <p:spPr>
          <a:xfrm>
            <a:off x="-78130" y="6012626"/>
            <a:ext cx="8629837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32000" lvl="2">
              <a:defRPr/>
            </a:pPr>
            <a:r>
              <a:rPr lang="ko-KR" altLang="en-US" sz="1000" b="1" dirty="0"/>
              <a:t>출처 </a:t>
            </a:r>
            <a:r>
              <a:rPr lang="en-US" altLang="ko-KR" sz="1000" b="1" dirty="0"/>
              <a:t>: (A Framework for Heterogeneous Satellite Constellation Design for Rapid Response Earth Observations, 2019 Ibrahim Sanad)</a:t>
            </a:r>
          </a:p>
        </p:txBody>
      </p:sp>
    </p:spTree>
    <p:extLst>
      <p:ext uri="{BB962C8B-B14F-4D97-AF65-F5344CB8AC3E}">
        <p14:creationId xmlns:p14="http://schemas.microsoft.com/office/powerpoint/2010/main" val="2921214383"/>
      </p:ext>
    </p:extLst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>
            <a:extLst>
              <a:ext uri="{FF2B5EF4-FFF2-40B4-BE49-F238E27FC236}">
                <a16:creationId xmlns:a16="http://schemas.microsoft.com/office/drawing/2014/main" id="{F847CA64-70B7-47A6-B52D-7EEA6899DB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233" y="1664287"/>
            <a:ext cx="4248782" cy="3097890"/>
          </a:xfrm>
          <a:prstGeom prst="rect">
            <a:avLst/>
          </a:prstGeom>
        </p:spPr>
      </p:pic>
      <p:sp>
        <p:nvSpPr>
          <p:cNvPr id="10" name="내용 개체 틀 2"/>
          <p:cNvSpPr txBox="1"/>
          <p:nvPr/>
        </p:nvSpPr>
        <p:spPr>
          <a:xfrm>
            <a:off x="257081" y="1050263"/>
            <a:ext cx="8465679" cy="5376968"/>
          </a:xfrm>
          <a:prstGeom prst="rect">
            <a:avLst/>
          </a:prstGeom>
        </p:spPr>
        <p:txBody>
          <a:bodyPr vert="horz" lIns="91440" tIns="45720" rIns="91440" bIns="45720">
            <a:noAutofit/>
          </a:bodyPr>
          <a:lstStyle>
            <a:lvl1pPr marL="228600" indent="-360000" algn="l" defTabSz="914400" rtl="0" eaLnBrk="1" latinLnBrk="1" hangingPunct="1">
              <a:lnSpc>
                <a:spcPct val="100000"/>
              </a:lnSpc>
              <a:spcBef>
                <a:spcPts val="1000"/>
              </a:spcBef>
              <a:buFont typeface="Wingdings"/>
              <a:buChar char="v"/>
              <a:defRPr sz="2400" b="1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1pPr>
            <a:lvl2pPr marL="540000" indent="-324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Wingdings"/>
              <a:buChar char="u"/>
              <a:defRPr sz="1800" b="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2pPr>
            <a:lvl3pPr marL="720000" indent="-288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Wingdings"/>
              <a:buChar char="Ø"/>
              <a:defRPr sz="160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3pPr>
            <a:lvl4pPr marL="900000" indent="-252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Wingdings"/>
              <a:buChar char="ü"/>
              <a:defRPr sz="140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4pPr>
            <a:lvl5pPr marL="1080000" indent="-252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  <a:defRPr/>
            </a:pPr>
            <a:r>
              <a:rPr lang="en-US" altLang="ko-KR" sz="2200" b="1" dirty="0"/>
              <a:t>[8] </a:t>
            </a:r>
            <a:r>
              <a:rPr lang="ko-KR" altLang="en-US" sz="2200" b="1" dirty="0"/>
              <a:t>결과 분석</a:t>
            </a:r>
            <a:r>
              <a:rPr lang="en-US" altLang="ko-KR" sz="2200" b="1" dirty="0"/>
              <a:t>(Imaging Constellation)</a:t>
            </a:r>
          </a:p>
          <a:p>
            <a:pPr marL="0" indent="0">
              <a:lnSpc>
                <a:spcPct val="150000"/>
              </a:lnSpc>
              <a:buNone/>
              <a:defRPr/>
            </a:pPr>
            <a:endParaRPr lang="en-US" altLang="ko-KR" sz="2200" dirty="0"/>
          </a:p>
          <a:p>
            <a:pPr marL="0" indent="0">
              <a:lnSpc>
                <a:spcPct val="150000"/>
              </a:lnSpc>
              <a:buNone/>
              <a:defRPr/>
            </a:pPr>
            <a:endParaRPr lang="en-US" altLang="ko-KR" sz="2200" b="1" dirty="0"/>
          </a:p>
          <a:p>
            <a:pPr marL="0" indent="0">
              <a:lnSpc>
                <a:spcPct val="150000"/>
              </a:lnSpc>
              <a:buNone/>
              <a:defRPr/>
            </a:pPr>
            <a:endParaRPr lang="en-US" altLang="ko-KR" sz="2200" dirty="0"/>
          </a:p>
          <a:p>
            <a:pPr marL="0" indent="0">
              <a:lnSpc>
                <a:spcPct val="150000"/>
              </a:lnSpc>
              <a:buNone/>
              <a:defRPr/>
            </a:pPr>
            <a:endParaRPr lang="en-US" altLang="ko-KR" sz="2200" b="1" dirty="0"/>
          </a:p>
          <a:p>
            <a:pPr marL="0" indent="0">
              <a:lnSpc>
                <a:spcPct val="150000"/>
              </a:lnSpc>
              <a:buNone/>
              <a:defRPr/>
            </a:pPr>
            <a:endParaRPr lang="en-US" altLang="ko-KR" sz="2200" b="1" dirty="0"/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u"/>
              <a:defRPr/>
            </a:pPr>
            <a:r>
              <a:rPr lang="en-US" altLang="ko-KR" sz="1600" dirty="0"/>
              <a:t>FOV</a:t>
            </a:r>
            <a:r>
              <a:rPr lang="ko-KR" altLang="en-US" sz="1600" dirty="0"/>
              <a:t>에 따른 낮 시간 동안의 커버리지 비율과 초점거리</a:t>
            </a:r>
            <a:r>
              <a:rPr lang="en-US" altLang="ko-KR" sz="1600" dirty="0"/>
              <a:t>(f)</a:t>
            </a:r>
            <a:r>
              <a:rPr lang="ko-KR" altLang="en-US" sz="1600" dirty="0"/>
              <a:t>의 관계</a:t>
            </a:r>
            <a:endParaRPr lang="en-US" altLang="ko-KR" sz="1600" dirty="0"/>
          </a:p>
          <a:p>
            <a:pPr marL="654300" lvl="1" indent="-342900">
              <a:lnSpc>
                <a:spcPct val="150000"/>
              </a:lnSpc>
              <a:buFont typeface="Wingdings" panose="05000000000000000000" pitchFamily="2" charset="2"/>
              <a:buChar char="Ø"/>
              <a:defRPr/>
            </a:pPr>
            <a:r>
              <a:rPr lang="en-US" altLang="ko-KR" sz="140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cs typeface="Times New Roman" panose="02020603050405020304" pitchFamily="18" charset="0"/>
              </a:rPr>
              <a:t>1 </a:t>
            </a:r>
            <a:r>
              <a:rPr lang="en-US" altLang="ko-KR" sz="1400" dirty="0" err="1">
                <a:solidFill>
                  <a:srgbClr val="000000"/>
                </a:solidFill>
                <a:effectLst/>
                <a:latin typeface="맑은 고딕" panose="020B0503020000020004" pitchFamily="50" charset="-127"/>
                <a:cs typeface="Times New Roman" panose="02020603050405020304" pitchFamily="18" charset="0"/>
              </a:rPr>
              <a:t>μm</a:t>
            </a:r>
            <a:r>
              <a:rPr lang="ko-KR" altLang="ko-KR" sz="1400" dirty="0">
                <a:solidFill>
                  <a:srgbClr val="000000"/>
                </a:solidFill>
                <a:effectLst/>
                <a:ea typeface="맑은 고딕" panose="020B0503020000020004" pitchFamily="50" charset="-127"/>
                <a:cs typeface="Times New Roman" panose="02020603050405020304" pitchFamily="18" charset="0"/>
              </a:rPr>
              <a:t>의 센서</a:t>
            </a:r>
            <a:r>
              <a:rPr lang="en-US" altLang="ko-KR" sz="1400" dirty="0">
                <a:solidFill>
                  <a:srgbClr val="000000"/>
                </a:solidFill>
                <a:effectLst/>
                <a:ea typeface="맑은 고딕" panose="020B0503020000020004" pitchFamily="50" charset="-127"/>
                <a:cs typeface="Times New Roman" panose="02020603050405020304" pitchFamily="18" charset="0"/>
              </a:rPr>
              <a:t> DP</a:t>
            </a:r>
            <a:r>
              <a:rPr lang="ko-KR" altLang="ko-KR" sz="1400" dirty="0">
                <a:solidFill>
                  <a:srgbClr val="000000"/>
                </a:solidFill>
                <a:effectLst/>
                <a:ea typeface="맑은 고딕" panose="020B0503020000020004" pitchFamily="50" charset="-127"/>
                <a:cs typeface="Times New Roman" panose="02020603050405020304" pitchFamily="18" charset="0"/>
              </a:rPr>
              <a:t>를 이용하여</a:t>
            </a:r>
            <a:r>
              <a:rPr lang="en-US" altLang="ko-KR" sz="1400" dirty="0">
                <a:solidFill>
                  <a:srgbClr val="000000"/>
                </a:solidFill>
                <a:effectLst/>
                <a:ea typeface="맑은 고딕" panose="020B0503020000020004" pitchFamily="50" charset="-127"/>
                <a:cs typeface="Times New Roman" panose="02020603050405020304" pitchFamily="18" charset="0"/>
              </a:rPr>
              <a:t> 0.5m GSD</a:t>
            </a:r>
            <a:r>
              <a:rPr lang="ko-KR" altLang="ko-KR" sz="1400" dirty="0">
                <a:solidFill>
                  <a:srgbClr val="000000"/>
                </a:solidFill>
                <a:effectLst/>
                <a:ea typeface="맑은 고딕" panose="020B0503020000020004" pitchFamily="50" charset="-127"/>
                <a:cs typeface="Times New Roman" panose="02020603050405020304" pitchFamily="18" charset="0"/>
              </a:rPr>
              <a:t>를 달성하기 위한 초점거리</a:t>
            </a:r>
            <a:endParaRPr lang="en-US" altLang="ko-KR" sz="1400" dirty="0">
              <a:solidFill>
                <a:srgbClr val="000000"/>
              </a:solidFill>
              <a:effectLst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marL="654300" lvl="1" indent="-342900">
              <a:lnSpc>
                <a:spcPct val="150000"/>
              </a:lnSpc>
              <a:buFont typeface="Wingdings" panose="05000000000000000000" pitchFamily="2" charset="2"/>
              <a:buChar char="Ø"/>
              <a:defRPr/>
            </a:pPr>
            <a:r>
              <a:rPr lang="ko-KR" altLang="en-US" sz="1400" dirty="0">
                <a:solidFill>
                  <a:srgbClr val="000000"/>
                </a:solidFill>
                <a:ea typeface="맑은 고딕" panose="020B0503020000020004" pitchFamily="50" charset="-127"/>
                <a:cs typeface="Times New Roman" panose="02020603050405020304" pitchFamily="18" charset="0"/>
              </a:rPr>
              <a:t>위성의 고도 </a:t>
            </a:r>
            <a:r>
              <a:rPr lang="en-US" altLang="ko-KR" sz="1400" dirty="0">
                <a:solidFill>
                  <a:srgbClr val="000000"/>
                </a:solidFill>
                <a:ea typeface="맑은 고딕" panose="020B0503020000020004" pitchFamily="50" charset="-127"/>
                <a:cs typeface="Times New Roman" panose="02020603050405020304" pitchFamily="18" charset="0"/>
              </a:rPr>
              <a:t>: 600km / SSO</a:t>
            </a:r>
            <a:r>
              <a:rPr lang="ko-KR" altLang="en-US" sz="1400" dirty="0">
                <a:solidFill>
                  <a:srgbClr val="000000"/>
                </a:solidFill>
                <a:ea typeface="맑은 고딕" panose="020B0503020000020004" pitchFamily="50" charset="-127"/>
                <a:cs typeface="Times New Roman" panose="02020603050405020304" pitchFamily="18" charset="0"/>
              </a:rPr>
              <a:t> </a:t>
            </a:r>
            <a:r>
              <a:rPr lang="ko-KR" altLang="en-US" sz="1400" dirty="0" err="1">
                <a:solidFill>
                  <a:srgbClr val="000000"/>
                </a:solidFill>
                <a:ea typeface="맑은 고딕" panose="020B0503020000020004" pitchFamily="50" charset="-127"/>
                <a:cs typeface="Times New Roman" panose="02020603050405020304" pitchFamily="18" charset="0"/>
              </a:rPr>
              <a:t>위성군</a:t>
            </a:r>
            <a:r>
              <a:rPr lang="ko-KR" altLang="en-US" sz="1400" dirty="0">
                <a:solidFill>
                  <a:srgbClr val="000000"/>
                </a:solidFill>
                <a:ea typeface="맑은 고딕" panose="020B0503020000020004" pitchFamily="50" charset="-127"/>
                <a:cs typeface="Times New Roman" panose="02020603050405020304" pitchFamily="18" charset="0"/>
              </a:rPr>
              <a:t> </a:t>
            </a:r>
            <a:r>
              <a:rPr lang="en-US" altLang="ko-KR" sz="1400" dirty="0">
                <a:solidFill>
                  <a:srgbClr val="000000"/>
                </a:solidFill>
                <a:ea typeface="맑은 고딕" panose="020B0503020000020004" pitchFamily="50" charset="-127"/>
                <a:cs typeface="Times New Roman" panose="02020603050405020304" pitchFamily="18" charset="0"/>
              </a:rPr>
              <a:t>: 4</a:t>
            </a:r>
            <a:r>
              <a:rPr lang="ko-KR" altLang="en-US" sz="1400" dirty="0">
                <a:solidFill>
                  <a:srgbClr val="000000"/>
                </a:solidFill>
                <a:ea typeface="맑은 고딕" panose="020B0503020000020004" pitchFamily="50" charset="-127"/>
                <a:cs typeface="Times New Roman" panose="02020603050405020304" pitchFamily="18" charset="0"/>
              </a:rPr>
              <a:t>대</a:t>
            </a:r>
            <a:endParaRPr lang="en-US" altLang="ko-KR" sz="1400" dirty="0"/>
          </a:p>
          <a:p>
            <a:pPr marL="396000" lvl="2" indent="0">
              <a:lnSpc>
                <a:spcPct val="150000"/>
              </a:lnSpc>
              <a:buNone/>
              <a:defRPr/>
            </a:pPr>
            <a:endParaRPr lang="ko-KR" altLang="en-US" sz="1400" dirty="0"/>
          </a:p>
          <a:p>
            <a:pPr lvl="2">
              <a:defRPr/>
            </a:pPr>
            <a:endParaRPr lang="en-US" altLang="ko-KR" sz="1400" dirty="0"/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14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dirty="0"/>
              <a:t>이종위성군 선행연구자료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E761730-F884-87F5-7ACF-A8572AF1E0B9}"/>
              </a:ext>
            </a:extLst>
          </p:cNvPr>
          <p:cNvSpPr txBox="1"/>
          <p:nvPr/>
        </p:nvSpPr>
        <p:spPr>
          <a:xfrm>
            <a:off x="-78130" y="6012626"/>
            <a:ext cx="8629837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32000" lvl="2">
              <a:defRPr/>
            </a:pPr>
            <a:r>
              <a:rPr lang="ko-KR" altLang="en-US" sz="1000" b="1" dirty="0"/>
              <a:t>출처 </a:t>
            </a:r>
            <a:r>
              <a:rPr lang="en-US" altLang="ko-KR" sz="1000" b="1" dirty="0"/>
              <a:t>: (A Framework for Heterogeneous Satellite Constellation Design for Rapid Response Earth Observations, 2019 Ibrahim Sanad)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90807B14-F418-E102-8BDC-59E45EF998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3137" y="1605621"/>
            <a:ext cx="4127611" cy="30978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1616552"/>
      </p:ext>
    </p:extLst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내용 개체 틀 2"/>
          <p:cNvSpPr txBox="1"/>
          <p:nvPr/>
        </p:nvSpPr>
        <p:spPr>
          <a:xfrm>
            <a:off x="257081" y="1050263"/>
            <a:ext cx="8465679" cy="5376968"/>
          </a:xfrm>
          <a:prstGeom prst="rect">
            <a:avLst/>
          </a:prstGeom>
        </p:spPr>
        <p:txBody>
          <a:bodyPr vert="horz" lIns="91440" tIns="45720" rIns="91440" bIns="45720">
            <a:noAutofit/>
          </a:bodyPr>
          <a:lstStyle>
            <a:lvl1pPr marL="228600" indent="-360000" algn="l" defTabSz="914400" rtl="0" eaLnBrk="1" latinLnBrk="1" hangingPunct="1">
              <a:lnSpc>
                <a:spcPct val="100000"/>
              </a:lnSpc>
              <a:spcBef>
                <a:spcPts val="1000"/>
              </a:spcBef>
              <a:buFont typeface="Wingdings"/>
              <a:buChar char="v"/>
              <a:defRPr sz="2400" b="1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1pPr>
            <a:lvl2pPr marL="540000" indent="-324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Wingdings"/>
              <a:buChar char="u"/>
              <a:defRPr sz="1800" b="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2pPr>
            <a:lvl3pPr marL="720000" indent="-288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Wingdings"/>
              <a:buChar char="Ø"/>
              <a:defRPr sz="160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3pPr>
            <a:lvl4pPr marL="900000" indent="-252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Wingdings"/>
              <a:buChar char="ü"/>
              <a:defRPr sz="140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4pPr>
            <a:lvl5pPr marL="1080000" indent="-252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  <a:defRPr/>
            </a:pPr>
            <a:r>
              <a:rPr lang="en-US" altLang="ko-KR" sz="2200" b="1" dirty="0"/>
              <a:t>[8] </a:t>
            </a:r>
            <a:r>
              <a:rPr lang="ko-KR" altLang="en-US" sz="2200" b="1" dirty="0"/>
              <a:t>결과 분석</a:t>
            </a:r>
            <a:r>
              <a:rPr lang="en-US" altLang="ko-KR" sz="2200" b="1" dirty="0"/>
              <a:t>(Imaging Constellation)</a:t>
            </a:r>
          </a:p>
          <a:p>
            <a:pPr marL="0" indent="0">
              <a:lnSpc>
                <a:spcPct val="150000"/>
              </a:lnSpc>
              <a:buNone/>
              <a:defRPr/>
            </a:pPr>
            <a:endParaRPr lang="en-US" altLang="ko-KR" sz="2200" dirty="0"/>
          </a:p>
          <a:p>
            <a:pPr marL="0" indent="0">
              <a:lnSpc>
                <a:spcPct val="150000"/>
              </a:lnSpc>
              <a:buNone/>
              <a:defRPr/>
            </a:pPr>
            <a:endParaRPr lang="en-US" altLang="ko-KR" sz="2200" b="1" dirty="0"/>
          </a:p>
          <a:p>
            <a:pPr marL="0" indent="0">
              <a:lnSpc>
                <a:spcPct val="150000"/>
              </a:lnSpc>
              <a:buNone/>
              <a:defRPr/>
            </a:pPr>
            <a:endParaRPr lang="en-US" altLang="ko-KR" sz="2200" dirty="0"/>
          </a:p>
          <a:p>
            <a:pPr marL="0" indent="0">
              <a:lnSpc>
                <a:spcPct val="150000"/>
              </a:lnSpc>
              <a:buNone/>
              <a:defRPr/>
            </a:pPr>
            <a:endParaRPr lang="en-US" altLang="ko-KR" sz="2200" b="1" dirty="0"/>
          </a:p>
          <a:p>
            <a:pPr marL="0" indent="0">
              <a:lnSpc>
                <a:spcPct val="150000"/>
              </a:lnSpc>
              <a:buNone/>
              <a:defRPr/>
            </a:pPr>
            <a:endParaRPr lang="en-US" altLang="ko-KR" sz="2200" b="1" dirty="0"/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u"/>
              <a:defRPr/>
            </a:pPr>
            <a:r>
              <a:rPr lang="ko-KR" altLang="en-US" sz="1600" dirty="0"/>
              <a:t>위성 수에 따른 </a:t>
            </a:r>
            <a:r>
              <a:rPr lang="en-US" altLang="ko-KR" sz="1600" dirty="0"/>
              <a:t>MIO</a:t>
            </a:r>
            <a:r>
              <a:rPr lang="ko-KR" altLang="en-US" sz="1600" dirty="0"/>
              <a:t>의 고도와 </a:t>
            </a:r>
            <a:r>
              <a:rPr lang="en-US" altLang="ko-KR" sz="1600" dirty="0"/>
              <a:t>SSO</a:t>
            </a:r>
            <a:r>
              <a:rPr lang="ko-KR" altLang="en-US" sz="1600" dirty="0"/>
              <a:t>에 영향을 미치는 커버리지 비율의 관계</a:t>
            </a:r>
            <a:endParaRPr lang="ko-KR" altLang="en-US" sz="1400" dirty="0"/>
          </a:p>
          <a:p>
            <a:pPr lvl="2">
              <a:defRPr/>
            </a:pPr>
            <a:endParaRPr lang="en-US" altLang="ko-KR" sz="1400" dirty="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963AC035-6131-5852-09C6-46EC98EB6B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5103" y="1767772"/>
            <a:ext cx="3987767" cy="2890919"/>
          </a:xfrm>
          <a:prstGeom prst="rect">
            <a:avLst/>
          </a:prstGeom>
        </p:spPr>
      </p:pic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15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dirty="0"/>
              <a:t>이종위성군 선행연구자료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E761730-F884-87F5-7ACF-A8572AF1E0B9}"/>
              </a:ext>
            </a:extLst>
          </p:cNvPr>
          <p:cNvSpPr txBox="1"/>
          <p:nvPr/>
        </p:nvSpPr>
        <p:spPr>
          <a:xfrm>
            <a:off x="-78130" y="6012626"/>
            <a:ext cx="8629837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32000" lvl="2">
              <a:defRPr/>
            </a:pPr>
            <a:r>
              <a:rPr lang="ko-KR" altLang="en-US" sz="1000" b="1" dirty="0"/>
              <a:t>출처 </a:t>
            </a:r>
            <a:r>
              <a:rPr lang="en-US" altLang="ko-KR" sz="1000" b="1" dirty="0"/>
              <a:t>: (A Framework for Heterogeneous Satellite Constellation Design for Rapid Response Earth Observations, 2019 Ibrahim Sanad)</a:t>
            </a:r>
          </a:p>
        </p:txBody>
      </p:sp>
    </p:spTree>
    <p:extLst>
      <p:ext uri="{BB962C8B-B14F-4D97-AF65-F5344CB8AC3E}">
        <p14:creationId xmlns:p14="http://schemas.microsoft.com/office/powerpoint/2010/main" val="4192210818"/>
      </p:ext>
    </p:extLst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내용 개체 틀 2"/>
          <p:cNvSpPr txBox="1"/>
          <p:nvPr/>
        </p:nvSpPr>
        <p:spPr>
          <a:xfrm>
            <a:off x="257081" y="1050263"/>
            <a:ext cx="8465679" cy="5376968"/>
          </a:xfrm>
          <a:prstGeom prst="rect">
            <a:avLst/>
          </a:prstGeom>
        </p:spPr>
        <p:txBody>
          <a:bodyPr vert="horz" lIns="91440" tIns="45720" rIns="91440" bIns="45720">
            <a:noAutofit/>
          </a:bodyPr>
          <a:lstStyle>
            <a:lvl1pPr marL="228600" indent="-360000" algn="l" defTabSz="914400" rtl="0" eaLnBrk="1" latinLnBrk="1" hangingPunct="1">
              <a:lnSpc>
                <a:spcPct val="100000"/>
              </a:lnSpc>
              <a:spcBef>
                <a:spcPts val="1000"/>
              </a:spcBef>
              <a:buFont typeface="Wingdings"/>
              <a:buChar char="v"/>
              <a:defRPr sz="2400" b="1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1pPr>
            <a:lvl2pPr marL="540000" indent="-324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Wingdings"/>
              <a:buChar char="u"/>
              <a:defRPr sz="1800" b="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2pPr>
            <a:lvl3pPr marL="720000" indent="-288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Wingdings"/>
              <a:buChar char="Ø"/>
              <a:defRPr sz="160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3pPr>
            <a:lvl4pPr marL="900000" indent="-252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Wingdings"/>
              <a:buChar char="ü"/>
              <a:defRPr sz="140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4pPr>
            <a:lvl5pPr marL="1080000" indent="-252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  <a:defRPr/>
            </a:pPr>
            <a:r>
              <a:rPr lang="en-US" altLang="ko-KR" sz="2200" b="1" dirty="0"/>
              <a:t>[8] </a:t>
            </a:r>
            <a:r>
              <a:rPr lang="ko-KR" altLang="en-US" sz="2200" b="1" dirty="0"/>
              <a:t>결과 분석</a:t>
            </a:r>
            <a:r>
              <a:rPr lang="en-US" altLang="ko-KR" sz="2200" b="1" dirty="0"/>
              <a:t>(Relay Constellation)</a:t>
            </a:r>
          </a:p>
          <a:p>
            <a:pPr marL="0" indent="0">
              <a:lnSpc>
                <a:spcPct val="150000"/>
              </a:lnSpc>
              <a:buNone/>
              <a:defRPr/>
            </a:pPr>
            <a:endParaRPr lang="en-US" altLang="ko-KR" sz="2200" dirty="0"/>
          </a:p>
          <a:p>
            <a:pPr marL="0" indent="0">
              <a:lnSpc>
                <a:spcPct val="150000"/>
              </a:lnSpc>
              <a:buNone/>
              <a:defRPr/>
            </a:pPr>
            <a:endParaRPr lang="en-US" altLang="ko-KR" sz="2200" b="1" dirty="0"/>
          </a:p>
          <a:p>
            <a:pPr marL="0" indent="0">
              <a:lnSpc>
                <a:spcPct val="150000"/>
              </a:lnSpc>
              <a:buNone/>
              <a:defRPr/>
            </a:pPr>
            <a:endParaRPr lang="en-US" altLang="ko-KR" sz="2200" dirty="0"/>
          </a:p>
          <a:p>
            <a:pPr marL="0" indent="0">
              <a:lnSpc>
                <a:spcPct val="150000"/>
              </a:lnSpc>
              <a:buNone/>
              <a:defRPr/>
            </a:pPr>
            <a:endParaRPr lang="en-US" altLang="ko-KR" sz="2200" b="1" dirty="0"/>
          </a:p>
          <a:p>
            <a:pPr marL="0" indent="0">
              <a:lnSpc>
                <a:spcPct val="150000"/>
              </a:lnSpc>
              <a:buNone/>
              <a:defRPr/>
            </a:pPr>
            <a:endParaRPr lang="en-US" altLang="ko-KR" sz="2200" b="1" dirty="0"/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u"/>
              <a:defRPr/>
            </a:pPr>
            <a:r>
              <a:rPr lang="ko-KR" altLang="en-US" sz="1600" dirty="0"/>
              <a:t>위성 수에 따른 지상국의 위도와 </a:t>
            </a:r>
            <a:r>
              <a:rPr lang="en-US" altLang="ko-KR" sz="1600" dirty="0"/>
              <a:t>24</a:t>
            </a:r>
            <a:r>
              <a:rPr lang="ko-KR" altLang="en-US" sz="1600" dirty="0"/>
              <a:t>시간 커버리지 비율의 관계</a:t>
            </a:r>
            <a:endParaRPr lang="ko-KR" altLang="en-US" sz="1400" dirty="0"/>
          </a:p>
          <a:p>
            <a:pPr lvl="2">
              <a:defRPr/>
            </a:pPr>
            <a:endParaRPr lang="en-US" altLang="ko-KR" sz="1400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67E163D7-EB3A-FCDB-7AB2-0DC0E041C6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021" y="1814419"/>
            <a:ext cx="3987767" cy="3098188"/>
          </a:xfrm>
          <a:prstGeom prst="rect">
            <a:avLst/>
          </a:prstGeom>
        </p:spPr>
      </p:pic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16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dirty="0"/>
              <a:t>이종위성군 선행연구자료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E761730-F884-87F5-7ACF-A8572AF1E0B9}"/>
              </a:ext>
            </a:extLst>
          </p:cNvPr>
          <p:cNvSpPr txBox="1"/>
          <p:nvPr/>
        </p:nvSpPr>
        <p:spPr>
          <a:xfrm>
            <a:off x="-78130" y="6012626"/>
            <a:ext cx="8629837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32000" lvl="2">
              <a:defRPr/>
            </a:pPr>
            <a:r>
              <a:rPr lang="ko-KR" altLang="en-US" sz="1000" b="1" dirty="0"/>
              <a:t>출처 </a:t>
            </a:r>
            <a:r>
              <a:rPr lang="en-US" altLang="ko-KR" sz="1000" b="1" dirty="0"/>
              <a:t>: (A Framework for Heterogeneous Satellite Constellation Design for Rapid Response Earth Observations, 2019 Ibrahim Sanad)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EE8312D-F4A6-4F4E-854F-8C4DD8D61DF6}"/>
              </a:ext>
            </a:extLst>
          </p:cNvPr>
          <p:cNvSpPr txBox="1"/>
          <p:nvPr/>
        </p:nvSpPr>
        <p:spPr>
          <a:xfrm>
            <a:off x="4334762" y="1915505"/>
            <a:ext cx="4821183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b="1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1. What is the number of satellites on an Equatorial orbit that achieve continuous coverage of a GS? </a:t>
            </a:r>
          </a:p>
          <a:p>
            <a:r>
              <a:rPr lang="en-US" altLang="ko-KR" sz="1200" dirty="0">
                <a:solidFill>
                  <a:srgbClr val="000000"/>
                </a:solidFill>
                <a:latin typeface="Times New Roman" panose="02020603050405020304" pitchFamily="18" charset="0"/>
              </a:rPr>
              <a:t>: </a:t>
            </a:r>
            <a:r>
              <a:rPr lang="ko-KR" altLang="en-US" sz="1200" dirty="0">
                <a:solidFill>
                  <a:srgbClr val="000000"/>
                </a:solidFill>
                <a:latin typeface="Times New Roman" panose="02020603050405020304" pitchFamily="18" charset="0"/>
              </a:rPr>
              <a:t>위도 </a:t>
            </a:r>
            <a:r>
              <a:rPr lang="en-US" altLang="ko-KR" sz="1200" dirty="0">
                <a:solidFill>
                  <a:srgbClr val="000000"/>
                </a:solidFill>
                <a:latin typeface="Times New Roman" panose="02020603050405020304" pitchFamily="18" charset="0"/>
              </a:rPr>
              <a:t>0~34</a:t>
            </a:r>
            <a:r>
              <a:rPr lang="ko-KR" altLang="en-US" sz="1200" dirty="0">
                <a:solidFill>
                  <a:srgbClr val="000000"/>
                </a:solidFill>
                <a:latin typeface="Times New Roman" panose="02020603050405020304" pitchFamily="18" charset="0"/>
              </a:rPr>
              <a:t>˚까지는 모든 지상국에서 </a:t>
            </a:r>
            <a:r>
              <a:rPr lang="en-US" altLang="ko-KR" sz="1200" dirty="0">
                <a:solidFill>
                  <a:srgbClr val="000000"/>
                </a:solidFill>
                <a:latin typeface="Times New Roman" panose="02020603050405020304" pitchFamily="18" charset="0"/>
              </a:rPr>
              <a:t>MEO </a:t>
            </a:r>
            <a:r>
              <a:rPr lang="ko-KR" altLang="en-US" sz="1200" dirty="0">
                <a:solidFill>
                  <a:srgbClr val="000000"/>
                </a:solidFill>
                <a:latin typeface="Times New Roman" panose="02020603050405020304" pitchFamily="18" charset="0"/>
              </a:rPr>
              <a:t>위성군에서 관측 가능한 위성이 </a:t>
            </a:r>
            <a:r>
              <a:rPr lang="en-US" altLang="ko-KR" sz="1200" dirty="0">
                <a:solidFill>
                  <a:srgbClr val="000000"/>
                </a:solidFill>
                <a:latin typeface="Times New Roman" panose="02020603050405020304" pitchFamily="18" charset="0"/>
              </a:rPr>
              <a:t>4</a:t>
            </a:r>
            <a:r>
              <a:rPr lang="ko-KR" altLang="en-US" sz="1200" dirty="0">
                <a:solidFill>
                  <a:srgbClr val="000000"/>
                </a:solidFill>
                <a:latin typeface="Times New Roman" panose="02020603050405020304" pitchFamily="18" charset="0"/>
              </a:rPr>
              <a:t>개 이상으로 구성되어 있다</a:t>
            </a:r>
            <a:r>
              <a:rPr lang="en-US" altLang="ko-KR" sz="1200" dirty="0">
                <a:solidFill>
                  <a:srgbClr val="000000"/>
                </a:solidFill>
                <a:latin typeface="Times New Roman" panose="02020603050405020304" pitchFamily="18" charset="0"/>
              </a:rPr>
              <a:t>.</a:t>
            </a:r>
            <a:r>
              <a:rPr lang="ko-KR" altLang="en-US" sz="1200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n-US" altLang="ko-KR" sz="1200" dirty="0">
                <a:solidFill>
                  <a:srgbClr val="000000"/>
                </a:solidFill>
                <a:latin typeface="Times New Roman" panose="02020603050405020304" pitchFamily="18" charset="0"/>
              </a:rPr>
              <a:t>(</a:t>
            </a:r>
            <a:r>
              <a:rPr lang="ko-KR" altLang="en-US" sz="1200" dirty="0">
                <a:solidFill>
                  <a:srgbClr val="000000"/>
                </a:solidFill>
                <a:latin typeface="Times New Roman" panose="02020603050405020304" pitchFamily="18" charset="0"/>
              </a:rPr>
              <a:t>∵위성 </a:t>
            </a:r>
            <a:r>
              <a:rPr lang="en-US" altLang="ko-KR" sz="1200" dirty="0">
                <a:solidFill>
                  <a:srgbClr val="000000"/>
                </a:solidFill>
                <a:latin typeface="Times New Roman" panose="02020603050405020304" pitchFamily="18" charset="0"/>
              </a:rPr>
              <a:t>4</a:t>
            </a:r>
            <a:r>
              <a:rPr lang="ko-KR" altLang="en-US" sz="1200" dirty="0">
                <a:solidFill>
                  <a:srgbClr val="000000"/>
                </a:solidFill>
                <a:latin typeface="Times New Roman" panose="02020603050405020304" pitchFamily="18" charset="0"/>
              </a:rPr>
              <a:t>대 이상일 때 </a:t>
            </a:r>
            <a:r>
              <a:rPr lang="en-US" altLang="ko-KR" sz="1200" dirty="0">
                <a:solidFill>
                  <a:srgbClr val="000000"/>
                </a:solidFill>
                <a:latin typeface="Times New Roman" panose="02020603050405020304" pitchFamily="18" charset="0"/>
              </a:rPr>
              <a:t>100% </a:t>
            </a:r>
            <a:r>
              <a:rPr lang="ko-KR" altLang="en-US" sz="1200" dirty="0">
                <a:solidFill>
                  <a:srgbClr val="000000"/>
                </a:solidFill>
                <a:latin typeface="Times New Roman" panose="02020603050405020304" pitchFamily="18" charset="0"/>
              </a:rPr>
              <a:t>커버</a:t>
            </a:r>
            <a:r>
              <a:rPr lang="en-US" altLang="ko-KR" sz="1200" dirty="0">
                <a:solidFill>
                  <a:srgbClr val="000000"/>
                </a:solidFill>
                <a:latin typeface="Times New Roman" panose="02020603050405020304" pitchFamily="18" charset="0"/>
              </a:rPr>
              <a:t>)</a:t>
            </a:r>
          </a:p>
          <a:p>
            <a:endParaRPr lang="en-US" altLang="ko-KR" sz="1200" b="0" i="0" u="none" strike="noStrike" baseline="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342900" indent="-342900">
              <a:buAutoNum type="arabicPeriod"/>
            </a:pPr>
            <a:endParaRPr lang="en-US" altLang="ko-KR" sz="1200" b="0" i="0" u="none" strike="noStrike" baseline="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r>
              <a:rPr lang="en-US" altLang="ko-KR" sz="1200" b="1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2. What is the GS latitude?</a:t>
            </a:r>
          </a:p>
          <a:p>
            <a:r>
              <a:rPr lang="en-US" altLang="ko-KR" sz="1200" dirty="0">
                <a:solidFill>
                  <a:srgbClr val="000000"/>
                </a:solidFill>
                <a:latin typeface="Times New Roman" panose="02020603050405020304" pitchFamily="18" charset="0"/>
              </a:rPr>
              <a:t>: 34</a:t>
            </a:r>
            <a:r>
              <a:rPr lang="ko-KR" altLang="en-US" sz="1200" dirty="0">
                <a:solidFill>
                  <a:srgbClr val="000000"/>
                </a:solidFill>
                <a:latin typeface="Times New Roman" panose="02020603050405020304" pitchFamily="18" charset="0"/>
              </a:rPr>
              <a:t>˚ 이하로 지정하는 것이 좋다</a:t>
            </a:r>
            <a:r>
              <a:rPr lang="en-US" altLang="ko-KR" sz="1200" dirty="0">
                <a:solidFill>
                  <a:srgbClr val="000000"/>
                </a:solidFill>
                <a:latin typeface="Times New Roman" panose="02020603050405020304" pitchFamily="18" charset="0"/>
              </a:rPr>
              <a:t>.</a:t>
            </a:r>
            <a:endParaRPr lang="en-US" altLang="ko-KR" sz="1200" b="0" i="0" u="none" strike="noStrike" baseline="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342900" indent="-342900">
              <a:buAutoNum type="arabicPeriod"/>
            </a:pPr>
            <a:endParaRPr lang="en-US" altLang="ko-KR" sz="1200" b="0" i="0" u="none" strike="noStrike" baseline="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342900" indent="-342900">
              <a:buAutoNum type="arabicPeriod"/>
            </a:pPr>
            <a:endParaRPr lang="en-US" altLang="ko-KR" sz="1200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77437893"/>
      </p:ext>
    </p:extLst>
  </p:cSld>
  <p:clrMapOvr>
    <a:masterClrMapping/>
  </p:clrMapOvr>
  <p:transition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내용 개체 틀 2"/>
          <p:cNvSpPr txBox="1"/>
          <p:nvPr/>
        </p:nvSpPr>
        <p:spPr>
          <a:xfrm>
            <a:off x="257081" y="1050263"/>
            <a:ext cx="8465679" cy="5376968"/>
          </a:xfrm>
          <a:prstGeom prst="rect">
            <a:avLst/>
          </a:prstGeom>
        </p:spPr>
        <p:txBody>
          <a:bodyPr vert="horz" lIns="91440" tIns="45720" rIns="91440" bIns="45720">
            <a:noAutofit/>
          </a:bodyPr>
          <a:lstStyle>
            <a:lvl1pPr marL="228600" indent="-360000" algn="l" defTabSz="914400" rtl="0" eaLnBrk="1" latinLnBrk="1" hangingPunct="1">
              <a:lnSpc>
                <a:spcPct val="100000"/>
              </a:lnSpc>
              <a:spcBef>
                <a:spcPts val="1000"/>
              </a:spcBef>
              <a:buFont typeface="Wingdings"/>
              <a:buChar char="v"/>
              <a:defRPr sz="2400" b="1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1pPr>
            <a:lvl2pPr marL="540000" indent="-324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Wingdings"/>
              <a:buChar char="u"/>
              <a:defRPr sz="1800" b="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2pPr>
            <a:lvl3pPr marL="720000" indent="-288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Wingdings"/>
              <a:buChar char="Ø"/>
              <a:defRPr sz="160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3pPr>
            <a:lvl4pPr marL="900000" indent="-252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Wingdings"/>
              <a:buChar char="ü"/>
              <a:defRPr sz="140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4pPr>
            <a:lvl5pPr marL="1080000" indent="-252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  <a:defRPr/>
            </a:pPr>
            <a:r>
              <a:rPr lang="en-US" altLang="ko-KR" sz="2200" b="1" dirty="0"/>
              <a:t>[8] </a:t>
            </a:r>
            <a:r>
              <a:rPr lang="ko-KR" altLang="en-US" sz="2200" b="1" dirty="0"/>
              <a:t>결과 분석</a:t>
            </a:r>
            <a:r>
              <a:rPr lang="en-US" altLang="ko-KR" sz="2200" b="1" dirty="0"/>
              <a:t>(Relay Constellation)</a:t>
            </a:r>
          </a:p>
          <a:p>
            <a:pPr marL="0" indent="0">
              <a:lnSpc>
                <a:spcPct val="150000"/>
              </a:lnSpc>
              <a:buNone/>
              <a:defRPr/>
            </a:pPr>
            <a:endParaRPr lang="en-US" altLang="ko-KR" sz="2200" dirty="0"/>
          </a:p>
          <a:p>
            <a:pPr marL="0" indent="0">
              <a:lnSpc>
                <a:spcPct val="150000"/>
              </a:lnSpc>
              <a:buNone/>
              <a:defRPr/>
            </a:pPr>
            <a:endParaRPr lang="en-US" altLang="ko-KR" sz="2200" b="1" dirty="0"/>
          </a:p>
          <a:p>
            <a:pPr marL="0" indent="0">
              <a:lnSpc>
                <a:spcPct val="150000"/>
              </a:lnSpc>
              <a:buNone/>
              <a:defRPr/>
            </a:pPr>
            <a:endParaRPr lang="en-US" altLang="ko-KR" sz="2200" dirty="0"/>
          </a:p>
          <a:p>
            <a:pPr marL="0" indent="0">
              <a:lnSpc>
                <a:spcPct val="150000"/>
              </a:lnSpc>
              <a:buNone/>
              <a:defRPr/>
            </a:pPr>
            <a:endParaRPr lang="en-US" altLang="ko-KR" sz="2200" b="1" dirty="0"/>
          </a:p>
          <a:p>
            <a:pPr marL="0" indent="0">
              <a:lnSpc>
                <a:spcPct val="150000"/>
              </a:lnSpc>
              <a:buNone/>
              <a:defRPr/>
            </a:pPr>
            <a:endParaRPr lang="en-US" altLang="ko-KR" sz="2200" b="1" dirty="0"/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u"/>
              <a:defRPr/>
            </a:pPr>
            <a:r>
              <a:rPr lang="en-US" altLang="ko-KR" sz="1600" dirty="0"/>
              <a:t>Imaging </a:t>
            </a:r>
            <a:r>
              <a:rPr lang="ko-KR" altLang="en-US" sz="1600" dirty="0"/>
              <a:t>위성군만 운용하였을 때와 이종 위성군을 운용하였을 때</a:t>
            </a:r>
            <a:r>
              <a:rPr lang="en-US" altLang="ko-KR" sz="1600" dirty="0"/>
              <a:t>, </a:t>
            </a:r>
            <a:r>
              <a:rPr lang="ko-KR" altLang="en-US" sz="1600" dirty="0"/>
              <a:t>목표 위도와 최대 </a:t>
            </a:r>
            <a:r>
              <a:rPr lang="en-US" altLang="ko-KR" sz="1600" dirty="0"/>
              <a:t>SRT</a:t>
            </a:r>
            <a:r>
              <a:rPr lang="ko-KR" altLang="en-US" sz="1600" dirty="0"/>
              <a:t>의 평균값의 관계</a:t>
            </a:r>
            <a:endParaRPr lang="en-US" altLang="ko-KR" sz="1600" dirty="0"/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17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dirty="0"/>
              <a:t>이종위성군 선행연구자료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E761730-F884-87F5-7ACF-A8572AF1E0B9}"/>
              </a:ext>
            </a:extLst>
          </p:cNvPr>
          <p:cNvSpPr txBox="1"/>
          <p:nvPr/>
        </p:nvSpPr>
        <p:spPr>
          <a:xfrm>
            <a:off x="-78130" y="6012626"/>
            <a:ext cx="8629837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32000" lvl="2">
              <a:defRPr/>
            </a:pPr>
            <a:r>
              <a:rPr lang="ko-KR" altLang="en-US" sz="1000" b="1" dirty="0"/>
              <a:t>출처 </a:t>
            </a:r>
            <a:r>
              <a:rPr lang="en-US" altLang="ko-KR" sz="1000" b="1" dirty="0"/>
              <a:t>: (A Framework for Heterogeneous Satellite Constellation Design for Rapid Response Earth Observations, 2019 Ibrahim Sanad)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C3954FB1-DCD0-EF8B-E8A4-7EDBC59B67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584" y="1896253"/>
            <a:ext cx="4192898" cy="282067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CFF9A38C-E3E4-877A-DED6-9511A9417B86}"/>
              </a:ext>
            </a:extLst>
          </p:cNvPr>
          <p:cNvSpPr txBox="1"/>
          <p:nvPr/>
        </p:nvSpPr>
        <p:spPr>
          <a:xfrm>
            <a:off x="4337951" y="1912947"/>
            <a:ext cx="4729843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b="1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3. What will be the effect of using this MEO constellation with its GS on the maximum SRT?</a:t>
            </a:r>
          </a:p>
          <a:p>
            <a:r>
              <a:rPr lang="en-US" altLang="ko-KR" sz="1200" dirty="0">
                <a:solidFill>
                  <a:srgbClr val="000000"/>
                </a:solidFill>
                <a:latin typeface="Times New Roman" panose="02020603050405020304" pitchFamily="18" charset="0"/>
              </a:rPr>
              <a:t>: </a:t>
            </a:r>
            <a:r>
              <a:rPr lang="ko-KR" altLang="en-US" sz="1200" dirty="0">
                <a:solidFill>
                  <a:srgbClr val="000000"/>
                </a:solidFill>
                <a:latin typeface="Times New Roman" panose="02020603050405020304" pitchFamily="18" charset="0"/>
              </a:rPr>
              <a:t>슬라이드 </a:t>
            </a:r>
            <a:r>
              <a:rPr lang="en-US" altLang="ko-KR" sz="1200" dirty="0">
                <a:solidFill>
                  <a:srgbClr val="000000"/>
                </a:solidFill>
                <a:latin typeface="Times New Roman" panose="02020603050405020304" pitchFamily="18" charset="0"/>
              </a:rPr>
              <a:t>5</a:t>
            </a:r>
            <a:r>
              <a:rPr lang="ko-KR" altLang="en-US" sz="1200" dirty="0">
                <a:solidFill>
                  <a:srgbClr val="000000"/>
                </a:solidFill>
                <a:latin typeface="Times New Roman" panose="02020603050405020304" pitchFamily="18" charset="0"/>
              </a:rPr>
              <a:t>쪽을 참고하여 두 그래프를 비교하면 이종 위성군을</a:t>
            </a:r>
            <a:endParaRPr lang="en-US" altLang="ko-KR" sz="120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r>
              <a:rPr lang="en-US" altLang="ko-KR" sz="1200" dirty="0">
                <a:solidFill>
                  <a:srgbClr val="000000"/>
                </a:solidFill>
                <a:latin typeface="Times New Roman" panose="02020603050405020304" pitchFamily="18" charset="0"/>
              </a:rPr>
              <a:t>  </a:t>
            </a:r>
            <a:r>
              <a:rPr lang="ko-KR" altLang="en-US" sz="1200" dirty="0">
                <a:solidFill>
                  <a:srgbClr val="000000"/>
                </a:solidFill>
                <a:latin typeface="Times New Roman" panose="02020603050405020304" pitchFamily="18" charset="0"/>
              </a:rPr>
              <a:t>운용하였을 경우에 최대 </a:t>
            </a:r>
            <a:r>
              <a:rPr lang="en-US" altLang="ko-KR" sz="1200" dirty="0">
                <a:solidFill>
                  <a:srgbClr val="000000"/>
                </a:solidFill>
                <a:latin typeface="Times New Roman" panose="02020603050405020304" pitchFamily="18" charset="0"/>
              </a:rPr>
              <a:t>SRT</a:t>
            </a:r>
            <a:r>
              <a:rPr lang="ko-KR" altLang="en-US" sz="1200" dirty="0">
                <a:solidFill>
                  <a:srgbClr val="000000"/>
                </a:solidFill>
                <a:latin typeface="Times New Roman" panose="02020603050405020304" pitchFamily="18" charset="0"/>
              </a:rPr>
              <a:t>가 </a:t>
            </a:r>
            <a:r>
              <a:rPr lang="en-US" altLang="ko-KR" sz="1200" dirty="0">
                <a:solidFill>
                  <a:srgbClr val="000000"/>
                </a:solidFill>
                <a:latin typeface="Times New Roman" panose="02020603050405020304" pitchFamily="18" charset="0"/>
              </a:rPr>
              <a:t>20hr </a:t>
            </a:r>
            <a:r>
              <a:rPr lang="ko-KR" altLang="en-US" sz="1200" dirty="0">
                <a:solidFill>
                  <a:srgbClr val="000000"/>
                </a:solidFill>
                <a:latin typeface="Times New Roman" panose="02020603050405020304" pitchFamily="18" charset="0"/>
              </a:rPr>
              <a:t>가량 감소하는 것을 볼 수 있다</a:t>
            </a:r>
            <a:r>
              <a:rPr lang="en-US" altLang="ko-KR" sz="1200" dirty="0">
                <a:solidFill>
                  <a:srgbClr val="000000"/>
                </a:solidFill>
                <a:latin typeface="Times New Roman" panose="02020603050405020304" pitchFamily="18" charset="0"/>
              </a:rPr>
              <a:t>.</a:t>
            </a:r>
            <a:r>
              <a:rPr lang="ko-KR" altLang="en-US" sz="1200" dirty="0">
                <a:solidFill>
                  <a:srgbClr val="000000"/>
                </a:solidFill>
                <a:latin typeface="Times New Roman" panose="02020603050405020304" pitchFamily="18" charset="0"/>
              </a:rPr>
              <a:t>  </a:t>
            </a:r>
            <a:endParaRPr lang="en-US" altLang="ko-KR" sz="1200" i="0" u="none" strike="noStrike" baseline="0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57648089"/>
      </p:ext>
    </p:extLst>
  </p:cSld>
  <p:clrMapOvr>
    <a:masterClrMapping/>
  </p:clrMapOvr>
  <p:transition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18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dirty="0"/>
              <a:t>이종위성군 선행연구자료</a:t>
            </a:r>
          </a:p>
        </p:txBody>
      </p:sp>
      <p:sp>
        <p:nvSpPr>
          <p:cNvPr id="10" name="내용 개체 틀 2"/>
          <p:cNvSpPr txBox="1"/>
          <p:nvPr/>
        </p:nvSpPr>
        <p:spPr>
          <a:xfrm>
            <a:off x="257081" y="1050263"/>
            <a:ext cx="8465679" cy="5376968"/>
          </a:xfrm>
          <a:prstGeom prst="rect">
            <a:avLst/>
          </a:prstGeom>
        </p:spPr>
        <p:txBody>
          <a:bodyPr vert="horz" lIns="91440" tIns="45720" rIns="91440" bIns="45720">
            <a:noAutofit/>
          </a:bodyPr>
          <a:lstStyle>
            <a:lvl1pPr marL="228600" indent="-360000" algn="l" defTabSz="914400" rtl="0" eaLnBrk="1" latinLnBrk="1" hangingPunct="1">
              <a:lnSpc>
                <a:spcPct val="100000"/>
              </a:lnSpc>
              <a:spcBef>
                <a:spcPts val="1000"/>
              </a:spcBef>
              <a:buFont typeface="Wingdings"/>
              <a:buChar char="v"/>
              <a:defRPr sz="2400" b="1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1pPr>
            <a:lvl2pPr marL="540000" indent="-324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Wingdings"/>
              <a:buChar char="u"/>
              <a:defRPr sz="1800" b="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2pPr>
            <a:lvl3pPr marL="720000" indent="-288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Wingdings"/>
              <a:buChar char="Ø"/>
              <a:defRPr sz="160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3pPr>
            <a:lvl4pPr marL="900000" indent="-252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Wingdings"/>
              <a:buChar char="ü"/>
              <a:defRPr sz="140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4pPr>
            <a:lvl5pPr marL="1080000" indent="-252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  <a:defRPr/>
            </a:pPr>
            <a:r>
              <a:rPr lang="en-US" altLang="ko-KR" sz="2200" b="1" dirty="0"/>
              <a:t>[9] </a:t>
            </a:r>
            <a:r>
              <a:rPr lang="ko-KR" altLang="en-US" sz="2200" b="1" dirty="0"/>
              <a:t>결론</a:t>
            </a:r>
            <a:endParaRPr lang="en-US" altLang="ko-KR" sz="2200" b="1" dirty="0"/>
          </a:p>
          <a:p>
            <a:pPr lvl="1">
              <a:lnSpc>
                <a:spcPct val="150000"/>
              </a:lnSpc>
              <a:defRPr/>
            </a:pPr>
            <a:r>
              <a:rPr lang="en-US" altLang="ko-KR" sz="1600" dirty="0"/>
              <a:t>LEO</a:t>
            </a:r>
            <a:r>
              <a:rPr lang="ko-KR" altLang="en-US" sz="1600" dirty="0"/>
              <a:t>원격감지 시스템의 명령전달 및 데이터 복구를 다루는 이 논문의 접근 방법은 </a:t>
            </a:r>
            <a:r>
              <a:rPr lang="en-US" altLang="ko-KR" sz="1600" dirty="0"/>
              <a:t>STK</a:t>
            </a:r>
            <a:r>
              <a:rPr lang="ko-KR" altLang="en-US" sz="1600" dirty="0"/>
              <a:t>에 분석에 적합함</a:t>
            </a:r>
            <a:endParaRPr lang="en-US" altLang="ko-KR" sz="1600" dirty="0"/>
          </a:p>
          <a:p>
            <a:pPr lvl="1">
              <a:lnSpc>
                <a:spcPct val="150000"/>
              </a:lnSpc>
              <a:defRPr/>
            </a:pPr>
            <a:r>
              <a:rPr lang="ko-KR" altLang="en-US" sz="1600" dirty="0" err="1"/>
              <a:t>위성군</a:t>
            </a:r>
            <a:r>
              <a:rPr lang="ko-KR" altLang="en-US" sz="1600" dirty="0"/>
              <a:t> 설계의 목표 및 제한조건은 위성군의 궤도 구성을 결정하는 주요 요소</a:t>
            </a:r>
          </a:p>
          <a:p>
            <a:pPr lvl="1">
              <a:lnSpc>
                <a:spcPct val="150000"/>
              </a:lnSpc>
              <a:defRPr/>
            </a:pPr>
            <a:r>
              <a:rPr lang="ko-KR" altLang="en-US" sz="1600" dirty="0"/>
              <a:t>지구 관측 위성의 </a:t>
            </a:r>
            <a:r>
              <a:rPr lang="en-US" altLang="ko-KR" sz="1600" dirty="0"/>
              <a:t>SRT </a:t>
            </a:r>
            <a:r>
              <a:rPr lang="ko-KR" altLang="en-US" sz="1600" dirty="0"/>
              <a:t>개선은 재해 위험 감소 및 국가 보안에 중요한 관심사</a:t>
            </a:r>
          </a:p>
          <a:p>
            <a:pPr lvl="1">
              <a:lnSpc>
                <a:spcPct val="150000"/>
              </a:lnSpc>
              <a:defRPr/>
            </a:pPr>
            <a:r>
              <a:rPr lang="ko-KR" altLang="en-US" sz="1600" dirty="0"/>
              <a:t>위성의 고도</a:t>
            </a:r>
            <a:r>
              <a:rPr lang="en-US" altLang="ko-KR" sz="1600" dirty="0"/>
              <a:t>, </a:t>
            </a:r>
            <a:r>
              <a:rPr lang="ko-KR" altLang="en-US" sz="1600" dirty="0"/>
              <a:t>궤도 평면 및 평면당 위성 수 등 위성군의 특성에 따라 시스템 가용성이 달라지고 이는 이종 위성군의 구성에 큰 영향을 줌</a:t>
            </a:r>
          </a:p>
          <a:p>
            <a:pPr lvl="1">
              <a:lnSpc>
                <a:spcPct val="150000"/>
              </a:lnSpc>
              <a:defRPr/>
            </a:pPr>
            <a:r>
              <a:rPr lang="ko-KR" altLang="en-US" sz="1600" dirty="0"/>
              <a:t>이종 위성군의 최상의 구성을 위해서는 여러 조합을 연구해야 함</a:t>
            </a:r>
            <a:endParaRPr lang="en-US" altLang="ko-KR" sz="1600" dirty="0"/>
          </a:p>
          <a:p>
            <a:pPr lvl="2">
              <a:lnSpc>
                <a:spcPct val="150000"/>
              </a:lnSpc>
              <a:defRPr/>
            </a:pPr>
            <a:endParaRPr lang="en-US" altLang="ko-KR" sz="1200" dirty="0"/>
          </a:p>
          <a:p>
            <a:pPr lvl="1">
              <a:lnSpc>
                <a:spcPct val="150000"/>
              </a:lnSpc>
              <a:defRPr/>
            </a:pPr>
            <a:endParaRPr lang="en-US" altLang="ko-KR" sz="1600" dirty="0"/>
          </a:p>
          <a:p>
            <a:pPr lvl="1">
              <a:lnSpc>
                <a:spcPct val="150000"/>
              </a:lnSpc>
              <a:defRPr/>
            </a:pPr>
            <a:endParaRPr lang="en-US" altLang="ko-KR" sz="1600" dirty="0"/>
          </a:p>
          <a:p>
            <a:pPr lvl="1">
              <a:lnSpc>
                <a:spcPct val="150000"/>
              </a:lnSpc>
              <a:defRPr/>
            </a:pPr>
            <a:endParaRPr lang="en-US" altLang="ko-KR" sz="1600" dirty="0"/>
          </a:p>
          <a:p>
            <a:pPr lvl="1">
              <a:lnSpc>
                <a:spcPct val="150000"/>
              </a:lnSpc>
              <a:defRPr/>
            </a:pPr>
            <a:endParaRPr lang="en-US" altLang="ko-KR" sz="1600" dirty="0"/>
          </a:p>
          <a:p>
            <a:pPr lvl="1">
              <a:lnSpc>
                <a:spcPct val="150000"/>
              </a:lnSpc>
              <a:defRPr/>
            </a:pPr>
            <a:endParaRPr lang="en-US" altLang="ko-KR" sz="1600" dirty="0"/>
          </a:p>
          <a:p>
            <a:pPr marL="216000" lvl="1" indent="0">
              <a:lnSpc>
                <a:spcPct val="150000"/>
              </a:lnSpc>
              <a:buNone/>
              <a:defRPr/>
            </a:pPr>
            <a:endParaRPr lang="en-US" altLang="ko-KR" sz="1600" dirty="0"/>
          </a:p>
          <a:p>
            <a:pPr lvl="1">
              <a:lnSpc>
                <a:spcPct val="150000"/>
              </a:lnSpc>
              <a:defRPr/>
            </a:pPr>
            <a:endParaRPr lang="ko-KR" altLang="en-US" sz="1600" dirty="0"/>
          </a:p>
          <a:p>
            <a:pPr lvl="1">
              <a:defRPr/>
            </a:pPr>
            <a:endParaRPr lang="en-US" altLang="ko-KR" sz="16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E761730-F884-87F5-7ACF-A8572AF1E0B9}"/>
              </a:ext>
            </a:extLst>
          </p:cNvPr>
          <p:cNvSpPr txBox="1"/>
          <p:nvPr/>
        </p:nvSpPr>
        <p:spPr>
          <a:xfrm>
            <a:off x="-78130" y="6012626"/>
            <a:ext cx="8629837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32000" lvl="2">
              <a:defRPr/>
            </a:pPr>
            <a:r>
              <a:rPr lang="ko-KR" altLang="en-US" sz="1000" b="1" dirty="0"/>
              <a:t>출처 </a:t>
            </a:r>
            <a:r>
              <a:rPr lang="en-US" altLang="ko-KR" sz="1000" b="1" dirty="0"/>
              <a:t>: (A Framework for Heterogeneous Satellite Constellation Design for Rapid Response Earth Observations, 2019 Ibrahim Sanad)</a:t>
            </a:r>
          </a:p>
        </p:txBody>
      </p:sp>
    </p:spTree>
    <p:extLst>
      <p:ext uri="{BB962C8B-B14F-4D97-AF65-F5344CB8AC3E}">
        <p14:creationId xmlns:p14="http://schemas.microsoft.com/office/powerpoint/2010/main" val="3005021492"/>
      </p:ext>
    </p:extLst>
  </p:cSld>
  <p:clrMapOvr>
    <a:masterClrMapping/>
  </p:clrMapOvr>
  <p:transition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ko-KR" sz="2400" b="1" dirty="0"/>
              <a:t>(2) Research on the configuration design method of heterogeneous constellation reconstruction under the multiple objective and multiple constraint, 2017 Shuang Zhao</a:t>
            </a:r>
            <a:br>
              <a:rPr lang="ko-KR" altLang="en-US" sz="2800" b="1" dirty="0"/>
            </a:br>
            <a:endParaRPr lang="ko-KR" altLang="en-US" sz="2800" b="1" dirty="0">
              <a:solidFill>
                <a:schemeClr val="tx1"/>
              </a:solidFill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038971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20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dirty="0"/>
              <a:t>이종위성군 선행연구자료</a:t>
            </a:r>
          </a:p>
        </p:txBody>
      </p:sp>
      <p:sp>
        <p:nvSpPr>
          <p:cNvPr id="10" name="내용 개체 틀 2"/>
          <p:cNvSpPr txBox="1"/>
          <p:nvPr/>
        </p:nvSpPr>
        <p:spPr>
          <a:xfrm>
            <a:off x="257081" y="950819"/>
            <a:ext cx="8629838" cy="5376968"/>
          </a:xfrm>
          <a:prstGeom prst="rect">
            <a:avLst/>
          </a:prstGeom>
        </p:spPr>
        <p:txBody>
          <a:bodyPr vert="horz" lIns="91440" tIns="45720" rIns="91440" bIns="45720">
            <a:noAutofit/>
          </a:bodyPr>
          <a:lstStyle>
            <a:lvl1pPr marL="228600" indent="-360000" algn="l" defTabSz="914400" rtl="0" eaLnBrk="1" latinLnBrk="1" hangingPunct="1">
              <a:lnSpc>
                <a:spcPct val="100000"/>
              </a:lnSpc>
              <a:spcBef>
                <a:spcPts val="1000"/>
              </a:spcBef>
              <a:buFont typeface="Wingdings"/>
              <a:buChar char="v"/>
              <a:defRPr sz="2400" b="1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1pPr>
            <a:lvl2pPr marL="540000" indent="-324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Wingdings"/>
              <a:buChar char="u"/>
              <a:defRPr sz="1800" b="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2pPr>
            <a:lvl3pPr marL="720000" indent="-288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Wingdings"/>
              <a:buChar char="Ø"/>
              <a:defRPr sz="160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3pPr>
            <a:lvl4pPr marL="900000" indent="-252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Wingdings"/>
              <a:buChar char="ü"/>
              <a:defRPr sz="140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4pPr>
            <a:lvl5pPr marL="1080000" indent="-252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>
              <a:buNone/>
              <a:defRPr/>
            </a:pPr>
            <a:r>
              <a:rPr lang="en-US" altLang="ko-KR" dirty="0"/>
              <a:t>2017 Shuang Zhao</a:t>
            </a:r>
          </a:p>
          <a:p>
            <a:pPr>
              <a:lnSpc>
                <a:spcPct val="150000"/>
              </a:lnSpc>
              <a:defRPr/>
            </a:pPr>
            <a:r>
              <a:rPr lang="ko-KR" altLang="en-US" sz="2200" b="1" dirty="0"/>
              <a:t>논문 주요내용 </a:t>
            </a:r>
            <a:endParaRPr lang="en-US" altLang="ko-KR" sz="2200" b="1" dirty="0"/>
          </a:p>
          <a:p>
            <a:pPr lvl="1">
              <a:lnSpc>
                <a:spcPct val="150000"/>
              </a:lnSpc>
              <a:defRPr/>
            </a:pPr>
            <a:r>
              <a:rPr lang="ko-KR" altLang="en-US" sz="1600" dirty="0"/>
              <a:t>다중 목적 및 다중 제한 조건에 기초한 이종 위성군의 설계방법에 대해 다룬다</a:t>
            </a:r>
            <a:r>
              <a:rPr lang="en-US" altLang="ko-KR" sz="1600" dirty="0"/>
              <a:t>. </a:t>
            </a:r>
            <a:r>
              <a:rPr lang="ko-KR" altLang="en-US" sz="1600" dirty="0"/>
              <a:t>또한</a:t>
            </a:r>
            <a:r>
              <a:rPr lang="en-US" altLang="ko-KR" sz="1600" dirty="0"/>
              <a:t>, </a:t>
            </a:r>
            <a:r>
              <a:rPr lang="ko-KR" altLang="en-US" sz="1600" dirty="0"/>
              <a:t>기존의 대표적인 설계 방법인 </a:t>
            </a:r>
            <a:r>
              <a:rPr lang="en-US" altLang="ko-KR" sz="1600" dirty="0"/>
              <a:t>Phase position uniformity method </a:t>
            </a:r>
            <a:r>
              <a:rPr lang="ko-KR" altLang="en-US" sz="1600" dirty="0"/>
              <a:t>와 </a:t>
            </a:r>
            <a:r>
              <a:rPr lang="en-US" altLang="ko-KR" sz="1600" dirty="0"/>
              <a:t>Reconstruction configuration design method (based in optimization algorithm)</a:t>
            </a:r>
            <a:r>
              <a:rPr lang="ko-KR" altLang="en-US" sz="1600" dirty="0"/>
              <a:t>을 비교한다</a:t>
            </a:r>
            <a:r>
              <a:rPr lang="en-US" altLang="ko-KR" sz="1600" dirty="0"/>
              <a:t>. </a:t>
            </a:r>
            <a:r>
              <a:rPr lang="ko-KR" altLang="en-US" sz="1600" dirty="0"/>
              <a:t>마지막으로 다양한 재구성 설계 방법의 장단점을 분석하고 재구성 지수 시스템에 대한 생각과 최적 변수 선택 및 구성 최적화 설계의 제한 조건 설정을 제시한다</a:t>
            </a:r>
            <a:r>
              <a:rPr lang="en-US" altLang="ko-KR" sz="1600" dirty="0"/>
              <a:t>.</a:t>
            </a:r>
          </a:p>
          <a:p>
            <a:pPr marL="0" indent="0">
              <a:lnSpc>
                <a:spcPct val="150000"/>
              </a:lnSpc>
              <a:buNone/>
              <a:defRPr/>
            </a:pPr>
            <a:endParaRPr lang="en-US" altLang="ko-KR" sz="1600" dirty="0"/>
          </a:p>
          <a:p>
            <a:pPr lvl="4">
              <a:defRPr/>
            </a:pPr>
            <a:endParaRPr lang="en-US" altLang="ko-KR" sz="1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C4BE6D5-8456-DDCD-42CC-FE56966F708D}"/>
              </a:ext>
            </a:extLst>
          </p:cNvPr>
          <p:cNvSpPr txBox="1"/>
          <p:nvPr/>
        </p:nvSpPr>
        <p:spPr>
          <a:xfrm>
            <a:off x="-78130" y="6012626"/>
            <a:ext cx="862983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32000" lvl="2">
              <a:defRPr/>
            </a:pPr>
            <a:r>
              <a:rPr lang="ko-KR" altLang="en-US" sz="1000" b="1" dirty="0"/>
              <a:t>출처 </a:t>
            </a:r>
            <a:r>
              <a:rPr lang="en-US" altLang="ko-KR" sz="1000" b="1" dirty="0"/>
              <a:t>: (Research on the configuration design method of heterogeneous constellation reconstruction under the multiple objective and multiple constraint, 2017 Shuang Zhao)</a:t>
            </a:r>
          </a:p>
        </p:txBody>
      </p:sp>
    </p:spTree>
    <p:extLst>
      <p:ext uri="{BB962C8B-B14F-4D97-AF65-F5344CB8AC3E}">
        <p14:creationId xmlns:p14="http://schemas.microsoft.com/office/powerpoint/2010/main" val="92728157"/>
      </p:ext>
    </p:extLst>
  </p:cSld>
  <p:clrMapOvr>
    <a:masterClrMapping/>
  </p:clrMapOvr>
  <p:transition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21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dirty="0"/>
              <a:t>이종위성군 선행연구자료</a:t>
            </a:r>
          </a:p>
        </p:txBody>
      </p:sp>
      <p:sp>
        <p:nvSpPr>
          <p:cNvPr id="10" name="내용 개체 틀 2"/>
          <p:cNvSpPr txBox="1"/>
          <p:nvPr/>
        </p:nvSpPr>
        <p:spPr>
          <a:xfrm>
            <a:off x="257081" y="1050263"/>
            <a:ext cx="8465679" cy="5376968"/>
          </a:xfrm>
          <a:prstGeom prst="rect">
            <a:avLst/>
          </a:prstGeom>
        </p:spPr>
        <p:txBody>
          <a:bodyPr vert="horz" lIns="91440" tIns="45720" rIns="91440" bIns="45720">
            <a:noAutofit/>
          </a:bodyPr>
          <a:lstStyle>
            <a:lvl1pPr marL="228600" indent="-360000" algn="l" defTabSz="914400" rtl="0" eaLnBrk="1" latinLnBrk="1" hangingPunct="1">
              <a:lnSpc>
                <a:spcPct val="100000"/>
              </a:lnSpc>
              <a:spcBef>
                <a:spcPts val="1000"/>
              </a:spcBef>
              <a:buFont typeface="Wingdings"/>
              <a:buChar char="v"/>
              <a:defRPr sz="2400" b="1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1pPr>
            <a:lvl2pPr marL="540000" indent="-324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Wingdings"/>
              <a:buChar char="u"/>
              <a:defRPr sz="1800" b="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2pPr>
            <a:lvl3pPr marL="720000" indent="-288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Wingdings"/>
              <a:buChar char="Ø"/>
              <a:defRPr sz="160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3pPr>
            <a:lvl4pPr marL="900000" indent="-252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Wingdings"/>
              <a:buChar char="ü"/>
              <a:defRPr sz="140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4pPr>
            <a:lvl5pPr marL="1080000" indent="-252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  <a:defRPr/>
            </a:pPr>
            <a:r>
              <a:rPr lang="en-US" altLang="ko-KR" sz="2200" b="1" dirty="0"/>
              <a:t>[1] </a:t>
            </a:r>
            <a:r>
              <a:rPr lang="ko-KR" altLang="en-US" sz="2200" b="1" dirty="0"/>
              <a:t>이종 위성군의 정의</a:t>
            </a:r>
            <a:endParaRPr lang="en-US" altLang="ko-KR" sz="2200" b="1" dirty="0"/>
          </a:p>
          <a:p>
            <a:pPr lvl="1">
              <a:lnSpc>
                <a:spcPct val="150000"/>
              </a:lnSpc>
              <a:defRPr/>
            </a:pPr>
            <a:r>
              <a:rPr lang="ko-KR" altLang="en-US" sz="1600" dirty="0"/>
              <a:t>위성군은 명확한 임무 요건을 가지고 있다</a:t>
            </a:r>
            <a:r>
              <a:rPr lang="en-US" altLang="ko-KR" sz="1600" dirty="0"/>
              <a:t>. </a:t>
            </a:r>
            <a:r>
              <a:rPr lang="ko-KR" altLang="en-US" sz="1600" dirty="0"/>
              <a:t>즉</a:t>
            </a:r>
            <a:r>
              <a:rPr lang="en-US" altLang="ko-KR" sz="1600" dirty="0"/>
              <a:t>, </a:t>
            </a:r>
            <a:r>
              <a:rPr lang="ko-KR" altLang="en-US" sz="1600" dirty="0"/>
              <a:t>모든 위성은 동일한 특정 임무를 중심으로 회전함</a:t>
            </a:r>
          </a:p>
          <a:p>
            <a:pPr lvl="1">
              <a:lnSpc>
                <a:spcPct val="150000"/>
              </a:lnSpc>
              <a:defRPr/>
            </a:pPr>
            <a:r>
              <a:rPr lang="ko-KR" altLang="en-US" sz="1600" dirty="0"/>
              <a:t>위성군은 상대적으로 고정된 공간 기하학적 구조를 가짐</a:t>
            </a:r>
            <a:r>
              <a:rPr lang="en-US" altLang="ko-KR" sz="1600" dirty="0"/>
              <a:t>.</a:t>
            </a:r>
          </a:p>
          <a:p>
            <a:pPr lvl="1">
              <a:lnSpc>
                <a:spcPct val="150000"/>
              </a:lnSpc>
              <a:defRPr/>
            </a:pPr>
            <a:r>
              <a:rPr lang="ko-KR" altLang="en-US" sz="1600" dirty="0"/>
              <a:t>위성군의 공간구조는 워커와 동일한 </a:t>
            </a:r>
            <a:r>
              <a:rPr lang="ko-KR" altLang="en-US" sz="1600" dirty="0" err="1"/>
              <a:t>균일성</a:t>
            </a:r>
            <a:r>
              <a:rPr lang="ko-KR" altLang="en-US" sz="1600" dirty="0"/>
              <a:t> 및 대칭성을 가지지 않음</a:t>
            </a:r>
            <a:endParaRPr lang="en-US" altLang="ko-KR" sz="1200" dirty="0"/>
          </a:p>
          <a:p>
            <a:pPr lvl="1">
              <a:lnSpc>
                <a:spcPct val="150000"/>
              </a:lnSpc>
              <a:defRPr/>
            </a:pPr>
            <a:endParaRPr lang="en-US" altLang="ko-KR" sz="1600" dirty="0"/>
          </a:p>
          <a:p>
            <a:pPr lvl="1">
              <a:lnSpc>
                <a:spcPct val="150000"/>
              </a:lnSpc>
              <a:defRPr/>
            </a:pPr>
            <a:endParaRPr lang="en-US" altLang="ko-KR" sz="1600" dirty="0"/>
          </a:p>
          <a:p>
            <a:pPr lvl="1">
              <a:lnSpc>
                <a:spcPct val="150000"/>
              </a:lnSpc>
              <a:defRPr/>
            </a:pPr>
            <a:endParaRPr lang="en-US" altLang="ko-KR" sz="1600" dirty="0"/>
          </a:p>
          <a:p>
            <a:pPr lvl="1">
              <a:lnSpc>
                <a:spcPct val="150000"/>
              </a:lnSpc>
              <a:defRPr/>
            </a:pPr>
            <a:endParaRPr lang="en-US" altLang="ko-KR" sz="1600" dirty="0"/>
          </a:p>
          <a:p>
            <a:pPr lvl="1">
              <a:lnSpc>
                <a:spcPct val="150000"/>
              </a:lnSpc>
              <a:defRPr/>
            </a:pPr>
            <a:endParaRPr lang="en-US" altLang="ko-KR" sz="1600" dirty="0"/>
          </a:p>
          <a:p>
            <a:pPr marL="216000" lvl="1" indent="0">
              <a:lnSpc>
                <a:spcPct val="150000"/>
              </a:lnSpc>
              <a:buNone/>
              <a:defRPr/>
            </a:pPr>
            <a:endParaRPr lang="en-US" altLang="ko-KR" sz="1600" dirty="0"/>
          </a:p>
          <a:p>
            <a:pPr lvl="1">
              <a:lnSpc>
                <a:spcPct val="150000"/>
              </a:lnSpc>
              <a:defRPr/>
            </a:pPr>
            <a:endParaRPr lang="ko-KR" altLang="en-US" sz="1600" dirty="0"/>
          </a:p>
          <a:p>
            <a:pPr lvl="1">
              <a:defRPr/>
            </a:pPr>
            <a:endParaRPr lang="en-US" altLang="ko-KR" sz="16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9EAB7E2-219F-F4F7-4746-8EFA1A021B3E}"/>
              </a:ext>
            </a:extLst>
          </p:cNvPr>
          <p:cNvSpPr txBox="1"/>
          <p:nvPr/>
        </p:nvSpPr>
        <p:spPr>
          <a:xfrm>
            <a:off x="-78130" y="6012626"/>
            <a:ext cx="862983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32000" lvl="2">
              <a:defRPr/>
            </a:pPr>
            <a:r>
              <a:rPr lang="ko-KR" altLang="en-US" sz="1000" b="1" dirty="0"/>
              <a:t>출처 </a:t>
            </a:r>
            <a:r>
              <a:rPr lang="en-US" altLang="ko-KR" sz="1000" b="1" dirty="0"/>
              <a:t>: (Research on the configuration design method of heterogeneous constellation reconstruction under the multiple objective and multiple constraint, 2017 Shuang Zhao)</a:t>
            </a:r>
          </a:p>
        </p:txBody>
      </p:sp>
    </p:spTree>
    <p:extLst>
      <p:ext uri="{BB962C8B-B14F-4D97-AF65-F5344CB8AC3E}">
        <p14:creationId xmlns:p14="http://schemas.microsoft.com/office/powerpoint/2010/main" val="4236562517"/>
      </p:ext>
    </p:extLst>
  </p:cSld>
  <p:clrMapOvr>
    <a:masterClrMapping/>
  </p:clrMapOvr>
  <p:transition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22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dirty="0"/>
              <a:t>이종위성군 선행연구자료</a:t>
            </a:r>
          </a:p>
        </p:txBody>
      </p:sp>
      <p:sp>
        <p:nvSpPr>
          <p:cNvPr id="10" name="내용 개체 틀 2"/>
          <p:cNvSpPr txBox="1"/>
          <p:nvPr/>
        </p:nvSpPr>
        <p:spPr>
          <a:xfrm>
            <a:off x="257081" y="1050263"/>
            <a:ext cx="8465679" cy="5376968"/>
          </a:xfrm>
          <a:prstGeom prst="rect">
            <a:avLst/>
          </a:prstGeom>
        </p:spPr>
        <p:txBody>
          <a:bodyPr vert="horz" lIns="91440" tIns="45720" rIns="91440" bIns="45720">
            <a:noAutofit/>
          </a:bodyPr>
          <a:lstStyle>
            <a:lvl1pPr marL="228600" indent="-360000" algn="l" defTabSz="914400" rtl="0" eaLnBrk="1" latinLnBrk="1" hangingPunct="1">
              <a:lnSpc>
                <a:spcPct val="100000"/>
              </a:lnSpc>
              <a:spcBef>
                <a:spcPts val="1000"/>
              </a:spcBef>
              <a:buFont typeface="Wingdings"/>
              <a:buChar char="v"/>
              <a:defRPr sz="2400" b="1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1pPr>
            <a:lvl2pPr marL="540000" indent="-324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Wingdings"/>
              <a:buChar char="u"/>
              <a:defRPr sz="1800" b="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2pPr>
            <a:lvl3pPr marL="720000" indent="-288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Wingdings"/>
              <a:buChar char="Ø"/>
              <a:defRPr sz="160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3pPr>
            <a:lvl4pPr marL="900000" indent="-252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Wingdings"/>
              <a:buChar char="ü"/>
              <a:defRPr sz="140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4pPr>
            <a:lvl5pPr marL="1080000" indent="-252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  <a:defRPr/>
            </a:pPr>
            <a:r>
              <a:rPr lang="en-US" altLang="ko-KR" sz="2200" b="1" dirty="0"/>
              <a:t>[2] </a:t>
            </a:r>
            <a:r>
              <a:rPr lang="ko-KR" altLang="en-US" sz="2200" b="1" dirty="0"/>
              <a:t>이종 위성군의 종류</a:t>
            </a:r>
            <a:endParaRPr lang="en-US" altLang="ko-KR" sz="2200" b="1" dirty="0"/>
          </a:p>
          <a:p>
            <a:pPr lvl="1">
              <a:lnSpc>
                <a:spcPct val="150000"/>
              </a:lnSpc>
              <a:defRPr/>
            </a:pPr>
            <a:r>
              <a:rPr lang="ko-KR" altLang="en-US" sz="1600" dirty="0"/>
              <a:t>전 지구적 이종 </a:t>
            </a:r>
            <a:r>
              <a:rPr lang="ko-KR" altLang="en-US" sz="1600" dirty="0" err="1"/>
              <a:t>위성군</a:t>
            </a:r>
            <a:endParaRPr lang="ko-KR" altLang="en-US" sz="1600" dirty="0"/>
          </a:p>
          <a:p>
            <a:pPr lvl="2">
              <a:lnSpc>
                <a:spcPct val="150000"/>
              </a:lnSpc>
              <a:defRPr/>
            </a:pPr>
            <a:r>
              <a:rPr lang="ko-KR" altLang="en-US" sz="1400" dirty="0"/>
              <a:t>경도 </a:t>
            </a:r>
            <a:r>
              <a:rPr lang="en-US" altLang="ko-KR" sz="1400" dirty="0"/>
              <a:t>-180~180</a:t>
            </a:r>
            <a:r>
              <a:rPr lang="ko-KR" altLang="en-US" sz="1400" dirty="0"/>
              <a:t>˚</a:t>
            </a:r>
            <a:r>
              <a:rPr lang="en-US" altLang="ko-KR" sz="1400" dirty="0"/>
              <a:t>, </a:t>
            </a:r>
            <a:r>
              <a:rPr lang="ko-KR" altLang="en-US" sz="1400" dirty="0"/>
              <a:t>위도 </a:t>
            </a:r>
            <a:r>
              <a:rPr lang="en-US" altLang="ko-KR" sz="1400" dirty="0"/>
              <a:t>-90~90</a:t>
            </a:r>
            <a:r>
              <a:rPr lang="ko-KR" altLang="en-US" sz="1400" dirty="0"/>
              <a:t>˚</a:t>
            </a:r>
            <a:endParaRPr lang="en-US" altLang="ko-KR" sz="1400" dirty="0"/>
          </a:p>
          <a:p>
            <a:pPr lvl="2">
              <a:lnSpc>
                <a:spcPct val="150000"/>
              </a:lnSpc>
              <a:defRPr/>
            </a:pPr>
            <a:r>
              <a:rPr lang="ko-KR" altLang="en-US" sz="1400" dirty="0"/>
              <a:t>다른 종류의 궤도를 포함하며 다른 궤도의 위성 수는 다름</a:t>
            </a:r>
          </a:p>
          <a:p>
            <a:pPr lvl="2">
              <a:lnSpc>
                <a:spcPct val="150000"/>
              </a:lnSpc>
              <a:defRPr/>
            </a:pPr>
            <a:r>
              <a:rPr lang="en-US" altLang="ko-KR" sz="1400" dirty="0"/>
              <a:t>Ex. </a:t>
            </a:r>
            <a:r>
              <a:rPr lang="ko-KR" altLang="en-US" sz="1400" dirty="0"/>
              <a:t>타원 궤도와 적도 궤도는 통신 도는 조기 경보 </a:t>
            </a:r>
            <a:r>
              <a:rPr lang="ko-KR" altLang="en-US" sz="1400" dirty="0" err="1"/>
              <a:t>위성군</a:t>
            </a:r>
            <a:r>
              <a:rPr lang="en-US" altLang="ko-KR" sz="1400" dirty="0"/>
              <a:t>,</a:t>
            </a:r>
          </a:p>
          <a:p>
            <a:pPr marL="432000" lvl="2" indent="0">
              <a:lnSpc>
                <a:spcPct val="150000"/>
              </a:lnSpc>
              <a:buNone/>
              <a:defRPr/>
            </a:pPr>
            <a:r>
              <a:rPr lang="en-US" altLang="ko-KR" sz="1400" dirty="0"/>
              <a:t>             IGSO, GEO, MEO </a:t>
            </a:r>
            <a:r>
              <a:rPr lang="ko-KR" altLang="en-US" sz="1400" dirty="0"/>
              <a:t>궤도는 항법 위성군에 이용 </a:t>
            </a:r>
          </a:p>
          <a:p>
            <a:pPr lvl="1">
              <a:lnSpc>
                <a:spcPct val="150000"/>
              </a:lnSpc>
              <a:defRPr/>
            </a:pPr>
            <a:r>
              <a:rPr lang="ko-KR" altLang="en-US" sz="1600" dirty="0"/>
              <a:t>지역 이종 </a:t>
            </a:r>
            <a:r>
              <a:rPr lang="ko-KR" altLang="en-US" sz="1600" dirty="0" err="1"/>
              <a:t>위성군</a:t>
            </a:r>
            <a:endParaRPr lang="ko-KR" altLang="en-US" sz="1600" dirty="0"/>
          </a:p>
          <a:p>
            <a:pPr lvl="2">
              <a:lnSpc>
                <a:spcPct val="150000"/>
              </a:lnSpc>
              <a:defRPr/>
            </a:pPr>
            <a:r>
              <a:rPr lang="ko-KR" altLang="en-US" sz="1400" dirty="0"/>
              <a:t>지구 표면의 특정 영역을 포함하도록 설계됨</a:t>
            </a:r>
          </a:p>
          <a:p>
            <a:pPr lvl="2">
              <a:lnSpc>
                <a:spcPct val="150000"/>
              </a:lnSpc>
              <a:defRPr/>
            </a:pPr>
            <a:r>
              <a:rPr lang="ko-KR" altLang="en-US" sz="1400" dirty="0"/>
              <a:t>다른 위성들 사이의 상대적 거리가 가깝고 각 위성은 위성군에서</a:t>
            </a:r>
          </a:p>
          <a:p>
            <a:pPr lvl="2">
              <a:lnSpc>
                <a:spcPct val="150000"/>
              </a:lnSpc>
              <a:defRPr/>
            </a:pPr>
            <a:r>
              <a:rPr lang="ko-KR" altLang="en-US" sz="1400" dirty="0"/>
              <a:t>같은 임무를 수행</a:t>
            </a:r>
            <a:r>
              <a:rPr lang="en-US" altLang="ko-KR" sz="1400" dirty="0"/>
              <a:t>(Ex. </a:t>
            </a:r>
            <a:r>
              <a:rPr lang="en-US" altLang="ko-KR" sz="1400" dirty="0" err="1"/>
              <a:t>Molniya</a:t>
            </a:r>
            <a:r>
              <a:rPr lang="en-US" altLang="ko-KR" sz="1400" dirty="0"/>
              <a:t> constellation)</a:t>
            </a:r>
          </a:p>
          <a:p>
            <a:pPr lvl="1">
              <a:lnSpc>
                <a:spcPct val="150000"/>
              </a:lnSpc>
              <a:defRPr/>
            </a:pPr>
            <a:endParaRPr lang="en-US" altLang="ko-KR" sz="1600" dirty="0"/>
          </a:p>
          <a:p>
            <a:pPr lvl="1">
              <a:lnSpc>
                <a:spcPct val="150000"/>
              </a:lnSpc>
              <a:defRPr/>
            </a:pPr>
            <a:endParaRPr lang="en-US" altLang="ko-KR" sz="1600" dirty="0"/>
          </a:p>
          <a:p>
            <a:pPr marL="216000" lvl="1" indent="0">
              <a:lnSpc>
                <a:spcPct val="150000"/>
              </a:lnSpc>
              <a:buNone/>
              <a:defRPr/>
            </a:pPr>
            <a:endParaRPr lang="en-US" altLang="ko-KR" sz="1600" dirty="0"/>
          </a:p>
          <a:p>
            <a:pPr lvl="1">
              <a:lnSpc>
                <a:spcPct val="150000"/>
              </a:lnSpc>
              <a:defRPr/>
            </a:pPr>
            <a:endParaRPr lang="ko-KR" altLang="en-US" sz="1600" dirty="0"/>
          </a:p>
          <a:p>
            <a:pPr lvl="1">
              <a:defRPr/>
            </a:pPr>
            <a:endParaRPr lang="en-US" altLang="ko-KR" sz="16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7036ECF-A947-A28E-4D18-967A958418F3}"/>
              </a:ext>
            </a:extLst>
          </p:cNvPr>
          <p:cNvSpPr txBox="1"/>
          <p:nvPr/>
        </p:nvSpPr>
        <p:spPr>
          <a:xfrm>
            <a:off x="-78130" y="6012626"/>
            <a:ext cx="862983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32000" lvl="2">
              <a:defRPr/>
            </a:pPr>
            <a:r>
              <a:rPr lang="ko-KR" altLang="en-US" sz="1000" b="1" dirty="0"/>
              <a:t>출처 </a:t>
            </a:r>
            <a:r>
              <a:rPr lang="en-US" altLang="ko-KR" sz="1000" b="1" dirty="0"/>
              <a:t>: (Research on the configuration design method of heterogeneous constellation reconstruction under the multiple objective and multiple constraint, 2017 Shuang Zhao)</a:t>
            </a:r>
          </a:p>
        </p:txBody>
      </p:sp>
    </p:spTree>
    <p:extLst>
      <p:ext uri="{BB962C8B-B14F-4D97-AF65-F5344CB8AC3E}">
        <p14:creationId xmlns:p14="http://schemas.microsoft.com/office/powerpoint/2010/main" val="99944719"/>
      </p:ext>
    </p:extLst>
  </p:cSld>
  <p:clrMapOvr>
    <a:masterClrMapping/>
  </p:clrMapOvr>
  <p:transition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23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dirty="0"/>
              <a:t>이종위성군 선행연구자료</a:t>
            </a:r>
          </a:p>
        </p:txBody>
      </p:sp>
      <p:sp>
        <p:nvSpPr>
          <p:cNvPr id="10" name="내용 개체 틀 2"/>
          <p:cNvSpPr txBox="1"/>
          <p:nvPr/>
        </p:nvSpPr>
        <p:spPr>
          <a:xfrm>
            <a:off x="257081" y="1050263"/>
            <a:ext cx="8465679" cy="5376968"/>
          </a:xfrm>
          <a:prstGeom prst="rect">
            <a:avLst/>
          </a:prstGeom>
        </p:spPr>
        <p:txBody>
          <a:bodyPr vert="horz" lIns="91440" tIns="45720" rIns="91440" bIns="45720">
            <a:noAutofit/>
          </a:bodyPr>
          <a:lstStyle>
            <a:lvl1pPr marL="228600" indent="-360000" algn="l" defTabSz="914400" rtl="0" eaLnBrk="1" latinLnBrk="1" hangingPunct="1">
              <a:lnSpc>
                <a:spcPct val="100000"/>
              </a:lnSpc>
              <a:spcBef>
                <a:spcPts val="1000"/>
              </a:spcBef>
              <a:buFont typeface="Wingdings"/>
              <a:buChar char="v"/>
              <a:defRPr sz="2400" b="1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1pPr>
            <a:lvl2pPr marL="540000" indent="-324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Wingdings"/>
              <a:buChar char="u"/>
              <a:defRPr sz="1800" b="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2pPr>
            <a:lvl3pPr marL="720000" indent="-288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Wingdings"/>
              <a:buChar char="Ø"/>
              <a:defRPr sz="160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3pPr>
            <a:lvl4pPr marL="900000" indent="-252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Wingdings"/>
              <a:buChar char="ü"/>
              <a:defRPr sz="140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4pPr>
            <a:lvl5pPr marL="1080000" indent="-252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  <a:defRPr/>
            </a:pPr>
            <a:r>
              <a:rPr lang="en-US" altLang="ko-KR" sz="2200" b="1" dirty="0"/>
              <a:t>[3] </a:t>
            </a:r>
            <a:r>
              <a:rPr lang="ko-KR" altLang="en-US" sz="2200" b="1" dirty="0"/>
              <a:t>이종 위성군의 </a:t>
            </a:r>
            <a:r>
              <a:rPr lang="ko-KR" altLang="en-US" sz="2200" dirty="0"/>
              <a:t>재구성</a:t>
            </a:r>
            <a:r>
              <a:rPr lang="en-US" altLang="ko-KR" sz="2200" dirty="0"/>
              <a:t>(Reconstruction)</a:t>
            </a:r>
            <a:endParaRPr lang="en-US" altLang="ko-KR" sz="2200" b="1" dirty="0"/>
          </a:p>
          <a:p>
            <a:pPr lvl="1">
              <a:lnSpc>
                <a:spcPct val="150000"/>
              </a:lnSpc>
              <a:defRPr/>
            </a:pPr>
            <a:r>
              <a:rPr lang="ko-KR" altLang="en-US" sz="1600" dirty="0"/>
              <a:t>시스템 장애</a:t>
            </a:r>
            <a:r>
              <a:rPr lang="en-US" altLang="ko-KR" sz="1600" dirty="0"/>
              <a:t>, </a:t>
            </a:r>
            <a:r>
              <a:rPr lang="ko-KR" altLang="en-US" sz="1600" dirty="0"/>
              <a:t>환경 문제 등에 직면하여 기존의 구성을 조정함으로써 위성군의 성능을 개선 및 새로운 요구 사항을 충족하는 일종의 방법</a:t>
            </a:r>
            <a:endParaRPr lang="en-US" altLang="ko-KR" sz="1600" dirty="0"/>
          </a:p>
          <a:p>
            <a:pPr lvl="1">
              <a:lnSpc>
                <a:spcPct val="150000"/>
              </a:lnSpc>
              <a:defRPr/>
            </a:pPr>
            <a:r>
              <a:rPr lang="ko-KR" altLang="ko-KR" sz="1600" dirty="0">
                <a:effectLst/>
                <a:latin typeface="Arial Unicode MS"/>
                <a:ea typeface="맑은 고딕" panose="020B0503020000020004" pitchFamily="50" charset="-127"/>
                <a:cs typeface="Arial Unicode MS"/>
              </a:rPr>
              <a:t>위성군의 재구성은 다양한 적용 시나리오에 따라 다음으로 분류</a:t>
            </a:r>
            <a:endParaRPr lang="en-US" altLang="ko-KR" sz="1400" dirty="0"/>
          </a:p>
          <a:p>
            <a:pPr lvl="2">
              <a:lnSpc>
                <a:spcPct val="150000"/>
              </a:lnSpc>
              <a:defRPr/>
            </a:pPr>
            <a:r>
              <a:rPr lang="en-US" altLang="ko-KR" sz="1400" dirty="0"/>
              <a:t>Satellite failure reconstruction</a:t>
            </a:r>
          </a:p>
          <a:p>
            <a:pPr lvl="2">
              <a:lnSpc>
                <a:spcPct val="150000"/>
              </a:lnSpc>
              <a:defRPr/>
            </a:pPr>
            <a:r>
              <a:rPr lang="en-US" altLang="ko-KR" sz="1400" dirty="0"/>
              <a:t>Ground mission change reconstruction</a:t>
            </a:r>
            <a:endParaRPr lang="ko-KR" altLang="en-US" sz="1400" dirty="0"/>
          </a:p>
          <a:p>
            <a:pPr lvl="1">
              <a:lnSpc>
                <a:spcPct val="150000"/>
              </a:lnSpc>
              <a:defRPr/>
            </a:pPr>
            <a:r>
              <a:rPr lang="ko-KR" altLang="en-US" sz="1600" dirty="0"/>
              <a:t>위성군의 재구성은 과정의 단계에 따라 다음으로 분류</a:t>
            </a:r>
            <a:endParaRPr lang="en-US" altLang="ko-KR" sz="1600" dirty="0"/>
          </a:p>
          <a:p>
            <a:pPr lvl="2">
              <a:lnSpc>
                <a:spcPct val="150000"/>
              </a:lnSpc>
              <a:defRPr/>
            </a:pPr>
            <a:r>
              <a:rPr lang="en-US" altLang="ko-KR" sz="1400" b="1" dirty="0"/>
              <a:t>Reconstruction configuration design(</a:t>
            </a:r>
            <a:r>
              <a:rPr lang="ko-KR" altLang="en-US" sz="1400" b="1" dirty="0"/>
              <a:t>본 논문에서 주로 다룸</a:t>
            </a:r>
            <a:r>
              <a:rPr lang="en-US" altLang="ko-KR" sz="1400" b="1" dirty="0"/>
              <a:t>)</a:t>
            </a:r>
          </a:p>
          <a:p>
            <a:pPr lvl="2">
              <a:lnSpc>
                <a:spcPct val="150000"/>
              </a:lnSpc>
              <a:defRPr/>
            </a:pPr>
            <a:r>
              <a:rPr lang="en-US" altLang="ko-KR" sz="1400" dirty="0"/>
              <a:t>Reconstruction process control</a:t>
            </a:r>
          </a:p>
          <a:p>
            <a:pPr lvl="1">
              <a:lnSpc>
                <a:spcPct val="150000"/>
              </a:lnSpc>
              <a:defRPr/>
            </a:pPr>
            <a:endParaRPr lang="en-US" altLang="ko-KR" sz="1600" dirty="0"/>
          </a:p>
          <a:p>
            <a:pPr lvl="1">
              <a:lnSpc>
                <a:spcPct val="150000"/>
              </a:lnSpc>
              <a:defRPr/>
            </a:pPr>
            <a:endParaRPr lang="en-US" altLang="ko-KR" sz="1600" dirty="0"/>
          </a:p>
          <a:p>
            <a:pPr marL="216000" lvl="1" indent="0">
              <a:lnSpc>
                <a:spcPct val="150000"/>
              </a:lnSpc>
              <a:buNone/>
              <a:defRPr/>
            </a:pPr>
            <a:endParaRPr lang="en-US" altLang="ko-KR" sz="1600" dirty="0"/>
          </a:p>
          <a:p>
            <a:pPr lvl="1">
              <a:lnSpc>
                <a:spcPct val="150000"/>
              </a:lnSpc>
              <a:defRPr/>
            </a:pPr>
            <a:endParaRPr lang="ko-KR" altLang="en-US" sz="1600" dirty="0"/>
          </a:p>
          <a:p>
            <a:pPr lvl="1">
              <a:defRPr/>
            </a:pPr>
            <a:endParaRPr lang="en-US" altLang="ko-KR" sz="16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5032CA3-9EB4-BED3-40D6-B3571CD7228B}"/>
              </a:ext>
            </a:extLst>
          </p:cNvPr>
          <p:cNvSpPr txBox="1"/>
          <p:nvPr/>
        </p:nvSpPr>
        <p:spPr>
          <a:xfrm>
            <a:off x="-78130" y="6012626"/>
            <a:ext cx="862983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32000" lvl="2">
              <a:defRPr/>
            </a:pPr>
            <a:r>
              <a:rPr lang="ko-KR" altLang="en-US" sz="1000" b="1" dirty="0"/>
              <a:t>출처 </a:t>
            </a:r>
            <a:r>
              <a:rPr lang="en-US" altLang="ko-KR" sz="1000" b="1" dirty="0"/>
              <a:t>: (Research on the configuration design method of heterogeneous constellation reconstruction under the multiple objective and multiple constraint, 2017 Shuang Zhao)</a:t>
            </a:r>
          </a:p>
        </p:txBody>
      </p:sp>
    </p:spTree>
    <p:extLst>
      <p:ext uri="{BB962C8B-B14F-4D97-AF65-F5344CB8AC3E}">
        <p14:creationId xmlns:p14="http://schemas.microsoft.com/office/powerpoint/2010/main" val="66557332"/>
      </p:ext>
    </p:extLst>
  </p:cSld>
  <p:clrMapOvr>
    <a:masterClrMapping/>
  </p:clrMapOvr>
  <p:transition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24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dirty="0"/>
              <a:t>이종위성군 선행연구자료</a:t>
            </a:r>
          </a:p>
        </p:txBody>
      </p:sp>
      <p:sp>
        <p:nvSpPr>
          <p:cNvPr id="10" name="내용 개체 틀 2"/>
          <p:cNvSpPr txBox="1"/>
          <p:nvPr/>
        </p:nvSpPr>
        <p:spPr>
          <a:xfrm>
            <a:off x="257081" y="1050263"/>
            <a:ext cx="8486227" cy="5376968"/>
          </a:xfrm>
          <a:prstGeom prst="rect">
            <a:avLst/>
          </a:prstGeom>
        </p:spPr>
        <p:txBody>
          <a:bodyPr vert="horz" lIns="91440" tIns="45720" rIns="91440" bIns="45720">
            <a:noAutofit/>
          </a:bodyPr>
          <a:lstStyle>
            <a:lvl1pPr marL="228600" indent="-360000" algn="l" defTabSz="914400" rtl="0" eaLnBrk="1" latinLnBrk="1" hangingPunct="1">
              <a:lnSpc>
                <a:spcPct val="100000"/>
              </a:lnSpc>
              <a:spcBef>
                <a:spcPts val="1000"/>
              </a:spcBef>
              <a:buFont typeface="Wingdings"/>
              <a:buChar char="v"/>
              <a:defRPr sz="2400" b="1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1pPr>
            <a:lvl2pPr marL="540000" indent="-324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Wingdings"/>
              <a:buChar char="u"/>
              <a:defRPr sz="1800" b="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2pPr>
            <a:lvl3pPr marL="720000" indent="-288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Wingdings"/>
              <a:buChar char="Ø"/>
              <a:defRPr sz="160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3pPr>
            <a:lvl4pPr marL="900000" indent="-252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Wingdings"/>
              <a:buChar char="ü"/>
              <a:defRPr sz="140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4pPr>
            <a:lvl5pPr marL="1080000" indent="-252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  <a:defRPr/>
            </a:pPr>
            <a:r>
              <a:rPr lang="en-US" altLang="ko-KR" sz="2200" b="1" dirty="0"/>
              <a:t>[4] Configuration Design</a:t>
            </a:r>
          </a:p>
          <a:p>
            <a:pPr lvl="1">
              <a:lnSpc>
                <a:spcPct val="150000"/>
              </a:lnSpc>
              <a:defRPr/>
            </a:pPr>
            <a:r>
              <a:rPr lang="ko-KR" altLang="en-US" sz="1600" dirty="0"/>
              <a:t>기존의 지표와 방법을 사용하여 재구성의 수학적 모델을 설정하고 다양한 재구성 시나리오에 따라 최종 구성을 얻는 과정</a:t>
            </a:r>
            <a:endParaRPr lang="en-US" altLang="ko-KR" sz="1600" dirty="0"/>
          </a:p>
          <a:p>
            <a:pPr lvl="1">
              <a:lnSpc>
                <a:spcPct val="150000"/>
              </a:lnSpc>
              <a:defRPr/>
            </a:pPr>
            <a:r>
              <a:rPr lang="en-US" altLang="ko-KR" sz="1600" b="1" dirty="0">
                <a:effectLst/>
                <a:latin typeface="times" panose="02020603050405020304" pitchFamily="18" charset="0"/>
                <a:ea typeface="맑은 고딕" panose="020B0503020000020004" pitchFamily="50" charset="-127"/>
                <a:cs typeface="times" panose="02020603050405020304" pitchFamily="18" charset="0"/>
              </a:rPr>
              <a:t>Phase uniformity method</a:t>
            </a:r>
          </a:p>
          <a:p>
            <a:pPr lvl="2">
              <a:lnSpc>
                <a:spcPct val="150000"/>
              </a:lnSpc>
              <a:defRPr/>
            </a:pPr>
            <a:r>
              <a:rPr lang="ko-KR" altLang="en-US" sz="1600" dirty="0" err="1"/>
              <a:t>위성군</a:t>
            </a:r>
            <a:r>
              <a:rPr lang="ko-KR" altLang="en-US" sz="1600" dirty="0"/>
              <a:t> 내 위성의 위상각을 조정하여 성능을 향상시키기 위해 위성 고장을</a:t>
            </a:r>
          </a:p>
          <a:p>
            <a:pPr lvl="2">
              <a:lnSpc>
                <a:spcPct val="150000"/>
              </a:lnSpc>
              <a:defRPr/>
            </a:pPr>
            <a:r>
              <a:rPr lang="en-US" altLang="ko-KR" sz="1600" dirty="0"/>
              <a:t>Single, Multi coplanar, Multi non-coplanar failure</a:t>
            </a:r>
            <a:r>
              <a:rPr lang="ko-KR" altLang="en-US" sz="1600" dirty="0"/>
              <a:t>로 분류됨</a:t>
            </a:r>
          </a:p>
          <a:p>
            <a:pPr lvl="1">
              <a:lnSpc>
                <a:spcPct val="150000"/>
              </a:lnSpc>
              <a:defRPr/>
            </a:pPr>
            <a:r>
              <a:rPr lang="en-US" altLang="ko-KR" sz="1600" b="1" dirty="0"/>
              <a:t>Reconstruction Configuration design method (Based on Optimization Algorithm) </a:t>
            </a:r>
          </a:p>
          <a:p>
            <a:pPr lvl="2">
              <a:lnSpc>
                <a:spcPct val="150000"/>
              </a:lnSpc>
              <a:defRPr/>
            </a:pPr>
            <a:r>
              <a:rPr lang="ko-KR" altLang="en-US" sz="1600" dirty="0"/>
              <a:t>효과적인 재구성 전략이 결정되며 </a:t>
            </a:r>
          </a:p>
          <a:p>
            <a:pPr lvl="2">
              <a:lnSpc>
                <a:spcPct val="150000"/>
              </a:lnSpc>
              <a:defRPr/>
            </a:pPr>
            <a:r>
              <a:rPr lang="ko-KR" altLang="en-US" sz="1600" dirty="0"/>
              <a:t>재구성 설계의 수학적 모델을 설정하고 기존의 최적화 알고리즘을 사용하여 모델의 최적 해를 얻음 </a:t>
            </a:r>
          </a:p>
          <a:p>
            <a:pPr lvl="2">
              <a:lnSpc>
                <a:spcPct val="150000"/>
              </a:lnSpc>
              <a:defRPr/>
            </a:pPr>
            <a:r>
              <a:rPr lang="en-US" altLang="ko-KR" sz="1600" dirty="0"/>
              <a:t>Satellite failure </a:t>
            </a:r>
            <a:r>
              <a:rPr lang="ko-KR" altLang="en-US" sz="1600" dirty="0"/>
              <a:t>뿐만 아니라 </a:t>
            </a:r>
            <a:r>
              <a:rPr lang="en-US" altLang="ko-KR" sz="1600" dirty="0"/>
              <a:t>Ground mission change </a:t>
            </a:r>
            <a:r>
              <a:rPr lang="ko-KR" altLang="en-US" sz="1600" dirty="0"/>
              <a:t>재구성도 해결할 수 있음</a:t>
            </a:r>
          </a:p>
          <a:p>
            <a:pPr lvl="1">
              <a:lnSpc>
                <a:spcPct val="150000"/>
              </a:lnSpc>
              <a:defRPr/>
            </a:pPr>
            <a:endParaRPr lang="en-US" altLang="ko-KR" sz="1600" dirty="0"/>
          </a:p>
          <a:p>
            <a:pPr lvl="1">
              <a:lnSpc>
                <a:spcPct val="150000"/>
              </a:lnSpc>
              <a:defRPr/>
            </a:pPr>
            <a:endParaRPr lang="en-US" altLang="ko-KR" sz="1600" dirty="0"/>
          </a:p>
          <a:p>
            <a:pPr marL="216000" lvl="1" indent="0">
              <a:lnSpc>
                <a:spcPct val="150000"/>
              </a:lnSpc>
              <a:buNone/>
              <a:defRPr/>
            </a:pPr>
            <a:endParaRPr lang="en-US" altLang="ko-KR" sz="1600" dirty="0"/>
          </a:p>
          <a:p>
            <a:pPr lvl="1">
              <a:lnSpc>
                <a:spcPct val="150000"/>
              </a:lnSpc>
              <a:defRPr/>
            </a:pPr>
            <a:endParaRPr lang="ko-KR" altLang="en-US" sz="1600" dirty="0"/>
          </a:p>
          <a:p>
            <a:pPr lvl="1">
              <a:defRPr/>
            </a:pPr>
            <a:endParaRPr lang="en-US" altLang="ko-KR" sz="16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7E4CDF5-426E-5C9A-46CA-1E6AFE3A72A7}"/>
              </a:ext>
            </a:extLst>
          </p:cNvPr>
          <p:cNvSpPr txBox="1"/>
          <p:nvPr/>
        </p:nvSpPr>
        <p:spPr>
          <a:xfrm>
            <a:off x="-78130" y="6012626"/>
            <a:ext cx="862983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32000" lvl="2">
              <a:defRPr/>
            </a:pPr>
            <a:r>
              <a:rPr lang="ko-KR" altLang="en-US" sz="1000" b="1" dirty="0"/>
              <a:t>출처 </a:t>
            </a:r>
            <a:r>
              <a:rPr lang="en-US" altLang="ko-KR" sz="1000" b="1" dirty="0"/>
              <a:t>: (Research on the configuration design method of heterogeneous constellation reconstruction under the multiple objective and multiple constraint, 2017 Shuang Zhao)</a:t>
            </a:r>
          </a:p>
        </p:txBody>
      </p:sp>
    </p:spTree>
    <p:extLst>
      <p:ext uri="{BB962C8B-B14F-4D97-AF65-F5344CB8AC3E}">
        <p14:creationId xmlns:p14="http://schemas.microsoft.com/office/powerpoint/2010/main" val="837328518"/>
      </p:ext>
    </p:extLst>
  </p:cSld>
  <p:clrMapOvr>
    <a:masterClrMapping/>
  </p:clrMapOvr>
  <p:transition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25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dirty="0"/>
              <a:t>이종위성군 선행연구자료</a:t>
            </a:r>
          </a:p>
        </p:txBody>
      </p:sp>
      <p:sp>
        <p:nvSpPr>
          <p:cNvPr id="10" name="내용 개체 틀 2"/>
          <p:cNvSpPr txBox="1"/>
          <p:nvPr/>
        </p:nvSpPr>
        <p:spPr>
          <a:xfrm>
            <a:off x="257081" y="1050263"/>
            <a:ext cx="8465679" cy="5376968"/>
          </a:xfrm>
          <a:prstGeom prst="rect">
            <a:avLst/>
          </a:prstGeom>
        </p:spPr>
        <p:txBody>
          <a:bodyPr vert="horz" lIns="91440" tIns="45720" rIns="91440" bIns="45720">
            <a:noAutofit/>
          </a:bodyPr>
          <a:lstStyle>
            <a:lvl1pPr marL="228600" indent="-360000" algn="l" defTabSz="914400" rtl="0" eaLnBrk="1" latinLnBrk="1" hangingPunct="1">
              <a:lnSpc>
                <a:spcPct val="100000"/>
              </a:lnSpc>
              <a:spcBef>
                <a:spcPts val="1000"/>
              </a:spcBef>
              <a:buFont typeface="Wingdings"/>
              <a:buChar char="v"/>
              <a:defRPr sz="2400" b="1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1pPr>
            <a:lvl2pPr marL="540000" indent="-324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Wingdings"/>
              <a:buChar char="u"/>
              <a:defRPr sz="1800" b="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2pPr>
            <a:lvl3pPr marL="720000" indent="-288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Wingdings"/>
              <a:buChar char="Ø"/>
              <a:defRPr sz="160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3pPr>
            <a:lvl4pPr marL="900000" indent="-252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Wingdings"/>
              <a:buChar char="ü"/>
              <a:defRPr sz="140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4pPr>
            <a:lvl5pPr marL="1080000" indent="-252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  <a:defRPr/>
            </a:pPr>
            <a:r>
              <a:rPr lang="en-US" altLang="ko-KR" sz="2200" b="1" dirty="0"/>
              <a:t>[4] Configuration Design</a:t>
            </a:r>
          </a:p>
          <a:p>
            <a:pPr lvl="1">
              <a:lnSpc>
                <a:spcPct val="150000"/>
              </a:lnSpc>
              <a:defRPr/>
            </a:pPr>
            <a:r>
              <a:rPr lang="ko-KR" altLang="en-US" sz="1600" dirty="0"/>
              <a:t>기존의 지표와 방법을 사용하여 재구성의 수학적 모델을 설정하고 다양한 재구성 시나리오에 따라 최종 구성을 얻는 과정</a:t>
            </a:r>
            <a:endParaRPr lang="en-US" altLang="ko-KR" sz="1600" dirty="0"/>
          </a:p>
          <a:p>
            <a:pPr lvl="1">
              <a:lnSpc>
                <a:spcPct val="150000"/>
              </a:lnSpc>
              <a:defRPr/>
            </a:pPr>
            <a:r>
              <a:rPr lang="en-US" altLang="ko-KR" sz="1600" b="1" dirty="0">
                <a:effectLst/>
                <a:latin typeface="times" panose="02020603050405020304" pitchFamily="18" charset="0"/>
                <a:ea typeface="맑은 고딕" panose="020B0503020000020004" pitchFamily="50" charset="-127"/>
                <a:cs typeface="times" panose="02020603050405020304" pitchFamily="18" charset="0"/>
              </a:rPr>
              <a:t>Phase uniformity method</a:t>
            </a:r>
          </a:p>
          <a:p>
            <a:pPr lvl="2">
              <a:lnSpc>
                <a:spcPct val="150000"/>
              </a:lnSpc>
              <a:defRPr/>
            </a:pPr>
            <a:r>
              <a:rPr lang="ko-KR" altLang="en-US" sz="1600" dirty="0"/>
              <a:t>장점 </a:t>
            </a:r>
            <a:r>
              <a:rPr lang="en-US" altLang="ko-KR" sz="1600" dirty="0"/>
              <a:t>: </a:t>
            </a:r>
            <a:r>
              <a:rPr lang="ko-KR" altLang="en-US" sz="1600" dirty="0"/>
              <a:t>에너지 절약</a:t>
            </a:r>
            <a:r>
              <a:rPr lang="en-US" altLang="ko-KR" sz="1600" dirty="0"/>
              <a:t>, </a:t>
            </a:r>
            <a:r>
              <a:rPr lang="ko-KR" altLang="en-US" sz="1600" dirty="0"/>
              <a:t>구현 단순성</a:t>
            </a:r>
            <a:r>
              <a:rPr lang="en-US" altLang="ko-KR" sz="1600" dirty="0"/>
              <a:t>, </a:t>
            </a:r>
            <a:r>
              <a:rPr lang="ko-KR" altLang="en-US" sz="1600" dirty="0"/>
              <a:t>간단한 과정</a:t>
            </a:r>
          </a:p>
          <a:p>
            <a:pPr lvl="2">
              <a:lnSpc>
                <a:spcPct val="150000"/>
              </a:lnSpc>
              <a:defRPr/>
            </a:pPr>
            <a:r>
              <a:rPr lang="ko-KR" altLang="en-US" sz="1600" dirty="0"/>
              <a:t>단점 </a:t>
            </a:r>
            <a:r>
              <a:rPr lang="en-US" altLang="ko-KR" sz="1600" dirty="0"/>
              <a:t>: </a:t>
            </a:r>
            <a:r>
              <a:rPr lang="ko-KR" altLang="en-US" sz="1600" dirty="0"/>
              <a:t>위성 고장 재구성에만 적용</a:t>
            </a:r>
            <a:r>
              <a:rPr lang="en-US" altLang="ko-KR" sz="1600" dirty="0"/>
              <a:t>, </a:t>
            </a:r>
            <a:r>
              <a:rPr lang="ko-KR" altLang="en-US" sz="1600" dirty="0"/>
              <a:t>최적성을 보장 불가능</a:t>
            </a:r>
            <a:endParaRPr lang="en-US" altLang="ko-KR" sz="1600" dirty="0">
              <a:effectLst/>
              <a:latin typeface="times" panose="02020603050405020304" pitchFamily="18" charset="0"/>
              <a:ea typeface="맑은 고딕" panose="020B0503020000020004" pitchFamily="50" charset="-127"/>
              <a:cs typeface="times" panose="02020603050405020304" pitchFamily="18" charset="0"/>
            </a:endParaRPr>
          </a:p>
          <a:p>
            <a:pPr lvl="1">
              <a:lnSpc>
                <a:spcPct val="150000"/>
              </a:lnSpc>
              <a:defRPr/>
            </a:pPr>
            <a:r>
              <a:rPr lang="en-US" altLang="ko-KR" sz="1600" b="1" dirty="0"/>
              <a:t>Reconstruction Configuration design method (Based on Optimization Algorithm) </a:t>
            </a:r>
          </a:p>
          <a:p>
            <a:pPr lvl="2">
              <a:lnSpc>
                <a:spcPct val="150000"/>
              </a:lnSpc>
              <a:defRPr/>
            </a:pPr>
            <a:r>
              <a:rPr lang="ko-KR" altLang="en-US" sz="1600" dirty="0"/>
              <a:t>장점 </a:t>
            </a:r>
            <a:r>
              <a:rPr lang="en-US" altLang="ko-KR" sz="1600" dirty="0"/>
              <a:t>: </a:t>
            </a:r>
            <a:r>
              <a:rPr lang="ko-KR" altLang="en-US" sz="1600" dirty="0"/>
              <a:t>범용성이 좋음</a:t>
            </a:r>
            <a:r>
              <a:rPr lang="en-US" altLang="ko-KR" sz="1600" dirty="0"/>
              <a:t>, </a:t>
            </a:r>
            <a:r>
              <a:rPr lang="ko-KR" altLang="en-US" sz="1600" dirty="0"/>
              <a:t>재구성에 대한 특별한 요구사항 없음</a:t>
            </a:r>
          </a:p>
          <a:p>
            <a:pPr marL="432000" lvl="2" indent="0">
              <a:lnSpc>
                <a:spcPct val="150000"/>
              </a:lnSpc>
              <a:buNone/>
              <a:defRPr/>
            </a:pPr>
            <a:r>
              <a:rPr lang="ko-KR" altLang="en-US" sz="1600" dirty="0"/>
              <a:t>                 최종 구성의 최적성을 보장 가능</a:t>
            </a:r>
          </a:p>
          <a:p>
            <a:pPr lvl="2">
              <a:lnSpc>
                <a:spcPct val="150000"/>
              </a:lnSpc>
              <a:defRPr/>
            </a:pPr>
            <a:r>
              <a:rPr lang="ko-KR" altLang="en-US" sz="1600" dirty="0"/>
              <a:t>단점 </a:t>
            </a:r>
            <a:r>
              <a:rPr lang="en-US" altLang="ko-KR" sz="1600" dirty="0"/>
              <a:t>: </a:t>
            </a:r>
            <a:r>
              <a:rPr lang="ko-KR" altLang="en-US" sz="1600" dirty="0"/>
              <a:t>수학적 모델 및 구체적인 재구성 지표가 부족</a:t>
            </a:r>
          </a:p>
          <a:p>
            <a:pPr lvl="1">
              <a:lnSpc>
                <a:spcPct val="150000"/>
              </a:lnSpc>
              <a:defRPr/>
            </a:pPr>
            <a:endParaRPr lang="en-US" altLang="ko-KR" sz="1600" dirty="0"/>
          </a:p>
          <a:p>
            <a:pPr lvl="1">
              <a:lnSpc>
                <a:spcPct val="150000"/>
              </a:lnSpc>
              <a:defRPr/>
            </a:pPr>
            <a:endParaRPr lang="en-US" altLang="ko-KR" sz="1600" dirty="0"/>
          </a:p>
          <a:p>
            <a:pPr marL="216000" lvl="1" indent="0">
              <a:lnSpc>
                <a:spcPct val="150000"/>
              </a:lnSpc>
              <a:buNone/>
              <a:defRPr/>
            </a:pPr>
            <a:endParaRPr lang="en-US" altLang="ko-KR" sz="1600" dirty="0"/>
          </a:p>
          <a:p>
            <a:pPr lvl="1">
              <a:lnSpc>
                <a:spcPct val="150000"/>
              </a:lnSpc>
              <a:defRPr/>
            </a:pPr>
            <a:endParaRPr lang="ko-KR" altLang="en-US" sz="1600" dirty="0"/>
          </a:p>
          <a:p>
            <a:pPr lvl="1">
              <a:defRPr/>
            </a:pPr>
            <a:endParaRPr lang="en-US" altLang="ko-KR" sz="16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69EF427-2D71-2E00-A975-F8CA21F86088}"/>
              </a:ext>
            </a:extLst>
          </p:cNvPr>
          <p:cNvSpPr txBox="1"/>
          <p:nvPr/>
        </p:nvSpPr>
        <p:spPr>
          <a:xfrm>
            <a:off x="-78130" y="6012626"/>
            <a:ext cx="862983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32000" lvl="2">
              <a:defRPr/>
            </a:pPr>
            <a:r>
              <a:rPr lang="ko-KR" altLang="en-US" sz="1000" b="1" dirty="0"/>
              <a:t>출처 </a:t>
            </a:r>
            <a:r>
              <a:rPr lang="en-US" altLang="ko-KR" sz="1000" b="1" dirty="0"/>
              <a:t>: (Research on the configuration design method of heterogeneous constellation reconstruction under the multiple objective and multiple constraint, 2017 Shuang Zhao)</a:t>
            </a:r>
          </a:p>
        </p:txBody>
      </p:sp>
    </p:spTree>
    <p:extLst>
      <p:ext uri="{BB962C8B-B14F-4D97-AF65-F5344CB8AC3E}">
        <p14:creationId xmlns:p14="http://schemas.microsoft.com/office/powerpoint/2010/main" val="2469809648"/>
      </p:ext>
    </p:extLst>
  </p:cSld>
  <p:clrMapOvr>
    <a:masterClrMapping/>
  </p:clrMapOvr>
  <p:transition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26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dirty="0"/>
              <a:t>이종위성군 선행연구자료</a:t>
            </a:r>
          </a:p>
        </p:txBody>
      </p:sp>
      <p:sp>
        <p:nvSpPr>
          <p:cNvPr id="10" name="내용 개체 틀 2"/>
          <p:cNvSpPr txBox="1"/>
          <p:nvPr/>
        </p:nvSpPr>
        <p:spPr>
          <a:xfrm>
            <a:off x="257081" y="1050263"/>
            <a:ext cx="8465679" cy="5376968"/>
          </a:xfrm>
          <a:prstGeom prst="rect">
            <a:avLst/>
          </a:prstGeom>
        </p:spPr>
        <p:txBody>
          <a:bodyPr vert="horz" lIns="91440" tIns="45720" rIns="91440" bIns="45720">
            <a:noAutofit/>
          </a:bodyPr>
          <a:lstStyle>
            <a:lvl1pPr marL="228600" indent="-360000" algn="l" defTabSz="914400" rtl="0" eaLnBrk="1" latinLnBrk="1" hangingPunct="1">
              <a:lnSpc>
                <a:spcPct val="100000"/>
              </a:lnSpc>
              <a:spcBef>
                <a:spcPts val="1000"/>
              </a:spcBef>
              <a:buFont typeface="Wingdings"/>
              <a:buChar char="v"/>
              <a:defRPr sz="2400" b="1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1pPr>
            <a:lvl2pPr marL="540000" indent="-324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Wingdings"/>
              <a:buChar char="u"/>
              <a:defRPr sz="1800" b="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2pPr>
            <a:lvl3pPr marL="720000" indent="-288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Wingdings"/>
              <a:buChar char="Ø"/>
              <a:defRPr sz="160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3pPr>
            <a:lvl4pPr marL="900000" indent="-252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Wingdings"/>
              <a:buChar char="ü"/>
              <a:defRPr sz="140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4pPr>
            <a:lvl5pPr marL="1080000" indent="-252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  <a:defRPr/>
            </a:pPr>
            <a:r>
              <a:rPr lang="en-US" altLang="ko-KR" sz="2200" b="1" dirty="0"/>
              <a:t>[5] </a:t>
            </a:r>
            <a:r>
              <a:rPr lang="ko-KR" altLang="en-US" sz="2200" b="1" dirty="0"/>
              <a:t>이종 </a:t>
            </a:r>
            <a:r>
              <a:rPr lang="ko-KR" altLang="en-US" sz="2200" b="1" dirty="0" err="1"/>
              <a:t>위성군</a:t>
            </a:r>
            <a:r>
              <a:rPr lang="ko-KR" altLang="en-US" sz="2200" b="1" dirty="0"/>
              <a:t> </a:t>
            </a:r>
            <a:r>
              <a:rPr lang="ko-KR" altLang="en-US" sz="2200" dirty="0"/>
              <a:t>재구성의 제한조건</a:t>
            </a:r>
            <a:endParaRPr lang="en-US" altLang="ko-KR" sz="2200" b="1" dirty="0"/>
          </a:p>
          <a:p>
            <a:pPr marL="774900" lvl="2" indent="-342900">
              <a:lnSpc>
                <a:spcPct val="150000"/>
              </a:lnSpc>
              <a:buFont typeface="+mj-lt"/>
              <a:buAutoNum type="arabicParenR"/>
              <a:defRPr/>
            </a:pPr>
            <a:r>
              <a:rPr lang="ko-KR" altLang="en-US" sz="1600" dirty="0"/>
              <a:t>재구성에 따른 </a:t>
            </a:r>
            <a:r>
              <a:rPr lang="ko-KR" altLang="en-US" sz="1600" dirty="0" err="1"/>
              <a:t>위성군</a:t>
            </a:r>
            <a:r>
              <a:rPr lang="ko-KR" altLang="en-US" sz="1600" dirty="0"/>
              <a:t> 성능저하</a:t>
            </a:r>
          </a:p>
          <a:p>
            <a:pPr marL="774900" lvl="2" indent="-342900">
              <a:lnSpc>
                <a:spcPct val="150000"/>
              </a:lnSpc>
              <a:buFont typeface="+mj-lt"/>
              <a:buAutoNum type="arabicParenR"/>
              <a:defRPr/>
            </a:pPr>
            <a:r>
              <a:rPr lang="ko-KR" altLang="en-US" sz="1600" dirty="0"/>
              <a:t>운용 위성의 수</a:t>
            </a:r>
          </a:p>
          <a:p>
            <a:pPr marL="774900" lvl="2" indent="-342900">
              <a:lnSpc>
                <a:spcPct val="150000"/>
              </a:lnSpc>
              <a:buFont typeface="+mj-lt"/>
              <a:buAutoNum type="arabicParenR"/>
              <a:defRPr/>
            </a:pPr>
            <a:r>
              <a:rPr lang="ko-KR" altLang="en-US" sz="1600" dirty="0"/>
              <a:t>재구성의 복구 능력</a:t>
            </a:r>
          </a:p>
          <a:p>
            <a:pPr marL="774900" lvl="2" indent="-342900">
              <a:lnSpc>
                <a:spcPct val="150000"/>
              </a:lnSpc>
              <a:buFont typeface="+mj-lt"/>
              <a:buAutoNum type="arabicParenR"/>
              <a:defRPr/>
            </a:pPr>
            <a:r>
              <a:rPr lang="ko-KR" altLang="en-US" sz="1600" dirty="0"/>
              <a:t>재구성 에너지의 분배</a:t>
            </a:r>
          </a:p>
          <a:p>
            <a:pPr marL="774900" lvl="2" indent="-342900">
              <a:lnSpc>
                <a:spcPct val="150000"/>
              </a:lnSpc>
              <a:buFont typeface="+mj-lt"/>
              <a:buAutoNum type="arabicParenR"/>
              <a:defRPr/>
            </a:pPr>
            <a:r>
              <a:rPr lang="ko-KR" altLang="en-US" sz="1600" dirty="0"/>
              <a:t>재구성 비용의 손실</a:t>
            </a:r>
            <a:endParaRPr lang="en-US" altLang="ko-KR" sz="1600" dirty="0"/>
          </a:p>
          <a:p>
            <a:pPr marL="216000" lvl="1" indent="0">
              <a:lnSpc>
                <a:spcPct val="150000"/>
              </a:lnSpc>
              <a:buNone/>
              <a:defRPr/>
            </a:pPr>
            <a:endParaRPr lang="en-US" altLang="ko-KR" sz="1600" dirty="0"/>
          </a:p>
          <a:p>
            <a:pPr lvl="1">
              <a:lnSpc>
                <a:spcPct val="150000"/>
              </a:lnSpc>
              <a:defRPr/>
            </a:pPr>
            <a:endParaRPr lang="ko-KR" altLang="en-US" sz="1600" dirty="0"/>
          </a:p>
          <a:p>
            <a:pPr lvl="1">
              <a:defRPr/>
            </a:pPr>
            <a:endParaRPr lang="en-US" altLang="ko-KR" sz="16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5032CA3-9EB4-BED3-40D6-B3571CD7228B}"/>
              </a:ext>
            </a:extLst>
          </p:cNvPr>
          <p:cNvSpPr txBox="1"/>
          <p:nvPr/>
        </p:nvSpPr>
        <p:spPr>
          <a:xfrm>
            <a:off x="-78130" y="6012626"/>
            <a:ext cx="862983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32000" lvl="2">
              <a:defRPr/>
            </a:pPr>
            <a:r>
              <a:rPr lang="ko-KR" altLang="en-US" sz="1000" b="1" dirty="0"/>
              <a:t>출처 </a:t>
            </a:r>
            <a:r>
              <a:rPr lang="en-US" altLang="ko-KR" sz="1000" b="1" dirty="0"/>
              <a:t>: (Research on the configuration design method of heterogeneous constellation reconstruction under the multiple objective and multiple constraint, 2017 Shuang Zhao)</a:t>
            </a:r>
          </a:p>
        </p:txBody>
      </p:sp>
    </p:spTree>
    <p:extLst>
      <p:ext uri="{BB962C8B-B14F-4D97-AF65-F5344CB8AC3E}">
        <p14:creationId xmlns:p14="http://schemas.microsoft.com/office/powerpoint/2010/main" val="1447663564"/>
      </p:ext>
    </p:extLst>
  </p:cSld>
  <p:clrMapOvr>
    <a:masterClrMapping/>
  </p:clrMapOvr>
  <p:transition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27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dirty="0"/>
              <a:t>이종위성군 선행연구자료</a:t>
            </a:r>
          </a:p>
        </p:txBody>
      </p:sp>
      <p:sp>
        <p:nvSpPr>
          <p:cNvPr id="10" name="내용 개체 틀 2"/>
          <p:cNvSpPr txBox="1"/>
          <p:nvPr/>
        </p:nvSpPr>
        <p:spPr>
          <a:xfrm>
            <a:off x="257081" y="1050263"/>
            <a:ext cx="8465679" cy="5376968"/>
          </a:xfrm>
          <a:prstGeom prst="rect">
            <a:avLst/>
          </a:prstGeom>
        </p:spPr>
        <p:txBody>
          <a:bodyPr vert="horz" lIns="91440" tIns="45720" rIns="91440" bIns="45720">
            <a:noAutofit/>
          </a:bodyPr>
          <a:lstStyle>
            <a:lvl1pPr marL="228600" indent="-360000" algn="l" defTabSz="914400" rtl="0" eaLnBrk="1" latinLnBrk="1" hangingPunct="1">
              <a:lnSpc>
                <a:spcPct val="100000"/>
              </a:lnSpc>
              <a:spcBef>
                <a:spcPts val="1000"/>
              </a:spcBef>
              <a:buFont typeface="Wingdings"/>
              <a:buChar char="v"/>
              <a:defRPr sz="2400" b="1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1pPr>
            <a:lvl2pPr marL="540000" indent="-324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Wingdings"/>
              <a:buChar char="u"/>
              <a:defRPr sz="1800" b="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2pPr>
            <a:lvl3pPr marL="720000" indent="-288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Wingdings"/>
              <a:buChar char="Ø"/>
              <a:defRPr sz="160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3pPr>
            <a:lvl4pPr marL="900000" indent="-252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Wingdings"/>
              <a:buChar char="ü"/>
              <a:defRPr sz="140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4pPr>
            <a:lvl5pPr marL="1080000" indent="-252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  <a:defRPr/>
            </a:pPr>
            <a:r>
              <a:rPr lang="en-US" altLang="ko-KR" sz="2200" b="1" dirty="0"/>
              <a:t>[6] </a:t>
            </a:r>
            <a:r>
              <a:rPr lang="ko-KR" altLang="en-US" sz="2200" b="1" dirty="0"/>
              <a:t>이종 </a:t>
            </a:r>
            <a:r>
              <a:rPr lang="ko-KR" altLang="en-US" sz="2200" b="1" dirty="0" err="1"/>
              <a:t>위성군</a:t>
            </a:r>
            <a:r>
              <a:rPr lang="ko-KR" altLang="en-US" sz="2200" b="1" dirty="0"/>
              <a:t> </a:t>
            </a:r>
            <a:r>
              <a:rPr lang="ko-KR" altLang="en-US" sz="2200" dirty="0"/>
              <a:t>재구성의 목적함수</a:t>
            </a:r>
            <a:endParaRPr lang="en-US" altLang="ko-KR" sz="2200" dirty="0"/>
          </a:p>
          <a:p>
            <a:pPr lvl="2">
              <a:lnSpc>
                <a:spcPct val="150000"/>
              </a:lnSpc>
              <a:buFont typeface="Wingdings" panose="05000000000000000000" pitchFamily="2" charset="2"/>
              <a:buChar char="u"/>
              <a:defRPr/>
            </a:pPr>
            <a:r>
              <a:rPr lang="ko-KR" altLang="en-US" sz="1600" dirty="0"/>
              <a:t>일반적으로 목적함수는 재방문 시간</a:t>
            </a:r>
            <a:r>
              <a:rPr lang="en-US" altLang="ko-KR" sz="1600" dirty="0"/>
              <a:t>, </a:t>
            </a:r>
            <a:r>
              <a:rPr lang="ko-KR" altLang="en-US" sz="1600" dirty="0"/>
              <a:t>응답 시간</a:t>
            </a:r>
            <a:r>
              <a:rPr lang="en-US" altLang="ko-KR" sz="1600" dirty="0"/>
              <a:t>, </a:t>
            </a:r>
            <a:r>
              <a:rPr lang="ko-KR" altLang="en-US" sz="1600" dirty="0"/>
              <a:t>커버리지 비율 등의 </a:t>
            </a:r>
            <a:r>
              <a:rPr lang="ko-KR" altLang="en-US" sz="1600" dirty="0" err="1"/>
              <a:t>위성군</a:t>
            </a:r>
            <a:r>
              <a:rPr lang="ko-KR" altLang="en-US" sz="1600" dirty="0"/>
              <a:t> 성능 지수로 구성됨</a:t>
            </a:r>
          </a:p>
          <a:p>
            <a:pPr lvl="2">
              <a:lnSpc>
                <a:spcPct val="150000"/>
              </a:lnSpc>
              <a:buFont typeface="Wingdings" panose="05000000000000000000" pitchFamily="2" charset="2"/>
              <a:buChar char="u"/>
              <a:defRPr/>
            </a:pPr>
            <a:r>
              <a:rPr lang="ko-KR" altLang="en-US" sz="1600" dirty="0"/>
              <a:t>목적함수의 정해진 패턴 및 공식은 없으며 위성군의 유형에 따라 성능지수의 중요도 또한 다름</a:t>
            </a:r>
          </a:p>
          <a:p>
            <a:pPr marL="0" indent="0">
              <a:lnSpc>
                <a:spcPct val="150000"/>
              </a:lnSpc>
              <a:buNone/>
              <a:defRPr/>
            </a:pPr>
            <a:r>
              <a:rPr lang="en-US" altLang="ko-KR" sz="2200" b="1" dirty="0"/>
              <a:t>[7] </a:t>
            </a:r>
            <a:r>
              <a:rPr lang="ko-KR" altLang="en-US" sz="2200" dirty="0"/>
              <a:t>결론</a:t>
            </a:r>
            <a:endParaRPr lang="en-US" altLang="ko-KR" sz="2200" dirty="0"/>
          </a:p>
          <a:p>
            <a:pPr lvl="2">
              <a:lnSpc>
                <a:spcPct val="150000"/>
              </a:lnSpc>
              <a:buFont typeface="Wingdings" panose="05000000000000000000" pitchFamily="2" charset="2"/>
              <a:buChar char="u"/>
              <a:defRPr/>
            </a:pPr>
            <a:r>
              <a:rPr lang="ko-KR" altLang="en-US" sz="1600" dirty="0"/>
              <a:t>이종 위성군의 재구성 설계에 대한 연구는 복잡하지만 변경 가능한 지상 임무를 처리하는 능력을 향상시키고 기존 우주 임무의 안정성</a:t>
            </a:r>
            <a:r>
              <a:rPr lang="en-US" altLang="ko-KR" sz="1600" dirty="0"/>
              <a:t>, </a:t>
            </a:r>
            <a:r>
              <a:rPr lang="ko-KR" altLang="en-US" sz="1600" dirty="0"/>
              <a:t>신뢰성 및 유연성을 키울 수 있음</a:t>
            </a:r>
          </a:p>
          <a:p>
            <a:pPr lvl="2">
              <a:lnSpc>
                <a:spcPct val="150000"/>
              </a:lnSpc>
              <a:buFont typeface="Wingdings" panose="05000000000000000000" pitchFamily="2" charset="2"/>
              <a:buChar char="u"/>
              <a:defRPr/>
            </a:pPr>
            <a:r>
              <a:rPr lang="ko-KR" altLang="en-US" sz="1600" dirty="0"/>
              <a:t>전략적 중요성과 응용 가치가 높음</a:t>
            </a:r>
          </a:p>
          <a:p>
            <a:pPr lvl="2">
              <a:lnSpc>
                <a:spcPct val="150000"/>
              </a:lnSpc>
              <a:buFont typeface="Wingdings" panose="05000000000000000000" pitchFamily="2" charset="2"/>
              <a:buChar char="u"/>
              <a:defRPr/>
            </a:pPr>
            <a:r>
              <a:rPr lang="ko-KR" altLang="en-US" sz="1600" dirty="0"/>
              <a:t>하지만 재구성 설계에 대한 모델 및 지표가 없는 것이 한계</a:t>
            </a:r>
          </a:p>
          <a:p>
            <a:pPr lvl="2">
              <a:lnSpc>
                <a:spcPct val="150000"/>
              </a:lnSpc>
              <a:buFont typeface="Wingdings" panose="05000000000000000000" pitchFamily="2" charset="2"/>
              <a:buChar char="u"/>
              <a:defRPr/>
            </a:pPr>
            <a:endParaRPr lang="en-US" altLang="ko-KR" sz="1600" dirty="0"/>
          </a:p>
          <a:p>
            <a:pPr marL="432000" lvl="2" indent="0">
              <a:lnSpc>
                <a:spcPct val="150000"/>
              </a:lnSpc>
              <a:buNone/>
              <a:defRPr/>
            </a:pPr>
            <a:endParaRPr lang="en-US" altLang="ko-KR" sz="1600" dirty="0"/>
          </a:p>
          <a:p>
            <a:pPr marL="216000" lvl="1" indent="0">
              <a:lnSpc>
                <a:spcPct val="150000"/>
              </a:lnSpc>
              <a:buNone/>
              <a:defRPr/>
            </a:pPr>
            <a:endParaRPr lang="en-US" altLang="ko-KR" sz="1600" dirty="0"/>
          </a:p>
          <a:p>
            <a:pPr lvl="1">
              <a:lnSpc>
                <a:spcPct val="150000"/>
              </a:lnSpc>
              <a:defRPr/>
            </a:pPr>
            <a:endParaRPr lang="ko-KR" altLang="en-US" sz="1600" dirty="0"/>
          </a:p>
          <a:p>
            <a:pPr lvl="1">
              <a:defRPr/>
            </a:pPr>
            <a:endParaRPr lang="en-US" altLang="ko-KR" sz="16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5032CA3-9EB4-BED3-40D6-B3571CD7228B}"/>
              </a:ext>
            </a:extLst>
          </p:cNvPr>
          <p:cNvSpPr txBox="1"/>
          <p:nvPr/>
        </p:nvSpPr>
        <p:spPr>
          <a:xfrm>
            <a:off x="-78130" y="6012626"/>
            <a:ext cx="862983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32000" lvl="2">
              <a:defRPr/>
            </a:pPr>
            <a:r>
              <a:rPr lang="ko-KR" altLang="en-US" sz="1000" b="1" dirty="0"/>
              <a:t>출처 </a:t>
            </a:r>
            <a:r>
              <a:rPr lang="en-US" altLang="ko-KR" sz="1000" b="1" dirty="0"/>
              <a:t>: (Research on the configuration design method of heterogeneous constellation reconstruction under the multiple objective and multiple constraint, 2017 Shuang Zhao)</a:t>
            </a:r>
          </a:p>
        </p:txBody>
      </p:sp>
    </p:spTree>
    <p:extLst>
      <p:ext uri="{BB962C8B-B14F-4D97-AF65-F5344CB8AC3E}">
        <p14:creationId xmlns:p14="http://schemas.microsoft.com/office/powerpoint/2010/main" val="1885142538"/>
      </p:ext>
    </p:extLst>
  </p:cSld>
  <p:clrMapOvr>
    <a:masterClrMapping/>
  </p:clrMapOvr>
  <p:transition/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solidFill>
          <a:srgbClr val="FFFFFF"/>
        </a:solidFill>
        <a:ln>
          <a:noFill/>
        </a:ln>
        <a:extLst>
          <a:ext uri="{91240B29-F687-4F45-9708-019B960494DF}">
            <a14:hiddenLine xmlns:a14="http://schemas.microsoft.com/office/drawing/2010/main" w="9525">
              <a:solidFill>
                <a:srgbClr val="000000"/>
              </a:solidFill>
              <a:miter lim="800000"/>
              <a:headEnd/>
              <a:tailEnd/>
            </a14:hiddenLine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algn="l">
          <a:defRPr/>
        </a:defPPr>
      </a:lst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81770</TotalTime>
  <Words>2214</Words>
  <Application>Microsoft Office PowerPoint</Application>
  <PresentationFormat>화면 슬라이드 쇼(4:3)</PresentationFormat>
  <Paragraphs>347</Paragraphs>
  <Slides>28</Slides>
  <Notes>3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28</vt:i4>
      </vt:variant>
    </vt:vector>
  </HeadingPairs>
  <TitlesOfParts>
    <vt:vector size="35" baseType="lpstr">
      <vt:lpstr>Arial Unicode MS</vt:lpstr>
      <vt:lpstr>맑은 고딕</vt:lpstr>
      <vt:lpstr>Arial</vt:lpstr>
      <vt:lpstr>times</vt:lpstr>
      <vt:lpstr>Times New Roman</vt:lpstr>
      <vt:lpstr>Wingdings</vt:lpstr>
      <vt:lpstr>Office 테마</vt:lpstr>
      <vt:lpstr>이종위성군 선행연구자료</vt:lpstr>
      <vt:lpstr>이종위성군 선행연구자료</vt:lpstr>
      <vt:lpstr>(1) A Framework for Heterogeneous Satellite Constellation Design for Rapid Response Earth Observations, 2019 Ibrahim Sanad </vt:lpstr>
      <vt:lpstr>이종위성군 선행연구자료</vt:lpstr>
      <vt:lpstr>이종위성군 선행연구자료</vt:lpstr>
      <vt:lpstr>이종위성군 선행연구자료</vt:lpstr>
      <vt:lpstr>이종위성군 선행연구자료</vt:lpstr>
      <vt:lpstr>이종위성군 선행연구자료</vt:lpstr>
      <vt:lpstr>이종위성군 선행연구자료</vt:lpstr>
      <vt:lpstr>이종위성군 선행연구자료</vt:lpstr>
      <vt:lpstr>이종위성군 선행연구자료</vt:lpstr>
      <vt:lpstr>이종위성군 선행연구자료</vt:lpstr>
      <vt:lpstr>이종위성군 선행연구자료</vt:lpstr>
      <vt:lpstr>이종위성군 선행연구자료</vt:lpstr>
      <vt:lpstr>이종위성군 선행연구자료</vt:lpstr>
      <vt:lpstr>이종위성군 선행연구자료</vt:lpstr>
      <vt:lpstr>이종위성군 선행연구자료</vt:lpstr>
      <vt:lpstr>이종위성군 선행연구자료</vt:lpstr>
      <vt:lpstr>이종위성군 선행연구자료</vt:lpstr>
      <vt:lpstr>(2) Research on the configuration design method of heterogeneous constellation reconstruction under the multiple objective and multiple constraint, 2017 Shuang Zhao </vt:lpstr>
      <vt:lpstr>이종위성군 선행연구자료</vt:lpstr>
      <vt:lpstr>이종위성군 선행연구자료</vt:lpstr>
      <vt:lpstr>이종위성군 선행연구자료</vt:lpstr>
      <vt:lpstr>이종위성군 선행연구자료</vt:lpstr>
      <vt:lpstr>이종위성군 선행연구자료</vt:lpstr>
      <vt:lpstr>이종위성군 선행연구자료</vt:lpstr>
      <vt:lpstr>이종위성군 선행연구자료</vt:lpstr>
      <vt:lpstr>이종위성군 선행연구자료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KimGeuk-Nam</dc:creator>
  <cp:lastModifiedBy>이진진</cp:lastModifiedBy>
  <cp:revision>4525</cp:revision>
  <dcterms:created xsi:type="dcterms:W3CDTF">2018-01-29T02:45:56Z</dcterms:created>
  <dcterms:modified xsi:type="dcterms:W3CDTF">2023-04-04T07:35:29Z</dcterms:modified>
</cp:coreProperties>
</file>