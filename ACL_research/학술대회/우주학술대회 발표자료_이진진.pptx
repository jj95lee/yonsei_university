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84"/>
  </p:notesMasterIdLst>
  <p:handoutMasterIdLst>
    <p:handoutMasterId r:id="rId85"/>
  </p:handoutMasterIdLst>
  <p:sldIdLst>
    <p:sldId id="2550" r:id="rId2"/>
    <p:sldId id="2836" r:id="rId3"/>
    <p:sldId id="2774" r:id="rId4"/>
    <p:sldId id="2565" r:id="rId5"/>
    <p:sldId id="2743" r:id="rId6"/>
    <p:sldId id="2347" r:id="rId7"/>
    <p:sldId id="2837" r:id="rId8"/>
    <p:sldId id="2747" r:id="rId9"/>
    <p:sldId id="2838" r:id="rId10"/>
    <p:sldId id="2748" r:id="rId11"/>
    <p:sldId id="2749" r:id="rId12"/>
    <p:sldId id="2745" r:id="rId13"/>
    <p:sldId id="2742" r:id="rId14"/>
    <p:sldId id="2706" r:id="rId15"/>
    <p:sldId id="2647" r:id="rId16"/>
    <p:sldId id="2750" r:id="rId17"/>
    <p:sldId id="2751" r:id="rId18"/>
    <p:sldId id="2752" r:id="rId19"/>
    <p:sldId id="2753" r:id="rId20"/>
    <p:sldId id="2754" r:id="rId21"/>
    <p:sldId id="2755" r:id="rId22"/>
    <p:sldId id="2756" r:id="rId23"/>
    <p:sldId id="2697" r:id="rId24"/>
    <p:sldId id="2757" r:id="rId25"/>
    <p:sldId id="2758" r:id="rId26"/>
    <p:sldId id="2759" r:id="rId27"/>
    <p:sldId id="2760" r:id="rId28"/>
    <p:sldId id="2761" r:id="rId29"/>
    <p:sldId id="2762" r:id="rId30"/>
    <p:sldId id="2763" r:id="rId31"/>
    <p:sldId id="2765" r:id="rId32"/>
    <p:sldId id="2766" r:id="rId33"/>
    <p:sldId id="2764" r:id="rId34"/>
    <p:sldId id="2768" r:id="rId35"/>
    <p:sldId id="2767" r:id="rId36"/>
    <p:sldId id="2769" r:id="rId37"/>
    <p:sldId id="2770" r:id="rId38"/>
    <p:sldId id="2771" r:id="rId39"/>
    <p:sldId id="2772" r:id="rId40"/>
    <p:sldId id="2773" r:id="rId41"/>
    <p:sldId id="2839" r:id="rId42"/>
    <p:sldId id="2775" r:id="rId43"/>
    <p:sldId id="2776" r:id="rId44"/>
    <p:sldId id="2693" r:id="rId45"/>
    <p:sldId id="2674" r:id="rId46"/>
    <p:sldId id="2781" r:id="rId47"/>
    <p:sldId id="2777" r:id="rId48"/>
    <p:sldId id="2778" r:id="rId49"/>
    <p:sldId id="2779" r:id="rId50"/>
    <p:sldId id="2780" r:id="rId51"/>
    <p:sldId id="2735" r:id="rId52"/>
    <p:sldId id="2789" r:id="rId53"/>
    <p:sldId id="2787" r:id="rId54"/>
    <p:sldId id="2790" r:id="rId55"/>
    <p:sldId id="2788" r:id="rId56"/>
    <p:sldId id="2791" r:id="rId57"/>
    <p:sldId id="2792" r:id="rId58"/>
    <p:sldId id="2793" r:id="rId59"/>
    <p:sldId id="2794" r:id="rId60"/>
    <p:sldId id="2784" r:id="rId61"/>
    <p:sldId id="2785" r:id="rId62"/>
    <p:sldId id="2783" r:id="rId63"/>
    <p:sldId id="2800" r:id="rId64"/>
    <p:sldId id="2795" r:id="rId65"/>
    <p:sldId id="2840" r:id="rId66"/>
    <p:sldId id="2782" r:id="rId67"/>
    <p:sldId id="2846" r:id="rId68"/>
    <p:sldId id="2841" r:id="rId69"/>
    <p:sldId id="2847" r:id="rId70"/>
    <p:sldId id="2848" r:id="rId71"/>
    <p:sldId id="2849" r:id="rId72"/>
    <p:sldId id="2850" r:id="rId73"/>
    <p:sldId id="2786" r:id="rId74"/>
    <p:sldId id="2851" r:id="rId75"/>
    <p:sldId id="2854" r:id="rId76"/>
    <p:sldId id="2856" r:id="rId77"/>
    <p:sldId id="2861" r:id="rId78"/>
    <p:sldId id="2862" r:id="rId79"/>
    <p:sldId id="2609" r:id="rId80"/>
    <p:sldId id="2724" r:id="rId81"/>
    <p:sldId id="2863" r:id="rId82"/>
    <p:sldId id="2510" r:id="rId8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1E46"/>
    <a:srgbClr val="40404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4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14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61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6490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이종이라는 용어를 어떤 지표로 구분할 것인가에 따라 개념이 조금씩 달라짐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3334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OPTISAR </a:t>
            </a:r>
            <a:r>
              <a:rPr lang="ko-KR" altLang="en-US" dirty="0"/>
              <a:t>연구의 목표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프로젝트 무산됨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OPTISAR </a:t>
            </a:r>
            <a:r>
              <a:rPr lang="ko-KR" altLang="en-US" dirty="0"/>
              <a:t>연구의 목표 작성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하지만 프로젝트 무산됨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198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1787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104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386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9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063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0567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3460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43223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129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Ts,</a:t>
            </a:r>
            <a:r>
              <a:rPr lang="ko-KR" altLang="en-US" dirty="0"/>
              <a:t> </a:t>
            </a:r>
            <a:r>
              <a:rPr lang="en-US" altLang="ko-KR" dirty="0" err="1"/>
              <a:t>Tg</a:t>
            </a:r>
            <a:r>
              <a:rPr lang="ko-KR" altLang="en-US" dirty="0"/>
              <a:t>가 </a:t>
            </a:r>
            <a:r>
              <a:rPr lang="ko-KR" altLang="en-US" dirty="0" err="1"/>
              <a:t>뭔지</a:t>
            </a:r>
            <a:r>
              <a:rPr lang="ko-KR" altLang="en-US" dirty="0"/>
              <a:t>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164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7724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92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66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6132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631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90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5223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13103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7459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9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5376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0147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6817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3441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2914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2607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5432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26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6711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244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0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4093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6898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5691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8168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3341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0543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367E-C997-3CF1-044B-D738B639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461D40-7174-EBA1-4463-E20A2E4E0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A965BC-935B-574D-5E73-12B5DB495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152743-D238-A0A0-AD63-7A5BC2B4A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4772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2008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2349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7828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517770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7512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24380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6429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3881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94148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94470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14138-1B8C-F1DC-ECB1-8007E9585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255902-A84E-4676-3391-B6F5ECE4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56E6C9-5480-48A6-5975-739EED7A9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43A4-1953-9238-5182-F0F4A5D86A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584012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18420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4323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2771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80133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21171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4106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4691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87134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537133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310754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2202592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97033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72558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891657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777462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87450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5999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78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gif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0.png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emf"/><Relationship Id="rId3" Type="http://schemas.openxmlformats.org/officeDocument/2006/relationships/image" Target="../media/image70.png"/><Relationship Id="rId7" Type="http://schemas.openxmlformats.org/officeDocument/2006/relationships/image" Target="../media/image74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Relationship Id="rId9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8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0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8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30.png"/><Relationship Id="rId4" Type="http://schemas.openxmlformats.org/officeDocument/2006/relationships/customXml" Target="../ink/ink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2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6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6.png"/><Relationship Id="rId4" Type="http://schemas.openxmlformats.org/officeDocument/2006/relationships/image" Target="../media/image10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9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2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연세대학교 천문우주학과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 </a:t>
            </a:r>
            <a:r>
              <a:rPr lang="ko-KR" altLang="en-US" dirty="0" err="1"/>
              <a:t>이진진</a:t>
            </a:r>
            <a:endParaRPr lang="en-US" altLang="ko-KR" dirty="0"/>
          </a:p>
          <a:p>
            <a:r>
              <a:rPr lang="en-US" altLang="ko-KR" dirty="0"/>
              <a:t>2024-06-26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/>
              <a:t>이진 선형 계획법을 이용한 한반도 관측 목표의</a:t>
            </a:r>
            <a:br>
              <a:rPr lang="en-US" altLang="ko-KR" sz="3200" dirty="0"/>
            </a:br>
            <a:r>
              <a:rPr lang="ko-KR" altLang="en-US" sz="3200" dirty="0"/>
              <a:t>이종 </a:t>
            </a:r>
            <a:r>
              <a:rPr lang="ko-KR" altLang="en-US" sz="3200" dirty="0" err="1"/>
              <a:t>위성군</a:t>
            </a:r>
            <a:r>
              <a:rPr lang="ko-KR" altLang="en-US" sz="3200" dirty="0"/>
              <a:t> 궤도 설계 및 운용 방법 연구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741749"/>
              </p:ext>
            </p:extLst>
          </p:nvPr>
        </p:nvGraphicFramePr>
        <p:xfrm>
          <a:off x="1568900" y="1810810"/>
          <a:ext cx="7318019" cy="437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시뮬레이션 환경 설정 및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APC Decomposition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준대칭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기법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(vs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워커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-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델타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)</a:t>
                      </a: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511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(BILP)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이진 선형 계획법을 적용한 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운용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  <a:tr h="8239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754907"/>
                  </a:ext>
                </a:extLst>
              </a:tr>
            </a:tbl>
          </a:graphicData>
        </a:graphic>
      </p:graphicFrame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861779"/>
              </p:ext>
            </p:extLst>
          </p:nvPr>
        </p:nvGraphicFramePr>
        <p:xfrm>
          <a:off x="1568899" y="947714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연구의 개요 및 주요 참고문헌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2B036A7-121E-B175-E558-836E97862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15" y="971496"/>
            <a:ext cx="10382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34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연구의 개요</a:t>
            </a:r>
          </a:p>
        </p:txBody>
      </p:sp>
    </p:spTree>
    <p:extLst>
      <p:ext uri="{BB962C8B-B14F-4D97-AF65-F5344CB8AC3E}">
        <p14:creationId xmlns:p14="http://schemas.microsoft.com/office/powerpoint/2010/main" val="152673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배경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위성군의 탄생 배경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인공위성 개발 이후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복잡한 상황 속에서 운용되는 고차원적 연구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가 진행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및 공간 등 </a:t>
            </a: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특정 상황에 따라 요구조건을 유동성 있게 변경해야 하는 임무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의 필요성이 제기되기 시작 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복잡한 임무 목표 달성을 위해 하나의 위성을 운용하는 것에 그치지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않고 둘 이상의 위성체를 동시에 운용하는 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이라는 개념이 새롭게 탄생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이처럼 둘 이상의 위성체를 동시에 운용하는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 중에</a:t>
            </a:r>
            <a:r>
              <a:rPr lang="en-US" altLang="ko-KR" b="0" dirty="0">
                <a:solidFill>
                  <a:srgbClr val="1F2328"/>
                </a:solidFill>
                <a:effectLst/>
                <a:latin typeface="-apple-system"/>
              </a:rPr>
              <a:t>, </a:t>
            </a:r>
            <a:r>
              <a:rPr lang="ko-KR" altLang="en-US" b="1" u="sng" dirty="0">
                <a:solidFill>
                  <a:srgbClr val="1F2328"/>
                </a:solidFill>
                <a:effectLst/>
                <a:latin typeface="-apple-system"/>
              </a:rPr>
              <a:t>각기 다른 특성을 갖는 위성이 그룹 내에서 상호작용할 수 있도록 고안된 개념</a:t>
            </a: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 이종 </a:t>
            </a:r>
            <a:r>
              <a:rPr lang="ko-KR" altLang="en-US" b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b="0" dirty="0">
                <a:solidFill>
                  <a:srgbClr val="1F2328"/>
                </a:solidFill>
                <a:effectLst/>
                <a:latin typeface="-apple-system"/>
              </a:rPr>
              <a:t>이종 위성군은 각 위성의 성격에 따라 다음과 같이 구분 가능</a:t>
            </a: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서로 다른 종류의 탑재체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가 포함된 </a:t>
            </a:r>
            <a:r>
              <a:rPr lang="ko-KR" altLang="en-US" b="0" i="0" dirty="0" err="1">
                <a:solidFill>
                  <a:srgbClr val="1F2328"/>
                </a:solidFill>
                <a:effectLst/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1" u="sng" dirty="0">
                <a:solidFill>
                  <a:srgbClr val="1F2328"/>
                </a:solidFill>
                <a:latin typeface="-apple-system"/>
              </a:rPr>
              <a:t>서로 다른 종류의 궤도 유형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동시에 운용하는 </a:t>
            </a:r>
            <a:r>
              <a:rPr lang="ko-KR" altLang="en-US" dirty="0" err="1">
                <a:solidFill>
                  <a:srgbClr val="1F2328"/>
                </a:solidFill>
                <a:latin typeface="-apple-system"/>
              </a:rPr>
              <a:t>위성군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endParaRPr lang="en-US" altLang="ko-KR" b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개념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지표에 따른 이종 위성군의 구분</a:t>
            </a:r>
            <a:r>
              <a:rPr lang="en-US" altLang="ko-KR" dirty="0"/>
              <a:t> </a:t>
            </a:r>
            <a:r>
              <a:rPr lang="ko-KR" altLang="en-US" dirty="0"/>
              <a:t>및 종류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16000" lvl="1" indent="0">
              <a:buNone/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7C7F053-F9AE-E4E9-BE9C-E2BBC0115478}"/>
              </a:ext>
            </a:extLst>
          </p:cNvPr>
          <p:cNvGrpSpPr/>
          <p:nvPr/>
        </p:nvGrpSpPr>
        <p:grpSpPr>
          <a:xfrm>
            <a:off x="860774" y="1635080"/>
            <a:ext cx="8026144" cy="3587839"/>
            <a:chOff x="884057" y="1612846"/>
            <a:chExt cx="8026144" cy="3587839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F8861726-C0FB-571B-B3EF-EAE76E694565}"/>
                </a:ext>
              </a:extLst>
            </p:cNvPr>
            <p:cNvSpPr/>
            <p:nvPr/>
          </p:nvSpPr>
          <p:spPr bwMode="auto">
            <a:xfrm>
              <a:off x="953562" y="3544576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A71FCA1B-B504-21FF-41D3-ED692D0B749F}"/>
                </a:ext>
              </a:extLst>
            </p:cNvPr>
            <p:cNvSpPr/>
            <p:nvPr/>
          </p:nvSpPr>
          <p:spPr bwMode="auto">
            <a:xfrm>
              <a:off x="953563" y="1911533"/>
              <a:ext cx="3319959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1FDBC4-A563-BD27-7075-1AB343907692}"/>
                </a:ext>
              </a:extLst>
            </p:cNvPr>
            <p:cNvSpPr/>
            <p:nvPr/>
          </p:nvSpPr>
          <p:spPr bwMode="auto">
            <a:xfrm>
              <a:off x="4271637" y="3554305"/>
              <a:ext cx="3475781" cy="16463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863626-51C4-78D5-2317-166CC2EBB71C}"/>
                </a:ext>
              </a:extLst>
            </p:cNvPr>
            <p:cNvSpPr/>
            <p:nvPr/>
          </p:nvSpPr>
          <p:spPr bwMode="auto">
            <a:xfrm>
              <a:off x="4271638" y="1921262"/>
              <a:ext cx="3475781" cy="16463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834F5A24-0933-8FFB-18C4-12DB8F6AB7EA}"/>
                </a:ext>
              </a:extLst>
            </p:cNvPr>
            <p:cNvCxnSpPr>
              <a:cxnSpLocks/>
            </p:cNvCxnSpPr>
            <p:nvPr/>
          </p:nvCxnSpPr>
          <p:spPr>
            <a:xfrm>
              <a:off x="953563" y="3554306"/>
              <a:ext cx="680926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7DF58D54-2146-088E-91C1-ABD78F8510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5473" y="1921262"/>
              <a:ext cx="0" cy="3266088"/>
            </a:xfrm>
            <a:prstGeom prst="straightConnector1">
              <a:avLst/>
            </a:prstGeom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D48F92-6051-995E-24AA-C7F6BBA66FCC}"/>
                </a:ext>
              </a:extLst>
            </p:cNvPr>
            <p:cNvSpPr txBox="1"/>
            <p:nvPr/>
          </p:nvSpPr>
          <p:spPr>
            <a:xfrm>
              <a:off x="3656455" y="1612846"/>
              <a:ext cx="123803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0070C0"/>
                  </a:solidFill>
                </a:rPr>
                <a:t>운용 궤도 유형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927D276-36C0-55E9-4A0F-F78429E54BDD}"/>
                </a:ext>
              </a:extLst>
            </p:cNvPr>
            <p:cNvSpPr txBox="1"/>
            <p:nvPr/>
          </p:nvSpPr>
          <p:spPr>
            <a:xfrm>
              <a:off x="7783371" y="3415806"/>
              <a:ext cx="11268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solidFill>
                    <a:srgbClr val="FF0000"/>
                  </a:solidFill>
                </a:rPr>
                <a:t>Payload </a:t>
              </a:r>
              <a:r>
                <a:rPr lang="ko-KR" altLang="en-US" sz="1200" b="1" dirty="0">
                  <a:solidFill>
                    <a:srgbClr val="FF0000"/>
                  </a:solidFill>
                </a:rPr>
                <a:t>차이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22893C4-BF52-D0D6-7777-4C15001CA540}"/>
                </a:ext>
              </a:extLst>
            </p:cNvPr>
            <p:cNvSpPr txBox="1"/>
            <p:nvPr/>
          </p:nvSpPr>
          <p:spPr>
            <a:xfrm>
              <a:off x="4271638" y="2057734"/>
              <a:ext cx="76581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다양한 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 유형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9A584A1-6A77-A8E2-F949-CA36E1014433}"/>
                </a:ext>
              </a:extLst>
            </p:cNvPr>
            <p:cNvSpPr txBox="1"/>
            <p:nvPr/>
          </p:nvSpPr>
          <p:spPr>
            <a:xfrm>
              <a:off x="4294072" y="2851187"/>
              <a:ext cx="6929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궤도평면</a:t>
              </a:r>
              <a:endParaRPr lang="en-US" altLang="ko-KR" sz="1000" dirty="0">
                <a:solidFill>
                  <a:srgbClr val="0070C0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B963D3D-4AB2-E83F-3EF1-9F894CDE87D4}"/>
                </a:ext>
              </a:extLst>
            </p:cNvPr>
            <p:cNvSpPr txBox="1"/>
            <p:nvPr/>
          </p:nvSpPr>
          <p:spPr>
            <a:xfrm>
              <a:off x="4271639" y="4015513"/>
              <a:ext cx="136645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solidFill>
                    <a:srgbClr val="0070C0"/>
                  </a:solidFill>
                </a:rPr>
                <a:t>RAAN </a:t>
              </a:r>
              <a:r>
                <a:rPr lang="ko-KR" altLang="en-US" sz="1000" dirty="0">
                  <a:solidFill>
                    <a:srgbClr val="0070C0"/>
                  </a:solidFill>
                </a:rPr>
                <a:t>차이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3DB15F1-18E4-6DA4-E77E-369A354BA33D}"/>
                </a:ext>
              </a:extLst>
            </p:cNvPr>
            <p:cNvSpPr txBox="1"/>
            <p:nvPr/>
          </p:nvSpPr>
          <p:spPr>
            <a:xfrm>
              <a:off x="4294073" y="4737050"/>
              <a:ext cx="12618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000" dirty="0">
                  <a:solidFill>
                    <a:srgbClr val="0070C0"/>
                  </a:solidFill>
                </a:rPr>
                <a:t>편대비행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40CD9E7-99A2-7B5C-DEC6-AC3A5637584E}"/>
                </a:ext>
              </a:extLst>
            </p:cNvPr>
            <p:cNvSpPr txBox="1"/>
            <p:nvPr/>
          </p:nvSpPr>
          <p:spPr>
            <a:xfrm>
              <a:off x="1144965" y="3587469"/>
              <a:ext cx="1186147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동일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BA077C-3F46-EE78-1BA2-D852D82B69B9}"/>
                </a:ext>
              </a:extLst>
            </p:cNvPr>
            <p:cNvSpPr txBox="1"/>
            <p:nvPr/>
          </p:nvSpPr>
          <p:spPr>
            <a:xfrm>
              <a:off x="2746009" y="3583086"/>
              <a:ext cx="92621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성능 차이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F0E10E6-F3F5-CA67-C27E-238EB5EB2FB0}"/>
                </a:ext>
              </a:extLst>
            </p:cNvPr>
            <p:cNvSpPr txBox="1"/>
            <p:nvPr/>
          </p:nvSpPr>
          <p:spPr>
            <a:xfrm>
              <a:off x="5037453" y="3592481"/>
              <a:ext cx="112683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rgbClr val="FF0000"/>
                  </a:solidFill>
                </a:rPr>
                <a:t>이종 </a:t>
              </a:r>
              <a:r>
                <a:rPr lang="en-US" altLang="ko-KR" sz="1050" dirty="0">
                  <a:solidFill>
                    <a:srgbClr val="FF0000"/>
                  </a:solidFill>
                </a:rPr>
                <a:t>Payload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31B90D-A0BC-6A07-0268-393F1BB84DD3}"/>
                </a:ext>
              </a:extLst>
            </p:cNvPr>
            <p:cNvSpPr txBox="1"/>
            <p:nvPr/>
          </p:nvSpPr>
          <p:spPr>
            <a:xfrm>
              <a:off x="6624591" y="3588634"/>
              <a:ext cx="1058953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rgbClr val="FF0000"/>
                  </a:solidFill>
                </a:rPr>
                <a:t>Multi-Satellite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76E85E-01AC-3BE8-A6CB-DAE87A1CBB8B}"/>
                </a:ext>
              </a:extLst>
            </p:cNvPr>
            <p:cNvSpPr txBox="1"/>
            <p:nvPr/>
          </p:nvSpPr>
          <p:spPr>
            <a:xfrm>
              <a:off x="2797381" y="2859588"/>
              <a:ext cx="85907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Starlink</a:t>
              </a:r>
              <a:endParaRPr lang="ko-KR" altLang="en-US" sz="1400" b="1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E60461C-6875-0FA1-D1AB-3BEBBB856284}"/>
                </a:ext>
              </a:extLst>
            </p:cNvPr>
            <p:cNvSpPr txBox="1"/>
            <p:nvPr/>
          </p:nvSpPr>
          <p:spPr>
            <a:xfrm>
              <a:off x="4954868" y="2751145"/>
              <a:ext cx="1226452" cy="5232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SAR/EO </a:t>
              </a:r>
            </a:p>
            <a:p>
              <a:pPr algn="ctr"/>
              <a:r>
                <a:rPr lang="ko-KR" altLang="en-US" sz="1400" b="1" dirty="0"/>
                <a:t>초소형 위성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3EEA9D-2365-8F6A-7D8E-7FEDB23E21D2}"/>
                </a:ext>
              </a:extLst>
            </p:cNvPr>
            <p:cNvSpPr txBox="1"/>
            <p:nvPr/>
          </p:nvSpPr>
          <p:spPr>
            <a:xfrm>
              <a:off x="1511400" y="3980297"/>
              <a:ext cx="582115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GPS</a:t>
              </a:r>
              <a:endParaRPr lang="ko-KR" altLang="en-US" sz="1400" b="1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A2EDA13-CB59-67E5-D16A-E40C7EC61641}"/>
                </a:ext>
              </a:extLst>
            </p:cNvPr>
            <p:cNvSpPr txBox="1"/>
            <p:nvPr/>
          </p:nvSpPr>
          <p:spPr>
            <a:xfrm>
              <a:off x="2738292" y="4701194"/>
              <a:ext cx="1082209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Terra SAR</a:t>
              </a:r>
              <a:endParaRPr lang="ko-KR" altLang="en-US" sz="1400" b="1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9D99B3C-34F0-8AFC-B761-8E6908722B72}"/>
                </a:ext>
              </a:extLst>
            </p:cNvPr>
            <p:cNvSpPr txBox="1"/>
            <p:nvPr/>
          </p:nvSpPr>
          <p:spPr>
            <a:xfrm>
              <a:off x="5147493" y="4709599"/>
              <a:ext cx="97825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 err="1"/>
                <a:t>OptiSAR</a:t>
              </a:r>
              <a:endParaRPr lang="ko-KR" altLang="en-US" sz="14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7CD476-0BB0-91B3-EBAE-69D57ADE1A1D}"/>
                </a:ext>
              </a:extLst>
            </p:cNvPr>
            <p:cNvSpPr txBox="1"/>
            <p:nvPr/>
          </p:nvSpPr>
          <p:spPr>
            <a:xfrm>
              <a:off x="6806583" y="4706690"/>
              <a:ext cx="804151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b="1" dirty="0"/>
                <a:t>A-train</a:t>
              </a:r>
              <a:endParaRPr lang="ko-KR" altLang="en-US" sz="14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D1D8EFC-5AB4-65AD-9871-C58FA1E5235C}"/>
                </a:ext>
              </a:extLst>
            </p:cNvPr>
            <p:cNvSpPr txBox="1"/>
            <p:nvPr/>
          </p:nvSpPr>
          <p:spPr>
            <a:xfrm>
              <a:off x="6367566" y="1919323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Heterogeneous </a:t>
              </a:r>
            </a:p>
            <a:p>
              <a:pPr algn="ctr"/>
              <a:r>
                <a:rPr lang="en-US" altLang="ko-KR" sz="10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67E1593-E88B-F630-2699-AB4AE7D9EE6C}"/>
                </a:ext>
              </a:extLst>
            </p:cNvPr>
            <p:cNvSpPr txBox="1"/>
            <p:nvPr/>
          </p:nvSpPr>
          <p:spPr>
            <a:xfrm>
              <a:off x="884057" y="4778146"/>
              <a:ext cx="144705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Homogeneous </a:t>
              </a:r>
            </a:p>
            <a:p>
              <a:pPr algn="ctr"/>
              <a:r>
                <a:rPr lang="en-US" altLang="ko-KR" sz="1000" dirty="0">
                  <a:solidFill>
                    <a:schemeClr val="accent2">
                      <a:lumMod val="60000"/>
                      <a:lumOff val="40000"/>
                    </a:schemeClr>
                  </a:solidFill>
                </a:rPr>
                <a:t>satellite Constellation</a:t>
              </a:r>
              <a:endParaRPr lang="ko-KR" altLang="en-US" sz="1000" dirty="0">
                <a:solidFill>
                  <a:schemeClr val="accent2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348108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6037C075-29DA-78AF-D9D3-E8BA66A3C866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(1)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/>
              <a:t>프로젝트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291546" y="6411251"/>
            <a:ext cx="86298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P. Fox, G. </a:t>
            </a:r>
            <a:r>
              <a:rPr lang="en-US" altLang="en-US" sz="1000" b="1" dirty="0" err="1"/>
              <a:t>Tyc</a:t>
            </a:r>
            <a:r>
              <a:rPr lang="en-US" altLang="en-US" sz="1000" b="1" dirty="0"/>
              <a:t>, and K. Beckett, “The UrtheCast SAR-XL multi-band, multi-aperture spaceborne SAR system,” 2017 IEEE Radar Conference (</a:t>
            </a:r>
            <a:r>
              <a:rPr lang="en-US" altLang="en-US" sz="1000" b="1" dirty="0" err="1"/>
              <a:t>RadarConf</a:t>
            </a:r>
            <a:r>
              <a:rPr lang="en-US" altLang="en-US" sz="1000" b="1" dirty="0"/>
              <a:t>), pp. 1761–1764, May 2017.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AD776A03-9662-706D-E07B-288E22F89723}"/>
              </a:ext>
            </a:extLst>
          </p:cNvPr>
          <p:cNvSpPr/>
          <p:nvPr/>
        </p:nvSpPr>
        <p:spPr bwMode="auto">
          <a:xfrm>
            <a:off x="135286" y="6222223"/>
            <a:ext cx="3743031" cy="5972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해외 연구사례</a:t>
            </a:r>
            <a:r>
              <a:rPr lang="en-US" altLang="ko-KR" dirty="0"/>
              <a:t>(2)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933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신속한 </a:t>
            </a:r>
            <a:r>
              <a:rPr lang="en-US" altLang="ko-KR" dirty="0"/>
              <a:t>SRT </a:t>
            </a:r>
            <a:r>
              <a:rPr lang="ko-KR" altLang="en-US" dirty="0"/>
              <a:t>제공을 위한 이종위성군 설계 연구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/>
            <a:r>
              <a:rPr lang="ko-KR" altLang="en-US" dirty="0"/>
              <a:t>자연재해 등 국방 및 </a:t>
            </a:r>
            <a:r>
              <a:rPr lang="ko-KR" altLang="en-US" b="1" u="sng" dirty="0"/>
              <a:t>자연안보에 신속하게 대응 </a:t>
            </a:r>
            <a:endParaRPr lang="en-US" altLang="ko-KR" b="1" u="sng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lvl="1"/>
            <a:r>
              <a:rPr lang="en-US" altLang="ko-KR" b="1" u="sng" dirty="0"/>
              <a:t>SRT </a:t>
            </a:r>
            <a:r>
              <a:rPr lang="ko-KR" altLang="en-US" b="1" u="sng" dirty="0"/>
              <a:t>성능을 향상</a:t>
            </a:r>
            <a:r>
              <a:rPr lang="ko-KR" altLang="en-US" dirty="0"/>
              <a:t>시키기 위해 </a:t>
            </a:r>
            <a:r>
              <a:rPr lang="ko-KR" altLang="en-US" b="1" u="sng" dirty="0"/>
              <a:t>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07C17-75B5-F0DB-A148-7D7954BB043F}"/>
              </a:ext>
            </a:extLst>
          </p:cNvPr>
          <p:cNvSpPr txBox="1"/>
          <p:nvPr/>
        </p:nvSpPr>
        <p:spPr>
          <a:xfrm>
            <a:off x="-169751" y="6189788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</a:t>
            </a:r>
            <a:r>
              <a:rPr lang="ko-KR" altLang="en-US" sz="1000" b="1" dirty="0"/>
              <a:t> </a:t>
            </a:r>
            <a:r>
              <a:rPr lang="en-US" altLang="en-US" sz="1000" b="1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en-US" sz="1000" b="1" dirty="0" err="1"/>
              <a:t>doi</a:t>
            </a:r>
            <a:r>
              <a:rPr lang="en-US" altLang="en-US" sz="1000" b="1" dirty="0"/>
              <a:t>: 10.1109/AERO.2019.8741813. </a:t>
            </a:r>
            <a:endParaRPr lang="en-US" altLang="ko-KR" sz="1000" b="1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2B76BE8-E57F-A672-6DF9-A864F9A4F8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255310"/>
              </p:ext>
            </p:extLst>
          </p:nvPr>
        </p:nvGraphicFramePr>
        <p:xfrm>
          <a:off x="884057" y="2739099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BAF7367-D881-479E-DE05-F411101E6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181531"/>
              </p:ext>
            </p:extLst>
          </p:nvPr>
        </p:nvGraphicFramePr>
        <p:xfrm>
          <a:off x="5137077" y="2739099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B9FC1605-66FA-5F18-5219-7520DD6FE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077" y="4311746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/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1200" b="1" dirty="0"/>
                  <a:t>  GSD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16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𝑫𝑷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num>
                        <m:den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𝒆𝒍𝒆𝒗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sz="1200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C630142-5DD7-CCDC-A737-E4E8BD943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469" y="4555698"/>
                <a:ext cx="1590948" cy="1056764"/>
              </a:xfrm>
              <a:prstGeom prst="rect">
                <a:avLst/>
              </a:prstGeom>
              <a:blipFill>
                <a:blip r:embed="rId4"/>
                <a:stretch>
                  <a:fillRect t="-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2647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국내 연구사례</a:t>
            </a:r>
            <a:r>
              <a:rPr lang="en-US" altLang="ko-KR" dirty="0"/>
              <a:t>(1)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4.25(SAR.EO) </a:t>
            </a:r>
            <a:r>
              <a:rPr lang="ko-KR" altLang="en-US" dirty="0"/>
              <a:t>사업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개념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대한민국 국방부가 군 최초로 진행하는 위성 사업으로</a:t>
            </a:r>
            <a:r>
              <a:rPr lang="en-US" altLang="ko-KR" dirty="0"/>
              <a:t>, </a:t>
            </a:r>
            <a:r>
              <a:rPr lang="ko-KR" altLang="en-US" dirty="0"/>
              <a:t>한반도 주변을 감시하는 위성을 운용하여 </a:t>
            </a:r>
            <a:r>
              <a:rPr lang="ko-KR" altLang="en-US" b="1" u="sng" dirty="0"/>
              <a:t>북한 위협을 실시간 탐지하고 선제 타격</a:t>
            </a:r>
            <a:r>
              <a:rPr lang="ko-KR" altLang="en-US" dirty="0"/>
              <a:t>하는 군 대응 시스템 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SAR</a:t>
            </a:r>
            <a:r>
              <a:rPr lang="ko-KR" altLang="en-US" dirty="0"/>
              <a:t>위성 </a:t>
            </a:r>
            <a:r>
              <a:rPr lang="en-US" altLang="ko-KR" dirty="0"/>
              <a:t>: 4</a:t>
            </a:r>
            <a:r>
              <a:rPr lang="ko-KR" altLang="en-US" dirty="0"/>
              <a:t>대</a:t>
            </a:r>
            <a:r>
              <a:rPr lang="en-US" altLang="ko-KR" dirty="0"/>
              <a:t>, </a:t>
            </a:r>
            <a:r>
              <a:rPr lang="ko-KR" altLang="en-US" dirty="0"/>
              <a:t>광학위성 </a:t>
            </a:r>
            <a:r>
              <a:rPr lang="en-US" altLang="ko-KR" dirty="0"/>
              <a:t>: 1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목적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기본으로 군용으로 사용하지만 산불</a:t>
            </a:r>
            <a:r>
              <a:rPr lang="en-US" altLang="ko-KR" dirty="0"/>
              <a:t>,</a:t>
            </a:r>
            <a:r>
              <a:rPr lang="ko-KR" altLang="en-US" dirty="0"/>
              <a:t> 중국어선 등의 촬영을 위한 별도 수집계획도 있음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상위 의사결정기구에서 수집계획을 수립하면 그에 따른 임무를 수행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운용 궤도 및 해상도 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고도 </a:t>
            </a:r>
            <a:r>
              <a:rPr lang="en-US" altLang="ko-KR" b="1" u="sng" dirty="0"/>
              <a:t>500~600km</a:t>
            </a:r>
            <a:r>
              <a:rPr lang="ko-KR" altLang="en-US" b="1" u="sng" dirty="0"/>
              <a:t>의 </a:t>
            </a:r>
            <a:r>
              <a:rPr lang="en-US" altLang="ko-KR" b="1" u="sng" dirty="0"/>
              <a:t>SSO </a:t>
            </a:r>
            <a:r>
              <a:rPr lang="ko-KR" altLang="en-US" b="1" u="sng" dirty="0"/>
              <a:t>및 </a:t>
            </a:r>
            <a:r>
              <a:rPr lang="en-US" altLang="ko-KR" b="1" u="sng" dirty="0"/>
              <a:t>LEO </a:t>
            </a:r>
            <a:r>
              <a:rPr lang="ko-KR" altLang="en-US" dirty="0"/>
              <a:t>사용 </a:t>
            </a:r>
            <a:r>
              <a:rPr lang="en-US" altLang="ko-KR" dirty="0"/>
              <a:t>&amp; </a:t>
            </a:r>
            <a:r>
              <a:rPr lang="ko-KR" altLang="en-US" b="1" u="sng" dirty="0"/>
              <a:t>해상도 </a:t>
            </a:r>
            <a:r>
              <a:rPr lang="en-US" altLang="ko-KR" b="1" u="sng" dirty="0"/>
              <a:t>30cm</a:t>
            </a:r>
            <a:r>
              <a:rPr lang="ko-KR" altLang="en-US" dirty="0"/>
              <a:t>가량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425</a:t>
            </a:r>
            <a:r>
              <a:rPr lang="ko-KR" altLang="en-US" dirty="0"/>
              <a:t>등 </a:t>
            </a:r>
            <a:r>
              <a:rPr lang="ko-KR" altLang="en-US" dirty="0" err="1"/>
              <a:t>중형급</a:t>
            </a:r>
            <a:r>
              <a:rPr lang="ko-KR" altLang="en-US" dirty="0"/>
              <a:t> 위성은 궤도상 </a:t>
            </a:r>
            <a:r>
              <a:rPr lang="en-US" altLang="ko-KR" dirty="0"/>
              <a:t>Maneuver</a:t>
            </a:r>
            <a:r>
              <a:rPr lang="ko-KR" altLang="en-US" dirty="0"/>
              <a:t>가 가능하지만</a:t>
            </a:r>
            <a:r>
              <a:rPr lang="en-US" altLang="ko-KR" dirty="0"/>
              <a:t>, </a:t>
            </a:r>
            <a:r>
              <a:rPr lang="ko-KR" altLang="en-US" b="1" u="sng" dirty="0"/>
              <a:t>초소형 위성은 사실상 불가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해상도 및 재방문 주기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주기를 줄이기 위해서 </a:t>
            </a:r>
            <a:r>
              <a:rPr lang="en-US" altLang="ko-KR" b="1" u="sng" dirty="0"/>
              <a:t>ISL</a:t>
            </a:r>
            <a:r>
              <a:rPr lang="ko-KR" altLang="en-US" b="1" u="sng" dirty="0"/>
              <a:t>을 통해 명령을 빠르게 올려 보내는 것</a:t>
            </a:r>
            <a:r>
              <a:rPr lang="ko-KR" altLang="en-US" dirty="0"/>
              <a:t>이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재방문 주기 정의 관점에서 사람의 </a:t>
            </a:r>
            <a:r>
              <a:rPr lang="en-US" altLang="ko-KR" b="1" u="sng" dirty="0"/>
              <a:t>Delay, Imaging processing time</a:t>
            </a:r>
            <a:r>
              <a:rPr lang="ko-KR" altLang="en-US" b="1" u="sng" dirty="0"/>
              <a:t>등 여러 요소</a:t>
            </a:r>
            <a:r>
              <a:rPr lang="ko-KR" altLang="en-US" dirty="0"/>
              <a:t>가 중요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촬영한 영상을 받는 과정에서의 </a:t>
            </a:r>
            <a:r>
              <a:rPr lang="en-US" altLang="ko-KR" dirty="0"/>
              <a:t>Delay</a:t>
            </a:r>
            <a:r>
              <a:rPr lang="ko-KR" altLang="en-US" dirty="0"/>
              <a:t>를 줄이려면 실질적으로 </a:t>
            </a:r>
            <a:r>
              <a:rPr lang="ko-KR" altLang="en-US" b="1" u="sng" dirty="0"/>
              <a:t>정지궤도 통신 위성</a:t>
            </a:r>
            <a:r>
              <a:rPr lang="ko-KR" altLang="en-US" dirty="0"/>
              <a:t>을 경유하는 방법이 있지만 </a:t>
            </a:r>
            <a:r>
              <a:rPr lang="ko-KR" altLang="en-US" b="1" u="sng" dirty="0"/>
              <a:t>초소형 위성에서는 현실적으로 어려움</a:t>
            </a:r>
            <a:endParaRPr lang="en-US" altLang="ko-KR" b="1" u="sng" dirty="0"/>
          </a:p>
          <a:p>
            <a:pPr lvl="0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3367585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 위성군의 국내 연구사례</a:t>
            </a:r>
            <a:r>
              <a:rPr lang="en-US" altLang="ko-KR" dirty="0"/>
              <a:t>(2), (3)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궤도설계와 유지 방법 연구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한반도 및 인근의 주요 군사기지를 관심지역</a:t>
            </a:r>
            <a:r>
              <a:rPr lang="ko-KR" altLang="en-US" dirty="0"/>
              <a:t>으로 한 감시정찰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한반도에 잠재적 위협이 될 수 있는 요소를 파악하여 </a:t>
            </a:r>
            <a:r>
              <a:rPr lang="ko-KR" altLang="en-US" b="1" u="sng" dirty="0"/>
              <a:t>국내 안보 강화에 기여</a:t>
            </a:r>
            <a:endParaRPr lang="en-US" altLang="ko-KR" b="1" u="sng" dirty="0"/>
          </a:p>
          <a:p>
            <a:pPr lvl="0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지역 커버리지 초소형 </a:t>
            </a:r>
            <a:r>
              <a:rPr lang="ko-KR" altLang="en-US" dirty="0" err="1"/>
              <a:t>위성군</a:t>
            </a:r>
            <a:r>
              <a:rPr lang="ko-KR" altLang="en-US" dirty="0"/>
              <a:t> 연구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좁은 </a:t>
            </a:r>
            <a:r>
              <a:rPr lang="ko-KR" altLang="en-US" b="1" u="sng" dirty="0" err="1"/>
              <a:t>커버리지와</a:t>
            </a:r>
            <a:r>
              <a:rPr lang="ko-KR" altLang="en-US" b="1" u="sng" dirty="0"/>
              <a:t> 저궤도 조건</a:t>
            </a:r>
            <a:r>
              <a:rPr lang="ko-KR" altLang="en-US" dirty="0"/>
              <a:t>을 반영한 초소형 </a:t>
            </a:r>
            <a:r>
              <a:rPr lang="ko-KR" altLang="en-US" dirty="0" err="1"/>
              <a:t>위성군</a:t>
            </a:r>
            <a:r>
              <a:rPr lang="ko-KR" altLang="en-US" dirty="0"/>
              <a:t> 궤도 설계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커버리지 및 재방문 주기 성능 지수 향상을 위해 </a:t>
            </a:r>
            <a:r>
              <a:rPr lang="ko-KR" altLang="en-US" b="1" u="sng" dirty="0"/>
              <a:t>관심지역의 위도와 궤도 경사각의 관계를 연구</a:t>
            </a:r>
            <a:endParaRPr lang="en-US" altLang="ko-KR" b="1" u="sng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r>
              <a:rPr lang="ko-KR" altLang="en-US" dirty="0"/>
              <a:t>연구 방법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설계 패턴 </a:t>
            </a:r>
            <a:r>
              <a:rPr lang="en-US" altLang="ko-KR" dirty="0"/>
              <a:t>: </a:t>
            </a:r>
            <a:r>
              <a:rPr lang="ko-KR" altLang="en-US" b="1" u="sng" dirty="0"/>
              <a:t>워커</a:t>
            </a:r>
            <a:r>
              <a:rPr lang="en-US" altLang="ko-KR" b="1" u="sng" dirty="0"/>
              <a:t>-</a:t>
            </a:r>
            <a:r>
              <a:rPr lang="ko-KR" altLang="en-US" b="1" u="sng" dirty="0"/>
              <a:t>델타 </a:t>
            </a:r>
            <a:r>
              <a:rPr lang="ko-KR" altLang="en-US" b="1" u="sng" dirty="0" err="1"/>
              <a:t>위성군</a:t>
            </a:r>
            <a:r>
              <a:rPr lang="en-US" altLang="ko-KR" b="1" u="sng" dirty="0"/>
              <a:t>(T/P/F)</a:t>
            </a:r>
          </a:p>
          <a:p>
            <a:pPr lvl="1">
              <a:defRPr/>
            </a:pPr>
            <a:r>
              <a:rPr lang="ko-KR" altLang="en-US" dirty="0"/>
              <a:t>각 경우 별 </a:t>
            </a:r>
            <a:r>
              <a:rPr lang="ko-KR" altLang="en-US" b="1" u="sng" dirty="0"/>
              <a:t>평균 재방문 주기의 성능 지수를 비교</a:t>
            </a:r>
            <a:r>
              <a:rPr lang="ko-KR" altLang="en-US" dirty="0"/>
              <a:t>하여 최적의 조합을 선택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0857552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선행 연구의 한계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해외 선행 연구의 한계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2021</a:t>
            </a:r>
            <a:r>
              <a:rPr lang="ko-KR" altLang="en-US" dirty="0"/>
              <a:t>년도 발사 예정이었으나 </a:t>
            </a:r>
            <a:r>
              <a:rPr lang="ko-KR" altLang="en-US" b="1" u="sng" dirty="0"/>
              <a:t>주최측</a:t>
            </a:r>
            <a:r>
              <a:rPr lang="en-US" altLang="ko-KR" b="1" u="sng" dirty="0"/>
              <a:t>(UrtheCast)</a:t>
            </a:r>
            <a:r>
              <a:rPr lang="ko-KR" altLang="en-US" b="1" u="sng" dirty="0"/>
              <a:t>이</a:t>
            </a:r>
            <a:r>
              <a:rPr lang="en-US" altLang="ko-KR" b="1" u="sng" dirty="0"/>
              <a:t> </a:t>
            </a:r>
            <a:r>
              <a:rPr lang="ko-KR" altLang="en-US" b="1" u="sng" dirty="0"/>
              <a:t>파산함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따라 무산됨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현재는 </a:t>
            </a:r>
            <a:r>
              <a:rPr lang="ko-KR" altLang="en-US" b="1" u="sng" dirty="0"/>
              <a:t>상업적인 임무를 수행하고 있지 않음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b="1" u="sng" dirty="0"/>
              <a:t>국외에 위치하는 관심지역을 초점</a:t>
            </a:r>
            <a:r>
              <a:rPr lang="ko-KR" altLang="en-US" dirty="0"/>
              <a:t>으로 하므로 우리나라의 위성 운용 과제에 적용하기엔 다소 부적합함 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국내 선행 연구의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관심 지역을 여러 곳으로 설정하여 동시에 운용할 경우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b="1" u="sng" dirty="0"/>
              <a:t>단일 지역을 대상으로 한 워커</a:t>
            </a:r>
            <a:r>
              <a:rPr lang="en-US" altLang="ko-KR" b="1" u="sng" dirty="0"/>
              <a:t>-</a:t>
            </a:r>
            <a:r>
              <a:rPr lang="ko-KR" altLang="en-US" b="1" u="sng" dirty="0"/>
              <a:t>델타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설계가 비효율적</a:t>
            </a:r>
            <a:r>
              <a:rPr lang="ko-KR" altLang="en-US" dirty="0"/>
              <a:t>일 수 있음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</a:t>
            </a:r>
            <a:r>
              <a:rPr lang="en-US" altLang="ko-KR" dirty="0"/>
              <a:t>(</a:t>
            </a:r>
            <a:r>
              <a:rPr lang="ko-KR" altLang="en-US" dirty="0"/>
              <a:t>고도 및 궤도 경사각 등의 차이</a:t>
            </a:r>
            <a:r>
              <a:rPr lang="en-US" altLang="ko-KR" dirty="0"/>
              <a:t>)</a:t>
            </a:r>
            <a:r>
              <a:rPr lang="ko-KR" altLang="en-US" dirty="0"/>
              <a:t>를 동시에 운용하는 설계 방법에 비해 </a:t>
            </a:r>
            <a:r>
              <a:rPr lang="ko-KR" altLang="en-US" b="1" u="sng" dirty="0"/>
              <a:t>같은 수의 위성으로는 관심지역에 대한 최적의 감시정찰이 어려움</a:t>
            </a:r>
            <a:endParaRPr lang="en-US" altLang="ko-KR" b="1" u="sng" dirty="0"/>
          </a:p>
        </p:txBody>
      </p:sp>
    </p:spTree>
    <p:extLst>
      <p:ext uri="{BB962C8B-B14F-4D97-AF65-F5344CB8AC3E}">
        <p14:creationId xmlns:p14="http://schemas.microsoft.com/office/powerpoint/2010/main" val="176022794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연구의 목적 및 의의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 위성군의 연구 목표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다양한 궤도를 사용하여 </a:t>
            </a:r>
            <a:r>
              <a:rPr lang="ko-KR" altLang="en-US" b="1" u="sng" dirty="0"/>
              <a:t>이종 위성군을 운용하였을 때 얼마나 더 높은 성능을 내는 지 </a:t>
            </a:r>
            <a:r>
              <a:rPr lang="en-US" altLang="ko-KR" b="1" u="sng" dirty="0" err="1"/>
              <a:t>FoM</a:t>
            </a:r>
            <a:r>
              <a:rPr lang="ko-KR" altLang="en-US" dirty="0"/>
              <a:t>을 세우고 각각의 지표를 기준으로 </a:t>
            </a:r>
            <a:r>
              <a:rPr lang="ko-KR" altLang="en-US" b="1" u="sng" dirty="0" err="1"/>
              <a:t>상황별</a:t>
            </a:r>
            <a:r>
              <a:rPr lang="ko-KR" altLang="en-US" b="1" u="sng" dirty="0"/>
              <a:t> 최적 결과를 도출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 대표적인 두 가지의 설계 방법을 비교하여 </a:t>
            </a:r>
            <a:r>
              <a:rPr lang="ko-KR" altLang="en-US" b="1" u="sng" dirty="0"/>
              <a:t>기술 및 비용면에서 더 효율적인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설계 방법을 선택</a:t>
            </a:r>
            <a:r>
              <a:rPr lang="ko-KR" altLang="en-US" dirty="0"/>
              <a:t>하는 것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Quasi-symmetric Method(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en-US" altLang="ko-KR" dirty="0"/>
              <a:t>BILP Method(</a:t>
            </a:r>
            <a:r>
              <a:rPr lang="ko-KR" altLang="en-US" dirty="0"/>
              <a:t>이진 선형 계획법</a:t>
            </a:r>
            <a:r>
              <a:rPr lang="en-US" altLang="ko-KR" dirty="0"/>
              <a:t>)</a:t>
            </a:r>
          </a:p>
          <a:p>
            <a:pPr lvl="2">
              <a:defRPr/>
            </a:pPr>
            <a:endParaRPr lang="en-US" altLang="ko-KR" dirty="0"/>
          </a:p>
          <a:p>
            <a:pPr lvl="0">
              <a:defRPr/>
            </a:pPr>
            <a:r>
              <a:rPr lang="ko-KR" altLang="en-US" dirty="0"/>
              <a:t>연구의</a:t>
            </a:r>
            <a:r>
              <a:rPr lang="en-US" altLang="ko-KR" dirty="0"/>
              <a:t> </a:t>
            </a:r>
            <a:r>
              <a:rPr lang="ko-KR" altLang="en-US" dirty="0"/>
              <a:t>의의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기존에 널리 쓰이던 </a:t>
            </a:r>
            <a:r>
              <a:rPr lang="ko-KR" altLang="en-US" b="1" u="sng" dirty="0" err="1"/>
              <a:t>준대칭</a:t>
            </a:r>
            <a:r>
              <a:rPr lang="ko-KR" altLang="en-US" b="1" u="sng" dirty="0"/>
              <a:t> 기법의 한계를 지적</a:t>
            </a:r>
            <a:r>
              <a:rPr lang="ko-KR" altLang="en-US" dirty="0"/>
              <a:t>하고 </a:t>
            </a:r>
            <a:r>
              <a:rPr lang="ko-KR" altLang="en-US" dirty="0" err="1"/>
              <a:t>위성군</a:t>
            </a:r>
            <a:r>
              <a:rPr lang="ko-KR" altLang="en-US" dirty="0"/>
              <a:t> 사용자의 </a:t>
            </a:r>
            <a:r>
              <a:rPr lang="ko-KR" altLang="en-US" b="1" u="sng" dirty="0"/>
              <a:t>구체적인 요구사항을 고려하여 최적의 설계 방법을 제안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국내에서도 적용할 수 있는 </a:t>
            </a:r>
            <a:r>
              <a:rPr lang="ko-KR" altLang="en-US" b="1" u="sng" dirty="0"/>
              <a:t>관심지역의 좌표를 정밀하게 설정</a:t>
            </a:r>
            <a:r>
              <a:rPr lang="ko-KR" altLang="en-US" dirty="0"/>
              <a:t>하고 </a:t>
            </a:r>
            <a:r>
              <a:rPr lang="ko-KR" altLang="en-US" b="1" u="sng" dirty="0"/>
              <a:t>이진 선형 계획법이 갖는 강점을 실험 결과로서 재확인</a:t>
            </a:r>
            <a:r>
              <a:rPr lang="ko-KR" altLang="en-US" dirty="0"/>
              <a:t> 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향후 국내 인공위성 운용 분야에서 활용될 </a:t>
            </a:r>
            <a:r>
              <a:rPr lang="ko-KR" altLang="en-US" b="1" u="sng" dirty="0"/>
              <a:t>이종 </a:t>
            </a:r>
            <a:r>
              <a:rPr lang="ko-KR" altLang="en-US" b="1" u="sng" dirty="0" err="1"/>
              <a:t>위성군</a:t>
            </a:r>
            <a:r>
              <a:rPr lang="ko-KR" altLang="en-US" b="1" u="sng" dirty="0"/>
              <a:t> 체계의 발전에 기여</a:t>
            </a:r>
            <a:r>
              <a:rPr lang="ko-KR" altLang="en-US" dirty="0"/>
              <a:t>할 것으로 기대</a:t>
            </a:r>
            <a:endParaRPr lang="en-US" altLang="ko-KR" dirty="0"/>
          </a:p>
          <a:p>
            <a:pPr lvl="2">
              <a:defRPr/>
            </a:pPr>
            <a:endParaRPr lang="en-US" altLang="ko-KR" dirty="0"/>
          </a:p>
          <a:p>
            <a:pPr lvl="2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406634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주요 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331399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이진 선형 계획법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계획법을</a:t>
            </a:r>
            <a:r>
              <a:rPr lang="ko-KR" altLang="en-US" dirty="0"/>
              <a:t>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재구성에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620686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시뮬레이션 환경 설정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참고문헌</a:t>
            </a:r>
            <a:r>
              <a:rPr lang="en-US" altLang="ko-KR" dirty="0"/>
              <a:t>(lee</a:t>
            </a:r>
            <a:r>
              <a:rPr lang="ko-KR" altLang="en-US" dirty="0"/>
              <a:t> </a:t>
            </a:r>
            <a:r>
              <a:rPr lang="en-US" altLang="ko-KR" dirty="0"/>
              <a:t>et</a:t>
            </a:r>
            <a:r>
              <a:rPr lang="ko-KR" altLang="en-US" dirty="0"/>
              <a:t> </a:t>
            </a:r>
            <a:r>
              <a:rPr lang="en-US" altLang="ko-KR" dirty="0"/>
              <a:t>al, 2020)</a:t>
            </a:r>
            <a:r>
              <a:rPr lang="ko-KR" altLang="en-US" dirty="0"/>
              <a:t>과 동일한 초기 조건 설정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참고문헌에서 도출한 결과와 </a:t>
            </a:r>
            <a:r>
              <a:rPr lang="ko-KR" altLang="en-US" b="1" u="sng" dirty="0"/>
              <a:t>실제 연구 결과의 비교를 위해 동일한 값</a:t>
            </a:r>
            <a:r>
              <a:rPr lang="ko-KR" altLang="en-US" dirty="0"/>
              <a:t>으로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직접 작성한 </a:t>
            </a:r>
            <a:r>
              <a:rPr lang="ko-KR" altLang="en-US" b="1" u="sng" dirty="0"/>
              <a:t>프로그램 언어에 대한 신뢰성 확인 가능</a:t>
            </a:r>
            <a:endParaRPr lang="en-US" altLang="ko-KR" b="1" u="sng" dirty="0"/>
          </a:p>
          <a:p>
            <a:pPr lvl="1">
              <a:defRPr/>
            </a:pPr>
            <a:r>
              <a:rPr lang="ko-KR" altLang="en-US" dirty="0"/>
              <a:t>두 가지의 설계기법에 </a:t>
            </a:r>
            <a:r>
              <a:rPr lang="ko-KR" altLang="en-US" b="1" u="sng" dirty="0"/>
              <a:t>공통으로 해당되는 입력 정보</a:t>
            </a:r>
            <a:r>
              <a:rPr lang="ko-KR" altLang="en-US" dirty="0"/>
              <a:t> 설정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시간 정보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관심지역 정보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기준 위성의 궤도요소 정보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환경 설정</a:t>
            </a:r>
          </a:p>
        </p:txBody>
      </p:sp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시간 정보 설정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위성의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궤도 전파 시작 시각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(Epoch Time) : </a:t>
            </a: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주어지지 않음</a:t>
            </a:r>
            <a:endParaRPr lang="en-US" altLang="ko-KR" b="1" i="0" u="sng" dirty="0">
              <a:solidFill>
                <a:srgbClr val="1F2328"/>
              </a:solidFill>
              <a:effectLst/>
              <a:latin typeface="-apple-system"/>
            </a:endParaRPr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임의로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’24.01.01 00:00:00’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으로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ko-KR" altLang="en-US" dirty="0"/>
              <a:t>시간 정보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F0D534F-2CBC-7E6B-EB71-D9EC4E8AC4BF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2106869"/>
              <a:ext cx="6202252" cy="8451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위성의 궤도 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𝑳</m:t>
                                </m:r>
                              </m:oMath>
                            </m:oMathPara>
                          </a14:m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F0D534F-2CBC-7E6B-EB71-D9EC4E8AC4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2925205"/>
                  </p:ext>
                </p:extLst>
              </p:nvPr>
            </p:nvGraphicFramePr>
            <p:xfrm>
              <a:off x="884057" y="2106869"/>
              <a:ext cx="6202252" cy="84518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5056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550563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Epoch Time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위성의 궤도 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전파 시간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TimeStep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575" t="-2326" r="-787" b="-72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24.01.01 00:00:00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 day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120 s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720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1050531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관심지역 정보 설정</a:t>
            </a:r>
            <a:endParaRPr lang="en-US" altLang="ko-KR" dirty="0"/>
          </a:p>
          <a:p>
            <a:pPr lvl="1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관심 지역을 </a:t>
            </a:r>
            <a:r>
              <a:rPr lang="ko-KR" altLang="en-US" b="1" i="0" u="sng" dirty="0">
                <a:solidFill>
                  <a:srgbClr val="1F2328"/>
                </a:solidFill>
                <a:effectLst/>
                <a:latin typeface="-apple-system"/>
              </a:rPr>
              <a:t>하나의</a:t>
            </a:r>
            <a:r>
              <a:rPr lang="en-US" altLang="ko-KR" b="1" i="0" u="sng" dirty="0">
                <a:solidFill>
                  <a:srgbClr val="1F2328"/>
                </a:solidFill>
                <a:effectLst/>
                <a:latin typeface="-apple-system"/>
              </a:rPr>
              <a:t> Target Point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</a:t>
            </a:r>
            <a:r>
              <a:rPr lang="ko-KR" altLang="en-US" dirty="0"/>
              <a:t>관심지역 정보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2A3A3AB-5FA3-4A97-75EA-7CC58A11343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1829467"/>
              <a:ext cx="6903755" cy="849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위도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∅</m:t>
                              </m:r>
                            </m:oMath>
                          </a14:m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경도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 i="1" smtClean="0">
                                  <a:latin typeface="Cambria Math" panose="02040503050406030204" pitchFamily="18" charset="0"/>
                                  <a:ea typeface="+mn-ea"/>
                                </a:rPr>
                                <m:t>𝜆</m:t>
                              </m:r>
                            </m:oMath>
                          </a14:m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(Min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Elev.Angle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400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최</m:t>
                              </m:r>
                            </m:oMath>
                          </a14:m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소 커버리지 요구 횟수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(Cove.</a:t>
                          </a:r>
                          <a:r>
                            <a:rPr lang="en-US" altLang="ko-KR" sz="1400" baseline="0" dirty="0">
                              <a:latin typeface="Times New Roman"/>
                              <a:ea typeface="+mn-ea"/>
                              <a:cs typeface="Times New Roman"/>
                            </a:rPr>
                            <a:t> Req.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12A3A3AB-5FA3-4A97-75EA-7CC58A1134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4634270"/>
                  </p:ext>
                </p:extLst>
              </p:nvPr>
            </p:nvGraphicFramePr>
            <p:xfrm>
              <a:off x="884057" y="1829467"/>
              <a:ext cx="6903755" cy="84918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34761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1734761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1699472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52216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2" t="-2326" r="-298246" b="-72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56" t="-2326" r="-199296" b="-720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최소 </a:t>
                          </a:r>
                          <a:r>
                            <a:rPr lang="ko-KR" altLang="en-US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고도각</a:t>
                          </a:r>
                          <a:endParaRPr lang="en-US" altLang="ko-KR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(Min</a:t>
                          </a:r>
                          <a:r>
                            <a:rPr lang="ko-KR" altLang="en-US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 </a:t>
                          </a:r>
                          <a:r>
                            <a:rPr lang="en-US" altLang="ko-KR" sz="1400" dirty="0" err="1">
                              <a:latin typeface="Times New Roman"/>
                              <a:ea typeface="+mn-ea"/>
                              <a:cs typeface="Times New Roman"/>
                            </a:rPr>
                            <a:t>Elev.Angle</a:t>
                          </a: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)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6810" t="-2326" r="-717" b="-720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34.75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84.39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W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72052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기준 위성의 궤도 요소 정보 설정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기준이 되는 위성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(Seed Satellite)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 하나의 궤도 요소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정보 설정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궤도 </a:t>
                </a:r>
                <a:r>
                  <a:rPr lang="ko-KR" altLang="en-US" b="0" i="0" dirty="0" err="1">
                    <a:solidFill>
                      <a:srgbClr val="1F2328"/>
                    </a:solidFill>
                    <a:effectLst/>
                    <a:latin typeface="-apple-system"/>
                  </a:rPr>
                  <a:t>장반경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을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궤도 회전 주기의 비 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period ratio(</a:t>
                </a:r>
                <a14:m>
                  <m:oMath xmlns:m="http://schemas.openxmlformats.org/officeDocument/2006/math">
                    <m:r>
                      <a:rPr lang="el-GR" altLang="ko-KR" b="1" i="1" u="sng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로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  <a:latin typeface="-apple-system"/>
                  </a:rPr>
                  <a:t>대체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함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2176220"/>
              <a:ext cx="4064490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41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6934933"/>
                  </p:ext>
                </p:extLst>
              </p:nvPr>
            </p:nvGraphicFramePr>
            <p:xfrm>
              <a:off x="884057" y="2176220"/>
              <a:ext cx="4064490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741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02" t="-1818" r="-5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02" t="-1818" r="-4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18" r="-29910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2703" t="-1818" r="-2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703" t="-1818" r="-1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2703" t="-1818" r="-1802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375367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Repeating Ground Track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1" u="sng" dirty="0"/>
                  <a:t>모든 설계기법에 대해 기본적으로 가정</a:t>
                </a:r>
                <a:r>
                  <a:rPr lang="ko-KR" altLang="en-US" dirty="0"/>
                  <a:t>한 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일반 궤도에 비해 </a:t>
                </a:r>
                <a:r>
                  <a:rPr lang="ko-KR" altLang="en-US" b="1" u="sng" dirty="0"/>
                  <a:t>높은 커버리지 성능</a:t>
                </a:r>
                <a:r>
                  <a:rPr lang="ko-KR" altLang="en-US" dirty="0"/>
                  <a:t>을 보임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위성이 특정 횟수의 공전을 마치면 </a:t>
                </a:r>
                <a:r>
                  <a:rPr lang="ko-KR" altLang="en-US" b="1" u="sng" dirty="0"/>
                  <a:t>궤도 전파 초기의 위치로 돌아오는 특징</a:t>
                </a:r>
                <a:endParaRPr lang="en-US" altLang="ko-KR" b="1" u="sng" dirty="0"/>
              </a:p>
              <a:p>
                <a:pPr lvl="2">
                  <a:defRPr/>
                </a:pPr>
                <a:r>
                  <a:rPr lang="ko-KR" altLang="en-US" dirty="0"/>
                  <a:t>주어진 전파 시간 동안 위성의 공전 횟수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2">
                  <a:defRPr/>
                </a:pPr>
                <a:r>
                  <a:rPr lang="ko-KR" altLang="en-US" dirty="0"/>
                  <a:t>초기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위치로 돌아오는 데 걸리는 시간 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	</a:t>
                </a:r>
              </a:p>
              <a:p>
                <a:pPr lvl="2">
                  <a:defRPr/>
                </a:pPr>
                <a:r>
                  <a:rPr lang="en-US" altLang="ko-KR" dirty="0"/>
                  <a:t>ex)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/>
                  <a:t>/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12/1 : </a:t>
                </a:r>
                <a:r>
                  <a:rPr lang="ko-KR" altLang="en-US" dirty="0"/>
                  <a:t>하루에</a:t>
                </a:r>
                <a:r>
                  <a:rPr lang="en-US" altLang="ko-KR" dirty="0"/>
                  <a:t> 12</a:t>
                </a:r>
                <a:r>
                  <a:rPr lang="ko-KR" altLang="en-US" dirty="0"/>
                  <a:t>번 공전 후 초기 위치로 돌아오는 </a:t>
                </a:r>
                <a:r>
                  <a:rPr lang="en-US" altLang="ko-KR" dirty="0"/>
                  <a:t>RGT </a:t>
                </a:r>
                <a:r>
                  <a:rPr lang="ko-KR" altLang="en-US" dirty="0"/>
                  <a:t>궤도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RGT </a:t>
                </a:r>
                <a:r>
                  <a:rPr lang="ko-KR" altLang="en-US" dirty="0"/>
                  <a:t>궤도의 특성을 이용하여 </a:t>
                </a:r>
                <a:r>
                  <a:rPr lang="ko-KR" altLang="en-US" b="1" u="sng" dirty="0"/>
                  <a:t>궤도 </a:t>
                </a:r>
                <a:r>
                  <a:rPr lang="ko-KR" altLang="en-US" b="1" u="sng" dirty="0" err="1"/>
                  <a:t>장반경</a:t>
                </a:r>
                <a:r>
                  <a:rPr lang="en-US" altLang="ko-KR" b="1" u="sng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altLang="ko-KR" b="1" i="1" u="sng" smtClean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값</m:t>
                    </m:r>
                  </m:oMath>
                </a14:m>
                <a:r>
                  <a:rPr lang="ko-KR" altLang="en-US" b="1" u="sng" dirty="0"/>
                  <a:t>을 역으로 계산 가능</a:t>
                </a:r>
                <a:r>
                  <a:rPr lang="en-US" altLang="ko-KR" b="1" u="sng" dirty="0"/>
                  <a:t>	</a:t>
                </a:r>
                <a:r>
                  <a:rPr lang="en-US" altLang="ko-KR" dirty="0"/>
                  <a:t>	</a:t>
                </a:r>
              </a:p>
              <a:p>
                <a:pPr lvl="1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28001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Repeating Ground Track </a:t>
            </a:r>
            <a:r>
              <a:rPr lang="ko-KR" altLang="en-US" dirty="0"/>
              <a:t>궤도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216000" lvl="1" indent="0">
              <a:buNone/>
              <a:defRPr/>
            </a:pPr>
            <a:r>
              <a:rPr lang="en-US" altLang="ko-KR" dirty="0"/>
              <a:t>						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지상</a:t>
            </a:r>
            <a:r>
              <a:rPr lang="en-US" altLang="ko-KR" dirty="0"/>
              <a:t> </a:t>
            </a:r>
            <a:r>
              <a:rPr lang="ko-KR" altLang="en-US" dirty="0"/>
              <a:t>궤적 반복 궤도</a:t>
            </a:r>
            <a:r>
              <a:rPr lang="en-US" altLang="ko-KR" dirty="0"/>
              <a:t>(RGT)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3D68F2-6A74-785E-5A28-D383B403F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88" y="1491288"/>
            <a:ext cx="4338887" cy="38271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7E30D1-0E60-345D-535A-ACEC0FD2C961}"/>
              </a:ext>
            </a:extLst>
          </p:cNvPr>
          <p:cNvSpPr txBox="1"/>
          <p:nvPr/>
        </p:nvSpPr>
        <p:spPr>
          <a:xfrm>
            <a:off x="-169751" y="5999821"/>
            <a:ext cx="90566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Sharon D. </a:t>
            </a:r>
            <a:r>
              <a:rPr lang="en-US" altLang="ko-KR" sz="1000" b="1" dirty="0" err="1">
                <a:solidFill>
                  <a:srgbClr val="1F2328"/>
                </a:solidFill>
              </a:rPr>
              <a:t>Vtipil</a:t>
            </a:r>
            <a:r>
              <a:rPr lang="en-US" altLang="ko-KR" sz="1000" b="1" dirty="0">
                <a:solidFill>
                  <a:srgbClr val="1F2328"/>
                </a:solidFill>
              </a:rPr>
              <a:t> and Brett Newman, “Determining an Earth Observation Repeat Ground Track Orbit for an Optimization Methodology”, Journal of Spacecraft and Rockets 2012 49:1, 157-164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98CE78-2D8E-A51B-C6B8-E3EFC21D2E60}"/>
              </a:ext>
            </a:extLst>
          </p:cNvPr>
          <p:cNvGrpSpPr/>
          <p:nvPr/>
        </p:nvGrpSpPr>
        <p:grpSpPr>
          <a:xfrm>
            <a:off x="5281631" y="1213890"/>
            <a:ext cx="2233700" cy="1889438"/>
            <a:chOff x="5281631" y="1491288"/>
            <a:chExt cx="2233700" cy="188943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8836E22-A358-B0E7-1280-31176CDC8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1631" y="1491288"/>
              <a:ext cx="2233700" cy="188943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6FFEC9-44F0-4328-F611-F7721EA89897}"/>
                </a:ext>
              </a:extLst>
            </p:cNvPr>
            <p:cNvSpPr/>
            <p:nvPr/>
          </p:nvSpPr>
          <p:spPr bwMode="auto">
            <a:xfrm>
              <a:off x="6796088" y="2813441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2EE5E74-ECF3-B5C5-DB3B-69B0B7755495}"/>
                </a:ext>
              </a:extLst>
            </p:cNvPr>
            <p:cNvSpPr/>
            <p:nvPr/>
          </p:nvSpPr>
          <p:spPr bwMode="auto">
            <a:xfrm>
              <a:off x="5919789" y="1910086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A3E7D780-8785-210A-85C1-E2364794A28B}"/>
                </a:ext>
              </a:extLst>
            </p:cNvPr>
            <p:cNvSpPr/>
            <p:nvPr/>
          </p:nvSpPr>
          <p:spPr bwMode="auto">
            <a:xfrm>
              <a:off x="6242609" y="1890385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4DE6A41D-63F1-87C3-3879-E5D9447B4769}"/>
                </a:ext>
              </a:extLst>
            </p:cNvPr>
            <p:cNvSpPr/>
            <p:nvPr/>
          </p:nvSpPr>
          <p:spPr bwMode="auto">
            <a:xfrm>
              <a:off x="7116111" y="2793740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6415A70-C401-69B1-74B1-B9877BB902B2}"/>
                </a:ext>
              </a:extLst>
            </p:cNvPr>
            <p:cNvSpPr/>
            <p:nvPr/>
          </p:nvSpPr>
          <p:spPr bwMode="auto">
            <a:xfrm>
              <a:off x="6343136" y="2355374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2F60612-8FF6-9A7E-89E8-7175EAC52A60}"/>
                </a:ext>
              </a:extLst>
            </p:cNvPr>
            <p:cNvSpPr/>
            <p:nvPr/>
          </p:nvSpPr>
          <p:spPr bwMode="auto">
            <a:xfrm>
              <a:off x="7176574" y="3066349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431AF93-18C4-E383-11F1-7D96EDAAD775}"/>
              </a:ext>
            </a:extLst>
          </p:cNvPr>
          <p:cNvGrpSpPr/>
          <p:nvPr/>
        </p:nvGrpSpPr>
        <p:grpSpPr>
          <a:xfrm>
            <a:off x="5281631" y="3273245"/>
            <a:ext cx="3668961" cy="2039942"/>
            <a:chOff x="5281631" y="3550643"/>
            <a:chExt cx="3668961" cy="2039942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253A1C7-7483-ED5A-E0C9-9ECC0D965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81631" y="3550643"/>
              <a:ext cx="3668961" cy="203994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95446D7-2B16-6B5F-AE9F-5F515880AF11}"/>
                </a:ext>
              </a:extLst>
            </p:cNvPr>
            <p:cNvSpPr/>
            <p:nvPr/>
          </p:nvSpPr>
          <p:spPr bwMode="auto">
            <a:xfrm>
              <a:off x="6844355" y="4441351"/>
              <a:ext cx="201054" cy="214910"/>
            </a:xfrm>
            <a:prstGeom prst="rect">
              <a:avLst/>
            </a:prstGeom>
            <a:noFill/>
            <a:ln w="9525">
              <a:solidFill>
                <a:srgbClr val="99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406609E-175F-A337-EDA9-BB9CDC1D36E6}"/>
                </a:ext>
              </a:extLst>
            </p:cNvPr>
            <p:cNvSpPr/>
            <p:nvPr/>
          </p:nvSpPr>
          <p:spPr bwMode="auto">
            <a:xfrm>
              <a:off x="6375045" y="3864775"/>
              <a:ext cx="183329" cy="195209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EA94532-7B7A-1368-4B38-A8963E98B435}"/>
                </a:ext>
              </a:extLst>
            </p:cNvPr>
            <p:cNvSpPr/>
            <p:nvPr/>
          </p:nvSpPr>
          <p:spPr bwMode="auto">
            <a:xfrm>
              <a:off x="5382563" y="5046403"/>
              <a:ext cx="201054" cy="214910"/>
            </a:xfrm>
            <a:prstGeom prst="rect">
              <a:avLst/>
            </a:prstGeom>
            <a:noFill/>
            <a:ln w="9525">
              <a:solidFill>
                <a:srgbClr val="3333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25000" lnSpcReduction="20000"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6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ko-KR" altLang="en-US" sz="62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6200" dirty="0"/>
                  <a:t> </a:t>
                </a:r>
                <a:r>
                  <a:rPr lang="ko-KR" altLang="en-US" sz="6200" dirty="0"/>
                  <a:t>제외한 나머지는 모두 상수</a:t>
                </a:r>
                <a:endParaRPr lang="en-US" altLang="ko-KR" sz="6200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dirty="0"/>
                  <a:t>						</a:t>
                </a:r>
              </a:p>
            </p:txBody>
          </p:sp>
        </mc:Choice>
        <mc:Fallback xmlns="">
          <p:sp>
            <p:nvSpPr>
              <p:cNvPr id="21" name="내용 개체 틀 1">
                <a:extLst>
                  <a:ext uri="{FF2B5EF4-FFF2-40B4-BE49-F238E27FC236}">
                    <a16:creationId xmlns:a16="http://schemas.microsoft.com/office/drawing/2014/main" id="{9D9ED97D-4159-2559-96AC-3AEA3F9D9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87" y="5440429"/>
                <a:ext cx="4331987" cy="1010167"/>
              </a:xfrm>
              <a:prstGeom prst="rect">
                <a:avLst/>
              </a:prstGeom>
              <a:blipFill>
                <a:blip r:embed="rId6"/>
                <a:stretch>
                  <a:fillRect t="-72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354631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기준 위성의 궤도 요소 정보 설정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기준이 되는 위성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(Seed Satellite)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하나의 궤도 요소 정보 설정</a:t>
                </a:r>
              </a:p>
              <a:p>
                <a:pPr lvl="1">
                  <a:defRPr/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값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통해 궤도 </a:t>
                </a:r>
                <a:r>
                  <a:rPr lang="ko-KR" altLang="en-US" b="0" i="0" dirty="0" err="1">
                    <a:solidFill>
                      <a:srgbClr val="1F2328"/>
                    </a:solidFill>
                    <a:effectLst/>
                    <a:latin typeface="-apple-system"/>
                  </a:rPr>
                  <a:t>장반경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)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을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 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  <a:latin typeface="-apple-system"/>
                  </a:rPr>
                  <a:t>역으로 계산 가능</a:t>
                </a: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ko-KR" altLang="en-US" dirty="0"/>
              <a:t>기준 위성의 궤도 요소 정보 설정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2176220"/>
              <a:ext cx="4216068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99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A225A299-14B6-9BF2-FB4C-94EF99AE1A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056215"/>
                  </p:ext>
                </p:extLst>
              </p:nvPr>
            </p:nvGraphicFramePr>
            <p:xfrm>
              <a:off x="884057" y="2176220"/>
              <a:ext cx="4216068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8993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7741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71" t="-1818" r="-41029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4324" t="-1818" r="-4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4324" t="-1818" r="-30270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1429" t="-1818" r="-2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5225" t="-1818" r="-10180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5225" t="-1818" r="-1802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704600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APC Decomposition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4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개념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설계 기법의 기초가 되는 사전 작업</a:t>
            </a:r>
            <a:endParaRPr lang="en-US" altLang="ko-KR" dirty="0"/>
          </a:p>
          <a:p>
            <a:pPr lvl="1">
              <a:defRPr/>
            </a:pPr>
            <a:r>
              <a:rPr lang="ko-KR" altLang="en-US" b="1" u="sng" dirty="0"/>
              <a:t>기준이 되는 위성</a:t>
            </a:r>
            <a:r>
              <a:rPr lang="en-US" altLang="ko-KR" b="1" u="sng" dirty="0"/>
              <a:t>(Seed Satellite) </a:t>
            </a:r>
            <a:r>
              <a:rPr lang="ko-KR" altLang="en-US" b="1" u="sng" dirty="0"/>
              <a:t>하나만을 운용하였을 때의 정보</a:t>
            </a:r>
            <a:r>
              <a:rPr lang="ko-KR" altLang="en-US" dirty="0"/>
              <a:t>를 이용하여 여러 대의 위성을 운용하였을 때의 결과를 수학적으로 계산하는 과정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다음의 세 단계로 구성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</a:p>
          <a:p>
            <a:pPr lvl="2">
              <a:defRPr/>
            </a:pPr>
            <a:r>
              <a:rPr lang="en-US" altLang="ko-KR" dirty="0"/>
              <a:t> Constellation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 Vector</a:t>
            </a:r>
          </a:p>
          <a:p>
            <a:pPr lvl="2">
              <a:defRPr/>
            </a:pPr>
            <a:r>
              <a:rPr lang="en-US" altLang="ko-KR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 Timeline</a:t>
            </a:r>
          </a:p>
          <a:p>
            <a:pPr lvl="2"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202358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Access Profile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Seed Satellite </a:t>
                </a:r>
                <a:r>
                  <a:rPr lang="ko-KR" altLang="en-US" dirty="0"/>
                  <a:t>하나만을 운용하였을 때의 </a:t>
                </a:r>
                <a:r>
                  <a:rPr lang="en-US" altLang="ko-KR" dirty="0"/>
                  <a:t>Access Profile</a:t>
                </a:r>
              </a:p>
              <a:p>
                <a:pPr lvl="1">
                  <a:defRPr/>
                </a:pPr>
                <a:r>
                  <a:rPr lang="ko-KR" altLang="en-US" dirty="0"/>
                  <a:t>관측시간 </a:t>
                </a:r>
                <a:r>
                  <a:rPr lang="en-US" altLang="ko-KR" dirty="0"/>
                  <a:t>86400</a:t>
                </a:r>
                <a:r>
                  <a:rPr lang="ko-KR" altLang="en-US" dirty="0"/>
                  <a:t>초</a:t>
                </a:r>
                <a:r>
                  <a:rPr lang="en-US" altLang="ko-KR" dirty="0"/>
                  <a:t>, Time Step 120</a:t>
                </a:r>
                <a:r>
                  <a:rPr lang="ko-KR" altLang="en-US" dirty="0"/>
                  <a:t>초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=720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최소 고도각을 </a:t>
                </a:r>
                <a:r>
                  <a:rPr lang="en-US" altLang="ko-KR" dirty="0"/>
                  <a:t>5</a:t>
                </a:r>
                <a:r>
                  <a:rPr lang="ko-KR" altLang="en-US" dirty="0"/>
                  <a:t>˚로 설정하였을 때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관심지역에서 </a:t>
                </a:r>
                <a:r>
                  <a:rPr lang="ko-KR" altLang="en-US" b="1" u="sng" dirty="0"/>
                  <a:t>위성이 관측되는 구간에 대해서만 출력된 </a:t>
                </a:r>
                <a:r>
                  <a:rPr lang="en-US" altLang="ko-KR" b="1" u="sng" dirty="0"/>
                  <a:t>Timeline</a:t>
                </a:r>
                <a:r>
                  <a:rPr lang="ko-KR" altLang="en-US" dirty="0"/>
                  <a:t>의 결과 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 r="-12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en-US" altLang="ko-KR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ccess Profile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B8363F-CC53-A169-0971-AD4522869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7" y="1444134"/>
            <a:ext cx="4245688" cy="33032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AA099C-79AD-C37F-74A7-6C06B0ABB4BF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733106239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Constellation Pattern Vector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Seed Satellite</a:t>
                </a:r>
                <a:r>
                  <a:rPr lang="ko-KR" altLang="en-US" dirty="0"/>
                  <a:t>을 기준으로 </a:t>
                </a:r>
                <a:r>
                  <a:rPr lang="ko-KR" altLang="en-US" b="1" u="sng" dirty="0"/>
                  <a:t>각</a:t>
                </a:r>
                <a:r>
                  <a:rPr lang="en-US" altLang="ko-KR" b="1" u="sng" dirty="0"/>
                  <a:t> </a:t>
                </a:r>
                <a:r>
                  <a:rPr lang="ko-KR" altLang="en-US" b="1" u="sng" dirty="0"/>
                  <a:t>위성들의 상대적 위치를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으로 표현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배열에 따라 </a:t>
                </a:r>
                <a:r>
                  <a:rPr lang="en-US" altLang="ko-KR" dirty="0"/>
                  <a:t>Constellation Pattern Vector</a:t>
                </a:r>
                <a:r>
                  <a:rPr lang="ko-KR" altLang="en-US" dirty="0"/>
                  <a:t>를 구성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실제 운용할 위성들은 </a:t>
                </a:r>
                <a:r>
                  <a:rPr lang="en-US" altLang="ko-KR" b="1" u="sng" dirty="0"/>
                  <a:t>Seed Satellite</a:t>
                </a:r>
                <a:r>
                  <a:rPr lang="ko-KR" altLang="en-US" b="1" u="sng" dirty="0"/>
                  <a:t>의 전파시간보다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만큼 늦게 전파</a:t>
                </a:r>
                <a:r>
                  <a:rPr lang="ko-KR" altLang="en-US" dirty="0"/>
                  <a:t>한 결과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값에 따라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𝑅𝐴𝐴𝑁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𝑀𝑒𝑎𝑛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𝑎𝑛𝑜𝑚𝑎𝑙𝑦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 결정 </a:t>
                </a: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2. Constellation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rgbClr val="FF0000"/>
                </a:solidFill>
              </a:rPr>
              <a:t>P</a:t>
            </a:r>
            <a:r>
              <a:rPr lang="en-US" altLang="ko-KR" dirty="0"/>
              <a:t>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7F16C-7FC6-A01D-98E5-4A976113C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05" y="1396129"/>
            <a:ext cx="7589521" cy="28382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DE857E1-72F1-EC1F-3526-0168B569F82B}"/>
              </a:ext>
            </a:extLst>
          </p:cNvPr>
          <p:cNvSpPr txBox="1"/>
          <p:nvPr/>
        </p:nvSpPr>
        <p:spPr>
          <a:xfrm>
            <a:off x="-200345" y="594872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97978606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DABE98D-2763-BF48-4592-519363A2E7C0}"/>
              </a:ext>
            </a:extLst>
          </p:cNvPr>
          <p:cNvSpPr/>
          <p:nvPr/>
        </p:nvSpPr>
        <p:spPr bwMode="auto">
          <a:xfrm>
            <a:off x="257082" y="6327787"/>
            <a:ext cx="3357987" cy="4001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Coverage Timeline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앞의 두 과정에서 얻은 정보를 합성하여 </a:t>
                </a:r>
                <a:r>
                  <a:rPr lang="ko-KR" altLang="en-US" b="1" u="sng" dirty="0"/>
                  <a:t>각 위성의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생성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en-US" altLang="ko-KR" dirty="0"/>
                  <a:t>ex) Seed Satellite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이용하여 실제 운용할 위성 </a:t>
                </a:r>
                <a14:m>
                  <m:oMath xmlns:m="http://schemas.openxmlformats.org/officeDocument/2006/math">
                    <m:r>
                      <a:rPr lang="en-US" altLang="ko-KR" b="0" i="0" u="sng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ko-KR" altLang="en-US" b="1" u="sng" dirty="0"/>
                  <a:t>과</a:t>
                </a:r>
                <a:r>
                  <a:rPr lang="en-US" altLang="ko-KR" b="1" u="sng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ko-KR" altLang="en-US" b="1" u="sng" dirty="0"/>
                  <a:t>의</a:t>
                </a:r>
                <a:r>
                  <a:rPr lang="en-US" altLang="ko-KR" b="1" u="sng" dirty="0"/>
                  <a:t> Constellation Pattern Vector</a:t>
                </a:r>
                <a:r>
                  <a:rPr lang="ko-KR" altLang="en-US" b="1" u="sng" dirty="0"/>
                  <a:t>를 각각</a:t>
                </a:r>
                <a14:m>
                  <m:oMath xmlns:m="http://schemas.openxmlformats.org/officeDocument/2006/math">
                    <m:r>
                      <a:rPr lang="en-US" altLang="ko-KR" b="1" i="1" u="sng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ko-KR" altLang="en-US" b="1" i="1" u="sng" smtClean="0">
                        <a:latin typeface="Cambria Math" panose="02040503050406030204" pitchFamily="18" charset="0"/>
                      </a:rPr>
                      <m:t>과</m:t>
                    </m:r>
                  </m:oMath>
                </a14:m>
                <a:r>
                  <a:rPr lang="en-US" altLang="ko-KR" b="1" u="sng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ko-KR" altLang="en-US" b="1" u="sng" dirty="0"/>
                  <a:t>로 설정 후 지연된</a:t>
                </a:r>
                <a:r>
                  <a:rPr lang="en-US" altLang="ko-KR" b="1" u="sng" dirty="0"/>
                  <a:t> </a:t>
                </a:r>
                <a:r>
                  <a:rPr lang="ko-KR" altLang="en-US" b="1" u="sng" dirty="0"/>
                  <a:t>시간 만큼의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생성</a:t>
                </a:r>
                <a:endParaRPr lang="en-US" altLang="ko-KR" b="1" u="sng" dirty="0"/>
              </a:p>
              <a:p>
                <a:pPr lvl="1">
                  <a:defRPr/>
                </a:pPr>
                <a:r>
                  <a:rPr lang="ko-KR" altLang="en-US" b="1" u="sng" dirty="0"/>
                  <a:t>두 위성의 </a:t>
                </a:r>
                <a:r>
                  <a:rPr lang="en-US" altLang="ko-KR" b="1" u="sng" dirty="0"/>
                  <a:t>Timeline</a:t>
                </a:r>
                <a:r>
                  <a:rPr lang="ko-KR" altLang="en-US" b="1" u="sng" dirty="0"/>
                  <a:t>을 겹치게 하여</a:t>
                </a:r>
                <a:r>
                  <a:rPr lang="ko-KR" altLang="en-US" dirty="0"/>
                  <a:t> 최종 </a:t>
                </a:r>
                <a:r>
                  <a:rPr lang="en-US" altLang="ko-KR" dirty="0"/>
                  <a:t>Coverage Timeline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획득</a:t>
                </a:r>
                <a:endParaRPr lang="en-US" altLang="ko-KR" dirty="0"/>
              </a:p>
              <a:p>
                <a:pPr lvl="2">
                  <a:defRPr/>
                </a:pPr>
                <a:r>
                  <a:rPr lang="en-US" altLang="ko-KR" dirty="0"/>
                  <a:t>Seed Satellite</a:t>
                </a:r>
                <a:r>
                  <a:rPr lang="ko-KR" altLang="en-US" dirty="0"/>
                  <a:t>는 실제 운용 위성의 기준을 잡는 용도일 뿐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b="1" i="1" u="sng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ko-KR" altLang="en-US" b="1" i="1" u="sng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u="sng" dirty="0"/>
                  <a:t>서는 제외</a:t>
                </a:r>
                <a:endParaRPr lang="en-US" altLang="ko-KR" b="1" u="sng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3. </a:t>
            </a:r>
            <a:r>
              <a:rPr lang="en-US" altLang="ko-KR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overage</a:t>
            </a:r>
            <a:r>
              <a:rPr lang="ko-KR" altLang="en-US" dirty="0"/>
              <a:t> </a:t>
            </a:r>
            <a:r>
              <a:rPr lang="en-US" altLang="ko-KR" dirty="0"/>
              <a:t>Timeline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F50408E-7D17-5FB5-7D56-4567E0CA2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224" y="1396877"/>
            <a:ext cx="2922845" cy="28479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F6B39E5-783C-D0FA-A785-ACEB816ACDE5}"/>
              </a:ext>
            </a:extLst>
          </p:cNvPr>
          <p:cNvSpPr txBox="1"/>
          <p:nvPr/>
        </p:nvSpPr>
        <p:spPr>
          <a:xfrm>
            <a:off x="-200345" y="6195304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61059691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>
            <a:extLst>
              <a:ext uri="{FF2B5EF4-FFF2-40B4-BE49-F238E27FC236}">
                <a16:creationId xmlns:a16="http://schemas.microsoft.com/office/drawing/2014/main" id="{97439449-60C0-86AB-9D33-5F2F0505EBC5}"/>
              </a:ext>
            </a:extLst>
          </p:cNvPr>
          <p:cNvSpPr/>
          <p:nvPr/>
        </p:nvSpPr>
        <p:spPr bwMode="auto">
          <a:xfrm>
            <a:off x="257082" y="6266143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예시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APC Decomposition</a:t>
            </a:r>
            <a:r>
              <a:rPr lang="ko-KR" altLang="en-US" dirty="0"/>
              <a:t>의 간단한 예시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4F11BA-A421-115C-4BD7-B5C3F8DF6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779" y="1434359"/>
            <a:ext cx="6094713" cy="2827099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𝛺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0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ko-KR" sz="1400" b="0" i="0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æ</m:t>
                                    </m:r>
                                  </m:e>
                                  <m:sub>
                                    <m:r>
                                      <a:rPr lang="en-US" altLang="ko-KR" sz="1400" b="1" i="1" kern="1200" smtClean="0">
                                        <a:solidFill>
                                          <a:schemeClr val="bg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B622B02A-7CB5-3850-57FB-C99765EAF2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2450683"/>
                  </p:ext>
                </p:extLst>
              </p:nvPr>
            </p:nvGraphicFramePr>
            <p:xfrm>
              <a:off x="706779" y="4413481"/>
              <a:ext cx="4543315" cy="130808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9045">
                      <a:extLst>
                        <a:ext uri="{9D8B030D-6E8A-4147-A177-3AD203B41FA5}">
                          <a16:colId xmlns:a16="http://schemas.microsoft.com/office/drawing/2014/main" val="1868824061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243074929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995534688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681398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484016052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1638346173"/>
                        </a:ext>
                      </a:extLst>
                    </a:gridCol>
                    <a:gridCol w="649045">
                      <a:extLst>
                        <a:ext uri="{9D8B030D-6E8A-4147-A177-3AD203B41FA5}">
                          <a16:colId xmlns:a16="http://schemas.microsoft.com/office/drawing/2014/main" val="3059728418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887" t="-1852" r="-50566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852" r="-4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3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0000" t="-1852" r="-200935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04717" t="-1852" r="-102830" b="-3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9065" t="-1852" r="-1869" b="-3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4507387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101852" r="-600000" b="-2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48685654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201852" r="-6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9484660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301852" r="-600000" b="-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4/1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170.2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44968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첫번째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Seed Satellite</a:t>
                </a:r>
                <a:r>
                  <a:rPr lang="ko-KR" altLang="en-US" dirty="0"/>
                  <a:t>와 궤도요소가 일치하므로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b="1" dirty="0">
                  <a:solidFill>
                    <a:schemeClr val="tx1"/>
                  </a:solidFill>
                </a:endParaRPr>
              </a:p>
              <a:p>
                <a:pPr lvl="2">
                  <a:lnSpc>
                    <a:spcPct val="120000"/>
                  </a:lnSpc>
                  <a:defRPr/>
                </a:pPr>
                <a:r>
                  <a:rPr lang="ko-KR" altLang="en-US" dirty="0"/>
                  <a:t>두번째 위성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ko-KR">
                            <a:solidFill>
                              <a:schemeClr val="tx1"/>
                            </a:solidFill>
                          </a:rPr>
                          <m:t>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0" i="1">
                        <a:latin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아래의 식에 의해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𝟑𝟔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/>
              </a:p>
              <a:p>
                <a:pPr marL="432000" lvl="2" indent="0">
                  <a:lnSpc>
                    <a:spcPct val="120000"/>
                  </a:lnSpc>
                  <a:buNone/>
                  <a:defRPr/>
                </a:pPr>
                <a:r>
                  <a:rPr lang="en-US" altLang="ko-KR" dirty="0">
                    <a:solidFill>
                      <a:srgbClr val="836967"/>
                    </a:solidFill>
                  </a:rPr>
                  <a:t>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ko-KR" dirty="0"/>
                  <a:t>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 (N : </a:t>
                </a:r>
                <a:r>
                  <a:rPr lang="ko-KR" altLang="en-US" dirty="0"/>
                  <a:t>총 위성 수</a:t>
                </a:r>
                <a:r>
                  <a:rPr lang="en-US" altLang="ko-KR" dirty="0"/>
                  <a:t>)</a:t>
                </a:r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1" name="내용 개체 틀 1">
                <a:extLst>
                  <a:ext uri="{FF2B5EF4-FFF2-40B4-BE49-F238E27FC236}">
                    <a16:creationId xmlns:a16="http://schemas.microsoft.com/office/drawing/2014/main" id="{595C3B0D-66C6-9DB3-0B06-7887BA96A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271" y="4343974"/>
                <a:ext cx="4161263" cy="18297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59AE682-CF5D-8D97-5292-0E79DF552B5C}"/>
              </a:ext>
            </a:extLst>
          </p:cNvPr>
          <p:cNvSpPr txBox="1"/>
          <p:nvPr/>
        </p:nvSpPr>
        <p:spPr>
          <a:xfrm>
            <a:off x="-200345" y="625694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8363744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r>
              <a:rPr lang="en-US" altLang="ko-KR" dirty="0"/>
              <a:t>(vs </a:t>
            </a: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)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20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흐름도</a:t>
            </a: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설계 개념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360000" algn="l" defTabSz="914400" rtl="0" eaLnBrk="1" latinLnBrk="1" hangingPunct="1">
                  <a:lnSpc>
                    <a:spcPct val="100000"/>
                  </a:lnSpc>
                  <a:spcBef>
                    <a:spcPts val="1000"/>
                  </a:spcBef>
                  <a:buFont typeface="Wingdings" panose="05000000000000000000" pitchFamily="2" charset="2"/>
                  <a:buChar char="v"/>
                  <a:defRPr sz="2400" b="1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1pPr>
                <a:lvl2pPr marL="540000" indent="-324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u"/>
                  <a:defRPr sz="1800" b="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2pPr>
                <a:lvl3pPr marL="720000" indent="-288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Ø"/>
                  <a:defRPr sz="16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3pPr>
                <a:lvl4pPr marL="90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4pPr>
                <a:lvl5pPr marL="1080000" indent="-252000" algn="l" defTabSz="914400" rtl="0" eaLnBrk="1" latinLnBrk="1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times" panose="02020603050405020304" pitchFamily="18" charset="0"/>
                    <a:ea typeface="+mn-ea"/>
                    <a:cs typeface="times" panose="02020603050405020304" pitchFamily="18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①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Seed Satellite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의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시간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ko-KR" altLang="en-US" b="1" u="sng" dirty="0">
                    <a:cs typeface="Times New Roman"/>
                  </a:rPr>
                  <a:t>관심지역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및</a:t>
                </a:r>
                <a:endParaRPr lang="en-US" altLang="ko-KR" b="1" u="sng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궤도요소 정보를 입력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solidFill>
                    <a:schemeClr val="tx1"/>
                  </a:solidFill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②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은 위성의 수에 해당하며 첫 번째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을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0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으로 시작하여 </a:t>
                </a:r>
                <a:r>
                  <a:rPr lang="en-US" altLang="ko-KR" b="1" u="sng" dirty="0">
                    <a:solidFill>
                      <a:schemeClr val="tx1"/>
                    </a:solidFill>
                    <a:cs typeface="Times New Roman"/>
                  </a:rPr>
                  <a:t>N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이 </a:t>
                </a:r>
                <a:r>
                  <a:rPr lang="ko-KR" altLang="en-US" b="1" u="sng" dirty="0">
                    <a:cs typeface="Times New Roman"/>
                  </a:rPr>
                  <a:t>최대 </a:t>
                </a:r>
                <a:r>
                  <a:rPr lang="en-US" altLang="ko-KR" b="1" u="sng" dirty="0">
                    <a:cs typeface="Times New Roman"/>
                  </a:rPr>
                  <a:t>L</a:t>
                </a:r>
                <a:r>
                  <a:rPr lang="ko-KR" altLang="en-US" b="1" u="sng" dirty="0">
                    <a:cs typeface="Times New Roman"/>
                  </a:rPr>
                  <a:t>이 될 때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ko-KR" altLang="en-US" b="1" u="sng" dirty="0">
                    <a:cs typeface="Times New Roman"/>
                  </a:rPr>
                  <a:t>까지 반복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③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로 정의하며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  <a:cs typeface="Times New Roman"/>
                  </a:rPr>
                  <a:t>nint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는 가장 </a:t>
                </a:r>
                <a:endParaRPr lang="en-US" altLang="ko-KR" dirty="0">
                  <a:solidFill>
                    <a:schemeClr val="tx1"/>
                  </a:solidFill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가까운 정수를 뜻하는 함수다</a:t>
                </a:r>
                <a:r>
                  <a:rPr lang="en-US" altLang="ko-KR" dirty="0">
                    <a:solidFill>
                      <a:schemeClr val="tx1"/>
                    </a:solidFill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</a:t>
                </a:r>
                <a:r>
                  <a:rPr lang="en-US" altLang="ko-KR" i="1" dirty="0">
                    <a:latin typeface="Cambria Math" panose="02040503050406030204" pitchFamily="18" charset="0"/>
                  </a:rPr>
                  <a:t>          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cs typeface="Times New Roman"/>
                  </a:rPr>
                  <a:t>값에 따라 </a:t>
                </a:r>
                <a:r>
                  <a:rPr lang="ko-KR" altLang="en-US" b="1" u="sng" dirty="0">
                    <a:solidFill>
                      <a:schemeClr val="tx1"/>
                    </a:solidFill>
                    <a:cs typeface="Times New Roman"/>
                  </a:rPr>
                  <a:t>균등하게 </a:t>
                </a:r>
                <a:r>
                  <a:rPr lang="en-US" altLang="ko-KR" b="1" u="sng" dirty="0">
                    <a:cs typeface="Times New Roman"/>
                  </a:rPr>
                  <a:t>Constellation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 </a:t>
                </a:r>
                <a:r>
                  <a:rPr lang="en-US" altLang="ko-KR" b="1" u="sng" dirty="0">
                    <a:cs typeface="Times New Roman"/>
                  </a:rPr>
                  <a:t>Pattern Vector</a:t>
                </a:r>
                <a:r>
                  <a:rPr lang="ko-KR" altLang="en-US" b="1" u="sng" dirty="0">
                    <a:cs typeface="Times New Roman"/>
                  </a:rPr>
                  <a:t>를 생성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</a:t>
                </a:r>
              </a:p>
              <a:p>
                <a:pPr marL="432000" lvl="2" indent="0">
                  <a:buNone/>
                  <a:defRPr/>
                </a:pPr>
                <a:endParaRPr lang="en-US" altLang="ko-KR" sz="500" dirty="0">
                  <a:cs typeface="Times New Roman"/>
                </a:endParaRPr>
              </a:p>
              <a:p>
                <a:pPr lvl="2">
                  <a:defRPr/>
                </a:pPr>
                <a:r>
                  <a:rPr lang="ko-KR" altLang="en-US" dirty="0">
                    <a:cs typeface="Times New Roman"/>
                  </a:rPr>
                  <a:t>④ 모든 관측시간에 대해 최소 커버리지 </a:t>
                </a:r>
                <a:endParaRPr lang="en-US" altLang="ko-KR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dirty="0">
                    <a:cs typeface="Times New Roman"/>
                  </a:rPr>
                  <a:t>요구횟수를 달성할 때까지 </a:t>
                </a:r>
                <a:r>
                  <a:rPr lang="ko-KR" altLang="en-US" b="1" u="sng" dirty="0">
                    <a:cs typeface="Times New Roman"/>
                  </a:rPr>
                  <a:t>위성의  </a:t>
                </a:r>
                <a:endParaRPr lang="en-US" altLang="ko-KR" b="1" u="sng" dirty="0">
                  <a:cs typeface="Times New Roman"/>
                </a:endParaRP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반복 누적</a:t>
                </a:r>
                <a:r>
                  <a:rPr lang="ko-KR" altLang="en-US" dirty="0">
                    <a:cs typeface="Times New Roman"/>
                  </a:rPr>
                  <a:t>하다가 달성 시</a:t>
                </a:r>
                <a:r>
                  <a:rPr lang="en-US" altLang="ko-KR" dirty="0">
                    <a:cs typeface="Times New Roman"/>
                  </a:rPr>
                  <a:t>,        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</a:t>
                </a:r>
                <a:r>
                  <a:rPr lang="en-US" altLang="ko-KR" b="1" dirty="0">
                    <a:cs typeface="Times New Roman"/>
                  </a:rPr>
                  <a:t> </a:t>
                </a:r>
                <a:r>
                  <a:rPr lang="ko-KR" altLang="en-US" b="1" u="sng" dirty="0">
                    <a:cs typeface="Times New Roman"/>
                  </a:rPr>
                  <a:t>전체 관측 시간 동안의 </a:t>
                </a:r>
                <a:r>
                  <a:rPr lang="en-US" altLang="ko-KR" b="1" u="sng" dirty="0">
                    <a:cs typeface="Times New Roman"/>
                  </a:rPr>
                  <a:t>Coverage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b="1" dirty="0">
                    <a:cs typeface="Times New Roman"/>
                  </a:rPr>
                  <a:t>          </a:t>
                </a:r>
                <a:r>
                  <a:rPr lang="en-US" altLang="ko-KR" b="1" u="sng" dirty="0">
                    <a:cs typeface="Times New Roman"/>
                  </a:rPr>
                  <a:t>Timeline</a:t>
                </a:r>
                <a:r>
                  <a:rPr lang="ko-KR" altLang="en-US" b="1" u="sng" dirty="0">
                    <a:cs typeface="Times New Roman"/>
                  </a:rPr>
                  <a:t>을 출력</a:t>
                </a:r>
                <a:r>
                  <a:rPr lang="ko-KR" altLang="en-US" dirty="0">
                    <a:cs typeface="Times New Roman"/>
                  </a:rPr>
                  <a:t>한다</a:t>
                </a:r>
                <a:r>
                  <a:rPr lang="en-US" altLang="ko-KR" dirty="0">
                    <a:cs typeface="Times New Roman"/>
                  </a:rPr>
                  <a:t>. </a:t>
                </a:r>
                <a:r>
                  <a:rPr lang="ko-KR" altLang="en-US" dirty="0">
                    <a:cs typeface="Times New Roman"/>
                  </a:rPr>
                  <a:t>달성 불가 시</a:t>
                </a:r>
                <a:r>
                  <a:rPr lang="en-US" altLang="ko-KR" dirty="0">
                    <a:cs typeface="Times New Roman"/>
                  </a:rPr>
                  <a:t>, </a:t>
                </a:r>
              </a:p>
              <a:p>
                <a:pPr marL="432000" lvl="2" indent="0">
                  <a:buNone/>
                  <a:defRPr/>
                </a:pPr>
                <a:r>
                  <a:rPr lang="en-US" altLang="ko-KR" dirty="0">
                    <a:cs typeface="Times New Roman"/>
                  </a:rPr>
                  <a:t>          </a:t>
                </a:r>
                <a:r>
                  <a:rPr lang="ko-KR" altLang="en-US" b="1" u="sng" dirty="0">
                    <a:cs typeface="Times New Roman"/>
                  </a:rPr>
                  <a:t>위성 수를 추가</a:t>
                </a:r>
                <a:r>
                  <a:rPr lang="ko-KR" altLang="en-US" dirty="0">
                    <a:cs typeface="Times New Roman"/>
                  </a:rPr>
                  <a:t>하여 반복한다</a:t>
                </a:r>
                <a:r>
                  <a:rPr lang="en-US" altLang="ko-KR" dirty="0">
                    <a:cs typeface="Times New Roman"/>
                  </a:rPr>
                  <a:t>.</a:t>
                </a:r>
                <a:endParaRPr lang="en-US" altLang="ko-KR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>
                  <a:defRPr/>
                </a:pPr>
                <a:endParaRPr lang="en-US" altLang="ko-KR" sz="1600" b="0" dirty="0"/>
              </a:p>
              <a:p>
                <a:pPr marL="216000" lvl="1" indent="0">
                  <a:buFont typeface="Wingdings" panose="05000000000000000000" pitchFamily="2" charset="2"/>
                  <a:buNone/>
                  <a:defRPr/>
                </a:pPr>
                <a:r>
                  <a:rPr lang="en-US" altLang="ko-KR" sz="1600" dirty="0"/>
                  <a:t>						</a:t>
                </a:r>
              </a:p>
            </p:txBody>
          </p:sp>
        </mc:Choice>
        <mc:Fallback xmlns="">
          <p:sp>
            <p:nvSpPr>
              <p:cNvPr id="12" name="내용 개체 틀 1">
                <a:extLst>
                  <a:ext uri="{FF2B5EF4-FFF2-40B4-BE49-F238E27FC236}">
                    <a16:creationId xmlns:a16="http://schemas.microsoft.com/office/drawing/2014/main" id="{A4F4D79B-6642-AD92-0D33-7E29AFA3E3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335" y="1342606"/>
                <a:ext cx="5022441" cy="5165181"/>
              </a:xfrm>
              <a:prstGeom prst="rect">
                <a:avLst/>
              </a:prstGeom>
              <a:blipFill>
                <a:blip r:embed="rId3"/>
                <a:stretch>
                  <a:fillRect t="-472" b="-12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37EEB853-5D9A-EEF4-4952-8BCD0913E0DD}"/>
              </a:ext>
            </a:extLst>
          </p:cNvPr>
          <p:cNvGrpSpPr/>
          <p:nvPr/>
        </p:nvGrpSpPr>
        <p:grpSpPr>
          <a:xfrm>
            <a:off x="257080" y="1522606"/>
            <a:ext cx="4586170" cy="3443439"/>
            <a:chOff x="686697" y="1508277"/>
            <a:chExt cx="4586170" cy="344343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FDB58B8-8876-21A3-E0C2-8242C9BC4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495" y="1522606"/>
              <a:ext cx="4522372" cy="342911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C55184E-6DB8-23E5-0EA4-E7B8C3E4B3B5}"/>
                </a:ext>
              </a:extLst>
            </p:cNvPr>
            <p:cNvSpPr txBox="1"/>
            <p:nvPr/>
          </p:nvSpPr>
          <p:spPr>
            <a:xfrm>
              <a:off x="686697" y="2054831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63DCE4A-BF67-288C-BA71-1A3140CA6322}"/>
                </a:ext>
              </a:extLst>
            </p:cNvPr>
            <p:cNvSpPr/>
            <p:nvPr/>
          </p:nvSpPr>
          <p:spPr bwMode="auto">
            <a:xfrm>
              <a:off x="781317" y="2403615"/>
              <a:ext cx="2033802" cy="100483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B1ABB50-8430-61E9-A94D-57F2D41E6EDD}"/>
                </a:ext>
              </a:extLst>
            </p:cNvPr>
            <p:cNvSpPr txBox="1"/>
            <p:nvPr/>
          </p:nvSpPr>
          <p:spPr>
            <a:xfrm>
              <a:off x="1498318" y="1508277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1DCA4EB-9AEF-5636-3509-533BD8D4300F}"/>
                </a:ext>
              </a:extLst>
            </p:cNvPr>
            <p:cNvSpPr/>
            <p:nvPr/>
          </p:nvSpPr>
          <p:spPr bwMode="auto">
            <a:xfrm>
              <a:off x="1873388" y="1611611"/>
              <a:ext cx="2209766" cy="56161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88E9A8C-0BE0-2406-D908-F08D6AA6B6CC}"/>
                </a:ext>
              </a:extLst>
            </p:cNvPr>
            <p:cNvSpPr txBox="1"/>
            <p:nvPr/>
          </p:nvSpPr>
          <p:spPr>
            <a:xfrm>
              <a:off x="2897206" y="2638949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2908550-D485-8246-D2D6-7CC37FC99B94}"/>
                </a:ext>
              </a:extLst>
            </p:cNvPr>
            <p:cNvSpPr/>
            <p:nvPr/>
          </p:nvSpPr>
          <p:spPr bwMode="auto">
            <a:xfrm>
              <a:off x="2988904" y="2979260"/>
              <a:ext cx="1166468" cy="63996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CFCE270-E235-CCBE-4E71-91A2D36B9173}"/>
                </a:ext>
              </a:extLst>
            </p:cNvPr>
            <p:cNvSpPr/>
            <p:nvPr/>
          </p:nvSpPr>
          <p:spPr bwMode="auto">
            <a:xfrm>
              <a:off x="2037665" y="4213146"/>
              <a:ext cx="3204190" cy="686658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04CE346-6011-0613-D49D-5783B23B458C}"/>
                </a:ext>
              </a:extLst>
            </p:cNvPr>
            <p:cNvSpPr txBox="1"/>
            <p:nvPr/>
          </p:nvSpPr>
          <p:spPr>
            <a:xfrm>
              <a:off x="1692827" y="4136694"/>
              <a:ext cx="4006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④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E369D9-7E37-8EA6-3E74-C6A5DFF8BB08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572C4C-879D-5FC7-027D-B3C86678CA77}"/>
              </a:ext>
            </a:extLst>
          </p:cNvPr>
          <p:cNvSpPr txBox="1"/>
          <p:nvPr/>
        </p:nvSpPr>
        <p:spPr>
          <a:xfrm>
            <a:off x="-416099" y="6472702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1177113272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배열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흐름도를 바탕으로 </a:t>
                </a:r>
                <a:r>
                  <a:rPr lang="en-US" altLang="ko-KR" dirty="0"/>
                  <a:t>N=1,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 dirty="0"/>
                  <a:t>을 입력 값으로 하여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설계 시작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아래의 식에 따라 </a:t>
                </a:r>
                <a:r>
                  <a:rPr lang="en-US" altLang="ko-KR" b="1" u="sng" dirty="0"/>
                  <a:t>n</a:t>
                </a:r>
                <a:r>
                  <a:rPr lang="ko-KR" altLang="en-US" b="1" u="sng" dirty="0"/>
                  <a:t>의 배열 및 총 위성 수 도출 가능</a:t>
                </a:r>
                <a:endParaRPr lang="en-US" altLang="ko-KR" b="1" u="sng" dirty="0"/>
              </a:p>
              <a:p>
                <a:pPr marL="216000" lvl="1" indent="0">
                  <a:buNone/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720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</m:oMath>
                </a14:m>
                <a:r>
                  <a:rPr lang="en-US" altLang="ko-KR" b="0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≈32.73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𝑛𝑖𝑛𝑡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[32.73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 marL="648000" lvl="3" indent="0">
                  <a:buNone/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188310"/>
                  </p:ext>
                </p:extLst>
              </p:nvPr>
            </p:nvGraphicFramePr>
            <p:xfrm>
              <a:off x="884057" y="359047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𝟏𝟗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𝟐𝟐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7216217"/>
                  </p:ext>
                </p:extLst>
              </p:nvPr>
            </p:nvGraphicFramePr>
            <p:xfrm>
              <a:off x="884057" y="436983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18" r="-100666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18" r="-89717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18" r="-805714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18" r="-69811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18" r="-604762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18" r="-4990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18" r="-40381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18" r="-300000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18" r="-202857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18" r="-100943" b="-11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18" r="-1905" b="-11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0819356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n</a:t>
                </a:r>
                <a:r>
                  <a:rPr lang="ko-KR" altLang="en-US" dirty="0"/>
                  <a:t>의 범위</a:t>
                </a:r>
                <a:r>
                  <a:rPr lang="en-US" altLang="ko-KR" dirty="0"/>
                  <a:t> 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720 </a:t>
                </a:r>
                <a:r>
                  <a:rPr lang="ko-KR" altLang="en-US" dirty="0"/>
                  <a:t>미만의 정수 </a:t>
                </a:r>
                <a:r>
                  <a:rPr lang="en-US" altLang="ko-KR" dirty="0"/>
                  <a:t>(720</a:t>
                </a:r>
                <a:r>
                  <a:rPr lang="ko-KR" altLang="en-US" dirty="0"/>
                  <a:t>개</a:t>
                </a:r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r>
                  <a:rPr lang="ko-KR" altLang="en-US" dirty="0"/>
                  <a:t>𝛺의 범위 </a:t>
                </a:r>
                <a:r>
                  <a:rPr lang="en-US" altLang="ko-KR" dirty="0"/>
                  <a:t>: 0</a:t>
                </a:r>
                <a:r>
                  <a:rPr lang="ko-KR" altLang="en-US" dirty="0"/>
                  <a:t>이상 </a:t>
                </a:r>
                <a:r>
                  <a:rPr lang="en-US" altLang="ko-KR" dirty="0"/>
                  <a:t>360 </a:t>
                </a:r>
                <a:r>
                  <a:rPr lang="ko-KR" altLang="en-US" dirty="0"/>
                  <a:t>미만의 유리수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𝛺의 배치를 </a:t>
                </a:r>
                <a:r>
                  <a:rPr lang="ko-KR" altLang="en-US" b="1" u="sng" dirty="0"/>
                  <a:t>아래의 식에 따라 계산 가능  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US" altLang="ko-KR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6211808"/>
                  </p:ext>
                </p:extLst>
              </p:nvPr>
            </p:nvGraphicFramePr>
            <p:xfrm>
              <a:off x="884057" y="3343827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3586923"/>
                  </p:ext>
                </p:extLst>
              </p:nvPr>
            </p:nvGraphicFramePr>
            <p:xfrm>
              <a:off x="884057" y="4123182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5971552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ko-KR" altLang="en-US" dirty="0"/>
                  <a:t>의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배치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b="1" u="sng" dirty="0"/>
                  <a:t>RGT </a:t>
                </a:r>
                <a:r>
                  <a:rPr lang="ko-KR" altLang="en-US" b="1" u="sng" dirty="0"/>
                  <a:t>궤도의 특성</a:t>
                </a:r>
                <a:r>
                  <a:rPr lang="ko-KR" altLang="en-US" dirty="0"/>
                  <a:t>을 이용하여 𝑀의 배치를 </a:t>
                </a:r>
                <a:r>
                  <a:rPr lang="ko-KR" altLang="en-US" b="1" u="sng" dirty="0"/>
                  <a:t>아래의 식에 따라 계산 가능</a:t>
                </a:r>
                <a:endParaRPr lang="en-US" altLang="ko-KR" b="1" u="sng" dirty="0"/>
              </a:p>
              <a:p>
                <a:pPr lvl="1">
                  <a:defRPr/>
                </a:pPr>
                <a:endParaRPr lang="en-US" altLang="ko-KR" sz="1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altLang="ko-KR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/>
                  <a:t>   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ko-KR" altLang="en-US" dirty="0"/>
                              <m:t>𝛺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−0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+1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98.3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˚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  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400" dirty="0"/>
                  <a:t> 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16000" lvl="1" indent="0">
                  <a:buNone/>
                  <a:defRPr/>
                </a:pPr>
                <a:endParaRPr lang="en-US" altLang="ko-KR" sz="900" dirty="0"/>
              </a:p>
              <a:p>
                <a:pPr marL="216000" lvl="1" indent="0">
                  <a:buNone/>
                  <a:defRPr/>
                </a:pPr>
                <a:r>
                  <a:rPr lang="en-US" altLang="ko-KR" dirty="0">
                    <a:ea typeface="Cambria Math" panose="020405030504060302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=98.3−12</m:t>
                    </m:r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ko-KR" altLang="en-US" dirty="0"/>
                          <m:t>𝛺</m:t>
                        </m:r>
                      </m:e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:endParaRPr lang="en-US" altLang="ko-KR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1600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97C0AC54-4FAC-02B9-F4BA-703998CE97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3535252"/>
                  </p:ext>
                </p:extLst>
              </p:nvPr>
            </p:nvGraphicFramePr>
            <p:xfrm>
              <a:off x="884057" y="3684071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kumimoji="0" lang="en-US" altLang="ko-KR" sz="1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white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ko-KR" sz="1400" b="0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b="1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0F36652B-EF26-5A15-68B9-8A382F663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7963708"/>
                  </p:ext>
                </p:extLst>
              </p:nvPr>
            </p:nvGraphicFramePr>
            <p:xfrm>
              <a:off x="884057" y="4463426"/>
              <a:ext cx="7065652" cy="6540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42332">
                      <a:extLst>
                        <a:ext uri="{9D8B030D-6E8A-4147-A177-3AD203B41FA5}">
                          <a16:colId xmlns:a16="http://schemas.microsoft.com/office/drawing/2014/main" val="3507682883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660590618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56471247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21202944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07284010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425146356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506036029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364161680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2123508566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681697231"/>
                        </a:ext>
                      </a:extLst>
                    </a:gridCol>
                    <a:gridCol w="642332">
                      <a:extLst>
                        <a:ext uri="{9D8B030D-6E8A-4147-A177-3AD203B41FA5}">
                          <a16:colId xmlns:a16="http://schemas.microsoft.com/office/drawing/2014/main" val="1159456919"/>
                        </a:ext>
                      </a:extLst>
                    </a:gridCol>
                  </a:tblGrid>
                  <a:tr h="32702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5" t="-1852" r="-100666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943" t="-1852" r="-89717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857" t="-1852" r="-805714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0000" t="-1852" r="-69811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3810" t="-1852" r="-604762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99057" t="-1852" r="-4990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04762" t="-1852" r="-40381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98113" t="-1852" r="-300000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05714" t="-1852" r="-202857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7170" t="-1852" r="-100943" b="-1148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6667" t="-1852" r="-1905" b="-1148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638343"/>
                      </a:ext>
                    </a:extLst>
                  </a:tr>
                  <a:tr h="327021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3298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0808267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위성의 배치 및 궤도요소의 결과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 방법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9127B95-239C-11A9-BE3E-0346E690B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57" y="1675925"/>
            <a:ext cx="4099743" cy="3374202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2EBAF73-67A1-03DC-F460-E5458794383E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08618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92EBAF73-67A1-03DC-F460-E54587943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0399501"/>
                  </p:ext>
                </p:extLst>
              </p:nvPr>
            </p:nvGraphicFramePr>
            <p:xfrm>
              <a:off x="4708618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8571" t="-1020" r="-252857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864" t="-1020" r="-101136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11" t="-1020" r="-2299" b="-4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82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114.5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147.5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19B1D2-9D2F-4D8F-1C53-401797C2375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5452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1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1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59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172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1379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D519B1D2-9D2F-4D8F-1C53-401797C237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969814"/>
                  </p:ext>
                </p:extLst>
              </p:nvPr>
            </p:nvGraphicFramePr>
            <p:xfrm>
              <a:off x="6825452" y="2424620"/>
              <a:ext cx="1988820" cy="3444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972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2735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53213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8571" t="-1020" r="-252857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3864" t="-1020" r="-101136" b="-48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77011" t="-1020" r="-2299" b="-48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360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180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393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261.9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425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212.5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65.6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458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229.2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491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245.5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524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262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196.5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556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278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0.1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589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163.8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622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311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327.4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655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327.5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131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22</a:t>
                          </a:r>
                          <a:endParaRPr lang="ko-KR" altLang="en-US" sz="11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687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343.5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294.7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F202DF6-3674-E234-5498-4C92571E95D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708618" y="1675925"/>
              <a:ext cx="4111412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853">
                      <a:extLst>
                        <a:ext uri="{9D8B030D-6E8A-4147-A177-3AD203B41FA5}">
                          <a16:colId xmlns:a16="http://schemas.microsoft.com/office/drawing/2014/main" val="3445900988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550110510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1101080517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90024837"/>
                        </a:ext>
                      </a:extLst>
                    </a:gridCol>
                  </a:tblGrid>
                  <a:tr h="22602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ko-KR" altLang="en-US" sz="1400" b="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413979"/>
                      </a:ext>
                    </a:extLst>
                  </a:tr>
                  <a:tr h="22602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8728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6F202DF6-3674-E234-5498-4C92571E95D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96482271"/>
                  </p:ext>
                </p:extLst>
              </p:nvPr>
            </p:nvGraphicFramePr>
            <p:xfrm>
              <a:off x="4708618" y="1675925"/>
              <a:ext cx="4111412" cy="609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7853">
                      <a:extLst>
                        <a:ext uri="{9D8B030D-6E8A-4147-A177-3AD203B41FA5}">
                          <a16:colId xmlns:a16="http://schemas.microsoft.com/office/drawing/2014/main" val="3445900988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550110510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1101080517"/>
                        </a:ext>
                      </a:extLst>
                    </a:gridCol>
                    <a:gridCol w="1027853">
                      <a:extLst>
                        <a:ext uri="{9D8B030D-6E8A-4147-A177-3AD203B41FA5}">
                          <a16:colId xmlns:a16="http://schemas.microsoft.com/office/drawing/2014/main" val="290024837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92" t="-1961" r="-300592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592" t="-1961" r="-200592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01786" t="-1961" r="-101786" b="-1176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00000" t="-1961" r="-1183" b="-1176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241397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8059km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102.9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latin typeface="Times New Roman"/>
                              <a:ea typeface="+mn-ea"/>
                              <a:cs typeface="Times New Roman"/>
                            </a:rPr>
                            <a:t>98.3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ko-KR" altLang="en-US" sz="1400" b="1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88728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84847312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수학적으로 계산한 결과</a:t>
            </a:r>
            <a:r>
              <a:rPr lang="en-US" altLang="ko-KR" dirty="0"/>
              <a:t>(</a:t>
            </a:r>
            <a:r>
              <a:rPr lang="en-US" altLang="ko-KR" dirty="0" err="1"/>
              <a:t>Matlab</a:t>
            </a:r>
            <a:r>
              <a:rPr lang="en-US" altLang="ko-KR" dirty="0"/>
              <a:t>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lvl="2">
              <a:defRPr/>
            </a:pPr>
            <a:r>
              <a:rPr lang="en-US" altLang="ko-KR" dirty="0"/>
              <a:t>Seed Satellite</a:t>
            </a:r>
            <a:r>
              <a:rPr lang="ko-KR" altLang="en-US" dirty="0"/>
              <a:t>의 궤도 전파 </a:t>
            </a:r>
            <a:r>
              <a:rPr lang="en-US" altLang="ko-KR" dirty="0"/>
              <a:t>: </a:t>
            </a:r>
            <a:r>
              <a:rPr lang="en-US" altLang="ko-KR" dirty="0" err="1"/>
              <a:t>Freeflyer</a:t>
            </a:r>
            <a:r>
              <a:rPr lang="en-US" altLang="ko-KR" dirty="0"/>
              <a:t> </a:t>
            </a:r>
            <a:r>
              <a:rPr lang="ko-KR" altLang="en-US" dirty="0"/>
              <a:t>소프트웨어 이용</a:t>
            </a:r>
            <a:r>
              <a:rPr lang="en-US" altLang="ko-KR" dirty="0"/>
              <a:t> </a:t>
            </a:r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416099" y="6411058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8BBCEC6-C9CD-F5EC-5DEF-5F938EC5B670}"/>
              </a:ext>
            </a:extLst>
          </p:cNvPr>
          <p:cNvGraphicFramePr>
            <a:graphicFrameLocks noGrp="1"/>
          </p:cNvGraphicFramePr>
          <p:nvPr/>
        </p:nvGraphicFramePr>
        <p:xfrm>
          <a:off x="701096" y="1503713"/>
          <a:ext cx="7507891" cy="104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12/1</a:t>
                      </a:r>
                      <a:r>
                        <a:rPr lang="en-US" altLang="ko-KR" sz="1200" dirty="0"/>
                        <a:t>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[0, 33, 65, 98, 131, 164, 196, 229, 262, 295, 327, 360, 393, 425, 458, 491, 524, 556, 589, 622, 655, 687]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7803E70D-474A-800F-6F16-42698D8866F2}"/>
              </a:ext>
            </a:extLst>
          </p:cNvPr>
          <p:cNvGrpSpPr/>
          <p:nvPr/>
        </p:nvGrpSpPr>
        <p:grpSpPr>
          <a:xfrm>
            <a:off x="559355" y="3043628"/>
            <a:ext cx="4021396" cy="3123787"/>
            <a:chOff x="559355" y="2745914"/>
            <a:chExt cx="4021396" cy="31237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55EF5ED-1839-8DB0-310C-85EE9D917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355" y="2745914"/>
              <a:ext cx="4021396" cy="3123787"/>
            </a:xfrm>
            <a:prstGeom prst="rect">
              <a:avLst/>
            </a:prstGeom>
            <a:noFill/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2F59BE0-8123-0819-D0C2-C336298CFD32}"/>
                </a:ext>
              </a:extLst>
            </p:cNvPr>
            <p:cNvSpPr/>
            <p:nvPr/>
          </p:nvSpPr>
          <p:spPr bwMode="auto">
            <a:xfrm>
              <a:off x="701095" y="2853405"/>
              <a:ext cx="3696243" cy="284875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F2BBFE-AC53-73F1-ACA4-EAE610645DE2}"/>
              </a:ext>
            </a:extLst>
          </p:cNvPr>
          <p:cNvGrpSpPr/>
          <p:nvPr/>
        </p:nvGrpSpPr>
        <p:grpSpPr>
          <a:xfrm>
            <a:off x="4512744" y="3151119"/>
            <a:ext cx="3696243" cy="2848752"/>
            <a:chOff x="4512744" y="2853405"/>
            <a:chExt cx="3696243" cy="2848752"/>
          </a:xfrm>
        </p:grpSpPr>
        <p:pic>
          <p:nvPicPr>
            <p:cNvPr id="8" name="그림 7" descr="텍스트, 스크린샷, 폰트, 도표이(가) 표시된 사진&#10;&#10;자동 생성된 설명">
              <a:extLst>
                <a:ext uri="{FF2B5EF4-FFF2-40B4-BE49-F238E27FC236}">
                  <a16:creationId xmlns:a16="http://schemas.microsoft.com/office/drawing/2014/main" id="{F9075500-A11F-FA2C-7649-E37B23708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1847" y="2863680"/>
              <a:ext cx="3385805" cy="2704913"/>
            </a:xfrm>
            <a:prstGeom prst="rect">
              <a:avLst/>
            </a:prstGeom>
            <a:noFill/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1F616BB-0B11-094E-EBCC-BC2253A36E1B}"/>
                </a:ext>
              </a:extLst>
            </p:cNvPr>
            <p:cNvSpPr/>
            <p:nvPr/>
          </p:nvSpPr>
          <p:spPr bwMode="auto">
            <a:xfrm>
              <a:off x="4512744" y="2853405"/>
              <a:ext cx="3696243" cy="284875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>
                <a:ln>
                  <a:solidFill>
                    <a:schemeClr val="tx1"/>
                  </a:solidFill>
                </a:ln>
                <a:noFill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BBADDB6-72E9-50D7-0A86-83EB0F17E5A8}"/>
              </a:ext>
            </a:extLst>
          </p:cNvPr>
          <p:cNvSpPr txBox="1"/>
          <p:nvPr/>
        </p:nvSpPr>
        <p:spPr>
          <a:xfrm>
            <a:off x="626664" y="6021784"/>
            <a:ext cx="36962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dirty="0" err="1">
                <a:cs typeface="Times New Roman"/>
              </a:rPr>
              <a:t>Matlab</a:t>
            </a:r>
            <a:r>
              <a:rPr lang="en-US" altLang="ko-KR" sz="1400" dirty="0">
                <a:cs typeface="Times New Roman"/>
              </a:rPr>
              <a:t> coding</a:t>
            </a:r>
            <a:r>
              <a:rPr lang="ko-KR" altLang="en-US" sz="1400" dirty="0">
                <a:cs typeface="Times New Roman"/>
              </a:rPr>
              <a:t>을 통해 직접 계산한 결과</a:t>
            </a:r>
            <a:endParaRPr lang="ko-KR" altLang="en-US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32C3F5-0BF2-8850-0D68-8C84902B9C41}"/>
              </a:ext>
            </a:extLst>
          </p:cNvPr>
          <p:cNvSpPr txBox="1"/>
          <p:nvPr/>
        </p:nvSpPr>
        <p:spPr>
          <a:xfrm>
            <a:off x="4470212" y="6021784"/>
            <a:ext cx="32223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/>
              <a:t>참고문헌에서 도출한 결과</a:t>
            </a:r>
          </a:p>
        </p:txBody>
      </p:sp>
    </p:spTree>
    <p:extLst>
      <p:ext uri="{BB962C8B-B14F-4D97-AF65-F5344CB8AC3E}">
        <p14:creationId xmlns:p14="http://schemas.microsoft.com/office/powerpoint/2010/main" val="407353438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시뮬레이션 소프트웨어 결과</a:t>
            </a:r>
            <a:r>
              <a:rPr lang="en-US" altLang="ko-KR" dirty="0"/>
              <a:t>(</a:t>
            </a:r>
            <a:r>
              <a:rPr lang="en-US" altLang="ko-KR" dirty="0" err="1"/>
              <a:t>FreeFlyer</a:t>
            </a:r>
            <a:r>
              <a:rPr lang="en-US" altLang="ko-KR" dirty="0"/>
              <a:t>)</a:t>
            </a:r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설계결과</a:t>
            </a:r>
            <a:r>
              <a:rPr lang="en-US" altLang="ko-KR" dirty="0"/>
              <a:t> </a:t>
            </a:r>
            <a:r>
              <a:rPr lang="ko-KR" altLang="en-US" dirty="0"/>
              <a:t>검증</a:t>
            </a:r>
          </a:p>
        </p:txBody>
      </p:sp>
      <p:pic>
        <p:nvPicPr>
          <p:cNvPr id="22" name="그림 21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41E5B9E3-CFFD-D2F0-DF1C-4816777CA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920" y="1349454"/>
            <a:ext cx="5017569" cy="3754173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C4453-6339-7508-EA7B-539E65ACB6A3}"/>
                  </a:ext>
                </a:extLst>
              </p:cNvPr>
              <p:cNvSpPr txBox="1"/>
              <p:nvPr/>
            </p:nvSpPr>
            <p:spPr>
              <a:xfrm>
                <a:off x="464158" y="5055142"/>
                <a:ext cx="4713898" cy="391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ko-KR" altLang="en-US" sz="1400" dirty="0">
                    <a:cs typeface="Times New Roman"/>
                  </a:rPr>
                  <a:t>모든 구간에 대해 방문횟수</a:t>
                </a:r>
                <a:r>
                  <a:rPr lang="en-US" altLang="ko-KR" sz="1400" dirty="0">
                    <a:cs typeface="Times New Roman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ko-KR" sz="1400" dirty="0">
                    <a:cs typeface="Times New Roman"/>
                  </a:rPr>
                  <a:t>)</a:t>
                </a:r>
                <a:r>
                  <a:rPr lang="ko-KR" altLang="en-US" sz="1400" dirty="0">
                    <a:cs typeface="Times New Roman"/>
                  </a:rPr>
                  <a:t>가 </a:t>
                </a:r>
                <a:r>
                  <a:rPr lang="en-US" altLang="ko-KR" sz="1400" dirty="0">
                    <a:cs typeface="Times New Roman"/>
                  </a:rPr>
                  <a:t>1 </a:t>
                </a:r>
                <a:r>
                  <a:rPr lang="ko-KR" altLang="en-US" sz="1400" dirty="0">
                    <a:cs typeface="Times New Roman"/>
                  </a:rPr>
                  <a:t>이상을 만족  </a:t>
                </a:r>
                <a:endParaRPr lang="ko-KR" alt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78C4453-6339-7508-EA7B-539E65ACB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58" y="5055142"/>
                <a:ext cx="4713898" cy="391646"/>
              </a:xfrm>
              <a:prstGeom prst="rect">
                <a:avLst/>
              </a:prstGeom>
              <a:blipFill>
                <a:blip r:embed="rId4"/>
                <a:stretch>
                  <a:fillRect l="-129" b="-7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 descr="텍스트, 스크린샷, 행성, 대기권 밖이(가) 표시된 사진&#10;&#10;자동 생성된 설명">
            <a:extLst>
              <a:ext uri="{FF2B5EF4-FFF2-40B4-BE49-F238E27FC236}">
                <a16:creationId xmlns:a16="http://schemas.microsoft.com/office/drawing/2014/main" id="{41E3CDED-2888-74CA-CCE9-A32A5D5658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96" y="1665545"/>
            <a:ext cx="3930450" cy="305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9998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설계 개념</a:t>
            </a:r>
            <a:r>
              <a:rPr lang="en-US" altLang="ko-KR" dirty="0"/>
              <a:t>(T:P:F=18:3:1)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T, P, F 3</a:t>
            </a:r>
            <a:r>
              <a:rPr lang="ko-KR" altLang="en-US" dirty="0"/>
              <a:t>가지의 </a:t>
            </a:r>
            <a:r>
              <a:rPr lang="en-US" altLang="ko-KR" dirty="0"/>
              <a:t>parameter</a:t>
            </a:r>
            <a:r>
              <a:rPr lang="ko-KR" altLang="en-US" dirty="0"/>
              <a:t>로 비교적 간단히 </a:t>
            </a:r>
            <a:r>
              <a:rPr lang="ko-KR" altLang="en-US" dirty="0" err="1"/>
              <a:t>위성군</a:t>
            </a:r>
            <a:r>
              <a:rPr lang="ko-KR" altLang="en-US" dirty="0"/>
              <a:t> 설계를 할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대표적인 </a:t>
            </a:r>
            <a:r>
              <a:rPr lang="ko-KR" altLang="en-US" dirty="0" err="1"/>
              <a:t>위성군</a:t>
            </a:r>
            <a:r>
              <a:rPr lang="ko-KR" altLang="en-US" dirty="0"/>
              <a:t> 설계 패턴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 : </a:t>
            </a:r>
            <a:r>
              <a:rPr lang="ko-KR" altLang="en-US" dirty="0"/>
              <a:t>총 위성의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궤도 평면의 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F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인접 궤도 간의 </a:t>
            </a:r>
            <a:r>
              <a:rPr lang="ko-KR" altLang="en-US" dirty="0" err="1"/>
              <a:t>위상차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4FA00F-7DAF-C7AB-8C92-F0D22C6AAA1F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45362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설계 개념</a:t>
                </a:r>
                <a:r>
                  <a:rPr lang="en-US" altLang="ko-KR" dirty="0"/>
                  <a:t>(T:P:F=18:3:1)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marL="216000" lvl="1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>
                  <a:solidFill>
                    <a:schemeClr val="tx1"/>
                  </a:solidFill>
                </a:endParaRPr>
              </a:p>
              <a:p>
                <a:pPr lvl="1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(</a:t>
                </a:r>
                <a:r>
                  <a:rPr lang="en-US" altLang="ko-KR" sz="1600" dirty="0"/>
                  <a:t>T=P</a:t>
                </a:r>
                <a:r>
                  <a:rPr lang="ko-KR" altLang="en-US" sz="1600" dirty="0">
                    <a:solidFill>
                      <a:schemeClr val="tx1"/>
                    </a:solidFill>
                  </a:rPr>
                  <a:t>일 경우</a:t>
                </a:r>
                <a:r>
                  <a:rPr lang="en-US" altLang="ko-KR" sz="1600" dirty="0">
                    <a:solidFill>
                      <a:schemeClr val="tx1"/>
                    </a:solidFill>
                  </a:rPr>
                  <a:t>)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49A9DB-8E41-7FC5-34A1-D55C5F732BB3}"/>
              </a:ext>
            </a:extLst>
          </p:cNvPr>
          <p:cNvSpPr txBox="1"/>
          <p:nvPr/>
        </p:nvSpPr>
        <p:spPr>
          <a:xfrm>
            <a:off x="-165872" y="6116666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(</a:t>
            </a:r>
            <a:r>
              <a:rPr lang="ko-KR" altLang="en-US" sz="1000" b="1" dirty="0">
                <a:solidFill>
                  <a:srgbClr val="1F2328"/>
                </a:solidFill>
              </a:rPr>
              <a:t>초소형 </a:t>
            </a:r>
            <a:r>
              <a:rPr lang="ko-KR" altLang="en-US" sz="1000" b="1" dirty="0" err="1">
                <a:solidFill>
                  <a:srgbClr val="1F2328"/>
                </a:solidFill>
              </a:rPr>
              <a:t>위성군</a:t>
            </a:r>
            <a:r>
              <a:rPr lang="ko-KR" altLang="en-US" sz="1000" b="1" dirty="0">
                <a:solidFill>
                  <a:srgbClr val="1F2328"/>
                </a:solidFill>
              </a:rPr>
              <a:t> 궤도설계와 궤도유지 방법 연구</a:t>
            </a:r>
            <a:r>
              <a:rPr lang="en-US" altLang="ko-KR" sz="1000" b="1" dirty="0">
                <a:solidFill>
                  <a:srgbClr val="1F2328"/>
                </a:solidFill>
              </a:rPr>
              <a:t>, 2020 </a:t>
            </a:r>
            <a:r>
              <a:rPr lang="ko-KR" altLang="en-US" sz="1000" b="1" dirty="0">
                <a:solidFill>
                  <a:srgbClr val="1F2328"/>
                </a:solidFill>
              </a:rPr>
              <a:t>황영민</a:t>
            </a:r>
            <a:r>
              <a:rPr lang="en-US" altLang="ko-KR" sz="1000" b="1" dirty="0">
                <a:solidFill>
                  <a:srgbClr val="1F2328"/>
                </a:solidFill>
              </a:rPr>
              <a:t>)</a:t>
            </a:r>
          </a:p>
          <a:p>
            <a:pPr lvl="1">
              <a:defRPr/>
            </a:pPr>
            <a:endParaRPr lang="en-US" altLang="ko-KR" sz="1000" b="1" dirty="0">
              <a:solidFill>
                <a:srgbClr val="1F2328"/>
              </a:solidFill>
            </a:endParaRPr>
          </a:p>
        </p:txBody>
      </p:sp>
      <p:pic>
        <p:nvPicPr>
          <p:cNvPr id="7" name="그림 6" descr="라인, 도표, 원, 그래프이(가) 표시된 사진&#10;&#10;자동 생성된 설명">
            <a:extLst>
              <a:ext uri="{FF2B5EF4-FFF2-40B4-BE49-F238E27FC236}">
                <a16:creationId xmlns:a16="http://schemas.microsoft.com/office/drawing/2014/main" id="{B5CF4B00-E22D-B8F6-25AC-05B39AF8B9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97" y="1426668"/>
            <a:ext cx="7819333" cy="24799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954809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F </a:t>
            </a:r>
            <a:r>
              <a:rPr lang="ko-KR" altLang="en-US" dirty="0"/>
              <a:t>값에 따른 </a:t>
            </a:r>
            <a:r>
              <a:rPr lang="en-US" altLang="ko-KR" dirty="0"/>
              <a:t>Coverage </a:t>
            </a:r>
            <a:r>
              <a:rPr lang="ko-KR" altLang="en-US" dirty="0"/>
              <a:t>변화</a:t>
            </a:r>
            <a:r>
              <a:rPr lang="en-US" altLang="ko-KR" dirty="0"/>
              <a:t>(T, P=22)</a:t>
            </a:r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CC58821-43EC-C563-C782-942947C2E79B}"/>
              </a:ext>
            </a:extLst>
          </p:cNvPr>
          <p:cNvSpPr/>
          <p:nvPr/>
        </p:nvSpPr>
        <p:spPr bwMode="auto">
          <a:xfrm>
            <a:off x="41328" y="6296965"/>
            <a:ext cx="3482711" cy="5302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C66B75D0-00F3-5090-4F52-244B5B5981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05610072"/>
                  </p:ext>
                </p:extLst>
              </p:nvPr>
            </p:nvGraphicFramePr>
            <p:xfrm>
              <a:off x="745740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38.33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41.67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89.03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5F18DDDF-6DBE-4025-D2B9-F168B7806A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9234987"/>
                  </p:ext>
                </p:extLst>
              </p:nvPr>
            </p:nvGraphicFramePr>
            <p:xfrm>
              <a:off x="2647881" y="1574016"/>
              <a:ext cx="1667252" cy="36523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2255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6816" t="-2041" r="-995" b="-11448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80.69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95.83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89.17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68.33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66.25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1464023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(T:P:F=22:22:10)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2599307"/>
                  </p:ext>
                </p:extLst>
              </p:nvPr>
            </p:nvGraphicFramePr>
            <p:xfrm>
              <a:off x="192842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16.36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32.73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7419720"/>
                  </p:ext>
                </p:extLst>
              </p:nvPr>
            </p:nvGraphicFramePr>
            <p:xfrm>
              <a:off x="2285907" y="1574016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212.73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229.09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261.82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310.91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327.27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343.64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04762413"/>
                  </p:ext>
                </p:extLst>
              </p:nvPr>
            </p:nvGraphicFramePr>
            <p:xfrm>
              <a:off x="4688642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3849709"/>
                  </p:ext>
                </p:extLst>
              </p:nvPr>
            </p:nvGraphicFramePr>
            <p:xfrm>
              <a:off x="6781707" y="1567950"/>
              <a:ext cx="2028825" cy="37221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8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8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261.9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65.6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229.2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196.5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0.1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163.8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327.5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343.5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294.7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824614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/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𝛺</m:t>
                        </m:r>
                      </m:e>
                      <m:sub>
                        <m:r>
                          <a:rPr lang="en-US" altLang="ko-KR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오차율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1% 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미만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(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총 위성의 수 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= L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의 약수 일 때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  <a:cs typeface="Times New Roman"/>
                  </a:rPr>
                  <a:t> 완벽히 일치</a:t>
                </a:r>
                <a:r>
                  <a:rPr lang="en-US" altLang="ko-KR" sz="1400" dirty="0">
                    <a:solidFill>
                      <a:schemeClr val="tx1"/>
                    </a:solidFill>
                    <a:cs typeface="Times New Roman"/>
                  </a:rPr>
                  <a:t>)</a:t>
                </a:r>
              </a:p>
              <a:p>
                <a:endParaRPr lang="en-US" altLang="ko-KR" sz="1400" dirty="0">
                  <a:solidFill>
                    <a:schemeClr val="tx1"/>
                  </a:solidFill>
                  <a:cs typeface="Times New Roman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ko-KR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완벽히 일치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C1FC08-6D60-3789-F6E5-536CB43BE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80" y="5459967"/>
                <a:ext cx="6123172" cy="738664"/>
              </a:xfrm>
              <a:prstGeom prst="rect">
                <a:avLst/>
              </a:prstGeom>
              <a:blipFill>
                <a:blip r:embed="rId7"/>
                <a:stretch>
                  <a:fillRect l="-100" t="-1653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37027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워커</a:t>
                </a:r>
                <a:r>
                  <a:rPr lang="en-US" altLang="ko-KR" dirty="0"/>
                  <a:t>-</a:t>
                </a:r>
                <a:r>
                  <a:rPr lang="ko-KR" altLang="en-US" dirty="0"/>
                  <a:t>델타 </a:t>
                </a:r>
                <a:r>
                  <a:rPr lang="ko-KR" altLang="en-US" dirty="0" err="1"/>
                  <a:t>위성군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vs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준대칭</a:t>
                </a:r>
                <a:r>
                  <a:rPr lang="ko-KR" altLang="en-US" dirty="0"/>
                  <a:t> 기법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WD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QS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sz="1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8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=0(</m:t>
                    </m:r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d>
                      <m:dPr>
                        <m:ctrlP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lang="en-US" altLang="ko-KR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1800" dirty="0">
                    <a:solidFill>
                      <a:schemeClr val="tx1"/>
                    </a:solidFill>
                  </a:rPr>
                  <a:t> 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=12)</a:t>
                </a:r>
              </a:p>
              <a:p>
                <a:pPr lvl="2">
                  <a:defRPr/>
                </a:pPr>
                <a14:m>
                  <m:oMath xmlns:m="http://schemas.openxmlformats.org/officeDocument/2006/math">
                    <m:r>
                      <a:rPr lang="en-US" altLang="ko-KR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US" altLang="ko-KR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sz="1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ko-KR" sz="16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→ </a:t>
                </a:r>
                <a:r>
                  <a:rPr lang="ko-KR" altLang="en-US" dirty="0"/>
                  <a:t>정수배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>
                  <a:defRPr/>
                </a:pPr>
                <a:endParaRPr lang="en-US" altLang="ko-KR" sz="1200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lvl="1"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3"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  <a:latin typeface="-apple-system"/>
                </a:endParaRPr>
              </a:p>
              <a:p>
                <a:pPr marL="3562200" lvl="8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</p:spTree>
    <p:extLst>
      <p:ext uri="{BB962C8B-B14F-4D97-AF65-F5344CB8AC3E}">
        <p14:creationId xmlns:p14="http://schemas.microsoft.com/office/powerpoint/2010/main" val="1569481681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DE8ABE2-35F9-E007-D988-753A1EBF644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24072001"/>
                  </p:ext>
                </p:extLst>
              </p:nvPr>
            </p:nvGraphicFramePr>
            <p:xfrm>
              <a:off x="192842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A240AD06-6B75-9534-5595-BE2172862A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3014617"/>
                  </p:ext>
                </p:extLst>
              </p:nvPr>
            </p:nvGraphicFramePr>
            <p:xfrm>
              <a:off x="2285907" y="1574016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E8B49A37-B0BF-EDCC-A666-15D7B18692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13459377"/>
                  </p:ext>
                </p:extLst>
              </p:nvPr>
            </p:nvGraphicFramePr>
            <p:xfrm>
              <a:off x="4688642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5315" t="-1429" r="-88288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51579" t="-1429" r="-3158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1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ko-KR" altLang="en-US" sz="110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E389C0CE-89F7-5679-DC8C-13E7BC9B88F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5837414"/>
                  </p:ext>
                </p:extLst>
              </p:nvPr>
            </p:nvGraphicFramePr>
            <p:xfrm>
              <a:off x="6781707" y="1567950"/>
              <a:ext cx="2028825" cy="34225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660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67056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81660">
                      <a:extLst>
                        <a:ext uri="{9D8B030D-6E8A-4147-A177-3AD203B41FA5}">
                          <a16:colId xmlns:a16="http://schemas.microsoft.com/office/drawing/2014/main" val="1929221668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위성번호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(k)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17273" t="-1429" r="-89091" b="-71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8958" t="-1429" r="-2083" b="-71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234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252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288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306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314.3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25101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7377901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en-US" altLang="ko-KR" dirty="0"/>
              <a:t>(T:P:F=20:20:8) vs</a:t>
            </a:r>
            <a:r>
              <a:rPr lang="ko-KR" altLang="en-US" dirty="0"/>
              <a:t> </a:t>
            </a:r>
            <a:r>
              <a:rPr lang="ko-KR" altLang="en-US" dirty="0" err="1"/>
              <a:t>준대칭</a:t>
            </a:r>
            <a:r>
              <a:rPr lang="ko-KR" altLang="en-US" dirty="0"/>
              <a:t> 기법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3" name="그림 2" descr="행성, 지구, 원, 대기권 밖이(가) 표시된 사진&#10;&#10;자동 생성된 설명">
            <a:extLst>
              <a:ext uri="{FF2B5EF4-FFF2-40B4-BE49-F238E27FC236}">
                <a16:creationId xmlns:a16="http://schemas.microsoft.com/office/drawing/2014/main" id="{C10458EE-9DD2-97AD-735F-F7B33AB68F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7" y="1484205"/>
            <a:ext cx="2426335" cy="2132965"/>
          </a:xfrm>
          <a:prstGeom prst="rect">
            <a:avLst/>
          </a:prstGeom>
          <a:noFill/>
        </p:spPr>
      </p:pic>
      <p:pic>
        <p:nvPicPr>
          <p:cNvPr id="5" name="그림 4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97C764E0-B7FB-3BC3-D9EB-45D6163B9C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9" y="1294974"/>
            <a:ext cx="3357245" cy="2511425"/>
          </a:xfrm>
          <a:prstGeom prst="rect">
            <a:avLst/>
          </a:prstGeom>
          <a:noFill/>
        </p:spPr>
      </p:pic>
      <p:pic>
        <p:nvPicPr>
          <p:cNvPr id="9" name="그림 8" descr="스크린샷, 원, 행성, 대기권 밖이(가) 표시된 사진&#10;&#10;자동 생성된 설명">
            <a:extLst>
              <a:ext uri="{FF2B5EF4-FFF2-40B4-BE49-F238E27FC236}">
                <a16:creationId xmlns:a16="http://schemas.microsoft.com/office/drawing/2014/main" id="{CFB8EDC3-58A6-FDD1-F0A5-3EB9C1068F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56" y="4031830"/>
            <a:ext cx="2426335" cy="2132965"/>
          </a:xfrm>
          <a:prstGeom prst="rect">
            <a:avLst/>
          </a:prstGeom>
          <a:noFill/>
        </p:spPr>
      </p:pic>
      <p:pic>
        <p:nvPicPr>
          <p:cNvPr id="10" name="그림 9" descr="텍스트, 스크린샷, 직사각형, 라인이(가) 표시된 사진&#10;&#10;자동 생성된 설명">
            <a:extLst>
              <a:ext uri="{FF2B5EF4-FFF2-40B4-BE49-F238E27FC236}">
                <a16:creationId xmlns:a16="http://schemas.microsoft.com/office/drawing/2014/main" id="{08844703-32CE-AA0D-99B6-17E929C80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3108" y="3895764"/>
            <a:ext cx="3357245" cy="2511425"/>
          </a:xfrm>
          <a:prstGeom prst="rect">
            <a:avLst/>
          </a:prstGeom>
          <a:noFill/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6982E63-F4A0-BF60-4769-95E86AAF1639}"/>
              </a:ext>
            </a:extLst>
          </p:cNvPr>
          <p:cNvSpPr txBox="1"/>
          <p:nvPr/>
        </p:nvSpPr>
        <p:spPr>
          <a:xfrm>
            <a:off x="6750353" y="2396797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>
                <a:solidFill>
                  <a:schemeClr val="tx1"/>
                </a:solidFill>
              </a:rPr>
              <a:t>워커</a:t>
            </a:r>
            <a:r>
              <a:rPr lang="en-US" altLang="ko-KR" sz="1400" dirty="0">
                <a:solidFill>
                  <a:schemeClr val="tx1"/>
                </a:solidFill>
              </a:rPr>
              <a:t>-</a:t>
            </a:r>
            <a:r>
              <a:rPr lang="ko-KR" altLang="en-US" sz="1400" dirty="0">
                <a:solidFill>
                  <a:schemeClr val="tx1"/>
                </a:solidFill>
              </a:rPr>
              <a:t>델타 </a:t>
            </a:r>
            <a:r>
              <a:rPr lang="ko-KR" altLang="en-US" sz="1400" dirty="0" err="1">
                <a:solidFill>
                  <a:schemeClr val="tx1"/>
                </a:solidFill>
              </a:rPr>
              <a:t>위성군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E3A83B-8522-A8C0-8B6D-3A231CE4950E}"/>
              </a:ext>
            </a:extLst>
          </p:cNvPr>
          <p:cNvSpPr txBox="1"/>
          <p:nvPr/>
        </p:nvSpPr>
        <p:spPr>
          <a:xfrm>
            <a:off x="6833070" y="4944423"/>
            <a:ext cx="21365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dirty="0" err="1">
                <a:solidFill>
                  <a:schemeClr val="tx1"/>
                </a:solidFill>
              </a:rPr>
              <a:t>준대칭</a:t>
            </a:r>
            <a:r>
              <a:rPr lang="ko-KR" altLang="en-US" sz="1400" dirty="0">
                <a:solidFill>
                  <a:schemeClr val="tx1"/>
                </a:solidFill>
              </a:rPr>
              <a:t> 기법</a:t>
            </a:r>
          </a:p>
        </p:txBody>
      </p:sp>
    </p:spTree>
    <p:extLst>
      <p:ext uri="{BB962C8B-B14F-4D97-AF65-F5344CB8AC3E}">
        <p14:creationId xmlns:p14="http://schemas.microsoft.com/office/powerpoint/2010/main" val="217125414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기법의 한계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평면 수가 총 위성 수와 같다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항상 최대의 평면을 구성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워커 델타 위성군만큼 간단히 설계할 수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 델타 위성군에 비해 가지는 이점은 크게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새로운 방법의 </a:t>
            </a:r>
            <a:r>
              <a:rPr lang="ko-KR" altLang="en-US" dirty="0" err="1"/>
              <a:t>위성군</a:t>
            </a:r>
            <a:r>
              <a:rPr lang="ko-KR" altLang="en-US" dirty="0"/>
              <a:t> 최적화 설계 방법의 필요성</a:t>
            </a:r>
            <a:endParaRPr lang="en-US" altLang="ko-KR" dirty="0"/>
          </a:p>
          <a:p>
            <a:pPr>
              <a:defRPr/>
            </a:pPr>
            <a:endParaRPr lang="en-US" altLang="ko-KR" sz="1200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3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562200" lvl="8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위성군과의 비교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F56C37-AB25-4DCD-6E45-ACFEA119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829" y="3125632"/>
            <a:ext cx="3364341" cy="291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61356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6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Method(Binary Integer Linear Programming)</a:t>
            </a:r>
          </a:p>
          <a:p>
            <a:pPr lvl="1">
              <a:defRPr/>
            </a:pPr>
            <a:r>
              <a:rPr lang="en-US" altLang="ko-KR" dirty="0"/>
              <a:t> </a:t>
            </a:r>
            <a:r>
              <a:rPr lang="ko-KR" altLang="en-US" dirty="0"/>
              <a:t>최적화 프로그래밍을 거쳐 최적의 동선에 위성을 배치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기법에 비해 적은 위성으로도 커버리지 성능 최적화 가능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비대칭으로 위성을 배치하는 새로운 설계 방법</a:t>
            </a:r>
            <a:endParaRPr lang="en-US" altLang="ko-KR" dirty="0"/>
          </a:p>
          <a:p>
            <a:pPr lvl="3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</a:t>
            </a:r>
            <a:r>
              <a:rPr lang="en-US" altLang="ko-KR" dirty="0"/>
              <a:t>(BILP)</a:t>
            </a:r>
            <a:r>
              <a:rPr lang="ko-KR" altLang="en-US" dirty="0"/>
              <a:t>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53812783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흐름도</a:t>
            </a:r>
            <a:r>
              <a:rPr lang="en-US" altLang="ko-KR" dirty="0"/>
              <a:t> </a:t>
            </a:r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pic>
        <p:nvPicPr>
          <p:cNvPr id="3" name="그림 2" descr="텍스트, 스크린샷, 폰트, 도표이(가) 표시된 사진&#10;&#10;자동 생성된 설명">
            <a:extLst>
              <a:ext uri="{FF2B5EF4-FFF2-40B4-BE49-F238E27FC236}">
                <a16:creationId xmlns:a16="http://schemas.microsoft.com/office/drawing/2014/main" id="{560F6EBE-9DEE-B765-3E08-34D2974D95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00" y="1569311"/>
            <a:ext cx="5845448" cy="35034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364695376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9EE9BF-38BF-9B8A-5CB1-D8302ECD4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Binary Integer Linear Programming </a:t>
            </a:r>
            <a:r>
              <a:rPr lang="ko-KR" altLang="en-US" dirty="0"/>
              <a:t>부분의</a:t>
            </a:r>
            <a:r>
              <a:rPr lang="en-US" altLang="ko-KR" dirty="0"/>
              <a:t> </a:t>
            </a:r>
            <a:r>
              <a:rPr lang="ko-KR" altLang="en-US" dirty="0"/>
              <a:t>흐름도</a:t>
            </a:r>
            <a:endParaRPr lang="en-US" altLang="ko-KR" dirty="0"/>
          </a:p>
          <a:p>
            <a:pPr marL="396000" lvl="2" indent="0">
              <a:buNone/>
              <a:defRPr/>
            </a:pPr>
            <a:r>
              <a:rPr lang="en-US" altLang="ko-KR" dirty="0"/>
              <a:t> </a:t>
            </a:r>
          </a:p>
          <a:p>
            <a:pPr lvl="2"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pic>
        <p:nvPicPr>
          <p:cNvPr id="7" name="그림 6" descr="텍스트, 도표, 라인, 평면도이(가) 표시된 사진&#10;&#10;자동 생성된 설명">
            <a:extLst>
              <a:ext uri="{FF2B5EF4-FFF2-40B4-BE49-F238E27FC236}">
                <a16:creationId xmlns:a16="http://schemas.microsoft.com/office/drawing/2014/main" id="{E852DF57-E657-4E2F-0A07-8DB61C91A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27" y="1520723"/>
            <a:ext cx="6605257" cy="44866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4577668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32A0F-3FA3-AE1A-106C-6909D4EC7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이진 선형 계획법의 이해를 위한 간단한 그림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 </a:t>
                </a:r>
                <a:r>
                  <a:rPr lang="ko-KR" altLang="en-US" dirty="0"/>
                  <a:t>모든 위성</a:t>
                </a:r>
                <a:r>
                  <a:rPr lang="en-US" altLang="ko-KR" dirty="0"/>
                  <a:t>(1 ~ N)</a:t>
                </a:r>
                <a:r>
                  <a:rPr lang="ko-KR" altLang="en-US" dirty="0"/>
                  <a:t>과 모든 </a:t>
                </a:r>
                <a:r>
                  <a:rPr lang="en-US" altLang="ko-KR" dirty="0"/>
                  <a:t>n(0 ~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을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대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 대응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즉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모든 상황을 가정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관심지역으로부터 위성이 관측되면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그렇지 않다면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이진수로 나타냄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모든 조합을 전부 확인하는 과정의 비효율성을 피하기 위해 선택 가능한 </a:t>
                </a:r>
                <a:r>
                  <a:rPr lang="en-US" altLang="ko-KR" dirty="0"/>
                  <a:t>n</a:t>
                </a:r>
                <a:r>
                  <a:rPr lang="ko-KR" altLang="en-US" dirty="0"/>
                  <a:t>의 배열만을 추려가며 무작위로 선택하는 프로그램을 구현함</a:t>
                </a:r>
                <a:endParaRPr lang="en-US" altLang="ko-KR" dirty="0"/>
              </a:p>
              <a:p>
                <a:pPr lvl="3"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9EE9BF-38BF-9B8A-5CB1-D8302ECD43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1B173B3-46EC-935A-396A-8B60C9727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0D52D28-83ED-B50F-30D3-0C082FEFF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이진 선형 계획법 설계 개념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3F404-8D62-7265-E374-B64F2C372E29}"/>
              </a:ext>
            </a:extLst>
          </p:cNvPr>
          <p:cNvSpPr txBox="1"/>
          <p:nvPr/>
        </p:nvSpPr>
        <p:spPr>
          <a:xfrm>
            <a:off x="-200345" y="6033660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  <p:pic>
        <p:nvPicPr>
          <p:cNvPr id="7" name="그림 6" descr="도표, 라인, 텍스트, 원이(가) 표시된 사진&#10;&#10;자동 생성된 설명">
            <a:extLst>
              <a:ext uri="{FF2B5EF4-FFF2-40B4-BE49-F238E27FC236}">
                <a16:creationId xmlns:a16="http://schemas.microsoft.com/office/drawing/2014/main" id="{95D18C9E-E8E1-06F7-55F3-4C95CBBC7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85" y="1549954"/>
            <a:ext cx="6398714" cy="25905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683905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194957" y="6317721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15642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Coverage Timeline </a:t>
            </a:r>
            <a:r>
              <a:rPr lang="ko-KR" altLang="en-US" dirty="0"/>
              <a:t>중복 횟수 최소화 간단한 모식도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설계 개념</a:t>
            </a:r>
            <a:endParaRPr lang="en-US" altLang="ko-KR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C8A1EB9-3FE2-2789-9F42-1E9029D5F91A}"/>
              </a:ext>
            </a:extLst>
          </p:cNvPr>
          <p:cNvSpPr/>
          <p:nvPr/>
        </p:nvSpPr>
        <p:spPr bwMode="auto">
          <a:xfrm>
            <a:off x="1428108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F2A5818-6A47-DBC6-D4C0-33E98F5A9BA4}"/>
              </a:ext>
            </a:extLst>
          </p:cNvPr>
          <p:cNvSpPr/>
          <p:nvPr/>
        </p:nvSpPr>
        <p:spPr bwMode="auto">
          <a:xfrm>
            <a:off x="2299701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692A242-60FB-7C5D-ED7C-52FB7CB2DD5B}"/>
              </a:ext>
            </a:extLst>
          </p:cNvPr>
          <p:cNvSpPr/>
          <p:nvPr/>
        </p:nvSpPr>
        <p:spPr bwMode="auto">
          <a:xfrm>
            <a:off x="3171291" y="2082598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074162-92BF-2911-A2D4-842F601932A6}"/>
              </a:ext>
            </a:extLst>
          </p:cNvPr>
          <p:cNvSpPr/>
          <p:nvPr/>
        </p:nvSpPr>
        <p:spPr bwMode="auto">
          <a:xfrm>
            <a:off x="5494960" y="2082597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92677F4-C220-FF0C-CE2E-DB57A7AA97EF}"/>
              </a:ext>
            </a:extLst>
          </p:cNvPr>
          <p:cNvSpPr/>
          <p:nvPr/>
        </p:nvSpPr>
        <p:spPr bwMode="auto">
          <a:xfrm>
            <a:off x="6351143" y="2082596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C719CFB-7A84-A171-AC6F-C10FDEAF5142}"/>
              </a:ext>
            </a:extLst>
          </p:cNvPr>
          <p:cNvSpPr/>
          <p:nvPr/>
        </p:nvSpPr>
        <p:spPr bwMode="auto">
          <a:xfrm>
            <a:off x="7207320" y="2082595"/>
            <a:ext cx="431515" cy="43151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A1EE7E-1DD1-FDB7-5FF9-5FDF3C624362}"/>
              </a:ext>
            </a:extLst>
          </p:cNvPr>
          <p:cNvSpPr txBox="1"/>
          <p:nvPr/>
        </p:nvSpPr>
        <p:spPr>
          <a:xfrm>
            <a:off x="1151569" y="2144463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AE797E-D468-A54D-C35A-263622F25AE0}"/>
              </a:ext>
            </a:extLst>
          </p:cNvPr>
          <p:cNvSpPr txBox="1"/>
          <p:nvPr/>
        </p:nvSpPr>
        <p:spPr>
          <a:xfrm>
            <a:off x="2030883" y="2144463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9DC9F6-7A2A-09B7-CFA2-787072F99A28}"/>
              </a:ext>
            </a:extLst>
          </p:cNvPr>
          <p:cNvSpPr txBox="1"/>
          <p:nvPr/>
        </p:nvSpPr>
        <p:spPr>
          <a:xfrm>
            <a:off x="2902473" y="2144462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D5F753-4868-5697-A447-C3C00FB1E174}"/>
              </a:ext>
            </a:extLst>
          </p:cNvPr>
          <p:cNvSpPr txBox="1"/>
          <p:nvPr/>
        </p:nvSpPr>
        <p:spPr>
          <a:xfrm>
            <a:off x="5220886" y="21444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470</a:t>
            </a:r>
            <a:endParaRPr lang="ko-KR" alt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6485C6-0A72-7211-70C5-959A208D2E5B}"/>
              </a:ext>
            </a:extLst>
          </p:cNvPr>
          <p:cNvSpPr txBox="1"/>
          <p:nvPr/>
        </p:nvSpPr>
        <p:spPr>
          <a:xfrm>
            <a:off x="6076315" y="214446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471</a:t>
            </a:r>
            <a:endParaRPr lang="ko-KR" altLang="en-US" sz="1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2F04C9-6F35-AA29-2C34-0B1EDF64FA63}"/>
              </a:ext>
            </a:extLst>
          </p:cNvPr>
          <p:cNvSpPr txBox="1"/>
          <p:nvPr/>
        </p:nvSpPr>
        <p:spPr>
          <a:xfrm>
            <a:off x="6932492" y="2137286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472</a:t>
            </a:r>
            <a:endParaRPr lang="ko-KR" altLang="en-US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BBF270-A425-5870-C340-BAC36826BC46}"/>
              </a:ext>
            </a:extLst>
          </p:cNvPr>
          <p:cNvSpPr txBox="1"/>
          <p:nvPr/>
        </p:nvSpPr>
        <p:spPr>
          <a:xfrm>
            <a:off x="4047188" y="213728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E176C-75B3-8EBE-E1CB-6D4A96AB3E03}"/>
              </a:ext>
            </a:extLst>
          </p:cNvPr>
          <p:cNvSpPr txBox="1"/>
          <p:nvPr/>
        </p:nvSpPr>
        <p:spPr>
          <a:xfrm>
            <a:off x="-221707" y="21481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J=1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CCE518-D5C6-3090-9171-A5ED627B4679}"/>
              </a:ext>
            </a:extLst>
          </p:cNvPr>
          <p:cNvSpPr txBox="1"/>
          <p:nvPr/>
        </p:nvSpPr>
        <p:spPr>
          <a:xfrm>
            <a:off x="962131" y="177481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n </a:t>
            </a:r>
            <a:r>
              <a:rPr lang="en-US" altLang="ko-KR" sz="1400" dirty="0"/>
              <a:t>= 12</a:t>
            </a:r>
            <a:endParaRPr lang="ko-KR" altLang="en-US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82A35A-D344-56AB-BCE2-CB9F54670145}"/>
              </a:ext>
            </a:extLst>
          </p:cNvPr>
          <p:cNvSpPr txBox="1"/>
          <p:nvPr/>
        </p:nvSpPr>
        <p:spPr>
          <a:xfrm>
            <a:off x="1750288" y="175879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13</a:t>
            </a:r>
            <a:endParaRPr lang="ko-KR" alt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275A39-E77A-60C3-5B93-478F62FB371F}"/>
              </a:ext>
            </a:extLst>
          </p:cNvPr>
          <p:cNvSpPr txBox="1"/>
          <p:nvPr/>
        </p:nvSpPr>
        <p:spPr>
          <a:xfrm>
            <a:off x="2731216" y="173587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14</a:t>
            </a:r>
            <a:endParaRPr lang="ko-KR" altLang="en-US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A6B53C-132D-93BB-524C-BC519265681D}"/>
              </a:ext>
            </a:extLst>
          </p:cNvPr>
          <p:cNvSpPr txBox="1"/>
          <p:nvPr/>
        </p:nvSpPr>
        <p:spPr>
          <a:xfrm>
            <a:off x="5028357" y="171294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1785C09-228C-25CC-4AB5-4EC44B39A4F3}"/>
              </a:ext>
            </a:extLst>
          </p:cNvPr>
          <p:cNvSpPr txBox="1"/>
          <p:nvPr/>
        </p:nvSpPr>
        <p:spPr>
          <a:xfrm>
            <a:off x="5803082" y="1735873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=707</a:t>
            </a:r>
            <a:endParaRPr lang="ko-KR" alt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A8D8A7-3AB3-0EE0-D251-03A90EB08AAE}"/>
              </a:ext>
            </a:extLst>
          </p:cNvPr>
          <p:cNvSpPr txBox="1"/>
          <p:nvPr/>
        </p:nvSpPr>
        <p:spPr>
          <a:xfrm>
            <a:off x="6718025" y="1734855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F9558E-7535-E15B-00E7-8916912F4DC8}"/>
              </a:ext>
            </a:extLst>
          </p:cNvPr>
          <p:cNvCxnSpPr/>
          <p:nvPr/>
        </p:nvCxnSpPr>
        <p:spPr>
          <a:xfrm flipH="1">
            <a:off x="1230358" y="2514110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CBBDF74-A7F0-2A5F-DDAD-2CAAF1740D66}"/>
              </a:ext>
            </a:extLst>
          </p:cNvPr>
          <p:cNvCxnSpPr>
            <a:cxnSpLocks/>
          </p:cNvCxnSpPr>
          <p:nvPr/>
        </p:nvCxnSpPr>
        <p:spPr>
          <a:xfrm>
            <a:off x="1921748" y="2499753"/>
            <a:ext cx="6621762" cy="9828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EAA023C6-2B67-A650-1C0D-8CB9D07B7842}"/>
              </a:ext>
            </a:extLst>
          </p:cNvPr>
          <p:cNvSpPr/>
          <p:nvPr/>
        </p:nvSpPr>
        <p:spPr bwMode="auto">
          <a:xfrm>
            <a:off x="1357516" y="3901801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ED9476C-A4BE-048D-723E-C456D2CB20E3}"/>
              </a:ext>
            </a:extLst>
          </p:cNvPr>
          <p:cNvSpPr/>
          <p:nvPr/>
        </p:nvSpPr>
        <p:spPr bwMode="auto">
          <a:xfrm>
            <a:off x="2264404" y="3901801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28B4EE53-3AAB-1BCE-DA07-18C0B50E3195}"/>
              </a:ext>
            </a:extLst>
          </p:cNvPr>
          <p:cNvSpPr/>
          <p:nvPr/>
        </p:nvSpPr>
        <p:spPr bwMode="auto">
          <a:xfrm>
            <a:off x="3171291" y="3887457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CE75A3F-94BF-B1FC-0476-052357509BF4}"/>
              </a:ext>
            </a:extLst>
          </p:cNvPr>
          <p:cNvSpPr/>
          <p:nvPr/>
        </p:nvSpPr>
        <p:spPr bwMode="auto">
          <a:xfrm>
            <a:off x="5458618" y="39018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4B40506-3F6D-17ED-34E4-5E3DB6E18006}"/>
              </a:ext>
            </a:extLst>
          </p:cNvPr>
          <p:cNvSpPr/>
          <p:nvPr/>
        </p:nvSpPr>
        <p:spPr bwMode="auto">
          <a:xfrm>
            <a:off x="6315845" y="3887457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19AAA9E-7699-2172-7EC9-89D2EC8AD5F1}"/>
              </a:ext>
            </a:extLst>
          </p:cNvPr>
          <p:cNvSpPr/>
          <p:nvPr/>
        </p:nvSpPr>
        <p:spPr bwMode="auto">
          <a:xfrm>
            <a:off x="7172769" y="3901800"/>
            <a:ext cx="502107" cy="46583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764B51-3CD3-716B-0FEA-AD398BDC81A5}"/>
              </a:ext>
            </a:extLst>
          </p:cNvPr>
          <p:cNvSpPr txBox="1"/>
          <p:nvPr/>
        </p:nvSpPr>
        <p:spPr>
          <a:xfrm>
            <a:off x="1117986" y="3962401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7835D4F-97FA-9266-0833-1F4DC4A20F44}"/>
              </a:ext>
            </a:extLst>
          </p:cNvPr>
          <p:cNvSpPr txBox="1"/>
          <p:nvPr/>
        </p:nvSpPr>
        <p:spPr>
          <a:xfrm>
            <a:off x="2024872" y="39695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66A4D9E-8721-B181-5EA9-03001F668767}"/>
              </a:ext>
            </a:extLst>
          </p:cNvPr>
          <p:cNvSpPr txBox="1"/>
          <p:nvPr/>
        </p:nvSpPr>
        <p:spPr>
          <a:xfrm>
            <a:off x="2949510" y="3956657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3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9DB722-5D28-4033-B007-F72D6488571C}"/>
              </a:ext>
            </a:extLst>
          </p:cNvPr>
          <p:cNvSpPr txBox="1"/>
          <p:nvPr/>
        </p:nvSpPr>
        <p:spPr>
          <a:xfrm>
            <a:off x="5220886" y="398082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267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941BA-23D7-3D3A-3F15-BE5D46ED01CD}"/>
              </a:ext>
            </a:extLst>
          </p:cNvPr>
          <p:cNvSpPr txBox="1"/>
          <p:nvPr/>
        </p:nvSpPr>
        <p:spPr>
          <a:xfrm>
            <a:off x="6097022" y="3969579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/>
              <a:t>268</a:t>
            </a:r>
            <a:endParaRPr lang="ko-KR" altLang="en-US" sz="1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8E3F5A6-41C1-06DF-5E6D-9EE52BA0922E}"/>
              </a:ext>
            </a:extLst>
          </p:cNvPr>
          <p:cNvSpPr txBox="1"/>
          <p:nvPr/>
        </p:nvSpPr>
        <p:spPr>
          <a:xfrm>
            <a:off x="6942726" y="3968995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269</a:t>
            </a:r>
            <a:endParaRPr lang="ko-KR" altLang="en-US" sz="1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0F65B-847F-C2E4-9A81-161987FC14C6}"/>
              </a:ext>
            </a:extLst>
          </p:cNvPr>
          <p:cNvSpPr txBox="1"/>
          <p:nvPr/>
        </p:nvSpPr>
        <p:spPr>
          <a:xfrm>
            <a:off x="916120" y="3509066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24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3CF758-C4C0-E767-540B-0877B9153023}"/>
              </a:ext>
            </a:extLst>
          </p:cNvPr>
          <p:cNvSpPr txBox="1"/>
          <p:nvPr/>
        </p:nvSpPr>
        <p:spPr>
          <a:xfrm>
            <a:off x="1744600" y="3496564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25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0DB14D-E6CE-413B-F734-F456853396D0}"/>
              </a:ext>
            </a:extLst>
          </p:cNvPr>
          <p:cNvSpPr txBox="1"/>
          <p:nvPr/>
        </p:nvSpPr>
        <p:spPr>
          <a:xfrm>
            <a:off x="2750228" y="3483642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26</a:t>
            </a:r>
            <a:endParaRPr lang="ko-KR" altLang="en-US" sz="14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D907B6-8C51-D1E1-5E4F-E2EDB168F117}"/>
              </a:ext>
            </a:extLst>
          </p:cNvPr>
          <p:cNvSpPr txBox="1"/>
          <p:nvPr/>
        </p:nvSpPr>
        <p:spPr>
          <a:xfrm>
            <a:off x="4983638" y="342016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706</a:t>
            </a:r>
            <a:endParaRPr lang="ko-KR" altLang="en-US" sz="1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FEC92F-80AF-7B47-5A52-B2330FA0B2FA}"/>
              </a:ext>
            </a:extLst>
          </p:cNvPr>
          <p:cNvSpPr txBox="1"/>
          <p:nvPr/>
        </p:nvSpPr>
        <p:spPr>
          <a:xfrm>
            <a:off x="5923715" y="3408917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</a:t>
            </a:r>
            <a:r>
              <a:rPr lang="en-US" altLang="ko-KR" sz="1400"/>
              <a:t>= 707</a:t>
            </a:r>
            <a:endParaRPr lang="ko-KR" altLang="en-US" sz="1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48FA2C3-DDC8-D4F4-E76D-6969FDB91D66}"/>
              </a:ext>
            </a:extLst>
          </p:cNvPr>
          <p:cNvSpPr txBox="1"/>
          <p:nvPr/>
        </p:nvSpPr>
        <p:spPr>
          <a:xfrm>
            <a:off x="6774953" y="3397888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n = 708</a:t>
            </a:r>
            <a:endParaRPr lang="ko-KR" altLang="en-US" sz="1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511AB14-EBB0-6813-40D9-AFC36FD8EDD3}"/>
              </a:ext>
            </a:extLst>
          </p:cNvPr>
          <p:cNvSpPr txBox="1"/>
          <p:nvPr/>
        </p:nvSpPr>
        <p:spPr>
          <a:xfrm>
            <a:off x="-200514" y="3993900"/>
            <a:ext cx="14520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J=2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448AAB-97CF-51B3-9CF3-CB4619C20927}"/>
              </a:ext>
            </a:extLst>
          </p:cNvPr>
          <p:cNvSpPr txBox="1"/>
          <p:nvPr/>
        </p:nvSpPr>
        <p:spPr>
          <a:xfrm>
            <a:off x="4044469" y="3952580"/>
            <a:ext cx="981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/>
              <a:t>…</a:t>
            </a:r>
            <a:endParaRPr lang="ko-KR" altLang="en-US" sz="1400" dirty="0"/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EE273685-5696-5CB5-2E0F-6CFEB5DE9AC3}"/>
              </a:ext>
            </a:extLst>
          </p:cNvPr>
          <p:cNvCxnSpPr/>
          <p:nvPr/>
        </p:nvCxnSpPr>
        <p:spPr>
          <a:xfrm flipH="1">
            <a:off x="1117986" y="4566074"/>
            <a:ext cx="197750" cy="11940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AF7171B-95F7-0F54-38F0-0D7184619ED2}"/>
              </a:ext>
            </a:extLst>
          </p:cNvPr>
          <p:cNvCxnSpPr>
            <a:cxnSpLocks/>
          </p:cNvCxnSpPr>
          <p:nvPr/>
        </p:nvCxnSpPr>
        <p:spPr>
          <a:xfrm>
            <a:off x="2049359" y="4502825"/>
            <a:ext cx="6494151" cy="14776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6234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7" grpId="0" animBg="1"/>
      <p:bldP spid="49" grpId="0" animBg="1"/>
      <p:bldP spid="50" grpId="0" animBg="1"/>
      <p:bldP spid="52" grpId="0" animBg="1"/>
      <p:bldP spid="54" grpId="0" animBg="1"/>
      <p:bldP spid="56" grpId="0" animBg="1"/>
      <p:bldP spid="58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8" grpId="0" animBg="1"/>
      <p:bldP spid="6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순서도: 처리 56">
            <a:extLst>
              <a:ext uri="{FF2B5EF4-FFF2-40B4-BE49-F238E27FC236}">
                <a16:creationId xmlns:a16="http://schemas.microsoft.com/office/drawing/2014/main" id="{EE061B59-CB99-ACB1-65DE-FF0AAD49DDF8}"/>
              </a:ext>
            </a:extLst>
          </p:cNvPr>
          <p:cNvSpPr/>
          <p:nvPr/>
        </p:nvSpPr>
        <p:spPr bwMode="auto">
          <a:xfrm>
            <a:off x="257080" y="6224099"/>
            <a:ext cx="3493465" cy="510380"/>
          </a:xfrm>
          <a:prstGeom prst="flowChartProcess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C1F6E507-D043-297B-7E6F-3A13F8BE0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650" y="1295704"/>
            <a:ext cx="1704975" cy="54387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CE3A193-0A70-1319-CB25-CE13802EED71}"/>
              </a:ext>
            </a:extLst>
          </p:cNvPr>
          <p:cNvSpPr txBox="1"/>
          <p:nvPr/>
        </p:nvSpPr>
        <p:spPr>
          <a:xfrm>
            <a:off x="2141939" y="5635042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427</a:t>
            </a:r>
            <a:endParaRPr lang="ko-KR" altLang="en-US" sz="1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A097C6-BB3D-6D5A-5E18-163240116DAB}"/>
              </a:ext>
            </a:extLst>
          </p:cNvPr>
          <p:cNvSpPr txBox="1"/>
          <p:nvPr/>
        </p:nvSpPr>
        <p:spPr>
          <a:xfrm>
            <a:off x="2144731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/>
              <a:t>중복 없이 </a:t>
            </a:r>
            <a:r>
              <a:rPr lang="ko-KR" altLang="en-US" sz="1800" dirty="0"/>
              <a:t>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269</a:t>
            </a:r>
            <a:endParaRPr lang="ko-KR" alt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88657-7FCB-A341-794E-21AC461159B9}"/>
              </a:ext>
            </a:extLst>
          </p:cNvPr>
          <p:cNvSpPr txBox="1"/>
          <p:nvPr/>
        </p:nvSpPr>
        <p:spPr>
          <a:xfrm>
            <a:off x="2144731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140</a:t>
            </a:r>
            <a:endParaRPr lang="ko-KR" altLang="en-US" sz="1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695F12-2051-7811-FB14-B8E7119F9DAC}"/>
              </a:ext>
            </a:extLst>
          </p:cNvPr>
          <p:cNvSpPr txBox="1"/>
          <p:nvPr/>
        </p:nvSpPr>
        <p:spPr>
          <a:xfrm>
            <a:off x="2083087" y="56343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20</a:t>
            </a:r>
            <a:endParaRPr lang="ko-KR" alt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245723-7B48-43F6-D290-169BAD6F72B1}"/>
              </a:ext>
            </a:extLst>
          </p:cNvPr>
          <p:cNvSpPr txBox="1"/>
          <p:nvPr/>
        </p:nvSpPr>
        <p:spPr>
          <a:xfrm>
            <a:off x="2018650" y="5635517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1</a:t>
            </a:r>
            <a:endParaRPr lang="ko-KR" altLang="en-US" sz="18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629838" cy="52693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Timeline </a:t>
            </a:r>
            <a:r>
              <a:rPr lang="ko-KR" altLang="en-US" dirty="0"/>
              <a:t>중복 횟수 최소화를 이용한 배치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7134" y="6594911"/>
            <a:ext cx="981169" cy="360000"/>
          </a:xfrm>
        </p:spPr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설계 개념</a:t>
            </a:r>
            <a:endParaRPr lang="en-US" altLang="ko-KR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2B5FD131-219E-081A-BAC3-816408EE0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4CBAB0C-1930-7022-A22D-7A4E6A626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1428750"/>
            <a:ext cx="5334000" cy="40005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5385A1D6-2086-A971-DDC5-2C84BB354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C07D9DE-F752-2736-ADED-6350A690F3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422613"/>
            <a:ext cx="5334000" cy="4000500"/>
          </a:xfrm>
          <a:prstGeom prst="rect">
            <a:avLst/>
          </a:prstGeom>
        </p:spPr>
      </p:pic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7321CC12-41EB-285C-5D3E-8E61B1D81C32}"/>
              </a:ext>
            </a:extLst>
          </p:cNvPr>
          <p:cNvSpPr/>
          <p:nvPr/>
        </p:nvSpPr>
        <p:spPr bwMode="auto">
          <a:xfrm>
            <a:off x="2579293" y="6210641"/>
            <a:ext cx="390418" cy="399461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057E68-996C-6144-6CEB-18449D2622D8}"/>
              </a:ext>
            </a:extLst>
          </p:cNvPr>
          <p:cNvSpPr txBox="1"/>
          <p:nvPr/>
        </p:nvSpPr>
        <p:spPr>
          <a:xfrm>
            <a:off x="2579293" y="6219402"/>
            <a:ext cx="4854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그 이후엔 최소한의 중복으로 배치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162B71-C38C-95C2-285E-1D64871A0B11}"/>
              </a:ext>
            </a:extLst>
          </p:cNvPr>
          <p:cNvSpPr txBox="1"/>
          <p:nvPr/>
        </p:nvSpPr>
        <p:spPr>
          <a:xfrm>
            <a:off x="2240591" y="5619711"/>
            <a:ext cx="4854538" cy="36933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/>
              <a:t>중복 없이 배치 가능한 </a:t>
            </a:r>
            <a:r>
              <a:rPr lang="en-US" altLang="ko-KR" sz="1800" dirty="0"/>
              <a:t>n</a:t>
            </a:r>
            <a:r>
              <a:rPr lang="ko-KR" altLang="en-US" sz="1800" dirty="0"/>
              <a:t>의 개수 </a:t>
            </a:r>
            <a:r>
              <a:rPr lang="en-US" altLang="ko-KR" sz="1800" dirty="0"/>
              <a:t>= 0</a:t>
            </a:r>
            <a:endParaRPr lang="ko-KR" altLang="en-US" sz="18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DFB84665-C285-60EC-8B4C-0365ECEDDE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482" y="1428988"/>
            <a:ext cx="5334000" cy="400050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C13EBEA-7B98-459F-4E3A-30E21C38D9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39" y="1295704"/>
            <a:ext cx="1685925" cy="5448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52690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1" grpId="0" animBg="1"/>
      <p:bldP spid="33" grpId="0" animBg="1"/>
      <p:bldP spid="3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B92C33A-9A56-101D-11F4-82516FF12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12" y="2382519"/>
            <a:ext cx="4413651" cy="3310239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1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2228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5565.87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32</a:t>
            </a:r>
            <a:r>
              <a:rPr lang="ko-KR" altLang="en-US" dirty="0"/>
              <a:t>분 </a:t>
            </a:r>
            <a:r>
              <a:rPr lang="en-US" altLang="ko-KR" dirty="0"/>
              <a:t>45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44, 109, 156, 195, 205, 290, 318, 356, 367, 451, 458, 464, 500, 530, 612, 623, 655]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6F5B7-5153-D09F-319C-83AC37971D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046" y="2382520"/>
            <a:ext cx="4337872" cy="32445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869045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814958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109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54.5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97.5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205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308.3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290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318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159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350.3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178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367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183.5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56.3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458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229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230.3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194.3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655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327.5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66039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E55431BA-7081-02F8-3496-FCB7E8B57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61" y="2365719"/>
            <a:ext cx="4466662" cy="3349996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2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1736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4324.69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1</a:t>
            </a:r>
            <a:r>
              <a:rPr lang="ko-KR" altLang="en-US" dirty="0"/>
              <a:t>시간 </a:t>
            </a:r>
            <a:r>
              <a:rPr lang="en-US" altLang="ko-KR" dirty="0"/>
              <a:t>12</a:t>
            </a:r>
            <a:r>
              <a:rPr lang="ko-KR" altLang="en-US" dirty="0"/>
              <a:t>분 </a:t>
            </a:r>
            <a:r>
              <a:rPr lang="en-US" altLang="ko-KR" dirty="0"/>
              <a:t>4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38, 64, 88, 111, 150, 161, 245, 251, 259, 354, 420, 451, 462, 574, 612, 623, 709]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68172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6511370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19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230.3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88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290.3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111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55.5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150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75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245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251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125.5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259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129.5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344.3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354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177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134.3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420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210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98.3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451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225.5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272.3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231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574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287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612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306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311.5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709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354.5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164.3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3398643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새로운 해의 도출 결과 </a:t>
            </a:r>
            <a:r>
              <a:rPr lang="en-US" altLang="ko-KR" dirty="0"/>
              <a:t>3</a:t>
            </a:r>
          </a:p>
          <a:p>
            <a:pPr lvl="1">
              <a:defRPr/>
            </a:pPr>
            <a:r>
              <a:rPr lang="ko-KR" altLang="en-US" dirty="0"/>
              <a:t>시행횟수 </a:t>
            </a:r>
            <a:r>
              <a:rPr lang="en-US" altLang="ko-KR" dirty="0"/>
              <a:t>: 212</a:t>
            </a:r>
          </a:p>
          <a:p>
            <a:pPr lvl="1">
              <a:defRPr/>
            </a:pPr>
            <a:r>
              <a:rPr lang="ko-KR" altLang="en-US" dirty="0"/>
              <a:t>소요시간 </a:t>
            </a:r>
            <a:r>
              <a:rPr lang="en-US" altLang="ko-KR" dirty="0"/>
              <a:t>: 501.56</a:t>
            </a:r>
            <a:r>
              <a:rPr lang="ko-KR" altLang="en-US" dirty="0"/>
              <a:t>초 </a:t>
            </a:r>
            <a:r>
              <a:rPr lang="en-US" altLang="ko-KR" dirty="0"/>
              <a:t>(</a:t>
            </a:r>
            <a:r>
              <a:rPr lang="ko-KR" altLang="en-US" dirty="0"/>
              <a:t>약 </a:t>
            </a:r>
            <a:r>
              <a:rPr lang="en-US" altLang="ko-KR" dirty="0"/>
              <a:t>8</a:t>
            </a:r>
            <a:r>
              <a:rPr lang="ko-KR" altLang="en-US" dirty="0"/>
              <a:t>분 </a:t>
            </a:r>
            <a:r>
              <a:rPr lang="en-US" altLang="ko-KR" dirty="0"/>
              <a:t>21</a:t>
            </a:r>
            <a:r>
              <a:rPr lang="ko-KR" altLang="en-US" dirty="0"/>
              <a:t>초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sz="1600" dirty="0"/>
              <a:t>n</a:t>
            </a:r>
            <a:r>
              <a:rPr lang="ko-KR" altLang="en-US" sz="1600" dirty="0"/>
              <a:t> </a:t>
            </a:r>
            <a:r>
              <a:rPr lang="en-US" altLang="ko-KR" sz="1600" dirty="0"/>
              <a:t>=</a:t>
            </a:r>
            <a:r>
              <a:rPr lang="ko-KR" altLang="en-US" sz="1600" dirty="0"/>
              <a:t> </a:t>
            </a:r>
            <a:r>
              <a:rPr lang="en-US" altLang="ko-KR" sz="1600" dirty="0"/>
              <a:t>[0, 49, 65, 76, 161, 172, 199, 210, 306, 323, 372, 465, 502, 531, 626, 637, 675, 703]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714786-C548-1466-7360-8E94236B5F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87" y="2362756"/>
            <a:ext cx="4440002" cy="333000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C74830-E772-FEDB-B9F1-A0C8CF4486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949" y="2382518"/>
            <a:ext cx="4326714" cy="323517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42B24B-59DA-DE8C-605C-97E7BF80EEDC}"/>
              </a:ext>
            </a:extLst>
          </p:cNvPr>
          <p:cNvSpPr txBox="1"/>
          <p:nvPr/>
        </p:nvSpPr>
        <p:spPr>
          <a:xfrm>
            <a:off x="1485454" y="5796943"/>
            <a:ext cx="2258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수학적인 계산 결과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F82E10-524D-EF3A-C6A0-124AB3DEEA31}"/>
              </a:ext>
            </a:extLst>
          </p:cNvPr>
          <p:cNvSpPr txBox="1"/>
          <p:nvPr/>
        </p:nvSpPr>
        <p:spPr>
          <a:xfrm>
            <a:off x="5651065" y="5788074"/>
            <a:ext cx="2649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/>
              <a:t>실제 시뮬레이션 결과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2977211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결과 </a:t>
                </a:r>
                <a:r>
                  <a:rPr lang="en-US" altLang="ko-KR" dirty="0"/>
                  <a:t>3</a:t>
                </a:r>
                <a:r>
                  <a:rPr lang="ko-KR" altLang="en-US" dirty="0"/>
                  <a:t>의 궤도요소</a:t>
                </a:r>
                <a14:m>
                  <m:oMath xmlns:m="http://schemas.openxmlformats.org/officeDocument/2006/math">
                    <m:r>
                      <a:rPr lang="en-US" altLang="ko-KR" b="1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𝛺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altLang="ko-KR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계획법의 결과 검증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</a:rPr>
                                      <m:t>𝛺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𝑴</m:t>
                                    </m:r>
                                  </m:e>
                                  <m:sub>
                                    <m:r>
                                      <a:rPr lang="en-US" altLang="ko-KR" sz="1400" b="1" i="1" smtClean="0">
                                        <a:latin typeface="Cambria Math" panose="02040503050406030204" pitchFamily="18" charset="0"/>
                                        <a:ea typeface="+mn-ea"/>
                                        <a:cs typeface="Times New Roman"/>
                                      </a:rPr>
                                      <m:t>𝒌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27248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B8FEB949-9820-ACBC-07F2-72746B333FD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9689652"/>
                  </p:ext>
                </p:extLst>
              </p:nvPr>
            </p:nvGraphicFramePr>
            <p:xfrm>
              <a:off x="682039" y="1618272"/>
              <a:ext cx="2153920" cy="3048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4940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911612099"/>
                        </a:ext>
                      </a:extLst>
                    </a:gridCol>
                    <a:gridCol w="627380">
                      <a:extLst>
                        <a:ext uri="{9D8B030D-6E8A-4147-A177-3AD203B41FA5}">
                          <a16:colId xmlns:a16="http://schemas.microsoft.com/office/drawing/2014/main" val="2059915843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3" t="-2000" r="-432836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3951" t="-2000" r="-258025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3269" t="-2000" r="-100962" b="-9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45631" t="-2000" r="-1942" b="-9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24.5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164.3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32.5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68.3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38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161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80.3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212.3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172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86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146.3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199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99.5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344.3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210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105</a:t>
                          </a:r>
                          <a:endParaRPr lang="ko-KR" sz="1400" b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278.3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306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153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sz="1400" b="0" dirty="0">
                              <a:solidFill>
                                <a:srgbClr val="000000"/>
                              </a:solidFill>
                              <a:effectLst/>
                              <a:latin typeface="Times New Roman" panose="02020603050405020304" pitchFamily="18" charset="0"/>
                              <a:ea typeface="바탕체" panose="02030609000101010101" pitchFamily="17" charset="-127"/>
                              <a:cs typeface="Times New Roman" panose="02020603050405020304" pitchFamily="18" charset="0"/>
                            </a:rPr>
                            <a:t>62.3</a:t>
                          </a:r>
                          <a:endParaRPr lang="ko-KR" sz="1400" b="0" dirty="0">
                            <a:effectLst/>
                            <a:latin typeface="Times New Roman" panose="02020603050405020304" pitchFamily="18" charset="0"/>
                            <a:ea typeface="바탕체" panose="02030609000101010101" pitchFamily="17" charset="-127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56298901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0EEDF8D-FA6B-B8C5-2E82-ECE868E5B67A}"/>
              </a:ext>
            </a:extLst>
          </p:cNvPr>
          <p:cNvGraphicFramePr>
            <a:graphicFrameLocks noGrp="1"/>
          </p:cNvGraphicFramePr>
          <p:nvPr/>
        </p:nvGraphicFramePr>
        <p:xfrm>
          <a:off x="2983159" y="1923072"/>
          <a:ext cx="215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34494632"/>
                    </a:ext>
                  </a:extLst>
                </a:gridCol>
                <a:gridCol w="494030">
                  <a:extLst>
                    <a:ext uri="{9D8B030D-6E8A-4147-A177-3AD203B41FA5}">
                      <a16:colId xmlns:a16="http://schemas.microsoft.com/office/drawing/2014/main" val="38033976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337565897"/>
                    </a:ext>
                  </a:extLst>
                </a:gridCol>
                <a:gridCol w="627380">
                  <a:extLst>
                    <a:ext uri="{9D8B030D-6E8A-4147-A177-3AD203B41FA5}">
                      <a16:colId xmlns:a16="http://schemas.microsoft.com/office/drawing/2014/main" val="1847930514"/>
                    </a:ext>
                  </a:extLst>
                </a:gridCol>
              </a:tblGrid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323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161.5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059090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11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372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186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07384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12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465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232.5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188.3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60328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13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502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251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326.3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79643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14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531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265.5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152.3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5868916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626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313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302.3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64171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16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637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318.5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236.3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511674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17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675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337.5</a:t>
                      </a:r>
                      <a:endParaRPr lang="ko-KR" sz="1400" b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8.3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73332"/>
                  </a:ext>
                </a:extLst>
              </a:tr>
              <a:tr h="283103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b="1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18</a:t>
                      </a:r>
                      <a:endParaRPr lang="ko-KR" altLang="en-US" sz="1400" b="1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703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351.5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sz="14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바탕체" panose="02030609000101010101" pitchFamily="17" charset="-127"/>
                          <a:cs typeface="Times New Roman" panose="02020603050405020304" pitchFamily="18" charset="0"/>
                        </a:rPr>
                        <a:t>200.3</a:t>
                      </a:r>
                      <a:endParaRPr lang="ko-KR" sz="1400" b="0" dirty="0">
                        <a:effectLst/>
                        <a:latin typeface="Times New Roman" panose="02020603050405020304" pitchFamily="18" charset="0"/>
                        <a:ea typeface="바탕체" panose="02030609000101010101" pitchFamily="17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22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167333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이진 선형 계획법을 적용한 </a:t>
            </a:r>
            <a:br>
              <a:rPr lang="en-US" altLang="ko-KR" dirty="0"/>
            </a:br>
            <a:r>
              <a:rPr lang="ko-KR" altLang="en-US" dirty="0"/>
              <a:t>이종위성군 설계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51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고도와 경사각이 서로 다른 궤도를 운용하는 </a:t>
                </a:r>
                <a:r>
                  <a:rPr lang="ko-KR" altLang="en-US" dirty="0" err="1"/>
                  <a:t>위성군</a:t>
                </a: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>
                  <a:defRPr/>
                </a:pP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두 개의 관심지역 </a:t>
                </a:r>
                <a:r>
                  <a:rPr lang="en-US" altLang="ko-KR" dirty="0"/>
                  <a:t>ex.{(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=64.14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=21.94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W), (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19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=72.87</m:t>
                    </m:r>
                  </m:oMath>
                </a14:m>
                <a:r>
                  <a:rPr lang="ko-KR" altLang="en-US" dirty="0"/>
                  <a:t>˚</a:t>
                </a:r>
                <a:r>
                  <a:rPr lang="en-US" altLang="ko-KR" dirty="0"/>
                  <a:t>E)}</a:t>
                </a:r>
              </a:p>
              <a:p>
                <a:pPr lvl="1">
                  <a:defRPr/>
                </a:pPr>
                <a:r>
                  <a:rPr lang="ko-KR" altLang="en-US" dirty="0"/>
                  <a:t>두 개의 궤도 유형 </a:t>
                </a:r>
                <a:r>
                  <a:rPr lang="en-US" altLang="ko-KR" dirty="0"/>
                  <a:t>ex.{[8/1, 0, 70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], [6/1, 0, 47.915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, 0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]}</a:t>
                </a:r>
              </a:p>
              <a:p>
                <a:pPr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dirty="0"/>
              </a:p>
              <a:p>
                <a:pPr marL="0" indent="0">
                  <a:buNone/>
                  <a:defRPr/>
                </a:pPr>
                <a:endParaRPr lang="en-US" altLang="ko-KR" sz="200" dirty="0"/>
              </a:p>
              <a:p>
                <a:pPr marL="432000" lvl="2" indent="0">
                  <a:buNone/>
                  <a:defRPr/>
                </a:pP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21D36BC3-C0C3-7519-9C04-96EEB27990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5"/>
                <a:ext cx="8886918" cy="5759101"/>
              </a:xfrm>
              <a:blipFill>
                <a:blip r:embed="rId3"/>
                <a:stretch>
                  <a:fillRect l="-892" t="-9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D3771FE-96AF-F839-2715-35C2A585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71055"/>
            <a:ext cx="6947337" cy="687714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ko-KR" altLang="en-US" sz="2400" dirty="0"/>
              <a:t>이진 선형 계획법을 적용한 이종 </a:t>
            </a:r>
            <a:r>
              <a:rPr lang="ko-KR" altLang="en-US" sz="2400" dirty="0" err="1"/>
              <a:t>위성군</a:t>
            </a:r>
            <a:r>
              <a:rPr lang="ko-KR" altLang="en-US" sz="2400" dirty="0"/>
              <a:t> 설계 개념</a:t>
            </a:r>
          </a:p>
        </p:txBody>
      </p:sp>
      <p:pic>
        <p:nvPicPr>
          <p:cNvPr id="5" name="그림 4" descr="원, 예술이(가) 표시된 사진&#10;&#10;자동 생성된 설명">
            <a:extLst>
              <a:ext uri="{FF2B5EF4-FFF2-40B4-BE49-F238E27FC236}">
                <a16:creationId xmlns:a16="http://schemas.microsoft.com/office/drawing/2014/main" id="{8B4B7C4C-57C9-2A1A-8FE8-01E8715773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611" y="1604188"/>
            <a:ext cx="6327277" cy="29785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135715-F075-B675-6494-A42B7632C2DB}"/>
              </a:ext>
            </a:extLst>
          </p:cNvPr>
          <p:cNvSpPr txBox="1"/>
          <p:nvPr/>
        </p:nvSpPr>
        <p:spPr>
          <a:xfrm>
            <a:off x="-288506" y="5975117"/>
            <a:ext cx="90566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ko-KR" altLang="en-US" sz="1000" b="1" dirty="0">
                <a:solidFill>
                  <a:srgbClr val="1F2328"/>
                </a:solidFill>
              </a:rPr>
              <a:t>출처 </a:t>
            </a:r>
            <a:r>
              <a:rPr lang="en-US" altLang="ko-KR" sz="1000" b="1" dirty="0">
                <a:solidFill>
                  <a:srgbClr val="1F2328"/>
                </a:solidFill>
              </a:rPr>
              <a:t>: Hang </a:t>
            </a:r>
            <a:r>
              <a:rPr lang="en-US" altLang="ko-KR" sz="1000" b="1" dirty="0" err="1">
                <a:solidFill>
                  <a:srgbClr val="1F2328"/>
                </a:solidFill>
              </a:rPr>
              <a:t>Woon</a:t>
            </a:r>
            <a:r>
              <a:rPr lang="en-US" altLang="ko-KR" sz="1000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sz="1000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sz="1000" b="1" dirty="0">
                <a:solidFill>
                  <a:srgbClr val="1F2328"/>
                </a:solidFill>
              </a:rPr>
              <a:t>”, 2020 Journal of Spacecraft and Rockets 57:6, 1309-1327</a:t>
            </a:r>
          </a:p>
        </p:txBody>
      </p:sp>
    </p:spTree>
    <p:extLst>
      <p:ext uri="{BB962C8B-B14F-4D97-AF65-F5344CB8AC3E}">
        <p14:creationId xmlns:p14="http://schemas.microsoft.com/office/powerpoint/2010/main" val="2572132430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A7CC1-AAB0-54D7-32C1-A116F9CC4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3">
            <a:extLst>
              <a:ext uri="{FF2B5EF4-FFF2-40B4-BE49-F238E27FC236}">
                <a16:creationId xmlns:a16="http://schemas.microsoft.com/office/drawing/2014/main" id="{E2254941-4BD1-BDB2-726B-CAE789A2E8DA}"/>
              </a:ext>
            </a:extLst>
          </p:cNvPr>
          <p:cNvSpPr txBox="1">
            <a:spLocks/>
          </p:cNvSpPr>
          <p:nvPr/>
        </p:nvSpPr>
        <p:spPr>
          <a:xfrm>
            <a:off x="725214" y="71055"/>
            <a:ext cx="6947337" cy="6877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pPr>
              <a:defRPr/>
            </a:pPr>
            <a:r>
              <a:rPr lang="ko-KR" altLang="en-US" sz="2400"/>
              <a:t>이진 선형 계획법을 적용한 이종 위성군 설계 개념</a:t>
            </a:r>
            <a:endParaRPr lang="ko-KR" altLang="en-US" sz="2400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21D36BC3-C0C3-7519-9C04-96EEB2799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5"/>
            <a:ext cx="8886918" cy="57591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서로 다른 궤도를 동시에 운용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관심지역에서 관측한 </a:t>
            </a:r>
            <a:r>
              <a:rPr lang="en-US" altLang="ko-KR" dirty="0"/>
              <a:t>Seed Satellite</a:t>
            </a:r>
            <a:r>
              <a:rPr lang="ko-KR" altLang="en-US" dirty="0"/>
              <a:t>의 </a:t>
            </a:r>
            <a:r>
              <a:rPr lang="en-US" altLang="ko-KR" dirty="0"/>
              <a:t>Access Profile</a:t>
            </a:r>
            <a:r>
              <a:rPr lang="ko-KR" altLang="en-US" dirty="0"/>
              <a:t>을 획득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최적의 </a:t>
            </a:r>
            <a:r>
              <a:rPr lang="en-US" altLang="ko-KR" dirty="0"/>
              <a:t>n </a:t>
            </a:r>
            <a:r>
              <a:rPr lang="ko-KR" altLang="en-US" dirty="0"/>
              <a:t>배열을 생성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Constellation Pattern Vector</a:t>
            </a:r>
            <a:r>
              <a:rPr lang="ko-KR" altLang="en-US" dirty="0"/>
              <a:t>를 생성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Coverage Timeline</a:t>
            </a:r>
            <a:r>
              <a:rPr lang="ko-KR" altLang="en-US" dirty="0"/>
              <a:t>을 출력</a:t>
            </a: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200" dirty="0"/>
          </a:p>
          <a:p>
            <a:pPr marL="432000" lvl="2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72FB6E-619F-3248-F0DD-F80B3CF8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58</a:t>
            </a:fld>
            <a:endParaRPr lang="en-US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342884-0C87-5A9A-6078-383D1DBB8403}"/>
              </a:ext>
            </a:extLst>
          </p:cNvPr>
          <p:cNvSpPr/>
          <p:nvPr/>
        </p:nvSpPr>
        <p:spPr bwMode="auto">
          <a:xfrm>
            <a:off x="4419163" y="5385808"/>
            <a:ext cx="717916" cy="3069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FBE3A72-8726-7376-D692-D00774524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61" y="1373305"/>
            <a:ext cx="7294246" cy="33953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0763375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37.6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/>
                  <a:t>블라디보스토크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43.1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131.9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=7270.14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한반도 및 인근</a:t>
            </a:r>
            <a:r>
              <a:rPr lang="ko-KR" altLang="en-US" dirty="0"/>
              <a:t>지역에 대한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01015"/>
              </p:ext>
            </p:extLst>
          </p:nvPr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</a:t>
            </a:r>
            <a:r>
              <a:rPr lang="en-US" altLang="ko-KR" dirty="0"/>
              <a:t>: 892km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궤도 경사각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1 : 59</a:t>
            </a:r>
            <a:r>
              <a:rPr lang="ko-KR" altLang="en-US" dirty="0"/>
              <a:t>˚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Orbit 2 : 65</a:t>
            </a:r>
            <a:r>
              <a:rPr lang="ko-KR" altLang="en-US" dirty="0"/>
              <a:t>˚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0" y="1455980"/>
            <a:ext cx="9144000" cy="2390511"/>
            <a:chOff x="0" y="2233744"/>
            <a:chExt cx="9144000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4" y="2262614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21352" y="2559529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4127479" y="3228156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5806963" y="3496115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881112"/>
                  </p:ext>
                </p:extLst>
              </p:nvPr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5923607"/>
                  </p:ext>
                </p:extLst>
              </p:nvPr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90949"/>
                  </p:ext>
                </p:extLst>
              </p:nvPr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50" t="-1020" r="-310000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54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8262767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위성 접근 시간과 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효율성 관계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요구조건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Target A, B</a:t>
            </a:r>
            <a:r>
              <a:rPr lang="ko-KR" altLang="en-US" dirty="0"/>
              <a:t>에 대해 </a:t>
            </a:r>
            <a:r>
              <a:rPr lang="en-US" altLang="ko-KR" dirty="0"/>
              <a:t>Total Duration</a:t>
            </a:r>
            <a:r>
              <a:rPr lang="ko-KR" altLang="en-US" dirty="0"/>
              <a:t>은 아래 조건을 모두 만족해야 한다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b="1" dirty="0"/>
              <a:t>     TD(Orbit1_A) &gt; TD(Orbit1_B)  &amp;  TD(Orbit2_A)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○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&gt; TD(Orbit2_A)  &amp;  TD(Orbit1_A) &lt; TD(Orbit2_A)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</a:t>
            </a:r>
            <a:r>
              <a:rPr lang="en-US" altLang="ko-KR" b="1" dirty="0"/>
              <a:t>TD(Orbit1_A) &gt; TD(Orbit2_A)  &amp;  TD(Orbit1_B)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</a:t>
            </a:r>
            <a:r>
              <a:rPr lang="en-US" altLang="ko-KR" b="1" dirty="0">
                <a:solidFill>
                  <a:srgbClr val="FF0000"/>
                </a:solidFill>
              </a:rPr>
              <a:t>×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&lt; TD(Orbit2_A)  &amp;  TD(Orbit1_B) &gt; TD(Orbit2_B)</a:t>
            </a:r>
          </a:p>
          <a:p>
            <a:pPr lvl="2">
              <a:defRPr/>
            </a:pPr>
            <a:r>
              <a:rPr lang="ko-KR" altLang="en-US" dirty="0"/>
              <a:t>같은 궤도에서 두 지역을 지나는 </a:t>
            </a:r>
            <a:r>
              <a:rPr lang="en-US" altLang="ko-KR" dirty="0"/>
              <a:t>TD </a:t>
            </a:r>
            <a:r>
              <a:rPr lang="ko-KR" altLang="en-US" dirty="0"/>
              <a:t>차이가 클수록 높은 효율을 낸다</a:t>
            </a:r>
            <a:r>
              <a:rPr lang="en-US" altLang="ko-KR" dirty="0"/>
              <a:t>      </a:t>
            </a:r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1073752" y="4658233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97B26-F5E7-1EAF-269D-22334724D966}"/>
              </a:ext>
            </a:extLst>
          </p:cNvPr>
          <p:cNvSpPr txBox="1"/>
          <p:nvPr/>
        </p:nvSpPr>
        <p:spPr>
          <a:xfrm>
            <a:off x="-1068498" y="5221085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14:cNvPr>
              <p14:cNvContentPartPr/>
              <p14:nvPr/>
            </p14:nvContentPartPr>
            <p14:xfrm>
              <a:off x="1103139" y="5580674"/>
              <a:ext cx="360" cy="3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499" y="5571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14:cNvPr>
              <p14:cNvContentPartPr/>
              <p14:nvPr/>
            </p14:nvContentPartPr>
            <p14:xfrm>
              <a:off x="1082259" y="5601554"/>
              <a:ext cx="360" cy="3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259" y="559291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40730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7FE0B53-542C-987C-2BF4-5032BBA3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7858"/>
            <a:ext cx="9144000" cy="23905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두 지역의 동시 관측을 위한 새로운 궤도 경사각 설정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두 지역을 모두 고려한 새로운 궤도 경사각 </a:t>
            </a:r>
            <a:r>
              <a:rPr lang="en-US" altLang="ko-KR" dirty="0"/>
              <a:t>: 62</a:t>
            </a:r>
            <a:r>
              <a:rPr lang="ko-KR" altLang="en-US" dirty="0"/>
              <a:t>˚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고도 및 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1560866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10965" y="1857778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253703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27943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942D43-46B7-3118-C233-3B97EE4502A3}"/>
              </a:ext>
            </a:extLst>
          </p:cNvPr>
          <p:cNvSpPr/>
          <p:nvPr/>
        </p:nvSpPr>
        <p:spPr bwMode="auto">
          <a:xfrm>
            <a:off x="6551376" y="2048860"/>
            <a:ext cx="262759" cy="30777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06AA2-87C4-C956-AB5F-A63C03F7E96E}"/>
              </a:ext>
            </a:extLst>
          </p:cNvPr>
          <p:cNvSpPr txBox="1"/>
          <p:nvPr/>
        </p:nvSpPr>
        <p:spPr>
          <a:xfrm>
            <a:off x="5115941" y="2466922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6"/>
                </a:solidFill>
              </a:rPr>
              <a:t>Orbit3(62</a:t>
            </a:r>
            <a:r>
              <a:rPr lang="ko-KR" altLang="en-US" sz="1400" dirty="0">
                <a:solidFill>
                  <a:schemeClr val="accent6"/>
                </a:solidFill>
              </a:rPr>
              <a:t>˚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4885008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031390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70146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39  76  114  152  189  227  265  303  341  379  417  455  493  531  568  606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7FA716-4489-74D8-8A51-4C8ABCF2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34" y="3067556"/>
            <a:ext cx="76200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61194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215029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0815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40  80  120  160  200  240  280  320  360  400  440  480  520  560  600  640  680]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90%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82.5%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7FA716-4489-74D8-8A51-4C8ABCF2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34" y="3067556"/>
            <a:ext cx="7620000" cy="27813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98160FB-DEA2-6502-134A-D3EFA89FA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268" y="3066689"/>
            <a:ext cx="746760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97727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/>
              <a:t>궤도 평면 수 </a:t>
            </a:r>
            <a:r>
              <a:rPr lang="en-US" altLang="ko-KR" dirty="0"/>
              <a:t>: 19)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798376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072501"/>
                  </p:ext>
                </p:extLst>
              </p:nvPr>
            </p:nvGraphicFramePr>
            <p:xfrm>
              <a:off x="291150" y="3108231"/>
              <a:ext cx="3279527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993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6072501"/>
                  </p:ext>
                </p:extLst>
              </p:nvPr>
            </p:nvGraphicFramePr>
            <p:xfrm>
              <a:off x="291150" y="3108231"/>
              <a:ext cx="3279527" cy="3566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83" t="-2326" r="-411" b="-128604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75.97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79.03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99.31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41.39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9930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0052066"/>
                  </p:ext>
                </p:extLst>
              </p:nvPr>
            </p:nvGraphicFramePr>
            <p:xfrm>
              <a:off x="3758459" y="3110670"/>
              <a:ext cx="33684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97.22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97.36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50.23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98.75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32.22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33.89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90052066"/>
                  </p:ext>
                </p:extLst>
              </p:nvPr>
            </p:nvGraphicFramePr>
            <p:xfrm>
              <a:off x="3758459" y="3110670"/>
              <a:ext cx="33684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63" t="-2326" r="-411" b="-11697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97.22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97.36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50.23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98.75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32.22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33.89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81591633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18)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587184"/>
                  </p:ext>
                </p:extLst>
              </p:nvPr>
            </p:nvGraphicFramePr>
            <p:xfrm>
              <a:off x="291150" y="3108231"/>
              <a:ext cx="32795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44.31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82.50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99.03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0587184"/>
                  </p:ext>
                </p:extLst>
              </p:nvPr>
            </p:nvGraphicFramePr>
            <p:xfrm>
              <a:off x="291150" y="3108231"/>
              <a:ext cx="32795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83" t="-2326" r="-411" b="-11697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44.31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40.69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95.56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75.28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82.50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99.03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574902"/>
                  </p:ext>
                </p:extLst>
              </p:nvPr>
            </p:nvGraphicFramePr>
            <p:xfrm>
              <a:off x="3758459" y="3110670"/>
              <a:ext cx="33684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85.97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80.14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96.11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85.28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0574902"/>
                  </p:ext>
                </p:extLst>
              </p:nvPr>
            </p:nvGraphicFramePr>
            <p:xfrm>
              <a:off x="3758459" y="3110670"/>
              <a:ext cx="33684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63" t="-2326" r="-411" b="-11697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86.39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85.97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80.14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93.47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96.11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85.28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86.81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32.50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30760575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9, 6)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386916"/>
                  </p:ext>
                </p:extLst>
              </p:nvPr>
            </p:nvGraphicFramePr>
            <p:xfrm>
              <a:off x="291150" y="3108231"/>
              <a:ext cx="32795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86.11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90.14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76.11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98.11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95.14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98.89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1386916"/>
                  </p:ext>
                </p:extLst>
              </p:nvPr>
            </p:nvGraphicFramePr>
            <p:xfrm>
              <a:off x="291150" y="3108231"/>
              <a:ext cx="3279527" cy="3261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83" t="-2326" r="-411" b="-11697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86.11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90.14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98.33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91.25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76.11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98.11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92.92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95.14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98.89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66.53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6E843FF5-EC87-6C84-88D1-8B5C50021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171679"/>
                  </p:ext>
                </p:extLst>
              </p:nvPr>
            </p:nvGraphicFramePr>
            <p:xfrm>
              <a:off x="3758459" y="3113350"/>
              <a:ext cx="3368427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98.06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79.86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86.94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49.17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50.56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6E843FF5-EC87-6C84-88D1-8B5C50021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51171679"/>
                  </p:ext>
                </p:extLst>
              </p:nvPr>
            </p:nvGraphicFramePr>
            <p:xfrm>
              <a:off x="3758459" y="3113350"/>
              <a:ext cx="3368427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63" t="-2326" r="-411" b="-82093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98.06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79.86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86.94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99.72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49.17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50.56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74.86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5471268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(18</a:t>
            </a:r>
            <a:r>
              <a:rPr lang="ko-KR" altLang="en-US" dirty="0"/>
              <a:t>대 운용 시 요구조건 달성 불가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 </a:t>
            </a:r>
            <a:r>
              <a:rPr lang="en-US" altLang="ko-KR" dirty="0"/>
              <a:t>(</a:t>
            </a:r>
            <a:r>
              <a:rPr lang="ko-KR" altLang="en-US" dirty="0"/>
              <a:t>궤도 평면 수 </a:t>
            </a:r>
            <a:r>
              <a:rPr lang="en-US" altLang="ko-KR" dirty="0"/>
              <a:t>: 3, 2)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518612"/>
                  </p:ext>
                </p:extLst>
              </p:nvPr>
            </p:nvGraphicFramePr>
            <p:xfrm>
              <a:off x="291150" y="3108231"/>
              <a:ext cx="3279527" cy="1432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92.78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2518612"/>
                  </p:ext>
                </p:extLst>
              </p:nvPr>
            </p:nvGraphicFramePr>
            <p:xfrm>
              <a:off x="291150" y="3108231"/>
              <a:ext cx="3279527" cy="1432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2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883" t="-2326" r="-411" b="-4720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89.44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89.31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92.78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88.19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6E843FF5-EC87-6C84-88D1-8B5C50021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4171137"/>
                  </p:ext>
                </p:extLst>
              </p:nvPr>
            </p:nvGraphicFramePr>
            <p:xfrm>
              <a:off x="3758459" y="3113350"/>
              <a:ext cx="3368427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97.64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6E843FF5-EC87-6C84-88D1-8B5C500215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74171137"/>
                  </p:ext>
                </p:extLst>
              </p:nvPr>
            </p:nvGraphicFramePr>
            <p:xfrm>
              <a:off x="3758459" y="3113350"/>
              <a:ext cx="3368427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513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3963" t="-2326" r="-411" b="-3558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97.64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100.00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95458596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다중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  <a:r>
              <a:rPr lang="ko-KR" altLang="en-US" dirty="0"/>
              <a:t>관심지역의 다중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궤도 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(Seoul, Vladivostok) 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602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 – ex.(10:8)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230121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[26  156  177  25  274  507  522  566  593  712]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129  192  336  368  483  651  676]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96813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재방문 주기 적용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13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2728908"/>
              </p:ext>
            </p:extLst>
          </p:nvPr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570146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90  180  270  360  450  540  630]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362819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최대 재방문 주기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위성 </a:t>
            </a:r>
            <a:r>
              <a:rPr lang="en-US" altLang="ko-KR" sz="1400" dirty="0"/>
              <a:t>8</a:t>
            </a:r>
            <a:r>
              <a:rPr lang="ko-KR" altLang="en-US" sz="1400" dirty="0"/>
              <a:t>대 운용 시 결과 </a:t>
            </a:r>
            <a:r>
              <a:rPr lang="en-US" altLang="ko-KR" sz="1400" dirty="0"/>
              <a:t>(ex. </a:t>
            </a:r>
            <a:r>
              <a:rPr lang="ko-KR" altLang="en-US" sz="1400" dirty="0"/>
              <a:t>서울</a:t>
            </a:r>
            <a:r>
              <a:rPr lang="en-US" altLang="ko-KR" sz="1400" dirty="0"/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FF62B2-93ED-510B-241C-A5340AC6B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181" y="3123971"/>
            <a:ext cx="3546485" cy="26890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E0688ADF-4F7C-EF51-93C8-09B1ED2C88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010166"/>
                  </p:ext>
                </p:extLst>
              </p:nvPr>
            </p:nvGraphicFramePr>
            <p:xfrm>
              <a:off x="684559" y="3108231"/>
              <a:ext cx="3635127" cy="27158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830">
                      <a:extLst>
                        <a:ext uri="{9D8B030D-6E8A-4147-A177-3AD203B41FA5}">
                          <a16:colId xmlns:a16="http://schemas.microsoft.com/office/drawing/2014/main" val="3667591347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수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b="1" i="1" smtClean="0"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최</m:t>
                              </m:r>
                            </m:oMath>
                          </a14:m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대 재방문주기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(min)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56980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516753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867137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4931202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80892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E0688ADF-4F7C-EF51-93C8-09B1ED2C88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2010166"/>
                  </p:ext>
                </p:extLst>
              </p:nvPr>
            </p:nvGraphicFramePr>
            <p:xfrm>
              <a:off x="684559" y="3108231"/>
              <a:ext cx="3635127" cy="271589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830">
                      <a:extLst>
                        <a:ext uri="{9D8B030D-6E8A-4147-A177-3AD203B41FA5}">
                          <a16:colId xmlns:a16="http://schemas.microsoft.com/office/drawing/2014/main" val="3667591347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62255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수</a:t>
                          </a: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793" t="-2326" r="-411" b="-9558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676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90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100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54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8569809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24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951675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186713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2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ko-KR" altLang="en-US" sz="12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4931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2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26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20</a:t>
                          </a:r>
                          <a:endParaRPr lang="ko-KR" altLang="en-US" sz="12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808920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77831397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r>
              <a:rPr lang="en-US" altLang="ko-KR" dirty="0"/>
              <a:t> &amp; </a:t>
            </a:r>
            <a:r>
              <a:rPr lang="ko-KR" altLang="en-US" dirty="0"/>
              <a:t>블라디보스토크</a:t>
            </a:r>
            <a:r>
              <a:rPr lang="en-US" altLang="ko-KR" dirty="0"/>
              <a:t> (</a:t>
            </a:r>
            <a:r>
              <a:rPr lang="ko-KR" altLang="en-US" dirty="0"/>
              <a:t>궤도 평면 수 </a:t>
            </a:r>
            <a:r>
              <a:rPr lang="en-US" altLang="ko-KR" dirty="0"/>
              <a:t>: 6, 3, 2)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838414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910942"/>
                  </p:ext>
                </p:extLst>
              </p:nvPr>
            </p:nvGraphicFramePr>
            <p:xfrm>
              <a:off x="291150" y="3108231"/>
              <a:ext cx="3538289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6:6:1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993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34910942"/>
                  </p:ext>
                </p:extLst>
              </p:nvPr>
            </p:nvGraphicFramePr>
            <p:xfrm>
              <a:off x="291150" y="3108231"/>
              <a:ext cx="3538289" cy="2346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713" t="-2326" r="-411" b="-82093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6:6:1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32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6:6:5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78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299307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495830"/>
                  </p:ext>
                </p:extLst>
              </p:nvPr>
            </p:nvGraphicFramePr>
            <p:xfrm>
              <a:off x="4098703" y="3110670"/>
              <a:ext cx="3538289" cy="1432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91AF2AE9-8D44-AB28-E2FD-B3F71F4A4B1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7495830"/>
                  </p:ext>
                </p:extLst>
              </p:nvPr>
            </p:nvGraphicFramePr>
            <p:xfrm>
              <a:off x="4098703" y="3110670"/>
              <a:ext cx="3538289" cy="14325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507" t="-2326" r="-411" b="-47209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6:3:0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6:3:1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6:3:2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44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  <a:endParaRPr lang="ko-KR" altLang="en-US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F6B4DAD-7134-8382-9B34-2E922986A3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18328"/>
                  </p:ext>
                </p:extLst>
              </p:nvPr>
            </p:nvGraphicFramePr>
            <p:xfrm>
              <a:off x="4098703" y="4708162"/>
              <a:ext cx="3538289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148797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8797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2592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6:2:0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10066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6:2:1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DF6B4DAD-7134-8382-9B34-2E922986A3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18328"/>
                  </p:ext>
                </p:extLst>
              </p:nvPr>
            </p:nvGraphicFramePr>
            <p:xfrm>
              <a:off x="4098703" y="4708162"/>
              <a:ext cx="3538289" cy="112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74992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46410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99190">
                      <a:extLst>
                        <a:ext uri="{9D8B030D-6E8A-4147-A177-3AD203B41FA5}">
                          <a16:colId xmlns:a16="http://schemas.microsoft.com/office/drawing/2014/main" val="4270349269"/>
                        </a:ext>
                      </a:extLst>
                    </a:gridCol>
                  </a:tblGrid>
                  <a:tr h="2590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T:P:F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507" t="-2326" r="-411" b="-35581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59080">
                    <a:tc v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en-US" altLang="ko-KR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서울</a:t>
                          </a: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>
                              <a:solidFill>
                                <a:schemeClr val="bg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블라디보스토크</a:t>
                          </a:r>
                          <a:endParaRPr lang="ko-KR" altLang="en-US" sz="1100" dirty="0">
                            <a:solidFill>
                              <a:schemeClr val="bg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282065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6:2:0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6:2:1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26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24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5720" marR="4572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52335487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ex.(2:4)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578334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645]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295  313  384]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CA3D5-7A37-057F-0E46-38E6B2BAC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" y="3283045"/>
            <a:ext cx="7215141" cy="260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05371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이진 선형 계획법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6</a:t>
            </a:r>
            <a:r>
              <a:rPr lang="ko-KR" altLang="en-US" dirty="0"/>
              <a:t>대</a:t>
            </a:r>
            <a:r>
              <a:rPr lang="en-US" altLang="ko-KR" dirty="0"/>
              <a:t>) – ex.(3:3)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>
              <a:defRPr/>
            </a:pP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1, 2 (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경사각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: 59, 65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4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Seoul, Vladivostok</a:t>
            </a:r>
            <a:endParaRPr lang="ko-KR" altLang="en-US" sz="2400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649981"/>
              </p:ext>
            </p:extLst>
          </p:nvPr>
        </p:nvGraphicFramePr>
        <p:xfrm>
          <a:off x="69300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498218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[15  487  421]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푸른색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297  701] (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주황색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2439844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61702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 </a:t>
            </a:r>
            <a:r>
              <a:rPr lang="en-US" altLang="ko-KR" sz="1400" dirty="0"/>
              <a:t>Coverage :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 </a:t>
            </a:r>
            <a:r>
              <a:rPr lang="en-US" altLang="ko-KR" sz="1400" dirty="0"/>
              <a:t>Coverage : 100%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1C5CEB-2EBA-1C3A-871A-FCD9E2B54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00" y="3254810"/>
            <a:ext cx="6867951" cy="26745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96CA3D5-7A37-057F-0E46-38E6B2BAC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5" y="3283045"/>
            <a:ext cx="7215141" cy="260422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4B89B2F-60A5-2490-72BE-417E68A90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625" y="3279339"/>
            <a:ext cx="7146116" cy="259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0260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EEB82F0-6B50-A8EB-CDAA-8192FFD51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6784" y="1812123"/>
            <a:ext cx="3471352" cy="3881547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</a:t>
            </a:r>
            <a:r>
              <a:rPr lang="en-US" altLang="ko-KR" dirty="0">
                <a:solidFill>
                  <a:srgbClr val="1F2328"/>
                </a:solidFill>
              </a:rPr>
              <a:t> vs </a:t>
            </a:r>
            <a:r>
              <a:rPr lang="ko-KR" altLang="en-US" dirty="0">
                <a:solidFill>
                  <a:srgbClr val="1F2328"/>
                </a:solidFill>
              </a:rPr>
              <a:t>준대칭기법 </a:t>
            </a:r>
            <a:r>
              <a:rPr lang="en-US" altLang="ko-KR" dirty="0">
                <a:solidFill>
                  <a:srgbClr val="1F2328"/>
                </a:solidFill>
              </a:rPr>
              <a:t>vs </a:t>
            </a:r>
            <a:r>
              <a:rPr lang="ko-KR" altLang="en-US" dirty="0">
                <a:solidFill>
                  <a:srgbClr val="1F2328"/>
                </a:solidFill>
              </a:rPr>
              <a:t>워커</a:t>
            </a:r>
            <a:r>
              <a:rPr lang="en-US" altLang="ko-KR" dirty="0">
                <a:solidFill>
                  <a:srgbClr val="1F2328"/>
                </a:solidFill>
              </a:rPr>
              <a:t>-</a:t>
            </a:r>
            <a:r>
              <a:rPr lang="ko-KR" altLang="en-US" dirty="0">
                <a:solidFill>
                  <a:srgbClr val="1F2328"/>
                </a:solidFill>
              </a:rPr>
              <a:t>델타 </a:t>
            </a:r>
            <a:r>
              <a:rPr lang="ko-KR" altLang="en-US" dirty="0" err="1">
                <a:solidFill>
                  <a:srgbClr val="1F2328"/>
                </a:solidFill>
              </a:rPr>
              <a:t>위성군</a:t>
            </a:r>
            <a:endParaRPr lang="en-US" altLang="ko-KR" dirty="0">
              <a:solidFill>
                <a:srgbClr val="1F2328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415A71-7F2D-8D6C-C54A-084CDC564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99" y="2366385"/>
            <a:ext cx="4770085" cy="277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780592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</a:rPr>
              <a:t>이진 선형 계획법과 다른 설계기법의 성능 비교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전통적인 </a:t>
            </a:r>
            <a:r>
              <a:rPr lang="ko-KR" altLang="en-US" dirty="0" err="1"/>
              <a:t>준대칭</a:t>
            </a:r>
            <a:r>
              <a:rPr lang="ko-KR" altLang="en-US" dirty="0"/>
              <a:t> 기법을 시작으로 하여 </a:t>
            </a:r>
            <a:r>
              <a:rPr lang="ko-KR" altLang="en-US" dirty="0" err="1"/>
              <a:t>위성군</a:t>
            </a:r>
            <a:r>
              <a:rPr lang="ko-KR" altLang="en-US" dirty="0"/>
              <a:t> 성능 연구 착수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널리 알려진 </a:t>
            </a:r>
            <a:r>
              <a:rPr lang="ko-KR" altLang="en-US" dirty="0" err="1"/>
              <a:t>위성군</a:t>
            </a:r>
            <a:r>
              <a:rPr lang="ko-KR" altLang="en-US" dirty="0"/>
              <a:t> 설계 방법인 워커</a:t>
            </a:r>
            <a:r>
              <a:rPr lang="en-US" altLang="ko-KR" dirty="0"/>
              <a:t>-</a:t>
            </a:r>
            <a:r>
              <a:rPr lang="ko-KR" altLang="en-US" dirty="0"/>
              <a:t>델타 위성군과 비교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기법은 워커</a:t>
            </a:r>
            <a:r>
              <a:rPr lang="en-US" altLang="ko-KR" dirty="0"/>
              <a:t>-</a:t>
            </a:r>
            <a:r>
              <a:rPr lang="ko-KR" altLang="en-US" dirty="0"/>
              <a:t>델타 위성군의 한 경우에 포함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위성군에 비해 </a:t>
            </a:r>
            <a:r>
              <a:rPr lang="ko-KR" altLang="en-US" dirty="0" err="1"/>
              <a:t>준대칭</a:t>
            </a:r>
            <a:r>
              <a:rPr lang="ko-KR" altLang="en-US" dirty="0"/>
              <a:t> 기법이 갖는 이점이 크게 없음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 err="1"/>
              <a:t>준대칭</a:t>
            </a:r>
            <a:r>
              <a:rPr lang="ko-KR" altLang="en-US" dirty="0"/>
              <a:t> 기법보다 더욱 최적화된 설계 방법이 필요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비대칭성을 이용한 최적화 설계 기법인 이진 선형 계획법이 탄생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워커</a:t>
            </a:r>
            <a:r>
              <a:rPr lang="en-US" altLang="ko-KR" dirty="0"/>
              <a:t>-</a:t>
            </a:r>
            <a:r>
              <a:rPr lang="ko-KR" altLang="en-US" dirty="0"/>
              <a:t>델타 위성군에 비해 궤도 평면 수가 많지만</a:t>
            </a:r>
            <a:r>
              <a:rPr lang="en-US" altLang="ko-KR" dirty="0"/>
              <a:t>, </a:t>
            </a:r>
            <a:r>
              <a:rPr lang="ko-KR" altLang="en-US" dirty="0"/>
              <a:t>위성 수를 줄일 수 있음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고도 및 궤도 경사각 등 다양한 궤도를 동시에 운용하는 이종 위성군에 적용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동시에 두 지역의 관측을 목표로 하는 임무에서</a:t>
            </a:r>
            <a:r>
              <a:rPr lang="en-US" altLang="ko-KR" dirty="0"/>
              <a:t>, </a:t>
            </a:r>
            <a:r>
              <a:rPr lang="ko-KR" altLang="en-US" dirty="0"/>
              <a:t>단일 궤도에 비해 이종 위성군을 운용하는 것의 성능이 뛰어난 것을 검증함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재방문 주기 적용했을 때의 성능은 워커</a:t>
            </a:r>
            <a:r>
              <a:rPr lang="en-US" altLang="ko-KR" dirty="0"/>
              <a:t>-</a:t>
            </a:r>
            <a:r>
              <a:rPr lang="ko-KR" altLang="en-US" dirty="0"/>
              <a:t>델타 위성군과 이진 선형 계획법이 같음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특정 시간에 따라 커버리지 요구 횟수 또는 재방문 주기의 변화가 있는 상황 등에서 이진 선형 계획법이 갖는 이점 확인 가능  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7618971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131492</TotalTime>
  <Words>6913</Words>
  <Application>Microsoft Office PowerPoint</Application>
  <PresentationFormat>화면 슬라이드 쇼(4:3)</PresentationFormat>
  <Paragraphs>2499</Paragraphs>
  <Slides>82</Slides>
  <Notes>80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90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이진 선형 계획법을 이용한 한반도 관측 목표의 이종 위성군 궤도 설계 및 운용 방법 연구</vt:lpstr>
      <vt:lpstr>목차</vt:lpstr>
      <vt:lpstr>연구의 개요</vt:lpstr>
      <vt:lpstr>연구 배경</vt:lpstr>
      <vt:lpstr>이종 위성군의 개념</vt:lpstr>
      <vt:lpstr>이종 위성군의 해외 연구사례(1)</vt:lpstr>
      <vt:lpstr>이종 위성군의 해외 연구사례(2)</vt:lpstr>
      <vt:lpstr>이종 위성군의 국내 연구사례(1)</vt:lpstr>
      <vt:lpstr>이종 위성군의 국내 연구사례(2), (3)</vt:lpstr>
      <vt:lpstr>선행 연구의 한계</vt:lpstr>
      <vt:lpstr>연구의 목적 및 의의</vt:lpstr>
      <vt:lpstr>주요 참고 문헌 정보</vt:lpstr>
      <vt:lpstr>이진 선형 계획법 참고 문헌</vt:lpstr>
      <vt:lpstr>시뮬레이션 환경 설정</vt:lpstr>
      <vt:lpstr>시뮬레이션 환경 설정</vt:lpstr>
      <vt:lpstr>1. 시간 정보 설정</vt:lpstr>
      <vt:lpstr>2. 관심지역 정보 설정</vt:lpstr>
      <vt:lpstr>3. 기준 위성의 궤도 요소 정보 설정</vt:lpstr>
      <vt:lpstr>지상 궤적 반복 궤도(RGT)</vt:lpstr>
      <vt:lpstr>지상 궤적 반복 궤도(RGT)</vt:lpstr>
      <vt:lpstr>3. 기준 위성의 궤도 요소 정보 설정</vt:lpstr>
      <vt:lpstr>APC Decomposition</vt:lpstr>
      <vt:lpstr>APC Decomposition</vt:lpstr>
      <vt:lpstr>1. Access Profile</vt:lpstr>
      <vt:lpstr>2. Constellation Pattern Vector</vt:lpstr>
      <vt:lpstr>3. Coverage Timeline</vt:lpstr>
      <vt:lpstr>APC Decomposition의 간단한 예시</vt:lpstr>
      <vt:lpstr>준대칭 기법(vs 워커-델타 위성군)</vt:lpstr>
      <vt:lpstr>준대칭 기법의 설계 개념</vt:lpstr>
      <vt:lpstr>준대칭 기법 설계 방법</vt:lpstr>
      <vt:lpstr>준대칭 기법 설계 방법</vt:lpstr>
      <vt:lpstr>준대칭 기법 설계 방법</vt:lpstr>
      <vt:lpstr>준대칭 기법 설계 방법</vt:lpstr>
      <vt:lpstr>준대칭 기법 설계결과 검증</vt:lpstr>
      <vt:lpstr>준대칭 기법 설계결과 검증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워커-델타 위성군과의 비교</vt:lpstr>
      <vt:lpstr>이진 선형 계획법</vt:lpstr>
      <vt:lpstr>이진 선형 계획법(BILP) 설계 개념</vt:lpstr>
      <vt:lpstr>이진 선형 계획법 설계 개념</vt:lpstr>
      <vt:lpstr>이진 선형 계획법 설계 개념</vt:lpstr>
      <vt:lpstr>이진 선형 계획법 설계 개념</vt:lpstr>
      <vt:lpstr>이진 선형 계획법 설계 개념</vt:lpstr>
      <vt:lpstr>이진 선형 계획법 설계 개념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계획법의 결과 검증</vt:lpstr>
      <vt:lpstr>이진 선형 계획법을 적용한  이종위성군 설계</vt:lpstr>
      <vt:lpstr>이진 선형 계획법을 적용한 이종 위성군 설계 개념</vt:lpstr>
      <vt:lpstr>PowerPoint 프레젠테이션</vt:lpstr>
      <vt:lpstr>한반도 및 인근지역에 대한 시뮬레이션 세팅</vt:lpstr>
      <vt:lpstr>고도 및 궤도 경사각 선정 기준</vt:lpstr>
      <vt:lpstr>고도 및 궤도 경사각 선정 기준</vt:lpstr>
      <vt:lpstr>고도 및 궤도 경사각 선정 기준</vt:lpstr>
      <vt:lpstr>고도 및 궤도 경사각 선정 기준</vt:lpstr>
      <vt:lpstr>다중 관심지역의 단일 궤도 운용 Orbit 3 → (Seoul, Vladivostok) </vt:lpstr>
      <vt:lpstr>Orbit 3 (Inclination : 62˚) → Seoul, Vladivostok</vt:lpstr>
      <vt:lpstr>Orbit 3 (Inclination : 62˚) → Seoul, Vladivostok</vt:lpstr>
      <vt:lpstr>Orbit 3 (Inclination : 62˚) → Seoul, Vladivostok</vt:lpstr>
      <vt:lpstr>Orbit 3 (Inclination : 62˚) → Seoul, Vladivostok</vt:lpstr>
      <vt:lpstr>Orbit 3 (Inclination : 62˚) → Seoul, Vladivostok</vt:lpstr>
      <vt:lpstr>Orbit 3 (Inclination : 62˚) → Seoul, Vladivostok</vt:lpstr>
      <vt:lpstr>다중 관심지역의 다중 궤도 운용 Orbit 1, 2 → (Seoul, Vladivostok) </vt:lpstr>
      <vt:lpstr>Orbit 1, 2 (경사각 : 59, 65˚) → Seoul, Vladivostok</vt:lpstr>
      <vt:lpstr>재방문 주기 적용</vt:lpstr>
      <vt:lpstr>Orbit 3 (Inclination : 62˚) → Seoul, Vladivostok</vt:lpstr>
      <vt:lpstr>Orbit 3 (Inclination : 62˚) → Seoul, Vladivostok</vt:lpstr>
      <vt:lpstr>Orbit 1, 2 (경사각 : 59, 65˚) → Seoul, Vladivostok</vt:lpstr>
      <vt:lpstr>Orbit 1, 2 (경사각 : 59, 65˚) → Seoul, Vladivostok</vt:lpstr>
      <vt:lpstr>결론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4686</cp:revision>
  <dcterms:created xsi:type="dcterms:W3CDTF">2018-01-29T02:45:56Z</dcterms:created>
  <dcterms:modified xsi:type="dcterms:W3CDTF">2024-06-18T05:05:33Z</dcterms:modified>
</cp:coreProperties>
</file>