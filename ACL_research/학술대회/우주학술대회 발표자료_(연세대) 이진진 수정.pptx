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60" r:id="rId1"/>
  </p:sldMasterIdLst>
  <p:notesMasterIdLst>
    <p:notesMasterId r:id="rId43"/>
  </p:notesMasterIdLst>
  <p:handoutMasterIdLst>
    <p:handoutMasterId r:id="rId44"/>
  </p:handoutMasterIdLst>
  <p:sldIdLst>
    <p:sldId id="2550" r:id="rId2"/>
    <p:sldId id="2565" r:id="rId3"/>
    <p:sldId id="2347" r:id="rId4"/>
    <p:sldId id="2837" r:id="rId5"/>
    <p:sldId id="2838" r:id="rId6"/>
    <p:sldId id="2749" r:id="rId7"/>
    <p:sldId id="2760" r:id="rId8"/>
    <p:sldId id="2874" r:id="rId9"/>
    <p:sldId id="2778" r:id="rId10"/>
    <p:sldId id="2793" r:id="rId11"/>
    <p:sldId id="2794" r:id="rId12"/>
    <p:sldId id="2866" r:id="rId13"/>
    <p:sldId id="2784" r:id="rId14"/>
    <p:sldId id="2785" r:id="rId15"/>
    <p:sldId id="2850" r:id="rId16"/>
    <p:sldId id="2910" r:id="rId17"/>
    <p:sldId id="2879" r:id="rId18"/>
    <p:sldId id="2875" r:id="rId19"/>
    <p:sldId id="2901" r:id="rId20"/>
    <p:sldId id="2900" r:id="rId21"/>
    <p:sldId id="2904" r:id="rId22"/>
    <p:sldId id="2903" r:id="rId23"/>
    <p:sldId id="2905" r:id="rId24"/>
    <p:sldId id="2906" r:id="rId25"/>
    <p:sldId id="2907" r:id="rId26"/>
    <p:sldId id="2908" r:id="rId27"/>
    <p:sldId id="2909" r:id="rId28"/>
    <p:sldId id="2851" r:id="rId29"/>
    <p:sldId id="2856" r:id="rId30"/>
    <p:sldId id="2881" r:id="rId31"/>
    <p:sldId id="2884" r:id="rId32"/>
    <p:sldId id="2911" r:id="rId33"/>
    <p:sldId id="2724" r:id="rId34"/>
    <p:sldId id="2912" r:id="rId35"/>
    <p:sldId id="2888" r:id="rId36"/>
    <p:sldId id="2887" r:id="rId37"/>
    <p:sldId id="2889" r:id="rId38"/>
    <p:sldId id="2890" r:id="rId39"/>
    <p:sldId id="2902" r:id="rId40"/>
    <p:sldId id="2863" r:id="rId41"/>
    <p:sldId id="2510" r:id="rId42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극남" initials="김" lastIdx="0" clrIdx="0">
    <p:extLst>
      <p:ext uri="{19B8F6BF-5375-455C-9EA6-DF929625EA0E}">
        <p15:presenceInfo xmlns:p15="http://schemas.microsoft.com/office/powerpoint/2012/main" userId="김극남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FFFFFF"/>
    <a:srgbClr val="001E46"/>
    <a:srgbClr val="404040"/>
    <a:srgbClr val="6600CC"/>
    <a:srgbClr val="CC99FF"/>
    <a:srgbClr val="000A1E"/>
    <a:srgbClr val="EDB021"/>
    <a:srgbClr val="D9541A"/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024" autoAdjust="0"/>
    <p:restoredTop sz="82161" autoAdjust="0"/>
  </p:normalViewPr>
  <p:slideViewPr>
    <p:cSldViewPr snapToGrid="0" showGuides="1">
      <p:cViewPr varScale="1">
        <p:scale>
          <a:sx n="89" d="100"/>
          <a:sy n="89" d="100"/>
        </p:scale>
        <p:origin x="510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2299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E49D1F-15B2-4B9C-8076-11C3A082C32A}" type="datetimeFigureOut">
              <a:rPr lang="ko-KR" altLang="en-US" smtClean="0"/>
              <a:t>2024-06-26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A8452A-AED7-4144-8B8B-DADFF71C57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899186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DDD8DE-5D7B-4A4B-9949-78C9C314FE9D}" type="datetimeFigureOut">
              <a:rPr lang="ko-KR" altLang="en-US" smtClean="0"/>
              <a:t>2024-06-26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463564-01E7-4F87-AE00-59478FEE8A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001258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안녕하세요 연세대학교 석사연구원 이진진이라고 합니다</a:t>
            </a:r>
            <a:endParaRPr lang="en-US" altLang="ko-KR" dirty="0"/>
          </a:p>
          <a:p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저는 </a:t>
            </a:r>
            <a:r>
              <a:rPr lang="en-US" altLang="ko-KR" dirty="0"/>
              <a:t>BILP </a:t>
            </a:r>
            <a:r>
              <a:rPr lang="ko-KR" altLang="en-US" dirty="0"/>
              <a:t>방법을 이용한 이종 </a:t>
            </a:r>
            <a:r>
              <a:rPr lang="ko-KR" altLang="en-US" dirty="0" err="1"/>
              <a:t>위성군</a:t>
            </a:r>
            <a:r>
              <a:rPr lang="en-US" altLang="ko-KR" dirty="0"/>
              <a:t>, </a:t>
            </a:r>
            <a:r>
              <a:rPr lang="ko-KR" altLang="en-US" dirty="0"/>
              <a:t>즉 여러 궤도를 운용하는 위성군의 궤도 설계에 대한 발표를 맡게 되었습니다</a:t>
            </a:r>
            <a:r>
              <a:rPr lang="en-US" altLang="ko-KR" dirty="0"/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국내에선 </a:t>
            </a:r>
            <a:r>
              <a:rPr lang="en-US" altLang="ko-KR" dirty="0"/>
              <a:t>BILP </a:t>
            </a:r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이진선형계획법이라는 설계 방법이 이용된 사례가 없었기 때문에 다들 생소하게 </a:t>
            </a:r>
            <a:r>
              <a:rPr lang="ko-KR" altLang="en-US" dirty="0" err="1"/>
              <a:t>느껴지실텐데요</a:t>
            </a: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어떤 식으로 위성군이 설계가 되는지 앞으로 말씀드리려고 합니다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2102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해당 연구를 진행한 배경으로는</a:t>
            </a:r>
            <a:r>
              <a:rPr lang="en-US" altLang="ko-KR" dirty="0"/>
              <a:t>, </a:t>
            </a:r>
            <a:r>
              <a:rPr lang="ko-KR" altLang="en-US" dirty="0"/>
              <a:t>위성군이라는 개념은 이미 몇 년 전부터 여러 연구실에서 활발히 연구된 사례가 있습니다</a:t>
            </a:r>
            <a:endParaRPr lang="en-US" altLang="ko-KR" dirty="0"/>
          </a:p>
          <a:p>
            <a:r>
              <a:rPr lang="ko-KR" altLang="en-US" dirty="0"/>
              <a:t>하지만 두 종류의 위성군을 운용한 이종 위성군을 중점적으로 다룬 연구에 대한 내용은 찾아볼 수 없었기 때문에</a:t>
            </a:r>
            <a:endParaRPr lang="en-US" altLang="ko-KR" dirty="0"/>
          </a:p>
          <a:p>
            <a:r>
              <a:rPr lang="ko-KR" altLang="en-US" dirty="0"/>
              <a:t>제가 맡고 있던 과제에 </a:t>
            </a:r>
            <a:r>
              <a:rPr lang="en-US" altLang="ko-KR" dirty="0"/>
              <a:t>BILP </a:t>
            </a:r>
            <a:r>
              <a:rPr lang="ko-KR" altLang="en-US" dirty="0"/>
              <a:t>방법이라는 설계 기법을 접목 시켜 연구를 진행해 보았습니다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00247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참고할 수 있었던 자료들은 광학위성과 </a:t>
            </a:r>
            <a:r>
              <a:rPr lang="en-US" altLang="ko-KR" dirty="0" err="1"/>
              <a:t>sar</a:t>
            </a:r>
            <a:r>
              <a:rPr lang="ko-KR" altLang="en-US" dirty="0"/>
              <a:t>를 동시에 운용한 </a:t>
            </a:r>
            <a:r>
              <a:rPr lang="en-US" altLang="ko-KR" dirty="0" err="1"/>
              <a:t>OptiSAR</a:t>
            </a:r>
            <a:r>
              <a:rPr lang="en-US" altLang="ko-KR" dirty="0"/>
              <a:t> </a:t>
            </a:r>
            <a:r>
              <a:rPr lang="ko-KR" altLang="en-US" dirty="0"/>
              <a:t>프로젝트</a:t>
            </a:r>
            <a:r>
              <a:rPr lang="en-US" altLang="ko-KR" dirty="0"/>
              <a:t>, </a:t>
            </a:r>
            <a:r>
              <a:rPr lang="ko-KR" altLang="en-US" dirty="0"/>
              <a:t>그리고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06415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자연재해 등에 신속 대응하기 위한 연구였는데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두 연구에서 모두 두 종류 이상의 궤도를 사용한 것을 확인할 수 있었습니다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하지만 관심지역을 국외의 특정 지역으로 선정하였다는 점에서 국내 인공위성 연구에 적용하기엔 다소 한계가 있었습니다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21980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다음으로는 대표적으로 참고한 국내 참고문헌 두 편이 있었는데요</a:t>
            </a:r>
            <a:endParaRPr lang="en-US" altLang="ko-KR" dirty="0"/>
          </a:p>
          <a:p>
            <a:r>
              <a:rPr lang="ko-KR" altLang="en-US" dirty="0"/>
              <a:t>주로 </a:t>
            </a:r>
            <a:r>
              <a:rPr lang="ko-KR" altLang="en-US" dirty="0" err="1"/>
              <a:t>워커델타</a:t>
            </a:r>
            <a:r>
              <a:rPr lang="ko-KR" altLang="en-US" dirty="0"/>
              <a:t> 위성군으로 설계했다는 점에서 하나의 관심 지역에만 좋은 성능을 보일 것이라고 판단했습니다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31044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따라서 제가 맡은 연구에서는 하나가 아닌 두 지역 이상의 관심지역을 모두 관측하기 위한 방법을 다루었으며</a:t>
            </a:r>
            <a:endParaRPr lang="en-US" altLang="ko-KR" dirty="0"/>
          </a:p>
          <a:p>
            <a:r>
              <a:rPr lang="ko-KR" altLang="en-US" dirty="0"/>
              <a:t>이 과정에서 앞선 연구에서 사용된 워커</a:t>
            </a:r>
            <a:r>
              <a:rPr lang="en-US" altLang="ko-KR" dirty="0"/>
              <a:t>-</a:t>
            </a:r>
            <a:r>
              <a:rPr lang="ko-KR" altLang="en-US" dirty="0"/>
              <a:t>델타 위성군이 지니는 한계를 말씀드리려고 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6797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BILP </a:t>
            </a:r>
            <a:r>
              <a:rPr lang="ko-KR" altLang="en-US" dirty="0"/>
              <a:t>설계 과정에서는 </a:t>
            </a:r>
            <a:r>
              <a:rPr lang="en-US" altLang="ko-KR" dirty="0"/>
              <a:t>APC decomposition</a:t>
            </a:r>
            <a:r>
              <a:rPr lang="ko-KR" altLang="en-US" dirty="0"/>
              <a:t>이라는 것을 거치게 되는데 </a:t>
            </a: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맨 위의 그림에서 보이는 것 </a:t>
            </a:r>
            <a:r>
              <a:rPr lang="ko-KR" altLang="en-US" dirty="0" err="1"/>
              <a:t>처럼</a:t>
            </a:r>
            <a:r>
              <a:rPr lang="ko-KR" altLang="en-US" dirty="0"/>
              <a:t> </a:t>
            </a:r>
            <a:r>
              <a:rPr lang="en-US" altLang="ko-KR" dirty="0"/>
              <a:t>Access Profile, Pattern vector, coverage timeline</a:t>
            </a:r>
            <a:r>
              <a:rPr lang="ko-KR" altLang="en-US" dirty="0"/>
              <a:t>에서 한 </a:t>
            </a:r>
            <a:r>
              <a:rPr lang="ko-KR" altLang="en-US" dirty="0" err="1"/>
              <a:t>글자씩</a:t>
            </a:r>
            <a:r>
              <a:rPr lang="ko-KR" altLang="en-US" dirty="0"/>
              <a:t> 가져온 것입니다</a:t>
            </a:r>
            <a:r>
              <a:rPr lang="en-US" altLang="ko-KR" dirty="0"/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관심지역에 최소 </a:t>
            </a:r>
            <a:r>
              <a:rPr lang="ko-KR" altLang="en-US" dirty="0" err="1"/>
              <a:t>고도각</a:t>
            </a:r>
            <a:r>
              <a:rPr lang="ko-KR" altLang="en-US" dirty="0"/>
              <a:t> 이상으로 접근하는 위성 한 대의 정보 즉</a:t>
            </a:r>
            <a:r>
              <a:rPr lang="en-US" altLang="ko-KR" dirty="0"/>
              <a:t>, </a:t>
            </a:r>
            <a:r>
              <a:rPr lang="ko-KR" altLang="en-US" dirty="0"/>
              <a:t>하늘색으로 표시된 구간을 가지고</a:t>
            </a: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빨간색으로 표시된 것처럼 기준 위성 한대로부터 상대거리에 대한 정보가 나오면 다른 위성들을 배치하게 되고</a:t>
            </a: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최종적으로 전체 위성에 대한 커버리지가 연두색 구간처럼 배치됩니다</a:t>
            </a:r>
            <a:r>
              <a:rPr lang="en-US" altLang="ko-KR" dirty="0"/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여기에선 예시로 두 대의 위성을 운용하였기 때문에 하나의 관심지역에 대해 </a:t>
            </a:r>
            <a:r>
              <a:rPr lang="en-US" altLang="ko-KR" dirty="0"/>
              <a:t>6</a:t>
            </a:r>
            <a:r>
              <a:rPr lang="ko-KR" altLang="en-US" dirty="0"/>
              <a:t>개의 구간이 출력되는 것입니다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요약하면 하나의 위성의 정보를 가지고 여러 대를 수학적으로 배치했을 때 관심지역의 최종 커버리지 결과가 나오는 것이</a:t>
            </a: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BILP </a:t>
            </a:r>
            <a:r>
              <a:rPr lang="ko-KR" altLang="en-US" dirty="0"/>
              <a:t>방법이라고 할 수 있겠습니다</a:t>
            </a:r>
            <a:r>
              <a:rPr lang="en-US" altLang="ko-KR" dirty="0"/>
              <a:t>.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05223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85367E-C997-3CF1-044B-D738B639F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4461D40-7174-EBA1-4463-E20A2E4E02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DA965BC-935B-574D-5E73-12B5DB495F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다음은 </a:t>
            </a:r>
            <a:r>
              <a:rPr lang="en-US" altLang="ko-KR" dirty="0"/>
              <a:t>BILP </a:t>
            </a:r>
            <a:r>
              <a:rPr lang="ko-KR" altLang="en-US" dirty="0"/>
              <a:t>방법의 순서도를 간단하게 나타낸 그림입니다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사용자가 선정한 관심지역의 최적의 동선에 위성을 배치하는 것이 목표이고</a:t>
            </a:r>
            <a:endParaRPr lang="en-US" altLang="ko-KR" dirty="0"/>
          </a:p>
          <a:p>
            <a:r>
              <a:rPr lang="ko-KR" altLang="en-US" dirty="0"/>
              <a:t>모든 궤도에 균등하게 배치하는 </a:t>
            </a:r>
            <a:r>
              <a:rPr lang="ko-KR" altLang="en-US" dirty="0" err="1"/>
              <a:t>워커델타</a:t>
            </a:r>
            <a:r>
              <a:rPr lang="ko-KR" altLang="en-US" dirty="0"/>
              <a:t> 위성군에 비해 불필요한 위성 수를 줄일 수 있다는 장점이 있습니다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5152743-D238-A0A0-AD63-7A5BC2B4A7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78168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85367E-C997-3CF1-044B-D738B639F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4461D40-7174-EBA1-4463-E20A2E4E02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DA965BC-935B-574D-5E73-12B5DB495F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설계 방법을 간단히 말씀드리면 모든 위성을 모든 시간에 대해</a:t>
            </a:r>
            <a:r>
              <a:rPr lang="en-US" altLang="ko-KR" dirty="0"/>
              <a:t>,</a:t>
            </a:r>
            <a:r>
              <a:rPr lang="ko-KR" altLang="en-US" dirty="0"/>
              <a:t> 연결 되는지 여부를 </a:t>
            </a:r>
            <a:r>
              <a:rPr lang="en-US" altLang="ko-KR" dirty="0"/>
              <a:t>1</a:t>
            </a:r>
            <a:r>
              <a:rPr lang="ko-KR" altLang="en-US" dirty="0"/>
              <a:t>과 </a:t>
            </a:r>
            <a:r>
              <a:rPr lang="en-US" altLang="ko-KR" dirty="0"/>
              <a:t>0</a:t>
            </a:r>
            <a:r>
              <a:rPr lang="ko-KR" altLang="en-US" dirty="0"/>
              <a:t>의 이진수로 찾고</a:t>
            </a:r>
            <a:endParaRPr lang="en-US" altLang="ko-KR" dirty="0"/>
          </a:p>
          <a:p>
            <a:r>
              <a:rPr lang="ko-KR" altLang="en-US" dirty="0"/>
              <a:t>모든 경우의 수에 따라 최적의 위성 수를 결정하는 것인데</a:t>
            </a:r>
          </a:p>
          <a:p>
            <a:r>
              <a:rPr lang="ko-KR" altLang="en-US" dirty="0"/>
              <a:t>전체 관측 시간</a:t>
            </a:r>
            <a:r>
              <a:rPr lang="en-US" altLang="ko-KR" dirty="0"/>
              <a:t>, </a:t>
            </a:r>
            <a:r>
              <a:rPr lang="ko-KR" altLang="en-US" dirty="0"/>
              <a:t>그리고 위성 수가 늘어날수록 찾아야 하는 경우가 기하급수적으로 늘어나고 </a:t>
            </a:r>
            <a:endParaRPr lang="en-US" altLang="ko-KR" dirty="0"/>
          </a:p>
          <a:p>
            <a:r>
              <a:rPr lang="ko-KR" altLang="en-US" dirty="0"/>
              <a:t>관측시간 주기를 세밀하게 할수록 아주 많은 경우의 수를 요구합니다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따라서 저는 전부 확인하는 과정이 비효율적이라고 생각해서 </a:t>
            </a: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선택 가능한 해만 찾아가는 프로그램을 독자적으로 구현해서 해당하는 경우의 수를 대폭 줄였습니다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5152743-D238-A0A0-AD63-7A5BC2B4A7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74772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14138-1B8C-F1DC-ECB1-8007E9585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1255902-A84E-4676-3391-B6F5ECE4B1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C56E6C9-5480-48A6-5975-739EED7A92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앞의 설계 방법을 적용하여 지금부터는 두 관심지역을 모두 관측하는 데 초점을 두는 </a:t>
            </a:r>
            <a:r>
              <a:rPr lang="en-US" altLang="ko-KR" dirty="0"/>
              <a:t>BILP </a:t>
            </a:r>
            <a:r>
              <a:rPr lang="ko-KR" altLang="en-US" dirty="0"/>
              <a:t>방법에 대해 말씀드리겠습니다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한 예시로</a:t>
            </a:r>
            <a:r>
              <a:rPr lang="en-US" altLang="ko-KR" dirty="0"/>
              <a:t>, </a:t>
            </a:r>
            <a:r>
              <a:rPr lang="ko-KR" altLang="en-US" dirty="0"/>
              <a:t>참고문헌에서 제시한 관심지역과 궤도 정보를 입력하여 직접 구한 결과는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5343A4-1953-9238-5182-F0F4A5D86A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19447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14138-1B8C-F1DC-ECB1-8007E9585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1255902-A84E-4676-3391-B6F5ECE4B1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C56E6C9-5480-48A6-5975-739EED7A92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다음과 같은데요</a:t>
            </a:r>
            <a:r>
              <a:rPr lang="en-US" altLang="ko-KR" dirty="0"/>
              <a:t>, </a:t>
            </a:r>
            <a:r>
              <a:rPr lang="ko-KR" altLang="en-US" dirty="0"/>
              <a:t>하나의 궤도만을 사용했을 때 필요한 위성 수는 표와 같고</a:t>
            </a:r>
            <a:endParaRPr lang="en-US" altLang="ko-KR" dirty="0"/>
          </a:p>
          <a:p>
            <a:r>
              <a:rPr lang="ko-KR" altLang="en-US" dirty="0"/>
              <a:t>이 말은 두 관심지역을 모두 연속관측 하기 위해 필요한 위성수는 두 궤도에서 모두 최소 </a:t>
            </a:r>
            <a:r>
              <a:rPr lang="en-US" altLang="ko-KR" dirty="0"/>
              <a:t>11</a:t>
            </a:r>
            <a:r>
              <a:rPr lang="ko-KR" altLang="en-US" dirty="0"/>
              <a:t>대라는 뜻입니다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그렇다면 첫번째 궤도로 첫번째 지역을</a:t>
            </a:r>
            <a:r>
              <a:rPr lang="en-US" altLang="ko-KR" dirty="0"/>
              <a:t>, </a:t>
            </a:r>
            <a:r>
              <a:rPr lang="ko-KR" altLang="en-US" dirty="0"/>
              <a:t>그리고 두번째 궤도로 두번째 위성을 관측하려면 </a:t>
            </a:r>
            <a:r>
              <a:rPr lang="en-US" altLang="ko-KR" dirty="0"/>
              <a:t>9</a:t>
            </a:r>
            <a:r>
              <a:rPr lang="ko-KR" altLang="en-US" dirty="0"/>
              <a:t>대와 </a:t>
            </a:r>
            <a:r>
              <a:rPr lang="en-US" altLang="ko-KR" dirty="0"/>
              <a:t>8</a:t>
            </a:r>
            <a:r>
              <a:rPr lang="ko-KR" altLang="en-US" dirty="0"/>
              <a:t>대가 필요하니까</a:t>
            </a:r>
            <a:r>
              <a:rPr lang="en-US" altLang="ko-KR" dirty="0"/>
              <a:t> </a:t>
            </a:r>
            <a:r>
              <a:rPr lang="ko-KR" altLang="en-US" dirty="0"/>
              <a:t>이 둘을 합쳐 </a:t>
            </a:r>
            <a:r>
              <a:rPr lang="en-US" altLang="ko-KR" dirty="0"/>
              <a:t>17</a:t>
            </a:r>
            <a:r>
              <a:rPr lang="ko-KR" altLang="en-US" dirty="0"/>
              <a:t>대를 운용해야 </a:t>
            </a:r>
            <a:endParaRPr lang="en-US" altLang="ko-KR" dirty="0"/>
          </a:p>
          <a:p>
            <a:r>
              <a:rPr lang="ko-KR" altLang="en-US" dirty="0"/>
              <a:t>하냐 하면</a:t>
            </a:r>
            <a:r>
              <a:rPr lang="en-US" altLang="ko-KR" dirty="0"/>
              <a:t>, </a:t>
            </a:r>
            <a:r>
              <a:rPr lang="ko-KR" altLang="en-US" dirty="0"/>
              <a:t>그렇지 않습니다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이종 위성군을 이용하여 최소 </a:t>
            </a:r>
            <a:r>
              <a:rPr lang="en-US" altLang="ko-KR" dirty="0"/>
              <a:t>10</a:t>
            </a:r>
            <a:r>
              <a:rPr lang="ko-KR" altLang="en-US" dirty="0"/>
              <a:t>대까지 줄일 수 </a:t>
            </a:r>
            <a:r>
              <a:rPr lang="ko-KR" altLang="en-US" dirty="0" err="1"/>
              <a:t>있었다는게</a:t>
            </a:r>
            <a:r>
              <a:rPr lang="ko-KR" altLang="en-US" dirty="0"/>
              <a:t> 위의 그래프 결과입니다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심지어 하나의 궤도로도 위성 수가 많이 필요한 지역은 </a:t>
            </a:r>
            <a:r>
              <a:rPr lang="en-US" altLang="ko-KR" dirty="0"/>
              <a:t>11</a:t>
            </a:r>
            <a:r>
              <a:rPr lang="ko-KR" altLang="en-US" dirty="0"/>
              <a:t>개씩 나왔는데</a:t>
            </a:r>
            <a:r>
              <a:rPr lang="en-US" altLang="ko-KR" dirty="0"/>
              <a:t>, </a:t>
            </a:r>
            <a:r>
              <a:rPr lang="ko-KR" altLang="en-US" dirty="0"/>
              <a:t>두 지역을 모두 관측하면서도 </a:t>
            </a:r>
            <a:r>
              <a:rPr lang="en-US" altLang="ko-KR" dirty="0"/>
              <a:t>10</a:t>
            </a:r>
            <a:r>
              <a:rPr lang="ko-KR" altLang="en-US" dirty="0"/>
              <a:t>대만으로 운용이 가능하다는 것입니다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5343A4-1953-9238-5182-F0F4A5D86A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58401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여기까진 참고문헌의 내용을 바탕으로 설계 방법을 공부해본 것이고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그럼 이제</a:t>
            </a:r>
            <a:r>
              <a:rPr lang="en-US" altLang="ko-KR" dirty="0"/>
              <a:t>, </a:t>
            </a:r>
            <a:r>
              <a:rPr lang="ko-KR" altLang="en-US" dirty="0"/>
              <a:t>국내 인공위성 운용에 맞게 한반도의 서울 그리고 제 </a:t>
            </a:r>
            <a:r>
              <a:rPr lang="en-US" altLang="ko-KR" dirty="0"/>
              <a:t>2</a:t>
            </a:r>
            <a:r>
              <a:rPr lang="ko-KR" altLang="en-US" dirty="0"/>
              <a:t>의 관심지역을 선정합니다</a:t>
            </a:r>
            <a:endParaRPr lang="en-US" altLang="ko-KR" dirty="0"/>
          </a:p>
          <a:p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두번째 관심지역으로는 선행 연구에서 지정한 한반도 인근 주요 관심 지역 중 </a:t>
            </a: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러시아 블라디보스토크를 선정해보았는데요</a:t>
            </a: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서울과 위도 차이가 가장 커서 높은 효율을 낼 수 있을 것이라고 판단했기 때문입니다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5705133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따라서 초소형 위성군이 </a:t>
            </a:r>
            <a:r>
              <a:rPr lang="en-US" altLang="ko-KR" dirty="0"/>
              <a:t>1000km</a:t>
            </a:r>
            <a:r>
              <a:rPr lang="ko-KR" altLang="en-US" dirty="0"/>
              <a:t>이내에서 운용된다는 선행 연구를 바탕으로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하루에 </a:t>
            </a:r>
            <a:r>
              <a:rPr lang="en-US" altLang="ko-KR" dirty="0"/>
              <a:t>14</a:t>
            </a:r>
            <a:r>
              <a:rPr lang="ko-KR" altLang="en-US" dirty="0"/>
              <a:t>번 도는 </a:t>
            </a:r>
            <a:r>
              <a:rPr lang="ko-KR" altLang="en-US" dirty="0" err="1"/>
              <a:t>지상궤적</a:t>
            </a:r>
            <a:r>
              <a:rPr lang="ko-KR" altLang="en-US" dirty="0"/>
              <a:t> 반복궤도의 </a:t>
            </a:r>
            <a:r>
              <a:rPr lang="en-US" altLang="ko-KR" dirty="0"/>
              <a:t>892km</a:t>
            </a:r>
            <a:r>
              <a:rPr lang="ko-KR" altLang="en-US" dirty="0"/>
              <a:t>를 고도로</a:t>
            </a:r>
            <a:r>
              <a:rPr lang="en-US" altLang="ko-KR" dirty="0"/>
              <a:t>, </a:t>
            </a:r>
            <a:r>
              <a:rPr lang="ko-KR" altLang="en-US" dirty="0"/>
              <a:t>그리고 아까 보여드린 한반도 인근 주요 관심지역 중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서울과 위도 차이가 가장 큰 블라디보스토크를 제 </a:t>
            </a:r>
            <a:r>
              <a:rPr lang="en-US" altLang="ko-KR" dirty="0"/>
              <a:t>2</a:t>
            </a:r>
            <a:r>
              <a:rPr lang="ko-KR" altLang="en-US" dirty="0"/>
              <a:t>의 관심지역으로 설정 하였습니다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353818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다음은 궤도 경사각 선정하는 방법을 </a:t>
            </a:r>
            <a:r>
              <a:rPr lang="ko-KR" altLang="en-US" dirty="0" err="1"/>
              <a:t>말씀드릴텐데</a:t>
            </a:r>
            <a:r>
              <a:rPr lang="en-US" altLang="ko-KR" dirty="0"/>
              <a:t>,</a:t>
            </a:r>
          </a:p>
          <a:p>
            <a:endParaRPr lang="en-US" altLang="ko-KR" dirty="0"/>
          </a:p>
          <a:p>
            <a:r>
              <a:rPr lang="ko-KR" altLang="en-US" dirty="0"/>
              <a:t>각 궤도의 위성이 지나는 두 지역의 위성 접근 시간을 표현한 자료입니다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가로축이 위도</a:t>
            </a:r>
            <a:r>
              <a:rPr lang="en-US" altLang="ko-KR" dirty="0"/>
              <a:t>, </a:t>
            </a:r>
            <a:r>
              <a:rPr lang="ko-KR" altLang="en-US" dirty="0"/>
              <a:t>세로축이 위성 접근 시간인데요</a:t>
            </a:r>
            <a:endParaRPr lang="en-US" altLang="ko-KR" dirty="0"/>
          </a:p>
          <a:p>
            <a:r>
              <a:rPr lang="ko-KR" altLang="en-US" dirty="0"/>
              <a:t>다음과 같이 각 지역에서 가장 오랜 시간을 지나는 동시에 다른 지역과의 격차가 클수록 이종 위성군의 효율이 좋습니다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따라서 두 궤도 </a:t>
            </a:r>
            <a:r>
              <a:rPr lang="en-US" altLang="ko-KR" dirty="0"/>
              <a:t>59</a:t>
            </a:r>
            <a:r>
              <a:rPr lang="ko-KR" altLang="en-US" dirty="0"/>
              <a:t>도와 </a:t>
            </a:r>
            <a:r>
              <a:rPr lang="en-US" altLang="ko-KR" dirty="0"/>
              <a:t>65</a:t>
            </a:r>
            <a:r>
              <a:rPr lang="ko-KR" altLang="en-US" dirty="0"/>
              <a:t>도를 궤도 경사각으로 선정했습니다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658018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0B0C8-0B3A-D73B-1777-FAF6FB2B2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>
            <a:extLst>
              <a:ext uri="{FF2B5EF4-FFF2-40B4-BE49-F238E27FC236}">
                <a16:creationId xmlns:a16="http://schemas.microsoft.com/office/drawing/2014/main" id="{BAD05CD7-0003-C1FB-2FBD-5085964DDB42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>
            <a:extLst>
              <a:ext uri="{FF2B5EF4-FFF2-40B4-BE49-F238E27FC236}">
                <a16:creationId xmlns:a16="http://schemas.microsoft.com/office/drawing/2014/main" id="{1BE25AAC-7418-0B90-FEFA-939FF2147C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지금부터는 연속관측</a:t>
            </a:r>
            <a:r>
              <a:rPr lang="en-US" altLang="ko-KR" dirty="0"/>
              <a:t>, 100% </a:t>
            </a:r>
            <a:r>
              <a:rPr lang="ko-KR" altLang="en-US" dirty="0" err="1"/>
              <a:t>커버리지를</a:t>
            </a:r>
            <a:r>
              <a:rPr lang="ko-KR" altLang="en-US" dirty="0"/>
              <a:t> 위해</a:t>
            </a:r>
            <a:r>
              <a:rPr lang="en-US" altLang="ko-KR" dirty="0"/>
              <a:t>,</a:t>
            </a:r>
            <a:r>
              <a:rPr lang="ko-KR" altLang="en-US" dirty="0"/>
              <a:t> 단일 궤도로 했을 때와 이중 궤도로 했을 때 성능 비교를 보여드리겠습니다</a:t>
            </a:r>
            <a:endParaRPr lang="en-US" altLang="ko-KR" dirty="0"/>
          </a:p>
          <a:p>
            <a:pPr>
              <a:defRPr/>
            </a:pPr>
            <a:r>
              <a:rPr lang="ko-KR" altLang="en-US" dirty="0"/>
              <a:t>방금 말씀드린 두 궤도를 </a:t>
            </a:r>
            <a:r>
              <a:rPr lang="en-US" altLang="ko-KR" dirty="0"/>
              <a:t>BILP</a:t>
            </a:r>
            <a:r>
              <a:rPr lang="ko-KR" altLang="en-US" dirty="0"/>
              <a:t>방법으로 이용했을 때의 결과입니다 </a:t>
            </a:r>
          </a:p>
        </p:txBody>
      </p:sp>
      <p:sp>
        <p:nvSpPr>
          <p:cNvPr id="4" name="슬라이드 번호 개체 틀 6">
            <a:extLst>
              <a:ext uri="{FF2B5EF4-FFF2-40B4-BE49-F238E27FC236}">
                <a16:creationId xmlns:a16="http://schemas.microsoft.com/office/drawing/2014/main" id="{2A924142-F058-90AA-5175-31A5D65182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8501942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이때 총 필요한 최소 위성 수는 </a:t>
            </a:r>
            <a:r>
              <a:rPr lang="en-US" altLang="ko-KR" dirty="0"/>
              <a:t>18</a:t>
            </a:r>
            <a:r>
              <a:rPr lang="ko-KR" altLang="en-US" dirty="0"/>
              <a:t>대였고 두 궤도의 위성수를 어떻게 조합하든 합쳐서 </a:t>
            </a:r>
            <a:r>
              <a:rPr lang="en-US" altLang="ko-KR" dirty="0"/>
              <a:t>18</a:t>
            </a:r>
            <a:r>
              <a:rPr lang="ko-KR" altLang="en-US" dirty="0"/>
              <a:t>대일 경우에 연속관측이 가능했습니다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두 궤도의 비율 </a:t>
            </a:r>
            <a:r>
              <a:rPr lang="en-US" altLang="ko-KR" dirty="0"/>
              <a:t>10:8</a:t>
            </a:r>
            <a:r>
              <a:rPr lang="ko-KR" altLang="en-US" dirty="0"/>
              <a:t>로 했을 때를 예시로 가져왔습니다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922920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이때 설계된 궤도 요소도 첨부를 해보았습니다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276002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0B0C8-0B3A-D73B-1777-FAF6FB2B2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>
            <a:extLst>
              <a:ext uri="{FF2B5EF4-FFF2-40B4-BE49-F238E27FC236}">
                <a16:creationId xmlns:a16="http://schemas.microsoft.com/office/drawing/2014/main" id="{BAD05CD7-0003-C1FB-2FBD-5085964DDB42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>
            <a:extLst>
              <a:ext uri="{FF2B5EF4-FFF2-40B4-BE49-F238E27FC236}">
                <a16:creationId xmlns:a16="http://schemas.microsoft.com/office/drawing/2014/main" id="{1BE25AAC-7418-0B90-FEFA-939FF2147C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/>
              <a:t>BILP</a:t>
            </a:r>
            <a:r>
              <a:rPr lang="ko-KR" altLang="en-US" dirty="0"/>
              <a:t>방법과의 비교를 위해 이번에는 널리 쓰이는 </a:t>
            </a:r>
            <a:r>
              <a:rPr lang="ko-KR" altLang="en-US" dirty="0" err="1"/>
              <a:t>워커델타</a:t>
            </a:r>
            <a:r>
              <a:rPr lang="ko-KR" altLang="en-US" dirty="0"/>
              <a:t> 위성군의 시뮬레이션 결과를 확인해보았는데</a:t>
            </a: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r>
              <a:rPr lang="ko-KR" altLang="en-US" dirty="0"/>
              <a:t>두 지역의 위도를 고려하여 가장 많은 시간 동안 지나도록 하는 </a:t>
            </a:r>
            <a:endParaRPr lang="en-US" altLang="ko-KR" dirty="0"/>
          </a:p>
          <a:p>
            <a:pPr>
              <a:defRPr/>
            </a:pPr>
            <a:r>
              <a:rPr lang="en-US" altLang="ko-KR" dirty="0"/>
              <a:t>40</a:t>
            </a:r>
            <a:r>
              <a:rPr lang="ko-KR" altLang="en-US" dirty="0"/>
              <a:t>도에서 </a:t>
            </a:r>
            <a:r>
              <a:rPr lang="en-US" altLang="ko-KR" dirty="0"/>
              <a:t>50</a:t>
            </a:r>
            <a:r>
              <a:rPr lang="ko-KR" altLang="en-US" dirty="0"/>
              <a:t>도까지의 궤도 경사각을 선정하여 세 경우에 대해 각각 분석해보았습니다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6">
            <a:extLst>
              <a:ext uri="{FF2B5EF4-FFF2-40B4-BE49-F238E27FC236}">
                <a16:creationId xmlns:a16="http://schemas.microsoft.com/office/drawing/2014/main" id="{2A924142-F058-90AA-5175-31A5D65182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4423548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분석 결과 </a:t>
            </a:r>
            <a:r>
              <a:rPr lang="ko-KR" altLang="en-US" dirty="0" err="1"/>
              <a:t>워커델타도</a:t>
            </a:r>
            <a:r>
              <a:rPr lang="ko-KR" altLang="en-US" dirty="0"/>
              <a:t> 마찬가지로 </a:t>
            </a:r>
            <a:r>
              <a:rPr lang="en-US" altLang="ko-KR" dirty="0"/>
              <a:t>18</a:t>
            </a:r>
            <a:r>
              <a:rPr lang="ko-KR" altLang="en-US" dirty="0"/>
              <a:t>대를 운용해야 비로소 연속 커버리지 달성이 가능했습니다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34540862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해당 케이스는 </a:t>
            </a:r>
            <a:r>
              <a:rPr lang="en-US" altLang="ko-KR" dirty="0"/>
              <a:t>7</a:t>
            </a:r>
            <a:r>
              <a:rPr lang="ko-KR" altLang="en-US" dirty="0"/>
              <a:t>가지 경우가 나왔고 각각의 궤도요소를 뒤에 정리하였습니다</a:t>
            </a:r>
            <a:r>
              <a:rPr lang="en-US" altLang="ko-KR" dirty="0"/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(</a:t>
            </a:r>
            <a:r>
              <a:rPr lang="ko-KR" altLang="en-US" dirty="0"/>
              <a:t>다 보여주고</a:t>
            </a:r>
            <a:r>
              <a:rPr lang="en-US" altLang="ko-KR" dirty="0"/>
              <a:t>) </a:t>
            </a:r>
            <a:r>
              <a:rPr lang="ko-KR" altLang="en-US" dirty="0"/>
              <a:t>하지만 최소위성 수의 결과가 같다면 </a:t>
            </a:r>
            <a:r>
              <a:rPr lang="en-US" altLang="ko-KR" dirty="0"/>
              <a:t>BILP</a:t>
            </a:r>
            <a:r>
              <a:rPr lang="ko-KR" altLang="en-US" dirty="0"/>
              <a:t>방법을 굳이 쓸 이유가 없기 때문에</a:t>
            </a:r>
          </a:p>
        </p:txBody>
      </p:sp>
    </p:spTree>
    <p:extLst>
      <p:ext uri="{BB962C8B-B14F-4D97-AF65-F5344CB8AC3E}">
        <p14:creationId xmlns:p14="http://schemas.microsoft.com/office/powerpoint/2010/main" val="237732602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6549282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112897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667189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2530775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5992503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8700869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9328249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0B0C8-0B3A-D73B-1777-FAF6FB2B2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>
            <a:extLst>
              <a:ext uri="{FF2B5EF4-FFF2-40B4-BE49-F238E27FC236}">
                <a16:creationId xmlns:a16="http://schemas.microsoft.com/office/drawing/2014/main" id="{BAD05CD7-0003-C1FB-2FBD-5085964DDB42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>
            <a:extLst>
              <a:ext uri="{FF2B5EF4-FFF2-40B4-BE49-F238E27FC236}">
                <a16:creationId xmlns:a16="http://schemas.microsoft.com/office/drawing/2014/main" id="{1BE25AAC-7418-0B90-FEFA-939FF2147C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BILP </a:t>
            </a:r>
            <a:r>
              <a:rPr lang="ko-KR" altLang="en-US" dirty="0"/>
              <a:t>방법이 </a:t>
            </a:r>
            <a:r>
              <a:rPr lang="ko-KR" altLang="en-US" dirty="0" err="1"/>
              <a:t>워커델타에</a:t>
            </a:r>
            <a:r>
              <a:rPr lang="ko-KR" altLang="en-US" dirty="0"/>
              <a:t> 비해 어떤 경우에 높은 성능을 내는지 파악해보았습니다</a:t>
            </a:r>
            <a:r>
              <a:rPr lang="en-US" altLang="ko-KR" dirty="0"/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우선</a:t>
            </a:r>
            <a:r>
              <a:rPr lang="en-US" altLang="ko-KR" dirty="0"/>
              <a:t>, </a:t>
            </a:r>
            <a:r>
              <a:rPr lang="ko-KR" altLang="en-US" dirty="0"/>
              <a:t>예산과 기술적인 비용을 줄이기 위해 연속 관측이 아닌</a:t>
            </a: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국내 위성 연구에서 흔히 사용하는 재방문 주기 성능지수를 적용한 결과를 보여드리려 합니다</a:t>
            </a:r>
          </a:p>
        </p:txBody>
      </p:sp>
      <p:sp>
        <p:nvSpPr>
          <p:cNvPr id="4" name="슬라이드 번호 개체 틀 6">
            <a:extLst>
              <a:ext uri="{FF2B5EF4-FFF2-40B4-BE49-F238E27FC236}">
                <a16:creationId xmlns:a16="http://schemas.microsoft.com/office/drawing/2014/main" id="{2A924142-F058-90AA-5175-31A5D65182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27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4872558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하지만 이번에도 워커 델타가 </a:t>
            </a:r>
            <a:r>
              <a:rPr lang="en-US" altLang="ko-KR" dirty="0"/>
              <a:t>6</a:t>
            </a:r>
            <a:r>
              <a:rPr lang="ko-KR" altLang="en-US" dirty="0"/>
              <a:t>대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877746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635608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이진 선형 계획법도 </a:t>
            </a:r>
            <a:r>
              <a:rPr lang="en-US" altLang="ko-KR" dirty="0"/>
              <a:t>3:3</a:t>
            </a:r>
            <a:r>
              <a:rPr lang="ko-KR" altLang="en-US" dirty="0"/>
              <a:t>의 비율로 배치한 </a:t>
            </a:r>
            <a:r>
              <a:rPr lang="en-US" altLang="ko-KR" dirty="0"/>
              <a:t>6</a:t>
            </a:r>
            <a:r>
              <a:rPr lang="ko-KR" altLang="en-US" dirty="0"/>
              <a:t>대라는 같은 성능이 나왔습니다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435999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이진 선형 계획법도 </a:t>
            </a:r>
            <a:r>
              <a:rPr lang="en-US" altLang="ko-KR" dirty="0"/>
              <a:t>3:3</a:t>
            </a:r>
            <a:r>
              <a:rPr lang="ko-KR" altLang="en-US" dirty="0"/>
              <a:t>의 비율로 배치한 </a:t>
            </a:r>
            <a:r>
              <a:rPr lang="en-US" altLang="ko-KR" dirty="0"/>
              <a:t>6</a:t>
            </a:r>
            <a:r>
              <a:rPr lang="ko-KR" altLang="en-US" dirty="0"/>
              <a:t>대라는 같은 성능이 나왔습니다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35321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C0DB3-43CF-31B6-CC92-F4A9A9B36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59AE82D-90D9-5A26-5D69-505A8D1E1E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533E491-BA0F-A3E4-1E2D-95F13D164A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필요한 최소 위성수를 정리해본 결과인데요 </a:t>
            </a:r>
            <a:r>
              <a:rPr lang="ko-KR" altLang="en-US" dirty="0" err="1"/>
              <a:t>워커델타와</a:t>
            </a:r>
            <a:r>
              <a:rPr lang="ko-KR" altLang="en-US" dirty="0"/>
              <a:t> 이진선형 계획법 모두 </a:t>
            </a:r>
            <a:r>
              <a:rPr lang="en-US" altLang="ko-KR" dirty="0"/>
              <a:t>6</a:t>
            </a:r>
            <a:r>
              <a:rPr lang="ko-KR" altLang="en-US" dirty="0"/>
              <a:t>대로 동일한 성능을 보였고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해당 이유를 분석해보니</a:t>
            </a:r>
            <a:r>
              <a:rPr lang="en-US" altLang="ko-KR" dirty="0"/>
              <a:t>, </a:t>
            </a:r>
            <a:r>
              <a:rPr lang="ko-KR" altLang="en-US" dirty="0"/>
              <a:t>아무래도 전 지구적으로 균등하게 배치하는 워커 델타 </a:t>
            </a:r>
            <a:r>
              <a:rPr lang="ko-KR" altLang="en-US" dirty="0" err="1"/>
              <a:t>위성군</a:t>
            </a:r>
            <a:r>
              <a:rPr lang="ko-KR" altLang="en-US" dirty="0"/>
              <a:t> 특성상 일정하게 반복되는 </a:t>
            </a:r>
            <a:r>
              <a:rPr lang="ko-KR" altLang="en-US" dirty="0" err="1"/>
              <a:t>커버리지를</a:t>
            </a:r>
            <a:r>
              <a:rPr lang="ko-KR" altLang="en-US" dirty="0"/>
              <a:t> 제공하다 보니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일정하게 반복되는 재방문 주기를 적용하면 해당 값에 부합하는 경우가 있기 마련입니다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여기 있는 준 대칭 기법은 두 설계 기법에 공통으로 포함되는 방법인데</a:t>
            </a:r>
            <a:r>
              <a:rPr lang="en-US" altLang="ko-KR" dirty="0"/>
              <a:t>, </a:t>
            </a:r>
            <a:r>
              <a:rPr lang="ko-KR" altLang="en-US" dirty="0"/>
              <a:t>이번 발표에선 언급을 하지 않았으니 </a:t>
            </a:r>
            <a:endParaRPr lang="en-US" altLang="ko-KR" dirty="0"/>
          </a:p>
          <a:p>
            <a:r>
              <a:rPr lang="ko-KR" altLang="en-US" dirty="0"/>
              <a:t>참고만 해주시면 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C84836-4D7A-954E-873D-C94DD587BE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585426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0B0C8-0B3A-D73B-1777-FAF6FB2B2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>
            <a:extLst>
              <a:ext uri="{FF2B5EF4-FFF2-40B4-BE49-F238E27FC236}">
                <a16:creationId xmlns:a16="http://schemas.microsoft.com/office/drawing/2014/main" id="{BAD05CD7-0003-C1FB-2FBD-5085964DDB42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>
            <a:extLst>
              <a:ext uri="{FF2B5EF4-FFF2-40B4-BE49-F238E27FC236}">
                <a16:creationId xmlns:a16="http://schemas.microsoft.com/office/drawing/2014/main" id="{1BE25AAC-7418-0B90-FEFA-939FF2147C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따라서</a:t>
            </a:r>
            <a:r>
              <a:rPr lang="en-US" altLang="ko-KR" dirty="0"/>
              <a:t>, </a:t>
            </a:r>
            <a:r>
              <a:rPr lang="ko-KR" altLang="en-US" dirty="0"/>
              <a:t>마지막으로 성능 차이 극복 방안에 대해 말씀드리려고 합니다</a:t>
            </a:r>
            <a:r>
              <a:rPr lang="en-US" altLang="ko-KR" dirty="0"/>
              <a:t>.</a:t>
            </a:r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r>
              <a:rPr lang="ko-KR" altLang="en-US" dirty="0"/>
              <a:t>특정 시간에 재방문 주 </a:t>
            </a:r>
            <a:r>
              <a:rPr lang="ko-KR" altLang="en-US" dirty="0" err="1"/>
              <a:t>요구조건을를</a:t>
            </a:r>
            <a:r>
              <a:rPr lang="ko-KR" altLang="en-US" dirty="0"/>
              <a:t> 짧게 설정하고 특정 시간에는 길게 설정하는 임무에 적용해 본 결과를 </a:t>
            </a:r>
            <a:r>
              <a:rPr lang="ko-KR" altLang="en-US" dirty="0" err="1"/>
              <a:t>보여드릴텐데</a:t>
            </a: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r>
              <a:rPr lang="ko-KR" altLang="en-US" dirty="0"/>
              <a:t>예를 들어 낮에만 관측이 가능한 광학 위성 같은 경우</a:t>
            </a:r>
            <a:r>
              <a:rPr lang="en-US" altLang="ko-KR" dirty="0"/>
              <a:t>, </a:t>
            </a:r>
            <a:r>
              <a:rPr lang="ko-KR" altLang="en-US" dirty="0"/>
              <a:t>해가 떠있는 시간에만 재방문 주기의 성능이 의미가 있는 것처럼 </a:t>
            </a: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r>
              <a:rPr lang="ko-KR" altLang="en-US" dirty="0"/>
              <a:t>특정 시간에만 재방문 주기를 짧게 적용했습니다</a:t>
            </a:r>
          </a:p>
        </p:txBody>
      </p:sp>
      <p:sp>
        <p:nvSpPr>
          <p:cNvPr id="4" name="슬라이드 번호 개체 틀 6">
            <a:extLst>
              <a:ext uri="{FF2B5EF4-FFF2-40B4-BE49-F238E27FC236}">
                <a16:creationId xmlns:a16="http://schemas.microsoft.com/office/drawing/2014/main" id="{2A924142-F058-90AA-5175-31A5D65182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33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2996788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C0DB3-43CF-31B6-CC92-F4A9A9B36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59AE82D-90D9-5A26-5D69-505A8D1E1E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533E491-BA0F-A3E4-1E2D-95F13D164A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재방문 주기를 적용한 시간 구간을 줄이고</a:t>
            </a:r>
            <a:r>
              <a:rPr lang="en-US" altLang="ko-KR" dirty="0"/>
              <a:t>, </a:t>
            </a:r>
            <a:r>
              <a:rPr lang="ko-KR" altLang="en-US" dirty="0"/>
              <a:t>재방문 주기 고유 값도 반으로 줄이는 임무를 제가 임의로 설정해보았습니다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관측하는 시간대를 </a:t>
            </a:r>
            <a:r>
              <a:rPr lang="en-US" altLang="ko-KR" dirty="0"/>
              <a:t>N</a:t>
            </a:r>
            <a:r>
              <a:rPr lang="ko-KR" altLang="en-US" dirty="0"/>
              <a:t>이 </a:t>
            </a:r>
            <a:r>
              <a:rPr lang="en-US" altLang="ko-KR" dirty="0"/>
              <a:t>240</a:t>
            </a:r>
            <a:r>
              <a:rPr lang="ko-KR" altLang="en-US" dirty="0"/>
              <a:t>부터 </a:t>
            </a:r>
            <a:r>
              <a:rPr lang="en-US" altLang="ko-KR" dirty="0"/>
              <a:t>480</a:t>
            </a:r>
            <a:r>
              <a:rPr lang="ko-KR" altLang="en-US" dirty="0"/>
              <a:t>까지</a:t>
            </a:r>
            <a:r>
              <a:rPr lang="en-US" altLang="ko-KR" dirty="0"/>
              <a:t>, </a:t>
            </a:r>
            <a:r>
              <a:rPr lang="ko-KR" altLang="en-US" dirty="0"/>
              <a:t>특정 구간을 정했고 이 수치는 원하는 대로 조정할 수 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이진 선형 계획법의 결과인데요 보시는 것과 같이 제가 설정한 구간에만 촘촘하게 커버리지 타임라인이 배치된 것을 볼 수 있고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필요한 총 위성은 </a:t>
            </a:r>
            <a:r>
              <a:rPr lang="en-US" altLang="ko-KR" dirty="0"/>
              <a:t>6</a:t>
            </a:r>
            <a:r>
              <a:rPr lang="ko-KR" altLang="en-US" dirty="0"/>
              <a:t>대 입니다</a:t>
            </a:r>
            <a:r>
              <a:rPr lang="en-US" altLang="ko-KR" dirty="0"/>
              <a:t>. </a:t>
            </a:r>
            <a:r>
              <a:rPr lang="ko-KR" altLang="en-US" dirty="0"/>
              <a:t>최대 재방문 주기는 </a:t>
            </a:r>
            <a:r>
              <a:rPr lang="en-US" altLang="ko-KR" dirty="0"/>
              <a:t>14</a:t>
            </a:r>
            <a:r>
              <a:rPr lang="ko-KR" altLang="en-US" dirty="0"/>
              <a:t>분을 넘지 않았습니다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C84836-4D7A-954E-873D-C94DD587BE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42058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C0DB3-43CF-31B6-CC92-F4A9A9B36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59AE82D-90D9-5A26-5D69-505A8D1E1E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533E491-BA0F-A3E4-1E2D-95F13D164A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하지만 </a:t>
            </a:r>
            <a:r>
              <a:rPr lang="ko-KR" altLang="en-US" dirty="0" err="1"/>
              <a:t>워커델타에서는</a:t>
            </a:r>
            <a:r>
              <a:rPr lang="ko-KR" altLang="en-US" dirty="0"/>
              <a:t>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C84836-4D7A-954E-873D-C94DD587BE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600628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C0DB3-43CF-31B6-CC92-F4A9A9B36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59AE82D-90D9-5A26-5D69-505A8D1E1E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533E491-BA0F-A3E4-1E2D-95F13D164A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C84836-4D7A-954E-873D-C94DD587BE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050606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C0DB3-43CF-31B6-CC92-F4A9A9B36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59AE82D-90D9-5A26-5D69-505A8D1E1E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533E491-BA0F-A3E4-1E2D-95F13D164A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C84836-4D7A-954E-873D-C94DD587BE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353442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C0DB3-43CF-31B6-CC92-F4A9A9B36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59AE82D-90D9-5A26-5D69-505A8D1E1E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533E491-BA0F-A3E4-1E2D-95F13D164A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9</a:t>
            </a:r>
            <a:r>
              <a:rPr lang="ko-KR" altLang="en-US" dirty="0"/>
              <a:t>대까지 늘려야 비로소 </a:t>
            </a:r>
            <a:r>
              <a:rPr lang="en-US" altLang="ko-KR" dirty="0"/>
              <a:t>15</a:t>
            </a:r>
            <a:r>
              <a:rPr lang="ko-KR" altLang="en-US" dirty="0"/>
              <a:t>분 이내의 재방문 주기를 만족할 수 있었습니다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따라서 특정 시간대에 재방문 주기를 적용할 경우</a:t>
            </a:r>
            <a:r>
              <a:rPr lang="en-US" altLang="ko-KR" dirty="0"/>
              <a:t>, </a:t>
            </a:r>
            <a:r>
              <a:rPr lang="ko-KR" altLang="en-US" dirty="0"/>
              <a:t>성능 면에서 </a:t>
            </a:r>
            <a:r>
              <a:rPr lang="ko-KR" altLang="en-US" dirty="0" err="1"/>
              <a:t>워커델타가</a:t>
            </a:r>
            <a:r>
              <a:rPr lang="ko-KR" altLang="en-US" dirty="0"/>
              <a:t> 부족한 결과를 보일 때가 있음을 검증하였습니다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C84836-4D7A-954E-873D-C94DD587BE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131545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C0DB3-43CF-31B6-CC92-F4A9A9B36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59AE82D-90D9-5A26-5D69-505A8D1E1E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533E491-BA0F-A3E4-1E2D-95F13D164A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결론입니다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이진 선형 계획법을 직접 구현했고 검증하였으며 이걸 이종 위성군으로 구성하여</a:t>
            </a:r>
            <a:endParaRPr lang="en-US" altLang="ko-KR" dirty="0"/>
          </a:p>
          <a:p>
            <a:r>
              <a:rPr lang="ko-KR" altLang="en-US" dirty="0"/>
              <a:t>여러가지 임무 상황에 적용하였을 때</a:t>
            </a:r>
            <a:r>
              <a:rPr lang="en-US" altLang="ko-KR" dirty="0"/>
              <a:t>,</a:t>
            </a:r>
            <a:r>
              <a:rPr lang="ko-KR" altLang="en-US" dirty="0"/>
              <a:t> 궤도 평면 수가 많다는 단점을 제외하면</a:t>
            </a:r>
            <a:endParaRPr lang="en-US" altLang="ko-KR" dirty="0"/>
          </a:p>
          <a:p>
            <a:r>
              <a:rPr lang="ko-KR" altLang="en-US" dirty="0"/>
              <a:t>워커 델타에 비해 항상 동일하거나 높은 성능을 보인다는 것이 결과입니다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두 가지 핵심 이론</a:t>
            </a:r>
            <a:r>
              <a:rPr lang="en-US" altLang="ko-KR" dirty="0"/>
              <a:t>, </a:t>
            </a:r>
            <a:r>
              <a:rPr lang="ko-KR" altLang="en-US" dirty="0"/>
              <a:t>이진 선형 계획법과 이종 위성군의 개념을 혼용하여 더 많은 임무에 적용한다면</a:t>
            </a:r>
            <a:endParaRPr lang="en-US" altLang="ko-KR" dirty="0"/>
          </a:p>
          <a:p>
            <a:r>
              <a:rPr lang="ko-KR" altLang="en-US" dirty="0"/>
              <a:t>향후 국내 위성 분야 발전에 기여할 수 있을 것으로 기대됩니다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C84836-4D7A-954E-873D-C94DD587BE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58542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e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e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3000" y="4419136"/>
            <a:ext cx="6858000" cy="133978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이름</a:t>
            </a:r>
            <a:endParaRPr lang="en-US" altLang="ko-KR" dirty="0"/>
          </a:p>
          <a:p>
            <a:r>
              <a:rPr lang="ko-KR" altLang="en-US" dirty="0"/>
              <a:t>소속</a:t>
            </a:r>
            <a:endParaRPr lang="en-US" altLang="ko-KR" dirty="0"/>
          </a:p>
          <a:p>
            <a:r>
              <a:rPr lang="ko-KR" altLang="en-US" dirty="0"/>
              <a:t>발표장소</a:t>
            </a:r>
            <a:r>
              <a:rPr lang="en-US" altLang="ko-KR" dirty="0"/>
              <a:t>/</a:t>
            </a:r>
            <a:r>
              <a:rPr lang="ko-KR" altLang="en-US" dirty="0"/>
              <a:t>발표일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8B88FB9-8488-4F3A-9179-85AF22A058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935331"/>
            <a:ext cx="9144000" cy="2226189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발표제목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국</a:t>
            </a:r>
            <a:r>
              <a:rPr lang="en-US" altLang="ko-KR" dirty="0"/>
              <a:t>/</a:t>
            </a:r>
            <a:r>
              <a:rPr lang="ko-KR" altLang="en-US" dirty="0"/>
              <a:t>영문</a:t>
            </a:r>
            <a:r>
              <a:rPr lang="en-US" altLang="ko-KR" dirty="0"/>
              <a:t>, Times, 40 pts)</a:t>
            </a:r>
            <a:endParaRPr lang="en-US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B0D7EE89-F264-41E4-AEC5-73770F7D8FD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50000"/>
          <a:stretch/>
        </p:blipFill>
        <p:spPr>
          <a:xfrm>
            <a:off x="7031115" y="4108252"/>
            <a:ext cx="2133955" cy="2761589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FD783890-A54B-4809-84F6-B7736A2B63C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t="5510" b="52178"/>
          <a:stretch/>
        </p:blipFill>
        <p:spPr>
          <a:xfrm flipH="1">
            <a:off x="-21070" y="4419136"/>
            <a:ext cx="2212357" cy="2438864"/>
          </a:xfrm>
          <a:prstGeom prst="rect">
            <a:avLst/>
          </a:prstGeom>
        </p:spPr>
      </p:pic>
      <p:pic>
        <p:nvPicPr>
          <p:cNvPr id="12" name="Picture 8">
            <a:extLst>
              <a:ext uri="{FF2B5EF4-FFF2-40B4-BE49-F238E27FC236}">
                <a16:creationId xmlns:a16="http://schemas.microsoft.com/office/drawing/2014/main" id="{6A115575-BE6D-40AD-B231-D68D8B4912A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8092" y="123843"/>
            <a:ext cx="864141" cy="8641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17918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.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DD644064-7FF7-4F6F-ADA3-1626B4D81BCB}"/>
              </a:ext>
            </a:extLst>
          </p:cNvPr>
          <p:cNvCxnSpPr>
            <a:cxnSpLocks/>
          </p:cNvCxnSpPr>
          <p:nvPr userDrawn="1"/>
        </p:nvCxnSpPr>
        <p:spPr>
          <a:xfrm>
            <a:off x="619125" y="876300"/>
            <a:ext cx="757555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tle 1">
            <a:extLst>
              <a:ext uri="{FF2B5EF4-FFF2-40B4-BE49-F238E27FC236}">
                <a16:creationId xmlns:a16="http://schemas.microsoft.com/office/drawing/2014/main" id="{9EEAC6FF-2CB2-4248-942E-A23DF1B6BE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4057" y="71055"/>
            <a:ext cx="6705464" cy="687714"/>
          </a:xfrm>
        </p:spPr>
        <p:txBody>
          <a:bodyPr>
            <a:normAutofit/>
          </a:bodyPr>
          <a:lstStyle>
            <a:lvl1pPr algn="ctr">
              <a:defRPr sz="2800" b="1">
                <a:solidFill>
                  <a:schemeClr val="tx1"/>
                </a:solidFill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마스터 제목 스타일 편집 </a:t>
            </a:r>
            <a:r>
              <a:rPr lang="en-US" altLang="ko-KR" dirty="0"/>
              <a:t>(28 pts)</a:t>
            </a:r>
            <a:endParaRPr lang="en-US" dirty="0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ABD5D053-347B-45C0-B24B-C511B6215BC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3646" r="9900"/>
          <a:stretch/>
        </p:blipFill>
        <p:spPr>
          <a:xfrm>
            <a:off x="7554954" y="1"/>
            <a:ext cx="1589045" cy="1029956"/>
          </a:xfrm>
          <a:prstGeom prst="rect">
            <a:avLst/>
          </a:prstGeom>
        </p:spPr>
      </p:pic>
      <p:sp>
        <p:nvSpPr>
          <p:cNvPr id="26" name="직사각형 25">
            <a:extLst>
              <a:ext uri="{FF2B5EF4-FFF2-40B4-BE49-F238E27FC236}">
                <a16:creationId xmlns:a16="http://schemas.microsoft.com/office/drawing/2014/main" id="{CDF2725A-2EAD-4828-8A48-CF4B69244C83}"/>
              </a:ext>
            </a:extLst>
          </p:cNvPr>
          <p:cNvSpPr/>
          <p:nvPr userDrawn="1"/>
        </p:nvSpPr>
        <p:spPr>
          <a:xfrm>
            <a:off x="260193" y="6331061"/>
            <a:ext cx="34336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8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rPr>
              <a:t>Astrodynamics and Control Lab.</a:t>
            </a:r>
          </a:p>
        </p:txBody>
      </p:sp>
      <p:sp>
        <p:nvSpPr>
          <p:cNvPr id="27" name="슬라이드 번호 개체 틀 4">
            <a:extLst>
              <a:ext uri="{FF2B5EF4-FFF2-40B4-BE49-F238E27FC236}">
                <a16:creationId xmlns:a16="http://schemas.microsoft.com/office/drawing/2014/main" id="{116EEB02-C842-4201-B314-07D2C2222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05750" y="6327787"/>
            <a:ext cx="981169" cy="360000"/>
          </a:xfrm>
          <a:prstGeom prst="rect">
            <a:avLst/>
          </a:prstGeom>
        </p:spPr>
        <p:txBody>
          <a:bodyPr anchor="ctr"/>
          <a:lstStyle>
            <a:lvl1pPr algn="r">
              <a:defRPr sz="1400" b="1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defRPr>
            </a:lvl1pPr>
          </a:lstStyle>
          <a:p>
            <a:fld id="{397DD3AE-C24E-49FC-B527-05061A0348E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823B068E-A8D6-4389-87D7-7224E5B251E9}"/>
              </a:ext>
            </a:extLst>
          </p:cNvPr>
          <p:cNvGrpSpPr/>
          <p:nvPr userDrawn="1"/>
        </p:nvGrpSpPr>
        <p:grpSpPr>
          <a:xfrm>
            <a:off x="695141" y="1187583"/>
            <a:ext cx="698862" cy="4535814"/>
            <a:chOff x="695141" y="1187583"/>
            <a:chExt cx="698862" cy="4535814"/>
          </a:xfrm>
        </p:grpSpPr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FB63AC01-59A1-4839-880A-52A4371FE19E}"/>
                </a:ext>
              </a:extLst>
            </p:cNvPr>
            <p:cNvSpPr/>
            <p:nvPr/>
          </p:nvSpPr>
          <p:spPr>
            <a:xfrm>
              <a:off x="701313" y="118758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E40572AD-6701-4266-9752-13DC1E63AA2C}"/>
                </a:ext>
              </a:extLst>
            </p:cNvPr>
            <p:cNvSpPr/>
            <p:nvPr/>
          </p:nvSpPr>
          <p:spPr>
            <a:xfrm>
              <a:off x="695141" y="2149608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II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262E28C8-6768-42E9-BCF0-6BF7AA2C69D1}"/>
                </a:ext>
              </a:extLst>
            </p:cNvPr>
            <p:cNvSpPr/>
            <p:nvPr/>
          </p:nvSpPr>
          <p:spPr>
            <a:xfrm>
              <a:off x="695141" y="311163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III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51C8E578-E54B-4F6C-8319-D77A1971F286}"/>
                </a:ext>
              </a:extLst>
            </p:cNvPr>
            <p:cNvSpPr/>
            <p:nvPr/>
          </p:nvSpPr>
          <p:spPr>
            <a:xfrm>
              <a:off x="695141" y="4073658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IV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0F52A207-95C0-475F-A6D7-1FCB68CF92B4}"/>
                </a:ext>
              </a:extLst>
            </p:cNvPr>
            <p:cNvSpPr/>
            <p:nvPr/>
          </p:nvSpPr>
          <p:spPr>
            <a:xfrm>
              <a:off x="695141" y="503568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V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</p:grpSp>
      <p:graphicFrame>
        <p:nvGraphicFramePr>
          <p:cNvPr id="18" name="표 18">
            <a:extLst>
              <a:ext uri="{FF2B5EF4-FFF2-40B4-BE49-F238E27FC236}">
                <a16:creationId xmlns:a16="http://schemas.microsoft.com/office/drawing/2014/main" id="{5B07531E-AAB8-40A5-B3D0-4F0F6D12E2F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95206933"/>
              </p:ext>
            </p:extLst>
          </p:nvPr>
        </p:nvGraphicFramePr>
        <p:xfrm>
          <a:off x="1454505" y="1029970"/>
          <a:ext cx="7318019" cy="48291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8019">
                  <a:extLst>
                    <a:ext uri="{9D8B030D-6E8A-4147-A177-3AD203B41FA5}">
                      <a16:colId xmlns:a16="http://schemas.microsoft.com/office/drawing/2014/main" val="2719041385"/>
                    </a:ext>
                  </a:extLst>
                </a:gridCol>
              </a:tblGrid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7413000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4167346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5247919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1284267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5405283"/>
                  </a:ext>
                </a:extLst>
              </a:tr>
            </a:tbl>
          </a:graphicData>
        </a:graphic>
      </p:graphicFrame>
      <p:pic>
        <p:nvPicPr>
          <p:cNvPr id="23" name="그림 22" descr="그리기, 플레이트, 음식, 방이(가) 표시된 사진&#10;&#10;자동 생성된 설명">
            <a:extLst>
              <a:ext uri="{FF2B5EF4-FFF2-40B4-BE49-F238E27FC236}">
                <a16:creationId xmlns:a16="http://schemas.microsoft.com/office/drawing/2014/main" id="{FEF37F4A-64D8-493C-A65A-762B21FB975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423" y="100133"/>
            <a:ext cx="720000" cy="720000"/>
          </a:xfrm>
          <a:prstGeom prst="rect">
            <a:avLst/>
          </a:prstGeom>
        </p:spPr>
      </p:pic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6567B15C-EDC8-4FDB-86E3-588E3F4B38B8}"/>
              </a:ext>
            </a:extLst>
          </p:cNvPr>
          <p:cNvCxnSpPr>
            <a:cxnSpLocks/>
          </p:cNvCxnSpPr>
          <p:nvPr userDrawn="1"/>
        </p:nvCxnSpPr>
        <p:spPr>
          <a:xfrm>
            <a:off x="781050" y="803275"/>
            <a:ext cx="6732270" cy="0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6486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>
            <a:extLst>
              <a:ext uri="{FF2B5EF4-FFF2-40B4-BE49-F238E27FC236}">
                <a16:creationId xmlns:a16="http://schemas.microsoft.com/office/drawing/2014/main" id="{B04D5D09-A2FC-4C8B-A3FF-CD7464225194}"/>
              </a:ext>
            </a:extLst>
          </p:cNvPr>
          <p:cNvSpPr/>
          <p:nvPr userDrawn="1"/>
        </p:nvSpPr>
        <p:spPr>
          <a:xfrm>
            <a:off x="260193" y="6331061"/>
            <a:ext cx="34336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8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rPr>
              <a:t>Astrodynamics and Control Lab.</a:t>
            </a:r>
          </a:p>
        </p:txBody>
      </p:sp>
      <p:sp>
        <p:nvSpPr>
          <p:cNvPr id="25" name="슬라이드 번호 개체 틀 4">
            <a:extLst>
              <a:ext uri="{FF2B5EF4-FFF2-40B4-BE49-F238E27FC236}">
                <a16:creationId xmlns:a16="http://schemas.microsoft.com/office/drawing/2014/main" id="{631309A5-660A-4E14-8195-3A2515234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05750" y="6327787"/>
            <a:ext cx="981169" cy="360000"/>
          </a:xfrm>
          <a:prstGeom prst="rect">
            <a:avLst/>
          </a:prstGeom>
        </p:spPr>
        <p:txBody>
          <a:bodyPr anchor="ctr"/>
          <a:lstStyle>
            <a:lvl1pPr algn="r">
              <a:defRPr sz="1400" b="1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defRPr>
            </a:lvl1pPr>
          </a:lstStyle>
          <a:p>
            <a:fld id="{397DD3AE-C24E-49FC-B527-05061A0348E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7540F519-A5D5-4C17-A8B9-7371A3A841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Autofit/>
          </a:bodyPr>
          <a:lstStyle>
            <a:lvl1pPr marL="228600" indent="-360000">
              <a:lnSpc>
                <a:spcPct val="100000"/>
              </a:lnSpc>
              <a:buFont typeface="Wingdings" panose="05000000000000000000" pitchFamily="2" charset="2"/>
              <a:buChar char="v"/>
              <a:defRPr sz="24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540000" indent="-324000">
              <a:lnSpc>
                <a:spcPct val="100000"/>
              </a:lnSpc>
              <a:buFont typeface="Wingdings" panose="05000000000000000000" pitchFamily="2" charset="2"/>
              <a:buChar char="u"/>
              <a:defRPr sz="1800" b="0">
                <a:latin typeface="times" panose="02020603050405020304" pitchFamily="18" charset="0"/>
                <a:cs typeface="times" panose="02020603050405020304" pitchFamily="18" charset="0"/>
              </a:defRPr>
            </a:lvl2pPr>
            <a:lvl3pPr marL="720000" indent="-288000">
              <a:lnSpc>
                <a:spcPct val="100000"/>
              </a:lnSpc>
              <a:buFont typeface="Wingdings" panose="05000000000000000000" pitchFamily="2" charset="2"/>
              <a:buChar char="Ø"/>
              <a:defRPr sz="1600">
                <a:latin typeface="times" panose="02020603050405020304" pitchFamily="18" charset="0"/>
                <a:cs typeface="times" panose="02020603050405020304" pitchFamily="18" charset="0"/>
              </a:defRPr>
            </a:lvl3pPr>
            <a:lvl4pPr marL="900000" indent="-252000">
              <a:lnSpc>
                <a:spcPct val="100000"/>
              </a:lnSpc>
              <a:buFont typeface="Wingdings" panose="05000000000000000000" pitchFamily="2" charset="2"/>
              <a:buChar char="ü"/>
              <a:defRPr sz="1400">
                <a:latin typeface="times" panose="02020603050405020304" pitchFamily="18" charset="0"/>
                <a:cs typeface="times" panose="02020603050405020304" pitchFamily="18" charset="0"/>
              </a:defRPr>
            </a:lvl4pPr>
            <a:lvl5pPr marL="1080000" indent="-252000">
              <a:lnSpc>
                <a:spcPct val="100000"/>
              </a:lnSpc>
              <a:defRPr sz="1400">
                <a:latin typeface="times" panose="02020603050405020304" pitchFamily="18" charset="0"/>
                <a:cs typeface="times" panose="02020603050405020304" pitchFamily="18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78361285-D5CA-4434-A351-5343035FD0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4057" y="71055"/>
            <a:ext cx="6705464" cy="687714"/>
          </a:xfrm>
        </p:spPr>
        <p:txBody>
          <a:bodyPr>
            <a:normAutofit/>
          </a:bodyPr>
          <a:lstStyle>
            <a:lvl1pPr algn="ctr">
              <a:defRPr sz="2800" b="1">
                <a:solidFill>
                  <a:schemeClr val="tx1"/>
                </a:solidFill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마스터 제목 스타일 편집 </a:t>
            </a:r>
            <a:r>
              <a:rPr lang="en-US" altLang="ko-KR" dirty="0"/>
              <a:t>(28 pts)</a:t>
            </a:r>
            <a:endParaRPr 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15C7FC81-20F4-4FC2-B40D-A9FF1F52076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3646" r="9900"/>
          <a:stretch/>
        </p:blipFill>
        <p:spPr>
          <a:xfrm>
            <a:off x="7554954" y="1"/>
            <a:ext cx="1589045" cy="1029956"/>
          </a:xfrm>
          <a:prstGeom prst="rect">
            <a:avLst/>
          </a:prstGeom>
        </p:spPr>
      </p:pic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4D14EEDE-3F58-409A-8C98-F099C099E03A}"/>
              </a:ext>
            </a:extLst>
          </p:cNvPr>
          <p:cNvCxnSpPr>
            <a:cxnSpLocks/>
          </p:cNvCxnSpPr>
          <p:nvPr userDrawn="1"/>
        </p:nvCxnSpPr>
        <p:spPr>
          <a:xfrm>
            <a:off x="619125" y="876300"/>
            <a:ext cx="757555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그림 14" descr="그리기, 플레이트, 음식, 방이(가) 표시된 사진&#10;&#10;자동 생성된 설명">
            <a:extLst>
              <a:ext uri="{FF2B5EF4-FFF2-40B4-BE49-F238E27FC236}">
                <a16:creationId xmlns:a16="http://schemas.microsoft.com/office/drawing/2014/main" id="{D6923843-3AE5-4E5F-BACA-DFA2C5600B2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423" y="100133"/>
            <a:ext cx="720000" cy="720000"/>
          </a:xfrm>
          <a:prstGeom prst="rect">
            <a:avLst/>
          </a:prstGeom>
        </p:spPr>
      </p:pic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04926874-7DA7-4D84-BD23-06EAC42705A1}"/>
              </a:ext>
            </a:extLst>
          </p:cNvPr>
          <p:cNvCxnSpPr>
            <a:cxnSpLocks/>
          </p:cNvCxnSpPr>
          <p:nvPr userDrawn="1"/>
        </p:nvCxnSpPr>
        <p:spPr>
          <a:xfrm>
            <a:off x="781050" y="803275"/>
            <a:ext cx="6732270" cy="0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2828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8B88FB9-8488-4F3A-9179-85AF22A058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820660"/>
            <a:ext cx="9144000" cy="3180446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질의응답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국</a:t>
            </a:r>
            <a:r>
              <a:rPr lang="en-US" altLang="ko-KR" dirty="0"/>
              <a:t>/</a:t>
            </a:r>
            <a:r>
              <a:rPr lang="ko-KR" altLang="en-US" dirty="0"/>
              <a:t>영문</a:t>
            </a:r>
            <a:r>
              <a:rPr lang="en-US" altLang="ko-KR" dirty="0"/>
              <a:t>, Times, 40 pts)</a:t>
            </a:r>
            <a:endParaRPr lang="en-US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FBB211E-0AA6-4FE2-9E18-B081DCF3E19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3000" y="4543424"/>
            <a:ext cx="6858000" cy="1339783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이름</a:t>
            </a:r>
            <a:endParaRPr lang="en-US" altLang="ko-KR" dirty="0"/>
          </a:p>
          <a:p>
            <a:r>
              <a:rPr lang="ko-KR" altLang="en-US" dirty="0"/>
              <a:t>소속</a:t>
            </a:r>
            <a:endParaRPr lang="en-US" altLang="ko-KR" dirty="0"/>
          </a:p>
          <a:p>
            <a:r>
              <a:rPr lang="ko-KR" altLang="en-US" dirty="0"/>
              <a:t>연락처</a:t>
            </a:r>
            <a:endParaRPr 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22319A21-8E7C-4790-9643-94CC192529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565" y="6048339"/>
            <a:ext cx="720000" cy="720000"/>
          </a:xfrm>
          <a:prstGeom prst="rect">
            <a:avLst/>
          </a:prstGeom>
        </p:spPr>
      </p:pic>
      <p:pic>
        <p:nvPicPr>
          <p:cNvPr id="14" name="Picture 8">
            <a:extLst>
              <a:ext uri="{FF2B5EF4-FFF2-40B4-BE49-F238E27FC236}">
                <a16:creationId xmlns:a16="http://schemas.microsoft.com/office/drawing/2014/main" id="{46F0A41C-6A01-44CA-A626-55476509C76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645" y="6048339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5" name="그룹 24">
            <a:extLst>
              <a:ext uri="{FF2B5EF4-FFF2-40B4-BE49-F238E27FC236}">
                <a16:creationId xmlns:a16="http://schemas.microsoft.com/office/drawing/2014/main" id="{6E63BBB4-44C3-4C69-9162-763FE81E6FBD}"/>
              </a:ext>
            </a:extLst>
          </p:cNvPr>
          <p:cNvGrpSpPr/>
          <p:nvPr userDrawn="1"/>
        </p:nvGrpSpPr>
        <p:grpSpPr>
          <a:xfrm>
            <a:off x="122423" y="99901"/>
            <a:ext cx="3389530" cy="720000"/>
            <a:chOff x="3167632" y="6062339"/>
            <a:chExt cx="3389530" cy="720000"/>
          </a:xfrm>
        </p:grpSpPr>
        <p:pic>
          <p:nvPicPr>
            <p:cNvPr id="26" name="그림 25" descr="그리기, 플레이트, 음식, 방이(가) 표시된 사진&#10;&#10;자동 생성된 설명">
              <a:extLst>
                <a:ext uri="{FF2B5EF4-FFF2-40B4-BE49-F238E27FC236}">
                  <a16:creationId xmlns:a16="http://schemas.microsoft.com/office/drawing/2014/main" id="{58F4BD04-EF90-4931-B1B3-0FDABC5889E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7632" y="6062339"/>
              <a:ext cx="720000" cy="720000"/>
            </a:xfrm>
            <a:prstGeom prst="rect">
              <a:avLst/>
            </a:prstGeom>
          </p:spPr>
        </p:pic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727BC293-2715-43CE-819C-216F1B960AEE}"/>
                </a:ext>
              </a:extLst>
            </p:cNvPr>
            <p:cNvSpPr/>
            <p:nvPr userDrawn="1"/>
          </p:nvSpPr>
          <p:spPr>
            <a:xfrm>
              <a:off x="3846292" y="6114563"/>
              <a:ext cx="271087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000" b="1" spc="100" baseline="0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우주비행제어연구실</a:t>
              </a:r>
              <a:endParaRPr lang="en-US" altLang="ko-KR" sz="2000" b="1" spc="100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r>
                <a:rPr lang="en-US" altLang="ko-KR" sz="1400" b="1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Astrodynamics and Control Lab.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45769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8B88FB9-8488-4F3A-9179-85AF22A058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820660"/>
            <a:ext cx="9144000" cy="3180446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간지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국</a:t>
            </a:r>
            <a:r>
              <a:rPr lang="en-US" altLang="ko-KR" dirty="0"/>
              <a:t>/</a:t>
            </a:r>
            <a:r>
              <a:rPr lang="ko-KR" altLang="en-US" dirty="0"/>
              <a:t>영문</a:t>
            </a:r>
            <a:r>
              <a:rPr lang="en-US" altLang="ko-KR" dirty="0"/>
              <a:t>, Times, 40 pts)</a:t>
            </a:r>
            <a:endParaRPr 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0F02479-4D4E-48F6-A414-FD2BEFAB59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565" y="6048339"/>
            <a:ext cx="720000" cy="720000"/>
          </a:xfrm>
          <a:prstGeom prst="rect">
            <a:avLst/>
          </a:prstGeom>
        </p:spPr>
      </p:pic>
      <p:pic>
        <p:nvPicPr>
          <p:cNvPr id="10" name="Picture 8">
            <a:extLst>
              <a:ext uri="{FF2B5EF4-FFF2-40B4-BE49-F238E27FC236}">
                <a16:creationId xmlns:a16="http://schemas.microsoft.com/office/drawing/2014/main" id="{93518514-EB1D-4173-98C0-35F88CF32D6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645" y="6048339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1" name="그룹 10">
            <a:extLst>
              <a:ext uri="{FF2B5EF4-FFF2-40B4-BE49-F238E27FC236}">
                <a16:creationId xmlns:a16="http://schemas.microsoft.com/office/drawing/2014/main" id="{6A8B2090-A0C2-4296-B39A-3CF2073B64CD}"/>
              </a:ext>
            </a:extLst>
          </p:cNvPr>
          <p:cNvGrpSpPr/>
          <p:nvPr userDrawn="1"/>
        </p:nvGrpSpPr>
        <p:grpSpPr>
          <a:xfrm>
            <a:off x="122423" y="99901"/>
            <a:ext cx="3389530" cy="720000"/>
            <a:chOff x="3167632" y="6062339"/>
            <a:chExt cx="3389530" cy="720000"/>
          </a:xfrm>
        </p:grpSpPr>
        <p:pic>
          <p:nvPicPr>
            <p:cNvPr id="12" name="그림 11" descr="그리기, 플레이트, 음식, 방이(가) 표시된 사진&#10;&#10;자동 생성된 설명">
              <a:extLst>
                <a:ext uri="{FF2B5EF4-FFF2-40B4-BE49-F238E27FC236}">
                  <a16:creationId xmlns:a16="http://schemas.microsoft.com/office/drawing/2014/main" id="{D4A8645E-E578-4994-ACFB-E636079E422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7632" y="6062339"/>
              <a:ext cx="720000" cy="720000"/>
            </a:xfrm>
            <a:prstGeom prst="rect">
              <a:avLst/>
            </a:prstGeom>
          </p:spPr>
        </p:pic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869595E0-FFC1-42B0-845F-81DEAB14A06B}"/>
                </a:ext>
              </a:extLst>
            </p:cNvPr>
            <p:cNvSpPr/>
            <p:nvPr userDrawn="1"/>
          </p:nvSpPr>
          <p:spPr>
            <a:xfrm>
              <a:off x="3846292" y="6114563"/>
              <a:ext cx="271087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000" b="1" spc="100" baseline="0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우주비행제어연구실</a:t>
              </a:r>
              <a:endParaRPr lang="en-US" altLang="ko-KR" sz="2000" b="1" spc="100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r>
                <a:rPr lang="en-US" altLang="ko-KR" sz="1400" b="1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Astrodynamics and Control Lab.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28693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46300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EB3741-4917-4953-934B-4EF1C3CF7792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날짜 개체 틀 7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바닥글 개체 틀 8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2694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77" r:id="rId2"/>
    <p:sldLayoutId id="2147483662" r:id="rId3"/>
    <p:sldLayoutId id="2147483679" r:id="rId4"/>
    <p:sldLayoutId id="2147483678" r:id="rId5"/>
    <p:sldLayoutId id="2147483667" r:id="rId6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130.png"/><Relationship Id="rId4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20.png"/><Relationship Id="rId5" Type="http://schemas.openxmlformats.org/officeDocument/2006/relationships/image" Target="../media/image210.png"/><Relationship Id="rId4" Type="http://schemas.openxmlformats.org/officeDocument/2006/relationships/image" Target="../media/image2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12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90.png"/><Relationship Id="rId4" Type="http://schemas.openxmlformats.org/officeDocument/2006/relationships/image" Target="../media/image8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94.png"/><Relationship Id="rId4" Type="http://schemas.openxmlformats.org/officeDocument/2006/relationships/image" Target="../media/image9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9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9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11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11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11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11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11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126.png"/><Relationship Id="rId4" Type="http://schemas.openxmlformats.org/officeDocument/2006/relationships/image" Target="../media/image12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3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50.png"/><Relationship Id="rId5" Type="http://schemas.openxmlformats.org/officeDocument/2006/relationships/image" Target="../media/image1240.png"/><Relationship Id="rId4" Type="http://schemas.openxmlformats.org/officeDocument/2006/relationships/image" Target="../media/image33.emf"/></Relationships>
</file>

<file path=ppt/slides/_rels/slide36.xml.rels><?xml version="1.0" encoding="UTF-8" standalone="yes"?>
<Relationships xmlns="http://schemas.openxmlformats.org/package/2006/relationships"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90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131.png"/></Relationships>
</file>

<file path=ppt/slides/_rels/slide38.xml.rels><?xml version="1.0" encoding="UTF-8" standalone="yes"?>
<Relationships xmlns="http://schemas.openxmlformats.org/package/2006/relationships"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5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134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부제목 1">
            <a:extLst>
              <a:ext uri="{FF2B5EF4-FFF2-40B4-BE49-F238E27FC236}">
                <a16:creationId xmlns:a16="http://schemas.microsoft.com/office/drawing/2014/main" id="{007FD355-926D-4297-AA2A-AA0058A070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이진진</a:t>
            </a:r>
            <a:r>
              <a:rPr lang="en-US" altLang="ko-KR" dirty="0"/>
              <a:t>, </a:t>
            </a:r>
            <a:r>
              <a:rPr lang="ko-KR" altLang="en-US" dirty="0"/>
              <a:t>박상영</a:t>
            </a:r>
            <a:endParaRPr lang="en-US" altLang="ko-KR" dirty="0"/>
          </a:p>
          <a:p>
            <a:r>
              <a:rPr lang="ko-KR" altLang="en-US" dirty="0"/>
              <a:t>연세대학교 천문우주학과</a:t>
            </a:r>
            <a:endParaRPr lang="en-US" altLang="ko-KR" dirty="0"/>
          </a:p>
          <a:p>
            <a:r>
              <a:rPr lang="en-US" altLang="ko-KR" dirty="0"/>
              <a:t>2024-06-26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9F47A90A-3F95-4B77-93ED-98D7503684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325769"/>
            <a:ext cx="9144000" cy="222618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3200" dirty="0"/>
              <a:t>BILP</a:t>
            </a:r>
            <a:r>
              <a:rPr lang="ko-KR" altLang="en-US" sz="3200" dirty="0"/>
              <a:t> 방법을 이용한</a:t>
            </a:r>
            <a:r>
              <a:rPr lang="en-US" altLang="ko-KR" sz="3200" dirty="0"/>
              <a:t> </a:t>
            </a:r>
            <a:r>
              <a:rPr lang="ko-KR" altLang="en-US" sz="3200" dirty="0"/>
              <a:t>이종 </a:t>
            </a:r>
            <a:r>
              <a:rPr lang="ko-KR" altLang="en-US" sz="3200" dirty="0" err="1"/>
              <a:t>위성군</a:t>
            </a:r>
            <a:r>
              <a:rPr lang="ko-KR" altLang="en-US" sz="3200" dirty="0"/>
              <a:t> 궤도 설계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314B44-758A-91B2-CDDF-8E1B896AC75B}"/>
              </a:ext>
            </a:extLst>
          </p:cNvPr>
          <p:cNvSpPr txBox="1"/>
          <p:nvPr/>
        </p:nvSpPr>
        <p:spPr>
          <a:xfrm>
            <a:off x="1876390" y="3429000"/>
            <a:ext cx="5391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400" dirty="0">
                <a:solidFill>
                  <a:srgbClr val="0070C0"/>
                </a:solidFill>
              </a:rPr>
              <a:t>2024</a:t>
            </a:r>
            <a:r>
              <a:rPr lang="ko-KR" altLang="en-US" sz="2400" dirty="0">
                <a:solidFill>
                  <a:srgbClr val="0070C0"/>
                </a:solidFill>
              </a:rPr>
              <a:t>년도 항공우주학회 우주학술대회</a:t>
            </a:r>
          </a:p>
        </p:txBody>
      </p:sp>
    </p:spTree>
    <p:extLst>
      <p:ext uri="{BB962C8B-B14F-4D97-AF65-F5344CB8AC3E}">
        <p14:creationId xmlns:p14="http://schemas.microsoft.com/office/powerpoint/2010/main" val="2536030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</a:t>
            </a:fld>
            <a:endParaRPr lang="en-US" altLang="en-US" dirty="0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연구 배경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위성군의 탄생 배경</a:t>
            </a: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lvl="1">
              <a:defRPr/>
            </a:pPr>
            <a:r>
              <a:rPr lang="ko-KR" altLang="en-US" dirty="0">
                <a:solidFill>
                  <a:srgbClr val="1F2328"/>
                </a:solidFill>
                <a:latin typeface="-apple-system"/>
              </a:rPr>
              <a:t>인공위성 개발 이후</a:t>
            </a:r>
            <a:r>
              <a:rPr lang="en-US" altLang="ko-KR" dirty="0">
                <a:solidFill>
                  <a:srgbClr val="1F2328"/>
                </a:solidFill>
                <a:latin typeface="-apple-system"/>
              </a:rPr>
              <a:t>, </a:t>
            </a:r>
            <a:r>
              <a:rPr lang="ko-KR" altLang="en-US" b="1" u="sng" dirty="0">
                <a:solidFill>
                  <a:srgbClr val="1F2328"/>
                </a:solidFill>
                <a:latin typeface="-apple-system"/>
              </a:rPr>
              <a:t>복잡한 상황 속에서 운용되는 고차원적 연구</a:t>
            </a:r>
            <a:r>
              <a:rPr lang="ko-KR" altLang="en-US" dirty="0">
                <a:solidFill>
                  <a:srgbClr val="1F2328"/>
                </a:solidFill>
                <a:latin typeface="-apple-system"/>
              </a:rPr>
              <a:t>가 진행</a:t>
            </a:r>
            <a:endParaRPr lang="en-US" altLang="ko-KR" dirty="0">
              <a:solidFill>
                <a:srgbClr val="1F2328"/>
              </a:solidFill>
              <a:latin typeface="-apple-system"/>
            </a:endParaRPr>
          </a:p>
          <a:p>
            <a:pPr lvl="1">
              <a:defRPr/>
            </a:pPr>
            <a:r>
              <a:rPr lang="ko-KR" altLang="en-US" dirty="0">
                <a:solidFill>
                  <a:srgbClr val="1F2328"/>
                </a:solidFill>
                <a:latin typeface="-apple-system"/>
              </a:rPr>
              <a:t>시간 및 공간 등 </a:t>
            </a:r>
            <a:r>
              <a:rPr lang="ko-KR" altLang="en-US" b="1" u="sng" dirty="0">
                <a:solidFill>
                  <a:srgbClr val="1F2328"/>
                </a:solidFill>
                <a:latin typeface="-apple-system"/>
              </a:rPr>
              <a:t>특정 상황에 따라 요구조건을 유동성 있게 변경해야 하는 임무</a:t>
            </a:r>
            <a:r>
              <a:rPr lang="ko-KR" altLang="en-US" dirty="0">
                <a:solidFill>
                  <a:srgbClr val="1F2328"/>
                </a:solidFill>
                <a:latin typeface="-apple-system"/>
              </a:rPr>
              <a:t>의 필요성이 제기되기 시작 </a:t>
            </a:r>
            <a:endParaRPr lang="en-US" altLang="ko-KR" dirty="0">
              <a:solidFill>
                <a:srgbClr val="1F2328"/>
              </a:solidFill>
              <a:latin typeface="-apple-system"/>
            </a:endParaRPr>
          </a:p>
          <a:p>
            <a:pPr lvl="1">
              <a:defRPr/>
            </a:pPr>
            <a:r>
              <a:rPr lang="ko-KR" altLang="en-US" b="0" dirty="0">
                <a:solidFill>
                  <a:srgbClr val="1F2328"/>
                </a:solidFill>
                <a:effectLst/>
                <a:latin typeface="-apple-system"/>
              </a:rPr>
              <a:t>복잡한 임무 목표 달성을 위해 하나의 위성을 운용하는 것에 그치지 </a:t>
            </a:r>
            <a:r>
              <a:rPr lang="ko-KR" altLang="en-US" b="1" u="sng" dirty="0">
                <a:solidFill>
                  <a:srgbClr val="1F2328"/>
                </a:solidFill>
                <a:effectLst/>
                <a:latin typeface="-apple-system"/>
              </a:rPr>
              <a:t>않고 둘 이상의 위성체를 동시에 운용하는 위성군</a:t>
            </a:r>
            <a:r>
              <a:rPr lang="ko-KR" altLang="en-US" b="0" dirty="0">
                <a:solidFill>
                  <a:srgbClr val="1F2328"/>
                </a:solidFill>
                <a:effectLst/>
                <a:latin typeface="-apple-system"/>
              </a:rPr>
              <a:t>이라는 개념이 새롭게 탄생</a:t>
            </a:r>
            <a:endParaRPr lang="en-US" altLang="ko-KR" b="0" dirty="0">
              <a:solidFill>
                <a:srgbClr val="1F2328"/>
              </a:solidFill>
              <a:effectLst/>
              <a:latin typeface="-apple-system"/>
            </a:endParaRPr>
          </a:p>
          <a:p>
            <a:pPr lvl="1">
              <a:defRPr/>
            </a:pPr>
            <a:endParaRPr lang="en-US" altLang="ko-KR" dirty="0">
              <a:solidFill>
                <a:srgbClr val="1F2328"/>
              </a:solidFill>
              <a:latin typeface="-apple-system"/>
            </a:endParaRPr>
          </a:p>
          <a:p>
            <a:pPr lvl="0">
              <a:defRPr/>
            </a:pPr>
            <a:r>
              <a:rPr lang="ko-KR" altLang="en-US" dirty="0"/>
              <a:t>이종 </a:t>
            </a:r>
            <a:r>
              <a:rPr lang="ko-KR" altLang="en-US" dirty="0" err="1"/>
              <a:t>위성군</a:t>
            </a: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lvl="1">
              <a:defRPr/>
            </a:pPr>
            <a:r>
              <a:rPr lang="ko-KR" altLang="en-US" b="0" dirty="0">
                <a:solidFill>
                  <a:srgbClr val="1F2328"/>
                </a:solidFill>
                <a:effectLst/>
                <a:latin typeface="-apple-system"/>
              </a:rPr>
              <a:t>이처럼 둘 이상의 위성체를 동시에 운용하는 </a:t>
            </a:r>
            <a:r>
              <a:rPr lang="ko-KR" altLang="en-US" b="0" dirty="0" err="1">
                <a:solidFill>
                  <a:srgbClr val="1F2328"/>
                </a:solidFill>
                <a:effectLst/>
                <a:latin typeface="-apple-system"/>
              </a:rPr>
              <a:t>위성군</a:t>
            </a:r>
            <a:r>
              <a:rPr lang="ko-KR" altLang="en-US" b="0" dirty="0">
                <a:solidFill>
                  <a:srgbClr val="1F2328"/>
                </a:solidFill>
                <a:effectLst/>
                <a:latin typeface="-apple-system"/>
              </a:rPr>
              <a:t> 중에</a:t>
            </a:r>
            <a:r>
              <a:rPr lang="en-US" altLang="ko-KR" b="0" dirty="0">
                <a:solidFill>
                  <a:srgbClr val="1F2328"/>
                </a:solidFill>
                <a:effectLst/>
                <a:latin typeface="-apple-system"/>
              </a:rPr>
              <a:t>, </a:t>
            </a:r>
            <a:r>
              <a:rPr lang="ko-KR" altLang="en-US" b="1" u="sng" dirty="0">
                <a:solidFill>
                  <a:srgbClr val="1F2328"/>
                </a:solidFill>
                <a:effectLst/>
                <a:latin typeface="-apple-system"/>
              </a:rPr>
              <a:t>각기 다른 특성을 갖는 위성이 그룹 내에서 상호작용할 수 있도록 고안된 개념</a:t>
            </a:r>
            <a:r>
              <a:rPr lang="ko-KR" altLang="en-US" b="0" dirty="0">
                <a:solidFill>
                  <a:srgbClr val="1F2328"/>
                </a:solidFill>
                <a:effectLst/>
                <a:latin typeface="-apple-system"/>
              </a:rPr>
              <a:t>이 이종 </a:t>
            </a:r>
            <a:r>
              <a:rPr lang="ko-KR" altLang="en-US" b="0" dirty="0" err="1">
                <a:solidFill>
                  <a:srgbClr val="1F2328"/>
                </a:solidFill>
                <a:effectLst/>
                <a:latin typeface="-apple-system"/>
              </a:rPr>
              <a:t>위성군</a:t>
            </a:r>
            <a:endParaRPr lang="en-US" altLang="ko-KR" dirty="0">
              <a:solidFill>
                <a:srgbClr val="1F2328"/>
              </a:solidFill>
              <a:latin typeface="-apple-system"/>
            </a:endParaRPr>
          </a:p>
          <a:p>
            <a:pPr lvl="1">
              <a:defRPr/>
            </a:pPr>
            <a:r>
              <a:rPr lang="ko-KR" altLang="en-US" b="0" dirty="0">
                <a:solidFill>
                  <a:srgbClr val="1F2328"/>
                </a:solidFill>
                <a:effectLst/>
                <a:latin typeface="-apple-system"/>
              </a:rPr>
              <a:t>이종 위성군은 각 위성의 성격에 따라 다음과 같이 구분 가능</a:t>
            </a:r>
            <a:endParaRPr lang="en-US" altLang="ko-KR" b="0" dirty="0">
              <a:solidFill>
                <a:srgbClr val="1F2328"/>
              </a:solidFill>
              <a:effectLst/>
              <a:latin typeface="-apple-system"/>
            </a:endParaRPr>
          </a:p>
          <a:p>
            <a:pPr lvl="2">
              <a:defRPr/>
            </a:pPr>
            <a:r>
              <a:rPr lang="ko-KR" altLang="en-US" b="1" i="0" u="sng" dirty="0">
                <a:solidFill>
                  <a:srgbClr val="1F2328"/>
                </a:solidFill>
                <a:effectLst/>
                <a:latin typeface="-apple-system"/>
              </a:rPr>
              <a:t>서로 다른 종류의 탑재체</a:t>
            </a:r>
            <a:r>
              <a:rPr lang="ko-KR" altLang="en-US" b="0" i="0" dirty="0">
                <a:solidFill>
                  <a:srgbClr val="1F2328"/>
                </a:solidFill>
                <a:effectLst/>
                <a:latin typeface="-apple-system"/>
              </a:rPr>
              <a:t>가 포함된 </a:t>
            </a:r>
            <a:r>
              <a:rPr lang="ko-KR" altLang="en-US" b="0" i="0" dirty="0" err="1">
                <a:solidFill>
                  <a:srgbClr val="1F2328"/>
                </a:solidFill>
                <a:effectLst/>
                <a:latin typeface="-apple-system"/>
              </a:rPr>
              <a:t>위성군</a:t>
            </a: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lvl="2">
              <a:defRPr/>
            </a:pPr>
            <a:r>
              <a:rPr lang="ko-KR" altLang="en-US" b="1" u="sng" dirty="0">
                <a:solidFill>
                  <a:srgbClr val="1F2328"/>
                </a:solidFill>
                <a:latin typeface="-apple-system"/>
              </a:rPr>
              <a:t>서로 다른 종류의 궤도 유형</a:t>
            </a:r>
            <a:r>
              <a:rPr lang="ko-KR" altLang="en-US" dirty="0">
                <a:solidFill>
                  <a:srgbClr val="1F2328"/>
                </a:solidFill>
                <a:latin typeface="-apple-system"/>
              </a:rPr>
              <a:t>을 동시에 운용하는 </a:t>
            </a:r>
            <a:r>
              <a:rPr lang="ko-KR" altLang="en-US" dirty="0" err="1">
                <a:solidFill>
                  <a:srgbClr val="1F2328"/>
                </a:solidFill>
                <a:latin typeface="-apple-system"/>
              </a:rPr>
              <a:t>위성군</a:t>
            </a: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lvl="2">
              <a:defRPr/>
            </a:pPr>
            <a:endParaRPr lang="en-US" altLang="ko-KR" b="0" dirty="0">
              <a:solidFill>
                <a:srgbClr val="1F2328"/>
              </a:solidFill>
              <a:effectLst/>
              <a:latin typeface="-apple-system"/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301407D0-E75A-327B-3061-DB20A2ECA7AC}"/>
              </a:ext>
            </a:extLst>
          </p:cNvPr>
          <p:cNvGrpSpPr/>
          <p:nvPr/>
        </p:nvGrpSpPr>
        <p:grpSpPr>
          <a:xfrm>
            <a:off x="0" y="0"/>
            <a:ext cx="9144000" cy="1124607"/>
            <a:chOff x="0" y="0"/>
            <a:chExt cx="9144000" cy="1124607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9D52CD0D-455E-00FB-DA0B-6BA9C6ED99E0}"/>
                </a:ext>
              </a:extLst>
            </p:cNvPr>
            <p:cNvSpPr/>
            <p:nvPr/>
          </p:nvSpPr>
          <p:spPr bwMode="auto">
            <a:xfrm>
              <a:off x="7589521" y="0"/>
              <a:ext cx="1554479" cy="75876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E1541372-FA97-D97C-F4D7-0103D69C543D}"/>
                </a:ext>
              </a:extLst>
            </p:cNvPr>
            <p:cNvSpPr/>
            <p:nvPr/>
          </p:nvSpPr>
          <p:spPr bwMode="auto">
            <a:xfrm>
              <a:off x="8259943" y="152400"/>
              <a:ext cx="884057" cy="97220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5B3BE476-1EB3-8BAB-ADFA-1A675286629C}"/>
                </a:ext>
              </a:extLst>
            </p:cNvPr>
            <p:cNvSpPr/>
            <p:nvPr/>
          </p:nvSpPr>
          <p:spPr bwMode="auto">
            <a:xfrm>
              <a:off x="7589521" y="495406"/>
              <a:ext cx="828769" cy="34832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9CD4D941-4184-DF52-2D63-1D7269712BB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876300" cy="8286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5388808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6037C075-29DA-78AF-D9D3-E8BA66A3C866}"/>
              </a:ext>
            </a:extLst>
          </p:cNvPr>
          <p:cNvSpPr/>
          <p:nvPr/>
        </p:nvSpPr>
        <p:spPr bwMode="auto">
          <a:xfrm>
            <a:off x="135286" y="6222223"/>
            <a:ext cx="3743031" cy="597281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 위성군의 해외 연구사례</a:t>
            </a:r>
            <a:r>
              <a:rPr lang="en-US" altLang="ko-KR" dirty="0"/>
              <a:t>(1)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1" y="929336"/>
            <a:ext cx="8629838" cy="5376968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en-US" altLang="ko-KR" dirty="0" err="1"/>
              <a:t>OptiSAR</a:t>
            </a:r>
            <a:r>
              <a:rPr lang="en-US" altLang="ko-KR" dirty="0"/>
              <a:t> </a:t>
            </a:r>
            <a:r>
              <a:rPr lang="ko-KR" altLang="en-US" dirty="0"/>
              <a:t>프로젝트</a:t>
            </a: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lvl="1"/>
            <a:r>
              <a:rPr lang="en-US" altLang="ko-KR" dirty="0"/>
              <a:t>SAR-XL </a:t>
            </a:r>
            <a:r>
              <a:rPr lang="ko-KR" altLang="en-US" dirty="0"/>
              <a:t>기술을 사용하는 </a:t>
            </a:r>
            <a:r>
              <a:rPr lang="en-US" altLang="ko-KR" dirty="0"/>
              <a:t>SAR</a:t>
            </a:r>
            <a:r>
              <a:rPr lang="ko-KR" altLang="en-US" dirty="0"/>
              <a:t>위성과 </a:t>
            </a:r>
            <a:r>
              <a:rPr lang="en-US" altLang="ko-KR" dirty="0"/>
              <a:t>2</a:t>
            </a:r>
            <a:r>
              <a:rPr lang="ko-KR" altLang="en-US" dirty="0"/>
              <a:t>분 뒤에 따라오는 광학 위성으로 구성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marL="216000" lvl="1" indent="0">
              <a:buNone/>
            </a:pPr>
            <a:endParaRPr lang="en-US" altLang="ko-KR" dirty="0"/>
          </a:p>
          <a:p>
            <a:r>
              <a:rPr lang="ko-KR" altLang="en-US" dirty="0"/>
              <a:t>궤도 정보</a:t>
            </a:r>
          </a:p>
          <a:p>
            <a:pPr lvl="1"/>
            <a:r>
              <a:rPr lang="ko-KR" altLang="en-US" dirty="0"/>
              <a:t>네 쌍의</a:t>
            </a:r>
            <a:r>
              <a:rPr lang="en-US" altLang="ko-KR" dirty="0"/>
              <a:t> </a:t>
            </a:r>
            <a:r>
              <a:rPr lang="ko-KR" altLang="en-US" dirty="0"/>
              <a:t>위성들은 궤도면 주위에 등간격으로 배치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295534C-CAEB-12D0-D171-DEB9EE1E7A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9518" y="1769540"/>
            <a:ext cx="2283318" cy="1548790"/>
          </a:xfrm>
          <a:prstGeom prst="rect">
            <a:avLst/>
          </a:prstGeom>
          <a:ln>
            <a:solidFill>
              <a:schemeClr val="tx1"/>
            </a:solidFill>
          </a:ln>
        </p:spPr>
      </p:pic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24333172-9340-865B-E35A-39EE6B697693}"/>
              </a:ext>
            </a:extLst>
          </p:cNvPr>
          <p:cNvGraphicFramePr>
            <a:graphicFrameLocks noGrp="1"/>
          </p:cNvGraphicFramePr>
          <p:nvPr/>
        </p:nvGraphicFramePr>
        <p:xfrm>
          <a:off x="585456" y="4255294"/>
          <a:ext cx="6014217" cy="16809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4446">
                  <a:extLst>
                    <a:ext uri="{9D8B030D-6E8A-4147-A177-3AD203B41FA5}">
                      <a16:colId xmlns:a16="http://schemas.microsoft.com/office/drawing/2014/main" val="1934110007"/>
                    </a:ext>
                  </a:extLst>
                </a:gridCol>
                <a:gridCol w="1748546">
                  <a:extLst>
                    <a:ext uri="{9D8B030D-6E8A-4147-A177-3AD203B41FA5}">
                      <a16:colId xmlns:a16="http://schemas.microsoft.com/office/drawing/2014/main" val="3433304667"/>
                    </a:ext>
                  </a:extLst>
                </a:gridCol>
                <a:gridCol w="1129421">
                  <a:extLst>
                    <a:ext uri="{9D8B030D-6E8A-4147-A177-3AD203B41FA5}">
                      <a16:colId xmlns:a16="http://schemas.microsoft.com/office/drawing/2014/main" val="4117600169"/>
                    </a:ext>
                  </a:extLst>
                </a:gridCol>
                <a:gridCol w="730958">
                  <a:extLst>
                    <a:ext uri="{9D8B030D-6E8A-4147-A177-3AD203B41FA5}">
                      <a16:colId xmlns:a16="http://schemas.microsoft.com/office/drawing/2014/main" val="3732205989"/>
                    </a:ext>
                  </a:extLst>
                </a:gridCol>
                <a:gridCol w="721682">
                  <a:extLst>
                    <a:ext uri="{9D8B030D-6E8A-4147-A177-3AD203B41FA5}">
                      <a16:colId xmlns:a16="http://schemas.microsoft.com/office/drawing/2014/main" val="2187101292"/>
                    </a:ext>
                  </a:extLst>
                </a:gridCol>
                <a:gridCol w="499220">
                  <a:extLst>
                    <a:ext uri="{9D8B030D-6E8A-4147-A177-3AD203B41FA5}">
                      <a16:colId xmlns:a16="http://schemas.microsoft.com/office/drawing/2014/main" val="992958570"/>
                    </a:ext>
                  </a:extLst>
                </a:gridCol>
                <a:gridCol w="489944">
                  <a:extLst>
                    <a:ext uri="{9D8B030D-6E8A-4147-A177-3AD203B41FA5}">
                      <a16:colId xmlns:a16="http://schemas.microsoft.com/office/drawing/2014/main" val="2977512495"/>
                    </a:ext>
                  </a:extLst>
                </a:gridCol>
              </a:tblGrid>
              <a:tr h="162499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Orbit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Function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Inclination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Number</a:t>
                      </a:r>
                      <a:r>
                        <a:rPr lang="ko-KR" altLang="en-US" sz="15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 </a:t>
                      </a:r>
                      <a:r>
                        <a:rPr lang="en-US" altLang="ko-KR" sz="15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of</a:t>
                      </a:r>
                      <a:r>
                        <a:rPr lang="ko-KR" altLang="en-US" sz="15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 </a:t>
                      </a:r>
                      <a:r>
                        <a:rPr lang="en-US" altLang="ko-KR" sz="15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Satellite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500" b="0" dirty="0">
                        <a:solidFill>
                          <a:schemeClr val="bg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946841"/>
                  </a:ext>
                </a:extLst>
              </a:tr>
              <a:tr h="1624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Optics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SAR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Total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7594251"/>
                  </a:ext>
                </a:extLst>
              </a:tr>
              <a:tr h="41767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SSO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지구 관측 임무 </a:t>
                      </a:r>
                      <a:endParaRPr lang="en-US" altLang="ko-KR" sz="14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(LTAN 10:30)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98</a:t>
                      </a:r>
                      <a:r>
                        <a:rPr lang="ko-KR" altLang="en-US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˚</a:t>
                      </a:r>
                      <a:endParaRPr lang="en-US" altLang="ko-KR" sz="14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4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4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8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16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372325"/>
                  </a:ext>
                </a:extLst>
              </a:tr>
              <a:tr h="41767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MIO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중위도 지역의 </a:t>
                      </a:r>
                      <a:endParaRPr lang="en-US" altLang="ko-KR" sz="14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  <a:p>
                      <a:pPr algn="ctr" latinLnBrk="1"/>
                      <a:r>
                        <a:rPr lang="ko-KR" altLang="en-US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높은 재방문율 허용</a:t>
                      </a:r>
                      <a:endParaRPr lang="en-US" altLang="ko-KR" sz="14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45</a:t>
                      </a:r>
                      <a:r>
                        <a:rPr lang="ko-KR" altLang="en-US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˚</a:t>
                      </a:r>
                      <a:endParaRPr lang="en-US" altLang="ko-KR" sz="14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4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4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8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14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2024666"/>
                  </a:ext>
                </a:extLst>
              </a:tr>
            </a:tbl>
          </a:graphicData>
        </a:graphic>
      </p:graphicFrame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6D5A17C8-ED43-B10B-F86A-3401BC530DC0}"/>
              </a:ext>
            </a:extLst>
          </p:cNvPr>
          <p:cNvGraphicFramePr>
            <a:graphicFrameLocks noGrp="1"/>
          </p:cNvGraphicFramePr>
          <p:nvPr/>
        </p:nvGraphicFramePr>
        <p:xfrm>
          <a:off x="585456" y="1739205"/>
          <a:ext cx="5275687" cy="1548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8434">
                  <a:extLst>
                    <a:ext uri="{9D8B030D-6E8A-4147-A177-3AD203B41FA5}">
                      <a16:colId xmlns:a16="http://schemas.microsoft.com/office/drawing/2014/main" val="1914817558"/>
                    </a:ext>
                  </a:extLst>
                </a:gridCol>
                <a:gridCol w="2089858">
                  <a:extLst>
                    <a:ext uri="{9D8B030D-6E8A-4147-A177-3AD203B41FA5}">
                      <a16:colId xmlns:a16="http://schemas.microsoft.com/office/drawing/2014/main" val="816440905"/>
                    </a:ext>
                  </a:extLst>
                </a:gridCol>
                <a:gridCol w="2337395">
                  <a:extLst>
                    <a:ext uri="{9D8B030D-6E8A-4147-A177-3AD203B41FA5}">
                      <a16:colId xmlns:a16="http://schemas.microsoft.com/office/drawing/2014/main" val="3531733101"/>
                    </a:ext>
                  </a:extLst>
                </a:gridCol>
              </a:tblGrid>
              <a:tr h="1701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Payload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Dual mode Cam/Band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5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30524"/>
                  </a:ext>
                </a:extLst>
              </a:tr>
              <a:tr h="246319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Optics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Multi-spectral </a:t>
                      </a:r>
                      <a:r>
                        <a:rPr lang="en-US" altLang="ko-KR" sz="1400" dirty="0" err="1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pushbroom</a:t>
                      </a:r>
                      <a:endParaRPr lang="en-US" altLang="ko-KR" sz="14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고해상도</a:t>
                      </a:r>
                      <a:r>
                        <a:rPr lang="en-US" altLang="ko-KR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(0.5m GSD)</a:t>
                      </a:r>
                      <a:r>
                        <a:rPr lang="ko-KR" altLang="en-US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의 </a:t>
                      </a:r>
                      <a:endParaRPr lang="en-US" altLang="ko-KR" sz="14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  <a:p>
                      <a:pPr algn="ctr" latinLnBrk="1"/>
                      <a:r>
                        <a:rPr lang="ko-KR" altLang="en-US" sz="1400" dirty="0" err="1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듀얼모드</a:t>
                      </a:r>
                      <a:r>
                        <a:rPr lang="ko-KR" altLang="en-US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 광학 카메라 사용</a:t>
                      </a:r>
                      <a:endParaRPr lang="en-US" altLang="ko-KR" sz="14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1463829"/>
                  </a:ext>
                </a:extLst>
              </a:tr>
              <a:tr h="24631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RGB color video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13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96398" marR="96398" marT="48199" marB="48199" anchor="ctr"/>
                </a:tc>
                <a:extLst>
                  <a:ext uri="{0D108BD9-81ED-4DB2-BD59-A6C34878D82A}">
                    <a16:rowId xmlns:a16="http://schemas.microsoft.com/office/drawing/2014/main" val="2605333760"/>
                  </a:ext>
                </a:extLst>
              </a:tr>
              <a:tr h="246319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SAR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X-band(1m class)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SAR-XL </a:t>
                      </a:r>
                      <a:r>
                        <a:rPr lang="ko-KR" altLang="en-US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기술을 이용한 </a:t>
                      </a:r>
                      <a:endParaRPr lang="en-US" altLang="ko-KR" sz="14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 err="1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듀얼밴드</a:t>
                      </a:r>
                      <a:r>
                        <a:rPr lang="ko-KR" altLang="en-US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 사용</a:t>
                      </a:r>
                      <a:endParaRPr lang="en-US" altLang="ko-KR" sz="14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0095560"/>
                  </a:ext>
                </a:extLst>
              </a:tr>
              <a:tr h="24631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L-band(5m class)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13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96398" marR="96398" marT="48199" marB="48199" anchor="ctr"/>
                </a:tc>
                <a:extLst>
                  <a:ext uri="{0D108BD9-81ED-4DB2-BD59-A6C34878D82A}">
                    <a16:rowId xmlns:a16="http://schemas.microsoft.com/office/drawing/2014/main" val="4050504015"/>
                  </a:ext>
                </a:extLst>
              </a:tr>
            </a:tbl>
          </a:graphicData>
        </a:graphic>
      </p:graphicFrame>
      <p:pic>
        <p:nvPicPr>
          <p:cNvPr id="25" name="그림 24">
            <a:extLst>
              <a:ext uri="{FF2B5EF4-FFF2-40B4-BE49-F238E27FC236}">
                <a16:creationId xmlns:a16="http://schemas.microsoft.com/office/drawing/2014/main" id="{AC4FC3C2-F1AB-398E-8099-0525C3B355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6554" y="3476540"/>
            <a:ext cx="1922435" cy="128799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5FDFFD92-F060-7007-EF2A-A7BB12EE79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6554" y="4822805"/>
            <a:ext cx="1922435" cy="155022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EE07C17-75B5-F0DB-A148-7D7954BB043F}"/>
              </a:ext>
            </a:extLst>
          </p:cNvPr>
          <p:cNvSpPr txBox="1"/>
          <p:nvPr/>
        </p:nvSpPr>
        <p:spPr>
          <a:xfrm>
            <a:off x="-291546" y="6411251"/>
            <a:ext cx="862983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ko-KR" altLang="en-US" sz="1000" b="1" dirty="0">
                <a:solidFill>
                  <a:srgbClr val="1F2328"/>
                </a:solidFill>
              </a:rPr>
              <a:t>출처 </a:t>
            </a:r>
            <a:r>
              <a:rPr lang="en-US" altLang="ko-KR" sz="1000" b="1" dirty="0">
                <a:solidFill>
                  <a:srgbClr val="1F2328"/>
                </a:solidFill>
              </a:rPr>
              <a:t>: </a:t>
            </a:r>
            <a:r>
              <a:rPr lang="ko-KR" altLang="en-US" sz="1000" b="1" dirty="0"/>
              <a:t> </a:t>
            </a:r>
            <a:r>
              <a:rPr lang="en-US" altLang="en-US" sz="1000" b="1" dirty="0"/>
              <a:t>P. Fox, G. </a:t>
            </a:r>
            <a:r>
              <a:rPr lang="en-US" altLang="en-US" sz="1000" b="1" dirty="0" err="1"/>
              <a:t>Tyc</a:t>
            </a:r>
            <a:r>
              <a:rPr lang="en-US" altLang="en-US" sz="1000" b="1" dirty="0"/>
              <a:t>, and K. Beckett, “The UrtheCast SAR-XL multi-band, multi-aperture spaceborne SAR system,” 2017 IEEE Radar Conference (</a:t>
            </a:r>
            <a:r>
              <a:rPr lang="en-US" altLang="en-US" sz="1000" b="1" dirty="0" err="1"/>
              <a:t>RadarConf</a:t>
            </a:r>
            <a:r>
              <a:rPr lang="en-US" altLang="en-US" sz="1000" b="1" dirty="0"/>
              <a:t>), pp. 1761–1764, May 2017.</a:t>
            </a:r>
            <a:endParaRPr lang="en-US" altLang="ko-KR" sz="1000" b="1" dirty="0">
              <a:solidFill>
                <a:srgbClr val="1F2328"/>
              </a:solidFill>
            </a:endParaRPr>
          </a:p>
          <a:p>
            <a:pPr lvl="1">
              <a:defRPr/>
            </a:pPr>
            <a:endParaRPr lang="en-US" altLang="ko-KR" sz="1000" b="1" dirty="0">
              <a:solidFill>
                <a:srgbClr val="1F2328"/>
              </a:solidFill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152A7384-4FC7-3E82-A91E-B840F5A37508}"/>
              </a:ext>
            </a:extLst>
          </p:cNvPr>
          <p:cNvGrpSpPr/>
          <p:nvPr/>
        </p:nvGrpSpPr>
        <p:grpSpPr>
          <a:xfrm>
            <a:off x="0" y="0"/>
            <a:ext cx="9144000" cy="1124607"/>
            <a:chOff x="0" y="0"/>
            <a:chExt cx="9144000" cy="1124607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23196E36-8021-142D-A4BF-71CCF115CD8E}"/>
                </a:ext>
              </a:extLst>
            </p:cNvPr>
            <p:cNvSpPr/>
            <p:nvPr/>
          </p:nvSpPr>
          <p:spPr bwMode="auto">
            <a:xfrm>
              <a:off x="7589521" y="0"/>
              <a:ext cx="1554479" cy="75876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0A2D4BC6-4F66-D090-D7D5-E070B2073766}"/>
                </a:ext>
              </a:extLst>
            </p:cNvPr>
            <p:cNvSpPr/>
            <p:nvPr/>
          </p:nvSpPr>
          <p:spPr bwMode="auto">
            <a:xfrm>
              <a:off x="8259943" y="152400"/>
              <a:ext cx="884057" cy="97220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3F32EB72-2394-8961-8E94-82852C85BD60}"/>
                </a:ext>
              </a:extLst>
            </p:cNvPr>
            <p:cNvSpPr/>
            <p:nvPr/>
          </p:nvSpPr>
          <p:spPr bwMode="auto">
            <a:xfrm>
              <a:off x="7589521" y="495406"/>
              <a:ext cx="828769" cy="34832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E5E9EE89-C989-3881-EF08-063CC2F0158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0" y="0"/>
              <a:ext cx="876300" cy="8286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53467669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AD776A03-9662-706D-E07B-288E22F89723}"/>
              </a:ext>
            </a:extLst>
          </p:cNvPr>
          <p:cNvSpPr/>
          <p:nvPr/>
        </p:nvSpPr>
        <p:spPr bwMode="auto">
          <a:xfrm>
            <a:off x="135286" y="6222223"/>
            <a:ext cx="3743031" cy="597281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 위성군의 해외 연구사례</a:t>
            </a:r>
            <a:r>
              <a:rPr lang="en-US" altLang="ko-KR" dirty="0"/>
              <a:t>(2)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1" y="929336"/>
            <a:ext cx="8629838" cy="5376968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신속한 </a:t>
            </a:r>
            <a:r>
              <a:rPr lang="en-US" altLang="ko-KR" dirty="0"/>
              <a:t>SRT </a:t>
            </a:r>
            <a:r>
              <a:rPr lang="ko-KR" altLang="en-US" dirty="0"/>
              <a:t>제공을 위한 이종위성군 설계 연구</a:t>
            </a: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lvl="1"/>
            <a:r>
              <a:rPr lang="ko-KR" altLang="en-US" dirty="0"/>
              <a:t>자연재해 등 국방 및 </a:t>
            </a:r>
            <a:r>
              <a:rPr lang="ko-KR" altLang="en-US" b="1" u="sng" dirty="0"/>
              <a:t>자연안보에 신속하게 대응 </a:t>
            </a:r>
            <a:endParaRPr lang="en-US" altLang="ko-KR" b="1" u="sng" dirty="0"/>
          </a:p>
          <a:p>
            <a:pPr lvl="1"/>
            <a:r>
              <a:rPr lang="en-US" altLang="ko-KR" dirty="0"/>
              <a:t>SRT(System Response Time)</a:t>
            </a:r>
            <a:r>
              <a:rPr lang="ko-KR" altLang="en-US" dirty="0"/>
              <a:t>를 최대한 줄일 수 있는 이종위성군 설계</a:t>
            </a:r>
            <a:endParaRPr lang="en-US" altLang="ko-KR" dirty="0"/>
          </a:p>
          <a:p>
            <a:pPr lvl="1"/>
            <a:r>
              <a:rPr lang="en-US" altLang="ko-KR" b="1" u="sng" dirty="0"/>
              <a:t>SRT </a:t>
            </a:r>
            <a:r>
              <a:rPr lang="ko-KR" altLang="en-US" b="1" u="sng" dirty="0"/>
              <a:t>성능을 향상</a:t>
            </a:r>
            <a:r>
              <a:rPr lang="ko-KR" altLang="en-US" dirty="0"/>
              <a:t>시키기 위해 </a:t>
            </a:r>
            <a:r>
              <a:rPr lang="ko-KR" altLang="en-US" b="1" u="sng" dirty="0"/>
              <a:t>서로 다른 기능을 하는 두 종류의 위성</a:t>
            </a:r>
            <a:r>
              <a:rPr lang="en-US" altLang="ko-KR" dirty="0"/>
              <a:t>(Imaging</a:t>
            </a:r>
            <a:r>
              <a:rPr lang="ko-KR" altLang="en-US" dirty="0"/>
              <a:t> 위성과 </a:t>
            </a:r>
            <a:r>
              <a:rPr lang="en-US" altLang="ko-KR" dirty="0"/>
              <a:t>Relay</a:t>
            </a:r>
            <a:r>
              <a:rPr lang="ko-KR" altLang="en-US" dirty="0"/>
              <a:t> 위성</a:t>
            </a:r>
            <a:r>
              <a:rPr lang="en-US" altLang="ko-KR" dirty="0"/>
              <a:t>)</a:t>
            </a:r>
            <a:r>
              <a:rPr lang="ko-KR" altLang="en-US" dirty="0"/>
              <a:t>을 </a:t>
            </a:r>
            <a:r>
              <a:rPr lang="en-US" altLang="ko-KR" dirty="0"/>
              <a:t>Cross-Link</a:t>
            </a:r>
            <a:r>
              <a:rPr lang="ko-KR" altLang="en-US" dirty="0"/>
              <a:t>하여 운용함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E07C17-75B5-F0DB-A148-7D7954BB043F}"/>
              </a:ext>
            </a:extLst>
          </p:cNvPr>
          <p:cNvSpPr txBox="1"/>
          <p:nvPr/>
        </p:nvSpPr>
        <p:spPr>
          <a:xfrm>
            <a:off x="-169751" y="6189788"/>
            <a:ext cx="905667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ko-KR" altLang="en-US" sz="1000" b="1" dirty="0">
                <a:solidFill>
                  <a:srgbClr val="1F2328"/>
                </a:solidFill>
              </a:rPr>
              <a:t>출처 </a:t>
            </a:r>
            <a:r>
              <a:rPr lang="en-US" altLang="ko-KR" sz="1000" b="1" dirty="0">
                <a:solidFill>
                  <a:srgbClr val="1F2328"/>
                </a:solidFill>
              </a:rPr>
              <a:t>: </a:t>
            </a:r>
            <a:r>
              <a:rPr lang="ko-KR" altLang="en-US" sz="1000" b="1" dirty="0"/>
              <a:t> </a:t>
            </a:r>
            <a:r>
              <a:rPr lang="en-US" altLang="en-US" sz="1000" b="1" dirty="0"/>
              <a:t>I. Sanad and D. G. Michelson, "A Framework for Heterogeneous Satellite Constellation Design for Rapid Response Earth Observations," 2019 IEEE Aerospace Conference, Big Sky, MT, USA, 2019, pp. 1-10, </a:t>
            </a:r>
            <a:r>
              <a:rPr lang="en-US" altLang="en-US" sz="1000" b="1" dirty="0" err="1"/>
              <a:t>doi</a:t>
            </a:r>
            <a:r>
              <a:rPr lang="en-US" altLang="en-US" sz="1000" b="1" dirty="0"/>
              <a:t>: 10.1109/AERO.2019.8741813. </a:t>
            </a:r>
            <a:endParaRPr lang="en-US" altLang="ko-KR" sz="1000" b="1" dirty="0">
              <a:solidFill>
                <a:srgbClr val="1F2328"/>
              </a:solidFill>
            </a:endParaRPr>
          </a:p>
          <a:p>
            <a:pPr lvl="1">
              <a:defRPr/>
            </a:pPr>
            <a:endParaRPr lang="en-US" altLang="ko-KR" sz="1000" b="1" dirty="0">
              <a:solidFill>
                <a:srgbClr val="1F2328"/>
              </a:solidFill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F2B76BE8-E57F-A672-6DF9-A864F9A4F8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0255310"/>
              </p:ext>
            </p:extLst>
          </p:nvPr>
        </p:nvGraphicFramePr>
        <p:xfrm>
          <a:off x="884057" y="2739099"/>
          <a:ext cx="4001288" cy="3352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23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79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0035">
                  <a:extLst>
                    <a:ext uri="{9D8B030D-6E8A-4147-A177-3AD203B41FA5}">
                      <a16:colId xmlns:a16="http://schemas.microsoft.com/office/drawing/2014/main" val="3978487964"/>
                    </a:ext>
                  </a:extLst>
                </a:gridCol>
                <a:gridCol w="721043">
                  <a:extLst>
                    <a:ext uri="{9D8B030D-6E8A-4147-A177-3AD203B41FA5}">
                      <a16:colId xmlns:a16="http://schemas.microsoft.com/office/drawing/2014/main" val="3647112933"/>
                    </a:ext>
                  </a:extLst>
                </a:gridCol>
              </a:tblGrid>
              <a:tr h="21821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Constellation type</a:t>
                      </a:r>
                      <a:endParaRPr lang="ko-KR" altLang="en-US" sz="1400" b="1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Imaging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bg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Relay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8189452"/>
                  </a:ext>
                </a:extLst>
              </a:tr>
              <a:tr h="21821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Orbit Type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SSO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MIO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MEO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Orbital altitude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600km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575km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8,000km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Number of satellites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4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4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4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Inclination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98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45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0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5764873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Sensor FOV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40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-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Swath Width(SW)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437km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Sensor Focal length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1.35m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-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24509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Sensor Detector pitch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1 </a:t>
                      </a:r>
                      <a:r>
                        <a:rPr lang="el-GR" altLang="ko-KR" sz="1200" dirty="0">
                          <a:solidFill>
                            <a:schemeClr val="tx1"/>
                          </a:solidFill>
                        </a:rPr>
                        <a:t>μ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m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-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7019693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GSD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0.5m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-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718721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Daylight global coverage %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98.75%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-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40821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GS latitude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30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˚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~34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176279"/>
                  </a:ext>
                </a:extLst>
              </a:tr>
            </a:tbl>
          </a:graphicData>
        </a:graphic>
      </p:graphicFrame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5BAF7367-D881-479E-DE05-F411101E61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6181531"/>
              </p:ext>
            </p:extLst>
          </p:nvPr>
        </p:nvGraphicFramePr>
        <p:xfrm>
          <a:off x="5137077" y="2739099"/>
          <a:ext cx="3122866" cy="140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04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0478">
                  <a:extLst>
                    <a:ext uri="{9D8B030D-6E8A-4147-A177-3AD203B41FA5}">
                      <a16:colId xmlns:a16="http://schemas.microsoft.com/office/drawing/2014/main" val="1881032504"/>
                    </a:ext>
                  </a:extLst>
                </a:gridCol>
                <a:gridCol w="1040955">
                  <a:extLst>
                    <a:ext uri="{9D8B030D-6E8A-4147-A177-3AD203B41FA5}">
                      <a16:colId xmlns:a16="http://schemas.microsoft.com/office/drawing/2014/main" val="400930265"/>
                    </a:ext>
                  </a:extLst>
                </a:gridCol>
                <a:gridCol w="1040955">
                  <a:extLst>
                    <a:ext uri="{9D8B030D-6E8A-4147-A177-3AD203B41FA5}">
                      <a16:colId xmlns:a16="http://schemas.microsoft.com/office/drawing/2014/main" val="3978487964"/>
                    </a:ext>
                  </a:extLst>
                </a:gridCol>
              </a:tblGrid>
              <a:tr h="19693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GSD</a:t>
                      </a:r>
                      <a:endParaRPr lang="ko-KR" altLang="en-US" sz="14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0.5m</a:t>
                      </a:r>
                      <a:endParaRPr lang="ko-KR" altLang="en-US" sz="14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5m</a:t>
                      </a:r>
                      <a:endParaRPr lang="ko-KR" altLang="en-US" sz="14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Focal length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1.2~1.4m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0.12~0.14m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DP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1 </a:t>
                      </a:r>
                      <a:r>
                        <a:rPr lang="el-GR" altLang="ko-KR" sz="1200" dirty="0"/>
                        <a:t>μ</a:t>
                      </a:r>
                      <a:r>
                        <a:rPr lang="en-US" altLang="ko-KR" sz="1200" dirty="0"/>
                        <a:t>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1</a:t>
                      </a:r>
                      <a:r>
                        <a:rPr lang="el-GR" altLang="ko-KR" sz="1200" dirty="0"/>
                        <a:t>μ</a:t>
                      </a:r>
                      <a:r>
                        <a:rPr lang="en-US" altLang="ko-KR" sz="1200" dirty="0"/>
                        <a:t>m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1908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FOV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20</a:t>
                      </a:r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212 km (@600km altitude)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3309454"/>
                  </a:ext>
                </a:extLst>
              </a:tr>
              <a:tr h="2319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40</a:t>
                      </a:r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473 km (@600km altitude)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5304945"/>
                  </a:ext>
                </a:extLst>
              </a:tr>
            </a:tbl>
          </a:graphicData>
        </a:graphic>
      </p:graphicFrame>
      <p:pic>
        <p:nvPicPr>
          <p:cNvPr id="11" name="그림 10">
            <a:extLst>
              <a:ext uri="{FF2B5EF4-FFF2-40B4-BE49-F238E27FC236}">
                <a16:creationId xmlns:a16="http://schemas.microsoft.com/office/drawing/2014/main" id="{B9FC1605-66FA-5F18-5219-7520DD6FE3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7077" y="4311746"/>
            <a:ext cx="2218431" cy="1750690"/>
          </a:xfrm>
          <a:prstGeom prst="rect">
            <a:avLst/>
          </a:prstGeom>
          <a:ln>
            <a:solidFill>
              <a:schemeClr val="tx1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C630142-5DD7-CCDC-A737-E4E8BD943876}"/>
                  </a:ext>
                </a:extLst>
              </p:cNvPr>
              <p:cNvSpPr txBox="1"/>
              <p:nvPr/>
            </p:nvSpPr>
            <p:spPr>
              <a:xfrm>
                <a:off x="7464469" y="4555698"/>
                <a:ext cx="1590948" cy="10567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ko-KR" sz="1200" b="1" dirty="0"/>
                  <a:t>  GSD </a:t>
                </a:r>
                <a14:m>
                  <m:oMath xmlns:m="http://schemas.openxmlformats.org/officeDocument/2006/math">
                    <m:r>
                      <a:rPr lang="en-US" altLang="ko-KR" sz="1600" b="1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US" altLang="ko-KR" sz="1600" b="1" i="1" dirty="0">
                  <a:latin typeface="Cambria Math" panose="02040503050406030204" pitchFamily="18" charset="0"/>
                </a:endParaRPr>
              </a:p>
              <a:p>
                <a:pPr algn="ctr"/>
                <a:endParaRPr lang="en-US" altLang="ko-KR" sz="1600" b="1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  <m:t>𝑫𝑷</m:t>
                          </m:r>
                          <m: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  <m:t>𝒓</m:t>
                          </m:r>
                        </m:num>
                        <m:den>
                          <m: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  <m:t>𝒇</m:t>
                          </m:r>
                          <m: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rad>
                            <m:radPr>
                              <m:degHide m:val="on"/>
                              <m:ctrlPr>
                                <a:rPr lang="en-US" altLang="ko-KR" sz="1600" b="1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ko-KR" sz="1600" b="1" i="0" smtClean="0">
                                  <a:latin typeface="Cambria Math" panose="02040503050406030204" pitchFamily="18" charset="0"/>
                                </a:rPr>
                                <m:t>𝐬𝐢𝐧</m:t>
                              </m:r>
                              <m:r>
                                <a:rPr lang="en-US" altLang="ko-KR" sz="1600" b="1" i="1" smtClean="0"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r>
                                <a:rPr lang="en-US" altLang="ko-KR" sz="1600" b="1" i="1" smtClean="0">
                                  <a:latin typeface="Cambria Math" panose="02040503050406030204" pitchFamily="18" charset="0"/>
                                </a:rPr>
                                <m:t>𝒆𝒍𝒆𝒗</m:t>
                              </m:r>
                              <m:r>
                                <a:rPr lang="en-US" altLang="ko-KR" sz="1600" b="1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ko-KR" altLang="en-US" sz="1200" b="1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C630142-5DD7-CCDC-A737-E4E8BD9438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4469" y="4555698"/>
                <a:ext cx="1590948" cy="1056764"/>
              </a:xfrm>
              <a:prstGeom prst="rect">
                <a:avLst/>
              </a:prstGeom>
              <a:blipFill>
                <a:blip r:embed="rId4"/>
                <a:stretch>
                  <a:fillRect t="-57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그룹 2">
            <a:extLst>
              <a:ext uri="{FF2B5EF4-FFF2-40B4-BE49-F238E27FC236}">
                <a16:creationId xmlns:a16="http://schemas.microsoft.com/office/drawing/2014/main" id="{C953E514-BD21-69C4-52F2-BC121822B66E}"/>
              </a:ext>
            </a:extLst>
          </p:cNvPr>
          <p:cNvGrpSpPr/>
          <p:nvPr/>
        </p:nvGrpSpPr>
        <p:grpSpPr>
          <a:xfrm>
            <a:off x="0" y="0"/>
            <a:ext cx="9144000" cy="1124607"/>
            <a:chOff x="0" y="0"/>
            <a:chExt cx="9144000" cy="1124607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F6CD1D9C-4C44-B594-87FB-0DD9A1800C55}"/>
                </a:ext>
              </a:extLst>
            </p:cNvPr>
            <p:cNvSpPr/>
            <p:nvPr/>
          </p:nvSpPr>
          <p:spPr bwMode="auto">
            <a:xfrm>
              <a:off x="7589521" y="0"/>
              <a:ext cx="1554479" cy="75876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8725FDA1-F8A1-959B-488F-435A79123B18}"/>
                </a:ext>
              </a:extLst>
            </p:cNvPr>
            <p:cNvSpPr/>
            <p:nvPr/>
          </p:nvSpPr>
          <p:spPr bwMode="auto">
            <a:xfrm>
              <a:off x="8259943" y="152400"/>
              <a:ext cx="884057" cy="97220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E867A73C-F052-0829-CA8B-DCF6343E83E3}"/>
                </a:ext>
              </a:extLst>
            </p:cNvPr>
            <p:cNvSpPr/>
            <p:nvPr/>
          </p:nvSpPr>
          <p:spPr bwMode="auto">
            <a:xfrm>
              <a:off x="7589521" y="495406"/>
              <a:ext cx="828769" cy="34832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C9DBCA63-10A8-EFA8-BE58-D89C385EFD9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0" y="0"/>
              <a:ext cx="876300" cy="8286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13264790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4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 위성군의 국내 연구사례</a:t>
            </a:r>
            <a:r>
              <a:rPr lang="en-US" altLang="ko-KR" dirty="0"/>
              <a:t>(1), (2)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1" y="916979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초소형 </a:t>
            </a:r>
            <a:r>
              <a:rPr lang="ko-KR" altLang="en-US" dirty="0" err="1"/>
              <a:t>위성군</a:t>
            </a:r>
            <a:r>
              <a:rPr lang="ko-KR" altLang="en-US" dirty="0"/>
              <a:t> 궤도설계와 유지 방법 연구</a:t>
            </a:r>
            <a:endParaRPr lang="en-US" altLang="ko-KR" dirty="0"/>
          </a:p>
          <a:p>
            <a:pPr lvl="1">
              <a:defRPr/>
            </a:pPr>
            <a:r>
              <a:rPr lang="ko-KR" altLang="en-US" b="1" u="sng" dirty="0"/>
              <a:t>한반도 및 인근의 주요 군사기지를 관심지역</a:t>
            </a:r>
            <a:r>
              <a:rPr lang="ko-KR" altLang="en-US" dirty="0"/>
              <a:t>으로 한 감시정찰 </a:t>
            </a:r>
            <a:r>
              <a:rPr lang="ko-KR" altLang="en-US" dirty="0" err="1"/>
              <a:t>위성군</a:t>
            </a:r>
            <a:r>
              <a:rPr lang="ko-KR" altLang="en-US" dirty="0"/>
              <a:t> 설계</a:t>
            </a:r>
            <a:endParaRPr lang="en-US" altLang="ko-KR" dirty="0"/>
          </a:p>
          <a:p>
            <a:pPr lvl="1">
              <a:defRPr/>
            </a:pPr>
            <a:r>
              <a:rPr lang="ko-KR" altLang="en-US" dirty="0"/>
              <a:t>한반도에 잠재적 위협이 될 수 있는 요소를 파악하여 </a:t>
            </a:r>
            <a:r>
              <a:rPr lang="ko-KR" altLang="en-US" b="1" u="sng" dirty="0"/>
              <a:t>국내 안보 강화에 기여</a:t>
            </a:r>
            <a:endParaRPr lang="en-US" altLang="ko-KR" b="1" u="sng" dirty="0"/>
          </a:p>
          <a:p>
            <a:pPr lvl="0">
              <a:defRPr/>
            </a:pPr>
            <a:endParaRPr lang="en-US" altLang="ko-KR" dirty="0"/>
          </a:p>
          <a:p>
            <a:pPr lvl="0">
              <a:defRPr/>
            </a:pPr>
            <a:r>
              <a:rPr lang="ko-KR" altLang="en-US" dirty="0"/>
              <a:t>지역 커버리지 초소형 </a:t>
            </a:r>
            <a:r>
              <a:rPr lang="ko-KR" altLang="en-US" dirty="0" err="1"/>
              <a:t>위성군</a:t>
            </a:r>
            <a:r>
              <a:rPr lang="ko-KR" altLang="en-US" dirty="0"/>
              <a:t> 연구</a:t>
            </a:r>
            <a:endParaRPr lang="en-US" altLang="ko-KR" dirty="0"/>
          </a:p>
          <a:p>
            <a:pPr lvl="1">
              <a:defRPr/>
            </a:pPr>
            <a:r>
              <a:rPr lang="ko-KR" altLang="en-US" b="1" u="sng" dirty="0"/>
              <a:t>좁은 </a:t>
            </a:r>
            <a:r>
              <a:rPr lang="ko-KR" altLang="en-US" b="1" u="sng" dirty="0" err="1"/>
              <a:t>커버리지와</a:t>
            </a:r>
            <a:r>
              <a:rPr lang="ko-KR" altLang="en-US" b="1" u="sng" dirty="0"/>
              <a:t> 저궤도 조건</a:t>
            </a:r>
            <a:r>
              <a:rPr lang="ko-KR" altLang="en-US" dirty="0"/>
              <a:t>을 반영한 초소형 </a:t>
            </a:r>
            <a:r>
              <a:rPr lang="ko-KR" altLang="en-US" dirty="0" err="1"/>
              <a:t>위성군</a:t>
            </a:r>
            <a:r>
              <a:rPr lang="ko-KR" altLang="en-US" dirty="0"/>
              <a:t> 궤도 설계</a:t>
            </a:r>
            <a:endParaRPr lang="en-US" altLang="ko-KR" dirty="0"/>
          </a:p>
          <a:p>
            <a:pPr lvl="1">
              <a:defRPr/>
            </a:pPr>
            <a:r>
              <a:rPr lang="ko-KR" altLang="en-US" dirty="0"/>
              <a:t>커버리지 및 재방문 주기 성능 지수 향상을 위해 </a:t>
            </a:r>
            <a:r>
              <a:rPr lang="ko-KR" altLang="en-US" b="1" u="sng" dirty="0"/>
              <a:t>관심지역의 위도와 궤도 경사각의 관계를 연구</a:t>
            </a:r>
            <a:endParaRPr lang="en-US" altLang="ko-KR" b="1" u="sng" dirty="0"/>
          </a:p>
          <a:p>
            <a:pPr lvl="1">
              <a:defRPr/>
            </a:pPr>
            <a:endParaRPr lang="en-US" altLang="ko-KR" dirty="0"/>
          </a:p>
          <a:p>
            <a:pPr>
              <a:defRPr/>
            </a:pPr>
            <a:r>
              <a:rPr lang="ko-KR" altLang="en-US" dirty="0"/>
              <a:t>연구 방법</a:t>
            </a:r>
            <a:endParaRPr lang="en-US" altLang="ko-KR" dirty="0"/>
          </a:p>
          <a:p>
            <a:pPr lvl="1">
              <a:defRPr/>
            </a:pPr>
            <a:r>
              <a:rPr lang="ko-KR" altLang="en-US" dirty="0" err="1"/>
              <a:t>위성군</a:t>
            </a:r>
            <a:r>
              <a:rPr lang="ko-KR" altLang="en-US" dirty="0"/>
              <a:t> 설계 패턴 </a:t>
            </a:r>
            <a:r>
              <a:rPr lang="en-US" altLang="ko-KR" dirty="0"/>
              <a:t>: </a:t>
            </a:r>
            <a:r>
              <a:rPr lang="ko-KR" altLang="en-US" b="1" u="sng" dirty="0"/>
              <a:t>워커</a:t>
            </a:r>
            <a:r>
              <a:rPr lang="en-US" altLang="ko-KR" b="1" u="sng" dirty="0"/>
              <a:t>-</a:t>
            </a:r>
            <a:r>
              <a:rPr lang="ko-KR" altLang="en-US" b="1" u="sng" dirty="0"/>
              <a:t>델타 </a:t>
            </a:r>
            <a:r>
              <a:rPr lang="ko-KR" altLang="en-US" b="1" u="sng" dirty="0" err="1"/>
              <a:t>위성군</a:t>
            </a:r>
            <a:r>
              <a:rPr lang="en-US" altLang="ko-KR" b="1" u="sng" dirty="0"/>
              <a:t>(T/P/F)</a:t>
            </a:r>
          </a:p>
          <a:p>
            <a:pPr lvl="1">
              <a:defRPr/>
            </a:pPr>
            <a:r>
              <a:rPr lang="ko-KR" altLang="en-US" dirty="0"/>
              <a:t>각 경우 별 </a:t>
            </a:r>
            <a:r>
              <a:rPr lang="ko-KR" altLang="en-US" b="1" u="sng" dirty="0"/>
              <a:t>평균 재방문 주기의 성능 지수를 비교</a:t>
            </a:r>
            <a:r>
              <a:rPr lang="ko-KR" altLang="en-US" dirty="0"/>
              <a:t>하여 최적의 조합을 선택</a:t>
            </a:r>
            <a:endParaRPr lang="en-US" altLang="ko-KR" dirty="0"/>
          </a:p>
          <a:p>
            <a:pPr lvl="1">
              <a:defRPr/>
            </a:pPr>
            <a:endParaRPr lang="en-US" altLang="ko-KR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CD32424E-75FC-D1B5-1AFC-7ABBD7286B2F}"/>
              </a:ext>
            </a:extLst>
          </p:cNvPr>
          <p:cNvGrpSpPr/>
          <p:nvPr/>
        </p:nvGrpSpPr>
        <p:grpSpPr>
          <a:xfrm>
            <a:off x="0" y="0"/>
            <a:ext cx="9144000" cy="1124607"/>
            <a:chOff x="0" y="0"/>
            <a:chExt cx="9144000" cy="1124607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6A1367EB-5492-F371-86DF-B1D160983B3C}"/>
                </a:ext>
              </a:extLst>
            </p:cNvPr>
            <p:cNvSpPr/>
            <p:nvPr/>
          </p:nvSpPr>
          <p:spPr bwMode="auto">
            <a:xfrm>
              <a:off x="7589521" y="0"/>
              <a:ext cx="1554479" cy="75876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98B52F81-8779-DFA6-EB24-605176B46B93}"/>
                </a:ext>
              </a:extLst>
            </p:cNvPr>
            <p:cNvSpPr/>
            <p:nvPr/>
          </p:nvSpPr>
          <p:spPr bwMode="auto">
            <a:xfrm>
              <a:off x="8259943" y="152400"/>
              <a:ext cx="884057" cy="97220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11E26455-E036-1158-AA07-1A4099C89888}"/>
                </a:ext>
              </a:extLst>
            </p:cNvPr>
            <p:cNvSpPr/>
            <p:nvPr/>
          </p:nvSpPr>
          <p:spPr bwMode="auto">
            <a:xfrm>
              <a:off x="7589521" y="495406"/>
              <a:ext cx="828769" cy="34832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6A1F1FC7-4EAE-9D72-C5E1-9346976E284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876300" cy="8286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08575525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5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연구의 목적 및 의의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1" y="916979"/>
            <a:ext cx="8629838" cy="5376968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이종 위성군의 연구 목표</a:t>
            </a:r>
            <a:endParaRPr lang="en-US" altLang="ko-KR" dirty="0"/>
          </a:p>
          <a:p>
            <a:pPr lvl="1">
              <a:defRPr/>
            </a:pPr>
            <a:r>
              <a:rPr lang="ko-KR" altLang="en-US" dirty="0"/>
              <a:t>다양한 궤도를 사용하여 </a:t>
            </a:r>
            <a:r>
              <a:rPr lang="ko-KR" altLang="en-US" b="1" u="sng" dirty="0"/>
              <a:t>이종 위성군을 운용하였을 때 얼마나 더 높은 성능을 내는 지 </a:t>
            </a:r>
            <a:r>
              <a:rPr lang="en-US" altLang="ko-KR" b="1" u="sng" dirty="0" err="1"/>
              <a:t>FoM</a:t>
            </a:r>
            <a:r>
              <a:rPr lang="ko-KR" altLang="en-US" dirty="0"/>
              <a:t>을 세우고 각각의 지표를 기준으로 </a:t>
            </a:r>
            <a:r>
              <a:rPr lang="ko-KR" altLang="en-US" b="1" u="sng" dirty="0" err="1"/>
              <a:t>상황별</a:t>
            </a:r>
            <a:r>
              <a:rPr lang="ko-KR" altLang="en-US" b="1" u="sng" dirty="0"/>
              <a:t> 최적 결과를 도출</a:t>
            </a:r>
            <a:endParaRPr lang="en-US" altLang="ko-KR" dirty="0"/>
          </a:p>
          <a:p>
            <a:pPr lvl="1">
              <a:defRPr/>
            </a:pPr>
            <a:r>
              <a:rPr lang="ko-KR" altLang="en-US" dirty="0"/>
              <a:t> 대표적인 두 가지의 설계 방법을 비교하여 </a:t>
            </a:r>
            <a:r>
              <a:rPr lang="ko-KR" altLang="en-US" b="1" u="sng" dirty="0"/>
              <a:t>기술 및 비용면에서 더 효율적인 </a:t>
            </a:r>
            <a:r>
              <a:rPr lang="ko-KR" altLang="en-US" b="1" u="sng" dirty="0" err="1"/>
              <a:t>위성군</a:t>
            </a:r>
            <a:r>
              <a:rPr lang="ko-KR" altLang="en-US" b="1" u="sng" dirty="0"/>
              <a:t> 설계 방법을 선택</a:t>
            </a:r>
            <a:r>
              <a:rPr lang="ko-KR" altLang="en-US" dirty="0"/>
              <a:t>하는 것</a:t>
            </a:r>
            <a:endParaRPr lang="en-US" altLang="ko-KR" dirty="0"/>
          </a:p>
          <a:p>
            <a:pPr lvl="2">
              <a:defRPr/>
            </a:pPr>
            <a:r>
              <a:rPr lang="en-US" altLang="ko-KR" dirty="0"/>
              <a:t>Quasi-symmetric Method(</a:t>
            </a:r>
            <a:r>
              <a:rPr lang="ko-KR" altLang="en-US" dirty="0" err="1"/>
              <a:t>준대칭</a:t>
            </a:r>
            <a:r>
              <a:rPr lang="ko-KR" altLang="en-US" dirty="0"/>
              <a:t> 기법</a:t>
            </a:r>
            <a:r>
              <a:rPr lang="en-US" altLang="ko-KR" dirty="0"/>
              <a:t>)</a:t>
            </a:r>
          </a:p>
          <a:p>
            <a:pPr lvl="2">
              <a:defRPr/>
            </a:pPr>
            <a:r>
              <a:rPr lang="en-US" altLang="ko-KR" dirty="0"/>
              <a:t>BILP Method(</a:t>
            </a:r>
            <a:r>
              <a:rPr lang="ko-KR" altLang="en-US" dirty="0"/>
              <a:t>이진 선형 계획법</a:t>
            </a:r>
            <a:r>
              <a:rPr lang="en-US" altLang="ko-KR" dirty="0"/>
              <a:t>)</a:t>
            </a:r>
          </a:p>
          <a:p>
            <a:pPr lvl="2">
              <a:defRPr/>
            </a:pPr>
            <a:endParaRPr lang="en-US" altLang="ko-KR" dirty="0"/>
          </a:p>
          <a:p>
            <a:pPr lvl="0">
              <a:defRPr/>
            </a:pPr>
            <a:r>
              <a:rPr lang="ko-KR" altLang="en-US" dirty="0"/>
              <a:t>연구의</a:t>
            </a:r>
            <a:r>
              <a:rPr lang="en-US" altLang="ko-KR" dirty="0"/>
              <a:t> </a:t>
            </a:r>
            <a:r>
              <a:rPr lang="ko-KR" altLang="en-US" dirty="0"/>
              <a:t>의의</a:t>
            </a:r>
            <a:endParaRPr lang="en-US" altLang="ko-KR" dirty="0"/>
          </a:p>
          <a:p>
            <a:pPr lvl="1">
              <a:defRPr/>
            </a:pPr>
            <a:r>
              <a:rPr lang="ko-KR" altLang="en-US" dirty="0"/>
              <a:t>기존에 널리 쓰이던 </a:t>
            </a:r>
            <a:r>
              <a:rPr lang="ko-KR" altLang="en-US" b="1" u="sng" dirty="0" err="1"/>
              <a:t>준대칭</a:t>
            </a:r>
            <a:r>
              <a:rPr lang="ko-KR" altLang="en-US" b="1" u="sng" dirty="0"/>
              <a:t> 기법의 한계를 지적</a:t>
            </a:r>
            <a:r>
              <a:rPr lang="ko-KR" altLang="en-US" dirty="0"/>
              <a:t>하고 </a:t>
            </a:r>
            <a:r>
              <a:rPr lang="ko-KR" altLang="en-US" dirty="0" err="1"/>
              <a:t>위성군</a:t>
            </a:r>
            <a:r>
              <a:rPr lang="ko-KR" altLang="en-US" dirty="0"/>
              <a:t> 사용자의 </a:t>
            </a:r>
            <a:r>
              <a:rPr lang="ko-KR" altLang="en-US" b="1" u="sng" dirty="0"/>
              <a:t>구체적인 요구사항을 고려하여 최적의 설계 방법을 제안</a:t>
            </a:r>
            <a:endParaRPr lang="en-US" altLang="ko-KR" b="1" u="sng" dirty="0"/>
          </a:p>
          <a:p>
            <a:pPr lvl="1">
              <a:defRPr/>
            </a:pPr>
            <a:r>
              <a:rPr lang="ko-KR" altLang="en-US" dirty="0"/>
              <a:t>국내에서도 적용할 수 있는 </a:t>
            </a:r>
            <a:r>
              <a:rPr lang="ko-KR" altLang="en-US" b="1" u="sng" dirty="0"/>
              <a:t>관심지역의 좌표를 정밀하게 설정</a:t>
            </a:r>
            <a:r>
              <a:rPr lang="ko-KR" altLang="en-US" dirty="0"/>
              <a:t>하고 </a:t>
            </a:r>
            <a:r>
              <a:rPr lang="ko-KR" altLang="en-US" b="1" u="sng" dirty="0"/>
              <a:t>이진 선형 계획법이 갖는 강점을 실험 결과로서 재확인</a:t>
            </a:r>
            <a:r>
              <a:rPr lang="ko-KR" altLang="en-US" dirty="0"/>
              <a:t> </a:t>
            </a:r>
            <a:endParaRPr lang="en-US" altLang="ko-KR" dirty="0"/>
          </a:p>
          <a:p>
            <a:pPr lvl="1">
              <a:defRPr/>
            </a:pPr>
            <a:r>
              <a:rPr lang="ko-KR" altLang="en-US" dirty="0"/>
              <a:t>향후 국내 인공위성 운용 분야에서 활용될 </a:t>
            </a:r>
            <a:r>
              <a:rPr lang="ko-KR" altLang="en-US" b="1" u="sng" dirty="0"/>
              <a:t>이종 </a:t>
            </a:r>
            <a:r>
              <a:rPr lang="ko-KR" altLang="en-US" b="1" u="sng" dirty="0" err="1"/>
              <a:t>위성군</a:t>
            </a:r>
            <a:r>
              <a:rPr lang="ko-KR" altLang="en-US" b="1" u="sng" dirty="0"/>
              <a:t> 체계의 발전에 기여</a:t>
            </a:r>
            <a:r>
              <a:rPr lang="ko-KR" altLang="en-US" dirty="0"/>
              <a:t>할 것으로 기대</a:t>
            </a:r>
            <a:endParaRPr lang="en-US" altLang="ko-KR" dirty="0"/>
          </a:p>
          <a:p>
            <a:pPr lvl="2">
              <a:defRPr/>
            </a:pPr>
            <a:endParaRPr lang="en-US" altLang="ko-KR" dirty="0"/>
          </a:p>
          <a:p>
            <a:pPr lvl="2">
              <a:defRPr/>
            </a:pPr>
            <a:endParaRPr lang="en-US" altLang="ko-KR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712F48BA-2EC6-5B2F-7550-D8196A5F1362}"/>
              </a:ext>
            </a:extLst>
          </p:cNvPr>
          <p:cNvGrpSpPr/>
          <p:nvPr/>
        </p:nvGrpSpPr>
        <p:grpSpPr>
          <a:xfrm>
            <a:off x="0" y="0"/>
            <a:ext cx="9144000" cy="1124607"/>
            <a:chOff x="0" y="0"/>
            <a:chExt cx="9144000" cy="1124607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27D7E360-169C-E0BC-B8F1-B3FF2791ED28}"/>
                </a:ext>
              </a:extLst>
            </p:cNvPr>
            <p:cNvSpPr/>
            <p:nvPr/>
          </p:nvSpPr>
          <p:spPr bwMode="auto">
            <a:xfrm>
              <a:off x="7589521" y="0"/>
              <a:ext cx="1554479" cy="75876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5D28E080-BCAA-8D7F-8A2F-A6C3A5458307}"/>
                </a:ext>
              </a:extLst>
            </p:cNvPr>
            <p:cNvSpPr/>
            <p:nvPr/>
          </p:nvSpPr>
          <p:spPr bwMode="auto">
            <a:xfrm>
              <a:off x="8259943" y="152400"/>
              <a:ext cx="884057" cy="97220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F65141D3-409D-276C-489D-5F3B7A2A8D81}"/>
                </a:ext>
              </a:extLst>
            </p:cNvPr>
            <p:cNvSpPr/>
            <p:nvPr/>
          </p:nvSpPr>
          <p:spPr bwMode="auto">
            <a:xfrm>
              <a:off x="7589521" y="495406"/>
              <a:ext cx="828769" cy="34832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9A092995-2BDD-DB06-D1FC-3D1FC7BC26F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876300" cy="8286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4066345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직사각형 18">
            <a:extLst>
              <a:ext uri="{FF2B5EF4-FFF2-40B4-BE49-F238E27FC236}">
                <a16:creationId xmlns:a16="http://schemas.microsoft.com/office/drawing/2014/main" id="{97439449-60C0-86AB-9D33-5F2F0505EBC5}"/>
              </a:ext>
            </a:extLst>
          </p:cNvPr>
          <p:cNvSpPr/>
          <p:nvPr/>
        </p:nvSpPr>
        <p:spPr bwMode="auto">
          <a:xfrm>
            <a:off x="257082" y="6266143"/>
            <a:ext cx="3482711" cy="530213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ko-KR" dirty="0"/>
              <a:t>APC Decomposition</a:t>
            </a:r>
            <a:r>
              <a:rPr lang="ko-KR" altLang="en-US" dirty="0"/>
              <a:t>의 예시</a:t>
            </a: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 lvl="3">
              <a:defRPr/>
            </a:pP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marL="3562200" lvl="8" indent="0">
              <a:buNone/>
              <a:defRPr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6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APC Decomposition</a:t>
            </a:r>
            <a:r>
              <a:rPr lang="ko-KR" altLang="en-US" dirty="0"/>
              <a:t>의 간단한 예시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D64F11BA-A421-115C-4BD7-B5C3F8DF65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779" y="1434359"/>
            <a:ext cx="6094713" cy="2827099"/>
          </a:xfrm>
          <a:prstGeom prst="rect">
            <a:avLst/>
          </a:prstGeom>
          <a:ln>
            <a:solidFill>
              <a:schemeClr val="tx1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표 9">
                <a:extLst>
                  <a:ext uri="{FF2B5EF4-FFF2-40B4-BE49-F238E27FC236}">
                    <a16:creationId xmlns:a16="http://schemas.microsoft.com/office/drawing/2014/main" id="{B622B02A-7CB5-3850-57FB-C99765EAF2B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06779" y="4413481"/>
              <a:ext cx="4543315" cy="1308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49045">
                      <a:extLst>
                        <a:ext uri="{9D8B030D-6E8A-4147-A177-3AD203B41FA5}">
                          <a16:colId xmlns:a16="http://schemas.microsoft.com/office/drawing/2014/main" val="1868824061"/>
                        </a:ext>
                      </a:extLst>
                    </a:gridCol>
                    <a:gridCol w="649045">
                      <a:extLst>
                        <a:ext uri="{9D8B030D-6E8A-4147-A177-3AD203B41FA5}">
                          <a16:colId xmlns:a16="http://schemas.microsoft.com/office/drawing/2014/main" val="1243074929"/>
                        </a:ext>
                      </a:extLst>
                    </a:gridCol>
                    <a:gridCol w="649045">
                      <a:extLst>
                        <a:ext uri="{9D8B030D-6E8A-4147-A177-3AD203B41FA5}">
                          <a16:colId xmlns:a16="http://schemas.microsoft.com/office/drawing/2014/main" val="1995534688"/>
                        </a:ext>
                      </a:extLst>
                    </a:gridCol>
                    <a:gridCol w="649045">
                      <a:extLst>
                        <a:ext uri="{9D8B030D-6E8A-4147-A177-3AD203B41FA5}">
                          <a16:colId xmlns:a16="http://schemas.microsoft.com/office/drawing/2014/main" val="306813983"/>
                        </a:ext>
                      </a:extLst>
                    </a:gridCol>
                    <a:gridCol w="649045">
                      <a:extLst>
                        <a:ext uri="{9D8B030D-6E8A-4147-A177-3AD203B41FA5}">
                          <a16:colId xmlns:a16="http://schemas.microsoft.com/office/drawing/2014/main" val="1484016052"/>
                        </a:ext>
                      </a:extLst>
                    </a:gridCol>
                    <a:gridCol w="649045">
                      <a:extLst>
                        <a:ext uri="{9D8B030D-6E8A-4147-A177-3AD203B41FA5}">
                          <a16:colId xmlns:a16="http://schemas.microsoft.com/office/drawing/2014/main" val="1638346173"/>
                        </a:ext>
                      </a:extLst>
                    </a:gridCol>
                    <a:gridCol w="649045">
                      <a:extLst>
                        <a:ext uri="{9D8B030D-6E8A-4147-A177-3AD203B41FA5}">
                          <a16:colId xmlns:a16="http://schemas.microsoft.com/office/drawing/2014/main" val="3059728418"/>
                        </a:ext>
                      </a:extLst>
                    </a:gridCol>
                  </a:tblGrid>
                  <a:tr h="327021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ko-KR" altLang="en-US" sz="1400" b="0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ko-KR" altLang="en-US" sz="1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𝜏</m:t>
                                </m:r>
                              </m:oMath>
                            </m:oMathPara>
                          </a14:m>
                          <a:endParaRPr lang="ko-KR" altLang="en-US" sz="1400" b="0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oMath>
                            </m:oMathPara>
                          </a14:m>
                          <a:endParaRPr lang="ko-KR" altLang="en-US" sz="1400" b="0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oMath>
                            </m:oMathPara>
                          </a14:m>
                          <a:endParaRPr lang="ko-KR" altLang="en-US" sz="1400" b="0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ko-KR" altLang="en-US" sz="14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𝛺</m:t>
                                </m:r>
                              </m:oMath>
                            </m:oMathPara>
                          </a14:m>
                          <a:endParaRPr lang="ko-KR" altLang="en-US" sz="1400" b="0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ko-KR" altLang="en-US" sz="1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oMath>
                            </m:oMathPara>
                          </a14:m>
                          <a:endParaRPr lang="ko-KR" altLang="en-US" sz="1400" b="0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𝜈</m:t>
                                </m:r>
                              </m:oMath>
                            </m:oMathPara>
                          </a14:m>
                          <a:endParaRPr lang="ko-KR" altLang="en-US" sz="1400" b="0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4507387"/>
                      </a:ext>
                    </a:extLst>
                  </a:tr>
                  <a:tr h="327021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altLang="ko-KR" sz="1400" b="0" i="0" kern="1200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  <m:t>æ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altLang="ko-KR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4/1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350.2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48685654"/>
                      </a:ext>
                    </a:extLst>
                  </a:tr>
                  <a:tr h="327021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altLang="ko-KR" sz="1400" b="0" i="0" kern="1200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  <m:t>æ</m:t>
                                    </m:r>
                                  </m:e>
                                  <m:sub>
                                    <m:r>
                                      <a:rPr lang="en-US" altLang="ko-KR" sz="1400" b="0" i="1" kern="1200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altLang="ko-KR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4/1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350.2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39484660"/>
                      </a:ext>
                    </a:extLst>
                  </a:tr>
                  <a:tr h="327021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altLang="ko-KR" sz="1400" b="0" i="0" kern="1200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  <m:t>æ</m:t>
                                    </m:r>
                                  </m:e>
                                  <m:sub>
                                    <m:r>
                                      <a:rPr lang="en-US" altLang="ko-KR" sz="1400" b="1" i="1" kern="1200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altLang="ko-KR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4/1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170.2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544968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표 9">
                <a:extLst>
                  <a:ext uri="{FF2B5EF4-FFF2-40B4-BE49-F238E27FC236}">
                    <a16:creationId xmlns:a16="http://schemas.microsoft.com/office/drawing/2014/main" id="{B622B02A-7CB5-3850-57FB-C99765EAF2B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92450683"/>
                  </p:ext>
                </p:extLst>
              </p:nvPr>
            </p:nvGraphicFramePr>
            <p:xfrm>
              <a:off x="706779" y="4413481"/>
              <a:ext cx="4543315" cy="1308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49045">
                      <a:extLst>
                        <a:ext uri="{9D8B030D-6E8A-4147-A177-3AD203B41FA5}">
                          <a16:colId xmlns:a16="http://schemas.microsoft.com/office/drawing/2014/main" val="1868824061"/>
                        </a:ext>
                      </a:extLst>
                    </a:gridCol>
                    <a:gridCol w="649045">
                      <a:extLst>
                        <a:ext uri="{9D8B030D-6E8A-4147-A177-3AD203B41FA5}">
                          <a16:colId xmlns:a16="http://schemas.microsoft.com/office/drawing/2014/main" val="1243074929"/>
                        </a:ext>
                      </a:extLst>
                    </a:gridCol>
                    <a:gridCol w="649045">
                      <a:extLst>
                        <a:ext uri="{9D8B030D-6E8A-4147-A177-3AD203B41FA5}">
                          <a16:colId xmlns:a16="http://schemas.microsoft.com/office/drawing/2014/main" val="1995534688"/>
                        </a:ext>
                      </a:extLst>
                    </a:gridCol>
                    <a:gridCol w="649045">
                      <a:extLst>
                        <a:ext uri="{9D8B030D-6E8A-4147-A177-3AD203B41FA5}">
                          <a16:colId xmlns:a16="http://schemas.microsoft.com/office/drawing/2014/main" val="306813983"/>
                        </a:ext>
                      </a:extLst>
                    </a:gridCol>
                    <a:gridCol w="649045">
                      <a:extLst>
                        <a:ext uri="{9D8B030D-6E8A-4147-A177-3AD203B41FA5}">
                          <a16:colId xmlns:a16="http://schemas.microsoft.com/office/drawing/2014/main" val="1484016052"/>
                        </a:ext>
                      </a:extLst>
                    </a:gridCol>
                    <a:gridCol w="649045">
                      <a:extLst>
                        <a:ext uri="{9D8B030D-6E8A-4147-A177-3AD203B41FA5}">
                          <a16:colId xmlns:a16="http://schemas.microsoft.com/office/drawing/2014/main" val="1638346173"/>
                        </a:ext>
                      </a:extLst>
                    </a:gridCol>
                    <a:gridCol w="649045">
                      <a:extLst>
                        <a:ext uri="{9D8B030D-6E8A-4147-A177-3AD203B41FA5}">
                          <a16:colId xmlns:a16="http://schemas.microsoft.com/office/drawing/2014/main" val="3059728418"/>
                        </a:ext>
                      </a:extLst>
                    </a:gridCol>
                  </a:tblGrid>
                  <a:tr h="327021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ko-KR" altLang="en-US" sz="1400" b="0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1887" t="-1852" r="-505660" b="-3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000" t="-1852" r="-400935" b="-3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00000" t="-1852" r="-300935" b="-3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00000" t="-1852" r="-200935" b="-3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04717" t="-1852" r="-102830" b="-3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99065" t="-1852" r="-1869" b="-3148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4507387"/>
                      </a:ext>
                    </a:extLst>
                  </a:tr>
                  <a:tr h="327021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935" t="-101852" r="-600000" b="-2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4/1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350.2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48685654"/>
                      </a:ext>
                    </a:extLst>
                  </a:tr>
                  <a:tr h="327021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935" t="-201852" r="-600000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4/1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350.2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39484660"/>
                      </a:ext>
                    </a:extLst>
                  </a:tr>
                  <a:tr h="327021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935" t="-301852" r="-600000" b="-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4/1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170.2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544968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내용 개체 틀 1">
                <a:extLst>
                  <a:ext uri="{FF2B5EF4-FFF2-40B4-BE49-F238E27FC236}">
                    <a16:creationId xmlns:a16="http://schemas.microsoft.com/office/drawing/2014/main" id="{595C3B0D-66C6-9DB3-0B06-7887BA96A1D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890271" y="4343974"/>
                <a:ext cx="4161263" cy="182970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360000" algn="l" defTabSz="914400" rtl="0" eaLnBrk="1" latinLnBrk="1" hangingPunct="1">
                  <a:lnSpc>
                    <a:spcPct val="100000"/>
                  </a:lnSpc>
                  <a:spcBef>
                    <a:spcPts val="1000"/>
                  </a:spcBef>
                  <a:buFont typeface="Wingdings" panose="05000000000000000000" pitchFamily="2" charset="2"/>
                  <a:buChar char="v"/>
                  <a:defRPr sz="2400" b="1" kern="1200">
                    <a:solidFill>
                      <a:schemeClr val="tx1"/>
                    </a:solidFill>
                    <a:latin typeface="times" panose="02020603050405020304" pitchFamily="18" charset="0"/>
                    <a:ea typeface="+mn-ea"/>
                    <a:cs typeface="times" panose="02020603050405020304" pitchFamily="18" charset="0"/>
                  </a:defRPr>
                </a:lvl1pPr>
                <a:lvl2pPr marL="540000" indent="-324000" algn="l" defTabSz="914400" rtl="0" eaLnBrk="1" latinLnBrk="1" hangingPunct="1">
                  <a:lnSpc>
                    <a:spcPct val="100000"/>
                  </a:lnSpc>
                  <a:spcBef>
                    <a:spcPts val="500"/>
                  </a:spcBef>
                  <a:buFont typeface="Wingdings" panose="05000000000000000000" pitchFamily="2" charset="2"/>
                  <a:buChar char="u"/>
                  <a:defRPr sz="1800" b="0" kern="1200">
                    <a:solidFill>
                      <a:schemeClr val="tx1"/>
                    </a:solidFill>
                    <a:latin typeface="times" panose="02020603050405020304" pitchFamily="18" charset="0"/>
                    <a:ea typeface="+mn-ea"/>
                    <a:cs typeface="times" panose="02020603050405020304" pitchFamily="18" charset="0"/>
                  </a:defRPr>
                </a:lvl2pPr>
                <a:lvl3pPr marL="720000" indent="-288000" algn="l" defTabSz="914400" rtl="0" eaLnBrk="1" latinLnBrk="1" hangingPunct="1">
                  <a:lnSpc>
                    <a:spcPct val="100000"/>
                  </a:lnSpc>
                  <a:spcBef>
                    <a:spcPts val="500"/>
                  </a:spcBef>
                  <a:buFont typeface="Wingdings" panose="05000000000000000000" pitchFamily="2" charset="2"/>
                  <a:buChar char="Ø"/>
                  <a:defRPr sz="1600" kern="1200">
                    <a:solidFill>
                      <a:schemeClr val="tx1"/>
                    </a:solidFill>
                    <a:latin typeface="times" panose="02020603050405020304" pitchFamily="18" charset="0"/>
                    <a:ea typeface="+mn-ea"/>
                    <a:cs typeface="times" panose="02020603050405020304" pitchFamily="18" charset="0"/>
                  </a:defRPr>
                </a:lvl3pPr>
                <a:lvl4pPr marL="900000" indent="-252000" algn="l" defTabSz="914400" rtl="0" eaLnBrk="1" latinLnBrk="1" hangingPunct="1">
                  <a:lnSpc>
                    <a:spcPct val="100000"/>
                  </a:lnSpc>
                  <a:spcBef>
                    <a:spcPts val="500"/>
                  </a:spcBef>
                  <a:buFont typeface="Wingdings" panose="05000000000000000000" pitchFamily="2" charset="2"/>
                  <a:buChar char="ü"/>
                  <a:defRPr sz="1400" kern="1200">
                    <a:solidFill>
                      <a:schemeClr val="tx1"/>
                    </a:solidFill>
                    <a:latin typeface="times" panose="02020603050405020304" pitchFamily="18" charset="0"/>
                    <a:ea typeface="+mn-ea"/>
                    <a:cs typeface="times" panose="02020603050405020304" pitchFamily="18" charset="0"/>
                  </a:defRPr>
                </a:lvl4pPr>
                <a:lvl5pPr marL="1080000" indent="-252000" algn="l" defTabSz="914400" rtl="0" eaLnBrk="1" latinLnBrk="1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times" panose="02020603050405020304" pitchFamily="18" charset="0"/>
                    <a:ea typeface="+mn-ea"/>
                    <a:cs typeface="times" panose="02020603050405020304" pitchFamily="18" charset="0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2">
                  <a:lnSpc>
                    <a:spcPct val="120000"/>
                  </a:lnSpc>
                  <a:defRPr/>
                </a:pPr>
                <a:r>
                  <a:rPr lang="ko-KR" altLang="en-US" dirty="0">
                    <a:solidFill>
                      <a:schemeClr val="tx1"/>
                    </a:solidFill>
                    <a:cs typeface="Times New Roman"/>
                  </a:rPr>
                  <a:t>첫번째 위성</a:t>
                </a:r>
                <a:r>
                  <a:rPr lang="en-US" altLang="ko-KR" dirty="0">
                    <a:solidFill>
                      <a:schemeClr val="tx1"/>
                    </a:solidFill>
                    <a:cs typeface="Times New Roman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ko-KR">
                            <a:solidFill>
                              <a:schemeClr val="tx1"/>
                            </a:solidFill>
                          </a:rPr>
                          <m:t>æ</m:t>
                        </m:r>
                      </m:e>
                      <m:sub>
                        <m:r>
                          <a:rPr lang="en-US" altLang="ko-KR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ko-KR" altLang="en-US" b="0" i="1">
                        <a:latin typeface="Cambria Math" panose="02040503050406030204" pitchFamily="18" charset="0"/>
                      </a:rPr>
                      <m:t>은</m:t>
                    </m:r>
                  </m:oMath>
                </a14:m>
                <a:r>
                  <a:rPr lang="en-US" altLang="ko-KR" dirty="0"/>
                  <a:t> </a:t>
                </a:r>
                <a:r>
                  <a:rPr lang="ko-KR" altLang="en-US" dirty="0"/>
                  <a:t>기준위성과 궤도요소가 일치하므로 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ko-KR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US" altLang="ko-KR" b="1" dirty="0">
                  <a:solidFill>
                    <a:schemeClr val="tx1"/>
                  </a:solidFill>
                </a:endParaRPr>
              </a:p>
              <a:p>
                <a:pPr lvl="2">
                  <a:lnSpc>
                    <a:spcPct val="120000"/>
                  </a:lnSpc>
                  <a:defRPr/>
                </a:pPr>
                <a:r>
                  <a:rPr lang="ko-KR" altLang="en-US" dirty="0"/>
                  <a:t>두번째 위성</a:t>
                </a:r>
                <a:r>
                  <a:rPr lang="en-US" altLang="ko-KR" dirty="0">
                    <a:solidFill>
                      <a:schemeClr val="tx1"/>
                    </a:solidFill>
                    <a:cs typeface="Times New Roman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ko-KR">
                            <a:solidFill>
                              <a:schemeClr val="tx1"/>
                            </a:solidFill>
                          </a:rPr>
                          <m:t>æ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ko-KR" altLang="en-US" b="0" i="1">
                        <a:latin typeface="Cambria Math" panose="02040503050406030204" pitchFamily="18" charset="0"/>
                      </a:rPr>
                      <m:t>은</m:t>
                    </m:r>
                  </m:oMath>
                </a14:m>
                <a:r>
                  <a:rPr lang="en-US" altLang="ko-KR" dirty="0"/>
                  <a:t> </a:t>
                </a:r>
                <a:r>
                  <a:rPr lang="ko-KR" altLang="en-US" dirty="0"/>
                  <a:t>아래의 식에 의해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𝟑𝟔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US" altLang="ko-KR" dirty="0"/>
              </a:p>
              <a:p>
                <a:pPr marL="432000" lvl="2" indent="0">
                  <a:lnSpc>
                    <a:spcPct val="120000"/>
                  </a:lnSpc>
                  <a:buNone/>
                  <a:defRPr/>
                </a:pPr>
                <a:r>
                  <a:rPr lang="en-US" altLang="ko-KR" dirty="0">
                    <a:solidFill>
                      <a:srgbClr val="836967"/>
                    </a:solidFill>
                  </a:rPr>
                  <a:t>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ko-KR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i="1" smtClean="0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altLang="ko-KR" i="1" smtClean="0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d>
                      <m:dPr>
                        <m:ctrlPr>
                          <a:rPr lang="en-US" altLang="ko-KR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ko-KR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r>
                  <a:rPr lang="en-US" altLang="ko-KR" dirty="0"/>
                  <a:t> 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dirty="0"/>
                  <a:t> (N : </a:t>
                </a:r>
                <a:r>
                  <a:rPr lang="ko-KR" altLang="en-US" dirty="0"/>
                  <a:t>총 위성 수</a:t>
                </a:r>
                <a:r>
                  <a:rPr lang="en-US" altLang="ko-KR" dirty="0"/>
                  <a:t>)</a:t>
                </a:r>
              </a:p>
              <a:p>
                <a:pPr>
                  <a:defRPr/>
                </a:pPr>
                <a:endParaRPr lang="en-US" altLang="ko-KR" sz="1600" b="0" dirty="0"/>
              </a:p>
              <a:p>
                <a:pPr>
                  <a:defRPr/>
                </a:pPr>
                <a:endParaRPr lang="en-US" altLang="ko-KR" sz="1600" b="0" dirty="0"/>
              </a:p>
              <a:p>
                <a:pPr>
                  <a:defRPr/>
                </a:pPr>
                <a:endParaRPr lang="en-US" altLang="ko-KR" sz="1600" b="0" dirty="0"/>
              </a:p>
              <a:p>
                <a:pPr>
                  <a:defRPr/>
                </a:pPr>
                <a:endParaRPr lang="en-US" altLang="ko-KR" sz="1600" b="0" dirty="0"/>
              </a:p>
              <a:p>
                <a:pPr>
                  <a:defRPr/>
                </a:pPr>
                <a:endParaRPr lang="en-US" altLang="ko-KR" sz="1600" b="0" dirty="0"/>
              </a:p>
              <a:p>
                <a:pPr>
                  <a:defRPr/>
                </a:pPr>
                <a:endParaRPr lang="en-US" altLang="ko-KR" sz="1600" b="0" dirty="0"/>
              </a:p>
              <a:p>
                <a:pPr>
                  <a:defRPr/>
                </a:pPr>
                <a:endParaRPr lang="en-US" altLang="ko-KR" sz="1600" b="0" dirty="0"/>
              </a:p>
              <a:p>
                <a:pPr marL="216000" lvl="1" indent="0">
                  <a:buFont typeface="Wingdings" panose="05000000000000000000" pitchFamily="2" charset="2"/>
                  <a:buNone/>
                  <a:defRPr/>
                </a:pPr>
                <a:r>
                  <a:rPr lang="en-US" altLang="ko-KR" sz="1600" dirty="0"/>
                  <a:t>						</a:t>
                </a:r>
              </a:p>
            </p:txBody>
          </p:sp>
        </mc:Choice>
        <mc:Fallback xmlns="">
          <p:sp>
            <p:nvSpPr>
              <p:cNvPr id="11" name="내용 개체 틀 1">
                <a:extLst>
                  <a:ext uri="{FF2B5EF4-FFF2-40B4-BE49-F238E27FC236}">
                    <a16:creationId xmlns:a16="http://schemas.microsoft.com/office/drawing/2014/main" id="{595C3B0D-66C6-9DB3-0B06-7887BA96A1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0271" y="4343974"/>
                <a:ext cx="4161263" cy="182970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E59AE682-CF5D-8D97-5292-0E79DF552B5C}"/>
              </a:ext>
            </a:extLst>
          </p:cNvPr>
          <p:cNvSpPr txBox="1"/>
          <p:nvPr/>
        </p:nvSpPr>
        <p:spPr>
          <a:xfrm>
            <a:off x="-200345" y="6256948"/>
            <a:ext cx="90566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ko-KR" altLang="en-US" sz="1000" b="1" dirty="0">
                <a:solidFill>
                  <a:srgbClr val="1F2328"/>
                </a:solidFill>
              </a:rPr>
              <a:t>출처 </a:t>
            </a:r>
            <a:r>
              <a:rPr lang="en-US" altLang="ko-KR" sz="1000" b="1" dirty="0">
                <a:solidFill>
                  <a:srgbClr val="1F2328"/>
                </a:solidFill>
              </a:rPr>
              <a:t>: Hang </a:t>
            </a:r>
            <a:r>
              <a:rPr lang="en-US" altLang="ko-KR" sz="1000" b="1" dirty="0" err="1">
                <a:solidFill>
                  <a:srgbClr val="1F2328"/>
                </a:solidFill>
              </a:rPr>
              <a:t>Woon</a:t>
            </a:r>
            <a:r>
              <a:rPr lang="en-US" altLang="ko-KR" sz="1000" b="1" dirty="0">
                <a:solidFill>
                  <a:srgbClr val="1F2328"/>
                </a:solidFill>
              </a:rPr>
              <a:t> Lee, Seiichi Shimizu, Shoji Yoshikawa, and Koki Ho, “</a:t>
            </a:r>
            <a:r>
              <a:rPr lang="en-US" altLang="ko-KR" sz="1000" b="1" u="sng" dirty="0">
                <a:solidFill>
                  <a:srgbClr val="1F2328"/>
                </a:solidFill>
              </a:rPr>
              <a:t>Satellite Constellation Pattern Optimization for Complex Regional Coverage</a:t>
            </a:r>
            <a:r>
              <a:rPr lang="en-US" altLang="ko-KR" sz="1000" b="1" dirty="0">
                <a:solidFill>
                  <a:srgbClr val="1F2328"/>
                </a:solidFill>
              </a:rPr>
              <a:t>”, 2020 Journal of Spacecraft and Rockets 57:6, 1309-1327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04619C71-4575-AAFC-060C-58D5FFC35444}"/>
              </a:ext>
            </a:extLst>
          </p:cNvPr>
          <p:cNvGrpSpPr/>
          <p:nvPr/>
        </p:nvGrpSpPr>
        <p:grpSpPr>
          <a:xfrm>
            <a:off x="0" y="0"/>
            <a:ext cx="9144000" cy="1124607"/>
            <a:chOff x="0" y="0"/>
            <a:chExt cx="9144000" cy="1124607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58FA10A1-6A5A-AF13-5D15-13700C30F6BB}"/>
                </a:ext>
              </a:extLst>
            </p:cNvPr>
            <p:cNvSpPr/>
            <p:nvPr/>
          </p:nvSpPr>
          <p:spPr bwMode="auto">
            <a:xfrm>
              <a:off x="7589521" y="0"/>
              <a:ext cx="1554479" cy="75876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A6B2CBE8-6E65-AE1A-E1E3-05E48A7FD8E9}"/>
                </a:ext>
              </a:extLst>
            </p:cNvPr>
            <p:cNvSpPr/>
            <p:nvPr/>
          </p:nvSpPr>
          <p:spPr bwMode="auto">
            <a:xfrm>
              <a:off x="8259943" y="152400"/>
              <a:ext cx="884057" cy="97220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B7334A9B-52D3-D385-F2ED-1AC8149AD15D}"/>
                </a:ext>
              </a:extLst>
            </p:cNvPr>
            <p:cNvSpPr/>
            <p:nvPr/>
          </p:nvSpPr>
          <p:spPr bwMode="auto">
            <a:xfrm>
              <a:off x="7589521" y="495406"/>
              <a:ext cx="828769" cy="34832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695534F1-5381-B9CD-8821-E2D2EB77234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0" y="0"/>
              <a:ext cx="876300" cy="8286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3637441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332A0F-3FA3-AE1A-106C-6909D4EC7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9EE9BF-38BF-9B8A-5CB1-D8302ECD43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ko-KR" dirty="0"/>
              <a:t>BILP</a:t>
            </a:r>
            <a:r>
              <a:rPr lang="ko-KR" altLang="en-US" dirty="0"/>
              <a:t> </a:t>
            </a:r>
            <a:r>
              <a:rPr lang="en-US" altLang="ko-KR" dirty="0"/>
              <a:t>Method(Binary Integer Linear Programming)</a:t>
            </a:r>
          </a:p>
          <a:p>
            <a:pPr lvl="1">
              <a:defRPr/>
            </a:pPr>
            <a:r>
              <a:rPr lang="en-US" altLang="ko-KR" dirty="0"/>
              <a:t> </a:t>
            </a:r>
            <a:r>
              <a:rPr lang="ko-KR" altLang="en-US" dirty="0"/>
              <a:t>최적화 프로그래밍을 거쳐 최적의 동선에 위성을 배치</a:t>
            </a:r>
            <a:endParaRPr lang="en-US" altLang="ko-KR" dirty="0"/>
          </a:p>
          <a:p>
            <a:pPr lvl="1">
              <a:defRPr/>
            </a:pPr>
            <a:r>
              <a:rPr lang="ko-KR" altLang="en-US" dirty="0" err="1"/>
              <a:t>준대칭</a:t>
            </a:r>
            <a:r>
              <a:rPr lang="ko-KR" altLang="en-US" dirty="0"/>
              <a:t> 기법에 비해 적은 위성으로도 커버리지 성능 최적화 가능</a:t>
            </a:r>
            <a:endParaRPr lang="en-US" altLang="ko-KR" dirty="0"/>
          </a:p>
          <a:p>
            <a:pPr lvl="1">
              <a:defRPr/>
            </a:pPr>
            <a:r>
              <a:rPr lang="ko-KR" altLang="en-US" dirty="0"/>
              <a:t>비대칭으로 위성을 배치하는 새로운 설계 방법</a:t>
            </a:r>
            <a:endParaRPr lang="en-US" altLang="ko-KR" dirty="0"/>
          </a:p>
          <a:p>
            <a:pPr>
              <a:defRPr/>
            </a:pPr>
            <a:r>
              <a:rPr lang="ko-KR" altLang="en-US" dirty="0"/>
              <a:t>이진 선형 계획법의 흐름도</a:t>
            </a:r>
            <a:r>
              <a:rPr lang="en-US" altLang="ko-KR" dirty="0"/>
              <a:t> </a:t>
            </a:r>
          </a:p>
          <a:p>
            <a:pPr>
              <a:defRPr/>
            </a:pPr>
            <a:endParaRPr lang="en-US" altLang="ko-KR" dirty="0"/>
          </a:p>
          <a:p>
            <a:pPr lvl="2">
              <a:defRPr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1B173B3-46EC-935A-396A-8B60C9727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7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0D52D28-83ED-B50F-30D3-0C082FEFF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이진 선형 계획법</a:t>
            </a:r>
            <a:r>
              <a:rPr lang="en-US" altLang="ko-KR" dirty="0"/>
              <a:t>(BILP)</a:t>
            </a:r>
            <a:r>
              <a:rPr lang="ko-KR" altLang="en-US" dirty="0"/>
              <a:t> 설계 개념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A3F404-8D62-7265-E374-B64F2C372E29}"/>
              </a:ext>
            </a:extLst>
          </p:cNvPr>
          <p:cNvSpPr txBox="1"/>
          <p:nvPr/>
        </p:nvSpPr>
        <p:spPr>
          <a:xfrm>
            <a:off x="-200345" y="6033660"/>
            <a:ext cx="90566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ko-KR" altLang="en-US" sz="1000" b="1" dirty="0">
                <a:solidFill>
                  <a:srgbClr val="1F2328"/>
                </a:solidFill>
              </a:rPr>
              <a:t>출처 </a:t>
            </a:r>
            <a:r>
              <a:rPr lang="en-US" altLang="ko-KR" sz="1000" b="1" dirty="0">
                <a:solidFill>
                  <a:srgbClr val="1F2328"/>
                </a:solidFill>
              </a:rPr>
              <a:t>: Hang </a:t>
            </a:r>
            <a:r>
              <a:rPr lang="en-US" altLang="ko-KR" sz="1000" b="1" dirty="0" err="1">
                <a:solidFill>
                  <a:srgbClr val="1F2328"/>
                </a:solidFill>
              </a:rPr>
              <a:t>Woon</a:t>
            </a:r>
            <a:r>
              <a:rPr lang="en-US" altLang="ko-KR" sz="1000" b="1" dirty="0">
                <a:solidFill>
                  <a:srgbClr val="1F2328"/>
                </a:solidFill>
              </a:rPr>
              <a:t> Lee, Seiichi Shimizu, Shoji Yoshikawa, and Koki Ho, “</a:t>
            </a:r>
            <a:r>
              <a:rPr lang="en-US" altLang="ko-KR" sz="1000" b="1" u="sng" dirty="0">
                <a:solidFill>
                  <a:srgbClr val="1F2328"/>
                </a:solidFill>
              </a:rPr>
              <a:t>Satellite Constellation Pattern Optimization for Complex Regional Coverage</a:t>
            </a:r>
            <a:r>
              <a:rPr lang="en-US" altLang="ko-KR" sz="1000" b="1" dirty="0">
                <a:solidFill>
                  <a:srgbClr val="1F2328"/>
                </a:solidFill>
              </a:rPr>
              <a:t>”, 2020 Journal of Spacecraft and Rockets 57:6, 1309-1327</a:t>
            </a:r>
          </a:p>
        </p:txBody>
      </p:sp>
      <p:pic>
        <p:nvPicPr>
          <p:cNvPr id="3" name="그림 2" descr="텍스트, 스크린샷, 폰트, 도표이(가) 표시된 사진&#10;&#10;자동 생성된 설명">
            <a:extLst>
              <a:ext uri="{FF2B5EF4-FFF2-40B4-BE49-F238E27FC236}">
                <a16:creationId xmlns:a16="http://schemas.microsoft.com/office/drawing/2014/main" id="{8B9EC1AB-7E90-BD50-D671-4DA6D36ABC6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961" y="2962388"/>
            <a:ext cx="4700568" cy="281725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7" name="그림 6" descr="텍스트, 도표, 라인, 평면도이(가) 표시된 사진&#10;&#10;자동 생성된 설명">
            <a:extLst>
              <a:ext uri="{FF2B5EF4-FFF2-40B4-BE49-F238E27FC236}">
                <a16:creationId xmlns:a16="http://schemas.microsoft.com/office/drawing/2014/main" id="{7D1B4E69-F05D-788D-1DBB-DEA3E7E94F8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7771" y="2446826"/>
            <a:ext cx="3975911" cy="270066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9556C5A1-EF5D-BAB1-4B0F-99A15F045904}"/>
              </a:ext>
            </a:extLst>
          </p:cNvPr>
          <p:cNvCxnSpPr>
            <a:cxnSpLocks/>
          </p:cNvCxnSpPr>
          <p:nvPr/>
        </p:nvCxnSpPr>
        <p:spPr>
          <a:xfrm flipV="1">
            <a:off x="3478924" y="3797236"/>
            <a:ext cx="1608083" cy="86419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DE2AEF5-A764-54DD-23C8-85B68EF48B82}"/>
              </a:ext>
            </a:extLst>
          </p:cNvPr>
          <p:cNvSpPr/>
          <p:nvPr/>
        </p:nvSpPr>
        <p:spPr bwMode="auto">
          <a:xfrm>
            <a:off x="1271752" y="4666593"/>
            <a:ext cx="2217682" cy="26275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A71B8112-5A4C-1994-3DE3-34F6B16237F1}"/>
              </a:ext>
            </a:extLst>
          </p:cNvPr>
          <p:cNvGrpSpPr/>
          <p:nvPr/>
        </p:nvGrpSpPr>
        <p:grpSpPr>
          <a:xfrm>
            <a:off x="0" y="0"/>
            <a:ext cx="9144000" cy="1124607"/>
            <a:chOff x="0" y="0"/>
            <a:chExt cx="9144000" cy="1124607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709B2EAB-8189-7A1F-A32E-C71DFC8FC634}"/>
                </a:ext>
              </a:extLst>
            </p:cNvPr>
            <p:cNvSpPr/>
            <p:nvPr/>
          </p:nvSpPr>
          <p:spPr bwMode="auto">
            <a:xfrm>
              <a:off x="7589521" y="0"/>
              <a:ext cx="1554479" cy="75876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624907C-4704-89B5-215A-4A0B3998EED6}"/>
                </a:ext>
              </a:extLst>
            </p:cNvPr>
            <p:cNvSpPr/>
            <p:nvPr/>
          </p:nvSpPr>
          <p:spPr bwMode="auto">
            <a:xfrm>
              <a:off x="8259943" y="152400"/>
              <a:ext cx="884057" cy="97220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E7B688C4-477C-7E3B-3F72-32E7ECBE04BD}"/>
                </a:ext>
              </a:extLst>
            </p:cNvPr>
            <p:cNvSpPr/>
            <p:nvPr/>
          </p:nvSpPr>
          <p:spPr bwMode="auto">
            <a:xfrm>
              <a:off x="7589521" y="495406"/>
              <a:ext cx="828769" cy="34832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8D18BE31-9A36-A54B-9631-BDD30DAFD10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0" y="0"/>
              <a:ext cx="876300" cy="8286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00908252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332A0F-3FA3-AE1A-106C-6909D4EC7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979EE9BF-38BF-9B8A-5CB1-D8302ECD434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7082" y="928686"/>
                <a:ext cx="8629838" cy="5376968"/>
              </a:xfrm>
            </p:spPr>
            <p:txBody>
              <a:bodyPr>
                <a:normAutofit/>
              </a:bodyPr>
              <a:lstStyle/>
              <a:p>
                <a:pPr>
                  <a:defRPr/>
                </a:pPr>
                <a:r>
                  <a:rPr lang="ko-KR" altLang="en-US" dirty="0"/>
                  <a:t>이진 선형 계획법의 이해를 위한 모식도</a:t>
                </a: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 lvl="1">
                  <a:defRPr/>
                </a:pPr>
                <a:r>
                  <a:rPr lang="en-US" altLang="ko-KR" dirty="0"/>
                  <a:t> </a:t>
                </a:r>
                <a:r>
                  <a:rPr lang="ko-KR" altLang="en-US" dirty="0"/>
                  <a:t>모든 위성</a:t>
                </a:r>
                <a:r>
                  <a:rPr lang="en-US" altLang="ko-KR" dirty="0"/>
                  <a:t>(1 ~ N)</a:t>
                </a:r>
                <a:r>
                  <a:rPr lang="ko-KR" altLang="en-US" dirty="0"/>
                  <a:t>과 모든 </a:t>
                </a:r>
                <a:r>
                  <a:rPr lang="en-US" altLang="ko-KR" dirty="0"/>
                  <a:t>n(0 ~</a:t>
                </a:r>
                <a14:m>
                  <m:oMath xmlns:m="http://schemas.openxmlformats.org/officeDocument/2006/math"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altLang="ko-KR" dirty="0"/>
                  <a:t>)</a:t>
                </a:r>
                <a:r>
                  <a:rPr lang="ko-KR" altLang="en-US" dirty="0"/>
                  <a:t>을 </a:t>
                </a:r>
                <a:r>
                  <a:rPr lang="en-US" altLang="ko-KR" dirty="0"/>
                  <a:t>1</a:t>
                </a:r>
                <a:r>
                  <a:rPr lang="ko-KR" altLang="en-US" dirty="0"/>
                  <a:t>대</a:t>
                </a:r>
                <a:r>
                  <a:rPr lang="en-US" altLang="ko-KR" dirty="0"/>
                  <a:t>1</a:t>
                </a:r>
                <a:r>
                  <a:rPr lang="ko-KR" altLang="en-US" dirty="0"/>
                  <a:t>로 대응</a:t>
                </a:r>
                <a:r>
                  <a:rPr lang="en-US" altLang="ko-KR" dirty="0"/>
                  <a:t>,</a:t>
                </a:r>
                <a:r>
                  <a:rPr lang="ko-KR" altLang="en-US" dirty="0"/>
                  <a:t> 즉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모든 상황을 가정</a:t>
                </a:r>
                <a:endParaRPr lang="en-US" altLang="ko-KR" dirty="0"/>
              </a:p>
              <a:p>
                <a:pPr lvl="1">
                  <a:defRPr/>
                </a:pPr>
                <a:r>
                  <a:rPr lang="ko-KR" altLang="en-US" dirty="0"/>
                  <a:t>관심지역으로부터 위성이 관측되면 </a:t>
                </a:r>
                <a:r>
                  <a:rPr lang="en-US" altLang="ko-KR" dirty="0"/>
                  <a:t>1</a:t>
                </a:r>
                <a:r>
                  <a:rPr lang="ko-KR" altLang="en-US" dirty="0"/>
                  <a:t>로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그렇지 않다면 </a:t>
                </a:r>
                <a:r>
                  <a:rPr lang="en-US" altLang="ko-KR" dirty="0"/>
                  <a:t>0</a:t>
                </a:r>
                <a:r>
                  <a:rPr lang="ko-KR" altLang="en-US" dirty="0"/>
                  <a:t>으로 이진수로 나타냄</a:t>
                </a:r>
                <a:endParaRPr lang="en-US" altLang="ko-KR" dirty="0"/>
              </a:p>
              <a:p>
                <a:pPr lvl="1">
                  <a:defRPr/>
                </a:pPr>
                <a:r>
                  <a:rPr lang="ko-KR" altLang="en-US" dirty="0"/>
                  <a:t>모든 조합을 전부 확인하는 과정의 비효율성을 피하기 위해 선택 가능한 </a:t>
                </a:r>
                <a:r>
                  <a:rPr lang="en-US" altLang="ko-KR" dirty="0"/>
                  <a:t>n</a:t>
                </a:r>
                <a:r>
                  <a:rPr lang="ko-KR" altLang="en-US" dirty="0"/>
                  <a:t>의 배열만을 추려가며 무작위로 선택하는 프로그램을 구현함</a:t>
                </a:r>
                <a:endParaRPr lang="en-US" altLang="ko-KR" dirty="0"/>
              </a:p>
              <a:p>
                <a:pPr lvl="3">
                  <a:defRPr/>
                </a:pPr>
                <a:endParaRPr lang="en-US" altLang="ko-KR" dirty="0"/>
              </a:p>
            </p:txBody>
          </p:sp>
        </mc:Choice>
        <mc:Fallback xmlns="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979EE9BF-38BF-9B8A-5CB1-D8302ECD43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7082" y="928686"/>
                <a:ext cx="8629838" cy="5376968"/>
              </a:xfrm>
              <a:blipFill>
                <a:blip r:embed="rId3"/>
                <a:stretch>
                  <a:fillRect l="-918" t="-102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1B173B3-46EC-935A-396A-8B60C9727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8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0D52D28-83ED-B50F-30D3-0C082FEFF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이진 선형 계획법 설계 개념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A3F404-8D62-7265-E374-B64F2C372E29}"/>
              </a:ext>
            </a:extLst>
          </p:cNvPr>
          <p:cNvSpPr txBox="1"/>
          <p:nvPr/>
        </p:nvSpPr>
        <p:spPr>
          <a:xfrm>
            <a:off x="-200345" y="6033660"/>
            <a:ext cx="90566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ko-KR" altLang="en-US" sz="1000" b="1" dirty="0">
                <a:solidFill>
                  <a:srgbClr val="1F2328"/>
                </a:solidFill>
              </a:rPr>
              <a:t>출처 </a:t>
            </a:r>
            <a:r>
              <a:rPr lang="en-US" altLang="ko-KR" sz="1000" b="1" dirty="0">
                <a:solidFill>
                  <a:srgbClr val="1F2328"/>
                </a:solidFill>
              </a:rPr>
              <a:t>: Hang </a:t>
            </a:r>
            <a:r>
              <a:rPr lang="en-US" altLang="ko-KR" sz="1000" b="1" dirty="0" err="1">
                <a:solidFill>
                  <a:srgbClr val="1F2328"/>
                </a:solidFill>
              </a:rPr>
              <a:t>Woon</a:t>
            </a:r>
            <a:r>
              <a:rPr lang="en-US" altLang="ko-KR" sz="1000" b="1" dirty="0">
                <a:solidFill>
                  <a:srgbClr val="1F2328"/>
                </a:solidFill>
              </a:rPr>
              <a:t> Lee, Seiichi Shimizu, Shoji Yoshikawa, and Koki Ho, “</a:t>
            </a:r>
            <a:r>
              <a:rPr lang="en-US" altLang="ko-KR" sz="1000" b="1" u="sng" dirty="0">
                <a:solidFill>
                  <a:srgbClr val="1F2328"/>
                </a:solidFill>
              </a:rPr>
              <a:t>Satellite Constellation Pattern Optimization for Complex Regional Coverage</a:t>
            </a:r>
            <a:r>
              <a:rPr lang="en-US" altLang="ko-KR" sz="1000" b="1" dirty="0">
                <a:solidFill>
                  <a:srgbClr val="1F2328"/>
                </a:solidFill>
              </a:rPr>
              <a:t>”, 2020 Journal of Spacecraft and Rockets 57:6, 1309-1327</a:t>
            </a:r>
          </a:p>
        </p:txBody>
      </p:sp>
      <p:pic>
        <p:nvPicPr>
          <p:cNvPr id="7" name="그림 6" descr="도표, 라인, 텍스트, 원이(가) 표시된 사진&#10;&#10;자동 생성된 설명">
            <a:extLst>
              <a:ext uri="{FF2B5EF4-FFF2-40B4-BE49-F238E27FC236}">
                <a16:creationId xmlns:a16="http://schemas.microsoft.com/office/drawing/2014/main" id="{95D18C9E-E8E1-06F7-55F3-4C95CBBC73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885" y="1549954"/>
            <a:ext cx="6398714" cy="25905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grpSp>
        <p:nvGrpSpPr>
          <p:cNvPr id="3" name="그룹 2">
            <a:extLst>
              <a:ext uri="{FF2B5EF4-FFF2-40B4-BE49-F238E27FC236}">
                <a16:creationId xmlns:a16="http://schemas.microsoft.com/office/drawing/2014/main" id="{3ACBADC4-95B4-062E-9C6B-B49E063E1A14}"/>
              </a:ext>
            </a:extLst>
          </p:cNvPr>
          <p:cNvGrpSpPr/>
          <p:nvPr/>
        </p:nvGrpSpPr>
        <p:grpSpPr>
          <a:xfrm>
            <a:off x="0" y="0"/>
            <a:ext cx="9144000" cy="1124607"/>
            <a:chOff x="0" y="0"/>
            <a:chExt cx="9144000" cy="1124607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B4D573E3-ACD0-66C9-97B3-37DCBCF1436B}"/>
                </a:ext>
              </a:extLst>
            </p:cNvPr>
            <p:cNvSpPr/>
            <p:nvPr/>
          </p:nvSpPr>
          <p:spPr bwMode="auto">
            <a:xfrm>
              <a:off x="7589521" y="0"/>
              <a:ext cx="1554479" cy="75876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F7EDA3F5-F8E4-CB3B-EA32-F346A4DFE3A0}"/>
                </a:ext>
              </a:extLst>
            </p:cNvPr>
            <p:cNvSpPr/>
            <p:nvPr/>
          </p:nvSpPr>
          <p:spPr bwMode="auto">
            <a:xfrm>
              <a:off x="8259943" y="152400"/>
              <a:ext cx="884057" cy="97220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A4063012-36B8-AB0F-9D85-7D3B30A85B8B}"/>
                </a:ext>
              </a:extLst>
            </p:cNvPr>
            <p:cNvSpPr/>
            <p:nvPr/>
          </p:nvSpPr>
          <p:spPr bwMode="auto">
            <a:xfrm>
              <a:off x="7589521" y="495406"/>
              <a:ext cx="828769" cy="34832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0F8632EA-D5C0-4EB5-24EA-AE7C109783E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0" y="0"/>
              <a:ext cx="876300" cy="8286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76839059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A7CC1-AAB0-54D7-32C1-A116F9CC4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21D36BC3-C0C3-7519-9C04-96EEB279907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7082" y="928685"/>
                <a:ext cx="8886918" cy="5759101"/>
              </a:xfrm>
            </p:spPr>
            <p:txBody>
              <a:bodyPr>
                <a:normAutofit/>
              </a:bodyPr>
              <a:lstStyle/>
              <a:p>
                <a:pPr>
                  <a:defRPr/>
                </a:pPr>
                <a:r>
                  <a:rPr lang="ko-KR" altLang="en-US" dirty="0"/>
                  <a:t>고도와 경사각이 서로 다른 궤도를 운용하는 </a:t>
                </a:r>
                <a:r>
                  <a:rPr lang="ko-KR" altLang="en-US" dirty="0" err="1"/>
                  <a:t>위성군</a:t>
                </a: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 lvl="1">
                  <a:defRPr/>
                </a:pPr>
                <a:r>
                  <a:rPr lang="ko-KR" altLang="en-US" dirty="0"/>
                  <a:t>두 개의 관심지역 </a:t>
                </a:r>
                <a:r>
                  <a:rPr lang="en-US" altLang="ko-KR" dirty="0"/>
                  <a:t>ex.{(</a:t>
                </a:r>
                <a14:m>
                  <m:oMath xmlns:m="http://schemas.openxmlformats.org/officeDocument/2006/math">
                    <m:r>
                      <a:rPr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=64.14</m:t>
                    </m:r>
                  </m:oMath>
                </a14:m>
                <a:r>
                  <a:rPr lang="ko-KR" altLang="en-US" dirty="0"/>
                  <a:t>˚</a:t>
                </a:r>
                <a:r>
                  <a:rPr lang="en-US" altLang="ko-KR" dirty="0"/>
                  <a:t>N, </a:t>
                </a:r>
                <a14:m>
                  <m:oMath xmlns:m="http://schemas.openxmlformats.org/officeDocument/2006/math"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=21.94</m:t>
                    </m:r>
                  </m:oMath>
                </a14:m>
                <a:r>
                  <a:rPr lang="ko-KR" altLang="en-US" dirty="0"/>
                  <a:t>˚</a:t>
                </a:r>
                <a:r>
                  <a:rPr lang="en-US" altLang="ko-KR" dirty="0"/>
                  <a:t>W), (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19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07</m:t>
                    </m:r>
                  </m:oMath>
                </a14:m>
                <a:r>
                  <a:rPr lang="ko-KR" altLang="en-US" dirty="0"/>
                  <a:t>˚</a:t>
                </a:r>
                <a:r>
                  <a:rPr lang="en-US" altLang="ko-KR" dirty="0"/>
                  <a:t>N,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=72.87</m:t>
                    </m:r>
                  </m:oMath>
                </a14:m>
                <a:r>
                  <a:rPr lang="ko-KR" altLang="en-US" dirty="0"/>
                  <a:t>˚</a:t>
                </a:r>
                <a:r>
                  <a:rPr lang="en-US" altLang="ko-KR" dirty="0"/>
                  <a:t>E)}</a:t>
                </a:r>
              </a:p>
              <a:p>
                <a:pPr lvl="1">
                  <a:defRPr/>
                </a:pPr>
                <a:r>
                  <a:rPr lang="ko-KR" altLang="en-US" dirty="0"/>
                  <a:t>두 개의 궤도 유형 </a:t>
                </a:r>
                <a:r>
                  <a:rPr lang="en-US" altLang="ko-KR" dirty="0"/>
                  <a:t>ex.{[8/1, 0, 70</a:t>
                </a:r>
                <a:r>
                  <a:rPr lang="ko-KR" altLang="en-US" dirty="0"/>
                  <a:t>˚</a:t>
                </a:r>
                <a:r>
                  <a:rPr lang="en-US" altLang="ko-KR" dirty="0"/>
                  <a:t>, 0</a:t>
                </a:r>
                <a:r>
                  <a:rPr lang="ko-KR" altLang="en-US" dirty="0"/>
                  <a:t>˚</a:t>
                </a:r>
                <a:r>
                  <a:rPr lang="en-US" altLang="ko-KR" dirty="0"/>
                  <a:t>, 0</a:t>
                </a:r>
                <a:r>
                  <a:rPr lang="ko-KR" altLang="en-US" dirty="0"/>
                  <a:t>˚</a:t>
                </a:r>
                <a:r>
                  <a:rPr lang="en-US" altLang="ko-KR" dirty="0"/>
                  <a:t>, 0</a:t>
                </a:r>
                <a:r>
                  <a:rPr lang="ko-KR" altLang="en-US" dirty="0"/>
                  <a:t>˚</a:t>
                </a:r>
                <a:r>
                  <a:rPr lang="en-US" altLang="ko-KR" dirty="0"/>
                  <a:t>], [6/1, 0, 47.915</a:t>
                </a:r>
                <a:r>
                  <a:rPr lang="ko-KR" altLang="en-US" dirty="0"/>
                  <a:t>˚</a:t>
                </a:r>
                <a:r>
                  <a:rPr lang="en-US" altLang="ko-KR" dirty="0"/>
                  <a:t>, 0</a:t>
                </a:r>
                <a:r>
                  <a:rPr lang="ko-KR" altLang="en-US" dirty="0"/>
                  <a:t>˚</a:t>
                </a:r>
                <a:r>
                  <a:rPr lang="en-US" altLang="ko-KR" dirty="0"/>
                  <a:t>, 0</a:t>
                </a:r>
                <a:r>
                  <a:rPr lang="ko-KR" altLang="en-US" dirty="0"/>
                  <a:t>˚</a:t>
                </a:r>
                <a:r>
                  <a:rPr lang="en-US" altLang="ko-KR" dirty="0"/>
                  <a:t>, 0</a:t>
                </a:r>
                <a:r>
                  <a:rPr lang="ko-KR" altLang="en-US" dirty="0"/>
                  <a:t>˚</a:t>
                </a:r>
                <a:r>
                  <a:rPr lang="en-US" altLang="ko-KR" dirty="0"/>
                  <a:t>]}</a:t>
                </a:r>
              </a:p>
              <a:p>
                <a:pPr>
                  <a:defRPr/>
                </a:pPr>
                <a:endParaRPr lang="en-US" altLang="ko-KR" dirty="0"/>
              </a:p>
              <a:p>
                <a:pPr marL="0" indent="0">
                  <a:buNone/>
                  <a:defRPr/>
                </a:pPr>
                <a:endParaRPr lang="en-US" altLang="ko-KR" dirty="0"/>
              </a:p>
              <a:p>
                <a:pPr marL="0" indent="0">
                  <a:buNone/>
                  <a:defRPr/>
                </a:pPr>
                <a:endParaRPr lang="en-US" altLang="ko-KR" sz="200" dirty="0"/>
              </a:p>
              <a:p>
                <a:pPr marL="432000" lvl="2" indent="0">
                  <a:buNone/>
                  <a:defRPr/>
                </a:pPr>
                <a:endParaRPr lang="en-US" altLang="ko-KR" dirty="0"/>
              </a:p>
            </p:txBody>
          </p:sp>
        </mc:Choice>
        <mc:Fallback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21D36BC3-C0C3-7519-9C04-96EEB27990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7082" y="928685"/>
                <a:ext cx="8886918" cy="5759101"/>
              </a:xfrm>
              <a:blipFill>
                <a:blip r:embed="rId3"/>
                <a:stretch>
                  <a:fillRect l="-892" t="-95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772FB6E-619F-3248-F0DD-F80B3CF87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9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D3771FE-96AF-F839-2715-35C2A5856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214" y="71055"/>
            <a:ext cx="6947337" cy="687714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ko-KR" altLang="en-US" sz="2400" dirty="0"/>
              <a:t>이진 선형 계획법을 적용한 이종 </a:t>
            </a:r>
            <a:r>
              <a:rPr lang="ko-KR" altLang="en-US" sz="2400" dirty="0" err="1"/>
              <a:t>위성군</a:t>
            </a:r>
            <a:r>
              <a:rPr lang="ko-KR" altLang="en-US" sz="2400" dirty="0"/>
              <a:t> 설계 개념</a:t>
            </a:r>
          </a:p>
        </p:txBody>
      </p:sp>
      <p:pic>
        <p:nvPicPr>
          <p:cNvPr id="5" name="그림 4" descr="원, 예술이(가) 표시된 사진&#10;&#10;자동 생성된 설명">
            <a:extLst>
              <a:ext uri="{FF2B5EF4-FFF2-40B4-BE49-F238E27FC236}">
                <a16:creationId xmlns:a16="http://schemas.microsoft.com/office/drawing/2014/main" id="{8B4B7C4C-57C9-2A1A-8FE8-01E87157734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611" y="1604188"/>
            <a:ext cx="6327277" cy="29785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2135715-F075-B675-6494-A42B7632C2DB}"/>
              </a:ext>
            </a:extLst>
          </p:cNvPr>
          <p:cNvSpPr txBox="1"/>
          <p:nvPr/>
        </p:nvSpPr>
        <p:spPr>
          <a:xfrm>
            <a:off x="-288506" y="5975117"/>
            <a:ext cx="90566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ko-KR" altLang="en-US" sz="1000" b="1" dirty="0">
                <a:solidFill>
                  <a:srgbClr val="1F2328"/>
                </a:solidFill>
              </a:rPr>
              <a:t>출처 </a:t>
            </a:r>
            <a:r>
              <a:rPr lang="en-US" altLang="ko-KR" sz="1000" b="1" dirty="0">
                <a:solidFill>
                  <a:srgbClr val="1F2328"/>
                </a:solidFill>
              </a:rPr>
              <a:t>: Hang </a:t>
            </a:r>
            <a:r>
              <a:rPr lang="en-US" altLang="ko-KR" sz="1000" b="1" dirty="0" err="1">
                <a:solidFill>
                  <a:srgbClr val="1F2328"/>
                </a:solidFill>
              </a:rPr>
              <a:t>Woon</a:t>
            </a:r>
            <a:r>
              <a:rPr lang="en-US" altLang="ko-KR" sz="1000" b="1" dirty="0">
                <a:solidFill>
                  <a:srgbClr val="1F2328"/>
                </a:solidFill>
              </a:rPr>
              <a:t> Lee, Seiichi Shimizu, Shoji Yoshikawa, and Koki Ho, “</a:t>
            </a:r>
            <a:r>
              <a:rPr lang="en-US" altLang="ko-KR" sz="1000" b="1" u="sng" dirty="0">
                <a:solidFill>
                  <a:srgbClr val="1F2328"/>
                </a:solidFill>
              </a:rPr>
              <a:t>Satellite Constellation Pattern Optimization for Complex Regional Coverage</a:t>
            </a:r>
            <a:r>
              <a:rPr lang="en-US" altLang="ko-KR" sz="1000" b="1" dirty="0">
                <a:solidFill>
                  <a:srgbClr val="1F2328"/>
                </a:solidFill>
              </a:rPr>
              <a:t>”, 2020 Journal of Spacecraft and Rockets 57:6, 1309-1327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46B5C8AF-6BA4-9686-2150-5C4D17ABA42D}"/>
              </a:ext>
            </a:extLst>
          </p:cNvPr>
          <p:cNvGrpSpPr/>
          <p:nvPr/>
        </p:nvGrpSpPr>
        <p:grpSpPr>
          <a:xfrm>
            <a:off x="0" y="0"/>
            <a:ext cx="9144000" cy="1124607"/>
            <a:chOff x="0" y="0"/>
            <a:chExt cx="9144000" cy="1124607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0FDE95B6-D8E8-9773-C97B-D0D62C43E5E1}"/>
                </a:ext>
              </a:extLst>
            </p:cNvPr>
            <p:cNvSpPr/>
            <p:nvPr/>
          </p:nvSpPr>
          <p:spPr bwMode="auto">
            <a:xfrm>
              <a:off x="7589521" y="0"/>
              <a:ext cx="1554479" cy="75876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B1799A1B-2F09-D036-5024-471368F5B33D}"/>
                </a:ext>
              </a:extLst>
            </p:cNvPr>
            <p:cNvSpPr/>
            <p:nvPr/>
          </p:nvSpPr>
          <p:spPr bwMode="auto">
            <a:xfrm>
              <a:off x="8259943" y="152400"/>
              <a:ext cx="884057" cy="97220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566A8124-D3DC-A74E-7153-D9B06F228A40}"/>
                </a:ext>
              </a:extLst>
            </p:cNvPr>
            <p:cNvSpPr/>
            <p:nvPr/>
          </p:nvSpPr>
          <p:spPr bwMode="auto">
            <a:xfrm>
              <a:off x="7589521" y="495406"/>
              <a:ext cx="828769" cy="34832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C22F0648-524C-C2DB-8C20-064567F1372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0" y="0"/>
              <a:ext cx="876300" cy="8286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72132430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A7CC1-AAB0-54D7-32C1-A116F9CC4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3">
            <a:extLst>
              <a:ext uri="{FF2B5EF4-FFF2-40B4-BE49-F238E27FC236}">
                <a16:creationId xmlns:a16="http://schemas.microsoft.com/office/drawing/2014/main" id="{E2254941-4BD1-BDB2-726B-CAE789A2E8DA}"/>
              </a:ext>
            </a:extLst>
          </p:cNvPr>
          <p:cNvSpPr txBox="1">
            <a:spLocks/>
          </p:cNvSpPr>
          <p:nvPr/>
        </p:nvSpPr>
        <p:spPr>
          <a:xfrm>
            <a:off x="725214" y="71055"/>
            <a:ext cx="6947337" cy="6877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pPr>
              <a:defRPr/>
            </a:pPr>
            <a:r>
              <a:rPr lang="ko-KR" altLang="en-US" sz="2400"/>
              <a:t>이진 선형 계획법을 적용한 이종 위성군 설계 개념</a:t>
            </a:r>
            <a:endParaRPr lang="ko-KR" altLang="en-US" sz="2400" dirty="0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21D36BC3-C0C3-7519-9C04-96EEB27990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5"/>
            <a:ext cx="8886918" cy="5759101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서로 다른 궤도를 동시에 운용</a:t>
            </a: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 marL="0" indent="0">
              <a:buNone/>
              <a:defRPr/>
            </a:pPr>
            <a:endParaRPr lang="en-US" altLang="ko-KR" dirty="0"/>
          </a:p>
          <a:p>
            <a:pPr marL="0" indent="0">
              <a:buNone/>
              <a:defRPr/>
            </a:pPr>
            <a:endParaRPr lang="en-US" altLang="ko-KR" sz="200" dirty="0"/>
          </a:p>
          <a:p>
            <a:pPr marL="432000" lvl="2" indent="0">
              <a:buNone/>
              <a:defRPr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772FB6E-619F-3248-F0DD-F80B3CF87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10</a:t>
            </a:fld>
            <a:endParaRPr lang="en-US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7342884-0C87-5A9A-6078-383D1DBB8403}"/>
              </a:ext>
            </a:extLst>
          </p:cNvPr>
          <p:cNvSpPr/>
          <p:nvPr/>
        </p:nvSpPr>
        <p:spPr bwMode="auto">
          <a:xfrm>
            <a:off x="4419163" y="5385808"/>
            <a:ext cx="717916" cy="3069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AE7B3022-7ED5-97FC-BCEE-1B8ED0ADA43A}"/>
              </a:ext>
            </a:extLst>
          </p:cNvPr>
          <p:cNvGrpSpPr/>
          <p:nvPr/>
        </p:nvGrpSpPr>
        <p:grpSpPr>
          <a:xfrm>
            <a:off x="0" y="0"/>
            <a:ext cx="9144000" cy="1124607"/>
            <a:chOff x="0" y="0"/>
            <a:chExt cx="9144000" cy="1124607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338AB814-110C-C332-D99D-BCCAE3E12B49}"/>
                </a:ext>
              </a:extLst>
            </p:cNvPr>
            <p:cNvSpPr/>
            <p:nvPr/>
          </p:nvSpPr>
          <p:spPr bwMode="auto">
            <a:xfrm>
              <a:off x="7589521" y="0"/>
              <a:ext cx="1554479" cy="75876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BB34630C-738C-03C4-5788-ACEAE154C7E3}"/>
                </a:ext>
              </a:extLst>
            </p:cNvPr>
            <p:cNvSpPr/>
            <p:nvPr/>
          </p:nvSpPr>
          <p:spPr bwMode="auto">
            <a:xfrm>
              <a:off x="8259943" y="152400"/>
              <a:ext cx="884057" cy="97220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BCA2FC6B-1A75-3479-93DA-997D65A7D2C3}"/>
                </a:ext>
              </a:extLst>
            </p:cNvPr>
            <p:cNvSpPr/>
            <p:nvPr/>
          </p:nvSpPr>
          <p:spPr bwMode="auto">
            <a:xfrm>
              <a:off x="7589521" y="495406"/>
              <a:ext cx="828769" cy="34832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023CB074-08FC-A506-ECB4-DA1B2E2D328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876300" cy="828675"/>
            </a:xfrm>
            <a:prstGeom prst="rect">
              <a:avLst/>
            </a:prstGeom>
          </p:spPr>
        </p:pic>
      </p:grpSp>
      <p:pic>
        <p:nvPicPr>
          <p:cNvPr id="12" name="그림 11">
            <a:extLst>
              <a:ext uri="{FF2B5EF4-FFF2-40B4-BE49-F238E27FC236}">
                <a16:creationId xmlns:a16="http://schemas.microsoft.com/office/drawing/2014/main" id="{F42A8880-1CBB-A8E6-C6BE-39FE7F06A5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694" y="1489605"/>
            <a:ext cx="8477250" cy="3209925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AD5191EF-8309-04E1-7588-46E2C1554A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02" y="4771192"/>
            <a:ext cx="3153760" cy="116314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C12A665-3ECE-07E0-B0D1-8DAFE48AD58E}"/>
              </a:ext>
            </a:extLst>
          </p:cNvPr>
          <p:cNvSpPr txBox="1"/>
          <p:nvPr/>
        </p:nvSpPr>
        <p:spPr>
          <a:xfrm>
            <a:off x="4030482" y="5035736"/>
            <a:ext cx="478746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/>
              <a:t>두 지역을 동시에 커버하기 위한 최소 위성 수 </a:t>
            </a:r>
            <a:r>
              <a:rPr lang="en-US" altLang="ko-KR" sz="1400" dirty="0"/>
              <a:t>9 + 8 = 17?</a:t>
            </a:r>
          </a:p>
          <a:p>
            <a:endParaRPr lang="en-US" altLang="ko-KR" sz="1400" dirty="0"/>
          </a:p>
          <a:p>
            <a:r>
              <a:rPr lang="ko-KR" altLang="en-US" sz="1400" dirty="0"/>
              <a:t>       이종 </a:t>
            </a:r>
            <a:r>
              <a:rPr lang="ko-KR" altLang="en-US" sz="1400" dirty="0" err="1"/>
              <a:t>위성군</a:t>
            </a:r>
            <a:r>
              <a:rPr lang="ko-KR" altLang="en-US" sz="1400" dirty="0"/>
              <a:t> 운용으로 </a:t>
            </a:r>
            <a:r>
              <a:rPr lang="en-US" altLang="ko-KR" sz="1400" dirty="0"/>
              <a:t>17 </a:t>
            </a:r>
            <a:r>
              <a:rPr lang="ko-KR" altLang="en-US" sz="1400" dirty="0"/>
              <a:t>→ </a:t>
            </a:r>
            <a:r>
              <a:rPr lang="en-US" altLang="ko-KR" sz="1400" dirty="0"/>
              <a:t>10</a:t>
            </a:r>
            <a:r>
              <a:rPr lang="ko-KR" altLang="en-US" sz="1400" dirty="0"/>
              <a:t>대까지 감소 가능</a:t>
            </a:r>
            <a:endParaRPr lang="ko-KR" altLang="en-US" sz="16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3EF2A45-7DD7-36B8-47E6-E48FFB58DE4D}"/>
              </a:ext>
            </a:extLst>
          </p:cNvPr>
          <p:cNvSpPr txBox="1"/>
          <p:nvPr/>
        </p:nvSpPr>
        <p:spPr>
          <a:xfrm>
            <a:off x="-249949" y="5944316"/>
            <a:ext cx="47874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 dirty="0"/>
              <a:t>연속 </a:t>
            </a:r>
            <a:r>
              <a:rPr lang="ko-KR" altLang="en-US" sz="1400" dirty="0" err="1"/>
              <a:t>커버리지를</a:t>
            </a:r>
            <a:r>
              <a:rPr lang="ko-KR" altLang="en-US" sz="1400" dirty="0"/>
              <a:t> 위해 필요한 최소 위성 수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3620763375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한반도 인근 지역의 주요 관심지역</a:t>
            </a:r>
            <a:endParaRPr lang="en-US" altLang="ko-KR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>
              <a:defRPr/>
            </a:pP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한반도 및 인근</a:t>
            </a:r>
            <a:r>
              <a:rPr lang="ko-KR" altLang="en-US" dirty="0"/>
              <a:t>지역에 대한 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시뮬레이션 세팅</a:t>
            </a:r>
            <a:endParaRPr lang="ko-KR" altLang="en-US" dirty="0"/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3E2E8FCE-2340-257C-78A4-76925375509E}"/>
              </a:ext>
            </a:extLst>
          </p:cNvPr>
          <p:cNvGrpSpPr/>
          <p:nvPr/>
        </p:nvGrpSpPr>
        <p:grpSpPr>
          <a:xfrm>
            <a:off x="52918" y="4730490"/>
            <a:ext cx="2589522" cy="816740"/>
            <a:chOff x="90320" y="1797742"/>
            <a:chExt cx="2589522" cy="816740"/>
          </a:xfrm>
        </p:grpSpPr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938DA437-A4F5-9414-412C-0A60ECBA822A}"/>
                </a:ext>
              </a:extLst>
            </p:cNvPr>
            <p:cNvCxnSpPr>
              <a:cxnSpLocks/>
            </p:cNvCxnSpPr>
            <p:nvPr/>
          </p:nvCxnSpPr>
          <p:spPr>
            <a:xfrm>
              <a:off x="90320" y="1797742"/>
              <a:ext cx="454210" cy="433637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66133B4-6CF9-F43E-47BA-F959363DD1DD}"/>
                </a:ext>
              </a:extLst>
            </p:cNvPr>
            <p:cNvCxnSpPr>
              <a:cxnSpLocks/>
            </p:cNvCxnSpPr>
            <p:nvPr/>
          </p:nvCxnSpPr>
          <p:spPr>
            <a:xfrm>
              <a:off x="544530" y="2231379"/>
              <a:ext cx="1691612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2E80F4B0-CD51-1240-0686-024C08B56B6A}"/>
                </a:ext>
              </a:extLst>
            </p:cNvPr>
            <p:cNvCxnSpPr>
              <a:cxnSpLocks/>
            </p:cNvCxnSpPr>
            <p:nvPr/>
          </p:nvCxnSpPr>
          <p:spPr>
            <a:xfrm>
              <a:off x="2236142" y="2231379"/>
              <a:ext cx="443700" cy="383103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그림 4">
            <a:extLst>
              <a:ext uri="{FF2B5EF4-FFF2-40B4-BE49-F238E27FC236}">
                <a16:creationId xmlns:a16="http://schemas.microsoft.com/office/drawing/2014/main" id="{648793CB-9587-A633-85A5-68DCC24486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407" y="1747258"/>
            <a:ext cx="3517114" cy="362166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85C832BC-C449-3CD2-5276-B57571E9CB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7685" y="1693872"/>
            <a:ext cx="4703544" cy="376635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A9BFBC9-A07D-FAC1-3D9E-B405A5AF66E7}"/>
              </a:ext>
            </a:extLst>
          </p:cNvPr>
          <p:cNvSpPr txBox="1"/>
          <p:nvPr/>
        </p:nvSpPr>
        <p:spPr>
          <a:xfrm>
            <a:off x="-200345" y="6033660"/>
            <a:ext cx="905667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ko-KR" altLang="en-US" sz="1000" b="1" dirty="0">
                <a:solidFill>
                  <a:srgbClr val="1F2328"/>
                </a:solidFill>
              </a:rPr>
              <a:t>출처 </a:t>
            </a:r>
            <a:r>
              <a:rPr lang="en-US" altLang="ko-KR" sz="1000" b="1" dirty="0">
                <a:solidFill>
                  <a:srgbClr val="1F2328"/>
                </a:solidFill>
              </a:rPr>
              <a:t>: </a:t>
            </a:r>
            <a:r>
              <a:rPr lang="ko-KR" altLang="en-US" sz="1000" b="1" dirty="0">
                <a:solidFill>
                  <a:srgbClr val="1F2328"/>
                </a:solidFill>
              </a:rPr>
              <a:t>지역 커버리지 초소형 </a:t>
            </a:r>
            <a:r>
              <a:rPr lang="ko-KR" altLang="en-US" sz="1000" b="1" dirty="0" err="1">
                <a:solidFill>
                  <a:srgbClr val="1F2328"/>
                </a:solidFill>
              </a:rPr>
              <a:t>위성군</a:t>
            </a:r>
            <a:r>
              <a:rPr lang="ko-KR" altLang="en-US" sz="1000" b="1" dirty="0">
                <a:solidFill>
                  <a:srgbClr val="1F2328"/>
                </a:solidFill>
              </a:rPr>
              <a:t> 궤도설계와 </a:t>
            </a:r>
            <a:r>
              <a:rPr lang="ko-KR" altLang="en-US" sz="1000" b="1" dirty="0" err="1">
                <a:solidFill>
                  <a:srgbClr val="1F2328"/>
                </a:solidFill>
              </a:rPr>
              <a:t>위성군</a:t>
            </a:r>
            <a:r>
              <a:rPr lang="ko-KR" altLang="en-US" sz="1000" b="1" dirty="0">
                <a:solidFill>
                  <a:srgbClr val="1F2328"/>
                </a:solidFill>
              </a:rPr>
              <a:t> 궤도 전개 연구</a:t>
            </a:r>
            <a:r>
              <a:rPr lang="en-US" altLang="ko-KR" sz="1000" b="1" dirty="0">
                <a:solidFill>
                  <a:srgbClr val="1F2328"/>
                </a:solidFill>
              </a:rPr>
              <a:t>, 2020, </a:t>
            </a:r>
            <a:r>
              <a:rPr lang="ko-KR" altLang="en-US" sz="1000" b="1" dirty="0">
                <a:solidFill>
                  <a:srgbClr val="1F2328"/>
                </a:solidFill>
              </a:rPr>
              <a:t>신진영</a:t>
            </a:r>
            <a:r>
              <a:rPr lang="en-US" altLang="ko-KR" sz="1000" b="1" dirty="0">
                <a:solidFill>
                  <a:srgbClr val="1F2328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109118271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97B05997-7547-9ABD-F35B-5962EF7BDD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7082" y="928686"/>
                <a:ext cx="8629838" cy="5376968"/>
              </a:xfrm>
            </p:spPr>
            <p:txBody>
              <a:bodyPr>
                <a:normAutofit/>
              </a:bodyPr>
              <a:lstStyle/>
              <a:p>
                <a:pPr>
                  <a:defRPr/>
                </a:pPr>
                <a:r>
                  <a:rPr lang="ko-KR" altLang="en-US" dirty="0"/>
                  <a:t>관심지역</a:t>
                </a:r>
                <a:endParaRPr lang="en-US" altLang="ko-KR" dirty="0"/>
              </a:p>
              <a:p>
                <a:pPr lvl="1">
                  <a:defRPr/>
                </a:pPr>
                <a:r>
                  <a:rPr lang="ko-KR" altLang="en-US" dirty="0"/>
                  <a:t>서울 </a:t>
                </a:r>
                <a:r>
                  <a:rPr lang="en-US" altLang="ko-KR" dirty="0"/>
                  <a:t>(</a:t>
                </a:r>
                <a:r>
                  <a:rPr lang="ko-KR" altLang="en-US" dirty="0"/>
                  <a:t>𝜙 </a:t>
                </a:r>
                <a:r>
                  <a:rPr lang="en-US" altLang="ko-KR" dirty="0"/>
                  <a:t>= 37.6</a:t>
                </a:r>
                <a:r>
                  <a:rPr lang="ko-KR" altLang="en-US" dirty="0"/>
                  <a:t>˚</a:t>
                </a:r>
                <a:r>
                  <a:rPr lang="en-US" altLang="ko-KR" dirty="0"/>
                  <a:t>N, </a:t>
                </a:r>
                <a:r>
                  <a:rPr lang="el-GR" altLang="ko-KR" dirty="0"/>
                  <a:t>λ</a:t>
                </a:r>
                <a:r>
                  <a:rPr lang="en-US" altLang="ko-KR" dirty="0"/>
                  <a:t> = 127</a:t>
                </a:r>
                <a:r>
                  <a:rPr lang="ko-KR" altLang="en-US" dirty="0"/>
                  <a:t>˚</a:t>
                </a:r>
                <a:r>
                  <a:rPr lang="en-US" altLang="ko-KR" dirty="0"/>
                  <a:t>E)</a:t>
                </a:r>
              </a:p>
              <a:p>
                <a:pPr lvl="1">
                  <a:defRPr/>
                </a:pPr>
                <a:r>
                  <a:rPr lang="ko-KR" altLang="en-US" dirty="0"/>
                  <a:t>블라디보스토크 </a:t>
                </a:r>
                <a:r>
                  <a:rPr lang="en-US" altLang="ko-KR" dirty="0"/>
                  <a:t>(</a:t>
                </a:r>
                <a:r>
                  <a:rPr lang="ko-KR" altLang="en-US" dirty="0"/>
                  <a:t>𝜙 </a:t>
                </a:r>
                <a:r>
                  <a:rPr lang="en-US" altLang="ko-KR" dirty="0"/>
                  <a:t>= 43.1</a:t>
                </a:r>
                <a:r>
                  <a:rPr lang="ko-KR" altLang="en-US" dirty="0"/>
                  <a:t>˚</a:t>
                </a:r>
                <a:r>
                  <a:rPr lang="en-US" altLang="ko-KR" dirty="0"/>
                  <a:t>N, </a:t>
                </a:r>
                <a:r>
                  <a:rPr lang="el-GR" altLang="ko-KR" dirty="0"/>
                  <a:t>λ</a:t>
                </a:r>
                <a:r>
                  <a:rPr lang="en-US" altLang="ko-KR" dirty="0"/>
                  <a:t> = 131.9</a:t>
                </a:r>
                <a:r>
                  <a:rPr lang="ko-KR" altLang="en-US" dirty="0"/>
                  <a:t>˚</a:t>
                </a:r>
                <a:r>
                  <a:rPr lang="en-US" altLang="ko-KR" dirty="0"/>
                  <a:t>E)</a:t>
                </a:r>
              </a:p>
              <a:p>
                <a:pPr lvl="1">
                  <a:defRPr/>
                </a:pPr>
                <a:endParaRPr lang="en-US" altLang="ko-KR" sz="1000" dirty="0"/>
              </a:p>
              <a:p>
                <a:pPr>
                  <a:defRPr/>
                </a:pPr>
                <a:r>
                  <a:rPr lang="ko-KR" altLang="en-US" dirty="0"/>
                  <a:t>고도</a:t>
                </a:r>
                <a:endParaRPr lang="en-US" altLang="ko-KR" dirty="0"/>
              </a:p>
              <a:p>
                <a:pPr lvl="1">
                  <a:defRPr/>
                </a:pPr>
                <a:r>
                  <a:rPr lang="en-US" altLang="ko-KR" dirty="0"/>
                  <a:t>892km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i="1" dirty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ko-KR" i="1" dirty="0">
                        <a:latin typeface="Cambria Math" panose="02040503050406030204" pitchFamily="18" charset="0"/>
                      </a:rPr>
                      <m:t>=7270.14</m:t>
                    </m:r>
                    <m:r>
                      <m:rPr>
                        <m:sty m:val="p"/>
                      </m:rPr>
                      <a:rPr lang="en-US" altLang="ko-KR" i="1" dirty="0">
                        <a:latin typeface="Cambria Math" panose="02040503050406030204" pitchFamily="18" charset="0"/>
                      </a:rPr>
                      <m:t>km</m:t>
                    </m:r>
                    <m:r>
                      <a:rPr lang="en-US" altLang="ko-KR" i="1" dirty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ko-KR" altLang="en-US" i="1" dirty="0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altLang="ko-KR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14/1</m:t>
                    </m:r>
                  </m:oMath>
                </a14:m>
                <a:r>
                  <a:rPr lang="en-US" altLang="ko-KR" dirty="0"/>
                  <a:t>)</a:t>
                </a:r>
              </a:p>
              <a:p>
                <a:pPr lvl="1">
                  <a:defRPr/>
                </a:pPr>
                <a:endParaRPr lang="en-US" altLang="ko-KR" sz="1000" dirty="0"/>
              </a:p>
              <a:p>
                <a:pPr>
                  <a:defRPr/>
                </a:pPr>
                <a:r>
                  <a:rPr lang="ko-KR" altLang="en-US" dirty="0"/>
                  <a:t>궤도 경사각</a:t>
                </a:r>
                <a:endParaRPr lang="en-US" altLang="ko-KR" dirty="0"/>
              </a:p>
              <a:p>
                <a:pPr lvl="1">
                  <a:defRPr/>
                </a:pPr>
                <a:r>
                  <a:rPr lang="en-US" altLang="ko-KR" dirty="0"/>
                  <a:t>Orbit 1 : 59</a:t>
                </a:r>
                <a:r>
                  <a:rPr lang="ko-KR" altLang="en-US" dirty="0"/>
                  <a:t>˚</a:t>
                </a:r>
                <a:endParaRPr lang="en-US" altLang="ko-KR" dirty="0"/>
              </a:p>
              <a:p>
                <a:pPr lvl="1">
                  <a:defRPr/>
                </a:pPr>
                <a:r>
                  <a:rPr lang="en-US" altLang="ko-KR" dirty="0"/>
                  <a:t>Orbit 2 : 65</a:t>
                </a:r>
                <a:r>
                  <a:rPr lang="ko-KR" altLang="en-US" dirty="0"/>
                  <a:t>˚</a:t>
                </a:r>
                <a:endParaRPr lang="en-US" altLang="ko-KR" dirty="0"/>
              </a:p>
            </p:txBody>
          </p:sp>
        </mc:Choice>
        <mc:Fallback xmlns="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97B05997-7547-9ABD-F35B-5962EF7BDD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7082" y="928686"/>
                <a:ext cx="8629838" cy="5376968"/>
              </a:xfrm>
              <a:blipFill>
                <a:blip r:embed="rId3"/>
                <a:stretch>
                  <a:fillRect l="-918" t="-102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12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>
              <a:defRPr/>
            </a:pP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한반도 및 인근</a:t>
            </a:r>
            <a:r>
              <a:rPr lang="ko-KR" altLang="en-US" dirty="0"/>
              <a:t>지역에 대한 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시뮬레이션 </a:t>
            </a:r>
            <a:r>
              <a:rPr lang="ko-KR" altLang="en-US" dirty="0"/>
              <a:t>설정</a:t>
            </a:r>
          </a:p>
        </p:txBody>
      </p:sp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DB2BC103-702B-6AFB-4D58-5B9B688914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5501015"/>
              </p:ext>
            </p:extLst>
          </p:nvPr>
        </p:nvGraphicFramePr>
        <p:xfrm>
          <a:off x="63428" y="4711310"/>
          <a:ext cx="9017144" cy="140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6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81393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98791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  <a:gridCol w="1017351">
                  <a:extLst>
                    <a:ext uri="{9D8B030D-6E8A-4147-A177-3AD203B41FA5}">
                      <a16:colId xmlns:a16="http://schemas.microsoft.com/office/drawing/2014/main" val="14929076"/>
                    </a:ext>
                  </a:extLst>
                </a:gridCol>
              </a:tblGrid>
              <a:tr h="250753">
                <a:tc rowSpan="3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 err="1"/>
                        <a:t>AoI</a:t>
                      </a:r>
                      <a:r>
                        <a:rPr lang="en-US" altLang="ko-KR" sz="1400" dirty="0"/>
                        <a:t> &amp; Time </a:t>
                      </a:r>
                    </a:p>
                    <a:p>
                      <a:pPr algn="ctr" latinLnBrk="1">
                        <a:defRPr/>
                      </a:pPr>
                      <a:endParaRPr lang="en-US" altLang="ko-KR" sz="1400" dirty="0"/>
                    </a:p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Epoch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5678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37.57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127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720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24.01.01</a:t>
                      </a:r>
                    </a:p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00:00:00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43.10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131.9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6562650"/>
                  </a:ext>
                </a:extLst>
              </a:tr>
              <a:tr h="225678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7270.14km</a:t>
                      </a:r>
                      <a:r>
                        <a:rPr lang="en-US" altLang="ko-KR" sz="1200" dirty="0"/>
                        <a:t>, 0, 59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Orbit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128255"/>
                  </a:ext>
                </a:extLst>
              </a:tr>
              <a:tr h="22567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7274.14km</a:t>
                      </a:r>
                      <a:r>
                        <a:rPr lang="en-US" altLang="ko-KR" sz="1200" dirty="0"/>
                        <a:t>, 0, 65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Orbit 2</a:t>
                      </a:r>
                      <a:endParaRPr lang="ko-KR" altLang="en-US" sz="1200" dirty="0">
                        <a:solidFill>
                          <a:srgbClr val="FF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9066936"/>
                  </a:ext>
                </a:extLst>
              </a:tr>
            </a:tbl>
          </a:graphicData>
        </a:graphic>
      </p:graphicFrame>
      <p:grpSp>
        <p:nvGrpSpPr>
          <p:cNvPr id="23" name="그룹 22">
            <a:extLst>
              <a:ext uri="{FF2B5EF4-FFF2-40B4-BE49-F238E27FC236}">
                <a16:creationId xmlns:a16="http://schemas.microsoft.com/office/drawing/2014/main" id="{3E2E8FCE-2340-257C-78A4-76925375509E}"/>
              </a:ext>
            </a:extLst>
          </p:cNvPr>
          <p:cNvGrpSpPr/>
          <p:nvPr/>
        </p:nvGrpSpPr>
        <p:grpSpPr>
          <a:xfrm>
            <a:off x="52918" y="4730490"/>
            <a:ext cx="2589522" cy="816740"/>
            <a:chOff x="90320" y="1797742"/>
            <a:chExt cx="2589522" cy="816740"/>
          </a:xfrm>
        </p:grpSpPr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938DA437-A4F5-9414-412C-0A60ECBA822A}"/>
                </a:ext>
              </a:extLst>
            </p:cNvPr>
            <p:cNvCxnSpPr>
              <a:cxnSpLocks/>
            </p:cNvCxnSpPr>
            <p:nvPr/>
          </p:nvCxnSpPr>
          <p:spPr>
            <a:xfrm>
              <a:off x="90320" y="1797742"/>
              <a:ext cx="454210" cy="433637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66133B4-6CF9-F43E-47BA-F959363DD1DD}"/>
                </a:ext>
              </a:extLst>
            </p:cNvPr>
            <p:cNvCxnSpPr>
              <a:cxnSpLocks/>
            </p:cNvCxnSpPr>
            <p:nvPr/>
          </p:nvCxnSpPr>
          <p:spPr>
            <a:xfrm>
              <a:off x="544530" y="2231379"/>
              <a:ext cx="1691612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2E80F4B0-CD51-1240-0686-024C08B56B6A}"/>
                </a:ext>
              </a:extLst>
            </p:cNvPr>
            <p:cNvCxnSpPr>
              <a:cxnSpLocks/>
            </p:cNvCxnSpPr>
            <p:nvPr/>
          </p:nvCxnSpPr>
          <p:spPr>
            <a:xfrm>
              <a:off x="2236142" y="2231379"/>
              <a:ext cx="443700" cy="383103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7B6BC443-7702-46E7-0F16-2E44611DC34A}"/>
              </a:ext>
            </a:extLst>
          </p:cNvPr>
          <p:cNvGrpSpPr/>
          <p:nvPr/>
        </p:nvGrpSpPr>
        <p:grpSpPr>
          <a:xfrm>
            <a:off x="0" y="0"/>
            <a:ext cx="9144000" cy="1124607"/>
            <a:chOff x="0" y="0"/>
            <a:chExt cx="9144000" cy="1124607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B328D733-C4D8-61A7-51E0-7B2700FF6999}"/>
                </a:ext>
              </a:extLst>
            </p:cNvPr>
            <p:cNvSpPr/>
            <p:nvPr/>
          </p:nvSpPr>
          <p:spPr bwMode="auto">
            <a:xfrm>
              <a:off x="7589521" y="0"/>
              <a:ext cx="1554479" cy="75876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72D6C105-E98D-760B-59EE-F3D28021BB83}"/>
                </a:ext>
              </a:extLst>
            </p:cNvPr>
            <p:cNvSpPr/>
            <p:nvPr/>
          </p:nvSpPr>
          <p:spPr bwMode="auto">
            <a:xfrm>
              <a:off x="8259943" y="152400"/>
              <a:ext cx="884057" cy="97220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82C12FD1-C9D7-0CAC-2168-DF0B6342642C}"/>
                </a:ext>
              </a:extLst>
            </p:cNvPr>
            <p:cNvSpPr/>
            <p:nvPr/>
          </p:nvSpPr>
          <p:spPr bwMode="auto">
            <a:xfrm>
              <a:off x="7589521" y="495406"/>
              <a:ext cx="828769" cy="34832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BCD90BB6-BA24-3650-9A6A-7DBBD86EDED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0"/>
              <a:ext cx="876300" cy="8286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31040484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000" y="1033789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궤도 경사각에 따른 관심 지역의 위성 접근 시간</a:t>
            </a: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 marL="0" indent="0">
              <a:buNone/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r>
              <a:rPr lang="ko-KR" altLang="en-US" dirty="0"/>
              <a:t>고도 </a:t>
            </a:r>
            <a:r>
              <a:rPr lang="en-US" altLang="ko-KR" dirty="0"/>
              <a:t>: 892km</a:t>
            </a:r>
          </a:p>
          <a:p>
            <a:pPr lvl="1">
              <a:defRPr/>
            </a:pPr>
            <a:r>
              <a:rPr lang="ko-KR" altLang="en-US" dirty="0"/>
              <a:t>궤도 경사각</a:t>
            </a:r>
            <a:endParaRPr lang="en-US" altLang="ko-KR" dirty="0"/>
          </a:p>
          <a:p>
            <a:pPr lvl="2">
              <a:defRPr/>
            </a:pPr>
            <a:r>
              <a:rPr lang="en-US" altLang="ko-KR" dirty="0"/>
              <a:t>Orbit 1 : 59</a:t>
            </a:r>
            <a:r>
              <a:rPr lang="ko-KR" altLang="en-US" dirty="0"/>
              <a:t>˚</a:t>
            </a:r>
            <a:endParaRPr lang="en-US" altLang="ko-KR" dirty="0"/>
          </a:p>
          <a:p>
            <a:pPr lvl="2">
              <a:defRPr/>
            </a:pPr>
            <a:r>
              <a:rPr lang="en-US" altLang="ko-KR" dirty="0"/>
              <a:t>Orbit 2 : 65</a:t>
            </a:r>
            <a:r>
              <a:rPr lang="ko-KR" altLang="en-US" dirty="0"/>
              <a:t>˚</a:t>
            </a:r>
            <a:endParaRPr lang="en-US" altLang="ko-KR" dirty="0"/>
          </a:p>
          <a:p>
            <a:pPr>
              <a:defRPr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13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고도 및 궤도 경사각 선정 기준</a:t>
            </a: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1FC02214-EEAB-69CF-833A-D13FC0D62A1E}"/>
              </a:ext>
            </a:extLst>
          </p:cNvPr>
          <p:cNvGrpSpPr/>
          <p:nvPr/>
        </p:nvGrpSpPr>
        <p:grpSpPr>
          <a:xfrm>
            <a:off x="-659112" y="1455980"/>
            <a:ext cx="9803112" cy="2390511"/>
            <a:chOff x="-659112" y="2233744"/>
            <a:chExt cx="9803112" cy="2390511"/>
          </a:xfrm>
        </p:grpSpPr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C7FE0B53-542C-987C-2BF4-5032BBA389D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2233744"/>
              <a:ext cx="9144000" cy="239051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B510C14B-6A83-7921-7AFF-ED51EA459219}"/>
                </a:ext>
              </a:extLst>
            </p:cNvPr>
            <p:cNvSpPr/>
            <p:nvPr/>
          </p:nvSpPr>
          <p:spPr bwMode="auto">
            <a:xfrm>
              <a:off x="5675584" y="2262614"/>
              <a:ext cx="262759" cy="901000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37733384-BB26-83D5-3F3C-B385C793631B}"/>
                </a:ext>
              </a:extLst>
            </p:cNvPr>
            <p:cNvSpPr/>
            <p:nvPr/>
          </p:nvSpPr>
          <p:spPr bwMode="auto">
            <a:xfrm>
              <a:off x="7421352" y="2559529"/>
              <a:ext cx="262759" cy="901000"/>
            </a:xfrm>
            <a:prstGeom prst="rect">
              <a:avLst/>
            </a:prstGeom>
            <a:noFill/>
            <a:ln w="19050">
              <a:solidFill>
                <a:schemeClr val="accent2"/>
              </a:solidFill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0B8B314-EE0B-4054-F2A7-3349D13E8789}"/>
                </a:ext>
              </a:extLst>
            </p:cNvPr>
            <p:cNvSpPr txBox="1"/>
            <p:nvPr/>
          </p:nvSpPr>
          <p:spPr>
            <a:xfrm>
              <a:off x="-659111" y="2304281"/>
              <a:ext cx="2388935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2" algn="ctr">
                <a:defRPr/>
              </a:pPr>
              <a:r>
                <a:rPr lang="en-US" altLang="ko-KR" sz="1400" dirty="0">
                  <a:solidFill>
                    <a:schemeClr val="accent1"/>
                  </a:solidFill>
                </a:rPr>
                <a:t>Orbit1(59</a:t>
              </a:r>
              <a:r>
                <a:rPr lang="ko-KR" altLang="en-US" sz="1400" dirty="0">
                  <a:solidFill>
                    <a:schemeClr val="accent1"/>
                  </a:solidFill>
                </a:rPr>
                <a:t>˚</a:t>
              </a:r>
              <a:r>
                <a:rPr lang="en-US" altLang="ko-KR" sz="1400" dirty="0">
                  <a:solidFill>
                    <a:schemeClr val="accent1"/>
                  </a:solidFill>
                </a:rPr>
                <a:t>)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40BFB24-8859-464C-9700-7688EF8E6BC8}"/>
                </a:ext>
              </a:extLst>
            </p:cNvPr>
            <p:cNvSpPr txBox="1"/>
            <p:nvPr/>
          </p:nvSpPr>
          <p:spPr>
            <a:xfrm>
              <a:off x="-659112" y="2634525"/>
              <a:ext cx="2388935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2" algn="ctr">
                <a:defRPr/>
              </a:pPr>
              <a:r>
                <a:rPr lang="en-US" altLang="ko-KR" sz="1400" dirty="0">
                  <a:solidFill>
                    <a:schemeClr val="accent2"/>
                  </a:solidFill>
                </a:rPr>
                <a:t>Orbit2(65</a:t>
              </a:r>
              <a:r>
                <a:rPr lang="ko-KR" altLang="en-US" sz="1400" dirty="0">
                  <a:solidFill>
                    <a:schemeClr val="accent2"/>
                  </a:solidFill>
                </a:rPr>
                <a:t>˚</a:t>
              </a:r>
              <a:r>
                <a:rPr lang="en-US" altLang="ko-KR" sz="1400" dirty="0">
                  <a:solidFill>
                    <a:schemeClr val="accent2"/>
                  </a:solidFill>
                </a:rPr>
                <a:t>)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표 7">
                <a:extLst>
                  <a:ext uri="{FF2B5EF4-FFF2-40B4-BE49-F238E27FC236}">
                    <a16:creationId xmlns:a16="http://schemas.microsoft.com/office/drawing/2014/main" id="{5DB0121C-4541-ED75-3A22-2CAA28648E1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2646244"/>
                  </p:ext>
                </p:extLst>
              </p:nvPr>
            </p:nvGraphicFramePr>
            <p:xfrm>
              <a:off x="2267191" y="2880988"/>
              <a:ext cx="1985190" cy="397066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8956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74781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747815">
                      <a:extLst>
                        <a:ext uri="{9D8B030D-6E8A-4147-A177-3AD203B41FA5}">
                          <a16:colId xmlns:a16="http://schemas.microsoft.com/office/drawing/2014/main" val="1580941204"/>
                        </a:ext>
                      </a:extLst>
                    </a:gridCol>
                  </a:tblGrid>
                  <a:tr h="319959">
                    <a:tc rowSpan="2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100" b="1" i="1" smtClean="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𝒊</m:t>
                                </m:r>
                              </m:oMath>
                            </m:oMathPara>
                          </a14:m>
                          <a:endParaRPr lang="en-US" altLang="ko-KR" sz="1100" dirty="0">
                            <a:solidFill>
                              <a:srgbClr val="FFFFFF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위성 접근 시간</a:t>
                          </a: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(n)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209805"/>
                      </a:ext>
                    </a:extLst>
                  </a:tr>
                  <a:tr h="297908">
                    <a:tc v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ko-KR" altLang="en-US" sz="110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Times New Roman"/>
                                </a:rPr>
                                <m:t>서</m:t>
                              </m:r>
                            </m:oMath>
                          </a14:m>
                          <a:r>
                            <a:rPr lang="ko-KR" altLang="en-US" sz="1100" dirty="0">
                              <a:solidFill>
                                <a:srgbClr val="FFFFFF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울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 err="1">
                              <a:solidFill>
                                <a:srgbClr val="FFFFFF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블라디</a:t>
                          </a:r>
                          <a:endParaRPr lang="ko-KR" altLang="en-US" sz="1100" dirty="0">
                            <a:solidFill>
                              <a:srgbClr val="FFFFFF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0309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38</a:t>
                          </a:r>
                          <a:r>
                            <a:rPr lang="ko-KR" altLang="en-US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55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30309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39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48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51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30309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40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58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51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30309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41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59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55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30309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42</a:t>
                          </a:r>
                          <a:r>
                            <a:rPr lang="ko-KR" altLang="en-US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60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56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30309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43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60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57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30309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44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60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57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30309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61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58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52255334"/>
                      </a:ext>
                    </a:extLst>
                  </a:tr>
                  <a:tr h="30309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46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61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59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14874519"/>
                      </a:ext>
                    </a:extLst>
                  </a:tr>
                  <a:tr h="30309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47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61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60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9253112"/>
                      </a:ext>
                    </a:extLst>
                  </a:tr>
                  <a:tr h="303099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48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59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59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7773961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표 7">
                <a:extLst>
                  <a:ext uri="{FF2B5EF4-FFF2-40B4-BE49-F238E27FC236}">
                    <a16:creationId xmlns:a16="http://schemas.microsoft.com/office/drawing/2014/main" id="{5DB0121C-4541-ED75-3A22-2CAA28648E1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2646244"/>
                  </p:ext>
                </p:extLst>
              </p:nvPr>
            </p:nvGraphicFramePr>
            <p:xfrm>
              <a:off x="2267191" y="2880988"/>
              <a:ext cx="1985190" cy="397066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8956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74781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747815">
                      <a:extLst>
                        <a:ext uri="{9D8B030D-6E8A-4147-A177-3AD203B41FA5}">
                          <a16:colId xmlns:a16="http://schemas.microsoft.com/office/drawing/2014/main" val="1580941204"/>
                        </a:ext>
                      </a:extLst>
                    </a:gridCol>
                  </a:tblGrid>
                  <a:tr h="319959">
                    <a:tc rowSpan="2"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235" t="-990" r="-306173" b="-555446"/>
                          </a:stretch>
                        </a:blipFill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위성 접근 시간</a:t>
                          </a: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(n)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209805"/>
                      </a:ext>
                    </a:extLst>
                  </a:tr>
                  <a:tr h="297908">
                    <a:tc v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66667" t="-112500" r="-101626" b="-1168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 err="1">
                              <a:solidFill>
                                <a:srgbClr val="FFFFFF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블라디</a:t>
                          </a:r>
                          <a:endParaRPr lang="ko-KR" altLang="en-US" sz="1100" dirty="0">
                            <a:solidFill>
                              <a:srgbClr val="FFFFFF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38</a:t>
                          </a:r>
                          <a:r>
                            <a:rPr lang="ko-KR" altLang="en-US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55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39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48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51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40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58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51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41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59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55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42</a:t>
                          </a:r>
                          <a:r>
                            <a:rPr lang="ko-KR" altLang="en-US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60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56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43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60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57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44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60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57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61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58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5225533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46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61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59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1487451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47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61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60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925311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48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59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59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7773961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표 8">
                <a:extLst>
                  <a:ext uri="{FF2B5EF4-FFF2-40B4-BE49-F238E27FC236}">
                    <a16:creationId xmlns:a16="http://schemas.microsoft.com/office/drawing/2014/main" id="{74E05BD3-01E4-FBBF-99BC-58A5AF0E520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71529538"/>
                  </p:ext>
                </p:extLst>
              </p:nvPr>
            </p:nvGraphicFramePr>
            <p:xfrm>
              <a:off x="4306233" y="2895019"/>
              <a:ext cx="1985190" cy="394260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8956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74781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747815">
                      <a:extLst>
                        <a:ext uri="{9D8B030D-6E8A-4147-A177-3AD203B41FA5}">
                          <a16:colId xmlns:a16="http://schemas.microsoft.com/office/drawing/2014/main" val="1580941204"/>
                        </a:ext>
                      </a:extLst>
                    </a:gridCol>
                  </a:tblGrid>
                  <a:tr h="290223">
                    <a:tc rowSpan="2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100" b="1" i="1" smtClean="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𝒊</m:t>
                                </m:r>
                              </m:oMath>
                            </m:oMathPara>
                          </a14:m>
                          <a:endParaRPr lang="en-US" altLang="ko-KR" sz="1100" dirty="0">
                            <a:solidFill>
                              <a:srgbClr val="FFFFFF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위성 접근 시간</a:t>
                          </a: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(n)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209805"/>
                      </a:ext>
                    </a:extLst>
                  </a:tr>
                  <a:tr h="299580">
                    <a:tc v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ko-KR" altLang="en-US" sz="110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Times New Roman"/>
                                </a:rPr>
                                <m:t>서</m:t>
                              </m:r>
                            </m:oMath>
                          </a14:m>
                          <a:r>
                            <a:rPr lang="ko-KR" altLang="en-US" sz="1100" dirty="0">
                              <a:solidFill>
                                <a:srgbClr val="FFFFFF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울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 err="1">
                              <a:solidFill>
                                <a:srgbClr val="FFFFFF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블라디</a:t>
                          </a:r>
                          <a:endParaRPr lang="ko-KR" altLang="en-US" sz="1100" dirty="0">
                            <a:solidFill>
                              <a:srgbClr val="FFFFFF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49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59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59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59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60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51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61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61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52</a:t>
                          </a:r>
                          <a:r>
                            <a:rPr lang="ko-KR" altLang="en-US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61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61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53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62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60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54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63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60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55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64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60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56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65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60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52255334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57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65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62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1487451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58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66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63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9253112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59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68</a:t>
                          </a:r>
                          <a:endParaRPr lang="ko-KR" altLang="en-US" sz="14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62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7773961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표 8">
                <a:extLst>
                  <a:ext uri="{FF2B5EF4-FFF2-40B4-BE49-F238E27FC236}">
                    <a16:creationId xmlns:a16="http://schemas.microsoft.com/office/drawing/2014/main" id="{74E05BD3-01E4-FBBF-99BC-58A5AF0E520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71529538"/>
                  </p:ext>
                </p:extLst>
              </p:nvPr>
            </p:nvGraphicFramePr>
            <p:xfrm>
              <a:off x="4306233" y="2895019"/>
              <a:ext cx="1985190" cy="394260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8956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74781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747815">
                      <a:extLst>
                        <a:ext uri="{9D8B030D-6E8A-4147-A177-3AD203B41FA5}">
                          <a16:colId xmlns:a16="http://schemas.microsoft.com/office/drawing/2014/main" val="1580941204"/>
                        </a:ext>
                      </a:extLst>
                    </a:gridCol>
                  </a:tblGrid>
                  <a:tr h="290223">
                    <a:tc rowSpan="2"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235" t="-1031" r="-306173" b="-578351"/>
                          </a:stretch>
                        </a:blipFill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위성 접근 시간</a:t>
                          </a: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(n)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209805"/>
                      </a:ext>
                    </a:extLst>
                  </a:tr>
                  <a:tr h="299580">
                    <a:tc v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66667" t="-100000" r="-101626" b="-11448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 err="1">
                              <a:solidFill>
                                <a:srgbClr val="FFFFFF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블라디</a:t>
                          </a:r>
                          <a:endParaRPr lang="ko-KR" altLang="en-US" sz="1100" dirty="0">
                            <a:solidFill>
                              <a:srgbClr val="FFFFFF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49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59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59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59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60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51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61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61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52</a:t>
                          </a:r>
                          <a:r>
                            <a:rPr lang="ko-KR" altLang="en-US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61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61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53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62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60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54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63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60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55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64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60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56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65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60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5225533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57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65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62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1487451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58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66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63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925311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59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68</a:t>
                          </a:r>
                          <a:endParaRPr lang="ko-KR" altLang="en-US" sz="14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62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7773961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표 9">
                <a:extLst>
                  <a:ext uri="{FF2B5EF4-FFF2-40B4-BE49-F238E27FC236}">
                    <a16:creationId xmlns:a16="http://schemas.microsoft.com/office/drawing/2014/main" id="{34E2EB8A-F3F0-6947-F0D4-CB1A022B4C1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7614037"/>
                  </p:ext>
                </p:extLst>
              </p:nvPr>
            </p:nvGraphicFramePr>
            <p:xfrm>
              <a:off x="6380278" y="2880988"/>
              <a:ext cx="1985190" cy="39519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8956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74781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747815">
                      <a:extLst>
                        <a:ext uri="{9D8B030D-6E8A-4147-A177-3AD203B41FA5}">
                          <a16:colId xmlns:a16="http://schemas.microsoft.com/office/drawing/2014/main" val="1580941204"/>
                        </a:ext>
                      </a:extLst>
                    </a:gridCol>
                  </a:tblGrid>
                  <a:tr h="299580">
                    <a:tc rowSpan="2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100" b="1" i="1" smtClean="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𝒊</m:t>
                                </m:r>
                              </m:oMath>
                            </m:oMathPara>
                          </a14:m>
                          <a:endParaRPr lang="en-US" altLang="ko-KR" sz="1100" dirty="0">
                            <a:solidFill>
                              <a:srgbClr val="FFFFFF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위성 접근 시간</a:t>
                          </a: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(n)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209805"/>
                      </a:ext>
                    </a:extLst>
                  </a:tr>
                  <a:tr h="299580">
                    <a:tc v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ko-KR" altLang="en-US" sz="110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Times New Roman"/>
                                </a:rPr>
                                <m:t>서</m:t>
                              </m:r>
                            </m:oMath>
                          </a14:m>
                          <a:r>
                            <a:rPr lang="ko-KR" altLang="en-US" sz="1100" dirty="0">
                              <a:solidFill>
                                <a:srgbClr val="FFFFFF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울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 err="1">
                              <a:solidFill>
                                <a:srgbClr val="FFFFFF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블라디</a:t>
                          </a:r>
                          <a:endParaRPr lang="ko-KR" altLang="en-US" sz="1100" dirty="0">
                            <a:solidFill>
                              <a:srgbClr val="FFFFFF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60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65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61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61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64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61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62</a:t>
                          </a:r>
                          <a:r>
                            <a:rPr lang="ko-KR" altLang="en-US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63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63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63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63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64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64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62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65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65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59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65</a:t>
                          </a:r>
                          <a:endParaRPr lang="ko-KR" altLang="en-US" sz="14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66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58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63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67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55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63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52255334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68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55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63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1487451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69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51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62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9253112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70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61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7773961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표 9">
                <a:extLst>
                  <a:ext uri="{FF2B5EF4-FFF2-40B4-BE49-F238E27FC236}">
                    <a16:creationId xmlns:a16="http://schemas.microsoft.com/office/drawing/2014/main" id="{34E2EB8A-F3F0-6947-F0D4-CB1A022B4C1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7614037"/>
                  </p:ext>
                </p:extLst>
              </p:nvPr>
            </p:nvGraphicFramePr>
            <p:xfrm>
              <a:off x="6380278" y="2880988"/>
              <a:ext cx="1985190" cy="39519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8956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74781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747815">
                      <a:extLst>
                        <a:ext uri="{9D8B030D-6E8A-4147-A177-3AD203B41FA5}">
                          <a16:colId xmlns:a16="http://schemas.microsoft.com/office/drawing/2014/main" val="1580941204"/>
                        </a:ext>
                      </a:extLst>
                    </a:gridCol>
                  </a:tblGrid>
                  <a:tr h="299580">
                    <a:tc rowSpan="2"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235" t="-1020" r="-306173" b="-572449"/>
                          </a:stretch>
                        </a:blipFill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위성 접근 시간</a:t>
                          </a: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(n)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209805"/>
                      </a:ext>
                    </a:extLst>
                  </a:tr>
                  <a:tr h="299580">
                    <a:tc v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66667" t="-102041" r="-101626" b="-11448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 err="1">
                              <a:solidFill>
                                <a:srgbClr val="FFFFFF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블라디</a:t>
                          </a:r>
                          <a:endParaRPr lang="ko-KR" altLang="en-US" sz="1100" dirty="0">
                            <a:solidFill>
                              <a:srgbClr val="FFFFFF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60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65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61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61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64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61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62</a:t>
                          </a:r>
                          <a:r>
                            <a:rPr lang="ko-KR" altLang="en-US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63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63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63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63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64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64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62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65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65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59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65</a:t>
                          </a:r>
                          <a:endParaRPr lang="ko-KR" altLang="en-US" sz="14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66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58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63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67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55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63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5225533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68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55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63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1487451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69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51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62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925311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70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61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77739613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3" name="그룹 2">
            <a:extLst>
              <a:ext uri="{FF2B5EF4-FFF2-40B4-BE49-F238E27FC236}">
                <a16:creationId xmlns:a16="http://schemas.microsoft.com/office/drawing/2014/main" id="{815B3CBF-41FB-55A1-E8E2-276570E9A058}"/>
              </a:ext>
            </a:extLst>
          </p:cNvPr>
          <p:cNvGrpSpPr/>
          <p:nvPr/>
        </p:nvGrpSpPr>
        <p:grpSpPr>
          <a:xfrm>
            <a:off x="0" y="0"/>
            <a:ext cx="9144000" cy="1124607"/>
            <a:chOff x="0" y="0"/>
            <a:chExt cx="9144000" cy="1124607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14D1AAD7-7249-3952-2E09-46DE1D74135F}"/>
                </a:ext>
              </a:extLst>
            </p:cNvPr>
            <p:cNvSpPr/>
            <p:nvPr/>
          </p:nvSpPr>
          <p:spPr bwMode="auto">
            <a:xfrm>
              <a:off x="7589521" y="0"/>
              <a:ext cx="1554479" cy="75876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C3442A1C-62FE-A91E-9C45-3DAE52A34E72}"/>
                </a:ext>
              </a:extLst>
            </p:cNvPr>
            <p:cNvSpPr/>
            <p:nvPr/>
          </p:nvSpPr>
          <p:spPr bwMode="auto">
            <a:xfrm>
              <a:off x="8259943" y="152400"/>
              <a:ext cx="884057" cy="97220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3C910B7E-5554-4F62-7339-8A0EACC07926}"/>
                </a:ext>
              </a:extLst>
            </p:cNvPr>
            <p:cNvSpPr/>
            <p:nvPr/>
          </p:nvSpPr>
          <p:spPr bwMode="auto">
            <a:xfrm>
              <a:off x="7589521" y="495406"/>
              <a:ext cx="828769" cy="34832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ADDF670B-DE90-A7F2-24C9-64880AA147F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0" y="0"/>
              <a:ext cx="876300" cy="8286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24441139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E9EC4-DC98-F4CC-8695-BC29A0148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4C2239D-C0E7-20BB-A97E-0B91FFCD15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이진 선형 계획법 결과</a:t>
            </a:r>
            <a:r>
              <a:rPr lang="en-US" altLang="ko-KR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:</a:t>
            </a:r>
            <a:br>
              <a:rPr lang="en-US" altLang="ko-KR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ko-KR" altLang="en-US" sz="4000" b="1" dirty="0">
                <a:solidFill>
                  <a:srgbClr val="C0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연속관측</a:t>
            </a:r>
            <a:r>
              <a:rPr lang="ko-KR" altLang="en-US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을 위한 </a:t>
            </a:r>
            <a:br>
              <a:rPr lang="en-US" altLang="ko-KR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ko-KR" altLang="en-US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다중</a:t>
            </a:r>
            <a:r>
              <a:rPr lang="en-US" altLang="ko-KR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ko-KR" altLang="en-US" dirty="0"/>
              <a:t>관심지역의 </a:t>
            </a:r>
            <a:r>
              <a:rPr lang="ko-KR" altLang="en-US" dirty="0">
                <a:solidFill>
                  <a:srgbClr val="C00000"/>
                </a:solidFill>
              </a:rPr>
              <a:t>다중</a:t>
            </a:r>
            <a:r>
              <a:rPr lang="ko-KR" altLang="en-US" sz="4000" b="1" dirty="0">
                <a:solidFill>
                  <a:srgbClr val="C0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궤도 </a:t>
            </a:r>
            <a:r>
              <a:rPr lang="ko-KR" altLang="en-US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운용</a:t>
            </a:r>
            <a:br>
              <a:rPr lang="en-US" altLang="ko-KR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US" altLang="ko-KR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Orbit 1, 2 </a:t>
            </a:r>
            <a:r>
              <a:rPr lang="ko-KR" altLang="en-US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→ </a:t>
            </a:r>
            <a:r>
              <a:rPr lang="en-US" altLang="ko-KR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(Seoul, Vladivostok) </a:t>
            </a:r>
            <a:endParaRPr lang="ko-KR" altLang="en-US" sz="40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D87BA61F-2504-22FD-B125-AF1413B33FD0}"/>
              </a:ext>
            </a:extLst>
          </p:cNvPr>
          <p:cNvGrpSpPr/>
          <p:nvPr/>
        </p:nvGrpSpPr>
        <p:grpSpPr>
          <a:xfrm>
            <a:off x="0" y="0"/>
            <a:ext cx="9144000" cy="1124607"/>
            <a:chOff x="0" y="0"/>
            <a:chExt cx="9144000" cy="1124607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DAC3CBD0-FFDF-5C11-96AB-FF55A85BE96C}"/>
                </a:ext>
              </a:extLst>
            </p:cNvPr>
            <p:cNvSpPr/>
            <p:nvPr/>
          </p:nvSpPr>
          <p:spPr bwMode="auto">
            <a:xfrm>
              <a:off x="7589521" y="0"/>
              <a:ext cx="1554479" cy="75876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02BEFAA2-20E5-3A8C-9DE0-6CA64CB678F8}"/>
                </a:ext>
              </a:extLst>
            </p:cNvPr>
            <p:cNvSpPr/>
            <p:nvPr/>
          </p:nvSpPr>
          <p:spPr bwMode="auto">
            <a:xfrm>
              <a:off x="8259943" y="152400"/>
              <a:ext cx="884057" cy="97220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C887E226-BCCF-763E-0541-9BECBA1F4035}"/>
                </a:ext>
              </a:extLst>
            </p:cNvPr>
            <p:cNvSpPr/>
            <p:nvPr/>
          </p:nvSpPr>
          <p:spPr bwMode="auto">
            <a:xfrm>
              <a:off x="7589521" y="495406"/>
              <a:ext cx="828769" cy="34832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AA845067-064D-1E0B-52D3-DBAF4D5ADC3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876300" cy="8286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16010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이진 선형 계획법 </a:t>
            </a:r>
            <a:r>
              <a:rPr lang="en-US" altLang="ko-KR" dirty="0"/>
              <a:t>(</a:t>
            </a:r>
            <a:r>
              <a:rPr lang="ko-KR" altLang="en-US" dirty="0"/>
              <a:t>최소 필요 위성 수 </a:t>
            </a:r>
            <a:r>
              <a:rPr lang="en-US" altLang="ko-KR" dirty="0"/>
              <a:t>18</a:t>
            </a:r>
            <a:r>
              <a:rPr lang="ko-KR" altLang="en-US" dirty="0"/>
              <a:t>대</a:t>
            </a:r>
            <a:r>
              <a:rPr lang="en-US" altLang="ko-KR" dirty="0"/>
              <a:t>) – ex.(10:8)</a:t>
            </a:r>
          </a:p>
          <a:p>
            <a:pPr lvl="1">
              <a:defRPr/>
            </a:pPr>
            <a:r>
              <a:rPr lang="en-US" altLang="ko-KR" dirty="0"/>
              <a:t>Target : </a:t>
            </a:r>
            <a:r>
              <a:rPr lang="ko-KR" altLang="en-US" dirty="0"/>
              <a:t>서울 </a:t>
            </a:r>
            <a:r>
              <a:rPr lang="en-US" altLang="ko-KR" dirty="0"/>
              <a:t>&amp; </a:t>
            </a:r>
            <a:r>
              <a:rPr lang="ko-KR" altLang="en-US" dirty="0"/>
              <a:t>블라디보스토크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15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lvl="0">
              <a:defRPr/>
            </a:pPr>
            <a:r>
              <a:rPr lang="en-US" altLang="ko-KR" sz="2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Orbit 1, 2 (</a:t>
            </a:r>
            <a:r>
              <a:rPr lang="ko-KR" altLang="en-US" sz="2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경사각</a:t>
            </a:r>
            <a:r>
              <a:rPr lang="en-US" altLang="ko-KR" sz="2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: 59, 65</a:t>
            </a:r>
            <a:r>
              <a:rPr lang="ko-KR" altLang="en-US" sz="2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˚</a:t>
            </a:r>
            <a:r>
              <a:rPr lang="en-US" altLang="ko-KR" sz="2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) </a:t>
            </a:r>
            <a:r>
              <a:rPr lang="ko-KR" altLang="en-US" sz="2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→ </a:t>
            </a:r>
            <a:r>
              <a:rPr lang="en-US" altLang="ko-KR" sz="2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Seoul, Vladivostok</a:t>
            </a:r>
            <a:endParaRPr lang="ko-KR" altLang="en-US" sz="2400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44C6BEAC-F017-11C7-A996-3251772F78D4}"/>
              </a:ext>
            </a:extLst>
          </p:cNvPr>
          <p:cNvGraphicFramePr>
            <a:graphicFrameLocks noGrp="1"/>
          </p:cNvGraphicFramePr>
          <p:nvPr/>
        </p:nvGraphicFramePr>
        <p:xfrm>
          <a:off x="69300" y="1778562"/>
          <a:ext cx="9017144" cy="140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6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81393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98791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  <a:gridCol w="1017351">
                  <a:extLst>
                    <a:ext uri="{9D8B030D-6E8A-4147-A177-3AD203B41FA5}">
                      <a16:colId xmlns:a16="http://schemas.microsoft.com/office/drawing/2014/main" val="14929076"/>
                    </a:ext>
                  </a:extLst>
                </a:gridCol>
              </a:tblGrid>
              <a:tr h="0">
                <a:tc rowSpan="3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 err="1"/>
                        <a:t>AoI</a:t>
                      </a:r>
                      <a:r>
                        <a:rPr lang="en-US" altLang="ko-KR" sz="1400" dirty="0"/>
                        <a:t> &amp; Time </a:t>
                      </a:r>
                    </a:p>
                    <a:p>
                      <a:pPr algn="ctr" latinLnBrk="1">
                        <a:defRPr/>
                      </a:pPr>
                      <a:endParaRPr lang="en-US" altLang="ko-KR" sz="1400" dirty="0"/>
                    </a:p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Epoch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37.57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127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720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24.01.01</a:t>
                      </a:r>
                    </a:p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00:00:00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43.1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131.9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5498218"/>
                  </a:ext>
                </a:extLst>
              </a:tr>
              <a:tr h="22768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7270.14km</a:t>
                      </a:r>
                      <a:r>
                        <a:rPr lang="en-US" altLang="ko-KR" sz="1200" dirty="0"/>
                        <a:t>, 0, 59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 = [26  156  177  25  274  507  522  566  593  712] (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푸른색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128255"/>
                  </a:ext>
                </a:extLst>
              </a:tr>
              <a:tr h="2276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7270.14km</a:t>
                      </a:r>
                      <a:r>
                        <a:rPr lang="en-US" altLang="ko-KR" sz="1200" dirty="0"/>
                        <a:t>, 0, 65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 = [0  129  192  336  368  483  651  676] (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주황색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2439844"/>
                  </a:ext>
                </a:extLst>
              </a:tr>
            </a:tbl>
          </a:graphicData>
        </a:graphic>
      </p:graphicFrame>
      <p:grpSp>
        <p:nvGrpSpPr>
          <p:cNvPr id="27" name="그룹 26">
            <a:extLst>
              <a:ext uri="{FF2B5EF4-FFF2-40B4-BE49-F238E27FC236}">
                <a16:creationId xmlns:a16="http://schemas.microsoft.com/office/drawing/2014/main" id="{5B38C6C2-1147-3394-FE90-FD2AB3183643}"/>
              </a:ext>
            </a:extLst>
          </p:cNvPr>
          <p:cNvGrpSpPr/>
          <p:nvPr/>
        </p:nvGrpSpPr>
        <p:grpSpPr>
          <a:xfrm>
            <a:off x="69300" y="1808252"/>
            <a:ext cx="2579012" cy="722150"/>
            <a:chOff x="100830" y="1808252"/>
            <a:chExt cx="2579012" cy="722150"/>
          </a:xfrm>
        </p:grpSpPr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3E9126ED-5B8D-3999-B929-CC2C558CA33B}"/>
                </a:ext>
              </a:extLst>
            </p:cNvPr>
            <p:cNvCxnSpPr>
              <a:cxnSpLocks/>
            </p:cNvCxnSpPr>
            <p:nvPr/>
          </p:nvCxnSpPr>
          <p:spPr>
            <a:xfrm>
              <a:off x="100830" y="1808252"/>
              <a:ext cx="443700" cy="339047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E1C36C-B309-344F-5EB8-41B564C3574E}"/>
                </a:ext>
              </a:extLst>
            </p:cNvPr>
            <p:cNvCxnSpPr>
              <a:cxnSpLocks/>
            </p:cNvCxnSpPr>
            <p:nvPr/>
          </p:nvCxnSpPr>
          <p:spPr>
            <a:xfrm>
              <a:off x="544530" y="2147299"/>
              <a:ext cx="1691612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C6E87280-80D2-31AE-F945-F30F405CE714}"/>
                </a:ext>
              </a:extLst>
            </p:cNvPr>
            <p:cNvCxnSpPr>
              <a:cxnSpLocks/>
            </p:cNvCxnSpPr>
            <p:nvPr/>
          </p:nvCxnSpPr>
          <p:spPr>
            <a:xfrm>
              <a:off x="2236142" y="2147299"/>
              <a:ext cx="443700" cy="383103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1E678F5A-2DB4-8DA7-5450-BDBF19F5D9E6}"/>
              </a:ext>
            </a:extLst>
          </p:cNvPr>
          <p:cNvSpPr txBox="1"/>
          <p:nvPr/>
        </p:nvSpPr>
        <p:spPr>
          <a:xfrm>
            <a:off x="532941" y="5870989"/>
            <a:ext cx="34266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ko-KR" altLang="en-US" sz="1400" dirty="0"/>
              <a:t>서울 </a:t>
            </a:r>
            <a:r>
              <a:rPr lang="en-US" altLang="ko-KR" sz="1400" dirty="0"/>
              <a:t>Coverage : 100%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442DE0-5DFB-5C7E-45CD-79941AC161A3}"/>
              </a:ext>
            </a:extLst>
          </p:cNvPr>
          <p:cNvSpPr txBox="1"/>
          <p:nvPr/>
        </p:nvSpPr>
        <p:spPr>
          <a:xfrm>
            <a:off x="3982614" y="5887274"/>
            <a:ext cx="410876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ko-KR" altLang="en-US" sz="1400" dirty="0"/>
              <a:t>블라디보스토크 </a:t>
            </a:r>
            <a:r>
              <a:rPr lang="en-US" altLang="ko-KR" sz="1400" dirty="0"/>
              <a:t>Coverage : 100%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F1C5CEB-2EBA-1C3A-871A-FCD9E2B54B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700" y="3254810"/>
            <a:ext cx="6867951" cy="2674504"/>
          </a:xfrm>
          <a:prstGeom prst="rect">
            <a:avLst/>
          </a:prstGeom>
        </p:spPr>
      </p:pic>
      <p:grpSp>
        <p:nvGrpSpPr>
          <p:cNvPr id="3" name="그룹 2">
            <a:extLst>
              <a:ext uri="{FF2B5EF4-FFF2-40B4-BE49-F238E27FC236}">
                <a16:creationId xmlns:a16="http://schemas.microsoft.com/office/drawing/2014/main" id="{54295760-B94C-A3D7-8652-5BE1D86219DE}"/>
              </a:ext>
            </a:extLst>
          </p:cNvPr>
          <p:cNvGrpSpPr/>
          <p:nvPr/>
        </p:nvGrpSpPr>
        <p:grpSpPr>
          <a:xfrm>
            <a:off x="0" y="0"/>
            <a:ext cx="9144000" cy="1124607"/>
            <a:chOff x="0" y="0"/>
            <a:chExt cx="9144000" cy="1124607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EBB30B40-7697-B4D7-E40A-EC3D7DA6D09A}"/>
                </a:ext>
              </a:extLst>
            </p:cNvPr>
            <p:cNvSpPr/>
            <p:nvPr/>
          </p:nvSpPr>
          <p:spPr bwMode="auto">
            <a:xfrm>
              <a:off x="7589521" y="0"/>
              <a:ext cx="1554479" cy="75876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139C6C74-5250-EA4D-BE8D-EFD2A213E571}"/>
                </a:ext>
              </a:extLst>
            </p:cNvPr>
            <p:cNvSpPr/>
            <p:nvPr/>
          </p:nvSpPr>
          <p:spPr bwMode="auto">
            <a:xfrm>
              <a:off x="8259943" y="152400"/>
              <a:ext cx="884057" cy="97220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1AFA12AA-64B0-D980-6EFC-370C1F08B4DF}"/>
                </a:ext>
              </a:extLst>
            </p:cNvPr>
            <p:cNvSpPr/>
            <p:nvPr/>
          </p:nvSpPr>
          <p:spPr bwMode="auto">
            <a:xfrm>
              <a:off x="7589521" y="495406"/>
              <a:ext cx="828769" cy="34832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45558505-3C75-87AC-DE69-5B2FDB89B16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0"/>
              <a:ext cx="876300" cy="8286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89620201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F5DD7028-857A-E3D8-E164-6DC2128DA3A9}"/>
              </a:ext>
            </a:extLst>
          </p:cNvPr>
          <p:cNvSpPr/>
          <p:nvPr/>
        </p:nvSpPr>
        <p:spPr bwMode="auto">
          <a:xfrm>
            <a:off x="257082" y="6242594"/>
            <a:ext cx="3417728" cy="570646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 dirty="0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이진 선형 계획법 </a:t>
            </a:r>
            <a:r>
              <a:rPr lang="en-US" altLang="ko-KR" dirty="0"/>
              <a:t>(</a:t>
            </a:r>
            <a:r>
              <a:rPr lang="ko-KR" altLang="en-US" dirty="0"/>
              <a:t>최소 필요 위성 수 </a:t>
            </a:r>
            <a:r>
              <a:rPr lang="en-US" altLang="ko-KR" dirty="0"/>
              <a:t>18</a:t>
            </a:r>
            <a:r>
              <a:rPr lang="ko-KR" altLang="en-US" dirty="0"/>
              <a:t>대</a:t>
            </a:r>
            <a:r>
              <a:rPr lang="en-US" altLang="ko-KR" dirty="0"/>
              <a:t>) – ex.(10:8)</a:t>
            </a:r>
          </a:p>
          <a:p>
            <a:pPr lvl="1">
              <a:defRPr/>
            </a:pPr>
            <a:r>
              <a:rPr lang="en-US" altLang="ko-KR" dirty="0"/>
              <a:t>Target : </a:t>
            </a:r>
            <a:r>
              <a:rPr lang="ko-KR" altLang="en-US" dirty="0"/>
              <a:t>서울 </a:t>
            </a:r>
            <a:r>
              <a:rPr lang="en-US" altLang="ko-KR" dirty="0"/>
              <a:t>&amp; </a:t>
            </a:r>
            <a:r>
              <a:rPr lang="ko-KR" altLang="en-US" dirty="0"/>
              <a:t>블라디보스토크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16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lvl="0">
              <a:defRPr/>
            </a:pPr>
            <a:r>
              <a:rPr lang="en-US" altLang="ko-KR" sz="2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Orbit 1, 2 (</a:t>
            </a:r>
            <a:r>
              <a:rPr lang="ko-KR" altLang="en-US" sz="2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경사각</a:t>
            </a:r>
            <a:r>
              <a:rPr lang="en-US" altLang="ko-KR" sz="2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: 59, 65</a:t>
            </a:r>
            <a:r>
              <a:rPr lang="ko-KR" altLang="en-US" sz="2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˚</a:t>
            </a:r>
            <a:r>
              <a:rPr lang="en-US" altLang="ko-KR" sz="2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) </a:t>
            </a:r>
            <a:r>
              <a:rPr lang="ko-KR" altLang="en-US" sz="2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→ </a:t>
            </a:r>
            <a:r>
              <a:rPr lang="en-US" altLang="ko-KR" sz="2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Seoul, Vladivostok</a:t>
            </a:r>
            <a:endParaRPr lang="ko-KR" altLang="en-US" sz="2400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44C6BEAC-F017-11C7-A996-3251772F78D4}"/>
              </a:ext>
            </a:extLst>
          </p:cNvPr>
          <p:cNvGraphicFramePr>
            <a:graphicFrameLocks noGrp="1"/>
          </p:cNvGraphicFramePr>
          <p:nvPr/>
        </p:nvGraphicFramePr>
        <p:xfrm>
          <a:off x="69300" y="1778562"/>
          <a:ext cx="9017144" cy="140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6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81393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98791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  <a:gridCol w="1017351">
                  <a:extLst>
                    <a:ext uri="{9D8B030D-6E8A-4147-A177-3AD203B41FA5}">
                      <a16:colId xmlns:a16="http://schemas.microsoft.com/office/drawing/2014/main" val="14929076"/>
                    </a:ext>
                  </a:extLst>
                </a:gridCol>
              </a:tblGrid>
              <a:tr h="0">
                <a:tc rowSpan="3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 err="1"/>
                        <a:t>AoI</a:t>
                      </a:r>
                      <a:r>
                        <a:rPr lang="en-US" altLang="ko-KR" sz="1400" dirty="0"/>
                        <a:t> &amp; Time </a:t>
                      </a:r>
                    </a:p>
                    <a:p>
                      <a:pPr algn="ctr" latinLnBrk="1">
                        <a:defRPr/>
                      </a:pPr>
                      <a:endParaRPr lang="en-US" altLang="ko-KR" sz="1400" dirty="0"/>
                    </a:p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Epoch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37.57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127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720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24.01.01</a:t>
                      </a:r>
                    </a:p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00:00:00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43.1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131.9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5498218"/>
                  </a:ext>
                </a:extLst>
              </a:tr>
              <a:tr h="22768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7270.14km</a:t>
                      </a:r>
                      <a:r>
                        <a:rPr lang="en-US" altLang="ko-KR" sz="1200" dirty="0"/>
                        <a:t>, 0, 59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 = [26  156  177  25  274  507  522  566  593  712] (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푸른색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128255"/>
                  </a:ext>
                </a:extLst>
              </a:tr>
              <a:tr h="2276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7270.14km</a:t>
                      </a:r>
                      <a:r>
                        <a:rPr lang="en-US" altLang="ko-KR" sz="1200" dirty="0"/>
                        <a:t>, 0, 65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 = [0  129  192  336  368  483  651  676] (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주황색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2439844"/>
                  </a:ext>
                </a:extLst>
              </a:tr>
            </a:tbl>
          </a:graphicData>
        </a:graphic>
      </p:graphicFrame>
      <p:grpSp>
        <p:nvGrpSpPr>
          <p:cNvPr id="27" name="그룹 26">
            <a:extLst>
              <a:ext uri="{FF2B5EF4-FFF2-40B4-BE49-F238E27FC236}">
                <a16:creationId xmlns:a16="http://schemas.microsoft.com/office/drawing/2014/main" id="{5B38C6C2-1147-3394-FE90-FD2AB3183643}"/>
              </a:ext>
            </a:extLst>
          </p:cNvPr>
          <p:cNvGrpSpPr/>
          <p:nvPr/>
        </p:nvGrpSpPr>
        <p:grpSpPr>
          <a:xfrm>
            <a:off x="69300" y="1808252"/>
            <a:ext cx="2579012" cy="722150"/>
            <a:chOff x="100830" y="1808252"/>
            <a:chExt cx="2579012" cy="722150"/>
          </a:xfrm>
        </p:grpSpPr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3E9126ED-5B8D-3999-B929-CC2C558CA33B}"/>
                </a:ext>
              </a:extLst>
            </p:cNvPr>
            <p:cNvCxnSpPr>
              <a:cxnSpLocks/>
            </p:cNvCxnSpPr>
            <p:nvPr/>
          </p:nvCxnSpPr>
          <p:spPr>
            <a:xfrm>
              <a:off x="100830" y="1808252"/>
              <a:ext cx="443700" cy="339047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E1C36C-B309-344F-5EB8-41B564C3574E}"/>
                </a:ext>
              </a:extLst>
            </p:cNvPr>
            <p:cNvCxnSpPr>
              <a:cxnSpLocks/>
            </p:cNvCxnSpPr>
            <p:nvPr/>
          </p:nvCxnSpPr>
          <p:spPr>
            <a:xfrm>
              <a:off x="544530" y="2147299"/>
              <a:ext cx="1691612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C6E87280-80D2-31AE-F945-F30F405CE714}"/>
                </a:ext>
              </a:extLst>
            </p:cNvPr>
            <p:cNvCxnSpPr>
              <a:cxnSpLocks/>
            </p:cNvCxnSpPr>
            <p:nvPr/>
          </p:nvCxnSpPr>
          <p:spPr>
            <a:xfrm>
              <a:off x="2236142" y="2147299"/>
              <a:ext cx="443700" cy="383103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표 6">
                <a:extLst>
                  <a:ext uri="{FF2B5EF4-FFF2-40B4-BE49-F238E27FC236}">
                    <a16:creationId xmlns:a16="http://schemas.microsoft.com/office/drawing/2014/main" id="{B05A7755-9E6D-A9F2-5E56-65817D02D11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21845" y="3322654"/>
              <a:ext cx="4345042" cy="334675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72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64008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40080">
                      <a:extLst>
                        <a:ext uri="{9D8B030D-6E8A-4147-A177-3AD203B41FA5}">
                          <a16:colId xmlns:a16="http://schemas.microsoft.com/office/drawing/2014/main" val="4270349269"/>
                        </a:ext>
                      </a:extLst>
                    </a:gridCol>
                    <a:gridCol w="640080">
                      <a:extLst>
                        <a:ext uri="{9D8B030D-6E8A-4147-A177-3AD203B41FA5}">
                          <a16:colId xmlns:a16="http://schemas.microsoft.com/office/drawing/2014/main" val="1711782491"/>
                        </a:ext>
                      </a:extLst>
                    </a:gridCol>
                    <a:gridCol w="911543">
                      <a:extLst>
                        <a:ext uri="{9D8B030D-6E8A-4147-A177-3AD203B41FA5}">
                          <a16:colId xmlns:a16="http://schemas.microsoft.com/office/drawing/2014/main" val="2183961559"/>
                        </a:ext>
                      </a:extLst>
                    </a:gridCol>
                    <a:gridCol w="278820">
                      <a:extLst>
                        <a:ext uri="{9D8B030D-6E8A-4147-A177-3AD203B41FA5}">
                          <a16:colId xmlns:a16="http://schemas.microsoft.com/office/drawing/2014/main" val="1341645925"/>
                        </a:ext>
                      </a:extLst>
                    </a:gridCol>
                    <a:gridCol w="403542">
                      <a:extLst>
                        <a:ext uri="{9D8B030D-6E8A-4147-A177-3AD203B41FA5}">
                          <a16:colId xmlns:a16="http://schemas.microsoft.com/office/drawing/2014/main" val="3786653943"/>
                        </a:ext>
                      </a:extLst>
                    </a:gridCol>
                    <a:gridCol w="333692">
                      <a:extLst>
                        <a:ext uri="{9D8B030D-6E8A-4147-A177-3AD203B41FA5}">
                          <a16:colId xmlns:a16="http://schemas.microsoft.com/office/drawing/2014/main" val="568242421"/>
                        </a:ext>
                      </a:extLst>
                    </a:gridCol>
                  </a:tblGrid>
                  <a:tr h="404537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위성</a:t>
                          </a:r>
                          <a:endParaRPr lang="en-US" altLang="ko-KR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algn="ctr" latinLnBrk="1">
                            <a:defRPr/>
                          </a:pPr>
                          <a:r>
                            <a:rPr lang="ko-KR" altLang="en-US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번호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n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en-US" altLang="ko-KR" sz="12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en-US" altLang="ko-KR" sz="12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ko-KR" sz="1200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a</m:t>
                                </m:r>
                              </m:oMath>
                            </m:oMathPara>
                          </a14:m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e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 err="1">
                              <a:latin typeface="Times New Roman"/>
                              <a:ea typeface="+mn-ea"/>
                              <a:cs typeface="Times New Roman"/>
                            </a:rPr>
                            <a:t>i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ω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99057536"/>
                      </a:ext>
                    </a:extLst>
                  </a:tr>
                  <a:tr h="288955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26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13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178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10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7270.14km</a:t>
                          </a: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10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10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59</a:t>
                          </a:r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10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88955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156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78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348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88955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177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88.5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201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88955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253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126.5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29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88955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274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137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242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88955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507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253.5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51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88955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522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261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306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88955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566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283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358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88955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593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296.5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169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20325359"/>
                      </a:ext>
                    </a:extLst>
                  </a:tr>
                  <a:tr h="288955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712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356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56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8530514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표 6">
                <a:extLst>
                  <a:ext uri="{FF2B5EF4-FFF2-40B4-BE49-F238E27FC236}">
                    <a16:creationId xmlns:a16="http://schemas.microsoft.com/office/drawing/2014/main" id="{B05A7755-9E6D-A9F2-5E56-65817D02D11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3708346"/>
                  </p:ext>
                </p:extLst>
              </p:nvPr>
            </p:nvGraphicFramePr>
            <p:xfrm>
              <a:off x="321845" y="3322654"/>
              <a:ext cx="4345042" cy="334675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72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64008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40080">
                      <a:extLst>
                        <a:ext uri="{9D8B030D-6E8A-4147-A177-3AD203B41FA5}">
                          <a16:colId xmlns:a16="http://schemas.microsoft.com/office/drawing/2014/main" val="4270349269"/>
                        </a:ext>
                      </a:extLst>
                    </a:gridCol>
                    <a:gridCol w="640080">
                      <a:extLst>
                        <a:ext uri="{9D8B030D-6E8A-4147-A177-3AD203B41FA5}">
                          <a16:colId xmlns:a16="http://schemas.microsoft.com/office/drawing/2014/main" val="1711782491"/>
                        </a:ext>
                      </a:extLst>
                    </a:gridCol>
                    <a:gridCol w="911543">
                      <a:extLst>
                        <a:ext uri="{9D8B030D-6E8A-4147-A177-3AD203B41FA5}">
                          <a16:colId xmlns:a16="http://schemas.microsoft.com/office/drawing/2014/main" val="2183961559"/>
                        </a:ext>
                      </a:extLst>
                    </a:gridCol>
                    <a:gridCol w="278820">
                      <a:extLst>
                        <a:ext uri="{9D8B030D-6E8A-4147-A177-3AD203B41FA5}">
                          <a16:colId xmlns:a16="http://schemas.microsoft.com/office/drawing/2014/main" val="1341645925"/>
                        </a:ext>
                      </a:extLst>
                    </a:gridCol>
                    <a:gridCol w="403542">
                      <a:extLst>
                        <a:ext uri="{9D8B030D-6E8A-4147-A177-3AD203B41FA5}">
                          <a16:colId xmlns:a16="http://schemas.microsoft.com/office/drawing/2014/main" val="3786653943"/>
                        </a:ext>
                      </a:extLst>
                    </a:gridCol>
                    <a:gridCol w="333692">
                      <a:extLst>
                        <a:ext uri="{9D8B030D-6E8A-4147-A177-3AD203B41FA5}">
                          <a16:colId xmlns:a16="http://schemas.microsoft.com/office/drawing/2014/main" val="568242421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위성</a:t>
                          </a:r>
                          <a:endParaRPr lang="en-US" altLang="ko-KR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algn="ctr" latinLnBrk="1">
                            <a:defRPr/>
                          </a:pPr>
                          <a:r>
                            <a:rPr lang="ko-KR" altLang="en-US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번호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n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79048" t="-1333" r="-403810" b="-64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79048" t="-1333" r="-303810" b="-64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65333" t="-1333" r="-112667" b="-64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e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 err="1">
                              <a:latin typeface="Times New Roman"/>
                              <a:ea typeface="+mn-ea"/>
                              <a:cs typeface="Times New Roman"/>
                            </a:rPr>
                            <a:t>i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ω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99057536"/>
                      </a:ext>
                    </a:extLst>
                  </a:tr>
                  <a:tr h="288955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26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13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178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10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7270.14km</a:t>
                          </a: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10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10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59</a:t>
                          </a:r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10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88955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156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78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348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88955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177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88.5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201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88955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253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126.5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29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88955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274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137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242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88955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507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253.5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51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88955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522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261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306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88955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566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283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358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88955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593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296.5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169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20325359"/>
                      </a:ext>
                    </a:extLst>
                  </a:tr>
                  <a:tr h="288955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712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356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56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8530514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표 10">
                <a:extLst>
                  <a:ext uri="{FF2B5EF4-FFF2-40B4-BE49-F238E27FC236}">
                    <a16:creationId xmlns:a16="http://schemas.microsoft.com/office/drawing/2014/main" id="{0882D2F2-BD74-DACF-3E3D-2FC478A4103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810799" y="3315952"/>
              <a:ext cx="4024604" cy="2768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72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544622">
                      <a:extLst>
                        <a:ext uri="{9D8B030D-6E8A-4147-A177-3AD203B41FA5}">
                          <a16:colId xmlns:a16="http://schemas.microsoft.com/office/drawing/2014/main" val="1943494669"/>
                        </a:ext>
                      </a:extLst>
                    </a:gridCol>
                    <a:gridCol w="54462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44622">
                      <a:extLst>
                        <a:ext uri="{9D8B030D-6E8A-4147-A177-3AD203B41FA5}">
                          <a16:colId xmlns:a16="http://schemas.microsoft.com/office/drawing/2014/main" val="4270349269"/>
                        </a:ext>
                      </a:extLst>
                    </a:gridCol>
                    <a:gridCol w="911543">
                      <a:extLst>
                        <a:ext uri="{9D8B030D-6E8A-4147-A177-3AD203B41FA5}">
                          <a16:colId xmlns:a16="http://schemas.microsoft.com/office/drawing/2014/main" val="132545396"/>
                        </a:ext>
                      </a:extLst>
                    </a:gridCol>
                    <a:gridCol w="244756">
                      <a:extLst>
                        <a:ext uri="{9D8B030D-6E8A-4147-A177-3AD203B41FA5}">
                          <a16:colId xmlns:a16="http://schemas.microsoft.com/office/drawing/2014/main" val="3751940218"/>
                        </a:ext>
                      </a:extLst>
                    </a:gridCol>
                    <a:gridCol w="403542">
                      <a:extLst>
                        <a:ext uri="{9D8B030D-6E8A-4147-A177-3AD203B41FA5}">
                          <a16:colId xmlns:a16="http://schemas.microsoft.com/office/drawing/2014/main" val="4148388260"/>
                        </a:ext>
                      </a:extLst>
                    </a:gridCol>
                    <a:gridCol w="333692">
                      <a:extLst>
                        <a:ext uri="{9D8B030D-6E8A-4147-A177-3AD203B41FA5}">
                          <a16:colId xmlns:a16="http://schemas.microsoft.com/office/drawing/2014/main" val="3343169303"/>
                        </a:ext>
                      </a:extLst>
                    </a:gridCol>
                  </a:tblGrid>
                  <a:tr h="404537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위성</a:t>
                          </a:r>
                          <a:endParaRPr lang="en-US" altLang="ko-KR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algn="ctr" latinLnBrk="1">
                            <a:defRPr/>
                          </a:pPr>
                          <a:r>
                            <a:rPr lang="ko-KR" altLang="en-US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번호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n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en-US" altLang="ko-KR" sz="12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en-US" altLang="ko-KR" sz="12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ko-KR" sz="1200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a</m:t>
                                </m:r>
                              </m:oMath>
                            </m:oMathPara>
                          </a14:m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e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 err="1">
                              <a:latin typeface="Times New Roman"/>
                              <a:ea typeface="+mn-ea"/>
                              <a:cs typeface="Times New Roman"/>
                            </a:rPr>
                            <a:t>i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ω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99057536"/>
                      </a:ext>
                    </a:extLst>
                  </a:tr>
                  <a:tr h="288955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8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7270.14km</a:t>
                          </a: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8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8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65</a:t>
                          </a:r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8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88955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129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64.5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177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88955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192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96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96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88955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336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168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168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88955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368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184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304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88955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483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241.5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219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88955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651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325.5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123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88955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676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338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308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표 10">
                <a:extLst>
                  <a:ext uri="{FF2B5EF4-FFF2-40B4-BE49-F238E27FC236}">
                    <a16:creationId xmlns:a16="http://schemas.microsoft.com/office/drawing/2014/main" id="{0882D2F2-BD74-DACF-3E3D-2FC478A4103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62533764"/>
                  </p:ext>
                </p:extLst>
              </p:nvPr>
            </p:nvGraphicFramePr>
            <p:xfrm>
              <a:off x="4810799" y="3315952"/>
              <a:ext cx="4024604" cy="2768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72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544622">
                      <a:extLst>
                        <a:ext uri="{9D8B030D-6E8A-4147-A177-3AD203B41FA5}">
                          <a16:colId xmlns:a16="http://schemas.microsoft.com/office/drawing/2014/main" val="1943494669"/>
                        </a:ext>
                      </a:extLst>
                    </a:gridCol>
                    <a:gridCol w="54462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44622">
                      <a:extLst>
                        <a:ext uri="{9D8B030D-6E8A-4147-A177-3AD203B41FA5}">
                          <a16:colId xmlns:a16="http://schemas.microsoft.com/office/drawing/2014/main" val="4270349269"/>
                        </a:ext>
                      </a:extLst>
                    </a:gridCol>
                    <a:gridCol w="911543">
                      <a:extLst>
                        <a:ext uri="{9D8B030D-6E8A-4147-A177-3AD203B41FA5}">
                          <a16:colId xmlns:a16="http://schemas.microsoft.com/office/drawing/2014/main" val="132545396"/>
                        </a:ext>
                      </a:extLst>
                    </a:gridCol>
                    <a:gridCol w="244756">
                      <a:extLst>
                        <a:ext uri="{9D8B030D-6E8A-4147-A177-3AD203B41FA5}">
                          <a16:colId xmlns:a16="http://schemas.microsoft.com/office/drawing/2014/main" val="3751940218"/>
                        </a:ext>
                      </a:extLst>
                    </a:gridCol>
                    <a:gridCol w="403542">
                      <a:extLst>
                        <a:ext uri="{9D8B030D-6E8A-4147-A177-3AD203B41FA5}">
                          <a16:colId xmlns:a16="http://schemas.microsoft.com/office/drawing/2014/main" val="4148388260"/>
                        </a:ext>
                      </a:extLst>
                    </a:gridCol>
                    <a:gridCol w="333692">
                      <a:extLst>
                        <a:ext uri="{9D8B030D-6E8A-4147-A177-3AD203B41FA5}">
                          <a16:colId xmlns:a16="http://schemas.microsoft.com/office/drawing/2014/main" val="3343169303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위성</a:t>
                          </a:r>
                          <a:endParaRPr lang="en-US" altLang="ko-KR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algn="ctr" latinLnBrk="1">
                            <a:defRPr/>
                          </a:pPr>
                          <a:r>
                            <a:rPr lang="ko-KR" altLang="en-US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번호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n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91111" t="-1333" r="-446667" b="-51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94382" t="-1333" r="-351685" b="-51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34000" t="-1333" r="-108667" b="-51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e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 err="1">
                              <a:latin typeface="Times New Roman"/>
                              <a:ea typeface="+mn-ea"/>
                              <a:cs typeface="Times New Roman"/>
                            </a:rPr>
                            <a:t>i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ω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99057536"/>
                      </a:ext>
                    </a:extLst>
                  </a:tr>
                  <a:tr h="288955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8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7270.14km</a:t>
                          </a: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8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8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65</a:t>
                          </a:r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8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88955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129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64.5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177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88955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192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96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96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88955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336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168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168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88955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368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184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304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88955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483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241.5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219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88955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651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325.5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123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88955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676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338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308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33A369EC-9AF7-FCBF-E1A9-1567F03BFCE5}"/>
              </a:ext>
            </a:extLst>
          </p:cNvPr>
          <p:cNvSpPr txBox="1"/>
          <p:nvPr/>
        </p:nvSpPr>
        <p:spPr>
          <a:xfrm>
            <a:off x="4705504" y="6279657"/>
            <a:ext cx="34266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ko-KR" altLang="en-US" sz="1400" dirty="0"/>
              <a:t>최종 설계된 궤도요소</a:t>
            </a:r>
            <a:endParaRPr lang="en-US" altLang="ko-KR" sz="1400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7A63843A-F3F9-2C8B-7780-1F7908D26BED}"/>
              </a:ext>
            </a:extLst>
          </p:cNvPr>
          <p:cNvGrpSpPr/>
          <p:nvPr/>
        </p:nvGrpSpPr>
        <p:grpSpPr>
          <a:xfrm>
            <a:off x="0" y="0"/>
            <a:ext cx="9144000" cy="1124607"/>
            <a:chOff x="0" y="0"/>
            <a:chExt cx="9144000" cy="1124607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6DD0A3D5-A657-3429-1049-DBC1284744DB}"/>
                </a:ext>
              </a:extLst>
            </p:cNvPr>
            <p:cNvSpPr/>
            <p:nvPr/>
          </p:nvSpPr>
          <p:spPr bwMode="auto">
            <a:xfrm>
              <a:off x="7589521" y="0"/>
              <a:ext cx="1554479" cy="75876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F3BEA544-20D0-6CDE-A89A-C7E45256044A}"/>
                </a:ext>
              </a:extLst>
            </p:cNvPr>
            <p:cNvSpPr/>
            <p:nvPr/>
          </p:nvSpPr>
          <p:spPr bwMode="auto">
            <a:xfrm>
              <a:off x="8259943" y="152400"/>
              <a:ext cx="884057" cy="97220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6A13E6FA-B931-0016-F50A-D83A5C51E3C0}"/>
                </a:ext>
              </a:extLst>
            </p:cNvPr>
            <p:cNvSpPr/>
            <p:nvPr/>
          </p:nvSpPr>
          <p:spPr bwMode="auto">
            <a:xfrm>
              <a:off x="7589521" y="495406"/>
              <a:ext cx="828769" cy="34832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645AAF0A-B366-B837-D888-05E0CF2097E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0" y="0"/>
              <a:ext cx="876300" cy="8286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23141357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E9EC4-DC98-F4CC-8695-BC29A0148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4C2239D-C0E7-20BB-A97E-0B91FFCD15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워커</a:t>
            </a:r>
            <a:r>
              <a:rPr lang="en-US" altLang="ko-KR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-</a:t>
            </a:r>
            <a:r>
              <a:rPr lang="ko-KR" altLang="en-US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델타 </a:t>
            </a:r>
            <a:r>
              <a:rPr lang="ko-KR" altLang="en-US" sz="4000" b="1" dirty="0" err="1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위성군</a:t>
            </a:r>
            <a:r>
              <a:rPr lang="ko-KR" altLang="en-US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결과</a:t>
            </a:r>
            <a:r>
              <a:rPr lang="en-US" altLang="ko-KR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:</a:t>
            </a:r>
            <a:br>
              <a:rPr lang="en-US" altLang="ko-KR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ko-KR" altLang="en-US" sz="4000" b="1" dirty="0">
                <a:solidFill>
                  <a:srgbClr val="C0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연속관측</a:t>
            </a:r>
            <a:r>
              <a:rPr lang="ko-KR" altLang="en-US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을 위한</a:t>
            </a:r>
            <a:br>
              <a:rPr lang="en-US" altLang="ko-KR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ko-KR" altLang="en-US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다중</a:t>
            </a:r>
            <a:r>
              <a:rPr lang="en-US" altLang="ko-KR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ko-KR" altLang="en-US" dirty="0"/>
              <a:t>관심지역의 </a:t>
            </a:r>
            <a:r>
              <a:rPr lang="ko-KR" altLang="en-US" sz="4000" b="1" dirty="0">
                <a:solidFill>
                  <a:srgbClr val="C0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단일 궤도 </a:t>
            </a:r>
            <a:r>
              <a:rPr lang="ko-KR" altLang="en-US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운용</a:t>
            </a:r>
            <a:br>
              <a:rPr lang="en-US" altLang="ko-KR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US" altLang="ko-KR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40</a:t>
            </a:r>
            <a:r>
              <a:rPr lang="ko-KR" altLang="en-US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˚</a:t>
            </a:r>
            <a:r>
              <a:rPr lang="en-US" altLang="ko-KR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, 45</a:t>
            </a:r>
            <a:r>
              <a:rPr lang="ko-KR" altLang="en-US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˚</a:t>
            </a:r>
            <a:r>
              <a:rPr lang="en-US" altLang="ko-KR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, 50</a:t>
            </a:r>
            <a:r>
              <a:rPr lang="ko-KR" altLang="en-US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˚→ </a:t>
            </a:r>
            <a:r>
              <a:rPr lang="en-US" altLang="ko-KR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(Seoul, Vladivostok) </a:t>
            </a:r>
            <a:endParaRPr lang="ko-KR" altLang="en-US" sz="40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67C96D3F-8D97-8785-D399-BB0502D5E2B7}"/>
              </a:ext>
            </a:extLst>
          </p:cNvPr>
          <p:cNvGrpSpPr/>
          <p:nvPr/>
        </p:nvGrpSpPr>
        <p:grpSpPr>
          <a:xfrm>
            <a:off x="0" y="0"/>
            <a:ext cx="9144000" cy="1124607"/>
            <a:chOff x="0" y="0"/>
            <a:chExt cx="9144000" cy="1124607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0A99076A-2485-EF8A-E31B-E1CA629827BF}"/>
                </a:ext>
              </a:extLst>
            </p:cNvPr>
            <p:cNvSpPr/>
            <p:nvPr/>
          </p:nvSpPr>
          <p:spPr bwMode="auto">
            <a:xfrm>
              <a:off x="7589521" y="0"/>
              <a:ext cx="1554479" cy="75876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A8105B6B-EECE-E611-E4A9-69D6E596C300}"/>
                </a:ext>
              </a:extLst>
            </p:cNvPr>
            <p:cNvSpPr/>
            <p:nvPr/>
          </p:nvSpPr>
          <p:spPr bwMode="auto">
            <a:xfrm>
              <a:off x="8259943" y="152400"/>
              <a:ext cx="884057" cy="97220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13439E15-C785-1D1E-C710-37F44B7F258A}"/>
                </a:ext>
              </a:extLst>
            </p:cNvPr>
            <p:cNvSpPr/>
            <p:nvPr/>
          </p:nvSpPr>
          <p:spPr bwMode="auto">
            <a:xfrm>
              <a:off x="7589521" y="495406"/>
              <a:ext cx="828769" cy="34832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55C5CF82-AC1F-8D0B-E92A-C3605AB62B6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876300" cy="8286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8000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워커</a:t>
            </a:r>
            <a:r>
              <a:rPr lang="en-US" altLang="ko-KR" dirty="0"/>
              <a:t>-</a:t>
            </a:r>
            <a:r>
              <a:rPr lang="ko-KR" altLang="en-US" dirty="0"/>
              <a:t>델타 </a:t>
            </a:r>
            <a:r>
              <a:rPr lang="ko-KR" altLang="en-US" dirty="0" err="1"/>
              <a:t>위성군</a:t>
            </a:r>
            <a:r>
              <a:rPr lang="ko-KR" altLang="en-US" dirty="0"/>
              <a:t> </a:t>
            </a:r>
            <a:r>
              <a:rPr lang="en-US" altLang="ko-KR" dirty="0">
                <a:solidFill>
                  <a:srgbClr val="FF0000"/>
                </a:solidFill>
              </a:rPr>
              <a:t>(18</a:t>
            </a:r>
            <a:r>
              <a:rPr lang="ko-KR" altLang="en-US" dirty="0">
                <a:solidFill>
                  <a:srgbClr val="FF0000"/>
                </a:solidFill>
              </a:rPr>
              <a:t>대 운용 시 요구조건 달성 가능</a:t>
            </a:r>
            <a:r>
              <a:rPr lang="en-US" altLang="ko-KR" dirty="0">
                <a:solidFill>
                  <a:srgbClr val="FF0000"/>
                </a:solidFill>
              </a:rPr>
              <a:t>)</a:t>
            </a:r>
          </a:p>
          <a:p>
            <a:pPr lvl="1">
              <a:defRPr/>
            </a:pPr>
            <a:r>
              <a:rPr lang="en-US" altLang="ko-KR" dirty="0"/>
              <a:t>Target : </a:t>
            </a:r>
            <a:r>
              <a:rPr lang="ko-KR" altLang="en-US" dirty="0"/>
              <a:t>서울</a:t>
            </a:r>
            <a:r>
              <a:rPr lang="en-US" altLang="ko-KR" dirty="0"/>
              <a:t> &amp; </a:t>
            </a:r>
            <a:r>
              <a:rPr lang="ko-KR" altLang="en-US" dirty="0"/>
              <a:t>블라디보스토크 </a:t>
            </a:r>
            <a:r>
              <a:rPr lang="en-US" altLang="ko-KR" dirty="0"/>
              <a:t>(</a:t>
            </a:r>
            <a:r>
              <a:rPr lang="ko-KR" altLang="en-US" dirty="0"/>
              <a:t>궤도 평면 수 </a:t>
            </a:r>
            <a:r>
              <a:rPr lang="en-US" altLang="ko-KR" dirty="0"/>
              <a:t>: 18, 9)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Inc(40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, 45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, 50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) 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→ 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Seoul, Vladivostok</a:t>
            </a:r>
            <a:endParaRPr lang="ko-KR" altLang="en-US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44C6BEAC-F017-11C7-A996-3251772F78D4}"/>
              </a:ext>
            </a:extLst>
          </p:cNvPr>
          <p:cNvGraphicFramePr>
            <a:graphicFrameLocks noGrp="1"/>
          </p:cNvGraphicFramePr>
          <p:nvPr/>
        </p:nvGraphicFramePr>
        <p:xfrm>
          <a:off x="69300" y="1778562"/>
          <a:ext cx="9017144" cy="112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6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81393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98791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  <a:gridCol w="1017351">
                  <a:extLst>
                    <a:ext uri="{9D8B030D-6E8A-4147-A177-3AD203B41FA5}">
                      <a16:colId xmlns:a16="http://schemas.microsoft.com/office/drawing/2014/main" val="14929076"/>
                    </a:ext>
                  </a:extLst>
                </a:gridCol>
              </a:tblGrid>
              <a:tr h="0">
                <a:tc rowSpan="3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 err="1"/>
                        <a:t>AoI</a:t>
                      </a:r>
                      <a:r>
                        <a:rPr lang="en-US" altLang="ko-KR" sz="1400" dirty="0"/>
                        <a:t> &amp; Time </a:t>
                      </a:r>
                    </a:p>
                    <a:p>
                      <a:pPr algn="ctr" latinLnBrk="1">
                        <a:defRPr/>
                      </a:pPr>
                      <a:endParaRPr lang="en-US" altLang="ko-KR" sz="1400" dirty="0"/>
                    </a:p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Epoch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37.6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127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720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24.01.01</a:t>
                      </a:r>
                    </a:p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00:00:00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43.1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131.9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0838414"/>
                  </a:ext>
                </a:extLst>
              </a:tr>
              <a:tr h="22768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7270.14km</a:t>
                      </a:r>
                      <a:r>
                        <a:rPr lang="en-US" altLang="ko-KR" sz="1200" dirty="0"/>
                        <a:t>, 0, 40~50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128255"/>
                  </a:ext>
                </a:extLst>
              </a:tr>
            </a:tbl>
          </a:graphicData>
        </a:graphic>
      </p:graphicFrame>
      <p:grpSp>
        <p:nvGrpSpPr>
          <p:cNvPr id="27" name="그룹 26">
            <a:extLst>
              <a:ext uri="{FF2B5EF4-FFF2-40B4-BE49-F238E27FC236}">
                <a16:creationId xmlns:a16="http://schemas.microsoft.com/office/drawing/2014/main" id="{5B38C6C2-1147-3394-FE90-FD2AB3183643}"/>
              </a:ext>
            </a:extLst>
          </p:cNvPr>
          <p:cNvGrpSpPr/>
          <p:nvPr/>
        </p:nvGrpSpPr>
        <p:grpSpPr>
          <a:xfrm>
            <a:off x="69300" y="1808252"/>
            <a:ext cx="2579012" cy="722150"/>
            <a:chOff x="100830" y="1808252"/>
            <a:chExt cx="2579012" cy="722150"/>
          </a:xfrm>
        </p:grpSpPr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3E9126ED-5B8D-3999-B929-CC2C558CA33B}"/>
                </a:ext>
              </a:extLst>
            </p:cNvPr>
            <p:cNvCxnSpPr>
              <a:cxnSpLocks/>
            </p:cNvCxnSpPr>
            <p:nvPr/>
          </p:nvCxnSpPr>
          <p:spPr>
            <a:xfrm>
              <a:off x="100830" y="1808252"/>
              <a:ext cx="443700" cy="339047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E1C36C-B309-344F-5EB8-41B564C3574E}"/>
                </a:ext>
              </a:extLst>
            </p:cNvPr>
            <p:cNvCxnSpPr>
              <a:cxnSpLocks/>
            </p:cNvCxnSpPr>
            <p:nvPr/>
          </p:nvCxnSpPr>
          <p:spPr>
            <a:xfrm>
              <a:off x="544530" y="2147299"/>
              <a:ext cx="1691612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C6E87280-80D2-31AE-F945-F30F405CE714}"/>
                </a:ext>
              </a:extLst>
            </p:cNvPr>
            <p:cNvCxnSpPr>
              <a:cxnSpLocks/>
            </p:cNvCxnSpPr>
            <p:nvPr/>
          </p:nvCxnSpPr>
          <p:spPr>
            <a:xfrm>
              <a:off x="2236142" y="2147299"/>
              <a:ext cx="443700" cy="383103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표 8">
                <a:extLst>
                  <a:ext uri="{FF2B5EF4-FFF2-40B4-BE49-F238E27FC236}">
                    <a16:creationId xmlns:a16="http://schemas.microsoft.com/office/drawing/2014/main" id="{78D25B31-381D-420E-4122-FBEBE70CB746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49850" y="3111040"/>
              <a:ext cx="2754232" cy="31090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5913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33892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38921">
                      <a:extLst>
                        <a:ext uri="{9D8B030D-6E8A-4147-A177-3AD203B41FA5}">
                          <a16:colId xmlns:a16="http://schemas.microsoft.com/office/drawing/2014/main" val="2749405122"/>
                        </a:ext>
                      </a:extLst>
                    </a:gridCol>
                    <a:gridCol w="338922">
                      <a:extLst>
                        <a:ext uri="{9D8B030D-6E8A-4147-A177-3AD203B41FA5}">
                          <a16:colId xmlns:a16="http://schemas.microsoft.com/office/drawing/2014/main" val="4283662456"/>
                        </a:ext>
                      </a:extLst>
                    </a:gridCol>
                    <a:gridCol w="359446">
                      <a:extLst>
                        <a:ext uri="{9D8B030D-6E8A-4147-A177-3AD203B41FA5}">
                          <a16:colId xmlns:a16="http://schemas.microsoft.com/office/drawing/2014/main" val="4270349269"/>
                        </a:ext>
                      </a:extLst>
                    </a:gridCol>
                    <a:gridCol w="359445">
                      <a:extLst>
                        <a:ext uri="{9D8B030D-6E8A-4147-A177-3AD203B41FA5}">
                          <a16:colId xmlns:a16="http://schemas.microsoft.com/office/drawing/2014/main" val="2296791338"/>
                        </a:ext>
                      </a:extLst>
                    </a:gridCol>
                    <a:gridCol w="359446">
                      <a:extLst>
                        <a:ext uri="{9D8B030D-6E8A-4147-A177-3AD203B41FA5}">
                          <a16:colId xmlns:a16="http://schemas.microsoft.com/office/drawing/2014/main" val="219609416"/>
                        </a:ext>
                      </a:extLst>
                    </a:gridCol>
                  </a:tblGrid>
                  <a:tr h="148797">
                    <a:tc rowSpan="3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T:P:F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gridSpan="6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1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𝑪𝒐𝒗𝒆𝒓𝒂𝒈𝒆</m:t>
                                </m:r>
                                <m:r>
                                  <a:rPr lang="en-US" altLang="ko-KR" sz="11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(%)</m:t>
                                </m:r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21362372"/>
                      </a:ext>
                    </a:extLst>
                  </a:tr>
                  <a:tr h="148797">
                    <a:tc v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서울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</a:rPr>
                            <a:t>블라디보스토크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48797">
                    <a:tc vMerge="1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40</a:t>
                          </a: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40</a:t>
                          </a: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32820654"/>
                      </a:ext>
                    </a:extLst>
                  </a:tr>
                  <a:tr h="2592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18:18:0</a:t>
                          </a:r>
                          <a:endParaRPr lang="ko-KR" altLang="en-US" sz="11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42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43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43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37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38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39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10066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18:18:1</a:t>
                          </a:r>
                          <a:endParaRPr lang="ko-KR" altLang="en-US" sz="11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87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89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92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78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82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85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10066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18:18:2</a:t>
                          </a:r>
                          <a:endParaRPr lang="ko-KR" altLang="en-US" sz="1100" b="1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1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98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99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1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10066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18:18:3</a:t>
                          </a:r>
                          <a:endParaRPr lang="ko-KR" altLang="en-US" sz="11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87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87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86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79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82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80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05637608"/>
                      </a:ext>
                    </a:extLst>
                  </a:tr>
                  <a:tr h="210066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18:18:4</a:t>
                          </a:r>
                          <a:endParaRPr lang="ko-KR" altLang="en-US" sz="11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83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84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84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73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75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76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833312"/>
                      </a:ext>
                    </a:extLst>
                  </a:tr>
                  <a:tr h="210066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18:18:5</a:t>
                          </a:r>
                          <a:endParaRPr lang="ko-KR" altLang="en-US" sz="11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64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71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74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67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73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78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55956199"/>
                      </a:ext>
                    </a:extLst>
                  </a:tr>
                  <a:tr h="210066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18:18:6</a:t>
                          </a:r>
                          <a:endParaRPr lang="ko-KR" altLang="en-US" sz="1100" b="1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1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98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99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1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13091350"/>
                      </a:ext>
                    </a:extLst>
                  </a:tr>
                  <a:tr h="210066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18:18:7</a:t>
                          </a:r>
                          <a:endParaRPr lang="ko-KR" altLang="en-US" sz="1100" b="1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99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1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1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99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1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1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3793671"/>
                      </a:ext>
                    </a:extLst>
                  </a:tr>
                  <a:tr h="210066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18:18:8</a:t>
                          </a:r>
                          <a:endParaRPr lang="ko-KR" altLang="en-US" sz="11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46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49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52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47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81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54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8837947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표 8">
                <a:extLst>
                  <a:ext uri="{FF2B5EF4-FFF2-40B4-BE49-F238E27FC236}">
                    <a16:creationId xmlns:a16="http://schemas.microsoft.com/office/drawing/2014/main" id="{78D25B31-381D-420E-4122-FBEBE70CB74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76087244"/>
                  </p:ext>
                </p:extLst>
              </p:nvPr>
            </p:nvGraphicFramePr>
            <p:xfrm>
              <a:off x="149850" y="3111040"/>
              <a:ext cx="2754232" cy="31090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5913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33892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38921">
                      <a:extLst>
                        <a:ext uri="{9D8B030D-6E8A-4147-A177-3AD203B41FA5}">
                          <a16:colId xmlns:a16="http://schemas.microsoft.com/office/drawing/2014/main" val="2749405122"/>
                        </a:ext>
                      </a:extLst>
                    </a:gridCol>
                    <a:gridCol w="338922">
                      <a:extLst>
                        <a:ext uri="{9D8B030D-6E8A-4147-A177-3AD203B41FA5}">
                          <a16:colId xmlns:a16="http://schemas.microsoft.com/office/drawing/2014/main" val="4283662456"/>
                        </a:ext>
                      </a:extLst>
                    </a:gridCol>
                    <a:gridCol w="359446">
                      <a:extLst>
                        <a:ext uri="{9D8B030D-6E8A-4147-A177-3AD203B41FA5}">
                          <a16:colId xmlns:a16="http://schemas.microsoft.com/office/drawing/2014/main" val="4270349269"/>
                        </a:ext>
                      </a:extLst>
                    </a:gridCol>
                    <a:gridCol w="359445">
                      <a:extLst>
                        <a:ext uri="{9D8B030D-6E8A-4147-A177-3AD203B41FA5}">
                          <a16:colId xmlns:a16="http://schemas.microsoft.com/office/drawing/2014/main" val="2296791338"/>
                        </a:ext>
                      </a:extLst>
                    </a:gridCol>
                    <a:gridCol w="359446">
                      <a:extLst>
                        <a:ext uri="{9D8B030D-6E8A-4147-A177-3AD203B41FA5}">
                          <a16:colId xmlns:a16="http://schemas.microsoft.com/office/drawing/2014/main" val="219609416"/>
                        </a:ext>
                      </a:extLst>
                    </a:gridCol>
                  </a:tblGrid>
                  <a:tr h="259080">
                    <a:tc rowSpan="3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T:P:F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gridSpan="6"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1594" t="-2326" r="-580" b="-110465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21362372"/>
                      </a:ext>
                    </a:extLst>
                  </a:tr>
                  <a:tr h="259080">
                    <a:tc v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서울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</a:rPr>
                            <a:t>블라디보스토크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9080">
                    <a:tc vMerge="1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40</a:t>
                          </a: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40</a:t>
                          </a: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32820654"/>
                      </a:ext>
                    </a:extLst>
                  </a:tr>
                  <a:tr h="2592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18:18:0</a:t>
                          </a:r>
                          <a:endParaRPr lang="ko-KR" altLang="en-US" sz="11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42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43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43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37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38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39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18:18:1</a:t>
                          </a:r>
                          <a:endParaRPr lang="ko-KR" altLang="en-US" sz="11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87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89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92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78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82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85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18:18:2</a:t>
                          </a:r>
                          <a:endParaRPr lang="ko-KR" altLang="en-US" sz="1100" b="1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1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98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99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1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18:18:3</a:t>
                          </a:r>
                          <a:endParaRPr lang="ko-KR" altLang="en-US" sz="11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87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87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86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79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82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80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05637608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18:18:4</a:t>
                          </a:r>
                          <a:endParaRPr lang="ko-KR" altLang="en-US" sz="11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83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84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84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73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75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76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833312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18:18:5</a:t>
                          </a:r>
                          <a:endParaRPr lang="ko-KR" altLang="en-US" sz="11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64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71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74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67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73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78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5595619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18:18:6</a:t>
                          </a:r>
                          <a:endParaRPr lang="ko-KR" altLang="en-US" sz="1100" b="1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1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98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99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1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13091350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18:18:7</a:t>
                          </a:r>
                          <a:endParaRPr lang="ko-KR" altLang="en-US" sz="1100" b="1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99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1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1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99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1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1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3793671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18:18:8</a:t>
                          </a:r>
                          <a:endParaRPr lang="ko-KR" altLang="en-US" sz="11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46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49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52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47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81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54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8837947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6AA8BFCF-E062-8E72-9DD5-E44D21167ADD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127173" y="3110278"/>
              <a:ext cx="2844734" cy="311060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8928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36893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8937">
                      <a:extLst>
                        <a:ext uri="{9D8B030D-6E8A-4147-A177-3AD203B41FA5}">
                          <a16:colId xmlns:a16="http://schemas.microsoft.com/office/drawing/2014/main" val="2749405122"/>
                        </a:ext>
                      </a:extLst>
                    </a:gridCol>
                    <a:gridCol w="343740">
                      <a:extLst>
                        <a:ext uri="{9D8B030D-6E8A-4147-A177-3AD203B41FA5}">
                          <a16:colId xmlns:a16="http://schemas.microsoft.com/office/drawing/2014/main" val="4283662456"/>
                        </a:ext>
                      </a:extLst>
                    </a:gridCol>
                    <a:gridCol w="391280">
                      <a:extLst>
                        <a:ext uri="{9D8B030D-6E8A-4147-A177-3AD203B41FA5}">
                          <a16:colId xmlns:a16="http://schemas.microsoft.com/office/drawing/2014/main" val="4270349269"/>
                        </a:ext>
                      </a:extLst>
                    </a:gridCol>
                    <a:gridCol w="391279">
                      <a:extLst>
                        <a:ext uri="{9D8B030D-6E8A-4147-A177-3AD203B41FA5}">
                          <a16:colId xmlns:a16="http://schemas.microsoft.com/office/drawing/2014/main" val="2296791338"/>
                        </a:ext>
                      </a:extLst>
                    </a:gridCol>
                    <a:gridCol w="391280">
                      <a:extLst>
                        <a:ext uri="{9D8B030D-6E8A-4147-A177-3AD203B41FA5}">
                          <a16:colId xmlns:a16="http://schemas.microsoft.com/office/drawing/2014/main" val="219609416"/>
                        </a:ext>
                      </a:extLst>
                    </a:gridCol>
                  </a:tblGrid>
                  <a:tr h="259628">
                    <a:tc rowSpan="3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T:P:F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gridSpan="6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1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𝑪𝒐𝒗𝒆𝒓𝒂𝒈𝒆</m:t>
                                </m:r>
                                <m:r>
                                  <a:rPr lang="en-US" altLang="ko-KR" sz="11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(%)</m:t>
                                </m:r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21362372"/>
                      </a:ext>
                    </a:extLst>
                  </a:tr>
                  <a:tr h="259628">
                    <a:tc v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서울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</a:rPr>
                            <a:t>블라디보스토크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9628">
                    <a:tc vMerge="1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40</a:t>
                          </a: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40</a:t>
                          </a: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32820654"/>
                      </a:ext>
                    </a:extLst>
                  </a:tr>
                  <a:tr h="245204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18:9:0</a:t>
                          </a:r>
                          <a:endParaRPr lang="ko-KR" altLang="en-US" sz="11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81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83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84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72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74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77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45204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18:9:1</a:t>
                          </a:r>
                          <a:endParaRPr lang="ko-KR" altLang="en-US" sz="1100" b="1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1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1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99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1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1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45204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18:9:2</a:t>
                          </a:r>
                          <a:endParaRPr lang="ko-KR" altLang="en-US" sz="11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96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96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95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92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93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94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45204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18:9:3</a:t>
                          </a:r>
                          <a:endParaRPr lang="ko-KR" altLang="en-US" sz="11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63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62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61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63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65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67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05637608"/>
                      </a:ext>
                    </a:extLst>
                  </a:tr>
                  <a:tr h="245204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18:9:4</a:t>
                          </a:r>
                          <a:endParaRPr lang="ko-KR" altLang="en-US" sz="11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97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98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99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92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95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96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833312"/>
                      </a:ext>
                    </a:extLst>
                  </a:tr>
                  <a:tr h="245204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18:9:5</a:t>
                          </a:r>
                          <a:endParaRPr lang="ko-KR" altLang="en-US" sz="11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97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99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99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55956199"/>
                      </a:ext>
                    </a:extLst>
                  </a:tr>
                  <a:tr h="245204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18:9:6</a:t>
                          </a:r>
                          <a:endParaRPr lang="ko-KR" altLang="en-US" sz="11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85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90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95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82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89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95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13091350"/>
                      </a:ext>
                    </a:extLst>
                  </a:tr>
                  <a:tr h="245204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18:9:7</a:t>
                          </a:r>
                          <a:endParaRPr lang="ko-KR" altLang="en-US" sz="11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46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49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52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46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51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55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3793671"/>
                      </a:ext>
                    </a:extLst>
                  </a:tr>
                  <a:tr h="245204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18:9:8</a:t>
                          </a:r>
                          <a:endParaRPr lang="ko-KR" altLang="en-US" sz="11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44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44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39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40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41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8837947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6AA8BFCF-E062-8E72-9DD5-E44D21167AD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78541701"/>
                  </p:ext>
                </p:extLst>
              </p:nvPr>
            </p:nvGraphicFramePr>
            <p:xfrm>
              <a:off x="6127173" y="3110278"/>
              <a:ext cx="2844734" cy="311060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8928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36893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8937">
                      <a:extLst>
                        <a:ext uri="{9D8B030D-6E8A-4147-A177-3AD203B41FA5}">
                          <a16:colId xmlns:a16="http://schemas.microsoft.com/office/drawing/2014/main" val="2749405122"/>
                        </a:ext>
                      </a:extLst>
                    </a:gridCol>
                    <a:gridCol w="343740">
                      <a:extLst>
                        <a:ext uri="{9D8B030D-6E8A-4147-A177-3AD203B41FA5}">
                          <a16:colId xmlns:a16="http://schemas.microsoft.com/office/drawing/2014/main" val="4283662456"/>
                        </a:ext>
                      </a:extLst>
                    </a:gridCol>
                    <a:gridCol w="391280">
                      <a:extLst>
                        <a:ext uri="{9D8B030D-6E8A-4147-A177-3AD203B41FA5}">
                          <a16:colId xmlns:a16="http://schemas.microsoft.com/office/drawing/2014/main" val="4270349269"/>
                        </a:ext>
                      </a:extLst>
                    </a:gridCol>
                    <a:gridCol w="391279">
                      <a:extLst>
                        <a:ext uri="{9D8B030D-6E8A-4147-A177-3AD203B41FA5}">
                          <a16:colId xmlns:a16="http://schemas.microsoft.com/office/drawing/2014/main" val="2296791338"/>
                        </a:ext>
                      </a:extLst>
                    </a:gridCol>
                    <a:gridCol w="391280">
                      <a:extLst>
                        <a:ext uri="{9D8B030D-6E8A-4147-A177-3AD203B41FA5}">
                          <a16:colId xmlns:a16="http://schemas.microsoft.com/office/drawing/2014/main" val="219609416"/>
                        </a:ext>
                      </a:extLst>
                    </a:gridCol>
                  </a:tblGrid>
                  <a:tr h="259628">
                    <a:tc rowSpan="3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T:P:F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gridSpan="6"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6486" t="-2326" r="-541" b="-110465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21362372"/>
                      </a:ext>
                    </a:extLst>
                  </a:tr>
                  <a:tr h="259628">
                    <a:tc v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서울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</a:rPr>
                            <a:t>블라디보스토크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9628">
                    <a:tc vMerge="1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40</a:t>
                          </a: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40</a:t>
                          </a: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32820654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18:9:0</a:t>
                          </a:r>
                          <a:endParaRPr lang="ko-KR" altLang="en-US" sz="11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81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83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84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72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74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77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18:9:1</a:t>
                          </a:r>
                          <a:endParaRPr lang="ko-KR" altLang="en-US" sz="1100" b="1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1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1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99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1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1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18:9:2</a:t>
                          </a:r>
                          <a:endParaRPr lang="ko-KR" altLang="en-US" sz="11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96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96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95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92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93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94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18:9:3</a:t>
                          </a:r>
                          <a:endParaRPr lang="ko-KR" altLang="en-US" sz="11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63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62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61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63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65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67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05637608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18:9:4</a:t>
                          </a:r>
                          <a:endParaRPr lang="ko-KR" altLang="en-US" sz="11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97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98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99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92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95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96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833312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18:9:5</a:t>
                          </a:r>
                          <a:endParaRPr lang="ko-KR" altLang="en-US" sz="11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97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99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99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5595619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18:9:6</a:t>
                          </a:r>
                          <a:endParaRPr lang="ko-KR" altLang="en-US" sz="11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85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90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95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82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89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95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13091350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18:9:7</a:t>
                          </a:r>
                          <a:endParaRPr lang="ko-KR" altLang="en-US" sz="11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46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49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52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46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51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55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3793671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18:9:8</a:t>
                          </a:r>
                          <a:endParaRPr lang="ko-KR" altLang="en-US" sz="11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44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44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39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40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41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8837947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표 9">
                <a:extLst>
                  <a:ext uri="{FF2B5EF4-FFF2-40B4-BE49-F238E27FC236}">
                    <a16:creationId xmlns:a16="http://schemas.microsoft.com/office/drawing/2014/main" id="{27BB6486-9F52-B026-5C8A-77915662E40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96065" y="3113726"/>
              <a:ext cx="2869145" cy="31090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2898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34621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46211">
                      <a:extLst>
                        <a:ext uri="{9D8B030D-6E8A-4147-A177-3AD203B41FA5}">
                          <a16:colId xmlns:a16="http://schemas.microsoft.com/office/drawing/2014/main" val="2749405122"/>
                        </a:ext>
                      </a:extLst>
                    </a:gridCol>
                    <a:gridCol w="346212">
                      <a:extLst>
                        <a:ext uri="{9D8B030D-6E8A-4147-A177-3AD203B41FA5}">
                          <a16:colId xmlns:a16="http://schemas.microsoft.com/office/drawing/2014/main" val="4283662456"/>
                        </a:ext>
                      </a:extLst>
                    </a:gridCol>
                    <a:gridCol w="367177">
                      <a:extLst>
                        <a:ext uri="{9D8B030D-6E8A-4147-A177-3AD203B41FA5}">
                          <a16:colId xmlns:a16="http://schemas.microsoft.com/office/drawing/2014/main" val="4270349269"/>
                        </a:ext>
                      </a:extLst>
                    </a:gridCol>
                    <a:gridCol w="367176">
                      <a:extLst>
                        <a:ext uri="{9D8B030D-6E8A-4147-A177-3AD203B41FA5}">
                          <a16:colId xmlns:a16="http://schemas.microsoft.com/office/drawing/2014/main" val="2296791338"/>
                        </a:ext>
                      </a:extLst>
                    </a:gridCol>
                    <a:gridCol w="367177">
                      <a:extLst>
                        <a:ext uri="{9D8B030D-6E8A-4147-A177-3AD203B41FA5}">
                          <a16:colId xmlns:a16="http://schemas.microsoft.com/office/drawing/2014/main" val="219609416"/>
                        </a:ext>
                      </a:extLst>
                    </a:gridCol>
                  </a:tblGrid>
                  <a:tr h="148797">
                    <a:tc rowSpan="3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T:P:F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gridSpan="6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1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𝑪𝒐𝒗𝒆𝒓𝒂𝒈𝒆</m:t>
                                </m:r>
                                <m:r>
                                  <a:rPr lang="en-US" altLang="ko-KR" sz="11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(%)</m:t>
                                </m:r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21362372"/>
                      </a:ext>
                    </a:extLst>
                  </a:tr>
                  <a:tr h="148797">
                    <a:tc v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서울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</a:rPr>
                            <a:t>블라디보스토크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48797">
                    <a:tc vMerge="1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40</a:t>
                          </a: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40</a:t>
                          </a: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32820654"/>
                      </a:ext>
                    </a:extLst>
                  </a:tr>
                  <a:tr h="2592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18:18:9</a:t>
                          </a:r>
                          <a:endParaRPr lang="ko-KR" altLang="en-US" sz="11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81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83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84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72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74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76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10066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18:18:10</a:t>
                          </a:r>
                          <a:endParaRPr lang="ko-KR" altLang="en-US" sz="11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80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81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80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81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85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87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10066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18:18:11</a:t>
                          </a:r>
                          <a:endParaRPr lang="ko-KR" altLang="en-US" sz="11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66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70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74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67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73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78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10066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18:18:12</a:t>
                          </a:r>
                          <a:endParaRPr lang="ko-KR" altLang="en-US" sz="11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98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99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99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95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98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99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05637608"/>
                      </a:ext>
                    </a:extLst>
                  </a:tr>
                  <a:tr h="210066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18:18:13</a:t>
                          </a:r>
                          <a:endParaRPr lang="ko-KR" altLang="en-US" sz="11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82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83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83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73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76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76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833312"/>
                      </a:ext>
                    </a:extLst>
                  </a:tr>
                  <a:tr h="210066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18:18:14</a:t>
                          </a:r>
                          <a:endParaRPr lang="ko-KR" altLang="en-US" sz="11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97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97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97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92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94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94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55956199"/>
                      </a:ext>
                    </a:extLst>
                  </a:tr>
                  <a:tr h="210066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18:18:15</a:t>
                          </a:r>
                          <a:endParaRPr lang="ko-KR" altLang="en-US" sz="1100" b="1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1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1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99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1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1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13091350"/>
                      </a:ext>
                    </a:extLst>
                  </a:tr>
                  <a:tr h="210066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18:18:16</a:t>
                          </a:r>
                          <a:endParaRPr lang="ko-KR" altLang="en-US" sz="11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68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71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75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64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69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74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3793671"/>
                      </a:ext>
                    </a:extLst>
                  </a:tr>
                  <a:tr h="210066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18:18:17</a:t>
                          </a:r>
                          <a:endParaRPr lang="ko-KR" altLang="en-US" sz="11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23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26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27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23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26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28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8837947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표 9">
                <a:extLst>
                  <a:ext uri="{FF2B5EF4-FFF2-40B4-BE49-F238E27FC236}">
                    <a16:creationId xmlns:a16="http://schemas.microsoft.com/office/drawing/2014/main" id="{27BB6486-9F52-B026-5C8A-77915662E40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13689002"/>
                  </p:ext>
                </p:extLst>
              </p:nvPr>
            </p:nvGraphicFramePr>
            <p:xfrm>
              <a:off x="3096065" y="3113726"/>
              <a:ext cx="2869145" cy="31090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2898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34621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46211">
                      <a:extLst>
                        <a:ext uri="{9D8B030D-6E8A-4147-A177-3AD203B41FA5}">
                          <a16:colId xmlns:a16="http://schemas.microsoft.com/office/drawing/2014/main" val="2749405122"/>
                        </a:ext>
                      </a:extLst>
                    </a:gridCol>
                    <a:gridCol w="346212">
                      <a:extLst>
                        <a:ext uri="{9D8B030D-6E8A-4147-A177-3AD203B41FA5}">
                          <a16:colId xmlns:a16="http://schemas.microsoft.com/office/drawing/2014/main" val="4283662456"/>
                        </a:ext>
                      </a:extLst>
                    </a:gridCol>
                    <a:gridCol w="367177">
                      <a:extLst>
                        <a:ext uri="{9D8B030D-6E8A-4147-A177-3AD203B41FA5}">
                          <a16:colId xmlns:a16="http://schemas.microsoft.com/office/drawing/2014/main" val="4270349269"/>
                        </a:ext>
                      </a:extLst>
                    </a:gridCol>
                    <a:gridCol w="367176">
                      <a:extLst>
                        <a:ext uri="{9D8B030D-6E8A-4147-A177-3AD203B41FA5}">
                          <a16:colId xmlns:a16="http://schemas.microsoft.com/office/drawing/2014/main" val="2296791338"/>
                        </a:ext>
                      </a:extLst>
                    </a:gridCol>
                    <a:gridCol w="367177">
                      <a:extLst>
                        <a:ext uri="{9D8B030D-6E8A-4147-A177-3AD203B41FA5}">
                          <a16:colId xmlns:a16="http://schemas.microsoft.com/office/drawing/2014/main" val="219609416"/>
                        </a:ext>
                      </a:extLst>
                    </a:gridCol>
                  </a:tblGrid>
                  <a:tr h="259080">
                    <a:tc rowSpan="3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T:P:F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gridSpan="6"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4375" t="-2326" r="-568" b="-110465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21362372"/>
                      </a:ext>
                    </a:extLst>
                  </a:tr>
                  <a:tr h="259080">
                    <a:tc v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서울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</a:rPr>
                            <a:t>블라디보스토크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9080">
                    <a:tc vMerge="1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40</a:t>
                          </a: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40</a:t>
                          </a: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32820654"/>
                      </a:ext>
                    </a:extLst>
                  </a:tr>
                  <a:tr h="2592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18:18:9</a:t>
                          </a:r>
                          <a:endParaRPr lang="ko-KR" altLang="en-US" sz="11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81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83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84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72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74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76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18:18:10</a:t>
                          </a:r>
                          <a:endParaRPr lang="ko-KR" altLang="en-US" sz="11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80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81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80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81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85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87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18:18:11</a:t>
                          </a:r>
                          <a:endParaRPr lang="ko-KR" altLang="en-US" sz="11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66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70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74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67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73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78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18:18:12</a:t>
                          </a:r>
                          <a:endParaRPr lang="ko-KR" altLang="en-US" sz="11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98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99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99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95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98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99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05637608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18:18:13</a:t>
                          </a:r>
                          <a:endParaRPr lang="ko-KR" altLang="en-US" sz="11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82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83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83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73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76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76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833312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18:18:14</a:t>
                          </a:r>
                          <a:endParaRPr lang="ko-KR" altLang="en-US" sz="11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97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97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97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92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94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94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5595619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18:18:15</a:t>
                          </a:r>
                          <a:endParaRPr lang="ko-KR" altLang="en-US" sz="1100" b="1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1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1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99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1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1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13091350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18:18:16</a:t>
                          </a:r>
                          <a:endParaRPr lang="ko-KR" altLang="en-US" sz="11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68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71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75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64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69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74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3793671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18:18:17</a:t>
                          </a:r>
                          <a:endParaRPr lang="ko-KR" altLang="en-US" sz="11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23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26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27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23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26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28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88379477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2" name="그룹 1">
            <a:extLst>
              <a:ext uri="{FF2B5EF4-FFF2-40B4-BE49-F238E27FC236}">
                <a16:creationId xmlns:a16="http://schemas.microsoft.com/office/drawing/2014/main" id="{3715CF84-E5DE-7F6A-9645-9D4293910A98}"/>
              </a:ext>
            </a:extLst>
          </p:cNvPr>
          <p:cNvGrpSpPr/>
          <p:nvPr/>
        </p:nvGrpSpPr>
        <p:grpSpPr>
          <a:xfrm>
            <a:off x="0" y="0"/>
            <a:ext cx="9144000" cy="1124607"/>
            <a:chOff x="0" y="0"/>
            <a:chExt cx="9144000" cy="1124607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AE5C3CC8-2889-F208-FB26-6FADA2256CD3}"/>
                </a:ext>
              </a:extLst>
            </p:cNvPr>
            <p:cNvSpPr/>
            <p:nvPr/>
          </p:nvSpPr>
          <p:spPr bwMode="auto">
            <a:xfrm>
              <a:off x="7589521" y="0"/>
              <a:ext cx="1554479" cy="75876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58FF40E8-F468-F8D4-54B6-5DBD07D69D71}"/>
                </a:ext>
              </a:extLst>
            </p:cNvPr>
            <p:cNvSpPr/>
            <p:nvPr/>
          </p:nvSpPr>
          <p:spPr bwMode="auto">
            <a:xfrm>
              <a:off x="8259943" y="152400"/>
              <a:ext cx="884057" cy="97220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5363DC11-42C7-9039-C7AF-267CAAB89E28}"/>
                </a:ext>
              </a:extLst>
            </p:cNvPr>
            <p:cNvSpPr/>
            <p:nvPr/>
          </p:nvSpPr>
          <p:spPr bwMode="auto">
            <a:xfrm>
              <a:off x="7589521" y="495406"/>
              <a:ext cx="828769" cy="34832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0F3A5A95-E4D1-5CEE-AB5E-A877BF1DC1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0" y="0"/>
              <a:ext cx="876300" cy="8286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36720648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워커</a:t>
            </a:r>
            <a:r>
              <a:rPr lang="en-US" altLang="ko-KR" dirty="0"/>
              <a:t>-</a:t>
            </a:r>
            <a:r>
              <a:rPr lang="ko-KR" altLang="en-US" dirty="0"/>
              <a:t>델타 </a:t>
            </a:r>
            <a:r>
              <a:rPr lang="ko-KR" altLang="en-US" dirty="0" err="1"/>
              <a:t>위성군</a:t>
            </a:r>
            <a:r>
              <a:rPr lang="ko-KR" altLang="en-US" dirty="0"/>
              <a:t> </a:t>
            </a:r>
            <a:r>
              <a:rPr lang="en-US" altLang="ko-KR" dirty="0">
                <a:solidFill>
                  <a:srgbClr val="FF0000"/>
                </a:solidFill>
              </a:rPr>
              <a:t>(18</a:t>
            </a:r>
            <a:r>
              <a:rPr lang="ko-KR" altLang="en-US" dirty="0">
                <a:solidFill>
                  <a:srgbClr val="FF0000"/>
                </a:solidFill>
              </a:rPr>
              <a:t>대 운용 시 요구조건 달성 가능</a:t>
            </a:r>
            <a:r>
              <a:rPr lang="en-US" altLang="ko-KR" dirty="0">
                <a:solidFill>
                  <a:srgbClr val="FF0000"/>
                </a:solidFill>
              </a:rPr>
              <a:t>)</a:t>
            </a:r>
          </a:p>
          <a:p>
            <a:pPr lvl="1">
              <a:defRPr/>
            </a:pPr>
            <a:r>
              <a:rPr lang="en-US" altLang="ko-KR" dirty="0"/>
              <a:t>Target : </a:t>
            </a:r>
            <a:r>
              <a:rPr lang="ko-KR" altLang="en-US" dirty="0"/>
              <a:t>서울</a:t>
            </a:r>
            <a:r>
              <a:rPr lang="en-US" altLang="ko-KR" dirty="0"/>
              <a:t> &amp; </a:t>
            </a:r>
            <a:r>
              <a:rPr lang="ko-KR" altLang="en-US" dirty="0"/>
              <a:t>블라디보스토크 </a:t>
            </a:r>
            <a:r>
              <a:rPr lang="en-US" altLang="ko-KR" dirty="0"/>
              <a:t>(</a:t>
            </a:r>
            <a:r>
              <a:rPr lang="ko-KR" altLang="en-US" dirty="0"/>
              <a:t>궤도 평면 수 </a:t>
            </a:r>
            <a:r>
              <a:rPr lang="en-US" altLang="ko-KR" dirty="0"/>
              <a:t>: 6, 3, 2)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Inc(40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, 45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, 50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) 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→ 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Seoul, Vladivostok</a:t>
            </a:r>
            <a:endParaRPr lang="ko-KR" altLang="en-US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44C6BEAC-F017-11C7-A996-3251772F78D4}"/>
              </a:ext>
            </a:extLst>
          </p:cNvPr>
          <p:cNvGraphicFramePr>
            <a:graphicFrameLocks noGrp="1"/>
          </p:cNvGraphicFramePr>
          <p:nvPr/>
        </p:nvGraphicFramePr>
        <p:xfrm>
          <a:off x="69300" y="1778562"/>
          <a:ext cx="9017144" cy="112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6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81393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98791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  <a:gridCol w="1017351">
                  <a:extLst>
                    <a:ext uri="{9D8B030D-6E8A-4147-A177-3AD203B41FA5}">
                      <a16:colId xmlns:a16="http://schemas.microsoft.com/office/drawing/2014/main" val="14929076"/>
                    </a:ext>
                  </a:extLst>
                </a:gridCol>
              </a:tblGrid>
              <a:tr h="0">
                <a:tc rowSpan="3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 err="1"/>
                        <a:t>AoI</a:t>
                      </a:r>
                      <a:r>
                        <a:rPr lang="en-US" altLang="ko-KR" sz="1400" dirty="0"/>
                        <a:t> &amp; Time </a:t>
                      </a:r>
                    </a:p>
                    <a:p>
                      <a:pPr algn="ctr" latinLnBrk="1">
                        <a:defRPr/>
                      </a:pPr>
                      <a:endParaRPr lang="en-US" altLang="ko-KR" sz="1400" dirty="0"/>
                    </a:p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Epoch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37.6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127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720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24.01.01</a:t>
                      </a:r>
                    </a:p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00:00:00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43.1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131.9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0838414"/>
                  </a:ext>
                </a:extLst>
              </a:tr>
              <a:tr h="22768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7270.14km</a:t>
                      </a:r>
                      <a:r>
                        <a:rPr lang="en-US" altLang="ko-KR" sz="1200" dirty="0"/>
                        <a:t>, 0, 40~50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128255"/>
                  </a:ext>
                </a:extLst>
              </a:tr>
            </a:tbl>
          </a:graphicData>
        </a:graphic>
      </p:graphicFrame>
      <p:grpSp>
        <p:nvGrpSpPr>
          <p:cNvPr id="27" name="그룹 26">
            <a:extLst>
              <a:ext uri="{FF2B5EF4-FFF2-40B4-BE49-F238E27FC236}">
                <a16:creationId xmlns:a16="http://schemas.microsoft.com/office/drawing/2014/main" id="{5B38C6C2-1147-3394-FE90-FD2AB3183643}"/>
              </a:ext>
            </a:extLst>
          </p:cNvPr>
          <p:cNvGrpSpPr/>
          <p:nvPr/>
        </p:nvGrpSpPr>
        <p:grpSpPr>
          <a:xfrm>
            <a:off x="69300" y="1808252"/>
            <a:ext cx="2579012" cy="722150"/>
            <a:chOff x="100830" y="1808252"/>
            <a:chExt cx="2579012" cy="722150"/>
          </a:xfrm>
        </p:grpSpPr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3E9126ED-5B8D-3999-B929-CC2C558CA33B}"/>
                </a:ext>
              </a:extLst>
            </p:cNvPr>
            <p:cNvCxnSpPr>
              <a:cxnSpLocks/>
            </p:cNvCxnSpPr>
            <p:nvPr/>
          </p:nvCxnSpPr>
          <p:spPr>
            <a:xfrm>
              <a:off x="100830" y="1808252"/>
              <a:ext cx="443700" cy="339047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E1C36C-B309-344F-5EB8-41B564C3574E}"/>
                </a:ext>
              </a:extLst>
            </p:cNvPr>
            <p:cNvCxnSpPr>
              <a:cxnSpLocks/>
            </p:cNvCxnSpPr>
            <p:nvPr/>
          </p:nvCxnSpPr>
          <p:spPr>
            <a:xfrm>
              <a:off x="544530" y="2147299"/>
              <a:ext cx="1691612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C6E87280-80D2-31AE-F945-F30F405CE714}"/>
                </a:ext>
              </a:extLst>
            </p:cNvPr>
            <p:cNvCxnSpPr>
              <a:cxnSpLocks/>
            </p:cNvCxnSpPr>
            <p:nvPr/>
          </p:nvCxnSpPr>
          <p:spPr>
            <a:xfrm>
              <a:off x="2236142" y="2147299"/>
              <a:ext cx="443700" cy="383103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BEBC93D9-05E1-17BE-5606-D1D144539E11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79454" y="3110670"/>
              <a:ext cx="2985091" cy="16459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115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38397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83971">
                      <a:extLst>
                        <a:ext uri="{9D8B030D-6E8A-4147-A177-3AD203B41FA5}">
                          <a16:colId xmlns:a16="http://schemas.microsoft.com/office/drawing/2014/main" val="2749405122"/>
                        </a:ext>
                      </a:extLst>
                    </a:gridCol>
                    <a:gridCol w="383972">
                      <a:extLst>
                        <a:ext uri="{9D8B030D-6E8A-4147-A177-3AD203B41FA5}">
                          <a16:colId xmlns:a16="http://schemas.microsoft.com/office/drawing/2014/main" val="4283662456"/>
                        </a:ext>
                      </a:extLst>
                    </a:gridCol>
                    <a:gridCol w="407224">
                      <a:extLst>
                        <a:ext uri="{9D8B030D-6E8A-4147-A177-3AD203B41FA5}">
                          <a16:colId xmlns:a16="http://schemas.microsoft.com/office/drawing/2014/main" val="4270349269"/>
                        </a:ext>
                      </a:extLst>
                    </a:gridCol>
                    <a:gridCol w="407223">
                      <a:extLst>
                        <a:ext uri="{9D8B030D-6E8A-4147-A177-3AD203B41FA5}">
                          <a16:colId xmlns:a16="http://schemas.microsoft.com/office/drawing/2014/main" val="2296791338"/>
                        </a:ext>
                      </a:extLst>
                    </a:gridCol>
                    <a:gridCol w="407224">
                      <a:extLst>
                        <a:ext uri="{9D8B030D-6E8A-4147-A177-3AD203B41FA5}">
                          <a16:colId xmlns:a16="http://schemas.microsoft.com/office/drawing/2014/main" val="219609416"/>
                        </a:ext>
                      </a:extLst>
                    </a:gridCol>
                  </a:tblGrid>
                  <a:tr h="148797">
                    <a:tc rowSpan="3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T:P:F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gridSpan="6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2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𝑪𝒐𝒗𝒆𝒓𝒂𝒈𝒆</m:t>
                                </m:r>
                                <m:r>
                                  <a:rPr lang="en-US" altLang="ko-KR" sz="12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(%)</m:t>
                                </m:r>
                              </m:oMath>
                            </m:oMathPara>
                          </a14:m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21362372"/>
                      </a:ext>
                    </a:extLst>
                  </a:tr>
                  <a:tr h="148797">
                    <a:tc v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서울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dirty="0">
                              <a:solidFill>
                                <a:schemeClr val="bg1"/>
                              </a:solidFill>
                            </a:rPr>
                            <a:t>블라디보스토크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48797">
                    <a:tc vMerge="1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40</a:t>
                          </a:r>
                          <a:r>
                            <a:rPr lang="ko-KR" altLang="en-US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40</a:t>
                          </a:r>
                          <a:r>
                            <a:rPr lang="ko-KR" altLang="en-US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32820654"/>
                      </a:ext>
                    </a:extLst>
                  </a:tr>
                  <a:tr h="2592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18:3:0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98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98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95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94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96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95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10066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18:3:1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97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97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95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94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96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96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10066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18:3:2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95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95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92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90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92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92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BEBC93D9-05E1-17BE-5606-D1D144539E1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39206921"/>
                  </p:ext>
                </p:extLst>
              </p:nvPr>
            </p:nvGraphicFramePr>
            <p:xfrm>
              <a:off x="3079454" y="3110670"/>
              <a:ext cx="2985091" cy="16459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115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38397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83971">
                      <a:extLst>
                        <a:ext uri="{9D8B030D-6E8A-4147-A177-3AD203B41FA5}">
                          <a16:colId xmlns:a16="http://schemas.microsoft.com/office/drawing/2014/main" val="2749405122"/>
                        </a:ext>
                      </a:extLst>
                    </a:gridCol>
                    <a:gridCol w="383972">
                      <a:extLst>
                        <a:ext uri="{9D8B030D-6E8A-4147-A177-3AD203B41FA5}">
                          <a16:colId xmlns:a16="http://schemas.microsoft.com/office/drawing/2014/main" val="4283662456"/>
                        </a:ext>
                      </a:extLst>
                    </a:gridCol>
                    <a:gridCol w="407224">
                      <a:extLst>
                        <a:ext uri="{9D8B030D-6E8A-4147-A177-3AD203B41FA5}">
                          <a16:colId xmlns:a16="http://schemas.microsoft.com/office/drawing/2014/main" val="4270349269"/>
                        </a:ext>
                      </a:extLst>
                    </a:gridCol>
                    <a:gridCol w="407223">
                      <a:extLst>
                        <a:ext uri="{9D8B030D-6E8A-4147-A177-3AD203B41FA5}">
                          <a16:colId xmlns:a16="http://schemas.microsoft.com/office/drawing/2014/main" val="2296791338"/>
                        </a:ext>
                      </a:extLst>
                    </a:gridCol>
                    <a:gridCol w="407224">
                      <a:extLst>
                        <a:ext uri="{9D8B030D-6E8A-4147-A177-3AD203B41FA5}">
                          <a16:colId xmlns:a16="http://schemas.microsoft.com/office/drawing/2014/main" val="219609416"/>
                        </a:ext>
                      </a:extLst>
                    </a:gridCol>
                  </a:tblGrid>
                  <a:tr h="274320">
                    <a:tc rowSpan="3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T:P:F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gridSpan="6"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5897" t="-2222" r="-513" b="-517778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21362372"/>
                      </a:ext>
                    </a:extLst>
                  </a:tr>
                  <a:tr h="274320">
                    <a:tc v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서울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dirty="0">
                              <a:solidFill>
                                <a:schemeClr val="bg1"/>
                              </a:solidFill>
                            </a:rPr>
                            <a:t>블라디보스토크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74320">
                    <a:tc vMerge="1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40</a:t>
                          </a:r>
                          <a:r>
                            <a:rPr lang="ko-KR" altLang="en-US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40</a:t>
                          </a:r>
                          <a:r>
                            <a:rPr lang="ko-KR" altLang="en-US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32820654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18:3:0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98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98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95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94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96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95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18:3:1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97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97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95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94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96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96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18:3:2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95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95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92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90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92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92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표 6">
                <a:extLst>
                  <a:ext uri="{FF2B5EF4-FFF2-40B4-BE49-F238E27FC236}">
                    <a16:creationId xmlns:a16="http://schemas.microsoft.com/office/drawing/2014/main" id="{5222E5BF-C148-B633-CCDF-94B018946A0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099134" y="3110670"/>
              <a:ext cx="2985091" cy="1371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11505">
                      <a:extLst>
                        <a:ext uri="{9D8B030D-6E8A-4147-A177-3AD203B41FA5}">
                          <a16:colId xmlns:a16="http://schemas.microsoft.com/office/drawing/2014/main" val="4133197705"/>
                        </a:ext>
                      </a:extLst>
                    </a:gridCol>
                    <a:gridCol w="383972">
                      <a:extLst>
                        <a:ext uri="{9D8B030D-6E8A-4147-A177-3AD203B41FA5}">
                          <a16:colId xmlns:a16="http://schemas.microsoft.com/office/drawing/2014/main" val="1358599067"/>
                        </a:ext>
                      </a:extLst>
                    </a:gridCol>
                    <a:gridCol w="383971">
                      <a:extLst>
                        <a:ext uri="{9D8B030D-6E8A-4147-A177-3AD203B41FA5}">
                          <a16:colId xmlns:a16="http://schemas.microsoft.com/office/drawing/2014/main" val="753851379"/>
                        </a:ext>
                      </a:extLst>
                    </a:gridCol>
                    <a:gridCol w="383972">
                      <a:extLst>
                        <a:ext uri="{9D8B030D-6E8A-4147-A177-3AD203B41FA5}">
                          <a16:colId xmlns:a16="http://schemas.microsoft.com/office/drawing/2014/main" val="3102141069"/>
                        </a:ext>
                      </a:extLst>
                    </a:gridCol>
                    <a:gridCol w="407224">
                      <a:extLst>
                        <a:ext uri="{9D8B030D-6E8A-4147-A177-3AD203B41FA5}">
                          <a16:colId xmlns:a16="http://schemas.microsoft.com/office/drawing/2014/main" val="3739752185"/>
                        </a:ext>
                      </a:extLst>
                    </a:gridCol>
                    <a:gridCol w="407223">
                      <a:extLst>
                        <a:ext uri="{9D8B030D-6E8A-4147-A177-3AD203B41FA5}">
                          <a16:colId xmlns:a16="http://schemas.microsoft.com/office/drawing/2014/main" val="4068059700"/>
                        </a:ext>
                      </a:extLst>
                    </a:gridCol>
                    <a:gridCol w="407224">
                      <a:extLst>
                        <a:ext uri="{9D8B030D-6E8A-4147-A177-3AD203B41FA5}">
                          <a16:colId xmlns:a16="http://schemas.microsoft.com/office/drawing/2014/main" val="3547229432"/>
                        </a:ext>
                      </a:extLst>
                    </a:gridCol>
                  </a:tblGrid>
                  <a:tr h="148797">
                    <a:tc rowSpan="3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T:P:F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gridSpan="6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2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𝑪𝒐𝒗𝒆𝒓𝒂𝒈𝒆</m:t>
                                </m:r>
                                <m:r>
                                  <a:rPr lang="en-US" altLang="ko-KR" sz="12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(%)</m:t>
                                </m:r>
                              </m:oMath>
                            </m:oMathPara>
                          </a14:m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13409503"/>
                      </a:ext>
                    </a:extLst>
                  </a:tr>
                  <a:tr h="148797">
                    <a:tc v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서울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dirty="0">
                              <a:solidFill>
                                <a:schemeClr val="bg1"/>
                              </a:solidFill>
                            </a:rPr>
                            <a:t>블라디보스토크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86283936"/>
                      </a:ext>
                    </a:extLst>
                  </a:tr>
                  <a:tr h="148797">
                    <a:tc vMerge="1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40</a:t>
                          </a:r>
                          <a:r>
                            <a:rPr lang="ko-KR" altLang="en-US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40</a:t>
                          </a:r>
                          <a:r>
                            <a:rPr lang="ko-KR" altLang="en-US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85961339"/>
                      </a:ext>
                    </a:extLst>
                  </a:tr>
                  <a:tr h="2592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</a:t>
                          </a:r>
                          <a:r>
                            <a:rPr lang="en-US" altLang="ko-KR" sz="12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:2:0</a:t>
                          </a:r>
                          <a:endParaRPr lang="ko-KR" altLang="en-US" sz="12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98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99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99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90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95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99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29986638"/>
                      </a:ext>
                    </a:extLst>
                  </a:tr>
                  <a:tr h="210066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</a:t>
                          </a:r>
                          <a:r>
                            <a:rPr lang="en-US" altLang="ko-KR" sz="12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:2:1</a:t>
                          </a:r>
                          <a:endParaRPr lang="ko-KR" altLang="en-US" sz="12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97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89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95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99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713531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표 6">
                <a:extLst>
                  <a:ext uri="{FF2B5EF4-FFF2-40B4-BE49-F238E27FC236}">
                    <a16:creationId xmlns:a16="http://schemas.microsoft.com/office/drawing/2014/main" id="{5222E5BF-C148-B633-CCDF-94B018946A0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54566947"/>
                  </p:ext>
                </p:extLst>
              </p:nvPr>
            </p:nvGraphicFramePr>
            <p:xfrm>
              <a:off x="6099134" y="3110670"/>
              <a:ext cx="2985091" cy="1371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11505">
                      <a:extLst>
                        <a:ext uri="{9D8B030D-6E8A-4147-A177-3AD203B41FA5}">
                          <a16:colId xmlns:a16="http://schemas.microsoft.com/office/drawing/2014/main" val="4133197705"/>
                        </a:ext>
                      </a:extLst>
                    </a:gridCol>
                    <a:gridCol w="383972">
                      <a:extLst>
                        <a:ext uri="{9D8B030D-6E8A-4147-A177-3AD203B41FA5}">
                          <a16:colId xmlns:a16="http://schemas.microsoft.com/office/drawing/2014/main" val="1358599067"/>
                        </a:ext>
                      </a:extLst>
                    </a:gridCol>
                    <a:gridCol w="383971">
                      <a:extLst>
                        <a:ext uri="{9D8B030D-6E8A-4147-A177-3AD203B41FA5}">
                          <a16:colId xmlns:a16="http://schemas.microsoft.com/office/drawing/2014/main" val="753851379"/>
                        </a:ext>
                      </a:extLst>
                    </a:gridCol>
                    <a:gridCol w="383972">
                      <a:extLst>
                        <a:ext uri="{9D8B030D-6E8A-4147-A177-3AD203B41FA5}">
                          <a16:colId xmlns:a16="http://schemas.microsoft.com/office/drawing/2014/main" val="3102141069"/>
                        </a:ext>
                      </a:extLst>
                    </a:gridCol>
                    <a:gridCol w="407224">
                      <a:extLst>
                        <a:ext uri="{9D8B030D-6E8A-4147-A177-3AD203B41FA5}">
                          <a16:colId xmlns:a16="http://schemas.microsoft.com/office/drawing/2014/main" val="3739752185"/>
                        </a:ext>
                      </a:extLst>
                    </a:gridCol>
                    <a:gridCol w="407223">
                      <a:extLst>
                        <a:ext uri="{9D8B030D-6E8A-4147-A177-3AD203B41FA5}">
                          <a16:colId xmlns:a16="http://schemas.microsoft.com/office/drawing/2014/main" val="4068059700"/>
                        </a:ext>
                      </a:extLst>
                    </a:gridCol>
                    <a:gridCol w="407224">
                      <a:extLst>
                        <a:ext uri="{9D8B030D-6E8A-4147-A177-3AD203B41FA5}">
                          <a16:colId xmlns:a16="http://schemas.microsoft.com/office/drawing/2014/main" val="3547229432"/>
                        </a:ext>
                      </a:extLst>
                    </a:gridCol>
                  </a:tblGrid>
                  <a:tr h="274320">
                    <a:tc rowSpan="3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T:P:F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gridSpan="6"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6154" t="-2222" r="-513" b="-417778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13409503"/>
                      </a:ext>
                    </a:extLst>
                  </a:tr>
                  <a:tr h="274320">
                    <a:tc v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서울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dirty="0">
                              <a:solidFill>
                                <a:schemeClr val="bg1"/>
                              </a:solidFill>
                            </a:rPr>
                            <a:t>블라디보스토크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86283936"/>
                      </a:ext>
                    </a:extLst>
                  </a:tr>
                  <a:tr h="274320">
                    <a:tc vMerge="1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40</a:t>
                          </a:r>
                          <a:r>
                            <a:rPr lang="ko-KR" altLang="en-US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40</a:t>
                          </a:r>
                          <a:r>
                            <a:rPr lang="ko-KR" altLang="en-US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85961339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</a:t>
                          </a:r>
                          <a:r>
                            <a:rPr lang="en-US" altLang="ko-KR" sz="12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:2:0</a:t>
                          </a:r>
                          <a:endParaRPr lang="ko-KR" altLang="en-US" sz="12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98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99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99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90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95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99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29986638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</a:t>
                          </a:r>
                          <a:r>
                            <a:rPr lang="en-US" altLang="ko-KR" sz="12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:2:1</a:t>
                          </a:r>
                          <a:endParaRPr lang="ko-KR" altLang="en-US" sz="12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97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89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95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99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7135317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표 8">
                <a:extLst>
                  <a:ext uri="{FF2B5EF4-FFF2-40B4-BE49-F238E27FC236}">
                    <a16:creationId xmlns:a16="http://schemas.microsoft.com/office/drawing/2014/main" id="{78D25B31-381D-420E-4122-FBEBE70CB746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9775" y="3110670"/>
              <a:ext cx="2985091" cy="24688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115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38397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83971">
                      <a:extLst>
                        <a:ext uri="{9D8B030D-6E8A-4147-A177-3AD203B41FA5}">
                          <a16:colId xmlns:a16="http://schemas.microsoft.com/office/drawing/2014/main" val="2749405122"/>
                        </a:ext>
                      </a:extLst>
                    </a:gridCol>
                    <a:gridCol w="383972">
                      <a:extLst>
                        <a:ext uri="{9D8B030D-6E8A-4147-A177-3AD203B41FA5}">
                          <a16:colId xmlns:a16="http://schemas.microsoft.com/office/drawing/2014/main" val="4283662456"/>
                        </a:ext>
                      </a:extLst>
                    </a:gridCol>
                    <a:gridCol w="407224">
                      <a:extLst>
                        <a:ext uri="{9D8B030D-6E8A-4147-A177-3AD203B41FA5}">
                          <a16:colId xmlns:a16="http://schemas.microsoft.com/office/drawing/2014/main" val="4270349269"/>
                        </a:ext>
                      </a:extLst>
                    </a:gridCol>
                    <a:gridCol w="407223">
                      <a:extLst>
                        <a:ext uri="{9D8B030D-6E8A-4147-A177-3AD203B41FA5}">
                          <a16:colId xmlns:a16="http://schemas.microsoft.com/office/drawing/2014/main" val="2296791338"/>
                        </a:ext>
                      </a:extLst>
                    </a:gridCol>
                    <a:gridCol w="407224">
                      <a:extLst>
                        <a:ext uri="{9D8B030D-6E8A-4147-A177-3AD203B41FA5}">
                          <a16:colId xmlns:a16="http://schemas.microsoft.com/office/drawing/2014/main" val="219609416"/>
                        </a:ext>
                      </a:extLst>
                    </a:gridCol>
                  </a:tblGrid>
                  <a:tr h="148797">
                    <a:tc rowSpan="3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T:P:F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gridSpan="6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2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𝑪𝒐𝒗𝒆𝒓𝒂𝒈𝒆</m:t>
                                </m:r>
                                <m:r>
                                  <a:rPr lang="en-US" altLang="ko-KR" sz="12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(%)</m:t>
                                </m:r>
                              </m:oMath>
                            </m:oMathPara>
                          </a14:m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21362372"/>
                      </a:ext>
                    </a:extLst>
                  </a:tr>
                  <a:tr h="148797">
                    <a:tc v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서울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dirty="0">
                              <a:solidFill>
                                <a:schemeClr val="bg1"/>
                              </a:solidFill>
                            </a:rPr>
                            <a:t>블라디보스토크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48797">
                    <a:tc vMerge="1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40</a:t>
                          </a:r>
                          <a:r>
                            <a:rPr lang="ko-KR" altLang="en-US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40</a:t>
                          </a:r>
                          <a:r>
                            <a:rPr lang="ko-KR" altLang="en-US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32820654"/>
                      </a:ext>
                    </a:extLst>
                  </a:tr>
                  <a:tr h="2592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18:6:0</a:t>
                          </a:r>
                          <a:endParaRPr lang="ko-KR" altLang="en-US" sz="1200" b="1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2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2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96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2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2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10066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</a:t>
                          </a:r>
                          <a:r>
                            <a:rPr lang="en-US" altLang="ko-KR" sz="12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:6:1</a:t>
                          </a:r>
                          <a:endParaRPr lang="ko-KR" altLang="en-US" sz="12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95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94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92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90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92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92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10066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18:6:2</a:t>
                          </a:r>
                          <a:endParaRPr lang="ko-KR" altLang="en-US" sz="1200" b="1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98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2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95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98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2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10066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</a:t>
                          </a:r>
                          <a:r>
                            <a:rPr lang="en-US" altLang="ko-KR" sz="12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:6:3</a:t>
                          </a:r>
                          <a:endParaRPr lang="ko-KR" altLang="en-US" sz="12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63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70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74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67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73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77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05637608"/>
                      </a:ext>
                    </a:extLst>
                  </a:tr>
                  <a:tr h="210066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18:6:4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51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51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51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46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47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48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833312"/>
                      </a:ext>
                    </a:extLst>
                  </a:tr>
                  <a:tr h="210066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18:6:5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80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81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82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70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73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74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5595619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표 8">
                <a:extLst>
                  <a:ext uri="{FF2B5EF4-FFF2-40B4-BE49-F238E27FC236}">
                    <a16:creationId xmlns:a16="http://schemas.microsoft.com/office/drawing/2014/main" id="{78D25B31-381D-420E-4122-FBEBE70CB74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59960177"/>
                  </p:ext>
                </p:extLst>
              </p:nvPr>
            </p:nvGraphicFramePr>
            <p:xfrm>
              <a:off x="59775" y="3110670"/>
              <a:ext cx="2985091" cy="24688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115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38397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83971">
                      <a:extLst>
                        <a:ext uri="{9D8B030D-6E8A-4147-A177-3AD203B41FA5}">
                          <a16:colId xmlns:a16="http://schemas.microsoft.com/office/drawing/2014/main" val="2749405122"/>
                        </a:ext>
                      </a:extLst>
                    </a:gridCol>
                    <a:gridCol w="383972">
                      <a:extLst>
                        <a:ext uri="{9D8B030D-6E8A-4147-A177-3AD203B41FA5}">
                          <a16:colId xmlns:a16="http://schemas.microsoft.com/office/drawing/2014/main" val="4283662456"/>
                        </a:ext>
                      </a:extLst>
                    </a:gridCol>
                    <a:gridCol w="407224">
                      <a:extLst>
                        <a:ext uri="{9D8B030D-6E8A-4147-A177-3AD203B41FA5}">
                          <a16:colId xmlns:a16="http://schemas.microsoft.com/office/drawing/2014/main" val="4270349269"/>
                        </a:ext>
                      </a:extLst>
                    </a:gridCol>
                    <a:gridCol w="407223">
                      <a:extLst>
                        <a:ext uri="{9D8B030D-6E8A-4147-A177-3AD203B41FA5}">
                          <a16:colId xmlns:a16="http://schemas.microsoft.com/office/drawing/2014/main" val="2296791338"/>
                        </a:ext>
                      </a:extLst>
                    </a:gridCol>
                    <a:gridCol w="407224">
                      <a:extLst>
                        <a:ext uri="{9D8B030D-6E8A-4147-A177-3AD203B41FA5}">
                          <a16:colId xmlns:a16="http://schemas.microsoft.com/office/drawing/2014/main" val="219609416"/>
                        </a:ext>
                      </a:extLst>
                    </a:gridCol>
                  </a:tblGrid>
                  <a:tr h="274320">
                    <a:tc rowSpan="3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T:P:F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gridSpan="6"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6154" t="-2222" r="-513" b="-817778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21362372"/>
                      </a:ext>
                    </a:extLst>
                  </a:tr>
                  <a:tr h="274320">
                    <a:tc v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서울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dirty="0">
                              <a:solidFill>
                                <a:schemeClr val="bg1"/>
                              </a:solidFill>
                            </a:rPr>
                            <a:t>블라디보스토크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74320">
                    <a:tc vMerge="1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40</a:t>
                          </a:r>
                          <a:r>
                            <a:rPr lang="ko-KR" altLang="en-US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40</a:t>
                          </a:r>
                          <a:r>
                            <a:rPr lang="ko-KR" altLang="en-US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32820654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18:6:0</a:t>
                          </a:r>
                          <a:endParaRPr lang="ko-KR" altLang="en-US" sz="1200" b="1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2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2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96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2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2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</a:t>
                          </a:r>
                          <a:r>
                            <a:rPr lang="en-US" altLang="ko-KR" sz="12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:6:1</a:t>
                          </a:r>
                          <a:endParaRPr lang="ko-KR" altLang="en-US" sz="12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95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94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92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90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92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92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18:6:2</a:t>
                          </a:r>
                          <a:endParaRPr lang="ko-KR" altLang="en-US" sz="1200" b="1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98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2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95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98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2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</a:t>
                          </a:r>
                          <a:r>
                            <a:rPr lang="en-US" altLang="ko-KR" sz="12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:6:3</a:t>
                          </a:r>
                          <a:endParaRPr lang="ko-KR" altLang="en-US" sz="12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63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70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74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67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73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77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05637608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18:6:4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51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51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51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46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47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48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833312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18:6:5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80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81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82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70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73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74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55956199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2" name="그룹 1">
            <a:extLst>
              <a:ext uri="{FF2B5EF4-FFF2-40B4-BE49-F238E27FC236}">
                <a16:creationId xmlns:a16="http://schemas.microsoft.com/office/drawing/2014/main" id="{0174A64F-4268-0B63-532E-A843CE733D67}"/>
              </a:ext>
            </a:extLst>
          </p:cNvPr>
          <p:cNvGrpSpPr/>
          <p:nvPr/>
        </p:nvGrpSpPr>
        <p:grpSpPr>
          <a:xfrm>
            <a:off x="0" y="0"/>
            <a:ext cx="9144000" cy="1124607"/>
            <a:chOff x="0" y="0"/>
            <a:chExt cx="9144000" cy="1124607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3F2EE058-3E3D-5CD7-6ACB-B78C570D899F}"/>
                </a:ext>
              </a:extLst>
            </p:cNvPr>
            <p:cNvSpPr/>
            <p:nvPr/>
          </p:nvSpPr>
          <p:spPr bwMode="auto">
            <a:xfrm>
              <a:off x="7589521" y="0"/>
              <a:ext cx="1554479" cy="75876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E273871-3214-4D38-B25E-E301300AC7BD}"/>
                </a:ext>
              </a:extLst>
            </p:cNvPr>
            <p:cNvSpPr/>
            <p:nvPr/>
          </p:nvSpPr>
          <p:spPr bwMode="auto">
            <a:xfrm>
              <a:off x="8259943" y="152400"/>
              <a:ext cx="884057" cy="97220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CBC1E01B-9CF5-A689-CA27-959C6B054677}"/>
                </a:ext>
              </a:extLst>
            </p:cNvPr>
            <p:cNvSpPr/>
            <p:nvPr/>
          </p:nvSpPr>
          <p:spPr bwMode="auto">
            <a:xfrm>
              <a:off x="7589521" y="495406"/>
              <a:ext cx="828769" cy="34832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B16AA567-3868-32D6-6136-CC964C4D802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0" y="0"/>
              <a:ext cx="876300" cy="8286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78490812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AB740E1E-F27C-5BDF-7E8D-9B2AB419788C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20300" y="3197931"/>
              <a:ext cx="3774121" cy="2590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72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  <a:gridCol w="849630">
                      <a:extLst>
                        <a:ext uri="{9D8B030D-6E8A-4147-A177-3AD203B41FA5}">
                          <a16:colId xmlns:a16="http://schemas.microsoft.com/office/drawing/2014/main" val="2703505152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1835507423"/>
                        </a:ext>
                      </a:extLst>
                    </a:gridCol>
                    <a:gridCol w="403542">
                      <a:extLst>
                        <a:ext uri="{9D8B030D-6E8A-4147-A177-3AD203B41FA5}">
                          <a16:colId xmlns:a16="http://schemas.microsoft.com/office/drawing/2014/main" val="1995223873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3291353329"/>
                        </a:ext>
                      </a:extLst>
                    </a:gridCol>
                  </a:tblGrid>
                  <a:tr h="161957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f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en-US" altLang="ko-KR" sz="11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en-US" altLang="ko-KR" sz="11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ko-KR" sz="1100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a</m:t>
                                </m:r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e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 err="1">
                              <a:latin typeface="Times New Roman"/>
                              <a:ea typeface="+mn-ea"/>
                              <a:cs typeface="Times New Roman"/>
                            </a:rPr>
                            <a:t>i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ω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7270.14km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159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1727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AB740E1E-F27C-5BDF-7E8D-9B2AB419788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27155587"/>
                  </p:ext>
                </p:extLst>
              </p:nvPr>
            </p:nvGraphicFramePr>
            <p:xfrm>
              <a:off x="620300" y="3197931"/>
              <a:ext cx="3774121" cy="2590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72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  <a:gridCol w="849630">
                      <a:extLst>
                        <a:ext uri="{9D8B030D-6E8A-4147-A177-3AD203B41FA5}">
                          <a16:colId xmlns:a16="http://schemas.microsoft.com/office/drawing/2014/main" val="2703505152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1835507423"/>
                        </a:ext>
                      </a:extLst>
                    </a:gridCol>
                    <a:gridCol w="403542">
                      <a:extLst>
                        <a:ext uri="{9D8B030D-6E8A-4147-A177-3AD203B41FA5}">
                          <a16:colId xmlns:a16="http://schemas.microsoft.com/office/drawing/2014/main" val="1995223873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3291353329"/>
                        </a:ext>
                      </a:extLst>
                    </a:gridCol>
                  </a:tblGrid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f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000" t="-2326" r="-550602" b="-9069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000" t="-2326" r="-450602" b="-9069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79137" t="-2326" r="-169065" b="-9069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e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 err="1">
                              <a:latin typeface="Times New Roman"/>
                              <a:ea typeface="+mn-ea"/>
                              <a:cs typeface="Times New Roman"/>
                            </a:rPr>
                            <a:t>i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ω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7270.14km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워커</a:t>
            </a:r>
            <a:r>
              <a:rPr lang="en-US" altLang="ko-KR" dirty="0"/>
              <a:t>-</a:t>
            </a:r>
            <a:r>
              <a:rPr lang="ko-KR" altLang="en-US" dirty="0"/>
              <a:t>델타 </a:t>
            </a:r>
            <a:r>
              <a:rPr lang="ko-KR" altLang="en-US" dirty="0" err="1"/>
              <a:t>위성군</a:t>
            </a:r>
            <a:endParaRPr lang="en-US" altLang="ko-KR" dirty="0">
              <a:solidFill>
                <a:srgbClr val="FF0000"/>
              </a:solidFill>
            </a:endParaRPr>
          </a:p>
          <a:p>
            <a:pPr lvl="1">
              <a:defRPr/>
            </a:pPr>
            <a:r>
              <a:rPr lang="en-US" altLang="ko-KR" dirty="0"/>
              <a:t>Target : </a:t>
            </a:r>
            <a:r>
              <a:rPr lang="ko-KR" altLang="en-US" dirty="0"/>
              <a:t>서울</a:t>
            </a:r>
            <a:r>
              <a:rPr lang="en-US" altLang="ko-KR" dirty="0"/>
              <a:t> &amp; </a:t>
            </a:r>
            <a:r>
              <a:rPr lang="ko-KR" altLang="en-US" dirty="0"/>
              <a:t>블라디보스토크 </a:t>
            </a:r>
            <a:r>
              <a:rPr lang="en-US" altLang="ko-KR" dirty="0">
                <a:solidFill>
                  <a:srgbClr val="FF0000"/>
                </a:solidFill>
              </a:rPr>
              <a:t>(T:P:F=18:18:2)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Inc(40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, 45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, 50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) 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→ 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Seoul, Vladivostok</a:t>
            </a:r>
            <a:endParaRPr lang="ko-KR" altLang="en-US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44C6BEAC-F017-11C7-A996-3251772F78D4}"/>
              </a:ext>
            </a:extLst>
          </p:cNvPr>
          <p:cNvGraphicFramePr>
            <a:graphicFrameLocks noGrp="1"/>
          </p:cNvGraphicFramePr>
          <p:nvPr/>
        </p:nvGraphicFramePr>
        <p:xfrm>
          <a:off x="69300" y="1778562"/>
          <a:ext cx="9017144" cy="112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6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81393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98791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  <a:gridCol w="1017351">
                  <a:extLst>
                    <a:ext uri="{9D8B030D-6E8A-4147-A177-3AD203B41FA5}">
                      <a16:colId xmlns:a16="http://schemas.microsoft.com/office/drawing/2014/main" val="14929076"/>
                    </a:ext>
                  </a:extLst>
                </a:gridCol>
              </a:tblGrid>
              <a:tr h="0">
                <a:tc rowSpan="3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 err="1"/>
                        <a:t>AoI</a:t>
                      </a:r>
                      <a:r>
                        <a:rPr lang="en-US" altLang="ko-KR" sz="1400" dirty="0"/>
                        <a:t> &amp; Time </a:t>
                      </a:r>
                    </a:p>
                    <a:p>
                      <a:pPr algn="ctr" latinLnBrk="1">
                        <a:defRPr/>
                      </a:pPr>
                      <a:endParaRPr lang="en-US" altLang="ko-KR" sz="1400" dirty="0"/>
                    </a:p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Epoch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37.6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127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720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24.01.01</a:t>
                      </a:r>
                    </a:p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00:00:00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43.1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131.9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0838414"/>
                  </a:ext>
                </a:extLst>
              </a:tr>
              <a:tr h="22768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7270.14km</a:t>
                      </a:r>
                      <a:r>
                        <a:rPr lang="en-US" altLang="ko-KR" sz="1200" dirty="0"/>
                        <a:t>, 0, 45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128255"/>
                  </a:ext>
                </a:extLst>
              </a:tr>
            </a:tbl>
          </a:graphicData>
        </a:graphic>
      </p:graphicFrame>
      <p:grpSp>
        <p:nvGrpSpPr>
          <p:cNvPr id="27" name="그룹 26">
            <a:extLst>
              <a:ext uri="{FF2B5EF4-FFF2-40B4-BE49-F238E27FC236}">
                <a16:creationId xmlns:a16="http://schemas.microsoft.com/office/drawing/2014/main" id="{5B38C6C2-1147-3394-FE90-FD2AB3183643}"/>
              </a:ext>
            </a:extLst>
          </p:cNvPr>
          <p:cNvGrpSpPr/>
          <p:nvPr/>
        </p:nvGrpSpPr>
        <p:grpSpPr>
          <a:xfrm>
            <a:off x="69300" y="1808252"/>
            <a:ext cx="2579012" cy="722150"/>
            <a:chOff x="100830" y="1808252"/>
            <a:chExt cx="2579012" cy="722150"/>
          </a:xfrm>
        </p:grpSpPr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3E9126ED-5B8D-3999-B929-CC2C558CA33B}"/>
                </a:ext>
              </a:extLst>
            </p:cNvPr>
            <p:cNvCxnSpPr>
              <a:cxnSpLocks/>
            </p:cNvCxnSpPr>
            <p:nvPr/>
          </p:nvCxnSpPr>
          <p:spPr>
            <a:xfrm>
              <a:off x="100830" y="1808252"/>
              <a:ext cx="443700" cy="339047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E1C36C-B309-344F-5EB8-41B564C3574E}"/>
                </a:ext>
              </a:extLst>
            </p:cNvPr>
            <p:cNvCxnSpPr>
              <a:cxnSpLocks/>
            </p:cNvCxnSpPr>
            <p:nvPr/>
          </p:nvCxnSpPr>
          <p:spPr>
            <a:xfrm>
              <a:off x="544530" y="2147299"/>
              <a:ext cx="1691612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C6E87280-80D2-31AE-F945-F30F405CE714}"/>
                </a:ext>
              </a:extLst>
            </p:cNvPr>
            <p:cNvCxnSpPr>
              <a:cxnSpLocks/>
            </p:cNvCxnSpPr>
            <p:nvPr/>
          </p:nvCxnSpPr>
          <p:spPr>
            <a:xfrm>
              <a:off x="2236142" y="2147299"/>
              <a:ext cx="443700" cy="383103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표 9">
                <a:extLst>
                  <a:ext uri="{FF2B5EF4-FFF2-40B4-BE49-F238E27FC236}">
                    <a16:creationId xmlns:a16="http://schemas.microsoft.com/office/drawing/2014/main" id="{77459925-3C1F-6B5C-2CB3-9F45BD68D26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699200" y="3197931"/>
              <a:ext cx="3774121" cy="2590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72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  <a:gridCol w="849630">
                      <a:extLst>
                        <a:ext uri="{9D8B030D-6E8A-4147-A177-3AD203B41FA5}">
                          <a16:colId xmlns:a16="http://schemas.microsoft.com/office/drawing/2014/main" val="2703505152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1835507423"/>
                        </a:ext>
                      </a:extLst>
                    </a:gridCol>
                    <a:gridCol w="403542">
                      <a:extLst>
                        <a:ext uri="{9D8B030D-6E8A-4147-A177-3AD203B41FA5}">
                          <a16:colId xmlns:a16="http://schemas.microsoft.com/office/drawing/2014/main" val="1995223873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3291353329"/>
                        </a:ext>
                      </a:extLst>
                    </a:gridCol>
                  </a:tblGrid>
                  <a:tr h="236385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f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en-US" altLang="ko-KR" sz="11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en-US" altLang="ko-KR" sz="11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ko-KR" sz="1100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a</m:t>
                                </m:r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e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 err="1">
                              <a:latin typeface="Times New Roman"/>
                              <a:ea typeface="+mn-ea"/>
                              <a:cs typeface="Times New Roman"/>
                            </a:rPr>
                            <a:t>i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ω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7270.14km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159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11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12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1727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13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14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15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16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17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표 9">
                <a:extLst>
                  <a:ext uri="{FF2B5EF4-FFF2-40B4-BE49-F238E27FC236}">
                    <a16:creationId xmlns:a16="http://schemas.microsoft.com/office/drawing/2014/main" id="{77459925-3C1F-6B5C-2CB3-9F45BD68D26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65646601"/>
                  </p:ext>
                </p:extLst>
              </p:nvPr>
            </p:nvGraphicFramePr>
            <p:xfrm>
              <a:off x="4699200" y="3197931"/>
              <a:ext cx="3774121" cy="2590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72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  <a:gridCol w="849630">
                      <a:extLst>
                        <a:ext uri="{9D8B030D-6E8A-4147-A177-3AD203B41FA5}">
                          <a16:colId xmlns:a16="http://schemas.microsoft.com/office/drawing/2014/main" val="2703505152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1835507423"/>
                        </a:ext>
                      </a:extLst>
                    </a:gridCol>
                    <a:gridCol w="403542">
                      <a:extLst>
                        <a:ext uri="{9D8B030D-6E8A-4147-A177-3AD203B41FA5}">
                          <a16:colId xmlns:a16="http://schemas.microsoft.com/office/drawing/2014/main" val="1995223873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3291353329"/>
                        </a:ext>
                      </a:extLst>
                    </a:gridCol>
                  </a:tblGrid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f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000" t="-2326" r="-551807" b="-9069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000" t="-2326" r="-451807" b="-9069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79137" t="-2326" r="-169784" b="-9069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e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 err="1">
                              <a:latin typeface="Times New Roman"/>
                              <a:ea typeface="+mn-ea"/>
                              <a:cs typeface="Times New Roman"/>
                            </a:rPr>
                            <a:t>i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ω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7270.14km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11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12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13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14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15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16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17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FEB3AE20-02C2-3554-B6B6-583B94E6F729}"/>
              </a:ext>
            </a:extLst>
          </p:cNvPr>
          <p:cNvSpPr txBox="1"/>
          <p:nvPr/>
        </p:nvSpPr>
        <p:spPr>
          <a:xfrm>
            <a:off x="2409232" y="5956368"/>
            <a:ext cx="34266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ko-KR" altLang="en-US" sz="1400" dirty="0"/>
              <a:t>최종 설계된 궤도요소</a:t>
            </a:r>
            <a:endParaRPr lang="en-US" altLang="ko-KR" sz="1400" dirty="0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94AF9B88-BC0F-742D-D00E-02246742AAA8}"/>
              </a:ext>
            </a:extLst>
          </p:cNvPr>
          <p:cNvGrpSpPr/>
          <p:nvPr/>
        </p:nvGrpSpPr>
        <p:grpSpPr>
          <a:xfrm>
            <a:off x="0" y="0"/>
            <a:ext cx="9144000" cy="1124607"/>
            <a:chOff x="0" y="0"/>
            <a:chExt cx="9144000" cy="1124607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FD1DC54A-9430-42CA-CE1E-55D50AA620ED}"/>
                </a:ext>
              </a:extLst>
            </p:cNvPr>
            <p:cNvSpPr/>
            <p:nvPr/>
          </p:nvSpPr>
          <p:spPr bwMode="auto">
            <a:xfrm>
              <a:off x="7589521" y="0"/>
              <a:ext cx="1554479" cy="75876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4E159BE4-FCA4-1B93-D105-17E05BD91F13}"/>
                </a:ext>
              </a:extLst>
            </p:cNvPr>
            <p:cNvSpPr/>
            <p:nvPr/>
          </p:nvSpPr>
          <p:spPr bwMode="auto">
            <a:xfrm>
              <a:off x="8259943" y="152400"/>
              <a:ext cx="884057" cy="97220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F9D859C4-273C-9B46-66B0-A4A654E9C780}"/>
                </a:ext>
              </a:extLst>
            </p:cNvPr>
            <p:cNvSpPr/>
            <p:nvPr/>
          </p:nvSpPr>
          <p:spPr bwMode="auto">
            <a:xfrm>
              <a:off x="7589521" y="495406"/>
              <a:ext cx="828769" cy="34832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39CB6E79-4A83-80DB-DF0E-DA162D8D56C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0" y="0"/>
              <a:ext cx="876300" cy="8286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2402951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AB740E1E-F27C-5BDF-7E8D-9B2AB419788C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20300" y="3197931"/>
              <a:ext cx="3774121" cy="2590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72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  <a:gridCol w="849630">
                      <a:extLst>
                        <a:ext uri="{9D8B030D-6E8A-4147-A177-3AD203B41FA5}">
                          <a16:colId xmlns:a16="http://schemas.microsoft.com/office/drawing/2014/main" val="2703505152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1835507423"/>
                        </a:ext>
                      </a:extLst>
                    </a:gridCol>
                    <a:gridCol w="403542">
                      <a:extLst>
                        <a:ext uri="{9D8B030D-6E8A-4147-A177-3AD203B41FA5}">
                          <a16:colId xmlns:a16="http://schemas.microsoft.com/office/drawing/2014/main" val="1995223873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3291353329"/>
                        </a:ext>
                      </a:extLst>
                    </a:gridCol>
                  </a:tblGrid>
                  <a:tr h="161957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f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en-US" altLang="ko-KR" sz="11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en-US" altLang="ko-KR" sz="11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ko-KR" sz="1100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a</m:t>
                                </m:r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e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 err="1">
                              <a:latin typeface="Times New Roman"/>
                              <a:ea typeface="+mn-ea"/>
                              <a:cs typeface="Times New Roman"/>
                            </a:rPr>
                            <a:t>i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ω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7270.14km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159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1727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AB740E1E-F27C-5BDF-7E8D-9B2AB419788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0709404"/>
                  </p:ext>
                </p:extLst>
              </p:nvPr>
            </p:nvGraphicFramePr>
            <p:xfrm>
              <a:off x="620300" y="3197931"/>
              <a:ext cx="3774121" cy="2590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72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  <a:gridCol w="849630">
                      <a:extLst>
                        <a:ext uri="{9D8B030D-6E8A-4147-A177-3AD203B41FA5}">
                          <a16:colId xmlns:a16="http://schemas.microsoft.com/office/drawing/2014/main" val="2703505152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1835507423"/>
                        </a:ext>
                      </a:extLst>
                    </a:gridCol>
                    <a:gridCol w="403542">
                      <a:extLst>
                        <a:ext uri="{9D8B030D-6E8A-4147-A177-3AD203B41FA5}">
                          <a16:colId xmlns:a16="http://schemas.microsoft.com/office/drawing/2014/main" val="1995223873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3291353329"/>
                        </a:ext>
                      </a:extLst>
                    </a:gridCol>
                  </a:tblGrid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f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000" t="-2326" r="-550602" b="-9069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000" t="-2326" r="-450602" b="-9069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79137" t="-2326" r="-169065" b="-9069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e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 err="1">
                              <a:latin typeface="Times New Roman"/>
                              <a:ea typeface="+mn-ea"/>
                              <a:cs typeface="Times New Roman"/>
                            </a:rPr>
                            <a:t>i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ω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7270.14km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워커</a:t>
            </a:r>
            <a:r>
              <a:rPr lang="en-US" altLang="ko-KR" dirty="0"/>
              <a:t>-</a:t>
            </a:r>
            <a:r>
              <a:rPr lang="ko-KR" altLang="en-US" dirty="0"/>
              <a:t>델타 </a:t>
            </a:r>
            <a:r>
              <a:rPr lang="ko-KR" altLang="en-US" dirty="0" err="1"/>
              <a:t>위성군</a:t>
            </a:r>
            <a:endParaRPr lang="en-US" altLang="ko-KR" dirty="0">
              <a:solidFill>
                <a:srgbClr val="FF0000"/>
              </a:solidFill>
            </a:endParaRPr>
          </a:p>
          <a:p>
            <a:pPr lvl="1">
              <a:defRPr/>
            </a:pPr>
            <a:r>
              <a:rPr lang="en-US" altLang="ko-KR" dirty="0"/>
              <a:t>Target : </a:t>
            </a:r>
            <a:r>
              <a:rPr lang="ko-KR" altLang="en-US" dirty="0"/>
              <a:t>서울</a:t>
            </a:r>
            <a:r>
              <a:rPr lang="en-US" altLang="ko-KR" dirty="0"/>
              <a:t> &amp; </a:t>
            </a:r>
            <a:r>
              <a:rPr lang="ko-KR" altLang="en-US" dirty="0"/>
              <a:t>블라디보스토크 </a:t>
            </a:r>
            <a:r>
              <a:rPr lang="en-US" altLang="ko-KR" dirty="0">
                <a:solidFill>
                  <a:srgbClr val="FF0000"/>
                </a:solidFill>
              </a:rPr>
              <a:t>(T:P:F=18:18:6)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Inc(40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, 45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, 50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) 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→ 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Seoul, Vladivostok</a:t>
            </a:r>
            <a:endParaRPr lang="ko-KR" altLang="en-US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44C6BEAC-F017-11C7-A996-3251772F78D4}"/>
              </a:ext>
            </a:extLst>
          </p:cNvPr>
          <p:cNvGraphicFramePr>
            <a:graphicFrameLocks noGrp="1"/>
          </p:cNvGraphicFramePr>
          <p:nvPr/>
        </p:nvGraphicFramePr>
        <p:xfrm>
          <a:off x="69300" y="1778562"/>
          <a:ext cx="9017144" cy="112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6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81393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98791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  <a:gridCol w="1017351">
                  <a:extLst>
                    <a:ext uri="{9D8B030D-6E8A-4147-A177-3AD203B41FA5}">
                      <a16:colId xmlns:a16="http://schemas.microsoft.com/office/drawing/2014/main" val="14929076"/>
                    </a:ext>
                  </a:extLst>
                </a:gridCol>
              </a:tblGrid>
              <a:tr h="0">
                <a:tc rowSpan="3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 err="1"/>
                        <a:t>AoI</a:t>
                      </a:r>
                      <a:r>
                        <a:rPr lang="en-US" altLang="ko-KR" sz="1400" dirty="0"/>
                        <a:t> &amp; Time </a:t>
                      </a:r>
                    </a:p>
                    <a:p>
                      <a:pPr algn="ctr" latinLnBrk="1">
                        <a:defRPr/>
                      </a:pPr>
                      <a:endParaRPr lang="en-US" altLang="ko-KR" sz="1400" dirty="0"/>
                    </a:p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Epoch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37.6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127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720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24.01.01</a:t>
                      </a:r>
                    </a:p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00:00:00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43.1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131.9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0838414"/>
                  </a:ext>
                </a:extLst>
              </a:tr>
              <a:tr h="22768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7270.14km</a:t>
                      </a:r>
                      <a:r>
                        <a:rPr lang="en-US" altLang="ko-KR" sz="1200" dirty="0"/>
                        <a:t>, 0, 50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128255"/>
                  </a:ext>
                </a:extLst>
              </a:tr>
            </a:tbl>
          </a:graphicData>
        </a:graphic>
      </p:graphicFrame>
      <p:grpSp>
        <p:nvGrpSpPr>
          <p:cNvPr id="27" name="그룹 26">
            <a:extLst>
              <a:ext uri="{FF2B5EF4-FFF2-40B4-BE49-F238E27FC236}">
                <a16:creationId xmlns:a16="http://schemas.microsoft.com/office/drawing/2014/main" id="{5B38C6C2-1147-3394-FE90-FD2AB3183643}"/>
              </a:ext>
            </a:extLst>
          </p:cNvPr>
          <p:cNvGrpSpPr/>
          <p:nvPr/>
        </p:nvGrpSpPr>
        <p:grpSpPr>
          <a:xfrm>
            <a:off x="69300" y="1808252"/>
            <a:ext cx="2579012" cy="722150"/>
            <a:chOff x="100830" y="1808252"/>
            <a:chExt cx="2579012" cy="722150"/>
          </a:xfrm>
        </p:grpSpPr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3E9126ED-5B8D-3999-B929-CC2C558CA33B}"/>
                </a:ext>
              </a:extLst>
            </p:cNvPr>
            <p:cNvCxnSpPr>
              <a:cxnSpLocks/>
            </p:cNvCxnSpPr>
            <p:nvPr/>
          </p:nvCxnSpPr>
          <p:spPr>
            <a:xfrm>
              <a:off x="100830" y="1808252"/>
              <a:ext cx="443700" cy="339047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E1C36C-B309-344F-5EB8-41B564C3574E}"/>
                </a:ext>
              </a:extLst>
            </p:cNvPr>
            <p:cNvCxnSpPr>
              <a:cxnSpLocks/>
            </p:cNvCxnSpPr>
            <p:nvPr/>
          </p:nvCxnSpPr>
          <p:spPr>
            <a:xfrm>
              <a:off x="544530" y="2147299"/>
              <a:ext cx="1691612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C6E87280-80D2-31AE-F945-F30F405CE714}"/>
                </a:ext>
              </a:extLst>
            </p:cNvPr>
            <p:cNvCxnSpPr>
              <a:cxnSpLocks/>
            </p:cNvCxnSpPr>
            <p:nvPr/>
          </p:nvCxnSpPr>
          <p:spPr>
            <a:xfrm>
              <a:off x="2236142" y="2147299"/>
              <a:ext cx="443700" cy="383103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표 9">
                <a:extLst>
                  <a:ext uri="{FF2B5EF4-FFF2-40B4-BE49-F238E27FC236}">
                    <a16:creationId xmlns:a16="http://schemas.microsoft.com/office/drawing/2014/main" id="{77459925-3C1F-6B5C-2CB3-9F45BD68D26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699200" y="3197931"/>
              <a:ext cx="3774121" cy="2590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72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  <a:gridCol w="849630">
                      <a:extLst>
                        <a:ext uri="{9D8B030D-6E8A-4147-A177-3AD203B41FA5}">
                          <a16:colId xmlns:a16="http://schemas.microsoft.com/office/drawing/2014/main" val="2703505152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1835507423"/>
                        </a:ext>
                      </a:extLst>
                    </a:gridCol>
                    <a:gridCol w="403542">
                      <a:extLst>
                        <a:ext uri="{9D8B030D-6E8A-4147-A177-3AD203B41FA5}">
                          <a16:colId xmlns:a16="http://schemas.microsoft.com/office/drawing/2014/main" val="1995223873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3291353329"/>
                        </a:ext>
                      </a:extLst>
                    </a:gridCol>
                  </a:tblGrid>
                  <a:tr h="236385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f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en-US" altLang="ko-KR" sz="11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en-US" altLang="ko-KR" sz="11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ko-KR" sz="1100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a</m:t>
                                </m:r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e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 err="1">
                              <a:latin typeface="Times New Roman"/>
                              <a:ea typeface="+mn-ea"/>
                              <a:cs typeface="Times New Roman"/>
                            </a:rPr>
                            <a:t>i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ω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7270.14km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159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11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12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1727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13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14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15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16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17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표 9">
                <a:extLst>
                  <a:ext uri="{FF2B5EF4-FFF2-40B4-BE49-F238E27FC236}">
                    <a16:creationId xmlns:a16="http://schemas.microsoft.com/office/drawing/2014/main" id="{77459925-3C1F-6B5C-2CB3-9F45BD68D26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92952695"/>
                  </p:ext>
                </p:extLst>
              </p:nvPr>
            </p:nvGraphicFramePr>
            <p:xfrm>
              <a:off x="4699200" y="3197931"/>
              <a:ext cx="3774121" cy="2590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72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  <a:gridCol w="849630">
                      <a:extLst>
                        <a:ext uri="{9D8B030D-6E8A-4147-A177-3AD203B41FA5}">
                          <a16:colId xmlns:a16="http://schemas.microsoft.com/office/drawing/2014/main" val="2703505152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1835507423"/>
                        </a:ext>
                      </a:extLst>
                    </a:gridCol>
                    <a:gridCol w="403542">
                      <a:extLst>
                        <a:ext uri="{9D8B030D-6E8A-4147-A177-3AD203B41FA5}">
                          <a16:colId xmlns:a16="http://schemas.microsoft.com/office/drawing/2014/main" val="1995223873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3291353329"/>
                        </a:ext>
                      </a:extLst>
                    </a:gridCol>
                  </a:tblGrid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f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000" t="-2326" r="-551807" b="-9069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000" t="-2326" r="-451807" b="-9069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79137" t="-2326" r="-169784" b="-9069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e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 err="1">
                              <a:latin typeface="Times New Roman"/>
                              <a:ea typeface="+mn-ea"/>
                              <a:cs typeface="Times New Roman"/>
                            </a:rPr>
                            <a:t>i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ω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7270.14km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11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12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13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14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15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16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17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CF6FC1F6-1F27-DB66-A6AB-B7B2AA43DF83}"/>
              </a:ext>
            </a:extLst>
          </p:cNvPr>
          <p:cNvSpPr txBox="1"/>
          <p:nvPr/>
        </p:nvSpPr>
        <p:spPr>
          <a:xfrm>
            <a:off x="2409232" y="5956368"/>
            <a:ext cx="34266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ko-KR" altLang="en-US" sz="1400" dirty="0"/>
              <a:t>최종 설계된 궤도요소</a:t>
            </a:r>
            <a:endParaRPr lang="en-US" altLang="ko-KR" sz="1400" dirty="0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07370C4-CA7F-33D9-A29F-5594F067EC96}"/>
              </a:ext>
            </a:extLst>
          </p:cNvPr>
          <p:cNvGrpSpPr/>
          <p:nvPr/>
        </p:nvGrpSpPr>
        <p:grpSpPr>
          <a:xfrm>
            <a:off x="0" y="0"/>
            <a:ext cx="9144000" cy="1124607"/>
            <a:chOff x="0" y="0"/>
            <a:chExt cx="9144000" cy="1124607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D3C21501-09B4-0265-545C-8F898891B29C}"/>
                </a:ext>
              </a:extLst>
            </p:cNvPr>
            <p:cNvSpPr/>
            <p:nvPr/>
          </p:nvSpPr>
          <p:spPr bwMode="auto">
            <a:xfrm>
              <a:off x="7589521" y="0"/>
              <a:ext cx="1554479" cy="75876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9739D88F-1929-307F-1231-405F89759698}"/>
                </a:ext>
              </a:extLst>
            </p:cNvPr>
            <p:cNvSpPr/>
            <p:nvPr/>
          </p:nvSpPr>
          <p:spPr bwMode="auto">
            <a:xfrm>
              <a:off x="8259943" y="152400"/>
              <a:ext cx="884057" cy="97220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A82FBF0F-3CC7-E848-AAA0-79CD2DA2B77B}"/>
                </a:ext>
              </a:extLst>
            </p:cNvPr>
            <p:cNvSpPr/>
            <p:nvPr/>
          </p:nvSpPr>
          <p:spPr bwMode="auto">
            <a:xfrm>
              <a:off x="7589521" y="495406"/>
              <a:ext cx="828769" cy="34832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DEB36C19-220C-0072-089A-A213D7CA936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0" y="0"/>
              <a:ext cx="876300" cy="8286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27555085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AB740E1E-F27C-5BDF-7E8D-9B2AB419788C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20300" y="3197931"/>
              <a:ext cx="3774121" cy="2590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72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  <a:gridCol w="849630">
                      <a:extLst>
                        <a:ext uri="{9D8B030D-6E8A-4147-A177-3AD203B41FA5}">
                          <a16:colId xmlns:a16="http://schemas.microsoft.com/office/drawing/2014/main" val="2703505152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1835507423"/>
                        </a:ext>
                      </a:extLst>
                    </a:gridCol>
                    <a:gridCol w="403542">
                      <a:extLst>
                        <a:ext uri="{9D8B030D-6E8A-4147-A177-3AD203B41FA5}">
                          <a16:colId xmlns:a16="http://schemas.microsoft.com/office/drawing/2014/main" val="1995223873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3291353329"/>
                        </a:ext>
                      </a:extLst>
                    </a:gridCol>
                  </a:tblGrid>
                  <a:tr h="161957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f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en-US" altLang="ko-KR" sz="11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en-US" altLang="ko-KR" sz="11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ko-KR" sz="1100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a</m:t>
                                </m:r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e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 err="1">
                              <a:latin typeface="Times New Roman"/>
                              <a:ea typeface="+mn-ea"/>
                              <a:cs typeface="Times New Roman"/>
                            </a:rPr>
                            <a:t>i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ω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7270.14km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ko-KR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159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1727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AB740E1E-F27C-5BDF-7E8D-9B2AB419788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04608227"/>
                  </p:ext>
                </p:extLst>
              </p:nvPr>
            </p:nvGraphicFramePr>
            <p:xfrm>
              <a:off x="620300" y="3197931"/>
              <a:ext cx="3774121" cy="2590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72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  <a:gridCol w="849630">
                      <a:extLst>
                        <a:ext uri="{9D8B030D-6E8A-4147-A177-3AD203B41FA5}">
                          <a16:colId xmlns:a16="http://schemas.microsoft.com/office/drawing/2014/main" val="2703505152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1835507423"/>
                        </a:ext>
                      </a:extLst>
                    </a:gridCol>
                    <a:gridCol w="403542">
                      <a:extLst>
                        <a:ext uri="{9D8B030D-6E8A-4147-A177-3AD203B41FA5}">
                          <a16:colId xmlns:a16="http://schemas.microsoft.com/office/drawing/2014/main" val="1995223873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3291353329"/>
                        </a:ext>
                      </a:extLst>
                    </a:gridCol>
                  </a:tblGrid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f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000" t="-2326" r="-550602" b="-9069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000" t="-2326" r="-450602" b="-9069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79137" t="-2326" r="-169065" b="-9069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e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 err="1">
                              <a:latin typeface="Times New Roman"/>
                              <a:ea typeface="+mn-ea"/>
                              <a:cs typeface="Times New Roman"/>
                            </a:rPr>
                            <a:t>i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ω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7270.14km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ko-KR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워커</a:t>
            </a:r>
            <a:r>
              <a:rPr lang="en-US" altLang="ko-KR" dirty="0"/>
              <a:t>-</a:t>
            </a:r>
            <a:r>
              <a:rPr lang="ko-KR" altLang="en-US" dirty="0"/>
              <a:t>델타 </a:t>
            </a:r>
            <a:r>
              <a:rPr lang="ko-KR" altLang="en-US" dirty="0" err="1"/>
              <a:t>위성군</a:t>
            </a:r>
            <a:endParaRPr lang="en-US" altLang="ko-KR" dirty="0">
              <a:solidFill>
                <a:srgbClr val="FF0000"/>
              </a:solidFill>
            </a:endParaRPr>
          </a:p>
          <a:p>
            <a:pPr lvl="1">
              <a:defRPr/>
            </a:pPr>
            <a:r>
              <a:rPr lang="en-US" altLang="ko-KR" dirty="0"/>
              <a:t>Target : </a:t>
            </a:r>
            <a:r>
              <a:rPr lang="ko-KR" altLang="en-US" dirty="0"/>
              <a:t>서울</a:t>
            </a:r>
            <a:r>
              <a:rPr lang="en-US" altLang="ko-KR" dirty="0"/>
              <a:t> &amp; </a:t>
            </a:r>
            <a:r>
              <a:rPr lang="ko-KR" altLang="en-US" dirty="0"/>
              <a:t>블라디보스토크 </a:t>
            </a:r>
            <a:r>
              <a:rPr lang="en-US" altLang="ko-KR" dirty="0">
                <a:solidFill>
                  <a:srgbClr val="FF0000"/>
                </a:solidFill>
              </a:rPr>
              <a:t>(T:P:F=18:18:7)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Inc(40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, 45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, 50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) 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→ 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Seoul, Vladivostok</a:t>
            </a:r>
            <a:endParaRPr lang="ko-KR" altLang="en-US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44C6BEAC-F017-11C7-A996-3251772F78D4}"/>
              </a:ext>
            </a:extLst>
          </p:cNvPr>
          <p:cNvGraphicFramePr>
            <a:graphicFrameLocks noGrp="1"/>
          </p:cNvGraphicFramePr>
          <p:nvPr/>
        </p:nvGraphicFramePr>
        <p:xfrm>
          <a:off x="69300" y="1778562"/>
          <a:ext cx="9017144" cy="112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6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81393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98791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  <a:gridCol w="1017351">
                  <a:extLst>
                    <a:ext uri="{9D8B030D-6E8A-4147-A177-3AD203B41FA5}">
                      <a16:colId xmlns:a16="http://schemas.microsoft.com/office/drawing/2014/main" val="14929076"/>
                    </a:ext>
                  </a:extLst>
                </a:gridCol>
              </a:tblGrid>
              <a:tr h="0">
                <a:tc rowSpan="3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 err="1"/>
                        <a:t>AoI</a:t>
                      </a:r>
                      <a:r>
                        <a:rPr lang="en-US" altLang="ko-KR" sz="1400" dirty="0"/>
                        <a:t> &amp; Time </a:t>
                      </a:r>
                    </a:p>
                    <a:p>
                      <a:pPr algn="ctr" latinLnBrk="1">
                        <a:defRPr/>
                      </a:pPr>
                      <a:endParaRPr lang="en-US" altLang="ko-KR" sz="1400" dirty="0"/>
                    </a:p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Epoch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37.6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127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720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24.01.01</a:t>
                      </a:r>
                    </a:p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00:00:00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43.1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131.9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0838414"/>
                  </a:ext>
                </a:extLst>
              </a:tr>
              <a:tr h="22768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7270.14km</a:t>
                      </a:r>
                      <a:r>
                        <a:rPr lang="en-US" altLang="ko-KR" sz="1200" dirty="0"/>
                        <a:t>, 0, 45~50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128255"/>
                  </a:ext>
                </a:extLst>
              </a:tr>
            </a:tbl>
          </a:graphicData>
        </a:graphic>
      </p:graphicFrame>
      <p:grpSp>
        <p:nvGrpSpPr>
          <p:cNvPr id="27" name="그룹 26">
            <a:extLst>
              <a:ext uri="{FF2B5EF4-FFF2-40B4-BE49-F238E27FC236}">
                <a16:creationId xmlns:a16="http://schemas.microsoft.com/office/drawing/2014/main" id="{5B38C6C2-1147-3394-FE90-FD2AB3183643}"/>
              </a:ext>
            </a:extLst>
          </p:cNvPr>
          <p:cNvGrpSpPr/>
          <p:nvPr/>
        </p:nvGrpSpPr>
        <p:grpSpPr>
          <a:xfrm>
            <a:off x="69300" y="1808252"/>
            <a:ext cx="2579012" cy="722150"/>
            <a:chOff x="100830" y="1808252"/>
            <a:chExt cx="2579012" cy="722150"/>
          </a:xfrm>
        </p:grpSpPr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3E9126ED-5B8D-3999-B929-CC2C558CA33B}"/>
                </a:ext>
              </a:extLst>
            </p:cNvPr>
            <p:cNvCxnSpPr>
              <a:cxnSpLocks/>
            </p:cNvCxnSpPr>
            <p:nvPr/>
          </p:nvCxnSpPr>
          <p:spPr>
            <a:xfrm>
              <a:off x="100830" y="1808252"/>
              <a:ext cx="443700" cy="339047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E1C36C-B309-344F-5EB8-41B564C3574E}"/>
                </a:ext>
              </a:extLst>
            </p:cNvPr>
            <p:cNvCxnSpPr>
              <a:cxnSpLocks/>
            </p:cNvCxnSpPr>
            <p:nvPr/>
          </p:nvCxnSpPr>
          <p:spPr>
            <a:xfrm>
              <a:off x="544530" y="2147299"/>
              <a:ext cx="1691612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C6E87280-80D2-31AE-F945-F30F405CE714}"/>
                </a:ext>
              </a:extLst>
            </p:cNvPr>
            <p:cNvCxnSpPr>
              <a:cxnSpLocks/>
            </p:cNvCxnSpPr>
            <p:nvPr/>
          </p:nvCxnSpPr>
          <p:spPr>
            <a:xfrm>
              <a:off x="2236142" y="2147299"/>
              <a:ext cx="443700" cy="383103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표 9">
                <a:extLst>
                  <a:ext uri="{FF2B5EF4-FFF2-40B4-BE49-F238E27FC236}">
                    <a16:creationId xmlns:a16="http://schemas.microsoft.com/office/drawing/2014/main" id="{77459925-3C1F-6B5C-2CB3-9F45BD68D26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699200" y="3197931"/>
              <a:ext cx="3774121" cy="2590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72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  <a:gridCol w="849630">
                      <a:extLst>
                        <a:ext uri="{9D8B030D-6E8A-4147-A177-3AD203B41FA5}">
                          <a16:colId xmlns:a16="http://schemas.microsoft.com/office/drawing/2014/main" val="2703505152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1835507423"/>
                        </a:ext>
                      </a:extLst>
                    </a:gridCol>
                    <a:gridCol w="403542">
                      <a:extLst>
                        <a:ext uri="{9D8B030D-6E8A-4147-A177-3AD203B41FA5}">
                          <a16:colId xmlns:a16="http://schemas.microsoft.com/office/drawing/2014/main" val="1995223873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3291353329"/>
                        </a:ext>
                      </a:extLst>
                    </a:gridCol>
                  </a:tblGrid>
                  <a:tr h="236385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f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en-US" altLang="ko-KR" sz="11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en-US" altLang="ko-KR" sz="11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ko-KR" sz="1100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a</m:t>
                                </m:r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e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 err="1">
                              <a:latin typeface="Times New Roman"/>
                              <a:ea typeface="+mn-ea"/>
                              <a:cs typeface="Times New Roman"/>
                            </a:rPr>
                            <a:t>i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ω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7270.14km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ko-KR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159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11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12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1727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13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14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15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16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17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표 9">
                <a:extLst>
                  <a:ext uri="{FF2B5EF4-FFF2-40B4-BE49-F238E27FC236}">
                    <a16:creationId xmlns:a16="http://schemas.microsoft.com/office/drawing/2014/main" id="{77459925-3C1F-6B5C-2CB3-9F45BD68D26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99527316"/>
                  </p:ext>
                </p:extLst>
              </p:nvPr>
            </p:nvGraphicFramePr>
            <p:xfrm>
              <a:off x="4699200" y="3197931"/>
              <a:ext cx="3774121" cy="2590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72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  <a:gridCol w="849630">
                      <a:extLst>
                        <a:ext uri="{9D8B030D-6E8A-4147-A177-3AD203B41FA5}">
                          <a16:colId xmlns:a16="http://schemas.microsoft.com/office/drawing/2014/main" val="2703505152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1835507423"/>
                        </a:ext>
                      </a:extLst>
                    </a:gridCol>
                    <a:gridCol w="403542">
                      <a:extLst>
                        <a:ext uri="{9D8B030D-6E8A-4147-A177-3AD203B41FA5}">
                          <a16:colId xmlns:a16="http://schemas.microsoft.com/office/drawing/2014/main" val="1995223873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3291353329"/>
                        </a:ext>
                      </a:extLst>
                    </a:gridCol>
                  </a:tblGrid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f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000" t="-2326" r="-551807" b="-9069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000" t="-2326" r="-451807" b="-9069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79137" t="-2326" r="-169784" b="-9069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e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 err="1">
                              <a:latin typeface="Times New Roman"/>
                              <a:ea typeface="+mn-ea"/>
                              <a:cs typeface="Times New Roman"/>
                            </a:rPr>
                            <a:t>i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ω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7270.14km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ko-KR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11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12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13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14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15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16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17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54BDB3AD-3647-0417-A9A9-F2544A003A81}"/>
              </a:ext>
            </a:extLst>
          </p:cNvPr>
          <p:cNvSpPr txBox="1"/>
          <p:nvPr/>
        </p:nvSpPr>
        <p:spPr>
          <a:xfrm>
            <a:off x="2409232" y="5956368"/>
            <a:ext cx="34266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ko-KR" altLang="en-US" sz="1400" dirty="0"/>
              <a:t>최종 설계된 궤도요소</a:t>
            </a:r>
            <a:endParaRPr lang="en-US" altLang="ko-KR" sz="1400" dirty="0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120CC1F3-C107-0CDF-D29D-4CB4BBD354B6}"/>
              </a:ext>
            </a:extLst>
          </p:cNvPr>
          <p:cNvGrpSpPr/>
          <p:nvPr/>
        </p:nvGrpSpPr>
        <p:grpSpPr>
          <a:xfrm>
            <a:off x="0" y="0"/>
            <a:ext cx="9144000" cy="1124607"/>
            <a:chOff x="0" y="0"/>
            <a:chExt cx="9144000" cy="1124607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721EFECD-BDF2-5507-007A-F53485FF4CFD}"/>
                </a:ext>
              </a:extLst>
            </p:cNvPr>
            <p:cNvSpPr/>
            <p:nvPr/>
          </p:nvSpPr>
          <p:spPr bwMode="auto">
            <a:xfrm>
              <a:off x="7589521" y="0"/>
              <a:ext cx="1554479" cy="75876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CD3E14A5-144A-1E08-2F4A-9A7BDC49414F}"/>
                </a:ext>
              </a:extLst>
            </p:cNvPr>
            <p:cNvSpPr/>
            <p:nvPr/>
          </p:nvSpPr>
          <p:spPr bwMode="auto">
            <a:xfrm>
              <a:off x="8259943" y="152400"/>
              <a:ext cx="884057" cy="97220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5EFC790A-4CA7-70AA-0163-055B13BC77A1}"/>
                </a:ext>
              </a:extLst>
            </p:cNvPr>
            <p:cNvSpPr/>
            <p:nvPr/>
          </p:nvSpPr>
          <p:spPr bwMode="auto">
            <a:xfrm>
              <a:off x="7589521" y="495406"/>
              <a:ext cx="828769" cy="34832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7A5550FB-8E3B-739A-9B45-86C9BBDCC1C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0" y="0"/>
              <a:ext cx="876300" cy="8286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68992116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AB740E1E-F27C-5BDF-7E8D-9B2AB419788C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20300" y="3197931"/>
              <a:ext cx="3774121" cy="2590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72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  <a:gridCol w="849630">
                      <a:extLst>
                        <a:ext uri="{9D8B030D-6E8A-4147-A177-3AD203B41FA5}">
                          <a16:colId xmlns:a16="http://schemas.microsoft.com/office/drawing/2014/main" val="2703505152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1835507423"/>
                        </a:ext>
                      </a:extLst>
                    </a:gridCol>
                    <a:gridCol w="403542">
                      <a:extLst>
                        <a:ext uri="{9D8B030D-6E8A-4147-A177-3AD203B41FA5}">
                          <a16:colId xmlns:a16="http://schemas.microsoft.com/office/drawing/2014/main" val="1995223873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3291353329"/>
                        </a:ext>
                      </a:extLst>
                    </a:gridCol>
                  </a:tblGrid>
                  <a:tr h="161957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f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en-US" altLang="ko-KR" sz="11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en-US" altLang="ko-KR" sz="11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ko-KR" sz="1100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a</m:t>
                                </m:r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e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 err="1">
                              <a:latin typeface="Times New Roman"/>
                              <a:ea typeface="+mn-ea"/>
                              <a:cs typeface="Times New Roman"/>
                            </a:rPr>
                            <a:t>i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ω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7270.14km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ko-KR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159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1727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AB740E1E-F27C-5BDF-7E8D-9B2AB419788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41091221"/>
                  </p:ext>
                </p:extLst>
              </p:nvPr>
            </p:nvGraphicFramePr>
            <p:xfrm>
              <a:off x="620300" y="3197931"/>
              <a:ext cx="3774121" cy="2590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72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  <a:gridCol w="849630">
                      <a:extLst>
                        <a:ext uri="{9D8B030D-6E8A-4147-A177-3AD203B41FA5}">
                          <a16:colId xmlns:a16="http://schemas.microsoft.com/office/drawing/2014/main" val="2703505152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1835507423"/>
                        </a:ext>
                      </a:extLst>
                    </a:gridCol>
                    <a:gridCol w="403542">
                      <a:extLst>
                        <a:ext uri="{9D8B030D-6E8A-4147-A177-3AD203B41FA5}">
                          <a16:colId xmlns:a16="http://schemas.microsoft.com/office/drawing/2014/main" val="1995223873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3291353329"/>
                        </a:ext>
                      </a:extLst>
                    </a:gridCol>
                  </a:tblGrid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f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000" t="-2326" r="-550602" b="-9069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000" t="-2326" r="-450602" b="-9069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79137" t="-2326" r="-169065" b="-9069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e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 err="1">
                              <a:latin typeface="Times New Roman"/>
                              <a:ea typeface="+mn-ea"/>
                              <a:cs typeface="Times New Roman"/>
                            </a:rPr>
                            <a:t>i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ω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7270.14km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ko-KR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워커</a:t>
            </a:r>
            <a:r>
              <a:rPr lang="en-US" altLang="ko-KR" dirty="0"/>
              <a:t>-</a:t>
            </a:r>
            <a:r>
              <a:rPr lang="ko-KR" altLang="en-US" dirty="0"/>
              <a:t>델타 </a:t>
            </a:r>
            <a:r>
              <a:rPr lang="ko-KR" altLang="en-US" dirty="0" err="1"/>
              <a:t>위성군</a:t>
            </a:r>
            <a:endParaRPr lang="en-US" altLang="ko-KR" dirty="0">
              <a:solidFill>
                <a:srgbClr val="FF0000"/>
              </a:solidFill>
            </a:endParaRPr>
          </a:p>
          <a:p>
            <a:pPr lvl="1">
              <a:defRPr/>
            </a:pPr>
            <a:r>
              <a:rPr lang="en-US" altLang="ko-KR" dirty="0"/>
              <a:t>Target : </a:t>
            </a:r>
            <a:r>
              <a:rPr lang="ko-KR" altLang="en-US" dirty="0"/>
              <a:t>서울</a:t>
            </a:r>
            <a:r>
              <a:rPr lang="en-US" altLang="ko-KR" dirty="0"/>
              <a:t> &amp; </a:t>
            </a:r>
            <a:r>
              <a:rPr lang="ko-KR" altLang="en-US" dirty="0"/>
              <a:t>블라디보스토크 </a:t>
            </a:r>
            <a:r>
              <a:rPr lang="en-US" altLang="ko-KR" dirty="0">
                <a:solidFill>
                  <a:srgbClr val="FF0000"/>
                </a:solidFill>
              </a:rPr>
              <a:t>(T:P:F=18:18:15)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Inc(40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, 45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, 50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) 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→ 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Seoul, Vladivostok</a:t>
            </a:r>
            <a:endParaRPr lang="ko-KR" altLang="en-US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44C6BEAC-F017-11C7-A996-3251772F78D4}"/>
              </a:ext>
            </a:extLst>
          </p:cNvPr>
          <p:cNvGraphicFramePr>
            <a:graphicFrameLocks noGrp="1"/>
          </p:cNvGraphicFramePr>
          <p:nvPr/>
        </p:nvGraphicFramePr>
        <p:xfrm>
          <a:off x="69300" y="1778562"/>
          <a:ext cx="9017144" cy="112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6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81393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98791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  <a:gridCol w="1017351">
                  <a:extLst>
                    <a:ext uri="{9D8B030D-6E8A-4147-A177-3AD203B41FA5}">
                      <a16:colId xmlns:a16="http://schemas.microsoft.com/office/drawing/2014/main" val="14929076"/>
                    </a:ext>
                  </a:extLst>
                </a:gridCol>
              </a:tblGrid>
              <a:tr h="0">
                <a:tc rowSpan="3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 err="1"/>
                        <a:t>AoI</a:t>
                      </a:r>
                      <a:r>
                        <a:rPr lang="en-US" altLang="ko-KR" sz="1400" dirty="0"/>
                        <a:t> &amp; Time </a:t>
                      </a:r>
                    </a:p>
                    <a:p>
                      <a:pPr algn="ctr" latinLnBrk="1">
                        <a:defRPr/>
                      </a:pPr>
                      <a:endParaRPr lang="en-US" altLang="ko-KR" sz="1400" dirty="0"/>
                    </a:p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Epoch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37.6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127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720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24.01.01</a:t>
                      </a:r>
                    </a:p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00:00:00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43.1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131.9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0838414"/>
                  </a:ext>
                </a:extLst>
              </a:tr>
              <a:tr h="22768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7270.14km</a:t>
                      </a:r>
                      <a:r>
                        <a:rPr lang="en-US" altLang="ko-KR" sz="1200" dirty="0"/>
                        <a:t>, 0, 45~50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128255"/>
                  </a:ext>
                </a:extLst>
              </a:tr>
            </a:tbl>
          </a:graphicData>
        </a:graphic>
      </p:graphicFrame>
      <p:grpSp>
        <p:nvGrpSpPr>
          <p:cNvPr id="27" name="그룹 26">
            <a:extLst>
              <a:ext uri="{FF2B5EF4-FFF2-40B4-BE49-F238E27FC236}">
                <a16:creationId xmlns:a16="http://schemas.microsoft.com/office/drawing/2014/main" id="{5B38C6C2-1147-3394-FE90-FD2AB3183643}"/>
              </a:ext>
            </a:extLst>
          </p:cNvPr>
          <p:cNvGrpSpPr/>
          <p:nvPr/>
        </p:nvGrpSpPr>
        <p:grpSpPr>
          <a:xfrm>
            <a:off x="69300" y="1808252"/>
            <a:ext cx="2579012" cy="722150"/>
            <a:chOff x="100830" y="1808252"/>
            <a:chExt cx="2579012" cy="722150"/>
          </a:xfrm>
        </p:grpSpPr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3E9126ED-5B8D-3999-B929-CC2C558CA33B}"/>
                </a:ext>
              </a:extLst>
            </p:cNvPr>
            <p:cNvCxnSpPr>
              <a:cxnSpLocks/>
            </p:cNvCxnSpPr>
            <p:nvPr/>
          </p:nvCxnSpPr>
          <p:spPr>
            <a:xfrm>
              <a:off x="100830" y="1808252"/>
              <a:ext cx="443700" cy="339047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E1C36C-B309-344F-5EB8-41B564C3574E}"/>
                </a:ext>
              </a:extLst>
            </p:cNvPr>
            <p:cNvCxnSpPr>
              <a:cxnSpLocks/>
            </p:cNvCxnSpPr>
            <p:nvPr/>
          </p:nvCxnSpPr>
          <p:spPr>
            <a:xfrm>
              <a:off x="544530" y="2147299"/>
              <a:ext cx="1691612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C6E87280-80D2-31AE-F945-F30F405CE714}"/>
                </a:ext>
              </a:extLst>
            </p:cNvPr>
            <p:cNvCxnSpPr>
              <a:cxnSpLocks/>
            </p:cNvCxnSpPr>
            <p:nvPr/>
          </p:nvCxnSpPr>
          <p:spPr>
            <a:xfrm>
              <a:off x="2236142" y="2147299"/>
              <a:ext cx="443700" cy="383103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표 9">
                <a:extLst>
                  <a:ext uri="{FF2B5EF4-FFF2-40B4-BE49-F238E27FC236}">
                    <a16:creationId xmlns:a16="http://schemas.microsoft.com/office/drawing/2014/main" id="{77459925-3C1F-6B5C-2CB3-9F45BD68D26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699200" y="3197931"/>
              <a:ext cx="3774121" cy="2590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72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  <a:gridCol w="849630">
                      <a:extLst>
                        <a:ext uri="{9D8B030D-6E8A-4147-A177-3AD203B41FA5}">
                          <a16:colId xmlns:a16="http://schemas.microsoft.com/office/drawing/2014/main" val="2703505152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1835507423"/>
                        </a:ext>
                      </a:extLst>
                    </a:gridCol>
                    <a:gridCol w="403542">
                      <a:extLst>
                        <a:ext uri="{9D8B030D-6E8A-4147-A177-3AD203B41FA5}">
                          <a16:colId xmlns:a16="http://schemas.microsoft.com/office/drawing/2014/main" val="1995223873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3291353329"/>
                        </a:ext>
                      </a:extLst>
                    </a:gridCol>
                  </a:tblGrid>
                  <a:tr h="236385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f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en-US" altLang="ko-KR" sz="11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en-US" altLang="ko-KR" sz="11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ko-KR" sz="1100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a</m:t>
                                </m:r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e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 err="1">
                              <a:latin typeface="Times New Roman"/>
                              <a:ea typeface="+mn-ea"/>
                              <a:cs typeface="Times New Roman"/>
                            </a:rPr>
                            <a:t>i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ω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7270.14km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ko-KR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159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11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12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1727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13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14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15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16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17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표 9">
                <a:extLst>
                  <a:ext uri="{FF2B5EF4-FFF2-40B4-BE49-F238E27FC236}">
                    <a16:creationId xmlns:a16="http://schemas.microsoft.com/office/drawing/2014/main" id="{77459925-3C1F-6B5C-2CB3-9F45BD68D26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69270474"/>
                  </p:ext>
                </p:extLst>
              </p:nvPr>
            </p:nvGraphicFramePr>
            <p:xfrm>
              <a:off x="4699200" y="3197931"/>
              <a:ext cx="3774121" cy="2590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72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  <a:gridCol w="849630">
                      <a:extLst>
                        <a:ext uri="{9D8B030D-6E8A-4147-A177-3AD203B41FA5}">
                          <a16:colId xmlns:a16="http://schemas.microsoft.com/office/drawing/2014/main" val="2703505152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1835507423"/>
                        </a:ext>
                      </a:extLst>
                    </a:gridCol>
                    <a:gridCol w="403542">
                      <a:extLst>
                        <a:ext uri="{9D8B030D-6E8A-4147-A177-3AD203B41FA5}">
                          <a16:colId xmlns:a16="http://schemas.microsoft.com/office/drawing/2014/main" val="1995223873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3291353329"/>
                        </a:ext>
                      </a:extLst>
                    </a:gridCol>
                  </a:tblGrid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f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000" t="-2326" r="-551807" b="-9069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000" t="-2326" r="-451807" b="-9069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79137" t="-2326" r="-169784" b="-9069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e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 err="1">
                              <a:latin typeface="Times New Roman"/>
                              <a:ea typeface="+mn-ea"/>
                              <a:cs typeface="Times New Roman"/>
                            </a:rPr>
                            <a:t>i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ω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7270.14km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ko-KR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11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12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13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14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15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16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17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A530DE6F-5057-2C9F-0D6B-78968447BA5C}"/>
              </a:ext>
            </a:extLst>
          </p:cNvPr>
          <p:cNvSpPr txBox="1"/>
          <p:nvPr/>
        </p:nvSpPr>
        <p:spPr>
          <a:xfrm>
            <a:off x="2409232" y="5956368"/>
            <a:ext cx="34266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ko-KR" altLang="en-US" sz="1400" dirty="0"/>
              <a:t>최종 설계된 궤도요소</a:t>
            </a:r>
            <a:endParaRPr lang="en-US" altLang="ko-KR" sz="1400" dirty="0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27C419E5-866F-1C8A-23AB-E1AB8E0C6844}"/>
              </a:ext>
            </a:extLst>
          </p:cNvPr>
          <p:cNvGrpSpPr/>
          <p:nvPr/>
        </p:nvGrpSpPr>
        <p:grpSpPr>
          <a:xfrm>
            <a:off x="0" y="0"/>
            <a:ext cx="9144000" cy="1124607"/>
            <a:chOff x="0" y="0"/>
            <a:chExt cx="9144000" cy="1124607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20FEF063-10D3-1CB0-A8DB-8C9C160C80FA}"/>
                </a:ext>
              </a:extLst>
            </p:cNvPr>
            <p:cNvSpPr/>
            <p:nvPr/>
          </p:nvSpPr>
          <p:spPr bwMode="auto">
            <a:xfrm>
              <a:off x="7589521" y="0"/>
              <a:ext cx="1554479" cy="75876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048907B5-4371-C637-EC17-52F4A3005BFB}"/>
                </a:ext>
              </a:extLst>
            </p:cNvPr>
            <p:cNvSpPr/>
            <p:nvPr/>
          </p:nvSpPr>
          <p:spPr bwMode="auto">
            <a:xfrm>
              <a:off x="8259943" y="152400"/>
              <a:ext cx="884057" cy="97220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F1D0C810-B6DB-5E3E-D884-98C4654D72D2}"/>
                </a:ext>
              </a:extLst>
            </p:cNvPr>
            <p:cNvSpPr/>
            <p:nvPr/>
          </p:nvSpPr>
          <p:spPr bwMode="auto">
            <a:xfrm>
              <a:off x="7589521" y="495406"/>
              <a:ext cx="828769" cy="34832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256C62EF-E7DD-8209-F463-E717C59A8F2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0" y="0"/>
              <a:ext cx="876300" cy="8286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26072410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AB740E1E-F27C-5BDF-7E8D-9B2AB419788C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20300" y="3197931"/>
              <a:ext cx="3774121" cy="2590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72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  <a:gridCol w="849630">
                      <a:extLst>
                        <a:ext uri="{9D8B030D-6E8A-4147-A177-3AD203B41FA5}">
                          <a16:colId xmlns:a16="http://schemas.microsoft.com/office/drawing/2014/main" val="2703505152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1835507423"/>
                        </a:ext>
                      </a:extLst>
                    </a:gridCol>
                    <a:gridCol w="403542">
                      <a:extLst>
                        <a:ext uri="{9D8B030D-6E8A-4147-A177-3AD203B41FA5}">
                          <a16:colId xmlns:a16="http://schemas.microsoft.com/office/drawing/2014/main" val="1995223873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3291353329"/>
                        </a:ext>
                      </a:extLst>
                    </a:gridCol>
                  </a:tblGrid>
                  <a:tr h="161957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f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en-US" altLang="ko-KR" sz="11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en-US" altLang="ko-KR" sz="11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ko-KR" sz="1100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a</m:t>
                                </m:r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e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 err="1">
                              <a:latin typeface="Times New Roman"/>
                              <a:ea typeface="+mn-ea"/>
                              <a:cs typeface="Times New Roman"/>
                            </a:rPr>
                            <a:t>i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ω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7270.14km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ko-KR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159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1727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AB740E1E-F27C-5BDF-7E8D-9B2AB419788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42731485"/>
                  </p:ext>
                </p:extLst>
              </p:nvPr>
            </p:nvGraphicFramePr>
            <p:xfrm>
              <a:off x="620300" y="3197931"/>
              <a:ext cx="3774121" cy="2590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72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  <a:gridCol w="849630">
                      <a:extLst>
                        <a:ext uri="{9D8B030D-6E8A-4147-A177-3AD203B41FA5}">
                          <a16:colId xmlns:a16="http://schemas.microsoft.com/office/drawing/2014/main" val="2703505152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1835507423"/>
                        </a:ext>
                      </a:extLst>
                    </a:gridCol>
                    <a:gridCol w="403542">
                      <a:extLst>
                        <a:ext uri="{9D8B030D-6E8A-4147-A177-3AD203B41FA5}">
                          <a16:colId xmlns:a16="http://schemas.microsoft.com/office/drawing/2014/main" val="1995223873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3291353329"/>
                        </a:ext>
                      </a:extLst>
                    </a:gridCol>
                  </a:tblGrid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f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000" t="-2326" r="-550602" b="-9069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000" t="-2326" r="-450602" b="-9069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79137" t="-2326" r="-169065" b="-9069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e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 err="1">
                              <a:latin typeface="Times New Roman"/>
                              <a:ea typeface="+mn-ea"/>
                              <a:cs typeface="Times New Roman"/>
                            </a:rPr>
                            <a:t>i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ω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7270.14km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ko-KR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워커</a:t>
            </a:r>
            <a:r>
              <a:rPr lang="en-US" altLang="ko-KR" dirty="0"/>
              <a:t>-</a:t>
            </a:r>
            <a:r>
              <a:rPr lang="ko-KR" altLang="en-US" dirty="0"/>
              <a:t>델타 </a:t>
            </a:r>
            <a:r>
              <a:rPr lang="ko-KR" altLang="en-US" dirty="0" err="1"/>
              <a:t>위성군</a:t>
            </a:r>
            <a:endParaRPr lang="en-US" altLang="ko-KR" dirty="0">
              <a:solidFill>
                <a:srgbClr val="FF0000"/>
              </a:solidFill>
            </a:endParaRPr>
          </a:p>
          <a:p>
            <a:pPr lvl="1">
              <a:defRPr/>
            </a:pPr>
            <a:r>
              <a:rPr lang="en-US" altLang="ko-KR" dirty="0"/>
              <a:t>Target : </a:t>
            </a:r>
            <a:r>
              <a:rPr lang="ko-KR" altLang="en-US" dirty="0"/>
              <a:t>서울</a:t>
            </a:r>
            <a:r>
              <a:rPr lang="en-US" altLang="ko-KR" dirty="0"/>
              <a:t> &amp; </a:t>
            </a:r>
            <a:r>
              <a:rPr lang="ko-KR" altLang="en-US" dirty="0"/>
              <a:t>블라디보스토크 </a:t>
            </a:r>
            <a:r>
              <a:rPr lang="en-US" altLang="ko-KR" dirty="0">
                <a:solidFill>
                  <a:srgbClr val="FF0000"/>
                </a:solidFill>
              </a:rPr>
              <a:t>(T:P:F=18:9:1)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Inc(40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, 45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, 50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) 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→ 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Seoul, Vladivostok</a:t>
            </a:r>
            <a:endParaRPr lang="ko-KR" altLang="en-US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44C6BEAC-F017-11C7-A996-3251772F78D4}"/>
              </a:ext>
            </a:extLst>
          </p:cNvPr>
          <p:cNvGraphicFramePr>
            <a:graphicFrameLocks noGrp="1"/>
          </p:cNvGraphicFramePr>
          <p:nvPr/>
        </p:nvGraphicFramePr>
        <p:xfrm>
          <a:off x="69300" y="1778562"/>
          <a:ext cx="9017144" cy="112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6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81393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98791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  <a:gridCol w="1017351">
                  <a:extLst>
                    <a:ext uri="{9D8B030D-6E8A-4147-A177-3AD203B41FA5}">
                      <a16:colId xmlns:a16="http://schemas.microsoft.com/office/drawing/2014/main" val="14929076"/>
                    </a:ext>
                  </a:extLst>
                </a:gridCol>
              </a:tblGrid>
              <a:tr h="0">
                <a:tc rowSpan="3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 err="1"/>
                        <a:t>AoI</a:t>
                      </a:r>
                      <a:r>
                        <a:rPr lang="en-US" altLang="ko-KR" sz="1400" dirty="0"/>
                        <a:t> &amp; Time </a:t>
                      </a:r>
                    </a:p>
                    <a:p>
                      <a:pPr algn="ctr" latinLnBrk="1">
                        <a:defRPr/>
                      </a:pPr>
                      <a:endParaRPr lang="en-US" altLang="ko-KR" sz="1400" dirty="0"/>
                    </a:p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Epoch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37.6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127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720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24.01.01</a:t>
                      </a:r>
                    </a:p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00:00:00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43.1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131.9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0838414"/>
                  </a:ext>
                </a:extLst>
              </a:tr>
              <a:tr h="22768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7270.14km</a:t>
                      </a:r>
                      <a:r>
                        <a:rPr lang="en-US" altLang="ko-KR" sz="1200" dirty="0"/>
                        <a:t>, 0, 45~50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128255"/>
                  </a:ext>
                </a:extLst>
              </a:tr>
            </a:tbl>
          </a:graphicData>
        </a:graphic>
      </p:graphicFrame>
      <p:grpSp>
        <p:nvGrpSpPr>
          <p:cNvPr id="27" name="그룹 26">
            <a:extLst>
              <a:ext uri="{FF2B5EF4-FFF2-40B4-BE49-F238E27FC236}">
                <a16:creationId xmlns:a16="http://schemas.microsoft.com/office/drawing/2014/main" id="{5B38C6C2-1147-3394-FE90-FD2AB3183643}"/>
              </a:ext>
            </a:extLst>
          </p:cNvPr>
          <p:cNvGrpSpPr/>
          <p:nvPr/>
        </p:nvGrpSpPr>
        <p:grpSpPr>
          <a:xfrm>
            <a:off x="69300" y="1808252"/>
            <a:ext cx="2579012" cy="722150"/>
            <a:chOff x="100830" y="1808252"/>
            <a:chExt cx="2579012" cy="722150"/>
          </a:xfrm>
        </p:grpSpPr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3E9126ED-5B8D-3999-B929-CC2C558CA33B}"/>
                </a:ext>
              </a:extLst>
            </p:cNvPr>
            <p:cNvCxnSpPr>
              <a:cxnSpLocks/>
            </p:cNvCxnSpPr>
            <p:nvPr/>
          </p:nvCxnSpPr>
          <p:spPr>
            <a:xfrm>
              <a:off x="100830" y="1808252"/>
              <a:ext cx="443700" cy="339047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E1C36C-B309-344F-5EB8-41B564C3574E}"/>
                </a:ext>
              </a:extLst>
            </p:cNvPr>
            <p:cNvCxnSpPr>
              <a:cxnSpLocks/>
            </p:cNvCxnSpPr>
            <p:nvPr/>
          </p:nvCxnSpPr>
          <p:spPr>
            <a:xfrm>
              <a:off x="544530" y="2147299"/>
              <a:ext cx="1691612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C6E87280-80D2-31AE-F945-F30F405CE714}"/>
                </a:ext>
              </a:extLst>
            </p:cNvPr>
            <p:cNvCxnSpPr>
              <a:cxnSpLocks/>
            </p:cNvCxnSpPr>
            <p:nvPr/>
          </p:nvCxnSpPr>
          <p:spPr>
            <a:xfrm>
              <a:off x="2236142" y="2147299"/>
              <a:ext cx="443700" cy="383103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표 9">
                <a:extLst>
                  <a:ext uri="{FF2B5EF4-FFF2-40B4-BE49-F238E27FC236}">
                    <a16:creationId xmlns:a16="http://schemas.microsoft.com/office/drawing/2014/main" id="{77459925-3C1F-6B5C-2CB3-9F45BD68D26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699200" y="3197931"/>
              <a:ext cx="3774121" cy="2590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72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  <a:gridCol w="849630">
                      <a:extLst>
                        <a:ext uri="{9D8B030D-6E8A-4147-A177-3AD203B41FA5}">
                          <a16:colId xmlns:a16="http://schemas.microsoft.com/office/drawing/2014/main" val="2703505152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1835507423"/>
                        </a:ext>
                      </a:extLst>
                    </a:gridCol>
                    <a:gridCol w="403542">
                      <a:extLst>
                        <a:ext uri="{9D8B030D-6E8A-4147-A177-3AD203B41FA5}">
                          <a16:colId xmlns:a16="http://schemas.microsoft.com/office/drawing/2014/main" val="1995223873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3291353329"/>
                        </a:ext>
                      </a:extLst>
                    </a:gridCol>
                  </a:tblGrid>
                  <a:tr h="236385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f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en-US" altLang="ko-KR" sz="11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en-US" altLang="ko-KR" sz="11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ko-KR" sz="1100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a</m:t>
                                </m:r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e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 err="1">
                              <a:latin typeface="Times New Roman"/>
                              <a:ea typeface="+mn-ea"/>
                              <a:cs typeface="Times New Roman"/>
                            </a:rPr>
                            <a:t>i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ω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7270.14km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ko-KR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159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11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12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1727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13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14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15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16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17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표 9">
                <a:extLst>
                  <a:ext uri="{FF2B5EF4-FFF2-40B4-BE49-F238E27FC236}">
                    <a16:creationId xmlns:a16="http://schemas.microsoft.com/office/drawing/2014/main" id="{77459925-3C1F-6B5C-2CB3-9F45BD68D26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79187986"/>
                  </p:ext>
                </p:extLst>
              </p:nvPr>
            </p:nvGraphicFramePr>
            <p:xfrm>
              <a:off x="4699200" y="3197931"/>
              <a:ext cx="3774121" cy="2590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72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  <a:gridCol w="849630">
                      <a:extLst>
                        <a:ext uri="{9D8B030D-6E8A-4147-A177-3AD203B41FA5}">
                          <a16:colId xmlns:a16="http://schemas.microsoft.com/office/drawing/2014/main" val="2703505152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1835507423"/>
                        </a:ext>
                      </a:extLst>
                    </a:gridCol>
                    <a:gridCol w="403542">
                      <a:extLst>
                        <a:ext uri="{9D8B030D-6E8A-4147-A177-3AD203B41FA5}">
                          <a16:colId xmlns:a16="http://schemas.microsoft.com/office/drawing/2014/main" val="1995223873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3291353329"/>
                        </a:ext>
                      </a:extLst>
                    </a:gridCol>
                  </a:tblGrid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f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000" t="-2326" r="-551807" b="-9069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000" t="-2326" r="-451807" b="-9069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79137" t="-2326" r="-169784" b="-9069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e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 err="1">
                              <a:latin typeface="Times New Roman"/>
                              <a:ea typeface="+mn-ea"/>
                              <a:cs typeface="Times New Roman"/>
                            </a:rPr>
                            <a:t>i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ω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7270.14km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ko-KR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11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12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13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14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15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16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17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8CCE08E4-2D23-1A8C-2B21-70C6BC31A88C}"/>
              </a:ext>
            </a:extLst>
          </p:cNvPr>
          <p:cNvSpPr txBox="1"/>
          <p:nvPr/>
        </p:nvSpPr>
        <p:spPr>
          <a:xfrm>
            <a:off x="2409232" y="5956368"/>
            <a:ext cx="34266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ko-KR" altLang="en-US" sz="1400" dirty="0"/>
              <a:t>최종 설계된 궤도요소</a:t>
            </a:r>
            <a:endParaRPr lang="en-US" altLang="ko-KR" sz="1400" dirty="0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36FC60A2-A657-FB5A-8255-15220543490C}"/>
              </a:ext>
            </a:extLst>
          </p:cNvPr>
          <p:cNvGrpSpPr/>
          <p:nvPr/>
        </p:nvGrpSpPr>
        <p:grpSpPr>
          <a:xfrm>
            <a:off x="0" y="0"/>
            <a:ext cx="9144000" cy="1124607"/>
            <a:chOff x="0" y="0"/>
            <a:chExt cx="9144000" cy="1124607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459B5971-24F9-B0F3-7CD1-AB7F149CC954}"/>
                </a:ext>
              </a:extLst>
            </p:cNvPr>
            <p:cNvSpPr/>
            <p:nvPr/>
          </p:nvSpPr>
          <p:spPr bwMode="auto">
            <a:xfrm>
              <a:off x="7589521" y="0"/>
              <a:ext cx="1554479" cy="75876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D166E577-B4B3-8EA7-651C-7FE69D66EDFD}"/>
                </a:ext>
              </a:extLst>
            </p:cNvPr>
            <p:cNvSpPr/>
            <p:nvPr/>
          </p:nvSpPr>
          <p:spPr bwMode="auto">
            <a:xfrm>
              <a:off x="8259943" y="152400"/>
              <a:ext cx="884057" cy="97220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3E8303C1-5C37-20D3-DC20-CEDC60A989A2}"/>
                </a:ext>
              </a:extLst>
            </p:cNvPr>
            <p:cNvSpPr/>
            <p:nvPr/>
          </p:nvSpPr>
          <p:spPr bwMode="auto">
            <a:xfrm>
              <a:off x="7589521" y="495406"/>
              <a:ext cx="828769" cy="34832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50BDE70D-980C-0C69-BE06-DC3D2404C57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0" y="0"/>
              <a:ext cx="876300" cy="8286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26839170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AB740E1E-F27C-5BDF-7E8D-9B2AB419788C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20300" y="3197931"/>
              <a:ext cx="3774121" cy="2590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72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  <a:gridCol w="849630">
                      <a:extLst>
                        <a:ext uri="{9D8B030D-6E8A-4147-A177-3AD203B41FA5}">
                          <a16:colId xmlns:a16="http://schemas.microsoft.com/office/drawing/2014/main" val="2703505152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1835507423"/>
                        </a:ext>
                      </a:extLst>
                    </a:gridCol>
                    <a:gridCol w="403542">
                      <a:extLst>
                        <a:ext uri="{9D8B030D-6E8A-4147-A177-3AD203B41FA5}">
                          <a16:colId xmlns:a16="http://schemas.microsoft.com/office/drawing/2014/main" val="1995223873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3291353329"/>
                        </a:ext>
                      </a:extLst>
                    </a:gridCol>
                  </a:tblGrid>
                  <a:tr h="161957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f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en-US" altLang="ko-KR" sz="11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en-US" altLang="ko-KR" sz="11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ko-KR" sz="1100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a</m:t>
                                </m:r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e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 err="1">
                              <a:latin typeface="Times New Roman"/>
                              <a:ea typeface="+mn-ea"/>
                              <a:cs typeface="Times New Roman"/>
                            </a:rPr>
                            <a:t>i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ω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7270.14km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ko-KR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159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1727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AB740E1E-F27C-5BDF-7E8D-9B2AB419788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60582339"/>
                  </p:ext>
                </p:extLst>
              </p:nvPr>
            </p:nvGraphicFramePr>
            <p:xfrm>
              <a:off x="620300" y="3197931"/>
              <a:ext cx="3774121" cy="2590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72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  <a:gridCol w="849630">
                      <a:extLst>
                        <a:ext uri="{9D8B030D-6E8A-4147-A177-3AD203B41FA5}">
                          <a16:colId xmlns:a16="http://schemas.microsoft.com/office/drawing/2014/main" val="2703505152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1835507423"/>
                        </a:ext>
                      </a:extLst>
                    </a:gridCol>
                    <a:gridCol w="403542">
                      <a:extLst>
                        <a:ext uri="{9D8B030D-6E8A-4147-A177-3AD203B41FA5}">
                          <a16:colId xmlns:a16="http://schemas.microsoft.com/office/drawing/2014/main" val="1995223873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3291353329"/>
                        </a:ext>
                      </a:extLst>
                    </a:gridCol>
                  </a:tblGrid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f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000" t="-2326" r="-550602" b="-9069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000" t="-2326" r="-450602" b="-9069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79137" t="-2326" r="-169065" b="-9069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e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 err="1">
                              <a:latin typeface="Times New Roman"/>
                              <a:ea typeface="+mn-ea"/>
                              <a:cs typeface="Times New Roman"/>
                            </a:rPr>
                            <a:t>i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ω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7270.14km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ko-KR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워커</a:t>
            </a:r>
            <a:r>
              <a:rPr lang="en-US" altLang="ko-KR" dirty="0"/>
              <a:t>-</a:t>
            </a:r>
            <a:r>
              <a:rPr lang="ko-KR" altLang="en-US" dirty="0"/>
              <a:t>델타 </a:t>
            </a:r>
            <a:r>
              <a:rPr lang="ko-KR" altLang="en-US" dirty="0" err="1"/>
              <a:t>위성군</a:t>
            </a:r>
            <a:endParaRPr lang="en-US" altLang="ko-KR" dirty="0">
              <a:solidFill>
                <a:srgbClr val="FF0000"/>
              </a:solidFill>
            </a:endParaRPr>
          </a:p>
          <a:p>
            <a:pPr lvl="1">
              <a:defRPr/>
            </a:pPr>
            <a:r>
              <a:rPr lang="en-US" altLang="ko-KR" dirty="0"/>
              <a:t>Target : </a:t>
            </a:r>
            <a:r>
              <a:rPr lang="ko-KR" altLang="en-US" dirty="0"/>
              <a:t>서울</a:t>
            </a:r>
            <a:r>
              <a:rPr lang="en-US" altLang="ko-KR" dirty="0"/>
              <a:t> &amp; </a:t>
            </a:r>
            <a:r>
              <a:rPr lang="ko-KR" altLang="en-US" dirty="0"/>
              <a:t>블라디보스토크 </a:t>
            </a:r>
            <a:r>
              <a:rPr lang="en-US" altLang="ko-KR" dirty="0">
                <a:solidFill>
                  <a:srgbClr val="FF0000"/>
                </a:solidFill>
              </a:rPr>
              <a:t>(T:P:F=18:6:0)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Inc(40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, 45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, 50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) 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→ 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Seoul, Vladivostok</a:t>
            </a:r>
            <a:endParaRPr lang="ko-KR" altLang="en-US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44C6BEAC-F017-11C7-A996-3251772F78D4}"/>
              </a:ext>
            </a:extLst>
          </p:cNvPr>
          <p:cNvGraphicFramePr>
            <a:graphicFrameLocks noGrp="1"/>
          </p:cNvGraphicFramePr>
          <p:nvPr/>
        </p:nvGraphicFramePr>
        <p:xfrm>
          <a:off x="69300" y="1778562"/>
          <a:ext cx="9017144" cy="112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6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81393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98791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  <a:gridCol w="1017351">
                  <a:extLst>
                    <a:ext uri="{9D8B030D-6E8A-4147-A177-3AD203B41FA5}">
                      <a16:colId xmlns:a16="http://schemas.microsoft.com/office/drawing/2014/main" val="14929076"/>
                    </a:ext>
                  </a:extLst>
                </a:gridCol>
              </a:tblGrid>
              <a:tr h="0">
                <a:tc rowSpan="3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 err="1"/>
                        <a:t>AoI</a:t>
                      </a:r>
                      <a:r>
                        <a:rPr lang="en-US" altLang="ko-KR" sz="1400" dirty="0"/>
                        <a:t> &amp; Time </a:t>
                      </a:r>
                    </a:p>
                    <a:p>
                      <a:pPr algn="ctr" latinLnBrk="1">
                        <a:defRPr/>
                      </a:pPr>
                      <a:endParaRPr lang="en-US" altLang="ko-KR" sz="1400" dirty="0"/>
                    </a:p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Epoch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37.6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127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720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24.01.01</a:t>
                      </a:r>
                    </a:p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00:00:00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43.1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131.9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0838414"/>
                  </a:ext>
                </a:extLst>
              </a:tr>
              <a:tr h="22768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7270.14km</a:t>
                      </a:r>
                      <a:r>
                        <a:rPr lang="en-US" altLang="ko-KR" sz="1200" dirty="0"/>
                        <a:t>, 0, 45~50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128255"/>
                  </a:ext>
                </a:extLst>
              </a:tr>
            </a:tbl>
          </a:graphicData>
        </a:graphic>
      </p:graphicFrame>
      <p:grpSp>
        <p:nvGrpSpPr>
          <p:cNvPr id="27" name="그룹 26">
            <a:extLst>
              <a:ext uri="{FF2B5EF4-FFF2-40B4-BE49-F238E27FC236}">
                <a16:creationId xmlns:a16="http://schemas.microsoft.com/office/drawing/2014/main" id="{5B38C6C2-1147-3394-FE90-FD2AB3183643}"/>
              </a:ext>
            </a:extLst>
          </p:cNvPr>
          <p:cNvGrpSpPr/>
          <p:nvPr/>
        </p:nvGrpSpPr>
        <p:grpSpPr>
          <a:xfrm>
            <a:off x="69300" y="1808252"/>
            <a:ext cx="2579012" cy="722150"/>
            <a:chOff x="100830" y="1808252"/>
            <a:chExt cx="2579012" cy="722150"/>
          </a:xfrm>
        </p:grpSpPr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3E9126ED-5B8D-3999-B929-CC2C558CA33B}"/>
                </a:ext>
              </a:extLst>
            </p:cNvPr>
            <p:cNvCxnSpPr>
              <a:cxnSpLocks/>
            </p:cNvCxnSpPr>
            <p:nvPr/>
          </p:nvCxnSpPr>
          <p:spPr>
            <a:xfrm>
              <a:off x="100830" y="1808252"/>
              <a:ext cx="443700" cy="339047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E1C36C-B309-344F-5EB8-41B564C3574E}"/>
                </a:ext>
              </a:extLst>
            </p:cNvPr>
            <p:cNvCxnSpPr>
              <a:cxnSpLocks/>
            </p:cNvCxnSpPr>
            <p:nvPr/>
          </p:nvCxnSpPr>
          <p:spPr>
            <a:xfrm>
              <a:off x="544530" y="2147299"/>
              <a:ext cx="1691612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C6E87280-80D2-31AE-F945-F30F405CE714}"/>
                </a:ext>
              </a:extLst>
            </p:cNvPr>
            <p:cNvCxnSpPr>
              <a:cxnSpLocks/>
            </p:cNvCxnSpPr>
            <p:nvPr/>
          </p:nvCxnSpPr>
          <p:spPr>
            <a:xfrm>
              <a:off x="2236142" y="2147299"/>
              <a:ext cx="443700" cy="383103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표 9">
                <a:extLst>
                  <a:ext uri="{FF2B5EF4-FFF2-40B4-BE49-F238E27FC236}">
                    <a16:creationId xmlns:a16="http://schemas.microsoft.com/office/drawing/2014/main" id="{77459925-3C1F-6B5C-2CB3-9F45BD68D26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699200" y="3197931"/>
              <a:ext cx="3774121" cy="2590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72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  <a:gridCol w="849630">
                      <a:extLst>
                        <a:ext uri="{9D8B030D-6E8A-4147-A177-3AD203B41FA5}">
                          <a16:colId xmlns:a16="http://schemas.microsoft.com/office/drawing/2014/main" val="2703505152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1835507423"/>
                        </a:ext>
                      </a:extLst>
                    </a:gridCol>
                    <a:gridCol w="403542">
                      <a:extLst>
                        <a:ext uri="{9D8B030D-6E8A-4147-A177-3AD203B41FA5}">
                          <a16:colId xmlns:a16="http://schemas.microsoft.com/office/drawing/2014/main" val="1995223873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3291353329"/>
                        </a:ext>
                      </a:extLst>
                    </a:gridCol>
                  </a:tblGrid>
                  <a:tr h="236385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f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en-US" altLang="ko-KR" sz="11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en-US" altLang="ko-KR" sz="11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ko-KR" sz="1100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a</m:t>
                                </m:r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e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 err="1">
                              <a:latin typeface="Times New Roman"/>
                              <a:ea typeface="+mn-ea"/>
                              <a:cs typeface="Times New Roman"/>
                            </a:rPr>
                            <a:t>i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ω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7270.14km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ko-KR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159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11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12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1727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13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14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15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16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17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표 9">
                <a:extLst>
                  <a:ext uri="{FF2B5EF4-FFF2-40B4-BE49-F238E27FC236}">
                    <a16:creationId xmlns:a16="http://schemas.microsoft.com/office/drawing/2014/main" id="{77459925-3C1F-6B5C-2CB3-9F45BD68D26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05074840"/>
                  </p:ext>
                </p:extLst>
              </p:nvPr>
            </p:nvGraphicFramePr>
            <p:xfrm>
              <a:off x="4699200" y="3197931"/>
              <a:ext cx="3774121" cy="2590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72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  <a:gridCol w="849630">
                      <a:extLst>
                        <a:ext uri="{9D8B030D-6E8A-4147-A177-3AD203B41FA5}">
                          <a16:colId xmlns:a16="http://schemas.microsoft.com/office/drawing/2014/main" val="2703505152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1835507423"/>
                        </a:ext>
                      </a:extLst>
                    </a:gridCol>
                    <a:gridCol w="403542">
                      <a:extLst>
                        <a:ext uri="{9D8B030D-6E8A-4147-A177-3AD203B41FA5}">
                          <a16:colId xmlns:a16="http://schemas.microsoft.com/office/drawing/2014/main" val="1995223873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3291353329"/>
                        </a:ext>
                      </a:extLst>
                    </a:gridCol>
                  </a:tblGrid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f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000" t="-2326" r="-551807" b="-9069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000" t="-2326" r="-451807" b="-9069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79137" t="-2326" r="-169784" b="-9069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e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 err="1">
                              <a:latin typeface="Times New Roman"/>
                              <a:ea typeface="+mn-ea"/>
                              <a:cs typeface="Times New Roman"/>
                            </a:rPr>
                            <a:t>i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ω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7270.14km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ko-KR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11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12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13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14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15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16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17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ABA063B2-5C74-7439-474F-CA19D5A66FFB}"/>
              </a:ext>
            </a:extLst>
          </p:cNvPr>
          <p:cNvSpPr txBox="1"/>
          <p:nvPr/>
        </p:nvSpPr>
        <p:spPr>
          <a:xfrm>
            <a:off x="2409232" y="5956368"/>
            <a:ext cx="34266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ko-KR" altLang="en-US" sz="1400" dirty="0"/>
              <a:t>최종 설계된 궤도요소</a:t>
            </a:r>
            <a:endParaRPr lang="en-US" altLang="ko-KR" sz="1400" dirty="0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9507A53C-964A-D4F3-052C-ABA20411F53C}"/>
              </a:ext>
            </a:extLst>
          </p:cNvPr>
          <p:cNvGrpSpPr/>
          <p:nvPr/>
        </p:nvGrpSpPr>
        <p:grpSpPr>
          <a:xfrm>
            <a:off x="0" y="0"/>
            <a:ext cx="9144000" cy="1124607"/>
            <a:chOff x="0" y="0"/>
            <a:chExt cx="9144000" cy="1124607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112D10CB-F2C3-57AF-B764-E5787806D41A}"/>
                </a:ext>
              </a:extLst>
            </p:cNvPr>
            <p:cNvSpPr/>
            <p:nvPr/>
          </p:nvSpPr>
          <p:spPr bwMode="auto">
            <a:xfrm>
              <a:off x="7589521" y="0"/>
              <a:ext cx="1554479" cy="75876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FA8EB221-5AD4-0FC0-064D-9C3D57C81CFA}"/>
                </a:ext>
              </a:extLst>
            </p:cNvPr>
            <p:cNvSpPr/>
            <p:nvPr/>
          </p:nvSpPr>
          <p:spPr bwMode="auto">
            <a:xfrm>
              <a:off x="8259943" y="152400"/>
              <a:ext cx="884057" cy="97220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D3B85AB2-9ECF-0500-5DCA-57759B736D2D}"/>
                </a:ext>
              </a:extLst>
            </p:cNvPr>
            <p:cNvSpPr/>
            <p:nvPr/>
          </p:nvSpPr>
          <p:spPr bwMode="auto">
            <a:xfrm>
              <a:off x="7589521" y="495406"/>
              <a:ext cx="828769" cy="34832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6625E74F-0FB3-BB43-F4EF-BF198A3EF05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0" y="0"/>
              <a:ext cx="876300" cy="8286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37997192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AB740E1E-F27C-5BDF-7E8D-9B2AB419788C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20300" y="3197931"/>
              <a:ext cx="3774121" cy="2590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72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  <a:gridCol w="849630">
                      <a:extLst>
                        <a:ext uri="{9D8B030D-6E8A-4147-A177-3AD203B41FA5}">
                          <a16:colId xmlns:a16="http://schemas.microsoft.com/office/drawing/2014/main" val="2703505152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1835507423"/>
                        </a:ext>
                      </a:extLst>
                    </a:gridCol>
                    <a:gridCol w="403542">
                      <a:extLst>
                        <a:ext uri="{9D8B030D-6E8A-4147-A177-3AD203B41FA5}">
                          <a16:colId xmlns:a16="http://schemas.microsoft.com/office/drawing/2014/main" val="1995223873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3291353329"/>
                        </a:ext>
                      </a:extLst>
                    </a:gridCol>
                  </a:tblGrid>
                  <a:tr h="161957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f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en-US" altLang="ko-KR" sz="11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en-US" altLang="ko-KR" sz="11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ko-KR" sz="1100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a</m:t>
                                </m:r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e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 err="1">
                              <a:latin typeface="Times New Roman"/>
                              <a:ea typeface="+mn-ea"/>
                              <a:cs typeface="Times New Roman"/>
                            </a:rPr>
                            <a:t>i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ω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7270.14km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159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1727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AB740E1E-F27C-5BDF-7E8D-9B2AB419788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70645240"/>
                  </p:ext>
                </p:extLst>
              </p:nvPr>
            </p:nvGraphicFramePr>
            <p:xfrm>
              <a:off x="620300" y="3197931"/>
              <a:ext cx="3774121" cy="2590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72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  <a:gridCol w="849630">
                      <a:extLst>
                        <a:ext uri="{9D8B030D-6E8A-4147-A177-3AD203B41FA5}">
                          <a16:colId xmlns:a16="http://schemas.microsoft.com/office/drawing/2014/main" val="2703505152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1835507423"/>
                        </a:ext>
                      </a:extLst>
                    </a:gridCol>
                    <a:gridCol w="403542">
                      <a:extLst>
                        <a:ext uri="{9D8B030D-6E8A-4147-A177-3AD203B41FA5}">
                          <a16:colId xmlns:a16="http://schemas.microsoft.com/office/drawing/2014/main" val="1995223873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3291353329"/>
                        </a:ext>
                      </a:extLst>
                    </a:gridCol>
                  </a:tblGrid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f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000" t="-2326" r="-550602" b="-9069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000" t="-2326" r="-450602" b="-9069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79137" t="-2326" r="-169065" b="-9069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e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 err="1">
                              <a:latin typeface="Times New Roman"/>
                              <a:ea typeface="+mn-ea"/>
                              <a:cs typeface="Times New Roman"/>
                            </a:rPr>
                            <a:t>i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ω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7270.14km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워커</a:t>
            </a:r>
            <a:r>
              <a:rPr lang="en-US" altLang="ko-KR" dirty="0"/>
              <a:t>-</a:t>
            </a:r>
            <a:r>
              <a:rPr lang="ko-KR" altLang="en-US" dirty="0"/>
              <a:t>델타 </a:t>
            </a:r>
            <a:r>
              <a:rPr lang="ko-KR" altLang="en-US" dirty="0" err="1"/>
              <a:t>위성군</a:t>
            </a:r>
            <a:endParaRPr lang="en-US" altLang="ko-KR" dirty="0">
              <a:solidFill>
                <a:srgbClr val="FF0000"/>
              </a:solidFill>
            </a:endParaRPr>
          </a:p>
          <a:p>
            <a:pPr lvl="1">
              <a:defRPr/>
            </a:pPr>
            <a:r>
              <a:rPr lang="en-US" altLang="ko-KR" dirty="0"/>
              <a:t>Target : </a:t>
            </a:r>
            <a:r>
              <a:rPr lang="ko-KR" altLang="en-US" dirty="0"/>
              <a:t>서울</a:t>
            </a:r>
            <a:r>
              <a:rPr lang="en-US" altLang="ko-KR" dirty="0"/>
              <a:t> &amp; </a:t>
            </a:r>
            <a:r>
              <a:rPr lang="ko-KR" altLang="en-US" dirty="0"/>
              <a:t>블라디보스토크 </a:t>
            </a:r>
            <a:r>
              <a:rPr lang="en-US" altLang="ko-KR" dirty="0">
                <a:solidFill>
                  <a:srgbClr val="FF0000"/>
                </a:solidFill>
              </a:rPr>
              <a:t>(T:P:F=18:6:2)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Inc(40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, 45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, 50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) 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→ 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Seoul, Vladivostok</a:t>
            </a:r>
            <a:endParaRPr lang="ko-KR" altLang="en-US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44C6BEAC-F017-11C7-A996-3251772F78D4}"/>
              </a:ext>
            </a:extLst>
          </p:cNvPr>
          <p:cNvGraphicFramePr>
            <a:graphicFrameLocks noGrp="1"/>
          </p:cNvGraphicFramePr>
          <p:nvPr/>
        </p:nvGraphicFramePr>
        <p:xfrm>
          <a:off x="69300" y="1778562"/>
          <a:ext cx="9017144" cy="112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6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81393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98791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  <a:gridCol w="1017351">
                  <a:extLst>
                    <a:ext uri="{9D8B030D-6E8A-4147-A177-3AD203B41FA5}">
                      <a16:colId xmlns:a16="http://schemas.microsoft.com/office/drawing/2014/main" val="14929076"/>
                    </a:ext>
                  </a:extLst>
                </a:gridCol>
              </a:tblGrid>
              <a:tr h="0">
                <a:tc rowSpan="3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 err="1"/>
                        <a:t>AoI</a:t>
                      </a:r>
                      <a:r>
                        <a:rPr lang="en-US" altLang="ko-KR" sz="1400" dirty="0"/>
                        <a:t> &amp; Time </a:t>
                      </a:r>
                    </a:p>
                    <a:p>
                      <a:pPr algn="ctr" latinLnBrk="1">
                        <a:defRPr/>
                      </a:pPr>
                      <a:endParaRPr lang="en-US" altLang="ko-KR" sz="1400" dirty="0"/>
                    </a:p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Epoch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37.6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127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720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24.01.01</a:t>
                      </a:r>
                    </a:p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00:00:00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43.1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131.9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0838414"/>
                  </a:ext>
                </a:extLst>
              </a:tr>
              <a:tr h="22768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7270.14km</a:t>
                      </a:r>
                      <a:r>
                        <a:rPr lang="en-US" altLang="ko-KR" sz="1200" dirty="0"/>
                        <a:t>, 0, 50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128255"/>
                  </a:ext>
                </a:extLst>
              </a:tr>
            </a:tbl>
          </a:graphicData>
        </a:graphic>
      </p:graphicFrame>
      <p:grpSp>
        <p:nvGrpSpPr>
          <p:cNvPr id="27" name="그룹 26">
            <a:extLst>
              <a:ext uri="{FF2B5EF4-FFF2-40B4-BE49-F238E27FC236}">
                <a16:creationId xmlns:a16="http://schemas.microsoft.com/office/drawing/2014/main" id="{5B38C6C2-1147-3394-FE90-FD2AB3183643}"/>
              </a:ext>
            </a:extLst>
          </p:cNvPr>
          <p:cNvGrpSpPr/>
          <p:nvPr/>
        </p:nvGrpSpPr>
        <p:grpSpPr>
          <a:xfrm>
            <a:off x="69300" y="1808252"/>
            <a:ext cx="2579012" cy="722150"/>
            <a:chOff x="100830" y="1808252"/>
            <a:chExt cx="2579012" cy="722150"/>
          </a:xfrm>
        </p:grpSpPr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3E9126ED-5B8D-3999-B929-CC2C558CA33B}"/>
                </a:ext>
              </a:extLst>
            </p:cNvPr>
            <p:cNvCxnSpPr>
              <a:cxnSpLocks/>
            </p:cNvCxnSpPr>
            <p:nvPr/>
          </p:nvCxnSpPr>
          <p:spPr>
            <a:xfrm>
              <a:off x="100830" y="1808252"/>
              <a:ext cx="443700" cy="339047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E1C36C-B309-344F-5EB8-41B564C3574E}"/>
                </a:ext>
              </a:extLst>
            </p:cNvPr>
            <p:cNvCxnSpPr>
              <a:cxnSpLocks/>
            </p:cNvCxnSpPr>
            <p:nvPr/>
          </p:nvCxnSpPr>
          <p:spPr>
            <a:xfrm>
              <a:off x="544530" y="2147299"/>
              <a:ext cx="1691612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C6E87280-80D2-31AE-F945-F30F405CE714}"/>
                </a:ext>
              </a:extLst>
            </p:cNvPr>
            <p:cNvCxnSpPr>
              <a:cxnSpLocks/>
            </p:cNvCxnSpPr>
            <p:nvPr/>
          </p:nvCxnSpPr>
          <p:spPr>
            <a:xfrm>
              <a:off x="2236142" y="2147299"/>
              <a:ext cx="443700" cy="383103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표 9">
                <a:extLst>
                  <a:ext uri="{FF2B5EF4-FFF2-40B4-BE49-F238E27FC236}">
                    <a16:creationId xmlns:a16="http://schemas.microsoft.com/office/drawing/2014/main" id="{77459925-3C1F-6B5C-2CB3-9F45BD68D26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699200" y="3197931"/>
              <a:ext cx="3774121" cy="2590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72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  <a:gridCol w="849630">
                      <a:extLst>
                        <a:ext uri="{9D8B030D-6E8A-4147-A177-3AD203B41FA5}">
                          <a16:colId xmlns:a16="http://schemas.microsoft.com/office/drawing/2014/main" val="2703505152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1835507423"/>
                        </a:ext>
                      </a:extLst>
                    </a:gridCol>
                    <a:gridCol w="403542">
                      <a:extLst>
                        <a:ext uri="{9D8B030D-6E8A-4147-A177-3AD203B41FA5}">
                          <a16:colId xmlns:a16="http://schemas.microsoft.com/office/drawing/2014/main" val="1995223873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3291353329"/>
                        </a:ext>
                      </a:extLst>
                    </a:gridCol>
                  </a:tblGrid>
                  <a:tr h="236385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f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en-US" altLang="ko-KR" sz="11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en-US" altLang="ko-KR" sz="11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ko-KR" sz="1100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a</m:t>
                                </m:r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e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 err="1">
                              <a:latin typeface="Times New Roman"/>
                              <a:ea typeface="+mn-ea"/>
                              <a:cs typeface="Times New Roman"/>
                            </a:rPr>
                            <a:t>i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ω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7270.14km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159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11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12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1727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13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14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15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16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17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표 9">
                <a:extLst>
                  <a:ext uri="{FF2B5EF4-FFF2-40B4-BE49-F238E27FC236}">
                    <a16:creationId xmlns:a16="http://schemas.microsoft.com/office/drawing/2014/main" id="{77459925-3C1F-6B5C-2CB3-9F45BD68D26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57574352"/>
                  </p:ext>
                </p:extLst>
              </p:nvPr>
            </p:nvGraphicFramePr>
            <p:xfrm>
              <a:off x="4699200" y="3197931"/>
              <a:ext cx="3774121" cy="2590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72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  <a:gridCol w="849630">
                      <a:extLst>
                        <a:ext uri="{9D8B030D-6E8A-4147-A177-3AD203B41FA5}">
                          <a16:colId xmlns:a16="http://schemas.microsoft.com/office/drawing/2014/main" val="2703505152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1835507423"/>
                        </a:ext>
                      </a:extLst>
                    </a:gridCol>
                    <a:gridCol w="403542">
                      <a:extLst>
                        <a:ext uri="{9D8B030D-6E8A-4147-A177-3AD203B41FA5}">
                          <a16:colId xmlns:a16="http://schemas.microsoft.com/office/drawing/2014/main" val="1995223873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3291353329"/>
                        </a:ext>
                      </a:extLst>
                    </a:gridCol>
                  </a:tblGrid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f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000" t="-2326" r="-551807" b="-9069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000" t="-2326" r="-451807" b="-9069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79137" t="-2326" r="-169784" b="-9069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e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 err="1">
                              <a:latin typeface="Times New Roman"/>
                              <a:ea typeface="+mn-ea"/>
                              <a:cs typeface="Times New Roman"/>
                            </a:rPr>
                            <a:t>i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ω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7270.14km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11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12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13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14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15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16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17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93375466-17C2-0389-619B-F4F06231ECAD}"/>
              </a:ext>
            </a:extLst>
          </p:cNvPr>
          <p:cNvSpPr txBox="1"/>
          <p:nvPr/>
        </p:nvSpPr>
        <p:spPr>
          <a:xfrm>
            <a:off x="2409232" y="5956368"/>
            <a:ext cx="34266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ko-KR" altLang="en-US" sz="1400" dirty="0"/>
              <a:t>최종 설계된 궤도요소</a:t>
            </a:r>
            <a:endParaRPr lang="en-US" altLang="ko-KR" sz="1400" dirty="0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E83742E-E1F4-2F89-BADD-0DC017F2D7DC}"/>
              </a:ext>
            </a:extLst>
          </p:cNvPr>
          <p:cNvGrpSpPr/>
          <p:nvPr/>
        </p:nvGrpSpPr>
        <p:grpSpPr>
          <a:xfrm>
            <a:off x="0" y="0"/>
            <a:ext cx="9144000" cy="1124607"/>
            <a:chOff x="0" y="0"/>
            <a:chExt cx="9144000" cy="1124607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E69C9541-212F-C56E-0C62-5E127CE83474}"/>
                </a:ext>
              </a:extLst>
            </p:cNvPr>
            <p:cNvSpPr/>
            <p:nvPr/>
          </p:nvSpPr>
          <p:spPr bwMode="auto">
            <a:xfrm>
              <a:off x="7589521" y="0"/>
              <a:ext cx="1554479" cy="75876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024F8286-AF2C-CA64-6CEF-79892B6CA390}"/>
                </a:ext>
              </a:extLst>
            </p:cNvPr>
            <p:cNvSpPr/>
            <p:nvPr/>
          </p:nvSpPr>
          <p:spPr bwMode="auto">
            <a:xfrm>
              <a:off x="8259943" y="152400"/>
              <a:ext cx="884057" cy="97220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F89F19DA-9049-DBB5-35FE-36D80DE84100}"/>
                </a:ext>
              </a:extLst>
            </p:cNvPr>
            <p:cNvSpPr/>
            <p:nvPr/>
          </p:nvSpPr>
          <p:spPr bwMode="auto">
            <a:xfrm>
              <a:off x="7589521" y="495406"/>
              <a:ext cx="828769" cy="34832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72ADD811-9DB6-B923-5741-8BC1089514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0" y="0"/>
              <a:ext cx="876300" cy="8286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13052683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E9EC4-DC98-F4CC-8695-BC29A0148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4C2239D-C0E7-20BB-A97E-0B91FFCD15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결과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dirty="0">
                <a:solidFill>
                  <a:srgbClr val="C00000"/>
                </a:solidFill>
              </a:rPr>
              <a:t>재방문 주기</a:t>
            </a:r>
            <a:r>
              <a:rPr lang="en-US" altLang="ko-KR" dirty="0">
                <a:solidFill>
                  <a:srgbClr val="C00000"/>
                </a:solidFill>
              </a:rPr>
              <a:t>(30</a:t>
            </a:r>
            <a:r>
              <a:rPr lang="ko-KR" altLang="en-US" dirty="0">
                <a:solidFill>
                  <a:srgbClr val="C00000"/>
                </a:solidFill>
              </a:rPr>
              <a:t>분 이내</a:t>
            </a:r>
            <a:r>
              <a:rPr lang="en-US" altLang="ko-KR" dirty="0">
                <a:solidFill>
                  <a:srgbClr val="C00000"/>
                </a:solidFill>
              </a:rPr>
              <a:t>)</a:t>
            </a:r>
            <a:r>
              <a:rPr lang="ko-KR" altLang="en-US" dirty="0">
                <a:solidFill>
                  <a:srgbClr val="C00000"/>
                </a:solidFill>
              </a:rPr>
              <a:t> </a:t>
            </a:r>
            <a:r>
              <a:rPr lang="ko-KR" altLang="en-US" dirty="0"/>
              <a:t>적용</a:t>
            </a:r>
            <a:endParaRPr lang="ko-KR" altLang="en-US" sz="40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72CB6BBB-5200-5ED2-A23F-4E9A5B1D23B2}"/>
              </a:ext>
            </a:extLst>
          </p:cNvPr>
          <p:cNvGrpSpPr/>
          <p:nvPr/>
        </p:nvGrpSpPr>
        <p:grpSpPr>
          <a:xfrm>
            <a:off x="0" y="0"/>
            <a:ext cx="9144000" cy="1124607"/>
            <a:chOff x="0" y="0"/>
            <a:chExt cx="9144000" cy="1124607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19E03C96-C4A4-B4E8-CBF0-CB22326A4B3F}"/>
                </a:ext>
              </a:extLst>
            </p:cNvPr>
            <p:cNvSpPr/>
            <p:nvPr/>
          </p:nvSpPr>
          <p:spPr bwMode="auto">
            <a:xfrm>
              <a:off x="7589521" y="0"/>
              <a:ext cx="1554479" cy="75876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A0D1C4BD-17FF-3D0C-AFE6-D36934B7D172}"/>
                </a:ext>
              </a:extLst>
            </p:cNvPr>
            <p:cNvSpPr/>
            <p:nvPr/>
          </p:nvSpPr>
          <p:spPr bwMode="auto">
            <a:xfrm>
              <a:off x="8259943" y="152400"/>
              <a:ext cx="884057" cy="97220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4F1055DD-5A27-24BF-A82C-C3533738D6AD}"/>
                </a:ext>
              </a:extLst>
            </p:cNvPr>
            <p:cNvSpPr/>
            <p:nvPr/>
          </p:nvSpPr>
          <p:spPr bwMode="auto">
            <a:xfrm>
              <a:off x="7589521" y="495406"/>
              <a:ext cx="828769" cy="34832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6B729DAB-0F3C-FFB3-E653-B324D1170F7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876300" cy="8286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52138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워커</a:t>
            </a:r>
            <a:r>
              <a:rPr lang="en-US" altLang="ko-KR" dirty="0"/>
              <a:t>-</a:t>
            </a:r>
            <a:r>
              <a:rPr lang="ko-KR" altLang="en-US" dirty="0"/>
              <a:t>델타 </a:t>
            </a:r>
            <a:r>
              <a:rPr lang="ko-KR" altLang="en-US" dirty="0" err="1"/>
              <a:t>위성군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최소 필요 위성 수 </a:t>
            </a:r>
            <a:r>
              <a:rPr lang="en-US" altLang="ko-KR" dirty="0"/>
              <a:t>6</a:t>
            </a:r>
            <a:r>
              <a:rPr lang="ko-KR" altLang="en-US" dirty="0"/>
              <a:t>대</a:t>
            </a:r>
            <a:r>
              <a:rPr lang="en-US" altLang="ko-KR" dirty="0"/>
              <a:t>)</a:t>
            </a:r>
          </a:p>
          <a:p>
            <a:pPr lvl="1">
              <a:defRPr/>
            </a:pPr>
            <a:r>
              <a:rPr lang="en-US" altLang="ko-KR" dirty="0"/>
              <a:t>Target : </a:t>
            </a:r>
            <a:r>
              <a:rPr lang="ko-KR" altLang="en-US" dirty="0"/>
              <a:t>서울</a:t>
            </a:r>
            <a:r>
              <a:rPr lang="en-US" altLang="ko-KR" dirty="0"/>
              <a:t> &amp; </a:t>
            </a:r>
            <a:r>
              <a:rPr lang="ko-KR" altLang="en-US" dirty="0"/>
              <a:t>블라디보스토크</a:t>
            </a:r>
            <a:r>
              <a:rPr lang="en-US" altLang="ko-KR" dirty="0"/>
              <a:t> (</a:t>
            </a:r>
            <a:r>
              <a:rPr lang="ko-KR" altLang="en-US" dirty="0"/>
              <a:t>궤도 평면 수 </a:t>
            </a:r>
            <a:r>
              <a:rPr lang="en-US" altLang="ko-KR" dirty="0"/>
              <a:t>: 6, 3, 2) 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28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Inc(40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, 45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, 50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) 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→ 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Seoul, Vladivostok</a:t>
            </a:r>
            <a:endParaRPr lang="ko-KR" altLang="en-US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44C6BEAC-F017-11C7-A996-3251772F78D4}"/>
              </a:ext>
            </a:extLst>
          </p:cNvPr>
          <p:cNvGraphicFramePr>
            <a:graphicFrameLocks noGrp="1"/>
          </p:cNvGraphicFramePr>
          <p:nvPr/>
        </p:nvGraphicFramePr>
        <p:xfrm>
          <a:off x="69300" y="1778562"/>
          <a:ext cx="9017144" cy="112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6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81393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98791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  <a:gridCol w="1017351">
                  <a:extLst>
                    <a:ext uri="{9D8B030D-6E8A-4147-A177-3AD203B41FA5}">
                      <a16:colId xmlns:a16="http://schemas.microsoft.com/office/drawing/2014/main" val="14929076"/>
                    </a:ext>
                  </a:extLst>
                </a:gridCol>
              </a:tblGrid>
              <a:tr h="0">
                <a:tc rowSpan="3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 err="1"/>
                        <a:t>AoI</a:t>
                      </a:r>
                      <a:r>
                        <a:rPr lang="en-US" altLang="ko-KR" sz="1400" dirty="0"/>
                        <a:t> &amp; Time </a:t>
                      </a:r>
                    </a:p>
                    <a:p>
                      <a:pPr algn="ctr" latinLnBrk="1">
                        <a:defRPr/>
                      </a:pPr>
                      <a:endParaRPr lang="en-US" altLang="ko-KR" sz="1400" dirty="0"/>
                    </a:p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Epoch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37.6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127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720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24.01.01</a:t>
                      </a:r>
                    </a:p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00:00:00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43.1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131.9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0838414"/>
                  </a:ext>
                </a:extLst>
              </a:tr>
              <a:tr h="22768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7270.14km</a:t>
                      </a:r>
                      <a:r>
                        <a:rPr lang="en-US" altLang="ko-KR" sz="1200" dirty="0"/>
                        <a:t>, 0, 40~50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128255"/>
                  </a:ext>
                </a:extLst>
              </a:tr>
            </a:tbl>
          </a:graphicData>
        </a:graphic>
      </p:graphicFrame>
      <p:grpSp>
        <p:nvGrpSpPr>
          <p:cNvPr id="27" name="그룹 26">
            <a:extLst>
              <a:ext uri="{FF2B5EF4-FFF2-40B4-BE49-F238E27FC236}">
                <a16:creationId xmlns:a16="http://schemas.microsoft.com/office/drawing/2014/main" id="{5B38C6C2-1147-3394-FE90-FD2AB3183643}"/>
              </a:ext>
            </a:extLst>
          </p:cNvPr>
          <p:cNvGrpSpPr/>
          <p:nvPr/>
        </p:nvGrpSpPr>
        <p:grpSpPr>
          <a:xfrm>
            <a:off x="69300" y="1808252"/>
            <a:ext cx="2579012" cy="722150"/>
            <a:chOff x="100830" y="1808252"/>
            <a:chExt cx="2579012" cy="722150"/>
          </a:xfrm>
        </p:grpSpPr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3E9126ED-5B8D-3999-B929-CC2C558CA33B}"/>
                </a:ext>
              </a:extLst>
            </p:cNvPr>
            <p:cNvCxnSpPr>
              <a:cxnSpLocks/>
            </p:cNvCxnSpPr>
            <p:nvPr/>
          </p:nvCxnSpPr>
          <p:spPr>
            <a:xfrm>
              <a:off x="100830" y="1808252"/>
              <a:ext cx="443700" cy="339047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E1C36C-B309-344F-5EB8-41B564C3574E}"/>
                </a:ext>
              </a:extLst>
            </p:cNvPr>
            <p:cNvCxnSpPr>
              <a:cxnSpLocks/>
            </p:cNvCxnSpPr>
            <p:nvPr/>
          </p:nvCxnSpPr>
          <p:spPr>
            <a:xfrm>
              <a:off x="544530" y="2147299"/>
              <a:ext cx="1691612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C6E87280-80D2-31AE-F945-F30F405CE714}"/>
                </a:ext>
              </a:extLst>
            </p:cNvPr>
            <p:cNvCxnSpPr>
              <a:cxnSpLocks/>
            </p:cNvCxnSpPr>
            <p:nvPr/>
          </p:nvCxnSpPr>
          <p:spPr>
            <a:xfrm>
              <a:off x="2236142" y="2147299"/>
              <a:ext cx="443700" cy="383103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91AF2AE9-8D44-AB28-E2FD-B3F71F4A4B1A}"/>
              </a:ext>
            </a:extLst>
          </p:cNvPr>
          <p:cNvGraphicFramePr>
            <a:graphicFrameLocks noGrp="1"/>
          </p:cNvGraphicFramePr>
          <p:nvPr/>
        </p:nvGraphicFramePr>
        <p:xfrm>
          <a:off x="3079454" y="3110670"/>
          <a:ext cx="2985091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1505">
                  <a:extLst>
                    <a:ext uri="{9D8B030D-6E8A-4147-A177-3AD203B41FA5}">
                      <a16:colId xmlns:a16="http://schemas.microsoft.com/office/drawing/2014/main" val="3789974849"/>
                    </a:ext>
                  </a:extLst>
                </a:gridCol>
                <a:gridCol w="3839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3971">
                  <a:extLst>
                    <a:ext uri="{9D8B030D-6E8A-4147-A177-3AD203B41FA5}">
                      <a16:colId xmlns:a16="http://schemas.microsoft.com/office/drawing/2014/main" val="2749405122"/>
                    </a:ext>
                  </a:extLst>
                </a:gridCol>
                <a:gridCol w="383972">
                  <a:extLst>
                    <a:ext uri="{9D8B030D-6E8A-4147-A177-3AD203B41FA5}">
                      <a16:colId xmlns:a16="http://schemas.microsoft.com/office/drawing/2014/main" val="4283662456"/>
                    </a:ext>
                  </a:extLst>
                </a:gridCol>
                <a:gridCol w="407224">
                  <a:extLst>
                    <a:ext uri="{9D8B030D-6E8A-4147-A177-3AD203B41FA5}">
                      <a16:colId xmlns:a16="http://schemas.microsoft.com/office/drawing/2014/main" val="4270349269"/>
                    </a:ext>
                  </a:extLst>
                </a:gridCol>
                <a:gridCol w="407223">
                  <a:extLst>
                    <a:ext uri="{9D8B030D-6E8A-4147-A177-3AD203B41FA5}">
                      <a16:colId xmlns:a16="http://schemas.microsoft.com/office/drawing/2014/main" val="2296791338"/>
                    </a:ext>
                  </a:extLst>
                </a:gridCol>
                <a:gridCol w="407224">
                  <a:extLst>
                    <a:ext uri="{9D8B030D-6E8A-4147-A177-3AD203B41FA5}">
                      <a16:colId xmlns:a16="http://schemas.microsoft.com/office/drawing/2014/main" val="219609416"/>
                    </a:ext>
                  </a:extLst>
                </a:gridCol>
              </a:tblGrid>
              <a:tr h="148797">
                <a:tc rowSpan="3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T:P:F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최대 재방문 주기</a:t>
                      </a: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(min)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1362372"/>
                  </a:ext>
                </a:extLst>
              </a:tr>
              <a:tr h="148797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서울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</a:rPr>
                        <a:t>블라디보스토크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8797">
                <a:tc v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en-US" altLang="ko-KR" sz="11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40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45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50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40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45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50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2820654"/>
                  </a:ext>
                </a:extLst>
              </a:tr>
              <a:tr h="25920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6:3:0</a:t>
                      </a:r>
                      <a:endParaRPr lang="ko-KR" altLang="en-US" sz="12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06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6:3:1</a:t>
                      </a:r>
                      <a:endParaRPr lang="ko-KR" altLang="en-US" sz="12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3676959"/>
                  </a:ext>
                </a:extLst>
              </a:tr>
              <a:tr h="21006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6:3:2</a:t>
                      </a:r>
                      <a:endParaRPr lang="ko-KR" altLang="en-US" sz="12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2889572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DA822DDD-B878-A0E2-317E-7668BF54CBF5}"/>
              </a:ext>
            </a:extLst>
          </p:cNvPr>
          <p:cNvGraphicFramePr>
            <a:graphicFrameLocks noGrp="1"/>
          </p:cNvGraphicFramePr>
          <p:nvPr/>
        </p:nvGraphicFramePr>
        <p:xfrm>
          <a:off x="6099134" y="3110670"/>
          <a:ext cx="2985091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1505">
                  <a:extLst>
                    <a:ext uri="{9D8B030D-6E8A-4147-A177-3AD203B41FA5}">
                      <a16:colId xmlns:a16="http://schemas.microsoft.com/office/drawing/2014/main" val="4133197705"/>
                    </a:ext>
                  </a:extLst>
                </a:gridCol>
                <a:gridCol w="383972">
                  <a:extLst>
                    <a:ext uri="{9D8B030D-6E8A-4147-A177-3AD203B41FA5}">
                      <a16:colId xmlns:a16="http://schemas.microsoft.com/office/drawing/2014/main" val="1358599067"/>
                    </a:ext>
                  </a:extLst>
                </a:gridCol>
                <a:gridCol w="383971">
                  <a:extLst>
                    <a:ext uri="{9D8B030D-6E8A-4147-A177-3AD203B41FA5}">
                      <a16:colId xmlns:a16="http://schemas.microsoft.com/office/drawing/2014/main" val="753851379"/>
                    </a:ext>
                  </a:extLst>
                </a:gridCol>
                <a:gridCol w="383972">
                  <a:extLst>
                    <a:ext uri="{9D8B030D-6E8A-4147-A177-3AD203B41FA5}">
                      <a16:colId xmlns:a16="http://schemas.microsoft.com/office/drawing/2014/main" val="3102141069"/>
                    </a:ext>
                  </a:extLst>
                </a:gridCol>
                <a:gridCol w="407224">
                  <a:extLst>
                    <a:ext uri="{9D8B030D-6E8A-4147-A177-3AD203B41FA5}">
                      <a16:colId xmlns:a16="http://schemas.microsoft.com/office/drawing/2014/main" val="3739752185"/>
                    </a:ext>
                  </a:extLst>
                </a:gridCol>
                <a:gridCol w="407223">
                  <a:extLst>
                    <a:ext uri="{9D8B030D-6E8A-4147-A177-3AD203B41FA5}">
                      <a16:colId xmlns:a16="http://schemas.microsoft.com/office/drawing/2014/main" val="4068059700"/>
                    </a:ext>
                  </a:extLst>
                </a:gridCol>
                <a:gridCol w="407224">
                  <a:extLst>
                    <a:ext uri="{9D8B030D-6E8A-4147-A177-3AD203B41FA5}">
                      <a16:colId xmlns:a16="http://schemas.microsoft.com/office/drawing/2014/main" val="3547229432"/>
                    </a:ext>
                  </a:extLst>
                </a:gridCol>
              </a:tblGrid>
              <a:tr h="148797">
                <a:tc rowSpan="3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T:P:F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최대 재방문 주기</a:t>
                      </a: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(min)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3409503"/>
                  </a:ext>
                </a:extLst>
              </a:tr>
              <a:tr h="148797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서울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</a:rPr>
                        <a:t>블라디보스토크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6283936"/>
                  </a:ext>
                </a:extLst>
              </a:tr>
              <a:tr h="148797">
                <a:tc v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en-US" altLang="ko-KR" sz="11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40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45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50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40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45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50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5961339"/>
                  </a:ext>
                </a:extLst>
              </a:tr>
              <a:tr h="25920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b="1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6:2:0</a:t>
                      </a:r>
                      <a:endParaRPr lang="ko-KR" altLang="en-US" sz="1200" b="1" dirty="0">
                        <a:solidFill>
                          <a:srgbClr val="FF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</a:t>
                      </a:r>
                      <a:endParaRPr lang="ko-KR" altLang="en-US" sz="1200" dirty="0">
                        <a:solidFill>
                          <a:srgbClr val="FF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28</a:t>
                      </a:r>
                      <a:endParaRPr lang="ko-KR" altLang="en-US" sz="1200" dirty="0">
                        <a:solidFill>
                          <a:srgbClr val="FF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9986638"/>
                  </a:ext>
                </a:extLst>
              </a:tr>
              <a:tr h="21006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b="1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6:2:1</a:t>
                      </a:r>
                      <a:endParaRPr lang="ko-KR" altLang="en-US" sz="1200" b="1" dirty="0">
                        <a:solidFill>
                          <a:srgbClr val="FF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22</a:t>
                      </a:r>
                      <a:endParaRPr lang="ko-KR" altLang="en-US" sz="1200" dirty="0">
                        <a:solidFill>
                          <a:srgbClr val="FF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82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</a:t>
                      </a:r>
                      <a:endParaRPr lang="ko-KR" altLang="en-US" sz="1200" dirty="0">
                        <a:solidFill>
                          <a:srgbClr val="FF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1353174"/>
                  </a:ext>
                </a:extLst>
              </a:tr>
            </a:tbl>
          </a:graphicData>
        </a:graphic>
      </p:graphicFrame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1179C958-32A4-D751-15C4-34017F69E1AE}"/>
              </a:ext>
            </a:extLst>
          </p:cNvPr>
          <p:cNvGraphicFramePr>
            <a:graphicFrameLocks noGrp="1"/>
          </p:cNvGraphicFramePr>
          <p:nvPr/>
        </p:nvGraphicFramePr>
        <p:xfrm>
          <a:off x="59775" y="3110670"/>
          <a:ext cx="2985091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1505">
                  <a:extLst>
                    <a:ext uri="{9D8B030D-6E8A-4147-A177-3AD203B41FA5}">
                      <a16:colId xmlns:a16="http://schemas.microsoft.com/office/drawing/2014/main" val="3789974849"/>
                    </a:ext>
                  </a:extLst>
                </a:gridCol>
                <a:gridCol w="3839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3971">
                  <a:extLst>
                    <a:ext uri="{9D8B030D-6E8A-4147-A177-3AD203B41FA5}">
                      <a16:colId xmlns:a16="http://schemas.microsoft.com/office/drawing/2014/main" val="2749405122"/>
                    </a:ext>
                  </a:extLst>
                </a:gridCol>
                <a:gridCol w="383972">
                  <a:extLst>
                    <a:ext uri="{9D8B030D-6E8A-4147-A177-3AD203B41FA5}">
                      <a16:colId xmlns:a16="http://schemas.microsoft.com/office/drawing/2014/main" val="4283662456"/>
                    </a:ext>
                  </a:extLst>
                </a:gridCol>
                <a:gridCol w="407224">
                  <a:extLst>
                    <a:ext uri="{9D8B030D-6E8A-4147-A177-3AD203B41FA5}">
                      <a16:colId xmlns:a16="http://schemas.microsoft.com/office/drawing/2014/main" val="4270349269"/>
                    </a:ext>
                  </a:extLst>
                </a:gridCol>
                <a:gridCol w="407223">
                  <a:extLst>
                    <a:ext uri="{9D8B030D-6E8A-4147-A177-3AD203B41FA5}">
                      <a16:colId xmlns:a16="http://schemas.microsoft.com/office/drawing/2014/main" val="2296791338"/>
                    </a:ext>
                  </a:extLst>
                </a:gridCol>
                <a:gridCol w="407224">
                  <a:extLst>
                    <a:ext uri="{9D8B030D-6E8A-4147-A177-3AD203B41FA5}">
                      <a16:colId xmlns:a16="http://schemas.microsoft.com/office/drawing/2014/main" val="219609416"/>
                    </a:ext>
                  </a:extLst>
                </a:gridCol>
              </a:tblGrid>
              <a:tr h="148797">
                <a:tc rowSpan="3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T:P:F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최대 재방문 주기</a:t>
                      </a: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(min)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1362372"/>
                  </a:ext>
                </a:extLst>
              </a:tr>
              <a:tr h="148797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서울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</a:rPr>
                        <a:t>블라디보스토크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8797">
                <a:tc v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en-US" altLang="ko-KR" sz="11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40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45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50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40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45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50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2820654"/>
                  </a:ext>
                </a:extLst>
              </a:tr>
              <a:tr h="25920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6:6:0</a:t>
                      </a:r>
                      <a:endParaRPr lang="ko-KR" altLang="en-US" sz="12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72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06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6:6:1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3676959"/>
                  </a:ext>
                </a:extLst>
              </a:tr>
              <a:tr h="21006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6:6:2</a:t>
                      </a:r>
                      <a:endParaRPr lang="ko-KR" altLang="en-US" sz="12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2889572"/>
                  </a:ext>
                </a:extLst>
              </a:tr>
              <a:tr h="21006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b="1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6:6:3</a:t>
                      </a:r>
                      <a:endParaRPr lang="ko-KR" altLang="en-US" sz="1200" b="1" dirty="0">
                        <a:solidFill>
                          <a:srgbClr val="FF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28</a:t>
                      </a:r>
                      <a:endParaRPr lang="ko-KR" altLang="en-US" sz="1200" dirty="0">
                        <a:solidFill>
                          <a:srgbClr val="FF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28</a:t>
                      </a:r>
                      <a:endParaRPr lang="ko-KR" altLang="en-US" sz="1200" dirty="0">
                        <a:solidFill>
                          <a:srgbClr val="FF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50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30</a:t>
                      </a:r>
                      <a:endParaRPr lang="ko-KR" altLang="en-US" sz="1200" dirty="0">
                        <a:solidFill>
                          <a:srgbClr val="FF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28</a:t>
                      </a:r>
                      <a:endParaRPr lang="ko-KR" altLang="en-US" sz="1200" dirty="0">
                        <a:solidFill>
                          <a:srgbClr val="FF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5637608"/>
                  </a:ext>
                </a:extLst>
              </a:tr>
              <a:tr h="21006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6:6:4</a:t>
                      </a:r>
                      <a:endParaRPr lang="ko-KR" altLang="en-US" sz="12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70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50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33312"/>
                  </a:ext>
                </a:extLst>
              </a:tr>
              <a:tr h="21006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6:6:5</a:t>
                      </a:r>
                      <a:endParaRPr lang="ko-KR" altLang="en-US" sz="12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88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88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88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88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86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86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5956199"/>
                  </a:ext>
                </a:extLst>
              </a:tr>
            </a:tbl>
          </a:graphicData>
        </a:graphic>
      </p:graphicFrame>
      <p:grpSp>
        <p:nvGrpSpPr>
          <p:cNvPr id="3" name="그룹 2">
            <a:extLst>
              <a:ext uri="{FF2B5EF4-FFF2-40B4-BE49-F238E27FC236}">
                <a16:creationId xmlns:a16="http://schemas.microsoft.com/office/drawing/2014/main" id="{DEFA8893-0AE9-55EC-0689-C0E243FE687C}"/>
              </a:ext>
            </a:extLst>
          </p:cNvPr>
          <p:cNvGrpSpPr/>
          <p:nvPr/>
        </p:nvGrpSpPr>
        <p:grpSpPr>
          <a:xfrm>
            <a:off x="0" y="0"/>
            <a:ext cx="9144000" cy="1124607"/>
            <a:chOff x="0" y="0"/>
            <a:chExt cx="9144000" cy="1124607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9161B944-DA25-F31E-2526-8768BD13A9D3}"/>
                </a:ext>
              </a:extLst>
            </p:cNvPr>
            <p:cNvSpPr/>
            <p:nvPr/>
          </p:nvSpPr>
          <p:spPr bwMode="auto">
            <a:xfrm>
              <a:off x="7589521" y="0"/>
              <a:ext cx="1554479" cy="75876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23CF12DA-04EC-9391-578A-12EF58FCC093}"/>
                </a:ext>
              </a:extLst>
            </p:cNvPr>
            <p:cNvSpPr/>
            <p:nvPr/>
          </p:nvSpPr>
          <p:spPr bwMode="auto">
            <a:xfrm>
              <a:off x="8259943" y="152400"/>
              <a:ext cx="884057" cy="97220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6F92D7C5-E83A-FEBD-D831-41643D1B4E85}"/>
                </a:ext>
              </a:extLst>
            </p:cNvPr>
            <p:cNvSpPr/>
            <p:nvPr/>
          </p:nvSpPr>
          <p:spPr bwMode="auto">
            <a:xfrm>
              <a:off x="7589521" y="495406"/>
              <a:ext cx="828769" cy="34832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FE2A31FB-F2FE-36F6-4ED3-18C90A326A1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876300" cy="8286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52335487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워커</a:t>
            </a:r>
            <a:r>
              <a:rPr lang="en-US" altLang="ko-KR" dirty="0"/>
              <a:t>-</a:t>
            </a:r>
            <a:r>
              <a:rPr lang="ko-KR" altLang="en-US" dirty="0"/>
              <a:t>델타 </a:t>
            </a:r>
            <a:r>
              <a:rPr lang="ko-KR" altLang="en-US" dirty="0" err="1"/>
              <a:t>위성군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최소 필요 위성 수 </a:t>
            </a:r>
            <a:r>
              <a:rPr lang="en-US" altLang="ko-KR" dirty="0"/>
              <a:t>6</a:t>
            </a:r>
            <a:r>
              <a:rPr lang="ko-KR" altLang="en-US" dirty="0"/>
              <a:t>대</a:t>
            </a:r>
            <a:r>
              <a:rPr lang="en-US" altLang="ko-KR" dirty="0"/>
              <a:t>)</a:t>
            </a:r>
          </a:p>
          <a:p>
            <a:pPr lvl="1">
              <a:defRPr/>
            </a:pPr>
            <a:r>
              <a:rPr lang="en-US" altLang="ko-KR" dirty="0"/>
              <a:t>Target : </a:t>
            </a:r>
            <a:r>
              <a:rPr lang="ko-KR" altLang="en-US" dirty="0"/>
              <a:t>서울</a:t>
            </a:r>
            <a:r>
              <a:rPr lang="en-US" altLang="ko-KR" dirty="0"/>
              <a:t> &amp; </a:t>
            </a:r>
            <a:r>
              <a:rPr lang="ko-KR" altLang="en-US" dirty="0"/>
              <a:t>블라디보스토크</a:t>
            </a:r>
            <a:r>
              <a:rPr lang="en-US" altLang="ko-KR" dirty="0"/>
              <a:t> </a:t>
            </a:r>
            <a:endParaRPr lang="en-US" altLang="ko-KR" b="1" dirty="0">
              <a:solidFill>
                <a:srgbClr val="FF0000"/>
              </a:solidFill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29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Inc(40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, 45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, 50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) 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→ 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Seoul, Vladivostok</a:t>
            </a:r>
            <a:endParaRPr lang="ko-KR" altLang="en-US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44C6BEAC-F017-11C7-A996-3251772F78D4}"/>
              </a:ext>
            </a:extLst>
          </p:cNvPr>
          <p:cNvGraphicFramePr>
            <a:graphicFrameLocks noGrp="1"/>
          </p:cNvGraphicFramePr>
          <p:nvPr/>
        </p:nvGraphicFramePr>
        <p:xfrm>
          <a:off x="69300" y="1778562"/>
          <a:ext cx="9017144" cy="112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6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81393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98791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  <a:gridCol w="1017351">
                  <a:extLst>
                    <a:ext uri="{9D8B030D-6E8A-4147-A177-3AD203B41FA5}">
                      <a16:colId xmlns:a16="http://schemas.microsoft.com/office/drawing/2014/main" val="14929076"/>
                    </a:ext>
                  </a:extLst>
                </a:gridCol>
              </a:tblGrid>
              <a:tr h="0">
                <a:tc rowSpan="3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 err="1"/>
                        <a:t>AoI</a:t>
                      </a:r>
                      <a:r>
                        <a:rPr lang="en-US" altLang="ko-KR" sz="1400" dirty="0"/>
                        <a:t> &amp; Time </a:t>
                      </a:r>
                    </a:p>
                    <a:p>
                      <a:pPr algn="ctr" latinLnBrk="1">
                        <a:defRPr/>
                      </a:pPr>
                      <a:endParaRPr lang="en-US" altLang="ko-KR" sz="1400" dirty="0"/>
                    </a:p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Epoch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37.57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127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720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24.01.01</a:t>
                      </a:r>
                    </a:p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00:00:00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43.1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131.9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0838414"/>
                  </a:ext>
                </a:extLst>
              </a:tr>
              <a:tr h="22768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7270.14km</a:t>
                      </a:r>
                      <a:r>
                        <a:rPr lang="en-US" altLang="ko-KR" sz="1200" dirty="0"/>
                        <a:t>, 0, 45~50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128255"/>
                  </a:ext>
                </a:extLst>
              </a:tr>
            </a:tbl>
          </a:graphicData>
        </a:graphic>
      </p:graphicFrame>
      <p:grpSp>
        <p:nvGrpSpPr>
          <p:cNvPr id="27" name="그룹 26">
            <a:extLst>
              <a:ext uri="{FF2B5EF4-FFF2-40B4-BE49-F238E27FC236}">
                <a16:creationId xmlns:a16="http://schemas.microsoft.com/office/drawing/2014/main" id="{5B38C6C2-1147-3394-FE90-FD2AB3183643}"/>
              </a:ext>
            </a:extLst>
          </p:cNvPr>
          <p:cNvGrpSpPr/>
          <p:nvPr/>
        </p:nvGrpSpPr>
        <p:grpSpPr>
          <a:xfrm>
            <a:off x="69300" y="1808252"/>
            <a:ext cx="2579012" cy="722150"/>
            <a:chOff x="100830" y="1808252"/>
            <a:chExt cx="2579012" cy="722150"/>
          </a:xfrm>
        </p:grpSpPr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3E9126ED-5B8D-3999-B929-CC2C558CA33B}"/>
                </a:ext>
              </a:extLst>
            </p:cNvPr>
            <p:cNvCxnSpPr>
              <a:cxnSpLocks/>
            </p:cNvCxnSpPr>
            <p:nvPr/>
          </p:nvCxnSpPr>
          <p:spPr>
            <a:xfrm>
              <a:off x="100830" y="1808252"/>
              <a:ext cx="443700" cy="339047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E1C36C-B309-344F-5EB8-41B564C3574E}"/>
                </a:ext>
              </a:extLst>
            </p:cNvPr>
            <p:cNvCxnSpPr>
              <a:cxnSpLocks/>
            </p:cNvCxnSpPr>
            <p:nvPr/>
          </p:nvCxnSpPr>
          <p:spPr>
            <a:xfrm>
              <a:off x="544530" y="2147299"/>
              <a:ext cx="1691612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C6E87280-80D2-31AE-F945-F30F405CE714}"/>
                </a:ext>
              </a:extLst>
            </p:cNvPr>
            <p:cNvCxnSpPr>
              <a:cxnSpLocks/>
            </p:cNvCxnSpPr>
            <p:nvPr/>
          </p:nvCxnSpPr>
          <p:spPr>
            <a:xfrm>
              <a:off x="2236142" y="2147299"/>
              <a:ext cx="443700" cy="383103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표 8">
                <a:extLst>
                  <a:ext uri="{FF2B5EF4-FFF2-40B4-BE49-F238E27FC236}">
                    <a16:creationId xmlns:a16="http://schemas.microsoft.com/office/drawing/2014/main" id="{8A527FAA-A2A0-9AD0-9B6C-2636F4E2FFC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00090" y="3309206"/>
              <a:ext cx="2905911" cy="21031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2578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41372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13721">
                      <a:extLst>
                        <a:ext uri="{9D8B030D-6E8A-4147-A177-3AD203B41FA5}">
                          <a16:colId xmlns:a16="http://schemas.microsoft.com/office/drawing/2014/main" val="4270349269"/>
                        </a:ext>
                      </a:extLst>
                    </a:gridCol>
                    <a:gridCol w="568643">
                      <a:extLst>
                        <a:ext uri="{9D8B030D-6E8A-4147-A177-3AD203B41FA5}">
                          <a16:colId xmlns:a16="http://schemas.microsoft.com/office/drawing/2014/main" val="1335621933"/>
                        </a:ext>
                      </a:extLst>
                    </a:gridCol>
                    <a:gridCol w="273476">
                      <a:extLst>
                        <a:ext uri="{9D8B030D-6E8A-4147-A177-3AD203B41FA5}">
                          <a16:colId xmlns:a16="http://schemas.microsoft.com/office/drawing/2014/main" val="4035825818"/>
                        </a:ext>
                      </a:extLst>
                    </a:gridCol>
                    <a:gridCol w="390346">
                      <a:extLst>
                        <a:ext uri="{9D8B030D-6E8A-4147-A177-3AD203B41FA5}">
                          <a16:colId xmlns:a16="http://schemas.microsoft.com/office/drawing/2014/main" val="1969606626"/>
                        </a:ext>
                      </a:extLst>
                    </a:gridCol>
                    <a:gridCol w="320224">
                      <a:extLst>
                        <a:ext uri="{9D8B030D-6E8A-4147-A177-3AD203B41FA5}">
                          <a16:colId xmlns:a16="http://schemas.microsoft.com/office/drawing/2014/main" val="1031696988"/>
                        </a:ext>
                      </a:extLst>
                    </a:gridCol>
                  </a:tblGrid>
                  <a:tr h="453913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위성</a:t>
                          </a:r>
                          <a:endParaRPr lang="en-US" altLang="ko-KR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algn="ctr" latinLnBrk="1">
                            <a:defRPr/>
                          </a:pPr>
                          <a:r>
                            <a:rPr lang="ko-KR" altLang="en-US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번호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en-US" altLang="ko-KR" sz="12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en-US" altLang="ko-KR" sz="12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ko-KR" sz="1200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a</m:t>
                                </m:r>
                              </m:oMath>
                            </m:oMathPara>
                          </a14:m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e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 err="1">
                              <a:latin typeface="Times New Roman"/>
                              <a:ea typeface="+mn-ea"/>
                              <a:cs typeface="Times New Roman"/>
                            </a:rPr>
                            <a:t>i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ω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99057536"/>
                      </a:ext>
                    </a:extLst>
                  </a:tr>
                  <a:tr h="2723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6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7270.</a:t>
                          </a: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14km</a:t>
                          </a: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6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6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ko-KR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6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723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60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180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723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120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723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180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180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723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240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723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300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180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표 8">
                <a:extLst>
                  <a:ext uri="{FF2B5EF4-FFF2-40B4-BE49-F238E27FC236}">
                    <a16:creationId xmlns:a16="http://schemas.microsoft.com/office/drawing/2014/main" id="{8A527FAA-A2A0-9AD0-9B6C-2636F4E2FFC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6045749"/>
                  </p:ext>
                </p:extLst>
              </p:nvPr>
            </p:nvGraphicFramePr>
            <p:xfrm>
              <a:off x="100090" y="3309206"/>
              <a:ext cx="2905911" cy="21031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2578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41372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13721">
                      <a:extLst>
                        <a:ext uri="{9D8B030D-6E8A-4147-A177-3AD203B41FA5}">
                          <a16:colId xmlns:a16="http://schemas.microsoft.com/office/drawing/2014/main" val="4270349269"/>
                        </a:ext>
                      </a:extLst>
                    </a:gridCol>
                    <a:gridCol w="568643">
                      <a:extLst>
                        <a:ext uri="{9D8B030D-6E8A-4147-A177-3AD203B41FA5}">
                          <a16:colId xmlns:a16="http://schemas.microsoft.com/office/drawing/2014/main" val="1335621933"/>
                        </a:ext>
                      </a:extLst>
                    </a:gridCol>
                    <a:gridCol w="273476">
                      <a:extLst>
                        <a:ext uri="{9D8B030D-6E8A-4147-A177-3AD203B41FA5}">
                          <a16:colId xmlns:a16="http://schemas.microsoft.com/office/drawing/2014/main" val="4035825818"/>
                        </a:ext>
                      </a:extLst>
                    </a:gridCol>
                    <a:gridCol w="390346">
                      <a:extLst>
                        <a:ext uri="{9D8B030D-6E8A-4147-A177-3AD203B41FA5}">
                          <a16:colId xmlns:a16="http://schemas.microsoft.com/office/drawing/2014/main" val="1969606626"/>
                        </a:ext>
                      </a:extLst>
                    </a:gridCol>
                    <a:gridCol w="320224">
                      <a:extLst>
                        <a:ext uri="{9D8B030D-6E8A-4147-A177-3AD203B41FA5}">
                          <a16:colId xmlns:a16="http://schemas.microsoft.com/office/drawing/2014/main" val="1031696988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위성</a:t>
                          </a:r>
                          <a:endParaRPr lang="en-US" altLang="ko-KR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algn="ctr" latinLnBrk="1">
                            <a:defRPr/>
                          </a:pPr>
                          <a:r>
                            <a:rPr lang="ko-KR" altLang="en-US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번호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26087" t="-1333" r="-471014" b="-37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9412" t="-1333" r="-377941" b="-37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40860" t="-1333" r="-176344" b="-37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e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 err="1">
                              <a:latin typeface="Times New Roman"/>
                              <a:ea typeface="+mn-ea"/>
                              <a:cs typeface="Times New Roman"/>
                            </a:rPr>
                            <a:t>i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ω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99057536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6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7270.</a:t>
                          </a: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14km</a:t>
                          </a: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6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6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ko-KR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6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60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180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120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180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180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240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300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180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2" name="직사각형 11">
            <a:extLst>
              <a:ext uri="{FF2B5EF4-FFF2-40B4-BE49-F238E27FC236}">
                <a16:creationId xmlns:a16="http://schemas.microsoft.com/office/drawing/2014/main" id="{813F3AB8-92AF-B07C-0090-59C3830E3035}"/>
              </a:ext>
            </a:extLst>
          </p:cNvPr>
          <p:cNvSpPr/>
          <p:nvPr/>
        </p:nvSpPr>
        <p:spPr bwMode="auto">
          <a:xfrm>
            <a:off x="257082" y="6242594"/>
            <a:ext cx="3747359" cy="570646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85A49B52-2AF5-A7CC-4EFB-7ED2C5B0EF29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53562" y="3319858"/>
              <a:ext cx="2947935" cy="21031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01541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42885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28854">
                      <a:extLst>
                        <a:ext uri="{9D8B030D-6E8A-4147-A177-3AD203B41FA5}">
                          <a16:colId xmlns:a16="http://schemas.microsoft.com/office/drawing/2014/main" val="4270349269"/>
                        </a:ext>
                      </a:extLst>
                    </a:gridCol>
                    <a:gridCol w="568643">
                      <a:extLst>
                        <a:ext uri="{9D8B030D-6E8A-4147-A177-3AD203B41FA5}">
                          <a16:colId xmlns:a16="http://schemas.microsoft.com/office/drawing/2014/main" val="1335621933"/>
                        </a:ext>
                      </a:extLst>
                    </a:gridCol>
                    <a:gridCol w="283480">
                      <a:extLst>
                        <a:ext uri="{9D8B030D-6E8A-4147-A177-3AD203B41FA5}">
                          <a16:colId xmlns:a16="http://schemas.microsoft.com/office/drawing/2014/main" val="4035825818"/>
                        </a:ext>
                      </a:extLst>
                    </a:gridCol>
                    <a:gridCol w="404625">
                      <a:extLst>
                        <a:ext uri="{9D8B030D-6E8A-4147-A177-3AD203B41FA5}">
                          <a16:colId xmlns:a16="http://schemas.microsoft.com/office/drawing/2014/main" val="1969606626"/>
                        </a:ext>
                      </a:extLst>
                    </a:gridCol>
                    <a:gridCol w="331938">
                      <a:extLst>
                        <a:ext uri="{9D8B030D-6E8A-4147-A177-3AD203B41FA5}">
                          <a16:colId xmlns:a16="http://schemas.microsoft.com/office/drawing/2014/main" val="1031696988"/>
                        </a:ext>
                      </a:extLst>
                    </a:gridCol>
                  </a:tblGrid>
                  <a:tr h="453913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위성</a:t>
                          </a:r>
                          <a:endParaRPr lang="en-US" altLang="ko-KR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algn="ctr" latinLnBrk="1">
                            <a:defRPr/>
                          </a:pPr>
                          <a:r>
                            <a:rPr lang="ko-KR" altLang="en-US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번호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en-US" altLang="ko-KR" sz="12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en-US" altLang="ko-KR" sz="12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ko-KR" sz="1200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a</m:t>
                                </m:r>
                              </m:oMath>
                            </m:oMathPara>
                          </a14:m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e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 err="1">
                              <a:latin typeface="Times New Roman"/>
                              <a:ea typeface="+mn-ea"/>
                              <a:cs typeface="Times New Roman"/>
                            </a:rPr>
                            <a:t>i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ω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99057536"/>
                      </a:ext>
                    </a:extLst>
                  </a:tr>
                  <a:tr h="2723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6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7270.</a:t>
                          </a: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14km</a:t>
                          </a: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6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6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6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723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180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723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723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180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723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723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180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85A49B52-2AF5-A7CC-4EFB-7ED2C5B0EF2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90193402"/>
                  </p:ext>
                </p:extLst>
              </p:nvPr>
            </p:nvGraphicFramePr>
            <p:xfrm>
              <a:off x="3053562" y="3319858"/>
              <a:ext cx="2947935" cy="21031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01541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42885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28854">
                      <a:extLst>
                        <a:ext uri="{9D8B030D-6E8A-4147-A177-3AD203B41FA5}">
                          <a16:colId xmlns:a16="http://schemas.microsoft.com/office/drawing/2014/main" val="4270349269"/>
                        </a:ext>
                      </a:extLst>
                    </a:gridCol>
                    <a:gridCol w="568643">
                      <a:extLst>
                        <a:ext uri="{9D8B030D-6E8A-4147-A177-3AD203B41FA5}">
                          <a16:colId xmlns:a16="http://schemas.microsoft.com/office/drawing/2014/main" val="1335621933"/>
                        </a:ext>
                      </a:extLst>
                    </a:gridCol>
                    <a:gridCol w="283480">
                      <a:extLst>
                        <a:ext uri="{9D8B030D-6E8A-4147-A177-3AD203B41FA5}">
                          <a16:colId xmlns:a16="http://schemas.microsoft.com/office/drawing/2014/main" val="4035825818"/>
                        </a:ext>
                      </a:extLst>
                    </a:gridCol>
                    <a:gridCol w="404625">
                      <a:extLst>
                        <a:ext uri="{9D8B030D-6E8A-4147-A177-3AD203B41FA5}">
                          <a16:colId xmlns:a16="http://schemas.microsoft.com/office/drawing/2014/main" val="1969606626"/>
                        </a:ext>
                      </a:extLst>
                    </a:gridCol>
                    <a:gridCol w="331938">
                      <a:extLst>
                        <a:ext uri="{9D8B030D-6E8A-4147-A177-3AD203B41FA5}">
                          <a16:colId xmlns:a16="http://schemas.microsoft.com/office/drawing/2014/main" val="1031696988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위성</a:t>
                          </a:r>
                          <a:endParaRPr lang="en-US" altLang="ko-KR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algn="ctr" latinLnBrk="1">
                            <a:defRPr/>
                          </a:pPr>
                          <a:r>
                            <a:rPr lang="ko-KR" altLang="en-US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번호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20000" t="-1333" r="-477143" b="-37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16901" t="-1333" r="-370423" b="-37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41935" t="-1333" r="-182796" b="-37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e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 err="1">
                              <a:latin typeface="Times New Roman"/>
                              <a:ea typeface="+mn-ea"/>
                              <a:cs typeface="Times New Roman"/>
                            </a:rPr>
                            <a:t>i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ω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99057536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6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7270.</a:t>
                          </a: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14km</a:t>
                          </a: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6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6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6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180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180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180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6EC17C8C-7048-0596-8BC6-3382F6C6A7C5}"/>
              </a:ext>
            </a:extLst>
          </p:cNvPr>
          <p:cNvSpPr txBox="1"/>
          <p:nvPr/>
        </p:nvSpPr>
        <p:spPr>
          <a:xfrm>
            <a:off x="291150" y="5512230"/>
            <a:ext cx="166985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en-US" altLang="ko-KR" sz="1400" dirty="0"/>
              <a:t>6:6:3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표 6">
                <a:extLst>
                  <a:ext uri="{FF2B5EF4-FFF2-40B4-BE49-F238E27FC236}">
                    <a16:creationId xmlns:a16="http://schemas.microsoft.com/office/drawing/2014/main" id="{9B31E681-3185-5DF4-68D8-0E36654B9F1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049058" y="3311686"/>
              <a:ext cx="2947935" cy="21031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01541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42885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28854">
                      <a:extLst>
                        <a:ext uri="{9D8B030D-6E8A-4147-A177-3AD203B41FA5}">
                          <a16:colId xmlns:a16="http://schemas.microsoft.com/office/drawing/2014/main" val="4270349269"/>
                        </a:ext>
                      </a:extLst>
                    </a:gridCol>
                    <a:gridCol w="568643">
                      <a:extLst>
                        <a:ext uri="{9D8B030D-6E8A-4147-A177-3AD203B41FA5}">
                          <a16:colId xmlns:a16="http://schemas.microsoft.com/office/drawing/2014/main" val="1335621933"/>
                        </a:ext>
                      </a:extLst>
                    </a:gridCol>
                    <a:gridCol w="283480">
                      <a:extLst>
                        <a:ext uri="{9D8B030D-6E8A-4147-A177-3AD203B41FA5}">
                          <a16:colId xmlns:a16="http://schemas.microsoft.com/office/drawing/2014/main" val="4035825818"/>
                        </a:ext>
                      </a:extLst>
                    </a:gridCol>
                    <a:gridCol w="404625">
                      <a:extLst>
                        <a:ext uri="{9D8B030D-6E8A-4147-A177-3AD203B41FA5}">
                          <a16:colId xmlns:a16="http://schemas.microsoft.com/office/drawing/2014/main" val="1969606626"/>
                        </a:ext>
                      </a:extLst>
                    </a:gridCol>
                    <a:gridCol w="331938">
                      <a:extLst>
                        <a:ext uri="{9D8B030D-6E8A-4147-A177-3AD203B41FA5}">
                          <a16:colId xmlns:a16="http://schemas.microsoft.com/office/drawing/2014/main" val="1031696988"/>
                        </a:ext>
                      </a:extLst>
                    </a:gridCol>
                  </a:tblGrid>
                  <a:tr h="453913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위성</a:t>
                          </a:r>
                          <a:endParaRPr lang="en-US" altLang="ko-KR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algn="ctr" latinLnBrk="1">
                            <a:defRPr/>
                          </a:pPr>
                          <a:r>
                            <a:rPr lang="ko-KR" altLang="en-US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번호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en-US" altLang="ko-KR" sz="12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en-US" altLang="ko-KR" sz="12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ko-KR" sz="1200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a</m:t>
                                </m:r>
                              </m:oMath>
                            </m:oMathPara>
                          </a14:m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e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 err="1">
                              <a:latin typeface="Times New Roman"/>
                              <a:ea typeface="+mn-ea"/>
                              <a:cs typeface="Times New Roman"/>
                            </a:rPr>
                            <a:t>i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ω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99057536"/>
                      </a:ext>
                    </a:extLst>
                  </a:tr>
                  <a:tr h="2723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6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7270.</a:t>
                          </a: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14km</a:t>
                          </a: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6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6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6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723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180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723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723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180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723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723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180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표 6">
                <a:extLst>
                  <a:ext uri="{FF2B5EF4-FFF2-40B4-BE49-F238E27FC236}">
                    <a16:creationId xmlns:a16="http://schemas.microsoft.com/office/drawing/2014/main" id="{9B31E681-3185-5DF4-68D8-0E36654B9F1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39694750"/>
                  </p:ext>
                </p:extLst>
              </p:nvPr>
            </p:nvGraphicFramePr>
            <p:xfrm>
              <a:off x="6049058" y="3311686"/>
              <a:ext cx="2947935" cy="21031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01541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42885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28854">
                      <a:extLst>
                        <a:ext uri="{9D8B030D-6E8A-4147-A177-3AD203B41FA5}">
                          <a16:colId xmlns:a16="http://schemas.microsoft.com/office/drawing/2014/main" val="4270349269"/>
                        </a:ext>
                      </a:extLst>
                    </a:gridCol>
                    <a:gridCol w="568643">
                      <a:extLst>
                        <a:ext uri="{9D8B030D-6E8A-4147-A177-3AD203B41FA5}">
                          <a16:colId xmlns:a16="http://schemas.microsoft.com/office/drawing/2014/main" val="1335621933"/>
                        </a:ext>
                      </a:extLst>
                    </a:gridCol>
                    <a:gridCol w="283480">
                      <a:extLst>
                        <a:ext uri="{9D8B030D-6E8A-4147-A177-3AD203B41FA5}">
                          <a16:colId xmlns:a16="http://schemas.microsoft.com/office/drawing/2014/main" val="4035825818"/>
                        </a:ext>
                      </a:extLst>
                    </a:gridCol>
                    <a:gridCol w="404625">
                      <a:extLst>
                        <a:ext uri="{9D8B030D-6E8A-4147-A177-3AD203B41FA5}">
                          <a16:colId xmlns:a16="http://schemas.microsoft.com/office/drawing/2014/main" val="1969606626"/>
                        </a:ext>
                      </a:extLst>
                    </a:gridCol>
                    <a:gridCol w="331938">
                      <a:extLst>
                        <a:ext uri="{9D8B030D-6E8A-4147-A177-3AD203B41FA5}">
                          <a16:colId xmlns:a16="http://schemas.microsoft.com/office/drawing/2014/main" val="1031696988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위성</a:t>
                          </a:r>
                          <a:endParaRPr lang="en-US" altLang="ko-KR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algn="ctr" latinLnBrk="1">
                            <a:defRPr/>
                          </a:pPr>
                          <a:r>
                            <a:rPr lang="ko-KR" altLang="en-US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번호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16901" t="-1333" r="-469014" b="-37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20000" t="-1333" r="-375714" b="-37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38298" t="-1333" r="-179787" b="-37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e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 err="1">
                              <a:latin typeface="Times New Roman"/>
                              <a:ea typeface="+mn-ea"/>
                              <a:cs typeface="Times New Roman"/>
                            </a:rPr>
                            <a:t>i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ω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99057536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6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7270.</a:t>
                          </a: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14km</a:t>
                          </a: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6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6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6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180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180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180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B3BA7139-4EAA-3254-B4D1-AB9D6BAA9257}"/>
              </a:ext>
            </a:extLst>
          </p:cNvPr>
          <p:cNvSpPr txBox="1"/>
          <p:nvPr/>
        </p:nvSpPr>
        <p:spPr>
          <a:xfrm>
            <a:off x="2409232" y="6212068"/>
            <a:ext cx="34266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ko-KR" altLang="en-US" sz="1400" dirty="0"/>
              <a:t>최종 설계된 궤도요소</a:t>
            </a:r>
            <a:endParaRPr lang="en-US" altLang="ko-KR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AB5099-3BDD-E80D-821C-2EFE28068ED0}"/>
              </a:ext>
            </a:extLst>
          </p:cNvPr>
          <p:cNvSpPr txBox="1"/>
          <p:nvPr/>
        </p:nvSpPr>
        <p:spPr>
          <a:xfrm>
            <a:off x="3287647" y="5511277"/>
            <a:ext cx="166985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en-US" altLang="ko-KR" sz="1400" dirty="0"/>
              <a:t>6:2:0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8AE91A2-CD73-6BAE-A6B5-272667371610}"/>
              </a:ext>
            </a:extLst>
          </p:cNvPr>
          <p:cNvSpPr txBox="1"/>
          <p:nvPr/>
        </p:nvSpPr>
        <p:spPr>
          <a:xfrm>
            <a:off x="6202879" y="5512229"/>
            <a:ext cx="166985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en-US" altLang="ko-KR" sz="1400" dirty="0"/>
              <a:t>6:2:1</a:t>
            </a: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7ECA6E19-4949-4226-9131-18FEF5B16DA6}"/>
              </a:ext>
            </a:extLst>
          </p:cNvPr>
          <p:cNvGrpSpPr/>
          <p:nvPr/>
        </p:nvGrpSpPr>
        <p:grpSpPr>
          <a:xfrm>
            <a:off x="0" y="0"/>
            <a:ext cx="9144000" cy="1124607"/>
            <a:chOff x="0" y="0"/>
            <a:chExt cx="9144000" cy="1124607"/>
          </a:xfrm>
        </p:grpSpPr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D4C804F5-47FD-199B-2C0F-1FB89DE3DC29}"/>
                </a:ext>
              </a:extLst>
            </p:cNvPr>
            <p:cNvSpPr/>
            <p:nvPr/>
          </p:nvSpPr>
          <p:spPr bwMode="auto">
            <a:xfrm>
              <a:off x="7589521" y="0"/>
              <a:ext cx="1554479" cy="75876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34FFB339-0891-5D00-40BB-71EDF65D6EF6}"/>
                </a:ext>
              </a:extLst>
            </p:cNvPr>
            <p:cNvSpPr/>
            <p:nvPr/>
          </p:nvSpPr>
          <p:spPr bwMode="auto">
            <a:xfrm>
              <a:off x="8259943" y="152400"/>
              <a:ext cx="884057" cy="97220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AF27013C-4B61-CB70-6E2D-329A91CA16A2}"/>
                </a:ext>
              </a:extLst>
            </p:cNvPr>
            <p:cNvSpPr/>
            <p:nvPr/>
          </p:nvSpPr>
          <p:spPr bwMode="auto">
            <a:xfrm>
              <a:off x="7589521" y="495406"/>
              <a:ext cx="828769" cy="34832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pic>
          <p:nvPicPr>
            <p:cNvPr id="20" name="그림 19">
              <a:extLst>
                <a:ext uri="{FF2B5EF4-FFF2-40B4-BE49-F238E27FC236}">
                  <a16:creationId xmlns:a16="http://schemas.microsoft.com/office/drawing/2014/main" id="{F97B9C84-397C-3E14-732A-3B4A807BAA5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0" y="0"/>
              <a:ext cx="876300" cy="8286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62200153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이진 선형 계획법 </a:t>
            </a:r>
            <a:r>
              <a:rPr lang="en-US" altLang="ko-KR" dirty="0"/>
              <a:t>(</a:t>
            </a:r>
            <a:r>
              <a:rPr lang="ko-KR" altLang="en-US" dirty="0"/>
              <a:t>최소 필요 위성 수 </a:t>
            </a:r>
            <a:r>
              <a:rPr lang="en-US" altLang="ko-KR" dirty="0"/>
              <a:t>6</a:t>
            </a:r>
            <a:r>
              <a:rPr lang="ko-KR" altLang="en-US" dirty="0"/>
              <a:t>대</a:t>
            </a:r>
            <a:r>
              <a:rPr lang="en-US" altLang="ko-KR" dirty="0"/>
              <a:t>) – ex.(3:3)</a:t>
            </a:r>
          </a:p>
          <a:p>
            <a:pPr lvl="1">
              <a:defRPr/>
            </a:pPr>
            <a:r>
              <a:rPr lang="en-US" altLang="ko-KR" dirty="0"/>
              <a:t>Target : </a:t>
            </a:r>
            <a:r>
              <a:rPr lang="ko-KR" altLang="en-US" dirty="0"/>
              <a:t>서울 </a:t>
            </a:r>
            <a:r>
              <a:rPr lang="en-US" altLang="ko-KR" dirty="0"/>
              <a:t>&amp; </a:t>
            </a:r>
            <a:r>
              <a:rPr lang="ko-KR" altLang="en-US" dirty="0"/>
              <a:t>블라디보스토크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30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lvl="0">
              <a:defRPr/>
            </a:pPr>
            <a:r>
              <a:rPr lang="en-US" altLang="ko-KR" sz="2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Orbit 1, 2 (</a:t>
            </a:r>
            <a:r>
              <a:rPr lang="ko-KR" altLang="en-US" sz="2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경사각</a:t>
            </a:r>
            <a:r>
              <a:rPr lang="en-US" altLang="ko-KR" sz="2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: 59, 65</a:t>
            </a:r>
            <a:r>
              <a:rPr lang="ko-KR" altLang="en-US" sz="2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˚</a:t>
            </a:r>
            <a:r>
              <a:rPr lang="en-US" altLang="ko-KR" sz="2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) </a:t>
            </a:r>
            <a:r>
              <a:rPr lang="ko-KR" altLang="en-US" sz="2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→ </a:t>
            </a:r>
            <a:r>
              <a:rPr lang="en-US" altLang="ko-KR" sz="2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Seoul, Vladivostok</a:t>
            </a:r>
            <a:endParaRPr lang="ko-KR" altLang="en-US" sz="2400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44C6BEAC-F017-11C7-A996-3251772F78D4}"/>
              </a:ext>
            </a:extLst>
          </p:cNvPr>
          <p:cNvGraphicFramePr>
            <a:graphicFrameLocks noGrp="1"/>
          </p:cNvGraphicFramePr>
          <p:nvPr/>
        </p:nvGraphicFramePr>
        <p:xfrm>
          <a:off x="69300" y="1778562"/>
          <a:ext cx="9017144" cy="140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6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81393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98791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  <a:gridCol w="1017351">
                  <a:extLst>
                    <a:ext uri="{9D8B030D-6E8A-4147-A177-3AD203B41FA5}">
                      <a16:colId xmlns:a16="http://schemas.microsoft.com/office/drawing/2014/main" val="14929076"/>
                    </a:ext>
                  </a:extLst>
                </a:gridCol>
              </a:tblGrid>
              <a:tr h="0">
                <a:tc rowSpan="3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 err="1"/>
                        <a:t>AoI</a:t>
                      </a:r>
                      <a:r>
                        <a:rPr lang="en-US" altLang="ko-KR" sz="1400" dirty="0"/>
                        <a:t> &amp; Time </a:t>
                      </a:r>
                    </a:p>
                    <a:p>
                      <a:pPr algn="ctr" latinLnBrk="1">
                        <a:defRPr/>
                      </a:pPr>
                      <a:endParaRPr lang="en-US" altLang="ko-KR" sz="1400" dirty="0"/>
                    </a:p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Epoch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37.57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127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720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24.01.01</a:t>
                      </a:r>
                    </a:p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00:00:00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43.1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131.9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5498218"/>
                  </a:ext>
                </a:extLst>
              </a:tr>
              <a:tr h="22768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7270.14km</a:t>
                      </a:r>
                      <a:r>
                        <a:rPr lang="en-US" altLang="ko-KR" sz="1200" dirty="0"/>
                        <a:t>, 0, 59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 = [15  421  487] (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푸른색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128255"/>
                  </a:ext>
                </a:extLst>
              </a:tr>
              <a:tr h="2276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7270.14km</a:t>
                      </a:r>
                      <a:r>
                        <a:rPr lang="en-US" altLang="ko-KR" sz="1200" dirty="0"/>
                        <a:t>, 0, 65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 = [0  297  701] (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주황색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2439844"/>
                  </a:ext>
                </a:extLst>
              </a:tr>
            </a:tbl>
          </a:graphicData>
        </a:graphic>
      </p:graphicFrame>
      <p:grpSp>
        <p:nvGrpSpPr>
          <p:cNvPr id="27" name="그룹 26">
            <a:extLst>
              <a:ext uri="{FF2B5EF4-FFF2-40B4-BE49-F238E27FC236}">
                <a16:creationId xmlns:a16="http://schemas.microsoft.com/office/drawing/2014/main" id="{5B38C6C2-1147-3394-FE90-FD2AB3183643}"/>
              </a:ext>
            </a:extLst>
          </p:cNvPr>
          <p:cNvGrpSpPr/>
          <p:nvPr/>
        </p:nvGrpSpPr>
        <p:grpSpPr>
          <a:xfrm>
            <a:off x="69300" y="1808252"/>
            <a:ext cx="2579012" cy="722150"/>
            <a:chOff x="100830" y="1808252"/>
            <a:chExt cx="2579012" cy="722150"/>
          </a:xfrm>
        </p:grpSpPr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3E9126ED-5B8D-3999-B929-CC2C558CA33B}"/>
                </a:ext>
              </a:extLst>
            </p:cNvPr>
            <p:cNvCxnSpPr>
              <a:cxnSpLocks/>
            </p:cNvCxnSpPr>
            <p:nvPr/>
          </p:nvCxnSpPr>
          <p:spPr>
            <a:xfrm>
              <a:off x="100830" y="1808252"/>
              <a:ext cx="443700" cy="339047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E1C36C-B309-344F-5EB8-41B564C3574E}"/>
                </a:ext>
              </a:extLst>
            </p:cNvPr>
            <p:cNvCxnSpPr>
              <a:cxnSpLocks/>
            </p:cNvCxnSpPr>
            <p:nvPr/>
          </p:nvCxnSpPr>
          <p:spPr>
            <a:xfrm>
              <a:off x="544530" y="2147299"/>
              <a:ext cx="1691612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C6E87280-80D2-31AE-F945-F30F405CE714}"/>
                </a:ext>
              </a:extLst>
            </p:cNvPr>
            <p:cNvCxnSpPr>
              <a:cxnSpLocks/>
            </p:cNvCxnSpPr>
            <p:nvPr/>
          </p:nvCxnSpPr>
          <p:spPr>
            <a:xfrm>
              <a:off x="2236142" y="2147299"/>
              <a:ext cx="443700" cy="383103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1E678F5A-2DB4-8DA7-5450-BDBF19F5D9E6}"/>
              </a:ext>
            </a:extLst>
          </p:cNvPr>
          <p:cNvSpPr txBox="1"/>
          <p:nvPr/>
        </p:nvSpPr>
        <p:spPr>
          <a:xfrm>
            <a:off x="564471" y="5870989"/>
            <a:ext cx="357520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en-US" altLang="ko-KR" sz="1400" dirty="0"/>
              <a:t>(</a:t>
            </a:r>
            <a:r>
              <a:rPr lang="ko-KR" altLang="en-US" sz="1400" dirty="0"/>
              <a:t>서울</a:t>
            </a:r>
            <a:r>
              <a:rPr lang="en-US" altLang="ko-KR" sz="1400" dirty="0"/>
              <a:t>)</a:t>
            </a:r>
            <a:r>
              <a:rPr lang="ko-KR" altLang="en-US" sz="1400" dirty="0"/>
              <a:t> 최대 재방문 주기</a:t>
            </a:r>
            <a:r>
              <a:rPr lang="en-US" altLang="ko-KR" sz="1400" dirty="0"/>
              <a:t> : 30</a:t>
            </a:r>
            <a:r>
              <a:rPr lang="ko-KR" altLang="en-US" sz="1400" dirty="0"/>
              <a:t>분</a:t>
            </a:r>
            <a:endParaRPr lang="en-US" altLang="ko-KR" sz="1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442DE0-5DFB-5C7E-45CD-79941AC161A3}"/>
              </a:ext>
            </a:extLst>
          </p:cNvPr>
          <p:cNvSpPr txBox="1"/>
          <p:nvPr/>
        </p:nvSpPr>
        <p:spPr>
          <a:xfrm>
            <a:off x="3835469" y="5887274"/>
            <a:ext cx="44729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en-US" altLang="ko-KR" sz="1400" dirty="0"/>
              <a:t>(</a:t>
            </a:r>
            <a:r>
              <a:rPr lang="ko-KR" altLang="en-US" sz="1400" dirty="0"/>
              <a:t>블라디보스토크</a:t>
            </a:r>
            <a:r>
              <a:rPr lang="en-US" altLang="ko-KR" sz="1400" dirty="0"/>
              <a:t>)</a:t>
            </a:r>
            <a:r>
              <a:rPr lang="ko-KR" altLang="en-US" sz="1400" dirty="0"/>
              <a:t> 최대 재방문 주기</a:t>
            </a:r>
            <a:r>
              <a:rPr lang="en-US" altLang="ko-KR" sz="1400" dirty="0"/>
              <a:t> : 30</a:t>
            </a:r>
            <a:r>
              <a:rPr lang="ko-KR" altLang="en-US" sz="1400" dirty="0"/>
              <a:t>분</a:t>
            </a:r>
            <a:endParaRPr lang="en-US" altLang="ko-KR" sz="14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F1C5CEB-2EBA-1C3A-871A-FCD9E2B54B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700" y="3254810"/>
            <a:ext cx="6867951" cy="267450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96CA3D5-7A37-057F-0E46-38E6B2BACF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2625" y="3283045"/>
            <a:ext cx="7215141" cy="2604229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4B89B2F-60A5-2490-72BE-417E68A90A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2625" y="3279339"/>
            <a:ext cx="7146116" cy="2595356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4D45EA14-EB62-6245-CE70-44183478410D}"/>
              </a:ext>
            </a:extLst>
          </p:cNvPr>
          <p:cNvSpPr/>
          <p:nvPr/>
        </p:nvSpPr>
        <p:spPr bwMode="auto">
          <a:xfrm>
            <a:off x="257082" y="6242594"/>
            <a:ext cx="3747359" cy="570646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 dirty="0"/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97D7A89E-E148-1D7C-D063-F3CF2B768724}"/>
              </a:ext>
            </a:extLst>
          </p:cNvPr>
          <p:cNvGrpSpPr/>
          <p:nvPr/>
        </p:nvGrpSpPr>
        <p:grpSpPr>
          <a:xfrm>
            <a:off x="0" y="0"/>
            <a:ext cx="9144000" cy="1124607"/>
            <a:chOff x="0" y="0"/>
            <a:chExt cx="9144000" cy="1124607"/>
          </a:xfrm>
        </p:grpSpPr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8385E5BD-DA93-B899-398C-6A647A65FC2F}"/>
                </a:ext>
              </a:extLst>
            </p:cNvPr>
            <p:cNvSpPr/>
            <p:nvPr/>
          </p:nvSpPr>
          <p:spPr bwMode="auto">
            <a:xfrm>
              <a:off x="7589521" y="0"/>
              <a:ext cx="1554479" cy="75876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43A6DF5A-FAD0-C008-ECD5-0F9DFF8A623C}"/>
                </a:ext>
              </a:extLst>
            </p:cNvPr>
            <p:cNvSpPr/>
            <p:nvPr/>
          </p:nvSpPr>
          <p:spPr bwMode="auto">
            <a:xfrm>
              <a:off x="8259943" y="152400"/>
              <a:ext cx="884057" cy="97220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DD3EFA55-0C0C-A942-4B58-D9E99B2BCFC9}"/>
                </a:ext>
              </a:extLst>
            </p:cNvPr>
            <p:cNvSpPr/>
            <p:nvPr/>
          </p:nvSpPr>
          <p:spPr bwMode="auto">
            <a:xfrm>
              <a:off x="7589521" y="495406"/>
              <a:ext cx="828769" cy="34832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pic>
          <p:nvPicPr>
            <p:cNvPr id="20" name="그림 19">
              <a:extLst>
                <a:ext uri="{FF2B5EF4-FFF2-40B4-BE49-F238E27FC236}">
                  <a16:creationId xmlns:a16="http://schemas.microsoft.com/office/drawing/2014/main" id="{4EAC1772-BA5A-1F0C-891D-D704BDE9174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0" y="0"/>
              <a:ext cx="876300" cy="8286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48831494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이진 선형 계획법 </a:t>
            </a:r>
            <a:r>
              <a:rPr lang="en-US" altLang="ko-KR" dirty="0"/>
              <a:t>(</a:t>
            </a:r>
            <a:r>
              <a:rPr lang="ko-KR" altLang="en-US" dirty="0"/>
              <a:t>최소 필요 위성 수 </a:t>
            </a:r>
            <a:r>
              <a:rPr lang="en-US" altLang="ko-KR" dirty="0"/>
              <a:t>6</a:t>
            </a:r>
            <a:r>
              <a:rPr lang="ko-KR" altLang="en-US" dirty="0"/>
              <a:t>대</a:t>
            </a:r>
            <a:r>
              <a:rPr lang="en-US" altLang="ko-KR" dirty="0"/>
              <a:t>) – ex.(3:3)</a:t>
            </a:r>
          </a:p>
          <a:p>
            <a:pPr lvl="1">
              <a:defRPr/>
            </a:pPr>
            <a:r>
              <a:rPr lang="en-US" altLang="ko-KR" dirty="0"/>
              <a:t>Target : </a:t>
            </a:r>
            <a:r>
              <a:rPr lang="ko-KR" altLang="en-US" dirty="0"/>
              <a:t>서울 </a:t>
            </a:r>
            <a:r>
              <a:rPr lang="en-US" altLang="ko-KR" dirty="0"/>
              <a:t>&amp; </a:t>
            </a:r>
            <a:r>
              <a:rPr lang="ko-KR" altLang="en-US" dirty="0"/>
              <a:t>블라디보스토크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31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lvl="0">
              <a:defRPr/>
            </a:pPr>
            <a:r>
              <a:rPr lang="en-US" altLang="ko-KR" sz="2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Orbit 1, 2 (</a:t>
            </a:r>
            <a:r>
              <a:rPr lang="ko-KR" altLang="en-US" sz="2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경사각</a:t>
            </a:r>
            <a:r>
              <a:rPr lang="en-US" altLang="ko-KR" sz="2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: 59, 65</a:t>
            </a:r>
            <a:r>
              <a:rPr lang="ko-KR" altLang="en-US" sz="2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˚</a:t>
            </a:r>
            <a:r>
              <a:rPr lang="en-US" altLang="ko-KR" sz="2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) </a:t>
            </a:r>
            <a:r>
              <a:rPr lang="ko-KR" altLang="en-US" sz="2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→ </a:t>
            </a:r>
            <a:r>
              <a:rPr lang="en-US" altLang="ko-KR" sz="2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Seoul, Vladivostok</a:t>
            </a:r>
            <a:endParaRPr lang="ko-KR" altLang="en-US" sz="2400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44C6BEAC-F017-11C7-A996-3251772F78D4}"/>
              </a:ext>
            </a:extLst>
          </p:cNvPr>
          <p:cNvGraphicFramePr>
            <a:graphicFrameLocks noGrp="1"/>
          </p:cNvGraphicFramePr>
          <p:nvPr/>
        </p:nvGraphicFramePr>
        <p:xfrm>
          <a:off x="69300" y="1778562"/>
          <a:ext cx="9017144" cy="140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6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81393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98791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  <a:gridCol w="1017351">
                  <a:extLst>
                    <a:ext uri="{9D8B030D-6E8A-4147-A177-3AD203B41FA5}">
                      <a16:colId xmlns:a16="http://schemas.microsoft.com/office/drawing/2014/main" val="14929076"/>
                    </a:ext>
                  </a:extLst>
                </a:gridCol>
              </a:tblGrid>
              <a:tr h="0">
                <a:tc rowSpan="3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 err="1"/>
                        <a:t>AoI</a:t>
                      </a:r>
                      <a:r>
                        <a:rPr lang="en-US" altLang="ko-KR" sz="1400" dirty="0"/>
                        <a:t> &amp; Time </a:t>
                      </a:r>
                    </a:p>
                    <a:p>
                      <a:pPr algn="ctr" latinLnBrk="1">
                        <a:defRPr/>
                      </a:pPr>
                      <a:endParaRPr lang="en-US" altLang="ko-KR" sz="1400" dirty="0"/>
                    </a:p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Epoch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37.57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127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720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24.01.01</a:t>
                      </a:r>
                    </a:p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00:00:00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43.1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131.9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5498218"/>
                  </a:ext>
                </a:extLst>
              </a:tr>
              <a:tr h="22768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7270.14km</a:t>
                      </a:r>
                      <a:r>
                        <a:rPr lang="en-US" altLang="ko-KR" sz="1200" dirty="0"/>
                        <a:t>, 0, 59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 = [15  421  487] (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푸른색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128255"/>
                  </a:ext>
                </a:extLst>
              </a:tr>
              <a:tr h="2276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7270.14km</a:t>
                      </a:r>
                      <a:r>
                        <a:rPr lang="en-US" altLang="ko-KR" sz="1200" dirty="0"/>
                        <a:t>, 0, 65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 = [0  297  701] (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주황색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2439844"/>
                  </a:ext>
                </a:extLst>
              </a:tr>
            </a:tbl>
          </a:graphicData>
        </a:graphic>
      </p:graphicFrame>
      <p:grpSp>
        <p:nvGrpSpPr>
          <p:cNvPr id="27" name="그룹 26">
            <a:extLst>
              <a:ext uri="{FF2B5EF4-FFF2-40B4-BE49-F238E27FC236}">
                <a16:creationId xmlns:a16="http://schemas.microsoft.com/office/drawing/2014/main" id="{5B38C6C2-1147-3394-FE90-FD2AB3183643}"/>
              </a:ext>
            </a:extLst>
          </p:cNvPr>
          <p:cNvGrpSpPr/>
          <p:nvPr/>
        </p:nvGrpSpPr>
        <p:grpSpPr>
          <a:xfrm>
            <a:off x="69300" y="1808252"/>
            <a:ext cx="2579012" cy="722150"/>
            <a:chOff x="100830" y="1808252"/>
            <a:chExt cx="2579012" cy="722150"/>
          </a:xfrm>
        </p:grpSpPr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3E9126ED-5B8D-3999-B929-CC2C558CA33B}"/>
                </a:ext>
              </a:extLst>
            </p:cNvPr>
            <p:cNvCxnSpPr>
              <a:cxnSpLocks/>
            </p:cNvCxnSpPr>
            <p:nvPr/>
          </p:nvCxnSpPr>
          <p:spPr>
            <a:xfrm>
              <a:off x="100830" y="1808252"/>
              <a:ext cx="443700" cy="339047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E1C36C-B309-344F-5EB8-41B564C3574E}"/>
                </a:ext>
              </a:extLst>
            </p:cNvPr>
            <p:cNvCxnSpPr>
              <a:cxnSpLocks/>
            </p:cNvCxnSpPr>
            <p:nvPr/>
          </p:nvCxnSpPr>
          <p:spPr>
            <a:xfrm>
              <a:off x="544530" y="2147299"/>
              <a:ext cx="1691612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C6E87280-80D2-31AE-F945-F30F405CE714}"/>
                </a:ext>
              </a:extLst>
            </p:cNvPr>
            <p:cNvCxnSpPr>
              <a:cxnSpLocks/>
            </p:cNvCxnSpPr>
            <p:nvPr/>
          </p:nvCxnSpPr>
          <p:spPr>
            <a:xfrm>
              <a:off x="2236142" y="2147299"/>
              <a:ext cx="443700" cy="383103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4D45EA14-EB62-6245-CE70-44183478410D}"/>
              </a:ext>
            </a:extLst>
          </p:cNvPr>
          <p:cNvSpPr/>
          <p:nvPr/>
        </p:nvSpPr>
        <p:spPr bwMode="auto">
          <a:xfrm>
            <a:off x="257082" y="6242594"/>
            <a:ext cx="3747359" cy="570646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7E0EAC3-F63D-8CCD-0459-B0502C81EB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625" y="3695950"/>
            <a:ext cx="7372350" cy="142875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7F886D1-F6BB-7644-2BAC-DF8C599B49E7}"/>
              </a:ext>
            </a:extLst>
          </p:cNvPr>
          <p:cNvSpPr txBox="1"/>
          <p:nvPr/>
        </p:nvSpPr>
        <p:spPr>
          <a:xfrm>
            <a:off x="2648312" y="5221981"/>
            <a:ext cx="34266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ko-KR" altLang="en-US" sz="1400" dirty="0"/>
              <a:t>최종 설계된 궤도요소</a:t>
            </a:r>
            <a:endParaRPr lang="en-US" altLang="ko-KR" sz="1400" dirty="0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E9D4C97E-F879-E4D6-461A-42C7C191DD14}"/>
              </a:ext>
            </a:extLst>
          </p:cNvPr>
          <p:cNvGrpSpPr/>
          <p:nvPr/>
        </p:nvGrpSpPr>
        <p:grpSpPr>
          <a:xfrm>
            <a:off x="0" y="0"/>
            <a:ext cx="9144000" cy="1124607"/>
            <a:chOff x="0" y="0"/>
            <a:chExt cx="9144000" cy="1124607"/>
          </a:xfrm>
        </p:grpSpPr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EB2C0A3D-AEB2-5B60-7E90-EC537C450CE5}"/>
                </a:ext>
              </a:extLst>
            </p:cNvPr>
            <p:cNvSpPr/>
            <p:nvPr/>
          </p:nvSpPr>
          <p:spPr bwMode="auto">
            <a:xfrm>
              <a:off x="7589521" y="0"/>
              <a:ext cx="1554479" cy="75876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C7DCE57F-19F4-53B7-E081-9380B724E15D}"/>
                </a:ext>
              </a:extLst>
            </p:cNvPr>
            <p:cNvSpPr/>
            <p:nvPr/>
          </p:nvSpPr>
          <p:spPr bwMode="auto">
            <a:xfrm>
              <a:off x="8259943" y="152400"/>
              <a:ext cx="884057" cy="97220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B72BAA1F-124E-F60C-610B-A1C071A67296}"/>
                </a:ext>
              </a:extLst>
            </p:cNvPr>
            <p:cNvSpPr/>
            <p:nvPr/>
          </p:nvSpPr>
          <p:spPr bwMode="auto">
            <a:xfrm>
              <a:off x="7589521" y="495406"/>
              <a:ext cx="828769" cy="34832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51862955-8A68-4EA9-C4EE-BEFB5C85888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0"/>
              <a:ext cx="876300" cy="8286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49208958"/>
      </p:ext>
    </p:ext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EAB37-ADF6-CC2E-7B2B-DFADDA13A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BEEB82F0-6B50-A8EB-CDAA-8192FFD513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6784" y="1812123"/>
            <a:ext cx="3471352" cy="3881547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0322B85-BD57-6CEA-9FC3-0AFC61272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32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05CFD35E-4261-BFD3-F8A1-9D625D887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세 관측기법의 성능 결과 및 포함 관계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C2028C06-A0E8-D77F-2DDE-4D41EF330B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780592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>
                <a:solidFill>
                  <a:srgbClr val="1F2328"/>
                </a:solidFill>
              </a:rPr>
              <a:t>이진 선형 계획법</a:t>
            </a:r>
            <a:r>
              <a:rPr lang="en-US" altLang="ko-KR" dirty="0">
                <a:solidFill>
                  <a:srgbClr val="1F2328"/>
                </a:solidFill>
              </a:rPr>
              <a:t> vs </a:t>
            </a:r>
            <a:r>
              <a:rPr lang="ko-KR" altLang="en-US" dirty="0">
                <a:solidFill>
                  <a:srgbClr val="1F2328"/>
                </a:solidFill>
              </a:rPr>
              <a:t>준대칭기법 </a:t>
            </a:r>
            <a:r>
              <a:rPr lang="en-US" altLang="ko-KR" dirty="0">
                <a:solidFill>
                  <a:srgbClr val="1F2328"/>
                </a:solidFill>
              </a:rPr>
              <a:t>vs </a:t>
            </a:r>
            <a:r>
              <a:rPr lang="ko-KR" altLang="en-US" dirty="0">
                <a:solidFill>
                  <a:srgbClr val="1F2328"/>
                </a:solidFill>
              </a:rPr>
              <a:t>워커</a:t>
            </a:r>
            <a:r>
              <a:rPr lang="en-US" altLang="ko-KR" dirty="0">
                <a:solidFill>
                  <a:srgbClr val="1F2328"/>
                </a:solidFill>
              </a:rPr>
              <a:t>-</a:t>
            </a:r>
            <a:r>
              <a:rPr lang="ko-KR" altLang="en-US" dirty="0">
                <a:solidFill>
                  <a:srgbClr val="1F2328"/>
                </a:solidFill>
              </a:rPr>
              <a:t>델타 </a:t>
            </a:r>
            <a:r>
              <a:rPr lang="ko-KR" altLang="en-US" dirty="0" err="1">
                <a:solidFill>
                  <a:srgbClr val="1F2328"/>
                </a:solidFill>
              </a:rPr>
              <a:t>위성군</a:t>
            </a:r>
            <a:endParaRPr lang="en-US" altLang="ko-KR" dirty="0">
              <a:solidFill>
                <a:srgbClr val="1F2328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C415A71-7F2D-8D6C-C54A-084CDC5645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699" y="2366385"/>
            <a:ext cx="4770085" cy="2773025"/>
          </a:xfrm>
          <a:prstGeom prst="rect">
            <a:avLst/>
          </a:prstGeom>
        </p:spPr>
      </p:pic>
      <p:grpSp>
        <p:nvGrpSpPr>
          <p:cNvPr id="3" name="그룹 2">
            <a:extLst>
              <a:ext uri="{FF2B5EF4-FFF2-40B4-BE49-F238E27FC236}">
                <a16:creationId xmlns:a16="http://schemas.microsoft.com/office/drawing/2014/main" id="{53594942-C3BE-C94A-C0ED-7D51D845C96D}"/>
              </a:ext>
            </a:extLst>
          </p:cNvPr>
          <p:cNvGrpSpPr/>
          <p:nvPr/>
        </p:nvGrpSpPr>
        <p:grpSpPr>
          <a:xfrm>
            <a:off x="0" y="0"/>
            <a:ext cx="9144000" cy="1124607"/>
            <a:chOff x="0" y="0"/>
            <a:chExt cx="9144000" cy="1124607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73DF9CB4-3D4D-9E11-DE99-888824212A27}"/>
                </a:ext>
              </a:extLst>
            </p:cNvPr>
            <p:cNvSpPr/>
            <p:nvPr/>
          </p:nvSpPr>
          <p:spPr bwMode="auto">
            <a:xfrm>
              <a:off x="7589521" y="0"/>
              <a:ext cx="1554479" cy="75876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D005BE85-2592-F6C7-721F-BE9F5821216E}"/>
                </a:ext>
              </a:extLst>
            </p:cNvPr>
            <p:cNvSpPr/>
            <p:nvPr/>
          </p:nvSpPr>
          <p:spPr bwMode="auto">
            <a:xfrm>
              <a:off x="8259943" y="152400"/>
              <a:ext cx="884057" cy="97220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BBF02213-7646-ACE4-75F4-EB8C68C26F27}"/>
                </a:ext>
              </a:extLst>
            </p:cNvPr>
            <p:cNvSpPr/>
            <p:nvPr/>
          </p:nvSpPr>
          <p:spPr bwMode="auto">
            <a:xfrm>
              <a:off x="7589521" y="495406"/>
              <a:ext cx="828769" cy="34832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928FC8E2-FD33-38A7-56B8-10CD8A27D63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0" y="0"/>
              <a:ext cx="876300" cy="8286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89527387"/>
      </p:ext>
    </p:extLst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E9EC4-DC98-F4CC-8695-BC29A0148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4C2239D-C0E7-20BB-A97E-0B91FFCD15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결과 </a:t>
            </a:r>
            <a:r>
              <a:rPr lang="en-US" altLang="ko-KR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:</a:t>
            </a:r>
            <a:br>
              <a:rPr lang="en-US" altLang="ko-KR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ko-KR" altLang="en-US" sz="4000" b="1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특정 시간의 재방문 주기 </a:t>
            </a:r>
            <a:r>
              <a:rPr lang="ko-KR" altLang="en-US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적용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FD50C0E9-EFEF-F45F-2E79-00FCBCEFF552}"/>
              </a:ext>
            </a:extLst>
          </p:cNvPr>
          <p:cNvGrpSpPr/>
          <p:nvPr/>
        </p:nvGrpSpPr>
        <p:grpSpPr>
          <a:xfrm>
            <a:off x="0" y="0"/>
            <a:ext cx="9144000" cy="1124607"/>
            <a:chOff x="0" y="0"/>
            <a:chExt cx="9144000" cy="1124607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E6DE1844-0AF4-E97C-95AD-0743739CBD36}"/>
                </a:ext>
              </a:extLst>
            </p:cNvPr>
            <p:cNvSpPr/>
            <p:nvPr/>
          </p:nvSpPr>
          <p:spPr bwMode="auto">
            <a:xfrm>
              <a:off x="7589521" y="0"/>
              <a:ext cx="1554479" cy="75876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F43DE2B2-2E93-17BB-D5D7-01C87BEA5BA0}"/>
                </a:ext>
              </a:extLst>
            </p:cNvPr>
            <p:cNvSpPr/>
            <p:nvPr/>
          </p:nvSpPr>
          <p:spPr bwMode="auto">
            <a:xfrm>
              <a:off x="8259943" y="152400"/>
              <a:ext cx="884057" cy="97220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DB46157D-63D7-7B7A-D8BB-58963DD1E5FE}"/>
                </a:ext>
              </a:extLst>
            </p:cNvPr>
            <p:cNvSpPr/>
            <p:nvPr/>
          </p:nvSpPr>
          <p:spPr bwMode="auto">
            <a:xfrm>
              <a:off x="7589521" y="495406"/>
              <a:ext cx="828769" cy="34832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315AD8D1-40F0-F9B8-53A7-F193C2BCE5D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876300" cy="8286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57440445"/>
      </p:ext>
    </p:extLst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EAB37-ADF6-CC2E-7B2B-DFADDA13A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3B039F1F-B273-B73E-9FEE-77302D015AEE}"/>
              </a:ext>
            </a:extLst>
          </p:cNvPr>
          <p:cNvSpPr/>
          <p:nvPr/>
        </p:nvSpPr>
        <p:spPr bwMode="auto">
          <a:xfrm>
            <a:off x="367862" y="6370254"/>
            <a:ext cx="3216166" cy="416691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0D7F4E2-220A-A982-4830-3692823054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971" y="3327147"/>
            <a:ext cx="3273600" cy="24552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C0123C8E-7C68-3F95-0283-D112581120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7378" y="3312763"/>
            <a:ext cx="3273600" cy="24552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0322B85-BD57-6CEA-9FC3-0AFC61272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34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05CFD35E-4261-BFD3-F8A1-9D625D887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lvl="0">
              <a:defRPr/>
            </a:pPr>
            <a:r>
              <a:rPr lang="en-US" altLang="ko-KR" sz="2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Orbit 1, 2 (</a:t>
            </a:r>
            <a:r>
              <a:rPr lang="ko-KR" altLang="en-US" sz="2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경사각</a:t>
            </a:r>
            <a:r>
              <a:rPr lang="en-US" altLang="ko-KR" sz="2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: 59, 65</a:t>
            </a:r>
            <a:r>
              <a:rPr lang="ko-KR" altLang="en-US" sz="2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˚</a:t>
            </a:r>
            <a:r>
              <a:rPr lang="en-US" altLang="ko-KR" sz="2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) </a:t>
            </a:r>
            <a:r>
              <a:rPr lang="ko-KR" altLang="en-US" sz="2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→ </a:t>
            </a:r>
            <a:r>
              <a:rPr lang="en-US" altLang="ko-KR" sz="2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Seoul, Vladivostok</a:t>
            </a:r>
            <a:endParaRPr lang="ko-KR" altLang="en-US" sz="2400" dirty="0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C2028C06-A0E8-D77F-2DDE-4D41EF330B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780592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>
                <a:solidFill>
                  <a:srgbClr val="1F2328"/>
                </a:solidFill>
              </a:rPr>
              <a:t>시간에 따라 다른 재방문 주기</a:t>
            </a:r>
            <a:r>
              <a:rPr lang="en-US" altLang="ko-KR" dirty="0">
                <a:solidFill>
                  <a:srgbClr val="1F2328"/>
                </a:solidFill>
              </a:rPr>
              <a:t>(</a:t>
            </a:r>
            <a:r>
              <a:rPr lang="ko-KR" altLang="en-US" dirty="0">
                <a:solidFill>
                  <a:srgbClr val="1F2328"/>
                </a:solidFill>
              </a:rPr>
              <a:t>이진 선형 계획법</a:t>
            </a:r>
            <a:r>
              <a:rPr lang="en-US" altLang="ko-KR" dirty="0">
                <a:solidFill>
                  <a:srgbClr val="1F2328"/>
                </a:solidFill>
              </a:rPr>
              <a:t>)</a:t>
            </a:r>
            <a:r>
              <a:rPr lang="en-US" altLang="ko-KR" dirty="0"/>
              <a:t> – ex.(3:3)</a:t>
            </a:r>
            <a:endParaRPr lang="en-US" altLang="ko-KR" dirty="0">
              <a:solidFill>
                <a:srgbClr val="1F2328"/>
              </a:solidFill>
            </a:endParaRPr>
          </a:p>
          <a:p>
            <a:pPr lvl="1">
              <a:defRPr/>
            </a:pPr>
            <a:r>
              <a:rPr lang="en-US" altLang="ko-KR" dirty="0">
                <a:solidFill>
                  <a:srgbClr val="1F2328"/>
                </a:solidFill>
              </a:rPr>
              <a:t>240 </a:t>
            </a:r>
            <a:r>
              <a:rPr lang="ko-KR" altLang="en-US" dirty="0">
                <a:solidFill>
                  <a:srgbClr val="1F2328"/>
                </a:solidFill>
              </a:rPr>
              <a:t>≤ </a:t>
            </a:r>
            <a:r>
              <a:rPr lang="en-US" altLang="ko-KR" dirty="0">
                <a:solidFill>
                  <a:srgbClr val="1F2328"/>
                </a:solidFill>
              </a:rPr>
              <a:t>n </a:t>
            </a:r>
            <a:r>
              <a:rPr lang="ko-KR" altLang="en-US" dirty="0">
                <a:solidFill>
                  <a:srgbClr val="1F2328"/>
                </a:solidFill>
              </a:rPr>
              <a:t>≤ </a:t>
            </a:r>
            <a:r>
              <a:rPr lang="en-US" altLang="ko-KR" dirty="0">
                <a:solidFill>
                  <a:srgbClr val="1F2328"/>
                </a:solidFill>
              </a:rPr>
              <a:t>480 </a:t>
            </a:r>
            <a:r>
              <a:rPr lang="ko-KR" altLang="en-US" dirty="0">
                <a:solidFill>
                  <a:srgbClr val="1F2328"/>
                </a:solidFill>
              </a:rPr>
              <a:t>구간의 재방문 주기 </a:t>
            </a:r>
            <a:r>
              <a:rPr lang="en-US" altLang="ko-KR" dirty="0">
                <a:solidFill>
                  <a:srgbClr val="1F2328"/>
                </a:solidFill>
              </a:rPr>
              <a:t>15</a:t>
            </a:r>
            <a:r>
              <a:rPr lang="ko-KR" altLang="en-US" dirty="0">
                <a:solidFill>
                  <a:srgbClr val="1F2328"/>
                </a:solidFill>
              </a:rPr>
              <a:t>분 적용</a:t>
            </a:r>
            <a:endParaRPr lang="en-US" altLang="ko-KR" dirty="0">
              <a:solidFill>
                <a:srgbClr val="1F2328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4E6C86-6DF6-971D-5188-2BD0AB99B258}"/>
              </a:ext>
            </a:extLst>
          </p:cNvPr>
          <p:cNvSpPr txBox="1"/>
          <p:nvPr/>
        </p:nvSpPr>
        <p:spPr>
          <a:xfrm>
            <a:off x="514166" y="5838353"/>
            <a:ext cx="357520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en-US" altLang="ko-KR" sz="1400" dirty="0"/>
              <a:t>(</a:t>
            </a:r>
            <a:r>
              <a:rPr lang="ko-KR" altLang="en-US" sz="1400" dirty="0"/>
              <a:t>서울</a:t>
            </a:r>
            <a:r>
              <a:rPr lang="en-US" altLang="ko-KR" sz="1400" dirty="0"/>
              <a:t>)</a:t>
            </a:r>
            <a:r>
              <a:rPr lang="ko-KR" altLang="en-US" sz="1400" dirty="0"/>
              <a:t> 최대 재방문 주기</a:t>
            </a:r>
            <a:r>
              <a:rPr lang="en-US" altLang="ko-KR" sz="1400" dirty="0"/>
              <a:t> : 14</a:t>
            </a:r>
            <a:r>
              <a:rPr lang="ko-KR" altLang="en-US" sz="1400" dirty="0"/>
              <a:t>분</a:t>
            </a:r>
            <a:endParaRPr lang="en-US" altLang="ko-KR" sz="1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ABDA939-4BF0-9302-07FA-A36A4FEB8D11}"/>
              </a:ext>
            </a:extLst>
          </p:cNvPr>
          <p:cNvSpPr txBox="1"/>
          <p:nvPr/>
        </p:nvSpPr>
        <p:spPr>
          <a:xfrm>
            <a:off x="3566052" y="5841706"/>
            <a:ext cx="44729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en-US" altLang="ko-KR" sz="1400" dirty="0"/>
              <a:t>(</a:t>
            </a:r>
            <a:r>
              <a:rPr lang="ko-KR" altLang="en-US" sz="1400" dirty="0"/>
              <a:t>블라디보스토크</a:t>
            </a:r>
            <a:r>
              <a:rPr lang="en-US" altLang="ko-KR" sz="1400" dirty="0"/>
              <a:t>)</a:t>
            </a:r>
            <a:r>
              <a:rPr lang="ko-KR" altLang="en-US" sz="1400" dirty="0"/>
              <a:t> 최대 재방문 주기</a:t>
            </a:r>
            <a:r>
              <a:rPr lang="en-US" altLang="ko-KR" sz="1400" dirty="0"/>
              <a:t> : 12</a:t>
            </a:r>
            <a:r>
              <a:rPr lang="ko-KR" altLang="en-US" sz="1400" dirty="0"/>
              <a:t>분</a:t>
            </a:r>
            <a:endParaRPr lang="en-US" altLang="ko-KR" sz="1400" dirty="0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E879AD3B-83A7-2198-841C-B1F635982ACA}"/>
              </a:ext>
            </a:extLst>
          </p:cNvPr>
          <p:cNvGrpSpPr/>
          <p:nvPr/>
        </p:nvGrpSpPr>
        <p:grpSpPr>
          <a:xfrm>
            <a:off x="1938326" y="6228590"/>
            <a:ext cx="5267348" cy="738664"/>
            <a:chOff x="1810401" y="5732741"/>
            <a:chExt cx="5267348" cy="73866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43E4753D-4E51-77D2-D1F0-D99B81C19BD3}"/>
                    </a:ext>
                  </a:extLst>
                </p:cNvPr>
                <p:cNvSpPr txBox="1"/>
                <p:nvPr/>
              </p:nvSpPr>
              <p:spPr>
                <a:xfrm>
                  <a:off x="3776505" y="5732741"/>
                  <a:ext cx="3301244" cy="73866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lvl="2">
                    <a:defRPr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𝑂𝑟𝑏𝑖𝑡</m:t>
                          </m:r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en-US" altLang="ko-KR" sz="1400" dirty="0"/>
                    <a:t> = [0  474  537]     </a:t>
                  </a:r>
                </a:p>
                <a:p>
                  <a:pPr lvl="2">
                    <a:defRPr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𝑂𝑟𝑏𝑖𝑡</m:t>
                          </m:r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en-US" altLang="ko-KR" sz="1400" dirty="0"/>
                    <a:t> = [10  185  600]</a:t>
                  </a:r>
                </a:p>
                <a:p>
                  <a:pPr lvl="2" algn="ctr">
                    <a:defRPr/>
                  </a:pPr>
                  <a:endParaRPr lang="en-US" altLang="ko-KR" sz="1400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43E4753D-4E51-77D2-D1F0-D99B81C19BD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76505" y="5732741"/>
                  <a:ext cx="3301244" cy="738664"/>
                </a:xfrm>
                <a:prstGeom prst="rect">
                  <a:avLst/>
                </a:prstGeom>
                <a:blipFill>
                  <a:blip r:embed="rId5"/>
                  <a:stretch>
                    <a:fillRect t="-1653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984CFD75-3F51-2FE7-6E35-1AA37F86A199}"/>
                    </a:ext>
                  </a:extLst>
                </p:cNvPr>
                <p:cNvSpPr txBox="1"/>
                <p:nvPr/>
              </p:nvSpPr>
              <p:spPr>
                <a:xfrm>
                  <a:off x="1810401" y="5823952"/>
                  <a:ext cx="3301244" cy="37638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lvl="2">
                    <a:defRPr/>
                  </a:pPr>
                  <a14:m>
                    <m:oMath xmlns:m="http://schemas.openxmlformats.org/officeDocument/2006/math"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총</m:t>
                      </m:r>
                    </m:oMath>
                  </a14:m>
                  <a:r>
                    <a:rPr lang="en-US" altLang="ko-KR" dirty="0"/>
                    <a:t> 6</a:t>
                  </a:r>
                  <a:r>
                    <a:rPr lang="ko-KR" altLang="en-US" dirty="0"/>
                    <a:t>대 위성 필요</a:t>
                  </a:r>
                  <a:endParaRPr lang="en-US" altLang="ko-KR" dirty="0"/>
                </a:p>
              </p:txBody>
            </p:sp>
          </mc:Choice>
          <mc:Fallback xmlns="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984CFD75-3F51-2FE7-6E35-1AA37F86A1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10401" y="5823952"/>
                  <a:ext cx="3301244" cy="376385"/>
                </a:xfrm>
                <a:prstGeom prst="rect">
                  <a:avLst/>
                </a:prstGeom>
                <a:blipFill>
                  <a:blip r:embed="rId6"/>
                  <a:stretch>
                    <a:fillRect t="-8197" b="-2623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" name="화살표: 오른쪽 4">
              <a:extLst>
                <a:ext uri="{FF2B5EF4-FFF2-40B4-BE49-F238E27FC236}">
                  <a16:creationId xmlns:a16="http://schemas.microsoft.com/office/drawing/2014/main" id="{6D9D6DFF-6E8C-542B-BB04-214B080B1B95}"/>
                </a:ext>
              </a:extLst>
            </p:cNvPr>
            <p:cNvSpPr/>
            <p:nvPr/>
          </p:nvSpPr>
          <p:spPr bwMode="auto">
            <a:xfrm>
              <a:off x="2129311" y="5848929"/>
              <a:ext cx="491535" cy="351408"/>
            </a:xfrm>
            <a:prstGeom prst="rightArrow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</p:grp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2208F599-88A5-F7DA-7817-C00C9B98E8FD}"/>
              </a:ext>
            </a:extLst>
          </p:cNvPr>
          <p:cNvGraphicFramePr>
            <a:graphicFrameLocks noGrp="1"/>
          </p:cNvGraphicFramePr>
          <p:nvPr/>
        </p:nvGraphicFramePr>
        <p:xfrm>
          <a:off x="69300" y="1778562"/>
          <a:ext cx="9017144" cy="140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6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81393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98791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  <a:gridCol w="1017351">
                  <a:extLst>
                    <a:ext uri="{9D8B030D-6E8A-4147-A177-3AD203B41FA5}">
                      <a16:colId xmlns:a16="http://schemas.microsoft.com/office/drawing/2014/main" val="14929076"/>
                    </a:ext>
                  </a:extLst>
                </a:gridCol>
              </a:tblGrid>
              <a:tr h="0">
                <a:tc rowSpan="3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 err="1"/>
                        <a:t>AoI</a:t>
                      </a:r>
                      <a:r>
                        <a:rPr lang="en-US" altLang="ko-KR" sz="1400" dirty="0"/>
                        <a:t> &amp; Time </a:t>
                      </a:r>
                    </a:p>
                    <a:p>
                      <a:pPr algn="ctr" latinLnBrk="1">
                        <a:defRPr/>
                      </a:pPr>
                      <a:endParaRPr lang="en-US" altLang="ko-KR" sz="1400" dirty="0"/>
                    </a:p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Epoch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37.57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127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720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24.01.01</a:t>
                      </a:r>
                    </a:p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00:00:00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43.1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131.9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5498218"/>
                  </a:ext>
                </a:extLst>
              </a:tr>
              <a:tr h="22768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7270.14km</a:t>
                      </a:r>
                      <a:r>
                        <a:rPr lang="en-US" altLang="ko-KR" sz="1200" dirty="0"/>
                        <a:t>, 0, 59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 = [15  421  487] (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푸른색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128255"/>
                  </a:ext>
                </a:extLst>
              </a:tr>
              <a:tr h="2276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7270.14km</a:t>
                      </a:r>
                      <a:r>
                        <a:rPr lang="en-US" altLang="ko-KR" sz="1200" dirty="0"/>
                        <a:t>, 0, 65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 = [0  297  701] (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주황색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2439844"/>
                  </a:ext>
                </a:extLst>
              </a:tr>
            </a:tbl>
          </a:graphicData>
        </a:graphic>
      </p:graphicFrame>
      <p:grpSp>
        <p:nvGrpSpPr>
          <p:cNvPr id="15" name="그룹 14">
            <a:extLst>
              <a:ext uri="{FF2B5EF4-FFF2-40B4-BE49-F238E27FC236}">
                <a16:creationId xmlns:a16="http://schemas.microsoft.com/office/drawing/2014/main" id="{1A3E134A-3D40-23E0-3735-5D84BF99B072}"/>
              </a:ext>
            </a:extLst>
          </p:cNvPr>
          <p:cNvGrpSpPr/>
          <p:nvPr/>
        </p:nvGrpSpPr>
        <p:grpSpPr>
          <a:xfrm>
            <a:off x="69300" y="1808252"/>
            <a:ext cx="2579012" cy="722150"/>
            <a:chOff x="100830" y="1808252"/>
            <a:chExt cx="2579012" cy="722150"/>
          </a:xfrm>
        </p:grpSpPr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1F741599-4821-66C4-8982-26F7990C88D7}"/>
                </a:ext>
              </a:extLst>
            </p:cNvPr>
            <p:cNvCxnSpPr>
              <a:cxnSpLocks/>
            </p:cNvCxnSpPr>
            <p:nvPr/>
          </p:nvCxnSpPr>
          <p:spPr>
            <a:xfrm>
              <a:off x="100830" y="1808252"/>
              <a:ext cx="443700" cy="339047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90F4E404-1C2D-F0BD-B5A5-9D0F87FD7D81}"/>
                </a:ext>
              </a:extLst>
            </p:cNvPr>
            <p:cNvCxnSpPr>
              <a:cxnSpLocks/>
            </p:cNvCxnSpPr>
            <p:nvPr/>
          </p:nvCxnSpPr>
          <p:spPr>
            <a:xfrm>
              <a:off x="544530" y="2147299"/>
              <a:ext cx="1691612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B53717E7-6DDA-B98D-B346-754FA52421AE}"/>
                </a:ext>
              </a:extLst>
            </p:cNvPr>
            <p:cNvCxnSpPr>
              <a:cxnSpLocks/>
            </p:cNvCxnSpPr>
            <p:nvPr/>
          </p:nvCxnSpPr>
          <p:spPr>
            <a:xfrm>
              <a:off x="2236142" y="2147299"/>
              <a:ext cx="443700" cy="383103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99C7E035-5B8D-FB53-3F26-3196A512A2D7}"/>
              </a:ext>
            </a:extLst>
          </p:cNvPr>
          <p:cNvGrpSpPr/>
          <p:nvPr/>
        </p:nvGrpSpPr>
        <p:grpSpPr>
          <a:xfrm>
            <a:off x="0" y="0"/>
            <a:ext cx="9144000" cy="1124607"/>
            <a:chOff x="0" y="0"/>
            <a:chExt cx="9144000" cy="1124607"/>
          </a:xfrm>
        </p:grpSpPr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EF832AAD-2617-F42A-19C2-6FC5ED052B9A}"/>
                </a:ext>
              </a:extLst>
            </p:cNvPr>
            <p:cNvSpPr/>
            <p:nvPr/>
          </p:nvSpPr>
          <p:spPr bwMode="auto">
            <a:xfrm>
              <a:off x="7589521" y="0"/>
              <a:ext cx="1554479" cy="75876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A543B71E-BBD5-23BD-2492-15275186944A}"/>
                </a:ext>
              </a:extLst>
            </p:cNvPr>
            <p:cNvSpPr/>
            <p:nvPr/>
          </p:nvSpPr>
          <p:spPr bwMode="auto">
            <a:xfrm>
              <a:off x="8259943" y="152400"/>
              <a:ext cx="884057" cy="97220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83D92CC1-C776-508C-F01B-0B7DE5F03570}"/>
                </a:ext>
              </a:extLst>
            </p:cNvPr>
            <p:cNvSpPr/>
            <p:nvPr/>
          </p:nvSpPr>
          <p:spPr bwMode="auto">
            <a:xfrm>
              <a:off x="7589521" y="495406"/>
              <a:ext cx="828769" cy="34832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pic>
          <p:nvPicPr>
            <p:cNvPr id="23" name="그림 22">
              <a:extLst>
                <a:ext uri="{FF2B5EF4-FFF2-40B4-BE49-F238E27FC236}">
                  <a16:creationId xmlns:a16="http://schemas.microsoft.com/office/drawing/2014/main" id="{E66E379E-6905-D47F-4074-39216F6167E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0" y="0"/>
              <a:ext cx="876300" cy="8286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33136312"/>
      </p:ext>
    </p:extLst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EAB37-ADF6-CC2E-7B2B-DFADDA13A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08871403-C62B-5095-2BA8-760F8A200345}"/>
              </a:ext>
            </a:extLst>
          </p:cNvPr>
          <p:cNvGraphicFramePr>
            <a:graphicFrameLocks noGrp="1"/>
          </p:cNvGraphicFramePr>
          <p:nvPr/>
        </p:nvGraphicFramePr>
        <p:xfrm>
          <a:off x="6099134" y="2983074"/>
          <a:ext cx="2985091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1505">
                  <a:extLst>
                    <a:ext uri="{9D8B030D-6E8A-4147-A177-3AD203B41FA5}">
                      <a16:colId xmlns:a16="http://schemas.microsoft.com/office/drawing/2014/main" val="4133197705"/>
                    </a:ext>
                  </a:extLst>
                </a:gridCol>
                <a:gridCol w="383972">
                  <a:extLst>
                    <a:ext uri="{9D8B030D-6E8A-4147-A177-3AD203B41FA5}">
                      <a16:colId xmlns:a16="http://schemas.microsoft.com/office/drawing/2014/main" val="1358599067"/>
                    </a:ext>
                  </a:extLst>
                </a:gridCol>
                <a:gridCol w="383971">
                  <a:extLst>
                    <a:ext uri="{9D8B030D-6E8A-4147-A177-3AD203B41FA5}">
                      <a16:colId xmlns:a16="http://schemas.microsoft.com/office/drawing/2014/main" val="753851379"/>
                    </a:ext>
                  </a:extLst>
                </a:gridCol>
                <a:gridCol w="383972">
                  <a:extLst>
                    <a:ext uri="{9D8B030D-6E8A-4147-A177-3AD203B41FA5}">
                      <a16:colId xmlns:a16="http://schemas.microsoft.com/office/drawing/2014/main" val="3102141069"/>
                    </a:ext>
                  </a:extLst>
                </a:gridCol>
                <a:gridCol w="407224">
                  <a:extLst>
                    <a:ext uri="{9D8B030D-6E8A-4147-A177-3AD203B41FA5}">
                      <a16:colId xmlns:a16="http://schemas.microsoft.com/office/drawing/2014/main" val="3739752185"/>
                    </a:ext>
                  </a:extLst>
                </a:gridCol>
                <a:gridCol w="407223">
                  <a:extLst>
                    <a:ext uri="{9D8B030D-6E8A-4147-A177-3AD203B41FA5}">
                      <a16:colId xmlns:a16="http://schemas.microsoft.com/office/drawing/2014/main" val="4068059700"/>
                    </a:ext>
                  </a:extLst>
                </a:gridCol>
                <a:gridCol w="407224">
                  <a:extLst>
                    <a:ext uri="{9D8B030D-6E8A-4147-A177-3AD203B41FA5}">
                      <a16:colId xmlns:a16="http://schemas.microsoft.com/office/drawing/2014/main" val="3547229432"/>
                    </a:ext>
                  </a:extLst>
                </a:gridCol>
              </a:tblGrid>
              <a:tr h="148797">
                <a:tc rowSpan="3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T:P:F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최대 재방문 주기</a:t>
                      </a: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(min)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3409503"/>
                  </a:ext>
                </a:extLst>
              </a:tr>
              <a:tr h="148797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서울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</a:rPr>
                        <a:t>블라디보스토크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6283936"/>
                  </a:ext>
                </a:extLst>
              </a:tr>
              <a:tr h="148797">
                <a:tc v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en-US" altLang="ko-KR" sz="11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40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45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50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40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45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50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5961339"/>
                  </a:ext>
                </a:extLst>
              </a:tr>
              <a:tr h="25920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6:2:0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9986638"/>
                  </a:ext>
                </a:extLst>
              </a:tr>
              <a:tr h="21006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6:2:1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78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1353174"/>
                  </a:ext>
                </a:extLst>
              </a:tr>
            </a:tbl>
          </a:graphicData>
        </a:graphic>
      </p:graphicFrame>
      <p:sp>
        <p:nvSpPr>
          <p:cNvPr id="25" name="직사각형 24">
            <a:extLst>
              <a:ext uri="{FF2B5EF4-FFF2-40B4-BE49-F238E27FC236}">
                <a16:creationId xmlns:a16="http://schemas.microsoft.com/office/drawing/2014/main" id="{7460CF99-2F97-F994-1C3C-E58FB8B65ED0}"/>
              </a:ext>
            </a:extLst>
          </p:cNvPr>
          <p:cNvSpPr/>
          <p:nvPr/>
        </p:nvSpPr>
        <p:spPr bwMode="auto">
          <a:xfrm>
            <a:off x="367862" y="6370254"/>
            <a:ext cx="3216166" cy="416691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0322B85-BD57-6CEA-9FC3-0AFC61272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35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05CFD35E-4261-BFD3-F8A1-9D625D887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Inc(40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, 45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, 50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) 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→ 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Seoul, Vladivostok</a:t>
            </a:r>
            <a:endParaRPr lang="ko-KR" altLang="en-US" dirty="0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C2028C06-A0E8-D77F-2DDE-4D41EF330B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780592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>
                <a:solidFill>
                  <a:srgbClr val="1F2328"/>
                </a:solidFill>
              </a:rPr>
              <a:t>시간에 따라 다른 재방문 주기</a:t>
            </a:r>
            <a:r>
              <a:rPr lang="en-US" altLang="ko-KR" dirty="0">
                <a:solidFill>
                  <a:srgbClr val="1F2328"/>
                </a:solidFill>
              </a:rPr>
              <a:t>(</a:t>
            </a:r>
            <a:r>
              <a:rPr lang="ko-KR" altLang="en-US" dirty="0">
                <a:solidFill>
                  <a:srgbClr val="1F2328"/>
                </a:solidFill>
              </a:rPr>
              <a:t>워커</a:t>
            </a:r>
            <a:r>
              <a:rPr lang="en-US" altLang="ko-KR" dirty="0">
                <a:solidFill>
                  <a:srgbClr val="1F2328"/>
                </a:solidFill>
              </a:rPr>
              <a:t>-</a:t>
            </a:r>
            <a:r>
              <a:rPr lang="ko-KR" altLang="en-US" dirty="0">
                <a:solidFill>
                  <a:srgbClr val="1F2328"/>
                </a:solidFill>
              </a:rPr>
              <a:t>델타 </a:t>
            </a:r>
            <a:r>
              <a:rPr lang="ko-KR" altLang="en-US" dirty="0" err="1">
                <a:solidFill>
                  <a:srgbClr val="1F2328"/>
                </a:solidFill>
              </a:rPr>
              <a:t>위성군</a:t>
            </a:r>
            <a:r>
              <a:rPr lang="en-US" altLang="ko-KR" dirty="0">
                <a:solidFill>
                  <a:srgbClr val="1F2328"/>
                </a:solidFill>
              </a:rPr>
              <a:t>)</a:t>
            </a:r>
          </a:p>
          <a:p>
            <a:pPr lvl="1">
              <a:defRPr/>
            </a:pPr>
            <a:r>
              <a:rPr lang="en-US" altLang="ko-KR" dirty="0">
                <a:solidFill>
                  <a:srgbClr val="1F2328"/>
                </a:solidFill>
              </a:rPr>
              <a:t>240 </a:t>
            </a:r>
            <a:r>
              <a:rPr lang="ko-KR" altLang="en-US" dirty="0">
                <a:solidFill>
                  <a:srgbClr val="1F2328"/>
                </a:solidFill>
              </a:rPr>
              <a:t>≤ </a:t>
            </a:r>
            <a:r>
              <a:rPr lang="en-US" altLang="ko-KR" dirty="0">
                <a:solidFill>
                  <a:srgbClr val="1F2328"/>
                </a:solidFill>
              </a:rPr>
              <a:t>n </a:t>
            </a:r>
            <a:r>
              <a:rPr lang="ko-KR" altLang="en-US" dirty="0">
                <a:solidFill>
                  <a:srgbClr val="1F2328"/>
                </a:solidFill>
              </a:rPr>
              <a:t>≤ </a:t>
            </a:r>
            <a:r>
              <a:rPr lang="en-US" altLang="ko-KR" dirty="0">
                <a:solidFill>
                  <a:srgbClr val="1F2328"/>
                </a:solidFill>
              </a:rPr>
              <a:t>480 </a:t>
            </a:r>
            <a:r>
              <a:rPr lang="ko-KR" altLang="en-US" dirty="0">
                <a:solidFill>
                  <a:srgbClr val="1F2328"/>
                </a:solidFill>
              </a:rPr>
              <a:t>구간의 재방문 주기 </a:t>
            </a:r>
            <a:r>
              <a:rPr lang="en-US" altLang="ko-KR" dirty="0">
                <a:solidFill>
                  <a:srgbClr val="1F2328"/>
                </a:solidFill>
              </a:rPr>
              <a:t>15</a:t>
            </a:r>
            <a:r>
              <a:rPr lang="ko-KR" altLang="en-US" dirty="0">
                <a:solidFill>
                  <a:srgbClr val="1F2328"/>
                </a:solidFill>
              </a:rPr>
              <a:t>분 적용</a:t>
            </a:r>
            <a:endParaRPr lang="en-US" altLang="ko-KR" dirty="0">
              <a:solidFill>
                <a:srgbClr val="1F2328"/>
              </a:solidFill>
            </a:endParaRP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A24D12DD-8C4E-D43F-A0C7-4C12E635E756}"/>
              </a:ext>
            </a:extLst>
          </p:cNvPr>
          <p:cNvGraphicFramePr>
            <a:graphicFrameLocks noGrp="1"/>
          </p:cNvGraphicFramePr>
          <p:nvPr/>
        </p:nvGraphicFramePr>
        <p:xfrm>
          <a:off x="69300" y="1778562"/>
          <a:ext cx="9017144" cy="112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6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81393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98791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  <a:gridCol w="1017351">
                  <a:extLst>
                    <a:ext uri="{9D8B030D-6E8A-4147-A177-3AD203B41FA5}">
                      <a16:colId xmlns:a16="http://schemas.microsoft.com/office/drawing/2014/main" val="14929076"/>
                    </a:ext>
                  </a:extLst>
                </a:gridCol>
              </a:tblGrid>
              <a:tr h="0">
                <a:tc rowSpan="3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 err="1"/>
                        <a:t>AoI</a:t>
                      </a:r>
                      <a:r>
                        <a:rPr lang="en-US" altLang="ko-KR" sz="1400" dirty="0"/>
                        <a:t> &amp; Time </a:t>
                      </a:r>
                    </a:p>
                    <a:p>
                      <a:pPr algn="ctr" latinLnBrk="1">
                        <a:defRPr/>
                      </a:pPr>
                      <a:endParaRPr lang="en-US" altLang="ko-KR" sz="1400" dirty="0"/>
                    </a:p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Epoch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37.57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127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720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24.01.01</a:t>
                      </a:r>
                    </a:p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00:00:00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43.1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131.9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0838414"/>
                  </a:ext>
                </a:extLst>
              </a:tr>
              <a:tr h="22768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7270.14km</a:t>
                      </a:r>
                      <a:r>
                        <a:rPr lang="en-US" altLang="ko-KR" sz="1200" dirty="0"/>
                        <a:t>, 0, 40~50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128255"/>
                  </a:ext>
                </a:extLst>
              </a:tr>
            </a:tbl>
          </a:graphicData>
        </a:graphic>
      </p:graphicFrame>
      <p:grpSp>
        <p:nvGrpSpPr>
          <p:cNvPr id="19" name="그룹 18">
            <a:extLst>
              <a:ext uri="{FF2B5EF4-FFF2-40B4-BE49-F238E27FC236}">
                <a16:creationId xmlns:a16="http://schemas.microsoft.com/office/drawing/2014/main" id="{684499D5-2428-B1B7-2183-264866CBDF62}"/>
              </a:ext>
            </a:extLst>
          </p:cNvPr>
          <p:cNvGrpSpPr/>
          <p:nvPr/>
        </p:nvGrpSpPr>
        <p:grpSpPr>
          <a:xfrm>
            <a:off x="69300" y="1808252"/>
            <a:ext cx="2579012" cy="722150"/>
            <a:chOff x="100830" y="1808252"/>
            <a:chExt cx="2579012" cy="722150"/>
          </a:xfrm>
        </p:grpSpPr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A1C4744D-1002-91AD-5AB9-29C3E39D4C2D}"/>
                </a:ext>
              </a:extLst>
            </p:cNvPr>
            <p:cNvCxnSpPr>
              <a:cxnSpLocks/>
            </p:cNvCxnSpPr>
            <p:nvPr/>
          </p:nvCxnSpPr>
          <p:spPr>
            <a:xfrm>
              <a:off x="100830" y="1808252"/>
              <a:ext cx="443700" cy="339047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409FF4A4-28C9-6623-3913-3C30F5586CE7}"/>
                </a:ext>
              </a:extLst>
            </p:cNvPr>
            <p:cNvCxnSpPr>
              <a:cxnSpLocks/>
            </p:cNvCxnSpPr>
            <p:nvPr/>
          </p:nvCxnSpPr>
          <p:spPr>
            <a:xfrm>
              <a:off x="544530" y="2147299"/>
              <a:ext cx="1691612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C8B0E82-0258-B49D-BD31-58482BB31F21}"/>
                </a:ext>
              </a:extLst>
            </p:cNvPr>
            <p:cNvCxnSpPr>
              <a:cxnSpLocks/>
            </p:cNvCxnSpPr>
            <p:nvPr/>
          </p:nvCxnSpPr>
          <p:spPr>
            <a:xfrm>
              <a:off x="2236142" y="2147299"/>
              <a:ext cx="443700" cy="383103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2926A12-A52D-8718-C6F0-BB6C58970D42}"/>
                  </a:ext>
                </a:extLst>
              </p:cNvPr>
              <p:cNvSpPr txBox="1"/>
              <p:nvPr/>
            </p:nvSpPr>
            <p:spPr>
              <a:xfrm>
                <a:off x="1938326" y="6319801"/>
                <a:ext cx="4948438" cy="3763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2">
                  <a:defRPr/>
                </a:pPr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총</m:t>
                    </m:r>
                  </m:oMath>
                </a14:m>
                <a:r>
                  <a:rPr lang="en-US" altLang="ko-KR" dirty="0"/>
                  <a:t> 6</a:t>
                </a:r>
                <a:r>
                  <a:rPr lang="ko-KR" altLang="en-US" dirty="0"/>
                  <a:t>대 위성으로 요구조건 달성 불가</a:t>
                </a:r>
                <a:endParaRPr lang="en-US" altLang="ko-KR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2926A12-A52D-8718-C6F0-BB6C58970D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8326" y="6319801"/>
                <a:ext cx="4948438" cy="376385"/>
              </a:xfrm>
              <a:prstGeom prst="rect">
                <a:avLst/>
              </a:prstGeom>
              <a:blipFill>
                <a:blip r:embed="rId6"/>
                <a:stretch>
                  <a:fillRect t="-8197" b="-2623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화살표: 오른쪽 23">
            <a:extLst>
              <a:ext uri="{FF2B5EF4-FFF2-40B4-BE49-F238E27FC236}">
                <a16:creationId xmlns:a16="http://schemas.microsoft.com/office/drawing/2014/main" id="{42DD9074-255C-477E-5243-EEBCA9E9418E}"/>
              </a:ext>
            </a:extLst>
          </p:cNvPr>
          <p:cNvSpPr/>
          <p:nvPr/>
        </p:nvSpPr>
        <p:spPr bwMode="auto">
          <a:xfrm>
            <a:off x="2257236" y="6344778"/>
            <a:ext cx="491535" cy="351408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B4C891D7-5156-F2E9-D5FC-C58E10ADAE9C}"/>
              </a:ext>
            </a:extLst>
          </p:cNvPr>
          <p:cNvGraphicFramePr>
            <a:graphicFrameLocks noGrp="1"/>
          </p:cNvGraphicFramePr>
          <p:nvPr/>
        </p:nvGraphicFramePr>
        <p:xfrm>
          <a:off x="3079454" y="2983074"/>
          <a:ext cx="2985091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1505">
                  <a:extLst>
                    <a:ext uri="{9D8B030D-6E8A-4147-A177-3AD203B41FA5}">
                      <a16:colId xmlns:a16="http://schemas.microsoft.com/office/drawing/2014/main" val="3789974849"/>
                    </a:ext>
                  </a:extLst>
                </a:gridCol>
                <a:gridCol w="3839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3971">
                  <a:extLst>
                    <a:ext uri="{9D8B030D-6E8A-4147-A177-3AD203B41FA5}">
                      <a16:colId xmlns:a16="http://schemas.microsoft.com/office/drawing/2014/main" val="2749405122"/>
                    </a:ext>
                  </a:extLst>
                </a:gridCol>
                <a:gridCol w="383972">
                  <a:extLst>
                    <a:ext uri="{9D8B030D-6E8A-4147-A177-3AD203B41FA5}">
                      <a16:colId xmlns:a16="http://schemas.microsoft.com/office/drawing/2014/main" val="4283662456"/>
                    </a:ext>
                  </a:extLst>
                </a:gridCol>
                <a:gridCol w="407224">
                  <a:extLst>
                    <a:ext uri="{9D8B030D-6E8A-4147-A177-3AD203B41FA5}">
                      <a16:colId xmlns:a16="http://schemas.microsoft.com/office/drawing/2014/main" val="4270349269"/>
                    </a:ext>
                  </a:extLst>
                </a:gridCol>
                <a:gridCol w="407223">
                  <a:extLst>
                    <a:ext uri="{9D8B030D-6E8A-4147-A177-3AD203B41FA5}">
                      <a16:colId xmlns:a16="http://schemas.microsoft.com/office/drawing/2014/main" val="2296791338"/>
                    </a:ext>
                  </a:extLst>
                </a:gridCol>
                <a:gridCol w="407224">
                  <a:extLst>
                    <a:ext uri="{9D8B030D-6E8A-4147-A177-3AD203B41FA5}">
                      <a16:colId xmlns:a16="http://schemas.microsoft.com/office/drawing/2014/main" val="219609416"/>
                    </a:ext>
                  </a:extLst>
                </a:gridCol>
              </a:tblGrid>
              <a:tr h="148797">
                <a:tc rowSpan="3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T:P:F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최대 재방문 주기</a:t>
                      </a: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(min)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1362372"/>
                  </a:ext>
                </a:extLst>
              </a:tr>
              <a:tr h="148797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서울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</a:rPr>
                        <a:t>블라디보스토크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8797">
                <a:tc v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en-US" altLang="ko-KR" sz="11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40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45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50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40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45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50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2820654"/>
                  </a:ext>
                </a:extLst>
              </a:tr>
              <a:tr h="25920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6:3:0</a:t>
                      </a:r>
                      <a:endParaRPr lang="ko-KR" altLang="en-US" sz="12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06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6:3:1</a:t>
                      </a:r>
                      <a:endParaRPr lang="ko-KR" altLang="en-US" sz="12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3676959"/>
                  </a:ext>
                </a:extLst>
              </a:tr>
              <a:tr h="21006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6:3:2</a:t>
                      </a:r>
                      <a:endParaRPr lang="ko-KR" altLang="en-US" sz="12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2889572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68C10D82-489D-31C5-8713-5045F1BDA8E5}"/>
              </a:ext>
            </a:extLst>
          </p:cNvPr>
          <p:cNvGraphicFramePr>
            <a:graphicFrameLocks noGrp="1"/>
          </p:cNvGraphicFramePr>
          <p:nvPr/>
        </p:nvGraphicFramePr>
        <p:xfrm>
          <a:off x="59775" y="2983074"/>
          <a:ext cx="2985091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1505">
                  <a:extLst>
                    <a:ext uri="{9D8B030D-6E8A-4147-A177-3AD203B41FA5}">
                      <a16:colId xmlns:a16="http://schemas.microsoft.com/office/drawing/2014/main" val="3789974849"/>
                    </a:ext>
                  </a:extLst>
                </a:gridCol>
                <a:gridCol w="3839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3971">
                  <a:extLst>
                    <a:ext uri="{9D8B030D-6E8A-4147-A177-3AD203B41FA5}">
                      <a16:colId xmlns:a16="http://schemas.microsoft.com/office/drawing/2014/main" val="2749405122"/>
                    </a:ext>
                  </a:extLst>
                </a:gridCol>
                <a:gridCol w="383972">
                  <a:extLst>
                    <a:ext uri="{9D8B030D-6E8A-4147-A177-3AD203B41FA5}">
                      <a16:colId xmlns:a16="http://schemas.microsoft.com/office/drawing/2014/main" val="4283662456"/>
                    </a:ext>
                  </a:extLst>
                </a:gridCol>
                <a:gridCol w="407224">
                  <a:extLst>
                    <a:ext uri="{9D8B030D-6E8A-4147-A177-3AD203B41FA5}">
                      <a16:colId xmlns:a16="http://schemas.microsoft.com/office/drawing/2014/main" val="4270349269"/>
                    </a:ext>
                  </a:extLst>
                </a:gridCol>
                <a:gridCol w="407223">
                  <a:extLst>
                    <a:ext uri="{9D8B030D-6E8A-4147-A177-3AD203B41FA5}">
                      <a16:colId xmlns:a16="http://schemas.microsoft.com/office/drawing/2014/main" val="2296791338"/>
                    </a:ext>
                  </a:extLst>
                </a:gridCol>
                <a:gridCol w="407224">
                  <a:extLst>
                    <a:ext uri="{9D8B030D-6E8A-4147-A177-3AD203B41FA5}">
                      <a16:colId xmlns:a16="http://schemas.microsoft.com/office/drawing/2014/main" val="219609416"/>
                    </a:ext>
                  </a:extLst>
                </a:gridCol>
              </a:tblGrid>
              <a:tr h="148797">
                <a:tc rowSpan="3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T:P:F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최대 재방문 주기</a:t>
                      </a: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(min)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1362372"/>
                  </a:ext>
                </a:extLst>
              </a:tr>
              <a:tr h="148797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서울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</a:rPr>
                        <a:t>블라디보스토크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8797">
                <a:tc v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en-US" altLang="ko-KR" sz="11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40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45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50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40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45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50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2820654"/>
                  </a:ext>
                </a:extLst>
              </a:tr>
              <a:tr h="25920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6:6:0</a:t>
                      </a:r>
                      <a:endParaRPr lang="ko-KR" altLang="en-US" sz="12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70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06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6:6:1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3676959"/>
                  </a:ext>
                </a:extLst>
              </a:tr>
              <a:tr h="21006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6:6:2</a:t>
                      </a:r>
                      <a:endParaRPr lang="ko-KR" altLang="en-US" sz="12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2889572"/>
                  </a:ext>
                </a:extLst>
              </a:tr>
              <a:tr h="21006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6:6:3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50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5637608"/>
                  </a:ext>
                </a:extLst>
              </a:tr>
              <a:tr h="21006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6:6:4</a:t>
                      </a:r>
                      <a:endParaRPr lang="ko-KR" altLang="en-US" sz="12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70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50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33312"/>
                  </a:ext>
                </a:extLst>
              </a:tr>
              <a:tr h="21006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6:6:5</a:t>
                      </a:r>
                      <a:endParaRPr lang="ko-KR" altLang="en-US" sz="12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88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88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86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88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86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82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5956199"/>
                  </a:ext>
                </a:extLst>
              </a:tr>
            </a:tbl>
          </a:graphicData>
        </a:graphic>
      </p:graphicFrame>
      <p:grpSp>
        <p:nvGrpSpPr>
          <p:cNvPr id="8" name="그룹 7">
            <a:extLst>
              <a:ext uri="{FF2B5EF4-FFF2-40B4-BE49-F238E27FC236}">
                <a16:creationId xmlns:a16="http://schemas.microsoft.com/office/drawing/2014/main" id="{ACB50440-422B-803A-9ED0-E00E37650906}"/>
              </a:ext>
            </a:extLst>
          </p:cNvPr>
          <p:cNvGrpSpPr/>
          <p:nvPr/>
        </p:nvGrpSpPr>
        <p:grpSpPr>
          <a:xfrm>
            <a:off x="0" y="0"/>
            <a:ext cx="9144000" cy="1124607"/>
            <a:chOff x="0" y="0"/>
            <a:chExt cx="9144000" cy="1124607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E4051AAD-45D7-9242-1E3F-D646AF80415F}"/>
                </a:ext>
              </a:extLst>
            </p:cNvPr>
            <p:cNvSpPr/>
            <p:nvPr/>
          </p:nvSpPr>
          <p:spPr bwMode="auto">
            <a:xfrm>
              <a:off x="7589521" y="0"/>
              <a:ext cx="1554479" cy="75876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90A8B804-B120-1F88-C3A8-9AEF8596608B}"/>
                </a:ext>
              </a:extLst>
            </p:cNvPr>
            <p:cNvSpPr/>
            <p:nvPr/>
          </p:nvSpPr>
          <p:spPr bwMode="auto">
            <a:xfrm>
              <a:off x="8259943" y="152400"/>
              <a:ext cx="884057" cy="97220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36CFA11F-8960-BC68-FCAE-B84E8C66022E}"/>
                </a:ext>
              </a:extLst>
            </p:cNvPr>
            <p:cNvSpPr/>
            <p:nvPr/>
          </p:nvSpPr>
          <p:spPr bwMode="auto">
            <a:xfrm>
              <a:off x="7589521" y="495406"/>
              <a:ext cx="828769" cy="34832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A1AA9F17-63ED-CC81-D47B-208EE8FEF89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0" y="0"/>
              <a:ext cx="876300" cy="8286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35344657"/>
      </p:ext>
    </p:extLst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EAB37-ADF6-CC2E-7B2B-DFADDA13A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9B7651C5-4C10-2BEC-2B91-08303349DB0B}"/>
              </a:ext>
            </a:extLst>
          </p:cNvPr>
          <p:cNvSpPr/>
          <p:nvPr/>
        </p:nvSpPr>
        <p:spPr bwMode="auto">
          <a:xfrm>
            <a:off x="367862" y="6370254"/>
            <a:ext cx="3216166" cy="416691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0322B85-BD57-6CEA-9FC3-0AFC61272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36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05CFD35E-4261-BFD3-F8A1-9D625D887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Inc(40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, 45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, 50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) 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→ 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Seoul, Vladivostok</a:t>
            </a:r>
            <a:endParaRPr lang="ko-KR" altLang="en-US" dirty="0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C2028C06-A0E8-D77F-2DDE-4D41EF330B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780592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>
                <a:solidFill>
                  <a:srgbClr val="1F2328"/>
                </a:solidFill>
              </a:rPr>
              <a:t>시간에 따라 다른 재방문 주기</a:t>
            </a:r>
            <a:r>
              <a:rPr lang="en-US" altLang="ko-KR" dirty="0">
                <a:solidFill>
                  <a:srgbClr val="1F2328"/>
                </a:solidFill>
              </a:rPr>
              <a:t>(</a:t>
            </a:r>
            <a:r>
              <a:rPr lang="ko-KR" altLang="en-US" dirty="0">
                <a:solidFill>
                  <a:srgbClr val="1F2328"/>
                </a:solidFill>
              </a:rPr>
              <a:t>워커</a:t>
            </a:r>
            <a:r>
              <a:rPr lang="en-US" altLang="ko-KR" dirty="0">
                <a:solidFill>
                  <a:srgbClr val="1F2328"/>
                </a:solidFill>
              </a:rPr>
              <a:t>-</a:t>
            </a:r>
            <a:r>
              <a:rPr lang="ko-KR" altLang="en-US" dirty="0">
                <a:solidFill>
                  <a:srgbClr val="1F2328"/>
                </a:solidFill>
              </a:rPr>
              <a:t>델타 </a:t>
            </a:r>
            <a:r>
              <a:rPr lang="ko-KR" altLang="en-US" dirty="0" err="1">
                <a:solidFill>
                  <a:srgbClr val="1F2328"/>
                </a:solidFill>
              </a:rPr>
              <a:t>위성군</a:t>
            </a:r>
            <a:r>
              <a:rPr lang="en-US" altLang="ko-KR" dirty="0">
                <a:solidFill>
                  <a:srgbClr val="1F2328"/>
                </a:solidFill>
              </a:rPr>
              <a:t>)</a:t>
            </a:r>
          </a:p>
          <a:p>
            <a:pPr lvl="1">
              <a:defRPr/>
            </a:pPr>
            <a:r>
              <a:rPr lang="en-US" altLang="ko-KR" dirty="0">
                <a:solidFill>
                  <a:srgbClr val="1F2328"/>
                </a:solidFill>
              </a:rPr>
              <a:t>240 </a:t>
            </a:r>
            <a:r>
              <a:rPr lang="ko-KR" altLang="en-US" dirty="0">
                <a:solidFill>
                  <a:srgbClr val="1F2328"/>
                </a:solidFill>
              </a:rPr>
              <a:t>≤ </a:t>
            </a:r>
            <a:r>
              <a:rPr lang="en-US" altLang="ko-KR" dirty="0">
                <a:solidFill>
                  <a:srgbClr val="1F2328"/>
                </a:solidFill>
              </a:rPr>
              <a:t>n </a:t>
            </a:r>
            <a:r>
              <a:rPr lang="ko-KR" altLang="en-US" dirty="0">
                <a:solidFill>
                  <a:srgbClr val="1F2328"/>
                </a:solidFill>
              </a:rPr>
              <a:t>≤ </a:t>
            </a:r>
            <a:r>
              <a:rPr lang="en-US" altLang="ko-KR" dirty="0">
                <a:solidFill>
                  <a:srgbClr val="1F2328"/>
                </a:solidFill>
              </a:rPr>
              <a:t>480 </a:t>
            </a:r>
            <a:r>
              <a:rPr lang="ko-KR" altLang="en-US" dirty="0">
                <a:solidFill>
                  <a:srgbClr val="1F2328"/>
                </a:solidFill>
              </a:rPr>
              <a:t>구간의 재방문 주기 </a:t>
            </a:r>
            <a:r>
              <a:rPr lang="en-US" altLang="ko-KR" dirty="0">
                <a:solidFill>
                  <a:srgbClr val="1F2328"/>
                </a:solidFill>
              </a:rPr>
              <a:t>15</a:t>
            </a:r>
            <a:r>
              <a:rPr lang="ko-KR" altLang="en-US" dirty="0">
                <a:solidFill>
                  <a:srgbClr val="1F2328"/>
                </a:solidFill>
              </a:rPr>
              <a:t>분 적용</a:t>
            </a:r>
            <a:endParaRPr lang="en-US" altLang="ko-KR" dirty="0">
              <a:solidFill>
                <a:srgbClr val="1F2328"/>
              </a:solidFill>
            </a:endParaRP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A24D12DD-8C4E-D43F-A0C7-4C12E635E756}"/>
              </a:ext>
            </a:extLst>
          </p:cNvPr>
          <p:cNvGraphicFramePr>
            <a:graphicFrameLocks noGrp="1"/>
          </p:cNvGraphicFramePr>
          <p:nvPr/>
        </p:nvGraphicFramePr>
        <p:xfrm>
          <a:off x="69300" y="1778562"/>
          <a:ext cx="9017144" cy="112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6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81393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98791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  <a:gridCol w="1017351">
                  <a:extLst>
                    <a:ext uri="{9D8B030D-6E8A-4147-A177-3AD203B41FA5}">
                      <a16:colId xmlns:a16="http://schemas.microsoft.com/office/drawing/2014/main" val="14929076"/>
                    </a:ext>
                  </a:extLst>
                </a:gridCol>
              </a:tblGrid>
              <a:tr h="0">
                <a:tc rowSpan="3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 err="1"/>
                        <a:t>AoI</a:t>
                      </a:r>
                      <a:r>
                        <a:rPr lang="en-US" altLang="ko-KR" sz="1400" dirty="0"/>
                        <a:t> &amp; Time </a:t>
                      </a:r>
                    </a:p>
                    <a:p>
                      <a:pPr algn="ctr" latinLnBrk="1">
                        <a:defRPr/>
                      </a:pPr>
                      <a:endParaRPr lang="en-US" altLang="ko-KR" sz="1400" dirty="0"/>
                    </a:p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Epoch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37.57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127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720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24.01.01</a:t>
                      </a:r>
                    </a:p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00:00:00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43.1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131.9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0838414"/>
                  </a:ext>
                </a:extLst>
              </a:tr>
              <a:tr h="22768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7270.14km</a:t>
                      </a:r>
                      <a:r>
                        <a:rPr lang="en-US" altLang="ko-KR" sz="1200" dirty="0"/>
                        <a:t>, 0, 40~50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128255"/>
                  </a:ext>
                </a:extLst>
              </a:tr>
            </a:tbl>
          </a:graphicData>
        </a:graphic>
      </p:graphicFrame>
      <p:grpSp>
        <p:nvGrpSpPr>
          <p:cNvPr id="19" name="그룹 18">
            <a:extLst>
              <a:ext uri="{FF2B5EF4-FFF2-40B4-BE49-F238E27FC236}">
                <a16:creationId xmlns:a16="http://schemas.microsoft.com/office/drawing/2014/main" id="{684499D5-2428-B1B7-2183-264866CBDF62}"/>
              </a:ext>
            </a:extLst>
          </p:cNvPr>
          <p:cNvGrpSpPr/>
          <p:nvPr/>
        </p:nvGrpSpPr>
        <p:grpSpPr>
          <a:xfrm>
            <a:off x="69300" y="1808252"/>
            <a:ext cx="2579012" cy="722150"/>
            <a:chOff x="100830" y="1808252"/>
            <a:chExt cx="2579012" cy="722150"/>
          </a:xfrm>
        </p:grpSpPr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A1C4744D-1002-91AD-5AB9-29C3E39D4C2D}"/>
                </a:ext>
              </a:extLst>
            </p:cNvPr>
            <p:cNvCxnSpPr>
              <a:cxnSpLocks/>
            </p:cNvCxnSpPr>
            <p:nvPr/>
          </p:nvCxnSpPr>
          <p:spPr>
            <a:xfrm>
              <a:off x="100830" y="1808252"/>
              <a:ext cx="443700" cy="339047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409FF4A4-28C9-6623-3913-3C30F5586CE7}"/>
                </a:ext>
              </a:extLst>
            </p:cNvPr>
            <p:cNvCxnSpPr>
              <a:cxnSpLocks/>
            </p:cNvCxnSpPr>
            <p:nvPr/>
          </p:nvCxnSpPr>
          <p:spPr>
            <a:xfrm>
              <a:off x="544530" y="2147299"/>
              <a:ext cx="1691612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C8B0E82-0258-B49D-BD31-58482BB31F21}"/>
                </a:ext>
              </a:extLst>
            </p:cNvPr>
            <p:cNvCxnSpPr>
              <a:cxnSpLocks/>
            </p:cNvCxnSpPr>
            <p:nvPr/>
          </p:nvCxnSpPr>
          <p:spPr>
            <a:xfrm>
              <a:off x="2236142" y="2147299"/>
              <a:ext cx="443700" cy="383103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1B6321C-C895-6E04-2A9C-B5E3ACBEE590}"/>
                  </a:ext>
                </a:extLst>
              </p:cNvPr>
              <p:cNvSpPr txBox="1"/>
              <p:nvPr/>
            </p:nvSpPr>
            <p:spPr>
              <a:xfrm>
                <a:off x="1938326" y="6319801"/>
                <a:ext cx="4948438" cy="3763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2">
                  <a:defRPr/>
                </a:pPr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총</m:t>
                    </m:r>
                  </m:oMath>
                </a14:m>
                <a:r>
                  <a:rPr lang="en-US" altLang="ko-KR" dirty="0"/>
                  <a:t> 7</a:t>
                </a:r>
                <a:r>
                  <a:rPr lang="ko-KR" altLang="en-US" dirty="0"/>
                  <a:t>대 위성으로 요구조건 달성 불가</a:t>
                </a:r>
                <a:endParaRPr lang="en-US" altLang="ko-KR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1B6321C-C895-6E04-2A9C-B5E3ACBEE5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8326" y="6319801"/>
                <a:ext cx="4948438" cy="376385"/>
              </a:xfrm>
              <a:prstGeom prst="rect">
                <a:avLst/>
              </a:prstGeom>
              <a:blipFill>
                <a:blip r:embed="rId4"/>
                <a:stretch>
                  <a:fillRect t="-8197" b="-2623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화살표: 오른쪽 4">
            <a:extLst>
              <a:ext uri="{FF2B5EF4-FFF2-40B4-BE49-F238E27FC236}">
                <a16:creationId xmlns:a16="http://schemas.microsoft.com/office/drawing/2014/main" id="{5BF02A45-2D94-396F-CC00-0D136E2F2AC2}"/>
              </a:ext>
            </a:extLst>
          </p:cNvPr>
          <p:cNvSpPr/>
          <p:nvPr/>
        </p:nvSpPr>
        <p:spPr bwMode="auto">
          <a:xfrm>
            <a:off x="2257236" y="6344778"/>
            <a:ext cx="491535" cy="351408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8FFDE572-280E-A5C6-AD5E-8975D787E1B7}"/>
              </a:ext>
            </a:extLst>
          </p:cNvPr>
          <p:cNvGraphicFramePr>
            <a:graphicFrameLocks noGrp="1"/>
          </p:cNvGraphicFramePr>
          <p:nvPr/>
        </p:nvGraphicFramePr>
        <p:xfrm>
          <a:off x="59775" y="2983074"/>
          <a:ext cx="2985091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1505">
                  <a:extLst>
                    <a:ext uri="{9D8B030D-6E8A-4147-A177-3AD203B41FA5}">
                      <a16:colId xmlns:a16="http://schemas.microsoft.com/office/drawing/2014/main" val="3789974849"/>
                    </a:ext>
                  </a:extLst>
                </a:gridCol>
                <a:gridCol w="3839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3971">
                  <a:extLst>
                    <a:ext uri="{9D8B030D-6E8A-4147-A177-3AD203B41FA5}">
                      <a16:colId xmlns:a16="http://schemas.microsoft.com/office/drawing/2014/main" val="2749405122"/>
                    </a:ext>
                  </a:extLst>
                </a:gridCol>
                <a:gridCol w="383972">
                  <a:extLst>
                    <a:ext uri="{9D8B030D-6E8A-4147-A177-3AD203B41FA5}">
                      <a16:colId xmlns:a16="http://schemas.microsoft.com/office/drawing/2014/main" val="4283662456"/>
                    </a:ext>
                  </a:extLst>
                </a:gridCol>
                <a:gridCol w="407224">
                  <a:extLst>
                    <a:ext uri="{9D8B030D-6E8A-4147-A177-3AD203B41FA5}">
                      <a16:colId xmlns:a16="http://schemas.microsoft.com/office/drawing/2014/main" val="4270349269"/>
                    </a:ext>
                  </a:extLst>
                </a:gridCol>
                <a:gridCol w="407223">
                  <a:extLst>
                    <a:ext uri="{9D8B030D-6E8A-4147-A177-3AD203B41FA5}">
                      <a16:colId xmlns:a16="http://schemas.microsoft.com/office/drawing/2014/main" val="2296791338"/>
                    </a:ext>
                  </a:extLst>
                </a:gridCol>
                <a:gridCol w="407224">
                  <a:extLst>
                    <a:ext uri="{9D8B030D-6E8A-4147-A177-3AD203B41FA5}">
                      <a16:colId xmlns:a16="http://schemas.microsoft.com/office/drawing/2014/main" val="219609416"/>
                    </a:ext>
                  </a:extLst>
                </a:gridCol>
              </a:tblGrid>
              <a:tr h="148797">
                <a:tc rowSpan="3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T:P:F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최대 재방문 주기</a:t>
                      </a: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(min)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1362372"/>
                  </a:ext>
                </a:extLst>
              </a:tr>
              <a:tr h="148797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서울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</a:rPr>
                        <a:t>블라디보스토크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8797">
                <a:tc v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en-US" altLang="ko-KR" sz="11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40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45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50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40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45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50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2820654"/>
                  </a:ext>
                </a:extLst>
              </a:tr>
              <a:tr h="25920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7:7:0</a:t>
                      </a:r>
                      <a:endParaRPr lang="ko-KR" altLang="en-US" sz="12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70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70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06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7:7:1</a:t>
                      </a:r>
                      <a:endParaRPr lang="ko-KR" altLang="en-US" sz="12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3676959"/>
                  </a:ext>
                </a:extLst>
              </a:tr>
              <a:tr h="21006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7:7:2</a:t>
                      </a:r>
                      <a:endParaRPr lang="ko-KR" altLang="en-US" sz="12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2889572"/>
                  </a:ext>
                </a:extLst>
              </a:tr>
              <a:tr h="21006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7:7:3</a:t>
                      </a:r>
                      <a:endParaRPr lang="ko-KR" altLang="en-US" sz="12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5637608"/>
                  </a:ext>
                </a:extLst>
              </a:tr>
              <a:tr h="21006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7:7:4</a:t>
                      </a:r>
                      <a:endParaRPr lang="ko-KR" altLang="en-US" sz="12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33312"/>
                  </a:ext>
                </a:extLst>
              </a:tr>
              <a:tr h="21006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7:7:5</a:t>
                      </a:r>
                      <a:endParaRPr lang="ko-KR" altLang="en-US" sz="12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54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54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52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56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52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52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5956199"/>
                  </a:ext>
                </a:extLst>
              </a:tr>
              <a:tr h="21006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7:7:6</a:t>
                      </a:r>
                      <a:endParaRPr lang="ko-KR" altLang="en-US" sz="12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88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84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84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88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86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52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3289057"/>
                  </a:ext>
                </a:extLst>
              </a:tr>
            </a:tbl>
          </a:graphicData>
        </a:graphic>
      </p:graphicFrame>
      <p:grpSp>
        <p:nvGrpSpPr>
          <p:cNvPr id="8" name="그룹 7">
            <a:extLst>
              <a:ext uri="{FF2B5EF4-FFF2-40B4-BE49-F238E27FC236}">
                <a16:creationId xmlns:a16="http://schemas.microsoft.com/office/drawing/2014/main" id="{AC231CEF-4E9E-3395-2BB7-169D1D765DE1}"/>
              </a:ext>
            </a:extLst>
          </p:cNvPr>
          <p:cNvGrpSpPr/>
          <p:nvPr/>
        </p:nvGrpSpPr>
        <p:grpSpPr>
          <a:xfrm>
            <a:off x="0" y="0"/>
            <a:ext cx="9144000" cy="1124607"/>
            <a:chOff x="0" y="0"/>
            <a:chExt cx="9144000" cy="1124607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3CC3A06B-93A8-DD8A-7B08-91D1D3313C83}"/>
                </a:ext>
              </a:extLst>
            </p:cNvPr>
            <p:cNvSpPr/>
            <p:nvPr/>
          </p:nvSpPr>
          <p:spPr bwMode="auto">
            <a:xfrm>
              <a:off x="7589521" y="0"/>
              <a:ext cx="1554479" cy="75876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EF6E4EB0-2E2E-BE4F-CD34-F2A023A3521B}"/>
                </a:ext>
              </a:extLst>
            </p:cNvPr>
            <p:cNvSpPr/>
            <p:nvPr/>
          </p:nvSpPr>
          <p:spPr bwMode="auto">
            <a:xfrm>
              <a:off x="8259943" y="152400"/>
              <a:ext cx="884057" cy="97220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81EB76F0-8FD4-3E66-02C8-FDBD1F503CA8}"/>
                </a:ext>
              </a:extLst>
            </p:cNvPr>
            <p:cNvSpPr/>
            <p:nvPr/>
          </p:nvSpPr>
          <p:spPr bwMode="auto">
            <a:xfrm>
              <a:off x="7589521" y="495406"/>
              <a:ext cx="828769" cy="34832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7F672795-3DEE-F2C3-C810-68F8C7CB0EA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0" y="0"/>
              <a:ext cx="876300" cy="8286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57052014"/>
      </p:ext>
    </p:extLst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EAB37-ADF6-CC2E-7B2B-DFADDA13A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F82F7499-D7C3-2D78-68B2-C84B207CD1F7}"/>
              </a:ext>
            </a:extLst>
          </p:cNvPr>
          <p:cNvSpPr/>
          <p:nvPr/>
        </p:nvSpPr>
        <p:spPr bwMode="auto">
          <a:xfrm>
            <a:off x="367862" y="6370254"/>
            <a:ext cx="3216166" cy="416691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0322B85-BD57-6CEA-9FC3-0AFC61272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37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05CFD35E-4261-BFD3-F8A1-9D625D887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Inc(40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, 45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, 50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) 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→ 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Seoul, Vladivostok</a:t>
            </a:r>
            <a:endParaRPr lang="ko-KR" altLang="en-US" dirty="0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C2028C06-A0E8-D77F-2DDE-4D41EF330B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780592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>
                <a:solidFill>
                  <a:srgbClr val="1F2328"/>
                </a:solidFill>
              </a:rPr>
              <a:t>시간에 따라 다른 재방문 주기</a:t>
            </a:r>
            <a:r>
              <a:rPr lang="en-US" altLang="ko-KR" dirty="0">
                <a:solidFill>
                  <a:srgbClr val="1F2328"/>
                </a:solidFill>
              </a:rPr>
              <a:t>(</a:t>
            </a:r>
            <a:r>
              <a:rPr lang="ko-KR" altLang="en-US" dirty="0">
                <a:solidFill>
                  <a:srgbClr val="1F2328"/>
                </a:solidFill>
              </a:rPr>
              <a:t>워커</a:t>
            </a:r>
            <a:r>
              <a:rPr lang="en-US" altLang="ko-KR" dirty="0">
                <a:solidFill>
                  <a:srgbClr val="1F2328"/>
                </a:solidFill>
              </a:rPr>
              <a:t>-</a:t>
            </a:r>
            <a:r>
              <a:rPr lang="ko-KR" altLang="en-US" dirty="0">
                <a:solidFill>
                  <a:srgbClr val="1F2328"/>
                </a:solidFill>
              </a:rPr>
              <a:t>델타 </a:t>
            </a:r>
            <a:r>
              <a:rPr lang="ko-KR" altLang="en-US" dirty="0" err="1">
                <a:solidFill>
                  <a:srgbClr val="1F2328"/>
                </a:solidFill>
              </a:rPr>
              <a:t>위성군</a:t>
            </a:r>
            <a:r>
              <a:rPr lang="en-US" altLang="ko-KR" dirty="0">
                <a:solidFill>
                  <a:srgbClr val="1F2328"/>
                </a:solidFill>
              </a:rPr>
              <a:t>)</a:t>
            </a:r>
          </a:p>
          <a:p>
            <a:pPr lvl="1">
              <a:defRPr/>
            </a:pPr>
            <a:r>
              <a:rPr lang="en-US" altLang="ko-KR" dirty="0">
                <a:solidFill>
                  <a:srgbClr val="1F2328"/>
                </a:solidFill>
              </a:rPr>
              <a:t>240 </a:t>
            </a:r>
            <a:r>
              <a:rPr lang="ko-KR" altLang="en-US" dirty="0">
                <a:solidFill>
                  <a:srgbClr val="1F2328"/>
                </a:solidFill>
              </a:rPr>
              <a:t>≤ </a:t>
            </a:r>
            <a:r>
              <a:rPr lang="en-US" altLang="ko-KR" dirty="0">
                <a:solidFill>
                  <a:srgbClr val="1F2328"/>
                </a:solidFill>
              </a:rPr>
              <a:t>n </a:t>
            </a:r>
            <a:r>
              <a:rPr lang="ko-KR" altLang="en-US" dirty="0">
                <a:solidFill>
                  <a:srgbClr val="1F2328"/>
                </a:solidFill>
              </a:rPr>
              <a:t>≤ </a:t>
            </a:r>
            <a:r>
              <a:rPr lang="en-US" altLang="ko-KR" dirty="0">
                <a:solidFill>
                  <a:srgbClr val="1F2328"/>
                </a:solidFill>
              </a:rPr>
              <a:t>480 </a:t>
            </a:r>
            <a:r>
              <a:rPr lang="ko-KR" altLang="en-US" dirty="0">
                <a:solidFill>
                  <a:srgbClr val="1F2328"/>
                </a:solidFill>
              </a:rPr>
              <a:t>구간의 재방문 주기 </a:t>
            </a:r>
            <a:r>
              <a:rPr lang="en-US" altLang="ko-KR" dirty="0">
                <a:solidFill>
                  <a:srgbClr val="1F2328"/>
                </a:solidFill>
              </a:rPr>
              <a:t>15</a:t>
            </a:r>
            <a:r>
              <a:rPr lang="ko-KR" altLang="en-US" dirty="0">
                <a:solidFill>
                  <a:srgbClr val="1F2328"/>
                </a:solidFill>
              </a:rPr>
              <a:t>분 적용</a:t>
            </a:r>
            <a:endParaRPr lang="en-US" altLang="ko-KR" dirty="0">
              <a:solidFill>
                <a:srgbClr val="1F2328"/>
              </a:solidFill>
            </a:endParaRP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A24D12DD-8C4E-D43F-A0C7-4C12E635E756}"/>
              </a:ext>
            </a:extLst>
          </p:cNvPr>
          <p:cNvGraphicFramePr>
            <a:graphicFrameLocks noGrp="1"/>
          </p:cNvGraphicFramePr>
          <p:nvPr/>
        </p:nvGraphicFramePr>
        <p:xfrm>
          <a:off x="69300" y="1778562"/>
          <a:ext cx="9017144" cy="112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6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81393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98791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  <a:gridCol w="1017351">
                  <a:extLst>
                    <a:ext uri="{9D8B030D-6E8A-4147-A177-3AD203B41FA5}">
                      <a16:colId xmlns:a16="http://schemas.microsoft.com/office/drawing/2014/main" val="14929076"/>
                    </a:ext>
                  </a:extLst>
                </a:gridCol>
              </a:tblGrid>
              <a:tr h="0">
                <a:tc rowSpan="3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 err="1"/>
                        <a:t>AoI</a:t>
                      </a:r>
                      <a:r>
                        <a:rPr lang="en-US" altLang="ko-KR" sz="1400" dirty="0"/>
                        <a:t> &amp; Time </a:t>
                      </a:r>
                    </a:p>
                    <a:p>
                      <a:pPr algn="ctr" latinLnBrk="1">
                        <a:defRPr/>
                      </a:pPr>
                      <a:endParaRPr lang="en-US" altLang="ko-KR" sz="1400" dirty="0"/>
                    </a:p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Epoch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37.57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127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720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24.01.01</a:t>
                      </a:r>
                    </a:p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00:00:00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43.1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131.9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0838414"/>
                  </a:ext>
                </a:extLst>
              </a:tr>
              <a:tr h="22768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7270.14km</a:t>
                      </a:r>
                      <a:r>
                        <a:rPr lang="en-US" altLang="ko-KR" sz="1200" dirty="0"/>
                        <a:t>, 0, 40~50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128255"/>
                  </a:ext>
                </a:extLst>
              </a:tr>
            </a:tbl>
          </a:graphicData>
        </a:graphic>
      </p:graphicFrame>
      <p:grpSp>
        <p:nvGrpSpPr>
          <p:cNvPr id="19" name="그룹 18">
            <a:extLst>
              <a:ext uri="{FF2B5EF4-FFF2-40B4-BE49-F238E27FC236}">
                <a16:creationId xmlns:a16="http://schemas.microsoft.com/office/drawing/2014/main" id="{684499D5-2428-B1B7-2183-264866CBDF62}"/>
              </a:ext>
            </a:extLst>
          </p:cNvPr>
          <p:cNvGrpSpPr/>
          <p:nvPr/>
        </p:nvGrpSpPr>
        <p:grpSpPr>
          <a:xfrm>
            <a:off x="69300" y="1808252"/>
            <a:ext cx="2579012" cy="722150"/>
            <a:chOff x="100830" y="1808252"/>
            <a:chExt cx="2579012" cy="722150"/>
          </a:xfrm>
        </p:grpSpPr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A1C4744D-1002-91AD-5AB9-29C3E39D4C2D}"/>
                </a:ext>
              </a:extLst>
            </p:cNvPr>
            <p:cNvCxnSpPr>
              <a:cxnSpLocks/>
            </p:cNvCxnSpPr>
            <p:nvPr/>
          </p:nvCxnSpPr>
          <p:spPr>
            <a:xfrm>
              <a:off x="100830" y="1808252"/>
              <a:ext cx="443700" cy="339047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409FF4A4-28C9-6623-3913-3C30F5586CE7}"/>
                </a:ext>
              </a:extLst>
            </p:cNvPr>
            <p:cNvCxnSpPr>
              <a:cxnSpLocks/>
            </p:cNvCxnSpPr>
            <p:nvPr/>
          </p:nvCxnSpPr>
          <p:spPr>
            <a:xfrm>
              <a:off x="544530" y="2147299"/>
              <a:ext cx="1691612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C8B0E82-0258-B49D-BD31-58482BB31F21}"/>
                </a:ext>
              </a:extLst>
            </p:cNvPr>
            <p:cNvCxnSpPr>
              <a:cxnSpLocks/>
            </p:cNvCxnSpPr>
            <p:nvPr/>
          </p:nvCxnSpPr>
          <p:spPr>
            <a:xfrm>
              <a:off x="2236142" y="2147299"/>
              <a:ext cx="443700" cy="383103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2EB35CF-2B1A-1A93-BB22-5F5622F1530B}"/>
                  </a:ext>
                </a:extLst>
              </p:cNvPr>
              <p:cNvSpPr txBox="1"/>
              <p:nvPr/>
            </p:nvSpPr>
            <p:spPr>
              <a:xfrm>
                <a:off x="1938326" y="6319801"/>
                <a:ext cx="4948438" cy="3763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2">
                  <a:defRPr/>
                </a:pPr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총</m:t>
                    </m:r>
                  </m:oMath>
                </a14:m>
                <a:r>
                  <a:rPr lang="en-US" altLang="ko-KR" dirty="0"/>
                  <a:t> 8</a:t>
                </a:r>
                <a:r>
                  <a:rPr lang="ko-KR" altLang="en-US" dirty="0"/>
                  <a:t>대 위성으로 요구조건 달성 불가</a:t>
                </a:r>
                <a:endParaRPr lang="en-US" altLang="ko-KR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2EB35CF-2B1A-1A93-BB22-5F5622F153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8326" y="6319801"/>
                <a:ext cx="4948438" cy="376385"/>
              </a:xfrm>
              <a:prstGeom prst="rect">
                <a:avLst/>
              </a:prstGeom>
              <a:blipFill>
                <a:blip r:embed="rId6"/>
                <a:stretch>
                  <a:fillRect t="-8197" b="-2623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3EC47BBC-88E2-4DEB-FC6F-7BB4D9EF15B7}"/>
              </a:ext>
            </a:extLst>
          </p:cNvPr>
          <p:cNvSpPr/>
          <p:nvPr/>
        </p:nvSpPr>
        <p:spPr bwMode="auto">
          <a:xfrm>
            <a:off x="2257236" y="6344778"/>
            <a:ext cx="491535" cy="351408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013454A9-FD42-B569-1B94-C80B54E82CE1}"/>
              </a:ext>
            </a:extLst>
          </p:cNvPr>
          <p:cNvGraphicFramePr>
            <a:graphicFrameLocks noGrp="1"/>
          </p:cNvGraphicFramePr>
          <p:nvPr/>
        </p:nvGraphicFramePr>
        <p:xfrm>
          <a:off x="59775" y="2983074"/>
          <a:ext cx="2985091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1505">
                  <a:extLst>
                    <a:ext uri="{9D8B030D-6E8A-4147-A177-3AD203B41FA5}">
                      <a16:colId xmlns:a16="http://schemas.microsoft.com/office/drawing/2014/main" val="3789974849"/>
                    </a:ext>
                  </a:extLst>
                </a:gridCol>
                <a:gridCol w="3839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3971">
                  <a:extLst>
                    <a:ext uri="{9D8B030D-6E8A-4147-A177-3AD203B41FA5}">
                      <a16:colId xmlns:a16="http://schemas.microsoft.com/office/drawing/2014/main" val="2749405122"/>
                    </a:ext>
                  </a:extLst>
                </a:gridCol>
                <a:gridCol w="383972">
                  <a:extLst>
                    <a:ext uri="{9D8B030D-6E8A-4147-A177-3AD203B41FA5}">
                      <a16:colId xmlns:a16="http://schemas.microsoft.com/office/drawing/2014/main" val="4283662456"/>
                    </a:ext>
                  </a:extLst>
                </a:gridCol>
                <a:gridCol w="407224">
                  <a:extLst>
                    <a:ext uri="{9D8B030D-6E8A-4147-A177-3AD203B41FA5}">
                      <a16:colId xmlns:a16="http://schemas.microsoft.com/office/drawing/2014/main" val="4270349269"/>
                    </a:ext>
                  </a:extLst>
                </a:gridCol>
                <a:gridCol w="407223">
                  <a:extLst>
                    <a:ext uri="{9D8B030D-6E8A-4147-A177-3AD203B41FA5}">
                      <a16:colId xmlns:a16="http://schemas.microsoft.com/office/drawing/2014/main" val="2296791338"/>
                    </a:ext>
                  </a:extLst>
                </a:gridCol>
                <a:gridCol w="407224">
                  <a:extLst>
                    <a:ext uri="{9D8B030D-6E8A-4147-A177-3AD203B41FA5}">
                      <a16:colId xmlns:a16="http://schemas.microsoft.com/office/drawing/2014/main" val="219609416"/>
                    </a:ext>
                  </a:extLst>
                </a:gridCol>
              </a:tblGrid>
              <a:tr h="148797">
                <a:tc rowSpan="3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T:P:F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최대 재방문 주기</a:t>
                      </a: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(min)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1362372"/>
                  </a:ext>
                </a:extLst>
              </a:tr>
              <a:tr h="148797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서울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</a:rPr>
                        <a:t>블라디보스토크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8797">
                <a:tc v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en-US" altLang="ko-KR" sz="11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40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45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50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40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45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50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2820654"/>
                  </a:ext>
                </a:extLst>
              </a:tr>
              <a:tr h="25920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8:8:0</a:t>
                      </a:r>
                      <a:endParaRPr lang="ko-KR" altLang="en-US" sz="12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06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8:8:1</a:t>
                      </a:r>
                      <a:endParaRPr lang="ko-KR" altLang="en-US" sz="12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3676959"/>
                  </a:ext>
                </a:extLst>
              </a:tr>
              <a:tr h="21006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8:8:2</a:t>
                      </a:r>
                      <a:endParaRPr lang="ko-KR" altLang="en-US" sz="12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2889572"/>
                  </a:ext>
                </a:extLst>
              </a:tr>
              <a:tr h="21006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8:8:3</a:t>
                      </a:r>
                      <a:endParaRPr lang="ko-KR" altLang="en-US" sz="12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5637608"/>
                  </a:ext>
                </a:extLst>
              </a:tr>
              <a:tr h="21006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8:8:4</a:t>
                      </a:r>
                      <a:endParaRPr lang="ko-KR" altLang="en-US" sz="12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33312"/>
                  </a:ext>
                </a:extLst>
              </a:tr>
              <a:tr h="21006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8:8:5</a:t>
                      </a:r>
                      <a:endParaRPr lang="ko-KR" altLang="en-US" sz="12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5956199"/>
                  </a:ext>
                </a:extLst>
              </a:tr>
              <a:tr h="21006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8:8:6</a:t>
                      </a:r>
                      <a:endParaRPr lang="ko-KR" altLang="en-US" sz="12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58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58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3289057"/>
                  </a:ext>
                </a:extLst>
              </a:tr>
              <a:tr h="21006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8:8:7</a:t>
                      </a:r>
                      <a:endParaRPr lang="ko-KR" altLang="en-US" sz="12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86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86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84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86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84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82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1999448"/>
                  </a:ext>
                </a:extLst>
              </a:tr>
            </a:tbl>
          </a:graphicData>
        </a:graphic>
      </p:graphicFrame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97394423-10DD-9430-436A-C2523B20526C}"/>
              </a:ext>
            </a:extLst>
          </p:cNvPr>
          <p:cNvGraphicFramePr>
            <a:graphicFrameLocks noGrp="1"/>
          </p:cNvGraphicFramePr>
          <p:nvPr/>
        </p:nvGraphicFramePr>
        <p:xfrm>
          <a:off x="3079454" y="2983074"/>
          <a:ext cx="2985091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1505">
                  <a:extLst>
                    <a:ext uri="{9D8B030D-6E8A-4147-A177-3AD203B41FA5}">
                      <a16:colId xmlns:a16="http://schemas.microsoft.com/office/drawing/2014/main" val="3789974849"/>
                    </a:ext>
                  </a:extLst>
                </a:gridCol>
                <a:gridCol w="3839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3971">
                  <a:extLst>
                    <a:ext uri="{9D8B030D-6E8A-4147-A177-3AD203B41FA5}">
                      <a16:colId xmlns:a16="http://schemas.microsoft.com/office/drawing/2014/main" val="2749405122"/>
                    </a:ext>
                  </a:extLst>
                </a:gridCol>
                <a:gridCol w="383972">
                  <a:extLst>
                    <a:ext uri="{9D8B030D-6E8A-4147-A177-3AD203B41FA5}">
                      <a16:colId xmlns:a16="http://schemas.microsoft.com/office/drawing/2014/main" val="4283662456"/>
                    </a:ext>
                  </a:extLst>
                </a:gridCol>
                <a:gridCol w="407224">
                  <a:extLst>
                    <a:ext uri="{9D8B030D-6E8A-4147-A177-3AD203B41FA5}">
                      <a16:colId xmlns:a16="http://schemas.microsoft.com/office/drawing/2014/main" val="4270349269"/>
                    </a:ext>
                  </a:extLst>
                </a:gridCol>
                <a:gridCol w="407223">
                  <a:extLst>
                    <a:ext uri="{9D8B030D-6E8A-4147-A177-3AD203B41FA5}">
                      <a16:colId xmlns:a16="http://schemas.microsoft.com/office/drawing/2014/main" val="2296791338"/>
                    </a:ext>
                  </a:extLst>
                </a:gridCol>
                <a:gridCol w="407224">
                  <a:extLst>
                    <a:ext uri="{9D8B030D-6E8A-4147-A177-3AD203B41FA5}">
                      <a16:colId xmlns:a16="http://schemas.microsoft.com/office/drawing/2014/main" val="219609416"/>
                    </a:ext>
                  </a:extLst>
                </a:gridCol>
              </a:tblGrid>
              <a:tr h="148797">
                <a:tc rowSpan="3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T:P:F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최대 재방문 주기</a:t>
                      </a: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(min)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1362372"/>
                  </a:ext>
                </a:extLst>
              </a:tr>
              <a:tr h="148797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서울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</a:rPr>
                        <a:t>블라디보스토크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8797">
                <a:tc v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en-US" altLang="ko-KR" sz="11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40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45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50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40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45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50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2820654"/>
                  </a:ext>
                </a:extLst>
              </a:tr>
              <a:tr h="25920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8:4:0</a:t>
                      </a:r>
                      <a:endParaRPr lang="ko-KR" altLang="en-US" sz="12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06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8:4:1</a:t>
                      </a:r>
                      <a:endParaRPr lang="ko-KR" altLang="en-US" sz="12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3676959"/>
                  </a:ext>
                </a:extLst>
              </a:tr>
              <a:tr h="21006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8:4:2</a:t>
                      </a:r>
                      <a:endParaRPr lang="ko-KR" altLang="en-US" sz="12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2889572"/>
                  </a:ext>
                </a:extLst>
              </a:tr>
              <a:tr h="21006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8:4:3</a:t>
                      </a:r>
                      <a:endParaRPr lang="ko-KR" altLang="en-US" sz="12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5064792"/>
                  </a:ext>
                </a:extLst>
              </a:tr>
            </a:tbl>
          </a:graphicData>
        </a:graphic>
      </p:graphicFrame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4F52A9EA-C76E-7EA6-B5B9-0506F151CEEF}"/>
              </a:ext>
            </a:extLst>
          </p:cNvPr>
          <p:cNvGraphicFramePr>
            <a:graphicFrameLocks noGrp="1"/>
          </p:cNvGraphicFramePr>
          <p:nvPr/>
        </p:nvGraphicFramePr>
        <p:xfrm>
          <a:off x="6099134" y="2983074"/>
          <a:ext cx="2985091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1505">
                  <a:extLst>
                    <a:ext uri="{9D8B030D-6E8A-4147-A177-3AD203B41FA5}">
                      <a16:colId xmlns:a16="http://schemas.microsoft.com/office/drawing/2014/main" val="4133197705"/>
                    </a:ext>
                  </a:extLst>
                </a:gridCol>
                <a:gridCol w="383972">
                  <a:extLst>
                    <a:ext uri="{9D8B030D-6E8A-4147-A177-3AD203B41FA5}">
                      <a16:colId xmlns:a16="http://schemas.microsoft.com/office/drawing/2014/main" val="1358599067"/>
                    </a:ext>
                  </a:extLst>
                </a:gridCol>
                <a:gridCol w="383971">
                  <a:extLst>
                    <a:ext uri="{9D8B030D-6E8A-4147-A177-3AD203B41FA5}">
                      <a16:colId xmlns:a16="http://schemas.microsoft.com/office/drawing/2014/main" val="753851379"/>
                    </a:ext>
                  </a:extLst>
                </a:gridCol>
                <a:gridCol w="383972">
                  <a:extLst>
                    <a:ext uri="{9D8B030D-6E8A-4147-A177-3AD203B41FA5}">
                      <a16:colId xmlns:a16="http://schemas.microsoft.com/office/drawing/2014/main" val="3102141069"/>
                    </a:ext>
                  </a:extLst>
                </a:gridCol>
                <a:gridCol w="407224">
                  <a:extLst>
                    <a:ext uri="{9D8B030D-6E8A-4147-A177-3AD203B41FA5}">
                      <a16:colId xmlns:a16="http://schemas.microsoft.com/office/drawing/2014/main" val="3739752185"/>
                    </a:ext>
                  </a:extLst>
                </a:gridCol>
                <a:gridCol w="407223">
                  <a:extLst>
                    <a:ext uri="{9D8B030D-6E8A-4147-A177-3AD203B41FA5}">
                      <a16:colId xmlns:a16="http://schemas.microsoft.com/office/drawing/2014/main" val="4068059700"/>
                    </a:ext>
                  </a:extLst>
                </a:gridCol>
                <a:gridCol w="407224">
                  <a:extLst>
                    <a:ext uri="{9D8B030D-6E8A-4147-A177-3AD203B41FA5}">
                      <a16:colId xmlns:a16="http://schemas.microsoft.com/office/drawing/2014/main" val="3547229432"/>
                    </a:ext>
                  </a:extLst>
                </a:gridCol>
              </a:tblGrid>
              <a:tr h="148797">
                <a:tc rowSpan="3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T:P:F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최대 재방문 주기</a:t>
                      </a: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(min)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3409503"/>
                  </a:ext>
                </a:extLst>
              </a:tr>
              <a:tr h="148797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서울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</a:rPr>
                        <a:t>블라디보스토크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6283936"/>
                  </a:ext>
                </a:extLst>
              </a:tr>
              <a:tr h="148797">
                <a:tc v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en-US" altLang="ko-KR" sz="11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40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45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50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40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45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50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5961339"/>
                  </a:ext>
                </a:extLst>
              </a:tr>
              <a:tr h="25920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8:2:0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9986638"/>
                  </a:ext>
                </a:extLst>
              </a:tr>
              <a:tr h="21006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8:2:1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54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1353174"/>
                  </a:ext>
                </a:extLst>
              </a:tr>
            </a:tbl>
          </a:graphicData>
        </a:graphic>
      </p:graphicFrame>
      <p:grpSp>
        <p:nvGrpSpPr>
          <p:cNvPr id="5" name="그룹 4">
            <a:extLst>
              <a:ext uri="{FF2B5EF4-FFF2-40B4-BE49-F238E27FC236}">
                <a16:creationId xmlns:a16="http://schemas.microsoft.com/office/drawing/2014/main" id="{7A8BDBA4-F5F9-2A3F-4EE6-7E2228EED71A}"/>
              </a:ext>
            </a:extLst>
          </p:cNvPr>
          <p:cNvGrpSpPr/>
          <p:nvPr/>
        </p:nvGrpSpPr>
        <p:grpSpPr>
          <a:xfrm>
            <a:off x="0" y="0"/>
            <a:ext cx="9144000" cy="1124607"/>
            <a:chOff x="0" y="0"/>
            <a:chExt cx="9144000" cy="1124607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82D28A33-4902-CE36-9C7C-D4466CAC49AB}"/>
                </a:ext>
              </a:extLst>
            </p:cNvPr>
            <p:cNvSpPr/>
            <p:nvPr/>
          </p:nvSpPr>
          <p:spPr bwMode="auto">
            <a:xfrm>
              <a:off x="7589521" y="0"/>
              <a:ext cx="1554479" cy="75876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6C2A6AC6-695D-8781-2A3E-26ED0D3D9E81}"/>
                </a:ext>
              </a:extLst>
            </p:cNvPr>
            <p:cNvSpPr/>
            <p:nvPr/>
          </p:nvSpPr>
          <p:spPr bwMode="auto">
            <a:xfrm>
              <a:off x="8259943" y="152400"/>
              <a:ext cx="884057" cy="97220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DA3633F3-9EA4-F6DA-6485-D4B341A0FF30}"/>
                </a:ext>
              </a:extLst>
            </p:cNvPr>
            <p:cNvSpPr/>
            <p:nvPr/>
          </p:nvSpPr>
          <p:spPr bwMode="auto">
            <a:xfrm>
              <a:off x="7589521" y="495406"/>
              <a:ext cx="828769" cy="34832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7B0A3391-B3CE-8C93-02C5-D7F177AC442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0" y="0"/>
              <a:ext cx="876300" cy="8286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32307763"/>
      </p:ext>
    </p:extLst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EAB37-ADF6-CC2E-7B2B-DFADDA13A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F82F7499-D7C3-2D78-68B2-C84B207CD1F7}"/>
              </a:ext>
            </a:extLst>
          </p:cNvPr>
          <p:cNvSpPr/>
          <p:nvPr/>
        </p:nvSpPr>
        <p:spPr bwMode="auto">
          <a:xfrm>
            <a:off x="367862" y="6370254"/>
            <a:ext cx="3216166" cy="416691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0322B85-BD57-6CEA-9FC3-0AFC61272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38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05CFD35E-4261-BFD3-F8A1-9D625D887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Inc(40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, 45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, 50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) 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→ 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Seoul, Vladivostok</a:t>
            </a:r>
            <a:endParaRPr lang="ko-KR" altLang="en-US" dirty="0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C2028C06-A0E8-D77F-2DDE-4D41EF330B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780592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>
                <a:solidFill>
                  <a:srgbClr val="1F2328"/>
                </a:solidFill>
              </a:rPr>
              <a:t>시간에 따라 다른 재방문 주기</a:t>
            </a:r>
            <a:r>
              <a:rPr lang="en-US" altLang="ko-KR" dirty="0">
                <a:solidFill>
                  <a:srgbClr val="1F2328"/>
                </a:solidFill>
              </a:rPr>
              <a:t>(</a:t>
            </a:r>
            <a:r>
              <a:rPr lang="ko-KR" altLang="en-US" dirty="0">
                <a:solidFill>
                  <a:srgbClr val="1F2328"/>
                </a:solidFill>
              </a:rPr>
              <a:t>워커</a:t>
            </a:r>
            <a:r>
              <a:rPr lang="en-US" altLang="ko-KR" dirty="0">
                <a:solidFill>
                  <a:srgbClr val="1F2328"/>
                </a:solidFill>
              </a:rPr>
              <a:t>-</a:t>
            </a:r>
            <a:r>
              <a:rPr lang="ko-KR" altLang="en-US" dirty="0">
                <a:solidFill>
                  <a:srgbClr val="1F2328"/>
                </a:solidFill>
              </a:rPr>
              <a:t>델타 </a:t>
            </a:r>
            <a:r>
              <a:rPr lang="ko-KR" altLang="en-US" dirty="0" err="1">
                <a:solidFill>
                  <a:srgbClr val="1F2328"/>
                </a:solidFill>
              </a:rPr>
              <a:t>위성군</a:t>
            </a:r>
            <a:r>
              <a:rPr lang="en-US" altLang="ko-KR" dirty="0">
                <a:solidFill>
                  <a:srgbClr val="1F2328"/>
                </a:solidFill>
              </a:rPr>
              <a:t>)</a:t>
            </a:r>
          </a:p>
          <a:p>
            <a:pPr lvl="1">
              <a:defRPr/>
            </a:pPr>
            <a:r>
              <a:rPr lang="en-US" altLang="ko-KR" dirty="0">
                <a:solidFill>
                  <a:srgbClr val="1F2328"/>
                </a:solidFill>
              </a:rPr>
              <a:t>240 </a:t>
            </a:r>
            <a:r>
              <a:rPr lang="ko-KR" altLang="en-US" dirty="0">
                <a:solidFill>
                  <a:srgbClr val="1F2328"/>
                </a:solidFill>
              </a:rPr>
              <a:t>≤ </a:t>
            </a:r>
            <a:r>
              <a:rPr lang="en-US" altLang="ko-KR" dirty="0">
                <a:solidFill>
                  <a:srgbClr val="1F2328"/>
                </a:solidFill>
              </a:rPr>
              <a:t>n </a:t>
            </a:r>
            <a:r>
              <a:rPr lang="ko-KR" altLang="en-US" dirty="0">
                <a:solidFill>
                  <a:srgbClr val="1F2328"/>
                </a:solidFill>
              </a:rPr>
              <a:t>≤ </a:t>
            </a:r>
            <a:r>
              <a:rPr lang="en-US" altLang="ko-KR" dirty="0">
                <a:solidFill>
                  <a:srgbClr val="1F2328"/>
                </a:solidFill>
              </a:rPr>
              <a:t>480 </a:t>
            </a:r>
            <a:r>
              <a:rPr lang="ko-KR" altLang="en-US" dirty="0">
                <a:solidFill>
                  <a:srgbClr val="1F2328"/>
                </a:solidFill>
              </a:rPr>
              <a:t>구간의 재방문 주기 </a:t>
            </a:r>
            <a:r>
              <a:rPr lang="en-US" altLang="ko-KR" dirty="0">
                <a:solidFill>
                  <a:srgbClr val="1F2328"/>
                </a:solidFill>
              </a:rPr>
              <a:t>15</a:t>
            </a:r>
            <a:r>
              <a:rPr lang="ko-KR" altLang="en-US" dirty="0">
                <a:solidFill>
                  <a:srgbClr val="1F2328"/>
                </a:solidFill>
              </a:rPr>
              <a:t>분 적용</a:t>
            </a:r>
            <a:endParaRPr lang="en-US" altLang="ko-KR" dirty="0">
              <a:solidFill>
                <a:srgbClr val="1F2328"/>
              </a:solidFill>
            </a:endParaRP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A24D12DD-8C4E-D43F-A0C7-4C12E635E756}"/>
              </a:ext>
            </a:extLst>
          </p:cNvPr>
          <p:cNvGraphicFramePr>
            <a:graphicFrameLocks noGrp="1"/>
          </p:cNvGraphicFramePr>
          <p:nvPr/>
        </p:nvGraphicFramePr>
        <p:xfrm>
          <a:off x="69300" y="1778562"/>
          <a:ext cx="9017144" cy="112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6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81393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98791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  <a:gridCol w="1017351">
                  <a:extLst>
                    <a:ext uri="{9D8B030D-6E8A-4147-A177-3AD203B41FA5}">
                      <a16:colId xmlns:a16="http://schemas.microsoft.com/office/drawing/2014/main" val="14929076"/>
                    </a:ext>
                  </a:extLst>
                </a:gridCol>
              </a:tblGrid>
              <a:tr h="0">
                <a:tc rowSpan="3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 err="1"/>
                        <a:t>AoI</a:t>
                      </a:r>
                      <a:r>
                        <a:rPr lang="en-US" altLang="ko-KR" sz="1400" dirty="0"/>
                        <a:t> &amp; Time </a:t>
                      </a:r>
                    </a:p>
                    <a:p>
                      <a:pPr algn="ctr" latinLnBrk="1">
                        <a:defRPr/>
                      </a:pPr>
                      <a:endParaRPr lang="en-US" altLang="ko-KR" sz="1400" dirty="0"/>
                    </a:p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Epoch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37.57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127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720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24.01.01</a:t>
                      </a:r>
                    </a:p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00:00:00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43.1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131.9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0838414"/>
                  </a:ext>
                </a:extLst>
              </a:tr>
              <a:tr h="22768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7270.14km</a:t>
                      </a:r>
                      <a:r>
                        <a:rPr lang="en-US" altLang="ko-KR" sz="1200" dirty="0"/>
                        <a:t>, 0, 40~50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128255"/>
                  </a:ext>
                </a:extLst>
              </a:tr>
            </a:tbl>
          </a:graphicData>
        </a:graphic>
      </p:graphicFrame>
      <p:grpSp>
        <p:nvGrpSpPr>
          <p:cNvPr id="19" name="그룹 18">
            <a:extLst>
              <a:ext uri="{FF2B5EF4-FFF2-40B4-BE49-F238E27FC236}">
                <a16:creationId xmlns:a16="http://schemas.microsoft.com/office/drawing/2014/main" id="{684499D5-2428-B1B7-2183-264866CBDF62}"/>
              </a:ext>
            </a:extLst>
          </p:cNvPr>
          <p:cNvGrpSpPr/>
          <p:nvPr/>
        </p:nvGrpSpPr>
        <p:grpSpPr>
          <a:xfrm>
            <a:off x="69300" y="1808252"/>
            <a:ext cx="2579012" cy="722150"/>
            <a:chOff x="100830" y="1808252"/>
            <a:chExt cx="2579012" cy="722150"/>
          </a:xfrm>
        </p:grpSpPr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A1C4744D-1002-91AD-5AB9-29C3E39D4C2D}"/>
                </a:ext>
              </a:extLst>
            </p:cNvPr>
            <p:cNvCxnSpPr>
              <a:cxnSpLocks/>
            </p:cNvCxnSpPr>
            <p:nvPr/>
          </p:nvCxnSpPr>
          <p:spPr>
            <a:xfrm>
              <a:off x="100830" y="1808252"/>
              <a:ext cx="443700" cy="339047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409FF4A4-28C9-6623-3913-3C30F5586CE7}"/>
                </a:ext>
              </a:extLst>
            </p:cNvPr>
            <p:cNvCxnSpPr>
              <a:cxnSpLocks/>
            </p:cNvCxnSpPr>
            <p:nvPr/>
          </p:nvCxnSpPr>
          <p:spPr>
            <a:xfrm>
              <a:off x="544530" y="2147299"/>
              <a:ext cx="1691612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C8B0E82-0258-B49D-BD31-58482BB31F21}"/>
                </a:ext>
              </a:extLst>
            </p:cNvPr>
            <p:cNvCxnSpPr>
              <a:cxnSpLocks/>
            </p:cNvCxnSpPr>
            <p:nvPr/>
          </p:nvCxnSpPr>
          <p:spPr>
            <a:xfrm>
              <a:off x="2236142" y="2147299"/>
              <a:ext cx="443700" cy="383103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2EB35CF-2B1A-1A93-BB22-5F5622F1530B}"/>
                  </a:ext>
                </a:extLst>
              </p:cNvPr>
              <p:cNvSpPr txBox="1"/>
              <p:nvPr/>
            </p:nvSpPr>
            <p:spPr>
              <a:xfrm>
                <a:off x="1938326" y="6319801"/>
                <a:ext cx="4948438" cy="3763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2">
                  <a:defRPr/>
                </a:pPr>
                <a14:m>
                  <m:oMath xmlns:m="http://schemas.openxmlformats.org/officeDocument/2006/math">
                    <m:r>
                      <a:rPr lang="ko-KR" altLang="en-US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총</m:t>
                    </m:r>
                  </m:oMath>
                </a14:m>
                <a:r>
                  <a:rPr lang="en-US" altLang="ko-KR" dirty="0">
                    <a:solidFill>
                      <a:srgbClr val="FF0000"/>
                    </a:solidFill>
                  </a:rPr>
                  <a:t> 9</a:t>
                </a:r>
                <a:r>
                  <a:rPr lang="ko-KR" altLang="en-US" dirty="0">
                    <a:solidFill>
                      <a:srgbClr val="FF0000"/>
                    </a:solidFill>
                  </a:rPr>
                  <a:t>대 위성으로 요구조건 달성 가능</a:t>
                </a:r>
                <a:endParaRPr lang="en-US" altLang="ko-KR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2EB35CF-2B1A-1A93-BB22-5F5622F153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8326" y="6319801"/>
                <a:ext cx="4948438" cy="376385"/>
              </a:xfrm>
              <a:prstGeom prst="rect">
                <a:avLst/>
              </a:prstGeom>
              <a:blipFill>
                <a:blip r:embed="rId3"/>
                <a:stretch>
                  <a:fillRect t="-8197" b="-2623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3EC47BBC-88E2-4DEB-FC6F-7BB4D9EF15B7}"/>
              </a:ext>
            </a:extLst>
          </p:cNvPr>
          <p:cNvSpPr/>
          <p:nvPr/>
        </p:nvSpPr>
        <p:spPr bwMode="auto">
          <a:xfrm>
            <a:off x="2257236" y="6344778"/>
            <a:ext cx="491535" cy="351408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013454A9-FD42-B569-1B94-C80B54E82CE1}"/>
              </a:ext>
            </a:extLst>
          </p:cNvPr>
          <p:cNvGraphicFramePr>
            <a:graphicFrameLocks noGrp="1"/>
          </p:cNvGraphicFramePr>
          <p:nvPr/>
        </p:nvGraphicFramePr>
        <p:xfrm>
          <a:off x="59775" y="2983074"/>
          <a:ext cx="2985091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1505">
                  <a:extLst>
                    <a:ext uri="{9D8B030D-6E8A-4147-A177-3AD203B41FA5}">
                      <a16:colId xmlns:a16="http://schemas.microsoft.com/office/drawing/2014/main" val="3789974849"/>
                    </a:ext>
                  </a:extLst>
                </a:gridCol>
                <a:gridCol w="3839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3971">
                  <a:extLst>
                    <a:ext uri="{9D8B030D-6E8A-4147-A177-3AD203B41FA5}">
                      <a16:colId xmlns:a16="http://schemas.microsoft.com/office/drawing/2014/main" val="2749405122"/>
                    </a:ext>
                  </a:extLst>
                </a:gridCol>
                <a:gridCol w="383972">
                  <a:extLst>
                    <a:ext uri="{9D8B030D-6E8A-4147-A177-3AD203B41FA5}">
                      <a16:colId xmlns:a16="http://schemas.microsoft.com/office/drawing/2014/main" val="4283662456"/>
                    </a:ext>
                  </a:extLst>
                </a:gridCol>
                <a:gridCol w="407224">
                  <a:extLst>
                    <a:ext uri="{9D8B030D-6E8A-4147-A177-3AD203B41FA5}">
                      <a16:colId xmlns:a16="http://schemas.microsoft.com/office/drawing/2014/main" val="4270349269"/>
                    </a:ext>
                  </a:extLst>
                </a:gridCol>
                <a:gridCol w="407223">
                  <a:extLst>
                    <a:ext uri="{9D8B030D-6E8A-4147-A177-3AD203B41FA5}">
                      <a16:colId xmlns:a16="http://schemas.microsoft.com/office/drawing/2014/main" val="2296791338"/>
                    </a:ext>
                  </a:extLst>
                </a:gridCol>
                <a:gridCol w="407224">
                  <a:extLst>
                    <a:ext uri="{9D8B030D-6E8A-4147-A177-3AD203B41FA5}">
                      <a16:colId xmlns:a16="http://schemas.microsoft.com/office/drawing/2014/main" val="219609416"/>
                    </a:ext>
                  </a:extLst>
                </a:gridCol>
              </a:tblGrid>
              <a:tr h="148797">
                <a:tc rowSpan="3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T:P:F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최대 재방문 주기</a:t>
                      </a: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(min)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1362372"/>
                  </a:ext>
                </a:extLst>
              </a:tr>
              <a:tr h="148797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서울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</a:rPr>
                        <a:t>블라디보스토크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8797">
                <a:tc v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en-US" altLang="ko-KR" sz="11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40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45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50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40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45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50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2820654"/>
                  </a:ext>
                </a:extLst>
              </a:tr>
              <a:tr h="25920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9:9:0</a:t>
                      </a:r>
                      <a:endParaRPr lang="ko-KR" altLang="en-US" sz="12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06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9:9:1</a:t>
                      </a:r>
                      <a:endParaRPr lang="ko-KR" altLang="en-US" sz="12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3676959"/>
                  </a:ext>
                </a:extLst>
              </a:tr>
              <a:tr h="21006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9:9:2</a:t>
                      </a:r>
                      <a:endParaRPr lang="ko-KR" altLang="en-US" sz="12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2889572"/>
                  </a:ext>
                </a:extLst>
              </a:tr>
              <a:tr h="21006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9:9:3</a:t>
                      </a:r>
                      <a:endParaRPr lang="ko-KR" altLang="en-US" sz="12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5637608"/>
                  </a:ext>
                </a:extLst>
              </a:tr>
              <a:tr h="21006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9:9:4</a:t>
                      </a:r>
                      <a:endParaRPr lang="ko-KR" altLang="en-US" sz="12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33312"/>
                  </a:ext>
                </a:extLst>
              </a:tr>
              <a:tr h="21006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9:9:5</a:t>
                      </a:r>
                      <a:endParaRPr lang="ko-KR" altLang="en-US" sz="12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5956199"/>
                  </a:ext>
                </a:extLst>
              </a:tr>
              <a:tr h="21006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9:9:6</a:t>
                      </a:r>
                      <a:endParaRPr lang="ko-KR" altLang="en-US" sz="1200" b="1" dirty="0">
                        <a:solidFill>
                          <a:srgbClr val="FF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14</a:t>
                      </a:r>
                      <a:endParaRPr lang="ko-KR" altLang="en-US" sz="1200" dirty="0">
                        <a:solidFill>
                          <a:srgbClr val="FF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12</a:t>
                      </a:r>
                      <a:endParaRPr lang="ko-KR" altLang="en-US" sz="1200" dirty="0">
                        <a:solidFill>
                          <a:srgbClr val="FF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12</a:t>
                      </a:r>
                      <a:endParaRPr lang="ko-KR" altLang="en-US" sz="1200" dirty="0">
                        <a:solidFill>
                          <a:srgbClr val="FF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14</a:t>
                      </a:r>
                      <a:endParaRPr lang="ko-KR" altLang="en-US" sz="1200" dirty="0">
                        <a:solidFill>
                          <a:srgbClr val="FF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14</a:t>
                      </a:r>
                      <a:endParaRPr lang="ko-KR" altLang="en-US" sz="1200" dirty="0">
                        <a:solidFill>
                          <a:srgbClr val="FF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12</a:t>
                      </a:r>
                      <a:endParaRPr lang="ko-KR" altLang="en-US" sz="1200" dirty="0">
                        <a:solidFill>
                          <a:srgbClr val="FF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3289057"/>
                  </a:ext>
                </a:extLst>
              </a:tr>
              <a:tr h="21006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9:9:7</a:t>
                      </a:r>
                      <a:endParaRPr lang="ko-KR" altLang="en-US" sz="12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50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1999448"/>
                  </a:ext>
                </a:extLst>
              </a:tr>
              <a:tr h="21006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9:9:8</a:t>
                      </a:r>
                      <a:endParaRPr lang="ko-KR" altLang="en-US" sz="12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86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86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82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86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84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82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9306633"/>
                  </a:ext>
                </a:extLst>
              </a:tr>
            </a:tbl>
          </a:graphicData>
        </a:graphic>
      </p:graphicFrame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97394423-10DD-9430-436A-C2523B20526C}"/>
              </a:ext>
            </a:extLst>
          </p:cNvPr>
          <p:cNvGraphicFramePr>
            <a:graphicFrameLocks noGrp="1"/>
          </p:cNvGraphicFramePr>
          <p:nvPr/>
        </p:nvGraphicFramePr>
        <p:xfrm>
          <a:off x="3079454" y="2983074"/>
          <a:ext cx="2985091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1505">
                  <a:extLst>
                    <a:ext uri="{9D8B030D-6E8A-4147-A177-3AD203B41FA5}">
                      <a16:colId xmlns:a16="http://schemas.microsoft.com/office/drawing/2014/main" val="3789974849"/>
                    </a:ext>
                  </a:extLst>
                </a:gridCol>
                <a:gridCol w="3839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3971">
                  <a:extLst>
                    <a:ext uri="{9D8B030D-6E8A-4147-A177-3AD203B41FA5}">
                      <a16:colId xmlns:a16="http://schemas.microsoft.com/office/drawing/2014/main" val="2749405122"/>
                    </a:ext>
                  </a:extLst>
                </a:gridCol>
                <a:gridCol w="383972">
                  <a:extLst>
                    <a:ext uri="{9D8B030D-6E8A-4147-A177-3AD203B41FA5}">
                      <a16:colId xmlns:a16="http://schemas.microsoft.com/office/drawing/2014/main" val="4283662456"/>
                    </a:ext>
                  </a:extLst>
                </a:gridCol>
                <a:gridCol w="407224">
                  <a:extLst>
                    <a:ext uri="{9D8B030D-6E8A-4147-A177-3AD203B41FA5}">
                      <a16:colId xmlns:a16="http://schemas.microsoft.com/office/drawing/2014/main" val="4270349269"/>
                    </a:ext>
                  </a:extLst>
                </a:gridCol>
                <a:gridCol w="407223">
                  <a:extLst>
                    <a:ext uri="{9D8B030D-6E8A-4147-A177-3AD203B41FA5}">
                      <a16:colId xmlns:a16="http://schemas.microsoft.com/office/drawing/2014/main" val="2296791338"/>
                    </a:ext>
                  </a:extLst>
                </a:gridCol>
                <a:gridCol w="407224">
                  <a:extLst>
                    <a:ext uri="{9D8B030D-6E8A-4147-A177-3AD203B41FA5}">
                      <a16:colId xmlns:a16="http://schemas.microsoft.com/office/drawing/2014/main" val="219609416"/>
                    </a:ext>
                  </a:extLst>
                </a:gridCol>
              </a:tblGrid>
              <a:tr h="148797">
                <a:tc rowSpan="3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T:P:F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최대 재방문 주기</a:t>
                      </a: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(min)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1362372"/>
                  </a:ext>
                </a:extLst>
              </a:tr>
              <a:tr h="148797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서울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</a:rPr>
                        <a:t>블라디보스토크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8797">
                <a:tc v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en-US" altLang="ko-KR" sz="11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40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45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50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40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45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50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2820654"/>
                  </a:ext>
                </a:extLst>
              </a:tr>
              <a:tr h="25920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9:3:0</a:t>
                      </a:r>
                      <a:endParaRPr lang="ko-KR" altLang="en-US" sz="12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06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9:3:1</a:t>
                      </a:r>
                      <a:endParaRPr lang="ko-KR" altLang="en-US" sz="12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3676959"/>
                  </a:ext>
                </a:extLst>
              </a:tr>
              <a:tr h="21006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9:3:2</a:t>
                      </a:r>
                      <a:endParaRPr lang="ko-KR" altLang="en-US" sz="12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288957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917EECB-1DD4-2B84-325A-429A85A54E62}"/>
              </a:ext>
            </a:extLst>
          </p:cNvPr>
          <p:cNvSpPr txBox="1"/>
          <p:nvPr/>
        </p:nvSpPr>
        <p:spPr>
          <a:xfrm>
            <a:off x="5460236" y="5843184"/>
            <a:ext cx="34266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ko-KR" altLang="en-US" sz="1400" dirty="0"/>
              <a:t>최종 설계된 궤도요소</a:t>
            </a:r>
            <a:r>
              <a:rPr lang="en-US" altLang="ko-KR" sz="1400" dirty="0"/>
              <a:t>(9:9:6)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표 6">
                <a:extLst>
                  <a:ext uri="{FF2B5EF4-FFF2-40B4-BE49-F238E27FC236}">
                    <a16:creationId xmlns:a16="http://schemas.microsoft.com/office/drawing/2014/main" id="{2D22707B-F85D-D34E-66EA-CD0E78F8F3CD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126845" y="3003234"/>
              <a:ext cx="2947935" cy="2743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01541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42885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28854">
                      <a:extLst>
                        <a:ext uri="{9D8B030D-6E8A-4147-A177-3AD203B41FA5}">
                          <a16:colId xmlns:a16="http://schemas.microsoft.com/office/drawing/2014/main" val="4270349269"/>
                        </a:ext>
                      </a:extLst>
                    </a:gridCol>
                    <a:gridCol w="568643">
                      <a:extLst>
                        <a:ext uri="{9D8B030D-6E8A-4147-A177-3AD203B41FA5}">
                          <a16:colId xmlns:a16="http://schemas.microsoft.com/office/drawing/2014/main" val="1335621933"/>
                        </a:ext>
                      </a:extLst>
                    </a:gridCol>
                    <a:gridCol w="283480">
                      <a:extLst>
                        <a:ext uri="{9D8B030D-6E8A-4147-A177-3AD203B41FA5}">
                          <a16:colId xmlns:a16="http://schemas.microsoft.com/office/drawing/2014/main" val="4035825818"/>
                        </a:ext>
                      </a:extLst>
                    </a:gridCol>
                    <a:gridCol w="404625">
                      <a:extLst>
                        <a:ext uri="{9D8B030D-6E8A-4147-A177-3AD203B41FA5}">
                          <a16:colId xmlns:a16="http://schemas.microsoft.com/office/drawing/2014/main" val="1969606626"/>
                        </a:ext>
                      </a:extLst>
                    </a:gridCol>
                    <a:gridCol w="331938">
                      <a:extLst>
                        <a:ext uri="{9D8B030D-6E8A-4147-A177-3AD203B41FA5}">
                          <a16:colId xmlns:a16="http://schemas.microsoft.com/office/drawing/2014/main" val="1031696988"/>
                        </a:ext>
                      </a:extLst>
                    </a:gridCol>
                  </a:tblGrid>
                  <a:tr h="239696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f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en-US" altLang="ko-KR" sz="12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en-US" altLang="ko-KR" sz="12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ko-KR" sz="1200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a</m:t>
                                </m:r>
                              </m:oMath>
                            </m:oMathPara>
                          </a14:m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e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 err="1">
                              <a:latin typeface="Times New Roman"/>
                              <a:ea typeface="+mn-ea"/>
                              <a:cs typeface="Times New Roman"/>
                            </a:rPr>
                            <a:t>i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ω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99057536"/>
                      </a:ext>
                    </a:extLst>
                  </a:tr>
                  <a:tr h="2723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7270.</a:t>
                          </a: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14km</a:t>
                          </a: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40</a:t>
                          </a:r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ko-KR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ko-KR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723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723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723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723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723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723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6475332"/>
                      </a:ext>
                    </a:extLst>
                  </a:tr>
                  <a:tr h="2723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56832834"/>
                      </a:ext>
                    </a:extLst>
                  </a:tr>
                  <a:tr h="2723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344694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표 6">
                <a:extLst>
                  <a:ext uri="{FF2B5EF4-FFF2-40B4-BE49-F238E27FC236}">
                    <a16:creationId xmlns:a16="http://schemas.microsoft.com/office/drawing/2014/main" id="{2D22707B-F85D-D34E-66EA-CD0E78F8F3C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38426734"/>
                  </p:ext>
                </p:extLst>
              </p:nvPr>
            </p:nvGraphicFramePr>
            <p:xfrm>
              <a:off x="6126845" y="3003234"/>
              <a:ext cx="2947935" cy="2743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01541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42885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28854">
                      <a:extLst>
                        <a:ext uri="{9D8B030D-6E8A-4147-A177-3AD203B41FA5}">
                          <a16:colId xmlns:a16="http://schemas.microsoft.com/office/drawing/2014/main" val="4270349269"/>
                        </a:ext>
                      </a:extLst>
                    </a:gridCol>
                    <a:gridCol w="568643">
                      <a:extLst>
                        <a:ext uri="{9D8B030D-6E8A-4147-A177-3AD203B41FA5}">
                          <a16:colId xmlns:a16="http://schemas.microsoft.com/office/drawing/2014/main" val="1335621933"/>
                        </a:ext>
                      </a:extLst>
                    </a:gridCol>
                    <a:gridCol w="283480">
                      <a:extLst>
                        <a:ext uri="{9D8B030D-6E8A-4147-A177-3AD203B41FA5}">
                          <a16:colId xmlns:a16="http://schemas.microsoft.com/office/drawing/2014/main" val="4035825818"/>
                        </a:ext>
                      </a:extLst>
                    </a:gridCol>
                    <a:gridCol w="404625">
                      <a:extLst>
                        <a:ext uri="{9D8B030D-6E8A-4147-A177-3AD203B41FA5}">
                          <a16:colId xmlns:a16="http://schemas.microsoft.com/office/drawing/2014/main" val="1969606626"/>
                        </a:ext>
                      </a:extLst>
                    </a:gridCol>
                    <a:gridCol w="331938">
                      <a:extLst>
                        <a:ext uri="{9D8B030D-6E8A-4147-A177-3AD203B41FA5}">
                          <a16:colId xmlns:a16="http://schemas.microsoft.com/office/drawing/2014/main" val="1031696988"/>
                        </a:ext>
                      </a:extLst>
                    </a:gridCol>
                  </a:tblGrid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f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16901" t="-2222" r="-469014" b="-9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20000" t="-2222" r="-375714" b="-9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38298" t="-2222" r="-179787" b="-9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e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 err="1">
                              <a:latin typeface="Times New Roman"/>
                              <a:ea typeface="+mn-ea"/>
                              <a:cs typeface="Times New Roman"/>
                            </a:rPr>
                            <a:t>i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ω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99057536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7270.</a:t>
                          </a: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14km</a:t>
                          </a: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40</a:t>
                          </a:r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ko-KR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ko-KR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6475332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56832834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3446942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11" name="그룹 10">
            <a:extLst>
              <a:ext uri="{FF2B5EF4-FFF2-40B4-BE49-F238E27FC236}">
                <a16:creationId xmlns:a16="http://schemas.microsoft.com/office/drawing/2014/main" id="{8CDEFE96-ABF3-4C21-7B3C-35C46D83A7D2}"/>
              </a:ext>
            </a:extLst>
          </p:cNvPr>
          <p:cNvGrpSpPr/>
          <p:nvPr/>
        </p:nvGrpSpPr>
        <p:grpSpPr>
          <a:xfrm>
            <a:off x="0" y="0"/>
            <a:ext cx="9144000" cy="1124607"/>
            <a:chOff x="0" y="0"/>
            <a:chExt cx="9144000" cy="1124607"/>
          </a:xfrm>
        </p:grpSpPr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43E01A64-35A3-4E54-0786-BF88DDF014FD}"/>
                </a:ext>
              </a:extLst>
            </p:cNvPr>
            <p:cNvSpPr/>
            <p:nvPr/>
          </p:nvSpPr>
          <p:spPr bwMode="auto">
            <a:xfrm>
              <a:off x="7589521" y="0"/>
              <a:ext cx="1554479" cy="75876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C5B1CFDF-1DA7-66B6-9B1C-D19FF875D225}"/>
                </a:ext>
              </a:extLst>
            </p:cNvPr>
            <p:cNvSpPr/>
            <p:nvPr/>
          </p:nvSpPr>
          <p:spPr bwMode="auto">
            <a:xfrm>
              <a:off x="8259943" y="152400"/>
              <a:ext cx="884057" cy="97220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2A55EAAF-7A42-70E3-B54D-052DF8E06911}"/>
                </a:ext>
              </a:extLst>
            </p:cNvPr>
            <p:cNvSpPr/>
            <p:nvPr/>
          </p:nvSpPr>
          <p:spPr bwMode="auto">
            <a:xfrm>
              <a:off x="7589521" y="495406"/>
              <a:ext cx="828769" cy="34832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5C24039B-45E7-0B0F-7C17-58BA9822348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0" y="0"/>
              <a:ext cx="876300" cy="8286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78768266"/>
      </p:ext>
    </p:extLst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EAB37-ADF6-CC2E-7B2B-DFADDA13A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0322B85-BD57-6CEA-9FC3-0AFC61272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39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05CFD35E-4261-BFD3-F8A1-9D625D887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결론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C2028C06-A0E8-D77F-2DDE-4D41EF330B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780592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>
                <a:solidFill>
                  <a:srgbClr val="1F2328"/>
                </a:solidFill>
              </a:rPr>
              <a:t>이진 선형 계획법</a:t>
            </a:r>
            <a:r>
              <a:rPr lang="en-US" altLang="ko-KR" dirty="0">
                <a:solidFill>
                  <a:srgbClr val="1F2328"/>
                </a:solidFill>
              </a:rPr>
              <a:t>(BILP)</a:t>
            </a:r>
            <a:r>
              <a:rPr lang="ko-KR" altLang="en-US" dirty="0">
                <a:solidFill>
                  <a:srgbClr val="1F2328"/>
                </a:solidFill>
              </a:rPr>
              <a:t>과 다른 설계기법의 성능 비교</a:t>
            </a:r>
            <a:endParaRPr lang="en-US" altLang="ko-KR" dirty="0">
              <a:solidFill>
                <a:srgbClr val="1F2328"/>
              </a:solidFill>
            </a:endParaRPr>
          </a:p>
          <a:p>
            <a:pPr lvl="1">
              <a:defRPr/>
            </a:pPr>
            <a:r>
              <a:rPr lang="ko-KR" altLang="en-US" dirty="0"/>
              <a:t>비대칭성을 이용한 최적화 설계 기법인 이진 선형 계획법이 탄생</a:t>
            </a:r>
            <a:endParaRPr lang="en-US" altLang="ko-KR" dirty="0"/>
          </a:p>
          <a:p>
            <a:pPr lvl="1">
              <a:defRPr/>
            </a:pPr>
            <a:r>
              <a:rPr lang="ko-KR" altLang="en-US" dirty="0"/>
              <a:t>워커</a:t>
            </a:r>
            <a:r>
              <a:rPr lang="en-US" altLang="ko-KR" dirty="0"/>
              <a:t>-</a:t>
            </a:r>
            <a:r>
              <a:rPr lang="ko-KR" altLang="en-US" dirty="0"/>
              <a:t>델타 위성군에 비해 궤도 평면 수가 많지만</a:t>
            </a:r>
            <a:r>
              <a:rPr lang="en-US" altLang="ko-KR" dirty="0"/>
              <a:t>, </a:t>
            </a:r>
            <a:r>
              <a:rPr lang="ko-KR" altLang="en-US" dirty="0"/>
              <a:t>위성 수를 줄일 수 있음</a:t>
            </a:r>
            <a:endParaRPr lang="en-US" altLang="ko-KR" dirty="0"/>
          </a:p>
          <a:p>
            <a:pPr lvl="1">
              <a:defRPr/>
            </a:pPr>
            <a:r>
              <a:rPr lang="ko-KR" altLang="en-US" dirty="0"/>
              <a:t>고도 및 궤도 경사각 등 다양한 궤도를 동시에 운용하는 이종 위성군에 적용</a:t>
            </a:r>
            <a:endParaRPr lang="en-US" altLang="ko-KR" dirty="0"/>
          </a:p>
          <a:p>
            <a:pPr lvl="1">
              <a:defRPr/>
            </a:pPr>
            <a:r>
              <a:rPr lang="ko-KR" altLang="en-US" dirty="0"/>
              <a:t>단일 궤도에 비해 이종 위성군을 운용하는 것의 성능이 뛰어난 것을 검증함</a:t>
            </a:r>
            <a:endParaRPr lang="en-US" altLang="ko-KR" dirty="0"/>
          </a:p>
          <a:p>
            <a:pPr lvl="1">
              <a:defRPr/>
            </a:pPr>
            <a:r>
              <a:rPr lang="ko-KR" altLang="en-US" dirty="0"/>
              <a:t>재방문 주기 적용했을 때의 성능은 워커</a:t>
            </a:r>
            <a:r>
              <a:rPr lang="en-US" altLang="ko-KR" dirty="0"/>
              <a:t>-</a:t>
            </a:r>
            <a:r>
              <a:rPr lang="ko-KR" altLang="en-US" dirty="0"/>
              <a:t>델타 위성군과 이진 선형 계획법이 같음</a:t>
            </a:r>
            <a:endParaRPr lang="en-US" altLang="ko-KR" dirty="0"/>
          </a:p>
          <a:p>
            <a:pPr lvl="1">
              <a:defRPr/>
            </a:pPr>
            <a:r>
              <a:rPr lang="ko-KR" altLang="en-US" dirty="0"/>
              <a:t>특정 시간에 따라 커버리지 요구 횟수 또는 재방문 주기의 변화가 있는 상황 등에서 이진 선형 계획법이 갖는 이점 확인 가능  </a:t>
            </a:r>
            <a:endParaRPr lang="en-US" altLang="ko-KR" dirty="0"/>
          </a:p>
          <a:p>
            <a:pPr lvl="1">
              <a:defRPr/>
            </a:pPr>
            <a:endParaRPr lang="en-US" altLang="ko-KR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75A2E971-C1E8-1151-F5F5-3A1A27250FEE}"/>
              </a:ext>
            </a:extLst>
          </p:cNvPr>
          <p:cNvGrpSpPr/>
          <p:nvPr/>
        </p:nvGrpSpPr>
        <p:grpSpPr>
          <a:xfrm>
            <a:off x="0" y="0"/>
            <a:ext cx="9144000" cy="1124607"/>
            <a:chOff x="0" y="0"/>
            <a:chExt cx="9144000" cy="1124607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7D070777-B4F7-F01D-897D-98129EE34459}"/>
                </a:ext>
              </a:extLst>
            </p:cNvPr>
            <p:cNvSpPr/>
            <p:nvPr/>
          </p:nvSpPr>
          <p:spPr bwMode="auto">
            <a:xfrm>
              <a:off x="7589521" y="0"/>
              <a:ext cx="1554479" cy="75876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9ADF0D5E-7637-7E48-2700-D255E5FD1810}"/>
                </a:ext>
              </a:extLst>
            </p:cNvPr>
            <p:cNvSpPr/>
            <p:nvPr/>
          </p:nvSpPr>
          <p:spPr bwMode="auto">
            <a:xfrm>
              <a:off x="8259943" y="152400"/>
              <a:ext cx="884057" cy="97220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0E5F628F-17CA-33E0-BB12-30C344536D4D}"/>
                </a:ext>
              </a:extLst>
            </p:cNvPr>
            <p:cNvSpPr/>
            <p:nvPr/>
          </p:nvSpPr>
          <p:spPr bwMode="auto">
            <a:xfrm>
              <a:off x="7589521" y="495406"/>
              <a:ext cx="828769" cy="34832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2D5AA5C7-B1DC-5335-B230-8A240B94D25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876300" cy="8286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97618971"/>
      </p:ext>
    </p:extLst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F1B23A-78F3-35B8-506D-D9DFB5D06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25B69527-F992-21E4-8F1F-56E5278215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567740"/>
            <a:ext cx="9144000" cy="3180446"/>
          </a:xfrm>
        </p:spPr>
        <p:txBody>
          <a:bodyPr/>
          <a:lstStyle/>
          <a:p>
            <a:r>
              <a:rPr lang="ko-KR" altLang="en-US" dirty="0"/>
              <a:t>경청해 주셔서 감사합니다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" name="부제목 1">
            <a:extLst>
              <a:ext uri="{FF2B5EF4-FFF2-40B4-BE49-F238E27FC236}">
                <a16:creationId xmlns:a16="http://schemas.microsoft.com/office/drawing/2014/main" id="{DC64E212-8A1E-C5D2-7849-BE68EF516F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4757433"/>
            <a:ext cx="6858000" cy="1339783"/>
          </a:xfrm>
        </p:spPr>
        <p:txBody>
          <a:bodyPr/>
          <a:lstStyle/>
          <a:p>
            <a:r>
              <a:rPr lang="ko-KR" altLang="en-US" dirty="0"/>
              <a:t>발표자</a:t>
            </a:r>
            <a:r>
              <a:rPr lang="en-US" altLang="ko-KR" dirty="0"/>
              <a:t>: </a:t>
            </a:r>
            <a:r>
              <a:rPr lang="ko-KR" altLang="en-US" dirty="0"/>
              <a:t>이진진</a:t>
            </a:r>
            <a:endParaRPr lang="en-US" altLang="ko-KR" dirty="0"/>
          </a:p>
          <a:p>
            <a:r>
              <a:rPr lang="ko-KR" altLang="en-US" dirty="0"/>
              <a:t>이메일</a:t>
            </a:r>
            <a:r>
              <a:rPr lang="en-US" altLang="ko-KR" dirty="0"/>
              <a:t>: jj95lee@yonsei.ac.kr</a:t>
            </a:r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ABE3475-1035-EFEB-6399-114C8C9903FD}"/>
              </a:ext>
            </a:extLst>
          </p:cNvPr>
          <p:cNvSpPr/>
          <p:nvPr/>
        </p:nvSpPr>
        <p:spPr>
          <a:xfrm>
            <a:off x="0" y="3604912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3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" panose="02020603050405020304" pitchFamily="18" charset="0"/>
                <a:cs typeface="times" panose="02020603050405020304" pitchFamily="18" charset="0"/>
              </a:rPr>
              <a:t>질의응답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27469CAD-34E0-3D3C-1452-B8017D91C3D7}"/>
              </a:ext>
            </a:extLst>
          </p:cNvPr>
          <p:cNvGrpSpPr/>
          <p:nvPr/>
        </p:nvGrpSpPr>
        <p:grpSpPr>
          <a:xfrm>
            <a:off x="0" y="0"/>
            <a:ext cx="9144000" cy="1124607"/>
            <a:chOff x="0" y="0"/>
            <a:chExt cx="9144000" cy="1124607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5042F717-B579-CA4B-41F9-90A4D5CB910A}"/>
                </a:ext>
              </a:extLst>
            </p:cNvPr>
            <p:cNvSpPr/>
            <p:nvPr/>
          </p:nvSpPr>
          <p:spPr bwMode="auto">
            <a:xfrm>
              <a:off x="7589521" y="0"/>
              <a:ext cx="1554479" cy="75876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1154D61C-540D-27C7-A42C-0577A1A3B99E}"/>
                </a:ext>
              </a:extLst>
            </p:cNvPr>
            <p:cNvSpPr/>
            <p:nvPr/>
          </p:nvSpPr>
          <p:spPr bwMode="auto">
            <a:xfrm>
              <a:off x="8259943" y="152400"/>
              <a:ext cx="884057" cy="97220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9B308E35-ABB8-22FB-DDAC-509269400490}"/>
                </a:ext>
              </a:extLst>
            </p:cNvPr>
            <p:cNvSpPr/>
            <p:nvPr/>
          </p:nvSpPr>
          <p:spPr bwMode="auto">
            <a:xfrm>
              <a:off x="7589521" y="495406"/>
              <a:ext cx="828769" cy="34832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87B1FCAA-904D-F477-A7F1-0AB3E92AA72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876300" cy="8286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911712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rgbClr val="FFFFFF"/>
        </a:solidFill>
        <a:ln>
          <a:noFill/>
        </a:ln>
        <a:extLs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vert="horz" wrap="square" lIns="91440" tIns="45720" rIns="91440" bIns="45720" numCol="1" rtlCol="0" anchor="t" anchorCtr="0" compatLnSpc="1">
        <a:prstTxWarp prst="textNoShape">
          <a:avLst/>
        </a:prstTxWarp>
      </a:bodyPr>
      <a:lstStyle>
        <a:defPPr algn="l">
          <a:defRPr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133152</TotalTime>
  <Words>7018</Words>
  <Application>Microsoft Office PowerPoint</Application>
  <PresentationFormat>화면 슬라이드 쇼(4:3)</PresentationFormat>
  <Paragraphs>2744</Paragraphs>
  <Slides>41</Slides>
  <Notes>40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41</vt:i4>
      </vt:variant>
    </vt:vector>
  </HeadingPairs>
  <TitlesOfParts>
    <vt:vector size="49" baseType="lpstr">
      <vt:lpstr>-apple-system</vt:lpstr>
      <vt:lpstr>맑은 고딕</vt:lpstr>
      <vt:lpstr>Arial</vt:lpstr>
      <vt:lpstr>Cambria Math</vt:lpstr>
      <vt:lpstr>times</vt:lpstr>
      <vt:lpstr>Times New Roman</vt:lpstr>
      <vt:lpstr>Wingdings</vt:lpstr>
      <vt:lpstr>Office 테마</vt:lpstr>
      <vt:lpstr>BILP 방법을 이용한 이종 위성군 궤도 설계</vt:lpstr>
      <vt:lpstr>연구 배경</vt:lpstr>
      <vt:lpstr>이종 위성군의 해외 연구사례(1)</vt:lpstr>
      <vt:lpstr>이종 위성군의 해외 연구사례(2)</vt:lpstr>
      <vt:lpstr>이종 위성군의 국내 연구사례(1), (2)</vt:lpstr>
      <vt:lpstr>연구의 목적 및 의의</vt:lpstr>
      <vt:lpstr>APC Decomposition의 간단한 예시</vt:lpstr>
      <vt:lpstr>이진 선형 계획법(BILP) 설계 개념</vt:lpstr>
      <vt:lpstr>이진 선형 계획법 설계 개념</vt:lpstr>
      <vt:lpstr>이진 선형 계획법을 적용한 이종 위성군 설계 개념</vt:lpstr>
      <vt:lpstr>PowerPoint 프레젠테이션</vt:lpstr>
      <vt:lpstr>한반도 및 인근지역에 대한 시뮬레이션 세팅</vt:lpstr>
      <vt:lpstr>한반도 및 인근지역에 대한 시뮬레이션 설정</vt:lpstr>
      <vt:lpstr>고도 및 궤도 경사각 선정 기준</vt:lpstr>
      <vt:lpstr>이진 선형 계획법 결과: 연속관측을 위한  다중 관심지역의 다중 궤도 운용 Orbit 1, 2 → (Seoul, Vladivostok) </vt:lpstr>
      <vt:lpstr>Orbit 1, 2 (경사각 : 59, 65˚) → Seoul, Vladivostok</vt:lpstr>
      <vt:lpstr>Orbit 1, 2 (경사각 : 59, 65˚) → Seoul, Vladivostok</vt:lpstr>
      <vt:lpstr>워커-델타 위성군 결과: 연속관측을 위한 다중 관심지역의 단일 궤도 운용 40˚, 45 ˚, 50 ˚→ (Seoul, Vladivostok) </vt:lpstr>
      <vt:lpstr>Inc(40˚, 45 ˚, 50 ˚) → Seoul, Vladivostok</vt:lpstr>
      <vt:lpstr>Inc(40˚, 45 ˚, 50 ˚) → Seoul, Vladivostok</vt:lpstr>
      <vt:lpstr>Inc(40˚, 45 ˚, 50 ˚) → Seoul, Vladivostok</vt:lpstr>
      <vt:lpstr>Inc(40˚, 45 ˚, 50 ˚) → Seoul, Vladivostok</vt:lpstr>
      <vt:lpstr>Inc(40˚, 45 ˚, 50 ˚) → Seoul, Vladivostok</vt:lpstr>
      <vt:lpstr>Inc(40˚, 45 ˚, 50 ˚) → Seoul, Vladivostok</vt:lpstr>
      <vt:lpstr>Inc(40˚, 45 ˚, 50 ˚) → Seoul, Vladivostok</vt:lpstr>
      <vt:lpstr>Inc(40˚, 45 ˚, 50 ˚) → Seoul, Vladivostok</vt:lpstr>
      <vt:lpstr>Inc(40˚, 45 ˚, 50 ˚) → Seoul, Vladivostok</vt:lpstr>
      <vt:lpstr>결과: 재방문 주기(30분 이내) 적용</vt:lpstr>
      <vt:lpstr>Inc(40˚, 45 ˚, 50 ˚) → Seoul, Vladivostok</vt:lpstr>
      <vt:lpstr>Inc(40˚, 45 ˚, 50 ˚) → Seoul, Vladivostok</vt:lpstr>
      <vt:lpstr>Orbit 1, 2 (경사각 : 59, 65˚) → Seoul, Vladivostok</vt:lpstr>
      <vt:lpstr>Orbit 1, 2 (경사각 : 59, 65˚) → Seoul, Vladivostok</vt:lpstr>
      <vt:lpstr>세 관측기법의 성능 결과 및 포함 관계</vt:lpstr>
      <vt:lpstr>결과 : 특정 시간의 재방문 주기 적용</vt:lpstr>
      <vt:lpstr>Orbit 1, 2 (경사각 : 59, 65˚) → Seoul, Vladivostok</vt:lpstr>
      <vt:lpstr>Inc(40˚, 45 ˚, 50 ˚) → Seoul, Vladivostok</vt:lpstr>
      <vt:lpstr>Inc(40˚, 45 ˚, 50 ˚) → Seoul, Vladivostok</vt:lpstr>
      <vt:lpstr>Inc(40˚, 45 ˚, 50 ˚) → Seoul, Vladivostok</vt:lpstr>
      <vt:lpstr>Inc(40˚, 45 ˚, 50 ˚) → Seoul, Vladivostok</vt:lpstr>
      <vt:lpstr>결론</vt:lpstr>
      <vt:lpstr>경청해 주셔서 감사합니다.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KimGeuk-Nam</dc:creator>
  <cp:lastModifiedBy>이진진</cp:lastModifiedBy>
  <cp:revision>4703</cp:revision>
  <dcterms:created xsi:type="dcterms:W3CDTF">2018-01-29T02:45:56Z</dcterms:created>
  <dcterms:modified xsi:type="dcterms:W3CDTF">2024-06-26T04:19:41Z</dcterms:modified>
</cp:coreProperties>
</file>