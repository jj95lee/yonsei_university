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9"/>
  </p:notesMasterIdLst>
  <p:sldIdLst>
    <p:sldId id="323" r:id="rId2"/>
    <p:sldId id="348" r:id="rId3"/>
    <p:sldId id="347" r:id="rId4"/>
    <p:sldId id="351" r:id="rId5"/>
    <p:sldId id="353" r:id="rId6"/>
    <p:sldId id="354" r:id="rId7"/>
    <p:sldId id="352" r:id="rId8"/>
    <p:sldId id="355" r:id="rId9"/>
    <p:sldId id="338" r:id="rId10"/>
    <p:sldId id="339" r:id="rId11"/>
    <p:sldId id="340" r:id="rId12"/>
    <p:sldId id="341" r:id="rId13"/>
    <p:sldId id="342" r:id="rId14"/>
    <p:sldId id="358" r:id="rId15"/>
    <p:sldId id="359" r:id="rId16"/>
    <p:sldId id="360" r:id="rId17"/>
    <p:sldId id="361" r:id="rId18"/>
    <p:sldId id="366" r:id="rId19"/>
    <p:sldId id="363" r:id="rId20"/>
    <p:sldId id="364" r:id="rId21"/>
    <p:sldId id="365" r:id="rId22"/>
    <p:sldId id="368" r:id="rId23"/>
    <p:sldId id="367" r:id="rId24"/>
    <p:sldId id="343" r:id="rId25"/>
    <p:sldId id="369" r:id="rId26"/>
    <p:sldId id="370" r:id="rId27"/>
    <p:sldId id="357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BDB"/>
    <a:srgbClr val="FFCCCC"/>
    <a:srgbClr val="CCC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44" autoAdjust="0"/>
  </p:normalViewPr>
  <p:slideViewPr>
    <p:cSldViewPr snapToGrid="0">
      <p:cViewPr varScale="1">
        <p:scale>
          <a:sx n="95" d="100"/>
          <a:sy n="95" d="100"/>
        </p:scale>
        <p:origin x="1158" y="96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988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818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378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0185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266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94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678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4230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365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775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24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5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574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978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001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366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404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823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886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17674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365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06470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138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0082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688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9441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5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Efficiency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A29F301-C50B-A827-C1CA-29E9BC903CC6}"/>
              </a:ext>
            </a:extLst>
          </p:cNvPr>
          <p:cNvSpPr txBox="1">
            <a:spLocks/>
          </p:cNvSpPr>
          <p:nvPr/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Efficiency of charging method</a:t>
            </a:r>
          </a:p>
          <a:p>
            <a:pPr lvl="1"/>
            <a:r>
              <a:rPr lang="en-US" altLang="ko-KR" dirty="0" err="1"/>
              <a:t>Eff_tmp</a:t>
            </a:r>
            <a:r>
              <a:rPr lang="en-US" altLang="ko-KR" dirty="0"/>
              <a:t> (90%) : Efficiency for Charging due to Temperature of PV Cell</a:t>
            </a:r>
          </a:p>
          <a:p>
            <a:pPr lvl="1"/>
            <a:r>
              <a:rPr lang="en-US" altLang="ko-KR" dirty="0" err="1"/>
              <a:t>Eff_id</a:t>
            </a:r>
            <a:r>
              <a:rPr lang="en-US" altLang="ko-KR" dirty="0"/>
              <a:t> (80%) : Efficiency for Charging due to Inherent Degradation</a:t>
            </a:r>
          </a:p>
          <a:p>
            <a:pPr lvl="1"/>
            <a:r>
              <a:rPr lang="en-US" altLang="ko-KR" dirty="0" err="1"/>
              <a:t>Eff_bcr</a:t>
            </a:r>
            <a:r>
              <a:rPr lang="en-US" altLang="ko-KR" dirty="0"/>
              <a:t> (80%) : Conversion Efficiency for charging Battery</a:t>
            </a:r>
          </a:p>
          <a:p>
            <a:pPr lvl="1"/>
            <a:r>
              <a:rPr lang="en-US" altLang="ko-KR" dirty="0" err="1"/>
              <a:t>Eff_pcm</a:t>
            </a:r>
            <a:r>
              <a:rPr lang="en-US" altLang="ko-KR" dirty="0"/>
              <a:t> (90%) : Conversion Efficiency for Regulation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0B848EE-2F40-EF18-26B9-D4906204F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0" y="2912175"/>
            <a:ext cx="5505796" cy="27429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3AC6B7E-7652-0EA0-7015-DF87762E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2236" y="3142242"/>
            <a:ext cx="6047450" cy="2282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87717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6639022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Detumbling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3.7670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3.1994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5.9404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-2.7410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-46.1410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-85.6702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-6.8524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Energy Balance :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9739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Energy Balance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000546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Mission 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</a:rPr>
                        <a:t>&amp; UHF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4.2768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2.8355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1.5113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8.6236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6.7443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4.4714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2.3833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13.5989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-1.4508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-1.4508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-10.6684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-10.6684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-11.9425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-11.9425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-13.51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-11.18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-5.96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-3.65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3139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Energy Balance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350790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S-band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4.3883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1.8487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1.6284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7.8655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6.9201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2.9154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2.5679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2.5273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2.5273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20.3761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20.3761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16.927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16.927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-7.29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-6.42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6.32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1628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Energy Balance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728003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1042145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2291770417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S-band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3.5705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2.7460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1.7938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8.1103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12.1482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5.6304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4.3303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2.8287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12.7895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-0.6413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-0.6413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-5.0146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-5.0146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-5.2793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-5.2793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16.29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-10.83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-7.07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-1.61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9498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Energy Balance : Standby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11" name="내용 개체 틀 4">
            <a:extLst>
              <a:ext uri="{FF2B5EF4-FFF2-40B4-BE49-F238E27FC236}">
                <a16:creationId xmlns:a16="http://schemas.microsoft.com/office/drawing/2014/main" id="{1561C7CE-867D-225A-96D5-D3E664711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240917"/>
              </p:ext>
            </p:extLst>
          </p:nvPr>
        </p:nvGraphicFramePr>
        <p:xfrm>
          <a:off x="389964" y="956639"/>
          <a:ext cx="11617817" cy="5345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86954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2837514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2837514">
                  <a:extLst>
                    <a:ext uri="{9D8B030D-6E8A-4147-A177-3AD203B41FA5}">
                      <a16:colId xmlns:a16="http://schemas.microsoft.com/office/drawing/2014/main" val="4039646309"/>
                    </a:ext>
                  </a:extLst>
                </a:gridCol>
                <a:gridCol w="1891676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  <a:gridCol w="864159">
                  <a:extLst>
                    <a:ext uri="{9D8B030D-6E8A-4147-A177-3AD203B41FA5}">
                      <a16:colId xmlns:a16="http://schemas.microsoft.com/office/drawing/2014/main" val="4184936773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Stand-by(D)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Stand-by(N)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4.6128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2.8703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7.4831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7.2741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4.5263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11.8004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3.1303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3.1303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26.5274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26.5274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20.9657</a:t>
                      </a:r>
                      <a:endParaRPr lang="ko-KR" altLang="en-US" sz="2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20.9657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19.14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-11.32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7.82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46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5. Energy Balance : Commissioning mode 1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831A3C84-9818-FBF1-33C9-83334EE26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3364523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Commissioning 1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4.1955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3.1994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6.6161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-3.4166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-51.6414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-106.7882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-8.54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6683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6. Energy Balance : Commissioning mode 2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2" name="내용 개체 틀 4">
            <a:extLst>
              <a:ext uri="{FF2B5EF4-FFF2-40B4-BE49-F238E27FC236}">
                <a16:creationId xmlns:a16="http://schemas.microsoft.com/office/drawing/2014/main" id="{831A3C84-9818-FBF1-33C9-83334EE26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4676214"/>
              </p:ext>
            </p:extLst>
          </p:nvPr>
        </p:nvGraphicFramePr>
        <p:xfrm>
          <a:off x="389964" y="956639"/>
          <a:ext cx="11295528" cy="527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542">
                  <a:extLst>
                    <a:ext uri="{9D8B030D-6E8A-4147-A177-3AD203B41FA5}">
                      <a16:colId xmlns:a16="http://schemas.microsoft.com/office/drawing/2014/main" val="3019729621"/>
                    </a:ext>
                  </a:extLst>
                </a:gridCol>
                <a:gridCol w="6266328">
                  <a:extLst>
                    <a:ext uri="{9D8B030D-6E8A-4147-A177-3AD203B41FA5}">
                      <a16:colId xmlns:a16="http://schemas.microsoft.com/office/drawing/2014/main" val="1109778488"/>
                    </a:ext>
                  </a:extLst>
                </a:gridCol>
                <a:gridCol w="1102658">
                  <a:extLst>
                    <a:ext uri="{9D8B030D-6E8A-4147-A177-3AD203B41FA5}">
                      <a16:colId xmlns:a16="http://schemas.microsoft.com/office/drawing/2014/main" val="40751541"/>
                    </a:ext>
                  </a:extLst>
                </a:gridCol>
              </a:tblGrid>
              <a:tr h="321855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51061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Commissioning 2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0714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Total Power Consumption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8.2730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W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1194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14.9307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60132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2000" b="1" dirty="0"/>
                        <a:t>(Orbit average)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13.0461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31758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Value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1.8846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Wh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74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Power Margin 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14.4460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631551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Residual/Generation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12.6225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38611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Charging Rate</a:t>
                      </a:r>
                      <a:endParaRPr lang="ko-KR" altLang="en-US" sz="2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4.71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%</a:t>
                      </a: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8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4755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DD56EF3-9A25-53AB-471A-DD9416E2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2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Simulink Plot Result : EO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3CCA3-B7EF-91C9-746A-ADFF9A9B0644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444461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982BCB69-FAC9-14EF-56A4-CE6E522BB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4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Simulink Plot Result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58FEAE-AA09-3F4D-AE4A-D8EDB2F20339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447714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1D4EDCDE-A6A5-0D3D-9369-09F60916F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1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Simulink Plot Result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9CE191-982E-E0C0-D9A4-5A21C4BF225B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3735049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E50D48A-CB7E-8A9C-FDA7-FCBF3DD12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4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Simulink Plot Result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7FFC43-1C0A-FE8E-4016-B65EB932D149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1441631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97DAB6-258D-E3F4-09A9-68AE45CC2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2299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Simulink Plot Result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5048A2-3C67-702A-4DF9-DC20CF4C7F7C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alpha*0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5</a:t>
            </a:r>
            <a:r>
              <a:rPr lang="ko-KR" altLang="en-US" sz="1600" dirty="0"/>
              <a:t>분 </a:t>
            </a:r>
            <a:r>
              <a:rPr lang="en-US" altLang="ko-KR" sz="1600" dirty="0"/>
              <a:t>47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9382621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6556B5F-17F7-3D4F-8B4C-5D7AA424D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11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Simulink Plot Result : EO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8586A-55C1-CF70-C51C-9B967724779A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8284875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26CC6D2-A385-B31A-857A-6F70FB947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Simulink Plot Result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E2FE97-1638-7665-6BCA-34639243F6FC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7119761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24622FE-9AE7-273B-02AD-6D9490FE5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2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Simulink Plot Result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69E0D-9077-6100-F379-21F9C5FA47B3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3553956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21A3E11B-6A35-DF60-3F45-809DE212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Simulink Plot Result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385016-9E11-A5A0-2A28-DC54E9F2AF4B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7038342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BD940B8-91E3-178B-ECB1-87A613903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7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Simulink Plot Result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AC53C-70EA-1CBA-E232-359A0E7F81DB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alpha*(-1)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11</a:t>
            </a:r>
            <a:r>
              <a:rPr lang="ko-KR" altLang="en-US" sz="1600" dirty="0"/>
              <a:t>분 </a:t>
            </a:r>
            <a:r>
              <a:rPr lang="en-US" altLang="ko-KR" sz="1600" dirty="0"/>
              <a:t>33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3548298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9B174D9-87A5-1D43-2B05-51DB4B65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Simulink Plot Result : EO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A116E-AB57-47DA-D2D2-865D38CF1612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0959780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EE71DC9-BAF2-0DF9-AE3F-5BE7460C6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840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Simulink Plot Result :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721D2B-8087-BEE7-FDA5-0A431C7C84D8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488327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AC1EF71-83D3-C980-8698-925962FB4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5053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Simulink Plot Result :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7D412-1AFE-4327-8EF7-E5D11A5F02C0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1563811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419FCCE1-6CFD-E634-0137-80215B731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6435"/>
            <a:ext cx="12192000" cy="6108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8A1F88-1A32-5346-592E-94B5B5A6B25C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Simulink Plot Result :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69353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E868000-094D-BBA2-55E5-F10CD2C8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485"/>
            <a:ext cx="12192000" cy="6108700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Simulink Plot Result :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21772-2132-54A1-FBB8-85F05C41116B}"/>
              </a:ext>
            </a:extLst>
          </p:cNvPr>
          <p:cNvSpPr txBox="1"/>
          <p:nvPr/>
        </p:nvSpPr>
        <p:spPr>
          <a:xfrm>
            <a:off x="228599" y="674467"/>
            <a:ext cx="6124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alpha*(-2) (</a:t>
            </a:r>
            <a:r>
              <a:rPr lang="ko-KR" altLang="en-US" sz="1600" dirty="0"/>
              <a:t>태양지향 시간을 약 </a:t>
            </a:r>
            <a:r>
              <a:rPr lang="en-US" altLang="ko-KR" sz="1600" dirty="0"/>
              <a:t>17</a:t>
            </a:r>
            <a:r>
              <a:rPr lang="ko-KR" altLang="en-US" sz="1600" dirty="0"/>
              <a:t>분 </a:t>
            </a:r>
            <a:r>
              <a:rPr lang="en-US" altLang="ko-KR" sz="1600" dirty="0"/>
              <a:t>21</a:t>
            </a:r>
            <a:r>
              <a:rPr lang="ko-KR" altLang="en-US" sz="1600" dirty="0" err="1"/>
              <a:t>초씩</a:t>
            </a:r>
            <a:r>
              <a:rPr lang="ko-KR" altLang="en-US" sz="1600" dirty="0"/>
              <a:t> 감소시켰을 때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699442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(alpha*0)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509664"/>
              </p:ext>
            </p:extLst>
          </p:nvPr>
        </p:nvGraphicFramePr>
        <p:xfrm>
          <a:off x="928992" y="1755278"/>
          <a:ext cx="10334016" cy="3978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7409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1255230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841853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24868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EO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Mission &amp; 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UHF Com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(@Night)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(@Day)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Stand-by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3246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2.59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9.30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12.08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9.30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12.08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7.14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14.26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13.36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13.50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12.97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Start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48807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End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58.63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57.60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66.81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59.49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67.78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81455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Charging Rate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-11.37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-12.40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-3.19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-10.51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24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4347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(alpha*(-1))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689684"/>
              </p:ext>
            </p:extLst>
          </p:nvPr>
        </p:nvGraphicFramePr>
        <p:xfrm>
          <a:off x="928992" y="1755278"/>
          <a:ext cx="10334016" cy="3978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7409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1255230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841853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24868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EO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Mission &amp; 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UHF Com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(@Night)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(@Day)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Stand-by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3246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1.98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9.25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7.22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9.25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14.38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13.48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13.61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13.09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Start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48807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End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57.03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52.10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59.44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54.02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60.42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81455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Charging Rate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-12.97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-17.90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-10.56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-15.98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-9.58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24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32616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 (alpha*(-2))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983385"/>
              </p:ext>
            </p:extLst>
          </p:nvPr>
        </p:nvGraphicFramePr>
        <p:xfrm>
          <a:off x="928992" y="1755278"/>
          <a:ext cx="10334016" cy="3978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7409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1255230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1494881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841853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24868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ko-KR" alt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32185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EO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Mission &amp; 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UHF Com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(@Night)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S-band Com (@Day)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Stand-by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32468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Generated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1.37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5.79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6.40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5.79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6.40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09734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Required Energy </a:t>
                      </a:r>
                    </a:p>
                    <a:p>
                      <a:pPr algn="ctr" latinLnBrk="1"/>
                      <a:r>
                        <a:rPr lang="en-US" altLang="ko-KR" sz="1400" b="1" dirty="0"/>
                        <a:t>(Orbit average)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7.21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14.47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13.63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13.24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Wh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67542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Start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48807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End SOC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55.41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48.29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51.92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50.24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52.90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81455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Charging Rate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-14.59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-21.71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-18.08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-19.76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-17.10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24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27588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Simulink Data result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2022-11-21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E65E6E-2E50-FC2F-58A7-ECDB3159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912122"/>
              </p:ext>
            </p:extLst>
          </p:nvPr>
        </p:nvGraphicFramePr>
        <p:xfrm>
          <a:off x="282022" y="1250367"/>
          <a:ext cx="11705668" cy="3095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8292">
                  <a:extLst>
                    <a:ext uri="{9D8B030D-6E8A-4147-A177-3AD203B41FA5}">
                      <a16:colId xmlns:a16="http://schemas.microsoft.com/office/drawing/2014/main" val="867829986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36839845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327683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4674489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72561844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429184413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3055109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927731153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9893286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9841258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780085641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248921629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05600345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90707574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167236877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2882478420"/>
                    </a:ext>
                  </a:extLst>
                </a:gridCol>
                <a:gridCol w="664836">
                  <a:extLst>
                    <a:ext uri="{9D8B030D-6E8A-4147-A177-3AD203B41FA5}">
                      <a16:colId xmlns:a16="http://schemas.microsoft.com/office/drawing/2014/main" val="3751335996"/>
                    </a:ext>
                  </a:extLst>
                </a:gridCol>
              </a:tblGrid>
              <a:tr h="57054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End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2405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EO</a:t>
                      </a:r>
                      <a:endParaRPr lang="ko-KR" altLang="en-US" sz="1400" b="1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4529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Stand-by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183267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Mission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7636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S-band Com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75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3435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1277</Words>
  <Application>Microsoft Office PowerPoint</Application>
  <PresentationFormat>와이드스크린</PresentationFormat>
  <Paragraphs>555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Normal</vt:lpstr>
      <vt:lpstr>Efficiency</vt:lpstr>
      <vt:lpstr>0. Energy Balance : Detumbling mode</vt:lpstr>
      <vt:lpstr>1. Energy Balance : Mission &amp; UHF COM mode</vt:lpstr>
      <vt:lpstr>2. Energy Balance : S-band COM mode(@Night)</vt:lpstr>
      <vt:lpstr>3. Energy Balance : S-band COM mode(@Day)</vt:lpstr>
      <vt:lpstr>4. Energy Balance : Standby mode</vt:lpstr>
      <vt:lpstr>5. Energy Balance : Commissioning mode 1</vt:lpstr>
      <vt:lpstr>6. Energy Balance : Commissioning mode 2</vt:lpstr>
      <vt:lpstr>0. Simulink Plot Result : EO mode</vt:lpstr>
      <vt:lpstr>1. Simulink Plot Result : Mission &amp; UHF COM mode</vt:lpstr>
      <vt:lpstr>2. Simulink Plot Result : S-band COM mode(@Night)</vt:lpstr>
      <vt:lpstr>3. Simulink Plot Result : S-band COM mode(@Day)</vt:lpstr>
      <vt:lpstr>4. Simulink Plot Result : Stand-by mode</vt:lpstr>
      <vt:lpstr>0. Simulink Plot Result : EO mode</vt:lpstr>
      <vt:lpstr>1. Simulink Plot Result : Mission &amp; UHF COM mode</vt:lpstr>
      <vt:lpstr>2. Simulink Plot Result : S-band COM mode(@Night)</vt:lpstr>
      <vt:lpstr>3. Simulink Plot Result : S-band COM mode(@Day)</vt:lpstr>
      <vt:lpstr>4. Simulink Plot Result : Stand-by mode</vt:lpstr>
      <vt:lpstr>0. Simulink Plot Result : EO mode</vt:lpstr>
      <vt:lpstr>1. Simulink Plot Result : Mission &amp; UHF COM mode</vt:lpstr>
      <vt:lpstr>2. Simulink Plot Result : S-band COM mode(@Night)</vt:lpstr>
      <vt:lpstr>3. Simulink Plot Result : S-band COM mode(@Day)</vt:lpstr>
      <vt:lpstr>4. Simulink Plot Result : Stand-by mode</vt:lpstr>
      <vt:lpstr>Simulink Data result (alpha*0)</vt:lpstr>
      <vt:lpstr>Simulink Data result (alpha*(-1))</vt:lpstr>
      <vt:lpstr>Simulink Data result (alpha*(-2))</vt:lpstr>
      <vt:lpstr>Simulink Data result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151</cp:revision>
  <dcterms:created xsi:type="dcterms:W3CDTF">2021-06-14T06:44:23Z</dcterms:created>
  <dcterms:modified xsi:type="dcterms:W3CDTF">2022-11-29T19:20:04Z</dcterms:modified>
  <cp:version/>
</cp:coreProperties>
</file>