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29"/>
  </p:notesMasterIdLst>
  <p:sldIdLst>
    <p:sldId id="323" r:id="rId2"/>
    <p:sldId id="348" r:id="rId3"/>
    <p:sldId id="347" r:id="rId4"/>
    <p:sldId id="351" r:id="rId5"/>
    <p:sldId id="353" r:id="rId6"/>
    <p:sldId id="354" r:id="rId7"/>
    <p:sldId id="352" r:id="rId8"/>
    <p:sldId id="355" r:id="rId9"/>
    <p:sldId id="345" r:id="rId10"/>
    <p:sldId id="334" r:id="rId11"/>
    <p:sldId id="335" r:id="rId12"/>
    <p:sldId id="336" r:id="rId13"/>
    <p:sldId id="282" r:id="rId14"/>
    <p:sldId id="325" r:id="rId15"/>
    <p:sldId id="337" r:id="rId16"/>
    <p:sldId id="338" r:id="rId17"/>
    <p:sldId id="339" r:id="rId18"/>
    <p:sldId id="340" r:id="rId19"/>
    <p:sldId id="341" r:id="rId20"/>
    <p:sldId id="342" r:id="rId21"/>
    <p:sldId id="344" r:id="rId22"/>
    <p:sldId id="356" r:id="rId23"/>
    <p:sldId id="343" r:id="rId24"/>
    <p:sldId id="357" r:id="rId25"/>
    <p:sldId id="360" r:id="rId26"/>
    <p:sldId id="361" r:id="rId27"/>
    <p:sldId id="362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BDB"/>
    <a:srgbClr val="FFCCCC"/>
    <a:srgbClr val="CCC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44" autoAdjust="0"/>
  </p:normalViewPr>
  <p:slideViewPr>
    <p:cSldViewPr snapToGrid="0">
      <p:cViewPr varScale="1">
        <p:scale>
          <a:sx n="84" d="100"/>
          <a:sy n="84" d="100"/>
        </p:scale>
        <p:origin x="96" y="264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988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818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378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0185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1266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942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678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4230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458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986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799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7854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109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361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7954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6365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97757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249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56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5744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10422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0082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모드의 </a:t>
            </a:r>
            <a:r>
              <a:rPr lang="en-US" altLang="ko-KR" dirty="0"/>
              <a:t>parameter</a:t>
            </a:r>
            <a:r>
              <a:rPr lang="ko-KR" altLang="en-US" dirty="0"/>
              <a:t>를 기록하였습니다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0082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Budget</a:t>
            </a:r>
            <a:r>
              <a:rPr lang="ko-KR" altLang="en-US" dirty="0"/>
              <a:t> </a:t>
            </a:r>
            <a:r>
              <a:rPr lang="en-US" altLang="ko-KR" dirty="0"/>
              <a:t>Excel </a:t>
            </a:r>
            <a:r>
              <a:rPr lang="ko-KR" altLang="en-US" dirty="0"/>
              <a:t>기준으로 한 주기동안 처음</a:t>
            </a:r>
            <a:r>
              <a:rPr lang="en-US" altLang="ko-KR" dirty="0"/>
              <a:t>(80%)</a:t>
            </a:r>
            <a:r>
              <a:rPr lang="ko-KR" altLang="en-US" dirty="0"/>
              <a:t>보다 얼마나 감소하였는지를 매 주기마다 적용한 표입니다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582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Budget</a:t>
            </a:r>
            <a:r>
              <a:rPr lang="ko-KR" altLang="en-US" dirty="0"/>
              <a:t> </a:t>
            </a:r>
            <a:r>
              <a:rPr lang="en-US" altLang="ko-KR" dirty="0"/>
              <a:t>Excel </a:t>
            </a:r>
            <a:r>
              <a:rPr lang="ko-KR" altLang="en-US" dirty="0"/>
              <a:t>기준으로 한 주기동안 처음</a:t>
            </a:r>
            <a:r>
              <a:rPr lang="en-US" altLang="ko-KR" dirty="0"/>
              <a:t>(80%)</a:t>
            </a:r>
            <a:r>
              <a:rPr lang="ko-KR" altLang="en-US" dirty="0"/>
              <a:t>보다 얼마나 감소하였는지를 매 주기마다 적용한 표입니다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5599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Budget</a:t>
            </a:r>
            <a:r>
              <a:rPr lang="ko-KR" altLang="en-US" dirty="0"/>
              <a:t> </a:t>
            </a:r>
            <a:r>
              <a:rPr lang="en-US" altLang="ko-KR" dirty="0"/>
              <a:t>Excel </a:t>
            </a:r>
            <a:r>
              <a:rPr lang="ko-KR" altLang="en-US" dirty="0"/>
              <a:t>기준으로 한 주기동안 처음</a:t>
            </a:r>
            <a:r>
              <a:rPr lang="en-US" altLang="ko-KR" dirty="0"/>
              <a:t>(80%)</a:t>
            </a:r>
            <a:r>
              <a:rPr lang="ko-KR" altLang="en-US" dirty="0"/>
              <a:t>보다 얼마나 감소하였는지를 매 주기마다 적용한 표입니다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43925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Budget</a:t>
            </a:r>
            <a:r>
              <a:rPr lang="ko-KR" altLang="en-US" dirty="0"/>
              <a:t> </a:t>
            </a:r>
            <a:r>
              <a:rPr lang="en-US" altLang="ko-KR" dirty="0"/>
              <a:t>Excel </a:t>
            </a:r>
            <a:r>
              <a:rPr lang="ko-KR" altLang="en-US" dirty="0"/>
              <a:t>기준으로 한 주기동안 처음</a:t>
            </a:r>
            <a:r>
              <a:rPr lang="en-US" altLang="ko-KR" dirty="0"/>
              <a:t>(80%)</a:t>
            </a:r>
            <a:r>
              <a:rPr lang="ko-KR" altLang="en-US" dirty="0"/>
              <a:t>보다 얼마나 감소하였는지를 매 주기마다 적용한 표입니다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9919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Efficiency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FA29F301-C50B-A827-C1CA-29E9BC903CC6}"/>
              </a:ext>
            </a:extLst>
          </p:cNvPr>
          <p:cNvSpPr txBox="1">
            <a:spLocks/>
          </p:cNvSpPr>
          <p:nvPr/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Efficiency of charging method</a:t>
            </a:r>
          </a:p>
          <a:p>
            <a:pPr lvl="1"/>
            <a:r>
              <a:rPr lang="en-US" altLang="ko-KR" dirty="0" err="1"/>
              <a:t>Eff_tmp</a:t>
            </a:r>
            <a:r>
              <a:rPr lang="en-US" altLang="ko-KR" dirty="0"/>
              <a:t> (90%) : Efficiency for Charging due to Temperature of PV Cell</a:t>
            </a:r>
          </a:p>
          <a:p>
            <a:pPr lvl="1"/>
            <a:r>
              <a:rPr lang="en-US" altLang="ko-KR" dirty="0" err="1"/>
              <a:t>Eff_id</a:t>
            </a:r>
            <a:r>
              <a:rPr lang="en-US" altLang="ko-KR" dirty="0"/>
              <a:t> (80%) : Efficiency for Charging due to Inherent Degradation</a:t>
            </a:r>
          </a:p>
          <a:p>
            <a:pPr lvl="1"/>
            <a:r>
              <a:rPr lang="en-US" altLang="ko-KR" dirty="0" err="1"/>
              <a:t>Eff_bcr</a:t>
            </a:r>
            <a:r>
              <a:rPr lang="en-US" altLang="ko-KR" dirty="0"/>
              <a:t> (80%) : Conversion Efficiency for charging Battery</a:t>
            </a:r>
          </a:p>
          <a:p>
            <a:pPr lvl="1"/>
            <a:r>
              <a:rPr lang="en-US" altLang="ko-KR" dirty="0" err="1"/>
              <a:t>Eff_pcm</a:t>
            </a:r>
            <a:r>
              <a:rPr lang="en-US" altLang="ko-KR" dirty="0"/>
              <a:t> (90%) : Conversion Efficiency for Regulation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0B848EE-2F40-EF18-26B9-D4906204F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0" y="2912175"/>
            <a:ext cx="5505796" cy="27429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3AC6B7E-7652-0EA0-7015-DF87762EB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2236" y="3142242"/>
            <a:ext cx="6047450" cy="22828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877177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6639022"/>
              </p:ext>
            </p:extLst>
          </p:nvPr>
        </p:nvGraphicFramePr>
        <p:xfrm>
          <a:off x="389964" y="956639"/>
          <a:ext cx="11295528" cy="527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542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6266328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Detumbling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3.7670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3.1994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5.9404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-2.7410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-46.1410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-85.6702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-6.8524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Energy Balance :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97391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Energy Balance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0000546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1042145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229177041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Mission 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</a:rPr>
                        <a:t>&amp; UHF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4.2768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2.8355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1.5113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8.6236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6.7443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4.4714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2.3833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13.5989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-1.4508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-1.4508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-10.6684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-10.6684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-11.9425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-11.9425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-13.51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-11.18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-5.96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-3.65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3139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Energy Balance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7350790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1042145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229177041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S-band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4.3883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1.8487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1.6284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7.8655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6.9201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2.9154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2.5679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2.5273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2.5273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20.3761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20.3761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16.927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16.927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-7.29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-6.42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6.32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16280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Energy Balance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8728003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1042145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229177041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S-band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3.5705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2.7460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1.7938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8.1103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5.6304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4.3303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2.8287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12.7895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-0.6413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-0.6413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-5.0146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-5.0146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-5.2793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-5.2793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16.29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-10.83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-7.07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-1.61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94988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Energy Balance : Standby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6240917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2837514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2837514">
                  <a:extLst>
                    <a:ext uri="{9D8B030D-6E8A-4147-A177-3AD203B41FA5}">
                      <a16:colId xmlns:a16="http://schemas.microsoft.com/office/drawing/2014/main" val="4039646309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4.6128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2.8703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7.4831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7.2741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4.5263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11.8004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3.1303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3.1303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26.5274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26.5274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20.9657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20.9657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19.14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-11.32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64613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5. Energy Balance : Commissioning mode 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graphicFrame>
        <p:nvGraphicFramePr>
          <p:cNvPr id="2" name="내용 개체 틀 4">
            <a:extLst>
              <a:ext uri="{FF2B5EF4-FFF2-40B4-BE49-F238E27FC236}">
                <a16:creationId xmlns:a16="http://schemas.microsoft.com/office/drawing/2014/main" id="{831A3C84-9818-FBF1-33C9-83334EE266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3364523"/>
              </p:ext>
            </p:extLst>
          </p:nvPr>
        </p:nvGraphicFramePr>
        <p:xfrm>
          <a:off x="389964" y="956639"/>
          <a:ext cx="11295528" cy="527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542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6266328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Commissioning 1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4.1955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3.1994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6.6161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-3.4166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-51.6414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-106.7882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-8.54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6683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6. Energy Balance : Commissioning mode 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2" name="내용 개체 틀 4">
            <a:extLst>
              <a:ext uri="{FF2B5EF4-FFF2-40B4-BE49-F238E27FC236}">
                <a16:creationId xmlns:a16="http://schemas.microsoft.com/office/drawing/2014/main" id="{831A3C84-9818-FBF1-33C9-83334EE266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4676214"/>
              </p:ext>
            </p:extLst>
          </p:nvPr>
        </p:nvGraphicFramePr>
        <p:xfrm>
          <a:off x="389964" y="956639"/>
          <a:ext cx="11295528" cy="527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542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6266328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Commissioning 2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8.2730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13.0461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1.8846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14.4460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12.6225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4.71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47559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Power Budget :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C617FA2-2254-E584-EF29-FAC7DEFF4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" y="803204"/>
            <a:ext cx="8236059" cy="526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535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1F27A14-F7AA-DA60-1384-BDAEEF192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9833"/>
            <a:ext cx="12192000" cy="527833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DF7D5D9-1074-1CD8-C249-67BB4AC2D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3978"/>
            <a:ext cx="12192000" cy="5270043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Power Budget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825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Power Budget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2E37869-6F7E-41A6-0D85-1EFED1470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" y="790382"/>
            <a:ext cx="11482995" cy="527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0845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152718E-B75F-E488-5165-F322DADE5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" y="797574"/>
            <a:ext cx="11488616" cy="5272623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Power Budget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887780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0680C8C-6C9A-4796-123F-DD5CFE34E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3056"/>
            <a:ext cx="10202435" cy="5287981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Power Budget :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881801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5. Power Budget : Commissioning mode 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CDBB2EC-BACC-6C25-B942-0934A699C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" y="793103"/>
            <a:ext cx="8455299" cy="52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7313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6. Power Budget : Commissioning mode 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B2CD805-EDB8-E920-A954-F7779B123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9" y="791231"/>
            <a:ext cx="8490383" cy="52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8612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7628625-6360-0835-3AA8-C4478AFEE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5"/>
            <a:ext cx="12192000" cy="6108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486A9CA-769D-9239-01BD-C2D6F7043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6437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Simulink Plot Result :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444610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1BA4982-1D02-E43C-6F4D-221C474CF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4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Simulink Plot Result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447714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C452D38-D3EE-7FBA-5923-074F7F1ED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9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Simulink Plot Result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735049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5672AAA-3370-E46E-516B-54E0FCAF4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2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Simulink Plot Result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441631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B837422-2DCD-0ED1-C957-E7239D809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91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Simulink Plot Result :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382621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D64821-DC10-B2AB-E9A7-B32FFDAEF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5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5. Simulink Plot Result : Commissioning mode 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8489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12CE838-2C6D-D80B-059F-1BEE1A645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7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6. Simulink Plot Result : Commissioning mode 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916141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639003"/>
              </p:ext>
            </p:extLst>
          </p:nvPr>
        </p:nvGraphicFramePr>
        <p:xfrm>
          <a:off x="287092" y="808596"/>
          <a:ext cx="11617816" cy="58719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3594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1075173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1356528">
                  <a:extLst>
                    <a:ext uri="{9D8B030D-6E8A-4147-A177-3AD203B41FA5}">
                      <a16:colId xmlns:a16="http://schemas.microsoft.com/office/drawing/2014/main" val="1725618448"/>
                    </a:ext>
                  </a:extLst>
                </a:gridCol>
                <a:gridCol w="1409640">
                  <a:extLst>
                    <a:ext uri="{9D8B030D-6E8A-4147-A177-3AD203B41FA5}">
                      <a16:colId xmlns:a16="http://schemas.microsoft.com/office/drawing/2014/main" val="130551095"/>
                    </a:ext>
                  </a:extLst>
                </a:gridCol>
                <a:gridCol w="1280447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1280447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1280447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1280447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721093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24868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bg1"/>
                          </a:solidFill>
                        </a:rPr>
                        <a:t>Product</a:t>
                      </a:r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EO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Commissioning 1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Commissioning 2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Mission &amp; 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UHF Com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(@Night)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(@Day)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Stand-by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3246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Total Power Consumption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3.7670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4.1955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8.2730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8.6236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7.8655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8.1103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7.4831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4529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3.1994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3.1994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14.9307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12.1482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14.9307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12.1482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14.9307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09734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5.9404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6.6161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13.0461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13.5989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14.9307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12.7895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11.8004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67542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Power Margin Value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-2.7410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-3.4166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1.8846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-1.4508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2.5273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-0.6413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3.1303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18326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Power Margin 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-46.1410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-51.6414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14.4460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-10.6684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20.3761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-5.0146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26.5274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3763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Residual/Generation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-85.6702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-106.7882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12.6225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-11.9425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16.927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-5.2793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20.9657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47505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Charging Rate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-6.85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-8.54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4.71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-3.65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6.32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-1.61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7.82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90195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End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72.98 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(-7.02%)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71.24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(-8.76%)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81.33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(+1.33%)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77.46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(-2.54%)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81.16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(+1.16%)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79.49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(-0.51%)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82.70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(+2.70%)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488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4347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 (alpha*1.0)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404277"/>
              </p:ext>
            </p:extLst>
          </p:nvPr>
        </p:nvGraphicFramePr>
        <p:xfrm>
          <a:off x="282022" y="1250367"/>
          <a:ext cx="11705668" cy="4357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8292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93276831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74674489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72561844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429184413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30551095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92773115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984125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248921629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690707574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288247842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57054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Start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End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EO</a:t>
                      </a:r>
                      <a:endParaRPr lang="ko-KR" altLang="en-US" sz="1400" b="1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73.15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66.3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59.45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52.6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45.75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38.9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32.05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25.2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18.35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11.5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4.65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529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Com1</a:t>
                      </a:r>
                      <a:endParaRPr lang="ko-KR" altLang="en-US" sz="1400" b="1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71.46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62.92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54.38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45.84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37.3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28.76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20.22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11.86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3.14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09734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Com2</a:t>
                      </a:r>
                      <a:endParaRPr lang="ko-KR" altLang="en-US" sz="1400" b="1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84.71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89.42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94.13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98.84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7542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Stand-by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87.82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91.99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99.81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18326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Mission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84.17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763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S-band Com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475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93435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 (alpha*0.9)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782625"/>
              </p:ext>
            </p:extLst>
          </p:nvPr>
        </p:nvGraphicFramePr>
        <p:xfrm>
          <a:off x="282022" y="1250367"/>
          <a:ext cx="11705668" cy="4357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8292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93276831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74674489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72561844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429184413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30551095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92773115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984125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248921629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690707574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288247842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57054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Start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End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EO</a:t>
                      </a:r>
                      <a:endParaRPr lang="ko-KR" altLang="en-US" sz="1400" b="1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72.94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65.88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58.82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51.76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44.7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37.64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30.58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23.52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16.46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9.40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2.34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529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Com1</a:t>
                      </a:r>
                      <a:endParaRPr lang="ko-KR" altLang="en-US" sz="1400" b="1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71.25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62.50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53.75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45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36.25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27.5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18.75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1.25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09734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Com2</a:t>
                      </a:r>
                      <a:endParaRPr lang="ko-KR" altLang="en-US" sz="1400" b="1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83.91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87.82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91.73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95.64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99.55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7542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Stand-by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87.02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89.56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96.58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18326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Mission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82.54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763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S-band Com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475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87825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 (alpha*0.8)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252299"/>
              </p:ext>
            </p:extLst>
          </p:nvPr>
        </p:nvGraphicFramePr>
        <p:xfrm>
          <a:off x="282022" y="1250367"/>
          <a:ext cx="11705668" cy="4357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8292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93276831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74674489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72561844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429184413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30551095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92773115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984125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248921629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690707574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288247842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57054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Start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End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EO</a:t>
                      </a:r>
                      <a:endParaRPr lang="ko-KR" altLang="en-US" sz="1400" b="1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72.75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65.5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58.25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51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43.75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36.5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29.25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14.75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0.25</a:t>
                      </a:r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529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Com1</a:t>
                      </a:r>
                      <a:endParaRPr lang="ko-KR" altLang="en-US" sz="1400" b="1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71.06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62.12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53.18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44.24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35.3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26.36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17.42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8.48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09734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Com2</a:t>
                      </a:r>
                      <a:endParaRPr lang="ko-KR" altLang="en-US" sz="1400" b="1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83.16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86.32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89.48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92.64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95.8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98.96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7542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Stand-by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86.28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87.85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94.13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18326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Mission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81.57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763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S-band Com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100</a:t>
                      </a: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475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8044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 (alpha*0.5)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830817"/>
              </p:ext>
            </p:extLst>
          </p:nvPr>
        </p:nvGraphicFramePr>
        <p:xfrm>
          <a:off x="282022" y="1250367"/>
          <a:ext cx="11705668" cy="4357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8292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93276831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74674489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72561844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429184413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30551095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92773115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984125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248921629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690707574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288247842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57054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Start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End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EO</a:t>
                      </a:r>
                      <a:endParaRPr lang="ko-KR" altLang="en-US" sz="1400" b="1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529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Com1</a:t>
                      </a:r>
                      <a:endParaRPr lang="ko-KR" altLang="en-US" sz="1400" b="1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09734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Com2</a:t>
                      </a:r>
                      <a:endParaRPr lang="ko-KR" altLang="en-US" sz="1400" b="1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7542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Stand-by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18326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Mission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763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S-band Com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475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13192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2577</TotalTime>
  <Words>1258</Words>
  <Application>Microsoft Office PowerPoint</Application>
  <PresentationFormat>와이드스크린</PresentationFormat>
  <Paragraphs>698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맑은 고딕</vt:lpstr>
      <vt:lpstr>Arial</vt:lpstr>
      <vt:lpstr>Normal</vt:lpstr>
      <vt:lpstr>Efficiency</vt:lpstr>
      <vt:lpstr>0. Energy Balance : Detumbling mode</vt:lpstr>
      <vt:lpstr>1. Energy Balance : Mission &amp; UHF COM mode</vt:lpstr>
      <vt:lpstr>2. Energy Balance : S-band COM mode(@Night)</vt:lpstr>
      <vt:lpstr>3. Energy Balance : S-band COM mode(@Day)</vt:lpstr>
      <vt:lpstr>4. Energy Balance : Standby mode</vt:lpstr>
      <vt:lpstr>5. Energy Balance : Commissioning mode 1</vt:lpstr>
      <vt:lpstr>6. Energy Balance : Commissioning mode 2</vt:lpstr>
      <vt:lpstr>0. Power Budget : Detumbling mode</vt:lpstr>
      <vt:lpstr>1. Power Budget : Mission &amp; UHF COM mode</vt:lpstr>
      <vt:lpstr>2. Power Budget : S-band COM mode(@Night)</vt:lpstr>
      <vt:lpstr>3. Power Budget : S-band COM mode(@Day)</vt:lpstr>
      <vt:lpstr>4. Power Budget : Stand-by mode</vt:lpstr>
      <vt:lpstr>5. Power Budget : Commissioning mode 1</vt:lpstr>
      <vt:lpstr>6. Power Budget : Commissioning mode 2</vt:lpstr>
      <vt:lpstr>0. Simulink Plot Result : Detumbling mode</vt:lpstr>
      <vt:lpstr>1. Simulink Plot Result : Mission &amp; UHF COM mode</vt:lpstr>
      <vt:lpstr>2. Simulink Plot Result : S-band COM mode(@Night)</vt:lpstr>
      <vt:lpstr>3. Simulink Plot Result : S-band COM mode(@Day)</vt:lpstr>
      <vt:lpstr>4. Simulink Plot Result : Stand-by mode</vt:lpstr>
      <vt:lpstr>5. Simulink Plot Result : Commissioning mode 1</vt:lpstr>
      <vt:lpstr>6. Simulink Plot Result : Commissioning mode 2</vt:lpstr>
      <vt:lpstr>Simulink Data result</vt:lpstr>
      <vt:lpstr>Simulink Data result (alpha*1.0)</vt:lpstr>
      <vt:lpstr>Simulink Data result (alpha*0.9)</vt:lpstr>
      <vt:lpstr>Simulink Data result (alpha*0.8)</vt:lpstr>
      <vt:lpstr>Simulink Data result (alpha*0.5)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148</cp:revision>
  <dcterms:created xsi:type="dcterms:W3CDTF">2021-06-14T06:44:23Z</dcterms:created>
  <dcterms:modified xsi:type="dcterms:W3CDTF">2022-11-29T07:57:16Z</dcterms:modified>
  <cp:version/>
</cp:coreProperties>
</file>