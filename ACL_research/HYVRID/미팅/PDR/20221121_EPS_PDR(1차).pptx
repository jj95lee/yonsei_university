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24"/>
  </p:notesMasterIdLst>
  <p:sldIdLst>
    <p:sldId id="323" r:id="rId2"/>
    <p:sldId id="348" r:id="rId3"/>
    <p:sldId id="347" r:id="rId4"/>
    <p:sldId id="351" r:id="rId5"/>
    <p:sldId id="353" r:id="rId6"/>
    <p:sldId id="354" r:id="rId7"/>
    <p:sldId id="352" r:id="rId8"/>
    <p:sldId id="355" r:id="rId9"/>
    <p:sldId id="345" r:id="rId10"/>
    <p:sldId id="334" r:id="rId11"/>
    <p:sldId id="335" r:id="rId12"/>
    <p:sldId id="336" r:id="rId13"/>
    <p:sldId id="282" r:id="rId14"/>
    <p:sldId id="325" r:id="rId15"/>
    <p:sldId id="337" r:id="rId16"/>
    <p:sldId id="338" r:id="rId17"/>
    <p:sldId id="339" r:id="rId18"/>
    <p:sldId id="340" r:id="rId19"/>
    <p:sldId id="341" r:id="rId20"/>
    <p:sldId id="342" r:id="rId21"/>
    <p:sldId id="344" r:id="rId22"/>
    <p:sldId id="343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644" autoAdjust="0"/>
  </p:normalViewPr>
  <p:slideViewPr>
    <p:cSldViewPr snapToGrid="0">
      <p:cViewPr varScale="1">
        <p:scale>
          <a:sx n="95" d="100"/>
          <a:sy n="95" d="100"/>
        </p:scale>
        <p:origin x="1158" y="102"/>
      </p:cViewPr>
      <p:guideLst>
        <p:guide orient="horz" pos="2158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2022-11-21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7988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5818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9378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0185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1266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4942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4678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4230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4458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986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77997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78546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5109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63616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37954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6365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97757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6249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356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65744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10422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008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Efficiency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FA29F301-C50B-A827-C1CA-29E9BC903CC6}"/>
              </a:ext>
            </a:extLst>
          </p:cNvPr>
          <p:cNvSpPr txBox="1">
            <a:spLocks/>
          </p:cNvSpPr>
          <p:nvPr/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Efficiency of charging method</a:t>
            </a:r>
          </a:p>
          <a:p>
            <a:pPr lvl="1"/>
            <a:r>
              <a:rPr lang="en-US" altLang="ko-KR" dirty="0" err="1"/>
              <a:t>Eff_tmp</a:t>
            </a:r>
            <a:r>
              <a:rPr lang="en-US" altLang="ko-KR" dirty="0"/>
              <a:t> (90%) : Efficiency for Charging due to Temperature of PV Cell</a:t>
            </a:r>
          </a:p>
          <a:p>
            <a:pPr lvl="1"/>
            <a:r>
              <a:rPr lang="en-US" altLang="ko-KR" dirty="0" err="1"/>
              <a:t>Eff_id</a:t>
            </a:r>
            <a:r>
              <a:rPr lang="en-US" altLang="ko-KR" dirty="0"/>
              <a:t> (80%) : Efficiency for Charging due to Inherent Degradation</a:t>
            </a:r>
          </a:p>
          <a:p>
            <a:pPr lvl="1"/>
            <a:r>
              <a:rPr lang="en-US" altLang="ko-KR" dirty="0" err="1"/>
              <a:t>Eff_bcr</a:t>
            </a:r>
            <a:r>
              <a:rPr lang="en-US" altLang="ko-KR" dirty="0"/>
              <a:t> (80%) : Conversion Efficiency for charging Battery</a:t>
            </a:r>
          </a:p>
          <a:p>
            <a:pPr lvl="1"/>
            <a:r>
              <a:rPr lang="en-US" altLang="ko-KR" dirty="0" err="1"/>
              <a:t>Eff_pcm</a:t>
            </a:r>
            <a:r>
              <a:rPr lang="en-US" altLang="ko-KR" dirty="0"/>
              <a:t> (90%) : Conversion Efficiency for Regulation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0B848EE-2F40-EF18-26B9-D4906204F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60" y="2912175"/>
            <a:ext cx="5505796" cy="27429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3AC6B7E-7652-0EA0-7015-DF87762EBB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72236" y="3142242"/>
            <a:ext cx="6047450" cy="22828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2877177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1561C7CE-867D-225A-96D5-D3E6647112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6639022"/>
              </p:ext>
            </p:extLst>
          </p:nvPr>
        </p:nvGraphicFramePr>
        <p:xfrm>
          <a:off x="389964" y="956639"/>
          <a:ext cx="11295528" cy="5275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6542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6266328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102658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Detumbling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3.7670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3.1994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5.9404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-2.7410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-46.1410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-85.6702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-6.8524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0. Energy Balance : Detumbling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497391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Energy Balance :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1561C7CE-867D-225A-96D5-D3E6647112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0000546"/>
              </p:ext>
            </p:extLst>
          </p:nvPr>
        </p:nvGraphicFramePr>
        <p:xfrm>
          <a:off x="389964" y="956639"/>
          <a:ext cx="11617817" cy="53456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6954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1042145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229177041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  <a:gridCol w="864159">
                  <a:extLst>
                    <a:ext uri="{9D8B030D-6E8A-4147-A177-3AD203B41FA5}">
                      <a16:colId xmlns:a16="http://schemas.microsoft.com/office/drawing/2014/main" val="4184936773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Stand-by(D)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Stand-by(N)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Mission </a:t>
                      </a:r>
                      <a:r>
                        <a:rPr lang="en-US" altLang="ko-KR" sz="1400" b="1">
                          <a:solidFill>
                            <a:schemeClr val="bg1"/>
                          </a:solidFill>
                        </a:rPr>
                        <a:t>&amp; UHF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4.2768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2.8355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1.5113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8.6236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12.1482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12.1482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6.7443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4.4714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2.3833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13.5989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-1.4508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-1.4508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-10.6684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-10.6684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-11.9425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-11.9425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-13.51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-11.18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-5.96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-3.65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31397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Energy Balance : S-band COM mode(@Night)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1561C7CE-867D-225A-96D5-D3E6647112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7350790"/>
              </p:ext>
            </p:extLst>
          </p:nvPr>
        </p:nvGraphicFramePr>
        <p:xfrm>
          <a:off x="389964" y="956639"/>
          <a:ext cx="11617817" cy="53456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6954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1042145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229177041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  <a:gridCol w="864159">
                  <a:extLst>
                    <a:ext uri="{9D8B030D-6E8A-4147-A177-3AD203B41FA5}">
                      <a16:colId xmlns:a16="http://schemas.microsoft.com/office/drawing/2014/main" val="4184936773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Stand-by(D)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Stand-by(N)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S-band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4.3883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1.8487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1.6284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7.8655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6.9201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2.9154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2.5679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2.5273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2.5273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20.3761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20.3761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16.927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16.927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20.03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-7.29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-6.42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6.32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16280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Energy Balance : S-band COM mode(@Day)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1561C7CE-867D-225A-96D5-D3E6647112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8728003"/>
              </p:ext>
            </p:extLst>
          </p:nvPr>
        </p:nvGraphicFramePr>
        <p:xfrm>
          <a:off x="389964" y="956639"/>
          <a:ext cx="11617817" cy="53456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6954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1042145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229177041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  <a:gridCol w="864159">
                  <a:extLst>
                    <a:ext uri="{9D8B030D-6E8A-4147-A177-3AD203B41FA5}">
                      <a16:colId xmlns:a16="http://schemas.microsoft.com/office/drawing/2014/main" val="4184936773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Stand-by(D)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Stand-by(N)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S-band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3.5705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2.7460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1.7938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8.1103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12.1482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12.1482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5.6304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4.3303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2.8287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12.7895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-0.6413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-0.6413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-5.0146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-5.0146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-5.2793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-5.2793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16.29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-10.83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-7.07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-1.61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94988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Energy Balance : Standby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1561C7CE-867D-225A-96D5-D3E6647112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815418"/>
              </p:ext>
            </p:extLst>
          </p:nvPr>
        </p:nvGraphicFramePr>
        <p:xfrm>
          <a:off x="389964" y="956639"/>
          <a:ext cx="11617817" cy="53456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6954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2837514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2837514">
                  <a:extLst>
                    <a:ext uri="{9D8B030D-6E8A-4147-A177-3AD203B41FA5}">
                      <a16:colId xmlns:a16="http://schemas.microsoft.com/office/drawing/2014/main" val="4039646309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  <a:gridCol w="864159">
                  <a:extLst>
                    <a:ext uri="{9D8B030D-6E8A-4147-A177-3AD203B41FA5}">
                      <a16:colId xmlns:a16="http://schemas.microsoft.com/office/drawing/2014/main" val="4184936773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Stand-by(D)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Stand-by(N)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4.5641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2.8434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7.4075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7.1974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4.4839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11.6812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3.2495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3.2495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27.8179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27.8179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21.7637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21.7637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19.33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-11.21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8.12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64613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5. Energy Balance : Commissioning mode 1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graphicFrame>
        <p:nvGraphicFramePr>
          <p:cNvPr id="2" name="내용 개체 틀 4">
            <a:extLst>
              <a:ext uri="{FF2B5EF4-FFF2-40B4-BE49-F238E27FC236}">
                <a16:creationId xmlns:a16="http://schemas.microsoft.com/office/drawing/2014/main" id="{831A3C84-9818-FBF1-33C9-83334EE266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3364523"/>
              </p:ext>
            </p:extLst>
          </p:nvPr>
        </p:nvGraphicFramePr>
        <p:xfrm>
          <a:off x="389964" y="956639"/>
          <a:ext cx="11295528" cy="5275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6542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6266328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102658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Commissioning 1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4.1955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3.1994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6.6161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-3.4166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-51.6414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-106.7882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-8.54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66839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6. Energy Balance : Commissioning mode 2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graphicFrame>
        <p:nvGraphicFramePr>
          <p:cNvPr id="2" name="내용 개체 틀 4">
            <a:extLst>
              <a:ext uri="{FF2B5EF4-FFF2-40B4-BE49-F238E27FC236}">
                <a16:creationId xmlns:a16="http://schemas.microsoft.com/office/drawing/2014/main" id="{831A3C84-9818-FBF1-33C9-83334EE266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4676214"/>
              </p:ext>
            </p:extLst>
          </p:nvPr>
        </p:nvGraphicFramePr>
        <p:xfrm>
          <a:off x="389964" y="956639"/>
          <a:ext cx="11295528" cy="5275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6542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6266328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102658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Commissioning 2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8.2730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13.0461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1.8846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14.4460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12.6225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4.71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747559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0. Power Budget : Detumbling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C617FA2-2254-E584-EF29-FAC7DEFF4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2" y="803204"/>
            <a:ext cx="8236059" cy="526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5535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1F27A14-F7AA-DA60-1384-BDAEEF192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9833"/>
            <a:ext cx="12192000" cy="527833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DF7D5D9-1074-1CD8-C249-67BB4AC2D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93978"/>
            <a:ext cx="12192000" cy="5270043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Power Budget :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38257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Power Budget : S-band COM mode(@Night)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2E37869-6F7E-41A6-0D85-1EFED1470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" y="790382"/>
            <a:ext cx="11482995" cy="527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10845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152718E-B75F-E488-5165-F322DADE5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5" y="797574"/>
            <a:ext cx="11488616" cy="5272623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Power Budget : S-band COM mode(@Day)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887780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Power Budget : Stand-by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5016728-7B12-143A-6D87-9A90C1EE1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7" y="793104"/>
            <a:ext cx="10192378" cy="528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81801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5. Power Budget : Commissioning mode 1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CDBB2EC-BACC-6C25-B942-0934A699C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" y="793103"/>
            <a:ext cx="8455299" cy="527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7313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6. Power Budget : Commissioning mode 2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B2CD805-EDB8-E920-A954-F7779B123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9" y="791231"/>
            <a:ext cx="8490383" cy="527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8612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5486A9CA-769D-9239-01BD-C2D6F7043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6437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0. Plot Result : Detumbling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444610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01BA4982-1D02-E43C-6F4D-221C474CF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6434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Plot Result :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447714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C452D38-D3EE-7FBA-5923-074F7F1ED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6439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Plot Result : S-band COM mode(@Night)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735049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6EFEDA-527C-0796-BBD3-482794995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6439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Plot Result : S-band COM mode(@Day)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441631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B837422-2DCD-0ED1-C957-E7239D809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6443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Plot Result : Stand-by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382621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9D64821-DC10-B2AB-E9A7-B32FFDAEF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6435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5. Plot Result : Commissioning mode 1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8489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12CE838-2C6D-D80B-059F-1BEE1A645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6437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6. Plot Result : Commissioning mode 2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04347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744</Words>
  <Application>Microsoft Office PowerPoint</Application>
  <PresentationFormat>와이드스크린</PresentationFormat>
  <Paragraphs>357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맑은 고딕</vt:lpstr>
      <vt:lpstr>Arial</vt:lpstr>
      <vt:lpstr>Normal</vt:lpstr>
      <vt:lpstr>Efficiency</vt:lpstr>
      <vt:lpstr>0. Energy Balance : Detumbling mode</vt:lpstr>
      <vt:lpstr>1. Energy Balance : Mission &amp; UHF COM mode</vt:lpstr>
      <vt:lpstr>2. Energy Balance : S-band COM mode(@Night)</vt:lpstr>
      <vt:lpstr>3. Energy Balance : S-band COM mode(@Day)</vt:lpstr>
      <vt:lpstr>4. Energy Balance : Standby mode</vt:lpstr>
      <vt:lpstr>5. Energy Balance : Commissioning mode 1</vt:lpstr>
      <vt:lpstr>6. Energy Balance : Commissioning mode 2</vt:lpstr>
      <vt:lpstr>0. Power Budget : Detumbling mode</vt:lpstr>
      <vt:lpstr>1. Power Budget : Mission &amp; UHF COM mode</vt:lpstr>
      <vt:lpstr>2. Power Budget : S-band COM mode(@Night)</vt:lpstr>
      <vt:lpstr>3. Power Budget : S-band COM mode(@Day)</vt:lpstr>
      <vt:lpstr>4. Power Budget : Stand-by mode</vt:lpstr>
      <vt:lpstr>5. Power Budget : Commissioning mode 1</vt:lpstr>
      <vt:lpstr>6. Power Budget : Commissioning mode 2</vt:lpstr>
      <vt:lpstr>0. Plot Result : Detumbling mode</vt:lpstr>
      <vt:lpstr>1. Plot Result : Mission &amp; UHF COM mode</vt:lpstr>
      <vt:lpstr>2. Plot Result : S-band COM mode(@Night)</vt:lpstr>
      <vt:lpstr>3. Plot Result : S-band COM mode(@Day)</vt:lpstr>
      <vt:lpstr>4. Plot Result : Stand-by mode</vt:lpstr>
      <vt:lpstr>5. Plot Result : Commissioning mode 1</vt:lpstr>
      <vt:lpstr>6. Plot Result : Commissioning mode 2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145</cp:revision>
  <dcterms:created xsi:type="dcterms:W3CDTF">2021-06-14T06:44:23Z</dcterms:created>
  <dcterms:modified xsi:type="dcterms:W3CDTF">2022-11-21T13:48:41Z</dcterms:modified>
  <cp:version/>
</cp:coreProperties>
</file>